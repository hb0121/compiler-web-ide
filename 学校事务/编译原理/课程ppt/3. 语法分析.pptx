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vsdx" ContentType="application/vnd.ms-visio.drawing"/>
  <Default Extension="wav" ContentType="audio/wav"/>
  <Default Extension="vml" ContentType="application/vnd.openxmlformats-officedocument.vmlDrawing"/>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1.xml" ContentType="application/vnd.openxmlformats-officedocument.presentationml.tags+xml"/>
  <Override PartName="/ppt/notesSlides/notesSlide5.xml" ContentType="application/vnd.openxmlformats-officedocument.presentationml.notesSlide+xml"/>
  <Override PartName="/ppt/tags/tag2.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heme/themeOverride1.xml" ContentType="application/vnd.openxmlformats-officedocument.themeOverr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theme/themeOverride2.xml" ContentType="application/vnd.openxmlformats-officedocument.themeOverr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20" r:id="rId1"/>
  </p:sldMasterIdLst>
  <p:notesMasterIdLst>
    <p:notesMasterId r:id="rId298"/>
  </p:notesMasterIdLst>
  <p:sldIdLst>
    <p:sldId id="256" r:id="rId2"/>
    <p:sldId id="306" r:id="rId3"/>
    <p:sldId id="307" r:id="rId4"/>
    <p:sldId id="308" r:id="rId5"/>
    <p:sldId id="309" r:id="rId6"/>
    <p:sldId id="804" r:id="rId7"/>
    <p:sldId id="581" r:id="rId8"/>
    <p:sldId id="311" r:id="rId9"/>
    <p:sldId id="312" r:id="rId10"/>
    <p:sldId id="313" r:id="rId11"/>
    <p:sldId id="315" r:id="rId12"/>
    <p:sldId id="314" r:id="rId13"/>
    <p:sldId id="316" r:id="rId14"/>
    <p:sldId id="317" r:id="rId15"/>
    <p:sldId id="318" r:id="rId16"/>
    <p:sldId id="805" r:id="rId17"/>
    <p:sldId id="319" r:id="rId18"/>
    <p:sldId id="320" r:id="rId19"/>
    <p:sldId id="322" r:id="rId20"/>
    <p:sldId id="323" r:id="rId21"/>
    <p:sldId id="324" r:id="rId22"/>
    <p:sldId id="325" r:id="rId23"/>
    <p:sldId id="583" r:id="rId24"/>
    <p:sldId id="582" r:id="rId25"/>
    <p:sldId id="327" r:id="rId26"/>
    <p:sldId id="794" r:id="rId27"/>
    <p:sldId id="333" r:id="rId28"/>
    <p:sldId id="584" r:id="rId29"/>
    <p:sldId id="791" r:id="rId30"/>
    <p:sldId id="792" r:id="rId31"/>
    <p:sldId id="793" r:id="rId32"/>
    <p:sldId id="339" r:id="rId33"/>
    <p:sldId id="341" r:id="rId34"/>
    <p:sldId id="342" r:id="rId35"/>
    <p:sldId id="343" r:id="rId36"/>
    <p:sldId id="344" r:id="rId37"/>
    <p:sldId id="345" r:id="rId38"/>
    <p:sldId id="348" r:id="rId39"/>
    <p:sldId id="346" r:id="rId40"/>
    <p:sldId id="349" r:id="rId41"/>
    <p:sldId id="350" r:id="rId42"/>
    <p:sldId id="588" r:id="rId43"/>
    <p:sldId id="352" r:id="rId44"/>
    <p:sldId id="353" r:id="rId45"/>
    <p:sldId id="354" r:id="rId46"/>
    <p:sldId id="355" r:id="rId47"/>
    <p:sldId id="356" r:id="rId48"/>
    <p:sldId id="357" r:id="rId49"/>
    <p:sldId id="358" r:id="rId50"/>
    <p:sldId id="359" r:id="rId51"/>
    <p:sldId id="360" r:id="rId52"/>
    <p:sldId id="365" r:id="rId53"/>
    <p:sldId id="366" r:id="rId54"/>
    <p:sldId id="367" r:id="rId55"/>
    <p:sldId id="361" r:id="rId56"/>
    <p:sldId id="589" r:id="rId57"/>
    <p:sldId id="362" r:id="rId58"/>
    <p:sldId id="363" r:id="rId59"/>
    <p:sldId id="364" r:id="rId60"/>
    <p:sldId id="368" r:id="rId61"/>
    <p:sldId id="590" r:id="rId62"/>
    <p:sldId id="372" r:id="rId63"/>
    <p:sldId id="373" r:id="rId64"/>
    <p:sldId id="374" r:id="rId65"/>
    <p:sldId id="596" r:id="rId66"/>
    <p:sldId id="591" r:id="rId67"/>
    <p:sldId id="376" r:id="rId68"/>
    <p:sldId id="377" r:id="rId69"/>
    <p:sldId id="379" r:id="rId70"/>
    <p:sldId id="806" r:id="rId71"/>
    <p:sldId id="593" r:id="rId72"/>
    <p:sldId id="594" r:id="rId73"/>
    <p:sldId id="380" r:id="rId74"/>
    <p:sldId id="383" r:id="rId75"/>
    <p:sldId id="384" r:id="rId76"/>
    <p:sldId id="385" r:id="rId77"/>
    <p:sldId id="386" r:id="rId78"/>
    <p:sldId id="387" r:id="rId79"/>
    <p:sldId id="388" r:id="rId80"/>
    <p:sldId id="599" r:id="rId81"/>
    <p:sldId id="601" r:id="rId82"/>
    <p:sldId id="389" r:id="rId83"/>
    <p:sldId id="390" r:id="rId84"/>
    <p:sldId id="391" r:id="rId85"/>
    <p:sldId id="392" r:id="rId86"/>
    <p:sldId id="602" r:id="rId87"/>
    <p:sldId id="604" r:id="rId88"/>
    <p:sldId id="395" r:id="rId89"/>
    <p:sldId id="396" r:id="rId90"/>
    <p:sldId id="397" r:id="rId91"/>
    <p:sldId id="398" r:id="rId92"/>
    <p:sldId id="400" r:id="rId93"/>
    <p:sldId id="803" r:id="rId94"/>
    <p:sldId id="808" r:id="rId95"/>
    <p:sldId id="405" r:id="rId96"/>
    <p:sldId id="798" r:id="rId97"/>
    <p:sldId id="605" r:id="rId98"/>
    <p:sldId id="406" r:id="rId99"/>
    <p:sldId id="809" r:id="rId100"/>
    <p:sldId id="408" r:id="rId101"/>
    <p:sldId id="810" r:id="rId102"/>
    <p:sldId id="409" r:id="rId103"/>
    <p:sldId id="410" r:id="rId104"/>
    <p:sldId id="401" r:id="rId105"/>
    <p:sldId id="811" r:id="rId106"/>
    <p:sldId id="403" r:id="rId107"/>
    <p:sldId id="404" r:id="rId108"/>
    <p:sldId id="609" r:id="rId109"/>
    <p:sldId id="610" r:id="rId110"/>
    <p:sldId id="411" r:id="rId111"/>
    <p:sldId id="412" r:id="rId112"/>
    <p:sldId id="414" r:id="rId113"/>
    <p:sldId id="415" r:id="rId114"/>
    <p:sldId id="416" r:id="rId115"/>
    <p:sldId id="417" r:id="rId116"/>
    <p:sldId id="616" r:id="rId117"/>
    <p:sldId id="418" r:id="rId118"/>
    <p:sldId id="419" r:id="rId119"/>
    <p:sldId id="420" r:id="rId120"/>
    <p:sldId id="799" r:id="rId121"/>
    <p:sldId id="612" r:id="rId122"/>
    <p:sldId id="614" r:id="rId123"/>
    <p:sldId id="421" r:id="rId124"/>
    <p:sldId id="422" r:id="rId125"/>
    <p:sldId id="423" r:id="rId126"/>
    <p:sldId id="424" r:id="rId127"/>
    <p:sldId id="425" r:id="rId128"/>
    <p:sldId id="426" r:id="rId129"/>
    <p:sldId id="427" r:id="rId130"/>
    <p:sldId id="797" r:id="rId131"/>
    <p:sldId id="796" r:id="rId132"/>
    <p:sldId id="618" r:id="rId133"/>
    <p:sldId id="619" r:id="rId134"/>
    <p:sldId id="620" r:id="rId135"/>
    <p:sldId id="621" r:id="rId136"/>
    <p:sldId id="623" r:id="rId137"/>
    <p:sldId id="624" r:id="rId138"/>
    <p:sldId id="625" r:id="rId139"/>
    <p:sldId id="626" r:id="rId140"/>
    <p:sldId id="627" r:id="rId141"/>
    <p:sldId id="628" r:id="rId142"/>
    <p:sldId id="629" r:id="rId143"/>
    <p:sldId id="630" r:id="rId144"/>
    <p:sldId id="631" r:id="rId145"/>
    <p:sldId id="632" r:id="rId146"/>
    <p:sldId id="633" r:id="rId147"/>
    <p:sldId id="635" r:id="rId148"/>
    <p:sldId id="636" r:id="rId149"/>
    <p:sldId id="451" r:id="rId150"/>
    <p:sldId id="638" r:id="rId151"/>
    <p:sldId id="639" r:id="rId152"/>
    <p:sldId id="640" r:id="rId153"/>
    <p:sldId id="641" r:id="rId154"/>
    <p:sldId id="642" r:id="rId155"/>
    <p:sldId id="643" r:id="rId156"/>
    <p:sldId id="644" r:id="rId157"/>
    <p:sldId id="800" r:id="rId158"/>
    <p:sldId id="646" r:id="rId159"/>
    <p:sldId id="647" r:id="rId160"/>
    <p:sldId id="648" r:id="rId161"/>
    <p:sldId id="649" r:id="rId162"/>
    <p:sldId id="650" r:id="rId163"/>
    <p:sldId id="651" r:id="rId164"/>
    <p:sldId id="653" r:id="rId165"/>
    <p:sldId id="654" r:id="rId166"/>
    <p:sldId id="655" r:id="rId167"/>
    <p:sldId id="656" r:id="rId168"/>
    <p:sldId id="657" r:id="rId169"/>
    <p:sldId id="658" r:id="rId170"/>
    <p:sldId id="660" r:id="rId171"/>
    <p:sldId id="661" r:id="rId172"/>
    <p:sldId id="662" r:id="rId173"/>
    <p:sldId id="665" r:id="rId174"/>
    <p:sldId id="666" r:id="rId175"/>
    <p:sldId id="667" r:id="rId176"/>
    <p:sldId id="668" r:id="rId177"/>
    <p:sldId id="664" r:id="rId178"/>
    <p:sldId id="669" r:id="rId179"/>
    <p:sldId id="670" r:id="rId180"/>
    <p:sldId id="671" r:id="rId181"/>
    <p:sldId id="672" r:id="rId182"/>
    <p:sldId id="673" r:id="rId183"/>
    <p:sldId id="674" r:id="rId184"/>
    <p:sldId id="675" r:id="rId185"/>
    <p:sldId id="676" r:id="rId186"/>
    <p:sldId id="677" r:id="rId187"/>
    <p:sldId id="680" r:id="rId188"/>
    <p:sldId id="681" r:id="rId189"/>
    <p:sldId id="682" r:id="rId190"/>
    <p:sldId id="683" r:id="rId191"/>
    <p:sldId id="684" r:id="rId192"/>
    <p:sldId id="685" r:id="rId193"/>
    <p:sldId id="686" r:id="rId194"/>
    <p:sldId id="687" r:id="rId195"/>
    <p:sldId id="688" r:id="rId196"/>
    <p:sldId id="689" r:id="rId197"/>
    <p:sldId id="690" r:id="rId198"/>
    <p:sldId id="691" r:id="rId199"/>
    <p:sldId id="692" r:id="rId200"/>
    <p:sldId id="694" r:id="rId201"/>
    <p:sldId id="695" r:id="rId202"/>
    <p:sldId id="696" r:id="rId203"/>
    <p:sldId id="801" r:id="rId204"/>
    <p:sldId id="802" r:id="rId205"/>
    <p:sldId id="698" r:id="rId206"/>
    <p:sldId id="699" r:id="rId207"/>
    <p:sldId id="700" r:id="rId208"/>
    <p:sldId id="701" r:id="rId209"/>
    <p:sldId id="702" r:id="rId210"/>
    <p:sldId id="703" r:id="rId211"/>
    <p:sldId id="704" r:id="rId212"/>
    <p:sldId id="705" r:id="rId213"/>
    <p:sldId id="706" r:id="rId214"/>
    <p:sldId id="707" r:id="rId215"/>
    <p:sldId id="708" r:id="rId216"/>
    <p:sldId id="709" r:id="rId217"/>
    <p:sldId id="710" r:id="rId218"/>
    <p:sldId id="711" r:id="rId219"/>
    <p:sldId id="712" r:id="rId220"/>
    <p:sldId id="713" r:id="rId221"/>
    <p:sldId id="714" r:id="rId222"/>
    <p:sldId id="715" r:id="rId223"/>
    <p:sldId id="716" r:id="rId224"/>
    <p:sldId id="717" r:id="rId225"/>
    <p:sldId id="718" r:id="rId226"/>
    <p:sldId id="719" r:id="rId227"/>
    <p:sldId id="723" r:id="rId228"/>
    <p:sldId id="720" r:id="rId229"/>
    <p:sldId id="721" r:id="rId230"/>
    <p:sldId id="722" r:id="rId231"/>
    <p:sldId id="724" r:id="rId232"/>
    <p:sldId id="725" r:id="rId233"/>
    <p:sldId id="726" r:id="rId234"/>
    <p:sldId id="727" r:id="rId235"/>
    <p:sldId id="728" r:id="rId236"/>
    <p:sldId id="729" r:id="rId237"/>
    <p:sldId id="730" r:id="rId238"/>
    <p:sldId id="731" r:id="rId239"/>
    <p:sldId id="732" r:id="rId240"/>
    <p:sldId id="733" r:id="rId241"/>
    <p:sldId id="734" r:id="rId242"/>
    <p:sldId id="735" r:id="rId243"/>
    <p:sldId id="736" r:id="rId244"/>
    <p:sldId id="737" r:id="rId245"/>
    <p:sldId id="738" r:id="rId246"/>
    <p:sldId id="739" r:id="rId247"/>
    <p:sldId id="740" r:id="rId248"/>
    <p:sldId id="741" r:id="rId249"/>
    <p:sldId id="742" r:id="rId250"/>
    <p:sldId id="743" r:id="rId251"/>
    <p:sldId id="744" r:id="rId252"/>
    <p:sldId id="745" r:id="rId253"/>
    <p:sldId id="746" r:id="rId254"/>
    <p:sldId id="747" r:id="rId255"/>
    <p:sldId id="748" r:id="rId256"/>
    <p:sldId id="749" r:id="rId257"/>
    <p:sldId id="750" r:id="rId258"/>
    <p:sldId id="751" r:id="rId259"/>
    <p:sldId id="752" r:id="rId260"/>
    <p:sldId id="753" r:id="rId261"/>
    <p:sldId id="754" r:id="rId262"/>
    <p:sldId id="755" r:id="rId263"/>
    <p:sldId id="756" r:id="rId264"/>
    <p:sldId id="757" r:id="rId265"/>
    <p:sldId id="758" r:id="rId266"/>
    <p:sldId id="759" r:id="rId267"/>
    <p:sldId id="760" r:id="rId268"/>
    <p:sldId id="761" r:id="rId269"/>
    <p:sldId id="762" r:id="rId270"/>
    <p:sldId id="763" r:id="rId271"/>
    <p:sldId id="764" r:id="rId272"/>
    <p:sldId id="765" r:id="rId273"/>
    <p:sldId id="766" r:id="rId274"/>
    <p:sldId id="767" r:id="rId275"/>
    <p:sldId id="768" r:id="rId276"/>
    <p:sldId id="812" r:id="rId277"/>
    <p:sldId id="771" r:id="rId278"/>
    <p:sldId id="772" r:id="rId279"/>
    <p:sldId id="773" r:id="rId280"/>
    <p:sldId id="774" r:id="rId281"/>
    <p:sldId id="775" r:id="rId282"/>
    <p:sldId id="776" r:id="rId283"/>
    <p:sldId id="777" r:id="rId284"/>
    <p:sldId id="778" r:id="rId285"/>
    <p:sldId id="779" r:id="rId286"/>
    <p:sldId id="780" r:id="rId287"/>
    <p:sldId id="781" r:id="rId288"/>
    <p:sldId id="782" r:id="rId289"/>
    <p:sldId id="783" r:id="rId290"/>
    <p:sldId id="784" r:id="rId291"/>
    <p:sldId id="785" r:id="rId292"/>
    <p:sldId id="786" r:id="rId293"/>
    <p:sldId id="787" r:id="rId294"/>
    <p:sldId id="788" r:id="rId295"/>
    <p:sldId id="789" r:id="rId296"/>
    <p:sldId id="813" r:id="rId297"/>
  </p:sldIdLst>
  <p:sldSz cx="9144000" cy="5143500" type="screen16x9"/>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333FF"/>
    <a:srgbClr val="CC00FF"/>
    <a:srgbClr val="FDECE3"/>
    <a:srgbClr val="F4E8EB"/>
    <a:srgbClr val="008000"/>
    <a:srgbClr val="0000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0292" autoAdjust="0"/>
    <p:restoredTop sz="83784" autoAdjust="0"/>
  </p:normalViewPr>
  <p:slideViewPr>
    <p:cSldViewPr>
      <p:cViewPr varScale="1">
        <p:scale>
          <a:sx n="134" d="100"/>
          <a:sy n="134" d="100"/>
        </p:scale>
        <p:origin x="922" y="101"/>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presProps" Target="presProps.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viewProps" Target="viewProps.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theme" Target="theme/theme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notesMaster" Target="notesMasters/notesMaster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8.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3.emf"/><Relationship Id="rId1" Type="http://schemas.openxmlformats.org/officeDocument/2006/relationships/image" Target="../media/image12.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6.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7.png"/></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image" Target="../media/image18.png"/></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8.png"/></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0.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2.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5.emf"/></Relationships>
</file>

<file path=ppt/drawings/_rels/vmlDrawing13.vml.rels><?xml version="1.0" encoding="UTF-8" standalone="yes"?>
<Relationships xmlns="http://schemas.openxmlformats.org/package/2006/relationships"><Relationship Id="rId3" Type="http://schemas.openxmlformats.org/officeDocument/2006/relationships/image" Target="../media/image27.emf"/><Relationship Id="rId2" Type="http://schemas.openxmlformats.org/officeDocument/2006/relationships/image" Target="../media/image25.emf"/><Relationship Id="rId1" Type="http://schemas.openxmlformats.org/officeDocument/2006/relationships/image" Target="../media/image26.emf"/><Relationship Id="rId5" Type="http://schemas.openxmlformats.org/officeDocument/2006/relationships/image" Target="../media/image29.emf"/><Relationship Id="rId4" Type="http://schemas.openxmlformats.org/officeDocument/2006/relationships/image" Target="../media/image28.emf"/></Relationships>
</file>

<file path=ppt/drawings/_rels/vmlDrawing14.vml.rels><?xml version="1.0" encoding="UTF-8" standalone="yes"?>
<Relationships xmlns="http://schemas.openxmlformats.org/package/2006/relationships"><Relationship Id="rId3" Type="http://schemas.openxmlformats.org/officeDocument/2006/relationships/image" Target="../media/image29.emf"/><Relationship Id="rId2" Type="http://schemas.openxmlformats.org/officeDocument/2006/relationships/image" Target="../media/image28.emf"/><Relationship Id="rId1" Type="http://schemas.openxmlformats.org/officeDocument/2006/relationships/image" Target="../media/image30.emf"/><Relationship Id="rId4" Type="http://schemas.openxmlformats.org/officeDocument/2006/relationships/image" Target="../media/image3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33.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34.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35.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36.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37.png"/></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37.png"/></Relationships>
</file>

<file path=ppt/drawings/_rels/vmlDrawing22.vml.rels><?xml version="1.0" encoding="UTF-8" standalone="yes"?>
<Relationships xmlns="http://schemas.openxmlformats.org/package/2006/relationships"><Relationship Id="rId8" Type="http://schemas.openxmlformats.org/officeDocument/2006/relationships/image" Target="../media/image46.wmf"/><Relationship Id="rId3" Type="http://schemas.openxmlformats.org/officeDocument/2006/relationships/image" Target="../media/image41.wmf"/><Relationship Id="rId7" Type="http://schemas.openxmlformats.org/officeDocument/2006/relationships/image" Target="../media/image45.wmf"/><Relationship Id="rId2" Type="http://schemas.openxmlformats.org/officeDocument/2006/relationships/image" Target="../media/image40.wmf"/><Relationship Id="rId1" Type="http://schemas.openxmlformats.org/officeDocument/2006/relationships/image" Target="../media/image39.wmf"/><Relationship Id="rId6" Type="http://schemas.openxmlformats.org/officeDocument/2006/relationships/image" Target="../media/image44.wmf"/><Relationship Id="rId5" Type="http://schemas.openxmlformats.org/officeDocument/2006/relationships/image" Target="../media/image43.wmf"/><Relationship Id="rId4" Type="http://schemas.openxmlformats.org/officeDocument/2006/relationships/image" Target="../media/image42.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47.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47.e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image" Target="../media/image48.png"/></Relationships>
</file>

<file path=ppt/drawings/_rels/vmlDrawing26.v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50.png"/><Relationship Id="rId1" Type="http://schemas.openxmlformats.org/officeDocument/2006/relationships/image" Target="../media/image49.png"/></Relationships>
</file>

<file path=ppt/drawings/_rels/vmlDrawing27.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image" Target="../media/image48.png"/></Relationships>
</file>

<file path=ppt/drawings/_rels/vmlDrawing28.v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image" Target="../media/image51.png"/><Relationship Id="rId6" Type="http://schemas.openxmlformats.org/officeDocument/2006/relationships/image" Target="../media/image50.png"/><Relationship Id="rId5" Type="http://schemas.openxmlformats.org/officeDocument/2006/relationships/image" Target="../media/image48.png"/><Relationship Id="rId4" Type="http://schemas.openxmlformats.org/officeDocument/2006/relationships/image" Target="../media/image49.png"/></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image" Target="../media/image48.png"/></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image" Target="../media/image48.png"/></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8.png"/><Relationship Id="rId1" Type="http://schemas.openxmlformats.org/officeDocument/2006/relationships/image" Target="../media/image49.png"/></Relationships>
</file>

<file path=ppt/drawings/_rels/vmlDrawing32.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0.png"/><Relationship Id="rId1" Type="http://schemas.openxmlformats.org/officeDocument/2006/relationships/image" Target="../media/image59.png"/></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61.emf"/></Relationships>
</file>

<file path=ppt/drawings/_rels/vmlDrawing34.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0.png"/><Relationship Id="rId1" Type="http://schemas.openxmlformats.org/officeDocument/2006/relationships/image" Target="../media/image59.png"/><Relationship Id="rId4" Type="http://schemas.openxmlformats.org/officeDocument/2006/relationships/image" Target="../media/image62.emf"/></Relationships>
</file>

<file path=ppt/drawings/_rels/vmlDrawing35.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4.emf"/><Relationship Id="rId1" Type="http://schemas.openxmlformats.org/officeDocument/2006/relationships/image" Target="../media/image63.emf"/><Relationship Id="rId5" Type="http://schemas.openxmlformats.org/officeDocument/2006/relationships/image" Target="../media/image59.png"/><Relationship Id="rId4" Type="http://schemas.openxmlformats.org/officeDocument/2006/relationships/image" Target="../media/image60.png"/></Relationships>
</file>

<file path=ppt/drawings/_rels/vmlDrawing36.vml.rels><?xml version="1.0" encoding="UTF-8" standalone="yes"?>
<Relationships xmlns="http://schemas.openxmlformats.org/package/2006/relationships"><Relationship Id="rId3" Type="http://schemas.openxmlformats.org/officeDocument/2006/relationships/image" Target="../media/image64.emf"/><Relationship Id="rId2" Type="http://schemas.openxmlformats.org/officeDocument/2006/relationships/image" Target="../media/image60.png"/><Relationship Id="rId1" Type="http://schemas.openxmlformats.org/officeDocument/2006/relationships/image" Target="../media/image59.png"/><Relationship Id="rId4" Type="http://schemas.openxmlformats.org/officeDocument/2006/relationships/image" Target="../media/image50.png"/></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0.png"/><Relationship Id="rId1" Type="http://schemas.openxmlformats.org/officeDocument/2006/relationships/image" Target="../media/image59.png"/><Relationship Id="rId4" Type="http://schemas.openxmlformats.org/officeDocument/2006/relationships/image" Target="../media/image64.e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0.png"/><Relationship Id="rId1" Type="http://schemas.openxmlformats.org/officeDocument/2006/relationships/image" Target="../media/image59.png"/></Relationships>
</file>

<file path=ppt/drawings/_rels/vmlDrawing39.v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60.png"/><Relationship Id="rId1" Type="http://schemas.openxmlformats.org/officeDocument/2006/relationships/image" Target="../media/image59.png"/></Relationships>
</file>

<file path=ppt/drawings/_rels/vmlDrawing40.vml.rels><?xml version="1.0" encoding="UTF-8" standalone="yes"?>
<Relationships xmlns="http://schemas.openxmlformats.org/package/2006/relationships"><Relationship Id="rId3" Type="http://schemas.openxmlformats.org/officeDocument/2006/relationships/image" Target="../media/image69.wmf"/><Relationship Id="rId2" Type="http://schemas.openxmlformats.org/officeDocument/2006/relationships/image" Target="../media/image68.emf"/><Relationship Id="rId1" Type="http://schemas.openxmlformats.org/officeDocument/2006/relationships/image" Target="../media/image67.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70.w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47.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74.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45.vml.rels><?xml version="1.0" encoding="UTF-8" standalone="yes"?>
<Relationships xmlns="http://schemas.openxmlformats.org/package/2006/relationships"><Relationship Id="rId2" Type="http://schemas.openxmlformats.org/officeDocument/2006/relationships/image" Target="../media/image75.emf"/><Relationship Id="rId1" Type="http://schemas.openxmlformats.org/officeDocument/2006/relationships/image" Target="../media/image76.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75.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79.emf"/></Relationships>
</file>

<file path=ppt/drawings/_rels/vmlDrawing48.vml.rels><?xml version="1.0" encoding="UTF-8" standalone="yes"?>
<Relationships xmlns="http://schemas.openxmlformats.org/package/2006/relationships"><Relationship Id="rId2" Type="http://schemas.openxmlformats.org/officeDocument/2006/relationships/image" Target="../media/image80.emf"/><Relationship Id="rId1" Type="http://schemas.openxmlformats.org/officeDocument/2006/relationships/image" Target="../media/image79.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80.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80.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86.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86.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87.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87.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89.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91.e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92.e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93.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94.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C3FB6CE-4A83-4EA5-8A28-5A2599315B17}" type="datetimeFigureOut">
              <a:rPr lang="zh-CN" altLang="en-US" smtClean="0"/>
              <a:t>2026/3/23</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99E8391-A7AA-438B-8953-8185EA502C58}" type="slidenum">
              <a:rPr lang="zh-CN" altLang="en-US" smtClean="0"/>
              <a:t>‹#›</a:t>
            </a:fld>
            <a:endParaRPr lang="zh-CN" altLang="en-US"/>
          </a:p>
        </p:txBody>
      </p:sp>
    </p:spTree>
    <p:extLst>
      <p:ext uri="{BB962C8B-B14F-4D97-AF65-F5344CB8AC3E}">
        <p14:creationId xmlns:p14="http://schemas.microsoft.com/office/powerpoint/2010/main" val="35398967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82F1798-E8BD-42E1-91A5-0E7F87178D0D}" type="slidenum">
              <a:rPr lang="en-US" altLang="zh-CN" smtClean="0">
                <a:latin typeface="Arial" pitchFamily="34" charset="0"/>
              </a:rPr>
              <a:pPr>
                <a:spcBef>
                  <a:spcPct val="0"/>
                </a:spcBef>
              </a:pPr>
              <a:t>4</a:t>
            </a:fld>
            <a:endParaRPr lang="en-US" altLang="zh-CN">
              <a:latin typeface="Arial" pitchFamily="34" charset="0"/>
            </a:endParaRPr>
          </a:p>
        </p:txBody>
      </p:sp>
      <p:sp>
        <p:nvSpPr>
          <p:cNvPr id="272387" name="Rectangle 2"/>
          <p:cNvSpPr>
            <a:spLocks noGrp="1" noRot="1" noChangeAspect="1" noChangeArrowheads="1" noTextEdit="1"/>
          </p:cNvSpPr>
          <p:nvPr>
            <p:ph type="sldImg"/>
          </p:nvPr>
        </p:nvSpPr>
        <p:spPr>
          <a:ln/>
        </p:spPr>
      </p:sp>
      <p:sp>
        <p:nvSpPr>
          <p:cNvPr id="272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68606FA-9946-4FA8-B22A-01B341B63CD8}" type="slidenum">
              <a:rPr lang="en-US" altLang="zh-CN" smtClean="0"/>
              <a:pPr>
                <a:spcBef>
                  <a:spcPct val="0"/>
                </a:spcBef>
              </a:pPr>
              <a:t>5</a:t>
            </a:fld>
            <a:endParaRPr lang="en-US" altLang="zh-CN"/>
          </a:p>
        </p:txBody>
      </p:sp>
      <p:sp>
        <p:nvSpPr>
          <p:cNvPr id="273411" name="Rectangle 2"/>
          <p:cNvSpPr>
            <a:spLocks noGrp="1" noRot="1" noChangeAspect="1" noChangeArrowheads="1" noTextEdit="1"/>
          </p:cNvSpPr>
          <p:nvPr>
            <p:ph type="sldImg"/>
          </p:nvPr>
        </p:nvSpPr>
        <p:spPr>
          <a:solidFill>
            <a:srgbClr val="FFFFFF"/>
          </a:solidFill>
          <a:ln/>
        </p:spPr>
      </p:sp>
      <p:sp>
        <p:nvSpPr>
          <p:cNvPr id="273412"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zh-CN" altLang="en-US" sz="1000"/>
              <a:t>语法分析是编译过程的核心。</a:t>
            </a:r>
          </a:p>
          <a:p>
            <a:pPr eaLnBrk="1" hangingPunct="1"/>
            <a:endParaRPr lang="zh-CN" altLang="en-US" sz="1000"/>
          </a:p>
          <a:p>
            <a:pPr eaLnBrk="1" hangingPunct="1"/>
            <a:r>
              <a:rPr lang="zh-CN" altLang="en-US" sz="1000"/>
              <a:t>高级语言的语法结构适合用上下文无关文法来描述，上下文无关文法是语法分析的基础。</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lgn="r" eaLnBrk="1" hangingPunct="1">
              <a:spcBef>
                <a:spcPct val="0"/>
              </a:spcBef>
            </a:pPr>
            <a:fld id="{C2F36F64-5F76-40CB-AACF-FC23FFEC94D0}" type="slidenum">
              <a:rPr lang="en-US" altLang="zh-CN"/>
              <a:pPr algn="r" eaLnBrk="1" hangingPunct="1">
                <a:spcBef>
                  <a:spcPct val="0"/>
                </a:spcBef>
              </a:pPr>
              <a:t>9</a:t>
            </a:fld>
            <a:endParaRPr lang="en-US" altLang="zh-CN"/>
          </a:p>
        </p:txBody>
      </p:sp>
      <p:sp>
        <p:nvSpPr>
          <p:cNvPr id="275459" name="Rectangle 2"/>
          <p:cNvSpPr>
            <a:spLocks noGrp="1" noRot="1" noChangeAspect="1" noChangeArrowheads="1" noTextEdit="1"/>
          </p:cNvSpPr>
          <p:nvPr>
            <p:ph type="sldImg"/>
          </p:nvPr>
        </p:nvSpPr>
        <p:spPr>
          <a:ln/>
        </p:spPr>
      </p:sp>
      <p:sp>
        <p:nvSpPr>
          <p:cNvPr id="275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02BDBF9-4255-4FE5-A6CC-122B8BCAB9B1}" type="slidenum">
              <a:rPr lang="en-US" altLang="zh-CN" smtClean="0">
                <a:latin typeface="Arial" pitchFamily="34" charset="0"/>
              </a:rPr>
              <a:pPr>
                <a:spcBef>
                  <a:spcPct val="0"/>
                </a:spcBef>
              </a:pPr>
              <a:t>12</a:t>
            </a:fld>
            <a:endParaRPr lang="en-US" altLang="zh-CN">
              <a:latin typeface="Arial" pitchFamily="34" charset="0"/>
            </a:endParaRPr>
          </a:p>
        </p:txBody>
      </p:sp>
      <p:sp>
        <p:nvSpPr>
          <p:cNvPr id="276483" name="Rectangle 2"/>
          <p:cNvSpPr>
            <a:spLocks noGrp="1" noRot="1" noChangeAspect="1" noChangeArrowheads="1" noTextEdit="1"/>
          </p:cNvSpPr>
          <p:nvPr>
            <p:ph type="sldImg"/>
          </p:nvPr>
        </p:nvSpPr>
        <p:spPr>
          <a:ln/>
        </p:spPr>
      </p:sp>
      <p:sp>
        <p:nvSpPr>
          <p:cNvPr id="2764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lgn="r" eaLnBrk="1" hangingPunct="1">
              <a:spcBef>
                <a:spcPct val="0"/>
              </a:spcBef>
            </a:pPr>
            <a:fld id="{6B50A245-4999-47F6-90FE-73E83EFCC74E}" type="slidenum">
              <a:rPr kumimoji="0" lang="en-US" altLang="zh-CN">
                <a:latin typeface="Arial" pitchFamily="34" charset="0"/>
              </a:rPr>
              <a:pPr algn="r" eaLnBrk="1" hangingPunct="1">
                <a:spcBef>
                  <a:spcPct val="0"/>
                </a:spcBef>
              </a:pPr>
              <a:t>17</a:t>
            </a:fld>
            <a:endParaRPr kumimoji="0" lang="en-US" altLang="zh-CN">
              <a:latin typeface="Arial" pitchFamily="34" charset="0"/>
            </a:endParaRPr>
          </a:p>
        </p:txBody>
      </p:sp>
      <p:sp>
        <p:nvSpPr>
          <p:cNvPr id="277507" name="Rectangle 2"/>
          <p:cNvSpPr>
            <a:spLocks noGrp="1" noRot="1" noChangeAspect="1" noChangeArrowheads="1" noTextEdit="1"/>
          </p:cNvSpPr>
          <p:nvPr>
            <p:ph type="sldImg"/>
          </p:nvPr>
        </p:nvSpPr>
        <p:spPr>
          <a:ln/>
        </p:spPr>
      </p:sp>
      <p:sp>
        <p:nvSpPr>
          <p:cNvPr id="2775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4331CC1-2FB4-4DBD-9DBA-E7726A01C417}" type="slidenum">
              <a:rPr lang="en-US" altLang="zh-CN" smtClean="0">
                <a:latin typeface="Arial" pitchFamily="34" charset="0"/>
              </a:rPr>
              <a:pPr>
                <a:spcBef>
                  <a:spcPct val="0"/>
                </a:spcBef>
              </a:pPr>
              <a:t>20</a:t>
            </a:fld>
            <a:endParaRPr lang="en-US" altLang="zh-CN">
              <a:latin typeface="Arial" pitchFamily="34" charset="0"/>
            </a:endParaRPr>
          </a:p>
        </p:txBody>
      </p:sp>
      <p:sp>
        <p:nvSpPr>
          <p:cNvPr id="278531" name="Rectangle 2"/>
          <p:cNvSpPr>
            <a:spLocks noGrp="1" noRot="1" noChangeAspect="1" noChangeArrowheads="1" noTextEdit="1"/>
          </p:cNvSpPr>
          <p:nvPr>
            <p:ph type="sldImg"/>
          </p:nvPr>
        </p:nvSpPr>
        <p:spPr>
          <a:ln/>
        </p:spPr>
      </p:sp>
      <p:sp>
        <p:nvSpPr>
          <p:cNvPr id="2785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lvl="1" eaLnBrk="1" hangingPunct="1"/>
            <a:r>
              <a:rPr lang="zh-CN" altLang="en-US" b="1">
                <a:latin typeface="宋体" pitchFamily="2" charset="-122"/>
              </a:rPr>
              <a:t>上下文无关</a:t>
            </a:r>
            <a:r>
              <a:rPr lang="zh-CN" altLang="en-US">
                <a:latin typeface="宋体" pitchFamily="2" charset="-122"/>
              </a:rPr>
              <a:t>文法所定义的语法成分独立于它可能出现的环境，即不考虑上下文。</a:t>
            </a:r>
            <a:endParaRPr lang="zh-CN" altLang="en-US" sz="2400">
              <a:solidFill>
                <a:srgbClr val="0066FF"/>
              </a:solidFill>
              <a:latin typeface="Arial"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C3BA125-E85B-4EBE-9445-FD3EBB03B3A1}" type="slidenum">
              <a:rPr lang="en-US" altLang="zh-CN" smtClean="0">
                <a:latin typeface="Arial" pitchFamily="34" charset="0"/>
              </a:rPr>
              <a:pPr>
                <a:spcBef>
                  <a:spcPct val="0"/>
                </a:spcBef>
              </a:pPr>
              <a:t>21</a:t>
            </a:fld>
            <a:endParaRPr lang="en-US" altLang="zh-CN">
              <a:latin typeface="Arial" pitchFamily="34" charset="0"/>
            </a:endParaRPr>
          </a:p>
        </p:txBody>
      </p:sp>
      <p:sp>
        <p:nvSpPr>
          <p:cNvPr id="279555" name="Rectangle 2"/>
          <p:cNvSpPr>
            <a:spLocks noGrp="1" noRot="1" noChangeAspect="1" noChangeArrowheads="1" noTextEdit="1"/>
          </p:cNvSpPr>
          <p:nvPr>
            <p:ph type="sldImg"/>
          </p:nvPr>
        </p:nvSpPr>
        <p:spPr>
          <a:ln/>
        </p:spPr>
      </p:sp>
      <p:sp>
        <p:nvSpPr>
          <p:cNvPr id="2795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AECC3A0-6A58-4B01-9EB8-598AE24EBA6D}" type="slidenum">
              <a:rPr lang="en-US" altLang="zh-CN" smtClean="0">
                <a:latin typeface="Arial" pitchFamily="34" charset="0"/>
              </a:rPr>
              <a:pPr>
                <a:spcBef>
                  <a:spcPct val="0"/>
                </a:spcBef>
              </a:pPr>
              <a:t>22</a:t>
            </a:fld>
            <a:endParaRPr lang="en-US" altLang="zh-CN">
              <a:latin typeface="Arial" pitchFamily="34" charset="0"/>
            </a:endParaRPr>
          </a:p>
        </p:txBody>
      </p:sp>
      <p:sp>
        <p:nvSpPr>
          <p:cNvPr id="280579" name="Rectangle 2"/>
          <p:cNvSpPr>
            <a:spLocks noGrp="1" noRot="1" noChangeAspect="1" noChangeArrowheads="1" noTextEdit="1"/>
          </p:cNvSpPr>
          <p:nvPr>
            <p:ph type="sldImg"/>
          </p:nvPr>
        </p:nvSpPr>
        <p:spPr>
          <a:ln/>
        </p:spPr>
      </p:sp>
      <p:sp>
        <p:nvSpPr>
          <p:cNvPr id="2805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1709004-53C6-4DC5-801A-08581185FAB4}" type="slidenum">
              <a:rPr lang="en-US" altLang="zh-CN" smtClean="0">
                <a:latin typeface="Arial" pitchFamily="34" charset="0"/>
              </a:rPr>
              <a:pPr>
                <a:spcBef>
                  <a:spcPct val="0"/>
                </a:spcBef>
              </a:pPr>
              <a:t>23</a:t>
            </a:fld>
            <a:endParaRPr lang="en-US" altLang="zh-CN">
              <a:latin typeface="Arial" pitchFamily="34" charset="0"/>
            </a:endParaRPr>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1709004-53C6-4DC5-801A-08581185FAB4}" type="slidenum">
              <a:rPr lang="en-US" altLang="zh-CN" smtClean="0">
                <a:latin typeface="Arial" pitchFamily="34" charset="0"/>
              </a:rPr>
              <a:pPr>
                <a:spcBef>
                  <a:spcPct val="0"/>
                </a:spcBef>
              </a:pPr>
              <a:t>24</a:t>
            </a:fld>
            <a:endParaRPr lang="en-US" altLang="zh-CN">
              <a:latin typeface="Arial" pitchFamily="34" charset="0"/>
            </a:endParaRPr>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4D49965-8FAA-4147-AC85-964D0E1326AC}" type="slidenum">
              <a:rPr lang="en-US" altLang="zh-CN" smtClean="0">
                <a:latin typeface="Arial" pitchFamily="34" charset="0"/>
              </a:rPr>
              <a:pPr>
                <a:spcBef>
                  <a:spcPct val="0"/>
                </a:spcBef>
              </a:pPr>
              <a:t>25</a:t>
            </a:fld>
            <a:endParaRPr lang="en-US" altLang="zh-CN">
              <a:latin typeface="Arial" pitchFamily="34" charset="0"/>
            </a:endParaRPr>
          </a:p>
        </p:txBody>
      </p:sp>
      <p:sp>
        <p:nvSpPr>
          <p:cNvPr id="282627" name="Rectangle 2"/>
          <p:cNvSpPr>
            <a:spLocks noGrp="1" noRot="1" noChangeAspect="1" noChangeArrowheads="1" noTextEdit="1"/>
          </p:cNvSpPr>
          <p:nvPr>
            <p:ph type="sldImg"/>
          </p:nvPr>
        </p:nvSpPr>
        <p:spPr>
          <a:ln/>
        </p:spPr>
      </p:sp>
      <p:sp>
        <p:nvSpPr>
          <p:cNvPr id="2826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4DC53B6-969A-4650-93D7-A9AF13289C38}" type="slidenum">
              <a:rPr lang="en-US" altLang="zh-CN" smtClean="0"/>
              <a:pPr>
                <a:spcBef>
                  <a:spcPct val="0"/>
                </a:spcBef>
              </a:pPr>
              <a:t>26</a:t>
            </a:fld>
            <a:endParaRPr lang="en-US" altLang="zh-CN"/>
          </a:p>
        </p:txBody>
      </p:sp>
      <p:sp>
        <p:nvSpPr>
          <p:cNvPr id="285699" name="Rectangle 2"/>
          <p:cNvSpPr>
            <a:spLocks noGrp="1" noRot="1" noChangeAspect="1" noChangeArrowheads="1" noTextEdit="1"/>
          </p:cNvSpPr>
          <p:nvPr>
            <p:ph type="sldImg"/>
          </p:nvPr>
        </p:nvSpPr>
        <p:spPr>
          <a:solidFill>
            <a:srgbClr val="FFFFFF"/>
          </a:solidFill>
          <a:ln/>
        </p:spPr>
      </p:sp>
      <p:sp>
        <p:nvSpPr>
          <p:cNvPr id="285700"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zh-CN" altLang="en-US"/>
              <a:t>在进行推导时，为什么要选用这些产生式？为了得到最终结果。根据最终结果的形式选择推导过程中使用的产生式</a:t>
            </a:r>
          </a:p>
          <a:p>
            <a:pPr eaLnBrk="1" hangingPunct="1"/>
            <a:r>
              <a:rPr lang="zh-CN" altLang="en-US"/>
              <a:t>推导过程最终可以建立一棵语法树</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D7EBA08-CE00-4EC5-AD31-2ED233FCC712}" type="slidenum">
              <a:rPr lang="en-US" altLang="zh-CN" smtClean="0">
                <a:latin typeface="Arial" pitchFamily="34" charset="0"/>
              </a:rPr>
              <a:pPr>
                <a:spcBef>
                  <a:spcPct val="0"/>
                </a:spcBef>
              </a:pPr>
              <a:t>27</a:t>
            </a:fld>
            <a:endParaRPr lang="en-US" altLang="zh-CN">
              <a:latin typeface="Arial" pitchFamily="34" charset="0"/>
            </a:endParaRPr>
          </a:p>
        </p:txBody>
      </p:sp>
      <p:sp>
        <p:nvSpPr>
          <p:cNvPr id="286723" name="Rectangle 2"/>
          <p:cNvSpPr>
            <a:spLocks noGrp="1" noRot="1" noChangeAspect="1" noChangeArrowheads="1" noTextEdit="1"/>
          </p:cNvSpPr>
          <p:nvPr>
            <p:ph type="sldImg"/>
          </p:nvPr>
        </p:nvSpPr>
        <p:spPr>
          <a:ln/>
        </p:spPr>
      </p:sp>
      <p:sp>
        <p:nvSpPr>
          <p:cNvPr id="2867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9B11074-73F1-405F-9D38-441F303128A3}" type="slidenum">
              <a:rPr lang="en-US" altLang="zh-CN" smtClean="0">
                <a:latin typeface="Arial" pitchFamily="34" charset="0"/>
              </a:rPr>
              <a:pPr>
                <a:spcBef>
                  <a:spcPct val="0"/>
                </a:spcBef>
              </a:pPr>
              <a:t>28</a:t>
            </a:fld>
            <a:endParaRPr lang="en-US" altLang="zh-CN">
              <a:latin typeface="Arial" pitchFamily="34" charset="0"/>
            </a:endParaRPr>
          </a:p>
        </p:txBody>
      </p:sp>
      <p:sp>
        <p:nvSpPr>
          <p:cNvPr id="287747" name="Rectangle 2"/>
          <p:cNvSpPr>
            <a:spLocks noGrp="1" noRot="1" noChangeAspect="1" noChangeArrowheads="1" noTextEdit="1"/>
          </p:cNvSpPr>
          <p:nvPr>
            <p:ph type="sldImg"/>
          </p:nvPr>
        </p:nvSpPr>
        <p:spPr>
          <a:ln/>
        </p:spPr>
      </p:sp>
      <p:sp>
        <p:nvSpPr>
          <p:cNvPr id="2877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F58D350-CFB8-4ED5-AB1B-C2AE03499137}" type="slidenum">
              <a:rPr lang="en-US" altLang="zh-CN" smtClean="0">
                <a:latin typeface="Arial" pitchFamily="34" charset="0"/>
              </a:rPr>
              <a:pPr>
                <a:spcBef>
                  <a:spcPct val="0"/>
                </a:spcBef>
              </a:pPr>
              <a:t>29</a:t>
            </a:fld>
            <a:endParaRPr lang="en-US" altLang="zh-CN">
              <a:latin typeface="Arial" pitchFamily="34" charset="0"/>
            </a:endParaRPr>
          </a:p>
        </p:txBody>
      </p:sp>
      <p:sp>
        <p:nvSpPr>
          <p:cNvPr id="288771" name="Rectangle 2"/>
          <p:cNvSpPr>
            <a:spLocks noGrp="1" noRot="1" noChangeAspect="1" noChangeArrowheads="1" noTextEdit="1"/>
          </p:cNvSpPr>
          <p:nvPr>
            <p:ph type="sldImg"/>
          </p:nvPr>
        </p:nvSpPr>
        <p:spPr>
          <a:ln/>
        </p:spPr>
      </p:sp>
      <p:sp>
        <p:nvSpPr>
          <p:cNvPr id="2887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2814779-9D51-41D4-9782-F66EACAAB098}" type="slidenum">
              <a:rPr lang="en-US" altLang="zh-CN" smtClean="0">
                <a:latin typeface="Arial" pitchFamily="34" charset="0"/>
              </a:rPr>
              <a:pPr>
                <a:spcBef>
                  <a:spcPct val="0"/>
                </a:spcBef>
              </a:pPr>
              <a:t>30</a:t>
            </a:fld>
            <a:endParaRPr lang="en-US" altLang="zh-CN">
              <a:latin typeface="Arial" pitchFamily="34" charset="0"/>
            </a:endParaRPr>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3892FA2-8BA3-4006-8A89-3BF2FE10F30C}" type="slidenum">
              <a:rPr lang="en-US" altLang="zh-CN" smtClean="0">
                <a:latin typeface="Arial" pitchFamily="34" charset="0"/>
              </a:rPr>
              <a:pPr>
                <a:spcBef>
                  <a:spcPct val="0"/>
                </a:spcBef>
              </a:pPr>
              <a:t>31</a:t>
            </a:fld>
            <a:endParaRPr lang="en-US" altLang="zh-CN">
              <a:latin typeface="Arial" pitchFamily="34" charset="0"/>
            </a:endParaRPr>
          </a:p>
        </p:txBody>
      </p:sp>
      <p:sp>
        <p:nvSpPr>
          <p:cNvPr id="290819" name="Rectangle 2"/>
          <p:cNvSpPr>
            <a:spLocks noGrp="1" noRot="1" noChangeAspect="1" noChangeArrowheads="1" noTextEdit="1"/>
          </p:cNvSpPr>
          <p:nvPr>
            <p:ph type="sldImg"/>
          </p:nvPr>
        </p:nvSpPr>
        <p:spPr>
          <a:ln/>
        </p:spPr>
      </p:sp>
      <p:sp>
        <p:nvSpPr>
          <p:cNvPr id="2908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4A8DB83-707C-4B26-84C9-890AC2FC4735}" type="slidenum">
              <a:rPr lang="en-US" altLang="zh-CN" smtClean="0">
                <a:latin typeface="Arial" pitchFamily="34" charset="0"/>
              </a:rPr>
              <a:pPr>
                <a:spcBef>
                  <a:spcPct val="0"/>
                </a:spcBef>
              </a:pPr>
              <a:t>32</a:t>
            </a:fld>
            <a:endParaRPr lang="en-US" altLang="zh-CN">
              <a:latin typeface="Arial" pitchFamily="34" charset="0"/>
            </a:endParaRPr>
          </a:p>
        </p:txBody>
      </p:sp>
      <p:sp>
        <p:nvSpPr>
          <p:cNvPr id="292867" name="Rectangle 2"/>
          <p:cNvSpPr>
            <a:spLocks noGrp="1" noRot="1" noChangeAspect="1" noChangeArrowheads="1" noTextEdit="1"/>
          </p:cNvSpPr>
          <p:nvPr>
            <p:ph type="sldImg"/>
          </p:nvPr>
        </p:nvSpPr>
        <p:spPr>
          <a:ln/>
        </p:spPr>
      </p:sp>
      <p:sp>
        <p:nvSpPr>
          <p:cNvPr id="2928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8512A9E-96E8-4D19-B154-8C8867CC4AF1}" type="slidenum">
              <a:rPr lang="en-US" altLang="zh-CN" smtClean="0">
                <a:latin typeface="Arial" pitchFamily="34" charset="0"/>
              </a:rPr>
              <a:pPr>
                <a:spcBef>
                  <a:spcPct val="0"/>
                </a:spcBef>
              </a:pPr>
              <a:t>34</a:t>
            </a:fld>
            <a:endParaRPr lang="en-US" altLang="zh-CN">
              <a:latin typeface="Arial" pitchFamily="34" charset="0"/>
            </a:endParaRPr>
          </a:p>
        </p:txBody>
      </p:sp>
      <p:sp>
        <p:nvSpPr>
          <p:cNvPr id="293891" name="Rectangle 2"/>
          <p:cNvSpPr>
            <a:spLocks noGrp="1" noRot="1" noChangeAspect="1" noChangeArrowheads="1" noTextEdit="1"/>
          </p:cNvSpPr>
          <p:nvPr>
            <p:ph type="sldImg"/>
          </p:nvPr>
        </p:nvSpPr>
        <p:spPr>
          <a:ln/>
        </p:spPr>
      </p:sp>
      <p:sp>
        <p:nvSpPr>
          <p:cNvPr id="293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EEA6697-1FF1-4404-B54D-ED12E68957BA}" type="slidenum">
              <a:rPr lang="en-US" altLang="zh-CN" smtClean="0">
                <a:latin typeface="Arial" pitchFamily="34" charset="0"/>
              </a:rPr>
              <a:pPr>
                <a:spcBef>
                  <a:spcPct val="0"/>
                </a:spcBef>
              </a:pPr>
              <a:t>35</a:t>
            </a:fld>
            <a:endParaRPr lang="en-US" altLang="zh-CN">
              <a:latin typeface="Arial" pitchFamily="34" charset="0"/>
            </a:endParaRPr>
          </a:p>
        </p:txBody>
      </p:sp>
      <p:sp>
        <p:nvSpPr>
          <p:cNvPr id="294915" name="Rectangle 2"/>
          <p:cNvSpPr>
            <a:spLocks noGrp="1" noRot="1" noChangeAspect="1" noChangeArrowheads="1" noTextEdit="1"/>
          </p:cNvSpPr>
          <p:nvPr>
            <p:ph type="sldImg"/>
          </p:nvPr>
        </p:nvSpPr>
        <p:spPr>
          <a:ln/>
        </p:spPr>
      </p:sp>
      <p:sp>
        <p:nvSpPr>
          <p:cNvPr id="2949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9D9958D-60CA-4014-9938-7ABDF1F02070}" type="slidenum">
              <a:rPr lang="en-US" altLang="zh-CN" smtClean="0">
                <a:latin typeface="Arial" pitchFamily="34" charset="0"/>
              </a:rPr>
              <a:pPr>
                <a:spcBef>
                  <a:spcPct val="0"/>
                </a:spcBef>
              </a:pPr>
              <a:t>37</a:t>
            </a:fld>
            <a:endParaRPr lang="en-US" altLang="zh-CN">
              <a:latin typeface="Arial" pitchFamily="34" charset="0"/>
            </a:endParaRPr>
          </a:p>
        </p:txBody>
      </p:sp>
      <p:sp>
        <p:nvSpPr>
          <p:cNvPr id="295939" name="Rectangle 2"/>
          <p:cNvSpPr>
            <a:spLocks noGrp="1" noRot="1" noChangeAspect="1" noChangeArrowheads="1" noTextEdit="1"/>
          </p:cNvSpPr>
          <p:nvPr>
            <p:ph type="sldImg"/>
          </p:nvPr>
        </p:nvSpPr>
        <p:spPr>
          <a:ln/>
        </p:spPr>
      </p:sp>
      <p:sp>
        <p:nvSpPr>
          <p:cNvPr id="2959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lgn="r" eaLnBrk="1" hangingPunct="1">
              <a:spcBef>
                <a:spcPct val="0"/>
              </a:spcBef>
            </a:pPr>
            <a:fld id="{6ABE0970-BC88-400E-9A18-0CC24272C31A}" type="slidenum">
              <a:rPr kumimoji="0" lang="en-US" altLang="zh-CN">
                <a:latin typeface="Arial" pitchFamily="34" charset="0"/>
              </a:rPr>
              <a:pPr algn="r" eaLnBrk="1" hangingPunct="1">
                <a:spcBef>
                  <a:spcPct val="0"/>
                </a:spcBef>
              </a:pPr>
              <a:t>39</a:t>
            </a:fld>
            <a:endParaRPr kumimoji="0" lang="en-US" altLang="zh-CN">
              <a:latin typeface="Arial" pitchFamily="34" charset="0"/>
            </a:endParaRPr>
          </a:p>
        </p:txBody>
      </p:sp>
      <p:sp>
        <p:nvSpPr>
          <p:cNvPr id="296963" name="Rectangle 2"/>
          <p:cNvSpPr>
            <a:spLocks noGrp="1" noRot="1" noChangeAspect="1" noChangeArrowheads="1" noTextEdit="1"/>
          </p:cNvSpPr>
          <p:nvPr>
            <p:ph type="sldImg"/>
          </p:nvPr>
        </p:nvSpPr>
        <p:spPr>
          <a:ln/>
        </p:spPr>
      </p:sp>
      <p:sp>
        <p:nvSpPr>
          <p:cNvPr id="2969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最左推导在语法树中的表现主要是：总是沿最左分支替换到底，再是次左边</a:t>
            </a:r>
            <a:r>
              <a:rPr lang="en-US" altLang="zh-CN" dirty="0"/>
              <a:t>……</a:t>
            </a:r>
          </a:p>
          <a:p>
            <a:pPr eaLnBrk="1" hangingPunct="1"/>
            <a:endParaRPr lang="en-US" altLang="zh-CN"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3F1C833-2780-4BEC-9619-38179FDD76DA}" type="slidenum">
              <a:rPr lang="en-US" altLang="zh-CN" smtClean="0">
                <a:latin typeface="Arial" pitchFamily="34" charset="0"/>
              </a:rPr>
              <a:pPr>
                <a:spcBef>
                  <a:spcPct val="0"/>
                </a:spcBef>
              </a:pPr>
              <a:t>40</a:t>
            </a:fld>
            <a:endParaRPr lang="en-US" altLang="zh-CN">
              <a:latin typeface="Arial" pitchFamily="34" charset="0"/>
            </a:endParaRPr>
          </a:p>
        </p:txBody>
      </p:sp>
      <p:sp>
        <p:nvSpPr>
          <p:cNvPr id="297987" name="Rectangle 2"/>
          <p:cNvSpPr>
            <a:spLocks noGrp="1" noRot="1" noChangeAspect="1" noChangeArrowheads="1" noTextEdit="1"/>
          </p:cNvSpPr>
          <p:nvPr>
            <p:ph type="sldImg"/>
          </p:nvPr>
        </p:nvSpPr>
        <p:spPr>
          <a:ln/>
        </p:spPr>
      </p:sp>
      <p:sp>
        <p:nvSpPr>
          <p:cNvPr id="2979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lgn="r" eaLnBrk="1" hangingPunct="1">
              <a:spcBef>
                <a:spcPct val="0"/>
              </a:spcBef>
            </a:pPr>
            <a:fld id="{2546FA0D-941A-42D5-868F-058AB5132411}" type="slidenum">
              <a:rPr lang="en-US" altLang="zh-CN"/>
              <a:pPr algn="r" eaLnBrk="1" hangingPunct="1">
                <a:spcBef>
                  <a:spcPct val="0"/>
                </a:spcBef>
              </a:pPr>
              <a:t>48</a:t>
            </a:fld>
            <a:endParaRPr lang="en-US" altLang="zh-CN"/>
          </a:p>
        </p:txBody>
      </p:sp>
      <p:sp>
        <p:nvSpPr>
          <p:cNvPr id="299011" name="Rectangle 2"/>
          <p:cNvSpPr>
            <a:spLocks noGrp="1" noRot="1" noChangeAspect="1" noChangeArrowheads="1" noTextEdit="1"/>
          </p:cNvSpPr>
          <p:nvPr>
            <p:ph type="sldImg"/>
          </p:nvPr>
        </p:nvSpPr>
        <p:spPr>
          <a:solidFill>
            <a:srgbClr val="FFFFFF"/>
          </a:solidFill>
          <a:ln/>
        </p:spPr>
      </p:sp>
      <p:sp>
        <p:nvSpPr>
          <p:cNvPr id="29901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zh-CN" altLang="zh-CN" sz="3200">
              <a:solidFill>
                <a:srgbClr val="008080"/>
              </a:solidFill>
              <a:ea typeface="华文行楷" pitchFamily="2" charset="-122"/>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F37919B-5BD6-4D04-8890-0D3353F3267F}" type="slidenum">
              <a:rPr lang="en-US" altLang="zh-CN" smtClean="0"/>
              <a:pPr>
                <a:spcBef>
                  <a:spcPct val="0"/>
                </a:spcBef>
              </a:pPr>
              <a:t>49</a:t>
            </a:fld>
            <a:endParaRPr lang="en-US" altLang="zh-CN"/>
          </a:p>
        </p:txBody>
      </p:sp>
      <p:sp>
        <p:nvSpPr>
          <p:cNvPr id="300035" name="Rectangle 2"/>
          <p:cNvSpPr>
            <a:spLocks noGrp="1" noRot="1" noChangeAspect="1" noChangeArrowheads="1" noTextEdit="1"/>
          </p:cNvSpPr>
          <p:nvPr>
            <p:ph type="sldImg"/>
          </p:nvPr>
        </p:nvSpPr>
        <p:spPr>
          <a:solidFill>
            <a:srgbClr val="FFFFFF"/>
          </a:solidFill>
          <a:ln/>
        </p:spPr>
      </p:sp>
      <p:sp>
        <p:nvSpPr>
          <p:cNvPr id="300036" name="Rectangle 3"/>
          <p:cNvSpPr>
            <a:spLocks noGrp="1" noChangeArrowheads="1"/>
          </p:cNvSpPr>
          <p:nvPr>
            <p:ph type="body" idx="1"/>
          </p:nvPr>
        </p:nvSpPr>
        <p:spPr>
          <a:solidFill>
            <a:srgbClr val="FFFFFF"/>
          </a:solidFill>
          <a:ln>
            <a:solidFill>
              <a:srgbClr val="000000"/>
            </a:solidFill>
          </a:ln>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在此处还没有要求文法的类型，</a:t>
            </a:r>
            <a:endParaRPr lang="en-US" altLang="zh-CN"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b="1" i="1" dirty="0">
                <a:ea typeface="华文行楷" pitchFamily="2" charset="-122"/>
                <a:sym typeface="Symbol" pitchFamily="18" charset="2"/>
              </a:rPr>
              <a:t>对左递归文法使用最左推导。</a:t>
            </a:r>
            <a:endParaRPr lang="zh-CN" altLang="en-US" sz="1400" dirty="0">
              <a:ea typeface="华文行楷" pitchFamily="2" charset="-122"/>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3BA7E59-3C83-434F-8A18-9F71467A629F}" type="slidenum">
              <a:rPr lang="en-US" altLang="zh-CN" smtClean="0"/>
              <a:pPr>
                <a:spcBef>
                  <a:spcPct val="0"/>
                </a:spcBef>
              </a:pPr>
              <a:t>50</a:t>
            </a:fld>
            <a:endParaRPr lang="en-US" altLang="zh-CN"/>
          </a:p>
        </p:txBody>
      </p:sp>
      <p:sp>
        <p:nvSpPr>
          <p:cNvPr id="301059" name="Rectangle 2"/>
          <p:cNvSpPr>
            <a:spLocks noGrp="1" noRot="1" noChangeAspect="1" noChangeArrowheads="1" noTextEdit="1"/>
          </p:cNvSpPr>
          <p:nvPr>
            <p:ph type="sldImg"/>
          </p:nvPr>
        </p:nvSpPr>
        <p:spPr>
          <a:solidFill>
            <a:srgbClr val="FFFFFF"/>
          </a:solidFill>
          <a:ln/>
        </p:spPr>
      </p:sp>
      <p:sp>
        <p:nvSpPr>
          <p:cNvPr id="301060"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zh-CN" altLang="en-US"/>
              <a:t>因此下面就具体地讲解如何解决这两个问题</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869CC24-0AB5-4724-B281-509959AAB864}" type="slidenum">
              <a:rPr lang="en-US" altLang="zh-CN" smtClean="0"/>
              <a:pPr>
                <a:spcBef>
                  <a:spcPct val="0"/>
                </a:spcBef>
              </a:pPr>
              <a:t>51</a:t>
            </a:fld>
            <a:endParaRPr lang="en-US" altLang="zh-CN"/>
          </a:p>
        </p:txBody>
      </p:sp>
      <p:sp>
        <p:nvSpPr>
          <p:cNvPr id="302083" name="Rectangle 2"/>
          <p:cNvSpPr>
            <a:spLocks noGrp="1" noRot="1" noChangeAspect="1" noChangeArrowheads="1" noTextEdit="1"/>
          </p:cNvSpPr>
          <p:nvPr>
            <p:ph type="sldImg"/>
          </p:nvPr>
        </p:nvSpPr>
        <p:spPr>
          <a:ln/>
        </p:spPr>
      </p:sp>
      <p:sp>
        <p:nvSpPr>
          <p:cNvPr id="302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A15A19B-4C08-4EC2-835D-9FD15417607C}" type="slidenum">
              <a:rPr lang="en-US" altLang="zh-CN" smtClean="0"/>
              <a:pPr>
                <a:spcBef>
                  <a:spcPct val="0"/>
                </a:spcBef>
              </a:pPr>
              <a:t>52</a:t>
            </a:fld>
            <a:endParaRPr lang="en-US" altLang="zh-CN"/>
          </a:p>
        </p:txBody>
      </p:sp>
      <p:sp>
        <p:nvSpPr>
          <p:cNvPr id="305155" name="Rectangle 2"/>
          <p:cNvSpPr>
            <a:spLocks noGrp="1" noRot="1" noChangeAspect="1" noChangeArrowheads="1" noTextEdit="1"/>
          </p:cNvSpPr>
          <p:nvPr>
            <p:ph type="sldImg"/>
          </p:nvPr>
        </p:nvSpPr>
        <p:spPr>
          <a:solidFill>
            <a:srgbClr val="FFFFFF"/>
          </a:solidFill>
          <a:ln/>
        </p:spPr>
      </p:sp>
      <p:sp>
        <p:nvSpPr>
          <p:cNvPr id="30515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zh-CN" altLang="zh-CN" sz="1000">
              <a:latin typeface="宋体" pitchFamily="2" charset="-122"/>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7346004-3B7E-4753-9E51-5269CA88F8CB}" type="slidenum">
              <a:rPr lang="en-US" altLang="zh-CN" smtClean="0"/>
              <a:pPr>
                <a:spcBef>
                  <a:spcPct val="0"/>
                </a:spcBef>
              </a:pPr>
              <a:t>53</a:t>
            </a:fld>
            <a:endParaRPr lang="en-US" altLang="zh-CN"/>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CCD977C-D02F-4CA6-828B-9977BCBFE92A}" type="slidenum">
              <a:rPr lang="en-US" altLang="zh-CN" smtClean="0"/>
              <a:pPr>
                <a:spcBef>
                  <a:spcPct val="0"/>
                </a:spcBef>
              </a:pPr>
              <a:t>55</a:t>
            </a:fld>
            <a:endParaRPr lang="en-US" altLang="zh-CN"/>
          </a:p>
        </p:txBody>
      </p:sp>
      <p:sp>
        <p:nvSpPr>
          <p:cNvPr id="303107" name="Rectangle 2"/>
          <p:cNvSpPr>
            <a:spLocks noGrp="1" noRot="1" noChangeAspect="1" noChangeArrowheads="1" noTextEdit="1"/>
          </p:cNvSpPr>
          <p:nvPr>
            <p:ph type="sldImg"/>
          </p:nvPr>
        </p:nvSpPr>
        <p:spPr>
          <a:ln/>
        </p:spPr>
      </p:sp>
      <p:sp>
        <p:nvSpPr>
          <p:cNvPr id="3031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CCD977C-D02F-4CA6-828B-9977BCBFE92A}" type="slidenum">
              <a:rPr lang="en-US" altLang="zh-CN" smtClean="0"/>
              <a:pPr>
                <a:spcBef>
                  <a:spcPct val="0"/>
                </a:spcBef>
              </a:pPr>
              <a:t>56</a:t>
            </a:fld>
            <a:endParaRPr lang="en-US" altLang="zh-CN"/>
          </a:p>
        </p:txBody>
      </p:sp>
      <p:sp>
        <p:nvSpPr>
          <p:cNvPr id="303107" name="Rectangle 2"/>
          <p:cNvSpPr>
            <a:spLocks noGrp="1" noRot="1" noChangeAspect="1" noChangeArrowheads="1" noTextEdit="1"/>
          </p:cNvSpPr>
          <p:nvPr>
            <p:ph type="sldImg"/>
          </p:nvPr>
        </p:nvSpPr>
        <p:spPr>
          <a:ln/>
        </p:spPr>
      </p:sp>
      <p:sp>
        <p:nvSpPr>
          <p:cNvPr id="3031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25CA46A-321A-4982-AC90-E94225402468}" type="slidenum">
              <a:rPr lang="en-US" altLang="zh-CN" smtClean="0"/>
              <a:pPr>
                <a:spcBef>
                  <a:spcPct val="0"/>
                </a:spcBef>
              </a:pPr>
              <a:t>59</a:t>
            </a:fld>
            <a:endParaRPr lang="en-US" altLang="zh-CN"/>
          </a:p>
        </p:txBody>
      </p:sp>
      <p:sp>
        <p:nvSpPr>
          <p:cNvPr id="304131" name="Rectangle 2"/>
          <p:cNvSpPr>
            <a:spLocks noGrp="1" noRot="1" noChangeAspect="1" noChangeArrowheads="1" noTextEdit="1"/>
          </p:cNvSpPr>
          <p:nvPr>
            <p:ph type="sldImg"/>
          </p:nvPr>
        </p:nvSpPr>
        <p:spPr>
          <a:solidFill>
            <a:srgbClr val="FFFFFF"/>
          </a:solidFill>
          <a:ln/>
        </p:spPr>
      </p:sp>
      <p:sp>
        <p:nvSpPr>
          <p:cNvPr id="304132" name="Rectangle 3"/>
          <p:cNvSpPr>
            <a:spLocks noGrp="1" noChangeArrowheads="1"/>
          </p:cNvSpPr>
          <p:nvPr>
            <p:ph type="body" idx="1"/>
          </p:nvPr>
        </p:nvSpPr>
        <p:spPr>
          <a:solidFill>
            <a:srgbClr val="FFFFFF"/>
          </a:solidFill>
          <a:ln>
            <a:solidFill>
              <a:srgbClr val="000000"/>
            </a:solidFill>
          </a:ln>
        </p:spPr>
        <p:txBody>
          <a:bodyPr/>
          <a:lstStyle/>
          <a:p>
            <a:pPr eaLnBrk="1" hangingPunct="1">
              <a:spcBef>
                <a:spcPct val="0"/>
              </a:spcBef>
            </a:pPr>
            <a:r>
              <a:rPr lang="zh-CN" altLang="en-US" sz="2800"/>
              <a:t>不存在直接左递归，但</a:t>
            </a:r>
            <a:r>
              <a:rPr lang="en-US" altLang="zh-CN" sz="2800"/>
              <a:t>S=&gt;Qc=&gt;Rbc=&gt;Sabc,</a:t>
            </a:r>
          </a:p>
          <a:p>
            <a:pPr eaLnBrk="1" hangingPunct="1">
              <a:spcBef>
                <a:spcPct val="0"/>
              </a:spcBef>
            </a:pPr>
            <a:r>
              <a:rPr lang="zh-CN" altLang="en-US" sz="2800"/>
              <a:t>因此该文法是一个间接左递归</a:t>
            </a:r>
          </a:p>
          <a:p>
            <a:pPr eaLnBrk="1" hangingPunct="1"/>
            <a:endParaRPr lang="en-US"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050C174-44D0-47F7-A6FD-DCD563B51EBE}" type="slidenum">
              <a:rPr lang="en-US" altLang="zh-CN" smtClean="0"/>
              <a:pPr>
                <a:spcBef>
                  <a:spcPct val="0"/>
                </a:spcBef>
              </a:pPr>
              <a:t>61</a:t>
            </a:fld>
            <a:endParaRPr lang="en-US" altLang="zh-CN"/>
          </a:p>
        </p:txBody>
      </p:sp>
      <p:sp>
        <p:nvSpPr>
          <p:cNvPr id="307203" name="Rectangle 2"/>
          <p:cNvSpPr>
            <a:spLocks noGrp="1" noRot="1" noChangeAspect="1" noChangeArrowheads="1" noTextEdit="1"/>
          </p:cNvSpPr>
          <p:nvPr>
            <p:ph type="sldImg"/>
          </p:nvPr>
        </p:nvSpPr>
        <p:spPr>
          <a:ln/>
        </p:spPr>
      </p:sp>
      <p:sp>
        <p:nvSpPr>
          <p:cNvPr id="3072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55FC90F-2214-41EC-8FAA-A07B2BC70E20}" type="slidenum">
              <a:rPr lang="en-US" altLang="zh-CN" smtClean="0"/>
              <a:pPr>
                <a:spcBef>
                  <a:spcPct val="0"/>
                </a:spcBef>
              </a:pPr>
              <a:t>62</a:t>
            </a:fld>
            <a:endParaRPr lang="en-US" altLang="zh-CN"/>
          </a:p>
        </p:txBody>
      </p:sp>
      <p:sp>
        <p:nvSpPr>
          <p:cNvPr id="308227" name="Rectangle 2"/>
          <p:cNvSpPr>
            <a:spLocks noGrp="1" noRot="1" noChangeAspect="1" noChangeArrowheads="1" noTextEdit="1"/>
          </p:cNvSpPr>
          <p:nvPr>
            <p:ph type="sldImg"/>
          </p:nvPr>
        </p:nvSpPr>
        <p:spPr>
          <a:ln/>
        </p:spPr>
      </p:sp>
      <p:sp>
        <p:nvSpPr>
          <p:cNvPr id="3082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2453A86-79A6-468C-8EB0-64BCDC92B954}" type="slidenum">
              <a:rPr lang="en-US" altLang="zh-CN" smtClean="0"/>
              <a:pPr>
                <a:spcBef>
                  <a:spcPct val="0"/>
                </a:spcBef>
              </a:pPr>
              <a:t>63</a:t>
            </a:fld>
            <a:endParaRPr lang="en-US" altLang="zh-CN"/>
          </a:p>
        </p:txBody>
      </p:sp>
      <p:sp>
        <p:nvSpPr>
          <p:cNvPr id="309251" name="Rectangle 2"/>
          <p:cNvSpPr>
            <a:spLocks noGrp="1" noRot="1" noChangeAspect="1" noChangeArrowheads="1" noTextEdit="1"/>
          </p:cNvSpPr>
          <p:nvPr>
            <p:ph type="sldImg"/>
          </p:nvPr>
        </p:nvSpPr>
        <p:spPr>
          <a:ln/>
        </p:spPr>
      </p:sp>
      <p:sp>
        <p:nvSpPr>
          <p:cNvPr id="3092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40DBFF4-9D5E-4E1C-95BD-2EAD74820B88}" type="slidenum">
              <a:rPr lang="en-US" altLang="zh-CN" smtClean="0"/>
              <a:pPr>
                <a:spcBef>
                  <a:spcPct val="0"/>
                </a:spcBef>
              </a:pPr>
              <a:t>64</a:t>
            </a:fld>
            <a:endParaRPr lang="en-US" altLang="zh-CN"/>
          </a:p>
        </p:txBody>
      </p:sp>
      <p:sp>
        <p:nvSpPr>
          <p:cNvPr id="310275" name="Rectangle 2"/>
          <p:cNvSpPr>
            <a:spLocks noGrp="1" noRot="1" noChangeAspect="1" noChangeArrowheads="1" noTextEdit="1"/>
          </p:cNvSpPr>
          <p:nvPr>
            <p:ph type="sldImg"/>
          </p:nvPr>
        </p:nvSpPr>
        <p:spPr>
          <a:ln/>
        </p:spPr>
      </p:sp>
      <p:sp>
        <p:nvSpPr>
          <p:cNvPr id="3102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6DFF803-0472-48B8-B102-67AC5CFC5456}" type="slidenum">
              <a:rPr lang="en-US" altLang="zh-CN" smtClean="0"/>
              <a:pPr>
                <a:spcBef>
                  <a:spcPct val="0"/>
                </a:spcBef>
              </a:pPr>
              <a:t>65</a:t>
            </a:fld>
            <a:endParaRPr lang="en-US" altLang="zh-CN"/>
          </a:p>
        </p:txBody>
      </p:sp>
      <p:sp>
        <p:nvSpPr>
          <p:cNvPr id="316419" name="Rectangle 2"/>
          <p:cNvSpPr>
            <a:spLocks noGrp="1" noRot="1" noChangeAspect="1" noChangeArrowheads="1" noTextEdit="1"/>
          </p:cNvSpPr>
          <p:nvPr>
            <p:ph type="sldImg"/>
          </p:nvPr>
        </p:nvSpPr>
        <p:spPr>
          <a:solidFill>
            <a:srgbClr val="FFFFFF"/>
          </a:solidFill>
          <a:ln/>
        </p:spPr>
      </p:sp>
      <p:sp>
        <p:nvSpPr>
          <p:cNvPr id="316420" name="Rectangle 3"/>
          <p:cNvSpPr>
            <a:spLocks noGrp="1" noChangeArrowheads="1"/>
          </p:cNvSpPr>
          <p:nvPr>
            <p:ph type="body" idx="1"/>
          </p:nvPr>
        </p:nvSpPr>
        <p:spPr>
          <a:xfrm>
            <a:off x="914400" y="4341813"/>
            <a:ext cx="5029200" cy="4116387"/>
          </a:xfrm>
          <a:solidFill>
            <a:srgbClr val="FFFFFF"/>
          </a:solidFill>
          <a:ln>
            <a:solidFill>
              <a:srgbClr val="000000"/>
            </a:solidFill>
          </a:ln>
        </p:spPr>
        <p:txBody>
          <a:bodyPr/>
          <a:lstStyle/>
          <a:p>
            <a:pPr lvl="2" eaLnBrk="1" hangingPunct="1">
              <a:buSzPct val="70000"/>
              <a:buFont typeface="Wingdings" pitchFamily="2" charset="2"/>
              <a:buNone/>
            </a:pPr>
            <a:r>
              <a:rPr lang="zh-CN" altLang="en-US" sz="1100" b="1" dirty="0">
                <a:latin typeface="宋体" pitchFamily="2" charset="-122"/>
              </a:rPr>
              <a:t>文法</a:t>
            </a:r>
            <a:r>
              <a:rPr lang="en-US" altLang="zh-CN" sz="1100" b="1" dirty="0">
                <a:latin typeface="宋体" pitchFamily="2" charset="-122"/>
              </a:rPr>
              <a:t>G2</a:t>
            </a:r>
            <a:r>
              <a:rPr lang="zh-CN" altLang="en-US" sz="1100" b="1" dirty="0">
                <a:latin typeface="宋体" pitchFamily="2" charset="-122"/>
              </a:rPr>
              <a:t>的特点：</a:t>
            </a:r>
          </a:p>
          <a:p>
            <a:pPr lvl="2" eaLnBrk="1" hangingPunct="1">
              <a:buSzPct val="70000"/>
              <a:buFont typeface="Wingdings" pitchFamily="2" charset="2"/>
              <a:buNone/>
            </a:pPr>
            <a:r>
              <a:rPr lang="zh-CN" altLang="en-US" sz="1000" b="1" dirty="0">
                <a:latin typeface="宋体" pitchFamily="2" charset="-122"/>
              </a:rPr>
              <a:t>每个产生式的右部不全是由终结符号开始</a:t>
            </a:r>
          </a:p>
          <a:p>
            <a:pPr lvl="2" eaLnBrk="1" hangingPunct="1">
              <a:buSzPct val="70000"/>
              <a:buFont typeface="Wingdings" pitchFamily="2" charset="2"/>
              <a:buNone/>
            </a:pPr>
            <a:r>
              <a:rPr lang="zh-CN" altLang="en-US" sz="1000" b="1" dirty="0">
                <a:latin typeface="宋体" pitchFamily="2" charset="-122"/>
              </a:rPr>
              <a:t>如果两个产生式的左部相同，则它们的右部由不同的终结符号或非终结符号开始</a:t>
            </a:r>
          </a:p>
          <a:p>
            <a:pPr lvl="2" eaLnBrk="1" hangingPunct="1">
              <a:buSzPct val="70000"/>
              <a:buFont typeface="Wingdings" pitchFamily="2" charset="2"/>
              <a:buNone/>
            </a:pPr>
            <a:r>
              <a:rPr lang="zh-CN" altLang="en-US" sz="1000" b="1" dirty="0">
                <a:latin typeface="宋体" pitchFamily="2" charset="-122"/>
              </a:rPr>
              <a:t>文法中没有</a:t>
            </a:r>
            <a:r>
              <a:rPr lang="en-US" altLang="zh-CN" sz="1050" b="1" dirty="0">
                <a:latin typeface="宋体" pitchFamily="2" charset="-122"/>
              </a:rPr>
              <a:t>ε</a:t>
            </a:r>
            <a:r>
              <a:rPr lang="zh-CN" altLang="en-US" sz="1050" b="1" dirty="0">
                <a:latin typeface="宋体" pitchFamily="2" charset="-122"/>
              </a:rPr>
              <a:t>产生式</a:t>
            </a:r>
            <a:endParaRPr lang="zh-CN" altLang="en-US" sz="1000" b="1" dirty="0">
              <a:latin typeface="宋体" pitchFamily="2" charset="-122"/>
            </a:endParaRPr>
          </a:p>
          <a:p>
            <a:pPr lvl="2" eaLnBrk="1" hangingPunct="1">
              <a:buSzPct val="70000"/>
              <a:buFont typeface="Wingdings" pitchFamily="2" charset="2"/>
              <a:buNone/>
            </a:pPr>
            <a:r>
              <a:rPr lang="zh-CN" altLang="en-US" sz="1000" b="1" dirty="0">
                <a:latin typeface="宋体" pitchFamily="2" charset="-122"/>
              </a:rPr>
              <a:t>虽然不象</a:t>
            </a:r>
            <a:r>
              <a:rPr lang="en-US" altLang="zh-CN" sz="1000" b="1" dirty="0">
                <a:latin typeface="宋体" pitchFamily="2" charset="-122"/>
              </a:rPr>
              <a:t>G1</a:t>
            </a:r>
            <a:r>
              <a:rPr lang="zh-CN" altLang="en-US" sz="1000" b="1" dirty="0">
                <a:latin typeface="宋体" pitchFamily="2" charset="-122"/>
              </a:rPr>
              <a:t>那样直观，</a:t>
            </a:r>
            <a:r>
              <a:rPr lang="en-US" altLang="zh-CN" sz="1000" b="1" dirty="0">
                <a:latin typeface="宋体" pitchFamily="2" charset="-122"/>
              </a:rPr>
              <a:t>G2</a:t>
            </a:r>
            <a:r>
              <a:rPr lang="zh-CN" altLang="en-US" sz="1000" b="1" dirty="0">
                <a:latin typeface="宋体" pitchFamily="2" charset="-122"/>
              </a:rPr>
              <a:t>在推导过程中仍然可以根据当前的输入符号唯一地选择哪个产生式继续推导</a:t>
            </a:r>
          </a:p>
          <a:p>
            <a:pPr eaLnBrk="1" hangingPunct="1"/>
            <a:endParaRPr lang="en-US" altLang="zh-CN"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748B845-2082-428F-98F6-1837F161E320}" type="slidenum">
              <a:rPr lang="en-US" altLang="zh-CN" smtClean="0"/>
              <a:pPr>
                <a:spcBef>
                  <a:spcPct val="0"/>
                </a:spcBef>
              </a:pPr>
              <a:t>66</a:t>
            </a:fld>
            <a:endParaRPr lang="en-US" altLang="zh-CN"/>
          </a:p>
        </p:txBody>
      </p:sp>
      <p:sp>
        <p:nvSpPr>
          <p:cNvPr id="311299" name="Rectangle 2"/>
          <p:cNvSpPr>
            <a:spLocks noGrp="1" noRot="1" noChangeAspect="1" noChangeArrowheads="1" noTextEdit="1"/>
          </p:cNvSpPr>
          <p:nvPr>
            <p:ph type="sldImg"/>
          </p:nvPr>
        </p:nvSpPr>
        <p:spPr>
          <a:solidFill>
            <a:srgbClr val="FFFFFF"/>
          </a:solidFill>
          <a:ln/>
        </p:spPr>
      </p:sp>
      <p:sp>
        <p:nvSpPr>
          <p:cNvPr id="31130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zh-CN" altLang="zh-CN"/>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B6A0BA8-05E4-4F9A-AF77-6D9165832896}" type="slidenum">
              <a:rPr lang="en-US" altLang="zh-CN" smtClean="0"/>
              <a:pPr>
                <a:spcBef>
                  <a:spcPct val="0"/>
                </a:spcBef>
              </a:pPr>
              <a:t>68</a:t>
            </a:fld>
            <a:endParaRPr lang="en-US" altLang="zh-CN"/>
          </a:p>
        </p:txBody>
      </p:sp>
      <p:sp>
        <p:nvSpPr>
          <p:cNvPr id="312323" name="Rectangle 2"/>
          <p:cNvSpPr>
            <a:spLocks noGrp="1" noRot="1" noChangeAspect="1" noChangeArrowheads="1" noTextEdit="1"/>
          </p:cNvSpPr>
          <p:nvPr>
            <p:ph type="sldImg"/>
          </p:nvPr>
        </p:nvSpPr>
        <p:spPr>
          <a:ln/>
        </p:spPr>
      </p:sp>
      <p:sp>
        <p:nvSpPr>
          <p:cNvPr id="3123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48C54B5-87A4-471E-8494-21046C3CB587}" type="slidenum">
              <a:rPr lang="en-US" altLang="zh-CN" smtClean="0"/>
              <a:pPr>
                <a:spcBef>
                  <a:spcPct val="0"/>
                </a:spcBef>
              </a:pPr>
              <a:t>70</a:t>
            </a:fld>
            <a:endParaRPr lang="en-US" altLang="zh-CN"/>
          </a:p>
        </p:txBody>
      </p:sp>
      <p:sp>
        <p:nvSpPr>
          <p:cNvPr id="313347" name="Rectangle 2"/>
          <p:cNvSpPr>
            <a:spLocks noGrp="1" noRot="1" noChangeAspect="1" noChangeArrowheads="1" noTextEdit="1"/>
          </p:cNvSpPr>
          <p:nvPr>
            <p:ph type="sldImg"/>
          </p:nvPr>
        </p:nvSpPr>
        <p:spPr>
          <a:ln/>
        </p:spPr>
      </p:sp>
      <p:sp>
        <p:nvSpPr>
          <p:cNvPr id="3133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extLst>
      <p:ext uri="{BB962C8B-B14F-4D97-AF65-F5344CB8AC3E}">
        <p14:creationId xmlns:p14="http://schemas.microsoft.com/office/powerpoint/2010/main" val="387204273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48C54B5-87A4-471E-8494-21046C3CB587}" type="slidenum">
              <a:rPr lang="en-US" altLang="zh-CN" smtClean="0"/>
              <a:pPr>
                <a:spcBef>
                  <a:spcPct val="0"/>
                </a:spcBef>
              </a:pPr>
              <a:t>71</a:t>
            </a:fld>
            <a:endParaRPr lang="en-US" altLang="zh-CN"/>
          </a:p>
        </p:txBody>
      </p:sp>
      <p:sp>
        <p:nvSpPr>
          <p:cNvPr id="313347" name="Rectangle 2"/>
          <p:cNvSpPr>
            <a:spLocks noGrp="1" noRot="1" noChangeAspect="1" noChangeArrowheads="1" noTextEdit="1"/>
          </p:cNvSpPr>
          <p:nvPr>
            <p:ph type="sldImg"/>
          </p:nvPr>
        </p:nvSpPr>
        <p:spPr>
          <a:ln/>
        </p:spPr>
      </p:sp>
      <p:sp>
        <p:nvSpPr>
          <p:cNvPr id="3133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A76C598-1991-4AC6-8604-298E469B8502}" type="slidenum">
              <a:rPr lang="en-US" altLang="zh-CN" smtClean="0"/>
              <a:pPr>
                <a:spcBef>
                  <a:spcPct val="0"/>
                </a:spcBef>
              </a:pPr>
              <a:t>73</a:t>
            </a:fld>
            <a:endParaRPr lang="en-US" altLang="zh-CN"/>
          </a:p>
        </p:txBody>
      </p:sp>
      <p:sp>
        <p:nvSpPr>
          <p:cNvPr id="314371" name="Rectangle 2"/>
          <p:cNvSpPr>
            <a:spLocks noGrp="1" noRot="1" noChangeAspect="1" noChangeArrowheads="1" noTextEdit="1"/>
          </p:cNvSpPr>
          <p:nvPr>
            <p:ph type="sldImg"/>
          </p:nvPr>
        </p:nvSpPr>
        <p:spPr>
          <a:solidFill>
            <a:srgbClr val="FFFFFF"/>
          </a:solidFill>
          <a:ln/>
        </p:spPr>
      </p:sp>
      <p:sp>
        <p:nvSpPr>
          <p:cNvPr id="314372"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zh-CN" altLang="en-US" dirty="0"/>
              <a:t>这是下一节课的内容</a:t>
            </a:r>
            <a:r>
              <a:rPr lang="zh-CN" altLang="en-US" sz="1600" dirty="0"/>
              <a:t> </a:t>
            </a:r>
            <a:r>
              <a:rPr lang="en-US" altLang="zh-CN" sz="1600" dirty="0"/>
              <a:t>————LL(1)</a:t>
            </a:r>
            <a:r>
              <a:rPr lang="zh-CN" altLang="en-US" sz="1600" dirty="0"/>
              <a:t>文法</a:t>
            </a:r>
            <a:r>
              <a:rPr lang="zh-CN" altLang="en-US" dirty="0"/>
              <a:t>。</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1B2E592-6E06-4332-A401-0DA85D038B95}" type="slidenum">
              <a:rPr lang="en-US" altLang="zh-CN" smtClean="0"/>
              <a:pPr>
                <a:spcBef>
                  <a:spcPct val="0"/>
                </a:spcBef>
              </a:pPr>
              <a:t>74</a:t>
            </a:fld>
            <a:endParaRPr lang="en-US" altLang="zh-CN"/>
          </a:p>
        </p:txBody>
      </p:sp>
      <p:sp>
        <p:nvSpPr>
          <p:cNvPr id="317443" name="Rectangle 2"/>
          <p:cNvSpPr>
            <a:spLocks noGrp="1" noRot="1" noChangeAspect="1" noChangeArrowheads="1" noTextEdit="1"/>
          </p:cNvSpPr>
          <p:nvPr>
            <p:ph type="sldImg"/>
          </p:nvPr>
        </p:nvSpPr>
        <p:spPr>
          <a:ln/>
        </p:spPr>
      </p:sp>
      <p:sp>
        <p:nvSpPr>
          <p:cNvPr id="3174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a:t>
            </a:r>
            <a:r>
              <a:rPr lang="en-US" altLang="zh-CN" dirty="0"/>
              <a:t>1</a:t>
            </a:r>
            <a:r>
              <a:rPr lang="zh-CN" altLang="en-US" dirty="0"/>
              <a:t>）若没有</a:t>
            </a:r>
            <a:r>
              <a:rPr lang="en-US" altLang="zh-CN" dirty="0">
                <a:ea typeface="华文行楷" pitchFamily="2" charset="-122"/>
              </a:rPr>
              <a:t>ε</a:t>
            </a:r>
            <a:r>
              <a:rPr lang="zh-CN" altLang="en-US" dirty="0">
                <a:ea typeface="华文行楷" pitchFamily="2" charset="-122"/>
              </a:rPr>
              <a:t>候选式，</a:t>
            </a:r>
            <a:r>
              <a:rPr lang="zh-CN" altLang="en-US" dirty="0"/>
              <a:t>选择某个候选式往下推导，必须是该候选式的</a:t>
            </a:r>
            <a:r>
              <a:rPr lang="en-US" altLang="zh-CN" dirty="0"/>
              <a:t>First</a:t>
            </a:r>
            <a:r>
              <a:rPr lang="zh-CN" altLang="en-US" dirty="0"/>
              <a:t>集中包含当前输入符号</a:t>
            </a:r>
            <a:endParaRPr lang="en-US" altLang="zh-CN" dirty="0"/>
          </a:p>
          <a:p>
            <a:pPr eaLnBrk="1" hangingPunct="1"/>
            <a:r>
              <a:rPr lang="zh-CN" altLang="en-US" dirty="0"/>
              <a:t>（</a:t>
            </a:r>
            <a:r>
              <a:rPr lang="en-US" altLang="zh-CN" dirty="0"/>
              <a:t>2</a:t>
            </a:r>
            <a:r>
              <a:rPr lang="zh-CN" altLang="en-US" dirty="0"/>
              <a:t>）并不是在任何情况下，</a:t>
            </a:r>
            <a:r>
              <a:rPr lang="en-US" altLang="zh-CN" dirty="0"/>
              <a:t>A</a:t>
            </a:r>
            <a:r>
              <a:rPr lang="zh-CN" altLang="en-US" dirty="0"/>
              <a:t>面对输入符号</a:t>
            </a:r>
            <a:r>
              <a:rPr lang="en-US" altLang="zh-CN" dirty="0"/>
              <a:t>a</a:t>
            </a:r>
            <a:r>
              <a:rPr lang="zh-CN" altLang="en-US" dirty="0"/>
              <a:t>， </a:t>
            </a:r>
            <a:r>
              <a:rPr lang="en-US" altLang="zh-CN" dirty="0"/>
              <a:t>a</a:t>
            </a:r>
            <a:r>
              <a:rPr lang="zh-CN" altLang="en-US" dirty="0"/>
              <a:t>不属于</a:t>
            </a:r>
            <a:r>
              <a:rPr lang="en-US" altLang="zh-CN" dirty="0"/>
              <a:t>A</a:t>
            </a:r>
            <a:r>
              <a:rPr lang="zh-CN" altLang="en-US" dirty="0"/>
              <a:t>的任何侯选式，但</a:t>
            </a:r>
            <a:r>
              <a:rPr lang="en-US" altLang="zh-CN" dirty="0"/>
              <a:t>A</a:t>
            </a:r>
            <a:r>
              <a:rPr lang="zh-CN" altLang="en-US" dirty="0"/>
              <a:t>中含</a:t>
            </a:r>
            <a:r>
              <a:rPr lang="en-US" altLang="zh-CN" dirty="0"/>
              <a:t>ε</a:t>
            </a:r>
            <a:r>
              <a:rPr lang="zh-CN" altLang="en-US" dirty="0"/>
              <a:t>产生式时都可以使用</a:t>
            </a:r>
            <a:r>
              <a:rPr lang="en-US" altLang="zh-CN" dirty="0"/>
              <a:t>ε</a:t>
            </a:r>
            <a:r>
              <a:rPr lang="zh-CN" altLang="en-US" dirty="0"/>
              <a:t>自动匹配。</a:t>
            </a:r>
          </a:p>
          <a:p>
            <a:pPr eaLnBrk="1" hangingPunct="1"/>
            <a:endParaRPr lang="en-US" altLang="zh-CN" dirty="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18AA73F-90BA-445E-B39D-28D781776F86}" type="slidenum">
              <a:rPr lang="en-US" altLang="zh-CN" smtClean="0"/>
              <a:pPr>
                <a:spcBef>
                  <a:spcPct val="0"/>
                </a:spcBef>
              </a:pPr>
              <a:t>75</a:t>
            </a:fld>
            <a:endParaRPr lang="en-US" altLang="zh-CN"/>
          </a:p>
        </p:txBody>
      </p:sp>
      <p:sp>
        <p:nvSpPr>
          <p:cNvPr id="318467" name="Rectangle 2"/>
          <p:cNvSpPr>
            <a:spLocks noGrp="1" noRot="1" noChangeAspect="1" noChangeArrowheads="1" noTextEdit="1"/>
          </p:cNvSpPr>
          <p:nvPr>
            <p:ph type="sldImg"/>
          </p:nvPr>
        </p:nvSpPr>
        <p:spPr>
          <a:ln/>
        </p:spPr>
      </p:sp>
      <p:sp>
        <p:nvSpPr>
          <p:cNvPr id="3184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sz="900" dirty="0"/>
              <a:t>若</a:t>
            </a:r>
            <a:r>
              <a:rPr lang="en-US" altLang="zh-CN" sz="900" dirty="0"/>
              <a:t>a</a:t>
            </a:r>
            <a:r>
              <a:rPr lang="zh-CN" altLang="en-US" sz="900" dirty="0"/>
              <a:t>是允许在文法的某个句型中跟在</a:t>
            </a:r>
            <a:r>
              <a:rPr lang="en-US" altLang="zh-CN" sz="900" dirty="0"/>
              <a:t>A</a:t>
            </a:r>
            <a:r>
              <a:rPr lang="zh-CN" altLang="en-US" sz="900" dirty="0"/>
              <a:t>后面的终结符时，才可能允许</a:t>
            </a:r>
            <a:r>
              <a:rPr lang="en-US" altLang="zh-CN" sz="900" dirty="0">
                <a:latin typeface="宋体" pitchFamily="2" charset="-122"/>
              </a:rPr>
              <a:t>ε</a:t>
            </a:r>
            <a:r>
              <a:rPr lang="zh-CN" altLang="en-US" sz="900" dirty="0"/>
              <a:t>自动匹配，否则是错误的。</a:t>
            </a:r>
          </a:p>
          <a:p>
            <a:pPr eaLnBrk="1" hangingPunct="1"/>
            <a:endParaRPr lang="en-US" altLang="zh-CN"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2E8C49B-D3FC-4559-8DA5-FF28A45F1ED6}" type="slidenum">
              <a:rPr lang="en-US" altLang="zh-CN" smtClean="0"/>
              <a:pPr>
                <a:spcBef>
                  <a:spcPct val="0"/>
                </a:spcBef>
              </a:pPr>
              <a:t>77</a:t>
            </a:fld>
            <a:endParaRPr lang="en-US" altLang="zh-CN"/>
          </a:p>
        </p:txBody>
      </p:sp>
      <p:sp>
        <p:nvSpPr>
          <p:cNvPr id="319491" name="Rectangle 2"/>
          <p:cNvSpPr>
            <a:spLocks noGrp="1" noRot="1" noChangeAspect="1" noChangeArrowheads="1" noTextEdit="1"/>
          </p:cNvSpPr>
          <p:nvPr>
            <p:ph type="sldImg"/>
          </p:nvPr>
        </p:nvSpPr>
        <p:spPr>
          <a:ln/>
        </p:spPr>
      </p:sp>
      <p:sp>
        <p:nvSpPr>
          <p:cNvPr id="319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B3239DE-BD9C-41B4-A342-894BFA746B6D}" type="slidenum">
              <a:rPr lang="en-US" altLang="zh-CN" smtClean="0"/>
              <a:pPr>
                <a:spcBef>
                  <a:spcPct val="0"/>
                </a:spcBef>
              </a:pPr>
              <a:t>79</a:t>
            </a:fld>
            <a:endParaRPr lang="en-US" altLang="zh-CN"/>
          </a:p>
        </p:txBody>
      </p:sp>
      <p:sp>
        <p:nvSpPr>
          <p:cNvPr id="320515" name="Rectangle 2"/>
          <p:cNvSpPr>
            <a:spLocks noGrp="1" noRot="1" noChangeAspect="1" noChangeArrowheads="1" noTextEdit="1"/>
          </p:cNvSpPr>
          <p:nvPr>
            <p:ph type="sldImg"/>
          </p:nvPr>
        </p:nvSpPr>
        <p:spPr>
          <a:ln/>
        </p:spPr>
      </p:sp>
      <p:sp>
        <p:nvSpPr>
          <p:cNvPr id="3205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1B2E592-6E06-4332-A401-0DA85D038B95}" type="slidenum">
              <a:rPr lang="en-US" altLang="zh-CN" smtClean="0"/>
              <a:pPr>
                <a:spcBef>
                  <a:spcPct val="0"/>
                </a:spcBef>
              </a:pPr>
              <a:t>81</a:t>
            </a:fld>
            <a:endParaRPr lang="en-US" altLang="zh-CN"/>
          </a:p>
        </p:txBody>
      </p:sp>
      <p:sp>
        <p:nvSpPr>
          <p:cNvPr id="317443" name="Rectangle 2"/>
          <p:cNvSpPr>
            <a:spLocks noGrp="1" noRot="1" noChangeAspect="1" noChangeArrowheads="1" noTextEdit="1"/>
          </p:cNvSpPr>
          <p:nvPr>
            <p:ph type="sldImg"/>
          </p:nvPr>
        </p:nvSpPr>
        <p:spPr>
          <a:ln/>
        </p:spPr>
      </p:sp>
      <p:sp>
        <p:nvSpPr>
          <p:cNvPr id="3174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a:t>
            </a:r>
            <a:r>
              <a:rPr lang="en-US" altLang="zh-CN" dirty="0"/>
              <a:t>1</a:t>
            </a:r>
            <a:r>
              <a:rPr lang="zh-CN" altLang="en-US" dirty="0"/>
              <a:t>）若没有</a:t>
            </a:r>
            <a:r>
              <a:rPr lang="en-US" altLang="zh-CN" dirty="0">
                <a:ea typeface="华文行楷" pitchFamily="2" charset="-122"/>
              </a:rPr>
              <a:t>ε</a:t>
            </a:r>
            <a:r>
              <a:rPr lang="zh-CN" altLang="en-US" dirty="0">
                <a:ea typeface="华文行楷" pitchFamily="2" charset="-122"/>
              </a:rPr>
              <a:t>候选式，</a:t>
            </a:r>
            <a:r>
              <a:rPr lang="zh-CN" altLang="en-US" dirty="0"/>
              <a:t>选择某个候选式往下推导，必须是该候选式的</a:t>
            </a:r>
            <a:r>
              <a:rPr lang="en-US" altLang="zh-CN" dirty="0"/>
              <a:t>First</a:t>
            </a:r>
            <a:r>
              <a:rPr lang="zh-CN" altLang="en-US" dirty="0"/>
              <a:t>集中包含当前输入符号</a:t>
            </a:r>
            <a:endParaRPr lang="en-US" altLang="zh-CN" dirty="0"/>
          </a:p>
          <a:p>
            <a:pPr eaLnBrk="1" hangingPunct="1"/>
            <a:r>
              <a:rPr lang="zh-CN" altLang="en-US" dirty="0"/>
              <a:t>（</a:t>
            </a:r>
            <a:r>
              <a:rPr lang="en-US" altLang="zh-CN" dirty="0"/>
              <a:t>2</a:t>
            </a:r>
            <a:r>
              <a:rPr lang="zh-CN" altLang="en-US" dirty="0"/>
              <a:t>）并不是在任何情况下，</a:t>
            </a:r>
            <a:r>
              <a:rPr lang="en-US" altLang="zh-CN" dirty="0"/>
              <a:t>A</a:t>
            </a:r>
            <a:r>
              <a:rPr lang="zh-CN" altLang="en-US" dirty="0"/>
              <a:t>面对输入符号</a:t>
            </a:r>
            <a:r>
              <a:rPr lang="en-US" altLang="zh-CN" dirty="0"/>
              <a:t>a</a:t>
            </a:r>
            <a:r>
              <a:rPr lang="zh-CN" altLang="en-US" dirty="0"/>
              <a:t>， </a:t>
            </a:r>
            <a:r>
              <a:rPr lang="en-US" altLang="zh-CN" dirty="0"/>
              <a:t>a</a:t>
            </a:r>
            <a:r>
              <a:rPr lang="zh-CN" altLang="en-US" dirty="0"/>
              <a:t>不属于</a:t>
            </a:r>
            <a:r>
              <a:rPr lang="en-US" altLang="zh-CN" dirty="0"/>
              <a:t>A</a:t>
            </a:r>
            <a:r>
              <a:rPr lang="zh-CN" altLang="en-US" dirty="0"/>
              <a:t>的任何侯选式，但</a:t>
            </a:r>
            <a:r>
              <a:rPr lang="en-US" altLang="zh-CN" dirty="0"/>
              <a:t>A</a:t>
            </a:r>
            <a:r>
              <a:rPr lang="zh-CN" altLang="en-US" dirty="0"/>
              <a:t>中含</a:t>
            </a:r>
            <a:r>
              <a:rPr lang="en-US" altLang="zh-CN" dirty="0"/>
              <a:t>ε</a:t>
            </a:r>
            <a:r>
              <a:rPr lang="zh-CN" altLang="en-US" dirty="0"/>
              <a:t>产生式时都可以使用</a:t>
            </a:r>
            <a:r>
              <a:rPr lang="en-US" altLang="zh-CN" dirty="0"/>
              <a:t>ε</a:t>
            </a:r>
            <a:r>
              <a:rPr lang="zh-CN" altLang="en-US" dirty="0"/>
              <a:t>自动匹配。</a:t>
            </a:r>
          </a:p>
          <a:p>
            <a:pPr eaLnBrk="1" hangingPunct="1"/>
            <a:endParaRPr lang="en-US" altLang="zh-CN" dirty="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886709A-F8F3-489B-8A8B-E4DF8F4C6388}" type="slidenum">
              <a:rPr lang="en-US" altLang="zh-CN" smtClean="0"/>
              <a:pPr>
                <a:spcBef>
                  <a:spcPct val="0"/>
                </a:spcBef>
              </a:pPr>
              <a:t>82</a:t>
            </a:fld>
            <a:endParaRPr lang="en-US" altLang="zh-CN"/>
          </a:p>
        </p:txBody>
      </p:sp>
      <p:sp>
        <p:nvSpPr>
          <p:cNvPr id="321539" name="Rectangle 2"/>
          <p:cNvSpPr>
            <a:spLocks noGrp="1" noRot="1" noChangeAspect="1" noChangeArrowheads="1" noTextEdit="1"/>
          </p:cNvSpPr>
          <p:nvPr>
            <p:ph type="sldImg"/>
          </p:nvPr>
        </p:nvSpPr>
        <p:spPr>
          <a:ln/>
        </p:spPr>
      </p:sp>
      <p:sp>
        <p:nvSpPr>
          <p:cNvPr id="3215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67DD799-28F9-4728-A5E1-FCF679C354A8}" type="slidenum">
              <a:rPr lang="en-US" altLang="zh-CN" smtClean="0"/>
              <a:pPr>
                <a:spcBef>
                  <a:spcPct val="0"/>
                </a:spcBef>
              </a:pPr>
              <a:t>86</a:t>
            </a:fld>
            <a:endParaRPr lang="en-US" altLang="zh-CN"/>
          </a:p>
        </p:txBody>
      </p:sp>
      <p:sp>
        <p:nvSpPr>
          <p:cNvPr id="323587" name="Rectangle 2"/>
          <p:cNvSpPr>
            <a:spLocks noGrp="1" noRot="1" noChangeAspect="1" noChangeArrowheads="1" noTextEdit="1"/>
          </p:cNvSpPr>
          <p:nvPr>
            <p:ph type="sldImg"/>
          </p:nvPr>
        </p:nvSpPr>
        <p:spPr>
          <a:ln/>
        </p:spPr>
      </p:sp>
      <p:sp>
        <p:nvSpPr>
          <p:cNvPr id="3235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补充</a:t>
            </a:r>
            <a:r>
              <a:rPr lang="en-US" altLang="zh-CN" dirty="0"/>
              <a:t>LL(1)</a:t>
            </a:r>
            <a:r>
              <a:rPr lang="zh-CN" altLang="en-US" dirty="0"/>
              <a:t>的含义</a:t>
            </a: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EF9C4EF0-E494-4FB4-8E8E-EC528DBB2D4E}" type="slidenum">
              <a:rPr lang="en-US" altLang="zh-CN" smtClean="0"/>
              <a:pPr>
                <a:spcBef>
                  <a:spcPct val="0"/>
                </a:spcBef>
              </a:pPr>
              <a:t>91</a:t>
            </a:fld>
            <a:endParaRPr lang="en-US" altLang="zh-CN"/>
          </a:p>
        </p:txBody>
      </p:sp>
      <p:sp>
        <p:nvSpPr>
          <p:cNvPr id="324611" name="Rectangle 2"/>
          <p:cNvSpPr>
            <a:spLocks noGrp="1" noRot="1" noChangeAspect="1" noChangeArrowheads="1" noTextEdit="1"/>
          </p:cNvSpPr>
          <p:nvPr>
            <p:ph type="sldImg"/>
          </p:nvPr>
        </p:nvSpPr>
        <p:spPr>
          <a:ln/>
        </p:spPr>
      </p:sp>
      <p:sp>
        <p:nvSpPr>
          <p:cNvPr id="3246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E9A2622-3214-4071-B451-9E0480946490}" type="slidenum">
              <a:rPr lang="en-US" altLang="zh-CN" smtClean="0"/>
              <a:pPr>
                <a:spcBef>
                  <a:spcPct val="0"/>
                </a:spcBef>
              </a:pPr>
              <a:t>98</a:t>
            </a:fld>
            <a:endParaRPr lang="en-US" altLang="zh-CN"/>
          </a:p>
        </p:txBody>
      </p:sp>
      <p:sp>
        <p:nvSpPr>
          <p:cNvPr id="328707" name="Rectangle 2"/>
          <p:cNvSpPr>
            <a:spLocks noGrp="1" noRot="1" noChangeAspect="1" noChangeArrowheads="1" noTextEdit="1"/>
          </p:cNvSpPr>
          <p:nvPr>
            <p:ph type="sldImg"/>
          </p:nvPr>
        </p:nvSpPr>
        <p:spPr>
          <a:ln/>
        </p:spPr>
      </p:sp>
      <p:sp>
        <p:nvSpPr>
          <p:cNvPr id="3287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799E8391-A7AA-438B-8953-8185EA502C58}" type="slidenum">
              <a:rPr lang="zh-CN" altLang="en-US" smtClean="0"/>
              <a:t>99</a:t>
            </a:fld>
            <a:endParaRPr lang="zh-CN" altLang="en-US"/>
          </a:p>
        </p:txBody>
      </p:sp>
    </p:spTree>
    <p:extLst>
      <p:ext uri="{BB962C8B-B14F-4D97-AF65-F5344CB8AC3E}">
        <p14:creationId xmlns:p14="http://schemas.microsoft.com/office/powerpoint/2010/main" val="160414119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799E8391-A7AA-438B-8953-8185EA502C58}" type="slidenum">
              <a:rPr lang="zh-CN" altLang="en-US" smtClean="0"/>
              <a:t>100</a:t>
            </a:fld>
            <a:endParaRPr lang="zh-CN" altLang="en-US"/>
          </a:p>
        </p:txBody>
      </p:sp>
    </p:spTree>
    <p:extLst>
      <p:ext uri="{BB962C8B-B14F-4D97-AF65-F5344CB8AC3E}">
        <p14:creationId xmlns:p14="http://schemas.microsoft.com/office/powerpoint/2010/main" val="65317632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DD37CF4-24CA-4FAC-9E63-35377BD775AE}" type="slidenum">
              <a:rPr lang="en-US" altLang="zh-CN" smtClean="0"/>
              <a:pPr>
                <a:spcBef>
                  <a:spcPct val="0"/>
                </a:spcBef>
              </a:pPr>
              <a:t>104</a:t>
            </a:fld>
            <a:endParaRPr lang="en-US" altLang="zh-CN"/>
          </a:p>
        </p:txBody>
      </p:sp>
      <p:sp>
        <p:nvSpPr>
          <p:cNvPr id="325635" name="Rectangle 2"/>
          <p:cNvSpPr>
            <a:spLocks noGrp="1" noRot="1" noChangeAspect="1" noChangeArrowheads="1" noTextEdit="1"/>
          </p:cNvSpPr>
          <p:nvPr>
            <p:ph type="sldImg"/>
          </p:nvPr>
        </p:nvSpPr>
        <p:spPr>
          <a:ln/>
        </p:spPr>
      </p:sp>
      <p:sp>
        <p:nvSpPr>
          <p:cNvPr id="3256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extLst>
      <p:ext uri="{BB962C8B-B14F-4D97-AF65-F5344CB8AC3E}">
        <p14:creationId xmlns:p14="http://schemas.microsoft.com/office/powerpoint/2010/main" val="123528697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C5826FA-EB21-4B0D-8C31-AE01EEB1085F}" type="slidenum">
              <a:rPr lang="en-US" altLang="zh-CN" smtClean="0"/>
              <a:pPr>
                <a:spcBef>
                  <a:spcPct val="0"/>
                </a:spcBef>
              </a:pPr>
              <a:t>106</a:t>
            </a:fld>
            <a:endParaRPr lang="en-US" altLang="zh-CN"/>
          </a:p>
        </p:txBody>
      </p:sp>
      <p:sp>
        <p:nvSpPr>
          <p:cNvPr id="326659" name="Rectangle 2"/>
          <p:cNvSpPr>
            <a:spLocks noGrp="1" noRot="1" noChangeAspect="1" noChangeArrowheads="1" noTextEdit="1"/>
          </p:cNvSpPr>
          <p:nvPr>
            <p:ph type="sldImg"/>
          </p:nvPr>
        </p:nvSpPr>
        <p:spPr>
          <a:ln/>
        </p:spPr>
      </p:sp>
      <p:sp>
        <p:nvSpPr>
          <p:cNvPr id="3266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extLst>
      <p:ext uri="{BB962C8B-B14F-4D97-AF65-F5344CB8AC3E}">
        <p14:creationId xmlns:p14="http://schemas.microsoft.com/office/powerpoint/2010/main" val="208082212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3CFBD16-DFB7-4FF7-B2BA-9B6ECD7E70DC}" type="slidenum">
              <a:rPr lang="en-US" altLang="zh-CN" smtClean="0"/>
              <a:pPr>
                <a:spcBef>
                  <a:spcPct val="0"/>
                </a:spcBef>
              </a:pPr>
              <a:t>107</a:t>
            </a:fld>
            <a:endParaRPr lang="en-US" altLang="zh-CN"/>
          </a:p>
        </p:txBody>
      </p:sp>
      <p:sp>
        <p:nvSpPr>
          <p:cNvPr id="327683" name="Rectangle 2"/>
          <p:cNvSpPr>
            <a:spLocks noGrp="1" noRot="1" noChangeAspect="1" noChangeArrowheads="1" noTextEdit="1"/>
          </p:cNvSpPr>
          <p:nvPr>
            <p:ph type="sldImg"/>
          </p:nvPr>
        </p:nvSpPr>
        <p:spPr>
          <a:ln/>
        </p:spPr>
      </p:sp>
      <p:sp>
        <p:nvSpPr>
          <p:cNvPr id="3276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extLst>
      <p:ext uri="{BB962C8B-B14F-4D97-AF65-F5344CB8AC3E}">
        <p14:creationId xmlns:p14="http://schemas.microsoft.com/office/powerpoint/2010/main" val="112744903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799E8391-A7AA-438B-8953-8185EA502C58}" type="slidenum">
              <a:rPr lang="zh-CN" altLang="en-US" smtClean="0"/>
              <a:t>111</a:t>
            </a:fld>
            <a:endParaRPr lang="zh-CN" altLang="en-US"/>
          </a:p>
        </p:txBody>
      </p:sp>
    </p:spTree>
    <p:extLst>
      <p:ext uri="{BB962C8B-B14F-4D97-AF65-F5344CB8AC3E}">
        <p14:creationId xmlns:p14="http://schemas.microsoft.com/office/powerpoint/2010/main" val="408051513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EC196D8-7703-43CC-BA4A-8710B1B5689F}" type="slidenum">
              <a:rPr lang="en-US" altLang="zh-CN" smtClean="0"/>
              <a:pPr>
                <a:spcBef>
                  <a:spcPct val="0"/>
                </a:spcBef>
              </a:pPr>
              <a:t>112</a:t>
            </a:fld>
            <a:endParaRPr lang="en-US" altLang="zh-CN"/>
          </a:p>
        </p:txBody>
      </p:sp>
      <p:sp>
        <p:nvSpPr>
          <p:cNvPr id="329731" name="Rectangle 2"/>
          <p:cNvSpPr>
            <a:spLocks noGrp="1" noRot="1" noChangeAspect="1" noChangeArrowheads="1" noTextEdit="1"/>
          </p:cNvSpPr>
          <p:nvPr>
            <p:ph type="sldImg"/>
          </p:nvPr>
        </p:nvSpPr>
        <p:spPr>
          <a:ln/>
        </p:spPr>
      </p:sp>
      <p:sp>
        <p:nvSpPr>
          <p:cNvPr id="3297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E612A36-35C7-48F2-B382-5F8327F31DF9}" type="slidenum">
              <a:rPr lang="en-US" altLang="zh-CN" smtClean="0"/>
              <a:pPr>
                <a:spcBef>
                  <a:spcPct val="0"/>
                </a:spcBef>
              </a:pPr>
              <a:t>118</a:t>
            </a:fld>
            <a:endParaRPr lang="en-US" altLang="zh-CN"/>
          </a:p>
        </p:txBody>
      </p:sp>
      <p:sp>
        <p:nvSpPr>
          <p:cNvPr id="330755" name="Rectangle 2"/>
          <p:cNvSpPr>
            <a:spLocks noGrp="1" noRot="1" noChangeAspect="1" noChangeArrowheads="1" noTextEdit="1"/>
          </p:cNvSpPr>
          <p:nvPr>
            <p:ph type="sldImg"/>
          </p:nvPr>
        </p:nvSpPr>
        <p:spPr>
          <a:ln/>
        </p:spPr>
      </p:sp>
      <p:sp>
        <p:nvSpPr>
          <p:cNvPr id="3307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dirty="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3CEBECA-E122-4C0C-BEE7-257024288BA3}" type="slidenum">
              <a:rPr lang="en-US" altLang="zh-CN" smtClean="0"/>
              <a:pPr>
                <a:spcBef>
                  <a:spcPct val="0"/>
                </a:spcBef>
              </a:pPr>
              <a:t>119</a:t>
            </a:fld>
            <a:endParaRPr lang="en-US" altLang="zh-CN"/>
          </a:p>
        </p:txBody>
      </p:sp>
      <p:sp>
        <p:nvSpPr>
          <p:cNvPr id="331779" name="Rectangle 2"/>
          <p:cNvSpPr>
            <a:spLocks noGrp="1" noRot="1" noChangeAspect="1" noChangeArrowheads="1" noTextEdit="1"/>
          </p:cNvSpPr>
          <p:nvPr>
            <p:ph type="sldImg"/>
          </p:nvPr>
        </p:nvSpPr>
        <p:spPr>
          <a:ln/>
        </p:spPr>
      </p:sp>
      <p:sp>
        <p:nvSpPr>
          <p:cNvPr id="3317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0"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DD5BE713-B98A-436E-A31D-30F713BFB6D3}" type="slidenum">
              <a:rPr lang="en-US" altLang="zh-CN" smtClean="0"/>
              <a:pPr>
                <a:spcBef>
                  <a:spcPct val="0"/>
                </a:spcBef>
              </a:pPr>
              <a:t>133</a:t>
            </a:fld>
            <a:endParaRPr lang="en-US" altLang="zh-CN"/>
          </a:p>
        </p:txBody>
      </p:sp>
      <p:sp>
        <p:nvSpPr>
          <p:cNvPr id="1048621" name="Rectangle 2"/>
          <p:cNvSpPr>
            <a:spLocks noGrp="1" noRot="1" noChangeAspect="1" noChangeArrowheads="1" noTextEdit="1"/>
          </p:cNvSpPr>
          <p:nvPr>
            <p:ph type="sldImg"/>
          </p:nvPr>
        </p:nvSpPr>
        <p:spPr/>
      </p:sp>
      <p:sp>
        <p:nvSpPr>
          <p:cNvPr id="1048622"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7"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DF83609-44BA-4CB5-A83C-4AAC59CC7EFC}" type="slidenum">
              <a:rPr lang="en-US" altLang="zh-CN" smtClean="0"/>
              <a:pPr>
                <a:spcBef>
                  <a:spcPct val="0"/>
                </a:spcBef>
              </a:pPr>
              <a:t>134</a:t>
            </a:fld>
            <a:endParaRPr lang="en-US" altLang="zh-CN"/>
          </a:p>
        </p:txBody>
      </p:sp>
      <p:sp>
        <p:nvSpPr>
          <p:cNvPr id="1048628" name="Rectangle 2"/>
          <p:cNvSpPr>
            <a:spLocks noGrp="1" noRot="1" noChangeAspect="1" noChangeArrowheads="1" noTextEdit="1"/>
          </p:cNvSpPr>
          <p:nvPr>
            <p:ph type="sldImg"/>
          </p:nvPr>
        </p:nvSpPr>
        <p:spPr/>
      </p:sp>
      <p:sp>
        <p:nvSpPr>
          <p:cNvPr id="1048629"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18"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A2E3BD4-C736-43D1-A502-F034F51380BC}" type="slidenum">
              <a:rPr lang="en-US" altLang="zh-CN" smtClean="0"/>
              <a:pPr>
                <a:spcBef>
                  <a:spcPct val="0"/>
                </a:spcBef>
              </a:pPr>
              <a:t>135</a:t>
            </a:fld>
            <a:endParaRPr lang="en-US" altLang="zh-CN"/>
          </a:p>
        </p:txBody>
      </p:sp>
      <p:sp>
        <p:nvSpPr>
          <p:cNvPr id="1048719" name="Rectangle 2"/>
          <p:cNvSpPr>
            <a:spLocks noGrp="1" noRot="1" noChangeAspect="1" noChangeArrowheads="1" noTextEdit="1"/>
          </p:cNvSpPr>
          <p:nvPr>
            <p:ph type="sldImg"/>
          </p:nvPr>
        </p:nvSpPr>
        <p:spPr/>
      </p:sp>
      <p:sp>
        <p:nvSpPr>
          <p:cNvPr id="1048720" name="Rectangle 3"/>
          <p:cNvSpPr>
            <a:spLocks noGrp="1" noChangeArrowheads="1"/>
          </p:cNvSpPr>
          <p:nvPr>
            <p:ph type="body" idx="1"/>
          </p:nvPr>
        </p:nvSpPr>
        <p:spPr>
          <a:noFill/>
        </p:spPr>
        <p:txBody>
          <a:bodyPr/>
          <a:lstStyle/>
          <a:p>
            <a:pPr>
              <a:spcBef>
                <a:spcPct val="0"/>
              </a:spcBef>
              <a:buNone/>
            </a:pPr>
            <a:r>
              <a:rPr lang="zh-CN" altLang="en-US" sz="1200" dirty="0">
                <a:ea typeface="华文行楷" pitchFamily="2" charset="-122"/>
              </a:rPr>
              <a:t>分析过程：设置一个栈，反复执行“移进”和“归约”两个动作，直到栈中只有开始符号为止。</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27"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39D579C-E426-42FB-A43C-78D68CA2A0FE}" type="slidenum">
              <a:rPr lang="en-US" altLang="zh-CN" smtClean="0"/>
              <a:pPr>
                <a:spcBef>
                  <a:spcPct val="0"/>
                </a:spcBef>
              </a:pPr>
              <a:t>136</a:t>
            </a:fld>
            <a:endParaRPr lang="en-US" altLang="zh-CN"/>
          </a:p>
        </p:txBody>
      </p:sp>
      <p:sp>
        <p:nvSpPr>
          <p:cNvPr id="1048728" name="Rectangle 2"/>
          <p:cNvSpPr>
            <a:spLocks noGrp="1" noRot="1" noChangeAspect="1" noChangeArrowheads="1" noTextEdit="1"/>
          </p:cNvSpPr>
          <p:nvPr>
            <p:ph type="sldImg"/>
          </p:nvPr>
        </p:nvSpPr>
        <p:spPr/>
      </p:sp>
      <p:sp>
        <p:nvSpPr>
          <p:cNvPr id="1048729" name="Rectangle 3"/>
          <p:cNvSpPr>
            <a:spLocks noGrp="1" noChangeArrowheads="1"/>
          </p:cNvSpPr>
          <p:nvPr>
            <p:ph type="body" idx="1"/>
          </p:nvPr>
        </p:nvSpPr>
        <p:spPr>
          <a:noFill/>
        </p:spPr>
        <p:txBody>
          <a:bodyPr/>
          <a:lstStyle/>
          <a:p>
            <a:pPr eaLnBrk="1" hangingPunct="1"/>
            <a:r>
              <a:rPr lang="zh-CN" altLang="en-US" sz="1200" b="1" dirty="0">
                <a:solidFill>
                  <a:srgbClr val="FF0000"/>
                </a:solidFill>
                <a:latin typeface="宋体" panose="02010600030101010101" pitchFamily="2" charset="-122"/>
                <a:ea typeface="宋体" panose="02010600030101010101" pitchFamily="2" charset="-122"/>
                <a:sym typeface="Symbol" pitchFamily="18" charset="2"/>
              </a:rPr>
              <a:t>归约</a:t>
            </a:r>
            <a:r>
              <a:rPr lang="zh-CN" altLang="en-US" sz="1200" dirty="0">
                <a:latin typeface="宋体" panose="02010600030101010101" pitchFamily="2" charset="-122"/>
                <a:ea typeface="宋体" panose="02010600030101010101" pitchFamily="2" charset="-122"/>
                <a:sym typeface="Symbol" pitchFamily="18" charset="2"/>
              </a:rPr>
              <a:t>就是将栈顶的一串符号用文法产生式的左部代替</a:t>
            </a:r>
            <a:endParaRPr lang="en-US" altLang="zh-CN" sz="1200" dirty="0">
              <a:latin typeface="宋体" panose="02010600030101010101" pitchFamily="2" charset="-122"/>
              <a:ea typeface="宋体" panose="02010600030101010101" pitchFamily="2" charset="-122"/>
              <a:sym typeface="Symbol" pitchFamily="18" charset="2"/>
            </a:endParaRP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dirty="0">
                <a:latin typeface="宋体" panose="02010600030101010101" pitchFamily="2" charset="-122"/>
                <a:ea typeface="宋体" panose="02010600030101010101" pitchFamily="2" charset="-122"/>
                <a:sym typeface="Symbol" pitchFamily="18" charset="2"/>
              </a:rPr>
              <a:t>由于总是将句型的最左边的可归约串替换成非终结符，</a:t>
            </a:r>
            <a:endParaRPr lang="en-US" altLang="zh-CN" sz="1200" dirty="0">
              <a:latin typeface="宋体" panose="02010600030101010101" pitchFamily="2" charset="-122"/>
              <a:ea typeface="宋体" panose="02010600030101010101" pitchFamily="2" charset="-122"/>
              <a:sym typeface="Symbol" pitchFamily="18" charset="2"/>
            </a:endParaRP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dirty="0">
                <a:latin typeface="宋体" panose="02010600030101010101" pitchFamily="2" charset="-122"/>
                <a:ea typeface="宋体" panose="02010600030101010101" pitchFamily="2" charset="-122"/>
                <a:sym typeface="Symbol" pitchFamily="18" charset="2"/>
              </a:rPr>
              <a:t>该方法与最右推导对应</a:t>
            </a: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18"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A2E3BD4-C736-43D1-A502-F034F51380BC}" type="slidenum">
              <a:rPr lang="en-US" altLang="zh-CN" smtClean="0"/>
              <a:pPr>
                <a:spcBef>
                  <a:spcPct val="0"/>
                </a:spcBef>
              </a:pPr>
              <a:t>137</a:t>
            </a:fld>
            <a:endParaRPr lang="en-US" altLang="zh-CN"/>
          </a:p>
        </p:txBody>
      </p:sp>
      <p:sp>
        <p:nvSpPr>
          <p:cNvPr id="1048719" name="Rectangle 2"/>
          <p:cNvSpPr>
            <a:spLocks noGrp="1" noRot="1" noChangeAspect="1" noChangeArrowheads="1" noTextEdit="1"/>
          </p:cNvSpPr>
          <p:nvPr>
            <p:ph type="sldImg"/>
          </p:nvPr>
        </p:nvSpPr>
        <p:spPr/>
      </p:sp>
      <p:sp>
        <p:nvSpPr>
          <p:cNvPr id="1048720" name="Rectangle 3"/>
          <p:cNvSpPr>
            <a:spLocks noGrp="1" noChangeArrowheads="1"/>
          </p:cNvSpPr>
          <p:nvPr>
            <p:ph type="body" idx="1"/>
          </p:nvPr>
        </p:nvSpPr>
        <p:spPr>
          <a:noFill/>
        </p:spPr>
        <p:txBody>
          <a:bodyPr/>
          <a:lstStyle/>
          <a:p>
            <a:pPr>
              <a:spcBef>
                <a:spcPct val="0"/>
              </a:spcBef>
              <a:buNone/>
            </a:pPr>
            <a:r>
              <a:rPr lang="zh-CN" altLang="en-US" sz="1200" dirty="0">
                <a:ea typeface="华文行楷" pitchFamily="2" charset="-122"/>
              </a:rPr>
              <a:t>分析过程：设置一个栈，反复执行“移进”和“归约”两个动作，直到栈中只有开始符号为止。</a:t>
            </a: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76"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CEB229E-2B69-4F0B-B5F4-89416C571125}" type="slidenum">
              <a:rPr lang="en-US" altLang="zh-CN" smtClean="0"/>
              <a:pPr>
                <a:spcBef>
                  <a:spcPct val="0"/>
                </a:spcBef>
              </a:pPr>
              <a:t>139</a:t>
            </a:fld>
            <a:endParaRPr lang="en-US" altLang="zh-CN"/>
          </a:p>
        </p:txBody>
      </p:sp>
      <p:sp>
        <p:nvSpPr>
          <p:cNvPr id="1048777" name="Rectangle 2"/>
          <p:cNvSpPr>
            <a:spLocks noGrp="1" noRot="1" noChangeAspect="1" noChangeArrowheads="1" noTextEdit="1"/>
          </p:cNvSpPr>
          <p:nvPr>
            <p:ph type="sldImg"/>
          </p:nvPr>
        </p:nvSpPr>
        <p:spPr/>
      </p:sp>
      <p:sp>
        <p:nvSpPr>
          <p:cNvPr id="1048778" name="Rectangle 3"/>
          <p:cNvSpPr>
            <a:spLocks noGrp="1" noChangeArrowheads="1"/>
          </p:cNvSpPr>
          <p:nvPr>
            <p:ph type="body" idx="1"/>
          </p:nvPr>
        </p:nvSpPr>
        <p:spPr>
          <a:noFill/>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dirty="0">
                <a:latin typeface="宋体" pitchFamily="2" charset="-122"/>
                <a:ea typeface="华文行楷" pitchFamily="2" charset="-122"/>
              </a:rPr>
              <a:t>关键的问题是</a:t>
            </a:r>
            <a:r>
              <a:rPr lang="zh-CN" altLang="en-US" sz="1200" dirty="0">
                <a:solidFill>
                  <a:schemeClr val="accent2"/>
                </a:solidFill>
                <a:latin typeface="宋体" pitchFamily="2" charset="-122"/>
                <a:ea typeface="华文行楷" pitchFamily="2" charset="-122"/>
              </a:rPr>
              <a:t>如何识别句柄</a:t>
            </a:r>
            <a:endParaRPr lang="zh-CN" altLang="en-US" sz="1200" dirty="0">
              <a:ea typeface="华文行楷" pitchFamily="2" charset="-122"/>
            </a:endParaRPr>
          </a:p>
          <a:p>
            <a:pPr eaLnBrk="1" hangingPunct="1"/>
            <a:endParaRPr lang="zh-CN" altLang="zh-CN" dirty="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63"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023163F-037E-4E1A-9596-B02C6FF49557}" type="slidenum">
              <a:rPr lang="en-US" altLang="zh-CN" smtClean="0"/>
              <a:pPr>
                <a:spcBef>
                  <a:spcPct val="0"/>
                </a:spcBef>
              </a:pPr>
              <a:t>140</a:t>
            </a:fld>
            <a:endParaRPr lang="en-US" altLang="zh-CN"/>
          </a:p>
        </p:txBody>
      </p:sp>
      <p:sp>
        <p:nvSpPr>
          <p:cNvPr id="1048764" name="Rectangle 1026"/>
          <p:cNvSpPr>
            <a:spLocks noGrp="1" noRot="1" noChangeAspect="1" noChangeArrowheads="1" noTextEdit="1"/>
          </p:cNvSpPr>
          <p:nvPr>
            <p:ph type="sldImg"/>
          </p:nvPr>
        </p:nvSpPr>
        <p:spPr/>
      </p:sp>
      <p:sp>
        <p:nvSpPr>
          <p:cNvPr id="1048765" name="Rectangle 1027"/>
          <p:cNvSpPr>
            <a:spLocks noGrp="1" noChangeArrowheads="1"/>
          </p:cNvSpPr>
          <p:nvPr>
            <p:ph type="body" idx="1"/>
          </p:nvPr>
        </p:nvSpPr>
        <p:spPr>
          <a:noFill/>
        </p:spPr>
        <p:txBody>
          <a:bodyPr/>
          <a:lstStyle/>
          <a:p>
            <a:pPr eaLnBrk="1" hangingPunct="1">
              <a:spcBef>
                <a:spcPct val="50000"/>
              </a:spcBef>
            </a:pPr>
            <a:r>
              <a:rPr lang="en-US" altLang="zh-CN" sz="2400" dirty="0"/>
              <a:t>E =&gt; E + T  =&gt; T + T =&gt; T * F + T  =&gt;  F * F + T </a:t>
            </a:r>
          </a:p>
          <a:p>
            <a:pPr eaLnBrk="1" hangingPunct="1">
              <a:spcBef>
                <a:spcPct val="50000"/>
              </a:spcBef>
            </a:pPr>
            <a:r>
              <a:rPr lang="en-US" altLang="zh-CN" sz="2400" dirty="0"/>
              <a:t>=&gt; i1 * F + T  =&gt; i1 * i2 + T =&gt; i1 * i2 + F  =&gt;  i1 * i2 + i3</a:t>
            </a: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04"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C3A7114-A102-40A9-B8CA-EA9DD2205B7E}" type="slidenum">
              <a:rPr lang="en-US" altLang="zh-CN" smtClean="0"/>
              <a:pPr>
                <a:spcBef>
                  <a:spcPct val="0"/>
                </a:spcBef>
              </a:pPr>
              <a:t>141</a:t>
            </a:fld>
            <a:endParaRPr lang="en-US" altLang="zh-CN"/>
          </a:p>
        </p:txBody>
      </p:sp>
      <p:sp>
        <p:nvSpPr>
          <p:cNvPr id="1048805" name="Rectangle 2"/>
          <p:cNvSpPr>
            <a:spLocks noGrp="1" noRot="1" noChangeAspect="1" noChangeArrowheads="1" noTextEdit="1"/>
          </p:cNvSpPr>
          <p:nvPr>
            <p:ph type="sldImg"/>
          </p:nvPr>
        </p:nvSpPr>
        <p:spPr/>
      </p:sp>
      <p:sp>
        <p:nvSpPr>
          <p:cNvPr id="1048806"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09"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E90C2CA-305D-4FBC-815C-902D66AC8C15}" type="slidenum">
              <a:rPr lang="en-US" altLang="zh-CN" smtClean="0"/>
              <a:pPr>
                <a:spcBef>
                  <a:spcPct val="0"/>
                </a:spcBef>
              </a:pPr>
              <a:t>142</a:t>
            </a:fld>
            <a:endParaRPr lang="en-US" altLang="zh-CN"/>
          </a:p>
        </p:txBody>
      </p:sp>
      <p:sp>
        <p:nvSpPr>
          <p:cNvPr id="1048810" name="Rectangle 2"/>
          <p:cNvSpPr>
            <a:spLocks noGrp="1" noRot="1" noChangeAspect="1" noChangeArrowheads="1" noTextEdit="1"/>
          </p:cNvSpPr>
          <p:nvPr>
            <p:ph type="sldImg"/>
          </p:nvPr>
        </p:nvSpPr>
        <p:spPr/>
      </p:sp>
      <p:sp>
        <p:nvSpPr>
          <p:cNvPr id="1048811" name="Rectangle 3"/>
          <p:cNvSpPr>
            <a:spLocks noGrp="1" noChangeArrowheads="1"/>
          </p:cNvSpPr>
          <p:nvPr>
            <p:ph type="body" idx="1"/>
          </p:nvPr>
        </p:nvSpPr>
        <p:spPr>
          <a:noFill/>
        </p:spPr>
        <p:txBody>
          <a:bodyPr/>
          <a:lstStyle/>
          <a:p>
            <a:pPr eaLnBrk="1" hangingPunct="1"/>
            <a:r>
              <a:rPr lang="zh-CN" altLang="en-US" sz="1000"/>
              <a:t>如上例</a:t>
            </a: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18"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44F6021-98C6-42F6-9547-8D8E5BC0E660}" type="slidenum">
              <a:rPr lang="en-US" altLang="zh-CN" smtClean="0"/>
              <a:pPr>
                <a:spcBef>
                  <a:spcPct val="0"/>
                </a:spcBef>
              </a:pPr>
              <a:t>143</a:t>
            </a:fld>
            <a:endParaRPr lang="en-US" altLang="zh-CN"/>
          </a:p>
        </p:txBody>
      </p:sp>
      <p:sp>
        <p:nvSpPr>
          <p:cNvPr id="1048819" name="Rectangle 2"/>
          <p:cNvSpPr>
            <a:spLocks noGrp="1" noRot="1" noChangeAspect="1" noChangeArrowheads="1" noTextEdit="1"/>
          </p:cNvSpPr>
          <p:nvPr>
            <p:ph type="sldImg"/>
          </p:nvPr>
        </p:nvSpPr>
        <p:spPr/>
      </p:sp>
      <p:sp>
        <p:nvSpPr>
          <p:cNvPr id="1048820"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66"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21C9980-6522-4358-BB79-9F9D07FA7F6E}" type="slidenum">
              <a:rPr lang="en-US" altLang="zh-CN" smtClean="0"/>
              <a:pPr>
                <a:spcBef>
                  <a:spcPct val="0"/>
                </a:spcBef>
              </a:pPr>
              <a:t>144</a:t>
            </a:fld>
            <a:endParaRPr lang="en-US" altLang="zh-CN"/>
          </a:p>
        </p:txBody>
      </p:sp>
      <p:sp>
        <p:nvSpPr>
          <p:cNvPr id="1048867" name="Rectangle 2"/>
          <p:cNvSpPr>
            <a:spLocks noGrp="1" noRot="1" noChangeAspect="1" noChangeArrowheads="1" noTextEdit="1"/>
          </p:cNvSpPr>
          <p:nvPr>
            <p:ph type="sldImg"/>
          </p:nvPr>
        </p:nvSpPr>
        <p:spPr/>
      </p:sp>
      <p:sp>
        <p:nvSpPr>
          <p:cNvPr id="1048868"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70"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8CD50D8-5086-4D56-AC19-A75B3BCFBB31}" type="slidenum">
              <a:rPr lang="en-US" altLang="zh-CN" smtClean="0"/>
              <a:pPr>
                <a:spcBef>
                  <a:spcPct val="0"/>
                </a:spcBef>
              </a:pPr>
              <a:t>145</a:t>
            </a:fld>
            <a:endParaRPr lang="en-US" altLang="zh-CN"/>
          </a:p>
        </p:txBody>
      </p:sp>
      <p:sp>
        <p:nvSpPr>
          <p:cNvPr id="1048871" name="Rectangle 2"/>
          <p:cNvSpPr>
            <a:spLocks noGrp="1" noRot="1" noChangeAspect="1" noChangeArrowheads="1" noTextEdit="1"/>
          </p:cNvSpPr>
          <p:nvPr>
            <p:ph type="sldImg"/>
          </p:nvPr>
        </p:nvSpPr>
        <p:spPr/>
      </p:sp>
      <p:sp>
        <p:nvSpPr>
          <p:cNvPr id="1048872"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12"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4CB77DC-56FC-4F82-9F25-53AFB121024E}" type="slidenum">
              <a:rPr lang="en-US" altLang="zh-CN" smtClean="0"/>
              <a:pPr>
                <a:spcBef>
                  <a:spcPct val="0"/>
                </a:spcBef>
              </a:pPr>
              <a:t>146</a:t>
            </a:fld>
            <a:endParaRPr lang="en-US" altLang="zh-CN"/>
          </a:p>
        </p:txBody>
      </p:sp>
      <p:sp>
        <p:nvSpPr>
          <p:cNvPr id="1048913" name="Rectangle 2"/>
          <p:cNvSpPr>
            <a:spLocks noGrp="1" noRot="1" noChangeAspect="1" noChangeArrowheads="1" noTextEdit="1"/>
          </p:cNvSpPr>
          <p:nvPr>
            <p:ph type="sldImg"/>
          </p:nvPr>
        </p:nvSpPr>
        <p:spPr/>
      </p:sp>
      <p:sp>
        <p:nvSpPr>
          <p:cNvPr id="1048914"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00"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EC85EF2-03BC-4565-9CF3-278112C6E170}" type="slidenum">
              <a:rPr lang="en-US" altLang="zh-CN" smtClean="0"/>
              <a:pPr>
                <a:spcBef>
                  <a:spcPct val="0"/>
                </a:spcBef>
              </a:pPr>
              <a:t>147</a:t>
            </a:fld>
            <a:endParaRPr lang="en-US" altLang="zh-CN"/>
          </a:p>
        </p:txBody>
      </p:sp>
      <p:sp>
        <p:nvSpPr>
          <p:cNvPr id="1048601" name="Rectangle 2"/>
          <p:cNvSpPr>
            <a:spLocks noGrp="1" noRot="1" noChangeAspect="1" noChangeArrowheads="1" noTextEdit="1"/>
          </p:cNvSpPr>
          <p:nvPr>
            <p:ph type="sldImg"/>
          </p:nvPr>
        </p:nvSpPr>
        <p:spPr/>
      </p:sp>
      <p:sp>
        <p:nvSpPr>
          <p:cNvPr id="1048602"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91"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AA821D9-8E62-4520-A571-1D1AB44D881F}" type="slidenum">
              <a:rPr lang="en-US" altLang="zh-CN" smtClean="0"/>
              <a:pPr>
                <a:spcBef>
                  <a:spcPct val="0"/>
                </a:spcBef>
              </a:pPr>
              <a:t>148</a:t>
            </a:fld>
            <a:endParaRPr lang="en-US" altLang="zh-CN"/>
          </a:p>
        </p:txBody>
      </p:sp>
      <p:sp>
        <p:nvSpPr>
          <p:cNvPr id="1048592" name="Rectangle 2"/>
          <p:cNvSpPr>
            <a:spLocks noGrp="1" noRot="1" noChangeAspect="1" noChangeArrowheads="1" noTextEdit="1"/>
          </p:cNvSpPr>
          <p:nvPr>
            <p:ph type="sldImg"/>
          </p:nvPr>
        </p:nvSpPr>
        <p:spPr/>
      </p:sp>
      <p:sp>
        <p:nvSpPr>
          <p:cNvPr id="1048593"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8FCDADB-E805-477D-8A26-077458ADD959}" type="slidenum">
              <a:rPr lang="en-US" altLang="zh-CN" smtClean="0"/>
              <a:pPr>
                <a:spcBef>
                  <a:spcPct val="0"/>
                </a:spcBef>
              </a:pPr>
              <a:t>149</a:t>
            </a:fld>
            <a:endParaRPr lang="en-US" altLang="zh-CN"/>
          </a:p>
        </p:txBody>
      </p:sp>
      <p:sp>
        <p:nvSpPr>
          <p:cNvPr id="356355" name="Rectangle 2"/>
          <p:cNvSpPr>
            <a:spLocks noGrp="1" noRot="1" noChangeAspect="1" noChangeArrowheads="1" noTextEdit="1"/>
          </p:cNvSpPr>
          <p:nvPr>
            <p:ph type="sldImg"/>
          </p:nvPr>
        </p:nvSpPr>
        <p:spPr>
          <a:ln/>
        </p:spPr>
      </p:sp>
      <p:sp>
        <p:nvSpPr>
          <p:cNvPr id="3563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32385E6-A633-4766-BD48-D561F5EED4C9}" type="slidenum">
              <a:rPr lang="en-US" altLang="zh-CN" smtClean="0"/>
              <a:pPr>
                <a:spcBef>
                  <a:spcPct val="0"/>
                </a:spcBef>
              </a:pPr>
              <a:t>151</a:t>
            </a:fld>
            <a:endParaRPr lang="en-US" altLang="zh-CN"/>
          </a:p>
        </p:txBody>
      </p:sp>
      <p:sp>
        <p:nvSpPr>
          <p:cNvPr id="358403" name="Rectangle 2"/>
          <p:cNvSpPr>
            <a:spLocks noGrp="1" noRot="1" noChangeAspect="1" noChangeArrowheads="1" noTextEdit="1"/>
          </p:cNvSpPr>
          <p:nvPr>
            <p:ph type="sldImg"/>
          </p:nvPr>
        </p:nvSpPr>
        <p:spPr>
          <a:ln/>
        </p:spPr>
      </p:sp>
      <p:sp>
        <p:nvSpPr>
          <p:cNvPr id="3584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F3CDCFC-0C0A-4692-AE12-A3B10C38E6AB}" type="slidenum">
              <a:rPr lang="en-US" altLang="zh-CN" smtClean="0"/>
              <a:pPr>
                <a:spcBef>
                  <a:spcPct val="0"/>
                </a:spcBef>
              </a:pPr>
              <a:t>152</a:t>
            </a:fld>
            <a:endParaRPr lang="en-US" altLang="zh-CN"/>
          </a:p>
        </p:txBody>
      </p:sp>
      <p:sp>
        <p:nvSpPr>
          <p:cNvPr id="359427" name="Rectangle 2"/>
          <p:cNvSpPr>
            <a:spLocks noGrp="1" noRot="1" noChangeAspect="1" noChangeArrowheads="1" noTextEdit="1"/>
          </p:cNvSpPr>
          <p:nvPr>
            <p:ph type="sldImg"/>
          </p:nvPr>
        </p:nvSpPr>
        <p:spPr>
          <a:ln/>
        </p:spPr>
      </p:sp>
      <p:sp>
        <p:nvSpPr>
          <p:cNvPr id="3594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B43C233-832E-4613-9FCA-0031D4DBB744}" type="slidenum">
              <a:rPr lang="en-US" altLang="zh-CN" smtClean="0"/>
              <a:pPr>
                <a:spcBef>
                  <a:spcPct val="0"/>
                </a:spcBef>
              </a:pPr>
              <a:t>153</a:t>
            </a:fld>
            <a:endParaRPr lang="en-US" altLang="zh-CN"/>
          </a:p>
        </p:txBody>
      </p:sp>
      <p:sp>
        <p:nvSpPr>
          <p:cNvPr id="360451" name="Rectangle 2"/>
          <p:cNvSpPr>
            <a:spLocks noGrp="1" noRot="1" noChangeAspect="1" noChangeArrowheads="1" noTextEdit="1"/>
          </p:cNvSpPr>
          <p:nvPr>
            <p:ph type="sldImg"/>
          </p:nvPr>
        </p:nvSpPr>
        <p:spPr>
          <a:ln/>
        </p:spPr>
      </p:sp>
      <p:sp>
        <p:nvSpPr>
          <p:cNvPr id="3604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b="1" dirty="0">
                <a:solidFill>
                  <a:srgbClr val="FFFF00"/>
                </a:solidFill>
                <a:latin typeface="宋体" pitchFamily="2" charset="-122"/>
              </a:rPr>
              <a:t>不存在具有相邻非终结符的产生式</a:t>
            </a:r>
            <a:endParaRPr lang="en-US" altLang="zh-CN" b="1" dirty="0">
              <a:solidFill>
                <a:srgbClr val="FFFF00"/>
              </a:solidFill>
              <a:latin typeface="宋体" pitchFamily="2" charset="-122"/>
            </a:endParaRPr>
          </a:p>
          <a:p>
            <a:pPr eaLnBrk="1" hangingPunct="1"/>
            <a:r>
              <a:rPr lang="en-US" altLang="zh-CN" sz="1200" b="1" dirty="0">
                <a:solidFill>
                  <a:srgbClr val="0000FF"/>
                </a:solidFill>
                <a:latin typeface="宋体" pitchFamily="2" charset="-122"/>
                <a:ea typeface="宋体" panose="02010600030101010101" pitchFamily="2" charset="-122"/>
              </a:rPr>
              <a:t>(</a:t>
            </a:r>
            <a:r>
              <a:rPr lang="zh-CN" altLang="en-US" sz="1200" b="1" dirty="0">
                <a:latin typeface="宋体" pitchFamily="2" charset="-122"/>
                <a:ea typeface="宋体" panose="02010600030101010101" pitchFamily="2" charset="-122"/>
              </a:rPr>
              <a:t>主要是看产生式中是否包含两个非终结符相邻的情况</a:t>
            </a:r>
            <a:r>
              <a:rPr lang="en-US" altLang="zh-CN" sz="1200" b="1" dirty="0">
                <a:solidFill>
                  <a:srgbClr val="0000FF"/>
                </a:solidFill>
                <a:latin typeface="宋体" pitchFamily="2" charset="-122"/>
                <a:ea typeface="宋体" panose="02010600030101010101" pitchFamily="2" charset="-122"/>
              </a:rPr>
              <a:t>)</a:t>
            </a:r>
            <a:r>
              <a:rPr lang="en-US" altLang="zh-CN" sz="1200" dirty="0">
                <a:latin typeface="宋体" pitchFamily="2" charset="-122"/>
                <a:ea typeface="宋体" panose="02010600030101010101" pitchFamily="2" charset="-122"/>
              </a:rPr>
              <a:t> </a:t>
            </a:r>
            <a:endParaRPr lang="zh-CN" altLang="en-US" b="1" dirty="0">
              <a:solidFill>
                <a:srgbClr val="FFFF00"/>
              </a:solidFill>
              <a:latin typeface="宋体" pitchFamily="2" charset="-122"/>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F2409B3-6B0E-4232-9FF7-B61C68E645EF}" type="slidenum">
              <a:rPr lang="en-US" altLang="zh-CN" smtClean="0"/>
              <a:pPr>
                <a:spcBef>
                  <a:spcPct val="0"/>
                </a:spcBef>
              </a:pPr>
              <a:t>154</a:t>
            </a:fld>
            <a:endParaRPr lang="en-US" altLang="zh-CN"/>
          </a:p>
        </p:txBody>
      </p:sp>
      <p:sp>
        <p:nvSpPr>
          <p:cNvPr id="361475" name="Rectangle 2"/>
          <p:cNvSpPr>
            <a:spLocks noGrp="1" noRot="1" noChangeAspect="1" noChangeArrowheads="1" noTextEdit="1"/>
          </p:cNvSpPr>
          <p:nvPr>
            <p:ph type="sldImg"/>
          </p:nvPr>
        </p:nvSpPr>
        <p:spPr>
          <a:ln/>
        </p:spPr>
      </p:sp>
      <p:sp>
        <p:nvSpPr>
          <p:cNvPr id="361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E510C0F-99EC-4821-AD5E-EC6E64847C3A}" type="slidenum">
              <a:rPr lang="en-US" altLang="zh-CN" smtClean="0"/>
              <a:pPr>
                <a:spcBef>
                  <a:spcPct val="0"/>
                </a:spcBef>
              </a:pPr>
              <a:t>155</a:t>
            </a:fld>
            <a:endParaRPr lang="en-US" altLang="zh-CN"/>
          </a:p>
        </p:txBody>
      </p:sp>
      <p:sp>
        <p:nvSpPr>
          <p:cNvPr id="362499" name="Rectangle 2"/>
          <p:cNvSpPr>
            <a:spLocks noGrp="1" noRot="1" noChangeAspect="1" noChangeArrowheads="1" noTextEdit="1"/>
          </p:cNvSpPr>
          <p:nvPr>
            <p:ph type="sldImg"/>
          </p:nvPr>
        </p:nvSpPr>
        <p:spPr>
          <a:ln/>
        </p:spPr>
      </p:sp>
      <p:sp>
        <p:nvSpPr>
          <p:cNvPr id="3625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EA169969-6CAA-405E-BB96-983C052FD6FF}" type="slidenum">
              <a:rPr lang="en-US" altLang="zh-CN" smtClean="0"/>
              <a:pPr>
                <a:spcBef>
                  <a:spcPct val="0"/>
                </a:spcBef>
              </a:pPr>
              <a:t>156</a:t>
            </a:fld>
            <a:endParaRPr lang="en-US" altLang="zh-CN"/>
          </a:p>
        </p:txBody>
      </p:sp>
      <p:sp>
        <p:nvSpPr>
          <p:cNvPr id="363523" name="Rectangle 2"/>
          <p:cNvSpPr>
            <a:spLocks noGrp="1" noRot="1" noChangeAspect="1" noChangeArrowheads="1" noTextEdit="1"/>
          </p:cNvSpPr>
          <p:nvPr>
            <p:ph type="sldImg"/>
          </p:nvPr>
        </p:nvSpPr>
        <p:spPr>
          <a:ln/>
        </p:spPr>
      </p:sp>
      <p:sp>
        <p:nvSpPr>
          <p:cNvPr id="3635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E80C976-D3DD-44B9-AB63-05F351E61BB9}" type="slidenum">
              <a:rPr lang="en-US" altLang="zh-CN" smtClean="0"/>
              <a:pPr>
                <a:spcBef>
                  <a:spcPct val="0"/>
                </a:spcBef>
              </a:pPr>
              <a:t>159</a:t>
            </a:fld>
            <a:endParaRPr lang="en-US" altLang="zh-CN"/>
          </a:p>
        </p:txBody>
      </p:sp>
      <p:sp>
        <p:nvSpPr>
          <p:cNvPr id="364547" name="Rectangle 2"/>
          <p:cNvSpPr>
            <a:spLocks noGrp="1" noRot="1" noChangeAspect="1" noChangeArrowheads="1" noTextEdit="1"/>
          </p:cNvSpPr>
          <p:nvPr>
            <p:ph type="sldImg"/>
          </p:nvPr>
        </p:nvSpPr>
        <p:spPr>
          <a:ln/>
        </p:spPr>
      </p:sp>
      <p:sp>
        <p:nvSpPr>
          <p:cNvPr id="3645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dirty="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F1B4664-3501-4975-A45F-8BD77749D4CD}" type="slidenum">
              <a:rPr lang="en-US" altLang="zh-CN" smtClean="0"/>
              <a:pPr>
                <a:spcBef>
                  <a:spcPct val="0"/>
                </a:spcBef>
              </a:pPr>
              <a:t>160</a:t>
            </a:fld>
            <a:endParaRPr lang="en-US" altLang="zh-CN"/>
          </a:p>
        </p:txBody>
      </p:sp>
      <p:sp>
        <p:nvSpPr>
          <p:cNvPr id="365571" name="Rectangle 2"/>
          <p:cNvSpPr>
            <a:spLocks noGrp="1" noRot="1" noChangeAspect="1" noChangeArrowheads="1" noTextEdit="1"/>
          </p:cNvSpPr>
          <p:nvPr>
            <p:ph type="sldImg"/>
          </p:nvPr>
        </p:nvSpPr>
        <p:spPr>
          <a:ln/>
        </p:spPr>
      </p:sp>
      <p:sp>
        <p:nvSpPr>
          <p:cNvPr id="3655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7E1CE00-8D2F-473F-9365-B2E8C094DB39}" type="slidenum">
              <a:rPr lang="en-US" altLang="zh-CN" smtClean="0"/>
              <a:pPr>
                <a:spcBef>
                  <a:spcPct val="0"/>
                </a:spcBef>
              </a:pPr>
              <a:t>161</a:t>
            </a:fld>
            <a:endParaRPr lang="en-US" altLang="zh-CN"/>
          </a:p>
        </p:txBody>
      </p:sp>
      <p:sp>
        <p:nvSpPr>
          <p:cNvPr id="366595" name="Rectangle 2"/>
          <p:cNvSpPr>
            <a:spLocks noGrp="1" noRot="1" noChangeAspect="1" noChangeArrowheads="1" noTextEdit="1"/>
          </p:cNvSpPr>
          <p:nvPr>
            <p:ph type="sldImg"/>
          </p:nvPr>
        </p:nvSpPr>
        <p:spPr>
          <a:ln/>
        </p:spPr>
      </p:sp>
      <p:sp>
        <p:nvSpPr>
          <p:cNvPr id="3665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F8B338C-A5FF-4522-8536-1B974D0889C8}" type="slidenum">
              <a:rPr lang="en-US" altLang="zh-CN" smtClean="0"/>
              <a:pPr>
                <a:spcBef>
                  <a:spcPct val="0"/>
                </a:spcBef>
              </a:pPr>
              <a:t>162</a:t>
            </a:fld>
            <a:endParaRPr lang="en-US" altLang="zh-CN"/>
          </a:p>
        </p:txBody>
      </p:sp>
      <p:sp>
        <p:nvSpPr>
          <p:cNvPr id="372739" name="Rectangle 2"/>
          <p:cNvSpPr>
            <a:spLocks noGrp="1" noRot="1" noChangeAspect="1" noChangeArrowheads="1" noTextEdit="1"/>
          </p:cNvSpPr>
          <p:nvPr>
            <p:ph type="sldImg"/>
          </p:nvPr>
        </p:nvSpPr>
        <p:spPr>
          <a:ln/>
        </p:spPr>
      </p:sp>
      <p:sp>
        <p:nvSpPr>
          <p:cNvPr id="3727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3682F04-7C3D-4875-9332-C2FFD895E5A5}" type="slidenum">
              <a:rPr lang="en-US" altLang="zh-CN" smtClean="0"/>
              <a:pPr>
                <a:spcBef>
                  <a:spcPct val="0"/>
                </a:spcBef>
              </a:pPr>
              <a:t>163</a:t>
            </a:fld>
            <a:endParaRPr lang="en-US" altLang="zh-CN"/>
          </a:p>
        </p:txBody>
      </p:sp>
      <p:sp>
        <p:nvSpPr>
          <p:cNvPr id="367619" name="Rectangle 2"/>
          <p:cNvSpPr>
            <a:spLocks noGrp="1" noRot="1" noChangeAspect="1" noChangeArrowheads="1" noTextEdit="1"/>
          </p:cNvSpPr>
          <p:nvPr>
            <p:ph type="sldImg"/>
          </p:nvPr>
        </p:nvSpPr>
        <p:spPr>
          <a:ln/>
        </p:spPr>
      </p:sp>
      <p:sp>
        <p:nvSpPr>
          <p:cNvPr id="3676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9DC1B4B-1F65-4933-AF55-0A744F78C190}" type="slidenum">
              <a:rPr lang="en-US" altLang="zh-CN" smtClean="0"/>
              <a:pPr>
                <a:spcBef>
                  <a:spcPct val="0"/>
                </a:spcBef>
              </a:pPr>
              <a:t>164</a:t>
            </a:fld>
            <a:endParaRPr lang="en-US" altLang="zh-CN"/>
          </a:p>
        </p:txBody>
      </p:sp>
      <p:sp>
        <p:nvSpPr>
          <p:cNvPr id="369667" name="Rectangle 2"/>
          <p:cNvSpPr>
            <a:spLocks noGrp="1" noRot="1" noChangeAspect="1" noChangeArrowheads="1" noTextEdit="1"/>
          </p:cNvSpPr>
          <p:nvPr>
            <p:ph type="sldImg"/>
          </p:nvPr>
        </p:nvSpPr>
        <p:spPr>
          <a:ln/>
        </p:spPr>
      </p:sp>
      <p:sp>
        <p:nvSpPr>
          <p:cNvPr id="3696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9982FAA-3EFB-4F69-AE7E-9B1FA4AB8BF3}" type="slidenum">
              <a:rPr lang="en-US" altLang="zh-CN" smtClean="0"/>
              <a:pPr>
                <a:spcBef>
                  <a:spcPct val="0"/>
                </a:spcBef>
              </a:pPr>
              <a:t>165</a:t>
            </a:fld>
            <a:endParaRPr lang="en-US" altLang="zh-CN"/>
          </a:p>
        </p:txBody>
      </p:sp>
      <p:sp>
        <p:nvSpPr>
          <p:cNvPr id="370691" name="Rectangle 2"/>
          <p:cNvSpPr>
            <a:spLocks noGrp="1" noRot="1" noChangeAspect="1" noChangeArrowheads="1" noTextEdit="1"/>
          </p:cNvSpPr>
          <p:nvPr>
            <p:ph type="sldImg"/>
          </p:nvPr>
        </p:nvSpPr>
        <p:spPr>
          <a:ln/>
        </p:spPr>
      </p:sp>
      <p:sp>
        <p:nvSpPr>
          <p:cNvPr id="3706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DE52B51-8565-4486-BD68-396EA4534048}" type="slidenum">
              <a:rPr lang="en-US" altLang="zh-CN" smtClean="0"/>
              <a:pPr>
                <a:spcBef>
                  <a:spcPct val="0"/>
                </a:spcBef>
              </a:pPr>
              <a:t>166</a:t>
            </a:fld>
            <a:endParaRPr lang="en-US" altLang="zh-CN"/>
          </a:p>
        </p:txBody>
      </p:sp>
      <p:sp>
        <p:nvSpPr>
          <p:cNvPr id="371715" name="Rectangle 2"/>
          <p:cNvSpPr>
            <a:spLocks noGrp="1" noRot="1" noChangeAspect="1" noChangeArrowheads="1" noTextEdit="1"/>
          </p:cNvSpPr>
          <p:nvPr>
            <p:ph type="sldImg"/>
          </p:nvPr>
        </p:nvSpPr>
        <p:spPr>
          <a:ln/>
        </p:spPr>
      </p:sp>
      <p:sp>
        <p:nvSpPr>
          <p:cNvPr id="3717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7013D2D-B96E-41FD-AE35-FE5A288B3C38}" type="slidenum">
              <a:rPr lang="en-US" altLang="zh-CN" smtClean="0"/>
              <a:pPr>
                <a:spcBef>
                  <a:spcPct val="0"/>
                </a:spcBef>
              </a:pPr>
              <a:t>167</a:t>
            </a:fld>
            <a:endParaRPr lang="en-US" altLang="zh-CN"/>
          </a:p>
        </p:txBody>
      </p:sp>
      <p:sp>
        <p:nvSpPr>
          <p:cNvPr id="373763" name="Rectangle 2"/>
          <p:cNvSpPr>
            <a:spLocks noGrp="1" noRot="1" noChangeAspect="1" noChangeArrowheads="1" noTextEdit="1"/>
          </p:cNvSpPr>
          <p:nvPr>
            <p:ph type="sldImg"/>
          </p:nvPr>
        </p:nvSpPr>
        <p:spPr>
          <a:ln/>
        </p:spPr>
      </p:sp>
      <p:sp>
        <p:nvSpPr>
          <p:cNvPr id="3737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BF15338-88C7-40F7-ABF7-4345ADACAC5A}" type="slidenum">
              <a:rPr lang="en-US" altLang="zh-CN" smtClean="0"/>
              <a:pPr>
                <a:spcBef>
                  <a:spcPct val="0"/>
                </a:spcBef>
              </a:pPr>
              <a:t>168</a:t>
            </a:fld>
            <a:endParaRPr lang="en-US" altLang="zh-CN"/>
          </a:p>
        </p:txBody>
      </p:sp>
      <p:sp>
        <p:nvSpPr>
          <p:cNvPr id="374787" name="Rectangle 2"/>
          <p:cNvSpPr>
            <a:spLocks noGrp="1" noRot="1" noChangeAspect="1" noChangeArrowheads="1" noTextEdit="1"/>
          </p:cNvSpPr>
          <p:nvPr>
            <p:ph type="sldImg"/>
          </p:nvPr>
        </p:nvSpPr>
        <p:spPr>
          <a:ln/>
        </p:spPr>
      </p:sp>
      <p:sp>
        <p:nvSpPr>
          <p:cNvPr id="3747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03B6A27-9944-46AA-A157-28646B7F4DED}" type="slidenum">
              <a:rPr lang="en-US" altLang="zh-CN" smtClean="0"/>
              <a:pPr>
                <a:spcBef>
                  <a:spcPct val="0"/>
                </a:spcBef>
              </a:pPr>
              <a:t>169</a:t>
            </a:fld>
            <a:endParaRPr lang="en-US" altLang="zh-CN"/>
          </a:p>
        </p:txBody>
      </p:sp>
      <p:sp>
        <p:nvSpPr>
          <p:cNvPr id="375811" name="Rectangle 2"/>
          <p:cNvSpPr>
            <a:spLocks noGrp="1" noRot="1" noChangeAspect="1" noChangeArrowheads="1" noTextEdit="1"/>
          </p:cNvSpPr>
          <p:nvPr>
            <p:ph type="sldImg"/>
          </p:nvPr>
        </p:nvSpPr>
        <p:spPr>
          <a:ln/>
        </p:spPr>
      </p:sp>
      <p:sp>
        <p:nvSpPr>
          <p:cNvPr id="3758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CE062F3-DB92-4115-B43C-E71E23F49475}" type="slidenum">
              <a:rPr lang="en-US" altLang="zh-CN" smtClean="0"/>
              <a:pPr>
                <a:spcBef>
                  <a:spcPct val="0"/>
                </a:spcBef>
              </a:pPr>
              <a:t>172</a:t>
            </a:fld>
            <a:endParaRPr lang="en-US" altLang="zh-CN"/>
          </a:p>
        </p:txBody>
      </p:sp>
      <p:sp>
        <p:nvSpPr>
          <p:cNvPr id="376835" name="Rectangle 2"/>
          <p:cNvSpPr>
            <a:spLocks noGrp="1" noRot="1" noChangeAspect="1" noChangeArrowheads="1" noTextEdit="1"/>
          </p:cNvSpPr>
          <p:nvPr>
            <p:ph type="sldImg"/>
          </p:nvPr>
        </p:nvSpPr>
        <p:spPr>
          <a:ln/>
        </p:spPr>
      </p:sp>
      <p:sp>
        <p:nvSpPr>
          <p:cNvPr id="3768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398A3E0-4C6C-40D2-BBFA-7B42270867A3}" type="slidenum">
              <a:rPr lang="en-US" altLang="zh-CN" smtClean="0"/>
              <a:pPr>
                <a:spcBef>
                  <a:spcPct val="0"/>
                </a:spcBef>
              </a:pPr>
              <a:t>174</a:t>
            </a:fld>
            <a:endParaRPr lang="en-US" altLang="zh-CN"/>
          </a:p>
        </p:txBody>
      </p:sp>
      <p:sp>
        <p:nvSpPr>
          <p:cNvPr id="377859" name="Rectangle 2"/>
          <p:cNvSpPr>
            <a:spLocks noGrp="1" noRot="1" noChangeAspect="1" noChangeArrowheads="1" noTextEdit="1"/>
          </p:cNvSpPr>
          <p:nvPr>
            <p:ph type="sldImg"/>
          </p:nvPr>
        </p:nvSpPr>
        <p:spPr>
          <a:ln/>
        </p:spPr>
      </p:sp>
      <p:sp>
        <p:nvSpPr>
          <p:cNvPr id="3778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020B5AD-8C42-427A-9C4B-3A86C27131B5}" type="slidenum">
              <a:rPr lang="en-US" altLang="zh-CN" smtClean="0"/>
              <a:pPr>
                <a:spcBef>
                  <a:spcPct val="0"/>
                </a:spcBef>
              </a:pPr>
              <a:t>175</a:t>
            </a:fld>
            <a:endParaRPr lang="en-US" altLang="zh-CN"/>
          </a:p>
        </p:txBody>
      </p:sp>
      <p:sp>
        <p:nvSpPr>
          <p:cNvPr id="378883" name="Rectangle 2"/>
          <p:cNvSpPr>
            <a:spLocks noGrp="1" noRot="1" noChangeAspect="1" noChangeArrowheads="1" noTextEdit="1"/>
          </p:cNvSpPr>
          <p:nvPr>
            <p:ph type="sldImg"/>
          </p:nvPr>
        </p:nvSpPr>
        <p:spPr>
          <a:ln/>
        </p:spPr>
      </p:sp>
      <p:sp>
        <p:nvSpPr>
          <p:cNvPr id="3788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a:latin typeface="宋体" pitchFamily="2" charset="-122"/>
              </a:rPr>
              <a:t>不能识别只由一个非终结符组成的句柄。不能保证每次对句柄进行归约</a:t>
            </a:r>
            <a:endParaRPr lang="zh-CN" alt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711ECD0-9FE1-4DF0-A5D3-40249C036F75}" type="slidenum">
              <a:rPr lang="en-US" altLang="zh-CN" smtClean="0"/>
              <a:pPr>
                <a:spcBef>
                  <a:spcPct val="0"/>
                </a:spcBef>
              </a:pPr>
              <a:t>176</a:t>
            </a:fld>
            <a:endParaRPr lang="en-US" altLang="zh-CN"/>
          </a:p>
        </p:txBody>
      </p:sp>
      <p:sp>
        <p:nvSpPr>
          <p:cNvPr id="379907" name="Rectangle 2"/>
          <p:cNvSpPr>
            <a:spLocks noGrp="1" noRot="1" noChangeAspect="1" noChangeArrowheads="1" noTextEdit="1"/>
          </p:cNvSpPr>
          <p:nvPr>
            <p:ph type="sldImg"/>
          </p:nvPr>
        </p:nvSpPr>
        <p:spPr>
          <a:ln/>
        </p:spPr>
      </p:sp>
      <p:sp>
        <p:nvSpPr>
          <p:cNvPr id="3799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580E79D-96EB-405D-8E02-2B6740AE2D87}" type="slidenum">
              <a:rPr lang="en-US" altLang="zh-CN" smtClean="0"/>
              <a:pPr>
                <a:spcBef>
                  <a:spcPct val="0"/>
                </a:spcBef>
              </a:pPr>
              <a:t>177</a:t>
            </a:fld>
            <a:endParaRPr lang="en-US" altLang="zh-CN"/>
          </a:p>
        </p:txBody>
      </p:sp>
      <p:sp>
        <p:nvSpPr>
          <p:cNvPr id="380931" name="Rectangle 2"/>
          <p:cNvSpPr>
            <a:spLocks noGrp="1" noRot="1" noChangeAspect="1" noChangeArrowheads="1" noTextEdit="1"/>
          </p:cNvSpPr>
          <p:nvPr>
            <p:ph type="sldImg"/>
          </p:nvPr>
        </p:nvSpPr>
        <p:spPr>
          <a:ln/>
        </p:spPr>
      </p:sp>
      <p:sp>
        <p:nvSpPr>
          <p:cNvPr id="3809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a:t>从这个练习中可以看出，在该句型中，</a:t>
            </a:r>
            <a:r>
              <a:rPr lang="en-US" altLang="zh-CN"/>
              <a:t>+ </a:t>
            </a:r>
            <a:r>
              <a:rPr lang="zh-CN" altLang="en-US"/>
              <a:t>的优先性低于*，*的优先性低于</a:t>
            </a:r>
            <a:r>
              <a:rPr lang="en-US" altLang="zh-CN"/>
              <a:t>+</a:t>
            </a:r>
            <a:r>
              <a:rPr lang="zh-CN" altLang="en-US"/>
              <a:t>，即：</a:t>
            </a:r>
            <a:r>
              <a:rPr lang="en-US" altLang="zh-CN"/>
              <a:t>+ &lt; * &gt; +</a:t>
            </a:r>
            <a:r>
              <a:rPr lang="zh-CN" altLang="en-US"/>
              <a:t>， 因此</a:t>
            </a:r>
            <a:r>
              <a:rPr lang="en-US" altLang="zh-CN"/>
              <a:t>T*F</a:t>
            </a:r>
            <a:r>
              <a:rPr lang="zh-CN" altLang="en-US"/>
              <a:t>为最左素短语，由此引出下面的定理。</a:t>
            </a: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A1D312D-10E6-4A2C-AD9E-398EC1592A19}" type="slidenum">
              <a:rPr lang="en-US" altLang="zh-CN" smtClean="0"/>
              <a:pPr>
                <a:spcBef>
                  <a:spcPct val="0"/>
                </a:spcBef>
              </a:pPr>
              <a:t>178</a:t>
            </a:fld>
            <a:endParaRPr lang="en-US" altLang="zh-CN"/>
          </a:p>
        </p:txBody>
      </p:sp>
      <p:sp>
        <p:nvSpPr>
          <p:cNvPr id="381955" name="Rectangle 2"/>
          <p:cNvSpPr>
            <a:spLocks noGrp="1" noRot="1" noChangeAspect="1" noChangeArrowheads="1" noTextEdit="1"/>
          </p:cNvSpPr>
          <p:nvPr>
            <p:ph type="sldImg"/>
          </p:nvPr>
        </p:nvSpPr>
        <p:spPr>
          <a:ln/>
        </p:spPr>
      </p:sp>
      <p:sp>
        <p:nvSpPr>
          <p:cNvPr id="3819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2A5C27E-F2D6-42B2-8A08-5FD74F1E1496}" type="slidenum">
              <a:rPr lang="en-US" altLang="zh-CN" smtClean="0"/>
              <a:pPr>
                <a:spcBef>
                  <a:spcPct val="0"/>
                </a:spcBef>
              </a:pPr>
              <a:t>179</a:t>
            </a:fld>
            <a:endParaRPr lang="en-US" altLang="zh-CN"/>
          </a:p>
        </p:txBody>
      </p:sp>
      <p:sp>
        <p:nvSpPr>
          <p:cNvPr id="382979" name="Rectangle 2"/>
          <p:cNvSpPr>
            <a:spLocks noGrp="1" noRot="1" noChangeAspect="1" noChangeArrowheads="1" noTextEdit="1"/>
          </p:cNvSpPr>
          <p:nvPr>
            <p:ph type="sldImg"/>
          </p:nvPr>
        </p:nvSpPr>
        <p:spPr>
          <a:ln/>
        </p:spPr>
      </p:sp>
      <p:sp>
        <p:nvSpPr>
          <p:cNvPr id="3829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FDC19B6-957A-4A76-9911-952F174DDD02}" type="slidenum">
              <a:rPr lang="en-US" altLang="zh-CN" smtClean="0"/>
              <a:pPr>
                <a:spcBef>
                  <a:spcPct val="0"/>
                </a:spcBef>
              </a:pPr>
              <a:t>180</a:t>
            </a:fld>
            <a:endParaRPr lang="en-US" altLang="zh-CN"/>
          </a:p>
        </p:txBody>
      </p:sp>
      <p:sp>
        <p:nvSpPr>
          <p:cNvPr id="385027" name="Rectangle 2"/>
          <p:cNvSpPr>
            <a:spLocks noGrp="1" noRot="1" noChangeAspect="1" noChangeArrowheads="1" noTextEdit="1"/>
          </p:cNvSpPr>
          <p:nvPr>
            <p:ph type="sldImg"/>
          </p:nvPr>
        </p:nvSpPr>
        <p:spPr>
          <a:ln/>
        </p:spPr>
      </p:sp>
      <p:sp>
        <p:nvSpPr>
          <p:cNvPr id="3850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a:latin typeface="宋体" pitchFamily="2" charset="-122"/>
              </a:rPr>
              <a:t>根据最左素短语的定义和移进</a:t>
            </a:r>
            <a:r>
              <a:rPr lang="en-US" altLang="zh-CN">
                <a:latin typeface="宋体" pitchFamily="2" charset="-122"/>
              </a:rPr>
              <a:t>-</a:t>
            </a:r>
            <a:r>
              <a:rPr lang="zh-CN" altLang="en-US">
                <a:latin typeface="宋体" pitchFamily="2" charset="-122"/>
              </a:rPr>
              <a:t>归约的语法分析方法得到</a:t>
            </a:r>
          </a:p>
          <a:p>
            <a:pPr eaLnBrk="1" hangingPunct="1"/>
            <a:endParaRPr lang="en-US" altLang="zh-CN"/>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266C120-ED1C-4641-81E7-2C3521DC3047}" type="slidenum">
              <a:rPr lang="en-US" altLang="zh-CN" smtClean="0"/>
              <a:pPr>
                <a:spcBef>
                  <a:spcPct val="0"/>
                </a:spcBef>
              </a:pPr>
              <a:t>181</a:t>
            </a:fld>
            <a:endParaRPr lang="en-US" altLang="zh-CN"/>
          </a:p>
        </p:txBody>
      </p:sp>
      <p:sp>
        <p:nvSpPr>
          <p:cNvPr id="387075" name="Rectangle 2"/>
          <p:cNvSpPr>
            <a:spLocks noGrp="1" noRot="1" noChangeAspect="1" noChangeArrowheads="1" noTextEdit="1"/>
          </p:cNvSpPr>
          <p:nvPr>
            <p:ph type="sldImg"/>
          </p:nvPr>
        </p:nvSpPr>
        <p:spPr>
          <a:ln/>
        </p:spPr>
      </p:sp>
      <p:sp>
        <p:nvSpPr>
          <p:cNvPr id="3870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7EEFE63-8FFD-4286-B552-95DD8D70188D}" type="slidenum">
              <a:rPr lang="en-US" altLang="zh-CN" smtClean="0"/>
              <a:pPr>
                <a:spcBef>
                  <a:spcPct val="0"/>
                </a:spcBef>
              </a:pPr>
              <a:t>183</a:t>
            </a:fld>
            <a:endParaRPr lang="en-US" altLang="zh-CN"/>
          </a:p>
        </p:txBody>
      </p:sp>
      <p:sp>
        <p:nvSpPr>
          <p:cNvPr id="386051" name="Rectangle 2"/>
          <p:cNvSpPr>
            <a:spLocks noGrp="1" noRot="1" noChangeAspect="1" noChangeArrowheads="1" noTextEdit="1"/>
          </p:cNvSpPr>
          <p:nvPr>
            <p:ph type="sldImg"/>
          </p:nvPr>
        </p:nvSpPr>
        <p:spPr>
          <a:ln/>
        </p:spPr>
      </p:sp>
      <p:sp>
        <p:nvSpPr>
          <p:cNvPr id="3860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A129CE1-9A73-42A8-A36B-6BE03B358301}" type="slidenum">
              <a:rPr lang="en-US" altLang="zh-CN" smtClean="0"/>
              <a:pPr>
                <a:spcBef>
                  <a:spcPct val="0"/>
                </a:spcBef>
              </a:pPr>
              <a:t>184</a:t>
            </a:fld>
            <a:endParaRPr lang="en-US" altLang="zh-CN"/>
          </a:p>
        </p:txBody>
      </p:sp>
      <p:sp>
        <p:nvSpPr>
          <p:cNvPr id="389123" name="Rectangle 2"/>
          <p:cNvSpPr>
            <a:spLocks noGrp="1" noRot="1" noChangeAspect="1" noChangeArrowheads="1" noTextEdit="1"/>
          </p:cNvSpPr>
          <p:nvPr>
            <p:ph type="sldImg"/>
          </p:nvPr>
        </p:nvSpPr>
        <p:spPr>
          <a:ln/>
        </p:spPr>
      </p:sp>
      <p:sp>
        <p:nvSpPr>
          <p:cNvPr id="3891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AD9C9B1-8C2D-4D38-9921-3ECAC47D1857}" type="slidenum">
              <a:rPr lang="en-US" altLang="zh-CN" smtClean="0"/>
              <a:pPr>
                <a:spcBef>
                  <a:spcPct val="0"/>
                </a:spcBef>
              </a:pPr>
              <a:t>185</a:t>
            </a:fld>
            <a:endParaRPr lang="en-US" altLang="zh-CN"/>
          </a:p>
        </p:txBody>
      </p:sp>
      <p:sp>
        <p:nvSpPr>
          <p:cNvPr id="388099" name="Rectangle 2"/>
          <p:cNvSpPr>
            <a:spLocks noGrp="1" noRot="1" noChangeAspect="1" noChangeArrowheads="1" noTextEdit="1"/>
          </p:cNvSpPr>
          <p:nvPr>
            <p:ph type="sldImg"/>
          </p:nvPr>
        </p:nvSpPr>
        <p:spPr>
          <a:ln/>
        </p:spPr>
      </p:sp>
      <p:sp>
        <p:nvSpPr>
          <p:cNvPr id="3881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57582B8-BC65-4B3F-80E6-5A00C9342793}" type="slidenum">
              <a:rPr lang="en-US" altLang="zh-CN" smtClean="0"/>
              <a:pPr>
                <a:spcBef>
                  <a:spcPct val="0"/>
                </a:spcBef>
              </a:pPr>
              <a:t>186</a:t>
            </a:fld>
            <a:endParaRPr lang="en-US" altLang="zh-CN"/>
          </a:p>
        </p:txBody>
      </p:sp>
      <p:sp>
        <p:nvSpPr>
          <p:cNvPr id="390147" name="Rectangle 2"/>
          <p:cNvSpPr>
            <a:spLocks noGrp="1" noRot="1" noChangeAspect="1" noChangeArrowheads="1" noTextEdit="1"/>
          </p:cNvSpPr>
          <p:nvPr>
            <p:ph type="sldImg"/>
          </p:nvPr>
        </p:nvSpPr>
        <p:spPr>
          <a:ln/>
        </p:spPr>
      </p:sp>
      <p:sp>
        <p:nvSpPr>
          <p:cNvPr id="3901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57582B8-BC65-4B3F-80E6-5A00C9342793}" type="slidenum">
              <a:rPr lang="en-US" altLang="zh-CN" smtClean="0"/>
              <a:pPr>
                <a:spcBef>
                  <a:spcPct val="0"/>
                </a:spcBef>
              </a:pPr>
              <a:t>187</a:t>
            </a:fld>
            <a:endParaRPr lang="en-US" altLang="zh-CN"/>
          </a:p>
        </p:txBody>
      </p:sp>
      <p:sp>
        <p:nvSpPr>
          <p:cNvPr id="390147" name="Rectangle 2"/>
          <p:cNvSpPr>
            <a:spLocks noGrp="1" noRot="1" noChangeAspect="1" noChangeArrowheads="1" noTextEdit="1"/>
          </p:cNvSpPr>
          <p:nvPr>
            <p:ph type="sldImg"/>
          </p:nvPr>
        </p:nvSpPr>
        <p:spPr>
          <a:ln/>
        </p:spPr>
      </p:sp>
      <p:sp>
        <p:nvSpPr>
          <p:cNvPr id="3901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FFED0BC-8086-4549-8704-EA4391086EB5}" type="slidenum">
              <a:rPr lang="en-US" altLang="zh-CN" smtClean="0"/>
              <a:pPr>
                <a:spcBef>
                  <a:spcPct val="0"/>
                </a:spcBef>
              </a:pPr>
              <a:t>188</a:t>
            </a:fld>
            <a:endParaRPr lang="en-US" altLang="zh-CN"/>
          </a:p>
        </p:txBody>
      </p:sp>
      <p:sp>
        <p:nvSpPr>
          <p:cNvPr id="391171" name="Rectangle 2"/>
          <p:cNvSpPr>
            <a:spLocks noGrp="1" noRot="1" noChangeAspect="1" noChangeArrowheads="1" noTextEdit="1"/>
          </p:cNvSpPr>
          <p:nvPr>
            <p:ph type="sldImg"/>
          </p:nvPr>
        </p:nvSpPr>
        <p:spPr>
          <a:ln/>
        </p:spPr>
      </p:sp>
      <p:sp>
        <p:nvSpPr>
          <p:cNvPr id="3911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左边的符号使用入栈优先函数，因为它是在栈中，右边的符号使用比较优先函数，因为它总是在剩余输入符号串中，进行比较</a:t>
            </a:r>
            <a:endParaRPr lang="en-US" altLang="zh-CN" dirty="0"/>
          </a:p>
          <a:p>
            <a:pPr eaLnBrk="1" hangingPunct="1"/>
            <a:endParaRPr lang="en-US" altLang="zh-CN" dirty="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E16EAAEC-F8F3-429C-9810-2846A8AA6779}" type="slidenum">
              <a:rPr lang="en-US" altLang="zh-CN" smtClean="0"/>
              <a:pPr>
                <a:spcBef>
                  <a:spcPct val="0"/>
                </a:spcBef>
              </a:pPr>
              <a:t>190</a:t>
            </a:fld>
            <a:endParaRPr lang="en-US" altLang="zh-CN"/>
          </a:p>
        </p:txBody>
      </p:sp>
      <p:sp>
        <p:nvSpPr>
          <p:cNvPr id="392195" name="Rectangle 2"/>
          <p:cNvSpPr>
            <a:spLocks noGrp="1" noRot="1" noChangeAspect="1" noChangeArrowheads="1" noTextEdit="1"/>
          </p:cNvSpPr>
          <p:nvPr>
            <p:ph type="sldImg"/>
          </p:nvPr>
        </p:nvSpPr>
        <p:spPr>
          <a:ln/>
        </p:spPr>
      </p:sp>
      <p:sp>
        <p:nvSpPr>
          <p:cNvPr id="3921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zh-CN" altLang="en-US" dirty="0"/>
              <a:t>我们不证明，请同学们自己想想是否可以证明？</a:t>
            </a:r>
            <a:endParaRPr lang="zh-CN" altLang="zh-CN" dirty="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E3FC641-C182-406C-A7FF-B2E4B2EBCB30}" type="slidenum">
              <a:rPr lang="en-US" altLang="zh-CN" smtClean="0"/>
              <a:pPr>
                <a:spcBef>
                  <a:spcPct val="0"/>
                </a:spcBef>
              </a:pPr>
              <a:t>191</a:t>
            </a:fld>
            <a:endParaRPr lang="en-US" altLang="zh-CN"/>
          </a:p>
        </p:txBody>
      </p:sp>
      <p:sp>
        <p:nvSpPr>
          <p:cNvPr id="393219" name="Rectangle 2"/>
          <p:cNvSpPr>
            <a:spLocks noGrp="1" noRot="1" noChangeAspect="1" noChangeArrowheads="1" noTextEdit="1"/>
          </p:cNvSpPr>
          <p:nvPr>
            <p:ph type="sldImg"/>
          </p:nvPr>
        </p:nvSpPr>
        <p:spPr>
          <a:ln/>
        </p:spPr>
      </p:sp>
      <p:sp>
        <p:nvSpPr>
          <p:cNvPr id="3932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BE7EB01-2D10-4B88-8B66-6092A8CA3117}" type="slidenum">
              <a:rPr lang="en-US" altLang="zh-CN" smtClean="0"/>
              <a:pPr>
                <a:spcBef>
                  <a:spcPct val="0"/>
                </a:spcBef>
              </a:pPr>
              <a:t>192</a:t>
            </a:fld>
            <a:endParaRPr lang="en-US" altLang="zh-CN"/>
          </a:p>
        </p:txBody>
      </p:sp>
      <p:sp>
        <p:nvSpPr>
          <p:cNvPr id="394243" name="Rectangle 2"/>
          <p:cNvSpPr>
            <a:spLocks noGrp="1" noRot="1" noChangeAspect="1" noChangeArrowheads="1" noTextEdit="1"/>
          </p:cNvSpPr>
          <p:nvPr>
            <p:ph type="sldImg"/>
          </p:nvPr>
        </p:nvSpPr>
        <p:spPr>
          <a:ln/>
        </p:spPr>
      </p:sp>
      <p:sp>
        <p:nvSpPr>
          <p:cNvPr id="3942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DD6ACD74-AA71-4EDB-94AE-880CFC14BA01}" type="slidenum">
              <a:rPr lang="en-US" altLang="zh-CN" smtClean="0"/>
              <a:pPr>
                <a:spcBef>
                  <a:spcPct val="0"/>
                </a:spcBef>
              </a:pPr>
              <a:t>193</a:t>
            </a:fld>
            <a:endParaRPr lang="en-US" altLang="zh-CN"/>
          </a:p>
        </p:txBody>
      </p:sp>
      <p:sp>
        <p:nvSpPr>
          <p:cNvPr id="395267" name="Rectangle 2"/>
          <p:cNvSpPr>
            <a:spLocks noGrp="1" noRot="1" noChangeAspect="1" noChangeArrowheads="1" noTextEdit="1"/>
          </p:cNvSpPr>
          <p:nvPr>
            <p:ph type="sldImg"/>
          </p:nvPr>
        </p:nvSpPr>
        <p:spPr>
          <a:ln/>
        </p:spPr>
      </p:sp>
      <p:sp>
        <p:nvSpPr>
          <p:cNvPr id="3952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4E3E3C2-C28B-43C7-BE2D-6DEFE09903CC}" type="slidenum">
              <a:rPr lang="en-US" altLang="zh-CN" smtClean="0"/>
              <a:pPr>
                <a:spcBef>
                  <a:spcPct val="0"/>
                </a:spcBef>
              </a:pPr>
              <a:t>194</a:t>
            </a:fld>
            <a:endParaRPr lang="en-US" altLang="zh-CN"/>
          </a:p>
        </p:txBody>
      </p:sp>
      <p:sp>
        <p:nvSpPr>
          <p:cNvPr id="396291" name="Rectangle 2"/>
          <p:cNvSpPr>
            <a:spLocks noGrp="1" noRot="1" noChangeAspect="1" noChangeArrowheads="1" noTextEdit="1"/>
          </p:cNvSpPr>
          <p:nvPr>
            <p:ph type="sldImg"/>
          </p:nvPr>
        </p:nvSpPr>
        <p:spPr>
          <a:ln/>
        </p:spPr>
      </p:sp>
      <p:sp>
        <p:nvSpPr>
          <p:cNvPr id="3962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B9B6F8B-C0F9-40D3-9813-4193D8709C72}" type="slidenum">
              <a:rPr lang="en-US" altLang="zh-CN" smtClean="0"/>
              <a:pPr>
                <a:spcBef>
                  <a:spcPct val="0"/>
                </a:spcBef>
              </a:pPr>
              <a:t>195</a:t>
            </a:fld>
            <a:endParaRPr lang="en-US" altLang="zh-CN"/>
          </a:p>
        </p:txBody>
      </p:sp>
      <p:sp>
        <p:nvSpPr>
          <p:cNvPr id="397315" name="Rectangle 2"/>
          <p:cNvSpPr>
            <a:spLocks noGrp="1" noRot="1" noChangeAspect="1" noChangeArrowheads="1" noTextEdit="1"/>
          </p:cNvSpPr>
          <p:nvPr>
            <p:ph type="sldImg"/>
          </p:nvPr>
        </p:nvSpPr>
        <p:spPr>
          <a:ln/>
        </p:spPr>
      </p:sp>
      <p:sp>
        <p:nvSpPr>
          <p:cNvPr id="397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A8B9149-39A1-42D1-B917-05A884B41002}" type="slidenum">
              <a:rPr lang="en-US" altLang="zh-CN" smtClean="0"/>
              <a:pPr>
                <a:spcBef>
                  <a:spcPct val="0"/>
                </a:spcBef>
              </a:pPr>
              <a:t>196</a:t>
            </a:fld>
            <a:endParaRPr lang="en-US" altLang="zh-CN"/>
          </a:p>
        </p:txBody>
      </p:sp>
      <p:sp>
        <p:nvSpPr>
          <p:cNvPr id="398339" name="Rectangle 2"/>
          <p:cNvSpPr>
            <a:spLocks noGrp="1" noRot="1" noChangeAspect="1" noChangeArrowheads="1" noTextEdit="1"/>
          </p:cNvSpPr>
          <p:nvPr>
            <p:ph type="sldImg"/>
          </p:nvPr>
        </p:nvSpPr>
        <p:spPr>
          <a:ln/>
        </p:spPr>
      </p:sp>
      <p:sp>
        <p:nvSpPr>
          <p:cNvPr id="3983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169D1FB-47CD-41CA-B9DE-B42C88F484BF}" type="slidenum">
              <a:rPr lang="en-US" altLang="zh-CN" smtClean="0"/>
              <a:pPr>
                <a:spcBef>
                  <a:spcPct val="0"/>
                </a:spcBef>
              </a:pPr>
              <a:t>197</a:t>
            </a:fld>
            <a:endParaRPr lang="en-US" altLang="zh-CN"/>
          </a:p>
        </p:txBody>
      </p:sp>
      <p:sp>
        <p:nvSpPr>
          <p:cNvPr id="399363" name="Rectangle 2"/>
          <p:cNvSpPr>
            <a:spLocks noGrp="1" noRot="1" noChangeAspect="1" noChangeArrowheads="1" noTextEdit="1"/>
          </p:cNvSpPr>
          <p:nvPr>
            <p:ph type="sldImg"/>
          </p:nvPr>
        </p:nvSpPr>
        <p:spPr>
          <a:ln/>
        </p:spPr>
      </p:sp>
      <p:sp>
        <p:nvSpPr>
          <p:cNvPr id="3993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E720476-1A7B-4EC8-B88C-7EEF7481F8BA}" type="slidenum">
              <a:rPr lang="en-US" altLang="zh-CN" smtClean="0"/>
              <a:pPr>
                <a:spcBef>
                  <a:spcPct val="0"/>
                </a:spcBef>
              </a:pPr>
              <a:t>198</a:t>
            </a:fld>
            <a:endParaRPr lang="en-US" altLang="zh-CN"/>
          </a:p>
        </p:txBody>
      </p:sp>
      <p:sp>
        <p:nvSpPr>
          <p:cNvPr id="400387" name="Rectangle 2"/>
          <p:cNvSpPr>
            <a:spLocks noGrp="1" noRot="1" noChangeAspect="1" noChangeArrowheads="1" noTextEdit="1"/>
          </p:cNvSpPr>
          <p:nvPr>
            <p:ph type="sldImg"/>
          </p:nvPr>
        </p:nvSpPr>
        <p:spPr>
          <a:ln/>
        </p:spPr>
      </p:sp>
      <p:sp>
        <p:nvSpPr>
          <p:cNvPr id="400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E5A5D06-73CA-40B9-A1E1-014B67CA1DB5}" type="slidenum">
              <a:rPr lang="en-US" altLang="zh-CN" smtClean="0"/>
              <a:pPr>
                <a:spcBef>
                  <a:spcPct val="0"/>
                </a:spcBef>
              </a:pPr>
              <a:t>199</a:t>
            </a:fld>
            <a:endParaRPr lang="en-US" altLang="zh-CN"/>
          </a:p>
        </p:txBody>
      </p:sp>
      <p:sp>
        <p:nvSpPr>
          <p:cNvPr id="401411" name="Rectangle 2"/>
          <p:cNvSpPr>
            <a:spLocks noGrp="1" noRot="1" noChangeAspect="1" noChangeArrowheads="1" noTextEdit="1"/>
          </p:cNvSpPr>
          <p:nvPr>
            <p:ph type="sldImg"/>
          </p:nvPr>
        </p:nvSpPr>
        <p:spPr>
          <a:ln/>
        </p:spPr>
      </p:sp>
      <p:sp>
        <p:nvSpPr>
          <p:cNvPr id="4014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EB6F4A8-5C42-402A-AC68-7A1831C023AC}" type="slidenum">
              <a:rPr lang="en-US" altLang="zh-CN" smtClean="0"/>
              <a:pPr>
                <a:spcBef>
                  <a:spcPct val="0"/>
                </a:spcBef>
              </a:pPr>
              <a:t>200</a:t>
            </a:fld>
            <a:endParaRPr lang="en-US" altLang="zh-CN"/>
          </a:p>
        </p:txBody>
      </p:sp>
      <p:sp>
        <p:nvSpPr>
          <p:cNvPr id="402435" name="Rectangle 2"/>
          <p:cNvSpPr>
            <a:spLocks noGrp="1" noRot="1" noChangeAspect="1" noChangeArrowheads="1" noTextEdit="1"/>
          </p:cNvSpPr>
          <p:nvPr>
            <p:ph type="sldImg"/>
          </p:nvPr>
        </p:nvSpPr>
        <p:spPr>
          <a:ln/>
        </p:spPr>
      </p:sp>
      <p:sp>
        <p:nvSpPr>
          <p:cNvPr id="402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773FF43-E41A-4650-91D9-9E5EEDDA686B}" type="slidenum">
              <a:rPr lang="en-US" altLang="zh-CN" smtClean="0"/>
              <a:pPr>
                <a:spcBef>
                  <a:spcPct val="0"/>
                </a:spcBef>
              </a:pPr>
              <a:t>202</a:t>
            </a:fld>
            <a:endParaRPr lang="en-US" altLang="zh-CN"/>
          </a:p>
        </p:txBody>
      </p:sp>
      <p:sp>
        <p:nvSpPr>
          <p:cNvPr id="403459" name="Rectangle 2"/>
          <p:cNvSpPr>
            <a:spLocks noGrp="1" noRot="1" noChangeAspect="1" noChangeArrowheads="1" noTextEdit="1"/>
          </p:cNvSpPr>
          <p:nvPr>
            <p:ph type="sldImg"/>
          </p:nvPr>
        </p:nvSpPr>
        <p:spPr>
          <a:ln/>
        </p:spPr>
      </p:sp>
      <p:sp>
        <p:nvSpPr>
          <p:cNvPr id="403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799E8391-A7AA-438B-8953-8185EA502C58}" type="slidenum">
              <a:rPr lang="zh-CN" altLang="en-US" smtClean="0"/>
              <a:t>203</a:t>
            </a:fld>
            <a:endParaRPr lang="zh-CN" altLang="en-US"/>
          </a:p>
        </p:txBody>
      </p:sp>
    </p:spTree>
    <p:extLst>
      <p:ext uri="{BB962C8B-B14F-4D97-AF65-F5344CB8AC3E}">
        <p14:creationId xmlns:p14="http://schemas.microsoft.com/office/powerpoint/2010/main" val="2216274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68DC931-A9D4-49DA-BDBD-038FA94601A2}" type="slidenum">
              <a:rPr lang="en-US" altLang="zh-CN" smtClean="0"/>
              <a:pPr>
                <a:spcBef>
                  <a:spcPct val="0"/>
                </a:spcBef>
              </a:pPr>
              <a:t>206</a:t>
            </a:fld>
            <a:endParaRPr lang="en-US" altLang="zh-CN"/>
          </a:p>
        </p:txBody>
      </p:sp>
      <p:sp>
        <p:nvSpPr>
          <p:cNvPr id="407555" name="Rectangle 2"/>
          <p:cNvSpPr>
            <a:spLocks noGrp="1" noRot="1" noChangeAspect="1" noChangeArrowheads="1" noTextEdit="1"/>
          </p:cNvSpPr>
          <p:nvPr>
            <p:ph type="sldImg"/>
          </p:nvPr>
        </p:nvSpPr>
        <p:spPr>
          <a:ln/>
        </p:spPr>
      </p:sp>
      <p:sp>
        <p:nvSpPr>
          <p:cNvPr id="4075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000" dirty="0">
                <a:latin typeface="宋体" panose="02010600030101010101" pitchFamily="2" charset="-122"/>
              </a:rPr>
              <a:t>状态概括了从分析开始直到某一归约阶段的全部历史和展望资料。</a:t>
            </a:r>
            <a:endParaRPr lang="en-US" altLang="zh-CN" sz="1000" dirty="0">
              <a:latin typeface="宋体" panose="02010600030101010101" pitchFamily="2" charset="-122"/>
            </a:endParaRP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000" b="1" dirty="0">
                <a:solidFill>
                  <a:schemeClr val="accent2"/>
                </a:solidFill>
                <a:latin typeface="宋体" panose="02010600030101010101" pitchFamily="2" charset="-122"/>
              </a:rPr>
              <a:t>分析器</a:t>
            </a:r>
            <a:r>
              <a:rPr lang="zh-CN" altLang="en-US" sz="1000" dirty="0">
                <a:latin typeface="宋体" panose="02010600030101010101" pitchFamily="2" charset="-122"/>
              </a:rPr>
              <a:t>实际上是一个带有先进后出栈的确定的有穷自动机。不必象算符优先分析法中要</a:t>
            </a:r>
            <a:r>
              <a:rPr lang="zh-CN" altLang="en-US" sz="1000" dirty="0">
                <a:solidFill>
                  <a:schemeClr val="accent2"/>
                </a:solidFill>
                <a:latin typeface="宋体" panose="02010600030101010101" pitchFamily="2" charset="-122"/>
              </a:rPr>
              <a:t>翻阅栈</a:t>
            </a:r>
            <a:r>
              <a:rPr lang="zh-CN" altLang="en-US" sz="1000" dirty="0">
                <a:latin typeface="宋体" panose="02010600030101010101" pitchFamily="2" charset="-122"/>
              </a:rPr>
              <a:t>中的内容才能决定是否要进行归约。</a:t>
            </a:r>
            <a:endParaRPr lang="zh-CN" altLang="zh-CN" sz="1000"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000" dirty="0">
                <a:latin typeface="宋体" panose="02010600030101010101" pitchFamily="2" charset="-122"/>
              </a:rPr>
              <a:t>只需</a:t>
            </a:r>
            <a:r>
              <a:rPr lang="zh-CN" altLang="en-US" sz="1000" dirty="0">
                <a:solidFill>
                  <a:schemeClr val="accent2"/>
                </a:solidFill>
                <a:latin typeface="宋体" panose="02010600030101010101" pitchFamily="2" charset="-122"/>
              </a:rPr>
              <a:t>根据栈顶状态和输入符号就可以唯一决定下一个动作</a:t>
            </a:r>
            <a:r>
              <a:rPr lang="zh-CN" altLang="en-US" sz="1000" dirty="0">
                <a:latin typeface="宋体" panose="02010600030101010101" pitchFamily="2" charset="-122"/>
              </a:rPr>
              <a:t>。</a:t>
            </a:r>
            <a:endParaRPr lang="en-US" altLang="zh-CN" sz="1000" dirty="0">
              <a:latin typeface="宋体" panose="02010600030101010101" pitchFamily="2" charset="-122"/>
            </a:endParaRPr>
          </a:p>
          <a:p>
            <a:pPr eaLnBrk="1" hangingPunct="1">
              <a:spcBef>
                <a:spcPct val="50000"/>
              </a:spcBef>
            </a:pPr>
            <a:r>
              <a:rPr lang="zh-CN" altLang="en-US" sz="1000" b="1" dirty="0">
                <a:latin typeface="宋体" panose="02010600030101010101" pitchFamily="2" charset="-122"/>
              </a:rPr>
              <a:t>总控程序根据分析表的内容来决定其下一步的处理动作，分析表是根据具体的文法按某种规则构造出来的。</a:t>
            </a:r>
          </a:p>
          <a:p>
            <a:pPr eaLnBrk="1" hangingPunct="1">
              <a:spcBef>
                <a:spcPct val="50000"/>
              </a:spcBef>
            </a:pPr>
            <a:r>
              <a:rPr lang="en-US" altLang="zh-CN" sz="1000" b="1" dirty="0">
                <a:solidFill>
                  <a:srgbClr val="FF5050"/>
                </a:solidFill>
                <a:latin typeface="宋体" panose="02010600030101010101" pitchFamily="2" charset="-122"/>
              </a:rPr>
              <a:t>LR</a:t>
            </a:r>
            <a:r>
              <a:rPr lang="zh-CN" altLang="en-US" sz="1000" b="1" dirty="0">
                <a:solidFill>
                  <a:srgbClr val="FF5050"/>
                </a:solidFill>
                <a:latin typeface="宋体" panose="02010600030101010101" pitchFamily="2" charset="-122"/>
              </a:rPr>
              <a:t>方法：</a:t>
            </a:r>
            <a:r>
              <a:rPr lang="zh-CN" altLang="en-US" sz="1000" b="1" dirty="0">
                <a:latin typeface="宋体" panose="02010600030101010101" pitchFamily="2" charset="-122"/>
              </a:rPr>
              <a:t>根据具体文法的分析表对输入串进行分析处理。</a:t>
            </a:r>
          </a:p>
          <a:p>
            <a:pPr eaLnBrk="1" hangingPunct="1">
              <a:spcBef>
                <a:spcPct val="50000"/>
              </a:spcBef>
            </a:pPr>
            <a:r>
              <a:rPr lang="en-US" altLang="zh-CN" sz="1000" b="1" dirty="0">
                <a:solidFill>
                  <a:srgbClr val="FF5050"/>
                </a:solidFill>
                <a:latin typeface="宋体" panose="02010600030101010101" pitchFamily="2" charset="-122"/>
              </a:rPr>
              <a:t>LR</a:t>
            </a:r>
            <a:r>
              <a:rPr lang="zh-CN" altLang="en-US" sz="1000" b="1" dirty="0">
                <a:solidFill>
                  <a:srgbClr val="FF5050"/>
                </a:solidFill>
                <a:latin typeface="宋体" panose="02010600030101010101" pitchFamily="2" charset="-122"/>
              </a:rPr>
              <a:t>分析过程：</a:t>
            </a:r>
            <a:r>
              <a:rPr lang="zh-CN" altLang="en-US" sz="1000" b="1" dirty="0">
                <a:latin typeface="宋体" panose="02010600030101010101" pitchFamily="2" charset="-122"/>
              </a:rPr>
              <a:t>在总控程序的控制下，从左到右扫描输入符号串，根据分析栈中的状态和当前输入符号，按分析表中的内容完成相应的分析工作。</a:t>
            </a:r>
          </a:p>
          <a:p>
            <a:pPr marL="0" marR="0" indent="0" algn="l" defTabSz="914400" rtl="0" eaLnBrk="1" fontAlgn="auto" latinLnBrk="0" hangingPunct="1">
              <a:lnSpc>
                <a:spcPct val="100000"/>
              </a:lnSpc>
              <a:spcBef>
                <a:spcPts val="0"/>
              </a:spcBef>
              <a:spcAft>
                <a:spcPts val="0"/>
              </a:spcAft>
              <a:buClrTx/>
              <a:buSzTx/>
              <a:buFontTx/>
              <a:buNone/>
              <a:tabLst/>
              <a:defRPr/>
            </a:pPr>
            <a:endParaRPr lang="en-US" altLang="zh-CN" sz="1000" dirty="0">
              <a:latin typeface="宋体" panose="02010600030101010101" pitchFamily="2" charset="-122"/>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03DB138-CC77-4430-9820-1AE5D78E6C34}" type="slidenum">
              <a:rPr lang="en-US" altLang="zh-CN" smtClean="0"/>
              <a:pPr>
                <a:spcBef>
                  <a:spcPct val="0"/>
                </a:spcBef>
              </a:pPr>
              <a:t>207</a:t>
            </a:fld>
            <a:endParaRPr lang="en-US" altLang="zh-CN"/>
          </a:p>
        </p:txBody>
      </p:sp>
      <p:sp>
        <p:nvSpPr>
          <p:cNvPr id="409603" name="Rectangle 2"/>
          <p:cNvSpPr>
            <a:spLocks noGrp="1" noRot="1" noChangeAspect="1" noChangeArrowheads="1" noTextEdit="1"/>
          </p:cNvSpPr>
          <p:nvPr>
            <p:ph type="sldImg"/>
          </p:nvPr>
        </p:nvSpPr>
        <p:spPr>
          <a:ln/>
        </p:spPr>
      </p:sp>
      <p:sp>
        <p:nvSpPr>
          <p:cNvPr id="409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2282955-19D3-415C-B3E0-B70EB1CD303E}" type="slidenum">
              <a:rPr lang="en-US" altLang="zh-CN" smtClean="0"/>
              <a:pPr>
                <a:spcBef>
                  <a:spcPct val="0"/>
                </a:spcBef>
              </a:pPr>
              <a:t>208</a:t>
            </a:fld>
            <a:endParaRPr lang="en-US" altLang="zh-CN"/>
          </a:p>
        </p:txBody>
      </p:sp>
      <p:sp>
        <p:nvSpPr>
          <p:cNvPr id="411651" name="Rectangle 2"/>
          <p:cNvSpPr>
            <a:spLocks noGrp="1" noRot="1" noChangeAspect="1" noChangeArrowheads="1" noTextEdit="1"/>
          </p:cNvSpPr>
          <p:nvPr>
            <p:ph type="sldImg"/>
          </p:nvPr>
        </p:nvSpPr>
        <p:spPr>
          <a:ln/>
        </p:spPr>
      </p:sp>
      <p:sp>
        <p:nvSpPr>
          <p:cNvPr id="4116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CDE61BF-708F-4FB7-951C-6DBE22201586}" type="slidenum">
              <a:rPr lang="en-US" altLang="zh-CN" smtClean="0"/>
              <a:pPr>
                <a:spcBef>
                  <a:spcPct val="0"/>
                </a:spcBef>
              </a:pPr>
              <a:t>209</a:t>
            </a:fld>
            <a:endParaRPr lang="en-US" altLang="zh-CN"/>
          </a:p>
        </p:txBody>
      </p:sp>
      <p:sp>
        <p:nvSpPr>
          <p:cNvPr id="412675" name="Rectangle 2"/>
          <p:cNvSpPr>
            <a:spLocks noGrp="1" noRot="1" noChangeAspect="1" noChangeArrowheads="1" noTextEdit="1"/>
          </p:cNvSpPr>
          <p:nvPr>
            <p:ph type="sldImg"/>
          </p:nvPr>
        </p:nvSpPr>
        <p:spPr>
          <a:ln/>
        </p:spPr>
      </p:sp>
      <p:sp>
        <p:nvSpPr>
          <p:cNvPr id="4126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BA6AE6B-3C6B-4282-A346-4A1BDEC3B6DE}" type="slidenum">
              <a:rPr lang="en-US" altLang="zh-CN" smtClean="0"/>
              <a:pPr>
                <a:spcBef>
                  <a:spcPct val="0"/>
                </a:spcBef>
              </a:pPr>
              <a:t>210</a:t>
            </a:fld>
            <a:endParaRPr lang="en-US" altLang="zh-CN"/>
          </a:p>
        </p:txBody>
      </p:sp>
      <p:sp>
        <p:nvSpPr>
          <p:cNvPr id="413699" name="Rectangle 2"/>
          <p:cNvSpPr>
            <a:spLocks noGrp="1" noRot="1" noChangeAspect="1" noChangeArrowheads="1" noTextEdit="1"/>
          </p:cNvSpPr>
          <p:nvPr>
            <p:ph type="sldImg"/>
          </p:nvPr>
        </p:nvSpPr>
        <p:spPr>
          <a:ln/>
        </p:spPr>
      </p:sp>
      <p:sp>
        <p:nvSpPr>
          <p:cNvPr id="413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BA6AE6B-3C6B-4282-A346-4A1BDEC3B6DE}" type="slidenum">
              <a:rPr lang="en-US" altLang="zh-CN" smtClean="0"/>
              <a:pPr>
                <a:spcBef>
                  <a:spcPct val="0"/>
                </a:spcBef>
              </a:pPr>
              <a:t>211</a:t>
            </a:fld>
            <a:endParaRPr lang="en-US" altLang="zh-CN"/>
          </a:p>
        </p:txBody>
      </p:sp>
      <p:sp>
        <p:nvSpPr>
          <p:cNvPr id="413699" name="Rectangle 2"/>
          <p:cNvSpPr>
            <a:spLocks noGrp="1" noRot="1" noChangeAspect="1" noChangeArrowheads="1" noTextEdit="1"/>
          </p:cNvSpPr>
          <p:nvPr>
            <p:ph type="sldImg"/>
          </p:nvPr>
        </p:nvSpPr>
        <p:spPr>
          <a:ln/>
        </p:spPr>
      </p:sp>
      <p:sp>
        <p:nvSpPr>
          <p:cNvPr id="413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BA6AE6B-3C6B-4282-A346-4A1BDEC3B6DE}" type="slidenum">
              <a:rPr lang="en-US" altLang="zh-CN" smtClean="0"/>
              <a:pPr>
                <a:spcBef>
                  <a:spcPct val="0"/>
                </a:spcBef>
              </a:pPr>
              <a:t>212</a:t>
            </a:fld>
            <a:endParaRPr lang="en-US" altLang="zh-CN"/>
          </a:p>
        </p:txBody>
      </p:sp>
      <p:sp>
        <p:nvSpPr>
          <p:cNvPr id="413699" name="Rectangle 2"/>
          <p:cNvSpPr>
            <a:spLocks noGrp="1" noRot="1" noChangeAspect="1" noChangeArrowheads="1" noTextEdit="1"/>
          </p:cNvSpPr>
          <p:nvPr>
            <p:ph type="sldImg"/>
          </p:nvPr>
        </p:nvSpPr>
        <p:spPr>
          <a:ln/>
        </p:spPr>
      </p:sp>
      <p:sp>
        <p:nvSpPr>
          <p:cNvPr id="413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1C429D9-D561-4C4D-B68C-ED0249883642}" type="slidenum">
              <a:rPr lang="en-US" altLang="zh-CN" smtClean="0"/>
              <a:pPr>
                <a:spcBef>
                  <a:spcPct val="0"/>
                </a:spcBef>
              </a:pPr>
              <a:t>213</a:t>
            </a:fld>
            <a:endParaRPr lang="en-US" altLang="zh-CN"/>
          </a:p>
        </p:txBody>
      </p:sp>
      <p:sp>
        <p:nvSpPr>
          <p:cNvPr id="414723" name="Rectangle 2"/>
          <p:cNvSpPr>
            <a:spLocks noGrp="1" noRot="1" noChangeAspect="1" noChangeArrowheads="1" noTextEdit="1"/>
          </p:cNvSpPr>
          <p:nvPr>
            <p:ph type="sldImg"/>
          </p:nvPr>
        </p:nvSpPr>
        <p:spPr>
          <a:ln/>
        </p:spPr>
      </p:sp>
      <p:sp>
        <p:nvSpPr>
          <p:cNvPr id="4147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0D3DE35-D527-402E-BF87-094A8AE3F4A6}" type="slidenum">
              <a:rPr lang="en-US" altLang="zh-CN" smtClean="0"/>
              <a:pPr>
                <a:spcBef>
                  <a:spcPct val="0"/>
                </a:spcBef>
              </a:pPr>
              <a:t>214</a:t>
            </a:fld>
            <a:endParaRPr lang="en-US" altLang="zh-CN"/>
          </a:p>
        </p:txBody>
      </p:sp>
      <p:sp>
        <p:nvSpPr>
          <p:cNvPr id="415747" name="Rectangle 2"/>
          <p:cNvSpPr>
            <a:spLocks noGrp="1" noRot="1" noChangeAspect="1" noChangeArrowheads="1" noTextEdit="1"/>
          </p:cNvSpPr>
          <p:nvPr>
            <p:ph type="sldImg"/>
          </p:nvPr>
        </p:nvSpPr>
        <p:spPr>
          <a:ln/>
        </p:spPr>
      </p:sp>
      <p:sp>
        <p:nvSpPr>
          <p:cNvPr id="4157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B3C774A-29C8-40E0-AA8C-0E59686A81F3}" type="slidenum">
              <a:rPr lang="en-US" altLang="zh-CN" smtClean="0"/>
              <a:pPr>
                <a:spcBef>
                  <a:spcPct val="0"/>
                </a:spcBef>
              </a:pPr>
              <a:t>216</a:t>
            </a:fld>
            <a:endParaRPr lang="en-US" altLang="zh-CN"/>
          </a:p>
        </p:txBody>
      </p:sp>
      <p:sp>
        <p:nvSpPr>
          <p:cNvPr id="404483" name="Rectangle 2"/>
          <p:cNvSpPr>
            <a:spLocks noGrp="1" noRot="1" noChangeAspect="1" noChangeArrowheads="1" noTextEdit="1"/>
          </p:cNvSpPr>
          <p:nvPr>
            <p:ph type="sldImg"/>
          </p:nvPr>
        </p:nvSpPr>
        <p:spPr>
          <a:ln/>
        </p:spPr>
      </p:sp>
      <p:sp>
        <p:nvSpPr>
          <p:cNvPr id="4044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E9F7A0E-DEE1-478E-9092-E61CC81ADCCA}" type="slidenum">
              <a:rPr lang="en-US" altLang="zh-CN" smtClean="0"/>
              <a:pPr>
                <a:spcBef>
                  <a:spcPct val="0"/>
                </a:spcBef>
              </a:pPr>
              <a:t>217</a:t>
            </a:fld>
            <a:endParaRPr lang="en-US" altLang="zh-CN"/>
          </a:p>
        </p:txBody>
      </p:sp>
      <p:sp>
        <p:nvSpPr>
          <p:cNvPr id="416771" name="Rectangle 2"/>
          <p:cNvSpPr>
            <a:spLocks noGrp="1" noRot="1" noChangeAspect="1" noChangeArrowheads="1" noTextEdit="1"/>
          </p:cNvSpPr>
          <p:nvPr>
            <p:ph type="sldImg"/>
          </p:nvPr>
        </p:nvSpPr>
        <p:spPr>
          <a:ln/>
        </p:spPr>
      </p:sp>
      <p:sp>
        <p:nvSpPr>
          <p:cNvPr id="4167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12" name="Rectangle 7"/>
          <p:cNvSpPr>
            <a:spLocks noGrp="1" noChangeArrowheads="1"/>
          </p:cNvSpPr>
          <p:nvPr>
            <p:ph type="sldNum" sz="quarter" idx="5"/>
          </p:nvPr>
        </p:nvSpPr>
        <p:spPr>
          <a:noFill/>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4CB77DC-56FC-4F82-9F25-53AFB121024E}" type="slidenum">
              <a:rPr lang="en-US" altLang="zh-CN" smtClean="0"/>
              <a:pPr>
                <a:spcBef>
                  <a:spcPct val="0"/>
                </a:spcBef>
              </a:pPr>
              <a:t>219</a:t>
            </a:fld>
            <a:endParaRPr lang="en-US" altLang="zh-CN"/>
          </a:p>
        </p:txBody>
      </p:sp>
      <p:sp>
        <p:nvSpPr>
          <p:cNvPr id="1048913" name="Rectangle 2"/>
          <p:cNvSpPr>
            <a:spLocks noGrp="1" noRot="1" noChangeAspect="1" noChangeArrowheads="1" noTextEdit="1"/>
          </p:cNvSpPr>
          <p:nvPr>
            <p:ph type="sldImg"/>
          </p:nvPr>
        </p:nvSpPr>
        <p:spPr/>
      </p:sp>
      <p:sp>
        <p:nvSpPr>
          <p:cNvPr id="1048914" name="Rectangle 3"/>
          <p:cNvSpPr>
            <a:spLocks noGrp="1" noChangeArrowheads="1"/>
          </p:cNvSpPr>
          <p:nvPr>
            <p:ph type="body" idx="1"/>
          </p:nvPr>
        </p:nvSpPr>
        <p:spPr>
          <a:noFill/>
        </p:spPr>
        <p:txBody>
          <a:bodyPr/>
          <a:lstStyle/>
          <a:p>
            <a:pPr eaLnBrk="1" hangingPunct="1"/>
            <a:endParaRPr lang="zh-CN" altLang="zh-CN"/>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0D3DE35-D527-402E-BF87-094A8AE3F4A6}" type="slidenum">
              <a:rPr lang="en-US" altLang="zh-CN" smtClean="0"/>
              <a:pPr>
                <a:spcBef>
                  <a:spcPct val="0"/>
                </a:spcBef>
              </a:pPr>
              <a:t>220</a:t>
            </a:fld>
            <a:endParaRPr lang="en-US" altLang="zh-CN"/>
          </a:p>
        </p:txBody>
      </p:sp>
      <p:sp>
        <p:nvSpPr>
          <p:cNvPr id="415747" name="Rectangle 2"/>
          <p:cNvSpPr>
            <a:spLocks noGrp="1" noRot="1" noChangeAspect="1" noChangeArrowheads="1" noTextEdit="1"/>
          </p:cNvSpPr>
          <p:nvPr>
            <p:ph type="sldImg"/>
          </p:nvPr>
        </p:nvSpPr>
        <p:spPr>
          <a:ln/>
        </p:spPr>
      </p:sp>
      <p:sp>
        <p:nvSpPr>
          <p:cNvPr id="4157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4738C75-D10E-4D28-B5D1-4907E0B647D9}" type="slidenum">
              <a:rPr lang="en-US" altLang="zh-CN" smtClean="0"/>
              <a:pPr>
                <a:spcBef>
                  <a:spcPct val="0"/>
                </a:spcBef>
              </a:pPr>
              <a:t>222</a:t>
            </a:fld>
            <a:endParaRPr lang="en-US" altLang="zh-CN"/>
          </a:p>
        </p:txBody>
      </p:sp>
      <p:sp>
        <p:nvSpPr>
          <p:cNvPr id="417795" name="Rectangle 2"/>
          <p:cNvSpPr>
            <a:spLocks noGrp="1" noRot="1" noChangeAspect="1" noChangeArrowheads="1" noTextEdit="1"/>
          </p:cNvSpPr>
          <p:nvPr>
            <p:ph type="sldImg"/>
          </p:nvPr>
        </p:nvSpPr>
        <p:spPr>
          <a:ln/>
        </p:spPr>
      </p:sp>
      <p:sp>
        <p:nvSpPr>
          <p:cNvPr id="4177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0A3286D-8315-4C98-867D-76C01C228DED}" type="slidenum">
              <a:rPr lang="en-US" altLang="zh-CN" smtClean="0"/>
              <a:pPr>
                <a:spcBef>
                  <a:spcPct val="0"/>
                </a:spcBef>
              </a:pPr>
              <a:t>223</a:t>
            </a:fld>
            <a:endParaRPr lang="en-US" altLang="zh-CN"/>
          </a:p>
        </p:txBody>
      </p:sp>
      <p:sp>
        <p:nvSpPr>
          <p:cNvPr id="418819" name="Rectangle 2"/>
          <p:cNvSpPr>
            <a:spLocks noGrp="1" noRot="1" noChangeAspect="1" noChangeArrowheads="1" noTextEdit="1"/>
          </p:cNvSpPr>
          <p:nvPr>
            <p:ph type="sldImg"/>
          </p:nvPr>
        </p:nvSpPr>
        <p:spPr>
          <a:ln/>
        </p:spPr>
      </p:sp>
      <p:sp>
        <p:nvSpPr>
          <p:cNvPr id="4188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C847350-6DAF-4BA0-9DD2-8D024B199BED}" type="slidenum">
              <a:rPr lang="en-US" altLang="zh-CN" smtClean="0"/>
              <a:pPr>
                <a:spcBef>
                  <a:spcPct val="0"/>
                </a:spcBef>
              </a:pPr>
              <a:t>224</a:t>
            </a:fld>
            <a:endParaRPr lang="en-US" altLang="zh-CN"/>
          </a:p>
        </p:txBody>
      </p:sp>
      <p:sp>
        <p:nvSpPr>
          <p:cNvPr id="419843" name="Rectangle 2"/>
          <p:cNvSpPr>
            <a:spLocks noGrp="1" noRot="1" noChangeAspect="1" noChangeArrowheads="1" noTextEdit="1"/>
          </p:cNvSpPr>
          <p:nvPr>
            <p:ph type="sldImg"/>
          </p:nvPr>
        </p:nvSpPr>
        <p:spPr>
          <a:ln/>
        </p:spPr>
      </p:sp>
      <p:sp>
        <p:nvSpPr>
          <p:cNvPr id="4198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3E0222B-D54E-4461-BF0D-61F5B8BAA224}" type="slidenum">
              <a:rPr lang="en-US" altLang="zh-CN" smtClean="0"/>
              <a:pPr>
                <a:spcBef>
                  <a:spcPct val="0"/>
                </a:spcBef>
              </a:pPr>
              <a:t>225</a:t>
            </a:fld>
            <a:endParaRPr lang="en-US" altLang="zh-CN"/>
          </a:p>
        </p:txBody>
      </p:sp>
      <p:sp>
        <p:nvSpPr>
          <p:cNvPr id="420867" name="Rectangle 2"/>
          <p:cNvSpPr>
            <a:spLocks noGrp="1" noRot="1" noChangeAspect="1" noChangeArrowheads="1" noTextEdit="1"/>
          </p:cNvSpPr>
          <p:nvPr>
            <p:ph type="sldImg"/>
          </p:nvPr>
        </p:nvSpPr>
        <p:spPr>
          <a:ln/>
        </p:spPr>
      </p:sp>
      <p:sp>
        <p:nvSpPr>
          <p:cNvPr id="4208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F6DE48C-AAFA-4BCE-8CBE-E4042C8C85F9}" type="slidenum">
              <a:rPr lang="en-US" altLang="zh-CN" smtClean="0"/>
              <a:pPr>
                <a:spcBef>
                  <a:spcPct val="0"/>
                </a:spcBef>
              </a:pPr>
              <a:t>227</a:t>
            </a:fld>
            <a:endParaRPr lang="en-US" altLang="zh-CN"/>
          </a:p>
        </p:txBody>
      </p:sp>
      <p:sp>
        <p:nvSpPr>
          <p:cNvPr id="424963" name="Rectangle 2"/>
          <p:cNvSpPr>
            <a:spLocks noGrp="1" noRot="1" noChangeAspect="1" noChangeArrowheads="1" noTextEdit="1"/>
          </p:cNvSpPr>
          <p:nvPr>
            <p:ph type="sldImg"/>
          </p:nvPr>
        </p:nvSpPr>
        <p:spPr>
          <a:ln/>
        </p:spPr>
      </p:sp>
      <p:sp>
        <p:nvSpPr>
          <p:cNvPr id="4249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5B5816A-524F-4668-ADD6-D0F3564B4C3A}" type="slidenum">
              <a:rPr lang="en-US" altLang="zh-CN" smtClean="0"/>
              <a:pPr>
                <a:spcBef>
                  <a:spcPct val="0"/>
                </a:spcBef>
              </a:pPr>
              <a:t>228</a:t>
            </a:fld>
            <a:endParaRPr lang="en-US" altLang="zh-CN"/>
          </a:p>
        </p:txBody>
      </p:sp>
      <p:sp>
        <p:nvSpPr>
          <p:cNvPr id="421891" name="Rectangle 2"/>
          <p:cNvSpPr>
            <a:spLocks noGrp="1" noRot="1" noChangeAspect="1" noChangeArrowheads="1" noTextEdit="1"/>
          </p:cNvSpPr>
          <p:nvPr>
            <p:ph type="sldImg"/>
          </p:nvPr>
        </p:nvSpPr>
        <p:spPr>
          <a:ln/>
        </p:spPr>
      </p:sp>
      <p:sp>
        <p:nvSpPr>
          <p:cNvPr id="421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9AF1E29-A1E4-4366-A570-63CA7CCCCB7C}" type="slidenum">
              <a:rPr lang="en-US" altLang="zh-CN" smtClean="0"/>
              <a:pPr>
                <a:spcBef>
                  <a:spcPct val="0"/>
                </a:spcBef>
              </a:pPr>
              <a:t>229</a:t>
            </a:fld>
            <a:endParaRPr lang="en-US" altLang="zh-CN"/>
          </a:p>
        </p:txBody>
      </p:sp>
      <p:sp>
        <p:nvSpPr>
          <p:cNvPr id="423939" name="Rectangle 2"/>
          <p:cNvSpPr>
            <a:spLocks noGrp="1" noRot="1" noChangeAspect="1" noChangeArrowheads="1" noTextEdit="1"/>
          </p:cNvSpPr>
          <p:nvPr>
            <p:ph type="sldImg"/>
          </p:nvPr>
        </p:nvSpPr>
        <p:spPr>
          <a:ln/>
        </p:spPr>
      </p:sp>
      <p:sp>
        <p:nvSpPr>
          <p:cNvPr id="4239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6C45F16B-5A34-4FB2-8411-5DD07A1B0877}" type="slidenum">
              <a:rPr lang="en-US" altLang="zh-CN" smtClean="0"/>
              <a:pPr>
                <a:spcBef>
                  <a:spcPct val="0"/>
                </a:spcBef>
              </a:pPr>
              <a:t>230</a:t>
            </a:fld>
            <a:endParaRPr lang="en-US" altLang="zh-CN"/>
          </a:p>
        </p:txBody>
      </p:sp>
      <p:sp>
        <p:nvSpPr>
          <p:cNvPr id="425987" name="Rectangle 2"/>
          <p:cNvSpPr>
            <a:spLocks noGrp="1" noRot="1" noChangeAspect="1" noChangeArrowheads="1" noTextEdit="1"/>
          </p:cNvSpPr>
          <p:nvPr>
            <p:ph type="sldImg"/>
          </p:nvPr>
        </p:nvSpPr>
        <p:spPr>
          <a:ln/>
        </p:spPr>
      </p:sp>
      <p:sp>
        <p:nvSpPr>
          <p:cNvPr id="4259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806662AC-DB2C-41E9-8DB2-A357579D238E}" type="slidenum">
              <a:rPr lang="en-US" altLang="zh-CN" smtClean="0"/>
              <a:pPr>
                <a:spcBef>
                  <a:spcPct val="0"/>
                </a:spcBef>
              </a:pPr>
              <a:t>231</a:t>
            </a:fld>
            <a:endParaRPr lang="en-US" altLang="zh-CN"/>
          </a:p>
        </p:txBody>
      </p:sp>
      <p:sp>
        <p:nvSpPr>
          <p:cNvPr id="427011" name="Rectangle 2"/>
          <p:cNvSpPr>
            <a:spLocks noGrp="1" noRot="1" noChangeAspect="1" noChangeArrowheads="1" noTextEdit="1"/>
          </p:cNvSpPr>
          <p:nvPr>
            <p:ph type="sldImg"/>
          </p:nvPr>
        </p:nvSpPr>
        <p:spPr>
          <a:ln/>
        </p:spPr>
      </p:sp>
      <p:sp>
        <p:nvSpPr>
          <p:cNvPr id="4270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1B6D7B9-64C8-4755-BCFD-A607E80F4E59}" type="slidenum">
              <a:rPr lang="en-US" altLang="zh-CN" smtClean="0"/>
              <a:pPr>
                <a:spcBef>
                  <a:spcPct val="0"/>
                </a:spcBef>
              </a:pPr>
              <a:t>232</a:t>
            </a:fld>
            <a:endParaRPr lang="en-US" altLang="zh-CN"/>
          </a:p>
        </p:txBody>
      </p:sp>
      <p:sp>
        <p:nvSpPr>
          <p:cNvPr id="428035" name="Rectangle 2"/>
          <p:cNvSpPr>
            <a:spLocks noGrp="1" noRot="1" noChangeAspect="1" noChangeArrowheads="1" noTextEdit="1"/>
          </p:cNvSpPr>
          <p:nvPr>
            <p:ph type="sldImg"/>
          </p:nvPr>
        </p:nvSpPr>
        <p:spPr>
          <a:ln/>
        </p:spPr>
      </p:sp>
      <p:sp>
        <p:nvSpPr>
          <p:cNvPr id="4280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sz="2800"/>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F5A5DFB-E9BE-45DB-A16D-C0D8542A7CEE}" type="slidenum">
              <a:rPr lang="en-US" altLang="zh-CN" smtClean="0"/>
              <a:pPr>
                <a:spcBef>
                  <a:spcPct val="0"/>
                </a:spcBef>
              </a:pPr>
              <a:t>233</a:t>
            </a:fld>
            <a:endParaRPr lang="en-US" altLang="zh-CN"/>
          </a:p>
        </p:txBody>
      </p:sp>
      <p:sp>
        <p:nvSpPr>
          <p:cNvPr id="429059" name="Rectangle 2"/>
          <p:cNvSpPr>
            <a:spLocks noGrp="1" noRot="1" noChangeAspect="1" noChangeArrowheads="1" noTextEdit="1"/>
          </p:cNvSpPr>
          <p:nvPr>
            <p:ph type="sldImg"/>
          </p:nvPr>
        </p:nvSpPr>
        <p:spPr>
          <a:ln/>
        </p:spPr>
      </p:sp>
      <p:sp>
        <p:nvSpPr>
          <p:cNvPr id="429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1A4E7BE-8E8C-4BA7-B7F9-ECE47C2C21BA}" type="slidenum">
              <a:rPr lang="en-US" altLang="zh-CN" smtClean="0"/>
              <a:pPr>
                <a:spcBef>
                  <a:spcPct val="0"/>
                </a:spcBef>
              </a:pPr>
              <a:t>234</a:t>
            </a:fld>
            <a:endParaRPr lang="en-US" altLang="zh-CN"/>
          </a:p>
        </p:txBody>
      </p:sp>
      <p:sp>
        <p:nvSpPr>
          <p:cNvPr id="430083" name="Rectangle 2"/>
          <p:cNvSpPr>
            <a:spLocks noGrp="1" noRot="1" noChangeAspect="1" noChangeArrowheads="1" noTextEdit="1"/>
          </p:cNvSpPr>
          <p:nvPr>
            <p:ph type="sldImg"/>
          </p:nvPr>
        </p:nvSpPr>
        <p:spPr>
          <a:ln/>
        </p:spPr>
      </p:sp>
      <p:sp>
        <p:nvSpPr>
          <p:cNvPr id="430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sz="2800" b="1">
              <a:sym typeface="Wingdings" pitchFamily="2" charset="2"/>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7B264704-7B34-46A3-AAD5-AD68A5D25EE3}" type="slidenum">
              <a:rPr lang="en-US" altLang="zh-CN" smtClean="0"/>
              <a:pPr>
                <a:spcBef>
                  <a:spcPct val="0"/>
                </a:spcBef>
              </a:pPr>
              <a:t>235</a:t>
            </a:fld>
            <a:endParaRPr lang="en-US" altLang="zh-CN"/>
          </a:p>
        </p:txBody>
      </p:sp>
      <p:sp>
        <p:nvSpPr>
          <p:cNvPr id="431107" name="Rectangle 2"/>
          <p:cNvSpPr>
            <a:spLocks noGrp="1" noRot="1" noChangeAspect="1" noChangeArrowheads="1" noTextEdit="1"/>
          </p:cNvSpPr>
          <p:nvPr>
            <p:ph type="sldImg"/>
          </p:nvPr>
        </p:nvSpPr>
        <p:spPr>
          <a:ln/>
        </p:spPr>
      </p:sp>
      <p:sp>
        <p:nvSpPr>
          <p:cNvPr id="4311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dirty="0"/>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BE6E057-1CCA-4632-A482-94528538D7EA}" type="slidenum">
              <a:rPr lang="en-US" altLang="zh-CN" smtClean="0"/>
              <a:pPr>
                <a:spcBef>
                  <a:spcPct val="0"/>
                </a:spcBef>
              </a:pPr>
              <a:t>236</a:t>
            </a:fld>
            <a:endParaRPr lang="en-US" altLang="zh-CN"/>
          </a:p>
        </p:txBody>
      </p:sp>
      <p:sp>
        <p:nvSpPr>
          <p:cNvPr id="432131" name="Rectangle 2"/>
          <p:cNvSpPr>
            <a:spLocks noGrp="1" noRot="1" noChangeAspect="1" noChangeArrowheads="1" noTextEdit="1"/>
          </p:cNvSpPr>
          <p:nvPr>
            <p:ph type="sldImg"/>
          </p:nvPr>
        </p:nvSpPr>
        <p:spPr>
          <a:ln/>
        </p:spPr>
      </p:sp>
      <p:sp>
        <p:nvSpPr>
          <p:cNvPr id="4321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D67ECCAA-DDE5-4F88-B1A0-2EB41E678EDB}" type="slidenum">
              <a:rPr lang="en-US" altLang="zh-CN" smtClean="0"/>
              <a:pPr>
                <a:spcBef>
                  <a:spcPct val="0"/>
                </a:spcBef>
              </a:pPr>
              <a:t>237</a:t>
            </a:fld>
            <a:endParaRPr lang="en-US" altLang="zh-CN"/>
          </a:p>
        </p:txBody>
      </p:sp>
      <p:sp>
        <p:nvSpPr>
          <p:cNvPr id="433155" name="Rectangle 2"/>
          <p:cNvSpPr>
            <a:spLocks noGrp="1" noRot="1" noChangeAspect="1" noChangeArrowheads="1" noTextEdit="1"/>
          </p:cNvSpPr>
          <p:nvPr>
            <p:ph type="sldImg"/>
          </p:nvPr>
        </p:nvSpPr>
        <p:spPr>
          <a:ln/>
        </p:spPr>
      </p:sp>
      <p:sp>
        <p:nvSpPr>
          <p:cNvPr id="4331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8886ED4-25C1-4940-95AF-8AF14EF93BFE}" type="slidenum">
              <a:rPr lang="en-US" altLang="zh-CN" smtClean="0"/>
              <a:pPr>
                <a:spcBef>
                  <a:spcPct val="0"/>
                </a:spcBef>
              </a:pPr>
              <a:t>239</a:t>
            </a:fld>
            <a:endParaRPr lang="en-US" altLang="zh-CN"/>
          </a:p>
        </p:txBody>
      </p:sp>
      <p:sp>
        <p:nvSpPr>
          <p:cNvPr id="434179" name="Rectangle 2"/>
          <p:cNvSpPr>
            <a:spLocks noGrp="1" noRot="1" noChangeAspect="1" noChangeArrowheads="1" noTextEdit="1"/>
          </p:cNvSpPr>
          <p:nvPr>
            <p:ph type="sldImg"/>
          </p:nvPr>
        </p:nvSpPr>
        <p:spPr>
          <a:ln/>
        </p:spPr>
      </p:sp>
      <p:sp>
        <p:nvSpPr>
          <p:cNvPr id="4341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907AF9C-4B44-4F58-A334-27500BD759FD}" type="slidenum">
              <a:rPr lang="en-US" altLang="zh-CN" smtClean="0"/>
              <a:pPr>
                <a:spcBef>
                  <a:spcPct val="0"/>
                </a:spcBef>
              </a:pPr>
              <a:t>240</a:t>
            </a:fld>
            <a:endParaRPr lang="en-US" altLang="zh-CN"/>
          </a:p>
        </p:txBody>
      </p:sp>
      <p:sp>
        <p:nvSpPr>
          <p:cNvPr id="436227" name="Rectangle 2"/>
          <p:cNvSpPr>
            <a:spLocks noGrp="1" noRot="1" noChangeAspect="1" noChangeArrowheads="1" noTextEdit="1"/>
          </p:cNvSpPr>
          <p:nvPr>
            <p:ph type="sldImg"/>
          </p:nvPr>
        </p:nvSpPr>
        <p:spPr>
          <a:ln/>
        </p:spPr>
      </p:sp>
      <p:sp>
        <p:nvSpPr>
          <p:cNvPr id="4362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1712A64-6010-4847-B333-0E894D2E6C75}" type="slidenum">
              <a:rPr lang="en-US" altLang="zh-CN" smtClean="0"/>
              <a:pPr>
                <a:spcBef>
                  <a:spcPct val="0"/>
                </a:spcBef>
              </a:pPr>
              <a:t>241</a:t>
            </a:fld>
            <a:endParaRPr lang="en-US" altLang="zh-CN"/>
          </a:p>
        </p:txBody>
      </p:sp>
      <p:sp>
        <p:nvSpPr>
          <p:cNvPr id="435203" name="Rectangle 2"/>
          <p:cNvSpPr>
            <a:spLocks noGrp="1" noRot="1" noChangeAspect="1" noChangeArrowheads="1" noTextEdit="1"/>
          </p:cNvSpPr>
          <p:nvPr>
            <p:ph type="sldImg"/>
          </p:nvPr>
        </p:nvSpPr>
        <p:spPr>
          <a:ln/>
        </p:spPr>
      </p:sp>
      <p:sp>
        <p:nvSpPr>
          <p:cNvPr id="4352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AE0318F-7C0A-4B36-8844-54D9F3F6E636}" type="slidenum">
              <a:rPr lang="en-US" altLang="zh-CN" smtClean="0"/>
              <a:pPr>
                <a:spcBef>
                  <a:spcPct val="0"/>
                </a:spcBef>
              </a:pPr>
              <a:t>242</a:t>
            </a:fld>
            <a:endParaRPr lang="en-US" altLang="zh-CN"/>
          </a:p>
        </p:txBody>
      </p:sp>
      <p:sp>
        <p:nvSpPr>
          <p:cNvPr id="437251" name="Rectangle 2"/>
          <p:cNvSpPr>
            <a:spLocks noGrp="1" noRot="1" noChangeAspect="1" noChangeArrowheads="1" noTextEdit="1"/>
          </p:cNvSpPr>
          <p:nvPr>
            <p:ph type="sldImg"/>
          </p:nvPr>
        </p:nvSpPr>
        <p:spPr>
          <a:ln/>
        </p:spPr>
      </p:sp>
      <p:sp>
        <p:nvSpPr>
          <p:cNvPr id="4372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dirty="0"/>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AE0318F-7C0A-4B36-8844-54D9F3F6E636}" type="slidenum">
              <a:rPr lang="en-US" altLang="zh-CN" smtClean="0"/>
              <a:pPr>
                <a:spcBef>
                  <a:spcPct val="0"/>
                </a:spcBef>
              </a:pPr>
              <a:t>243</a:t>
            </a:fld>
            <a:endParaRPr lang="en-US" altLang="zh-CN"/>
          </a:p>
        </p:txBody>
      </p:sp>
      <p:sp>
        <p:nvSpPr>
          <p:cNvPr id="437251" name="Rectangle 2"/>
          <p:cNvSpPr>
            <a:spLocks noGrp="1" noRot="1" noChangeAspect="1" noChangeArrowheads="1" noTextEdit="1"/>
          </p:cNvSpPr>
          <p:nvPr>
            <p:ph type="sldImg"/>
          </p:nvPr>
        </p:nvSpPr>
        <p:spPr>
          <a:ln/>
        </p:spPr>
      </p:sp>
      <p:sp>
        <p:nvSpPr>
          <p:cNvPr id="4372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AE0318F-7C0A-4B36-8844-54D9F3F6E636}" type="slidenum">
              <a:rPr lang="en-US" altLang="zh-CN" smtClean="0"/>
              <a:pPr>
                <a:spcBef>
                  <a:spcPct val="0"/>
                </a:spcBef>
              </a:pPr>
              <a:t>244</a:t>
            </a:fld>
            <a:endParaRPr lang="en-US" altLang="zh-CN"/>
          </a:p>
        </p:txBody>
      </p:sp>
      <p:sp>
        <p:nvSpPr>
          <p:cNvPr id="437251" name="Rectangle 2"/>
          <p:cNvSpPr>
            <a:spLocks noGrp="1" noRot="1" noChangeAspect="1" noChangeArrowheads="1" noTextEdit="1"/>
          </p:cNvSpPr>
          <p:nvPr>
            <p:ph type="sldImg"/>
          </p:nvPr>
        </p:nvSpPr>
        <p:spPr>
          <a:ln/>
        </p:spPr>
      </p:sp>
      <p:sp>
        <p:nvSpPr>
          <p:cNvPr id="4372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26B9DDE-269F-4926-8EDA-82420A640768}" type="slidenum">
              <a:rPr lang="en-US" altLang="zh-CN" smtClean="0"/>
              <a:pPr>
                <a:spcBef>
                  <a:spcPct val="0"/>
                </a:spcBef>
              </a:pPr>
              <a:t>245</a:t>
            </a:fld>
            <a:endParaRPr lang="en-US" altLang="zh-CN"/>
          </a:p>
        </p:txBody>
      </p:sp>
      <p:sp>
        <p:nvSpPr>
          <p:cNvPr id="438275" name="Rectangle 2"/>
          <p:cNvSpPr>
            <a:spLocks noGrp="1" noRot="1" noChangeAspect="1" noChangeArrowheads="1" noTextEdit="1"/>
          </p:cNvSpPr>
          <p:nvPr>
            <p:ph type="sldImg"/>
          </p:nvPr>
        </p:nvSpPr>
        <p:spPr>
          <a:ln/>
        </p:spPr>
      </p:sp>
      <p:sp>
        <p:nvSpPr>
          <p:cNvPr id="4382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392ACAC-017D-4993-90D3-1169C50809B8}" type="slidenum">
              <a:rPr lang="en-US" altLang="zh-CN" smtClean="0"/>
              <a:pPr>
                <a:spcBef>
                  <a:spcPct val="0"/>
                </a:spcBef>
              </a:pPr>
              <a:t>247</a:t>
            </a:fld>
            <a:endParaRPr lang="en-US" altLang="zh-CN"/>
          </a:p>
        </p:txBody>
      </p:sp>
      <p:sp>
        <p:nvSpPr>
          <p:cNvPr id="439299" name="Rectangle 2"/>
          <p:cNvSpPr>
            <a:spLocks noGrp="1" noRot="1" noChangeAspect="1" noChangeArrowheads="1" noTextEdit="1"/>
          </p:cNvSpPr>
          <p:nvPr>
            <p:ph type="sldImg"/>
          </p:nvPr>
        </p:nvSpPr>
        <p:spPr>
          <a:ln/>
        </p:spPr>
      </p:sp>
      <p:sp>
        <p:nvSpPr>
          <p:cNvPr id="4393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F32D9D5-7595-457B-935B-9AAF915CB87C}" type="slidenum">
              <a:rPr lang="en-US" altLang="zh-CN" smtClean="0"/>
              <a:pPr>
                <a:spcBef>
                  <a:spcPct val="0"/>
                </a:spcBef>
              </a:pPr>
              <a:t>248</a:t>
            </a:fld>
            <a:endParaRPr lang="en-US" altLang="zh-CN"/>
          </a:p>
        </p:txBody>
      </p:sp>
      <p:sp>
        <p:nvSpPr>
          <p:cNvPr id="440323" name="Rectangle 2"/>
          <p:cNvSpPr>
            <a:spLocks noGrp="1" noRot="1" noChangeAspect="1" noChangeArrowheads="1" noTextEdit="1"/>
          </p:cNvSpPr>
          <p:nvPr>
            <p:ph type="sldImg"/>
          </p:nvPr>
        </p:nvSpPr>
        <p:spPr>
          <a:ln/>
        </p:spPr>
      </p:sp>
      <p:sp>
        <p:nvSpPr>
          <p:cNvPr id="4403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EA03AA5A-96E9-4F90-8C88-A40336A67C7F}" type="slidenum">
              <a:rPr lang="en-US" altLang="zh-CN" smtClean="0"/>
              <a:pPr>
                <a:spcBef>
                  <a:spcPct val="0"/>
                </a:spcBef>
              </a:pPr>
              <a:t>249</a:t>
            </a:fld>
            <a:endParaRPr lang="en-US" altLang="zh-CN"/>
          </a:p>
        </p:txBody>
      </p:sp>
      <p:sp>
        <p:nvSpPr>
          <p:cNvPr id="441347" name="Rectangle 2"/>
          <p:cNvSpPr>
            <a:spLocks noGrp="1" noRot="1" noChangeAspect="1" noChangeArrowheads="1" noTextEdit="1"/>
          </p:cNvSpPr>
          <p:nvPr>
            <p:ph type="sldImg"/>
          </p:nvPr>
        </p:nvSpPr>
        <p:spPr>
          <a:ln/>
        </p:spPr>
      </p:sp>
      <p:sp>
        <p:nvSpPr>
          <p:cNvPr id="4413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22D2ACCB-52CD-4532-BCE6-1A39D4740A1A}" type="slidenum">
              <a:rPr lang="en-US" altLang="zh-CN" smtClean="0"/>
              <a:pPr>
                <a:spcBef>
                  <a:spcPct val="0"/>
                </a:spcBef>
              </a:pPr>
              <a:t>250</a:t>
            </a:fld>
            <a:endParaRPr lang="en-US" altLang="zh-CN"/>
          </a:p>
        </p:txBody>
      </p:sp>
      <p:sp>
        <p:nvSpPr>
          <p:cNvPr id="442371" name="Rectangle 2"/>
          <p:cNvSpPr>
            <a:spLocks noGrp="1" noRot="1" noChangeAspect="1" noChangeArrowheads="1" noTextEdit="1"/>
          </p:cNvSpPr>
          <p:nvPr>
            <p:ph type="sldImg"/>
          </p:nvPr>
        </p:nvSpPr>
        <p:spPr>
          <a:ln/>
        </p:spPr>
      </p:sp>
      <p:sp>
        <p:nvSpPr>
          <p:cNvPr id="4423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1CE9084-C747-4B26-9947-69FFCE1BF618}" type="slidenum">
              <a:rPr lang="en-US" altLang="zh-CN" smtClean="0"/>
              <a:pPr>
                <a:spcBef>
                  <a:spcPct val="0"/>
                </a:spcBef>
              </a:pPr>
              <a:t>252</a:t>
            </a:fld>
            <a:endParaRPr lang="en-US" altLang="zh-CN"/>
          </a:p>
        </p:txBody>
      </p:sp>
      <p:sp>
        <p:nvSpPr>
          <p:cNvPr id="443395" name="Rectangle 2"/>
          <p:cNvSpPr>
            <a:spLocks noGrp="1" noRot="1" noChangeAspect="1" noChangeArrowheads="1" noTextEdit="1"/>
          </p:cNvSpPr>
          <p:nvPr>
            <p:ph type="sldImg"/>
          </p:nvPr>
        </p:nvSpPr>
        <p:spPr>
          <a:ln/>
        </p:spPr>
      </p:sp>
      <p:sp>
        <p:nvSpPr>
          <p:cNvPr id="4433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9223D07-EECB-49C0-9CBC-C4FCBCDBB294}" type="slidenum">
              <a:rPr lang="en-US" altLang="zh-CN" smtClean="0"/>
              <a:pPr>
                <a:spcBef>
                  <a:spcPct val="0"/>
                </a:spcBef>
              </a:pPr>
              <a:t>253</a:t>
            </a:fld>
            <a:endParaRPr lang="en-US" altLang="zh-CN"/>
          </a:p>
        </p:txBody>
      </p:sp>
      <p:sp>
        <p:nvSpPr>
          <p:cNvPr id="444419" name="Rectangle 2"/>
          <p:cNvSpPr>
            <a:spLocks noGrp="1" noRot="1" noChangeAspect="1" noChangeArrowheads="1" noTextEdit="1"/>
          </p:cNvSpPr>
          <p:nvPr>
            <p:ph type="sldImg"/>
          </p:nvPr>
        </p:nvSpPr>
        <p:spPr>
          <a:ln/>
        </p:spPr>
      </p:sp>
      <p:sp>
        <p:nvSpPr>
          <p:cNvPr id="4444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DB2C0E48-EA0F-4F41-9ADC-6AEDE4D44CA7}" type="slidenum">
              <a:rPr lang="en-US" altLang="zh-CN" smtClean="0"/>
              <a:pPr>
                <a:spcBef>
                  <a:spcPct val="0"/>
                </a:spcBef>
              </a:pPr>
              <a:t>255</a:t>
            </a:fld>
            <a:endParaRPr lang="en-US" altLang="zh-CN"/>
          </a:p>
        </p:txBody>
      </p:sp>
      <p:sp>
        <p:nvSpPr>
          <p:cNvPr id="446467" name="Rectangle 2"/>
          <p:cNvSpPr>
            <a:spLocks noGrp="1" noRot="1" noChangeAspect="1" noChangeArrowheads="1" noTextEdit="1"/>
          </p:cNvSpPr>
          <p:nvPr>
            <p:ph type="sldImg"/>
          </p:nvPr>
        </p:nvSpPr>
        <p:spPr>
          <a:ln/>
        </p:spPr>
      </p:sp>
      <p:sp>
        <p:nvSpPr>
          <p:cNvPr id="4464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6903BFD-45FA-47D7-B0EE-49B838CC66C8}" type="slidenum">
              <a:rPr lang="en-US" altLang="zh-CN" smtClean="0"/>
              <a:pPr>
                <a:spcBef>
                  <a:spcPct val="0"/>
                </a:spcBef>
              </a:pPr>
              <a:t>256</a:t>
            </a:fld>
            <a:endParaRPr lang="en-US" altLang="zh-CN"/>
          </a:p>
        </p:txBody>
      </p:sp>
      <p:sp>
        <p:nvSpPr>
          <p:cNvPr id="448515" name="Rectangle 2"/>
          <p:cNvSpPr>
            <a:spLocks noGrp="1" noRot="1" noChangeAspect="1" noChangeArrowheads="1" noTextEdit="1"/>
          </p:cNvSpPr>
          <p:nvPr>
            <p:ph type="sldImg"/>
          </p:nvPr>
        </p:nvSpPr>
        <p:spPr>
          <a:ln/>
        </p:spPr>
      </p:sp>
      <p:sp>
        <p:nvSpPr>
          <p:cNvPr id="4485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FA657C3B-4B28-4A5F-ABCE-4DB1123E77DE}" type="slidenum">
              <a:rPr lang="en-US" altLang="zh-CN" smtClean="0"/>
              <a:pPr>
                <a:spcBef>
                  <a:spcPct val="0"/>
                </a:spcBef>
              </a:pPr>
              <a:t>257</a:t>
            </a:fld>
            <a:endParaRPr lang="en-US" altLang="zh-CN"/>
          </a:p>
        </p:txBody>
      </p:sp>
      <p:sp>
        <p:nvSpPr>
          <p:cNvPr id="447491" name="Rectangle 2"/>
          <p:cNvSpPr>
            <a:spLocks noGrp="1" noRot="1" noChangeAspect="1" noChangeArrowheads="1" noTextEdit="1"/>
          </p:cNvSpPr>
          <p:nvPr>
            <p:ph type="sldImg"/>
          </p:nvPr>
        </p:nvSpPr>
        <p:spPr>
          <a:ln/>
        </p:spPr>
      </p:sp>
      <p:sp>
        <p:nvSpPr>
          <p:cNvPr id="447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B3447FC-C3EE-48B8-8867-9CEC5C50FD7E}" type="slidenum">
              <a:rPr lang="en-US" altLang="zh-CN" smtClean="0"/>
              <a:pPr>
                <a:spcBef>
                  <a:spcPct val="0"/>
                </a:spcBef>
              </a:pPr>
              <a:t>258</a:t>
            </a:fld>
            <a:endParaRPr lang="en-US" altLang="zh-CN"/>
          </a:p>
        </p:txBody>
      </p:sp>
      <p:sp>
        <p:nvSpPr>
          <p:cNvPr id="449539" name="Rectangle 2"/>
          <p:cNvSpPr>
            <a:spLocks noGrp="1" noRot="1" noChangeAspect="1" noChangeArrowheads="1" noTextEdit="1"/>
          </p:cNvSpPr>
          <p:nvPr>
            <p:ph type="sldImg"/>
          </p:nvPr>
        </p:nvSpPr>
        <p:spPr>
          <a:ln/>
        </p:spPr>
      </p:sp>
      <p:sp>
        <p:nvSpPr>
          <p:cNvPr id="4495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99E3EEA-D8F0-4422-B060-5C9209EFA1A0}" type="slidenum">
              <a:rPr lang="en-US" altLang="zh-CN" smtClean="0"/>
              <a:pPr>
                <a:spcBef>
                  <a:spcPct val="0"/>
                </a:spcBef>
              </a:pPr>
              <a:t>259</a:t>
            </a:fld>
            <a:endParaRPr lang="en-US" altLang="zh-CN"/>
          </a:p>
        </p:txBody>
      </p:sp>
      <p:sp>
        <p:nvSpPr>
          <p:cNvPr id="450563" name="Rectangle 2"/>
          <p:cNvSpPr>
            <a:spLocks noGrp="1" noRot="1" noChangeAspect="1" noChangeArrowheads="1" noTextEdit="1"/>
          </p:cNvSpPr>
          <p:nvPr>
            <p:ph type="sldImg"/>
          </p:nvPr>
        </p:nvSpPr>
        <p:spPr>
          <a:ln/>
        </p:spPr>
      </p:sp>
      <p:sp>
        <p:nvSpPr>
          <p:cNvPr id="4505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1265CCB7-85A0-45C5-9823-55DF6B87A0E9}" type="slidenum">
              <a:rPr lang="en-US" altLang="zh-CN" smtClean="0"/>
              <a:pPr>
                <a:spcBef>
                  <a:spcPct val="0"/>
                </a:spcBef>
              </a:pPr>
              <a:t>260</a:t>
            </a:fld>
            <a:endParaRPr lang="en-US" altLang="zh-CN"/>
          </a:p>
        </p:txBody>
      </p:sp>
      <p:sp>
        <p:nvSpPr>
          <p:cNvPr id="451587" name="Rectangle 2"/>
          <p:cNvSpPr>
            <a:spLocks noGrp="1" noRot="1" noChangeAspect="1" noChangeArrowheads="1" noTextEdit="1"/>
          </p:cNvSpPr>
          <p:nvPr>
            <p:ph type="sldImg"/>
          </p:nvPr>
        </p:nvSpPr>
        <p:spPr>
          <a:ln/>
        </p:spPr>
      </p:sp>
      <p:sp>
        <p:nvSpPr>
          <p:cNvPr id="4515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40C9C48-179A-43F4-B1FA-30FB734D6A27}" type="slidenum">
              <a:rPr lang="en-US" altLang="zh-CN" smtClean="0"/>
              <a:pPr>
                <a:spcBef>
                  <a:spcPct val="0"/>
                </a:spcBef>
              </a:pPr>
              <a:t>262</a:t>
            </a:fld>
            <a:endParaRPr lang="en-US" altLang="zh-CN"/>
          </a:p>
        </p:txBody>
      </p:sp>
      <p:sp>
        <p:nvSpPr>
          <p:cNvPr id="452611" name="Rectangle 2"/>
          <p:cNvSpPr>
            <a:spLocks noGrp="1" noRot="1" noChangeAspect="1" noChangeArrowheads="1" noTextEdit="1"/>
          </p:cNvSpPr>
          <p:nvPr>
            <p:ph type="sldImg"/>
          </p:nvPr>
        </p:nvSpPr>
        <p:spPr>
          <a:ln/>
        </p:spPr>
      </p:sp>
      <p:sp>
        <p:nvSpPr>
          <p:cNvPr id="4526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ECC91BC-6A1D-448F-90CB-B8B478C8F279}" type="slidenum">
              <a:rPr lang="en-US" altLang="zh-CN" smtClean="0"/>
              <a:pPr>
                <a:spcBef>
                  <a:spcPct val="0"/>
                </a:spcBef>
              </a:pPr>
              <a:t>263</a:t>
            </a:fld>
            <a:endParaRPr lang="en-US" altLang="zh-CN"/>
          </a:p>
        </p:txBody>
      </p:sp>
      <p:sp>
        <p:nvSpPr>
          <p:cNvPr id="453635" name="Rectangle 2"/>
          <p:cNvSpPr>
            <a:spLocks noGrp="1" noRot="1" noChangeAspect="1" noChangeArrowheads="1" noTextEdit="1"/>
          </p:cNvSpPr>
          <p:nvPr>
            <p:ph type="sldImg"/>
          </p:nvPr>
        </p:nvSpPr>
        <p:spPr>
          <a:ln/>
        </p:spPr>
      </p:sp>
      <p:sp>
        <p:nvSpPr>
          <p:cNvPr id="4536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3F8DAD1-2722-45E8-93EF-C3F26DBC967A}" type="slidenum">
              <a:rPr lang="en-US" altLang="zh-CN" smtClean="0"/>
              <a:pPr>
                <a:spcBef>
                  <a:spcPct val="0"/>
                </a:spcBef>
              </a:pPr>
              <a:t>265</a:t>
            </a:fld>
            <a:endParaRPr lang="en-US" altLang="zh-CN"/>
          </a:p>
        </p:txBody>
      </p:sp>
      <p:sp>
        <p:nvSpPr>
          <p:cNvPr id="454659" name="Rectangle 2"/>
          <p:cNvSpPr>
            <a:spLocks noGrp="1" noRot="1" noChangeAspect="1" noChangeArrowheads="1" noTextEdit="1"/>
          </p:cNvSpPr>
          <p:nvPr>
            <p:ph type="sldImg"/>
          </p:nvPr>
        </p:nvSpPr>
        <p:spPr>
          <a:ln/>
        </p:spPr>
      </p:sp>
      <p:sp>
        <p:nvSpPr>
          <p:cNvPr id="4546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4B28D1E-5090-413F-90D5-225DF76DB2F7}" type="slidenum">
              <a:rPr lang="en-US" altLang="zh-CN" smtClean="0"/>
              <a:pPr>
                <a:spcBef>
                  <a:spcPct val="0"/>
                </a:spcBef>
              </a:pPr>
              <a:t>266</a:t>
            </a:fld>
            <a:endParaRPr lang="en-US" altLang="zh-CN"/>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sz="1200" dirty="0">
                <a:ea typeface="华文行楷" pitchFamily="2" charset="-122"/>
              </a:rPr>
              <a:t>人们又找到了一种新的方法，称为</a:t>
            </a:r>
            <a:r>
              <a:rPr lang="en-US" altLang="zh-CN" sz="1200" dirty="0">
                <a:ea typeface="华文行楷" pitchFamily="2" charset="-122"/>
              </a:rPr>
              <a:t>LR(k)</a:t>
            </a:r>
            <a:r>
              <a:rPr lang="zh-CN" altLang="en-US" sz="1200" dirty="0">
                <a:ea typeface="华文行楷" pitchFamily="2" charset="-122"/>
              </a:rPr>
              <a:t>方法来解决这个冲突，在</a:t>
            </a:r>
            <a:r>
              <a:rPr lang="en-US" altLang="zh-CN" sz="1200" dirty="0">
                <a:ea typeface="华文行楷" pitchFamily="2" charset="-122"/>
              </a:rPr>
              <a:t>LR(0)</a:t>
            </a:r>
            <a:r>
              <a:rPr lang="zh-CN" altLang="en-US" sz="1200" dirty="0">
                <a:ea typeface="华文行楷" pitchFamily="2" charset="-122"/>
              </a:rPr>
              <a:t>项目的基础上，添加</a:t>
            </a:r>
            <a:r>
              <a:rPr lang="en-US" altLang="zh-CN" sz="1200" dirty="0">
                <a:ea typeface="华文行楷" pitchFamily="2" charset="-122"/>
              </a:rPr>
              <a:t>k</a:t>
            </a:r>
            <a:r>
              <a:rPr lang="zh-CN" altLang="en-US" sz="1200" dirty="0">
                <a:ea typeface="华文行楷" pitchFamily="2" charset="-122"/>
              </a:rPr>
              <a:t>个向前搜索字符，比如这里的</a:t>
            </a:r>
            <a:r>
              <a:rPr lang="pt-PT" altLang="zh-CN" sz="1200" dirty="0"/>
              <a:t>a</a:t>
            </a:r>
            <a:r>
              <a:rPr lang="pt-PT" altLang="zh-CN" sz="1200" baseline="-25000" dirty="0"/>
              <a:t>1</a:t>
            </a:r>
            <a:r>
              <a:rPr lang="pt-PT" altLang="zh-CN" sz="1200" dirty="0"/>
              <a:t>a</a:t>
            </a:r>
            <a:r>
              <a:rPr lang="pt-PT" altLang="zh-CN" sz="1200" baseline="-25000" dirty="0"/>
              <a:t>2</a:t>
            </a:r>
            <a:r>
              <a:rPr lang="pt-PT" altLang="zh-CN" sz="1200" dirty="0"/>
              <a:t>…a</a:t>
            </a:r>
            <a:r>
              <a:rPr lang="pt-PT" altLang="zh-CN" sz="1200" baseline="-25000" dirty="0"/>
              <a:t>k</a:t>
            </a:r>
            <a:r>
              <a:rPr lang="zh-CN" altLang="en-US" sz="1200" dirty="0">
                <a:ea typeface="华文行楷" pitchFamily="2" charset="-122"/>
              </a:rPr>
              <a:t>，构成</a:t>
            </a:r>
            <a:r>
              <a:rPr lang="en-US" altLang="zh-CN" sz="1200" dirty="0">
                <a:ea typeface="华文行楷" pitchFamily="2" charset="-122"/>
              </a:rPr>
              <a:t>LR(k)</a:t>
            </a:r>
            <a:r>
              <a:rPr lang="zh-CN" altLang="en-US" sz="1200" dirty="0">
                <a:ea typeface="华文行楷" pitchFamily="2" charset="-122"/>
              </a:rPr>
              <a:t>项目，</a:t>
            </a:r>
            <a:r>
              <a:rPr lang="en-US" altLang="zh-CN" sz="1200" dirty="0">
                <a:ea typeface="华文行楷" pitchFamily="2" charset="-122"/>
              </a:rPr>
              <a:t>k=1</a:t>
            </a:r>
            <a:r>
              <a:rPr lang="zh-CN" altLang="en-US" sz="1200" dirty="0">
                <a:ea typeface="华文行楷" pitchFamily="2" charset="-122"/>
              </a:rPr>
              <a:t>，就是</a:t>
            </a:r>
            <a:r>
              <a:rPr lang="en-US" altLang="zh-CN" sz="1200" dirty="0">
                <a:ea typeface="华文行楷" pitchFamily="2" charset="-122"/>
              </a:rPr>
              <a:t>LR(1)</a:t>
            </a:r>
            <a:r>
              <a:rPr lang="zh-CN" altLang="en-US" sz="1200" dirty="0">
                <a:ea typeface="华文行楷" pitchFamily="2" charset="-122"/>
              </a:rPr>
              <a:t>方法。</a:t>
            </a:r>
            <a:endParaRPr lang="en-US" altLang="zh-CN" sz="1200" dirty="0">
              <a:ea typeface="华文行楷" pitchFamily="2" charset="-122"/>
            </a:endParaRPr>
          </a:p>
          <a:p>
            <a:r>
              <a:rPr lang="zh-CN" altLang="en-US" sz="1200" dirty="0">
                <a:solidFill>
                  <a:srgbClr val="FF0000"/>
                </a:solidFill>
                <a:latin typeface="Times New Roman" panose="02020603050405020304" pitchFamily="18" charset="0"/>
                <a:cs typeface="Times New Roman" panose="02020603050405020304" pitchFamily="18" charset="0"/>
              </a:rPr>
              <a:t>如</a:t>
            </a:r>
            <a:r>
              <a:rPr lang="en-US" altLang="zh-CN" sz="1200" dirty="0">
                <a:solidFill>
                  <a:srgbClr val="FF0000"/>
                </a:solidFill>
                <a:latin typeface="Times New Roman" panose="02020603050405020304" pitchFamily="18" charset="0"/>
                <a:cs typeface="Times New Roman" panose="02020603050405020304" pitchFamily="18" charset="0"/>
              </a:rPr>
              <a:t>[A→α·Xβ,a]</a:t>
            </a:r>
            <a:r>
              <a:rPr lang="zh-CN" altLang="en-US" sz="1200" dirty="0">
                <a:solidFill>
                  <a:srgbClr val="FF0000"/>
                </a:solidFill>
                <a:latin typeface="Times New Roman" panose="02020603050405020304" pitchFamily="18" charset="0"/>
                <a:cs typeface="Times New Roman" panose="02020603050405020304" pitchFamily="18" charset="0"/>
              </a:rPr>
              <a:t>是一个</a:t>
            </a:r>
            <a:r>
              <a:rPr lang="en-US" altLang="zh-CN" sz="1200" dirty="0">
                <a:solidFill>
                  <a:srgbClr val="FF0000"/>
                </a:solidFill>
                <a:latin typeface="Times New Roman" panose="02020603050405020304" pitchFamily="18" charset="0"/>
                <a:cs typeface="Times New Roman" panose="02020603050405020304" pitchFamily="18" charset="0"/>
              </a:rPr>
              <a:t>LR(1)</a:t>
            </a:r>
            <a:r>
              <a:rPr lang="zh-CN" altLang="en-US" sz="1200" dirty="0">
                <a:solidFill>
                  <a:srgbClr val="FF0000"/>
                </a:solidFill>
                <a:latin typeface="Times New Roman" panose="02020603050405020304" pitchFamily="18" charset="0"/>
                <a:cs typeface="Times New Roman" panose="02020603050405020304" pitchFamily="18" charset="0"/>
              </a:rPr>
              <a:t>项目，其含义是</a:t>
            </a:r>
            <a:r>
              <a:rPr lang="zh-CN" altLang="en-US" b="0" i="0" dirty="0">
                <a:solidFill>
                  <a:srgbClr val="000000"/>
                </a:solidFill>
                <a:effectLst/>
                <a:latin typeface="Arial" panose="020B0604020202020204" pitchFamily="34" charset="0"/>
              </a:rPr>
              <a:t>：目前栈里面已经移进和归约出了符号串</a:t>
            </a:r>
            <a:r>
              <a:rPr lang="en-US" altLang="zh-CN" sz="1200" dirty="0">
                <a:solidFill>
                  <a:srgbClr val="FF0000"/>
                </a:solidFill>
                <a:latin typeface="Times New Roman" panose="02020603050405020304" pitchFamily="18" charset="0"/>
                <a:cs typeface="Times New Roman" panose="02020603050405020304" pitchFamily="18" charset="0"/>
              </a:rPr>
              <a:t>α</a:t>
            </a:r>
            <a:r>
              <a:rPr lang="zh-CN" altLang="en-US" b="0" i="0" dirty="0">
                <a:solidFill>
                  <a:srgbClr val="000000"/>
                </a:solidFill>
                <a:effectLst/>
                <a:latin typeface="Arial" panose="020B0604020202020204" pitchFamily="34" charset="0"/>
              </a:rPr>
              <a:t>，期待</a:t>
            </a:r>
            <a:r>
              <a:rPr lang="en-US" altLang="zh-CN" sz="1200" dirty="0">
                <a:solidFill>
                  <a:srgbClr val="FF0000"/>
                </a:solidFill>
                <a:latin typeface="Times New Roman" panose="02020603050405020304" pitchFamily="18" charset="0"/>
                <a:cs typeface="Times New Roman" panose="02020603050405020304" pitchFamily="18" charset="0"/>
              </a:rPr>
              <a:t>Xβ</a:t>
            </a:r>
            <a:r>
              <a:rPr lang="zh-CN" altLang="en-US" b="0" i="0" dirty="0">
                <a:solidFill>
                  <a:srgbClr val="000000"/>
                </a:solidFill>
                <a:effectLst/>
                <a:latin typeface="Arial" panose="020B0604020202020204" pitchFamily="34" charset="0"/>
              </a:rPr>
              <a:t>这一符号串，并且只有</a:t>
            </a:r>
            <a:r>
              <a:rPr lang="en-US" altLang="zh-CN" sz="1200" dirty="0">
                <a:solidFill>
                  <a:srgbClr val="FF0000"/>
                </a:solidFill>
                <a:latin typeface="Times New Roman" panose="02020603050405020304" pitchFamily="18" charset="0"/>
                <a:cs typeface="Times New Roman" panose="02020603050405020304" pitchFamily="18" charset="0"/>
              </a:rPr>
              <a:t>β</a:t>
            </a:r>
            <a:r>
              <a:rPr lang="zh-CN" altLang="en-US" sz="1200" dirty="0">
                <a:solidFill>
                  <a:srgbClr val="FF0000"/>
                </a:solidFill>
                <a:latin typeface="Times New Roman" panose="02020603050405020304" pitchFamily="18" charset="0"/>
                <a:cs typeface="Times New Roman" panose="02020603050405020304" pitchFamily="18" charset="0"/>
              </a:rPr>
              <a:t>之后</a:t>
            </a:r>
            <a:r>
              <a:rPr lang="zh-CN" altLang="en-US" b="0" i="0" dirty="0">
                <a:solidFill>
                  <a:srgbClr val="000000"/>
                </a:solidFill>
                <a:effectLst/>
                <a:latin typeface="Arial" panose="020B0604020202020204" pitchFamily="34" charset="0"/>
              </a:rPr>
              <a:t>读入的终结符是 </a:t>
            </a:r>
            <a:r>
              <a:rPr lang="en-US" altLang="zh-CN" b="0" i="0" dirty="0">
                <a:solidFill>
                  <a:srgbClr val="000000"/>
                </a:solidFill>
                <a:effectLst/>
                <a:latin typeface="Arial" panose="020B0604020202020204" pitchFamily="34" charset="0"/>
              </a:rPr>
              <a:t>a </a:t>
            </a:r>
            <a:r>
              <a:rPr lang="zh-CN" altLang="en-US" b="0" i="0" dirty="0">
                <a:solidFill>
                  <a:srgbClr val="000000"/>
                </a:solidFill>
                <a:effectLst/>
                <a:latin typeface="Arial" panose="020B0604020202020204" pitchFamily="34" charset="0"/>
              </a:rPr>
              <a:t>的时候才能执行归约动作。</a:t>
            </a:r>
            <a:endParaRPr lang="en-US" altLang="zh-CN" b="0" i="0" dirty="0">
              <a:solidFill>
                <a:srgbClr val="000000"/>
              </a:solidFill>
              <a:effectLst/>
              <a:latin typeface="Arial" panose="020B0604020202020204" pitchFamily="34" charset="0"/>
            </a:endParaRPr>
          </a:p>
          <a:p>
            <a:pPr marL="0" marR="0" lvl="0" indent="0" algn="l" defTabSz="1219170" rtl="0" eaLnBrk="1" fontAlgn="auto" latinLnBrk="0" hangingPunct="1">
              <a:lnSpc>
                <a:spcPct val="100000"/>
              </a:lnSpc>
              <a:spcBef>
                <a:spcPts val="0"/>
              </a:spcBef>
              <a:spcAft>
                <a:spcPts val="0"/>
              </a:spcAft>
              <a:buClrTx/>
              <a:buSzTx/>
              <a:buFontTx/>
              <a:buNone/>
              <a:tabLst/>
              <a:defRPr/>
            </a:pP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向前搜索字符串仅对归约项目</a:t>
            </a:r>
            <a:r>
              <a:rPr lang="en-US" altLang="zh-CN" sz="1400" kern="100" dirty="0">
                <a:effectLst/>
                <a:latin typeface="Times New Roman" panose="02020603050405020304" pitchFamily="18" charset="0"/>
                <a:ea typeface="宋体" panose="02010600030101010101" pitchFamily="2" charset="-122"/>
              </a:rPr>
              <a:t>[</a:t>
            </a:r>
            <a:r>
              <a:rPr lang="en-US" altLang="zh-CN" sz="1400" kern="100" dirty="0" err="1">
                <a:effectLst/>
                <a:latin typeface="Times New Roman" panose="02020603050405020304" pitchFamily="18" charset="0"/>
                <a:ea typeface="宋体" panose="02010600030101010101" pitchFamily="2" charset="-122"/>
              </a:rPr>
              <a:t>A→</a:t>
            </a:r>
            <a:r>
              <a:rPr lang="en-US" altLang="zh-CN" sz="1400" kern="100" dirty="0" err="1">
                <a:effectLst/>
                <a:latin typeface="Times New Roman" panose="02020603050405020304" pitchFamily="18" charset="0"/>
                <a:ea typeface="微软雅黑" panose="020B0503020204020204" pitchFamily="34" charset="-122"/>
              </a:rPr>
              <a:t>η</a:t>
            </a:r>
            <a:r>
              <a:rPr lang="x-none" altLang="zh-CN" sz="1400" kern="100" dirty="0">
                <a:effectLst/>
                <a:latin typeface="Times New Roman" panose="02020603050405020304" pitchFamily="18" charset="0"/>
                <a:ea typeface="宋体" panose="02010600030101010101" pitchFamily="2" charset="-122"/>
              </a:rPr>
              <a:t> </a:t>
            </a:r>
            <a:r>
              <a:rPr lang="en-US" altLang="zh-CN" sz="1400" kern="100" dirty="0">
                <a:effectLst/>
                <a:latin typeface="Times New Roman" panose="02020603050405020304" pitchFamily="18" charset="0"/>
                <a:ea typeface="宋体" panose="02010600030101010101" pitchFamily="2" charset="-122"/>
              </a:rPr>
              <a:t>·,a</a:t>
            </a:r>
            <a:r>
              <a:rPr lang="en-US" altLang="zh-CN" sz="1400" kern="100" baseline="-25000" dirty="0">
                <a:effectLst/>
                <a:latin typeface="Times New Roman" panose="02020603050405020304" pitchFamily="18" charset="0"/>
                <a:ea typeface="宋体" panose="02010600030101010101" pitchFamily="2" charset="-122"/>
              </a:rPr>
              <a:t>1</a:t>
            </a:r>
            <a:r>
              <a:rPr lang="en-US" altLang="zh-CN" sz="1400" kern="100" dirty="0">
                <a:effectLst/>
                <a:latin typeface="Times New Roman" panose="02020603050405020304" pitchFamily="18" charset="0"/>
                <a:ea typeface="宋体" panose="02010600030101010101" pitchFamily="2" charset="-122"/>
              </a:rPr>
              <a:t>a</a:t>
            </a:r>
            <a:r>
              <a:rPr lang="en-US" altLang="zh-CN" sz="1400" kern="100" baseline="-25000" dirty="0">
                <a:effectLst/>
                <a:latin typeface="Times New Roman" panose="02020603050405020304" pitchFamily="18" charset="0"/>
                <a:ea typeface="宋体" panose="02010600030101010101" pitchFamily="2" charset="-122"/>
              </a:rPr>
              <a:t>2</a:t>
            </a:r>
            <a:r>
              <a:rPr lang="en-US" altLang="zh-CN" sz="1400" kern="100" dirty="0">
                <a:effectLst/>
                <a:latin typeface="Times New Roman" panose="02020603050405020304" pitchFamily="18" charset="0"/>
                <a:ea typeface="宋体" panose="02010600030101010101" pitchFamily="2" charset="-122"/>
              </a:rPr>
              <a:t>…</a:t>
            </a:r>
            <a:r>
              <a:rPr lang="en-US" altLang="zh-CN" sz="1400" kern="100" dirty="0" err="1">
                <a:effectLst/>
                <a:latin typeface="Times New Roman" panose="02020603050405020304" pitchFamily="18" charset="0"/>
                <a:ea typeface="宋体" panose="02010600030101010101" pitchFamily="2" charset="-122"/>
              </a:rPr>
              <a:t>a</a:t>
            </a:r>
            <a:r>
              <a:rPr lang="en-US" altLang="zh-CN" sz="1400" kern="100" baseline="-25000" dirty="0" err="1">
                <a:effectLst/>
                <a:latin typeface="Times New Roman" panose="02020603050405020304" pitchFamily="18" charset="0"/>
                <a:ea typeface="宋体" panose="02010600030101010101" pitchFamily="2" charset="-122"/>
              </a:rPr>
              <a:t>k</a:t>
            </a:r>
            <a:r>
              <a:rPr lang="en-US" altLang="zh-CN" sz="1400" kern="100" dirty="0">
                <a:effectLst/>
                <a:latin typeface="Times New Roman" panose="02020603050405020304" pitchFamily="18" charset="0"/>
                <a:ea typeface="宋体" panose="02010600030101010101" pitchFamily="2" charset="-122"/>
              </a:rPr>
              <a:t>]</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有意义，对于任何移进或待约项目不起作用</a:t>
            </a:r>
            <a:r>
              <a:rPr lang="zh-CN" altLang="zh-CN" dirty="0">
                <a:effectLst/>
              </a:rPr>
              <a:t> </a:t>
            </a:r>
            <a:r>
              <a:rPr lang="x-none" altLang="zh-CN" sz="1400" kern="100" dirty="0">
                <a:effectLst/>
                <a:latin typeface="Times New Roman" panose="02020603050405020304" pitchFamily="18" charset="0"/>
                <a:ea typeface="宋体" panose="02010600030101010101" pitchFamily="2" charset="-122"/>
              </a:rPr>
              <a:t> </a:t>
            </a:r>
            <a:endParaRPr lang="zh-CN" altLang="zh-CN" sz="1400" kern="100" dirty="0">
              <a:effectLst/>
              <a:latin typeface="Times New Roman" panose="02020603050405020304" pitchFamily="18" charset="0"/>
              <a:ea typeface="宋体" panose="02010600030101010101" pitchFamily="2" charset="-122"/>
            </a:endParaRPr>
          </a:p>
          <a:p>
            <a:pPr eaLnBrk="1" hangingPunct="1"/>
            <a:endParaRPr lang="zh-CN" altLang="zh-CN" dirty="0"/>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9CE265E7-5BC0-434D-A865-5DE52AFFE71C}" type="slidenum">
              <a:rPr lang="en-US" altLang="zh-CN" smtClean="0"/>
              <a:pPr>
                <a:spcBef>
                  <a:spcPct val="0"/>
                </a:spcBef>
              </a:pPr>
              <a:t>267</a:t>
            </a:fld>
            <a:endParaRPr lang="en-US" altLang="zh-CN"/>
          </a:p>
        </p:txBody>
      </p:sp>
      <p:sp>
        <p:nvSpPr>
          <p:cNvPr id="456707" name="Rectangle 2"/>
          <p:cNvSpPr>
            <a:spLocks noGrp="1" noRot="1" noChangeAspect="1" noChangeArrowheads="1" noTextEdit="1"/>
          </p:cNvSpPr>
          <p:nvPr>
            <p:ph type="sldImg"/>
          </p:nvPr>
        </p:nvSpPr>
        <p:spPr>
          <a:ln/>
        </p:spPr>
      </p:sp>
      <p:sp>
        <p:nvSpPr>
          <p:cNvPr id="4567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59CD0A24-705C-4177-A32F-7C71F7896F64}" type="slidenum">
              <a:rPr lang="en-US" altLang="zh-CN" smtClean="0"/>
              <a:pPr>
                <a:spcBef>
                  <a:spcPct val="0"/>
                </a:spcBef>
              </a:pPr>
              <a:t>268</a:t>
            </a:fld>
            <a:endParaRPr lang="en-US" altLang="zh-CN"/>
          </a:p>
        </p:txBody>
      </p:sp>
      <p:sp>
        <p:nvSpPr>
          <p:cNvPr id="457731" name="Rectangle 2"/>
          <p:cNvSpPr>
            <a:spLocks noGrp="1" noRot="1" noChangeAspect="1" noChangeArrowheads="1" noTextEdit="1"/>
          </p:cNvSpPr>
          <p:nvPr>
            <p:ph type="sldImg"/>
          </p:nvPr>
        </p:nvSpPr>
        <p:spPr>
          <a:ln/>
        </p:spPr>
      </p:sp>
      <p:sp>
        <p:nvSpPr>
          <p:cNvPr id="4577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9287597-971D-450B-91D2-93C807B8705D}" type="slidenum">
              <a:rPr lang="en-US" altLang="zh-CN" smtClean="0"/>
              <a:pPr>
                <a:spcBef>
                  <a:spcPct val="0"/>
                </a:spcBef>
              </a:pPr>
              <a:t>269</a:t>
            </a:fld>
            <a:endParaRPr lang="en-US" altLang="zh-CN"/>
          </a:p>
        </p:txBody>
      </p:sp>
      <p:sp>
        <p:nvSpPr>
          <p:cNvPr id="458755" name="Rectangle 2"/>
          <p:cNvSpPr>
            <a:spLocks noGrp="1" noRot="1" noChangeAspect="1" noChangeArrowheads="1" noTextEdit="1"/>
          </p:cNvSpPr>
          <p:nvPr>
            <p:ph type="sldImg"/>
          </p:nvPr>
        </p:nvSpPr>
        <p:spPr>
          <a:ln/>
        </p:spPr>
      </p:sp>
      <p:sp>
        <p:nvSpPr>
          <p:cNvPr id="4587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ACC160D1-6F36-4E3F-988C-41E538213745}" type="slidenum">
              <a:rPr lang="en-US" altLang="zh-CN" smtClean="0"/>
              <a:pPr>
                <a:spcBef>
                  <a:spcPct val="0"/>
                </a:spcBef>
              </a:pPr>
              <a:t>270</a:t>
            </a:fld>
            <a:endParaRPr lang="en-US" altLang="zh-CN"/>
          </a:p>
        </p:txBody>
      </p:sp>
      <p:sp>
        <p:nvSpPr>
          <p:cNvPr id="459779" name="Rectangle 2"/>
          <p:cNvSpPr>
            <a:spLocks noGrp="1" noRot="1" noChangeAspect="1" noChangeArrowheads="1" noTextEdit="1"/>
          </p:cNvSpPr>
          <p:nvPr>
            <p:ph type="sldImg"/>
          </p:nvPr>
        </p:nvSpPr>
        <p:spPr>
          <a:ln/>
        </p:spPr>
      </p:sp>
      <p:sp>
        <p:nvSpPr>
          <p:cNvPr id="4597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BA9659D6-E6A6-41FC-A22E-A1AFC21B4AAC}" type="slidenum">
              <a:rPr lang="en-US" altLang="zh-CN" smtClean="0"/>
              <a:pPr>
                <a:spcBef>
                  <a:spcPct val="0"/>
                </a:spcBef>
              </a:pPr>
              <a:t>271</a:t>
            </a:fld>
            <a:endParaRPr lang="en-US" altLang="zh-CN"/>
          </a:p>
        </p:txBody>
      </p:sp>
      <p:sp>
        <p:nvSpPr>
          <p:cNvPr id="460803" name="Rectangle 2"/>
          <p:cNvSpPr>
            <a:spLocks noGrp="1" noRot="1" noChangeAspect="1" noChangeArrowheads="1" noTextEdit="1"/>
          </p:cNvSpPr>
          <p:nvPr>
            <p:ph type="sldImg"/>
          </p:nvPr>
        </p:nvSpPr>
        <p:spPr>
          <a:ln/>
        </p:spPr>
      </p:sp>
      <p:sp>
        <p:nvSpPr>
          <p:cNvPr id="4608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93F4A78-D37D-49A5-AA62-BD759BDFCABC}" type="slidenum">
              <a:rPr lang="en-US" altLang="zh-CN" smtClean="0"/>
              <a:pPr>
                <a:spcBef>
                  <a:spcPct val="0"/>
                </a:spcBef>
              </a:pPr>
              <a:t>272</a:t>
            </a:fld>
            <a:endParaRPr lang="en-US" altLang="zh-CN"/>
          </a:p>
        </p:txBody>
      </p:sp>
      <p:sp>
        <p:nvSpPr>
          <p:cNvPr id="461827" name="Rectangle 2"/>
          <p:cNvSpPr>
            <a:spLocks noGrp="1" noRot="1" noChangeAspect="1" noChangeArrowheads="1" noTextEdit="1"/>
          </p:cNvSpPr>
          <p:nvPr>
            <p:ph type="sldImg"/>
          </p:nvPr>
        </p:nvSpPr>
        <p:spPr>
          <a:ln/>
        </p:spPr>
      </p:sp>
      <p:sp>
        <p:nvSpPr>
          <p:cNvPr id="4618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473E7BA7-BA9C-4939-B267-CB1185D2B427}" type="slidenum">
              <a:rPr lang="en-US" altLang="zh-CN" smtClean="0"/>
              <a:pPr>
                <a:spcBef>
                  <a:spcPct val="0"/>
                </a:spcBef>
              </a:pPr>
              <a:t>273</a:t>
            </a:fld>
            <a:endParaRPr lang="en-US" altLang="zh-CN"/>
          </a:p>
        </p:txBody>
      </p:sp>
      <p:sp>
        <p:nvSpPr>
          <p:cNvPr id="462851" name="Rectangle 2"/>
          <p:cNvSpPr>
            <a:spLocks noGrp="1" noRot="1" noChangeAspect="1" noChangeArrowheads="1" noTextEdit="1"/>
          </p:cNvSpPr>
          <p:nvPr>
            <p:ph type="sldImg"/>
          </p:nvPr>
        </p:nvSpPr>
        <p:spPr>
          <a:ln/>
        </p:spPr>
      </p:sp>
      <p:sp>
        <p:nvSpPr>
          <p:cNvPr id="4628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320AE00B-B885-4B81-BBBD-745FECD2ACF2}" type="slidenum">
              <a:rPr lang="en-US" altLang="zh-CN" smtClean="0"/>
              <a:pPr>
                <a:spcBef>
                  <a:spcPct val="0"/>
                </a:spcBef>
              </a:pPr>
              <a:t>274</a:t>
            </a:fld>
            <a:endParaRPr lang="en-US" altLang="zh-CN"/>
          </a:p>
        </p:txBody>
      </p:sp>
      <p:sp>
        <p:nvSpPr>
          <p:cNvPr id="463875" name="Rectangle 2"/>
          <p:cNvSpPr>
            <a:spLocks noGrp="1" noRot="1" noChangeAspect="1" noChangeArrowheads="1" noTextEdit="1"/>
          </p:cNvSpPr>
          <p:nvPr>
            <p:ph type="sldImg"/>
          </p:nvPr>
        </p:nvSpPr>
        <p:spPr>
          <a:ln/>
        </p:spPr>
      </p:sp>
      <p:sp>
        <p:nvSpPr>
          <p:cNvPr id="4638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E15494C-5568-4438-80F5-2D80069BFB4F}" type="slidenum">
              <a:rPr lang="en-US" altLang="zh-CN" smtClean="0"/>
              <a:pPr>
                <a:spcBef>
                  <a:spcPct val="0"/>
                </a:spcBef>
              </a:pPr>
              <a:t>275</a:t>
            </a:fld>
            <a:endParaRPr lang="en-US" altLang="zh-CN"/>
          </a:p>
        </p:txBody>
      </p:sp>
      <p:sp>
        <p:nvSpPr>
          <p:cNvPr id="464899" name="Rectangle 2"/>
          <p:cNvSpPr>
            <a:spLocks noGrp="1" noRot="1" noChangeAspect="1" noChangeArrowheads="1" noTextEdit="1"/>
          </p:cNvSpPr>
          <p:nvPr>
            <p:ph type="sldImg"/>
          </p:nvPr>
        </p:nvSpPr>
        <p:spPr>
          <a:ln/>
        </p:spPr>
      </p:sp>
      <p:sp>
        <p:nvSpPr>
          <p:cNvPr id="4649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0E15494C-5568-4438-80F5-2D80069BFB4F}" type="slidenum">
              <a:rPr lang="en-US" altLang="zh-CN" smtClean="0"/>
              <a:pPr>
                <a:spcBef>
                  <a:spcPct val="0"/>
                </a:spcBef>
              </a:pPr>
              <a:t>276</a:t>
            </a:fld>
            <a:endParaRPr lang="en-US" altLang="zh-CN"/>
          </a:p>
        </p:txBody>
      </p:sp>
      <p:sp>
        <p:nvSpPr>
          <p:cNvPr id="464899" name="Rectangle 2"/>
          <p:cNvSpPr>
            <a:spLocks noGrp="1" noRot="1" noChangeAspect="1" noChangeArrowheads="1" noTextEdit="1"/>
          </p:cNvSpPr>
          <p:nvPr>
            <p:ph type="sldImg"/>
          </p:nvPr>
        </p:nvSpPr>
        <p:spPr>
          <a:ln/>
        </p:spPr>
      </p:sp>
      <p:sp>
        <p:nvSpPr>
          <p:cNvPr id="4649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p>
        </p:txBody>
      </p:sp>
    </p:spTree>
    <p:extLst>
      <p:ext uri="{BB962C8B-B14F-4D97-AF65-F5344CB8AC3E}">
        <p14:creationId xmlns:p14="http://schemas.microsoft.com/office/powerpoint/2010/main" val="1100148899"/>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kumimoji="1" sz="1200">
                <a:solidFill>
                  <a:schemeClr val="tx1"/>
                </a:solidFill>
                <a:latin typeface="Times New Roman" pitchFamily="18" charset="0"/>
                <a:ea typeface="宋体" pitchFamily="2" charset="-122"/>
              </a:defRPr>
            </a:lvl1pPr>
            <a:lvl2pPr marL="742950" indent="-285750">
              <a:spcBef>
                <a:spcPct val="30000"/>
              </a:spcBef>
              <a:defRPr kumimoji="1" sz="1200">
                <a:solidFill>
                  <a:schemeClr val="tx1"/>
                </a:solidFill>
                <a:latin typeface="Times New Roman" pitchFamily="18" charset="0"/>
                <a:ea typeface="宋体" pitchFamily="2" charset="-122"/>
              </a:defRPr>
            </a:lvl2pPr>
            <a:lvl3pPr marL="1143000" indent="-228600">
              <a:spcBef>
                <a:spcPct val="30000"/>
              </a:spcBef>
              <a:defRPr kumimoji="1" sz="1200">
                <a:solidFill>
                  <a:schemeClr val="tx1"/>
                </a:solidFill>
                <a:latin typeface="Times New Roman" pitchFamily="18" charset="0"/>
                <a:ea typeface="宋体" pitchFamily="2" charset="-122"/>
              </a:defRPr>
            </a:lvl3pPr>
            <a:lvl4pPr marL="1600200" indent="-228600">
              <a:spcBef>
                <a:spcPct val="30000"/>
              </a:spcBef>
              <a:defRPr kumimoji="1" sz="1200">
                <a:solidFill>
                  <a:schemeClr val="tx1"/>
                </a:solidFill>
                <a:latin typeface="Times New Roman" pitchFamily="18" charset="0"/>
                <a:ea typeface="宋体" pitchFamily="2" charset="-122"/>
              </a:defRPr>
            </a:lvl4pPr>
            <a:lvl5pPr marL="2057400" indent="-22860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a:spcBef>
                <a:spcPct val="0"/>
              </a:spcBef>
            </a:pPr>
            <a:fld id="{C81E8A43-C237-4780-9ACE-F30AE91913C4}" type="slidenum">
              <a:rPr lang="en-US" altLang="zh-CN" smtClean="0">
                <a:latin typeface="Arial" pitchFamily="34" charset="0"/>
              </a:rPr>
              <a:pPr>
                <a:spcBef>
                  <a:spcPct val="0"/>
                </a:spcBef>
              </a:pPr>
              <a:t>285</a:t>
            </a:fld>
            <a:endParaRPr lang="en-US" altLang="zh-CN">
              <a:latin typeface="Arial" pitchFamily="34" charset="0"/>
            </a:endParaRPr>
          </a:p>
        </p:txBody>
      </p:sp>
      <p:sp>
        <p:nvSpPr>
          <p:cNvPr id="467971" name="Rectangle 2"/>
          <p:cNvSpPr>
            <a:spLocks noGrp="1" noRot="1" noChangeAspect="1" noChangeArrowheads="1" noTextEdit="1"/>
          </p:cNvSpPr>
          <p:nvPr>
            <p:ph type="sldImg"/>
          </p:nvPr>
        </p:nvSpPr>
        <p:spPr>
          <a:ln/>
        </p:spPr>
      </p:sp>
      <p:sp>
        <p:nvSpPr>
          <p:cNvPr id="4679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sz="2800">
              <a:latin typeface="Arial"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10" name="直角三角形 9"/>
          <p:cNvSpPr/>
          <p:nvPr/>
        </p:nvSpPr>
        <p:spPr>
          <a:xfrm>
            <a:off x="-2" y="3498110"/>
            <a:ext cx="9151089" cy="0"/>
          </a:xfrm>
          <a:prstGeom prst="rtTriangle">
            <a:avLst/>
          </a:prstGeom>
          <a:gradFill flip="none" rotWithShape="1">
            <a:gsLst>
              <a:gs pos="0">
                <a:schemeClr val="accent1">
                  <a:shade val="35000"/>
                  <a:satMod val="170000"/>
                  <a:alpha val="100000"/>
                </a:schemeClr>
              </a:gs>
              <a:gs pos="55000">
                <a:schemeClr val="accent1">
                  <a:tint val="90000"/>
                  <a:satMod val="150000"/>
                  <a:alpha val="100000"/>
                </a:schemeClr>
              </a:gs>
              <a:gs pos="100000">
                <a:schemeClr val="accent1">
                  <a:shade val="35000"/>
                  <a:satMod val="170000"/>
                  <a:alpha val="100000"/>
                </a:schemeClr>
              </a:gs>
            </a:gsLst>
            <a:lin ang="3000000" scaled="1"/>
            <a:tileRect/>
          </a:gradFill>
          <a:ln w="127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a:p>
        </p:txBody>
      </p:sp>
      <p:sp>
        <p:nvSpPr>
          <p:cNvPr id="9" name="标题 8"/>
          <p:cNvSpPr>
            <a:spLocks noGrp="1"/>
          </p:cNvSpPr>
          <p:nvPr>
            <p:ph type="ctrTitle"/>
          </p:nvPr>
        </p:nvSpPr>
        <p:spPr>
          <a:xfrm>
            <a:off x="685800" y="1314451"/>
            <a:ext cx="7772400" cy="1372321"/>
          </a:xfrm>
        </p:spPr>
        <p:txBody>
          <a:bodyPr vert="horz" anchor="b">
            <a:normAutofit/>
            <a:scene3d>
              <a:camera prst="orthographicFront"/>
              <a:lightRig rig="soft" dir="t"/>
            </a:scene3d>
            <a:sp3d prstMaterial="softEdge">
              <a:bevelT w="25400" h="25400"/>
            </a:sp3d>
          </a:bodyPr>
          <a:lstStyle>
            <a:lvl1pPr algn="r">
              <a:defRPr sz="4800" b="1">
                <a:solidFill>
                  <a:schemeClr val="tx2"/>
                </a:solidFill>
                <a:effectLst>
                  <a:outerShdw blurRad="31750" dist="25400" dir="5400000" algn="tl" rotWithShape="0">
                    <a:srgbClr val="000000">
                      <a:alpha val="25000"/>
                    </a:srgbClr>
                  </a:outerShdw>
                </a:effectLst>
              </a:defRPr>
            </a:lvl1pPr>
            <a:extLst/>
          </a:lstStyle>
          <a:p>
            <a:r>
              <a:rPr kumimoji="0" lang="zh-CN" altLang="en-US"/>
              <a:t>单击此处编辑母版标题样式</a:t>
            </a:r>
            <a:endParaRPr kumimoji="0" lang="en-US"/>
          </a:p>
        </p:txBody>
      </p:sp>
      <p:sp>
        <p:nvSpPr>
          <p:cNvPr id="17" name="副标题 16"/>
          <p:cNvSpPr>
            <a:spLocks noGrp="1"/>
          </p:cNvSpPr>
          <p:nvPr>
            <p:ph type="subTitle" idx="1"/>
          </p:nvPr>
        </p:nvSpPr>
        <p:spPr>
          <a:xfrm>
            <a:off x="685800" y="2708705"/>
            <a:ext cx="7772400" cy="899778"/>
          </a:xfrm>
        </p:spPr>
        <p:txBody>
          <a:bodyPr lIns="45720" rIns="45720"/>
          <a:lstStyle>
            <a:lvl1pPr marL="0" marR="64008" indent="0" algn="r">
              <a:buNone/>
              <a:defRPr>
                <a:solidFill>
                  <a:schemeClr val="tx2"/>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extLst/>
          </a:lstStyle>
          <a:p>
            <a:r>
              <a:rPr kumimoji="0" lang="zh-CN" altLang="en-US"/>
              <a:t>单击此处编辑母版副标题样式</a:t>
            </a:r>
            <a:endParaRPr kumimoji="0" lang="en-US"/>
          </a:p>
        </p:txBody>
      </p:sp>
      <p:grpSp>
        <p:nvGrpSpPr>
          <p:cNvPr id="2" name="组合 1"/>
          <p:cNvGrpSpPr/>
          <p:nvPr/>
        </p:nvGrpSpPr>
        <p:grpSpPr>
          <a:xfrm>
            <a:off x="-3765" y="3714750"/>
            <a:ext cx="9147765" cy="1434066"/>
            <a:chOff x="-3765" y="4832896"/>
            <a:chExt cx="9147765" cy="2032192"/>
          </a:xfrm>
        </p:grpSpPr>
        <p:sp>
          <p:nvSpPr>
            <p:cNvPr id="7" name="任意多边形 6"/>
            <p:cNvSpPr>
              <a:spLocks/>
            </p:cNvSpPr>
            <p:nvPr/>
          </p:nvSpPr>
          <p:spPr bwMode="auto">
            <a:xfrm>
              <a:off x="1687513" y="4832896"/>
              <a:ext cx="7456487" cy="518816"/>
            </a:xfrm>
            <a:custGeom>
              <a:avLst>
                <a:gd name="A1" fmla="val 0"/>
                <a:gd name="A2" fmla="val 0"/>
                <a:gd name="A3" fmla="val 0"/>
                <a:gd name="A4" fmla="val 0"/>
                <a:gd name="A5" fmla="val 0"/>
                <a:gd name="A6" fmla="val 0"/>
                <a:gd name="A7" fmla="val 0"/>
                <a:gd name="A8" fmla="val 0"/>
              </a:avLst>
              <a:gdLst/>
              <a:ahLst/>
              <a:cxnLst>
                <a:cxn ang="0">
                  <a:pos x="4697" y="0"/>
                </a:cxn>
                <a:cxn ang="0">
                  <a:pos x="4697" y="367"/>
                </a:cxn>
                <a:cxn ang="0">
                  <a:pos x="0" y="218"/>
                </a:cxn>
                <a:cxn ang="0">
                  <a:pos x="4697" y="0"/>
                </a:cxn>
              </a:cxnLst>
              <a:rect l="0" t="0" r="0" b="0"/>
              <a:pathLst>
                <a:path w="4697" h="367">
                  <a:moveTo>
                    <a:pt x="4697" y="0"/>
                  </a:moveTo>
                  <a:lnTo>
                    <a:pt x="4697" y="367"/>
                  </a:lnTo>
                  <a:lnTo>
                    <a:pt x="0" y="218"/>
                  </a:lnTo>
                  <a:lnTo>
                    <a:pt x="4697" y="0"/>
                  </a:lnTo>
                  <a:close/>
                </a:path>
              </a:pathLst>
            </a:custGeom>
            <a:solidFill>
              <a:schemeClr val="accent1">
                <a:tint val="65000"/>
                <a:satMod val="115000"/>
                <a:alpha val="40000"/>
              </a:scheme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8" name="任意多边形 7"/>
            <p:cNvSpPr>
              <a:spLocks/>
            </p:cNvSpPr>
            <p:nvPr/>
          </p:nvSpPr>
          <p:spPr bwMode="auto">
            <a:xfrm>
              <a:off x="35443" y="5135526"/>
              <a:ext cx="9108557" cy="838200"/>
            </a:xfrm>
            <a:custGeom>
              <a:avLst>
                <a:gd name="A1" fmla="val 0"/>
                <a:gd name="A2" fmla="val 0"/>
                <a:gd name="A3" fmla="val 0"/>
                <a:gd name="A4" fmla="val 0"/>
                <a:gd name="A5" fmla="val 0"/>
                <a:gd name="A6" fmla="val 0"/>
                <a:gd name="A7" fmla="val 0"/>
                <a:gd name="A8" fmla="val 0"/>
              </a:avLst>
              <a:gdLst/>
              <a:ahLst/>
              <a:cxnLst>
                <a:cxn ang="0">
                  <a:pos x="0" y="0"/>
                </a:cxn>
                <a:cxn ang="0">
                  <a:pos x="5760" y="0"/>
                </a:cxn>
                <a:cxn ang="0">
                  <a:pos x="5760" y="528"/>
                </a:cxn>
                <a:cxn ang="0">
                  <a:pos x="48" y="0"/>
                </a:cxn>
              </a:cxnLst>
              <a:rect l="0" t="0" r="0" b="0"/>
              <a:pathLst>
                <a:path w="5760" h="528">
                  <a:moveTo>
                    <a:pt x="0" y="0"/>
                  </a:moveTo>
                  <a:lnTo>
                    <a:pt x="5760" y="0"/>
                  </a:lnTo>
                  <a:lnTo>
                    <a:pt x="5760" y="528"/>
                  </a:lnTo>
                  <a:lnTo>
                    <a:pt x="48" y="0"/>
                  </a:lnTo>
                </a:path>
              </a:pathLst>
            </a:custGeom>
            <a:solidFill>
              <a:srgbClr val="000000">
                <a:alpha val="100000"/>
              </a:srgb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11" name="任意多边形 10"/>
            <p:cNvSpPr>
              <a:spLocks/>
            </p:cNvSpPr>
            <p:nvPr/>
          </p:nvSpPr>
          <p:spPr bwMode="auto">
            <a:xfrm>
              <a:off x="0" y="4883888"/>
              <a:ext cx="9144000" cy="1981200"/>
            </a:xfrm>
            <a:custGeom>
              <a:avLst>
                <a:gd name="A1" fmla="val 0"/>
                <a:gd name="A2" fmla="val 0"/>
                <a:gd name="A3" fmla="val 0"/>
                <a:gd name="A4" fmla="val 0"/>
                <a:gd name="A5" fmla="val 0"/>
                <a:gd name="A6" fmla="val 0"/>
                <a:gd name="A7" fmla="val 0"/>
                <a:gd name="A8" fmla="val 0"/>
              </a:avLst>
              <a:gdLst/>
              <a:ahLst/>
              <a:cxnLst>
                <a:cxn ang="0">
                  <a:pos x="0" y="0"/>
                </a:cxn>
                <a:cxn ang="0">
                  <a:pos x="0" y="1248"/>
                </a:cxn>
                <a:cxn ang="0">
                  <a:pos x="5760" y="1248"/>
                </a:cxn>
                <a:cxn ang="0">
                  <a:pos x="5760" y="528"/>
                </a:cxn>
                <a:cxn ang="0">
                  <a:pos x="0" y="0"/>
                </a:cxn>
              </a:cxnLst>
              <a:rect l="0" t="0" r="0" b="0"/>
              <a:pathLst>
                <a:path w="5760" h="1248">
                  <a:moveTo>
                    <a:pt x="0" y="0"/>
                  </a:moveTo>
                  <a:lnTo>
                    <a:pt x="0" y="1248"/>
                  </a:lnTo>
                  <a:lnTo>
                    <a:pt x="5760" y="1248"/>
                  </a:lnTo>
                  <a:lnTo>
                    <a:pt x="5760" y="528"/>
                  </a:lnTo>
                  <a:lnTo>
                    <a:pt x="0" y="0"/>
                  </a:lnTo>
                  <a:close/>
                </a:path>
              </a:pathLst>
            </a:custGeom>
            <a:blipFill>
              <a:blip r:embed="rId2">
                <a:alphaModFix amt="50000"/>
              </a:blip>
              <a:tile tx="0" ty="0" sx="50000" sy="50000" flip="none" algn="t"/>
            </a:blipFill>
            <a:ln w="12700" cap="rnd" cmpd="thickThin" algn="ctr">
              <a:noFill/>
              <a:prstDash val="solid"/>
            </a:ln>
            <a:effectLst>
              <a:fillOverlay blend="mult">
                <a:gradFill flip="none" rotWithShape="1">
                  <a:gsLst>
                    <a:gs pos="0">
                      <a:schemeClr val="accent1">
                        <a:shade val="20000"/>
                        <a:satMod val="176000"/>
                        <a:alpha val="100000"/>
                      </a:schemeClr>
                    </a:gs>
                    <a:gs pos="18000">
                      <a:schemeClr val="accent1">
                        <a:shade val="48000"/>
                        <a:satMod val="153000"/>
                        <a:alpha val="100000"/>
                      </a:schemeClr>
                    </a:gs>
                    <a:gs pos="43000">
                      <a:schemeClr val="accent1">
                        <a:tint val="86000"/>
                        <a:satMod val="149000"/>
                        <a:alpha val="100000"/>
                      </a:schemeClr>
                    </a:gs>
                    <a:gs pos="45000">
                      <a:schemeClr val="accent1">
                        <a:tint val="85000"/>
                        <a:satMod val="150000"/>
                        <a:alpha val="100000"/>
                      </a:schemeClr>
                    </a:gs>
                    <a:gs pos="50000">
                      <a:schemeClr val="accent1">
                        <a:tint val="86000"/>
                        <a:satMod val="149000"/>
                        <a:alpha val="100000"/>
                      </a:schemeClr>
                    </a:gs>
                    <a:gs pos="79000">
                      <a:schemeClr val="accent1">
                        <a:shade val="53000"/>
                        <a:satMod val="150000"/>
                        <a:alpha val="100000"/>
                      </a:schemeClr>
                    </a:gs>
                    <a:gs pos="100000">
                      <a:schemeClr val="accent1">
                        <a:shade val="25000"/>
                        <a:satMod val="170000"/>
                        <a:alpha val="100000"/>
                      </a:schemeClr>
                    </a:gs>
                  </a:gsLst>
                  <a:lin ang="450000" scaled="1"/>
                  <a:tileRect/>
                </a:gradFill>
              </a:fillOverlay>
            </a:effectLst>
          </p:spPr>
          <p:style>
            <a:lnRef idx="3">
              <a:schemeClr val="lt1"/>
            </a:lnRef>
            <a:fillRef idx="1">
              <a:schemeClr val="accent1"/>
            </a:fillRef>
            <a:effectRef idx="1">
              <a:schemeClr val="accent1"/>
            </a:effectRef>
            <a:fontRef idx="minor">
              <a:schemeClr val="lt1"/>
            </a:fontRef>
          </p:style>
          <p:txBody>
            <a:bodyPr vert="horz" wrap="square" lIns="91440" tIns="45720" rIns="91440" bIns="45720" anchor="ctr" compatLnSpc="1"/>
            <a:lstStyle/>
            <a:p>
              <a:pPr algn="ctr" eaLnBrk="1" latinLnBrk="0" hangingPunct="1"/>
              <a:endParaRPr kumimoji="0" lang="en-US"/>
            </a:p>
          </p:txBody>
        </p:sp>
        <p:cxnSp>
          <p:nvCxnSpPr>
            <p:cNvPr id="12" name="直接连接符 11"/>
            <p:cNvCxnSpPr/>
            <p:nvPr/>
          </p:nvCxnSpPr>
          <p:spPr>
            <a:xfrm>
              <a:off x="-3765" y="4880373"/>
              <a:ext cx="9147765" cy="839943"/>
            </a:xfrm>
            <a:prstGeom prst="line">
              <a:avLst/>
            </a:prstGeom>
            <a:noFill/>
            <a:ln w="12065" cap="flat" cmpd="sng" algn="ctr">
              <a:gradFill>
                <a:gsLst>
                  <a:gs pos="45000">
                    <a:schemeClr val="accent1">
                      <a:tint val="70000"/>
                      <a:satMod val="110000"/>
                    </a:schemeClr>
                  </a:gs>
                  <a:gs pos="15000">
                    <a:schemeClr val="accent1">
                      <a:shade val="40000"/>
                      <a:satMod val="110000"/>
                    </a:schemeClr>
                  </a:gs>
                </a:gsLst>
                <a:lin ang="5400000" scaled="1"/>
              </a:gradFill>
              <a:prstDash val="solid"/>
              <a:miter lim="800000"/>
            </a:ln>
            <a:effectLst/>
          </p:spPr>
          <p:style>
            <a:lnRef idx="2">
              <a:schemeClr val="accent1"/>
            </a:lnRef>
            <a:fillRef idx="0">
              <a:schemeClr val="accent1"/>
            </a:fillRef>
            <a:effectRef idx="1">
              <a:schemeClr val="accent1"/>
            </a:effectRef>
            <a:fontRef idx="minor">
              <a:schemeClr val="tx1"/>
            </a:fontRef>
          </p:style>
        </p:cxnSp>
      </p:grpSp>
      <p:sp>
        <p:nvSpPr>
          <p:cNvPr id="30" name="日期占位符 29"/>
          <p:cNvSpPr>
            <a:spLocks noGrp="1"/>
          </p:cNvSpPr>
          <p:nvPr>
            <p:ph type="dt" sz="half" idx="10"/>
          </p:nvPr>
        </p:nvSpPr>
        <p:spPr/>
        <p:txBody>
          <a:bodyPr/>
          <a:lstStyle>
            <a:lvl1pPr>
              <a:defRPr>
                <a:solidFill>
                  <a:srgbClr val="FFFFFF"/>
                </a:solidFill>
              </a:defRPr>
            </a:lvl1pPr>
            <a:extLst/>
          </a:lstStyle>
          <a:p>
            <a:fld id="{222983CD-40B6-4A0F-A754-6514ADAC0847}" type="datetimeFigureOut">
              <a:rPr lang="zh-CN" altLang="en-US" smtClean="0"/>
              <a:t>2026/3/23</a:t>
            </a:fld>
            <a:endParaRPr lang="zh-CN" altLang="en-US"/>
          </a:p>
        </p:txBody>
      </p:sp>
      <p:sp>
        <p:nvSpPr>
          <p:cNvPr id="19" name="页脚占位符 18"/>
          <p:cNvSpPr>
            <a:spLocks noGrp="1"/>
          </p:cNvSpPr>
          <p:nvPr>
            <p:ph type="ftr" sz="quarter" idx="11"/>
          </p:nvPr>
        </p:nvSpPr>
        <p:spPr/>
        <p:txBody>
          <a:bodyPr/>
          <a:lstStyle>
            <a:lvl1pPr>
              <a:defRPr>
                <a:solidFill>
                  <a:schemeClr val="accent1">
                    <a:tint val="20000"/>
                  </a:schemeClr>
                </a:solidFill>
              </a:defRPr>
            </a:lvl1pPr>
            <a:extLst/>
          </a:lstStyle>
          <a:p>
            <a:endParaRPr lang="zh-CN" altLang="en-US"/>
          </a:p>
        </p:txBody>
      </p:sp>
      <p:sp>
        <p:nvSpPr>
          <p:cNvPr id="27" name="灯片编号占位符 26"/>
          <p:cNvSpPr>
            <a:spLocks noGrp="1"/>
          </p:cNvSpPr>
          <p:nvPr>
            <p:ph type="sldNum" sz="quarter" idx="12"/>
          </p:nvPr>
        </p:nvSpPr>
        <p:spPr/>
        <p:txBody>
          <a:bodyPr/>
          <a:lstStyle>
            <a:lvl1pPr>
              <a:defRPr>
                <a:solidFill>
                  <a:srgbClr val="FFFFFF"/>
                </a:solidFill>
              </a:defRPr>
            </a:lvl1pPr>
            <a:extLst/>
          </a:lstStyle>
          <a:p>
            <a:fld id="{48ABA68F-732D-4838-AEEE-E87A7C2BC0FD}"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4" name="日期占位符 3"/>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48ABA68F-732D-4838-AEEE-E87A7C2BC0FD}" type="slidenum">
              <a:rPr lang="zh-CN" altLang="en-US" smtClean="0"/>
              <a:t>‹#›</a:t>
            </a:fld>
            <a:endParaRPr lang="zh-CN" altLang="en-US"/>
          </a:p>
        </p:txBody>
      </p:sp>
      <p:sp>
        <p:nvSpPr>
          <p:cNvPr id="7" name="标题 6"/>
          <p:cNvSpPr>
            <a:spLocks noGrp="1"/>
          </p:cNvSpPr>
          <p:nvPr>
            <p:ph type="title"/>
          </p:nvPr>
        </p:nvSpPr>
        <p:spPr/>
        <p:txBody>
          <a:bodyPr rtlCol="0"/>
          <a:lstStyle/>
          <a:p>
            <a:r>
              <a:rPr kumimoji="0" lang="zh-CN" altLang="en-US"/>
              <a:t>单击此处编辑母版标题样式</a:t>
            </a:r>
            <a:endParaRPr kumimoji="0"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bg>
      <p:bgRef idx="1002">
        <a:schemeClr val="bg1"/>
      </p:bgRef>
    </p:bg>
    <p:spTree>
      <p:nvGrpSpPr>
        <p:cNvPr id="1" name=""/>
        <p:cNvGrpSpPr/>
        <p:nvPr/>
      </p:nvGrpSpPr>
      <p:grpSpPr>
        <a:xfrm>
          <a:off x="0" y="0"/>
          <a:ext cx="0" cy="0"/>
          <a:chOff x="0" y="0"/>
          <a:chExt cx="0" cy="0"/>
        </a:xfrm>
      </p:grpSpPr>
      <p:sp>
        <p:nvSpPr>
          <p:cNvPr id="2" name="标题 1"/>
          <p:cNvSpPr>
            <a:spLocks noGrp="1"/>
          </p:cNvSpPr>
          <p:nvPr>
            <p:ph type="title"/>
          </p:nvPr>
        </p:nvSpPr>
        <p:spPr>
          <a:xfrm>
            <a:off x="722376" y="794784"/>
            <a:ext cx="7772400" cy="1371600"/>
          </a:xfrm>
        </p:spPr>
        <p:txBody>
          <a:bodyPr vert="horz" anchor="b">
            <a:normAutofit/>
            <a:scene3d>
              <a:camera prst="orthographicFront"/>
              <a:lightRig rig="soft" dir="t"/>
            </a:scene3d>
            <a:sp3d prstMaterial="softEdge">
              <a:bevelT w="25400" h="25400"/>
            </a:sp3d>
          </a:bodyPr>
          <a:lstStyle>
            <a:lvl1pPr algn="r">
              <a:buNone/>
              <a:defRPr sz="4800" b="1" cap="none" baseline="0">
                <a:effectLst>
                  <a:outerShdw blurRad="31750" dist="25400" dir="5400000" algn="tl" rotWithShape="0">
                    <a:srgbClr val="000000">
                      <a:alpha val="25000"/>
                    </a:srgbClr>
                  </a:outerShdw>
                </a:effectLst>
              </a:defRPr>
            </a:lvl1pPr>
            <a:extLst/>
          </a:lstStyle>
          <a:p>
            <a:r>
              <a:rPr kumimoji="0" lang="zh-CN" altLang="en-US"/>
              <a:t>单击此处编辑母版标题样式</a:t>
            </a:r>
            <a:endParaRPr kumimoji="0" lang="en-US"/>
          </a:p>
        </p:txBody>
      </p:sp>
      <p:sp>
        <p:nvSpPr>
          <p:cNvPr id="3" name="文本占位符 2"/>
          <p:cNvSpPr>
            <a:spLocks noGrp="1"/>
          </p:cNvSpPr>
          <p:nvPr>
            <p:ph type="body" idx="1"/>
          </p:nvPr>
        </p:nvSpPr>
        <p:spPr>
          <a:xfrm>
            <a:off x="3922713" y="2198784"/>
            <a:ext cx="4572000" cy="1091166"/>
          </a:xfrm>
        </p:spPr>
        <p:txBody>
          <a:bodyPr lIns="91440" rIns="91440" anchor="t"/>
          <a:lstStyle>
            <a:lvl1pPr marL="0" indent="0" algn="l">
              <a:buNone/>
              <a:defRPr sz="23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extLst/>
          </a:lstStyle>
          <a:p>
            <a:pPr lvl="0" eaLnBrk="1" latinLnBrk="0" hangingPunct="1"/>
            <a:r>
              <a:rPr kumimoji="0" lang="zh-CN" altLang="en-US"/>
              <a:t>单击此处编辑母版文本样式</a:t>
            </a:r>
          </a:p>
        </p:txBody>
      </p:sp>
      <p:sp>
        <p:nvSpPr>
          <p:cNvPr id="4" name="日期占位符 3"/>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48ABA68F-732D-4838-AEEE-E87A7C2BC0FD}" type="slidenum">
              <a:rPr lang="zh-CN" altLang="en-US" smtClean="0"/>
              <a:t>‹#›</a:t>
            </a:fld>
            <a:endParaRPr lang="zh-CN" altLang="en-US"/>
          </a:p>
        </p:txBody>
      </p:sp>
      <p:sp>
        <p:nvSpPr>
          <p:cNvPr id="7" name="燕尾形 6"/>
          <p:cNvSpPr/>
          <p:nvPr/>
        </p:nvSpPr>
        <p:spPr>
          <a:xfrm>
            <a:off x="3636680" y="2254104"/>
            <a:ext cx="182880" cy="171450"/>
          </a:xfrm>
          <a:prstGeom prst="chevron">
            <a:avLst>
              <a:gd name="adj" fmla="val 50000"/>
            </a:avLst>
          </a:prstGeom>
          <a:gradFill flip="none" rotWithShape="1">
            <a:gsLst>
              <a:gs pos="0">
                <a:schemeClr val="accent1">
                  <a:shade val="60000"/>
                  <a:satMod val="125000"/>
                </a:schemeClr>
              </a:gs>
              <a:gs pos="72000">
                <a:schemeClr val="accent1">
                  <a:tint val="90000"/>
                  <a:satMod val="138000"/>
                </a:schemeClr>
              </a:gs>
              <a:gs pos="100000">
                <a:schemeClr val="accent1">
                  <a:tint val="76000"/>
                  <a:satMod val="136000"/>
                </a:schemeClr>
              </a:gs>
            </a:gsLst>
            <a:lin ang="16200000" scaled="0"/>
          </a:gradFill>
          <a:ln w="3175" cap="rnd" cmpd="sng" algn="ctr">
            <a:solidFill>
              <a:schemeClr val="accent1">
                <a:shade val="50000"/>
              </a:schemeClr>
            </a:solidFill>
            <a:prstDash val="solid"/>
          </a:ln>
          <a:effectLst>
            <a:outerShdw blurRad="50800" dist="25400" dir="5400000">
              <a:srgbClr val="000000">
                <a:alpha val="46000"/>
              </a:srgbClr>
            </a:outerShdw>
          </a:effectLst>
        </p:spPr>
        <p:style>
          <a:lnRef idx="1">
            <a:schemeClr val="accent1"/>
          </a:lnRef>
          <a:fillRef idx="3">
            <a:schemeClr val="accent1"/>
          </a:fillRef>
          <a:effectRef idx="2">
            <a:schemeClr val="accent1"/>
          </a:effectRef>
          <a:fontRef idx="minor">
            <a:schemeClr val="lt1"/>
          </a:fontRef>
        </p:style>
        <p:txBody>
          <a:bodyPr anchor="ctr"/>
          <a:lstStyle/>
          <a:p>
            <a:pPr algn="l" eaLnBrk="1" latinLnBrk="0" hangingPunct="1"/>
            <a:endParaRPr kumimoji="0" lang="en-US"/>
          </a:p>
        </p:txBody>
      </p:sp>
      <p:sp>
        <p:nvSpPr>
          <p:cNvPr id="8" name="燕尾形 7"/>
          <p:cNvSpPr/>
          <p:nvPr/>
        </p:nvSpPr>
        <p:spPr>
          <a:xfrm>
            <a:off x="3450264" y="2254104"/>
            <a:ext cx="182880" cy="171450"/>
          </a:xfrm>
          <a:prstGeom prst="chevron">
            <a:avLst>
              <a:gd name="adj" fmla="val 50000"/>
            </a:avLst>
          </a:prstGeom>
          <a:gradFill flip="none" rotWithShape="1">
            <a:gsLst>
              <a:gs pos="0">
                <a:schemeClr val="accent1">
                  <a:shade val="60000"/>
                  <a:satMod val="125000"/>
                </a:schemeClr>
              </a:gs>
              <a:gs pos="72000">
                <a:schemeClr val="accent1">
                  <a:tint val="90000"/>
                  <a:satMod val="138000"/>
                </a:schemeClr>
              </a:gs>
              <a:gs pos="100000">
                <a:schemeClr val="accent1">
                  <a:tint val="76000"/>
                  <a:satMod val="136000"/>
                </a:schemeClr>
              </a:gs>
            </a:gsLst>
            <a:lin ang="16200000" scaled="0"/>
          </a:gradFill>
          <a:ln w="3175" cap="rnd" cmpd="sng" algn="ctr">
            <a:solidFill>
              <a:schemeClr val="accent1">
                <a:shade val="50000"/>
              </a:schemeClr>
            </a:solidFill>
            <a:prstDash val="solid"/>
          </a:ln>
          <a:effectLst>
            <a:outerShdw blurRad="50800" dist="25400" dir="5400000">
              <a:srgbClr val="000000">
                <a:alpha val="46000"/>
              </a:srgbClr>
            </a:outerShdw>
          </a:effectLst>
        </p:spPr>
        <p:style>
          <a:lnRef idx="1">
            <a:schemeClr val="accent1"/>
          </a:lnRef>
          <a:fillRef idx="3">
            <a:schemeClr val="accent1"/>
          </a:fillRef>
          <a:effectRef idx="2">
            <a:schemeClr val="accent1"/>
          </a:effectRef>
          <a:fontRef idx="minor">
            <a:schemeClr val="lt1"/>
          </a:fontRef>
        </p:style>
        <p:txBody>
          <a:bodyPr anchor="ctr"/>
          <a:lstStyle/>
          <a:p>
            <a:pPr algn="l" eaLnBrk="1" latinLnBrk="0" hangingPunct="1"/>
            <a:endParaRPr kumimoji="0" lang="en-US"/>
          </a:p>
        </p:txBody>
      </p:sp>
    </p:spTree>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bg>
      <p:bgRef idx="1002">
        <a:schemeClr val="bg1"/>
      </p:bgRef>
    </p:bg>
    <p:spTree>
      <p:nvGrpSpPr>
        <p:cNvPr id="1" name=""/>
        <p:cNvGrpSpPr/>
        <p:nvPr/>
      </p:nvGrpSpPr>
      <p:grpSpPr>
        <a:xfrm>
          <a:off x="0" y="0"/>
          <a:ext cx="0" cy="0"/>
          <a:chOff x="0" y="0"/>
          <a:chExt cx="0" cy="0"/>
        </a:xfrm>
      </p:grpSpPr>
      <p:sp>
        <p:nvSpPr>
          <p:cNvPr id="3" name="内容占位符 2"/>
          <p:cNvSpPr>
            <a:spLocks noGrp="1"/>
          </p:cNvSpPr>
          <p:nvPr>
            <p:ph sz="half" idx="1"/>
          </p:nvPr>
        </p:nvSpPr>
        <p:spPr>
          <a:xfrm>
            <a:off x="457200" y="1110997"/>
            <a:ext cx="4038600" cy="3394472"/>
          </a:xfrm>
        </p:spPr>
        <p:txBody>
          <a:bodyPr/>
          <a:lstStyle>
            <a:lvl1pPr>
              <a:defRPr sz="2800"/>
            </a:lvl1pPr>
            <a:lvl2pPr>
              <a:defRPr sz="2400"/>
            </a:lvl2pPr>
            <a:lvl3pPr>
              <a:defRPr sz="2000"/>
            </a:lvl3pPr>
            <a:lvl4pPr>
              <a:defRPr sz="1800"/>
            </a:lvl4pPr>
            <a:lvl5pPr>
              <a:defRPr sz="1800"/>
            </a:lvl5pPr>
            <a:extLs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4" name="内容占位符 3"/>
          <p:cNvSpPr>
            <a:spLocks noGrp="1"/>
          </p:cNvSpPr>
          <p:nvPr>
            <p:ph sz="half" idx="2"/>
          </p:nvPr>
        </p:nvSpPr>
        <p:spPr>
          <a:xfrm>
            <a:off x="4648200" y="1110997"/>
            <a:ext cx="4038600" cy="3394472"/>
          </a:xfrm>
        </p:spPr>
        <p:txBody>
          <a:bodyPr/>
          <a:lstStyle>
            <a:lvl1pPr>
              <a:defRPr sz="2800"/>
            </a:lvl1pPr>
            <a:lvl2pPr>
              <a:defRPr sz="2400"/>
            </a:lvl2pPr>
            <a:lvl3pPr>
              <a:defRPr sz="2000"/>
            </a:lvl3pPr>
            <a:lvl4pPr>
              <a:defRPr sz="1800"/>
            </a:lvl4pPr>
            <a:lvl5pPr>
              <a:defRPr sz="1800"/>
            </a:lvl5pPr>
            <a:extLs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5" name="日期占位符 4"/>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48ABA68F-732D-4838-AEEE-E87A7C2BC0FD}" type="slidenum">
              <a:rPr lang="zh-CN" altLang="en-US" smtClean="0"/>
              <a:t>‹#›</a:t>
            </a:fld>
            <a:endParaRPr lang="zh-CN" altLang="en-US"/>
          </a:p>
        </p:txBody>
      </p:sp>
      <p:sp>
        <p:nvSpPr>
          <p:cNvPr id="8" name="标题 7"/>
          <p:cNvSpPr>
            <a:spLocks noGrp="1"/>
          </p:cNvSpPr>
          <p:nvPr>
            <p:ph type="title"/>
          </p:nvPr>
        </p:nvSpPr>
        <p:spPr/>
        <p:txBody>
          <a:bodyPr rtlCol="0"/>
          <a:lstStyle/>
          <a:p>
            <a:r>
              <a:rPr kumimoji="0" lang="zh-CN" altLang="en-US"/>
              <a:t>单击此处编辑母版标题样式</a:t>
            </a:r>
            <a:endParaRPr kumimoji="0" lang="en-US"/>
          </a:p>
        </p:txBody>
      </p:sp>
    </p:spTree>
  </p:cSld>
  <p:clrMapOvr>
    <a:overrideClrMapping bg1="dk1" tx1="lt1" bg2="dk2" tx2="lt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woTxTwoObj" preserve="1">
  <p:cSld name="比较">
    <p:bg>
      <p:bgRef idx="1003">
        <a:schemeClr val="bg1"/>
      </p:bgRef>
    </p:bg>
    <p:spTree>
      <p:nvGrpSpPr>
        <p:cNvPr id="1" name=""/>
        <p:cNvGrpSpPr/>
        <p:nvPr/>
      </p:nvGrpSpPr>
      <p:grpSpPr>
        <a:xfrm>
          <a:off x="0" y="0"/>
          <a:ext cx="0" cy="0"/>
          <a:chOff x="0" y="0"/>
          <a:chExt cx="0" cy="0"/>
        </a:xfrm>
      </p:grpSpPr>
      <p:sp>
        <p:nvSpPr>
          <p:cNvPr id="2" name="标题 1"/>
          <p:cNvSpPr>
            <a:spLocks noGrp="1"/>
          </p:cNvSpPr>
          <p:nvPr>
            <p:ph type="title"/>
          </p:nvPr>
        </p:nvSpPr>
        <p:spPr>
          <a:xfrm>
            <a:off x="457200" y="204788"/>
            <a:ext cx="8229600" cy="857250"/>
          </a:xfrm>
        </p:spPr>
        <p:txBody>
          <a:bodyPr anchor="ctr"/>
          <a:lstStyle>
            <a:lvl1pPr>
              <a:defRPr/>
            </a:lvl1pPr>
            <a:extLst/>
          </a:lstStyle>
          <a:p>
            <a:r>
              <a:rPr kumimoji="0" lang="zh-CN" altLang="en-US"/>
              <a:t>单击此处编辑母版标题样式</a:t>
            </a:r>
            <a:endParaRPr kumimoji="0" lang="en-US"/>
          </a:p>
        </p:txBody>
      </p:sp>
      <p:sp>
        <p:nvSpPr>
          <p:cNvPr id="3" name="文本占位符 2"/>
          <p:cNvSpPr>
            <a:spLocks noGrp="1"/>
          </p:cNvSpPr>
          <p:nvPr>
            <p:ph type="body" idx="1"/>
          </p:nvPr>
        </p:nvSpPr>
        <p:spPr>
          <a:xfrm>
            <a:off x="457200" y="4057650"/>
            <a:ext cx="4040188" cy="571500"/>
          </a:xfrm>
          <a:solidFill>
            <a:schemeClr val="accent1"/>
          </a:solidFill>
          <a:ln w="9652">
            <a:solidFill>
              <a:schemeClr val="accent1"/>
            </a:solidFill>
            <a:miter lim="800000"/>
          </a:ln>
        </p:spPr>
        <p:txBody>
          <a:bodyPr lIns="182880" anchor="ctr"/>
          <a:lstStyle>
            <a:lvl1pPr marL="0" indent="0">
              <a:buNone/>
              <a:defRPr sz="2400" b="0">
                <a:solidFill>
                  <a:schemeClr val="bg1"/>
                </a:solidFill>
              </a:defRPr>
            </a:lvl1pPr>
            <a:lvl2pPr>
              <a:buNone/>
              <a:defRPr sz="2000" b="1"/>
            </a:lvl2pPr>
            <a:lvl3pPr>
              <a:buNone/>
              <a:defRPr sz="1800" b="1"/>
            </a:lvl3pPr>
            <a:lvl4pPr>
              <a:buNone/>
              <a:defRPr sz="1600" b="1"/>
            </a:lvl4pPr>
            <a:lvl5pPr>
              <a:buNone/>
              <a:defRPr sz="1600" b="1"/>
            </a:lvl5pPr>
            <a:extLst/>
          </a:lstStyle>
          <a:p>
            <a:pPr lvl="0" eaLnBrk="1" latinLnBrk="0" hangingPunct="1"/>
            <a:r>
              <a:rPr kumimoji="0" lang="zh-CN" altLang="en-US"/>
              <a:t>单击此处编辑母版文本样式</a:t>
            </a:r>
          </a:p>
        </p:txBody>
      </p:sp>
      <p:sp>
        <p:nvSpPr>
          <p:cNvPr id="4" name="文本占位符 3"/>
          <p:cNvSpPr>
            <a:spLocks noGrp="1"/>
          </p:cNvSpPr>
          <p:nvPr>
            <p:ph type="body" sz="half" idx="3"/>
          </p:nvPr>
        </p:nvSpPr>
        <p:spPr>
          <a:xfrm>
            <a:off x="4645027" y="4057650"/>
            <a:ext cx="4041775" cy="571500"/>
          </a:xfrm>
          <a:solidFill>
            <a:schemeClr val="accent1"/>
          </a:solidFill>
          <a:ln w="9652">
            <a:solidFill>
              <a:schemeClr val="accent1"/>
            </a:solidFill>
            <a:miter lim="800000"/>
          </a:ln>
        </p:spPr>
        <p:txBody>
          <a:bodyPr lIns="182880" anchor="ctr"/>
          <a:lstStyle>
            <a:lvl1pPr marL="0" indent="0">
              <a:buNone/>
              <a:defRPr sz="2400" b="0">
                <a:solidFill>
                  <a:schemeClr val="bg1"/>
                </a:solidFill>
              </a:defRPr>
            </a:lvl1pPr>
            <a:lvl2pPr>
              <a:buNone/>
              <a:defRPr sz="2000" b="1"/>
            </a:lvl2pPr>
            <a:lvl3pPr>
              <a:buNone/>
              <a:defRPr sz="1800" b="1"/>
            </a:lvl3pPr>
            <a:lvl4pPr>
              <a:buNone/>
              <a:defRPr sz="1600" b="1"/>
            </a:lvl4pPr>
            <a:lvl5pPr>
              <a:buNone/>
              <a:defRPr sz="1600" b="1"/>
            </a:lvl5pPr>
            <a:extLst/>
          </a:lstStyle>
          <a:p>
            <a:pPr lvl="0" eaLnBrk="1" latinLnBrk="0" hangingPunct="1"/>
            <a:r>
              <a:rPr kumimoji="0" lang="zh-CN" altLang="en-US"/>
              <a:t>单击此处编辑母版文本样式</a:t>
            </a:r>
          </a:p>
        </p:txBody>
      </p:sp>
      <p:sp>
        <p:nvSpPr>
          <p:cNvPr id="5" name="内容占位符 4"/>
          <p:cNvSpPr>
            <a:spLocks noGrp="1"/>
          </p:cNvSpPr>
          <p:nvPr>
            <p:ph sz="quarter" idx="2"/>
          </p:nvPr>
        </p:nvSpPr>
        <p:spPr>
          <a:xfrm>
            <a:off x="457200" y="1083221"/>
            <a:ext cx="4040188" cy="2956322"/>
          </a:xfrm>
          <a:ln>
            <a:noFill/>
            <a:prstDash val="sysDash"/>
            <a:miter lim="800000"/>
          </a:ln>
        </p:spPr>
        <p:txBody>
          <a:bodyPr/>
          <a:lstStyle>
            <a:lvl1pPr>
              <a:defRPr sz="2400"/>
            </a:lvl1pPr>
            <a:lvl2pPr>
              <a:defRPr sz="2000"/>
            </a:lvl2pPr>
            <a:lvl3pPr>
              <a:defRPr sz="1800"/>
            </a:lvl3pPr>
            <a:lvl4pPr>
              <a:defRPr sz="1600"/>
            </a:lvl4pPr>
            <a:lvl5pPr>
              <a:defRPr sz="1600"/>
            </a:lvl5pPr>
            <a:extLs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6" name="内容占位符 5"/>
          <p:cNvSpPr>
            <a:spLocks noGrp="1"/>
          </p:cNvSpPr>
          <p:nvPr>
            <p:ph sz="quarter" idx="4"/>
          </p:nvPr>
        </p:nvSpPr>
        <p:spPr>
          <a:xfrm>
            <a:off x="4645026" y="1083221"/>
            <a:ext cx="4041775" cy="2956322"/>
          </a:xfrm>
          <a:ln>
            <a:noFill/>
            <a:prstDash val="sysDash"/>
            <a:miter lim="800000"/>
          </a:ln>
        </p:spPr>
        <p:txBody>
          <a:bodyPr/>
          <a:lstStyle>
            <a:lvl1pPr>
              <a:spcBef>
                <a:spcPts val="0"/>
              </a:spcBef>
              <a:defRPr sz="2400"/>
            </a:lvl1pPr>
            <a:lvl2pPr>
              <a:defRPr sz="2000"/>
            </a:lvl2pPr>
            <a:lvl3pPr>
              <a:defRPr sz="1800"/>
            </a:lvl3pPr>
            <a:lvl4pPr>
              <a:defRPr sz="1600"/>
            </a:lvl4pPr>
            <a:lvl5pPr>
              <a:defRPr sz="1600"/>
            </a:lvl5pPr>
            <a:extLs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7" name="日期占位符 6"/>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48ABA68F-732D-4838-AEEE-E87A7C2BC0FD}" type="slidenum">
              <a:rPr lang="zh-CN" altLang="en-US" smtClean="0"/>
              <a:t>‹#›</a:t>
            </a:fld>
            <a:endParaRPr lang="zh-CN" altLang="en-US"/>
          </a:p>
        </p:txBody>
      </p:sp>
    </p:spTree>
  </p:cSld>
  <p:clrMapOvr>
    <a:overrideClrMapping bg1="lt1" tx1="dk1" bg2="lt2" tx2="dk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bg>
      <p:bgRef idx="1002">
        <a:schemeClr val="bg1"/>
      </p:bgRef>
    </p:bg>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48ABA68F-732D-4838-AEEE-E87A7C2BC0FD}" type="slidenum">
              <a:rPr lang="zh-CN" altLang="en-US" smtClean="0"/>
              <a:t>‹#›</a:t>
            </a:fld>
            <a:endParaRPr lang="zh-CN" altLang="en-US"/>
          </a:p>
        </p:txBody>
      </p:sp>
      <p:sp>
        <p:nvSpPr>
          <p:cNvPr id="6" name="标题 5"/>
          <p:cNvSpPr>
            <a:spLocks noGrp="1"/>
          </p:cNvSpPr>
          <p:nvPr>
            <p:ph type="title"/>
          </p:nvPr>
        </p:nvSpPr>
        <p:spPr/>
        <p:txBody>
          <a:bodyPr rtlCol="0"/>
          <a:lstStyle/>
          <a:p>
            <a:r>
              <a:rPr kumimoji="0" lang="zh-CN" altLang="en-US"/>
              <a:t>单击此处编辑母版标题样式</a:t>
            </a:r>
            <a:endParaRPr kumimoji="0" lang="en-US"/>
          </a:p>
        </p:txBody>
      </p:sp>
    </p:spTree>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48ABA68F-732D-4838-AEEE-E87A7C2BC0FD}"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内容与标题">
    <p:bg>
      <p:bgRef idx="1003">
        <a:schemeClr val="bg1"/>
      </p:bgRef>
    </p:bg>
    <p:spTree>
      <p:nvGrpSpPr>
        <p:cNvPr id="1" name=""/>
        <p:cNvGrpSpPr/>
        <p:nvPr/>
      </p:nvGrpSpPr>
      <p:grpSpPr>
        <a:xfrm>
          <a:off x="0" y="0"/>
          <a:ext cx="0" cy="0"/>
          <a:chOff x="0" y="0"/>
          <a:chExt cx="0" cy="0"/>
        </a:xfrm>
      </p:grpSpPr>
      <p:sp>
        <p:nvSpPr>
          <p:cNvPr id="2" name="标题 1"/>
          <p:cNvSpPr>
            <a:spLocks noGrp="1"/>
          </p:cNvSpPr>
          <p:nvPr>
            <p:ph type="title"/>
          </p:nvPr>
        </p:nvSpPr>
        <p:spPr>
          <a:xfrm>
            <a:off x="914400" y="3657600"/>
            <a:ext cx="7481776" cy="342900"/>
          </a:xfrm>
        </p:spPr>
        <p:txBody>
          <a:bodyPr vert="horz" anchor="t">
            <a:noAutofit/>
            <a:sp3d prstMaterial="softEdge">
              <a:bevelT w="0" h="0"/>
            </a:sp3d>
          </a:bodyPr>
          <a:lstStyle>
            <a:lvl1pPr algn="r">
              <a:buNone/>
              <a:defRPr sz="2500" b="0">
                <a:solidFill>
                  <a:schemeClr val="accent1"/>
                </a:solidFill>
                <a:effectLst/>
              </a:defRPr>
            </a:lvl1pPr>
            <a:extLst/>
          </a:lstStyle>
          <a:p>
            <a:r>
              <a:rPr kumimoji="0" lang="zh-CN" altLang="en-US"/>
              <a:t>单击此处编辑母版标题样式</a:t>
            </a:r>
            <a:endParaRPr kumimoji="0" lang="en-US"/>
          </a:p>
        </p:txBody>
      </p:sp>
      <p:sp>
        <p:nvSpPr>
          <p:cNvPr id="3" name="文本占位符 2"/>
          <p:cNvSpPr>
            <a:spLocks noGrp="1"/>
          </p:cNvSpPr>
          <p:nvPr>
            <p:ph type="body" idx="2"/>
          </p:nvPr>
        </p:nvSpPr>
        <p:spPr>
          <a:xfrm>
            <a:off x="4419600" y="4016327"/>
            <a:ext cx="3974592" cy="685800"/>
          </a:xfrm>
        </p:spPr>
        <p:txBody>
          <a:bodyPr/>
          <a:lstStyle>
            <a:lvl1pPr marL="0" indent="0" algn="r">
              <a:buNone/>
              <a:defRPr sz="1600"/>
            </a:lvl1pPr>
            <a:lvl2pPr>
              <a:buNone/>
              <a:defRPr sz="1200"/>
            </a:lvl2pPr>
            <a:lvl3pPr>
              <a:buNone/>
              <a:defRPr sz="1000"/>
            </a:lvl3pPr>
            <a:lvl4pPr>
              <a:buNone/>
              <a:defRPr sz="900"/>
            </a:lvl4pPr>
            <a:lvl5pPr>
              <a:buNone/>
              <a:defRPr sz="900"/>
            </a:lvl5pPr>
            <a:extLst/>
          </a:lstStyle>
          <a:p>
            <a:pPr lvl="0" eaLnBrk="1" latinLnBrk="0" hangingPunct="1"/>
            <a:r>
              <a:rPr kumimoji="0" lang="zh-CN" altLang="en-US"/>
              <a:t>单击此处编辑母版文本样式</a:t>
            </a:r>
          </a:p>
        </p:txBody>
      </p:sp>
      <p:sp>
        <p:nvSpPr>
          <p:cNvPr id="4" name="内容占位符 3"/>
          <p:cNvSpPr>
            <a:spLocks noGrp="1"/>
          </p:cNvSpPr>
          <p:nvPr>
            <p:ph sz="half" idx="1"/>
          </p:nvPr>
        </p:nvSpPr>
        <p:spPr>
          <a:xfrm>
            <a:off x="914400" y="205740"/>
            <a:ext cx="7479792" cy="3429000"/>
          </a:xfrm>
        </p:spPr>
        <p:txBody>
          <a:bodyPr/>
          <a:lstStyle>
            <a:lvl1pPr>
              <a:defRPr sz="3200"/>
            </a:lvl1pPr>
            <a:lvl2pPr>
              <a:defRPr sz="2800"/>
            </a:lvl2pPr>
            <a:lvl3pPr>
              <a:defRPr sz="2400"/>
            </a:lvl3pPr>
            <a:lvl4pPr>
              <a:defRPr sz="2000"/>
            </a:lvl4pPr>
            <a:lvl5pPr>
              <a:defRPr sz="2000"/>
            </a:lvl5pPr>
            <a:extLs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5" name="日期占位符 4"/>
          <p:cNvSpPr>
            <a:spLocks noGrp="1"/>
          </p:cNvSpPr>
          <p:nvPr>
            <p:ph type="dt" sz="half" idx="10"/>
          </p:nvPr>
        </p:nvSpPr>
        <p:spPr>
          <a:xfrm>
            <a:off x="6727032" y="4805958"/>
            <a:ext cx="1920240" cy="274320"/>
          </a:xfrm>
        </p:spPr>
        <p:txBody>
          <a:bodyPr/>
          <a:lstStyle/>
          <a:p>
            <a:fld id="{222983CD-40B6-4A0F-A754-6514ADAC0847}" type="datetimeFigureOut">
              <a:rPr lang="zh-CN" altLang="en-US" smtClean="0"/>
              <a:t>2026/3/23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48ABA68F-732D-4838-AEEE-E87A7C2BC0FD}" type="slidenum">
              <a:rPr lang="zh-CN" altLang="en-US" smtClean="0"/>
              <a:t>‹#›</a:t>
            </a:fld>
            <a:endParaRPr lang="zh-CN" altLang="en-US"/>
          </a:p>
        </p:txBody>
      </p:sp>
    </p:spTree>
  </p:cSld>
  <p:clrMapOvr>
    <a:overrideClrMapping bg1="lt1" tx1="dk1" bg2="lt2" tx2="dk2" accent1="accent1" accent2="accent2" accent3="accent3" accent4="accent4" accent5="accent5" accent6="accent6" hlink="hlink" folHlink="folHlink"/>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图片与标题">
    <p:bg>
      <p:bgRef idx="1002">
        <a:schemeClr val="bg1"/>
      </p:bgRef>
    </p:bg>
    <p:spTree>
      <p:nvGrpSpPr>
        <p:cNvPr id="1" name=""/>
        <p:cNvGrpSpPr/>
        <p:nvPr/>
      </p:nvGrpSpPr>
      <p:grpSpPr>
        <a:xfrm>
          <a:off x="0" y="0"/>
          <a:ext cx="0" cy="0"/>
          <a:chOff x="0" y="0"/>
          <a:chExt cx="0" cy="0"/>
        </a:xfrm>
      </p:grpSpPr>
      <p:sp>
        <p:nvSpPr>
          <p:cNvPr id="4" name="文本占位符 3"/>
          <p:cNvSpPr>
            <a:spLocks noGrp="1"/>
          </p:cNvSpPr>
          <p:nvPr>
            <p:ph type="body" sz="half" idx="2"/>
          </p:nvPr>
        </p:nvSpPr>
        <p:spPr>
          <a:xfrm>
            <a:off x="1141232" y="4082552"/>
            <a:ext cx="7162800" cy="486174"/>
          </a:xfrm>
          <a:noFill/>
        </p:spPr>
        <p:txBody>
          <a:bodyPr lIns="91440" tIns="0" rIns="91440" anchor="t"/>
          <a:lstStyle>
            <a:lvl1pPr marL="0" marR="18288" indent="0" algn="r">
              <a:buNone/>
              <a:defRPr sz="1400"/>
            </a:lvl1pPr>
            <a:lvl2pPr>
              <a:defRPr sz="1200"/>
            </a:lvl2pPr>
            <a:lvl3pPr>
              <a:defRPr sz="1000"/>
            </a:lvl3pPr>
            <a:lvl4pPr>
              <a:defRPr sz="900"/>
            </a:lvl4pPr>
            <a:lvl5pPr>
              <a:defRPr sz="900"/>
            </a:lvl5pPr>
            <a:extLst/>
          </a:lstStyle>
          <a:p>
            <a:pPr lvl="0" eaLnBrk="1" latinLnBrk="0" hangingPunct="1"/>
            <a:r>
              <a:rPr kumimoji="0" lang="zh-CN" altLang="en-US"/>
              <a:t>单击此处编辑母版文本样式</a:t>
            </a:r>
          </a:p>
        </p:txBody>
      </p:sp>
      <p:sp>
        <p:nvSpPr>
          <p:cNvPr id="3" name="图片占位符 2"/>
          <p:cNvSpPr>
            <a:spLocks noGrp="1"/>
          </p:cNvSpPr>
          <p:nvPr>
            <p:ph type="pic" idx="1"/>
          </p:nvPr>
        </p:nvSpPr>
        <p:spPr>
          <a:xfrm>
            <a:off x="228600" y="142476"/>
            <a:ext cx="8686800" cy="3291840"/>
          </a:xfrm>
          <a:prstGeom prst="rect">
            <a:avLst/>
          </a:prstGeom>
          <a:solidFill>
            <a:schemeClr val="bg2"/>
          </a:solidFill>
          <a:ln>
            <a:solidFill>
              <a:schemeClr val="bg1"/>
            </a:solidFill>
          </a:ln>
          <a:effectLst>
            <a:innerShdw blurRad="95250">
              <a:srgbClr val="000000"/>
            </a:innerShdw>
          </a:effectLst>
        </p:spPr>
        <p:txBody>
          <a:bodyPr/>
          <a:lstStyle>
            <a:lvl1pPr marL="0" indent="0">
              <a:buNone/>
              <a:defRPr sz="3200"/>
            </a:lvl1pPr>
            <a:extLst/>
          </a:lstStyle>
          <a:p>
            <a:r>
              <a:rPr kumimoji="0" lang="zh-CN" altLang="en-US"/>
              <a:t>单击图标添加图片</a:t>
            </a:r>
            <a:endParaRPr kumimoji="0" lang="en-US" dirty="0"/>
          </a:p>
        </p:txBody>
      </p:sp>
      <p:sp>
        <p:nvSpPr>
          <p:cNvPr id="5" name="日期占位符 4"/>
          <p:cNvSpPr>
            <a:spLocks noGrp="1"/>
          </p:cNvSpPr>
          <p:nvPr>
            <p:ph type="dt" sz="half" idx="10"/>
          </p:nvPr>
        </p:nvSpPr>
        <p:spPr/>
        <p:txBody>
          <a:bodyPr/>
          <a:lstStyle>
            <a:lvl1pPr>
              <a:defRPr>
                <a:solidFill>
                  <a:schemeClr val="tx1"/>
                </a:solidFill>
              </a:defRPr>
            </a:lvl1pPr>
            <a:extLst/>
          </a:lstStyle>
          <a:p>
            <a:fld id="{222983CD-40B6-4A0F-A754-6514ADAC0847}" type="datetimeFigureOut">
              <a:rPr lang="zh-CN" altLang="en-US" smtClean="0"/>
              <a:t>2026/3/23</a:t>
            </a:fld>
            <a:endParaRPr lang="zh-CN" altLang="en-US"/>
          </a:p>
        </p:txBody>
      </p:sp>
      <p:sp>
        <p:nvSpPr>
          <p:cNvPr id="6" name="页脚占位符 5"/>
          <p:cNvSpPr>
            <a:spLocks noGrp="1"/>
          </p:cNvSpPr>
          <p:nvPr>
            <p:ph type="ftr" sz="quarter" idx="11"/>
          </p:nvPr>
        </p:nvSpPr>
        <p:spPr>
          <a:xfrm>
            <a:off x="4380073" y="4805958"/>
            <a:ext cx="2350681" cy="273844"/>
          </a:xfrm>
        </p:spPr>
        <p:txBody>
          <a:bodyPr/>
          <a:lstStyle>
            <a:lvl1pPr>
              <a:defRPr>
                <a:solidFill>
                  <a:schemeClr val="tx1"/>
                </a:solidFill>
              </a:defRPr>
            </a:lvl1pPr>
            <a:extLst/>
          </a:lstStyle>
          <a:p>
            <a:endParaRPr lang="zh-CN" altLang="en-US"/>
          </a:p>
        </p:txBody>
      </p:sp>
      <p:sp>
        <p:nvSpPr>
          <p:cNvPr id="7" name="灯片编号占位符 6"/>
          <p:cNvSpPr>
            <a:spLocks noGrp="1"/>
          </p:cNvSpPr>
          <p:nvPr>
            <p:ph type="sldNum" sz="quarter" idx="12"/>
          </p:nvPr>
        </p:nvSpPr>
        <p:spPr/>
        <p:txBody>
          <a:bodyPr/>
          <a:lstStyle>
            <a:lvl1pPr>
              <a:defRPr>
                <a:solidFill>
                  <a:schemeClr val="tx1"/>
                </a:solidFill>
              </a:defRPr>
            </a:lvl1pPr>
            <a:extLst/>
          </a:lstStyle>
          <a:p>
            <a:fld id="{48ABA68F-732D-4838-AEEE-E87A7C2BC0FD}" type="slidenum">
              <a:rPr lang="zh-CN" altLang="en-US" smtClean="0"/>
              <a:t>‹#›</a:t>
            </a:fld>
            <a:endParaRPr lang="zh-CN" altLang="en-US"/>
          </a:p>
        </p:txBody>
      </p:sp>
      <p:sp>
        <p:nvSpPr>
          <p:cNvPr id="2" name="标题 1"/>
          <p:cNvSpPr>
            <a:spLocks noGrp="1"/>
          </p:cNvSpPr>
          <p:nvPr>
            <p:ph type="title"/>
          </p:nvPr>
        </p:nvSpPr>
        <p:spPr>
          <a:xfrm>
            <a:off x="228600" y="3648842"/>
            <a:ext cx="8075432" cy="422004"/>
          </a:xfrm>
          <a:noFill/>
        </p:spPr>
        <p:txBody>
          <a:bodyPr anchor="t">
            <a:sp3d prstMaterial="softEdge"/>
          </a:bodyPr>
          <a:lstStyle>
            <a:lvl1pPr marR="0" algn="r">
              <a:buNone/>
              <a:defRPr sz="3000" b="0">
                <a:solidFill>
                  <a:schemeClr val="accent1"/>
                </a:solidFill>
                <a:effectLst>
                  <a:outerShdw blurRad="50800" dist="25000" dir="5400000" algn="t" rotWithShape="0">
                    <a:prstClr val="black">
                      <a:alpha val="45000"/>
                    </a:prstClr>
                  </a:outerShdw>
                </a:effectLst>
              </a:defRPr>
            </a:lvl1pPr>
            <a:extLst/>
          </a:lstStyle>
          <a:p>
            <a:r>
              <a:rPr kumimoji="0" lang="zh-CN" altLang="en-US"/>
              <a:t>单击此处编辑母版标题样式</a:t>
            </a:r>
            <a:endParaRPr kumimoji="0" lang="en-US"/>
          </a:p>
        </p:txBody>
      </p:sp>
      <p:sp>
        <p:nvSpPr>
          <p:cNvPr id="8" name="任意多边形 7"/>
          <p:cNvSpPr>
            <a:spLocks/>
          </p:cNvSpPr>
          <p:nvPr/>
        </p:nvSpPr>
        <p:spPr bwMode="auto">
          <a:xfrm>
            <a:off x="499273" y="4458702"/>
            <a:ext cx="4940624" cy="690807"/>
          </a:xfrm>
          <a:custGeom>
            <a:avLst>
              <a:gd name="A1" fmla="val 0"/>
              <a:gd name="A2" fmla="val 0"/>
              <a:gd name="A3" fmla="val 0"/>
              <a:gd name="A4" fmla="val 0"/>
              <a:gd name="A5" fmla="val 0"/>
              <a:gd name="A6" fmla="val 0"/>
              <a:gd name="A7" fmla="val 0"/>
              <a:gd name="A8" fmla="val 0"/>
            </a:avLst>
            <a:gdLst/>
            <a:ahLst/>
            <a:cxnLst>
              <a:cxn ang="0">
                <a:pos x="0" y="0"/>
              </a:cxn>
              <a:cxn ang="0">
                <a:pos x="5760" y="0"/>
              </a:cxn>
              <a:cxn ang="0">
                <a:pos x="5760" y="528"/>
              </a:cxn>
              <a:cxn ang="0">
                <a:pos x="48" y="0"/>
              </a:cxn>
            </a:cxnLst>
            <a:rect l="0" t="0" r="0" b="0"/>
            <a:pathLst>
              <a:path w="7485" h="337">
                <a:moveTo>
                  <a:pt x="0" y="2"/>
                </a:moveTo>
                <a:lnTo>
                  <a:pt x="7485" y="337"/>
                </a:lnTo>
                <a:lnTo>
                  <a:pt x="5558" y="337"/>
                </a:lnTo>
                <a:lnTo>
                  <a:pt x="1" y="0"/>
                </a:lnTo>
              </a:path>
            </a:pathLst>
          </a:custGeom>
          <a:solidFill>
            <a:schemeClr val="accent1">
              <a:tint val="65000"/>
              <a:satMod val="115000"/>
              <a:alpha val="40000"/>
            </a:scheme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9" name="任意多边形 8"/>
          <p:cNvSpPr>
            <a:spLocks/>
          </p:cNvSpPr>
          <p:nvPr/>
        </p:nvSpPr>
        <p:spPr bwMode="auto">
          <a:xfrm>
            <a:off x="485717" y="4454258"/>
            <a:ext cx="3690451" cy="700088"/>
          </a:xfrm>
          <a:custGeom>
            <a:avLst>
              <a:gd name="A1" fmla="val 0"/>
              <a:gd name="A2" fmla="val 0"/>
              <a:gd name="A3" fmla="val 0"/>
              <a:gd name="A4" fmla="val 0"/>
              <a:gd name="A5" fmla="val 0"/>
              <a:gd name="A6" fmla="val 0"/>
              <a:gd name="A7" fmla="val 0"/>
              <a:gd name="A8" fmla="val 0"/>
            </a:avLst>
            <a:gdLst/>
            <a:ahLst/>
            <a:cxnLst>
              <a:cxn ang="0">
                <a:pos x="0" y="0"/>
              </a:cxn>
              <a:cxn ang="0">
                <a:pos x="5760" y="0"/>
              </a:cxn>
              <a:cxn ang="0">
                <a:pos x="5760" y="528"/>
              </a:cxn>
              <a:cxn ang="0">
                <a:pos x="48" y="0"/>
              </a:cxn>
            </a:cxnLst>
            <a:rect l="0" t="0" r="0" b="0"/>
            <a:pathLst>
              <a:path w="5591" h="588">
                <a:moveTo>
                  <a:pt x="0" y="0"/>
                </a:moveTo>
                <a:lnTo>
                  <a:pt x="5591" y="585"/>
                </a:lnTo>
                <a:lnTo>
                  <a:pt x="4415" y="588"/>
                </a:lnTo>
                <a:lnTo>
                  <a:pt x="12" y="4"/>
                </a:lnTo>
              </a:path>
            </a:pathLst>
          </a:custGeom>
          <a:solidFill>
            <a:srgbClr val="000000">
              <a:alpha val="100000"/>
            </a:srgb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10" name="直角三角形 9"/>
          <p:cNvSpPr>
            <a:spLocks/>
          </p:cNvSpPr>
          <p:nvPr/>
        </p:nvSpPr>
        <p:spPr bwMode="auto">
          <a:xfrm>
            <a:off x="-6042" y="4343440"/>
            <a:ext cx="3402314" cy="810651"/>
          </a:xfrm>
          <a:prstGeom prst="rtTriangle">
            <a:avLst/>
          </a:prstGeom>
          <a:blipFill>
            <a:blip r:embed="rId2">
              <a:alphaModFix amt="50000"/>
            </a:blip>
            <a:tile tx="0" ty="0" sx="50000" sy="50000" flip="none" algn="t"/>
          </a:blipFill>
          <a:ln w="12700" cap="rnd" cmpd="thickThin" algn="ctr">
            <a:noFill/>
            <a:prstDash val="solid"/>
          </a:ln>
          <a:effectLst>
            <a:fillOverlay blend="mult">
              <a:gradFill flip="none" rotWithShape="1">
                <a:gsLst>
                  <a:gs pos="0">
                    <a:schemeClr val="accent1">
                      <a:shade val="20000"/>
                      <a:satMod val="176000"/>
                      <a:alpha val="100000"/>
                    </a:schemeClr>
                  </a:gs>
                  <a:gs pos="18000">
                    <a:schemeClr val="accent1">
                      <a:shade val="48000"/>
                      <a:satMod val="153000"/>
                      <a:alpha val="100000"/>
                    </a:schemeClr>
                  </a:gs>
                  <a:gs pos="43000">
                    <a:schemeClr val="accent1">
                      <a:tint val="86000"/>
                      <a:satMod val="149000"/>
                      <a:alpha val="100000"/>
                    </a:schemeClr>
                  </a:gs>
                  <a:gs pos="45000">
                    <a:schemeClr val="accent1">
                      <a:tint val="85000"/>
                      <a:satMod val="150000"/>
                      <a:alpha val="100000"/>
                    </a:schemeClr>
                  </a:gs>
                  <a:gs pos="50000">
                    <a:schemeClr val="accent1">
                      <a:tint val="86000"/>
                      <a:satMod val="149000"/>
                      <a:alpha val="100000"/>
                    </a:schemeClr>
                  </a:gs>
                  <a:gs pos="79000">
                    <a:schemeClr val="accent1">
                      <a:shade val="53000"/>
                      <a:satMod val="150000"/>
                      <a:alpha val="100000"/>
                    </a:schemeClr>
                  </a:gs>
                  <a:gs pos="100000">
                    <a:schemeClr val="accent1">
                      <a:shade val="25000"/>
                      <a:satMod val="170000"/>
                      <a:alpha val="100000"/>
                    </a:schemeClr>
                  </a:gs>
                </a:gsLst>
                <a:lin ang="450000" scaled="1"/>
                <a:tileRect/>
              </a:gradFill>
            </a:fillOverlay>
          </a:effectLst>
        </p:spPr>
        <p:style>
          <a:lnRef idx="3">
            <a:schemeClr val="lt1"/>
          </a:lnRef>
          <a:fillRef idx="1">
            <a:schemeClr val="accent1"/>
          </a:fillRef>
          <a:effectRef idx="1">
            <a:schemeClr val="accent1"/>
          </a:effectRef>
          <a:fontRef idx="minor">
            <a:schemeClr val="lt1"/>
          </a:fontRef>
        </p:style>
        <p:txBody>
          <a:bodyPr vert="horz" wrap="square" lIns="91440" tIns="45720" rIns="91440" bIns="45720" anchor="ctr" compatLnSpc="1"/>
          <a:lstStyle/>
          <a:p>
            <a:pPr algn="ctr" eaLnBrk="1" latinLnBrk="0" hangingPunct="1"/>
            <a:endParaRPr kumimoji="0" lang="en-US"/>
          </a:p>
        </p:txBody>
      </p:sp>
      <p:cxnSp>
        <p:nvCxnSpPr>
          <p:cNvPr id="11" name="直接连接符 10"/>
          <p:cNvCxnSpPr/>
          <p:nvPr/>
        </p:nvCxnSpPr>
        <p:spPr>
          <a:xfrm>
            <a:off x="-9237" y="4340804"/>
            <a:ext cx="3405509" cy="813287"/>
          </a:xfrm>
          <a:prstGeom prst="line">
            <a:avLst/>
          </a:prstGeom>
          <a:noFill/>
          <a:ln w="12065" cap="flat" cmpd="sng" algn="ctr">
            <a:gradFill>
              <a:gsLst>
                <a:gs pos="45000">
                  <a:schemeClr val="accent1">
                    <a:tint val="70000"/>
                    <a:satMod val="110000"/>
                  </a:schemeClr>
                </a:gs>
                <a:gs pos="15000">
                  <a:schemeClr val="accent1">
                    <a:shade val="40000"/>
                    <a:satMod val="110000"/>
                  </a:schemeClr>
                </a:gs>
              </a:gsLst>
              <a:lin ang="5400000" scaled="1"/>
            </a:gra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12" name="燕尾形 11"/>
          <p:cNvSpPr/>
          <p:nvPr/>
        </p:nvSpPr>
        <p:spPr>
          <a:xfrm>
            <a:off x="8664112" y="3741330"/>
            <a:ext cx="182880" cy="171450"/>
          </a:xfrm>
          <a:prstGeom prst="chevron">
            <a:avLst>
              <a:gd name="adj" fmla="val 50000"/>
            </a:avLst>
          </a:prstGeom>
          <a:gradFill flip="none" rotWithShape="1">
            <a:gsLst>
              <a:gs pos="0">
                <a:schemeClr val="accent1">
                  <a:shade val="60000"/>
                  <a:satMod val="125000"/>
                </a:schemeClr>
              </a:gs>
              <a:gs pos="72000">
                <a:schemeClr val="accent1">
                  <a:tint val="90000"/>
                  <a:satMod val="138000"/>
                </a:schemeClr>
              </a:gs>
              <a:gs pos="100000">
                <a:schemeClr val="accent1">
                  <a:tint val="76000"/>
                  <a:satMod val="136000"/>
                </a:schemeClr>
              </a:gs>
            </a:gsLst>
            <a:lin ang="16200000" scaled="0"/>
          </a:gradFill>
          <a:ln w="3175" cap="rnd" cmpd="sng" algn="ctr">
            <a:solidFill>
              <a:schemeClr val="accent1">
                <a:shade val="50000"/>
              </a:schemeClr>
            </a:solidFill>
            <a:prstDash val="solid"/>
          </a:ln>
          <a:effectLst>
            <a:outerShdw blurRad="50800" dist="25400" dir="5400000">
              <a:srgbClr val="000000">
                <a:alpha val="46000"/>
              </a:srgbClr>
            </a:outerShdw>
          </a:effectLst>
        </p:spPr>
        <p:style>
          <a:lnRef idx="1">
            <a:schemeClr val="accent1"/>
          </a:lnRef>
          <a:fillRef idx="3">
            <a:schemeClr val="accent1"/>
          </a:fillRef>
          <a:effectRef idx="2">
            <a:schemeClr val="accent1"/>
          </a:effectRef>
          <a:fontRef idx="minor">
            <a:schemeClr val="lt1"/>
          </a:fontRef>
        </p:style>
        <p:txBody>
          <a:bodyPr anchor="ctr"/>
          <a:lstStyle/>
          <a:p>
            <a:pPr algn="l" eaLnBrk="1" latinLnBrk="0" hangingPunct="1"/>
            <a:endParaRPr kumimoji="0" lang="en-US"/>
          </a:p>
        </p:txBody>
      </p:sp>
      <p:sp>
        <p:nvSpPr>
          <p:cNvPr id="13" name="燕尾形 12"/>
          <p:cNvSpPr/>
          <p:nvPr/>
        </p:nvSpPr>
        <p:spPr>
          <a:xfrm>
            <a:off x="8477696" y="3741330"/>
            <a:ext cx="182880" cy="171450"/>
          </a:xfrm>
          <a:prstGeom prst="chevron">
            <a:avLst>
              <a:gd name="adj" fmla="val 50000"/>
            </a:avLst>
          </a:prstGeom>
          <a:gradFill flip="none" rotWithShape="1">
            <a:gsLst>
              <a:gs pos="0">
                <a:schemeClr val="accent1">
                  <a:shade val="60000"/>
                  <a:satMod val="125000"/>
                </a:schemeClr>
              </a:gs>
              <a:gs pos="72000">
                <a:schemeClr val="accent1">
                  <a:tint val="90000"/>
                  <a:satMod val="138000"/>
                </a:schemeClr>
              </a:gs>
              <a:gs pos="100000">
                <a:schemeClr val="accent1">
                  <a:tint val="76000"/>
                  <a:satMod val="136000"/>
                </a:schemeClr>
              </a:gs>
            </a:gsLst>
            <a:lin ang="16200000" scaled="0"/>
          </a:gradFill>
          <a:ln w="3175" cap="rnd" cmpd="sng" algn="ctr">
            <a:solidFill>
              <a:schemeClr val="accent1">
                <a:shade val="50000"/>
              </a:schemeClr>
            </a:solidFill>
            <a:prstDash val="solid"/>
          </a:ln>
          <a:effectLst>
            <a:outerShdw blurRad="50800" dist="25400" dir="5400000">
              <a:srgbClr val="000000">
                <a:alpha val="46000"/>
              </a:srgbClr>
            </a:outerShdw>
          </a:effectLst>
        </p:spPr>
        <p:style>
          <a:lnRef idx="1">
            <a:schemeClr val="accent1"/>
          </a:lnRef>
          <a:fillRef idx="3">
            <a:schemeClr val="accent1"/>
          </a:fillRef>
          <a:effectRef idx="2">
            <a:schemeClr val="accent1"/>
          </a:effectRef>
          <a:fontRef idx="minor">
            <a:schemeClr val="lt1"/>
          </a:fontRef>
        </p:style>
        <p:txBody>
          <a:bodyPr anchor="ctr"/>
          <a:lstStyle/>
          <a:p>
            <a:pPr algn="l" eaLnBrk="1" latinLnBrk="0" hangingPunct="1"/>
            <a:endParaRPr kumimoji="0" lang="en-US"/>
          </a:p>
        </p:txBody>
      </p:sp>
    </p:spTree>
  </p:cSld>
  <p:clrMapOvr>
    <a:overrideClrMapping bg1="dk1" tx1="lt1" bg2="dk2" tx2="lt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0" lang="zh-CN" altLang="en-US"/>
              <a:t>单击此处编辑母版标题样式</a:t>
            </a:r>
            <a:endParaRPr kumimoji="0" lang="en-US"/>
          </a:p>
        </p:txBody>
      </p:sp>
      <p:sp>
        <p:nvSpPr>
          <p:cNvPr id="3" name="竖排文字占位符 2"/>
          <p:cNvSpPr>
            <a:spLocks noGrp="1"/>
          </p:cNvSpPr>
          <p:nvPr>
            <p:ph type="body" orient="vert" idx="1"/>
          </p:nvPr>
        </p:nvSpPr>
        <p:spPr>
          <a:xfrm>
            <a:off x="457200" y="1110997"/>
            <a:ext cx="8229600" cy="3289553"/>
          </a:xfrm>
        </p:spPr>
        <p:txBody>
          <a:bodyPr vert="eaVer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4" name="日期占位符 3"/>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48ABA68F-732D-4838-AEEE-E87A7C2BC0FD}"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844013" y="205980"/>
            <a:ext cx="1777470" cy="4194571"/>
          </a:xfrm>
        </p:spPr>
        <p:txBody>
          <a:bodyPr vert="eaVert"/>
          <a:lstStyle/>
          <a:p>
            <a:r>
              <a:rPr kumimoji="0" lang="zh-CN" altLang="en-US"/>
              <a:t>单击此处编辑母版标题样式</a:t>
            </a:r>
            <a:endParaRPr kumimoji="0" lang="en-US"/>
          </a:p>
        </p:txBody>
      </p:sp>
      <p:sp>
        <p:nvSpPr>
          <p:cNvPr id="3" name="竖排文字占位符 2"/>
          <p:cNvSpPr>
            <a:spLocks noGrp="1"/>
          </p:cNvSpPr>
          <p:nvPr>
            <p:ph type="body" orient="vert" idx="1"/>
          </p:nvPr>
        </p:nvSpPr>
        <p:spPr>
          <a:xfrm>
            <a:off x="457200" y="205981"/>
            <a:ext cx="6324600" cy="4194570"/>
          </a:xfrm>
        </p:spPr>
        <p:txBody>
          <a:bodyPr vert="eaVert"/>
          <a:lstStyle/>
          <a:p>
            <a:pPr lvl="0" eaLnBrk="1" latinLnBrk="0" hangingPunct="1"/>
            <a:r>
              <a:rPr lang="zh-CN" altLang="en-US"/>
              <a:t>单击此处编辑母版文本样式</a:t>
            </a:r>
          </a:p>
          <a:p>
            <a:pPr lvl="1" eaLnBrk="1" latinLnBrk="0" hangingPunct="1"/>
            <a:r>
              <a:rPr lang="zh-CN" altLang="en-US"/>
              <a:t>第二级</a:t>
            </a:r>
          </a:p>
          <a:p>
            <a:pPr lvl="2" eaLnBrk="1" latinLnBrk="0" hangingPunct="1"/>
            <a:r>
              <a:rPr lang="zh-CN" altLang="en-US"/>
              <a:t>第三级</a:t>
            </a:r>
          </a:p>
          <a:p>
            <a:pPr lvl="3" eaLnBrk="1" latinLnBrk="0" hangingPunct="1"/>
            <a:r>
              <a:rPr lang="zh-CN" altLang="en-US"/>
              <a:t>第四级</a:t>
            </a:r>
          </a:p>
          <a:p>
            <a:pPr lvl="4" eaLnBrk="1" latinLnBrk="0" hangingPunct="1"/>
            <a:r>
              <a:rPr lang="zh-CN" altLang="en-US"/>
              <a:t>第五级</a:t>
            </a:r>
            <a:endParaRPr kumimoji="0" lang="en-US"/>
          </a:p>
        </p:txBody>
      </p:sp>
      <p:sp>
        <p:nvSpPr>
          <p:cNvPr id="4" name="日期占位符 3"/>
          <p:cNvSpPr>
            <a:spLocks noGrp="1"/>
          </p:cNvSpPr>
          <p:nvPr>
            <p:ph type="dt" sz="half" idx="10"/>
          </p:nvPr>
        </p:nvSpPr>
        <p:spPr/>
        <p:txBody>
          <a:bodyPr/>
          <a:lstStyle/>
          <a:p>
            <a:fld id="{222983CD-40B6-4A0F-A754-6514ADAC0847}" type="datetimeFigureOut">
              <a:rPr lang="zh-CN" altLang="en-US" smtClean="0"/>
              <a:t>2026/3/23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48ABA68F-732D-4838-AEEE-E87A7C2BC0FD}" type="slidenum">
              <a:rPr lang="zh-CN" altLang="en-US" smtClean="0"/>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457200"/>
            <a:ext cx="7772400" cy="857250"/>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quarter" idx="2"/>
          </p:nvPr>
        </p:nvSpPr>
        <p:spPr>
          <a:xfrm>
            <a:off x="4648200" y="1485900"/>
            <a:ext cx="38100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内容占位符 4"/>
          <p:cNvSpPr>
            <a:spLocks noGrp="1"/>
          </p:cNvSpPr>
          <p:nvPr>
            <p:ph sz="quarter" idx="3"/>
          </p:nvPr>
        </p:nvSpPr>
        <p:spPr>
          <a:xfrm>
            <a:off x="4648200" y="3086100"/>
            <a:ext cx="38100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Rectangle 4"/>
          <p:cNvSpPr>
            <a:spLocks noGrp="1" noChangeArrowheads="1"/>
          </p:cNvSpPr>
          <p:nvPr>
            <p:ph type="dt" sz="half" idx="10"/>
          </p:nvPr>
        </p:nvSpPr>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p:txBody>
          <a:bodyPr/>
          <a:lstStyle>
            <a:lvl1pPr>
              <a:defRPr/>
            </a:lvl1pPr>
          </a:lstStyle>
          <a:p>
            <a:pPr>
              <a:defRPr/>
            </a:pPr>
            <a:fld id="{4083F22B-0A79-4152-B87F-715EEE279FF7}" type="slidenum">
              <a:rPr lang="en-US" altLang="zh-CN"/>
              <a:pPr>
                <a:defRPr/>
              </a:pPr>
              <a:t>‹#›</a:t>
            </a:fld>
            <a:endParaRPr lang="en-US" altLang="zh-CN"/>
          </a:p>
        </p:txBody>
      </p:sp>
    </p:spTree>
    <p:extLst>
      <p:ext uri="{BB962C8B-B14F-4D97-AF65-F5344CB8AC3E}">
        <p14:creationId xmlns:p14="http://schemas.microsoft.com/office/powerpoint/2010/main" val="197355759"/>
      </p:ext>
    </p:extLst>
  </p:cSld>
  <p:clrMapOvr>
    <a:masterClrMapping/>
  </p:clrMapOvr>
  <p:transition>
    <p:pull dir="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457200"/>
            <a:ext cx="7772400" cy="857250"/>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F4C99589-2AA3-468C-B3EF-37A2352EB183}" type="slidenum">
              <a:rPr lang="en-US" altLang="zh-CN"/>
              <a:pPr>
                <a:defRPr/>
              </a:pPr>
              <a:t>‹#›</a:t>
            </a:fld>
            <a:endParaRPr lang="en-US" altLang="zh-CN"/>
          </a:p>
        </p:txBody>
      </p:sp>
    </p:spTree>
    <p:extLst>
      <p:ext uri="{BB962C8B-B14F-4D97-AF65-F5344CB8AC3E}">
        <p14:creationId xmlns:p14="http://schemas.microsoft.com/office/powerpoint/2010/main" val="2814933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AndTwoObj">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457200"/>
            <a:ext cx="7772400" cy="857250"/>
          </a:xfrm>
        </p:spPr>
        <p:txBody>
          <a:bodyPr/>
          <a:lstStyle/>
          <a:p>
            <a:r>
              <a:rPr lang="zh-CN" altLang="en-US"/>
              <a:t>单击此处编辑母版标题样式</a:t>
            </a:r>
          </a:p>
        </p:txBody>
      </p:sp>
      <p:sp>
        <p:nvSpPr>
          <p:cNvPr id="3" name="内容占位符 2"/>
          <p:cNvSpPr>
            <a:spLocks noGrp="1"/>
          </p:cNvSpPr>
          <p:nvPr>
            <p:ph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quarter" idx="2"/>
          </p:nvPr>
        </p:nvSpPr>
        <p:spPr>
          <a:xfrm>
            <a:off x="4648200" y="1485900"/>
            <a:ext cx="38100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内容占位符 4"/>
          <p:cNvSpPr>
            <a:spLocks noGrp="1"/>
          </p:cNvSpPr>
          <p:nvPr>
            <p:ph sz="quarter" idx="3"/>
          </p:nvPr>
        </p:nvSpPr>
        <p:spPr>
          <a:xfrm>
            <a:off x="4648200" y="3086100"/>
            <a:ext cx="38100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ln/>
        </p:spPr>
        <p:txBody>
          <a:bodyPr/>
          <a:lstStyle>
            <a:lvl1pPr>
              <a:defRPr/>
            </a:lvl1pPr>
          </a:lstStyle>
          <a:p>
            <a:pPr>
              <a:defRPr/>
            </a:pPr>
            <a:fld id="{5F45D42D-3348-4694-BF48-948B88876AF9}" type="slidenum">
              <a:rPr lang="en-US" altLang="zh-CN"/>
              <a:pPr>
                <a:defRPr/>
              </a:pPr>
              <a:t>‹#›</a:t>
            </a:fld>
            <a:endParaRPr lang="en-US" altLang="zh-CN"/>
          </a:p>
        </p:txBody>
      </p:sp>
    </p:spTree>
    <p:extLst>
      <p:ext uri="{BB962C8B-B14F-4D97-AF65-F5344CB8AC3E}">
        <p14:creationId xmlns:p14="http://schemas.microsoft.com/office/powerpoint/2010/main" val="111860396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AndChart">
  <p:cSld name="标题，文本与图表">
    <p:spTree>
      <p:nvGrpSpPr>
        <p:cNvPr id="1" name=""/>
        <p:cNvGrpSpPr/>
        <p:nvPr/>
      </p:nvGrpSpPr>
      <p:grpSpPr>
        <a:xfrm>
          <a:off x="0" y="0"/>
          <a:ext cx="0" cy="0"/>
          <a:chOff x="0" y="0"/>
          <a:chExt cx="0" cy="0"/>
        </a:xfrm>
      </p:grpSpPr>
      <p:sp>
        <p:nvSpPr>
          <p:cNvPr id="2" name="标题 1"/>
          <p:cNvSpPr>
            <a:spLocks noGrp="1"/>
          </p:cNvSpPr>
          <p:nvPr>
            <p:ph type="title"/>
          </p:nvPr>
        </p:nvSpPr>
        <p:spPr>
          <a:xfrm>
            <a:off x="685800" y="457200"/>
            <a:ext cx="7772400" cy="857250"/>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图表占位符 3"/>
          <p:cNvSpPr>
            <a:spLocks noGrp="1"/>
          </p:cNvSpPr>
          <p:nvPr>
            <p:ph type="chart" sz="half" idx="2"/>
          </p:nvPr>
        </p:nvSpPr>
        <p:spPr>
          <a:xfrm>
            <a:off x="4648200" y="1485900"/>
            <a:ext cx="3810000" cy="3086100"/>
          </a:xfrm>
        </p:spPr>
        <p:txBody>
          <a:bodyPr/>
          <a:lstStyle/>
          <a:p>
            <a:pPr lvl="0"/>
            <a:endParaRPr lang="zh-CN" altLang="en-US" noProof="0"/>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C7610B82-ACB1-4481-8FC5-4B4183CAD70B}" type="slidenum">
              <a:rPr lang="en-US" altLang="zh-CN"/>
              <a:pPr>
                <a:defRPr/>
              </a:pPr>
              <a:t>‹#›</a:t>
            </a:fld>
            <a:endParaRPr lang="en-US" altLang="zh-CN"/>
          </a:p>
        </p:txBody>
      </p:sp>
    </p:spTree>
    <p:extLst>
      <p:ext uri="{BB962C8B-B14F-4D97-AF65-F5344CB8AC3E}">
        <p14:creationId xmlns:p14="http://schemas.microsoft.com/office/powerpoint/2010/main" val="156695277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685800" y="457200"/>
            <a:ext cx="7772400" cy="857250"/>
          </a:xfrm>
        </p:spPr>
        <p:txBody>
          <a:bodyPr/>
          <a:lstStyle/>
          <a:p>
            <a:r>
              <a:rPr lang="zh-CN" altLang="en-US"/>
              <a:t>单击此处编辑母版标题样式</a:t>
            </a:r>
          </a:p>
        </p:txBody>
      </p:sp>
      <p:sp>
        <p:nvSpPr>
          <p:cNvPr id="3" name="表格占位符 2"/>
          <p:cNvSpPr>
            <a:spLocks noGrp="1"/>
          </p:cNvSpPr>
          <p:nvPr>
            <p:ph type="tbl" idx="1"/>
          </p:nvPr>
        </p:nvSpPr>
        <p:spPr>
          <a:xfrm>
            <a:off x="685800" y="1485900"/>
            <a:ext cx="7772400" cy="3086100"/>
          </a:xfrm>
        </p:spPr>
        <p:txBody>
          <a:bodyPr/>
          <a:lstStyle/>
          <a:p>
            <a:pPr lvl="0"/>
            <a:endParaRPr lang="zh-CN" altLang="en-US"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E652B953-E461-4096-BC7E-BCCAA8912EE3}" type="slidenum">
              <a:rPr lang="en-US" altLang="zh-CN"/>
              <a:pPr>
                <a:defRPr/>
              </a:pPr>
              <a:t>‹#›</a:t>
            </a:fld>
            <a:endParaRPr lang="en-US" altLang="zh-CN"/>
          </a:p>
        </p:txBody>
      </p:sp>
    </p:spTree>
    <p:extLst>
      <p:ext uri="{BB962C8B-B14F-4D97-AF65-F5344CB8AC3E}">
        <p14:creationId xmlns:p14="http://schemas.microsoft.com/office/powerpoint/2010/main" val="291185111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任意多边形 12"/>
          <p:cNvSpPr>
            <a:spLocks/>
          </p:cNvSpPr>
          <p:nvPr/>
        </p:nvSpPr>
        <p:spPr bwMode="auto">
          <a:xfrm>
            <a:off x="499273" y="4458702"/>
            <a:ext cx="4940624" cy="690807"/>
          </a:xfrm>
          <a:custGeom>
            <a:avLst>
              <a:gd name="A1" fmla="val 0"/>
              <a:gd name="A2" fmla="val 0"/>
              <a:gd name="A3" fmla="val 0"/>
              <a:gd name="A4" fmla="val 0"/>
              <a:gd name="A5" fmla="val 0"/>
              <a:gd name="A6" fmla="val 0"/>
              <a:gd name="A7" fmla="val 0"/>
              <a:gd name="A8" fmla="val 0"/>
            </a:avLst>
            <a:gdLst/>
            <a:ahLst/>
            <a:cxnLst>
              <a:cxn ang="0">
                <a:pos x="0" y="0"/>
              </a:cxn>
              <a:cxn ang="0">
                <a:pos x="5760" y="0"/>
              </a:cxn>
              <a:cxn ang="0">
                <a:pos x="5760" y="528"/>
              </a:cxn>
              <a:cxn ang="0">
                <a:pos x="48" y="0"/>
              </a:cxn>
            </a:cxnLst>
            <a:rect l="0" t="0" r="0" b="0"/>
            <a:pathLst>
              <a:path w="7485" h="337">
                <a:moveTo>
                  <a:pt x="0" y="2"/>
                </a:moveTo>
                <a:lnTo>
                  <a:pt x="7485" y="337"/>
                </a:lnTo>
                <a:lnTo>
                  <a:pt x="5558" y="337"/>
                </a:lnTo>
                <a:lnTo>
                  <a:pt x="1" y="0"/>
                </a:lnTo>
              </a:path>
            </a:pathLst>
          </a:custGeom>
          <a:solidFill>
            <a:schemeClr val="accent1">
              <a:tint val="65000"/>
              <a:satMod val="115000"/>
              <a:alpha val="40000"/>
            </a:scheme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12" name="任意多边形 11"/>
          <p:cNvSpPr>
            <a:spLocks/>
          </p:cNvSpPr>
          <p:nvPr/>
        </p:nvSpPr>
        <p:spPr bwMode="auto">
          <a:xfrm>
            <a:off x="485717" y="4454258"/>
            <a:ext cx="3690451" cy="700088"/>
          </a:xfrm>
          <a:custGeom>
            <a:avLst>
              <a:gd name="A1" fmla="val 0"/>
              <a:gd name="A2" fmla="val 0"/>
              <a:gd name="A3" fmla="val 0"/>
              <a:gd name="A4" fmla="val 0"/>
              <a:gd name="A5" fmla="val 0"/>
              <a:gd name="A6" fmla="val 0"/>
              <a:gd name="A7" fmla="val 0"/>
              <a:gd name="A8" fmla="val 0"/>
            </a:avLst>
            <a:gdLst/>
            <a:ahLst/>
            <a:cxnLst>
              <a:cxn ang="0">
                <a:pos x="0" y="0"/>
              </a:cxn>
              <a:cxn ang="0">
                <a:pos x="5760" y="0"/>
              </a:cxn>
              <a:cxn ang="0">
                <a:pos x="5760" y="528"/>
              </a:cxn>
              <a:cxn ang="0">
                <a:pos x="48" y="0"/>
              </a:cxn>
            </a:cxnLst>
            <a:rect l="0" t="0" r="0" b="0"/>
            <a:pathLst>
              <a:path w="5591" h="588">
                <a:moveTo>
                  <a:pt x="0" y="0"/>
                </a:moveTo>
                <a:lnTo>
                  <a:pt x="5591" y="585"/>
                </a:lnTo>
                <a:lnTo>
                  <a:pt x="4415" y="588"/>
                </a:lnTo>
                <a:lnTo>
                  <a:pt x="12" y="4"/>
                </a:lnTo>
              </a:path>
            </a:pathLst>
          </a:custGeom>
          <a:solidFill>
            <a:srgbClr val="000000">
              <a:alpha val="100000"/>
            </a:srgbClr>
          </a:solidFill>
          <a:ln w="9525" cap="flat" cmpd="sng" algn="ctr">
            <a:noFill/>
            <a:prstDash val="solid"/>
            <a:round/>
            <a:headEnd type="none" w="med" len="med"/>
            <a:tailEnd type="none" w="med" len="med"/>
          </a:ln>
          <a:effectLst/>
        </p:spPr>
        <p:txBody>
          <a:bodyPr vert="horz" wrap="square" lIns="91440" tIns="45720" rIns="91440" bIns="45720" anchor="t" compatLnSpc="1"/>
          <a:lstStyle/>
          <a:p>
            <a:endParaRPr kumimoji="0" lang="en-US"/>
          </a:p>
        </p:txBody>
      </p:sp>
      <p:sp>
        <p:nvSpPr>
          <p:cNvPr id="14" name="直角三角形 13"/>
          <p:cNvSpPr>
            <a:spLocks/>
          </p:cNvSpPr>
          <p:nvPr/>
        </p:nvSpPr>
        <p:spPr bwMode="auto">
          <a:xfrm>
            <a:off x="-6042" y="4343440"/>
            <a:ext cx="3402314" cy="810651"/>
          </a:xfrm>
          <a:prstGeom prst="rtTriangle">
            <a:avLst/>
          </a:prstGeom>
          <a:blipFill>
            <a:blip r:embed="rId18">
              <a:alphaModFix amt="50000"/>
            </a:blip>
            <a:tile tx="0" ty="0" sx="50000" sy="50000" flip="none" algn="t"/>
          </a:blipFill>
          <a:ln w="12700" cap="rnd" cmpd="thickThin" algn="ctr">
            <a:noFill/>
            <a:prstDash val="solid"/>
          </a:ln>
          <a:effectLst>
            <a:fillOverlay blend="mult">
              <a:gradFill flip="none" rotWithShape="1">
                <a:gsLst>
                  <a:gs pos="0">
                    <a:schemeClr val="accent1">
                      <a:shade val="20000"/>
                      <a:satMod val="176000"/>
                      <a:alpha val="100000"/>
                    </a:schemeClr>
                  </a:gs>
                  <a:gs pos="18000">
                    <a:schemeClr val="accent1">
                      <a:shade val="48000"/>
                      <a:satMod val="153000"/>
                      <a:alpha val="100000"/>
                    </a:schemeClr>
                  </a:gs>
                  <a:gs pos="43000">
                    <a:schemeClr val="accent1">
                      <a:tint val="86000"/>
                      <a:satMod val="149000"/>
                      <a:alpha val="100000"/>
                    </a:schemeClr>
                  </a:gs>
                  <a:gs pos="45000">
                    <a:schemeClr val="accent1">
                      <a:tint val="85000"/>
                      <a:satMod val="150000"/>
                      <a:alpha val="100000"/>
                    </a:schemeClr>
                  </a:gs>
                  <a:gs pos="50000">
                    <a:schemeClr val="accent1">
                      <a:tint val="86000"/>
                      <a:satMod val="149000"/>
                      <a:alpha val="100000"/>
                    </a:schemeClr>
                  </a:gs>
                  <a:gs pos="79000">
                    <a:schemeClr val="accent1">
                      <a:shade val="53000"/>
                      <a:satMod val="150000"/>
                      <a:alpha val="100000"/>
                    </a:schemeClr>
                  </a:gs>
                  <a:gs pos="100000">
                    <a:schemeClr val="accent1">
                      <a:shade val="25000"/>
                      <a:satMod val="170000"/>
                      <a:alpha val="100000"/>
                    </a:schemeClr>
                  </a:gs>
                </a:gsLst>
                <a:lin ang="450000" scaled="1"/>
                <a:tileRect/>
              </a:gradFill>
            </a:fillOverlay>
          </a:effectLst>
        </p:spPr>
        <p:style>
          <a:lnRef idx="3">
            <a:schemeClr val="lt1"/>
          </a:lnRef>
          <a:fillRef idx="1">
            <a:schemeClr val="accent1"/>
          </a:fillRef>
          <a:effectRef idx="1">
            <a:schemeClr val="accent1"/>
          </a:effectRef>
          <a:fontRef idx="minor">
            <a:schemeClr val="lt1"/>
          </a:fontRef>
        </p:style>
        <p:txBody>
          <a:bodyPr vert="horz" wrap="square" lIns="91440" tIns="45720" rIns="91440" bIns="45720" anchor="ctr" compatLnSpc="1"/>
          <a:lstStyle/>
          <a:p>
            <a:pPr algn="ctr" eaLnBrk="1" latinLnBrk="0" hangingPunct="1"/>
            <a:endParaRPr kumimoji="0" lang="en-US"/>
          </a:p>
        </p:txBody>
      </p:sp>
      <p:cxnSp>
        <p:nvCxnSpPr>
          <p:cNvPr id="15" name="直接连接符 14"/>
          <p:cNvCxnSpPr/>
          <p:nvPr/>
        </p:nvCxnSpPr>
        <p:spPr>
          <a:xfrm>
            <a:off x="-9237" y="4340804"/>
            <a:ext cx="3405509" cy="813287"/>
          </a:xfrm>
          <a:prstGeom prst="line">
            <a:avLst/>
          </a:prstGeom>
          <a:noFill/>
          <a:ln w="12065" cap="flat" cmpd="sng" algn="ctr">
            <a:gradFill>
              <a:gsLst>
                <a:gs pos="45000">
                  <a:schemeClr val="accent1">
                    <a:tint val="70000"/>
                    <a:satMod val="110000"/>
                  </a:schemeClr>
                </a:gs>
                <a:gs pos="15000">
                  <a:schemeClr val="accent1">
                    <a:shade val="40000"/>
                    <a:satMod val="110000"/>
                  </a:schemeClr>
                </a:gs>
              </a:gsLst>
              <a:lin ang="5400000" scaled="1"/>
            </a:gra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9" name="标题占位符 8"/>
          <p:cNvSpPr>
            <a:spLocks noGrp="1"/>
          </p:cNvSpPr>
          <p:nvPr>
            <p:ph type="title"/>
          </p:nvPr>
        </p:nvSpPr>
        <p:spPr>
          <a:xfrm>
            <a:off x="457200" y="205979"/>
            <a:ext cx="8229600" cy="857250"/>
          </a:xfrm>
          <a:prstGeom prst="rect">
            <a:avLst/>
          </a:prstGeom>
        </p:spPr>
        <p:txBody>
          <a:bodyPr vert="horz" anchor="ctr">
            <a:normAutofit/>
            <a:scene3d>
              <a:camera prst="orthographicFront"/>
              <a:lightRig rig="soft" dir="t"/>
            </a:scene3d>
            <a:sp3d prstMaterial="softEdge">
              <a:bevelT w="25400" h="25400"/>
            </a:sp3d>
          </a:bodyPr>
          <a:lstStyle/>
          <a:p>
            <a:r>
              <a:rPr kumimoji="0" lang="zh-CN" altLang="en-US"/>
              <a:t>单击此处编辑母版标题样式</a:t>
            </a:r>
            <a:endParaRPr kumimoji="0" lang="en-US"/>
          </a:p>
        </p:txBody>
      </p:sp>
      <p:sp>
        <p:nvSpPr>
          <p:cNvPr id="30" name="文本占位符 29"/>
          <p:cNvSpPr>
            <a:spLocks noGrp="1"/>
          </p:cNvSpPr>
          <p:nvPr>
            <p:ph type="body" idx="1"/>
          </p:nvPr>
        </p:nvSpPr>
        <p:spPr>
          <a:xfrm>
            <a:off x="457200" y="1110997"/>
            <a:ext cx="8229600" cy="3394472"/>
          </a:xfrm>
          <a:prstGeom prst="rect">
            <a:avLst/>
          </a:prstGeom>
        </p:spPr>
        <p:txBody>
          <a:bodyPr vert="horz">
            <a:normAutofit/>
          </a:bodyPr>
          <a:lstStyle/>
          <a:p>
            <a:pPr lvl="0" eaLnBrk="1" latinLnBrk="0" hangingPunct="1"/>
            <a:r>
              <a:rPr kumimoji="0" lang="zh-CN" altLang="en-US"/>
              <a:t>单击此处编辑母版文本样式</a:t>
            </a:r>
          </a:p>
          <a:p>
            <a:pPr lvl="1" eaLnBrk="1" latinLnBrk="0" hangingPunct="1"/>
            <a:r>
              <a:rPr kumimoji="0" lang="zh-CN" altLang="en-US"/>
              <a:t>第二级</a:t>
            </a:r>
          </a:p>
          <a:p>
            <a:pPr lvl="2" eaLnBrk="1" latinLnBrk="0" hangingPunct="1"/>
            <a:r>
              <a:rPr kumimoji="0" lang="zh-CN" altLang="en-US"/>
              <a:t>第三级</a:t>
            </a:r>
          </a:p>
          <a:p>
            <a:pPr lvl="3" eaLnBrk="1" latinLnBrk="0" hangingPunct="1"/>
            <a:r>
              <a:rPr kumimoji="0" lang="zh-CN" altLang="en-US"/>
              <a:t>第四级</a:t>
            </a:r>
          </a:p>
          <a:p>
            <a:pPr lvl="4" eaLnBrk="1" latinLnBrk="0" hangingPunct="1"/>
            <a:r>
              <a:rPr kumimoji="0" lang="zh-CN" altLang="en-US"/>
              <a:t>第五级</a:t>
            </a:r>
            <a:endParaRPr kumimoji="0" lang="en-US"/>
          </a:p>
        </p:txBody>
      </p:sp>
      <p:sp>
        <p:nvSpPr>
          <p:cNvPr id="10" name="日期占位符 9"/>
          <p:cNvSpPr>
            <a:spLocks noGrp="1"/>
          </p:cNvSpPr>
          <p:nvPr>
            <p:ph type="dt" sz="half" idx="2"/>
          </p:nvPr>
        </p:nvSpPr>
        <p:spPr>
          <a:xfrm>
            <a:off x="6727032" y="4805958"/>
            <a:ext cx="1920240" cy="274320"/>
          </a:xfrm>
          <a:prstGeom prst="rect">
            <a:avLst/>
          </a:prstGeom>
        </p:spPr>
        <p:txBody>
          <a:bodyPr vert="horz" anchor="b"/>
          <a:lstStyle>
            <a:lvl1pPr algn="l" eaLnBrk="1" latinLnBrk="0" hangingPunct="1">
              <a:defRPr kumimoji="0" sz="1000">
                <a:solidFill>
                  <a:schemeClr val="tx1"/>
                </a:solidFill>
              </a:defRPr>
            </a:lvl1pPr>
            <a:extLst/>
          </a:lstStyle>
          <a:p>
            <a:fld id="{222983CD-40B6-4A0F-A754-6514ADAC0847}" type="datetimeFigureOut">
              <a:rPr lang="zh-CN" altLang="en-US" smtClean="0"/>
              <a:t>2026/3/23</a:t>
            </a:fld>
            <a:endParaRPr lang="zh-CN" altLang="en-US"/>
          </a:p>
        </p:txBody>
      </p:sp>
      <p:sp>
        <p:nvSpPr>
          <p:cNvPr id="22" name="页脚占位符 21"/>
          <p:cNvSpPr>
            <a:spLocks noGrp="1"/>
          </p:cNvSpPr>
          <p:nvPr>
            <p:ph type="ftr" sz="quarter" idx="3"/>
          </p:nvPr>
        </p:nvSpPr>
        <p:spPr>
          <a:xfrm>
            <a:off x="4380073" y="4805958"/>
            <a:ext cx="2350681" cy="273844"/>
          </a:xfrm>
          <a:prstGeom prst="rect">
            <a:avLst/>
          </a:prstGeom>
        </p:spPr>
        <p:txBody>
          <a:bodyPr vert="horz" anchor="b"/>
          <a:lstStyle>
            <a:lvl1pPr algn="r" eaLnBrk="1" latinLnBrk="0" hangingPunct="1">
              <a:defRPr kumimoji="0" sz="1000">
                <a:solidFill>
                  <a:schemeClr val="tx1"/>
                </a:solidFill>
              </a:defRPr>
            </a:lvl1pPr>
            <a:extLst/>
          </a:lstStyle>
          <a:p>
            <a:endParaRPr lang="zh-CN" altLang="en-US"/>
          </a:p>
        </p:txBody>
      </p:sp>
      <p:sp>
        <p:nvSpPr>
          <p:cNvPr id="18" name="灯片编号占位符 17"/>
          <p:cNvSpPr>
            <a:spLocks noGrp="1"/>
          </p:cNvSpPr>
          <p:nvPr>
            <p:ph type="sldNum" sz="quarter" idx="4"/>
          </p:nvPr>
        </p:nvSpPr>
        <p:spPr>
          <a:xfrm>
            <a:off x="8647272" y="4805958"/>
            <a:ext cx="365760" cy="273844"/>
          </a:xfrm>
          <a:prstGeom prst="rect">
            <a:avLst/>
          </a:prstGeom>
        </p:spPr>
        <p:txBody>
          <a:bodyPr vert="horz" anchor="b"/>
          <a:lstStyle>
            <a:lvl1pPr algn="r" eaLnBrk="1" latinLnBrk="0" hangingPunct="1">
              <a:defRPr kumimoji="0" sz="1000" b="0">
                <a:solidFill>
                  <a:schemeClr val="tx1"/>
                </a:solidFill>
              </a:defRPr>
            </a:lvl1pPr>
            <a:extLst/>
          </a:lstStyle>
          <a:p>
            <a:fld id="{48ABA68F-732D-4838-AEEE-E87A7C2BC0FD}"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6" r:id="rId16"/>
  </p:sldLayoutIdLst>
  <p:txStyles>
    <p:titleStyle>
      <a:lvl1pPr algn="l" rtl="0" eaLnBrk="1" latinLnBrk="0" hangingPunct="1">
        <a:spcBef>
          <a:spcPct val="0"/>
        </a:spcBef>
        <a:buNone/>
        <a:defRPr kumimoji="0" sz="4100" b="1" kern="1200">
          <a:solidFill>
            <a:schemeClr val="tx2"/>
          </a:solidFill>
          <a:effectLst>
            <a:outerShdw blurRad="31750" dist="25400" dir="5400000" algn="tl" rotWithShape="0">
              <a:srgbClr val="000000">
                <a:alpha val="25000"/>
              </a:srgbClr>
            </a:outerShdw>
          </a:effectLst>
          <a:latin typeface="+mj-lt"/>
          <a:ea typeface="+mj-ea"/>
          <a:cs typeface="+mj-cs"/>
        </a:defRPr>
      </a:lvl1pPr>
      <a:extLst/>
    </p:titleStyle>
    <p:body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a:extLst/>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2.xml"/><Relationship Id="rId1" Type="http://schemas.openxmlformats.org/officeDocument/2006/relationships/vmlDrawing" Target="../drawings/vmlDrawing1.vml"/><Relationship Id="rId5" Type="http://schemas.openxmlformats.org/officeDocument/2006/relationships/image" Target="../media/image3.emf"/><Relationship Id="rId4" Type="http://schemas.openxmlformats.org/officeDocument/2006/relationships/oleObject" Target="../embeddings/oleObject1.bin"/></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2.xml"/><Relationship Id="rId1" Type="http://schemas.openxmlformats.org/officeDocument/2006/relationships/vmlDrawing" Target="../drawings/vmlDrawing2.vml"/><Relationship Id="rId5" Type="http://schemas.openxmlformats.org/officeDocument/2006/relationships/image" Target="../media/image4.emf"/><Relationship Id="rId4" Type="http://schemas.openxmlformats.org/officeDocument/2006/relationships/oleObject" Target="../embeddings/oleObject2.bin"/></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2.xml"/><Relationship Id="rId4" Type="http://schemas.openxmlformats.org/officeDocument/2006/relationships/image" Target="../media/image7.png"/></Relationships>
</file>

<file path=ppt/slides/_rels/slide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3.vml"/><Relationship Id="rId5" Type="http://schemas.openxmlformats.org/officeDocument/2006/relationships/image" Target="../media/image9.gif"/><Relationship Id="rId4" Type="http://schemas.openxmlformats.org/officeDocument/2006/relationships/image" Target="../media/image8.emf"/></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5.xml"/><Relationship Id="rId7" Type="http://schemas.openxmlformats.org/officeDocument/2006/relationships/image" Target="../media/image13.emf"/><Relationship Id="rId2" Type="http://schemas.openxmlformats.org/officeDocument/2006/relationships/slideLayout" Target="../slideLayouts/slideLayout7.xml"/><Relationship Id="rId1" Type="http://schemas.openxmlformats.org/officeDocument/2006/relationships/vmlDrawing" Target="../drawings/vmlDrawing4.vml"/><Relationship Id="rId6" Type="http://schemas.openxmlformats.org/officeDocument/2006/relationships/oleObject" Target="../embeddings/oleObject5.bin"/><Relationship Id="rId5" Type="http://schemas.openxmlformats.org/officeDocument/2006/relationships/image" Target="../media/image12.emf"/><Relationship Id="rId4" Type="http://schemas.openxmlformats.org/officeDocument/2006/relationships/oleObject" Target="../embeddings/oleObject4.bin"/></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9.xml"/><Relationship Id="rId1" Type="http://schemas.openxmlformats.org/officeDocument/2006/relationships/slideLayout" Target="../slideLayouts/slideLayout13.xml"/><Relationship Id="rId4" Type="http://schemas.openxmlformats.org/officeDocument/2006/relationships/image" Target="../media/image15.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vmlDrawing" Target="../drawings/vmlDrawing5.vml"/><Relationship Id="rId5" Type="http://schemas.openxmlformats.org/officeDocument/2006/relationships/image" Target="../media/image16.emf"/><Relationship Id="rId4" Type="http://schemas.openxmlformats.org/officeDocument/2006/relationships/oleObject" Target="../embeddings/oleObject6.bin"/></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vmlDrawing" Target="../drawings/vmlDrawing6.vml"/><Relationship Id="rId5" Type="http://schemas.openxmlformats.org/officeDocument/2006/relationships/image" Target="../media/image17.png"/><Relationship Id="rId4" Type="http://schemas.openxmlformats.org/officeDocument/2006/relationships/oleObject" Target="../embeddings/oleObject7.bin"/></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22.xml"/><Relationship Id="rId7" Type="http://schemas.openxmlformats.org/officeDocument/2006/relationships/image" Target="../media/image19.png"/><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oleObject" Target="../embeddings/oleObject9.bin"/><Relationship Id="rId5" Type="http://schemas.openxmlformats.org/officeDocument/2006/relationships/image" Target="../media/image18.png"/><Relationship Id="rId4" Type="http://schemas.openxmlformats.org/officeDocument/2006/relationships/oleObject" Target="../embeddings/oleObject8.bin"/></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Layout" Target="../slideLayouts/slideLayout2.xml"/><Relationship Id="rId1" Type="http://schemas.openxmlformats.org/officeDocument/2006/relationships/vmlDrawing" Target="../drawings/vmlDrawing8.vml"/><Relationship Id="rId4" Type="http://schemas.openxmlformats.org/officeDocument/2006/relationships/image" Target="../media/image18.png"/></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3.xml"/><Relationship Id="rId1" Type="http://schemas.openxmlformats.org/officeDocument/2006/relationships/vmlDrawing" Target="../drawings/vmlDrawing9.vml"/><Relationship Id="rId5" Type="http://schemas.openxmlformats.org/officeDocument/2006/relationships/image" Target="../media/image20.wmf"/><Relationship Id="rId4" Type="http://schemas.openxmlformats.org/officeDocument/2006/relationships/oleObject" Target="../embeddings/oleObject11.bin"/></Relationships>
</file>

<file path=ppt/slides/_rels/slide50.xml.rels><?xml version="1.0" encoding="UTF-8" standalone="yes"?>
<Relationships xmlns="http://schemas.openxmlformats.org/package/2006/relationships"><Relationship Id="rId3" Type="http://schemas.openxmlformats.org/officeDocument/2006/relationships/image" Target="../media/image9.gi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14.xml"/><Relationship Id="rId1" Type="http://schemas.openxmlformats.org/officeDocument/2006/relationships/themeOverride" Target="../theme/themeOverride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vmlDrawing" Target="../drawings/vmlDrawing10.vml"/><Relationship Id="rId5" Type="http://schemas.openxmlformats.org/officeDocument/2006/relationships/image" Target="../media/image21.wmf"/><Relationship Id="rId4" Type="http://schemas.openxmlformats.org/officeDocument/2006/relationships/oleObject" Target="../embeddings/oleObject12.bin"/></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vmlDrawing" Target="../drawings/vmlDrawing11.vml"/><Relationship Id="rId5" Type="http://schemas.openxmlformats.org/officeDocument/2006/relationships/image" Target="../media/image22.wmf"/><Relationship Id="rId4" Type="http://schemas.openxmlformats.org/officeDocument/2006/relationships/oleObject" Target="../embeddings/oleObject13.bin"/></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package" Target="../embeddings/Microsoft_Visio___.vsdx"/><Relationship Id="rId2" Type="http://schemas.openxmlformats.org/officeDocument/2006/relationships/slideLayout" Target="../slideLayouts/slideLayout7.xml"/><Relationship Id="rId1" Type="http://schemas.openxmlformats.org/officeDocument/2006/relationships/vmlDrawing" Target="../drawings/vmlDrawing12.vml"/><Relationship Id="rId4" Type="http://schemas.openxmlformats.org/officeDocument/2006/relationships/image" Target="../media/image25.emf"/></Relationships>
</file>

<file path=ppt/slides/_rels/slide93.xml.rels><?xml version="1.0" encoding="UTF-8" standalone="yes"?>
<Relationships xmlns="http://schemas.openxmlformats.org/package/2006/relationships"><Relationship Id="rId8" Type="http://schemas.openxmlformats.org/officeDocument/2006/relationships/image" Target="../media/image27.emf"/><Relationship Id="rId3" Type="http://schemas.openxmlformats.org/officeDocument/2006/relationships/package" Target="../embeddings/Microsoft_Visio___1.vsdx"/><Relationship Id="rId7" Type="http://schemas.openxmlformats.org/officeDocument/2006/relationships/package" Target="../embeddings/Microsoft_Visio___3.vsdx"/><Relationship Id="rId12" Type="http://schemas.openxmlformats.org/officeDocument/2006/relationships/image" Target="../media/image29.emf"/><Relationship Id="rId2" Type="http://schemas.openxmlformats.org/officeDocument/2006/relationships/slideLayout" Target="../slideLayouts/slideLayout7.xml"/><Relationship Id="rId1" Type="http://schemas.openxmlformats.org/officeDocument/2006/relationships/vmlDrawing" Target="../drawings/vmlDrawing13.vml"/><Relationship Id="rId6" Type="http://schemas.openxmlformats.org/officeDocument/2006/relationships/image" Target="../media/image25.emf"/><Relationship Id="rId11" Type="http://schemas.openxmlformats.org/officeDocument/2006/relationships/package" Target="../embeddings/Microsoft_Visio___5.vsdx"/><Relationship Id="rId5" Type="http://schemas.openxmlformats.org/officeDocument/2006/relationships/package" Target="../embeddings/Microsoft_Visio___2.vsdx"/><Relationship Id="rId10" Type="http://schemas.openxmlformats.org/officeDocument/2006/relationships/image" Target="../media/image28.emf"/><Relationship Id="rId4" Type="http://schemas.openxmlformats.org/officeDocument/2006/relationships/image" Target="../media/image26.emf"/><Relationship Id="rId9" Type="http://schemas.openxmlformats.org/officeDocument/2006/relationships/package" Target="../embeddings/Microsoft_Visio___4.vsdx"/></Relationships>
</file>

<file path=ppt/slides/_rels/slide94.xml.rels><?xml version="1.0" encoding="UTF-8" standalone="yes"?>
<Relationships xmlns="http://schemas.openxmlformats.org/package/2006/relationships"><Relationship Id="rId8" Type="http://schemas.openxmlformats.org/officeDocument/2006/relationships/image" Target="../media/image29.emf"/><Relationship Id="rId3" Type="http://schemas.openxmlformats.org/officeDocument/2006/relationships/package" Target="../embeddings/Microsoft_Visio___6.vsdx"/><Relationship Id="rId7" Type="http://schemas.openxmlformats.org/officeDocument/2006/relationships/package" Target="../embeddings/Microsoft_Visio___54.vsdx"/><Relationship Id="rId2" Type="http://schemas.openxmlformats.org/officeDocument/2006/relationships/slideLayout" Target="../slideLayouts/slideLayout7.xml"/><Relationship Id="rId1" Type="http://schemas.openxmlformats.org/officeDocument/2006/relationships/vmlDrawing" Target="../drawings/vmlDrawing14.vml"/><Relationship Id="rId6" Type="http://schemas.openxmlformats.org/officeDocument/2006/relationships/image" Target="../media/image28.emf"/><Relationship Id="rId5" Type="http://schemas.openxmlformats.org/officeDocument/2006/relationships/package" Target="../embeddings/Microsoft_Visio___43.vsdx"/><Relationship Id="rId10" Type="http://schemas.openxmlformats.org/officeDocument/2006/relationships/image" Target="../media/image31.emf"/><Relationship Id="rId4" Type="http://schemas.openxmlformats.org/officeDocument/2006/relationships/image" Target="../media/image30.emf"/><Relationship Id="rId9" Type="http://schemas.openxmlformats.org/officeDocument/2006/relationships/package" Target="../embeddings/Microsoft_Visio___9.vsdx"/></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2.xml"/><Relationship Id="rId1" Type="http://schemas.openxmlformats.org/officeDocument/2006/relationships/vmlDrawing" Target="../drawings/vmlDrawing15.vml"/><Relationship Id="rId5" Type="http://schemas.openxmlformats.org/officeDocument/2006/relationships/image" Target="../media/image32.emf"/><Relationship Id="rId4" Type="http://schemas.openxmlformats.org/officeDocument/2006/relationships/oleObject" Target="../embeddings/oleObject14.bin"/></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7.xml"/><Relationship Id="rId1" Type="http://schemas.openxmlformats.org/officeDocument/2006/relationships/vmlDrawing" Target="../drawings/vmlDrawing16.vml"/><Relationship Id="rId5" Type="http://schemas.openxmlformats.org/officeDocument/2006/relationships/image" Target="../media/image33.emf"/><Relationship Id="rId4" Type="http://schemas.openxmlformats.org/officeDocument/2006/relationships/package" Target="../embeddings/Microsoft_Visio___10.vsdx"/></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vmlDrawing" Target="../drawings/vmlDrawing17.vml"/><Relationship Id="rId5" Type="http://schemas.openxmlformats.org/officeDocument/2006/relationships/image" Target="../media/image34.emf"/><Relationship Id="rId4" Type="http://schemas.openxmlformats.org/officeDocument/2006/relationships/package" Target="../embeddings/Microsoft_Visio___11.vsdx"/></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package" Target="../embeddings/Microsoft_Visio___12.vsdx"/><Relationship Id="rId2" Type="http://schemas.openxmlformats.org/officeDocument/2006/relationships/slideLayout" Target="../slideLayouts/slideLayout2.xml"/><Relationship Id="rId1" Type="http://schemas.openxmlformats.org/officeDocument/2006/relationships/vmlDrawing" Target="../drawings/vmlDrawing18.vml"/><Relationship Id="rId4" Type="http://schemas.openxmlformats.org/officeDocument/2006/relationships/image" Target="../media/image35.emf"/></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package" Target="../embeddings/Microsoft_Visio___13.vsdx"/><Relationship Id="rId2" Type="http://schemas.openxmlformats.org/officeDocument/2006/relationships/slideLayout" Target="../slideLayouts/slideLayout2.xml"/><Relationship Id="rId1" Type="http://schemas.openxmlformats.org/officeDocument/2006/relationships/vmlDrawing" Target="../drawings/vmlDrawing19.vml"/><Relationship Id="rId4" Type="http://schemas.openxmlformats.org/officeDocument/2006/relationships/image" Target="../media/image36.emf"/></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vmlDrawing" Target="../drawings/vmlDrawing20.vml"/><Relationship Id="rId5" Type="http://schemas.openxmlformats.org/officeDocument/2006/relationships/image" Target="../media/image37.png"/><Relationship Id="rId4" Type="http://schemas.openxmlformats.org/officeDocument/2006/relationships/oleObject" Target="../embeddings/oleObject15.bin"/></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2.xml"/><Relationship Id="rId1" Type="http://schemas.openxmlformats.org/officeDocument/2006/relationships/vmlDrawing" Target="../drawings/vmlDrawing21.vml"/><Relationship Id="rId4" Type="http://schemas.openxmlformats.org/officeDocument/2006/relationships/image" Target="../media/image37.png"/></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2.xml"/><Relationship Id="rId1" Type="http://schemas.openxmlformats.org/officeDocument/2006/relationships/themeOverride" Target="../theme/themeOverride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hyperlink" Target="https://blog.csdn.net/lusic01/article/details/80735850" TargetMode="External"/><Relationship Id="rId2" Type="http://schemas.openxmlformats.org/officeDocument/2006/relationships/hyperlink" Target="https://www.cnblogs.com/suhaha/p/11733487.html" TargetMode="Externa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8" Type="http://schemas.openxmlformats.org/officeDocument/2006/relationships/oleObject" Target="../embeddings/oleObject19.bin"/><Relationship Id="rId13" Type="http://schemas.openxmlformats.org/officeDocument/2006/relationships/image" Target="../media/image43.wmf"/><Relationship Id="rId18" Type="http://schemas.openxmlformats.org/officeDocument/2006/relationships/oleObject" Target="../embeddings/oleObject24.bin"/><Relationship Id="rId3" Type="http://schemas.openxmlformats.org/officeDocument/2006/relationships/notesSlide" Target="../notesSlides/notesSlide62.xml"/><Relationship Id="rId7" Type="http://schemas.openxmlformats.org/officeDocument/2006/relationships/image" Target="../media/image40.wmf"/><Relationship Id="rId12" Type="http://schemas.openxmlformats.org/officeDocument/2006/relationships/oleObject" Target="../embeddings/oleObject21.bin"/><Relationship Id="rId17" Type="http://schemas.openxmlformats.org/officeDocument/2006/relationships/image" Target="../media/image45.wmf"/><Relationship Id="rId2" Type="http://schemas.openxmlformats.org/officeDocument/2006/relationships/slideLayout" Target="../slideLayouts/slideLayout2.xml"/><Relationship Id="rId16" Type="http://schemas.openxmlformats.org/officeDocument/2006/relationships/oleObject" Target="../embeddings/oleObject23.bin"/><Relationship Id="rId1" Type="http://schemas.openxmlformats.org/officeDocument/2006/relationships/vmlDrawing" Target="../drawings/vmlDrawing22.vml"/><Relationship Id="rId6" Type="http://schemas.openxmlformats.org/officeDocument/2006/relationships/oleObject" Target="../embeddings/oleObject18.bin"/><Relationship Id="rId11" Type="http://schemas.openxmlformats.org/officeDocument/2006/relationships/image" Target="../media/image42.wmf"/><Relationship Id="rId5" Type="http://schemas.openxmlformats.org/officeDocument/2006/relationships/image" Target="../media/image39.wmf"/><Relationship Id="rId15" Type="http://schemas.openxmlformats.org/officeDocument/2006/relationships/image" Target="../media/image44.wmf"/><Relationship Id="rId10" Type="http://schemas.openxmlformats.org/officeDocument/2006/relationships/oleObject" Target="../embeddings/oleObject20.bin"/><Relationship Id="rId19" Type="http://schemas.openxmlformats.org/officeDocument/2006/relationships/image" Target="../media/image46.wmf"/><Relationship Id="rId4" Type="http://schemas.openxmlformats.org/officeDocument/2006/relationships/oleObject" Target="../embeddings/oleObject17.bin"/><Relationship Id="rId9" Type="http://schemas.openxmlformats.org/officeDocument/2006/relationships/image" Target="../media/image41.wmf"/><Relationship Id="rId14" Type="http://schemas.openxmlformats.org/officeDocument/2006/relationships/oleObject" Target="../embeddings/oleObject22.bin"/></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2.xml"/><Relationship Id="rId1" Type="http://schemas.openxmlformats.org/officeDocument/2006/relationships/vmlDrawing" Target="../drawings/vmlDrawing23.vml"/><Relationship Id="rId5" Type="http://schemas.openxmlformats.org/officeDocument/2006/relationships/image" Target="../media/image47.emf"/><Relationship Id="rId4" Type="http://schemas.openxmlformats.org/officeDocument/2006/relationships/oleObject" Target="../embeddings/oleObject25.bin"/></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2.xml"/><Relationship Id="rId1" Type="http://schemas.openxmlformats.org/officeDocument/2006/relationships/vmlDrawing" Target="../drawings/vmlDrawing24.vml"/><Relationship Id="rId5" Type="http://schemas.openxmlformats.org/officeDocument/2006/relationships/image" Target="../media/image47.emf"/><Relationship Id="rId4" Type="http://schemas.openxmlformats.org/officeDocument/2006/relationships/oleObject" Target="../embeddings/oleObject26.bin"/></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8" Type="http://schemas.openxmlformats.org/officeDocument/2006/relationships/oleObject" Target="../embeddings/oleObject29.bin"/><Relationship Id="rId3" Type="http://schemas.openxmlformats.org/officeDocument/2006/relationships/notesSlide" Target="../notesSlides/notesSlide78.xml"/><Relationship Id="rId7" Type="http://schemas.openxmlformats.org/officeDocument/2006/relationships/image" Target="../media/image49.png"/><Relationship Id="rId2" Type="http://schemas.openxmlformats.org/officeDocument/2006/relationships/slideLayout" Target="../slideLayouts/slideLayout2.xml"/><Relationship Id="rId1" Type="http://schemas.openxmlformats.org/officeDocument/2006/relationships/vmlDrawing" Target="../drawings/vmlDrawing25.vml"/><Relationship Id="rId6" Type="http://schemas.openxmlformats.org/officeDocument/2006/relationships/oleObject" Target="../embeddings/oleObject28.bin"/><Relationship Id="rId5" Type="http://schemas.openxmlformats.org/officeDocument/2006/relationships/image" Target="../media/image48.png"/><Relationship Id="rId4" Type="http://schemas.openxmlformats.org/officeDocument/2006/relationships/oleObject" Target="../embeddings/oleObject27.bin"/><Relationship Id="rId9" Type="http://schemas.openxmlformats.org/officeDocument/2006/relationships/image" Target="../media/image50.png"/></Relationships>
</file>

<file path=ppt/slides/_rels/slide153.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notesSlide" Target="../notesSlides/notesSlide79.xml"/><Relationship Id="rId7" Type="http://schemas.openxmlformats.org/officeDocument/2006/relationships/image" Target="../media/image50.png"/><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oleObject" Target="../embeddings/oleObject31.bin"/><Relationship Id="rId5" Type="http://schemas.openxmlformats.org/officeDocument/2006/relationships/image" Target="../media/image49.png"/><Relationship Id="rId4" Type="http://schemas.openxmlformats.org/officeDocument/2006/relationships/oleObject" Target="../embeddings/oleObject30.bin"/><Relationship Id="rId9" Type="http://schemas.openxmlformats.org/officeDocument/2006/relationships/image" Target="../media/image48.png"/></Relationships>
</file>

<file path=ppt/slides/_rels/slide154.xml.rels><?xml version="1.0" encoding="UTF-8" standalone="yes"?>
<Relationships xmlns="http://schemas.openxmlformats.org/package/2006/relationships"><Relationship Id="rId8" Type="http://schemas.openxmlformats.org/officeDocument/2006/relationships/oleObject" Target="../embeddings/oleObject35.bin"/><Relationship Id="rId13" Type="http://schemas.openxmlformats.org/officeDocument/2006/relationships/oleObject" Target="../embeddings/oleObject39.bin"/><Relationship Id="rId3" Type="http://schemas.openxmlformats.org/officeDocument/2006/relationships/notesSlide" Target="../notesSlides/notesSlide80.xml"/><Relationship Id="rId7" Type="http://schemas.openxmlformats.org/officeDocument/2006/relationships/image" Target="../media/image49.png"/><Relationship Id="rId12" Type="http://schemas.openxmlformats.org/officeDocument/2006/relationships/oleObject" Target="../embeddings/oleObject38.bin"/><Relationship Id="rId2" Type="http://schemas.openxmlformats.org/officeDocument/2006/relationships/slideLayout" Target="../slideLayouts/slideLayout2.xml"/><Relationship Id="rId1" Type="http://schemas.openxmlformats.org/officeDocument/2006/relationships/vmlDrawing" Target="../drawings/vmlDrawing27.vml"/><Relationship Id="rId6" Type="http://schemas.openxmlformats.org/officeDocument/2006/relationships/oleObject" Target="../embeddings/oleObject34.bin"/><Relationship Id="rId11" Type="http://schemas.openxmlformats.org/officeDocument/2006/relationships/oleObject" Target="../embeddings/oleObject37.bin"/><Relationship Id="rId5" Type="http://schemas.openxmlformats.org/officeDocument/2006/relationships/image" Target="../media/image48.png"/><Relationship Id="rId10" Type="http://schemas.openxmlformats.org/officeDocument/2006/relationships/oleObject" Target="../embeddings/oleObject36.bin"/><Relationship Id="rId4" Type="http://schemas.openxmlformats.org/officeDocument/2006/relationships/oleObject" Target="../embeddings/oleObject33.bin"/><Relationship Id="rId9" Type="http://schemas.openxmlformats.org/officeDocument/2006/relationships/image" Target="../media/image50.png"/><Relationship Id="rId14" Type="http://schemas.openxmlformats.org/officeDocument/2006/relationships/oleObject" Target="../embeddings/oleObject40.bin"/></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8" Type="http://schemas.openxmlformats.org/officeDocument/2006/relationships/oleObject" Target="../embeddings/oleObject42.bin"/><Relationship Id="rId13" Type="http://schemas.openxmlformats.org/officeDocument/2006/relationships/oleObject" Target="../embeddings/oleObject45.bin"/><Relationship Id="rId18" Type="http://schemas.openxmlformats.org/officeDocument/2006/relationships/image" Target="../media/image50.png"/><Relationship Id="rId3" Type="http://schemas.openxmlformats.org/officeDocument/2006/relationships/notesSlide" Target="../notesSlides/notesSlide83.xml"/><Relationship Id="rId7" Type="http://schemas.openxmlformats.org/officeDocument/2006/relationships/image" Target="../media/image51.png"/><Relationship Id="rId12" Type="http://schemas.openxmlformats.org/officeDocument/2006/relationships/image" Target="../media/image53.png"/><Relationship Id="rId17" Type="http://schemas.openxmlformats.org/officeDocument/2006/relationships/oleObject" Target="../embeddings/oleObject47.bin"/><Relationship Id="rId2" Type="http://schemas.openxmlformats.org/officeDocument/2006/relationships/slideLayout" Target="../slideLayouts/slideLayout12.xml"/><Relationship Id="rId16" Type="http://schemas.openxmlformats.org/officeDocument/2006/relationships/image" Target="../media/image48.png"/><Relationship Id="rId20" Type="http://schemas.openxmlformats.org/officeDocument/2006/relationships/oleObject" Target="../embeddings/oleObject49.bin"/><Relationship Id="rId1" Type="http://schemas.openxmlformats.org/officeDocument/2006/relationships/vmlDrawing" Target="../drawings/vmlDrawing28.vml"/><Relationship Id="rId6" Type="http://schemas.openxmlformats.org/officeDocument/2006/relationships/oleObject" Target="../embeddings/oleObject41.bin"/><Relationship Id="rId11" Type="http://schemas.openxmlformats.org/officeDocument/2006/relationships/oleObject" Target="../embeddings/oleObject44.bin"/><Relationship Id="rId5" Type="http://schemas.openxmlformats.org/officeDocument/2006/relationships/image" Target="../media/image55.png"/><Relationship Id="rId15" Type="http://schemas.openxmlformats.org/officeDocument/2006/relationships/oleObject" Target="../embeddings/oleObject46.bin"/><Relationship Id="rId10" Type="http://schemas.openxmlformats.org/officeDocument/2006/relationships/image" Target="../media/image52.png"/><Relationship Id="rId19" Type="http://schemas.openxmlformats.org/officeDocument/2006/relationships/oleObject" Target="../embeddings/oleObject48.bin"/><Relationship Id="rId4" Type="http://schemas.openxmlformats.org/officeDocument/2006/relationships/image" Target="../media/image54.png"/><Relationship Id="rId9" Type="http://schemas.openxmlformats.org/officeDocument/2006/relationships/oleObject" Target="../embeddings/oleObject43.bin"/><Relationship Id="rId14" Type="http://schemas.openxmlformats.org/officeDocument/2006/relationships/image" Target="../media/image49.png"/></Relationships>
</file>

<file path=ppt/slides/_rels/slide160.xml.rels><?xml version="1.0" encoding="UTF-8" standalone="yes"?>
<Relationships xmlns="http://schemas.openxmlformats.org/package/2006/relationships"><Relationship Id="rId8" Type="http://schemas.openxmlformats.org/officeDocument/2006/relationships/image" Target="../media/image49.png"/><Relationship Id="rId13" Type="http://schemas.openxmlformats.org/officeDocument/2006/relationships/oleObject" Target="../embeddings/oleObject56.bin"/><Relationship Id="rId3" Type="http://schemas.openxmlformats.org/officeDocument/2006/relationships/notesSlide" Target="../notesSlides/notesSlide84.xml"/><Relationship Id="rId7" Type="http://schemas.openxmlformats.org/officeDocument/2006/relationships/oleObject" Target="../embeddings/oleObject52.bin"/><Relationship Id="rId12" Type="http://schemas.openxmlformats.org/officeDocument/2006/relationships/oleObject" Target="../embeddings/oleObject55.bin"/><Relationship Id="rId2" Type="http://schemas.openxmlformats.org/officeDocument/2006/relationships/slideLayout" Target="../slideLayouts/slideLayout12.xml"/><Relationship Id="rId1" Type="http://schemas.openxmlformats.org/officeDocument/2006/relationships/vmlDrawing" Target="../drawings/vmlDrawing29.vml"/><Relationship Id="rId6" Type="http://schemas.openxmlformats.org/officeDocument/2006/relationships/oleObject" Target="../embeddings/oleObject51.bin"/><Relationship Id="rId11" Type="http://schemas.openxmlformats.org/officeDocument/2006/relationships/oleObject" Target="../embeddings/oleObject54.bin"/><Relationship Id="rId5" Type="http://schemas.openxmlformats.org/officeDocument/2006/relationships/image" Target="../media/image48.png"/><Relationship Id="rId10" Type="http://schemas.openxmlformats.org/officeDocument/2006/relationships/image" Target="../media/image50.png"/><Relationship Id="rId4" Type="http://schemas.openxmlformats.org/officeDocument/2006/relationships/oleObject" Target="../embeddings/oleObject50.bin"/><Relationship Id="rId9" Type="http://schemas.openxmlformats.org/officeDocument/2006/relationships/oleObject" Target="../embeddings/oleObject53.bin"/><Relationship Id="rId14" Type="http://schemas.openxmlformats.org/officeDocument/2006/relationships/oleObject" Target="../embeddings/oleObject57.bin"/></Relationships>
</file>

<file path=ppt/slides/_rels/slide161.xml.rels><?xml version="1.0" encoding="UTF-8" standalone="yes"?>
<Relationships xmlns="http://schemas.openxmlformats.org/package/2006/relationships"><Relationship Id="rId8" Type="http://schemas.openxmlformats.org/officeDocument/2006/relationships/oleObject" Target="../embeddings/oleObject60.bin"/><Relationship Id="rId3" Type="http://schemas.openxmlformats.org/officeDocument/2006/relationships/notesSlide" Target="../notesSlides/notesSlide85.xml"/><Relationship Id="rId7" Type="http://schemas.openxmlformats.org/officeDocument/2006/relationships/image" Target="../media/image49.png"/><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oleObject" Target="../embeddings/oleObject59.bin"/><Relationship Id="rId5" Type="http://schemas.openxmlformats.org/officeDocument/2006/relationships/image" Target="../media/image48.png"/><Relationship Id="rId10" Type="http://schemas.openxmlformats.org/officeDocument/2006/relationships/image" Target="../media/image50.png"/><Relationship Id="rId4" Type="http://schemas.openxmlformats.org/officeDocument/2006/relationships/oleObject" Target="../embeddings/oleObject58.bin"/><Relationship Id="rId9" Type="http://schemas.openxmlformats.org/officeDocument/2006/relationships/oleObject" Target="../embeddings/oleObject61.bin"/></Relationships>
</file>

<file path=ppt/slides/_rels/slide162.xml.rels><?xml version="1.0" encoding="UTF-8" standalone="yes"?>
<Relationships xmlns="http://schemas.openxmlformats.org/package/2006/relationships"><Relationship Id="rId8" Type="http://schemas.openxmlformats.org/officeDocument/2006/relationships/oleObject" Target="../embeddings/oleObject64.bin"/><Relationship Id="rId3" Type="http://schemas.openxmlformats.org/officeDocument/2006/relationships/notesSlide" Target="../notesSlides/notesSlide86.xml"/><Relationship Id="rId7" Type="http://schemas.openxmlformats.org/officeDocument/2006/relationships/image" Target="../media/image48.png"/><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oleObject" Target="../embeddings/oleObject63.bin"/><Relationship Id="rId5" Type="http://schemas.openxmlformats.org/officeDocument/2006/relationships/image" Target="../media/image49.png"/><Relationship Id="rId10" Type="http://schemas.openxmlformats.org/officeDocument/2006/relationships/oleObject" Target="../embeddings/oleObject65.bin"/><Relationship Id="rId4" Type="http://schemas.openxmlformats.org/officeDocument/2006/relationships/oleObject" Target="../embeddings/oleObject62.bin"/><Relationship Id="rId9" Type="http://schemas.openxmlformats.org/officeDocument/2006/relationships/image" Target="../media/image50.png"/></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2.xml"/><Relationship Id="rId1" Type="http://schemas.openxmlformats.org/officeDocument/2006/relationships/slideLayout" Target="../slideLayouts/slideLayout2.xml"/><Relationship Id="rId5" Type="http://schemas.openxmlformats.org/officeDocument/2006/relationships/image" Target="../media/image58.png"/><Relationship Id="rId4" Type="http://schemas.openxmlformats.org/officeDocument/2006/relationships/image" Target="../media/image57.png"/></Relationships>
</file>

<file path=ppt/slides/_rels/slide169.xml.rels><?xml version="1.0" encoding="UTF-8" standalone="yes"?>
<Relationships xmlns="http://schemas.openxmlformats.org/package/2006/relationships"><Relationship Id="rId8" Type="http://schemas.openxmlformats.org/officeDocument/2006/relationships/oleObject" Target="../embeddings/oleObject68.bin"/><Relationship Id="rId3" Type="http://schemas.openxmlformats.org/officeDocument/2006/relationships/notesSlide" Target="../notesSlides/notesSlide93.xml"/><Relationship Id="rId7" Type="http://schemas.openxmlformats.org/officeDocument/2006/relationships/image" Target="../media/image60.png"/><Relationship Id="rId2" Type="http://schemas.openxmlformats.org/officeDocument/2006/relationships/slideLayout" Target="../slideLayouts/slideLayout2.xml"/><Relationship Id="rId1" Type="http://schemas.openxmlformats.org/officeDocument/2006/relationships/vmlDrawing" Target="../drawings/vmlDrawing32.vml"/><Relationship Id="rId6" Type="http://schemas.openxmlformats.org/officeDocument/2006/relationships/oleObject" Target="../embeddings/oleObject67.bin"/><Relationship Id="rId5" Type="http://schemas.openxmlformats.org/officeDocument/2006/relationships/image" Target="../media/image59.png"/><Relationship Id="rId10" Type="http://schemas.openxmlformats.org/officeDocument/2006/relationships/oleObject" Target="../embeddings/oleObject69.bin"/><Relationship Id="rId4" Type="http://schemas.openxmlformats.org/officeDocument/2006/relationships/oleObject" Target="../embeddings/oleObject66.bin"/><Relationship Id="rId9" Type="http://schemas.openxmlformats.org/officeDocument/2006/relationships/image" Target="../media/image50.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2.xml"/><Relationship Id="rId1" Type="http://schemas.openxmlformats.org/officeDocument/2006/relationships/vmlDrawing" Target="../drawings/vmlDrawing33.vml"/><Relationship Id="rId5" Type="http://schemas.openxmlformats.org/officeDocument/2006/relationships/image" Target="../media/image61.emf"/><Relationship Id="rId4" Type="http://schemas.openxmlformats.org/officeDocument/2006/relationships/oleObject" Target="../embeddings/oleObject70.bin"/></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8" Type="http://schemas.openxmlformats.org/officeDocument/2006/relationships/oleObject" Target="../embeddings/oleObject73.bin"/><Relationship Id="rId13" Type="http://schemas.openxmlformats.org/officeDocument/2006/relationships/oleObject" Target="../embeddings/oleObject75.bin"/><Relationship Id="rId3" Type="http://schemas.openxmlformats.org/officeDocument/2006/relationships/notesSlide" Target="../notesSlides/notesSlide99.xml"/><Relationship Id="rId7" Type="http://schemas.openxmlformats.org/officeDocument/2006/relationships/image" Target="../media/image60.png"/><Relationship Id="rId12" Type="http://schemas.openxmlformats.org/officeDocument/2006/relationships/image" Target="../media/image62.emf"/><Relationship Id="rId2" Type="http://schemas.openxmlformats.org/officeDocument/2006/relationships/slideLayout" Target="../slideLayouts/slideLayout14.xml"/><Relationship Id="rId1" Type="http://schemas.openxmlformats.org/officeDocument/2006/relationships/vmlDrawing" Target="../drawings/vmlDrawing34.vml"/><Relationship Id="rId6" Type="http://schemas.openxmlformats.org/officeDocument/2006/relationships/oleObject" Target="../embeddings/oleObject72.bin"/><Relationship Id="rId11" Type="http://schemas.openxmlformats.org/officeDocument/2006/relationships/oleObject" Target="../embeddings/oleObject74.bin"/><Relationship Id="rId5" Type="http://schemas.openxmlformats.org/officeDocument/2006/relationships/image" Target="../media/image59.png"/><Relationship Id="rId15" Type="http://schemas.openxmlformats.org/officeDocument/2006/relationships/oleObject" Target="../embeddings/oleObject77.bin"/><Relationship Id="rId10" Type="http://schemas.openxmlformats.org/officeDocument/2006/relationships/image" Target="../media/image58.png"/><Relationship Id="rId4" Type="http://schemas.openxmlformats.org/officeDocument/2006/relationships/oleObject" Target="../embeddings/oleObject71.bin"/><Relationship Id="rId9" Type="http://schemas.openxmlformats.org/officeDocument/2006/relationships/image" Target="../media/image50.png"/><Relationship Id="rId14" Type="http://schemas.openxmlformats.org/officeDocument/2006/relationships/oleObject" Target="../embeddings/oleObject76.bin"/></Relationships>
</file>

<file path=ppt/slides/_rels/slide179.xml.rels><?xml version="1.0" encoding="UTF-8" standalone="yes"?>
<Relationships xmlns="http://schemas.openxmlformats.org/package/2006/relationships"><Relationship Id="rId8" Type="http://schemas.openxmlformats.org/officeDocument/2006/relationships/oleObject" Target="../embeddings/oleObject80.bin"/><Relationship Id="rId13" Type="http://schemas.openxmlformats.org/officeDocument/2006/relationships/image" Target="../media/image59.png"/><Relationship Id="rId3" Type="http://schemas.openxmlformats.org/officeDocument/2006/relationships/notesSlide" Target="../notesSlides/notesSlide100.xml"/><Relationship Id="rId7" Type="http://schemas.openxmlformats.org/officeDocument/2006/relationships/image" Target="../media/image64.emf"/><Relationship Id="rId12" Type="http://schemas.openxmlformats.org/officeDocument/2006/relationships/oleObject" Target="../embeddings/oleObject82.bin"/><Relationship Id="rId2" Type="http://schemas.openxmlformats.org/officeDocument/2006/relationships/slideLayout" Target="../slideLayouts/slideLayout2.xml"/><Relationship Id="rId1" Type="http://schemas.openxmlformats.org/officeDocument/2006/relationships/vmlDrawing" Target="../drawings/vmlDrawing35.vml"/><Relationship Id="rId6" Type="http://schemas.openxmlformats.org/officeDocument/2006/relationships/oleObject" Target="../embeddings/oleObject79.bin"/><Relationship Id="rId11" Type="http://schemas.openxmlformats.org/officeDocument/2006/relationships/image" Target="../media/image60.png"/><Relationship Id="rId5" Type="http://schemas.openxmlformats.org/officeDocument/2006/relationships/image" Target="../media/image63.emf"/><Relationship Id="rId10" Type="http://schemas.openxmlformats.org/officeDocument/2006/relationships/oleObject" Target="../embeddings/oleObject81.bin"/><Relationship Id="rId4" Type="http://schemas.openxmlformats.org/officeDocument/2006/relationships/oleObject" Target="../embeddings/oleObject78.bin"/><Relationship Id="rId9" Type="http://schemas.openxmlformats.org/officeDocument/2006/relationships/image" Target="../media/image50.png"/></Relationships>
</file>

<file path=ppt/slides/_rels/slide180.xml.rels><?xml version="1.0" encoding="UTF-8" standalone="yes"?>
<Relationships xmlns="http://schemas.openxmlformats.org/package/2006/relationships"><Relationship Id="rId8" Type="http://schemas.openxmlformats.org/officeDocument/2006/relationships/oleObject" Target="../embeddings/oleObject85.bin"/><Relationship Id="rId13" Type="http://schemas.openxmlformats.org/officeDocument/2006/relationships/oleObject" Target="../embeddings/oleObject88.bin"/><Relationship Id="rId3" Type="http://schemas.openxmlformats.org/officeDocument/2006/relationships/notesSlide" Target="../notesSlides/notesSlide101.xml"/><Relationship Id="rId7" Type="http://schemas.openxmlformats.org/officeDocument/2006/relationships/image" Target="../media/image60.png"/><Relationship Id="rId12" Type="http://schemas.openxmlformats.org/officeDocument/2006/relationships/oleObject" Target="../embeddings/oleObject87.bin"/><Relationship Id="rId2" Type="http://schemas.openxmlformats.org/officeDocument/2006/relationships/slideLayout" Target="../slideLayouts/slideLayout2.xml"/><Relationship Id="rId1" Type="http://schemas.openxmlformats.org/officeDocument/2006/relationships/vmlDrawing" Target="../drawings/vmlDrawing36.vml"/><Relationship Id="rId6" Type="http://schemas.openxmlformats.org/officeDocument/2006/relationships/oleObject" Target="../embeddings/oleObject84.bin"/><Relationship Id="rId11" Type="http://schemas.openxmlformats.org/officeDocument/2006/relationships/image" Target="../media/image50.png"/><Relationship Id="rId5" Type="http://schemas.openxmlformats.org/officeDocument/2006/relationships/image" Target="../media/image59.png"/><Relationship Id="rId10" Type="http://schemas.openxmlformats.org/officeDocument/2006/relationships/oleObject" Target="../embeddings/oleObject86.bin"/><Relationship Id="rId4" Type="http://schemas.openxmlformats.org/officeDocument/2006/relationships/oleObject" Target="../embeddings/oleObject83.bin"/><Relationship Id="rId9" Type="http://schemas.openxmlformats.org/officeDocument/2006/relationships/image" Target="../media/image64.emf"/></Relationships>
</file>

<file path=ppt/slides/_rels/slide181.xml.rels><?xml version="1.0" encoding="UTF-8" standalone="yes"?>
<Relationships xmlns="http://schemas.openxmlformats.org/package/2006/relationships"><Relationship Id="rId8" Type="http://schemas.openxmlformats.org/officeDocument/2006/relationships/oleObject" Target="../embeddings/oleObject91.bin"/><Relationship Id="rId3" Type="http://schemas.openxmlformats.org/officeDocument/2006/relationships/notesSlide" Target="../notesSlides/notesSlide102.xml"/><Relationship Id="rId7" Type="http://schemas.openxmlformats.org/officeDocument/2006/relationships/image" Target="../media/image60.png"/><Relationship Id="rId12" Type="http://schemas.openxmlformats.org/officeDocument/2006/relationships/oleObject" Target="../embeddings/oleObject93.bin"/><Relationship Id="rId2" Type="http://schemas.openxmlformats.org/officeDocument/2006/relationships/slideLayout" Target="../slideLayouts/slideLayout2.xml"/><Relationship Id="rId1" Type="http://schemas.openxmlformats.org/officeDocument/2006/relationships/vmlDrawing" Target="../drawings/vmlDrawing37.vml"/><Relationship Id="rId6" Type="http://schemas.openxmlformats.org/officeDocument/2006/relationships/oleObject" Target="../embeddings/oleObject90.bin"/><Relationship Id="rId11" Type="http://schemas.openxmlformats.org/officeDocument/2006/relationships/image" Target="../media/image64.emf"/><Relationship Id="rId5" Type="http://schemas.openxmlformats.org/officeDocument/2006/relationships/image" Target="../media/image59.png"/><Relationship Id="rId10" Type="http://schemas.openxmlformats.org/officeDocument/2006/relationships/oleObject" Target="../embeddings/oleObject92.bin"/><Relationship Id="rId4" Type="http://schemas.openxmlformats.org/officeDocument/2006/relationships/oleObject" Target="../embeddings/oleObject89.bin"/><Relationship Id="rId9" Type="http://schemas.openxmlformats.org/officeDocument/2006/relationships/image" Target="../media/image50.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8" Type="http://schemas.openxmlformats.org/officeDocument/2006/relationships/oleObject" Target="../embeddings/oleObject96.bin"/><Relationship Id="rId3" Type="http://schemas.openxmlformats.org/officeDocument/2006/relationships/notesSlide" Target="../notesSlides/notesSlide108.xml"/><Relationship Id="rId7" Type="http://schemas.openxmlformats.org/officeDocument/2006/relationships/image" Target="../media/image60.png"/><Relationship Id="rId2" Type="http://schemas.openxmlformats.org/officeDocument/2006/relationships/slideLayout" Target="../slideLayouts/slideLayout2.xml"/><Relationship Id="rId1" Type="http://schemas.openxmlformats.org/officeDocument/2006/relationships/vmlDrawing" Target="../drawings/vmlDrawing38.vml"/><Relationship Id="rId6" Type="http://schemas.openxmlformats.org/officeDocument/2006/relationships/oleObject" Target="../embeddings/oleObject95.bin"/><Relationship Id="rId5" Type="http://schemas.openxmlformats.org/officeDocument/2006/relationships/image" Target="../media/image59.png"/><Relationship Id="rId4" Type="http://schemas.openxmlformats.org/officeDocument/2006/relationships/oleObject" Target="../embeddings/oleObject94.bin"/><Relationship Id="rId9" Type="http://schemas.openxmlformats.org/officeDocument/2006/relationships/image" Target="../media/image50.png"/></Relationships>
</file>

<file path=ppt/slides/_rels/slide18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8" Type="http://schemas.openxmlformats.org/officeDocument/2006/relationships/oleObject" Target="../embeddings/oleObject99.bin"/><Relationship Id="rId3" Type="http://schemas.openxmlformats.org/officeDocument/2006/relationships/notesSlide" Target="../notesSlides/notesSlide109.xml"/><Relationship Id="rId7" Type="http://schemas.openxmlformats.org/officeDocument/2006/relationships/image" Target="../media/image60.png"/><Relationship Id="rId2" Type="http://schemas.openxmlformats.org/officeDocument/2006/relationships/slideLayout" Target="../slideLayouts/slideLayout2.xml"/><Relationship Id="rId1" Type="http://schemas.openxmlformats.org/officeDocument/2006/relationships/vmlDrawing" Target="../drawings/vmlDrawing39.vml"/><Relationship Id="rId6" Type="http://schemas.openxmlformats.org/officeDocument/2006/relationships/oleObject" Target="../embeddings/oleObject98.bin"/><Relationship Id="rId5" Type="http://schemas.openxmlformats.org/officeDocument/2006/relationships/image" Target="../media/image59.png"/><Relationship Id="rId10" Type="http://schemas.openxmlformats.org/officeDocument/2006/relationships/oleObject" Target="../embeddings/oleObject100.bin"/><Relationship Id="rId4" Type="http://schemas.openxmlformats.org/officeDocument/2006/relationships/oleObject" Target="../embeddings/oleObject97.bin"/><Relationship Id="rId9" Type="http://schemas.openxmlformats.org/officeDocument/2006/relationships/image" Target="../media/image50.png"/></Relationships>
</file>

<file path=ppt/slides/_rels/slide191.xml.rels><?xml version="1.0" encoding="UTF-8" standalone="yes"?>
<Relationships xmlns="http://schemas.openxmlformats.org/package/2006/relationships"><Relationship Id="rId8" Type="http://schemas.openxmlformats.org/officeDocument/2006/relationships/oleObject" Target="../embeddings/oleObject103.bin"/><Relationship Id="rId3" Type="http://schemas.openxmlformats.org/officeDocument/2006/relationships/notesSlide" Target="../notesSlides/notesSlide110.xml"/><Relationship Id="rId7" Type="http://schemas.openxmlformats.org/officeDocument/2006/relationships/image" Target="../media/image68.emf"/><Relationship Id="rId2" Type="http://schemas.openxmlformats.org/officeDocument/2006/relationships/slideLayout" Target="../slideLayouts/slideLayout2.xml"/><Relationship Id="rId1" Type="http://schemas.openxmlformats.org/officeDocument/2006/relationships/vmlDrawing" Target="../drawings/vmlDrawing40.vml"/><Relationship Id="rId6" Type="http://schemas.openxmlformats.org/officeDocument/2006/relationships/oleObject" Target="../embeddings/oleObject102.bin"/><Relationship Id="rId5" Type="http://schemas.openxmlformats.org/officeDocument/2006/relationships/image" Target="../media/image67.emf"/><Relationship Id="rId4" Type="http://schemas.openxmlformats.org/officeDocument/2006/relationships/oleObject" Target="../embeddings/oleObject101.bin"/><Relationship Id="rId9" Type="http://schemas.openxmlformats.org/officeDocument/2006/relationships/image" Target="../media/image69.wmf"/></Relationships>
</file>

<file path=ppt/slides/_rels/slide192.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2.xml"/><Relationship Id="rId1" Type="http://schemas.openxmlformats.org/officeDocument/2006/relationships/vmlDrawing" Target="../drawings/vmlDrawing41.vml"/><Relationship Id="rId5" Type="http://schemas.openxmlformats.org/officeDocument/2006/relationships/image" Target="../media/image70.wmf"/><Relationship Id="rId4" Type="http://schemas.openxmlformats.org/officeDocument/2006/relationships/oleObject" Target="../embeddings/oleObject104.bin"/></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2.xml"/><Relationship Id="rId1" Type="http://schemas.openxmlformats.org/officeDocument/2006/relationships/vmlDrawing" Target="../drawings/vmlDrawing42.vml"/><Relationship Id="rId5" Type="http://schemas.openxmlformats.org/officeDocument/2006/relationships/image" Target="../media/image47.emf"/><Relationship Id="rId4" Type="http://schemas.openxmlformats.org/officeDocument/2006/relationships/oleObject" Target="../embeddings/oleObject105.bin"/></Relationships>
</file>

<file path=ppt/slides/_rels/slide203.xml.rels><?xml version="1.0" encoding="UTF-8" standalone="yes"?>
<Relationships xmlns="http://schemas.openxmlformats.org/package/2006/relationships"><Relationship Id="rId8" Type="http://schemas.openxmlformats.org/officeDocument/2006/relationships/image" Target="../media/image73.jpeg"/><Relationship Id="rId3" Type="http://schemas.openxmlformats.org/officeDocument/2006/relationships/hyperlink" Target="https://baike.baidu.com/item/%E5%9B%BE%E7%81%B5%E5%A5%96" TargetMode="External"/><Relationship Id="rId7" Type="http://schemas.openxmlformats.org/officeDocument/2006/relationships/image" Target="../media/image72.png"/><Relationship Id="rId2" Type="http://schemas.openxmlformats.org/officeDocument/2006/relationships/notesSlide" Target="../notesSlides/notesSlide121.xml"/><Relationship Id="rId1" Type="http://schemas.openxmlformats.org/officeDocument/2006/relationships/slideLayout" Target="../slideLayouts/slideLayout2.xml"/><Relationship Id="rId6" Type="http://schemas.openxmlformats.org/officeDocument/2006/relationships/image" Target="../media/image71.jpeg"/><Relationship Id="rId5" Type="http://schemas.openxmlformats.org/officeDocument/2006/relationships/hyperlink" Target="https://baike.baidu.com/item/%E5%87%A0%E4%BD%95%E5%8E%9F%E6%9C%AC/816647" TargetMode="External"/><Relationship Id="rId4" Type="http://schemas.openxmlformats.org/officeDocument/2006/relationships/hyperlink" Target="https://baike.baidu.com/item/%E6%AC%A7%E5%87%A0%E9%87%8C%E5%BE%97" TargetMode="External"/></Relationships>
</file>

<file path=ppt/slides/_rels/slide204.xml.rels><?xml version="1.0" encoding="UTF-8" standalone="yes"?>
<Relationships xmlns="http://schemas.openxmlformats.org/package/2006/relationships"><Relationship Id="rId3" Type="http://schemas.openxmlformats.org/officeDocument/2006/relationships/oleObject" Target="../embeddings/oleObject106.bin"/><Relationship Id="rId2" Type="http://schemas.openxmlformats.org/officeDocument/2006/relationships/slideLayout" Target="../slideLayouts/slideLayout2.xml"/><Relationship Id="rId1" Type="http://schemas.openxmlformats.org/officeDocument/2006/relationships/vmlDrawing" Target="../drawings/vmlDrawing43.vml"/><Relationship Id="rId4" Type="http://schemas.openxmlformats.org/officeDocument/2006/relationships/image" Target="../media/image74.emf"/></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7.xml"/><Relationship Id="rId1" Type="http://schemas.openxmlformats.org/officeDocument/2006/relationships/vmlDrawing" Target="../drawings/vmlDrawing44.vml"/><Relationship Id="rId5" Type="http://schemas.openxmlformats.org/officeDocument/2006/relationships/image" Target="../media/image75.emf"/><Relationship Id="rId4" Type="http://schemas.openxmlformats.org/officeDocument/2006/relationships/oleObject" Target="../embeddings/oleObject107.bin"/></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3" Type="http://schemas.openxmlformats.org/officeDocument/2006/relationships/notesSlide" Target="../notesSlides/notesSlide125.xml"/><Relationship Id="rId7" Type="http://schemas.openxmlformats.org/officeDocument/2006/relationships/image" Target="../media/image75.emf"/><Relationship Id="rId2" Type="http://schemas.openxmlformats.org/officeDocument/2006/relationships/slideLayout" Target="../slideLayouts/slideLayout7.xml"/><Relationship Id="rId1" Type="http://schemas.openxmlformats.org/officeDocument/2006/relationships/vmlDrawing" Target="../drawings/vmlDrawing45.vml"/><Relationship Id="rId6" Type="http://schemas.openxmlformats.org/officeDocument/2006/relationships/oleObject" Target="../embeddings/oleObject109.bin"/><Relationship Id="rId5" Type="http://schemas.openxmlformats.org/officeDocument/2006/relationships/image" Target="../media/image76.emf"/><Relationship Id="rId4" Type="http://schemas.openxmlformats.org/officeDocument/2006/relationships/oleObject" Target="../embeddings/oleObject108.bin"/></Relationships>
</file>

<file path=ppt/slides/_rels/slide210.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3" Type="http://schemas.openxmlformats.org/officeDocument/2006/relationships/oleObject" Target="../embeddings/oleObject110.bin"/><Relationship Id="rId2" Type="http://schemas.openxmlformats.org/officeDocument/2006/relationships/slideLayout" Target="../slideLayouts/slideLayout2.xml"/><Relationship Id="rId1" Type="http://schemas.openxmlformats.org/officeDocument/2006/relationships/vmlDrawing" Target="../drawings/vmlDrawing46.vml"/><Relationship Id="rId4" Type="http://schemas.openxmlformats.org/officeDocument/2006/relationships/image" Target="../media/image75.emf"/></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134.xml"/><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5.xml"/><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notesSlide" Target="../notesSlides/notesSlide141.xml"/><Relationship Id="rId2" Type="http://schemas.openxmlformats.org/officeDocument/2006/relationships/slideLayout" Target="../slideLayouts/slideLayout2.xml"/><Relationship Id="rId1" Type="http://schemas.openxmlformats.org/officeDocument/2006/relationships/vmlDrawing" Target="../drawings/vmlDrawing47.vml"/><Relationship Id="rId5" Type="http://schemas.openxmlformats.org/officeDocument/2006/relationships/image" Target="../media/image79.emf"/><Relationship Id="rId4" Type="http://schemas.openxmlformats.org/officeDocument/2006/relationships/oleObject" Target="../embeddings/oleObject111.bin"/></Relationships>
</file>

<file path=ppt/slides/_rels/slide230.xml.rels><?xml version="1.0" encoding="UTF-8" standalone="yes"?>
<Relationships xmlns="http://schemas.openxmlformats.org/package/2006/relationships"><Relationship Id="rId3" Type="http://schemas.openxmlformats.org/officeDocument/2006/relationships/notesSlide" Target="../notesSlides/notesSlide142.xml"/><Relationship Id="rId7" Type="http://schemas.openxmlformats.org/officeDocument/2006/relationships/image" Target="../media/image80.emf"/><Relationship Id="rId2" Type="http://schemas.openxmlformats.org/officeDocument/2006/relationships/slideLayout" Target="../slideLayouts/slideLayout2.xml"/><Relationship Id="rId1" Type="http://schemas.openxmlformats.org/officeDocument/2006/relationships/vmlDrawing" Target="../drawings/vmlDrawing48.vml"/><Relationship Id="rId6" Type="http://schemas.openxmlformats.org/officeDocument/2006/relationships/package" Target="../embeddings/Microsoft_Visio___14.vsdx"/><Relationship Id="rId5" Type="http://schemas.openxmlformats.org/officeDocument/2006/relationships/image" Target="../media/image79.emf"/><Relationship Id="rId4" Type="http://schemas.openxmlformats.org/officeDocument/2006/relationships/oleObject" Target="../embeddings/oleObject111.bin"/></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2.xml"/><Relationship Id="rId1" Type="http://schemas.openxmlformats.org/officeDocument/2006/relationships/vmlDrawing" Target="../drawings/vmlDrawing49.vml"/><Relationship Id="rId6" Type="http://schemas.openxmlformats.org/officeDocument/2006/relationships/image" Target="../media/image80.emf"/><Relationship Id="rId5" Type="http://schemas.openxmlformats.org/officeDocument/2006/relationships/package" Target="../embeddings/Microsoft_Visio___145.vsdx"/><Relationship Id="rId4" Type="http://schemas.openxmlformats.org/officeDocument/2006/relationships/image" Target="../media/image81.png"/></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3" Type="http://schemas.openxmlformats.org/officeDocument/2006/relationships/package" Target="../embeddings/Microsoft_Visio___146.vsdx"/><Relationship Id="rId2" Type="http://schemas.openxmlformats.org/officeDocument/2006/relationships/slideLayout" Target="../slideLayouts/slideLayout7.xml"/><Relationship Id="rId1" Type="http://schemas.openxmlformats.org/officeDocument/2006/relationships/vmlDrawing" Target="../drawings/vmlDrawing50.vml"/><Relationship Id="rId4" Type="http://schemas.openxmlformats.org/officeDocument/2006/relationships/image" Target="../media/image80.emf"/></Relationships>
</file>

<file path=ppt/slides/_rels/slide239.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50.xml"/><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oleObject" Target="../embeddings/oleObject112.bin"/><Relationship Id="rId2" Type="http://schemas.openxmlformats.org/officeDocument/2006/relationships/slideLayout" Target="../slideLayouts/slideLayout2.xml"/><Relationship Id="rId1" Type="http://schemas.openxmlformats.org/officeDocument/2006/relationships/vmlDrawing" Target="../drawings/vmlDrawing51.vml"/><Relationship Id="rId4" Type="http://schemas.openxmlformats.org/officeDocument/2006/relationships/image" Target="../media/image86.emf"/></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3" Type="http://schemas.openxmlformats.org/officeDocument/2006/relationships/notesSlide" Target="../notesSlides/notesSlide162.xml"/><Relationship Id="rId2" Type="http://schemas.openxmlformats.org/officeDocument/2006/relationships/slideLayout" Target="../slideLayouts/slideLayout2.xml"/><Relationship Id="rId1" Type="http://schemas.openxmlformats.org/officeDocument/2006/relationships/vmlDrawing" Target="../drawings/vmlDrawing52.vml"/><Relationship Id="rId5" Type="http://schemas.openxmlformats.org/officeDocument/2006/relationships/image" Target="../media/image86.emf"/><Relationship Id="rId4" Type="http://schemas.openxmlformats.org/officeDocument/2006/relationships/oleObject" Target="../embeddings/oleObject113.bin"/></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3" Type="http://schemas.openxmlformats.org/officeDocument/2006/relationships/notesSlide" Target="../notesSlides/notesSlide164.xml"/><Relationship Id="rId2" Type="http://schemas.openxmlformats.org/officeDocument/2006/relationships/slideLayout" Target="../slideLayouts/slideLayout2.xml"/><Relationship Id="rId1" Type="http://schemas.openxmlformats.org/officeDocument/2006/relationships/vmlDrawing" Target="../drawings/vmlDrawing53.vml"/><Relationship Id="rId5" Type="http://schemas.openxmlformats.org/officeDocument/2006/relationships/image" Target="../media/image87.emf"/><Relationship Id="rId4" Type="http://schemas.openxmlformats.org/officeDocument/2006/relationships/oleObject" Target="../embeddings/oleObject114.bin"/></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3" Type="http://schemas.openxmlformats.org/officeDocument/2006/relationships/notesSlide" Target="../notesSlides/notesSlide170.xml"/><Relationship Id="rId2" Type="http://schemas.openxmlformats.org/officeDocument/2006/relationships/slideLayout" Target="../slideLayouts/slideLayout2.xml"/><Relationship Id="rId1" Type="http://schemas.openxmlformats.org/officeDocument/2006/relationships/vmlDrawing" Target="../drawings/vmlDrawing54.vml"/><Relationship Id="rId5" Type="http://schemas.openxmlformats.org/officeDocument/2006/relationships/image" Target="../media/image87.emf"/><Relationship Id="rId4" Type="http://schemas.openxmlformats.org/officeDocument/2006/relationships/oleObject" Target="../embeddings/oleObject115.bin"/></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3" Type="http://schemas.openxmlformats.org/officeDocument/2006/relationships/notesSlide" Target="../notesSlides/notesSlide171.xml"/><Relationship Id="rId2" Type="http://schemas.openxmlformats.org/officeDocument/2006/relationships/slideLayout" Target="../slideLayouts/slideLayout2.xml"/><Relationship Id="rId1" Type="http://schemas.openxmlformats.org/officeDocument/2006/relationships/vmlDrawing" Target="../drawings/vmlDrawing55.vml"/><Relationship Id="rId5" Type="http://schemas.openxmlformats.org/officeDocument/2006/relationships/image" Target="../media/image89.emf"/><Relationship Id="rId4" Type="http://schemas.openxmlformats.org/officeDocument/2006/relationships/oleObject" Target="../embeddings/oleObject116.bin"/></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77.xml"/><Relationship Id="rId1" Type="http://schemas.openxmlformats.org/officeDocument/2006/relationships/slideLayout" Target="../slideLayouts/slideLayout16.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notesSlide" Target="../notesSlides/notesSlide181.xml"/><Relationship Id="rId2" Type="http://schemas.openxmlformats.org/officeDocument/2006/relationships/slideLayout" Target="../slideLayouts/slideLayout2.xml"/><Relationship Id="rId1" Type="http://schemas.openxmlformats.org/officeDocument/2006/relationships/vmlDrawing" Target="../drawings/vmlDrawing56.vml"/><Relationship Id="rId5" Type="http://schemas.openxmlformats.org/officeDocument/2006/relationships/image" Target="../media/image91.emf"/><Relationship Id="rId4" Type="http://schemas.openxmlformats.org/officeDocument/2006/relationships/oleObject" Target="../embeddings/oleObject117.bin"/></Relationships>
</file>

<file path=ppt/slides/_rels/slide276.xml.rels><?xml version="1.0" encoding="UTF-8" standalone="yes"?>
<Relationships xmlns="http://schemas.openxmlformats.org/package/2006/relationships"><Relationship Id="rId3" Type="http://schemas.openxmlformats.org/officeDocument/2006/relationships/notesSlide" Target="../notesSlides/notesSlide182.xml"/><Relationship Id="rId2" Type="http://schemas.openxmlformats.org/officeDocument/2006/relationships/slideLayout" Target="../slideLayouts/slideLayout2.xml"/><Relationship Id="rId1" Type="http://schemas.openxmlformats.org/officeDocument/2006/relationships/vmlDrawing" Target="../drawings/vmlDrawing57.vml"/><Relationship Id="rId5" Type="http://schemas.openxmlformats.org/officeDocument/2006/relationships/image" Target="../media/image92.emf"/><Relationship Id="rId4" Type="http://schemas.openxmlformats.org/officeDocument/2006/relationships/package" Target="../embeddings/Microsoft_Visio___17.vsdx"/></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hyperlink" Target="http://www.delorie.com/gnu/docs/bison/bison_toc.html" TargetMode="Externa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3" Type="http://schemas.openxmlformats.org/officeDocument/2006/relationships/oleObject" Target="../embeddings/oleObject118.bin"/><Relationship Id="rId2" Type="http://schemas.openxmlformats.org/officeDocument/2006/relationships/slideLayout" Target="../slideLayouts/slideLayout2.xml"/><Relationship Id="rId1" Type="http://schemas.openxmlformats.org/officeDocument/2006/relationships/vmlDrawing" Target="../drawings/vmlDrawing58.vml"/><Relationship Id="rId4" Type="http://schemas.openxmlformats.org/officeDocument/2006/relationships/image" Target="../media/image93.emf"/></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3" Type="http://schemas.openxmlformats.org/officeDocument/2006/relationships/package" Target="../embeddings/Microsoft_Visio___18.vsdx"/><Relationship Id="rId2" Type="http://schemas.openxmlformats.org/officeDocument/2006/relationships/slideLayout" Target="../slideLayouts/slideLayout2.xml"/><Relationship Id="rId1" Type="http://schemas.openxmlformats.org/officeDocument/2006/relationships/vmlDrawing" Target="../drawings/vmlDrawing59.vml"/><Relationship Id="rId4" Type="http://schemas.openxmlformats.org/officeDocument/2006/relationships/image" Target="../media/image94.e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ctrTitle"/>
          </p:nvPr>
        </p:nvSpPr>
        <p:spPr>
          <a:xfrm>
            <a:off x="827584" y="1995686"/>
            <a:ext cx="5904656" cy="742950"/>
          </a:xfrm>
        </p:spPr>
        <p:txBody>
          <a:bodyPr>
            <a:noAutofit/>
          </a:bodyPr>
          <a:lstStyle/>
          <a:p>
            <a:r>
              <a:rPr lang="zh-CN" altLang="en-US" dirty="0"/>
              <a:t>第三章</a:t>
            </a:r>
            <a:r>
              <a:rPr lang="en-US" altLang="zh-CN" dirty="0"/>
              <a:t> </a:t>
            </a:r>
            <a:r>
              <a:rPr lang="zh-CN" altLang="en-US" dirty="0"/>
              <a:t>语法分析</a:t>
            </a:r>
          </a:p>
        </p:txBody>
      </p:sp>
      <p:pic>
        <p:nvPicPr>
          <p:cNvPr id="4"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9164638" cy="1621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0739655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a:xfrm>
            <a:off x="714375" y="0"/>
            <a:ext cx="7772400" cy="758825"/>
          </a:xfrm>
        </p:spPr>
        <p:txBody>
          <a:bodyPr>
            <a:normAutofit fontScale="90000"/>
          </a:bodyPr>
          <a:lstStyle/>
          <a:p>
            <a:pPr eaLnBrk="1" hangingPunct="1"/>
            <a:r>
              <a:rPr lang="zh-CN" altLang="en-US" sz="5400" b="1">
                <a:solidFill>
                  <a:srgbClr val="663399"/>
                </a:solidFill>
                <a:ea typeface="隶书" pitchFamily="49" charset="-122"/>
              </a:rPr>
              <a:t>本章要求</a:t>
            </a:r>
            <a:endParaRPr lang="zh-CN" altLang="en-US" sz="5400"/>
          </a:p>
        </p:txBody>
      </p:sp>
      <p:sp>
        <p:nvSpPr>
          <p:cNvPr id="2" name="内容占位符 1"/>
          <p:cNvSpPr>
            <a:spLocks noGrp="1"/>
          </p:cNvSpPr>
          <p:nvPr>
            <p:ph idx="1"/>
          </p:nvPr>
        </p:nvSpPr>
        <p:spPr>
          <a:xfrm>
            <a:off x="312738" y="836613"/>
            <a:ext cx="4540538" cy="3967385"/>
          </a:xfrm>
          <a:ln/>
        </p:spPr>
        <p:style>
          <a:lnRef idx="2">
            <a:schemeClr val="accent2"/>
          </a:lnRef>
          <a:fillRef idx="1">
            <a:schemeClr val="lt1"/>
          </a:fillRef>
          <a:effectRef idx="0">
            <a:schemeClr val="accent2"/>
          </a:effectRef>
          <a:fontRef idx="minor">
            <a:schemeClr val="dk1"/>
          </a:fontRef>
        </p:style>
        <p:txBody>
          <a:bodyPr>
            <a:normAutofit/>
          </a:bodyPr>
          <a:lstStyle/>
          <a:p>
            <a:pPr eaLnBrk="1" hangingPunct="1">
              <a:spcBef>
                <a:spcPct val="30000"/>
              </a:spcBef>
              <a:defRPr/>
            </a:pPr>
            <a:r>
              <a:rPr lang="zh-CN" altLang="en-US" sz="2200" b="1" dirty="0">
                <a:solidFill>
                  <a:srgbClr val="FF0000"/>
                </a:solidFill>
                <a:latin typeface="宋体" panose="02010600030101010101" pitchFamily="2" charset="-122"/>
                <a:ea typeface="宋体" panose="02010600030101010101" pitchFamily="2" charset="-122"/>
              </a:rPr>
              <a:t>主要内容</a:t>
            </a:r>
            <a:r>
              <a:rPr lang="zh-CN" altLang="en-US" sz="2200" dirty="0">
                <a:latin typeface="宋体" panose="02010600030101010101" pitchFamily="2" charset="-122"/>
                <a:ea typeface="宋体" panose="02010600030101010101" pitchFamily="2" charset="-122"/>
              </a:rPr>
              <a:t>：</a:t>
            </a:r>
            <a:endParaRPr lang="en-US" altLang="zh-CN" sz="2200" dirty="0">
              <a:latin typeface="宋体" panose="02010600030101010101" pitchFamily="2" charset="-122"/>
              <a:ea typeface="宋体" panose="02010600030101010101" pitchFamily="2" charset="-122"/>
            </a:endParaRP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rPr>
              <a:t>语法分析的任务和接口设计</a:t>
            </a: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上下文无关文法</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自上而下语法分析</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2" indent="-346075" eaLnBrk="1" hangingPunct="1">
              <a:lnSpc>
                <a:spcPct val="90000"/>
              </a:lnSpc>
              <a:buFont typeface="Wingdings" panose="05000000000000000000" pitchFamily="2" charset="2"/>
              <a:buChar char="ü"/>
              <a:defRPr/>
            </a:pPr>
            <a:r>
              <a:rPr lang="zh-CN" altLang="en-US" sz="2200" dirty="0">
                <a:latin typeface="宋体" pitchFamily="2" charset="-122"/>
                <a:ea typeface="宋体" panose="02010600030101010101" pitchFamily="2" charset="-122"/>
              </a:rPr>
              <a:t>递归下降分析方法</a:t>
            </a:r>
            <a:endParaRPr lang="en-US" altLang="zh-CN" sz="2200" dirty="0">
              <a:latin typeface="宋体" pitchFamily="2" charset="-122"/>
              <a:ea typeface="宋体" panose="02010600030101010101" pitchFamily="2" charset="-122"/>
            </a:endParaRPr>
          </a:p>
          <a:p>
            <a:pPr marL="803275" lvl="2" indent="-346075" eaLnBrk="1" hangingPunct="1">
              <a:lnSpc>
                <a:spcPct val="90000"/>
              </a:lnSpc>
              <a:buFont typeface="Wingdings" panose="05000000000000000000" pitchFamily="2" charset="2"/>
              <a:buChar char="ü"/>
              <a:defRPr/>
            </a:pPr>
            <a:r>
              <a:rPr lang="zh-CN" altLang="en-US" sz="2200" dirty="0">
                <a:latin typeface="宋体" pitchFamily="2" charset="-122"/>
                <a:ea typeface="宋体" panose="02010600030101010101" pitchFamily="2" charset="-122"/>
              </a:rPr>
              <a:t>预测分析方法</a:t>
            </a:r>
            <a:endParaRPr lang="en-US" altLang="zh-CN" sz="2200" dirty="0">
              <a:latin typeface="宋体" pitchFamily="2" charset="-122"/>
              <a:ea typeface="宋体" panose="02010600030101010101" pitchFamily="2" charset="-122"/>
            </a:endParaRP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自下而上语法分析方法</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2"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算符优先分析方法</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2" indent="-346075" eaLnBrk="1" hangingPunct="1">
              <a:lnSpc>
                <a:spcPct val="90000"/>
              </a:lnSpc>
              <a:buFont typeface="Wingdings" panose="05000000000000000000" pitchFamily="2" charset="2"/>
              <a:buChar char="ü"/>
              <a:defRPr/>
            </a:pPr>
            <a:r>
              <a:rPr lang="en-US" altLang="zh-CN" sz="2200" dirty="0">
                <a:latin typeface="宋体" panose="02010600030101010101" pitchFamily="2" charset="-122"/>
                <a:ea typeface="宋体" panose="02010600030101010101" pitchFamily="2" charset="-122"/>
                <a:cs typeface="Times New Roman" pitchFamily="18" charset="0"/>
              </a:rPr>
              <a:t>LR</a:t>
            </a:r>
            <a:r>
              <a:rPr lang="zh-CN" altLang="en-US" sz="2200" dirty="0">
                <a:latin typeface="宋体" panose="02010600030101010101" pitchFamily="2" charset="-122"/>
                <a:ea typeface="宋体" panose="02010600030101010101" pitchFamily="2" charset="-122"/>
                <a:cs typeface="Times New Roman" pitchFamily="18" charset="0"/>
              </a:rPr>
              <a:t>分析方法</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语法分析器的自动生成</a:t>
            </a:r>
            <a:endParaRPr lang="en-US" altLang="zh-CN" sz="2200" dirty="0">
              <a:latin typeface="宋体" panose="02010600030101010101" pitchFamily="2" charset="-122"/>
              <a:ea typeface="宋体" panose="02010600030101010101" pitchFamily="2" charset="-122"/>
              <a:cs typeface="Times New Roman" pitchFamily="18" charset="0"/>
            </a:endParaRPr>
          </a:p>
          <a:p>
            <a:pPr marL="803275" lvl="1" indent="-346075" eaLnBrk="1" hangingPunct="1">
              <a:lnSpc>
                <a:spcPct val="90000"/>
              </a:lnSpc>
              <a:buFont typeface="Wingdings" panose="05000000000000000000" pitchFamily="2" charset="2"/>
              <a:buChar char="ü"/>
              <a:defRPr/>
            </a:pPr>
            <a:r>
              <a:rPr lang="zh-CN" altLang="en-US" sz="2200" dirty="0">
                <a:latin typeface="宋体" panose="02010600030101010101" pitchFamily="2" charset="-122"/>
                <a:ea typeface="宋体" panose="02010600030101010101" pitchFamily="2" charset="-122"/>
                <a:cs typeface="Times New Roman" pitchFamily="18" charset="0"/>
              </a:rPr>
              <a:t>语法分析的错误处理</a:t>
            </a:r>
          </a:p>
        </p:txBody>
      </p:sp>
      <p:sp>
        <p:nvSpPr>
          <p:cNvPr id="3" name="矩形 2"/>
          <p:cNvSpPr/>
          <p:nvPr/>
        </p:nvSpPr>
        <p:spPr>
          <a:xfrm>
            <a:off x="5420390" y="843558"/>
            <a:ext cx="3461642" cy="2560638"/>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342900" indent="-342900" eaLnBrk="1" hangingPunct="1">
              <a:spcBef>
                <a:spcPct val="30000"/>
              </a:spcBef>
              <a:buFontTx/>
              <a:buChar char="•"/>
              <a:defRPr/>
            </a:pPr>
            <a:r>
              <a:rPr lang="zh-CN" altLang="en-US" sz="2200" b="1" kern="0" dirty="0">
                <a:solidFill>
                  <a:srgbClr val="FF0000"/>
                </a:solidFill>
                <a:latin typeface="宋体" panose="02010600030101010101" pitchFamily="2" charset="-122"/>
                <a:ea typeface="宋体" panose="02010600030101010101" pitchFamily="2" charset="-122"/>
              </a:rPr>
              <a:t>重点掌握：</a:t>
            </a:r>
            <a:endParaRPr lang="en-US" altLang="zh-CN" sz="2200" b="1" kern="0" dirty="0">
              <a:solidFill>
                <a:srgbClr val="FF0000"/>
              </a:solidFill>
              <a:latin typeface="宋体" panose="02010600030101010101" pitchFamily="2" charset="-122"/>
              <a:ea typeface="宋体" panose="02010600030101010101" pitchFamily="2" charset="-122"/>
            </a:endParaRPr>
          </a:p>
          <a:p>
            <a:pPr marL="700088" lvl="1" indent="-342900" eaLnBrk="1" hangingPunct="1">
              <a:spcBef>
                <a:spcPct val="30000"/>
              </a:spcBef>
              <a:buFont typeface="Wingdings" panose="05000000000000000000" pitchFamily="2" charset="2"/>
              <a:buChar char="ü"/>
              <a:defRPr/>
            </a:pPr>
            <a:r>
              <a:rPr lang="zh-CN" altLang="en-US" sz="2200" kern="0" dirty="0">
                <a:solidFill>
                  <a:srgbClr val="000000"/>
                </a:solidFill>
                <a:latin typeface="宋体" panose="02010600030101010101" pitchFamily="2" charset="-122"/>
                <a:ea typeface="宋体" panose="02010600030101010101" pitchFamily="2" charset="-122"/>
              </a:rPr>
              <a:t>上下文无关文法</a:t>
            </a:r>
            <a:endParaRPr lang="en-US" altLang="zh-CN" sz="2200" kern="0" dirty="0">
              <a:solidFill>
                <a:srgbClr val="000000"/>
              </a:solidFill>
              <a:latin typeface="宋体" panose="02010600030101010101" pitchFamily="2" charset="-122"/>
              <a:ea typeface="宋体" panose="02010600030101010101" pitchFamily="2" charset="-122"/>
            </a:endParaRPr>
          </a:p>
          <a:p>
            <a:pPr marL="700088" lvl="1" indent="-342900" eaLnBrk="1" hangingPunct="1">
              <a:spcBef>
                <a:spcPct val="30000"/>
              </a:spcBef>
              <a:buFont typeface="Wingdings" panose="05000000000000000000" pitchFamily="2" charset="2"/>
              <a:buChar char="ü"/>
              <a:defRPr/>
            </a:pPr>
            <a:r>
              <a:rPr lang="zh-CN" altLang="en-US" sz="2200" kern="0" dirty="0">
                <a:solidFill>
                  <a:srgbClr val="000000"/>
                </a:solidFill>
                <a:latin typeface="宋体" panose="02010600030101010101" pitchFamily="2" charset="-122"/>
                <a:ea typeface="宋体" panose="02010600030101010101" pitchFamily="2" charset="-122"/>
              </a:rPr>
              <a:t>推导、语言、语法树</a:t>
            </a:r>
            <a:endParaRPr lang="en-US" altLang="zh-CN" sz="2200" kern="0" dirty="0">
              <a:solidFill>
                <a:srgbClr val="000000"/>
              </a:solidFill>
              <a:latin typeface="宋体" panose="02010600030101010101" pitchFamily="2" charset="-122"/>
              <a:ea typeface="宋体" panose="02010600030101010101" pitchFamily="2" charset="-122"/>
            </a:endParaRPr>
          </a:p>
          <a:p>
            <a:pPr marL="700088" lvl="1" indent="-342900" eaLnBrk="1" hangingPunct="1">
              <a:spcBef>
                <a:spcPct val="30000"/>
              </a:spcBef>
              <a:buFont typeface="Wingdings" panose="05000000000000000000" pitchFamily="2" charset="2"/>
              <a:buChar char="ü"/>
              <a:defRPr/>
            </a:pPr>
            <a:r>
              <a:rPr lang="zh-CN" altLang="en-US" sz="2200" kern="0" dirty="0">
                <a:solidFill>
                  <a:srgbClr val="000000"/>
                </a:solidFill>
                <a:latin typeface="宋体" panose="02010600030101010101" pitchFamily="2" charset="-122"/>
                <a:ea typeface="宋体" panose="02010600030101010101" pitchFamily="2" charset="-122"/>
              </a:rPr>
              <a:t>语法分析器的实现</a:t>
            </a:r>
            <a:endParaRPr lang="en-US" altLang="zh-CN" sz="2200" kern="0" dirty="0">
              <a:solidFill>
                <a:srgbClr val="000000"/>
              </a:solidFill>
              <a:latin typeface="宋体" panose="02010600030101010101" pitchFamily="2" charset="-122"/>
              <a:ea typeface="宋体" panose="02010600030101010101" pitchFamily="2" charset="-122"/>
            </a:endParaRPr>
          </a:p>
          <a:p>
            <a:pPr marL="700088" lvl="1" indent="-342900" eaLnBrk="1" hangingPunct="1">
              <a:spcBef>
                <a:spcPct val="30000"/>
              </a:spcBef>
              <a:buFont typeface="Wingdings" panose="05000000000000000000" pitchFamily="2" charset="2"/>
              <a:buChar char="ü"/>
              <a:defRPr/>
            </a:pPr>
            <a:r>
              <a:rPr lang="zh-CN" altLang="en-US" sz="2200" kern="0" dirty="0">
                <a:solidFill>
                  <a:srgbClr val="000000"/>
                </a:solidFill>
                <a:latin typeface="宋体" panose="02010600030101010101" pitchFamily="2" charset="-122"/>
                <a:ea typeface="宋体" panose="02010600030101010101" pitchFamily="2" charset="-122"/>
              </a:rPr>
              <a:t>各种语法分析方法的对比</a:t>
            </a:r>
          </a:p>
        </p:txBody>
      </p:sp>
    </p:spTree>
    <p:extLst>
      <p:ext uri="{BB962C8B-B14F-4D97-AF65-F5344CB8AC3E}">
        <p14:creationId xmlns:p14="http://schemas.microsoft.com/office/powerpoint/2010/main" val="82505140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834887"/>
          </a:xfrm>
        </p:spPr>
        <p:txBody>
          <a:bodyPr/>
          <a:lstStyle/>
          <a:p>
            <a:pPr marL="0" indent="0">
              <a:buNone/>
            </a:pPr>
            <a:r>
              <a:rPr lang="en-US" altLang="zh-CN" sz="4400" b="1" kern="1200" dirty="0">
                <a:solidFill>
                  <a:srgbClr val="CC0099"/>
                </a:solidFill>
                <a:latin typeface="Times New Roman" pitchFamily="18" charset="0"/>
                <a:ea typeface="隶书" pitchFamily="49" charset="-122"/>
              </a:rPr>
              <a:t>1.</a:t>
            </a:r>
            <a:r>
              <a:rPr lang="zh-CN" altLang="en-US" sz="4400" b="1" kern="1200" dirty="0">
                <a:solidFill>
                  <a:srgbClr val="CC0099"/>
                </a:solidFill>
                <a:latin typeface="Times New Roman" pitchFamily="18" charset="0"/>
                <a:ea typeface="隶书" pitchFamily="49" charset="-122"/>
              </a:rPr>
              <a:t>语法分析的任务</a:t>
            </a:r>
          </a:p>
        </p:txBody>
      </p:sp>
    </p:spTree>
    <p:extLst>
      <p:ext uri="{BB962C8B-B14F-4D97-AF65-F5344CB8AC3E}">
        <p14:creationId xmlns:p14="http://schemas.microsoft.com/office/powerpoint/2010/main" val="74115893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0" y="568670"/>
            <a:ext cx="4572000" cy="352425"/>
          </a:xfrm>
        </p:spPr>
        <p:txBody>
          <a:bodyPr>
            <a:normAutofit fontScale="90000"/>
          </a:bodyPr>
          <a:lstStyle/>
          <a:p>
            <a:pPr algn="l" eaLnBrk="1" hangingPunct="1"/>
            <a:r>
              <a:rPr lang="zh-CN" altLang="en-US" sz="2800" b="1" dirty="0">
                <a:solidFill>
                  <a:srgbClr val="0000CC"/>
                </a:solidFill>
                <a:ea typeface="楷体_GB2312" pitchFamily="49" charset="-122"/>
              </a:rPr>
              <a:t>语法分析程序所处的位置</a:t>
            </a:r>
          </a:p>
        </p:txBody>
      </p:sp>
      <p:sp>
        <p:nvSpPr>
          <p:cNvPr id="5123" name="Rectangle 21"/>
          <p:cNvSpPr>
            <a:spLocks noChangeArrowheads="1"/>
          </p:cNvSpPr>
          <p:nvPr/>
        </p:nvSpPr>
        <p:spPr bwMode="auto">
          <a:xfrm>
            <a:off x="177800" y="425450"/>
            <a:ext cx="18415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endParaRPr lang="zh-CN" altLang="en-US" sz="2800">
              <a:latin typeface="Arial" pitchFamily="34" charset="0"/>
            </a:endParaRPr>
          </a:p>
        </p:txBody>
      </p:sp>
      <p:sp>
        <p:nvSpPr>
          <p:cNvPr id="5124" name="Rectangle 23"/>
          <p:cNvSpPr>
            <a:spLocks noChangeArrowheads="1"/>
          </p:cNvSpPr>
          <p:nvPr/>
        </p:nvSpPr>
        <p:spPr bwMode="auto">
          <a:xfrm>
            <a:off x="177800" y="425450"/>
            <a:ext cx="18415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endParaRPr lang="zh-CN" altLang="en-US" sz="2800">
              <a:latin typeface="Arial" pitchFamily="34" charset="0"/>
            </a:endParaRPr>
          </a:p>
        </p:txBody>
      </p:sp>
      <p:graphicFrame>
        <p:nvGraphicFramePr>
          <p:cNvPr id="5125" name="对象 5"/>
          <p:cNvGraphicFramePr>
            <a:graphicFrameLocks noChangeAspect="1"/>
          </p:cNvGraphicFramePr>
          <p:nvPr>
            <p:extLst>
              <p:ext uri="{D42A27DB-BD31-4B8C-83A1-F6EECF244321}">
                <p14:modId xmlns:p14="http://schemas.microsoft.com/office/powerpoint/2010/main" val="2644367989"/>
              </p:ext>
            </p:extLst>
          </p:nvPr>
        </p:nvGraphicFramePr>
        <p:xfrm>
          <a:off x="177800" y="1360073"/>
          <a:ext cx="8670925" cy="3381375"/>
        </p:xfrm>
        <a:graphic>
          <a:graphicData uri="http://schemas.openxmlformats.org/presentationml/2006/ole">
            <mc:AlternateContent xmlns:mc="http://schemas.openxmlformats.org/markup-compatibility/2006">
              <mc:Choice xmlns:v="urn:schemas-microsoft-com:vml" Requires="v">
                <p:oleObj spid="_x0000_s1031" name="Visio" r:id="rId4" imgW="3775629" imgH="1962078" progId="Visio.Drawing.11">
                  <p:embed/>
                </p:oleObj>
              </mc:Choice>
              <mc:Fallback>
                <p:oleObj name="Visio" r:id="rId4" imgW="3775629" imgH="1962078" progId="Visio.Drawing.11">
                  <p:embed/>
                  <p:pic>
                    <p:nvPicPr>
                      <p:cNvPr id="5125" name="对象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7800" y="1360073"/>
                        <a:ext cx="8670925" cy="3381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2" name="组合 1"/>
          <p:cNvGrpSpPr>
            <a:grpSpLocks/>
          </p:cNvGrpSpPr>
          <p:nvPr/>
        </p:nvGrpSpPr>
        <p:grpSpPr bwMode="auto">
          <a:xfrm>
            <a:off x="177801" y="2192338"/>
            <a:ext cx="8775699" cy="2819400"/>
            <a:chOff x="1" y="1725613"/>
            <a:chExt cx="8775698" cy="4216400"/>
          </a:xfrm>
        </p:grpSpPr>
        <p:sp>
          <p:nvSpPr>
            <p:cNvPr id="5128" name="Rectangle 20"/>
            <p:cNvSpPr>
              <a:spLocks noChangeArrowheads="1"/>
            </p:cNvSpPr>
            <p:nvPr/>
          </p:nvSpPr>
          <p:spPr bwMode="auto">
            <a:xfrm>
              <a:off x="3075708" y="1725613"/>
              <a:ext cx="5699991" cy="4216400"/>
            </a:xfrm>
            <a:prstGeom prst="rect">
              <a:avLst/>
            </a:prstGeom>
            <a:solidFill>
              <a:srgbClr val="FFFFCC">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800">
                <a:latin typeface="Arial" pitchFamily="34" charset="0"/>
              </a:endParaRPr>
            </a:p>
          </p:txBody>
        </p:sp>
        <p:sp>
          <p:nvSpPr>
            <p:cNvPr id="5129" name="Rectangle 20"/>
            <p:cNvSpPr>
              <a:spLocks noChangeArrowheads="1"/>
            </p:cNvSpPr>
            <p:nvPr/>
          </p:nvSpPr>
          <p:spPr bwMode="auto">
            <a:xfrm>
              <a:off x="1" y="1725613"/>
              <a:ext cx="1513880" cy="4216400"/>
            </a:xfrm>
            <a:prstGeom prst="rect">
              <a:avLst/>
            </a:prstGeom>
            <a:solidFill>
              <a:srgbClr val="FFFFCC">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800">
                <a:latin typeface="Arial" pitchFamily="34" charset="0"/>
              </a:endParaRPr>
            </a:p>
          </p:txBody>
        </p:sp>
      </p:grpSp>
    </p:spTree>
    <p:extLst>
      <p:ext uri="{BB962C8B-B14F-4D97-AF65-F5344CB8AC3E}">
        <p14:creationId xmlns:p14="http://schemas.microsoft.com/office/powerpoint/2010/main" val="412237586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223290" name="Group 58"/>
          <p:cNvGraphicFramePr>
            <a:graphicFrameLocks noGrp="1"/>
          </p:cNvGraphicFramePr>
          <p:nvPr>
            <p:ph sz="quarter" idx="2"/>
            <p:extLst>
              <p:ext uri="{D42A27DB-BD31-4B8C-83A1-F6EECF244321}">
                <p14:modId xmlns:p14="http://schemas.microsoft.com/office/powerpoint/2010/main" val="2716991696"/>
              </p:ext>
            </p:extLst>
          </p:nvPr>
        </p:nvGraphicFramePr>
        <p:xfrm>
          <a:off x="305901" y="965200"/>
          <a:ext cx="2255838" cy="1546225"/>
        </p:xfrm>
        <a:graphic>
          <a:graphicData uri="http://schemas.openxmlformats.org/drawingml/2006/table">
            <a:tbl>
              <a:tblPr/>
              <a:tblGrid>
                <a:gridCol w="2255838">
                  <a:extLst>
                    <a:ext uri="{9D8B030D-6E8A-4147-A177-3AD203B41FA5}">
                      <a16:colId xmlns:a16="http://schemas.microsoft.com/office/drawing/2014/main" val="20000"/>
                    </a:ext>
                  </a:extLst>
                </a:gridCol>
              </a:tblGrid>
              <a:tr h="3888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0" i="0" u="none" strike="noStrike" cap="none" normalizeH="0" baseline="0" dirty="0">
                          <a:ln>
                            <a:noFill/>
                          </a:ln>
                          <a:solidFill>
                            <a:schemeClr val="tx1"/>
                          </a:solidFill>
                          <a:effectLst/>
                          <a:latin typeface="Times New Roman" pitchFamily="18" charset="0"/>
                          <a:ea typeface="宋体" pitchFamily="2" charset="-122"/>
                        </a:rPr>
                        <a:t>源文件</a:t>
                      </a:r>
                    </a:p>
                  </a:txBody>
                  <a:tcPr marT="34310" marB="3431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0"/>
                  </a:ext>
                </a:extLst>
              </a:tr>
              <a:tr h="11573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/*this is test*/</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if (a&gt;3)   x=</a:t>
                      </a: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b+c</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a:t>
                      </a:r>
                    </a:p>
                  </a:txBody>
                  <a:tcPr marT="34310" marB="3431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aphicFrame>
        <p:nvGraphicFramePr>
          <p:cNvPr id="223291" name="Group 59"/>
          <p:cNvGraphicFramePr>
            <a:graphicFrameLocks noGrp="1"/>
          </p:cNvGraphicFramePr>
          <p:nvPr>
            <p:ph sz="quarter" idx="3"/>
            <p:extLst>
              <p:ext uri="{D42A27DB-BD31-4B8C-83A1-F6EECF244321}">
                <p14:modId xmlns:p14="http://schemas.microsoft.com/office/powerpoint/2010/main" val="2209453512"/>
              </p:ext>
            </p:extLst>
          </p:nvPr>
        </p:nvGraphicFramePr>
        <p:xfrm>
          <a:off x="4850002" y="113033"/>
          <a:ext cx="979487" cy="3703252"/>
        </p:xfrm>
        <a:graphic>
          <a:graphicData uri="http://schemas.openxmlformats.org/drawingml/2006/table">
            <a:tbl>
              <a:tblPr/>
              <a:tblGrid>
                <a:gridCol w="979487">
                  <a:extLst>
                    <a:ext uri="{9D8B030D-6E8A-4147-A177-3AD203B41FA5}">
                      <a16:colId xmlns:a16="http://schemas.microsoft.com/office/drawing/2014/main" val="20000"/>
                    </a:ext>
                  </a:extLst>
                </a:gridCol>
              </a:tblGrid>
              <a:tr h="33598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1" lang="zh-CN" altLang="en-US" sz="2000" b="0" i="0" u="none" strike="noStrike" cap="none" normalizeH="0" baseline="0" dirty="0">
                          <a:ln>
                            <a:noFill/>
                          </a:ln>
                          <a:solidFill>
                            <a:schemeClr val="tx1"/>
                          </a:solidFill>
                          <a:effectLst/>
                          <a:latin typeface="Times New Roman" pitchFamily="18" charset="0"/>
                          <a:ea typeface="宋体" pitchFamily="2" charset="-122"/>
                        </a:rPr>
                        <a:t>输出</a:t>
                      </a:r>
                    </a:p>
                  </a:txBody>
                  <a:tcPr marT="34273" marB="34273"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0"/>
                  </a:ext>
                </a:extLst>
              </a:tr>
              <a:tr h="332130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if</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a</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&gt;</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3</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x</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b</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c</a:t>
                      </a:r>
                    </a:p>
                    <a:p>
                      <a:pPr marL="0" marR="0" lvl="0" indent="0" algn="l" defTabSz="914400" rtl="0" eaLnBrk="1" fontAlgn="base" latinLnBrk="0" hangingPunct="1">
                        <a:lnSpc>
                          <a:spcPct val="90000"/>
                        </a:lnSpc>
                        <a:spcBef>
                          <a:spcPct val="0"/>
                        </a:spcBef>
                        <a:spcAft>
                          <a:spcPct val="0"/>
                        </a:spcAft>
                        <a:buClrTx/>
                        <a:buSzTx/>
                        <a:buFontTx/>
                        <a:buNone/>
                        <a:tabLst/>
                      </a:pPr>
                      <a:r>
                        <a:rPr kumimoji="1" lang="en-US" altLang="zh-CN" sz="2000" b="0" i="0" u="none" strike="noStrike" cap="none" normalizeH="0" baseline="0" dirty="0">
                          <a:ln>
                            <a:noFill/>
                          </a:ln>
                          <a:solidFill>
                            <a:schemeClr val="tx1"/>
                          </a:solidFill>
                          <a:effectLst/>
                          <a:latin typeface="Times New Roman" pitchFamily="18" charset="0"/>
                          <a:ea typeface="宋体" pitchFamily="2" charset="-122"/>
                        </a:rPr>
                        <a:t>; </a:t>
                      </a:r>
                    </a:p>
                  </a:txBody>
                  <a:tcPr marT="34273" marB="34273"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2" name="Group 68"/>
          <p:cNvGrpSpPr>
            <a:grpSpLocks/>
          </p:cNvGrpSpPr>
          <p:nvPr/>
        </p:nvGrpSpPr>
        <p:grpSpPr bwMode="auto">
          <a:xfrm>
            <a:off x="2570163" y="957263"/>
            <a:ext cx="2336800" cy="865187"/>
            <a:chOff x="1619" y="804"/>
            <a:chExt cx="1472" cy="727"/>
          </a:xfrm>
        </p:grpSpPr>
        <p:sp>
          <p:nvSpPr>
            <p:cNvPr id="6173" name="Oval 50"/>
            <p:cNvSpPr>
              <a:spLocks noChangeArrowheads="1"/>
            </p:cNvSpPr>
            <p:nvPr/>
          </p:nvSpPr>
          <p:spPr bwMode="auto">
            <a:xfrm>
              <a:off x="1985" y="804"/>
              <a:ext cx="745" cy="655"/>
            </a:xfrm>
            <a:prstGeom prst="ellipse">
              <a:avLst/>
            </a:prstGeom>
            <a:noFill/>
            <a:ln w="28575"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词法</a:t>
              </a:r>
            </a:p>
            <a:p>
              <a:pPr eaLnBrk="1" hangingPunct="1">
                <a:spcBef>
                  <a:spcPct val="0"/>
                </a:spcBef>
                <a:buFontTx/>
                <a:buNone/>
              </a:pPr>
              <a:r>
                <a:rPr lang="zh-CN" altLang="en-US" sz="2400" b="1"/>
                <a:t>分析</a:t>
              </a:r>
            </a:p>
          </p:txBody>
        </p:sp>
        <p:sp>
          <p:nvSpPr>
            <p:cNvPr id="6174" name="AutoShape 52"/>
            <p:cNvSpPr>
              <a:spLocks noChangeArrowheads="1"/>
            </p:cNvSpPr>
            <p:nvPr/>
          </p:nvSpPr>
          <p:spPr bwMode="auto">
            <a:xfrm rot="-1933288">
              <a:off x="1619" y="1267"/>
              <a:ext cx="438" cy="238"/>
            </a:xfrm>
            <a:prstGeom prst="notchedRightArrow">
              <a:avLst>
                <a:gd name="adj1" fmla="val 50000"/>
                <a:gd name="adj2" fmla="val 46008"/>
              </a:avLst>
            </a:prstGeom>
            <a:solidFill>
              <a:srgbClr val="008080"/>
            </a:solidFill>
            <a:ln w="9525" algn="ctr">
              <a:solidFill>
                <a:schemeClr val="accent2"/>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sp>
          <p:nvSpPr>
            <p:cNvPr id="6175" name="AutoShape 53"/>
            <p:cNvSpPr>
              <a:spLocks noChangeArrowheads="1"/>
            </p:cNvSpPr>
            <p:nvPr/>
          </p:nvSpPr>
          <p:spPr bwMode="auto">
            <a:xfrm rot="1948985">
              <a:off x="2652" y="1273"/>
              <a:ext cx="439" cy="258"/>
            </a:xfrm>
            <a:prstGeom prst="notchedRightArrow">
              <a:avLst>
                <a:gd name="adj1" fmla="val 50000"/>
                <a:gd name="adj2" fmla="val 42539"/>
              </a:avLst>
            </a:prstGeom>
            <a:solidFill>
              <a:srgbClr val="008080"/>
            </a:solidFill>
            <a:ln w="9525" algn="ctr">
              <a:solidFill>
                <a:schemeClr val="accent2"/>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grpSp>
      <p:sp>
        <p:nvSpPr>
          <p:cNvPr id="223287" name="AutoShape 55"/>
          <p:cNvSpPr>
            <a:spLocks noChangeArrowheads="1"/>
          </p:cNvSpPr>
          <p:nvPr/>
        </p:nvSpPr>
        <p:spPr bwMode="auto">
          <a:xfrm>
            <a:off x="2547938" y="2860675"/>
            <a:ext cx="1644650" cy="909638"/>
          </a:xfrm>
          <a:prstGeom prst="wedgeEllipseCallout">
            <a:avLst>
              <a:gd name="adj1" fmla="val 90611"/>
              <a:gd name="adj2" fmla="val -70782"/>
            </a:avLst>
          </a:prstGeom>
          <a:solidFill>
            <a:srgbClr val="FF66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ea typeface="华文行楷" pitchFamily="2" charset="-122"/>
              </a:rPr>
              <a:t>正确的单词</a:t>
            </a:r>
          </a:p>
        </p:txBody>
      </p:sp>
      <p:sp>
        <p:nvSpPr>
          <p:cNvPr id="223294" name="WordArt 62"/>
          <p:cNvSpPr>
            <a:spLocks noChangeArrowheads="1" noChangeShapeType="1" noTextEdit="1"/>
          </p:cNvSpPr>
          <p:nvPr/>
        </p:nvSpPr>
        <p:spPr bwMode="auto">
          <a:xfrm>
            <a:off x="8243888" y="1441450"/>
            <a:ext cx="900112" cy="1160463"/>
          </a:xfrm>
          <a:prstGeom prst="rect">
            <a:avLst/>
          </a:prstGeom>
        </p:spPr>
        <p:txBody>
          <a:bodyPr wrap="none" fromWordArt="1">
            <a:prstTxWarp prst="textSlantUp">
              <a:avLst>
                <a:gd name="adj" fmla="val 3861"/>
              </a:avLst>
            </a:prstTxWarp>
          </a:bodyPr>
          <a:lstStyle/>
          <a:p>
            <a:r>
              <a:rPr lang="en-US" altLang="zh-CN" sz="3600" b="1" kern="10" dirty="0">
                <a:ln w="9525">
                  <a:solidFill>
                    <a:srgbClr val="CC99FF"/>
                  </a:solidFill>
                  <a:round/>
                  <a:headEnd/>
                  <a:tailEnd/>
                </a:ln>
                <a:gradFill rotWithShape="1">
                  <a:gsLst>
                    <a:gs pos="0">
                      <a:srgbClr val="6600CC"/>
                    </a:gs>
                    <a:gs pos="100000">
                      <a:srgbClr val="CC00CC"/>
                    </a:gs>
                  </a:gsLst>
                  <a:lin ang="5400000" scaled="1"/>
                </a:gradFill>
                <a:effectLst>
                  <a:outerShdw dist="53882" dir="2700000" algn="ctr" rotWithShape="0">
                    <a:srgbClr val="9999FF">
                      <a:alpha val="79999"/>
                    </a:srgbClr>
                  </a:outerShdw>
                </a:effectLst>
                <a:latin typeface="宋体"/>
                <a:ea typeface="宋体"/>
              </a:rPr>
              <a:t>?</a:t>
            </a:r>
            <a:endParaRPr lang="zh-CN" altLang="en-US" sz="3600" b="1" kern="10" dirty="0">
              <a:ln w="9525">
                <a:solidFill>
                  <a:srgbClr val="CC99FF"/>
                </a:solidFill>
                <a:round/>
                <a:headEnd/>
                <a:tailEnd/>
              </a:ln>
              <a:gradFill rotWithShape="1">
                <a:gsLst>
                  <a:gs pos="0">
                    <a:srgbClr val="6600CC"/>
                  </a:gs>
                  <a:gs pos="100000">
                    <a:srgbClr val="CC00CC"/>
                  </a:gs>
                </a:gsLst>
                <a:lin ang="5400000" scaled="1"/>
              </a:gradFill>
              <a:effectLst>
                <a:outerShdw dist="53882" dir="2700000" algn="ctr" rotWithShape="0">
                  <a:srgbClr val="9999FF">
                    <a:alpha val="79999"/>
                  </a:srgbClr>
                </a:outerShdw>
              </a:effectLst>
              <a:latin typeface="宋体"/>
              <a:ea typeface="宋体"/>
            </a:endParaRPr>
          </a:p>
        </p:txBody>
      </p:sp>
      <p:grpSp>
        <p:nvGrpSpPr>
          <p:cNvPr id="3" name="Group 69"/>
          <p:cNvGrpSpPr>
            <a:grpSpLocks/>
          </p:cNvGrpSpPr>
          <p:nvPr/>
        </p:nvGrpSpPr>
        <p:grpSpPr bwMode="auto">
          <a:xfrm>
            <a:off x="5851525" y="965200"/>
            <a:ext cx="2409825" cy="925513"/>
            <a:chOff x="3686" y="811"/>
            <a:chExt cx="1518" cy="777"/>
          </a:xfrm>
        </p:grpSpPr>
        <p:sp>
          <p:nvSpPr>
            <p:cNvPr id="6170" name="Oval 64"/>
            <p:cNvSpPr>
              <a:spLocks noChangeArrowheads="1"/>
            </p:cNvSpPr>
            <p:nvPr/>
          </p:nvSpPr>
          <p:spPr bwMode="auto">
            <a:xfrm>
              <a:off x="4046" y="811"/>
              <a:ext cx="844" cy="655"/>
            </a:xfrm>
            <a:prstGeom prst="ellipse">
              <a:avLst/>
            </a:prstGeom>
            <a:noFill/>
            <a:ln w="28575"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dirty="0"/>
                <a:t>语法</a:t>
              </a:r>
            </a:p>
            <a:p>
              <a:pPr eaLnBrk="1" hangingPunct="1">
                <a:spcBef>
                  <a:spcPct val="0"/>
                </a:spcBef>
                <a:buFontTx/>
                <a:buNone/>
              </a:pPr>
              <a:r>
                <a:rPr lang="zh-CN" altLang="en-US" sz="2400" b="1" dirty="0"/>
                <a:t>分析</a:t>
              </a:r>
            </a:p>
          </p:txBody>
        </p:sp>
        <p:sp>
          <p:nvSpPr>
            <p:cNvPr id="6171" name="AutoShape 65"/>
            <p:cNvSpPr>
              <a:spLocks noChangeArrowheads="1"/>
            </p:cNvSpPr>
            <p:nvPr/>
          </p:nvSpPr>
          <p:spPr bwMode="auto">
            <a:xfrm rot="-1933288">
              <a:off x="3686" y="1264"/>
              <a:ext cx="438" cy="238"/>
            </a:xfrm>
            <a:prstGeom prst="notchedRightArrow">
              <a:avLst>
                <a:gd name="adj1" fmla="val 50000"/>
                <a:gd name="adj2" fmla="val 46008"/>
              </a:avLst>
            </a:prstGeom>
            <a:solidFill>
              <a:srgbClr val="008080"/>
            </a:solidFill>
            <a:ln w="9525" algn="ctr">
              <a:solidFill>
                <a:schemeClr val="accent2"/>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sp>
          <p:nvSpPr>
            <p:cNvPr id="6172" name="AutoShape 66"/>
            <p:cNvSpPr>
              <a:spLocks noChangeArrowheads="1"/>
            </p:cNvSpPr>
            <p:nvPr/>
          </p:nvSpPr>
          <p:spPr bwMode="auto">
            <a:xfrm rot="1948985">
              <a:off x="4765" y="1330"/>
              <a:ext cx="439" cy="258"/>
            </a:xfrm>
            <a:prstGeom prst="notchedRightArrow">
              <a:avLst>
                <a:gd name="adj1" fmla="val 50000"/>
                <a:gd name="adj2" fmla="val 42539"/>
              </a:avLst>
            </a:prstGeom>
            <a:solidFill>
              <a:srgbClr val="008080"/>
            </a:solidFill>
            <a:ln w="9525" algn="ctr">
              <a:solidFill>
                <a:schemeClr val="accent2"/>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grpSp>
      <p:sp>
        <p:nvSpPr>
          <p:cNvPr id="223299" name="AutoShape 67"/>
          <p:cNvSpPr>
            <a:spLocks noChangeArrowheads="1"/>
          </p:cNvSpPr>
          <p:nvPr/>
        </p:nvSpPr>
        <p:spPr bwMode="auto">
          <a:xfrm>
            <a:off x="6948264" y="2478088"/>
            <a:ext cx="1967136" cy="911225"/>
          </a:xfrm>
          <a:prstGeom prst="wedgeEllipseCallout">
            <a:avLst>
              <a:gd name="adj1" fmla="val 31583"/>
              <a:gd name="adj2" fmla="val -82130"/>
            </a:avLst>
          </a:prstGeom>
          <a:solidFill>
            <a:srgbClr val="FF66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a:ea typeface="华文行楷" pitchFamily="2" charset="-122"/>
              </a:rPr>
              <a:t>正确的语法单位</a:t>
            </a:r>
          </a:p>
        </p:txBody>
      </p:sp>
      <p:sp>
        <p:nvSpPr>
          <p:cNvPr id="5" name="TextBox 4"/>
          <p:cNvSpPr txBox="1"/>
          <p:nvPr/>
        </p:nvSpPr>
        <p:spPr>
          <a:xfrm>
            <a:off x="251520" y="3995692"/>
            <a:ext cx="8591872" cy="1015663"/>
          </a:xfrm>
          <a:prstGeom prst="rect">
            <a:avLst/>
          </a:prstGeom>
        </p:spPr>
        <p:style>
          <a:lnRef idx="2">
            <a:schemeClr val="accent1"/>
          </a:lnRef>
          <a:fillRef idx="1">
            <a:schemeClr val="lt1"/>
          </a:fillRef>
          <a:effectRef idx="0">
            <a:schemeClr val="accent1"/>
          </a:effectRef>
          <a:fontRef idx="minor">
            <a:schemeClr val="dk1"/>
          </a:fontRef>
        </p:style>
        <p:txBody>
          <a:bodyPr wrap="square" rtlCol="0">
            <a:spAutoFit/>
          </a:bodyPr>
          <a:lstStyle/>
          <a:p>
            <a:pPr marL="714375" indent="-714375"/>
            <a:r>
              <a:rPr lang="zh-CN" altLang="en-US" sz="2000" b="1" dirty="0">
                <a:solidFill>
                  <a:srgbClr val="FF3300"/>
                </a:solidFill>
                <a:ea typeface="华文行楷" pitchFamily="2" charset="-122"/>
              </a:rPr>
              <a:t>（</a:t>
            </a:r>
            <a:r>
              <a:rPr lang="en-US" altLang="zh-CN" sz="2000" b="1" dirty="0">
                <a:solidFill>
                  <a:srgbClr val="FF3300"/>
                </a:solidFill>
                <a:ea typeface="华文行楷" pitchFamily="2" charset="-122"/>
              </a:rPr>
              <a:t>1</a:t>
            </a:r>
            <a:r>
              <a:rPr lang="zh-CN" altLang="en-US" sz="2000" b="1" dirty="0">
                <a:solidFill>
                  <a:srgbClr val="FF3300"/>
                </a:solidFill>
                <a:ea typeface="华文行楷" pitchFamily="2" charset="-122"/>
              </a:rPr>
              <a:t>）如何知道</a:t>
            </a:r>
            <a:r>
              <a:rPr lang="zh-CN" altLang="en-US" sz="2000" dirty="0">
                <a:ea typeface="华文行楷" pitchFamily="2" charset="-122"/>
              </a:rPr>
              <a:t>这些正确的单词能否构成</a:t>
            </a:r>
            <a:r>
              <a:rPr lang="zh-CN" altLang="en-US" sz="2000" b="1" dirty="0">
                <a:solidFill>
                  <a:srgbClr val="FF3300"/>
                </a:solidFill>
                <a:ea typeface="华文行楷" pitchFamily="2" charset="-122"/>
              </a:rPr>
              <a:t>正确</a:t>
            </a:r>
            <a:r>
              <a:rPr lang="zh-CN" altLang="en-US" sz="2000" dirty="0">
                <a:ea typeface="华文行楷" pitchFamily="2" charset="-122"/>
              </a:rPr>
              <a:t>的语法单位（表达式、语句）？</a:t>
            </a:r>
            <a:endParaRPr lang="en-US" altLang="zh-CN" sz="2000" dirty="0">
              <a:ea typeface="华文行楷" pitchFamily="2" charset="-122"/>
            </a:endParaRPr>
          </a:p>
          <a:p>
            <a:pPr marL="714375" indent="-714375"/>
            <a:r>
              <a:rPr lang="zh-CN" altLang="en-US" sz="2000" b="1" dirty="0">
                <a:solidFill>
                  <a:srgbClr val="FF0000"/>
                </a:solidFill>
                <a:ea typeface="华文行楷" pitchFamily="2" charset="-122"/>
              </a:rPr>
              <a:t>（</a:t>
            </a:r>
            <a:r>
              <a:rPr lang="en-US" altLang="zh-CN" sz="2000" b="1" dirty="0">
                <a:solidFill>
                  <a:srgbClr val="FF0000"/>
                </a:solidFill>
                <a:ea typeface="华文行楷" pitchFamily="2" charset="-122"/>
              </a:rPr>
              <a:t>2</a:t>
            </a:r>
            <a:r>
              <a:rPr lang="zh-CN" altLang="en-US" sz="2000" b="1" dirty="0">
                <a:solidFill>
                  <a:srgbClr val="FF0000"/>
                </a:solidFill>
                <a:ea typeface="华文行楷" pitchFamily="2" charset="-122"/>
              </a:rPr>
              <a:t>）</a:t>
            </a:r>
            <a:r>
              <a:rPr lang="zh-CN" altLang="en-US" sz="2000" dirty="0">
                <a:ea typeface="华文行楷" pitchFamily="2" charset="-122"/>
              </a:rPr>
              <a:t>用什么方法判断？</a:t>
            </a:r>
            <a:endParaRPr lang="en-US" altLang="zh-CN" sz="2000" dirty="0">
              <a:ea typeface="华文行楷" pitchFamily="2" charset="-122"/>
            </a:endParaRPr>
          </a:p>
          <a:p>
            <a:pPr marL="714375" indent="-714375"/>
            <a:endParaRPr lang="zh-CN" altLang="en-US" sz="2000" dirty="0"/>
          </a:p>
        </p:txBody>
      </p:sp>
      <p:sp>
        <p:nvSpPr>
          <p:cNvPr id="4" name="矩形 3"/>
          <p:cNvSpPr/>
          <p:nvPr/>
        </p:nvSpPr>
        <p:spPr>
          <a:xfrm>
            <a:off x="251520" y="4681834"/>
            <a:ext cx="5401313" cy="400110"/>
          </a:xfrm>
          <a:prstGeom prst="rect">
            <a:avLst/>
          </a:prstGeom>
        </p:spPr>
        <p:txBody>
          <a:bodyPr wrap="square">
            <a:spAutoFit/>
          </a:bodyPr>
          <a:lstStyle/>
          <a:p>
            <a:pPr marL="365125" lvl="0" indent="-365125">
              <a:spcBef>
                <a:spcPts val="400"/>
              </a:spcBef>
              <a:buClr>
                <a:srgbClr val="2DA2BF"/>
              </a:buClr>
              <a:buSzPct val="68000"/>
            </a:pPr>
            <a:r>
              <a:rPr lang="zh-CN" altLang="en-US" sz="2000" b="1" dirty="0">
                <a:solidFill>
                  <a:srgbClr val="FF0000"/>
                </a:solidFill>
                <a:ea typeface="华文行楷" pitchFamily="2" charset="-122"/>
              </a:rPr>
              <a:t>（</a:t>
            </a:r>
            <a:r>
              <a:rPr lang="en-US" altLang="zh-CN" sz="2000" b="1" dirty="0">
                <a:solidFill>
                  <a:srgbClr val="FF0000"/>
                </a:solidFill>
                <a:ea typeface="华文行楷" pitchFamily="2" charset="-122"/>
              </a:rPr>
              <a:t>3</a:t>
            </a:r>
            <a:r>
              <a:rPr lang="zh-CN" altLang="en-US" sz="2000" b="1" dirty="0">
                <a:solidFill>
                  <a:srgbClr val="FF0000"/>
                </a:solidFill>
                <a:ea typeface="华文行楷" pitchFamily="2" charset="-122"/>
              </a:rPr>
              <a:t>）</a:t>
            </a:r>
            <a:r>
              <a:rPr lang="zh-CN" altLang="en-US" sz="2000" dirty="0">
                <a:solidFill>
                  <a:prstClr val="black"/>
                </a:solidFill>
                <a:ea typeface="华文行楷" pitchFamily="2" charset="-122"/>
              </a:rPr>
              <a:t>输出内容如何表示？</a:t>
            </a:r>
          </a:p>
        </p:txBody>
      </p:sp>
      <p:graphicFrame>
        <p:nvGraphicFramePr>
          <p:cNvPr id="6169" name="对象 4"/>
          <p:cNvGraphicFramePr>
            <a:graphicFrameLocks noChangeAspect="1"/>
          </p:cNvGraphicFramePr>
          <p:nvPr>
            <p:extLst>
              <p:ext uri="{D42A27DB-BD31-4B8C-83A1-F6EECF244321}">
                <p14:modId xmlns:p14="http://schemas.microsoft.com/office/powerpoint/2010/main" val="1788066186"/>
              </p:ext>
            </p:extLst>
          </p:nvPr>
        </p:nvGraphicFramePr>
        <p:xfrm>
          <a:off x="4179010" y="2478088"/>
          <a:ext cx="4976812" cy="2735263"/>
        </p:xfrm>
        <a:graphic>
          <a:graphicData uri="http://schemas.openxmlformats.org/presentationml/2006/ole">
            <mc:AlternateContent xmlns:mc="http://schemas.openxmlformats.org/markup-compatibility/2006">
              <mc:Choice xmlns:v="urn:schemas-microsoft-com:vml" Requires="v">
                <p:oleObj spid="_x0000_s2055" name="Visio" r:id="rId4" imgW="4547573" imgH="2501229" progId="Visio.Drawing.11">
                  <p:embed/>
                </p:oleObj>
              </mc:Choice>
              <mc:Fallback>
                <p:oleObj name="Visio" r:id="rId4" imgW="4547573" imgH="2501229" progId="Visio.Drawing.11">
                  <p:embed/>
                  <p:pic>
                    <p:nvPicPr>
                      <p:cNvPr id="6169" name="对象 4"/>
                      <p:cNvPicPr>
                        <a:picLocks noChangeAspect="1" noChangeArrowheads="1"/>
                      </p:cNvPicPr>
                      <p:nvPr/>
                    </p:nvPicPr>
                    <p:blipFill>
                      <a:blip r:embed="rId5"/>
                      <a:srcRect/>
                      <a:stretch>
                        <a:fillRect/>
                      </a:stretch>
                    </p:blipFill>
                    <p:spPr bwMode="auto">
                      <a:xfrm>
                        <a:off x="4179010" y="2478088"/>
                        <a:ext cx="4976812" cy="2735263"/>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 name="矩形 5"/>
          <p:cNvSpPr/>
          <p:nvPr/>
        </p:nvSpPr>
        <p:spPr>
          <a:xfrm>
            <a:off x="3287457" y="930266"/>
            <a:ext cx="5884426" cy="1477328"/>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en-US" altLang="zh-CN" dirty="0"/>
              <a:t>&lt;</a:t>
            </a:r>
            <a:r>
              <a:rPr lang="zh-CN" altLang="zh-CN" dirty="0"/>
              <a:t>表达式</a:t>
            </a:r>
            <a:r>
              <a:rPr lang="en-US" altLang="zh-CN" dirty="0"/>
              <a:t>&gt;</a:t>
            </a:r>
            <a:r>
              <a:rPr lang="zh-CN" altLang="zh-CN" dirty="0"/>
              <a:t>→</a:t>
            </a:r>
            <a:r>
              <a:rPr lang="en-US" altLang="zh-CN" dirty="0"/>
              <a:t>&lt;</a:t>
            </a:r>
            <a:r>
              <a:rPr lang="zh-CN" altLang="en-US" dirty="0"/>
              <a:t>关系表达式</a:t>
            </a:r>
            <a:r>
              <a:rPr lang="en-US" altLang="zh-CN" dirty="0"/>
              <a:t>&gt;</a:t>
            </a:r>
          </a:p>
          <a:p>
            <a:r>
              <a:rPr lang="en-US" altLang="zh-CN" dirty="0"/>
              <a:t>&lt;</a:t>
            </a:r>
            <a:r>
              <a:rPr lang="zh-CN" altLang="zh-CN" dirty="0"/>
              <a:t>表达式</a:t>
            </a:r>
            <a:r>
              <a:rPr lang="en-US" altLang="zh-CN" dirty="0"/>
              <a:t>&gt;</a:t>
            </a:r>
            <a:r>
              <a:rPr lang="zh-CN" altLang="zh-CN" dirty="0"/>
              <a:t>→ </a:t>
            </a:r>
            <a:r>
              <a:rPr lang="en-US" altLang="zh-CN" dirty="0"/>
              <a:t>&lt;</a:t>
            </a:r>
            <a:r>
              <a:rPr lang="zh-CN" altLang="en-US" dirty="0"/>
              <a:t>标识符</a:t>
            </a:r>
            <a:r>
              <a:rPr lang="en-US" altLang="zh-CN" dirty="0"/>
              <a:t>&gt;</a:t>
            </a:r>
          </a:p>
          <a:p>
            <a:r>
              <a:rPr lang="en-US" altLang="zh-CN" dirty="0"/>
              <a:t>&lt;</a:t>
            </a:r>
            <a:r>
              <a:rPr lang="zh-CN" altLang="zh-CN" dirty="0"/>
              <a:t>表达式</a:t>
            </a:r>
            <a:r>
              <a:rPr lang="en-US" altLang="zh-CN" dirty="0"/>
              <a:t>&gt;</a:t>
            </a:r>
            <a:r>
              <a:rPr lang="zh-CN" altLang="zh-CN" dirty="0"/>
              <a:t>→ </a:t>
            </a:r>
            <a:r>
              <a:rPr lang="en-US" altLang="zh-CN" dirty="0"/>
              <a:t>&lt;</a:t>
            </a:r>
            <a:r>
              <a:rPr lang="zh-CN" altLang="zh-CN" dirty="0"/>
              <a:t>表达式</a:t>
            </a:r>
            <a:r>
              <a:rPr lang="en-US" altLang="zh-CN" dirty="0"/>
              <a:t>&gt;</a:t>
            </a:r>
            <a:r>
              <a:rPr lang="zh-CN" altLang="zh-CN" dirty="0"/>
              <a:t> </a:t>
            </a:r>
            <a:r>
              <a:rPr lang="en-US" altLang="zh-CN" dirty="0"/>
              <a:t>+ &lt;</a:t>
            </a:r>
            <a:r>
              <a:rPr lang="zh-CN" altLang="zh-CN" dirty="0"/>
              <a:t>表达式</a:t>
            </a:r>
            <a:r>
              <a:rPr lang="en-US" altLang="zh-CN" dirty="0"/>
              <a:t>&gt;</a:t>
            </a:r>
          </a:p>
          <a:p>
            <a:r>
              <a:rPr lang="en-US" altLang="zh-CN" dirty="0"/>
              <a:t>&lt;</a:t>
            </a:r>
            <a:r>
              <a:rPr lang="zh-CN" altLang="en-US" dirty="0"/>
              <a:t>关系表达式</a:t>
            </a:r>
            <a:r>
              <a:rPr lang="en-US" altLang="zh-CN" dirty="0"/>
              <a:t>&gt;</a:t>
            </a:r>
            <a:r>
              <a:rPr lang="zh-CN" altLang="zh-CN" dirty="0"/>
              <a:t>→</a:t>
            </a:r>
            <a:r>
              <a:rPr lang="en-US" altLang="zh-CN" dirty="0"/>
              <a:t>&lt;</a:t>
            </a:r>
            <a:r>
              <a:rPr lang="zh-CN" altLang="en-US" dirty="0"/>
              <a:t>表达式</a:t>
            </a:r>
            <a:r>
              <a:rPr lang="en-US" altLang="zh-CN" dirty="0"/>
              <a:t>&gt;&lt;</a:t>
            </a:r>
            <a:r>
              <a:rPr lang="zh-CN" altLang="en-US" dirty="0"/>
              <a:t>关系运算符</a:t>
            </a:r>
            <a:r>
              <a:rPr lang="en-US" altLang="zh-CN" dirty="0"/>
              <a:t>&gt;&lt;</a:t>
            </a:r>
            <a:r>
              <a:rPr lang="zh-CN" altLang="en-US" dirty="0"/>
              <a:t>表达式</a:t>
            </a:r>
            <a:r>
              <a:rPr lang="en-US" altLang="zh-CN" dirty="0"/>
              <a:t>&gt;</a:t>
            </a:r>
          </a:p>
          <a:p>
            <a:r>
              <a:rPr lang="en-US" altLang="zh-CN" dirty="0"/>
              <a:t>……</a:t>
            </a:r>
            <a:endParaRPr lang="zh-CN" altLang="zh-CN" dirty="0"/>
          </a:p>
        </p:txBody>
      </p:sp>
    </p:spTree>
    <p:extLst>
      <p:ext uri="{BB962C8B-B14F-4D97-AF65-F5344CB8AC3E}">
        <p14:creationId xmlns:p14="http://schemas.microsoft.com/office/powerpoint/2010/main" val="248780780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22329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2328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23299"/>
                                        </p:tgtEl>
                                        <p:attrNameLst>
                                          <p:attrName>style.visibility</p:attrName>
                                        </p:attrNameLst>
                                      </p:cBhvr>
                                      <p:to>
                                        <p:strVal val="visible"/>
                                      </p:to>
                                    </p:set>
                                  </p:childTnLst>
                                </p:cTn>
                              </p:par>
                            </p:childTnLst>
                          </p:cTn>
                        </p:par>
                        <p:par>
                          <p:cTn id="27" fill="hold">
                            <p:stCondLst>
                              <p:cond delay="500"/>
                            </p:stCondLst>
                            <p:childTnLst>
                              <p:par>
                                <p:cTn id="28" presetID="1" presetClass="entr" presetSubtype="0" fill="hold" grpId="0" nodeType="afterEffect">
                                  <p:stCondLst>
                                    <p:cond delay="0"/>
                                  </p:stCondLst>
                                  <p:childTnLst>
                                    <p:set>
                                      <p:cBhvr>
                                        <p:cTn id="29" dur="1" fill="hold">
                                          <p:stCondLst>
                                            <p:cond delay="0"/>
                                          </p:stCondLst>
                                        </p:cTn>
                                        <p:tgtEl>
                                          <p:spTgt spid="22329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6169"/>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287" grpId="0" animBg="1" autoUpdateAnimBg="0"/>
      <p:bldP spid="223294" grpId="0"/>
      <p:bldP spid="223299" grpId="0" animBg="1" autoUpdateAnimBg="0"/>
      <p:bldP spid="5" grpId="0" animBg="1"/>
      <p:bldP spid="4" grpId="0"/>
      <p:bldP spid="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ED40D4C-F1B1-F133-7E42-26D4DD092C18}"/>
              </a:ext>
            </a:extLst>
          </p:cNvPr>
          <p:cNvSpPr>
            <a:spLocks noGrp="1"/>
          </p:cNvSpPr>
          <p:nvPr>
            <p:ph type="title"/>
          </p:nvPr>
        </p:nvSpPr>
        <p:spPr/>
        <p:txBody>
          <a:bodyPr/>
          <a:lstStyle/>
          <a:p>
            <a:endParaRPr lang="zh-CN" altLang="en-US"/>
          </a:p>
        </p:txBody>
      </p:sp>
      <p:sp>
        <p:nvSpPr>
          <p:cNvPr id="3" name="文本占位符 2">
            <a:extLst>
              <a:ext uri="{FF2B5EF4-FFF2-40B4-BE49-F238E27FC236}">
                <a16:creationId xmlns:a16="http://schemas.microsoft.com/office/drawing/2014/main" id="{D72063B9-D4B0-8897-6D70-02C7BC691C2C}"/>
              </a:ext>
            </a:extLst>
          </p:cNvPr>
          <p:cNvSpPr>
            <a:spLocks noGrp="1"/>
          </p:cNvSpPr>
          <p:nvPr>
            <p:ph type="body" sz="half" idx="1"/>
          </p:nvPr>
        </p:nvSpPr>
        <p:spPr/>
        <p:txBody>
          <a:bodyPr/>
          <a:lstStyle/>
          <a:p>
            <a:endParaRPr lang="zh-CN" altLang="en-US" dirty="0"/>
          </a:p>
        </p:txBody>
      </p:sp>
      <p:pic>
        <p:nvPicPr>
          <p:cNvPr id="6" name="Picture 2">
            <a:extLst>
              <a:ext uri="{FF2B5EF4-FFF2-40B4-BE49-F238E27FC236}">
                <a16:creationId xmlns:a16="http://schemas.microsoft.com/office/drawing/2014/main" id="{114C6B05-5AE5-CE6E-9784-FEB0DFB4F2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9532" y="487862"/>
            <a:ext cx="3973418" cy="258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 descr="33">
            <a:extLst>
              <a:ext uri="{FF2B5EF4-FFF2-40B4-BE49-F238E27FC236}">
                <a16:creationId xmlns:a16="http://schemas.microsoft.com/office/drawing/2014/main" id="{35FBC110-A3BD-467A-C692-C3F07BCBC0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52382" y="487862"/>
            <a:ext cx="3973418" cy="3684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内容占位符 13">
            <a:extLst>
              <a:ext uri="{FF2B5EF4-FFF2-40B4-BE49-F238E27FC236}">
                <a16:creationId xmlns:a16="http://schemas.microsoft.com/office/drawing/2014/main" id="{F6B6C370-ACA0-4634-AA13-F1F1CA04FCAF}"/>
              </a:ext>
            </a:extLst>
          </p:cNvPr>
          <p:cNvSpPr>
            <a:spLocks noGrp="1"/>
          </p:cNvSpPr>
          <p:nvPr>
            <p:ph sz="quarter" idx="3"/>
          </p:nvPr>
        </p:nvSpPr>
        <p:spPr/>
        <p:txBody>
          <a:bodyPr/>
          <a:lstStyle/>
          <a:p>
            <a:endParaRPr lang="zh-CN" altLang="en-US" dirty="0"/>
          </a:p>
        </p:txBody>
      </p:sp>
      <p:pic>
        <p:nvPicPr>
          <p:cNvPr id="10" name="内容占位符 9">
            <a:extLst>
              <a:ext uri="{FF2B5EF4-FFF2-40B4-BE49-F238E27FC236}">
                <a16:creationId xmlns:a16="http://schemas.microsoft.com/office/drawing/2014/main" id="{F1B52D2D-8B49-4E73-B658-8F44C9A3A099}"/>
              </a:ext>
            </a:extLst>
          </p:cNvPr>
          <p:cNvPicPr>
            <a:picLocks noGrp="1" noChangeAspect="1"/>
          </p:cNvPicPr>
          <p:nvPr>
            <p:ph sz="quarter" idx="2"/>
          </p:nvPr>
        </p:nvPicPr>
        <p:blipFill>
          <a:blip r:embed="rId4">
            <a:extLst>
              <a:ext uri="{28A0092B-C50C-407E-A947-70E740481C1C}">
                <a14:useLocalDpi xmlns:a14="http://schemas.microsoft.com/office/drawing/2010/main" val="0"/>
              </a:ext>
            </a:extLst>
          </a:blip>
          <a:stretch>
            <a:fillRect/>
          </a:stretch>
        </p:blipFill>
        <p:spPr>
          <a:xfrm>
            <a:off x="2051720" y="297980"/>
            <a:ext cx="4392488" cy="4320411"/>
          </a:xfrm>
        </p:spPr>
      </p:pic>
    </p:spTree>
    <p:extLst>
      <p:ext uri="{BB962C8B-B14F-4D97-AF65-F5344CB8AC3E}">
        <p14:creationId xmlns:p14="http://schemas.microsoft.com/office/powerpoint/2010/main" val="3708904218"/>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6"/>
          <p:cNvSpPr>
            <a:spLocks noChangeArrowheads="1"/>
          </p:cNvSpPr>
          <p:nvPr/>
        </p:nvSpPr>
        <p:spPr bwMode="auto">
          <a:xfrm>
            <a:off x="328613" y="1103615"/>
            <a:ext cx="8443912" cy="3556445"/>
          </a:xfrm>
          <a:prstGeom prst="rect">
            <a:avLst/>
          </a:prstGeom>
          <a:solidFill>
            <a:schemeClr val="bg1"/>
          </a:solidFill>
          <a:ln>
            <a:noFill/>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200" b="1" dirty="0">
                <a:solidFill>
                  <a:schemeClr val="accent2"/>
                </a:solidFill>
              </a:rPr>
              <a:t>语法分析器的功能</a:t>
            </a:r>
          </a:p>
          <a:p>
            <a:pPr lvl="1" eaLnBrk="1" hangingPunct="1">
              <a:spcBef>
                <a:spcPct val="0"/>
              </a:spcBef>
            </a:pPr>
            <a:r>
              <a:rPr lang="zh-CN" altLang="en-US" sz="2200" dirty="0">
                <a:ea typeface="华文行楷" pitchFamily="2" charset="-122"/>
              </a:rPr>
              <a:t>判断读入的</a:t>
            </a:r>
            <a:r>
              <a:rPr lang="zh-CN" altLang="en-US" sz="2200" b="1" dirty="0">
                <a:solidFill>
                  <a:srgbClr val="FF3300"/>
                </a:solidFill>
                <a:ea typeface="华文行楷" pitchFamily="2" charset="-122"/>
              </a:rPr>
              <a:t>单词符号串</a:t>
            </a:r>
            <a:r>
              <a:rPr lang="zh-CN" altLang="en-US" sz="2200" dirty="0">
                <a:ea typeface="华文行楷" pitchFamily="2" charset="-122"/>
              </a:rPr>
              <a:t>能否构成一个语法正确的程序</a:t>
            </a:r>
            <a:endParaRPr lang="en-US" altLang="zh-CN" sz="2200" dirty="0">
              <a:ea typeface="华文行楷" pitchFamily="2" charset="-122"/>
            </a:endParaRPr>
          </a:p>
          <a:p>
            <a:pPr eaLnBrk="1" hangingPunct="1">
              <a:spcBef>
                <a:spcPct val="0"/>
              </a:spcBef>
            </a:pPr>
            <a:r>
              <a:rPr lang="zh-CN" altLang="en-US" sz="2200" b="1" dirty="0">
                <a:solidFill>
                  <a:srgbClr val="0000CC"/>
                </a:solidFill>
              </a:rPr>
              <a:t>语法分析器的输入</a:t>
            </a:r>
          </a:p>
          <a:p>
            <a:pPr lvl="1" eaLnBrk="1" hangingPunct="1">
              <a:spcBef>
                <a:spcPct val="0"/>
              </a:spcBef>
            </a:pPr>
            <a:r>
              <a:rPr lang="en-US" altLang="zh-CN" sz="2200" dirty="0"/>
              <a:t>Token</a:t>
            </a:r>
            <a:r>
              <a:rPr lang="zh-CN" altLang="en-US" sz="2200" dirty="0"/>
              <a:t>序列：词法分析的输出，是各个单词都正确的源程序的变换形式，是一个有限序列</a:t>
            </a:r>
          </a:p>
          <a:p>
            <a:pPr eaLnBrk="1" hangingPunct="1">
              <a:spcBef>
                <a:spcPct val="0"/>
              </a:spcBef>
            </a:pPr>
            <a:r>
              <a:rPr lang="zh-CN" altLang="en-US" sz="2200" b="1" dirty="0">
                <a:solidFill>
                  <a:srgbClr val="0000CC"/>
                </a:solidFill>
              </a:rPr>
              <a:t>语法分析器的输出</a:t>
            </a:r>
          </a:p>
          <a:p>
            <a:pPr lvl="1" eaLnBrk="1" hangingPunct="1">
              <a:spcBef>
                <a:spcPct val="0"/>
              </a:spcBef>
            </a:pPr>
            <a:r>
              <a:rPr lang="zh-CN" altLang="en-US" sz="2200" dirty="0"/>
              <a:t>分析树：表示方法？线索树</a:t>
            </a:r>
            <a:endParaRPr lang="en-US" altLang="zh-CN" sz="2200" dirty="0"/>
          </a:p>
          <a:p>
            <a:pPr lvl="1" eaLnBrk="1" hangingPunct="1">
              <a:spcBef>
                <a:spcPct val="0"/>
              </a:spcBef>
            </a:pPr>
            <a:r>
              <a:rPr lang="zh-CN" altLang="en-US" sz="2200" dirty="0"/>
              <a:t>错误处理信息：定位、继续编译</a:t>
            </a:r>
          </a:p>
          <a:p>
            <a:pPr marL="342900" lvl="1" indent="-342900">
              <a:spcBef>
                <a:spcPct val="0"/>
              </a:spcBef>
              <a:buFontTx/>
              <a:buChar char="•"/>
            </a:pPr>
            <a:r>
              <a:rPr lang="zh-CN" altLang="en-US" sz="2200" b="1" dirty="0">
                <a:solidFill>
                  <a:srgbClr val="0000CC"/>
                </a:solidFill>
              </a:rPr>
              <a:t>语法分析过程</a:t>
            </a:r>
            <a:endParaRPr lang="en-US" altLang="zh-CN" sz="2200" dirty="0">
              <a:ea typeface="华文行楷" pitchFamily="2" charset="-122"/>
            </a:endParaRPr>
          </a:p>
          <a:p>
            <a:pPr lvl="1">
              <a:spcBef>
                <a:spcPct val="0"/>
              </a:spcBef>
            </a:pPr>
            <a:r>
              <a:rPr lang="zh-CN" altLang="en-US" sz="2200" dirty="0">
                <a:latin typeface="宋体" panose="02010600030101010101" pitchFamily="2" charset="-122"/>
              </a:rPr>
              <a:t>按照语言的</a:t>
            </a:r>
            <a:r>
              <a:rPr lang="zh-CN" altLang="en-US" sz="2200" b="1" dirty="0">
                <a:solidFill>
                  <a:srgbClr val="FF6600"/>
                </a:solidFill>
                <a:latin typeface="宋体" panose="02010600030101010101" pitchFamily="2" charset="-122"/>
              </a:rPr>
              <a:t>语法规则</a:t>
            </a:r>
            <a:endParaRPr lang="zh-CN" altLang="en-US" sz="2200" dirty="0">
              <a:latin typeface="宋体" panose="02010600030101010101" pitchFamily="2" charset="-122"/>
            </a:endParaRPr>
          </a:p>
        </p:txBody>
      </p:sp>
      <p:sp>
        <p:nvSpPr>
          <p:cNvPr id="5" name="Rectangle 19"/>
          <p:cNvSpPr>
            <a:spLocks noChangeArrowheads="1"/>
          </p:cNvSpPr>
          <p:nvPr/>
        </p:nvSpPr>
        <p:spPr bwMode="auto">
          <a:xfrm>
            <a:off x="-14288" y="1841500"/>
            <a:ext cx="184151"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800">
              <a:ea typeface="华文行楷" pitchFamily="2" charset="-122"/>
            </a:endParaRPr>
          </a:p>
        </p:txBody>
      </p:sp>
      <p:graphicFrame>
        <p:nvGraphicFramePr>
          <p:cNvPr id="6" name="Object 18"/>
          <p:cNvGraphicFramePr>
            <a:graphicFrameLocks noChangeAspect="1"/>
          </p:cNvGraphicFramePr>
          <p:nvPr>
            <p:extLst>
              <p:ext uri="{D42A27DB-BD31-4B8C-83A1-F6EECF244321}">
                <p14:modId xmlns:p14="http://schemas.microsoft.com/office/powerpoint/2010/main" val="2343704805"/>
              </p:ext>
            </p:extLst>
          </p:nvPr>
        </p:nvGraphicFramePr>
        <p:xfrm>
          <a:off x="4860032" y="34310"/>
          <a:ext cx="4250183" cy="593224"/>
        </p:xfrm>
        <a:graphic>
          <a:graphicData uri="http://schemas.openxmlformats.org/presentationml/2006/ole">
            <mc:AlternateContent xmlns:mc="http://schemas.openxmlformats.org/markup-compatibility/2006">
              <mc:Choice xmlns:v="urn:schemas-microsoft-com:vml" Requires="v">
                <p:oleObj spid="_x0000_s3079" name="Visio" r:id="rId3" imgW="4112046" imgH="415849" progId="Visio.Drawing.11">
                  <p:embed/>
                </p:oleObj>
              </mc:Choice>
              <mc:Fallback>
                <p:oleObj name="Visio" r:id="rId3" imgW="4112046" imgH="415849" progId="Visio.Drawing.11">
                  <p:embed/>
                  <p:pic>
                    <p:nvPicPr>
                      <p:cNvPr id="6" name="Object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60032" y="34310"/>
                        <a:ext cx="4250183" cy="593224"/>
                      </a:xfrm>
                      <a:prstGeom prst="rect">
                        <a:avLst/>
                      </a:prstGeom>
                      <a:noFill/>
                      <a:ln>
                        <a:noFill/>
                      </a:ln>
                    </p:spPr>
                  </p:pic>
                </p:oleObj>
              </mc:Fallback>
            </mc:AlternateContent>
          </a:graphicData>
        </a:graphic>
      </p:graphicFrame>
      <p:sp>
        <p:nvSpPr>
          <p:cNvPr id="8" name="Rectangle 7"/>
          <p:cNvSpPr>
            <a:spLocks noChangeArrowheads="1"/>
          </p:cNvSpPr>
          <p:nvPr/>
        </p:nvSpPr>
        <p:spPr bwMode="auto">
          <a:xfrm>
            <a:off x="4716016" y="4244929"/>
            <a:ext cx="4454125" cy="954107"/>
          </a:xfrm>
          <a:prstGeom prst="rect">
            <a:avLst/>
          </a:prstGeom>
          <a:solidFill>
            <a:srgbClr val="99CC00"/>
          </a:solidFill>
          <a:ln w="1905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pPr>
            <a:r>
              <a:rPr lang="zh-CN" altLang="en-US" sz="2800" dirty="0">
                <a:solidFill>
                  <a:srgbClr val="FF3300"/>
                </a:solidFill>
                <a:ea typeface="华文行楷" pitchFamily="2" charset="-122"/>
              </a:rPr>
              <a:t>语法规则如何定义和表示？</a:t>
            </a:r>
          </a:p>
          <a:p>
            <a:pPr>
              <a:spcBef>
                <a:spcPct val="0"/>
              </a:spcBef>
            </a:pPr>
            <a:r>
              <a:rPr lang="zh-CN" altLang="en-US" sz="2800" dirty="0">
                <a:solidFill>
                  <a:srgbClr val="FF3300"/>
                </a:solidFill>
                <a:ea typeface="华文行楷" pitchFamily="2" charset="-122"/>
              </a:rPr>
              <a:t>如何判断是否符合规则</a:t>
            </a:r>
            <a:r>
              <a:rPr lang="en-US" altLang="zh-CN" sz="2800" dirty="0">
                <a:solidFill>
                  <a:srgbClr val="FF3300"/>
                </a:solidFill>
                <a:ea typeface="华文行楷" pitchFamily="2" charset="-122"/>
              </a:rPr>
              <a:t>?</a:t>
            </a:r>
          </a:p>
        </p:txBody>
      </p:sp>
      <p:pic>
        <p:nvPicPr>
          <p:cNvPr id="9" name="Picture 2" descr="https://timgsa.baidu.com/timg?image&amp;quality=80&amp;size=b9999_10000&amp;sec=1581129009716&amp;di=47d35af534c2d58a1f91742dc6592bbd&amp;imgtype=0&amp;src=http%3A%2F%2Fhiphotos.baidu.com%2Ffeed%2Fpic%2Fitem%2F0d338744ebf81a4c84fdb238db2a6059242da670.jpg"/>
          <p:cNvPicPr>
            <a:picLocks noChangeAspect="1" noChangeArrowheads="1" noCrop="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037" y="0"/>
            <a:ext cx="1651100" cy="8317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185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box(in)">
                                      <p:cBhvr>
                                        <p:cTn id="7" dur="500"/>
                                        <p:tgtEl>
                                          <p:spTgt spid="4">
                                            <p:txEl>
                                              <p:pRg st="0" end="0"/>
                                            </p:txEl>
                                          </p:spTgt>
                                        </p:tgtEl>
                                      </p:cBhvr>
                                    </p:animEffect>
                                  </p:childTnLst>
                                </p:cTn>
                              </p:par>
                            </p:childTnLst>
                          </p:cTn>
                        </p:par>
                        <p:par>
                          <p:cTn id="8" fill="hold">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animEffect transition="in" filter="box(in)">
                                      <p:cBhvr>
                                        <p:cTn id="11" dur="500"/>
                                        <p:tgtEl>
                                          <p:spTgt spid="4">
                                            <p:txEl>
                                              <p:pRg st="1" end="1"/>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4" presetClass="entr" presetSubtype="16" fill="hold" grpId="0" nodeType="clickEffect">
                                  <p:stCondLst>
                                    <p:cond delay="0"/>
                                  </p:stCondLst>
                                  <p:childTnLst>
                                    <p:set>
                                      <p:cBhvr>
                                        <p:cTn id="15" dur="1" fill="hold">
                                          <p:stCondLst>
                                            <p:cond delay="0"/>
                                          </p:stCondLst>
                                        </p:cTn>
                                        <p:tgtEl>
                                          <p:spTgt spid="4">
                                            <p:txEl>
                                              <p:pRg st="2" end="2"/>
                                            </p:txEl>
                                          </p:spTgt>
                                        </p:tgtEl>
                                        <p:attrNameLst>
                                          <p:attrName>style.visibility</p:attrName>
                                        </p:attrNameLst>
                                      </p:cBhvr>
                                      <p:to>
                                        <p:strVal val="visible"/>
                                      </p:to>
                                    </p:set>
                                    <p:animEffect transition="in" filter="box(in)">
                                      <p:cBhvr>
                                        <p:cTn id="16" dur="500"/>
                                        <p:tgtEl>
                                          <p:spTgt spid="4">
                                            <p:txEl>
                                              <p:pRg st="2" end="2"/>
                                            </p:txEl>
                                          </p:spTgt>
                                        </p:tgtEl>
                                      </p:cBhvr>
                                    </p:animEffect>
                                  </p:childTnLst>
                                </p:cTn>
                              </p:par>
                            </p:childTnLst>
                          </p:cTn>
                        </p:par>
                        <p:par>
                          <p:cTn id="17" fill="hold">
                            <p:stCondLst>
                              <p:cond delay="500"/>
                            </p:stCondLst>
                            <p:childTnLst>
                              <p:par>
                                <p:cTn id="18" presetID="4" presetClass="entr" presetSubtype="16" fill="hold" grpId="0" nodeType="afterEffect">
                                  <p:stCondLst>
                                    <p:cond delay="0"/>
                                  </p:stCondLst>
                                  <p:childTnLst>
                                    <p:set>
                                      <p:cBhvr>
                                        <p:cTn id="19" dur="1" fill="hold">
                                          <p:stCondLst>
                                            <p:cond delay="0"/>
                                          </p:stCondLst>
                                        </p:cTn>
                                        <p:tgtEl>
                                          <p:spTgt spid="4">
                                            <p:txEl>
                                              <p:pRg st="3" end="3"/>
                                            </p:txEl>
                                          </p:spTgt>
                                        </p:tgtEl>
                                        <p:attrNameLst>
                                          <p:attrName>style.visibility</p:attrName>
                                        </p:attrNameLst>
                                      </p:cBhvr>
                                      <p:to>
                                        <p:strVal val="visible"/>
                                      </p:to>
                                    </p:set>
                                    <p:animEffect transition="in" filter="box(in)">
                                      <p:cBhvr>
                                        <p:cTn id="20" dur="500"/>
                                        <p:tgtEl>
                                          <p:spTgt spid="4">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grpId="0" nodeType="clickEffect">
                                  <p:stCondLst>
                                    <p:cond delay="0"/>
                                  </p:stCondLst>
                                  <p:childTnLst>
                                    <p:set>
                                      <p:cBhvr>
                                        <p:cTn id="24" dur="1" fill="hold">
                                          <p:stCondLst>
                                            <p:cond delay="0"/>
                                          </p:stCondLst>
                                        </p:cTn>
                                        <p:tgtEl>
                                          <p:spTgt spid="4">
                                            <p:txEl>
                                              <p:pRg st="4" end="4"/>
                                            </p:txEl>
                                          </p:spTgt>
                                        </p:tgtEl>
                                        <p:attrNameLst>
                                          <p:attrName>style.visibility</p:attrName>
                                        </p:attrNameLst>
                                      </p:cBhvr>
                                      <p:to>
                                        <p:strVal val="visible"/>
                                      </p:to>
                                    </p:set>
                                    <p:animEffect transition="in" filter="box(in)">
                                      <p:cBhvr>
                                        <p:cTn id="25" dur="500"/>
                                        <p:tgtEl>
                                          <p:spTgt spid="4">
                                            <p:txEl>
                                              <p:pRg st="4" end="4"/>
                                            </p:txEl>
                                          </p:spTgt>
                                        </p:tgtEl>
                                      </p:cBhvr>
                                    </p:animEffect>
                                  </p:childTnLst>
                                </p:cTn>
                              </p:par>
                            </p:childTnLst>
                          </p:cTn>
                        </p:par>
                        <p:par>
                          <p:cTn id="26" fill="hold">
                            <p:stCondLst>
                              <p:cond delay="500"/>
                            </p:stCondLst>
                            <p:childTnLst>
                              <p:par>
                                <p:cTn id="27" presetID="4" presetClass="entr" presetSubtype="16" fill="hold" grpId="0" nodeType="afterEffect">
                                  <p:stCondLst>
                                    <p:cond delay="0"/>
                                  </p:stCondLst>
                                  <p:childTnLst>
                                    <p:set>
                                      <p:cBhvr>
                                        <p:cTn id="28" dur="1" fill="hold">
                                          <p:stCondLst>
                                            <p:cond delay="0"/>
                                          </p:stCondLst>
                                        </p:cTn>
                                        <p:tgtEl>
                                          <p:spTgt spid="4">
                                            <p:txEl>
                                              <p:pRg st="5" end="5"/>
                                            </p:txEl>
                                          </p:spTgt>
                                        </p:tgtEl>
                                        <p:attrNameLst>
                                          <p:attrName>style.visibility</p:attrName>
                                        </p:attrNameLst>
                                      </p:cBhvr>
                                      <p:to>
                                        <p:strVal val="visible"/>
                                      </p:to>
                                    </p:set>
                                    <p:animEffect transition="in" filter="box(in)">
                                      <p:cBhvr>
                                        <p:cTn id="29" dur="500"/>
                                        <p:tgtEl>
                                          <p:spTgt spid="4">
                                            <p:txEl>
                                              <p:pRg st="5" end="5"/>
                                            </p:txEl>
                                          </p:spTgt>
                                        </p:tgtEl>
                                      </p:cBhvr>
                                    </p:animEffect>
                                  </p:childTnLst>
                                </p:cTn>
                              </p:par>
                            </p:childTnLst>
                          </p:cTn>
                        </p:par>
                        <p:par>
                          <p:cTn id="30" fill="hold">
                            <p:stCondLst>
                              <p:cond delay="1000"/>
                            </p:stCondLst>
                            <p:childTnLst>
                              <p:par>
                                <p:cTn id="31" presetID="4" presetClass="entr" presetSubtype="16" fill="hold" grpId="0" nodeType="afterEffect">
                                  <p:stCondLst>
                                    <p:cond delay="0"/>
                                  </p:stCondLst>
                                  <p:childTnLst>
                                    <p:set>
                                      <p:cBhvr>
                                        <p:cTn id="32" dur="1" fill="hold">
                                          <p:stCondLst>
                                            <p:cond delay="0"/>
                                          </p:stCondLst>
                                        </p:cTn>
                                        <p:tgtEl>
                                          <p:spTgt spid="4">
                                            <p:txEl>
                                              <p:pRg st="6" end="6"/>
                                            </p:txEl>
                                          </p:spTgt>
                                        </p:tgtEl>
                                        <p:attrNameLst>
                                          <p:attrName>style.visibility</p:attrName>
                                        </p:attrNameLst>
                                      </p:cBhvr>
                                      <p:to>
                                        <p:strVal val="visible"/>
                                      </p:to>
                                    </p:set>
                                    <p:animEffect transition="in" filter="box(in)">
                                      <p:cBhvr>
                                        <p:cTn id="33" dur="500"/>
                                        <p:tgtEl>
                                          <p:spTgt spid="4">
                                            <p:txEl>
                                              <p:pRg st="6" end="6"/>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4" presetClass="entr" presetSubtype="16" fill="hold" grpId="0" nodeType="clickEffect">
                                  <p:stCondLst>
                                    <p:cond delay="0"/>
                                  </p:stCondLst>
                                  <p:childTnLst>
                                    <p:set>
                                      <p:cBhvr>
                                        <p:cTn id="37" dur="1" fill="hold">
                                          <p:stCondLst>
                                            <p:cond delay="0"/>
                                          </p:stCondLst>
                                        </p:cTn>
                                        <p:tgtEl>
                                          <p:spTgt spid="4">
                                            <p:txEl>
                                              <p:pRg st="7" end="7"/>
                                            </p:txEl>
                                          </p:spTgt>
                                        </p:tgtEl>
                                        <p:attrNameLst>
                                          <p:attrName>style.visibility</p:attrName>
                                        </p:attrNameLst>
                                      </p:cBhvr>
                                      <p:to>
                                        <p:strVal val="visible"/>
                                      </p:to>
                                    </p:set>
                                    <p:animEffect transition="in" filter="box(in)">
                                      <p:cBhvr>
                                        <p:cTn id="38" dur="500"/>
                                        <p:tgtEl>
                                          <p:spTgt spid="4">
                                            <p:txEl>
                                              <p:pRg st="7" end="7"/>
                                            </p:txEl>
                                          </p:spTgt>
                                        </p:tgtEl>
                                      </p:cBhvr>
                                    </p:animEffect>
                                  </p:childTnLst>
                                </p:cTn>
                              </p:par>
                            </p:childTnLst>
                          </p:cTn>
                        </p:par>
                        <p:par>
                          <p:cTn id="39" fill="hold">
                            <p:stCondLst>
                              <p:cond delay="500"/>
                            </p:stCondLst>
                            <p:childTnLst>
                              <p:par>
                                <p:cTn id="40" presetID="4" presetClass="entr" presetSubtype="16" fill="hold" grpId="0" nodeType="afterEffect">
                                  <p:stCondLst>
                                    <p:cond delay="0"/>
                                  </p:stCondLst>
                                  <p:childTnLst>
                                    <p:set>
                                      <p:cBhvr>
                                        <p:cTn id="41" dur="1" fill="hold">
                                          <p:stCondLst>
                                            <p:cond delay="0"/>
                                          </p:stCondLst>
                                        </p:cTn>
                                        <p:tgtEl>
                                          <p:spTgt spid="4">
                                            <p:txEl>
                                              <p:pRg st="8" end="8"/>
                                            </p:txEl>
                                          </p:spTgt>
                                        </p:tgtEl>
                                        <p:attrNameLst>
                                          <p:attrName>style.visibility</p:attrName>
                                        </p:attrNameLst>
                                      </p:cBhvr>
                                      <p:to>
                                        <p:strVal val="visible"/>
                                      </p:to>
                                    </p:set>
                                    <p:animEffect transition="in" filter="box(in)">
                                      <p:cBhvr>
                                        <p:cTn id="42" dur="500"/>
                                        <p:tgtEl>
                                          <p:spTgt spid="4">
                                            <p:txEl>
                                              <p:pRg st="8" end="8"/>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4"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 to="" calcmode="lin" valueType="num">
                                      <p:cBhvr>
                                        <p:cTn id="47" dur="1" fill="hold"/>
                                        <p:tgtEl>
                                          <p:spTgt spid="8"/>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autoUpdateAnimBg="0"/>
      <p:bldP spid="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a:xfrm>
            <a:off x="179512" y="123478"/>
            <a:ext cx="4176464" cy="857250"/>
          </a:xfrm>
        </p:spPr>
        <p:txBody>
          <a:bodyPr>
            <a:normAutofit/>
          </a:bodyPr>
          <a:lstStyle/>
          <a:p>
            <a:pPr eaLnBrk="1" hangingPunct="1"/>
            <a:r>
              <a:rPr lang="zh-CN" altLang="en-US" sz="4000" dirty="0"/>
              <a:t>解决方法</a:t>
            </a:r>
            <a:endParaRPr lang="zh-CN" altLang="zh-CN" sz="4800" dirty="0"/>
          </a:p>
        </p:txBody>
      </p:sp>
      <p:sp>
        <p:nvSpPr>
          <p:cNvPr id="8195" name="Rectangle 3"/>
          <p:cNvSpPr>
            <a:spLocks noGrp="1" noChangeArrowheads="1"/>
          </p:cNvSpPr>
          <p:nvPr>
            <p:ph type="body" idx="1"/>
          </p:nvPr>
        </p:nvSpPr>
        <p:spPr>
          <a:xfrm>
            <a:off x="4769768" y="2076687"/>
            <a:ext cx="4176464" cy="783096"/>
          </a:xfrm>
        </p:spPr>
        <p:style>
          <a:lnRef idx="2">
            <a:schemeClr val="accent3"/>
          </a:lnRef>
          <a:fillRef idx="1">
            <a:schemeClr val="lt1"/>
          </a:fillRef>
          <a:effectRef idx="0">
            <a:schemeClr val="accent3"/>
          </a:effectRef>
          <a:fontRef idx="minor">
            <a:schemeClr val="dk1"/>
          </a:fontRef>
        </p:style>
        <p:txBody>
          <a:bodyPr>
            <a:normAutofit/>
          </a:bodyPr>
          <a:lstStyle/>
          <a:p>
            <a:pPr marL="173038" indent="-173038" eaLnBrk="1" hangingPunct="1"/>
            <a:r>
              <a:rPr lang="zh-CN" altLang="en-US" sz="2200" dirty="0"/>
              <a:t>高级语言的语法结构适合用</a:t>
            </a:r>
            <a:r>
              <a:rPr lang="zh-CN" altLang="en-US" sz="2200" dirty="0">
                <a:solidFill>
                  <a:srgbClr val="FF0000"/>
                </a:solidFill>
              </a:rPr>
              <a:t>上下文无关文法</a:t>
            </a:r>
            <a:r>
              <a:rPr lang="zh-CN" altLang="en-US" sz="2200" dirty="0"/>
              <a:t>来描述</a:t>
            </a:r>
            <a:endParaRPr lang="zh-CN" altLang="zh-CN" sz="2200" dirty="0"/>
          </a:p>
        </p:txBody>
      </p:sp>
      <p:sp>
        <p:nvSpPr>
          <p:cNvPr id="363524" name="Rectangle 4"/>
          <p:cNvSpPr>
            <a:spLocks noChangeArrowheads="1"/>
          </p:cNvSpPr>
          <p:nvPr/>
        </p:nvSpPr>
        <p:spPr bwMode="auto">
          <a:xfrm>
            <a:off x="4572000" y="123478"/>
            <a:ext cx="4572000" cy="1015663"/>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eaLnBrk="0" hangingPunct="0">
              <a:defRPr kumimoji="1" sz="2800">
                <a:solidFill>
                  <a:schemeClr val="tx1"/>
                </a:solidFill>
                <a:latin typeface="Times New Roman" pitchFamily="18" charset="0"/>
                <a:ea typeface="华文行楷" pitchFamily="2" charset="-122"/>
              </a:defRPr>
            </a:lvl1pPr>
            <a:lvl2pPr eaLnBrk="0" hangingPunct="0">
              <a:defRPr kumimoji="1" sz="2800">
                <a:solidFill>
                  <a:schemeClr val="tx1"/>
                </a:solidFill>
                <a:latin typeface="Times New Roman" pitchFamily="18" charset="0"/>
                <a:ea typeface="华文行楷" pitchFamily="2" charset="-122"/>
              </a:defRPr>
            </a:lvl2pPr>
            <a:lvl3pPr marL="1143000" indent="-228600" eaLnBrk="0" hangingPunct="0">
              <a:defRPr kumimoji="1" sz="2800">
                <a:solidFill>
                  <a:schemeClr val="tx1"/>
                </a:solidFill>
                <a:latin typeface="Times New Roman" pitchFamily="18" charset="0"/>
                <a:ea typeface="华文行楷" pitchFamily="2" charset="-122"/>
              </a:defRPr>
            </a:lvl3pPr>
            <a:lvl4pPr marL="1600200" indent="-228600" eaLnBrk="0" hangingPunct="0">
              <a:defRPr kumimoji="1" sz="2800">
                <a:solidFill>
                  <a:schemeClr val="tx1"/>
                </a:solidFill>
                <a:latin typeface="Times New Roman" pitchFamily="18" charset="0"/>
                <a:ea typeface="华文行楷" pitchFamily="2" charset="-122"/>
              </a:defRPr>
            </a:lvl4pPr>
            <a:lvl5pPr marL="2057400" indent="-228600" eaLnBrk="0" hangingPunct="0">
              <a:defRPr kumimoji="1" sz="2800">
                <a:solidFill>
                  <a:schemeClr val="tx1"/>
                </a:solidFill>
                <a:latin typeface="Times New Roman" pitchFamily="18" charset="0"/>
                <a:ea typeface="华文行楷" pitchFamily="2" charset="-122"/>
              </a:defRPr>
            </a:lvl5pPr>
            <a:lvl6pPr marL="25146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6pPr>
            <a:lvl7pPr marL="29718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7pPr>
            <a:lvl8pPr marL="34290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8pPr>
            <a:lvl9pPr marL="38862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9pPr>
          </a:lstStyle>
          <a:p>
            <a:pPr eaLnBrk="1" hangingPunct="1">
              <a:defRPr/>
            </a:pPr>
            <a:r>
              <a:rPr lang="zh-CN" altLang="en-US" sz="2000" b="1" dirty="0">
                <a:solidFill>
                  <a:srgbClr val="000099"/>
                </a:solidFill>
              </a:rPr>
              <a:t>在词法分析识别出正确的单词符号串的基础上，分析并判定</a:t>
            </a:r>
            <a:r>
              <a:rPr lang="zh-CN" altLang="en-US" sz="2000" dirty="0"/>
              <a:t>这些</a:t>
            </a:r>
            <a:r>
              <a:rPr lang="zh-CN" altLang="en-US" sz="2000" b="1" dirty="0">
                <a:solidFill>
                  <a:srgbClr val="000099"/>
                </a:solidFill>
              </a:rPr>
              <a:t>单词符号串</a:t>
            </a:r>
            <a:r>
              <a:rPr lang="zh-CN" altLang="en-US" sz="2000" b="1" dirty="0">
                <a:solidFill>
                  <a:srgbClr val="FF3300"/>
                </a:solidFill>
              </a:rPr>
              <a:t>是否</a:t>
            </a:r>
            <a:r>
              <a:rPr lang="zh-CN" altLang="en-US" sz="2000" dirty="0"/>
              <a:t>能构成</a:t>
            </a:r>
            <a:r>
              <a:rPr lang="zh-CN" altLang="en-US" sz="2000" b="1" dirty="0">
                <a:solidFill>
                  <a:srgbClr val="FF3300"/>
                </a:solidFill>
              </a:rPr>
              <a:t>正确</a:t>
            </a:r>
            <a:r>
              <a:rPr lang="zh-CN" altLang="en-US" sz="2000" dirty="0"/>
              <a:t>的表达式、语句或程序</a:t>
            </a:r>
            <a:endParaRPr lang="en-US" altLang="zh-CN" sz="2000" b="1" dirty="0">
              <a:solidFill>
                <a:srgbClr val="FF3300"/>
              </a:solidFill>
            </a:endParaRPr>
          </a:p>
        </p:txBody>
      </p:sp>
      <p:sp>
        <p:nvSpPr>
          <p:cNvPr id="7" name="Rectangle 7"/>
          <p:cNvSpPr>
            <a:spLocks noChangeArrowheads="1"/>
          </p:cNvSpPr>
          <p:nvPr/>
        </p:nvSpPr>
        <p:spPr bwMode="auto">
          <a:xfrm>
            <a:off x="261891" y="2589735"/>
            <a:ext cx="3898157" cy="830997"/>
          </a:xfrm>
          <a:prstGeom prst="rect">
            <a:avLst/>
          </a:prstGeom>
          <a:solidFill>
            <a:srgbClr val="99CC00"/>
          </a:solidFill>
          <a:ln w="1905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pPr>
            <a:r>
              <a:rPr lang="zh-CN" altLang="en-US" sz="2400" dirty="0">
                <a:solidFill>
                  <a:srgbClr val="FF3300"/>
                </a:solidFill>
                <a:ea typeface="华文行楷" pitchFamily="2" charset="-122"/>
              </a:rPr>
              <a:t>语法规则如何定义和表示？</a:t>
            </a:r>
          </a:p>
          <a:p>
            <a:pPr>
              <a:spcBef>
                <a:spcPct val="0"/>
              </a:spcBef>
            </a:pPr>
            <a:r>
              <a:rPr lang="zh-CN" altLang="en-US" sz="2400" dirty="0">
                <a:solidFill>
                  <a:srgbClr val="FF3300"/>
                </a:solidFill>
                <a:ea typeface="华文行楷" pitchFamily="2" charset="-122"/>
              </a:rPr>
              <a:t>如何判断是否符合规则</a:t>
            </a:r>
            <a:r>
              <a:rPr lang="en-US" altLang="zh-CN" sz="2400" dirty="0">
                <a:solidFill>
                  <a:srgbClr val="FF3300"/>
                </a:solidFill>
                <a:ea typeface="华文行楷" pitchFamily="2" charset="-122"/>
              </a:rPr>
              <a:t>?</a:t>
            </a:r>
          </a:p>
        </p:txBody>
      </p:sp>
      <p:sp>
        <p:nvSpPr>
          <p:cNvPr id="8" name="矩形 7"/>
          <p:cNvSpPr/>
          <p:nvPr/>
        </p:nvSpPr>
        <p:spPr>
          <a:xfrm>
            <a:off x="0" y="4713966"/>
            <a:ext cx="4769768" cy="430887"/>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lvl1pPr marL="457200" indent="-457200" eaLnBrk="0" hangingPunct="0">
              <a:defRPr kumimoji="1" sz="3200">
                <a:solidFill>
                  <a:schemeClr val="tx1"/>
                </a:solidFill>
                <a:latin typeface="Times New Roman" panose="02020603050405020304" pitchFamily="18" charset="0"/>
                <a:ea typeface="宋体" panose="02010600030101010101" pitchFamily="2" charset="-122"/>
              </a:defRPr>
            </a:lvl1pPr>
            <a:lvl2pPr marL="742950" indent="-285750" eaLnBrk="0" hangingPunct="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eaLnBrk="0" hangingPunct="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indent="0" eaLnBrk="1" hangingPunct="1">
              <a:defRPr/>
            </a:pPr>
            <a:r>
              <a:rPr lang="zh-CN" altLang="en-US" sz="2200" b="1" dirty="0">
                <a:solidFill>
                  <a:srgbClr val="000099"/>
                </a:solidFill>
              </a:rPr>
              <a:t>如果符合规则，程序的语法结构正确</a:t>
            </a:r>
            <a:endParaRPr lang="zh-CN" altLang="en-US" sz="2200" b="1" dirty="0">
              <a:solidFill>
                <a:srgbClr val="FF3300"/>
              </a:solidFill>
            </a:endParaRPr>
          </a:p>
        </p:txBody>
      </p:sp>
      <p:sp>
        <p:nvSpPr>
          <p:cNvPr id="9" name="Rectangle 3"/>
          <p:cNvSpPr txBox="1">
            <a:spLocks noChangeArrowheads="1"/>
          </p:cNvSpPr>
          <p:nvPr/>
        </p:nvSpPr>
        <p:spPr>
          <a:xfrm>
            <a:off x="4769768" y="3291830"/>
            <a:ext cx="4176464" cy="432048"/>
          </a:xfrm>
          <a:prstGeom prst="rect">
            <a:avLst/>
          </a:prstGeom>
        </p:spPr>
        <p:style>
          <a:lnRef idx="2">
            <a:schemeClr val="accent3"/>
          </a:lnRef>
          <a:fillRef idx="1">
            <a:schemeClr val="lt1"/>
          </a:fillRef>
          <a:effectRef idx="0">
            <a:schemeClr val="accent3"/>
          </a:effectRef>
          <a:fontRef idx="minor">
            <a:schemeClr val="dk1"/>
          </a:fontRef>
        </p:style>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73038" indent="-173038"/>
            <a:r>
              <a:rPr lang="zh-CN" altLang="en-US" sz="2200" dirty="0"/>
              <a:t>语法分析方法</a:t>
            </a:r>
          </a:p>
        </p:txBody>
      </p:sp>
      <p:cxnSp>
        <p:nvCxnSpPr>
          <p:cNvPr id="5" name="直接箭头连接符 4"/>
          <p:cNvCxnSpPr/>
          <p:nvPr/>
        </p:nvCxnSpPr>
        <p:spPr>
          <a:xfrm flipV="1">
            <a:off x="4160048" y="2499742"/>
            <a:ext cx="609720" cy="360040"/>
          </a:xfrm>
          <a:prstGeom prst="straightConnector1">
            <a:avLst/>
          </a:prstGeom>
          <a:ln w="38100">
            <a:tailEnd type="arrow"/>
          </a:ln>
        </p:spPr>
        <p:style>
          <a:lnRef idx="1">
            <a:schemeClr val="accent2"/>
          </a:lnRef>
          <a:fillRef idx="0">
            <a:schemeClr val="accent2"/>
          </a:fillRef>
          <a:effectRef idx="0">
            <a:schemeClr val="accent2"/>
          </a:effectRef>
          <a:fontRef idx="minor">
            <a:schemeClr val="tx1"/>
          </a:fontRef>
        </p:style>
      </p:cxnSp>
      <p:cxnSp>
        <p:nvCxnSpPr>
          <p:cNvPr id="12" name="直接箭头连接符 11"/>
          <p:cNvCxnSpPr/>
          <p:nvPr/>
        </p:nvCxnSpPr>
        <p:spPr>
          <a:xfrm>
            <a:off x="4160048" y="3147814"/>
            <a:ext cx="609720" cy="360040"/>
          </a:xfrm>
          <a:prstGeom prst="straightConnector1">
            <a:avLst/>
          </a:prstGeom>
          <a:ln w="38100">
            <a:tailEnd type="arrow"/>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1972252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8195">
                                            <p:bg/>
                                          </p:spTgt>
                                        </p:tgtEl>
                                        <p:attrNameLst>
                                          <p:attrName>style.visibility</p:attrName>
                                        </p:attrNameLst>
                                      </p:cBhvr>
                                      <p:to>
                                        <p:strVal val="visible"/>
                                      </p:to>
                                    </p:set>
                                    <p:animEffect transition="in" filter="wipe(down)">
                                      <p:cBhvr>
                                        <p:cTn id="10" dur="500"/>
                                        <p:tgtEl>
                                          <p:spTgt spid="8195">
                                            <p:bg/>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8195">
                                            <p:txEl>
                                              <p:pRg st="0" end="0"/>
                                            </p:txEl>
                                          </p:spTgt>
                                        </p:tgtEl>
                                        <p:attrNameLst>
                                          <p:attrName>style.visibility</p:attrName>
                                        </p:attrNameLst>
                                      </p:cBhvr>
                                      <p:to>
                                        <p:strVal val="visible"/>
                                      </p:to>
                                    </p:set>
                                    <p:animEffect transition="in" filter="wipe(down)">
                                      <p:cBhvr>
                                        <p:cTn id="15" dur="500"/>
                                        <p:tgtEl>
                                          <p:spTgt spid="8195">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down)">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5" grpId="0" build="p" animBg="1"/>
      <p:bldP spid="9"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0" y="150813"/>
            <a:ext cx="9144000" cy="620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Clr>
                <a:schemeClr val="tx1"/>
              </a:buClr>
            </a:pPr>
            <a:r>
              <a:rPr lang="zh-CN" altLang="en-US" b="1" dirty="0"/>
              <a:t>常用的语法分析方法</a:t>
            </a:r>
            <a:r>
              <a:rPr lang="zh-CN" altLang="en-US" sz="2800" b="1" dirty="0"/>
              <a:t>（根据建立语法树的方向）</a:t>
            </a:r>
            <a:r>
              <a:rPr lang="zh-CN" altLang="en-US" b="1" dirty="0"/>
              <a:t>：</a:t>
            </a:r>
            <a:endParaRPr lang="zh-CN" altLang="en-US" sz="2800" dirty="0"/>
          </a:p>
        </p:txBody>
      </p:sp>
      <p:sp>
        <p:nvSpPr>
          <p:cNvPr id="230403" name="Rectangle 3"/>
          <p:cNvSpPr>
            <a:spLocks noChangeArrowheads="1"/>
          </p:cNvSpPr>
          <p:nvPr/>
        </p:nvSpPr>
        <p:spPr bwMode="auto">
          <a:xfrm>
            <a:off x="669925" y="788988"/>
            <a:ext cx="7921625" cy="304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361950" indent="-36195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 typeface="Wingdings" pitchFamily="2" charset="2"/>
              <a:buChar char="Ø"/>
            </a:pPr>
            <a:r>
              <a:rPr lang="zh-CN" altLang="en-US" sz="2200" b="1" i="1" u="sng" dirty="0">
                <a:solidFill>
                  <a:srgbClr val="0000CC"/>
                </a:solidFill>
                <a:latin typeface="宋体" panose="02010600030101010101" pitchFamily="2" charset="-122"/>
              </a:rPr>
              <a:t>自上而下分析法</a:t>
            </a:r>
            <a:r>
              <a:rPr lang="zh-CN" altLang="en-US" sz="2200" b="1" dirty="0">
                <a:latin typeface="宋体" panose="02010600030101010101" pitchFamily="2" charset="-122"/>
              </a:rPr>
              <a:t>：</a:t>
            </a:r>
            <a:br>
              <a:rPr lang="zh-CN" altLang="en-US" sz="2200" b="1" dirty="0">
                <a:latin typeface="宋体" panose="02010600030101010101" pitchFamily="2" charset="-122"/>
              </a:rPr>
            </a:br>
            <a:r>
              <a:rPr lang="zh-CN" altLang="en-US" sz="2200" dirty="0">
                <a:latin typeface="宋体" panose="02010600030101010101" pitchFamily="2" charset="-122"/>
              </a:rPr>
              <a:t>从文法的开始符号出发，自上而下建立语法树。一般是使用最左推导</a:t>
            </a:r>
            <a:r>
              <a:rPr lang="en-US" altLang="zh-CN" sz="2200" dirty="0">
                <a:latin typeface="宋体" panose="02010600030101010101" pitchFamily="2" charset="-122"/>
              </a:rPr>
              <a:t> </a:t>
            </a:r>
            <a:r>
              <a:rPr lang="zh-CN" altLang="en-US" sz="2200" dirty="0">
                <a:latin typeface="宋体" panose="02010600030101010101" pitchFamily="2" charset="-122"/>
              </a:rPr>
              <a:t>，尽可能使用各种产生式，推导出与输入串匹配的句子。</a:t>
            </a:r>
          </a:p>
          <a:p>
            <a:pPr eaLnBrk="1" hangingPunct="1">
              <a:buFont typeface="Wingdings" pitchFamily="2" charset="2"/>
              <a:buChar char="Ø"/>
            </a:pPr>
            <a:r>
              <a:rPr lang="zh-CN" altLang="en-US" sz="2200" b="1" i="1" u="sng" dirty="0">
                <a:solidFill>
                  <a:srgbClr val="0000CC"/>
                </a:solidFill>
                <a:latin typeface="宋体" panose="02010600030101010101" pitchFamily="2" charset="-122"/>
              </a:rPr>
              <a:t>自下而上分析法</a:t>
            </a:r>
            <a:r>
              <a:rPr lang="zh-CN" altLang="en-US" sz="2200" b="1" dirty="0">
                <a:latin typeface="宋体" panose="02010600030101010101" pitchFamily="2" charset="-122"/>
              </a:rPr>
              <a:t>：</a:t>
            </a:r>
            <a:br>
              <a:rPr lang="zh-CN" altLang="en-US" sz="2200" b="1" i="1" u="sng" dirty="0">
                <a:solidFill>
                  <a:srgbClr val="0000CC"/>
                </a:solidFill>
                <a:latin typeface="宋体" panose="02010600030101010101" pitchFamily="2" charset="-122"/>
              </a:rPr>
            </a:br>
            <a:r>
              <a:rPr lang="zh-CN" altLang="en-US" sz="2200" dirty="0">
                <a:latin typeface="宋体" panose="02010600030101010101" pitchFamily="2" charset="-122"/>
              </a:rPr>
              <a:t>从输入符号串开始，自下而上建立语法树。逐层向上，直至得到文法的开始符号。</a:t>
            </a:r>
          </a:p>
          <a:p>
            <a:pPr eaLnBrk="1" hangingPunct="1">
              <a:buFont typeface="Wingdings" pitchFamily="2" charset="2"/>
              <a:buChar char="Ø"/>
            </a:pPr>
            <a:r>
              <a:rPr lang="zh-CN" altLang="en-US" sz="2200" b="1" i="1" u="sng" dirty="0">
                <a:solidFill>
                  <a:srgbClr val="0000CC"/>
                </a:solidFill>
                <a:latin typeface="宋体" panose="02010600030101010101" pitchFamily="2" charset="-122"/>
              </a:rPr>
              <a:t>具体分类</a:t>
            </a:r>
            <a:r>
              <a:rPr lang="zh-CN" altLang="en-US" sz="2200" b="1" dirty="0">
                <a:latin typeface="宋体" panose="02010600030101010101" pitchFamily="2" charset="-122"/>
              </a:rPr>
              <a:t>：</a:t>
            </a:r>
          </a:p>
        </p:txBody>
      </p:sp>
      <p:graphicFrame>
        <p:nvGraphicFramePr>
          <p:cNvPr id="230404" name="Group 4"/>
          <p:cNvGraphicFramePr>
            <a:graphicFrameLocks noGrp="1"/>
          </p:cNvGraphicFramePr>
          <p:nvPr>
            <p:extLst>
              <p:ext uri="{D42A27DB-BD31-4B8C-83A1-F6EECF244321}">
                <p14:modId xmlns:p14="http://schemas.microsoft.com/office/powerpoint/2010/main" val="580144843"/>
              </p:ext>
            </p:extLst>
          </p:nvPr>
        </p:nvGraphicFramePr>
        <p:xfrm>
          <a:off x="2771800" y="3435846"/>
          <a:ext cx="3988941" cy="1371600"/>
        </p:xfrm>
        <a:graphic>
          <a:graphicData uri="http://schemas.openxmlformats.org/drawingml/2006/table">
            <a:tbl>
              <a:tblPr/>
              <a:tblGrid>
                <a:gridCol w="1800201">
                  <a:extLst>
                    <a:ext uri="{9D8B030D-6E8A-4147-A177-3AD203B41FA5}">
                      <a16:colId xmlns:a16="http://schemas.microsoft.com/office/drawing/2014/main" val="20000"/>
                    </a:ext>
                  </a:extLst>
                </a:gridCol>
                <a:gridCol w="2188740">
                  <a:extLst>
                    <a:ext uri="{9D8B030D-6E8A-4147-A177-3AD203B41FA5}">
                      <a16:colId xmlns:a16="http://schemas.microsoft.com/office/drawing/2014/main" val="20001"/>
                    </a:ext>
                  </a:extLst>
                </a:gridCol>
              </a:tblGrid>
              <a:tr h="342900">
                <a:tc rowSpan="2">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dirty="0">
                          <a:ln>
                            <a:noFill/>
                          </a:ln>
                          <a:solidFill>
                            <a:schemeClr val="tx1"/>
                          </a:solidFill>
                          <a:effectLst/>
                          <a:latin typeface="宋体" pitchFamily="2" charset="-122"/>
                          <a:ea typeface="宋体" pitchFamily="2" charset="-122"/>
                        </a:rPr>
                        <a:t>自上而下分析</a:t>
                      </a:r>
                      <a:endParaRPr kumimoji="1" lang="zh-CN" altLang="en-US"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a:ln>
                            <a:noFill/>
                          </a:ln>
                          <a:solidFill>
                            <a:schemeClr val="tx1"/>
                          </a:solidFill>
                          <a:effectLst/>
                          <a:latin typeface="宋体" pitchFamily="2" charset="-122"/>
                          <a:ea typeface="宋体" pitchFamily="2" charset="-122"/>
                        </a:rPr>
                        <a:t>递归下降分析</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2900">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a:ln>
                            <a:noFill/>
                          </a:ln>
                          <a:solidFill>
                            <a:schemeClr val="tx1"/>
                          </a:solidFill>
                          <a:effectLst/>
                          <a:latin typeface="宋体" pitchFamily="2" charset="-122"/>
                          <a:ea typeface="宋体" pitchFamily="2" charset="-122"/>
                        </a:rPr>
                        <a:t>预测分析</a:t>
                      </a:r>
                      <a:r>
                        <a:rPr kumimoji="1" lang="en-US" altLang="zh-CN" sz="1800" b="0" i="0" u="none" strike="noStrike" cap="none" normalizeH="0" baseline="0">
                          <a:ln>
                            <a:noFill/>
                          </a:ln>
                          <a:solidFill>
                            <a:schemeClr val="tx1"/>
                          </a:solidFill>
                          <a:effectLst/>
                          <a:latin typeface="宋体" pitchFamily="2" charset="-122"/>
                          <a:ea typeface="宋体" pitchFamily="2" charset="-122"/>
                        </a:rPr>
                        <a:t>(LL)</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2900">
                <a:tc rowSpan="2">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dirty="0">
                          <a:ln>
                            <a:noFill/>
                          </a:ln>
                          <a:solidFill>
                            <a:schemeClr val="tx1"/>
                          </a:solidFill>
                          <a:effectLst/>
                          <a:latin typeface="宋体" pitchFamily="2" charset="-122"/>
                          <a:ea typeface="宋体" pitchFamily="2" charset="-122"/>
                        </a:rPr>
                        <a:t>自下而上分析</a:t>
                      </a:r>
                      <a:r>
                        <a:rPr kumimoji="1" lang="zh-CN" altLang="en-US" sz="1800" b="0" i="0" u="none" strike="noStrike" cap="none" normalizeH="0" baseline="0" dirty="0">
                          <a:ln>
                            <a:noFill/>
                          </a:ln>
                          <a:solidFill>
                            <a:schemeClr val="tx1"/>
                          </a:solidFill>
                          <a:effectLst/>
                          <a:latin typeface="Times New Roman" pitchFamily="18" charset="0"/>
                          <a:ea typeface="宋体" pitchFamily="2" charset="-122"/>
                        </a:rPr>
                        <a:t> </a:t>
                      </a: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dirty="0">
                          <a:ln>
                            <a:noFill/>
                          </a:ln>
                          <a:solidFill>
                            <a:schemeClr val="tx1"/>
                          </a:solidFill>
                          <a:effectLst/>
                          <a:latin typeface="宋体" pitchFamily="2" charset="-122"/>
                          <a:ea typeface="宋体" pitchFamily="2" charset="-122"/>
                        </a:rPr>
                        <a:t>算符优先分析</a:t>
                      </a:r>
                      <a:r>
                        <a:rPr kumimoji="1" lang="zh-CN" altLang="en-US" sz="1800" b="0" i="0" u="none" strike="noStrike" cap="none" normalizeH="0" baseline="0" dirty="0">
                          <a:ln>
                            <a:noFill/>
                          </a:ln>
                          <a:solidFill>
                            <a:schemeClr val="tx1"/>
                          </a:solidFill>
                          <a:effectLst/>
                          <a:latin typeface="Times New Roman" pitchFamily="18" charset="0"/>
                          <a:ea typeface="宋体" pitchFamily="2" charset="-122"/>
                        </a:rPr>
                        <a:t>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2900">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LR</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分析</a:t>
                      </a:r>
                      <a:endParaRPr kumimoji="1" lang="zh-CN" altLang="en-US" sz="1800" b="1" i="0" u="none" strike="noStrike" cap="none" normalizeH="0" baseline="0" dirty="0">
                        <a:ln>
                          <a:noFill/>
                        </a:ln>
                        <a:solidFill>
                          <a:schemeClr val="tx1"/>
                        </a:solidFill>
                        <a:effectLst/>
                        <a:latin typeface="宋体" pitchFamily="2" charset="-122"/>
                        <a:ea typeface="宋体"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pic>
        <p:nvPicPr>
          <p:cNvPr id="463874" name="Picture 2" descr="https://ss2.bdstatic.com/70cFvnSh_Q1YnxGkpoWK1HF6hhy/it/u=361757917,2927435161&amp;fm=26&amp;gp=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92280" y="2966385"/>
            <a:ext cx="2064226" cy="2177115"/>
          </a:xfrm>
          <a:prstGeom prst="rect">
            <a:avLst/>
          </a:prstGeom>
          <a:noFill/>
          <a:ln w="28575">
            <a:solidFill>
              <a:srgbClr val="00B050"/>
            </a:solidFill>
          </a:ln>
          <a:extLst>
            <a:ext uri="{909E8E84-426E-40DD-AFC4-6F175D3DCCD1}">
              <a14:hiddenFill xmlns:a14="http://schemas.microsoft.com/office/drawing/2010/main">
                <a:solidFill>
                  <a:srgbClr val="FFFFFF"/>
                </a:solidFill>
              </a14:hiddenFill>
            </a:ext>
          </a:extLst>
        </p:spPr>
      </p:pic>
      <p:cxnSp>
        <p:nvCxnSpPr>
          <p:cNvPr id="3" name="直接箭头连接符 2"/>
          <p:cNvCxnSpPr/>
          <p:nvPr/>
        </p:nvCxnSpPr>
        <p:spPr>
          <a:xfrm>
            <a:off x="7236296" y="3075806"/>
            <a:ext cx="0" cy="2067694"/>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4"/>
          <p:cNvCxnSpPr/>
          <p:nvPr/>
        </p:nvCxnSpPr>
        <p:spPr>
          <a:xfrm flipV="1">
            <a:off x="8964488" y="3083952"/>
            <a:ext cx="0" cy="2067694"/>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84967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230403">
                                            <p:txEl>
                                              <p:pRg st="0" end="0"/>
                                            </p:txEl>
                                          </p:spTgt>
                                        </p:tgtEl>
                                        <p:attrNameLst>
                                          <p:attrName>style.visibility</p:attrName>
                                        </p:attrNameLst>
                                      </p:cBhvr>
                                      <p:to>
                                        <p:strVal val="visible"/>
                                      </p:to>
                                    </p:set>
                                    <p:animEffect transition="in" filter="strips(downLeft)">
                                      <p:cBhvr>
                                        <p:cTn id="7" dur="500"/>
                                        <p:tgtEl>
                                          <p:spTgt spid="23040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up)">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12" fill="hold" grpId="0" nodeType="clickEffect">
                                  <p:stCondLst>
                                    <p:cond delay="0"/>
                                  </p:stCondLst>
                                  <p:childTnLst>
                                    <p:set>
                                      <p:cBhvr>
                                        <p:cTn id="16" dur="1" fill="hold">
                                          <p:stCondLst>
                                            <p:cond delay="0"/>
                                          </p:stCondLst>
                                        </p:cTn>
                                        <p:tgtEl>
                                          <p:spTgt spid="230403">
                                            <p:txEl>
                                              <p:pRg st="1" end="1"/>
                                            </p:txEl>
                                          </p:spTgt>
                                        </p:tgtEl>
                                        <p:attrNameLst>
                                          <p:attrName>style.visibility</p:attrName>
                                        </p:attrNameLst>
                                      </p:cBhvr>
                                      <p:to>
                                        <p:strVal val="visible"/>
                                      </p:to>
                                    </p:set>
                                    <p:animEffect transition="in" filter="strips(downLeft)">
                                      <p:cBhvr>
                                        <p:cTn id="17" dur="500"/>
                                        <p:tgtEl>
                                          <p:spTgt spid="230403">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down)">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18" presetClass="entr" presetSubtype="12" fill="hold" grpId="0" nodeType="clickEffect">
                                  <p:stCondLst>
                                    <p:cond delay="0"/>
                                  </p:stCondLst>
                                  <p:childTnLst>
                                    <p:set>
                                      <p:cBhvr>
                                        <p:cTn id="26" dur="1" fill="hold">
                                          <p:stCondLst>
                                            <p:cond delay="0"/>
                                          </p:stCondLst>
                                        </p:cTn>
                                        <p:tgtEl>
                                          <p:spTgt spid="230403">
                                            <p:txEl>
                                              <p:pRg st="2" end="2"/>
                                            </p:txEl>
                                          </p:spTgt>
                                        </p:tgtEl>
                                        <p:attrNameLst>
                                          <p:attrName>style.visibility</p:attrName>
                                        </p:attrNameLst>
                                      </p:cBhvr>
                                      <p:to>
                                        <p:strVal val="visible"/>
                                      </p:to>
                                    </p:set>
                                    <p:animEffect transition="in" filter="strips(downLeft)">
                                      <p:cBhvr>
                                        <p:cTn id="27" dur="500"/>
                                        <p:tgtEl>
                                          <p:spTgt spid="230403">
                                            <p:txEl>
                                              <p:pRg st="2" end="2"/>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499"/>
                                          </p:stCondLst>
                                        </p:cTn>
                                        <p:tgtEl>
                                          <p:spTgt spid="230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403" grpId="0" uiExpand="1" build="p"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4993675" cy="769441"/>
          </a:xfrm>
          <a:prstGeom prst="rect">
            <a:avLst/>
          </a:prstGeom>
        </p:spPr>
        <p:txBody>
          <a:bodyPr wrap="none">
            <a:spAutoFit/>
          </a:bodyPr>
          <a:lstStyle/>
          <a:p>
            <a:r>
              <a:rPr lang="en-US" altLang="zh-CN" sz="4400" b="1" dirty="0">
                <a:solidFill>
                  <a:srgbClr val="CC0099"/>
                </a:solidFill>
                <a:ea typeface="隶书" pitchFamily="49" charset="-122"/>
              </a:rPr>
              <a:t>2</a:t>
            </a:r>
            <a:r>
              <a:rPr lang="zh-CN" altLang="en-US" sz="4400" b="1" dirty="0">
                <a:solidFill>
                  <a:srgbClr val="CC0099"/>
                </a:solidFill>
                <a:ea typeface="隶书" pitchFamily="49" charset="-122"/>
              </a:rPr>
              <a:t>、</a:t>
            </a:r>
            <a:r>
              <a:rPr lang="zh-CN" altLang="zh-CN" sz="4400" b="1" dirty="0">
                <a:solidFill>
                  <a:srgbClr val="CC0099"/>
                </a:solidFill>
                <a:ea typeface="隶书" pitchFamily="49" charset="-122"/>
              </a:rPr>
              <a:t>上下文无关文法</a:t>
            </a:r>
            <a:endParaRPr lang="zh-CN" altLang="en-US" sz="4400" dirty="0"/>
          </a:p>
        </p:txBody>
      </p:sp>
    </p:spTree>
    <p:extLst>
      <p:ext uri="{BB962C8B-B14F-4D97-AF65-F5344CB8AC3E}">
        <p14:creationId xmlns:p14="http://schemas.microsoft.com/office/powerpoint/2010/main" val="28925185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Rectangle 1027"/>
          <p:cNvSpPr>
            <a:spLocks noGrp="1" noChangeArrowheads="1"/>
          </p:cNvSpPr>
          <p:nvPr>
            <p:ph type="body" idx="4294967295"/>
          </p:nvPr>
        </p:nvSpPr>
        <p:spPr>
          <a:xfrm>
            <a:off x="4060220" y="2398990"/>
            <a:ext cx="5076056" cy="2536165"/>
          </a:xfrm>
        </p:spPr>
        <p:style>
          <a:lnRef idx="2">
            <a:schemeClr val="accent1"/>
          </a:lnRef>
          <a:fillRef idx="1">
            <a:schemeClr val="lt1"/>
          </a:fillRef>
          <a:effectRef idx="0">
            <a:schemeClr val="accent1"/>
          </a:effectRef>
          <a:fontRef idx="minor">
            <a:schemeClr val="dk1"/>
          </a:fontRef>
        </p:style>
        <p:txBody>
          <a:bodyPr>
            <a:noAutofit/>
          </a:bodyPr>
          <a:lstStyle/>
          <a:p>
            <a:pPr marL="109728" indent="0">
              <a:buNone/>
              <a:defRPr/>
            </a:pPr>
            <a:r>
              <a:rPr lang="en-US" altLang="zh-CN" sz="2000" dirty="0"/>
              <a:t>&lt;</a:t>
            </a:r>
            <a:r>
              <a:rPr lang="zh-CN" altLang="en-US" sz="2000" dirty="0"/>
              <a:t>句子</a:t>
            </a:r>
            <a:r>
              <a:rPr lang="en-US" altLang="zh-CN" sz="2000" dirty="0"/>
              <a:t>&gt;=&gt;&lt;</a:t>
            </a:r>
            <a:r>
              <a:rPr lang="zh-CN" altLang="en-US" sz="2000" dirty="0"/>
              <a:t>主语</a:t>
            </a:r>
            <a:r>
              <a:rPr lang="en-US" altLang="zh-CN" sz="2000" dirty="0"/>
              <a:t>&gt;&lt;</a:t>
            </a:r>
            <a:r>
              <a:rPr lang="zh-CN" altLang="en-US" sz="2000" dirty="0"/>
              <a:t>谓语</a:t>
            </a:r>
            <a:r>
              <a:rPr lang="en-US" altLang="zh-CN" sz="2000" dirty="0"/>
              <a:t>&gt;</a:t>
            </a:r>
          </a:p>
          <a:p>
            <a:pPr marL="109728" indent="0">
              <a:buNone/>
              <a:defRPr/>
            </a:pPr>
            <a:r>
              <a:rPr lang="en-US" altLang="zh-CN" sz="2000" dirty="0"/>
              <a:t>            =&gt; &lt;</a:t>
            </a:r>
            <a:r>
              <a:rPr lang="zh-CN" altLang="en-US" sz="2000" dirty="0"/>
              <a:t>代词</a:t>
            </a:r>
            <a:r>
              <a:rPr lang="en-US" altLang="zh-CN" sz="2000" dirty="0"/>
              <a:t>&gt;&lt;</a:t>
            </a:r>
            <a:r>
              <a:rPr lang="zh-CN" altLang="en-US" sz="2000" dirty="0"/>
              <a:t>谓语</a:t>
            </a:r>
            <a:r>
              <a:rPr lang="en-US" altLang="zh-CN" sz="2000" dirty="0"/>
              <a:t>&gt;</a:t>
            </a:r>
          </a:p>
          <a:p>
            <a:pPr marL="630936" lvl="2" indent="0">
              <a:buNone/>
              <a:defRPr/>
            </a:pPr>
            <a:r>
              <a:rPr lang="en-US" altLang="zh-CN" sz="2000" dirty="0"/>
              <a:t>      =&gt;&lt;</a:t>
            </a:r>
            <a:r>
              <a:rPr lang="zh-CN" altLang="en-US" sz="2000" dirty="0"/>
              <a:t>代词</a:t>
            </a:r>
            <a:r>
              <a:rPr lang="en-US" altLang="zh-CN" sz="2000" dirty="0"/>
              <a:t>&gt;&lt;</a:t>
            </a:r>
            <a:r>
              <a:rPr lang="zh-CN" altLang="en-US" sz="2000" dirty="0"/>
              <a:t>动词</a:t>
            </a:r>
            <a:r>
              <a:rPr lang="en-US" altLang="zh-CN" sz="2000" dirty="0"/>
              <a:t>&gt;&lt;</a:t>
            </a:r>
            <a:r>
              <a:rPr lang="zh-CN" altLang="en-US" sz="2000" dirty="0"/>
              <a:t>直接宾语</a:t>
            </a:r>
            <a:r>
              <a:rPr lang="en-US" altLang="zh-CN" sz="2000" dirty="0"/>
              <a:t>&gt;</a:t>
            </a:r>
          </a:p>
          <a:p>
            <a:pPr marL="630936" lvl="2" indent="0">
              <a:buNone/>
              <a:defRPr/>
            </a:pPr>
            <a:r>
              <a:rPr lang="en-US" altLang="zh-CN" sz="2000" dirty="0"/>
              <a:t>      =&gt;&lt;</a:t>
            </a:r>
            <a:r>
              <a:rPr lang="zh-CN" altLang="en-US" sz="2000" dirty="0"/>
              <a:t>代词</a:t>
            </a:r>
            <a:r>
              <a:rPr lang="en-US" altLang="zh-CN" sz="2000" dirty="0"/>
              <a:t>&gt;&lt;</a:t>
            </a:r>
            <a:r>
              <a:rPr lang="zh-CN" altLang="en-US" sz="2000" dirty="0"/>
              <a:t>动词</a:t>
            </a:r>
            <a:r>
              <a:rPr lang="en-US" altLang="zh-CN" sz="2000" dirty="0"/>
              <a:t>&gt;&lt;</a:t>
            </a:r>
            <a:r>
              <a:rPr lang="zh-CN" altLang="en-US" sz="2000" dirty="0"/>
              <a:t>名词</a:t>
            </a:r>
            <a:r>
              <a:rPr lang="en-US" altLang="zh-CN" sz="2000" dirty="0"/>
              <a:t>&gt;</a:t>
            </a:r>
          </a:p>
          <a:p>
            <a:pPr marL="630936" lvl="2" indent="0">
              <a:buNone/>
              <a:defRPr/>
            </a:pPr>
            <a:r>
              <a:rPr lang="en-US" altLang="zh-CN" sz="2000" dirty="0"/>
              <a:t>      =&gt;</a:t>
            </a:r>
            <a:r>
              <a:rPr lang="zh-CN" altLang="en-US" sz="2000" dirty="0"/>
              <a:t>我</a:t>
            </a:r>
            <a:r>
              <a:rPr lang="en-US" altLang="zh-CN" sz="2000" dirty="0"/>
              <a:t>&lt;</a:t>
            </a:r>
            <a:r>
              <a:rPr lang="zh-CN" altLang="en-US" sz="2000" dirty="0"/>
              <a:t>动词</a:t>
            </a:r>
            <a:r>
              <a:rPr lang="en-US" altLang="zh-CN" sz="2000" dirty="0"/>
              <a:t>&gt;&lt;</a:t>
            </a:r>
            <a:r>
              <a:rPr lang="zh-CN" altLang="en-US" sz="2000" dirty="0"/>
              <a:t>名词</a:t>
            </a:r>
            <a:r>
              <a:rPr lang="en-US" altLang="zh-CN" sz="2000" dirty="0"/>
              <a:t>&gt; </a:t>
            </a:r>
          </a:p>
          <a:p>
            <a:pPr marL="630936" lvl="2" indent="0">
              <a:buNone/>
              <a:defRPr/>
            </a:pPr>
            <a:r>
              <a:rPr lang="en-US" altLang="zh-CN" sz="2000" dirty="0"/>
              <a:t>      =&gt;</a:t>
            </a:r>
            <a:r>
              <a:rPr lang="zh-CN" altLang="en-US" sz="2000" dirty="0"/>
              <a:t>我是</a:t>
            </a:r>
            <a:r>
              <a:rPr lang="en-US" altLang="zh-CN" sz="2000" dirty="0"/>
              <a:t>&lt;</a:t>
            </a:r>
            <a:r>
              <a:rPr lang="zh-CN" altLang="en-US" sz="2000" dirty="0"/>
              <a:t>名词</a:t>
            </a:r>
            <a:r>
              <a:rPr lang="en-US" altLang="zh-CN" sz="2000" dirty="0"/>
              <a:t>&gt; </a:t>
            </a:r>
          </a:p>
          <a:p>
            <a:pPr marL="630936" lvl="2" indent="0">
              <a:buNone/>
              <a:defRPr/>
            </a:pPr>
            <a:r>
              <a:rPr lang="en-US" altLang="zh-CN" sz="2000" dirty="0"/>
              <a:t>      =&gt;</a:t>
            </a:r>
            <a:r>
              <a:rPr lang="zh-CN" altLang="en-US" sz="2000" dirty="0"/>
              <a:t>我是大学生</a:t>
            </a:r>
          </a:p>
          <a:p>
            <a:pPr marL="0" lvl="2" indent="0" eaLnBrk="1" hangingPunct="1">
              <a:buFontTx/>
              <a:buNone/>
            </a:pPr>
            <a:endParaRPr lang="en-US" altLang="zh-CN" sz="2000" dirty="0">
              <a:latin typeface="宋体" pitchFamily="2" charset="-122"/>
            </a:endParaRPr>
          </a:p>
        </p:txBody>
      </p:sp>
      <p:sp>
        <p:nvSpPr>
          <p:cNvPr id="11269" name="Rectangle 5"/>
          <p:cNvSpPr>
            <a:spLocks noChangeArrowheads="1"/>
          </p:cNvSpPr>
          <p:nvPr/>
        </p:nvSpPr>
        <p:spPr bwMode="auto">
          <a:xfrm>
            <a:off x="4283968" y="407784"/>
            <a:ext cx="4680520" cy="17604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None/>
            </a:pPr>
            <a:r>
              <a:rPr lang="zh-CN" altLang="en-US" sz="2200" dirty="0">
                <a:latin typeface="宋体" panose="02010600030101010101" pitchFamily="2" charset="-122"/>
              </a:rPr>
              <a:t>根据左边的规则判断：</a:t>
            </a:r>
            <a:endParaRPr lang="en-US" altLang="zh-CN" sz="2200" dirty="0">
              <a:latin typeface="宋体" panose="02010600030101010101" pitchFamily="2" charset="-122"/>
            </a:endParaRPr>
          </a:p>
          <a:p>
            <a:pPr eaLnBrk="1" hangingPunct="1">
              <a:buNone/>
            </a:pPr>
            <a:r>
              <a:rPr lang="zh-CN" altLang="en-US" sz="2200" b="1" dirty="0">
                <a:solidFill>
                  <a:srgbClr val="FF3300"/>
                </a:solidFill>
                <a:ea typeface="华文行楷" pitchFamily="2" charset="-122"/>
              </a:rPr>
              <a:t>      </a:t>
            </a:r>
            <a:r>
              <a:rPr lang="zh-CN" altLang="en-US" sz="2800" b="1" dirty="0">
                <a:solidFill>
                  <a:srgbClr val="FF3300"/>
                </a:solidFill>
                <a:ea typeface="华文行楷" pitchFamily="2" charset="-122"/>
              </a:rPr>
              <a:t>我是大学生</a:t>
            </a:r>
            <a:endParaRPr lang="en-US" altLang="zh-CN" sz="2800" b="1" dirty="0">
              <a:solidFill>
                <a:srgbClr val="FF3300"/>
              </a:solidFill>
              <a:ea typeface="华文行楷" pitchFamily="2" charset="-122"/>
            </a:endParaRPr>
          </a:p>
          <a:p>
            <a:pPr eaLnBrk="1" hangingPunct="1">
              <a:buNone/>
            </a:pPr>
            <a:r>
              <a:rPr lang="zh-CN" altLang="en-US" sz="2200" dirty="0">
                <a:latin typeface="宋体" panose="02010600030101010101" pitchFamily="2" charset="-122"/>
              </a:rPr>
              <a:t>是不是符合规则的句子</a:t>
            </a:r>
            <a:endParaRPr lang="en-US" altLang="zh-CN" sz="2200" dirty="0">
              <a:latin typeface="宋体" panose="02010600030101010101" pitchFamily="2" charset="-122"/>
            </a:endParaRPr>
          </a:p>
          <a:p>
            <a:pPr eaLnBrk="1" hangingPunct="1">
              <a:buNone/>
            </a:pPr>
            <a:r>
              <a:rPr lang="zh-CN" altLang="en-US" sz="2200" dirty="0">
                <a:latin typeface="宋体" panose="02010600030101010101" pitchFamily="2" charset="-122"/>
              </a:rPr>
              <a:t>（</a:t>
            </a:r>
            <a:r>
              <a:rPr lang="zh-CN" altLang="en-US" sz="2200" b="1" dirty="0">
                <a:solidFill>
                  <a:srgbClr val="00B050"/>
                </a:solidFill>
                <a:latin typeface="宋体" panose="02010600030101010101" pitchFamily="2" charset="-122"/>
              </a:rPr>
              <a:t>判断句子结构是否正确</a:t>
            </a:r>
            <a:r>
              <a:rPr lang="zh-CN" altLang="en-US" sz="2200" dirty="0">
                <a:latin typeface="宋体" panose="02010600030101010101" pitchFamily="2" charset="-122"/>
              </a:rPr>
              <a:t>）</a:t>
            </a:r>
          </a:p>
        </p:txBody>
      </p:sp>
      <p:sp>
        <p:nvSpPr>
          <p:cNvPr id="3" name="Rectangle 7"/>
          <p:cNvSpPr>
            <a:spLocks noChangeArrowheads="1"/>
          </p:cNvSpPr>
          <p:nvPr/>
        </p:nvSpPr>
        <p:spPr bwMode="auto">
          <a:xfrm>
            <a:off x="395536" y="1275221"/>
            <a:ext cx="2538412" cy="425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0" lvl="2" eaLnBrk="1" hangingPunct="1">
              <a:lnSpc>
                <a:spcPct val="90000"/>
              </a:lnSpc>
              <a:buFontTx/>
              <a:buNone/>
            </a:pPr>
            <a:r>
              <a:rPr lang="en-US" altLang="zh-CN" dirty="0">
                <a:solidFill>
                  <a:srgbClr val="CC00CC"/>
                </a:solidFill>
                <a:ea typeface="华文行楷" pitchFamily="2" charset="-122"/>
              </a:rPr>
              <a:t>(</a:t>
            </a:r>
            <a:r>
              <a:rPr lang="en-US" altLang="zh-CN" dirty="0">
                <a:solidFill>
                  <a:srgbClr val="CC00CC"/>
                </a:solidFill>
                <a:ea typeface="华文行楷" pitchFamily="2" charset="-122"/>
                <a:sym typeface="Wingdings" pitchFamily="2" charset="2"/>
              </a:rPr>
              <a:t></a:t>
            </a:r>
            <a:r>
              <a:rPr lang="zh-CN" altLang="en-US" dirty="0">
                <a:solidFill>
                  <a:srgbClr val="CC00CC"/>
                </a:solidFill>
                <a:ea typeface="华文行楷" pitchFamily="2" charset="-122"/>
                <a:sym typeface="Wingdings" pitchFamily="2" charset="2"/>
              </a:rPr>
              <a:t>表示由</a:t>
            </a:r>
            <a:r>
              <a:rPr lang="en-US" altLang="zh-CN" dirty="0">
                <a:solidFill>
                  <a:srgbClr val="CC00CC"/>
                </a:solidFill>
                <a:ea typeface="华文行楷" pitchFamily="2" charset="-122"/>
                <a:sym typeface="Wingdings" pitchFamily="2" charset="2"/>
              </a:rPr>
              <a:t>…</a:t>
            </a:r>
            <a:r>
              <a:rPr lang="zh-CN" altLang="en-US" dirty="0">
                <a:solidFill>
                  <a:srgbClr val="CC00CC"/>
                </a:solidFill>
                <a:ea typeface="华文行楷" pitchFamily="2" charset="-122"/>
                <a:sym typeface="Wingdings" pitchFamily="2" charset="2"/>
              </a:rPr>
              <a:t>组成</a:t>
            </a:r>
            <a:r>
              <a:rPr lang="en-US" altLang="zh-CN" dirty="0">
                <a:solidFill>
                  <a:srgbClr val="CC00CC"/>
                </a:solidFill>
                <a:ea typeface="华文行楷" pitchFamily="2" charset="-122"/>
              </a:rPr>
              <a:t>)</a:t>
            </a:r>
          </a:p>
        </p:txBody>
      </p:sp>
      <p:sp>
        <p:nvSpPr>
          <p:cNvPr id="2" name="矩形 1"/>
          <p:cNvSpPr/>
          <p:nvPr/>
        </p:nvSpPr>
        <p:spPr>
          <a:xfrm>
            <a:off x="95250" y="254000"/>
            <a:ext cx="3684662" cy="769441"/>
          </a:xfrm>
          <a:prstGeom prst="rect">
            <a:avLst/>
          </a:prstGeom>
        </p:spPr>
        <p:txBody>
          <a:bodyPr wrap="square">
            <a:spAutoFit/>
          </a:bodyPr>
          <a:lstStyle/>
          <a:p>
            <a:pPr marL="342900" indent="-342900" eaLnBrk="1" hangingPunct="1">
              <a:spcBef>
                <a:spcPct val="20000"/>
              </a:spcBef>
              <a:defRPr/>
            </a:pPr>
            <a:r>
              <a:rPr lang="zh-CN" altLang="en-US" sz="2200" kern="0" dirty="0">
                <a:solidFill>
                  <a:srgbClr val="000000"/>
                </a:solidFill>
                <a:latin typeface="宋体" pitchFamily="2" charset="-122"/>
                <a:ea typeface="宋体"/>
              </a:rPr>
              <a:t>例</a:t>
            </a:r>
            <a:r>
              <a:rPr lang="en-US" altLang="zh-CN" sz="2200" kern="0" dirty="0">
                <a:solidFill>
                  <a:srgbClr val="000000"/>
                </a:solidFill>
                <a:latin typeface="宋体" pitchFamily="2" charset="-122"/>
                <a:ea typeface="宋体"/>
              </a:rPr>
              <a:t>1</a:t>
            </a:r>
            <a:r>
              <a:rPr lang="zh-CN" altLang="en-US" sz="2200" kern="0" dirty="0">
                <a:solidFill>
                  <a:srgbClr val="000000"/>
                </a:solidFill>
                <a:latin typeface="宋体" pitchFamily="2" charset="-122"/>
                <a:ea typeface="宋体"/>
              </a:rPr>
              <a:t>：假定汉语中对句子构成的描述</a:t>
            </a:r>
            <a:r>
              <a:rPr lang="zh-CN" altLang="en-US" sz="2200" kern="0" dirty="0">
                <a:solidFill>
                  <a:srgbClr val="3333CC"/>
                </a:solidFill>
                <a:latin typeface="宋体" pitchFamily="2" charset="-122"/>
                <a:ea typeface="宋体"/>
              </a:rPr>
              <a:t>是：</a:t>
            </a:r>
          </a:p>
        </p:txBody>
      </p:sp>
      <p:sp>
        <p:nvSpPr>
          <p:cNvPr id="8" name="Rectangle 7"/>
          <p:cNvSpPr>
            <a:spLocks noChangeArrowheads="1"/>
          </p:cNvSpPr>
          <p:nvPr/>
        </p:nvSpPr>
        <p:spPr bwMode="auto">
          <a:xfrm>
            <a:off x="395536" y="4118876"/>
            <a:ext cx="3040482" cy="757130"/>
          </a:xfrm>
          <a:prstGeom prst="rect">
            <a:avLst/>
          </a:prstGeom>
          <a:solidFill>
            <a:schemeClr val="bg1"/>
          </a:solidFill>
          <a:ln>
            <a:noFill/>
          </a:ln>
          <a:effectLst/>
        </p:spPr>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0" lvl="2">
              <a:lnSpc>
                <a:spcPct val="90000"/>
              </a:lnSpc>
              <a:buNone/>
            </a:pPr>
            <a:r>
              <a:rPr lang="en-US" altLang="zh-CN" dirty="0">
                <a:solidFill>
                  <a:srgbClr val="CC00CC"/>
                </a:solidFill>
                <a:ea typeface="华文行楷" pitchFamily="2" charset="-122"/>
              </a:rPr>
              <a:t>(=&gt;</a:t>
            </a:r>
            <a:r>
              <a:rPr lang="zh-CN" altLang="en-US" dirty="0">
                <a:solidFill>
                  <a:srgbClr val="CC00CC"/>
                </a:solidFill>
                <a:ea typeface="华文行楷" pitchFamily="2" charset="-122"/>
                <a:sym typeface="Wingdings" pitchFamily="2" charset="2"/>
              </a:rPr>
              <a:t>表示用一条规则的右部去替换左部</a:t>
            </a:r>
            <a:r>
              <a:rPr lang="en-US" altLang="zh-CN" dirty="0">
                <a:solidFill>
                  <a:srgbClr val="CC00CC"/>
                </a:solidFill>
                <a:ea typeface="华文行楷" pitchFamily="2" charset="-122"/>
              </a:rPr>
              <a:t>)</a:t>
            </a:r>
          </a:p>
        </p:txBody>
      </p:sp>
      <p:sp>
        <p:nvSpPr>
          <p:cNvPr id="9" name="Rectangle 6"/>
          <p:cNvSpPr>
            <a:spLocks noChangeArrowheads="1"/>
          </p:cNvSpPr>
          <p:nvPr/>
        </p:nvSpPr>
        <p:spPr bwMode="auto">
          <a:xfrm>
            <a:off x="4067944" y="48993"/>
            <a:ext cx="4366994" cy="2246769"/>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zh-CN" altLang="en-US" sz="2000" dirty="0">
                <a:latin typeface="宋体" pitchFamily="2" charset="-122"/>
                <a:ea typeface="宋体" panose="02010600030101010101" pitchFamily="2" charset="-122"/>
              </a:rPr>
              <a:t>句子由主语谓语构成</a:t>
            </a:r>
            <a:r>
              <a:rPr lang="en-US" altLang="zh-CN" sz="2000" dirty="0">
                <a:latin typeface="宋体" pitchFamily="2" charset="-122"/>
                <a:ea typeface="宋体" panose="02010600030101010101" pitchFamily="2" charset="-122"/>
              </a:rPr>
              <a:t> </a:t>
            </a:r>
          </a:p>
          <a:p>
            <a:pPr marL="0" lvl="2"/>
            <a:r>
              <a:rPr lang="zh-CN" altLang="en-US" sz="2000" dirty="0">
                <a:latin typeface="宋体" pitchFamily="2" charset="-122"/>
                <a:ea typeface="宋体" panose="02010600030101010101" pitchFamily="2" charset="-122"/>
              </a:rPr>
              <a:t>主语可以是代词，也可以是名词</a:t>
            </a:r>
            <a:endParaRPr lang="en-US" altLang="zh-CN" sz="2000" dirty="0">
              <a:latin typeface="宋体" pitchFamily="2" charset="-122"/>
              <a:ea typeface="宋体" panose="02010600030101010101" pitchFamily="2" charset="-122"/>
            </a:endParaRPr>
          </a:p>
          <a:p>
            <a:pPr marL="0" lvl="2"/>
            <a:r>
              <a:rPr lang="zh-CN" altLang="en-US" sz="2000" dirty="0">
                <a:latin typeface="宋体" pitchFamily="2" charset="-122"/>
                <a:ea typeface="宋体" panose="02010600030101010101" pitchFamily="2" charset="-122"/>
              </a:rPr>
              <a:t>我、你、他是代词</a:t>
            </a:r>
          </a:p>
          <a:p>
            <a:pPr marL="0" lvl="2"/>
            <a:r>
              <a:rPr lang="zh-CN" altLang="en-US" sz="2000" dirty="0">
                <a:latin typeface="宋体" pitchFamily="2" charset="-122"/>
                <a:ea typeface="宋体" panose="02010600030101010101" pitchFamily="2" charset="-122"/>
              </a:rPr>
              <a:t>大学生、小学生是名词</a:t>
            </a:r>
          </a:p>
          <a:p>
            <a:pPr marL="0" lvl="2"/>
            <a:r>
              <a:rPr lang="zh-CN" altLang="en-US" sz="2000" dirty="0">
                <a:latin typeface="宋体" pitchFamily="2" charset="-122"/>
                <a:ea typeface="宋体" panose="02010600030101010101" pitchFamily="2" charset="-122"/>
              </a:rPr>
              <a:t>动词和直接宾语构成谓语</a:t>
            </a:r>
            <a:endParaRPr lang="en-US" altLang="zh-CN" sz="2000" dirty="0">
              <a:latin typeface="宋体" pitchFamily="2" charset="-122"/>
              <a:ea typeface="宋体" panose="02010600030101010101" pitchFamily="2" charset="-122"/>
            </a:endParaRPr>
          </a:p>
          <a:p>
            <a:pPr marL="0" lvl="2"/>
            <a:r>
              <a:rPr lang="zh-CN" altLang="en-US" sz="2000" dirty="0">
                <a:latin typeface="宋体" pitchFamily="2" charset="-122"/>
                <a:ea typeface="宋体" panose="02010600030101010101" pitchFamily="2" charset="-122"/>
              </a:rPr>
              <a:t>是是动词</a:t>
            </a:r>
          </a:p>
          <a:p>
            <a:pPr marL="0" lvl="2"/>
            <a:r>
              <a:rPr lang="zh-CN" altLang="en-US" sz="2000" dirty="0">
                <a:latin typeface="宋体" pitchFamily="2" charset="-122"/>
                <a:ea typeface="宋体" panose="02010600030101010101" pitchFamily="2" charset="-122"/>
              </a:rPr>
              <a:t>直接宾语可以是代词，也可以是名词</a:t>
            </a:r>
            <a:endParaRPr lang="en-US" altLang="zh-CN" sz="2000" dirty="0">
              <a:latin typeface="宋体" pitchFamily="2" charset="-122"/>
              <a:ea typeface="宋体" panose="02010600030101010101" pitchFamily="2" charset="-122"/>
            </a:endParaRPr>
          </a:p>
        </p:txBody>
      </p:sp>
      <p:sp>
        <p:nvSpPr>
          <p:cNvPr id="10" name="Rectangle 6"/>
          <p:cNvSpPr>
            <a:spLocks noChangeArrowheads="1"/>
          </p:cNvSpPr>
          <p:nvPr/>
        </p:nvSpPr>
        <p:spPr bwMode="auto">
          <a:xfrm>
            <a:off x="260807" y="1705608"/>
            <a:ext cx="3171832" cy="2031325"/>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句子</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 </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我</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你</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他</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大学生</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小学生</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是</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p:txBody>
      </p:sp>
    </p:spTree>
    <p:extLst>
      <p:ext uri="{BB962C8B-B14F-4D97-AF65-F5344CB8AC3E}">
        <p14:creationId xmlns:p14="http://schemas.microsoft.com/office/powerpoint/2010/main" val="3877623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9" presetClass="exit" presetSubtype="0" fill="hold" grpId="1" nodeType="clickEffect">
                                  <p:stCondLst>
                                    <p:cond delay="0"/>
                                  </p:stCondLst>
                                  <p:childTnLst>
                                    <p:animEffect transition="out" filter="dissolve">
                                      <p:cBhvr>
                                        <p:cTn id="18" dur="500"/>
                                        <p:tgtEl>
                                          <p:spTgt spid="9"/>
                                        </p:tgtEl>
                                      </p:cBhvr>
                                    </p:animEffect>
                                    <p:set>
                                      <p:cBhvr>
                                        <p:cTn id="19" dur="1" fill="hold">
                                          <p:stCondLst>
                                            <p:cond delay="499"/>
                                          </p:stCondLst>
                                        </p:cTn>
                                        <p:tgtEl>
                                          <p:spTgt spid="9"/>
                                        </p:tgtEl>
                                        <p:attrNameLst>
                                          <p:attrName>style.visibility</p:attrName>
                                        </p:attrNameLst>
                                      </p:cBhvr>
                                      <p:to>
                                        <p:strVal val="hidden"/>
                                      </p:to>
                                    </p:set>
                                  </p:childTnLst>
                                </p:cTn>
                              </p:par>
                            </p:childTnLst>
                          </p:cTn>
                        </p:par>
                        <p:par>
                          <p:cTn id="20" fill="hold">
                            <p:stCondLst>
                              <p:cond delay="500"/>
                            </p:stCondLst>
                            <p:childTnLst>
                              <p:par>
                                <p:cTn id="21" presetID="22" presetClass="entr" presetSubtype="4" fill="hold" grpId="0" nodeType="afterEffect">
                                  <p:stCondLst>
                                    <p:cond delay="0"/>
                                  </p:stCondLst>
                                  <p:childTnLst>
                                    <p:set>
                                      <p:cBhvr>
                                        <p:cTn id="22" dur="1" fill="hold">
                                          <p:stCondLst>
                                            <p:cond delay="0"/>
                                          </p:stCondLst>
                                        </p:cTn>
                                        <p:tgtEl>
                                          <p:spTgt spid="11269"/>
                                        </p:tgtEl>
                                        <p:attrNameLst>
                                          <p:attrName>style.visibility</p:attrName>
                                        </p:attrNameLst>
                                      </p:cBhvr>
                                      <p:to>
                                        <p:strVal val="visible"/>
                                      </p:to>
                                    </p:set>
                                    <p:animEffect transition="in" filter="wipe(down)">
                                      <p:cBhvr>
                                        <p:cTn id="23" dur="500"/>
                                        <p:tgtEl>
                                          <p:spTgt spid="11269"/>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1267">
                                            <p:bg/>
                                          </p:spTgt>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11267">
                                            <p:txEl>
                                              <p:pRg st="0" end="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1267">
                                            <p:txEl>
                                              <p:pRg st="1" end="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1267">
                                            <p:txEl>
                                              <p:pRg st="2" end="2"/>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1267">
                                            <p:txEl>
                                              <p:pRg st="3" end="3"/>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1267">
                                            <p:txEl>
                                              <p:pRg st="4" end="4"/>
                                            </p:txEl>
                                          </p:spTgt>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11267">
                                            <p:txEl>
                                              <p:pRg st="5" end="5"/>
                                            </p:txEl>
                                          </p:spTgt>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1267">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uiExpand="1" build="p" animBg="1"/>
      <p:bldP spid="11269" grpId="0"/>
      <p:bldP spid="3" grpId="0"/>
      <p:bldP spid="8" grpId="0" animBg="1"/>
      <p:bldP spid="9" grpId="0" animBg="1"/>
      <p:bldP spid="9" grpId="1" animBg="1"/>
      <p:bldP spid="10"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a:xfrm>
            <a:off x="395536" y="123478"/>
            <a:ext cx="7389922" cy="773113"/>
          </a:xfrm>
        </p:spPr>
        <p:txBody>
          <a:bodyPr>
            <a:normAutofit fontScale="90000"/>
          </a:bodyPr>
          <a:lstStyle/>
          <a:p>
            <a:pPr eaLnBrk="1" hangingPunct="1"/>
            <a:r>
              <a:rPr lang="zh-CN" altLang="en-US" sz="4800" b="1" dirty="0">
                <a:solidFill>
                  <a:srgbClr val="CC0099"/>
                </a:solidFill>
                <a:ea typeface="隶书" pitchFamily="49" charset="-122"/>
              </a:rPr>
              <a:t>上下文无关</a:t>
            </a:r>
            <a:r>
              <a:rPr lang="zh-CN" altLang="zh-CN" sz="4800" b="1" dirty="0">
                <a:solidFill>
                  <a:srgbClr val="CC0099"/>
                </a:solidFill>
                <a:ea typeface="隶书" pitchFamily="49" charset="-122"/>
              </a:rPr>
              <a:t>文法</a:t>
            </a:r>
            <a:endParaRPr lang="zh-CN" altLang="en-US" sz="4800" b="1" dirty="0">
              <a:solidFill>
                <a:srgbClr val="CC0099"/>
              </a:solidFill>
              <a:ea typeface="隶书" pitchFamily="49" charset="-122"/>
            </a:endParaRPr>
          </a:p>
        </p:txBody>
      </p:sp>
      <p:sp>
        <p:nvSpPr>
          <p:cNvPr id="10243" name="Rectangle 3"/>
          <p:cNvSpPr>
            <a:spLocks noGrp="1" noChangeArrowheads="1"/>
          </p:cNvSpPr>
          <p:nvPr>
            <p:ph type="body" idx="1"/>
          </p:nvPr>
        </p:nvSpPr>
        <p:spPr>
          <a:xfrm>
            <a:off x="611561" y="1154439"/>
            <a:ext cx="7833369" cy="1278508"/>
          </a:xfrm>
        </p:spPr>
        <p:txBody>
          <a:bodyPr>
            <a:normAutofit lnSpcReduction="10000"/>
          </a:bodyPr>
          <a:lstStyle/>
          <a:p>
            <a:pPr>
              <a:lnSpc>
                <a:spcPct val="120000"/>
              </a:lnSpc>
              <a:spcBef>
                <a:spcPts val="0"/>
              </a:spcBef>
            </a:pPr>
            <a:r>
              <a:rPr lang="zh-CN" altLang="en-US" sz="2200" b="1" dirty="0">
                <a:solidFill>
                  <a:srgbClr val="002060"/>
                </a:solidFill>
                <a:latin typeface="宋体" panose="02010600030101010101" pitchFamily="2" charset="-122"/>
                <a:ea typeface="宋体" panose="02010600030101010101" pitchFamily="2" charset="-122"/>
              </a:rPr>
              <a:t>上下文无关文法</a:t>
            </a:r>
            <a:r>
              <a:rPr lang="zh-CN" altLang="en-US" sz="2200" dirty="0">
                <a:latin typeface="宋体" pitchFamily="2" charset="-122"/>
                <a:ea typeface="宋体" panose="02010600030101010101" pitchFamily="2" charset="-122"/>
              </a:rPr>
              <a:t>是</a:t>
            </a:r>
            <a:r>
              <a:rPr lang="zh-CN" altLang="en-US" sz="2200" b="1" dirty="0">
                <a:solidFill>
                  <a:srgbClr val="FF0000"/>
                </a:solidFill>
                <a:latin typeface="宋体" pitchFamily="2" charset="-122"/>
                <a:ea typeface="宋体" panose="02010600030101010101" pitchFamily="2" charset="-122"/>
              </a:rPr>
              <a:t>描述语言的语法结构的形式规则</a:t>
            </a:r>
            <a:endParaRPr lang="zh-CN" altLang="en-US" sz="2200" dirty="0">
              <a:latin typeface="宋体" pitchFamily="2" charset="-122"/>
              <a:ea typeface="宋体" panose="02010600030101010101" pitchFamily="2" charset="-122"/>
            </a:endParaRPr>
          </a:p>
          <a:p>
            <a:pPr eaLnBrk="1" hangingPunct="1">
              <a:lnSpc>
                <a:spcPct val="120000"/>
              </a:lnSpc>
              <a:spcBef>
                <a:spcPts val="0"/>
              </a:spcBef>
            </a:pPr>
            <a:r>
              <a:rPr lang="zh-CN" altLang="en-US" sz="2200" dirty="0">
                <a:latin typeface="宋体" pitchFamily="2" charset="-122"/>
                <a:ea typeface="宋体" panose="02010600030101010101" pitchFamily="2" charset="-122"/>
              </a:rPr>
              <a:t>是一种工具，它可用于严格定义句子的结构</a:t>
            </a:r>
          </a:p>
          <a:p>
            <a:pPr>
              <a:lnSpc>
                <a:spcPct val="120000"/>
              </a:lnSpc>
              <a:spcBef>
                <a:spcPts val="0"/>
              </a:spcBef>
            </a:pPr>
            <a:r>
              <a:rPr lang="zh-CN" altLang="en-US" sz="2200" dirty="0">
                <a:latin typeface="宋体" pitchFamily="2" charset="-122"/>
                <a:ea typeface="宋体" panose="02010600030101010101" pitchFamily="2" charset="-122"/>
              </a:rPr>
              <a:t>用</a:t>
            </a:r>
            <a:r>
              <a:rPr lang="zh-CN" altLang="en-US" sz="2200" b="1" dirty="0">
                <a:solidFill>
                  <a:srgbClr val="0066FF"/>
                </a:solidFill>
                <a:latin typeface="宋体" pitchFamily="2" charset="-122"/>
                <a:ea typeface="宋体" panose="02010600030101010101" pitchFamily="2" charset="-122"/>
              </a:rPr>
              <a:t>有穷的规则刻划无穷的集合</a:t>
            </a:r>
            <a:endParaRPr lang="en-US" altLang="zh-CN" sz="2200" b="1" dirty="0">
              <a:solidFill>
                <a:srgbClr val="0066FF"/>
              </a:solidFill>
              <a:latin typeface="宋体" pitchFamily="2" charset="-122"/>
              <a:ea typeface="宋体" panose="02010600030101010101" pitchFamily="2" charset="-122"/>
            </a:endParaRPr>
          </a:p>
          <a:p>
            <a:pPr eaLnBrk="1" hangingPunct="1">
              <a:lnSpc>
                <a:spcPct val="120000"/>
              </a:lnSpc>
              <a:spcBef>
                <a:spcPts val="0"/>
              </a:spcBef>
            </a:pPr>
            <a:endParaRPr lang="zh-CN" altLang="en-US" sz="2200" b="1" dirty="0">
              <a:solidFill>
                <a:srgbClr val="0066FF"/>
              </a:solidFill>
              <a:latin typeface="宋体" pitchFamily="2" charset="-122"/>
              <a:ea typeface="宋体" panose="02010600030101010101" pitchFamily="2" charset="-122"/>
            </a:endParaRPr>
          </a:p>
        </p:txBody>
      </p:sp>
      <p:sp>
        <p:nvSpPr>
          <p:cNvPr id="5" name="Rectangle 3"/>
          <p:cNvSpPr txBox="1">
            <a:spLocks noChangeArrowheads="1"/>
          </p:cNvSpPr>
          <p:nvPr/>
        </p:nvSpPr>
        <p:spPr>
          <a:xfrm>
            <a:off x="611561" y="2283718"/>
            <a:ext cx="4896544" cy="2214612"/>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120000"/>
              </a:lnSpc>
              <a:spcBef>
                <a:spcPts val="0"/>
              </a:spcBef>
            </a:pPr>
            <a:r>
              <a:rPr lang="zh-CN" altLang="en-US" sz="2200" dirty="0">
                <a:latin typeface="宋体" panose="02010600030101010101" pitchFamily="2" charset="-122"/>
                <a:ea typeface="宋体" panose="02010600030101010101" pitchFamily="2" charset="-122"/>
              </a:rPr>
              <a:t>用来精确而无歧义地描述语言的语法单位的构成方式</a:t>
            </a:r>
            <a:endParaRPr lang="en-US" altLang="zh-CN" sz="2200" dirty="0">
              <a:latin typeface="宋体" panose="02010600030101010101" pitchFamily="2" charset="-122"/>
              <a:ea typeface="宋体" panose="02010600030101010101" pitchFamily="2" charset="-122"/>
            </a:endParaRPr>
          </a:p>
          <a:p>
            <a:pPr>
              <a:lnSpc>
                <a:spcPct val="120000"/>
              </a:lnSpc>
              <a:spcBef>
                <a:spcPts val="0"/>
              </a:spcBef>
            </a:pPr>
            <a:r>
              <a:rPr lang="zh-CN" altLang="en-US" sz="2200" dirty="0">
                <a:latin typeface="宋体" panose="02010600030101010101" pitchFamily="2" charset="-122"/>
                <a:ea typeface="宋体" panose="02010600030101010101" pitchFamily="2" charset="-122"/>
              </a:rPr>
              <a:t>文法在描述语言的时候</a:t>
            </a:r>
            <a:r>
              <a:rPr lang="zh-CN" altLang="en-US" sz="2200" b="1" dirty="0">
                <a:solidFill>
                  <a:srgbClr val="0066FF"/>
                </a:solidFill>
                <a:latin typeface="宋体" panose="02010600030101010101" pitchFamily="2" charset="-122"/>
                <a:ea typeface="宋体" panose="02010600030101010101" pitchFamily="2" charset="-122"/>
              </a:rPr>
              <a:t>不考虑它的含义</a:t>
            </a:r>
            <a:endParaRPr lang="zh-CN" altLang="en-US" sz="2200" dirty="0">
              <a:latin typeface="宋体" panose="02010600030101010101" pitchFamily="2" charset="-122"/>
              <a:ea typeface="宋体" panose="02010600030101010101" pitchFamily="2" charset="-122"/>
            </a:endParaRPr>
          </a:p>
          <a:p>
            <a:pPr>
              <a:lnSpc>
                <a:spcPct val="120000"/>
              </a:lnSpc>
              <a:spcBef>
                <a:spcPts val="0"/>
              </a:spcBef>
            </a:pPr>
            <a:endParaRPr lang="en-US" altLang="zh-CN" sz="2200" dirty="0">
              <a:latin typeface="宋体" panose="02010600030101010101" pitchFamily="2" charset="-122"/>
              <a:ea typeface="宋体" panose="02010600030101010101" pitchFamily="2" charset="-122"/>
            </a:endParaRPr>
          </a:p>
        </p:txBody>
      </p:sp>
      <p:sp>
        <p:nvSpPr>
          <p:cNvPr id="6" name="Rectangle 6"/>
          <p:cNvSpPr>
            <a:spLocks noChangeArrowheads="1"/>
          </p:cNvSpPr>
          <p:nvPr/>
        </p:nvSpPr>
        <p:spPr bwMode="auto">
          <a:xfrm>
            <a:off x="5972168" y="3112175"/>
            <a:ext cx="3171832" cy="2031325"/>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句子</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 </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我</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你</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他</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大学生</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小学生</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是</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p:txBody>
      </p:sp>
    </p:spTree>
    <p:extLst>
      <p:ext uri="{BB962C8B-B14F-4D97-AF65-F5344CB8AC3E}">
        <p14:creationId xmlns:p14="http://schemas.microsoft.com/office/powerpoint/2010/main" val="1018783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24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24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24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build="p"/>
      <p:bldP spid="5"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Grp="1" noChangeArrowheads="1"/>
          </p:cNvSpPr>
          <p:nvPr>
            <p:ph type="title" idx="4294967295"/>
          </p:nvPr>
        </p:nvSpPr>
        <p:spPr>
          <a:xfrm>
            <a:off x="21334" y="0"/>
            <a:ext cx="7772400" cy="857250"/>
          </a:xfrm>
        </p:spPr>
        <p:txBody>
          <a:bodyPr>
            <a:normAutofit/>
          </a:bodyPr>
          <a:lstStyle/>
          <a:p>
            <a:pPr eaLnBrk="1" hangingPunct="1"/>
            <a:r>
              <a:rPr lang="zh-CN" altLang="zh-CN" sz="4300" dirty="0">
                <a:solidFill>
                  <a:srgbClr val="CC0099"/>
                </a:solidFill>
                <a:ea typeface="隶书" pitchFamily="49" charset="-122"/>
              </a:rPr>
              <a:t>上下文无关文法</a:t>
            </a:r>
          </a:p>
        </p:txBody>
      </p:sp>
      <p:sp>
        <p:nvSpPr>
          <p:cNvPr id="67587" name="Rectangle 3"/>
          <p:cNvSpPr>
            <a:spLocks noGrp="1" noChangeArrowheads="1"/>
          </p:cNvSpPr>
          <p:nvPr>
            <p:ph type="body" idx="4294967295"/>
          </p:nvPr>
        </p:nvSpPr>
        <p:spPr>
          <a:xfrm>
            <a:off x="3275856" y="1140048"/>
            <a:ext cx="5471268" cy="3663950"/>
          </a:xfrm>
        </p:spPr>
        <p:style>
          <a:lnRef idx="2">
            <a:schemeClr val="accent1"/>
          </a:lnRef>
          <a:fillRef idx="1">
            <a:schemeClr val="lt1"/>
          </a:fillRef>
          <a:effectRef idx="0">
            <a:schemeClr val="accent1"/>
          </a:effectRef>
          <a:fontRef idx="minor">
            <a:schemeClr val="dk1"/>
          </a:fontRef>
        </p:style>
        <p:txBody>
          <a:bodyPr>
            <a:normAutofit lnSpcReduction="10000"/>
          </a:bodyPr>
          <a:lstStyle/>
          <a:p>
            <a:pPr eaLnBrk="1" hangingPunct="1"/>
            <a:r>
              <a:rPr lang="zh-CN" altLang="en-US" sz="2000" dirty="0">
                <a:latin typeface="宋体" pitchFamily="2" charset="-122"/>
                <a:ea typeface="宋体" panose="02010600030101010101" pitchFamily="2" charset="-122"/>
              </a:rPr>
              <a:t>由四部分组成：</a:t>
            </a:r>
          </a:p>
          <a:p>
            <a:pPr lvl="1"/>
            <a:r>
              <a:rPr lang="zh-CN" altLang="en-US" sz="2000" dirty="0">
                <a:solidFill>
                  <a:srgbClr val="FF3399"/>
                </a:solidFill>
                <a:latin typeface="宋体" pitchFamily="2" charset="-122"/>
                <a:ea typeface="宋体" panose="02010600030101010101" pitchFamily="2" charset="-122"/>
              </a:rPr>
              <a:t>非终结符号</a:t>
            </a:r>
            <a:r>
              <a:rPr lang="zh-CN" altLang="en-US" sz="2000" dirty="0">
                <a:latin typeface="宋体" pitchFamily="2" charset="-122"/>
                <a:ea typeface="宋体" panose="02010600030101010101" pitchFamily="2" charset="-122"/>
              </a:rPr>
              <a:t>：规则中用尖括号括起来的符号，表示一些语法成分，可以推导出其他的语法成分</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表示一定符号串的集合，是一个类，如</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主语</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谓语</a:t>
            </a:r>
            <a:r>
              <a:rPr lang="en-US" altLang="zh-CN" sz="2000" dirty="0">
                <a:latin typeface="宋体" pitchFamily="2" charset="-122"/>
                <a:ea typeface="宋体" panose="02010600030101010101" pitchFamily="2" charset="-122"/>
              </a:rPr>
              <a:t>&gt;</a:t>
            </a:r>
            <a:endParaRPr lang="zh-CN" altLang="en-US" sz="2000" dirty="0">
              <a:latin typeface="宋体" pitchFamily="2" charset="-122"/>
              <a:ea typeface="宋体" panose="02010600030101010101" pitchFamily="2" charset="-122"/>
            </a:endParaRPr>
          </a:p>
          <a:p>
            <a:pPr lvl="1" eaLnBrk="1" hangingPunct="1"/>
            <a:r>
              <a:rPr lang="zh-CN" altLang="en-US" sz="2000" dirty="0">
                <a:solidFill>
                  <a:srgbClr val="FF3399"/>
                </a:solidFill>
                <a:latin typeface="宋体" pitchFamily="2" charset="-122"/>
                <a:ea typeface="宋体" panose="02010600030101010101" pitchFamily="2" charset="-122"/>
              </a:rPr>
              <a:t>终结符号</a:t>
            </a:r>
            <a:r>
              <a:rPr lang="zh-CN" altLang="en-US" sz="2000" dirty="0">
                <a:latin typeface="宋体" pitchFamily="2" charset="-122"/>
                <a:ea typeface="宋体" panose="02010600030101010101" pitchFamily="2" charset="-122"/>
              </a:rPr>
              <a:t>：是组成该语言的最基本的符号，是不可再分的基本符号</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如你、我、大学生等</a:t>
            </a:r>
          </a:p>
          <a:p>
            <a:pPr lvl="1" eaLnBrk="1" hangingPunct="1"/>
            <a:r>
              <a:rPr lang="zh-CN" altLang="en-US" sz="2000" dirty="0">
                <a:solidFill>
                  <a:srgbClr val="FF3399"/>
                </a:solidFill>
                <a:latin typeface="宋体" pitchFamily="2" charset="-122"/>
                <a:ea typeface="宋体" panose="02010600030101010101" pitchFamily="2" charset="-122"/>
              </a:rPr>
              <a:t>开始符号</a:t>
            </a:r>
            <a:r>
              <a:rPr lang="zh-CN" altLang="en-US" sz="2000" dirty="0">
                <a:latin typeface="宋体" pitchFamily="2" charset="-122"/>
                <a:ea typeface="宋体" panose="02010600030101010101" pitchFamily="2" charset="-122"/>
              </a:rPr>
              <a:t>：规则中的一个特殊的非终结符号，语言中的句子都从它开始推导</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如</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句子</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程序</a:t>
            </a:r>
            <a:r>
              <a:rPr lang="en-US" altLang="zh-CN" sz="2000" dirty="0">
                <a:latin typeface="宋体" pitchFamily="2" charset="-122"/>
                <a:ea typeface="宋体" panose="02010600030101010101" pitchFamily="2" charset="-122"/>
              </a:rPr>
              <a:t>&gt;</a:t>
            </a:r>
            <a:endParaRPr lang="zh-CN" altLang="en-US" sz="2000" dirty="0">
              <a:latin typeface="宋体" pitchFamily="2" charset="-122"/>
              <a:ea typeface="宋体" panose="02010600030101010101" pitchFamily="2" charset="-122"/>
            </a:endParaRPr>
          </a:p>
          <a:p>
            <a:pPr lvl="1" eaLnBrk="1" hangingPunct="1"/>
            <a:r>
              <a:rPr lang="zh-CN" altLang="en-US" sz="2000" dirty="0">
                <a:solidFill>
                  <a:srgbClr val="FF3399"/>
                </a:solidFill>
                <a:latin typeface="宋体" pitchFamily="2" charset="-122"/>
                <a:ea typeface="宋体" panose="02010600030101010101" pitchFamily="2" charset="-122"/>
              </a:rPr>
              <a:t>产生式</a:t>
            </a:r>
            <a:r>
              <a:rPr lang="zh-CN" altLang="en-US" sz="2000" dirty="0">
                <a:latin typeface="宋体" pitchFamily="2" charset="-122"/>
                <a:ea typeface="宋体" panose="02010600030101010101" pitchFamily="2" charset="-122"/>
              </a:rPr>
              <a:t>：定义语法成分的规则</a:t>
            </a:r>
          </a:p>
        </p:txBody>
      </p:sp>
      <p:sp>
        <p:nvSpPr>
          <p:cNvPr id="4" name="Rectangle 6"/>
          <p:cNvSpPr>
            <a:spLocks noChangeArrowheads="1"/>
          </p:cNvSpPr>
          <p:nvPr/>
        </p:nvSpPr>
        <p:spPr bwMode="auto">
          <a:xfrm>
            <a:off x="21334" y="1131590"/>
            <a:ext cx="3171832" cy="2031325"/>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en-US" altLang="zh-CN" dirty="0">
                <a:latin typeface="宋体" pitchFamily="2" charset="-122"/>
                <a:ea typeface="宋体" panose="02010600030101010101" pitchFamily="2" charset="-122"/>
              </a:rPr>
              <a:t>&lt;</a:t>
            </a:r>
            <a:r>
              <a:rPr lang="zh-CN" altLang="en-US" dirty="0">
                <a:solidFill>
                  <a:srgbClr val="CC00FF"/>
                </a:solidFill>
                <a:latin typeface="宋体" pitchFamily="2" charset="-122"/>
                <a:ea typeface="宋体" panose="02010600030101010101" pitchFamily="2" charset="-122"/>
              </a:rPr>
              <a:t>句子</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 </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我</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你</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他</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大学生</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小学生</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是</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p:txBody>
      </p:sp>
    </p:spTree>
    <p:custDataLst>
      <p:tags r:id="rId1"/>
    </p:custDataLst>
    <p:extLst>
      <p:ext uri="{BB962C8B-B14F-4D97-AF65-F5344CB8AC3E}">
        <p14:creationId xmlns:p14="http://schemas.microsoft.com/office/powerpoint/2010/main" val="403016783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7587">
                                            <p:txEl>
                                              <p:pRg st="0" end="0"/>
                                            </p:txEl>
                                          </p:spTgt>
                                        </p:tgtEl>
                                        <p:attrNameLst>
                                          <p:attrName>style.visibility</p:attrName>
                                        </p:attrNameLst>
                                      </p:cBhvr>
                                      <p:to>
                                        <p:strVal val="visible"/>
                                      </p:to>
                                    </p:set>
                                    <p:animEffect transition="in" filter="checkerboard(across)">
                                      <p:cBhvr>
                                        <p:cTn id="7" dur="500"/>
                                        <p:tgtEl>
                                          <p:spTgt spid="6758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7587">
                                            <p:txEl>
                                              <p:pRg st="1" end="1"/>
                                            </p:txEl>
                                          </p:spTgt>
                                        </p:tgtEl>
                                        <p:attrNameLst>
                                          <p:attrName>style.visibility</p:attrName>
                                        </p:attrNameLst>
                                      </p:cBhvr>
                                      <p:to>
                                        <p:strVal val="visible"/>
                                      </p:to>
                                    </p:set>
                                    <p:animEffect transition="in" filter="checkerboard(across)">
                                      <p:cBhvr>
                                        <p:cTn id="12" dur="500"/>
                                        <p:tgtEl>
                                          <p:spTgt spid="6758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67587">
                                            <p:txEl>
                                              <p:pRg st="2" end="2"/>
                                            </p:txEl>
                                          </p:spTgt>
                                        </p:tgtEl>
                                        <p:attrNameLst>
                                          <p:attrName>style.visibility</p:attrName>
                                        </p:attrNameLst>
                                      </p:cBhvr>
                                      <p:to>
                                        <p:strVal val="visible"/>
                                      </p:to>
                                    </p:set>
                                    <p:animEffect transition="in" filter="checkerboard(across)">
                                      <p:cBhvr>
                                        <p:cTn id="17" dur="500"/>
                                        <p:tgtEl>
                                          <p:spTgt spid="6758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67587">
                                            <p:txEl>
                                              <p:pRg st="3" end="3"/>
                                            </p:txEl>
                                          </p:spTgt>
                                        </p:tgtEl>
                                        <p:attrNameLst>
                                          <p:attrName>style.visibility</p:attrName>
                                        </p:attrNameLst>
                                      </p:cBhvr>
                                      <p:to>
                                        <p:strVal val="visible"/>
                                      </p:to>
                                    </p:set>
                                    <p:animEffect transition="in" filter="checkerboard(across)">
                                      <p:cBhvr>
                                        <p:cTn id="22" dur="500"/>
                                        <p:tgtEl>
                                          <p:spTgt spid="67587">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67587">
                                            <p:txEl>
                                              <p:pRg st="4" end="4"/>
                                            </p:txEl>
                                          </p:spTgt>
                                        </p:tgtEl>
                                        <p:attrNameLst>
                                          <p:attrName>style.visibility</p:attrName>
                                        </p:attrNameLst>
                                      </p:cBhvr>
                                      <p:to>
                                        <p:strVal val="visible"/>
                                      </p:to>
                                    </p:set>
                                    <p:animEffect transition="in" filter="checkerboard(across)">
                                      <p:cBhvr>
                                        <p:cTn id="27" dur="500"/>
                                        <p:tgtEl>
                                          <p:spTgt spid="6758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7" grpId="0" uiExpand="1" build="p"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Grp="1" noChangeArrowheads="1"/>
          </p:cNvSpPr>
          <p:nvPr>
            <p:ph type="title" idx="4294967295"/>
          </p:nvPr>
        </p:nvSpPr>
        <p:spPr>
          <a:xfrm>
            <a:off x="107504" y="195486"/>
            <a:ext cx="5256584" cy="857250"/>
          </a:xfrm>
        </p:spPr>
        <p:txBody>
          <a:bodyPr>
            <a:normAutofit/>
          </a:bodyPr>
          <a:lstStyle/>
          <a:p>
            <a:pPr eaLnBrk="1" hangingPunct="1"/>
            <a:r>
              <a:rPr lang="zh-CN" altLang="en-US" sz="4300" dirty="0">
                <a:solidFill>
                  <a:srgbClr val="CC0099"/>
                </a:solidFill>
                <a:ea typeface="隶书" pitchFamily="49" charset="-122"/>
              </a:rPr>
              <a:t>文法的形式定义</a:t>
            </a:r>
            <a:endParaRPr lang="en-US" altLang="zh-CN" sz="4300" dirty="0">
              <a:solidFill>
                <a:srgbClr val="CC0099"/>
              </a:solidFill>
              <a:ea typeface="隶书" pitchFamily="49" charset="-122"/>
            </a:endParaRPr>
          </a:p>
        </p:txBody>
      </p:sp>
      <p:sp>
        <p:nvSpPr>
          <p:cNvPr id="68611" name="Rectangle 3"/>
          <p:cNvSpPr>
            <a:spLocks noGrp="1" noChangeArrowheads="1"/>
          </p:cNvSpPr>
          <p:nvPr>
            <p:ph type="body" idx="4294967295"/>
          </p:nvPr>
        </p:nvSpPr>
        <p:spPr>
          <a:xfrm>
            <a:off x="395536" y="1419622"/>
            <a:ext cx="5328592" cy="864096"/>
          </a:xfrm>
        </p:spPr>
        <p:txBody>
          <a:bodyPr>
            <a:normAutofit fontScale="92500" lnSpcReduction="10000"/>
          </a:bodyPr>
          <a:lstStyle/>
          <a:p>
            <a:pPr eaLnBrk="1" hangingPunct="1">
              <a:spcBef>
                <a:spcPct val="10000"/>
              </a:spcBef>
            </a:pPr>
            <a:r>
              <a:rPr lang="zh-CN" altLang="en-US" sz="2200" dirty="0">
                <a:latin typeface="宋体" pitchFamily="2" charset="-122"/>
                <a:ea typeface="宋体" panose="02010600030101010101" pitchFamily="2" charset="-122"/>
              </a:rPr>
              <a:t>一个</a:t>
            </a:r>
            <a:r>
              <a:rPr lang="zh-CN" altLang="en-US" sz="2200" dirty="0">
                <a:solidFill>
                  <a:srgbClr val="FF3399"/>
                </a:solidFill>
                <a:latin typeface="宋体" pitchFamily="2" charset="-122"/>
                <a:ea typeface="宋体" panose="02010600030101010101" pitchFamily="2" charset="-122"/>
              </a:rPr>
              <a:t>文法</a:t>
            </a:r>
            <a:r>
              <a:rPr lang="en-US" altLang="zh-CN" sz="2200" dirty="0">
                <a:latin typeface="宋体" pitchFamily="2" charset="-122"/>
                <a:ea typeface="宋体" panose="02010600030101010101" pitchFamily="2" charset="-122"/>
              </a:rPr>
              <a:t>G</a:t>
            </a:r>
            <a:r>
              <a:rPr lang="zh-CN" altLang="en-US" sz="2200" dirty="0">
                <a:latin typeface="宋体" pitchFamily="2" charset="-122"/>
                <a:ea typeface="宋体" panose="02010600030101010101" pitchFamily="2" charset="-122"/>
              </a:rPr>
              <a:t>抽象地表示为四元组 </a:t>
            </a:r>
          </a:p>
          <a:p>
            <a:pPr eaLnBrk="1" hangingPunct="1">
              <a:spcBef>
                <a:spcPct val="10000"/>
              </a:spcBef>
              <a:buFontTx/>
              <a:buNone/>
            </a:pPr>
            <a:r>
              <a:rPr lang="zh-CN" altLang="en-US" sz="2200" dirty="0">
                <a:latin typeface="宋体" pitchFamily="2" charset="-122"/>
                <a:ea typeface="宋体" panose="02010600030101010101" pitchFamily="2" charset="-122"/>
              </a:rPr>
              <a:t>		</a:t>
            </a:r>
            <a:r>
              <a:rPr lang="en-US" altLang="zh-CN" sz="3200" dirty="0">
                <a:latin typeface="宋体" pitchFamily="2" charset="-122"/>
                <a:ea typeface="宋体" panose="02010600030101010101" pitchFamily="2" charset="-122"/>
              </a:rPr>
              <a:t>G =</a:t>
            </a:r>
            <a:r>
              <a:rPr lang="zh-CN" altLang="en-US" sz="3200" dirty="0">
                <a:latin typeface="宋体" pitchFamily="2" charset="-122"/>
                <a:ea typeface="宋体" panose="02010600030101010101" pitchFamily="2" charset="-122"/>
              </a:rPr>
              <a:t>（</a:t>
            </a:r>
            <a:r>
              <a:rPr lang="en-US" altLang="zh-CN" sz="3200" dirty="0" err="1">
                <a:latin typeface="宋体" pitchFamily="2" charset="-122"/>
                <a:ea typeface="宋体" panose="02010600030101010101" pitchFamily="2" charset="-122"/>
              </a:rPr>
              <a:t>Vn</a:t>
            </a:r>
            <a:r>
              <a:rPr lang="en-US" altLang="zh-CN" sz="3200" dirty="0">
                <a:latin typeface="宋体" pitchFamily="2" charset="-122"/>
                <a:ea typeface="宋体" panose="02010600030101010101" pitchFamily="2" charset="-122"/>
              </a:rPr>
              <a:t>, </a:t>
            </a:r>
            <a:r>
              <a:rPr lang="en-US" altLang="zh-CN" sz="3200" dirty="0" err="1">
                <a:latin typeface="宋体" pitchFamily="2" charset="-122"/>
                <a:ea typeface="宋体" panose="02010600030101010101" pitchFamily="2" charset="-122"/>
              </a:rPr>
              <a:t>Vt</a:t>
            </a:r>
            <a:r>
              <a:rPr lang="en-US" altLang="zh-CN" sz="3200" dirty="0">
                <a:latin typeface="宋体" pitchFamily="2" charset="-122"/>
                <a:ea typeface="宋体" panose="02010600030101010101" pitchFamily="2" charset="-122"/>
              </a:rPr>
              <a:t>, P, S</a:t>
            </a:r>
            <a:r>
              <a:rPr lang="zh-CN" altLang="en-US" sz="3200" dirty="0">
                <a:latin typeface="宋体" pitchFamily="2" charset="-122"/>
                <a:ea typeface="宋体" panose="02010600030101010101" pitchFamily="2" charset="-122"/>
              </a:rPr>
              <a:t>） </a:t>
            </a:r>
          </a:p>
        </p:txBody>
      </p:sp>
      <p:sp>
        <p:nvSpPr>
          <p:cNvPr id="4" name="Rectangle 6"/>
          <p:cNvSpPr>
            <a:spLocks noChangeArrowheads="1"/>
          </p:cNvSpPr>
          <p:nvPr/>
        </p:nvSpPr>
        <p:spPr bwMode="auto">
          <a:xfrm>
            <a:off x="5724128" y="27221"/>
            <a:ext cx="3420054" cy="2246769"/>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句子</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主语</a:t>
            </a:r>
            <a:r>
              <a:rPr lang="en-US" altLang="zh-CN" sz="2000" dirty="0">
                <a:latin typeface="宋体" pitchFamily="2" charset="-122"/>
                <a:ea typeface="宋体" panose="02010600030101010101" pitchFamily="2" charset="-122"/>
              </a:rPr>
              <a:t>&gt;&lt;</a:t>
            </a:r>
            <a:r>
              <a:rPr lang="zh-CN" altLang="en-US" sz="2000" dirty="0">
                <a:latin typeface="宋体" pitchFamily="2" charset="-122"/>
                <a:ea typeface="宋体" panose="02010600030101010101" pitchFamily="2" charset="-122"/>
              </a:rPr>
              <a:t>谓语</a:t>
            </a:r>
            <a:r>
              <a:rPr lang="en-US" altLang="zh-CN" sz="2000" dirty="0">
                <a:latin typeface="宋体" pitchFamily="2" charset="-122"/>
                <a:ea typeface="宋体" panose="02010600030101010101" pitchFamily="2" charset="-122"/>
              </a:rPr>
              <a:t>&gt; </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主语</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代词</a:t>
            </a:r>
            <a:r>
              <a:rPr lang="en-US" altLang="zh-CN" sz="2000" dirty="0">
                <a:latin typeface="宋体" pitchFamily="2" charset="-122"/>
                <a:ea typeface="宋体" panose="02010600030101010101" pitchFamily="2" charset="-122"/>
              </a:rPr>
              <a:t>&gt;|&lt;</a:t>
            </a:r>
            <a:r>
              <a:rPr lang="zh-CN" altLang="en-US" sz="2000" dirty="0">
                <a:latin typeface="宋体" pitchFamily="2" charset="-122"/>
                <a:ea typeface="宋体" panose="02010600030101010101" pitchFamily="2" charset="-122"/>
              </a:rPr>
              <a:t>名词</a:t>
            </a:r>
            <a:r>
              <a:rPr lang="en-US" altLang="zh-CN" sz="2000" dirty="0">
                <a:latin typeface="宋体" pitchFamily="2" charset="-122"/>
                <a:ea typeface="宋体" panose="02010600030101010101" pitchFamily="2" charset="-122"/>
              </a:rPr>
              <a:t>&gt;</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代词</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zh-CN" altLang="en-US" sz="2000" dirty="0">
                <a:latin typeface="宋体" pitchFamily="2" charset="-122"/>
                <a:ea typeface="宋体" panose="02010600030101010101" pitchFamily="2" charset="-122"/>
              </a:rPr>
              <a:t>我</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你</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他</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名词</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zh-CN" altLang="en-US" sz="2000" dirty="0">
                <a:latin typeface="宋体" pitchFamily="2" charset="-122"/>
                <a:ea typeface="宋体" panose="02010600030101010101" pitchFamily="2" charset="-122"/>
              </a:rPr>
              <a:t>大学生</a:t>
            </a:r>
            <a:r>
              <a:rPr lang="en-US" altLang="zh-CN" sz="2000" dirty="0">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小学生</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谓语</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动词</a:t>
            </a:r>
            <a:r>
              <a:rPr lang="en-US" altLang="zh-CN" sz="2000" dirty="0">
                <a:latin typeface="宋体" pitchFamily="2" charset="-122"/>
                <a:ea typeface="宋体" panose="02010600030101010101" pitchFamily="2" charset="-122"/>
              </a:rPr>
              <a:t>&gt;&lt;</a:t>
            </a:r>
            <a:r>
              <a:rPr lang="zh-CN" altLang="en-US" sz="2000" dirty="0">
                <a:latin typeface="宋体" pitchFamily="2" charset="-122"/>
                <a:ea typeface="宋体" panose="02010600030101010101" pitchFamily="2" charset="-122"/>
              </a:rPr>
              <a:t>直接宾语</a:t>
            </a:r>
            <a:r>
              <a:rPr lang="en-US" altLang="zh-CN" sz="2000" dirty="0">
                <a:latin typeface="宋体" pitchFamily="2" charset="-122"/>
                <a:ea typeface="宋体" panose="02010600030101010101" pitchFamily="2" charset="-122"/>
              </a:rPr>
              <a:t>&gt;</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动词</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zh-CN" altLang="en-US" sz="2000" dirty="0">
                <a:latin typeface="宋体" pitchFamily="2" charset="-122"/>
                <a:ea typeface="宋体" panose="02010600030101010101" pitchFamily="2" charset="-122"/>
              </a:rPr>
              <a:t>是</a:t>
            </a:r>
          </a:p>
          <a:p>
            <a:pPr marL="0" lvl="2"/>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直接宾语</a:t>
            </a:r>
            <a:r>
              <a:rPr lang="en-US" altLang="zh-CN" sz="2000" dirty="0">
                <a:latin typeface="宋体" pitchFamily="2" charset="-122"/>
                <a:ea typeface="宋体" panose="02010600030101010101" pitchFamily="2" charset="-122"/>
              </a:rPr>
              <a:t>&gt;</a:t>
            </a:r>
            <a:r>
              <a:rPr lang="en-US" altLang="zh-CN" sz="2000" dirty="0">
                <a:latin typeface="宋体" pitchFamily="2" charset="-122"/>
                <a:ea typeface="宋体" panose="02010600030101010101" pitchFamily="2" charset="-122"/>
                <a:sym typeface="Wingdings" pitchFamily="2" charset="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代词</a:t>
            </a:r>
            <a:r>
              <a:rPr lang="en-US" altLang="zh-CN" sz="2000" dirty="0">
                <a:latin typeface="宋体" pitchFamily="2" charset="-122"/>
                <a:ea typeface="宋体" panose="02010600030101010101" pitchFamily="2" charset="-122"/>
              </a:rPr>
              <a:t>&gt;|&lt;</a:t>
            </a:r>
            <a:r>
              <a:rPr lang="zh-CN" altLang="en-US" sz="2000" dirty="0">
                <a:latin typeface="宋体" pitchFamily="2" charset="-122"/>
                <a:ea typeface="宋体" panose="02010600030101010101" pitchFamily="2" charset="-122"/>
              </a:rPr>
              <a:t>名词</a:t>
            </a:r>
            <a:r>
              <a:rPr lang="en-US" altLang="zh-CN" sz="2000" dirty="0">
                <a:latin typeface="宋体" pitchFamily="2" charset="-122"/>
                <a:ea typeface="宋体" panose="02010600030101010101" pitchFamily="2" charset="-122"/>
              </a:rPr>
              <a:t>&gt;</a:t>
            </a:r>
          </a:p>
        </p:txBody>
      </p:sp>
      <p:sp>
        <p:nvSpPr>
          <p:cNvPr id="3" name="矩形 2"/>
          <p:cNvSpPr/>
          <p:nvPr/>
        </p:nvSpPr>
        <p:spPr>
          <a:xfrm>
            <a:off x="882117" y="4417993"/>
            <a:ext cx="2441694" cy="430887"/>
          </a:xfrm>
          <a:prstGeom prst="rect">
            <a:avLst/>
          </a:prstGeom>
        </p:spPr>
        <p:style>
          <a:lnRef idx="2">
            <a:schemeClr val="accent2"/>
          </a:lnRef>
          <a:fillRef idx="1">
            <a:schemeClr val="lt1"/>
          </a:fillRef>
          <a:effectRef idx="0">
            <a:schemeClr val="accent2"/>
          </a:effectRef>
          <a:fontRef idx="minor">
            <a:schemeClr val="dk1"/>
          </a:fontRef>
        </p:style>
        <p:txBody>
          <a:bodyPr wrap="none">
            <a:spAutoFit/>
          </a:bodyPr>
          <a:lstStyle/>
          <a:p>
            <a:pPr marL="0" lvl="1">
              <a:spcBef>
                <a:spcPct val="10000"/>
              </a:spcBef>
            </a:pPr>
            <a:r>
              <a:rPr lang="zh-CN" altLang="en-US" sz="2200" dirty="0">
                <a:latin typeface="宋体" pitchFamily="2" charset="-122"/>
                <a:ea typeface="宋体" panose="02010600030101010101" pitchFamily="2" charset="-122"/>
              </a:rPr>
              <a:t>注意： </a:t>
            </a:r>
            <a:r>
              <a:rPr lang="en-US" altLang="zh-CN" sz="2200" dirty="0" err="1">
                <a:latin typeface="宋体" pitchFamily="2" charset="-122"/>
                <a:ea typeface="宋体" panose="02010600030101010101" pitchFamily="2" charset="-122"/>
              </a:rPr>
              <a:t>Vn∩Vt</a:t>
            </a:r>
            <a:r>
              <a:rPr lang="en-US" altLang="zh-CN" sz="2200" dirty="0">
                <a:latin typeface="宋体" pitchFamily="2" charset="-122"/>
                <a:ea typeface="宋体" panose="02010600030101010101" pitchFamily="2" charset="-122"/>
              </a:rPr>
              <a:t>=φ</a:t>
            </a:r>
          </a:p>
        </p:txBody>
      </p:sp>
      <p:sp>
        <p:nvSpPr>
          <p:cNvPr id="12" name="线形标注 1 11"/>
          <p:cNvSpPr/>
          <p:nvPr/>
        </p:nvSpPr>
        <p:spPr>
          <a:xfrm>
            <a:off x="323528" y="3579862"/>
            <a:ext cx="1332148" cy="611484"/>
          </a:xfrm>
          <a:prstGeom prst="borderCallout1">
            <a:avLst>
              <a:gd name="adj1" fmla="val -1972"/>
              <a:gd name="adj2" fmla="val 49021"/>
              <a:gd name="adj3" fmla="val -220832"/>
              <a:gd name="adj4" fmla="val 161458"/>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zh-CN" altLang="en-US" dirty="0">
                <a:solidFill>
                  <a:schemeClr val="tx1"/>
                </a:solidFill>
                <a:latin typeface="宋体" pitchFamily="2" charset="-122"/>
                <a:ea typeface="宋体" panose="02010600030101010101" pitchFamily="2" charset="-122"/>
              </a:rPr>
              <a:t>非终结符号</a:t>
            </a:r>
            <a:endParaRPr lang="zh-CN" altLang="en-US" dirty="0">
              <a:solidFill>
                <a:schemeClr val="tx1"/>
              </a:solidFill>
            </a:endParaRPr>
          </a:p>
        </p:txBody>
      </p:sp>
      <p:sp>
        <p:nvSpPr>
          <p:cNvPr id="13" name="线形标注 1 12"/>
          <p:cNvSpPr/>
          <p:nvPr/>
        </p:nvSpPr>
        <p:spPr>
          <a:xfrm>
            <a:off x="1835695" y="3578238"/>
            <a:ext cx="1296145" cy="613107"/>
          </a:xfrm>
          <a:prstGeom prst="borderCallout1">
            <a:avLst>
              <a:gd name="adj1" fmla="val -1972"/>
              <a:gd name="adj2" fmla="val 49021"/>
              <a:gd name="adj3" fmla="val -228566"/>
              <a:gd name="adj4" fmla="val 110949"/>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zh-CN" altLang="en-US" dirty="0">
                <a:solidFill>
                  <a:schemeClr val="tx1"/>
                </a:solidFill>
                <a:latin typeface="宋体" pitchFamily="2" charset="-122"/>
                <a:ea typeface="宋体" panose="02010600030101010101" pitchFamily="2" charset="-122"/>
              </a:rPr>
              <a:t>终结符号</a:t>
            </a:r>
            <a:endParaRPr lang="zh-CN" altLang="en-US" dirty="0">
              <a:solidFill>
                <a:schemeClr val="tx1"/>
              </a:solidFill>
            </a:endParaRPr>
          </a:p>
        </p:txBody>
      </p:sp>
      <p:sp>
        <p:nvSpPr>
          <p:cNvPr id="15" name="线形标注 1 14"/>
          <p:cNvSpPr/>
          <p:nvPr/>
        </p:nvSpPr>
        <p:spPr>
          <a:xfrm>
            <a:off x="3323811" y="3544442"/>
            <a:ext cx="2976381" cy="815806"/>
          </a:xfrm>
          <a:prstGeom prst="borderCallout1">
            <a:avLst>
              <a:gd name="adj1" fmla="val -1972"/>
              <a:gd name="adj2" fmla="val 49021"/>
              <a:gd name="adj3" fmla="val -169286"/>
              <a:gd name="adj4" fmla="val 19112"/>
            </a:avLst>
          </a:prstGeom>
        </p:spPr>
        <p:style>
          <a:lnRef idx="2">
            <a:schemeClr val="accent4"/>
          </a:lnRef>
          <a:fillRef idx="1">
            <a:schemeClr val="lt1"/>
          </a:fillRef>
          <a:effectRef idx="0">
            <a:schemeClr val="accent4"/>
          </a:effectRef>
          <a:fontRef idx="minor">
            <a:schemeClr val="dk1"/>
          </a:fontRef>
        </p:style>
        <p:txBody>
          <a:bodyPr rtlCol="0" anchor="ctr"/>
          <a:lstStyle/>
          <a:p>
            <a:r>
              <a:rPr lang="zh-CN" altLang="en-US" dirty="0">
                <a:solidFill>
                  <a:schemeClr val="tx1"/>
                </a:solidFill>
                <a:latin typeface="宋体" pitchFamily="2" charset="-122"/>
                <a:ea typeface="宋体" panose="02010600030101010101" pitchFamily="2" charset="-122"/>
              </a:rPr>
              <a:t>产生式，形如：</a:t>
            </a:r>
            <a:r>
              <a:rPr lang="en-US" altLang="zh-CN" dirty="0">
                <a:solidFill>
                  <a:schemeClr val="tx1"/>
                </a:solidFill>
                <a:latin typeface="宋体" pitchFamily="2" charset="-122"/>
                <a:ea typeface="宋体" panose="02010600030101010101" pitchFamily="2" charset="-122"/>
              </a:rPr>
              <a:t>α</a:t>
            </a:r>
            <a:r>
              <a:rPr lang="en-US" altLang="zh-CN" dirty="0">
                <a:solidFill>
                  <a:srgbClr val="CC00CC"/>
                </a:solidFill>
                <a:ea typeface="华文行楷" pitchFamily="2" charset="-122"/>
                <a:sym typeface="Wingdings" pitchFamily="2" charset="2"/>
              </a:rPr>
              <a:t></a:t>
            </a:r>
            <a:r>
              <a:rPr lang="en-US" altLang="zh-CN" dirty="0">
                <a:solidFill>
                  <a:schemeClr val="tx1"/>
                </a:solidFill>
                <a:latin typeface="宋体" pitchFamily="2" charset="-122"/>
                <a:ea typeface="宋体" panose="02010600030101010101" pitchFamily="2" charset="-122"/>
              </a:rPr>
              <a:t>β(α</a:t>
            </a:r>
            <a:r>
              <a:rPr lang="zh-CN" altLang="en-US" dirty="0">
                <a:solidFill>
                  <a:schemeClr val="tx1"/>
                </a:solidFill>
                <a:latin typeface="宋体" pitchFamily="2" charset="-122"/>
                <a:ea typeface="宋体" panose="02010600030101010101" pitchFamily="2" charset="-122"/>
              </a:rPr>
              <a:t>是一个非终结符号，</a:t>
            </a:r>
            <a:r>
              <a:rPr lang="en-US" altLang="zh-CN" dirty="0">
                <a:solidFill>
                  <a:schemeClr val="tx1"/>
                </a:solidFill>
                <a:latin typeface="宋体" pitchFamily="2" charset="-122"/>
                <a:ea typeface="宋体" panose="02010600030101010101" pitchFamily="2" charset="-122"/>
              </a:rPr>
              <a:t>β∈V*) </a:t>
            </a:r>
          </a:p>
        </p:txBody>
      </p:sp>
      <p:sp>
        <p:nvSpPr>
          <p:cNvPr id="16" name="线形标注 1 15"/>
          <p:cNvSpPr/>
          <p:nvPr/>
        </p:nvSpPr>
        <p:spPr>
          <a:xfrm>
            <a:off x="5700238" y="2787774"/>
            <a:ext cx="1367989" cy="611484"/>
          </a:xfrm>
          <a:prstGeom prst="borderCallout1">
            <a:avLst>
              <a:gd name="adj1" fmla="val -1972"/>
              <a:gd name="adj2" fmla="val 49021"/>
              <a:gd name="adj3" fmla="val -102233"/>
              <a:gd name="adj4" fmla="val -86020"/>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zh-CN" altLang="en-US" dirty="0">
                <a:solidFill>
                  <a:schemeClr val="tx1"/>
                </a:solidFill>
                <a:latin typeface="宋体" pitchFamily="2" charset="-122"/>
                <a:ea typeface="宋体" panose="02010600030101010101" pitchFamily="2" charset="-122"/>
              </a:rPr>
              <a:t>开始符号</a:t>
            </a:r>
            <a:endParaRPr lang="zh-CN" altLang="en-US" dirty="0">
              <a:solidFill>
                <a:schemeClr val="tx1"/>
              </a:solidFill>
            </a:endParaRPr>
          </a:p>
        </p:txBody>
      </p:sp>
    </p:spTree>
    <p:extLst>
      <p:ext uri="{BB962C8B-B14F-4D97-AF65-F5344CB8AC3E}">
        <p14:creationId xmlns:p14="http://schemas.microsoft.com/office/powerpoint/2010/main" val="19219873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8611">
                                            <p:txEl>
                                              <p:pRg st="0" end="0"/>
                                            </p:txEl>
                                          </p:spTgt>
                                        </p:tgtEl>
                                        <p:attrNameLst>
                                          <p:attrName>style.visibility</p:attrName>
                                        </p:attrNameLst>
                                      </p:cBhvr>
                                      <p:to>
                                        <p:strVal val="visible"/>
                                      </p:to>
                                    </p:set>
                                    <p:anim calcmode="lin" valueType="num">
                                      <p:cBhvr additive="base">
                                        <p:cTn id="7" dur="1000" fill="hold"/>
                                        <p:tgtEl>
                                          <p:spTgt spid="68611">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68611">
                                            <p:txEl>
                                              <p:pRg st="0" end="0"/>
                                            </p:txEl>
                                          </p:spTgt>
                                        </p:tgtEl>
                                        <p:attrNameLst>
                                          <p:attrName>ppt_y</p:attrName>
                                        </p:attrNameLst>
                                      </p:cBhvr>
                                      <p:tavLst>
                                        <p:tav tm="0">
                                          <p:val>
                                            <p:strVal val="0-#ppt_h/2"/>
                                          </p:val>
                                        </p:tav>
                                        <p:tav tm="100000">
                                          <p:val>
                                            <p:strVal val="#ppt_y"/>
                                          </p:val>
                                        </p:tav>
                                      </p:tavLst>
                                    </p:anim>
                                  </p:childTnLst>
                                </p:cTn>
                              </p:par>
                              <p:par>
                                <p:cTn id="9" presetID="2" presetClass="entr" presetSubtype="9" fill="hold" grpId="0" nodeType="withEffect">
                                  <p:stCondLst>
                                    <p:cond delay="0"/>
                                  </p:stCondLst>
                                  <p:childTnLst>
                                    <p:set>
                                      <p:cBhvr>
                                        <p:cTn id="10" dur="1" fill="hold">
                                          <p:stCondLst>
                                            <p:cond delay="0"/>
                                          </p:stCondLst>
                                        </p:cTn>
                                        <p:tgtEl>
                                          <p:spTgt spid="68611">
                                            <p:txEl>
                                              <p:pRg st="1" end="1"/>
                                            </p:txEl>
                                          </p:spTgt>
                                        </p:tgtEl>
                                        <p:attrNameLst>
                                          <p:attrName>style.visibility</p:attrName>
                                        </p:attrNameLst>
                                      </p:cBhvr>
                                      <p:to>
                                        <p:strVal val="visible"/>
                                      </p:to>
                                    </p:set>
                                    <p:anim calcmode="lin" valueType="num">
                                      <p:cBhvr additive="base">
                                        <p:cTn id="11" dur="1000" fill="hold"/>
                                        <p:tgtEl>
                                          <p:spTgt spid="68611">
                                            <p:txEl>
                                              <p:pRg st="1" end="1"/>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68611">
                                            <p:txEl>
                                              <p:pRg st="1" end="1"/>
                                            </p:txEl>
                                          </p:spTgt>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1" grpId="0" uiExpand="1" build="p" bldLvl="2" autoUpdateAnimBg="0"/>
      <p:bldP spid="3" grpId="0" animBg="1"/>
      <p:bldP spid="12" grpId="0" animBg="1"/>
      <p:bldP spid="13" grpId="0" animBg="1"/>
      <p:bldP spid="15" grpId="0" animBg="1"/>
      <p:bldP spid="1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060318" y="411510"/>
            <a:ext cx="3775393" cy="523220"/>
          </a:xfrm>
          <a:prstGeom prst="rect">
            <a:avLst/>
          </a:prstGeom>
        </p:spPr>
        <p:txBody>
          <a:bodyPr wrap="none">
            <a:spAutoFit/>
          </a:bodyPr>
          <a:lstStyle/>
          <a:p>
            <a:pPr>
              <a:spcBef>
                <a:spcPct val="10000"/>
              </a:spcBef>
            </a:pPr>
            <a:r>
              <a:rPr lang="en-US" altLang="zh-CN" sz="2800" dirty="0">
                <a:latin typeface="宋体" pitchFamily="2" charset="-122"/>
                <a:ea typeface="宋体" panose="02010600030101010101" pitchFamily="2" charset="-122"/>
              </a:rPr>
              <a:t>G =</a:t>
            </a:r>
            <a:r>
              <a:rPr lang="zh-CN" altLang="en-US" sz="2800" dirty="0">
                <a:latin typeface="宋体" pitchFamily="2" charset="-122"/>
                <a:ea typeface="宋体" panose="02010600030101010101" pitchFamily="2" charset="-122"/>
              </a:rPr>
              <a:t>（</a:t>
            </a:r>
            <a:r>
              <a:rPr lang="en-US" altLang="zh-CN" sz="2800" dirty="0" err="1">
                <a:latin typeface="宋体" pitchFamily="2" charset="-122"/>
                <a:ea typeface="宋体" panose="02010600030101010101" pitchFamily="2" charset="-122"/>
              </a:rPr>
              <a:t>Vn</a:t>
            </a:r>
            <a:r>
              <a:rPr lang="en-US" altLang="zh-CN" sz="2800" dirty="0">
                <a:latin typeface="宋体" pitchFamily="2" charset="-122"/>
                <a:ea typeface="宋体" panose="02010600030101010101" pitchFamily="2" charset="-122"/>
              </a:rPr>
              <a:t>, </a:t>
            </a:r>
            <a:r>
              <a:rPr lang="en-US" altLang="zh-CN" sz="2800" dirty="0" err="1">
                <a:latin typeface="宋体" pitchFamily="2" charset="-122"/>
                <a:ea typeface="宋体" panose="02010600030101010101" pitchFamily="2" charset="-122"/>
              </a:rPr>
              <a:t>Vt</a:t>
            </a:r>
            <a:r>
              <a:rPr lang="en-US" altLang="zh-CN" sz="2800" dirty="0">
                <a:latin typeface="宋体" pitchFamily="2" charset="-122"/>
                <a:ea typeface="宋体" panose="02010600030101010101" pitchFamily="2" charset="-122"/>
              </a:rPr>
              <a:t>, P, S</a:t>
            </a:r>
            <a:r>
              <a:rPr lang="zh-CN" altLang="en-US" sz="2800" dirty="0">
                <a:latin typeface="宋体" pitchFamily="2" charset="-122"/>
                <a:ea typeface="宋体" panose="02010600030101010101" pitchFamily="2" charset="-122"/>
              </a:rPr>
              <a:t>） </a:t>
            </a:r>
          </a:p>
        </p:txBody>
      </p:sp>
      <p:sp>
        <p:nvSpPr>
          <p:cNvPr id="6" name="Rectangle 6"/>
          <p:cNvSpPr>
            <a:spLocks noChangeArrowheads="1"/>
          </p:cNvSpPr>
          <p:nvPr/>
        </p:nvSpPr>
        <p:spPr bwMode="auto">
          <a:xfrm>
            <a:off x="21334" y="0"/>
            <a:ext cx="3171832" cy="2031325"/>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句子</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 </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我</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你</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他</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大学生</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小学生</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是</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p:txBody>
      </p:sp>
      <p:sp>
        <p:nvSpPr>
          <p:cNvPr id="3" name="线形标注 1 2"/>
          <p:cNvSpPr/>
          <p:nvPr/>
        </p:nvSpPr>
        <p:spPr>
          <a:xfrm>
            <a:off x="7668344" y="1263741"/>
            <a:ext cx="1308289" cy="659937"/>
          </a:xfrm>
          <a:prstGeom prst="borderCallout1">
            <a:avLst>
              <a:gd name="adj1" fmla="val 25564"/>
              <a:gd name="adj2" fmla="val 833"/>
              <a:gd name="adj3" fmla="val -57859"/>
              <a:gd name="adj4" fmla="val -44062"/>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en-US" altLang="zh-CN" sz="2400" dirty="0">
                <a:solidFill>
                  <a:schemeClr val="tx1"/>
                </a:solidFill>
                <a:latin typeface="宋体" pitchFamily="2" charset="-122"/>
                <a:ea typeface="宋体" panose="02010600030101010101" pitchFamily="2" charset="-122"/>
              </a:rPr>
              <a:t>&lt;</a:t>
            </a:r>
            <a:r>
              <a:rPr lang="zh-CN" altLang="en-US" sz="2400" dirty="0">
                <a:solidFill>
                  <a:schemeClr val="tx1"/>
                </a:solidFill>
                <a:latin typeface="宋体" pitchFamily="2" charset="-122"/>
                <a:ea typeface="宋体" panose="02010600030101010101" pitchFamily="2" charset="-122"/>
              </a:rPr>
              <a:t>句子</a:t>
            </a:r>
            <a:r>
              <a:rPr lang="en-US" altLang="zh-CN" sz="2400" dirty="0">
                <a:solidFill>
                  <a:schemeClr val="tx1"/>
                </a:solidFill>
                <a:latin typeface="宋体" pitchFamily="2" charset="-122"/>
                <a:ea typeface="宋体" panose="02010600030101010101" pitchFamily="2" charset="-122"/>
              </a:rPr>
              <a:t>&gt;</a:t>
            </a:r>
            <a:endParaRPr lang="zh-CN" altLang="en-US" sz="2400" dirty="0">
              <a:solidFill>
                <a:schemeClr val="tx1"/>
              </a:solidFill>
            </a:endParaRPr>
          </a:p>
        </p:txBody>
      </p:sp>
      <p:sp>
        <p:nvSpPr>
          <p:cNvPr id="8" name="线形标注 1 7"/>
          <p:cNvSpPr/>
          <p:nvPr/>
        </p:nvSpPr>
        <p:spPr>
          <a:xfrm>
            <a:off x="91272" y="3363165"/>
            <a:ext cx="3528392" cy="1222967"/>
          </a:xfrm>
          <a:prstGeom prst="borderCallout1">
            <a:avLst>
              <a:gd name="adj1" fmla="val -1972"/>
              <a:gd name="adj2" fmla="val 49021"/>
              <a:gd name="adj3" fmla="val -200206"/>
              <a:gd name="adj4" fmla="val 143319"/>
            </a:avLst>
          </a:prstGeom>
        </p:spPr>
        <p:style>
          <a:lnRef idx="2">
            <a:schemeClr val="accent4"/>
          </a:lnRef>
          <a:fillRef idx="1">
            <a:schemeClr val="lt1"/>
          </a:fillRef>
          <a:effectRef idx="0">
            <a:schemeClr val="accent4"/>
          </a:effectRef>
          <a:fontRef idx="minor">
            <a:schemeClr val="dk1"/>
          </a:fontRef>
        </p:style>
        <p:txBody>
          <a:bodyPr rtlCol="0" anchor="ctr"/>
          <a:lstStyle/>
          <a:p>
            <a:pPr marL="0" lvl="1">
              <a:spcBef>
                <a:spcPct val="10000"/>
              </a:spcBef>
            </a:pPr>
            <a:r>
              <a:rPr lang="en-US" altLang="zh-CN" sz="2000" dirty="0" err="1">
                <a:latin typeface="宋体" pitchFamily="2" charset="-122"/>
                <a:ea typeface="宋体" panose="02010600030101010101" pitchFamily="2" charset="-122"/>
              </a:rPr>
              <a:t>Vn</a:t>
            </a:r>
            <a:r>
              <a:rPr lang="en-US" altLang="zh-CN" sz="2000" dirty="0">
                <a:latin typeface="宋体" pitchFamily="2" charset="-122"/>
                <a:ea typeface="宋体" panose="02010600030101010101" pitchFamily="2" charset="-122"/>
              </a:rPr>
              <a:t>=</a:t>
            </a:r>
            <a:r>
              <a:rPr lang="en-US" altLang="zh-CN" sz="2000" b="1" dirty="0">
                <a:solidFill>
                  <a:srgbClr val="CC00FF"/>
                </a:solidFill>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 &lt;</a:t>
            </a:r>
            <a:r>
              <a:rPr lang="zh-CN" altLang="en-US" sz="2000" dirty="0">
                <a:latin typeface="宋体" pitchFamily="2" charset="-122"/>
                <a:ea typeface="宋体" panose="02010600030101010101" pitchFamily="2" charset="-122"/>
              </a:rPr>
              <a:t>句子</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主语</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谓语</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代词</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动词</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名词</a:t>
            </a:r>
            <a:r>
              <a:rPr lang="en-US" altLang="zh-CN" sz="2000" dirty="0">
                <a:latin typeface="宋体" pitchFamily="2" charset="-122"/>
                <a:ea typeface="宋体" panose="02010600030101010101" pitchFamily="2" charset="-122"/>
              </a:rPr>
              <a:t>&gt;</a:t>
            </a:r>
            <a:r>
              <a:rPr lang="zh-CN" altLang="en-US" sz="2000" dirty="0">
                <a:latin typeface="宋体" pitchFamily="2" charset="-122"/>
                <a:ea typeface="宋体" panose="02010600030101010101" pitchFamily="2" charset="-122"/>
              </a:rPr>
              <a:t>，</a:t>
            </a:r>
            <a:r>
              <a:rPr lang="en-US" altLang="zh-CN" sz="2000" dirty="0">
                <a:latin typeface="宋体" pitchFamily="2" charset="-122"/>
                <a:ea typeface="宋体" panose="02010600030101010101" pitchFamily="2" charset="-122"/>
              </a:rPr>
              <a:t>&lt;</a:t>
            </a:r>
            <a:r>
              <a:rPr lang="zh-CN" altLang="en-US" sz="2000" dirty="0">
                <a:latin typeface="宋体" pitchFamily="2" charset="-122"/>
                <a:ea typeface="宋体" panose="02010600030101010101" pitchFamily="2" charset="-122"/>
              </a:rPr>
              <a:t>直接宾语</a:t>
            </a:r>
            <a:r>
              <a:rPr lang="en-US" altLang="zh-CN" sz="2000" dirty="0">
                <a:latin typeface="宋体" pitchFamily="2" charset="-122"/>
                <a:ea typeface="宋体" panose="02010600030101010101" pitchFamily="2" charset="-122"/>
              </a:rPr>
              <a:t>&gt;  </a:t>
            </a:r>
            <a:r>
              <a:rPr lang="en-US" altLang="zh-CN" sz="2000" b="1" dirty="0">
                <a:solidFill>
                  <a:srgbClr val="CC00FF"/>
                </a:solidFill>
                <a:latin typeface="宋体" pitchFamily="2" charset="-122"/>
                <a:ea typeface="宋体" panose="02010600030101010101" pitchFamily="2" charset="-122"/>
              </a:rPr>
              <a:t>}</a:t>
            </a:r>
            <a:endParaRPr lang="zh-CN" altLang="en-US" sz="2000" b="1" dirty="0">
              <a:solidFill>
                <a:srgbClr val="CC00FF"/>
              </a:solidFill>
              <a:latin typeface="宋体" pitchFamily="2" charset="-122"/>
              <a:ea typeface="宋体" panose="02010600030101010101" pitchFamily="2" charset="-122"/>
            </a:endParaRPr>
          </a:p>
        </p:txBody>
      </p:sp>
      <p:sp>
        <p:nvSpPr>
          <p:cNvPr id="9" name="线形标注 1 8"/>
          <p:cNvSpPr/>
          <p:nvPr/>
        </p:nvSpPr>
        <p:spPr>
          <a:xfrm>
            <a:off x="3779912" y="3392472"/>
            <a:ext cx="2016224" cy="1051485"/>
          </a:xfrm>
          <a:prstGeom prst="borderCallout1">
            <a:avLst>
              <a:gd name="adj1" fmla="val -1972"/>
              <a:gd name="adj2" fmla="val 9086"/>
              <a:gd name="adj3" fmla="val -237022"/>
              <a:gd name="adj4" fmla="val 115917"/>
            </a:avLst>
          </a:prstGeom>
        </p:spPr>
        <p:style>
          <a:lnRef idx="2">
            <a:schemeClr val="accent4"/>
          </a:lnRef>
          <a:fillRef idx="1">
            <a:schemeClr val="lt1"/>
          </a:fillRef>
          <a:effectRef idx="0">
            <a:schemeClr val="accent4"/>
          </a:effectRef>
          <a:fontRef idx="minor">
            <a:schemeClr val="dk1"/>
          </a:fontRef>
        </p:style>
        <p:txBody>
          <a:bodyPr rtlCol="0" anchor="ctr"/>
          <a:lstStyle/>
          <a:p>
            <a:pPr marL="0" lvl="1">
              <a:spcBef>
                <a:spcPct val="10000"/>
              </a:spcBef>
            </a:pPr>
            <a:r>
              <a:rPr lang="en-US" altLang="zh-CN" sz="2000" dirty="0" err="1">
                <a:latin typeface="宋体" pitchFamily="2" charset="-122"/>
                <a:ea typeface="宋体" panose="02010600030101010101" pitchFamily="2" charset="-122"/>
              </a:rPr>
              <a:t>Vt</a:t>
            </a:r>
            <a:r>
              <a:rPr lang="en-US" altLang="zh-CN" sz="2000" dirty="0">
                <a:latin typeface="宋体" pitchFamily="2" charset="-122"/>
                <a:ea typeface="宋体" panose="02010600030101010101" pitchFamily="2" charset="-122"/>
              </a:rPr>
              <a:t>=</a:t>
            </a:r>
            <a:r>
              <a:rPr lang="en-US" altLang="zh-CN" sz="2000" b="1" dirty="0">
                <a:solidFill>
                  <a:srgbClr val="CC00FF"/>
                </a:solidFill>
                <a:latin typeface="宋体" pitchFamily="2" charset="-122"/>
                <a:ea typeface="宋体" panose="02010600030101010101" pitchFamily="2" charset="-122"/>
              </a:rPr>
              <a:t>{</a:t>
            </a:r>
            <a:r>
              <a:rPr lang="zh-CN" altLang="en-US" sz="2000" dirty="0">
                <a:latin typeface="宋体" pitchFamily="2" charset="-122"/>
                <a:ea typeface="宋体" panose="02010600030101010101" pitchFamily="2" charset="-122"/>
              </a:rPr>
              <a:t>我，你，他，是，大学生，小学生 </a:t>
            </a:r>
            <a:r>
              <a:rPr lang="en-US" altLang="zh-CN" sz="2000" b="1" dirty="0">
                <a:solidFill>
                  <a:srgbClr val="CC00FF"/>
                </a:solidFill>
                <a:latin typeface="宋体" pitchFamily="2" charset="-122"/>
                <a:ea typeface="宋体" panose="02010600030101010101" pitchFamily="2" charset="-122"/>
              </a:rPr>
              <a:t>}</a:t>
            </a:r>
            <a:endParaRPr lang="zh-CN" altLang="en-US" sz="2000" b="1" dirty="0">
              <a:solidFill>
                <a:srgbClr val="CC00FF"/>
              </a:solidFill>
              <a:latin typeface="宋体" pitchFamily="2" charset="-122"/>
              <a:ea typeface="宋体" panose="02010600030101010101" pitchFamily="2" charset="-122"/>
            </a:endParaRPr>
          </a:p>
        </p:txBody>
      </p:sp>
      <p:sp>
        <p:nvSpPr>
          <p:cNvPr id="10" name="线形标注 1 9"/>
          <p:cNvSpPr/>
          <p:nvPr/>
        </p:nvSpPr>
        <p:spPr>
          <a:xfrm>
            <a:off x="5948014" y="2499742"/>
            <a:ext cx="3160490" cy="2592288"/>
          </a:xfrm>
          <a:prstGeom prst="borderCallout1">
            <a:avLst>
              <a:gd name="adj1" fmla="val -1972"/>
              <a:gd name="adj2" fmla="val 9086"/>
              <a:gd name="adj3" fmla="val -61828"/>
              <a:gd name="adj4" fmla="val 20351"/>
            </a:avLst>
          </a:prstGeom>
        </p:spPr>
        <p:style>
          <a:lnRef idx="2">
            <a:schemeClr val="accent4"/>
          </a:lnRef>
          <a:fillRef idx="1">
            <a:schemeClr val="lt1"/>
          </a:fillRef>
          <a:effectRef idx="0">
            <a:schemeClr val="accent4"/>
          </a:effectRef>
          <a:fontRef idx="minor">
            <a:schemeClr val="dk1"/>
          </a:fontRef>
        </p:style>
        <p:txBody>
          <a:bodyPr rtlCol="0" anchor="ctr"/>
          <a:lstStyle/>
          <a:p>
            <a:pPr marL="0" lvl="2"/>
            <a:r>
              <a:rPr lang="en-US" altLang="zh-CN" sz="2000" dirty="0">
                <a:latin typeface="宋体" pitchFamily="2" charset="-122"/>
                <a:ea typeface="宋体" panose="02010600030101010101" pitchFamily="2" charset="-122"/>
              </a:rPr>
              <a:t>P=</a:t>
            </a:r>
            <a:r>
              <a:rPr lang="en-US" altLang="zh-CN" sz="2000" b="1" dirty="0">
                <a:solidFill>
                  <a:srgbClr val="CC00FF"/>
                </a:solidFill>
                <a:latin typeface="宋体" pitchFamily="2" charset="-122"/>
                <a:ea typeface="宋体" panose="02010600030101010101" pitchFamily="2" charset="-122"/>
              </a:rPr>
              <a: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句子</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 </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主语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我</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你</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他</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大学生</a:t>
            </a:r>
            <a:r>
              <a:rPr lang="en-US" altLang="zh-CN" dirty="0">
                <a:solidFill>
                  <a:schemeClr val="tx1"/>
                </a:solidFill>
                <a:latin typeface="宋体" pitchFamily="2" charset="-122"/>
                <a:ea typeface="宋体" panose="02010600030101010101" pitchFamily="2" charset="-122"/>
              </a:rPr>
              <a:t>|</a:t>
            </a:r>
            <a:r>
              <a:rPr lang="zh-CN" altLang="en-US" dirty="0">
                <a:solidFill>
                  <a:srgbClr val="FF0000"/>
                </a:solidFill>
                <a:latin typeface="宋体" pitchFamily="2" charset="-122"/>
                <a:ea typeface="宋体" panose="02010600030101010101" pitchFamily="2" charset="-122"/>
              </a:rPr>
              <a:t>小学生</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谓语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动词</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zh-CN" altLang="en-US" dirty="0">
                <a:solidFill>
                  <a:srgbClr val="FF0000"/>
                </a:solidFill>
                <a:latin typeface="宋体" pitchFamily="2" charset="-122"/>
                <a:ea typeface="宋体" panose="02010600030101010101" pitchFamily="2" charset="-122"/>
              </a:rPr>
              <a:t>是</a:t>
            </a:r>
          </a:p>
          <a:p>
            <a:pPr marL="0" lvl="2"/>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直接宾语</a:t>
            </a:r>
            <a:r>
              <a:rPr lang="en-US" altLang="zh-CN" dirty="0">
                <a:latin typeface="宋体" pitchFamily="2" charset="-122"/>
                <a:ea typeface="宋体" panose="02010600030101010101" pitchFamily="2" charset="-122"/>
              </a:rPr>
              <a:t>&gt;</a:t>
            </a:r>
            <a:r>
              <a:rPr lang="en-US" altLang="zh-CN" dirty="0">
                <a:latin typeface="宋体" pitchFamily="2" charset="-122"/>
                <a:ea typeface="宋体" panose="02010600030101010101" pitchFamily="2" charset="-122"/>
                <a:sym typeface="Wingdings" pitchFamily="2" charset="2"/>
              </a:rPr>
              <a:t></a:t>
            </a:r>
            <a:r>
              <a:rPr lang="en-US" altLang="zh-CN" dirty="0">
                <a:latin typeface="宋体" pitchFamily="2" charset="-122"/>
                <a:ea typeface="宋体" panose="02010600030101010101" pitchFamily="2" charset="-122"/>
              </a:rPr>
              <a:t>&lt;</a:t>
            </a:r>
            <a:r>
              <a:rPr lang="zh-CN" altLang="en-US" dirty="0">
                <a:latin typeface="宋体" pitchFamily="2" charset="-122"/>
                <a:ea typeface="宋体" panose="02010600030101010101" pitchFamily="2" charset="-122"/>
              </a:rPr>
              <a:t>代词</a:t>
            </a:r>
            <a:r>
              <a:rPr lang="en-US" altLang="zh-CN" dirty="0">
                <a:latin typeface="宋体" pitchFamily="2" charset="-122"/>
                <a:ea typeface="宋体" panose="02010600030101010101" pitchFamily="2" charset="-122"/>
              </a:rPr>
              <a:t>&gt;|&lt;</a:t>
            </a:r>
            <a:r>
              <a:rPr lang="zh-CN" altLang="en-US" dirty="0">
                <a:latin typeface="宋体" pitchFamily="2" charset="-122"/>
                <a:ea typeface="宋体" panose="02010600030101010101" pitchFamily="2" charset="-122"/>
              </a:rPr>
              <a:t>名词</a:t>
            </a:r>
            <a:r>
              <a:rPr lang="en-US" altLang="zh-CN" dirty="0">
                <a:latin typeface="宋体" pitchFamily="2" charset="-122"/>
                <a:ea typeface="宋体" panose="02010600030101010101" pitchFamily="2" charset="-122"/>
              </a:rPr>
              <a:t>&gt;</a:t>
            </a:r>
          </a:p>
          <a:p>
            <a:pPr marL="0" lvl="1">
              <a:spcBef>
                <a:spcPct val="10000"/>
              </a:spcBef>
            </a:pPr>
            <a:r>
              <a:rPr lang="en-US" altLang="zh-CN" sz="2000" b="1" dirty="0">
                <a:solidFill>
                  <a:srgbClr val="CC00FF"/>
                </a:solidFill>
                <a:latin typeface="宋体" pitchFamily="2" charset="-122"/>
                <a:ea typeface="宋体" panose="02010600030101010101" pitchFamily="2" charset="-122"/>
              </a:rPr>
              <a:t>}</a:t>
            </a:r>
            <a:endParaRPr lang="zh-CN" altLang="en-US" sz="2000" b="1" dirty="0">
              <a:solidFill>
                <a:srgbClr val="CC00FF"/>
              </a:solidFill>
              <a:latin typeface="宋体" pitchFamily="2" charset="-122"/>
              <a:ea typeface="宋体" panose="02010600030101010101" pitchFamily="2" charset="-122"/>
            </a:endParaRPr>
          </a:p>
        </p:txBody>
      </p:sp>
    </p:spTree>
    <p:extLst>
      <p:ext uri="{BB962C8B-B14F-4D97-AF65-F5344CB8AC3E}">
        <p14:creationId xmlns:p14="http://schemas.microsoft.com/office/powerpoint/2010/main" val="636861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9" grpId="0" animBg="1"/>
      <p:bldP spid="1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a:extLst>
              <a:ext uri="{FF2B5EF4-FFF2-40B4-BE49-F238E27FC236}">
                <a16:creationId xmlns:a16="http://schemas.microsoft.com/office/drawing/2014/main" id="{37B23907-5A46-671D-73B1-F5D0433CA378}"/>
              </a:ext>
            </a:extLst>
          </p:cNvPr>
          <p:cNvSpPr txBox="1"/>
          <p:nvPr/>
        </p:nvSpPr>
        <p:spPr>
          <a:xfrm>
            <a:off x="355514" y="3435846"/>
            <a:ext cx="4216486" cy="1077218"/>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en-US" altLang="zh-CN" sz="1600" kern="100" dirty="0">
                <a:effectLst/>
                <a:latin typeface="Times New Roman" panose="02020603050405020304" pitchFamily="18" charset="0"/>
                <a:ea typeface="宋体" panose="02010600030101010101" pitchFamily="2" charset="-122"/>
              </a:rPr>
              <a:t>BNF</a:t>
            </a:r>
            <a:r>
              <a:rPr lang="zh-CN" altLang="zh-CN" sz="1600" kern="100" dirty="0">
                <a:effectLst/>
                <a:latin typeface="Times New Roman" panose="02020603050405020304" pitchFamily="18" charset="0"/>
                <a:ea typeface="宋体" panose="02010600030101010101" pitchFamily="2" charset="-122"/>
                <a:cs typeface="Times New Roman" panose="02020603050405020304" pitchFamily="18" charset="0"/>
              </a:rPr>
              <a:t>第一次是在</a:t>
            </a:r>
            <a:r>
              <a:rPr lang="en-US" altLang="zh-CN" sz="1600" kern="100" dirty="0">
                <a:effectLst/>
                <a:latin typeface="Times New Roman" panose="02020603050405020304" pitchFamily="18" charset="0"/>
                <a:ea typeface="宋体" panose="02010600030101010101" pitchFamily="2" charset="-122"/>
              </a:rPr>
              <a:t>1960</a:t>
            </a:r>
            <a:r>
              <a:rPr lang="zh-CN" altLang="zh-CN" sz="1600" kern="100" dirty="0">
                <a:effectLst/>
                <a:latin typeface="Times New Roman" panose="02020603050405020304" pitchFamily="18" charset="0"/>
                <a:ea typeface="宋体" panose="02010600030101010101" pitchFamily="2" charset="-122"/>
                <a:cs typeface="Times New Roman" panose="02020603050405020304" pitchFamily="18" charset="0"/>
              </a:rPr>
              <a:t>年用来描述</a:t>
            </a:r>
            <a:r>
              <a:rPr lang="en-US" altLang="zh-CN" sz="1600" kern="100" dirty="0">
                <a:effectLst/>
                <a:latin typeface="Times New Roman" panose="02020603050405020304" pitchFamily="18" charset="0"/>
                <a:ea typeface="宋体" panose="02010600030101010101" pitchFamily="2" charset="-122"/>
              </a:rPr>
              <a:t> ALGOL60</a:t>
            </a:r>
            <a:r>
              <a:rPr lang="zh-CN" altLang="zh-CN" sz="1600" kern="100" dirty="0">
                <a:effectLst/>
                <a:latin typeface="Times New Roman" panose="02020603050405020304" pitchFamily="18" charset="0"/>
                <a:ea typeface="宋体" panose="02010600030101010101" pitchFamily="2" charset="-122"/>
                <a:cs typeface="Times New Roman" panose="02020603050405020304" pitchFamily="18" charset="0"/>
              </a:rPr>
              <a:t>的语法规则，它的优点是清晰、严谨，在语言形式化描述编译程序自动生成等研究领域中是一种非常有效的工具。</a:t>
            </a:r>
            <a:endParaRPr lang="zh-CN" altLang="en-US" sz="1600" dirty="0"/>
          </a:p>
        </p:txBody>
      </p:sp>
      <p:sp>
        <p:nvSpPr>
          <p:cNvPr id="5" name="文本框 4">
            <a:extLst>
              <a:ext uri="{FF2B5EF4-FFF2-40B4-BE49-F238E27FC236}">
                <a16:creationId xmlns:a16="http://schemas.microsoft.com/office/drawing/2014/main" id="{D313124F-E54C-D16C-BF16-45C2A9DBBB4D}"/>
              </a:ext>
            </a:extLst>
          </p:cNvPr>
          <p:cNvSpPr txBox="1"/>
          <p:nvPr/>
        </p:nvSpPr>
        <p:spPr>
          <a:xfrm>
            <a:off x="355514" y="2158793"/>
            <a:ext cx="4216486" cy="1200329"/>
          </a:xfrm>
          <a:prstGeom prst="rect">
            <a:avLst/>
          </a:prstGeom>
          <a:noFill/>
          <a:ln>
            <a:solidFill>
              <a:srgbClr val="3333FF"/>
            </a:solidFill>
          </a:ln>
        </p:spPr>
        <p:txBody>
          <a:bodyPr wrap="square">
            <a:spAutoFit/>
          </a:bodyPr>
          <a:lstStyle/>
          <a:p>
            <a:pPr marL="285750" indent="-285750">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这种描述文法的方法称为</a:t>
            </a:r>
            <a:r>
              <a:rPr lang="zh-CN" altLang="zh-CN" sz="16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巴科斯范式（</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简称</a:t>
            </a:r>
            <a:r>
              <a:rPr lang="en-US" altLang="zh-CN" sz="1800" kern="100" dirty="0">
                <a:effectLst/>
                <a:latin typeface="Times New Roman" panose="02020603050405020304" pitchFamily="18" charset="0"/>
                <a:ea typeface="宋体" panose="02010600030101010101" pitchFamily="2" charset="-122"/>
              </a:rPr>
              <a:t>BNF</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rPr>
              <a:t>Backus-Naur Form)</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“→”有时也用“</a:t>
            </a:r>
            <a:r>
              <a:rPr lang="en-US" altLang="zh-CN" sz="1800" kern="100" dirty="0">
                <a:effectLst/>
                <a:latin typeface="Times New Roman" panose="02020603050405020304" pitchFamily="18" charset="0"/>
                <a:ea typeface="宋体" panose="02010600030101010101" pitchFamily="2" charset="-122"/>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”来表示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是一种严格地表示语法规则的方法</a:t>
            </a:r>
            <a:endParaRPr lang="zh-CN" altLang="en-US" dirty="0"/>
          </a:p>
        </p:txBody>
      </p:sp>
      <p:sp>
        <p:nvSpPr>
          <p:cNvPr id="7" name="文本框 6">
            <a:extLst>
              <a:ext uri="{FF2B5EF4-FFF2-40B4-BE49-F238E27FC236}">
                <a16:creationId xmlns:a16="http://schemas.microsoft.com/office/drawing/2014/main" id="{E92DDFE0-3680-428A-0D5E-D3A2DD48EFE5}"/>
              </a:ext>
            </a:extLst>
          </p:cNvPr>
          <p:cNvSpPr txBox="1"/>
          <p:nvPr/>
        </p:nvSpPr>
        <p:spPr>
          <a:xfrm>
            <a:off x="479928" y="230326"/>
            <a:ext cx="2952328" cy="1754326"/>
          </a:xfrm>
          <a:prstGeom prst="rect">
            <a:avLst/>
          </a:prstGeom>
          <a:noFill/>
        </p:spPr>
        <p:txBody>
          <a:bodyPr wrap="square">
            <a:spAutoFit/>
          </a:bodyPr>
          <a:lstStyle/>
          <a:p>
            <a:pPr algn="just"/>
            <a:r>
              <a:rPr lang="en-US" altLang="zh-CN" sz="1800" kern="0" dirty="0">
                <a:effectLst/>
                <a:latin typeface="Times New Roman" panose="02020603050405020304" pitchFamily="18" charset="0"/>
                <a:ea typeface="宋体" panose="02010600030101010101" pitchFamily="2" charset="-122"/>
              </a:rPr>
              <a:t>G=({S,A}</a:t>
            </a:r>
            <a:r>
              <a:rPr lang="zh-CN" altLang="zh-CN" sz="1800" kern="0" dirty="0">
                <a:effectLst/>
                <a:latin typeface="Times New Roman" panose="02020603050405020304" pitchFamily="18" charset="0"/>
                <a:ea typeface="宋体" panose="02010600030101010101" pitchFamily="2" charset="-122"/>
              </a:rPr>
              <a:t>，</a:t>
            </a:r>
            <a:r>
              <a:rPr lang="en-US" altLang="zh-CN" sz="1800" kern="0" dirty="0">
                <a:effectLst/>
                <a:latin typeface="Times New Roman" panose="02020603050405020304" pitchFamily="18" charset="0"/>
                <a:ea typeface="宋体" panose="02010600030101010101" pitchFamily="2" charset="-122"/>
              </a:rPr>
              <a:t>{</a:t>
            </a:r>
            <a:r>
              <a:rPr lang="en-US" altLang="zh-CN" sz="1800" kern="0" dirty="0" err="1">
                <a:effectLst/>
                <a:latin typeface="Times New Roman" panose="02020603050405020304" pitchFamily="18" charset="0"/>
                <a:ea typeface="宋体" panose="02010600030101010101" pitchFamily="2" charset="-122"/>
              </a:rPr>
              <a:t>a,b</a:t>
            </a:r>
            <a:r>
              <a:rPr lang="en-US" altLang="zh-CN" sz="1800" kern="0" dirty="0">
                <a:effectLst/>
                <a:latin typeface="Times New Roman" panose="02020603050405020304" pitchFamily="18" charset="0"/>
                <a:ea typeface="宋体" panose="02010600030101010101" pitchFamily="2" charset="-122"/>
              </a:rPr>
              <a:t>}</a:t>
            </a:r>
            <a:r>
              <a:rPr lang="zh-CN" altLang="zh-CN" sz="1800" kern="0" dirty="0">
                <a:effectLst/>
                <a:latin typeface="Times New Roman" panose="02020603050405020304" pitchFamily="18" charset="0"/>
                <a:ea typeface="宋体" panose="02010600030101010101" pitchFamily="2" charset="-122"/>
              </a:rPr>
              <a:t>，</a:t>
            </a:r>
            <a:r>
              <a:rPr lang="en-US" altLang="zh-CN" sz="1800" kern="0" dirty="0">
                <a:effectLst/>
                <a:latin typeface="Times New Roman" panose="02020603050405020304" pitchFamily="18" charset="0"/>
                <a:ea typeface="宋体" panose="02010600030101010101" pitchFamily="2" charset="-122"/>
              </a:rPr>
              <a:t>P</a:t>
            </a:r>
            <a:r>
              <a:rPr lang="zh-CN" altLang="zh-CN" sz="1800" kern="0" dirty="0">
                <a:effectLst/>
                <a:latin typeface="Times New Roman" panose="02020603050405020304" pitchFamily="18" charset="0"/>
                <a:ea typeface="宋体" panose="02010600030101010101" pitchFamily="2" charset="-122"/>
              </a:rPr>
              <a:t>，</a:t>
            </a:r>
            <a:r>
              <a:rPr lang="en-US" altLang="zh-CN" sz="1800" kern="0" dirty="0">
                <a:effectLst/>
                <a:latin typeface="Times New Roman" panose="02020603050405020304" pitchFamily="18" charset="0"/>
                <a:ea typeface="宋体" panose="02010600030101010101" pitchFamily="2" charset="-122"/>
              </a:rPr>
              <a:t>S) </a:t>
            </a:r>
            <a:endParaRPr lang="zh-CN" altLang="zh-CN" sz="1800" kern="100" dirty="0">
              <a:effectLst/>
              <a:latin typeface="Times New Roman" panose="02020603050405020304" pitchFamily="18" charset="0"/>
              <a:ea typeface="宋体" panose="02010600030101010101" pitchFamily="2" charset="-122"/>
            </a:endParaRPr>
          </a:p>
          <a:p>
            <a:pPr indent="333375" algn="just"/>
            <a:r>
              <a:rPr lang="zh-CN" altLang="zh-CN" sz="1800" kern="0" dirty="0">
                <a:effectLst/>
                <a:latin typeface="Times New Roman" panose="02020603050405020304" pitchFamily="18" charset="0"/>
                <a:ea typeface="宋体" panose="02010600030101010101" pitchFamily="2" charset="-122"/>
              </a:rPr>
              <a:t>其中</a:t>
            </a:r>
            <a:r>
              <a:rPr lang="en-US" altLang="zh-CN" sz="1800" kern="0" dirty="0">
                <a:effectLst/>
                <a:latin typeface="Times New Roman" panose="02020603050405020304" pitchFamily="18" charset="0"/>
                <a:ea typeface="宋体" panose="02010600030101010101" pitchFamily="2" charset="-122"/>
              </a:rPr>
              <a:t>  P</a:t>
            </a:r>
            <a:r>
              <a:rPr lang="zh-CN" altLang="zh-CN" sz="1800" kern="0" dirty="0">
                <a:effectLst/>
                <a:latin typeface="Times New Roman" panose="02020603050405020304" pitchFamily="18" charset="0"/>
                <a:ea typeface="宋体" panose="02010600030101010101" pitchFamily="2" charset="-122"/>
              </a:rPr>
              <a:t>：</a:t>
            </a:r>
            <a:endParaRPr lang="en-US" altLang="zh-CN" sz="1800" kern="0" dirty="0">
              <a:effectLst/>
              <a:latin typeface="Times New Roman" panose="02020603050405020304" pitchFamily="18" charset="0"/>
              <a:ea typeface="宋体" panose="02010600030101010101" pitchFamily="2" charset="-122"/>
            </a:endParaRPr>
          </a:p>
          <a:p>
            <a:pPr indent="333375" algn="just"/>
            <a:r>
              <a:rPr lang="en-US" altLang="zh-CN" kern="0" dirty="0">
                <a:latin typeface="Times New Roman" panose="02020603050405020304" pitchFamily="18" charset="0"/>
                <a:ea typeface="宋体" panose="02010600030101010101" pitchFamily="2" charset="-122"/>
              </a:rPr>
              <a:t>         </a:t>
            </a:r>
            <a:r>
              <a:rPr lang="en-US" altLang="zh-CN" sz="1800" kern="0" dirty="0">
                <a:effectLst/>
                <a:latin typeface="Times New Roman" panose="02020603050405020304" pitchFamily="18" charset="0"/>
                <a:ea typeface="宋体" panose="02010600030101010101" pitchFamily="2" charset="-122"/>
              </a:rPr>
              <a:t>S</a:t>
            </a:r>
            <a:r>
              <a:rPr lang="zh-CN" altLang="zh-CN" sz="1800" kern="0" dirty="0">
                <a:effectLst/>
                <a:latin typeface="Times New Roman" panose="02020603050405020304" pitchFamily="18" charset="0"/>
                <a:ea typeface="宋体" panose="02010600030101010101" pitchFamily="2" charset="-122"/>
              </a:rPr>
              <a:t>→</a:t>
            </a:r>
            <a:r>
              <a:rPr lang="en-US" altLang="zh-CN" sz="1800" kern="0" dirty="0" err="1">
                <a:effectLst/>
                <a:latin typeface="Times New Roman" panose="02020603050405020304" pitchFamily="18" charset="0"/>
                <a:ea typeface="宋体" panose="02010600030101010101" pitchFamily="2" charset="-122"/>
              </a:rPr>
              <a:t>aAb</a:t>
            </a:r>
            <a:endParaRPr lang="zh-CN" altLang="zh-CN" sz="1800" kern="100" dirty="0">
              <a:effectLst/>
              <a:latin typeface="Times New Roman" panose="02020603050405020304" pitchFamily="18" charset="0"/>
              <a:ea typeface="宋体" panose="02010600030101010101" pitchFamily="2" charset="-122"/>
            </a:endParaRPr>
          </a:p>
          <a:p>
            <a:pPr indent="850900" algn="just"/>
            <a:r>
              <a:rPr lang="en-US" altLang="zh-CN" sz="1800" kern="0" dirty="0">
                <a:effectLst/>
                <a:latin typeface="Times New Roman" panose="02020603050405020304" pitchFamily="18" charset="0"/>
                <a:ea typeface="宋体" panose="02010600030101010101" pitchFamily="2" charset="-122"/>
              </a:rPr>
              <a:t>A</a:t>
            </a:r>
            <a:r>
              <a:rPr lang="zh-CN" altLang="zh-CN" sz="1800" kern="0" dirty="0">
                <a:effectLst/>
                <a:latin typeface="Times New Roman" panose="02020603050405020304" pitchFamily="18" charset="0"/>
                <a:ea typeface="宋体" panose="02010600030101010101" pitchFamily="2" charset="-122"/>
              </a:rPr>
              <a:t>→</a:t>
            </a:r>
            <a:r>
              <a:rPr lang="en-US" altLang="zh-CN" sz="1800" kern="0" dirty="0">
                <a:effectLst/>
                <a:latin typeface="Times New Roman" panose="02020603050405020304" pitchFamily="18" charset="0"/>
                <a:ea typeface="宋体" panose="02010600030101010101" pitchFamily="2" charset="-122"/>
              </a:rPr>
              <a:t>ab</a:t>
            </a:r>
            <a:endParaRPr lang="zh-CN" altLang="zh-CN" sz="1800" kern="100" dirty="0">
              <a:effectLst/>
              <a:latin typeface="Times New Roman" panose="02020603050405020304" pitchFamily="18" charset="0"/>
              <a:ea typeface="宋体" panose="02010600030101010101" pitchFamily="2" charset="-122"/>
            </a:endParaRPr>
          </a:p>
          <a:p>
            <a:pPr indent="850900" algn="just"/>
            <a:r>
              <a:rPr lang="en-US" altLang="zh-CN" sz="1800" kern="0" dirty="0">
                <a:effectLst/>
                <a:latin typeface="Times New Roman" panose="02020603050405020304" pitchFamily="18" charset="0"/>
                <a:ea typeface="宋体" panose="02010600030101010101" pitchFamily="2" charset="-122"/>
              </a:rPr>
              <a:t>A</a:t>
            </a:r>
            <a:r>
              <a:rPr lang="zh-CN" altLang="zh-CN" sz="1800" kern="0" dirty="0">
                <a:effectLst/>
                <a:latin typeface="Times New Roman" panose="02020603050405020304" pitchFamily="18" charset="0"/>
                <a:ea typeface="宋体" panose="02010600030101010101" pitchFamily="2" charset="-122"/>
              </a:rPr>
              <a:t>→</a:t>
            </a:r>
            <a:r>
              <a:rPr lang="en-US" altLang="zh-CN" sz="1800" kern="0" dirty="0" err="1">
                <a:effectLst/>
                <a:latin typeface="Times New Roman" panose="02020603050405020304" pitchFamily="18" charset="0"/>
                <a:ea typeface="宋体" panose="02010600030101010101" pitchFamily="2" charset="-122"/>
              </a:rPr>
              <a:t>aAb</a:t>
            </a:r>
            <a:endParaRPr lang="en-US" altLang="zh-CN" sz="1800" kern="0" dirty="0">
              <a:effectLst/>
              <a:latin typeface="Times New Roman" panose="02020603050405020304" pitchFamily="18" charset="0"/>
              <a:ea typeface="宋体" panose="02010600030101010101" pitchFamily="2" charset="-122"/>
            </a:endParaRPr>
          </a:p>
          <a:p>
            <a:pPr indent="850900" algn="just"/>
            <a:r>
              <a:rPr lang="en-US" altLang="zh-CN" sz="1800" dirty="0">
                <a:effectLst/>
                <a:latin typeface="Times New Roman" panose="02020603050405020304" pitchFamily="18" charset="0"/>
                <a:ea typeface="宋体" panose="02010600030101010101" pitchFamily="2" charset="-122"/>
              </a:rPr>
              <a:t>A</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lang="zh-CN" altLang="en-US" dirty="0"/>
          </a:p>
        </p:txBody>
      </p:sp>
      <p:pic>
        <p:nvPicPr>
          <p:cNvPr id="9" name="图片 8">
            <a:extLst>
              <a:ext uri="{FF2B5EF4-FFF2-40B4-BE49-F238E27FC236}">
                <a16:creationId xmlns:a16="http://schemas.microsoft.com/office/drawing/2014/main" id="{9D4EE2C1-0C00-2ADF-1063-5C603E8AEC5C}"/>
              </a:ext>
            </a:extLst>
          </p:cNvPr>
          <p:cNvPicPr>
            <a:picLocks noChangeAspect="1"/>
          </p:cNvPicPr>
          <p:nvPr/>
        </p:nvPicPr>
        <p:blipFill>
          <a:blip r:embed="rId2"/>
          <a:stretch>
            <a:fillRect/>
          </a:stretch>
        </p:blipFill>
        <p:spPr>
          <a:xfrm>
            <a:off x="6864956" y="123478"/>
            <a:ext cx="2102854" cy="1440882"/>
          </a:xfrm>
          <a:prstGeom prst="rect">
            <a:avLst/>
          </a:prstGeom>
        </p:spPr>
      </p:pic>
      <p:sp>
        <p:nvSpPr>
          <p:cNvPr id="10" name="文本框 9">
            <a:extLst>
              <a:ext uri="{FF2B5EF4-FFF2-40B4-BE49-F238E27FC236}">
                <a16:creationId xmlns:a16="http://schemas.microsoft.com/office/drawing/2014/main" id="{6AF84567-4A0A-0544-D401-2E71E8FB72BC}"/>
              </a:ext>
            </a:extLst>
          </p:cNvPr>
          <p:cNvSpPr txBox="1"/>
          <p:nvPr/>
        </p:nvSpPr>
        <p:spPr>
          <a:xfrm>
            <a:off x="4572000" y="326954"/>
            <a:ext cx="2204639" cy="800219"/>
          </a:xfrm>
          <a:prstGeom prst="rect">
            <a:avLst/>
          </a:prstGeom>
          <a:noFill/>
        </p:spPr>
        <p:txBody>
          <a:bodyPr wrap="square" rtlCol="0">
            <a:spAutoFit/>
          </a:bodyPr>
          <a:lstStyle/>
          <a:p>
            <a:r>
              <a:rPr lang="zh-CN" altLang="en-US" b="1" dirty="0">
                <a:solidFill>
                  <a:srgbClr val="3333FF"/>
                </a:solidFill>
              </a:rPr>
              <a:t>认识计算机科学家</a:t>
            </a:r>
            <a:endParaRPr lang="en-US" altLang="zh-CN" b="1" dirty="0">
              <a:solidFill>
                <a:srgbClr val="3333FF"/>
              </a:solidFill>
            </a:endParaRPr>
          </a:p>
          <a:p>
            <a:r>
              <a:rPr lang="en-US" altLang="zh-CN" sz="1400" dirty="0"/>
              <a:t>——1977</a:t>
            </a:r>
            <a:r>
              <a:rPr lang="zh-CN" altLang="en-US" sz="1400" dirty="0"/>
              <a:t>年图灵奖得主</a:t>
            </a:r>
            <a:endParaRPr lang="en-US" altLang="zh-CN" sz="1400" dirty="0"/>
          </a:p>
          <a:p>
            <a:r>
              <a:rPr lang="zh-CN" altLang="en-US" sz="1400" dirty="0"/>
              <a:t>约翰</a:t>
            </a:r>
            <a:r>
              <a:rPr lang="en-US" altLang="zh-CN" sz="1400" dirty="0"/>
              <a:t>.</a:t>
            </a:r>
            <a:r>
              <a:rPr lang="zh-CN" altLang="en-US" sz="1400" dirty="0"/>
              <a:t>巴克斯</a:t>
            </a:r>
          </a:p>
        </p:txBody>
      </p:sp>
      <p:sp>
        <p:nvSpPr>
          <p:cNvPr id="12" name="文本框 11">
            <a:extLst>
              <a:ext uri="{FF2B5EF4-FFF2-40B4-BE49-F238E27FC236}">
                <a16:creationId xmlns:a16="http://schemas.microsoft.com/office/drawing/2014/main" id="{B36EEEFE-9BEC-9A8E-2065-56DDC140036F}"/>
              </a:ext>
            </a:extLst>
          </p:cNvPr>
          <p:cNvSpPr txBox="1"/>
          <p:nvPr/>
        </p:nvSpPr>
        <p:spPr>
          <a:xfrm>
            <a:off x="4879327" y="1708027"/>
            <a:ext cx="4017382" cy="2031325"/>
          </a:xfrm>
          <a:prstGeom prst="rect">
            <a:avLst/>
          </a:prstGeom>
          <a:solidFill>
            <a:schemeClr val="bg1"/>
          </a:solidFill>
          <a:effectLst>
            <a:glow rad="228600">
              <a:schemeClr val="accent4">
                <a:satMod val="175000"/>
                <a:alpha val="40000"/>
              </a:schemeClr>
            </a:glow>
          </a:effectLst>
        </p:spPr>
        <p:txBody>
          <a:bodyPr wrap="square">
            <a:spAutoFit/>
          </a:bodyPr>
          <a:lstStyle/>
          <a:p>
            <a:pPr marL="285750" indent="-285750">
              <a:buFont typeface="Arial" panose="020B0604020202020204" pitchFamily="34" charset="0"/>
              <a:buChar char="•"/>
            </a:pPr>
            <a:r>
              <a:rPr lang="en-US" altLang="zh-CN" sz="1400" b="0" i="0" dirty="0">
                <a:solidFill>
                  <a:srgbClr val="333333"/>
                </a:solidFill>
                <a:effectLst/>
                <a:latin typeface="Helvetica Neue"/>
              </a:rPr>
              <a:t>1952</a:t>
            </a:r>
            <a:r>
              <a:rPr lang="zh-CN" altLang="en-US" sz="1400" b="0" i="0" dirty="0">
                <a:solidFill>
                  <a:srgbClr val="333333"/>
                </a:solidFill>
                <a:effectLst/>
                <a:latin typeface="Helvetica Neue"/>
              </a:rPr>
              <a:t>年，领导一个小组为</a:t>
            </a:r>
            <a:r>
              <a:rPr lang="en-US" altLang="zh-CN" sz="1400" b="0" i="0" dirty="0">
                <a:solidFill>
                  <a:srgbClr val="333333"/>
                </a:solidFill>
                <a:effectLst/>
                <a:latin typeface="Helvetica Neue"/>
              </a:rPr>
              <a:t>IBM</a:t>
            </a:r>
            <a:r>
              <a:rPr lang="zh-CN" altLang="en-US" sz="1400" b="0" i="0" dirty="0">
                <a:solidFill>
                  <a:srgbClr val="333333"/>
                </a:solidFill>
                <a:effectLst/>
                <a:latin typeface="Helvetica Neue"/>
              </a:rPr>
              <a:t>公司的初期计算机</a:t>
            </a:r>
            <a:r>
              <a:rPr lang="en-US" altLang="zh-CN" sz="1400" b="0" i="0" dirty="0">
                <a:solidFill>
                  <a:srgbClr val="333333"/>
                </a:solidFill>
                <a:effectLst/>
                <a:latin typeface="Helvetica Neue"/>
              </a:rPr>
              <a:t>701</a:t>
            </a:r>
            <a:r>
              <a:rPr lang="zh-CN" altLang="en-US" sz="1400" b="0" i="0" dirty="0">
                <a:solidFill>
                  <a:srgbClr val="333333"/>
                </a:solidFill>
                <a:effectLst/>
                <a:latin typeface="Helvetica Neue"/>
              </a:rPr>
              <a:t>设计了快速编码系统</a:t>
            </a:r>
            <a:endParaRPr lang="en-US" altLang="zh-CN" sz="1400" b="0" i="0" dirty="0">
              <a:solidFill>
                <a:srgbClr val="333333"/>
              </a:solidFill>
              <a:effectLst/>
              <a:latin typeface="Helvetica Neue"/>
            </a:endParaRPr>
          </a:p>
          <a:p>
            <a:pPr marL="285750" indent="-285750">
              <a:buFont typeface="Arial" panose="020B0604020202020204" pitchFamily="34" charset="0"/>
              <a:buChar char="•"/>
            </a:pPr>
            <a:r>
              <a:rPr lang="en-US" altLang="zh-CN" sz="1400" b="0" i="0" dirty="0">
                <a:solidFill>
                  <a:srgbClr val="333333"/>
                </a:solidFill>
                <a:effectLst/>
                <a:latin typeface="Helvetica Neue"/>
              </a:rPr>
              <a:t>1953</a:t>
            </a:r>
            <a:r>
              <a:rPr lang="zh-CN" altLang="en-US" sz="1400" b="0" i="0" dirty="0">
                <a:solidFill>
                  <a:srgbClr val="333333"/>
                </a:solidFill>
                <a:effectLst/>
                <a:latin typeface="Helvetica Neue"/>
              </a:rPr>
              <a:t>年为</a:t>
            </a:r>
            <a:r>
              <a:rPr lang="en-US" altLang="zh-CN" sz="1400" b="0" i="0" dirty="0">
                <a:solidFill>
                  <a:srgbClr val="333333"/>
                </a:solidFill>
                <a:effectLst/>
                <a:latin typeface="Helvetica Neue"/>
              </a:rPr>
              <a:t>704</a:t>
            </a:r>
            <a:r>
              <a:rPr lang="zh-CN" altLang="en-US" sz="1400" b="0" i="0" dirty="0">
                <a:solidFill>
                  <a:srgbClr val="333333"/>
                </a:solidFill>
                <a:effectLst/>
                <a:latin typeface="Helvetica Neue"/>
              </a:rPr>
              <a:t>计算机设计</a:t>
            </a:r>
            <a:r>
              <a:rPr lang="en-US" altLang="zh-CN" sz="1400" dirty="0">
                <a:solidFill>
                  <a:srgbClr val="3333FF"/>
                </a:solidFill>
                <a:latin typeface="Helvetica Neue"/>
              </a:rPr>
              <a:t>FORTRAN</a:t>
            </a:r>
            <a:r>
              <a:rPr lang="zh-CN" altLang="en-US" sz="1400" b="0" i="0" dirty="0">
                <a:solidFill>
                  <a:srgbClr val="3333FF"/>
                </a:solidFill>
                <a:effectLst/>
                <a:latin typeface="Helvetica Neue"/>
              </a:rPr>
              <a:t>语言</a:t>
            </a:r>
            <a:endParaRPr lang="en-US" altLang="zh-CN" sz="1400" b="0" i="0" dirty="0">
              <a:solidFill>
                <a:srgbClr val="3333FF"/>
              </a:solidFill>
              <a:effectLst/>
              <a:latin typeface="Helvetica Neue"/>
            </a:endParaRPr>
          </a:p>
          <a:p>
            <a:pPr marL="285750" indent="-285750">
              <a:buFont typeface="Arial" panose="020B0604020202020204" pitchFamily="34" charset="0"/>
              <a:buChar char="•"/>
            </a:pPr>
            <a:r>
              <a:rPr lang="en-US" altLang="zh-CN" sz="1400" b="0" i="0" dirty="0">
                <a:solidFill>
                  <a:srgbClr val="333333"/>
                </a:solidFill>
                <a:effectLst/>
                <a:latin typeface="Helvetica Neue"/>
              </a:rPr>
              <a:t>60</a:t>
            </a:r>
            <a:r>
              <a:rPr lang="zh-CN" altLang="en-US" sz="1400" b="0" i="0" dirty="0">
                <a:solidFill>
                  <a:srgbClr val="333333"/>
                </a:solidFill>
                <a:effectLst/>
                <a:latin typeface="Helvetica Neue"/>
              </a:rPr>
              <a:t>年代，巴克斯转到公司的沃森研究中心，参加了</a:t>
            </a:r>
            <a:r>
              <a:rPr lang="en-US" altLang="zh-CN" sz="1400" b="0" i="0" dirty="0">
                <a:solidFill>
                  <a:srgbClr val="333333"/>
                </a:solidFill>
                <a:effectLst/>
                <a:latin typeface="Helvetica Neue"/>
              </a:rPr>
              <a:t>ALGOL(</a:t>
            </a:r>
            <a:r>
              <a:rPr lang="zh-CN" altLang="en-US" sz="1400" b="0" i="0" dirty="0">
                <a:solidFill>
                  <a:srgbClr val="333333"/>
                </a:solidFill>
                <a:effectLst/>
                <a:latin typeface="Helvetica Neue"/>
              </a:rPr>
              <a:t>算法语言</a:t>
            </a:r>
            <a:r>
              <a:rPr lang="en-US" altLang="zh-CN" sz="1400" b="0" i="0" dirty="0">
                <a:solidFill>
                  <a:srgbClr val="333333"/>
                </a:solidFill>
                <a:effectLst/>
                <a:latin typeface="Helvetica Neue"/>
              </a:rPr>
              <a:t>)</a:t>
            </a:r>
            <a:r>
              <a:rPr lang="zh-CN" altLang="en-US" sz="1400" b="0" i="0" dirty="0">
                <a:solidFill>
                  <a:srgbClr val="333333"/>
                </a:solidFill>
                <a:effectLst/>
                <a:latin typeface="Helvetica Neue"/>
              </a:rPr>
              <a:t>语言的设计工作，并且提出了描述</a:t>
            </a:r>
            <a:r>
              <a:rPr lang="en-US" altLang="zh-CN" sz="1400" b="0" i="0" dirty="0">
                <a:solidFill>
                  <a:srgbClr val="333333"/>
                </a:solidFill>
                <a:effectLst/>
                <a:latin typeface="Helvetica Neue"/>
              </a:rPr>
              <a:t>ALGOL-60</a:t>
            </a:r>
            <a:r>
              <a:rPr lang="zh-CN" altLang="en-US" sz="1400" b="0" i="0" dirty="0">
                <a:solidFill>
                  <a:srgbClr val="333333"/>
                </a:solidFill>
                <a:effectLst/>
                <a:latin typeface="Helvetica Neue"/>
              </a:rPr>
              <a:t>语言语法的表示法，称为</a:t>
            </a:r>
            <a:r>
              <a:rPr lang="zh-CN" altLang="en-US" sz="1400" b="0" i="0" dirty="0">
                <a:solidFill>
                  <a:srgbClr val="3333FF"/>
                </a:solidFill>
                <a:effectLst/>
                <a:latin typeface="Helvetica Neue"/>
              </a:rPr>
              <a:t>巴克斯范式（</a:t>
            </a:r>
            <a:r>
              <a:rPr lang="en-US" altLang="zh-CN" sz="1400" b="0" i="0" dirty="0">
                <a:solidFill>
                  <a:srgbClr val="3333FF"/>
                </a:solidFill>
                <a:effectLst/>
                <a:latin typeface="Helvetica Neue"/>
              </a:rPr>
              <a:t>BNF</a:t>
            </a:r>
            <a:r>
              <a:rPr lang="zh-CN" altLang="en-US" sz="1400" b="0" i="0" dirty="0">
                <a:solidFill>
                  <a:srgbClr val="3333FF"/>
                </a:solidFill>
                <a:effectLst/>
                <a:latin typeface="Helvetica Neue"/>
              </a:rPr>
              <a:t>范式）</a:t>
            </a:r>
            <a:r>
              <a:rPr lang="zh-CN" altLang="en-US" sz="1400" b="0" i="0" dirty="0">
                <a:solidFill>
                  <a:srgbClr val="333333"/>
                </a:solidFill>
                <a:effectLst/>
                <a:latin typeface="Helvetica Neue"/>
              </a:rPr>
              <a:t>，后为许多其他语言所采用</a:t>
            </a:r>
            <a:endParaRPr lang="en-US" altLang="zh-CN" sz="1400" b="0" i="0" dirty="0">
              <a:solidFill>
                <a:srgbClr val="333333"/>
              </a:solidFill>
              <a:effectLst/>
              <a:latin typeface="Helvetica Neue"/>
            </a:endParaRPr>
          </a:p>
          <a:p>
            <a:pPr marL="285750" indent="-285750">
              <a:buFont typeface="Arial" panose="020B0604020202020204" pitchFamily="34" charset="0"/>
              <a:buChar char="•"/>
            </a:pPr>
            <a:r>
              <a:rPr lang="en-US" altLang="zh-CN" sz="1400" b="0" i="0" dirty="0">
                <a:solidFill>
                  <a:srgbClr val="3333FF"/>
                </a:solidFill>
                <a:effectLst/>
                <a:latin typeface="Helvetica Neue"/>
              </a:rPr>
              <a:t>1977</a:t>
            </a:r>
            <a:r>
              <a:rPr lang="zh-CN" altLang="en-US" sz="1400" b="0" i="0" dirty="0">
                <a:solidFill>
                  <a:srgbClr val="3333FF"/>
                </a:solidFill>
                <a:effectLst/>
                <a:latin typeface="Helvetica Neue"/>
              </a:rPr>
              <a:t>年获图灵奖</a:t>
            </a:r>
            <a:endParaRPr lang="zh-CN" altLang="en-US" sz="1400" dirty="0">
              <a:solidFill>
                <a:srgbClr val="3333FF"/>
              </a:solidFill>
            </a:endParaRPr>
          </a:p>
        </p:txBody>
      </p:sp>
      <p:sp>
        <p:nvSpPr>
          <p:cNvPr id="14" name="文本框 13">
            <a:extLst>
              <a:ext uri="{FF2B5EF4-FFF2-40B4-BE49-F238E27FC236}">
                <a16:creationId xmlns:a16="http://schemas.microsoft.com/office/drawing/2014/main" id="{018EF132-D91A-481A-9283-31F922BDD067}"/>
              </a:ext>
            </a:extLst>
          </p:cNvPr>
          <p:cNvSpPr txBox="1"/>
          <p:nvPr/>
        </p:nvSpPr>
        <p:spPr>
          <a:xfrm>
            <a:off x="4879326" y="3849310"/>
            <a:ext cx="4216486" cy="738664"/>
          </a:xfrm>
          <a:prstGeom prst="rect">
            <a:avLst/>
          </a:prstGeom>
          <a:solidFill>
            <a:schemeClr val="bg1">
              <a:lumMod val="95000"/>
            </a:schemeClr>
          </a:solidFill>
        </p:spPr>
        <p:txBody>
          <a:bodyPr wrap="square">
            <a:spAutoFit/>
          </a:bodyPr>
          <a:lstStyle/>
          <a:p>
            <a:r>
              <a:rPr lang="zh-CN" altLang="en-US" sz="1400" b="0" i="0" dirty="0">
                <a:solidFill>
                  <a:srgbClr val="000000"/>
                </a:solidFill>
                <a:effectLst/>
                <a:latin typeface="Pingfang SC"/>
              </a:rPr>
              <a:t>有着不幸的童年，高中之前讨厌学习，后学了化学，不感兴趣后退学参军，又改为工程和医学，不喜欢后找感兴趣的音乐，无意中开始学习计算机。</a:t>
            </a:r>
            <a:endParaRPr lang="zh-CN" altLang="en-US" sz="1400" dirty="0"/>
          </a:p>
        </p:txBody>
      </p:sp>
      <p:sp>
        <p:nvSpPr>
          <p:cNvPr id="16" name="文本框 15">
            <a:extLst>
              <a:ext uri="{FF2B5EF4-FFF2-40B4-BE49-F238E27FC236}">
                <a16:creationId xmlns:a16="http://schemas.microsoft.com/office/drawing/2014/main" id="{607A483F-454E-9D23-172F-AA08E27C5863}"/>
              </a:ext>
            </a:extLst>
          </p:cNvPr>
          <p:cNvSpPr txBox="1"/>
          <p:nvPr/>
        </p:nvSpPr>
        <p:spPr>
          <a:xfrm>
            <a:off x="4784514" y="4486349"/>
            <a:ext cx="4395998" cy="461665"/>
          </a:xfrm>
          <a:prstGeom prst="rect">
            <a:avLst/>
          </a:prstGeom>
          <a:noFill/>
        </p:spPr>
        <p:txBody>
          <a:bodyPr wrap="square">
            <a:spAutoFit/>
          </a:bodyPr>
          <a:lstStyle/>
          <a:p>
            <a:r>
              <a:rPr lang="zh-CN" altLang="en-US" sz="1200" dirty="0"/>
              <a:t>资料来源：</a:t>
            </a:r>
            <a:r>
              <a:rPr lang="en-US" altLang="zh-CN" sz="1200" dirty="0"/>
              <a:t>https://cloud.tencent.com/developer/article/2057559</a:t>
            </a:r>
            <a:endParaRPr lang="zh-CN" altLang="en-US" sz="1200" dirty="0"/>
          </a:p>
        </p:txBody>
      </p:sp>
    </p:spTree>
    <p:extLst>
      <p:ext uri="{BB962C8B-B14F-4D97-AF65-F5344CB8AC3E}">
        <p14:creationId xmlns:p14="http://schemas.microsoft.com/office/powerpoint/2010/main" val="17861961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3"/>
          <p:cNvSpPr>
            <a:spLocks noGrp="1" noChangeArrowheads="1"/>
          </p:cNvSpPr>
          <p:nvPr>
            <p:ph type="body" idx="4294967295"/>
          </p:nvPr>
        </p:nvSpPr>
        <p:spPr>
          <a:xfrm>
            <a:off x="-6464" y="339502"/>
            <a:ext cx="4968552" cy="571292"/>
          </a:xfrm>
        </p:spPr>
        <p:txBody>
          <a:bodyPr>
            <a:normAutofit/>
          </a:bodyPr>
          <a:lstStyle/>
          <a:p>
            <a:pPr>
              <a:lnSpc>
                <a:spcPct val="90000"/>
              </a:lnSpc>
            </a:pPr>
            <a:r>
              <a:rPr lang="zh-CN" altLang="en-US" sz="2200" dirty="0"/>
              <a:t>产生式：</a:t>
            </a:r>
            <a:r>
              <a:rPr lang="en-US" altLang="zh-CN" sz="2800" b="1" dirty="0">
                <a:solidFill>
                  <a:srgbClr val="FF0000"/>
                </a:solidFill>
              </a:rPr>
              <a:t>A  </a:t>
            </a:r>
            <a:r>
              <a:rPr lang="en-US" altLang="zh-CN" sz="2800" b="1" dirty="0">
                <a:solidFill>
                  <a:srgbClr val="FF0000"/>
                </a:solidFill>
                <a:sym typeface="Wingdings" pitchFamily="2" charset="2"/>
              </a:rPr>
              <a:t> </a:t>
            </a:r>
            <a:r>
              <a:rPr lang="en-US" altLang="zh-CN" sz="2800" b="1" dirty="0">
                <a:solidFill>
                  <a:srgbClr val="FF0000"/>
                </a:solidFill>
                <a:cs typeface="Times New Roman" pitchFamily="18" charset="0"/>
              </a:rPr>
              <a:t>α </a:t>
            </a:r>
            <a:r>
              <a:rPr lang="zh-CN" altLang="en-US" sz="2200" dirty="0">
                <a:latin typeface="Arial" pitchFamily="34" charset="0"/>
              </a:rPr>
              <a:t>称为一条规则</a:t>
            </a:r>
          </a:p>
        </p:txBody>
      </p:sp>
      <p:sp>
        <p:nvSpPr>
          <p:cNvPr id="15369" name="Rectangle 10"/>
          <p:cNvSpPr>
            <a:spLocks noChangeArrowheads="1"/>
          </p:cNvSpPr>
          <p:nvPr/>
        </p:nvSpPr>
        <p:spPr bwMode="auto">
          <a:xfrm>
            <a:off x="4274933" y="4517127"/>
            <a:ext cx="46987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kumimoji="0" lang="zh-CN" altLang="en-US" sz="2200" dirty="0">
                <a:solidFill>
                  <a:srgbClr val="000000"/>
                </a:solidFill>
                <a:latin typeface="Arial" pitchFamily="34" charset="0"/>
                <a:sym typeface="Symbol" pitchFamily="18" charset="2"/>
              </a:rPr>
              <a:t>相同左部的一个右部又称一个</a:t>
            </a:r>
            <a:r>
              <a:rPr kumimoji="0" lang="zh-CN" altLang="en-US" sz="2200" dirty="0">
                <a:solidFill>
                  <a:srgbClr val="0066FF"/>
                </a:solidFill>
                <a:latin typeface="Arial" pitchFamily="34" charset="0"/>
                <a:sym typeface="Symbol" pitchFamily="18" charset="2"/>
              </a:rPr>
              <a:t>候选式</a:t>
            </a:r>
          </a:p>
        </p:txBody>
      </p:sp>
      <p:sp>
        <p:nvSpPr>
          <p:cNvPr id="10" name="线形标注 1 9"/>
          <p:cNvSpPr/>
          <p:nvPr/>
        </p:nvSpPr>
        <p:spPr>
          <a:xfrm>
            <a:off x="467544" y="1203598"/>
            <a:ext cx="1278204" cy="611483"/>
          </a:xfrm>
          <a:prstGeom prst="borderCallout1">
            <a:avLst>
              <a:gd name="adj1" fmla="val -1972"/>
              <a:gd name="adj2" fmla="val 49021"/>
              <a:gd name="adj3" fmla="val -75182"/>
              <a:gd name="adj4" fmla="val 101684"/>
            </a:avLst>
          </a:prstGeom>
        </p:spPr>
        <p:style>
          <a:lnRef idx="2">
            <a:schemeClr val="accent4"/>
          </a:lnRef>
          <a:fillRef idx="1">
            <a:schemeClr val="lt1"/>
          </a:fillRef>
          <a:effectRef idx="0">
            <a:schemeClr val="accent4"/>
          </a:effectRef>
          <a:fontRef idx="minor">
            <a:schemeClr val="dk1"/>
          </a:fontRef>
        </p:style>
        <p:txBody>
          <a:bodyPr rtlCol="0" anchor="ctr"/>
          <a:lstStyle/>
          <a:p>
            <a:pPr>
              <a:spcBef>
                <a:spcPct val="0"/>
              </a:spcBef>
            </a:pPr>
            <a:r>
              <a:rPr lang="zh-CN" altLang="en-US" sz="2000" dirty="0">
                <a:solidFill>
                  <a:srgbClr val="0066FF"/>
                </a:solidFill>
                <a:latin typeface="Arial" pitchFamily="34" charset="0"/>
              </a:rPr>
              <a:t>左部</a:t>
            </a:r>
            <a:endParaRPr lang="en-US" altLang="zh-CN" sz="2000" dirty="0">
              <a:solidFill>
                <a:srgbClr val="0066FF"/>
              </a:solidFill>
              <a:latin typeface="Arial" pitchFamily="34" charset="0"/>
            </a:endParaRPr>
          </a:p>
          <a:p>
            <a:pPr>
              <a:spcBef>
                <a:spcPct val="0"/>
              </a:spcBef>
            </a:pPr>
            <a:r>
              <a:rPr lang="zh-CN" altLang="en-US" sz="2000" dirty="0">
                <a:solidFill>
                  <a:srgbClr val="0066FF"/>
                </a:solidFill>
                <a:latin typeface="Arial" pitchFamily="34" charset="0"/>
              </a:rPr>
              <a:t>非终结符</a:t>
            </a:r>
          </a:p>
        </p:txBody>
      </p:sp>
      <p:sp>
        <p:nvSpPr>
          <p:cNvPr id="11" name="线形标注 1 10"/>
          <p:cNvSpPr/>
          <p:nvPr/>
        </p:nvSpPr>
        <p:spPr>
          <a:xfrm>
            <a:off x="1971718" y="1220410"/>
            <a:ext cx="2303215" cy="741387"/>
          </a:xfrm>
          <a:prstGeom prst="borderCallout1">
            <a:avLst>
              <a:gd name="adj1" fmla="val -1972"/>
              <a:gd name="adj2" fmla="val 49021"/>
              <a:gd name="adj3" fmla="val -58070"/>
              <a:gd name="adj4" fmla="val 30434"/>
            </a:avLst>
          </a:prstGeom>
        </p:spPr>
        <p:style>
          <a:lnRef idx="2">
            <a:schemeClr val="accent4"/>
          </a:lnRef>
          <a:fillRef idx="1">
            <a:schemeClr val="lt1"/>
          </a:fillRef>
          <a:effectRef idx="0">
            <a:schemeClr val="accent4"/>
          </a:effectRef>
          <a:fontRef idx="minor">
            <a:schemeClr val="dk1"/>
          </a:fontRef>
        </p:style>
        <p:txBody>
          <a:bodyPr rtlCol="0" anchor="ctr"/>
          <a:lstStyle/>
          <a:p>
            <a:pPr>
              <a:spcBef>
                <a:spcPct val="0"/>
              </a:spcBef>
            </a:pPr>
            <a:r>
              <a:rPr lang="zh-CN" altLang="en-US" sz="2000" dirty="0">
                <a:solidFill>
                  <a:srgbClr val="0066FF"/>
                </a:solidFill>
                <a:latin typeface="Arial" pitchFamily="34" charset="0"/>
              </a:rPr>
              <a:t>右部，可以含有非终结符和终结符</a:t>
            </a:r>
          </a:p>
        </p:txBody>
      </p:sp>
      <p:sp>
        <p:nvSpPr>
          <p:cNvPr id="2" name="矩形 1"/>
          <p:cNvSpPr/>
          <p:nvPr/>
        </p:nvSpPr>
        <p:spPr>
          <a:xfrm>
            <a:off x="4716017" y="94400"/>
            <a:ext cx="4427984" cy="2677656"/>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r>
              <a:rPr lang="zh-CN" altLang="en-US" sz="2100" b="1" dirty="0">
                <a:solidFill>
                  <a:srgbClr val="CC00FF"/>
                </a:solidFill>
                <a:latin typeface="宋体" panose="02010600030101010101" pitchFamily="2" charset="-122"/>
                <a:ea typeface="宋体" panose="02010600030101010101" pitchFamily="2" charset="-122"/>
              </a:rPr>
              <a:t>约定</a:t>
            </a:r>
            <a:r>
              <a:rPr lang="zh-CN" altLang="en-US" sz="2100" dirty="0">
                <a:latin typeface="宋体" panose="02010600030101010101" pitchFamily="2" charset="-122"/>
                <a:ea typeface="宋体" panose="02010600030101010101" pitchFamily="2" charset="-122"/>
              </a:rPr>
              <a:t>：</a:t>
            </a:r>
            <a:endParaRPr lang="en-US" altLang="zh-CN" sz="2100" dirty="0">
              <a:latin typeface="宋体" panose="02010600030101010101" pitchFamily="2" charset="-122"/>
              <a:ea typeface="宋体" panose="02010600030101010101" pitchFamily="2" charset="-122"/>
            </a:endParaRPr>
          </a:p>
          <a:p>
            <a:pPr marL="285750" indent="-285750">
              <a:buFont typeface="Arial" panose="020B0604020202020204" pitchFamily="34" charset="0"/>
              <a:buChar char="•"/>
            </a:pPr>
            <a:r>
              <a:rPr lang="zh-CN" altLang="zh-CN" sz="2100" dirty="0">
                <a:latin typeface="宋体" panose="02010600030101010101" pitchFamily="2" charset="-122"/>
                <a:ea typeface="宋体" panose="02010600030101010101" pitchFamily="2" charset="-122"/>
              </a:rPr>
              <a:t>用大写字母表示非终结符，小写字母表示终结符，用小写希腊字母</a:t>
            </a:r>
            <a:r>
              <a:rPr lang="en-US" altLang="zh-CN" sz="2100" dirty="0">
                <a:latin typeface="宋体" panose="02010600030101010101" pitchFamily="2" charset="-122"/>
                <a:ea typeface="宋体" panose="02010600030101010101" pitchFamily="2" charset="-122"/>
              </a:rPr>
              <a:t>(</a:t>
            </a:r>
            <a:r>
              <a:rPr lang="zh-CN" altLang="zh-CN" sz="2100" dirty="0">
                <a:latin typeface="宋体" panose="02010600030101010101" pitchFamily="2" charset="-122"/>
                <a:ea typeface="宋体" panose="02010600030101010101" pitchFamily="2" charset="-122"/>
              </a:rPr>
              <a:t>如α、β</a:t>
            </a:r>
            <a:r>
              <a:rPr lang="en-US" altLang="zh-CN" sz="2100" dirty="0">
                <a:latin typeface="宋体" panose="02010600030101010101" pitchFamily="2" charset="-122"/>
                <a:ea typeface="宋体" panose="02010600030101010101" pitchFamily="2" charset="-122"/>
              </a:rPr>
              <a:t>)</a:t>
            </a:r>
            <a:r>
              <a:rPr lang="zh-CN" altLang="en-US" sz="2100" dirty="0">
                <a:latin typeface="宋体" panose="02010600030101010101" pitchFamily="2" charset="-122"/>
                <a:ea typeface="宋体" panose="02010600030101010101" pitchFamily="2" charset="-122"/>
              </a:rPr>
              <a:t>表示</a:t>
            </a:r>
            <a:r>
              <a:rPr lang="zh-CN" altLang="zh-CN" sz="2100" dirty="0">
                <a:latin typeface="宋体" panose="02010600030101010101" pitchFamily="2" charset="-122"/>
                <a:ea typeface="宋体" panose="02010600030101010101" pitchFamily="2" charset="-122"/>
              </a:rPr>
              <a:t>任意符号串</a:t>
            </a:r>
          </a:p>
          <a:p>
            <a:pPr marL="285750" indent="-285750">
              <a:buFont typeface="Arial" panose="020B0604020202020204" pitchFamily="34" charset="0"/>
              <a:buChar char="•"/>
            </a:pPr>
            <a:r>
              <a:rPr lang="zh-CN" altLang="zh-CN" sz="2100" dirty="0">
                <a:latin typeface="宋体" panose="02010600030101010101" pitchFamily="2" charset="-122"/>
                <a:ea typeface="宋体" panose="02010600030101010101" pitchFamily="2" charset="-122"/>
              </a:rPr>
              <a:t>如果</a:t>
            </a:r>
            <a:r>
              <a:rPr lang="en-US" altLang="zh-CN" sz="2100" dirty="0">
                <a:latin typeface="宋体" panose="02010600030101010101" pitchFamily="2" charset="-122"/>
                <a:ea typeface="宋体" panose="02010600030101010101" pitchFamily="2" charset="-122"/>
              </a:rPr>
              <a:t>S</a:t>
            </a:r>
            <a:r>
              <a:rPr lang="zh-CN" altLang="zh-CN" sz="2100" dirty="0">
                <a:latin typeface="宋体" panose="02010600030101010101" pitchFamily="2" charset="-122"/>
                <a:ea typeface="宋体" panose="02010600030101010101" pitchFamily="2" charset="-122"/>
              </a:rPr>
              <a:t>是文法</a:t>
            </a:r>
            <a:r>
              <a:rPr lang="en-US" altLang="zh-CN" sz="2100" dirty="0">
                <a:latin typeface="宋体" panose="02010600030101010101" pitchFamily="2" charset="-122"/>
                <a:ea typeface="宋体" panose="02010600030101010101" pitchFamily="2" charset="-122"/>
              </a:rPr>
              <a:t>G</a:t>
            </a:r>
            <a:r>
              <a:rPr lang="zh-CN" altLang="zh-CN" sz="2100" dirty="0">
                <a:latin typeface="宋体" panose="02010600030101010101" pitchFamily="2" charset="-122"/>
                <a:ea typeface="宋体" panose="02010600030101010101" pitchFamily="2" charset="-122"/>
              </a:rPr>
              <a:t>的开始符号，</a:t>
            </a:r>
            <a:r>
              <a:rPr lang="zh-CN" altLang="en-US" sz="2100" dirty="0">
                <a:latin typeface="宋体" panose="02010600030101010101" pitchFamily="2" charset="-122"/>
                <a:ea typeface="宋体" panose="02010600030101010101" pitchFamily="2" charset="-122"/>
              </a:rPr>
              <a:t>可以将</a:t>
            </a:r>
            <a:r>
              <a:rPr lang="zh-CN" altLang="zh-CN" sz="2100" dirty="0">
                <a:latin typeface="宋体" panose="02010600030101010101" pitchFamily="2" charset="-122"/>
                <a:ea typeface="宋体" panose="02010600030101010101" pitchFamily="2" charset="-122"/>
              </a:rPr>
              <a:t>文法</a:t>
            </a:r>
            <a:r>
              <a:rPr lang="en-US" altLang="zh-CN" sz="2100" dirty="0">
                <a:solidFill>
                  <a:srgbClr val="CC00FF"/>
                </a:solidFill>
                <a:latin typeface="宋体" panose="02010600030101010101" pitchFamily="2" charset="-122"/>
                <a:ea typeface="宋体" panose="02010600030101010101" pitchFamily="2" charset="-122"/>
              </a:rPr>
              <a:t>G</a:t>
            </a:r>
            <a:r>
              <a:rPr lang="zh-CN" altLang="zh-CN" sz="2100" dirty="0">
                <a:latin typeface="宋体" panose="02010600030101010101" pitchFamily="2" charset="-122"/>
                <a:ea typeface="宋体" panose="02010600030101010101" pitchFamily="2" charset="-122"/>
              </a:rPr>
              <a:t>写成</a:t>
            </a:r>
            <a:r>
              <a:rPr lang="en-US" altLang="zh-CN" sz="2100" dirty="0">
                <a:solidFill>
                  <a:srgbClr val="CC00FF"/>
                </a:solidFill>
                <a:latin typeface="宋体" panose="02010600030101010101" pitchFamily="2" charset="-122"/>
                <a:ea typeface="宋体" panose="02010600030101010101" pitchFamily="2" charset="-122"/>
              </a:rPr>
              <a:t>G[S]</a:t>
            </a:r>
          </a:p>
          <a:p>
            <a:pPr marL="285750" indent="-285750">
              <a:buFont typeface="Arial" panose="020B0604020202020204" pitchFamily="34" charset="0"/>
              <a:buChar char="•"/>
            </a:pPr>
            <a:r>
              <a:rPr lang="zh-CN" altLang="en-US" sz="2100" dirty="0">
                <a:latin typeface="宋体" panose="02010600030101010101" pitchFamily="2" charset="-122"/>
                <a:ea typeface="宋体" panose="02010600030101010101" pitchFamily="2" charset="-122"/>
              </a:rPr>
              <a:t>如果没有标明，</a:t>
            </a:r>
            <a:r>
              <a:rPr lang="zh-CN" altLang="zh-CN" sz="2100" dirty="0">
                <a:latin typeface="宋体" panose="02010600030101010101" pitchFamily="2" charset="-122"/>
                <a:ea typeface="宋体" panose="02010600030101010101" pitchFamily="2" charset="-122"/>
              </a:rPr>
              <a:t>第一条产生式的左部</a:t>
            </a:r>
            <a:r>
              <a:rPr lang="zh-CN" altLang="en-US" sz="2100" dirty="0">
                <a:latin typeface="宋体" panose="02010600030101010101" pitchFamily="2" charset="-122"/>
                <a:ea typeface="宋体" panose="02010600030101010101" pitchFamily="2" charset="-122"/>
              </a:rPr>
              <a:t>符号为</a:t>
            </a:r>
            <a:r>
              <a:rPr lang="zh-CN" altLang="zh-CN" sz="2100" dirty="0">
                <a:latin typeface="宋体" panose="02010600030101010101" pitchFamily="2" charset="-122"/>
                <a:ea typeface="宋体" panose="02010600030101010101" pitchFamily="2" charset="-122"/>
              </a:rPr>
              <a:t>开始符号</a:t>
            </a:r>
          </a:p>
        </p:txBody>
      </p:sp>
      <p:sp>
        <p:nvSpPr>
          <p:cNvPr id="3"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15" name="Text Box 6"/>
          <p:cNvSpPr txBox="1">
            <a:spLocks noChangeArrowheads="1"/>
          </p:cNvSpPr>
          <p:nvPr/>
        </p:nvSpPr>
        <p:spPr bwMode="auto">
          <a:xfrm>
            <a:off x="323528" y="2342078"/>
            <a:ext cx="3583557" cy="1107996"/>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spcBef>
                <a:spcPct val="50000"/>
              </a:spcBef>
            </a:pPr>
            <a:r>
              <a:rPr kumimoji="0" lang="zh-CN" altLang="en-US" sz="2200" dirty="0">
                <a:latin typeface="Arial" pitchFamily="34" charset="0"/>
              </a:rPr>
              <a:t>有时一个产生式不足以描述某个</a:t>
            </a:r>
            <a:r>
              <a:rPr kumimoji="0" lang="zh-CN" altLang="en-US" sz="2200" dirty="0">
                <a:solidFill>
                  <a:srgbClr val="FF0000"/>
                </a:solidFill>
                <a:latin typeface="Arial" pitchFamily="34" charset="0"/>
              </a:rPr>
              <a:t>语法单位</a:t>
            </a:r>
            <a:r>
              <a:rPr kumimoji="0" lang="zh-CN" altLang="en-US" sz="2200" dirty="0">
                <a:latin typeface="Arial" pitchFamily="34" charset="0"/>
              </a:rPr>
              <a:t>，就用</a:t>
            </a:r>
            <a:r>
              <a:rPr kumimoji="0" lang="zh-CN" altLang="en-US" sz="2200" dirty="0">
                <a:solidFill>
                  <a:srgbClr val="FF0000"/>
                </a:solidFill>
                <a:latin typeface="Arial" pitchFamily="34" charset="0"/>
              </a:rPr>
              <a:t>多个产生式</a:t>
            </a:r>
            <a:endParaRPr kumimoji="0" lang="en-US" altLang="zh-CN" sz="2200" dirty="0">
              <a:solidFill>
                <a:srgbClr val="FF0000"/>
              </a:solidFill>
              <a:latin typeface="Arial" pitchFamily="34" charset="0"/>
            </a:endParaRPr>
          </a:p>
        </p:txBody>
      </p:sp>
      <p:sp>
        <p:nvSpPr>
          <p:cNvPr id="17" name="Text Box 6"/>
          <p:cNvSpPr txBox="1">
            <a:spLocks noChangeArrowheads="1"/>
          </p:cNvSpPr>
          <p:nvPr/>
        </p:nvSpPr>
        <p:spPr bwMode="auto">
          <a:xfrm>
            <a:off x="340371" y="3696002"/>
            <a:ext cx="3583557" cy="1107996"/>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spcBef>
                <a:spcPct val="50000"/>
              </a:spcBef>
            </a:pPr>
            <a:r>
              <a:rPr lang="zh-CN" altLang="zh-CN" sz="2200" dirty="0">
                <a:latin typeface="宋体" panose="02010600030101010101" pitchFamily="2" charset="-122"/>
              </a:rPr>
              <a:t>为了书写简洁，相同左部的多个产生式用“</a:t>
            </a:r>
            <a:r>
              <a:rPr lang="en-US" altLang="zh-CN" sz="2200" dirty="0">
                <a:latin typeface="宋体" panose="02010600030101010101" pitchFamily="2" charset="-122"/>
              </a:rPr>
              <a:t>|</a:t>
            </a:r>
            <a:r>
              <a:rPr lang="zh-CN" altLang="zh-CN" sz="2200" dirty="0">
                <a:latin typeface="宋体" panose="02010600030101010101" pitchFamily="2" charset="-122"/>
              </a:rPr>
              <a:t>”进行缩写</a:t>
            </a:r>
            <a:endParaRPr lang="zh-CN" altLang="en-US" sz="2200" dirty="0">
              <a:latin typeface="宋体" panose="02010600030101010101" pitchFamily="2" charset="-122"/>
            </a:endParaRPr>
          </a:p>
        </p:txBody>
      </p:sp>
      <p:sp>
        <p:nvSpPr>
          <p:cNvPr id="6"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7" name="对象 6"/>
          <p:cNvGraphicFramePr>
            <a:graphicFrameLocks noChangeAspect="1"/>
          </p:cNvGraphicFramePr>
          <p:nvPr>
            <p:extLst>
              <p:ext uri="{D42A27DB-BD31-4B8C-83A1-F6EECF244321}">
                <p14:modId xmlns:p14="http://schemas.microsoft.com/office/powerpoint/2010/main" val="3090736789"/>
              </p:ext>
            </p:extLst>
          </p:nvPr>
        </p:nvGraphicFramePr>
        <p:xfrm>
          <a:off x="4274933" y="2892238"/>
          <a:ext cx="1080119" cy="1577269"/>
        </p:xfrm>
        <a:graphic>
          <a:graphicData uri="http://schemas.openxmlformats.org/presentationml/2006/ole">
            <mc:AlternateContent xmlns:mc="http://schemas.openxmlformats.org/markup-compatibility/2006">
              <mc:Choice xmlns:v="urn:schemas-microsoft-com:vml" Requires="v">
                <p:oleObj spid="_x0000_s4108" name="Visio" r:id="rId4" imgW="579390" imgH="844992" progId="Visio.Drawing.11">
                  <p:embed/>
                </p:oleObj>
              </mc:Choice>
              <mc:Fallback>
                <p:oleObj name="Visio" r:id="rId4" imgW="579390" imgH="844992" progId="Visio.Drawing.11">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4933" y="2892238"/>
                        <a:ext cx="1080119" cy="1577269"/>
                      </a:xfrm>
                      <a:prstGeom prst="rect">
                        <a:avLst/>
                      </a:prstGeom>
                      <a:noFill/>
                    </p:spPr>
                  </p:pic>
                </p:oleObj>
              </mc:Fallback>
            </mc:AlternateContent>
          </a:graphicData>
        </a:graphic>
      </p:graphicFrame>
      <p:sp>
        <p:nvSpPr>
          <p:cNvPr id="8" name="Rectangle 7"/>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9" name="对象 8"/>
          <p:cNvGraphicFramePr>
            <a:graphicFrameLocks noChangeAspect="1"/>
          </p:cNvGraphicFramePr>
          <p:nvPr>
            <p:extLst>
              <p:ext uri="{D42A27DB-BD31-4B8C-83A1-F6EECF244321}">
                <p14:modId xmlns:p14="http://schemas.microsoft.com/office/powerpoint/2010/main" val="2311126864"/>
              </p:ext>
            </p:extLst>
          </p:nvPr>
        </p:nvGraphicFramePr>
        <p:xfrm>
          <a:off x="5292079" y="3173363"/>
          <a:ext cx="3755577" cy="991985"/>
        </p:xfrm>
        <a:graphic>
          <a:graphicData uri="http://schemas.openxmlformats.org/presentationml/2006/ole">
            <mc:AlternateContent xmlns:mc="http://schemas.openxmlformats.org/markup-compatibility/2006">
              <mc:Choice xmlns:v="urn:schemas-microsoft-com:vml" Requires="v">
                <p:oleObj spid="_x0000_s4109" name="Visio" r:id="rId6" imgW="2046314" imgH="538704" progId="Visio.Drawing.11">
                  <p:embed/>
                </p:oleObj>
              </mc:Choice>
              <mc:Fallback>
                <p:oleObj name="Visio" r:id="rId6" imgW="2046314" imgH="538704" progId="Visio.Drawing.11">
                  <p:embed/>
                  <p:pic>
                    <p:nvPicPr>
                      <p:cNvPr id="9" name="对象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92079" y="3173363"/>
                        <a:ext cx="3755577" cy="991985"/>
                      </a:xfrm>
                      <a:prstGeom prst="rect">
                        <a:avLst/>
                      </a:prstGeom>
                      <a:noFill/>
                    </p:spPr>
                  </p:pic>
                </p:oleObj>
              </mc:Fallback>
            </mc:AlternateContent>
          </a:graphicData>
        </a:graphic>
      </p:graphicFrame>
    </p:spTree>
    <p:extLst>
      <p:ext uri="{BB962C8B-B14F-4D97-AF65-F5344CB8AC3E}">
        <p14:creationId xmlns:p14="http://schemas.microsoft.com/office/powerpoint/2010/main" val="2169720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1"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3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9" grpId="0"/>
      <p:bldP spid="10" grpId="0" animBg="1"/>
      <p:bldP spid="10" grpId="1" animBg="1"/>
      <p:bldP spid="11" grpId="0" animBg="1"/>
      <p:bldP spid="2" grpId="0" animBg="1"/>
      <p:bldP spid="15" grpId="0" animBg="1"/>
      <p:bldP spid="1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idx="4294967295"/>
          </p:nvPr>
        </p:nvSpPr>
        <p:spPr>
          <a:xfrm>
            <a:off x="457200" y="206375"/>
            <a:ext cx="8229600" cy="638175"/>
          </a:xfrm>
        </p:spPr>
        <p:txBody>
          <a:bodyPr>
            <a:noAutofit/>
          </a:bodyPr>
          <a:lstStyle/>
          <a:p>
            <a:pPr eaLnBrk="1" hangingPunct="1"/>
            <a:r>
              <a:rPr lang="zh-CN" altLang="en-US" sz="4300" dirty="0">
                <a:solidFill>
                  <a:srgbClr val="CC0099"/>
                </a:solidFill>
                <a:ea typeface="隶书" pitchFamily="49" charset="-122"/>
              </a:rPr>
              <a:t>例：简单</a:t>
            </a:r>
            <a:r>
              <a:rPr lang="zh-CN" altLang="zh-CN" sz="4300" dirty="0">
                <a:solidFill>
                  <a:srgbClr val="CC0099"/>
                </a:solidFill>
                <a:ea typeface="隶书" pitchFamily="49" charset="-122"/>
              </a:rPr>
              <a:t>算术表达式的文法定义</a:t>
            </a:r>
          </a:p>
        </p:txBody>
      </p:sp>
      <p:sp>
        <p:nvSpPr>
          <p:cNvPr id="16387" name="Rectangle 3"/>
          <p:cNvSpPr>
            <a:spLocks noGrp="1" noChangeArrowheads="1"/>
          </p:cNvSpPr>
          <p:nvPr>
            <p:ph type="body" idx="4294967295"/>
          </p:nvPr>
        </p:nvSpPr>
        <p:spPr>
          <a:xfrm>
            <a:off x="611560" y="1059583"/>
            <a:ext cx="3816424" cy="2088232"/>
          </a:xfrm>
          <a:ln w="28575">
            <a:solidFill>
              <a:srgbClr val="FF0000"/>
            </a:solidFill>
            <a:miter lim="800000"/>
            <a:headEnd/>
            <a:tailEnd/>
          </a:ln>
        </p:spPr>
        <p:txBody>
          <a:bodyPr>
            <a:normAutofit fontScale="92500"/>
          </a:bodyPr>
          <a:lstStyle/>
          <a:p>
            <a:pPr eaLnBrk="1" hangingPunct="1">
              <a:spcBef>
                <a:spcPts val="600"/>
              </a:spcBef>
              <a:spcAft>
                <a:spcPts val="600"/>
              </a:spcAft>
            </a:pPr>
            <a:r>
              <a:rPr lang="zh-CN" altLang="en-US" sz="2400" dirty="0"/>
              <a:t>变量是表达式</a:t>
            </a:r>
          </a:p>
          <a:p>
            <a:pPr eaLnBrk="1" hangingPunct="1">
              <a:spcBef>
                <a:spcPts val="600"/>
              </a:spcBef>
              <a:spcAft>
                <a:spcPts val="600"/>
              </a:spcAft>
            </a:pPr>
            <a:r>
              <a:rPr lang="zh-CN" altLang="en-US" sz="2400" dirty="0"/>
              <a:t>表达式 </a:t>
            </a:r>
            <a:r>
              <a:rPr lang="en-US" altLang="zh-CN" sz="2400" dirty="0"/>
              <a:t>+ </a:t>
            </a:r>
            <a:r>
              <a:rPr lang="zh-CN" altLang="en-US" sz="2400" dirty="0"/>
              <a:t>表达式是表达式</a:t>
            </a:r>
          </a:p>
          <a:p>
            <a:pPr eaLnBrk="1" hangingPunct="1">
              <a:spcBef>
                <a:spcPts val="600"/>
              </a:spcBef>
              <a:spcAft>
                <a:spcPts val="600"/>
              </a:spcAft>
            </a:pPr>
            <a:r>
              <a:rPr lang="zh-CN" altLang="en-US" sz="2400" dirty="0"/>
              <a:t>表达式 * 表达式是表达式</a:t>
            </a:r>
          </a:p>
          <a:p>
            <a:pPr eaLnBrk="1" hangingPunct="1">
              <a:spcBef>
                <a:spcPts val="600"/>
              </a:spcBef>
              <a:spcAft>
                <a:spcPts val="600"/>
              </a:spcAft>
            </a:pPr>
            <a:r>
              <a:rPr lang="en-US" altLang="zh-CN" sz="2400" dirty="0"/>
              <a:t>(</a:t>
            </a:r>
            <a:r>
              <a:rPr lang="zh-CN" altLang="en-US" sz="2400" dirty="0"/>
              <a:t>表达式</a:t>
            </a:r>
            <a:r>
              <a:rPr lang="en-US" altLang="zh-CN" sz="2400" dirty="0"/>
              <a:t>) </a:t>
            </a:r>
            <a:r>
              <a:rPr lang="zh-CN" altLang="en-US" sz="2400" dirty="0"/>
              <a:t>是 表达式</a:t>
            </a:r>
          </a:p>
        </p:txBody>
      </p:sp>
      <p:sp>
        <p:nvSpPr>
          <p:cNvPr id="72708" name="Rectangle 4"/>
          <p:cNvSpPr>
            <a:spLocks noChangeArrowheads="1"/>
          </p:cNvSpPr>
          <p:nvPr/>
        </p:nvSpPr>
        <p:spPr bwMode="auto">
          <a:xfrm>
            <a:off x="6688795" y="1290122"/>
            <a:ext cx="1555614" cy="156966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66FF"/>
                </a:solidFill>
                <a:ea typeface="华文行楷" pitchFamily="2" charset="-122"/>
                <a:sym typeface="Symbol" pitchFamily="18" charset="2"/>
              </a:rPr>
              <a:t>E </a:t>
            </a:r>
            <a:r>
              <a:rPr lang="en-US" altLang="zh-CN" sz="2400" dirty="0" err="1">
                <a:solidFill>
                  <a:srgbClr val="0066FF"/>
                </a:solidFill>
                <a:ea typeface="华文行楷" pitchFamily="2" charset="-122"/>
                <a:sym typeface="Symbol" pitchFamily="18" charset="2"/>
              </a:rPr>
              <a:t>i</a:t>
            </a:r>
            <a:endParaRPr lang="en-US" altLang="zh-CN" sz="2400" dirty="0">
              <a:solidFill>
                <a:srgbClr val="0066FF"/>
              </a:solidFill>
              <a:ea typeface="华文行楷" pitchFamily="2" charset="-122"/>
              <a:sym typeface="Symbol" pitchFamily="18" charset="2"/>
            </a:endParaRPr>
          </a:p>
          <a:p>
            <a:pPr eaLnBrk="1" hangingPunct="1">
              <a:spcBef>
                <a:spcPct val="0"/>
              </a:spcBef>
              <a:buFontTx/>
              <a:buNone/>
            </a:pPr>
            <a:r>
              <a:rPr lang="en-US" altLang="zh-CN" sz="2400" dirty="0">
                <a:solidFill>
                  <a:srgbClr val="0066FF"/>
                </a:solidFill>
                <a:ea typeface="华文行楷" pitchFamily="2" charset="-122"/>
                <a:sym typeface="Symbol" pitchFamily="18" charset="2"/>
              </a:rPr>
              <a:t>E E + E </a:t>
            </a:r>
          </a:p>
          <a:p>
            <a:pPr eaLnBrk="1" hangingPunct="1">
              <a:spcBef>
                <a:spcPct val="0"/>
              </a:spcBef>
              <a:buFontTx/>
              <a:buNone/>
            </a:pPr>
            <a:r>
              <a:rPr lang="en-US" altLang="zh-CN" sz="2400" dirty="0">
                <a:solidFill>
                  <a:srgbClr val="0066FF"/>
                </a:solidFill>
                <a:ea typeface="华文行楷" pitchFamily="2" charset="-122"/>
                <a:sym typeface="Symbol" pitchFamily="18" charset="2"/>
              </a:rPr>
              <a:t>E E * E </a:t>
            </a:r>
          </a:p>
          <a:p>
            <a:pPr eaLnBrk="1" hangingPunct="1">
              <a:spcBef>
                <a:spcPct val="0"/>
              </a:spcBef>
              <a:buFontTx/>
              <a:buNone/>
            </a:pPr>
            <a:r>
              <a:rPr lang="en-US" altLang="zh-CN" sz="2400" dirty="0">
                <a:solidFill>
                  <a:srgbClr val="0066FF"/>
                </a:solidFill>
                <a:ea typeface="华文行楷" pitchFamily="2" charset="-122"/>
                <a:sym typeface="Symbol" pitchFamily="18" charset="2"/>
              </a:rPr>
              <a:t>E  ( E ) </a:t>
            </a:r>
          </a:p>
        </p:txBody>
      </p:sp>
      <p:sp>
        <p:nvSpPr>
          <p:cNvPr id="72709" name="Rectangle 5"/>
          <p:cNvSpPr>
            <a:spLocks noChangeArrowheads="1"/>
          </p:cNvSpPr>
          <p:nvPr/>
        </p:nvSpPr>
        <p:spPr bwMode="auto">
          <a:xfrm>
            <a:off x="5796136" y="3868738"/>
            <a:ext cx="2944502" cy="646331"/>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lnSpc>
                <a:spcPct val="150000"/>
              </a:lnSpc>
              <a:spcBef>
                <a:spcPts val="1800"/>
              </a:spcBef>
              <a:spcAft>
                <a:spcPts val="1800"/>
              </a:spcAft>
              <a:buNone/>
            </a:pPr>
            <a:r>
              <a:rPr lang="en-US" altLang="zh-CN" sz="2400" dirty="0">
                <a:solidFill>
                  <a:srgbClr val="000000"/>
                </a:solidFill>
                <a:latin typeface="宋体" panose="02010600030101010101" pitchFamily="2" charset="-122"/>
                <a:sym typeface="Symbol" pitchFamily="18" charset="2"/>
              </a:rPr>
              <a:t> </a:t>
            </a:r>
            <a:r>
              <a:rPr lang="en-US" altLang="zh-CN" sz="2400" dirty="0" err="1">
                <a:solidFill>
                  <a:srgbClr val="000000"/>
                </a:solidFill>
                <a:latin typeface="宋体" panose="02010600030101010101" pitchFamily="2" charset="-122"/>
                <a:sym typeface="Symbol" pitchFamily="18" charset="2"/>
              </a:rPr>
              <a:t>Ei</a:t>
            </a:r>
            <a:r>
              <a:rPr lang="en-US" altLang="zh-CN" sz="2400" b="1" dirty="0" err="1">
                <a:latin typeface="宋体" panose="02010600030101010101" pitchFamily="2" charset="-122"/>
              </a:rPr>
              <a:t>|</a:t>
            </a:r>
            <a:r>
              <a:rPr lang="en-US" altLang="zh-CN" sz="2400" dirty="0" err="1">
                <a:solidFill>
                  <a:srgbClr val="000000"/>
                </a:solidFill>
                <a:latin typeface="宋体" panose="02010600030101010101" pitchFamily="2" charset="-122"/>
                <a:sym typeface="Symbol" pitchFamily="18" charset="2"/>
              </a:rPr>
              <a:t>E+E</a:t>
            </a:r>
            <a:r>
              <a:rPr lang="en-US" altLang="zh-CN" sz="2400" b="1" dirty="0" err="1">
                <a:solidFill>
                  <a:srgbClr val="000000"/>
                </a:solidFill>
                <a:latin typeface="宋体" panose="02010600030101010101" pitchFamily="2" charset="-122"/>
                <a:sym typeface="Symbol" pitchFamily="18" charset="2"/>
              </a:rPr>
              <a:t>|</a:t>
            </a:r>
            <a:r>
              <a:rPr lang="en-US" altLang="zh-CN" sz="2400" dirty="0" err="1">
                <a:solidFill>
                  <a:srgbClr val="000000"/>
                </a:solidFill>
                <a:latin typeface="宋体" panose="02010600030101010101" pitchFamily="2" charset="-122"/>
                <a:sym typeface="Symbol" pitchFamily="18" charset="2"/>
              </a:rPr>
              <a:t>E</a:t>
            </a:r>
            <a:r>
              <a:rPr lang="en-US" altLang="zh-CN" sz="2400" dirty="0">
                <a:solidFill>
                  <a:srgbClr val="000000"/>
                </a:solidFill>
                <a:latin typeface="宋体" panose="02010600030101010101" pitchFamily="2" charset="-122"/>
                <a:sym typeface="Symbol" pitchFamily="18" charset="2"/>
              </a:rPr>
              <a:t>*E</a:t>
            </a:r>
            <a:r>
              <a:rPr lang="en-US" altLang="zh-CN" sz="2400" b="1" dirty="0">
                <a:solidFill>
                  <a:srgbClr val="000000"/>
                </a:solidFill>
                <a:latin typeface="宋体" panose="02010600030101010101" pitchFamily="2" charset="-122"/>
                <a:sym typeface="Symbol" pitchFamily="18" charset="2"/>
              </a:rPr>
              <a:t>|</a:t>
            </a:r>
            <a:r>
              <a:rPr lang="en-US" altLang="zh-CN" sz="2400" dirty="0">
                <a:solidFill>
                  <a:srgbClr val="000000"/>
                </a:solidFill>
                <a:latin typeface="宋体" panose="02010600030101010101" pitchFamily="2" charset="-122"/>
                <a:sym typeface="Symbol" pitchFamily="18" charset="2"/>
              </a:rPr>
              <a:t>(E)</a:t>
            </a:r>
          </a:p>
        </p:txBody>
      </p:sp>
      <p:grpSp>
        <p:nvGrpSpPr>
          <p:cNvPr id="3" name="组合 2"/>
          <p:cNvGrpSpPr/>
          <p:nvPr/>
        </p:nvGrpSpPr>
        <p:grpSpPr>
          <a:xfrm>
            <a:off x="4636950" y="1554346"/>
            <a:ext cx="2051843" cy="693554"/>
            <a:chOff x="4636950" y="1554346"/>
            <a:chExt cx="2051843" cy="693554"/>
          </a:xfrm>
        </p:grpSpPr>
        <p:sp>
          <p:nvSpPr>
            <p:cNvPr id="72710" name="AutoShape 6"/>
            <p:cNvSpPr>
              <a:spLocks noChangeArrowheads="1"/>
            </p:cNvSpPr>
            <p:nvPr/>
          </p:nvSpPr>
          <p:spPr bwMode="auto">
            <a:xfrm>
              <a:off x="4636950" y="1816100"/>
              <a:ext cx="2051843" cy="431800"/>
            </a:xfrm>
            <a:prstGeom prst="rightArrow">
              <a:avLst>
                <a:gd name="adj1" fmla="val 50000"/>
                <a:gd name="adj2" fmla="val 56250"/>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 name="TextBox 1"/>
            <p:cNvSpPr txBox="1"/>
            <p:nvPr/>
          </p:nvSpPr>
          <p:spPr>
            <a:xfrm>
              <a:off x="5148064" y="1554346"/>
              <a:ext cx="936104" cy="369332"/>
            </a:xfrm>
            <a:prstGeom prst="rect">
              <a:avLst/>
            </a:prstGeom>
            <a:noFill/>
          </p:spPr>
          <p:txBody>
            <a:bodyPr wrap="square" rtlCol="0">
              <a:spAutoFit/>
            </a:bodyPr>
            <a:lstStyle/>
            <a:p>
              <a:r>
                <a:rPr lang="zh-CN" altLang="en-US" dirty="0"/>
                <a:t>形式化</a:t>
              </a:r>
            </a:p>
          </p:txBody>
        </p:sp>
      </p:grpSp>
      <p:grpSp>
        <p:nvGrpSpPr>
          <p:cNvPr id="4" name="组合 3"/>
          <p:cNvGrpSpPr/>
          <p:nvPr/>
        </p:nvGrpSpPr>
        <p:grpSpPr>
          <a:xfrm>
            <a:off x="6752466" y="2895600"/>
            <a:ext cx="1275918" cy="971550"/>
            <a:chOff x="6752466" y="2895600"/>
            <a:chExt cx="1275918" cy="971550"/>
          </a:xfrm>
        </p:grpSpPr>
        <p:sp>
          <p:nvSpPr>
            <p:cNvPr id="72711" name="AutoShape 7"/>
            <p:cNvSpPr>
              <a:spLocks noChangeArrowheads="1"/>
            </p:cNvSpPr>
            <p:nvPr/>
          </p:nvSpPr>
          <p:spPr bwMode="auto">
            <a:xfrm rot="5400000" flipV="1">
              <a:off x="6474981" y="3173085"/>
              <a:ext cx="971550" cy="416580"/>
            </a:xfrm>
            <a:prstGeom prst="rightArrow">
              <a:avLst>
                <a:gd name="adj1" fmla="val 50000"/>
                <a:gd name="adj2" fmla="val 56198"/>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9" name="TextBox 8"/>
            <p:cNvSpPr txBox="1"/>
            <p:nvPr/>
          </p:nvSpPr>
          <p:spPr>
            <a:xfrm>
              <a:off x="7092280" y="3147814"/>
              <a:ext cx="936104" cy="369332"/>
            </a:xfrm>
            <a:prstGeom prst="rect">
              <a:avLst/>
            </a:prstGeom>
            <a:noFill/>
          </p:spPr>
          <p:txBody>
            <a:bodyPr wrap="square" rtlCol="0">
              <a:spAutoFit/>
            </a:bodyPr>
            <a:lstStyle/>
            <a:p>
              <a:r>
                <a:rPr lang="zh-CN" altLang="en-US" dirty="0"/>
                <a:t>缩写化</a:t>
              </a:r>
            </a:p>
          </p:txBody>
        </p:sp>
      </p:grpSp>
    </p:spTree>
    <p:custDataLst>
      <p:tags r:id="rId1"/>
    </p:custDataLst>
    <p:extLst>
      <p:ext uri="{BB962C8B-B14F-4D97-AF65-F5344CB8AC3E}">
        <p14:creationId xmlns:p14="http://schemas.microsoft.com/office/powerpoint/2010/main" val="22188468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2708"/>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up)">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727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08" grpId="0" animBg="1" autoUpdateAnimBg="0"/>
      <p:bldP spid="72709" grpId="0" animBg="1"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31564" y="1971357"/>
            <a:ext cx="5069016" cy="769441"/>
          </a:xfrm>
          <a:prstGeom prst="rect">
            <a:avLst/>
          </a:prstGeom>
        </p:spPr>
        <p:txBody>
          <a:bodyPr wrap="none">
            <a:spAutoFit/>
          </a:bodyPr>
          <a:lstStyle/>
          <a:p>
            <a:r>
              <a:rPr lang="en-US" altLang="zh-CN" sz="4400" b="1" dirty="0">
                <a:solidFill>
                  <a:srgbClr val="CC0099"/>
                </a:solidFill>
                <a:ea typeface="隶书" pitchFamily="49" charset="-122"/>
              </a:rPr>
              <a:t>3</a:t>
            </a:r>
            <a:r>
              <a:rPr lang="zh-CN" altLang="en-US" sz="4400" b="1" dirty="0">
                <a:solidFill>
                  <a:srgbClr val="CC0099"/>
                </a:solidFill>
                <a:ea typeface="隶书" pitchFamily="49" charset="-122"/>
              </a:rPr>
              <a:t>、文法产生的语言</a:t>
            </a:r>
            <a:endParaRPr lang="zh-CN" altLang="en-US" sz="4400" dirty="0"/>
          </a:p>
        </p:txBody>
      </p:sp>
    </p:spTree>
    <p:extLst>
      <p:ext uri="{BB962C8B-B14F-4D97-AF65-F5344CB8AC3E}">
        <p14:creationId xmlns:p14="http://schemas.microsoft.com/office/powerpoint/2010/main" val="256112716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3"/>
          <p:cNvSpPr>
            <a:spLocks noGrp="1" noChangeArrowheads="1"/>
          </p:cNvSpPr>
          <p:nvPr>
            <p:ph type="body" idx="1"/>
          </p:nvPr>
        </p:nvSpPr>
        <p:spPr>
          <a:xfrm>
            <a:off x="468956" y="507657"/>
            <a:ext cx="7991475" cy="1560037"/>
          </a:xfrm>
        </p:spPr>
        <p:txBody>
          <a:bodyPr>
            <a:normAutofit/>
          </a:bodyPr>
          <a:lstStyle/>
          <a:p>
            <a:pPr eaLnBrk="1" hangingPunct="1">
              <a:spcBef>
                <a:spcPct val="50000"/>
              </a:spcBef>
            </a:pPr>
            <a:r>
              <a:rPr lang="zh-CN" altLang="en-US" sz="2200" b="1" dirty="0">
                <a:solidFill>
                  <a:srgbClr val="FF3399"/>
                </a:solidFill>
                <a:latin typeface="宋体" pitchFamily="2" charset="-122"/>
              </a:rPr>
              <a:t>从文法得到某个符号串的方法</a:t>
            </a:r>
            <a:r>
              <a:rPr lang="en-US" altLang="zh-CN" sz="2200" dirty="0">
                <a:latin typeface="宋体" pitchFamily="2" charset="-122"/>
              </a:rPr>
              <a:t>:</a:t>
            </a:r>
            <a:r>
              <a:rPr lang="zh-CN" altLang="en-US" sz="2200" dirty="0">
                <a:latin typeface="宋体" pitchFamily="2" charset="-122"/>
              </a:rPr>
              <a:t>从开始符号出发</a:t>
            </a:r>
            <a:r>
              <a:rPr lang="en-US" altLang="zh-CN" sz="2200" dirty="0">
                <a:latin typeface="宋体" pitchFamily="2" charset="-122"/>
              </a:rPr>
              <a:t>,</a:t>
            </a:r>
            <a:r>
              <a:rPr lang="zh-CN" altLang="en-US" sz="2200" dirty="0">
                <a:latin typeface="宋体" pitchFamily="2" charset="-122"/>
              </a:rPr>
              <a:t>反复连续使用产生式规则</a:t>
            </a:r>
            <a:r>
              <a:rPr lang="en-US" altLang="zh-CN" sz="2200" dirty="0">
                <a:latin typeface="宋体" pitchFamily="2" charset="-122"/>
              </a:rPr>
              <a:t>,</a:t>
            </a:r>
            <a:r>
              <a:rPr lang="zh-CN" altLang="en-US" sz="2200" dirty="0">
                <a:latin typeface="宋体" pitchFamily="2" charset="-122"/>
              </a:rPr>
              <a:t>对其中的非终结符进行替换和展开，直到全部为终结符为止。</a:t>
            </a:r>
            <a:endParaRPr lang="zh-CN" altLang="en-US" sz="2200" dirty="0">
              <a:solidFill>
                <a:srgbClr val="0066FF"/>
              </a:solidFill>
              <a:latin typeface="宋体" pitchFamily="2" charset="-122"/>
            </a:endParaRPr>
          </a:p>
        </p:txBody>
      </p:sp>
      <p:sp>
        <p:nvSpPr>
          <p:cNvPr id="25604" name="Rectangle 4"/>
          <p:cNvSpPr>
            <a:spLocks noChangeArrowheads="1"/>
          </p:cNvSpPr>
          <p:nvPr/>
        </p:nvSpPr>
        <p:spPr bwMode="auto">
          <a:xfrm>
            <a:off x="897326" y="2605896"/>
            <a:ext cx="1799431" cy="156966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66FF"/>
                </a:solidFill>
                <a:ea typeface="华文行楷" pitchFamily="2" charset="-122"/>
                <a:sym typeface="Symbol" pitchFamily="18" charset="2"/>
              </a:rPr>
              <a:t>E  E+E </a:t>
            </a:r>
          </a:p>
          <a:p>
            <a:pPr eaLnBrk="1" hangingPunct="1">
              <a:spcBef>
                <a:spcPct val="0"/>
              </a:spcBef>
              <a:buFontTx/>
              <a:buNone/>
            </a:pPr>
            <a:r>
              <a:rPr lang="en-US" altLang="zh-CN" sz="2400" dirty="0">
                <a:solidFill>
                  <a:srgbClr val="0066FF"/>
                </a:solidFill>
                <a:ea typeface="华文行楷" pitchFamily="2" charset="-122"/>
                <a:sym typeface="Symbol" pitchFamily="18" charset="2"/>
              </a:rPr>
              <a:t>E  E*E  </a:t>
            </a:r>
          </a:p>
          <a:p>
            <a:pPr eaLnBrk="1" hangingPunct="1">
              <a:spcBef>
                <a:spcPct val="0"/>
              </a:spcBef>
              <a:buFontTx/>
              <a:buNone/>
            </a:pPr>
            <a:r>
              <a:rPr lang="en-US" altLang="zh-CN" sz="2400" dirty="0">
                <a:solidFill>
                  <a:srgbClr val="0066FF"/>
                </a:solidFill>
                <a:ea typeface="华文行楷" pitchFamily="2" charset="-122"/>
                <a:sym typeface="Symbol" pitchFamily="18" charset="2"/>
              </a:rPr>
              <a:t>E  (E) </a:t>
            </a:r>
          </a:p>
          <a:p>
            <a:pPr eaLnBrk="1" hangingPunct="1">
              <a:spcBef>
                <a:spcPct val="0"/>
              </a:spcBef>
              <a:buFontTx/>
              <a:buNone/>
            </a:pPr>
            <a:r>
              <a:rPr lang="en-US" altLang="zh-CN" sz="2400" dirty="0">
                <a:solidFill>
                  <a:srgbClr val="0066FF"/>
                </a:solidFill>
                <a:ea typeface="华文行楷" pitchFamily="2" charset="-122"/>
                <a:sym typeface="Symbol" pitchFamily="18" charset="2"/>
              </a:rPr>
              <a:t>E  </a:t>
            </a:r>
            <a:r>
              <a:rPr lang="en-US" altLang="zh-CN" sz="2400" dirty="0" err="1">
                <a:solidFill>
                  <a:srgbClr val="0066FF"/>
                </a:solidFill>
                <a:ea typeface="华文行楷" pitchFamily="2" charset="-122"/>
                <a:sym typeface="Symbol" pitchFamily="18" charset="2"/>
              </a:rPr>
              <a:t>i</a:t>
            </a:r>
            <a:endParaRPr lang="en-US" altLang="zh-CN" sz="2400" dirty="0">
              <a:solidFill>
                <a:srgbClr val="0066FF"/>
              </a:solidFill>
              <a:ea typeface="华文行楷" pitchFamily="2" charset="-122"/>
              <a:sym typeface="Symbol" pitchFamily="18" charset="2"/>
            </a:endParaRPr>
          </a:p>
        </p:txBody>
      </p:sp>
      <p:sp>
        <p:nvSpPr>
          <p:cNvPr id="25605" name="Rectangle 5"/>
          <p:cNvSpPr>
            <a:spLocks noChangeArrowheads="1"/>
          </p:cNvSpPr>
          <p:nvPr/>
        </p:nvSpPr>
        <p:spPr bwMode="auto">
          <a:xfrm>
            <a:off x="4070893" y="2932094"/>
            <a:ext cx="915171" cy="52228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solidFill>
                  <a:srgbClr val="0066FF"/>
                </a:solidFill>
                <a:ea typeface="华文行楷" pitchFamily="2" charset="-122"/>
                <a:sym typeface="Symbol" pitchFamily="18" charset="2"/>
              </a:rPr>
              <a:t>(</a:t>
            </a:r>
            <a:r>
              <a:rPr lang="en-US" altLang="zh-CN" sz="2800" dirty="0" err="1">
                <a:solidFill>
                  <a:srgbClr val="0066FF"/>
                </a:solidFill>
                <a:ea typeface="华文行楷" pitchFamily="2" charset="-122"/>
                <a:sym typeface="Symbol" pitchFamily="18" charset="2"/>
              </a:rPr>
              <a:t>i+i</a:t>
            </a:r>
            <a:r>
              <a:rPr lang="en-US" altLang="zh-CN" sz="2800" dirty="0">
                <a:solidFill>
                  <a:srgbClr val="0066FF"/>
                </a:solidFill>
                <a:ea typeface="华文行楷" pitchFamily="2" charset="-122"/>
                <a:sym typeface="Symbol" pitchFamily="18" charset="2"/>
              </a:rPr>
              <a:t>)</a:t>
            </a:r>
          </a:p>
        </p:txBody>
      </p:sp>
      <p:sp>
        <p:nvSpPr>
          <p:cNvPr id="9" name="Rectangle 3"/>
          <p:cNvSpPr txBox="1">
            <a:spLocks noChangeArrowheads="1"/>
          </p:cNvSpPr>
          <p:nvPr/>
        </p:nvSpPr>
        <p:spPr>
          <a:xfrm>
            <a:off x="471241" y="1625599"/>
            <a:ext cx="7991475" cy="426989"/>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ct val="50000"/>
              </a:spcBef>
            </a:pPr>
            <a:r>
              <a:rPr lang="zh-CN" altLang="en-US" sz="2200" dirty="0">
                <a:solidFill>
                  <a:srgbClr val="0066FF"/>
                </a:solidFill>
                <a:latin typeface="宋体" pitchFamily="2" charset="-122"/>
              </a:rPr>
              <a:t>例：表达式定义规则</a:t>
            </a:r>
          </a:p>
        </p:txBody>
      </p:sp>
      <p:grpSp>
        <p:nvGrpSpPr>
          <p:cNvPr id="2" name="组合 1"/>
          <p:cNvGrpSpPr/>
          <p:nvPr/>
        </p:nvGrpSpPr>
        <p:grpSpPr>
          <a:xfrm>
            <a:off x="2695170" y="2446270"/>
            <a:ext cx="1296193" cy="944456"/>
            <a:chOff x="4065588" y="2412124"/>
            <a:chExt cx="1296193" cy="944456"/>
          </a:xfrm>
        </p:grpSpPr>
        <p:sp>
          <p:nvSpPr>
            <p:cNvPr id="25607" name="AutoShape 7"/>
            <p:cNvSpPr>
              <a:spLocks noChangeArrowheads="1"/>
            </p:cNvSpPr>
            <p:nvPr/>
          </p:nvSpPr>
          <p:spPr bwMode="auto">
            <a:xfrm>
              <a:off x="4065588" y="2978755"/>
              <a:ext cx="1296193" cy="377825"/>
            </a:xfrm>
            <a:prstGeom prst="rightArrow">
              <a:avLst>
                <a:gd name="adj1" fmla="val 50000"/>
                <a:gd name="adj2" fmla="val 128650"/>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10" name="WordArt 62"/>
            <p:cNvSpPr>
              <a:spLocks noChangeArrowheads="1" noChangeShapeType="1" noTextEdit="1"/>
            </p:cNvSpPr>
            <p:nvPr/>
          </p:nvSpPr>
          <p:spPr bwMode="auto">
            <a:xfrm>
              <a:off x="4263628" y="2412124"/>
              <a:ext cx="450056" cy="657298"/>
            </a:xfrm>
            <a:prstGeom prst="rect">
              <a:avLst/>
            </a:prstGeom>
          </p:spPr>
          <p:txBody>
            <a:bodyPr wrap="none" fromWordArt="1">
              <a:prstTxWarp prst="textSlantUp">
                <a:avLst>
                  <a:gd name="adj" fmla="val 3861"/>
                </a:avLst>
              </a:prstTxWarp>
            </a:bodyPr>
            <a:lstStyle/>
            <a:p>
              <a:r>
                <a:rPr lang="en-US" altLang="zh-CN" sz="3600" b="1" kern="10" dirty="0">
                  <a:ln w="9525">
                    <a:solidFill>
                      <a:srgbClr val="CC99FF"/>
                    </a:solidFill>
                    <a:round/>
                    <a:headEnd/>
                    <a:tailEnd/>
                  </a:ln>
                  <a:gradFill rotWithShape="1">
                    <a:gsLst>
                      <a:gs pos="0">
                        <a:srgbClr val="6600CC"/>
                      </a:gs>
                      <a:gs pos="100000">
                        <a:srgbClr val="CC00CC"/>
                      </a:gs>
                    </a:gsLst>
                    <a:lin ang="5400000" scaled="1"/>
                  </a:gradFill>
                  <a:effectLst>
                    <a:outerShdw dist="53882" dir="2700000" algn="ctr" rotWithShape="0">
                      <a:srgbClr val="9999FF">
                        <a:alpha val="79999"/>
                      </a:srgbClr>
                    </a:outerShdw>
                  </a:effectLst>
                  <a:latin typeface="宋体"/>
                  <a:ea typeface="宋体"/>
                </a:rPr>
                <a:t>?</a:t>
              </a:r>
              <a:endParaRPr lang="zh-CN" altLang="en-US" sz="3600" b="1" kern="10" dirty="0">
                <a:ln w="9525">
                  <a:solidFill>
                    <a:srgbClr val="CC99FF"/>
                  </a:solidFill>
                  <a:round/>
                  <a:headEnd/>
                  <a:tailEnd/>
                </a:ln>
                <a:gradFill rotWithShape="1">
                  <a:gsLst>
                    <a:gs pos="0">
                      <a:srgbClr val="6600CC"/>
                    </a:gs>
                    <a:gs pos="100000">
                      <a:srgbClr val="CC00CC"/>
                    </a:gs>
                  </a:gsLst>
                  <a:lin ang="5400000" scaled="1"/>
                </a:gradFill>
                <a:effectLst>
                  <a:outerShdw dist="53882" dir="2700000" algn="ctr" rotWithShape="0">
                    <a:srgbClr val="9999FF">
                      <a:alpha val="79999"/>
                    </a:srgbClr>
                  </a:outerShdw>
                </a:effectLst>
                <a:latin typeface="宋体"/>
                <a:ea typeface="宋体"/>
              </a:endParaRPr>
            </a:p>
          </p:txBody>
        </p:sp>
      </p:grpSp>
      <p:sp>
        <p:nvSpPr>
          <p:cNvPr id="11" name="Rectangle 1027"/>
          <p:cNvSpPr txBox="1">
            <a:spLocks noChangeArrowheads="1"/>
          </p:cNvSpPr>
          <p:nvPr/>
        </p:nvSpPr>
        <p:spPr>
          <a:xfrm>
            <a:off x="6323393" y="2459965"/>
            <a:ext cx="1776999" cy="1988834"/>
          </a:xfrm>
          <a:prstGeom prst="rect">
            <a:avLst/>
          </a:prstGeom>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dk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dk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dk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dk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dk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marL="109728" indent="0">
              <a:buNone/>
              <a:defRPr/>
            </a:pPr>
            <a:r>
              <a:rPr lang="en-US" altLang="zh-CN" sz="2200" dirty="0">
                <a:solidFill>
                  <a:srgbClr val="0066FF"/>
                </a:solidFill>
                <a:ea typeface="华文行楷" pitchFamily="2" charset="-122"/>
                <a:sym typeface="Symbol" pitchFamily="18" charset="2"/>
              </a:rPr>
              <a:t>E</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+E)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err="1">
                <a:solidFill>
                  <a:srgbClr val="0066FF"/>
                </a:solidFill>
                <a:ea typeface="华文行楷" pitchFamily="2" charset="-122"/>
                <a:sym typeface="Symbol" pitchFamily="18" charset="2"/>
              </a:rPr>
              <a:t>i+</a:t>
            </a:r>
            <a:r>
              <a:rPr lang="en-US" altLang="zh-CN" sz="2200" dirty="0" err="1">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err="1">
                <a:solidFill>
                  <a:srgbClr val="0066FF"/>
                </a:solidFill>
                <a:ea typeface="华文行楷" pitchFamily="2" charset="-122"/>
                <a:sym typeface="Symbol" pitchFamily="18" charset="2"/>
              </a:rPr>
              <a:t>i+i</a:t>
            </a:r>
            <a:r>
              <a:rPr lang="en-US" altLang="zh-CN" sz="2200" dirty="0">
                <a:solidFill>
                  <a:srgbClr val="0066FF"/>
                </a:solidFill>
                <a:ea typeface="华文行楷" pitchFamily="2" charset="-122"/>
                <a:sym typeface="Symbol" pitchFamily="18" charset="2"/>
              </a:rPr>
              <a:t>)</a:t>
            </a:r>
            <a:endParaRPr lang="en-US" altLang="zh-CN" sz="2200" dirty="0">
              <a:solidFill>
                <a:srgbClr val="0066FF"/>
              </a:solidFill>
              <a:latin typeface="宋体" pitchFamily="2" charset="-122"/>
              <a:ea typeface="华文行楷" pitchFamily="2" charset="-122"/>
            </a:endParaRPr>
          </a:p>
        </p:txBody>
      </p:sp>
    </p:spTree>
    <p:extLst>
      <p:ext uri="{BB962C8B-B14F-4D97-AF65-F5344CB8AC3E}">
        <p14:creationId xmlns:p14="http://schemas.microsoft.com/office/powerpoint/2010/main" val="32207850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60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60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bg/>
                                          </p:spTgt>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1">
                                            <p:txEl>
                                              <p:pRg st="1" end="1"/>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1">
                                            <p:txEl>
                                              <p:pRg st="2" end="2"/>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11">
                                            <p:txEl>
                                              <p:pRg st="3" end="3"/>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4" grpId="0" animBg="1"/>
      <p:bldP spid="25605" grpId="0" animBg="1"/>
      <p:bldP spid="11" grpId="0" uiExpand="1" build="p"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Grp="1" noChangeArrowheads="1"/>
          </p:cNvSpPr>
          <p:nvPr>
            <p:ph type="title"/>
          </p:nvPr>
        </p:nvSpPr>
        <p:spPr>
          <a:xfrm>
            <a:off x="623888" y="192088"/>
            <a:ext cx="3732088" cy="792162"/>
          </a:xfrm>
        </p:spPr>
        <p:txBody>
          <a:bodyPr>
            <a:noAutofit/>
          </a:bodyPr>
          <a:lstStyle/>
          <a:p>
            <a:pPr algn="l">
              <a:lnSpc>
                <a:spcPct val="172000"/>
              </a:lnSpc>
              <a:spcBef>
                <a:spcPts val="800"/>
              </a:spcBef>
              <a:spcAft>
                <a:spcPts val="300"/>
              </a:spcAft>
              <a:defRPr/>
            </a:pPr>
            <a:r>
              <a:rPr lang="zh-CN" altLang="zh-CN" sz="4300" dirty="0">
                <a:solidFill>
                  <a:srgbClr val="CC0099"/>
                </a:solidFill>
                <a:ea typeface="隶书" pitchFamily="49" charset="-122"/>
              </a:rPr>
              <a:t>推导</a:t>
            </a:r>
            <a:r>
              <a:rPr lang="zh-CN" altLang="en-US" sz="4300" dirty="0">
                <a:solidFill>
                  <a:srgbClr val="CC0099"/>
                </a:solidFill>
                <a:ea typeface="隶书" pitchFamily="49" charset="-122"/>
              </a:rPr>
              <a:t>和归约</a:t>
            </a:r>
            <a:endParaRPr lang="zh-CN" altLang="zh-CN" sz="4300" dirty="0">
              <a:solidFill>
                <a:srgbClr val="CC0099"/>
              </a:solidFill>
              <a:ea typeface="隶书" pitchFamily="49" charset="-122"/>
            </a:endParaRPr>
          </a:p>
        </p:txBody>
      </p:sp>
      <p:sp>
        <p:nvSpPr>
          <p:cNvPr id="18435" name="Rectangle 3"/>
          <p:cNvSpPr>
            <a:spLocks noGrp="1" noChangeArrowheads="1"/>
          </p:cNvSpPr>
          <p:nvPr>
            <p:ph type="body" idx="1"/>
          </p:nvPr>
        </p:nvSpPr>
        <p:spPr>
          <a:xfrm>
            <a:off x="395287" y="1168399"/>
            <a:ext cx="6538689" cy="1763391"/>
          </a:xfrm>
          <a:solidFill>
            <a:schemeClr val="bg1"/>
          </a:solidFill>
          <a:ln w="28575">
            <a:solidFill>
              <a:srgbClr val="0000CC"/>
            </a:solidFill>
            <a:miter lim="800000"/>
            <a:headEnd/>
            <a:tailEnd/>
          </a:ln>
        </p:spPr>
        <p:txBody>
          <a:bodyPr>
            <a:noAutofit/>
          </a:bodyPr>
          <a:lstStyle/>
          <a:p>
            <a:pPr eaLnBrk="1" hangingPunct="1">
              <a:lnSpc>
                <a:spcPct val="120000"/>
              </a:lnSpc>
              <a:spcBef>
                <a:spcPts val="0"/>
              </a:spcBef>
            </a:pPr>
            <a:r>
              <a:rPr lang="zh-CN" altLang="en-US" sz="2100" b="1" dirty="0">
                <a:solidFill>
                  <a:srgbClr val="FF3399"/>
                </a:solidFill>
                <a:latin typeface="宋体" pitchFamily="2" charset="-122"/>
                <a:ea typeface="宋体" panose="02010600030101010101" pitchFamily="2" charset="-122"/>
              </a:rPr>
              <a:t>推导</a:t>
            </a:r>
            <a:r>
              <a:rPr lang="en-US" altLang="zh-CN" sz="2100" dirty="0">
                <a:solidFill>
                  <a:srgbClr val="FF3399"/>
                </a:solidFill>
                <a:latin typeface="宋体" pitchFamily="2" charset="-122"/>
                <a:ea typeface="宋体" panose="02010600030101010101" pitchFamily="2" charset="-122"/>
              </a:rPr>
              <a:t>: </a:t>
            </a:r>
            <a:r>
              <a:rPr lang="zh-CN" altLang="en-US" sz="2100" dirty="0">
                <a:latin typeface="宋体" pitchFamily="2" charset="-122"/>
                <a:ea typeface="宋体" panose="02010600030101010101" pitchFamily="2" charset="-122"/>
              </a:rPr>
              <a:t>连续使用产生式右部去替换符号串中的左部非终结符的过程</a:t>
            </a:r>
            <a:r>
              <a:rPr lang="en-US" altLang="zh-CN" sz="2100" dirty="0">
                <a:latin typeface="宋体" pitchFamily="2" charset="-122"/>
                <a:ea typeface="宋体" panose="02010600030101010101" pitchFamily="2" charset="-122"/>
              </a:rPr>
              <a:t>,</a:t>
            </a:r>
            <a:r>
              <a:rPr lang="zh-CN" altLang="en-US" sz="2100" dirty="0">
                <a:latin typeface="宋体" pitchFamily="2" charset="-122"/>
                <a:ea typeface="宋体" panose="02010600030101010101" pitchFamily="2" charset="-122"/>
              </a:rPr>
              <a:t>得到的连续序列称为一个推导</a:t>
            </a:r>
          </a:p>
          <a:p>
            <a:pPr eaLnBrk="1" hangingPunct="1">
              <a:lnSpc>
                <a:spcPct val="120000"/>
              </a:lnSpc>
              <a:spcBef>
                <a:spcPts val="0"/>
              </a:spcBef>
            </a:pPr>
            <a:endParaRPr lang="zh-CN" altLang="en-US" sz="2100" b="1" dirty="0">
              <a:solidFill>
                <a:srgbClr val="FF3399"/>
              </a:solidFill>
              <a:latin typeface="宋体" panose="02010600030101010101" pitchFamily="2" charset="-122"/>
              <a:ea typeface="宋体" panose="02010600030101010101" pitchFamily="2" charset="-122"/>
            </a:endParaRPr>
          </a:p>
        </p:txBody>
      </p:sp>
      <p:sp>
        <p:nvSpPr>
          <p:cNvPr id="4" name="Rectangle 3"/>
          <p:cNvSpPr txBox="1">
            <a:spLocks noChangeArrowheads="1"/>
          </p:cNvSpPr>
          <p:nvPr/>
        </p:nvSpPr>
        <p:spPr bwMode="auto">
          <a:xfrm>
            <a:off x="409574" y="3219822"/>
            <a:ext cx="6538689" cy="1008112"/>
          </a:xfrm>
          <a:prstGeom prst="rect">
            <a:avLst/>
          </a:prstGeom>
          <a:solidFill>
            <a:schemeClr val="bg1"/>
          </a:solidFill>
          <a:ln w="28575">
            <a:solidFill>
              <a:srgbClr val="0000CC"/>
            </a:solidFill>
            <a:miter lim="800000"/>
            <a:headEnd/>
            <a:tailEnd/>
          </a:ln>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eaLnBrk="1" hangingPunct="1">
              <a:defRPr/>
            </a:pPr>
            <a:r>
              <a:rPr lang="zh-CN" altLang="en-US" sz="2400" b="1" kern="0" dirty="0">
                <a:solidFill>
                  <a:srgbClr val="FF3399"/>
                </a:solidFill>
                <a:latin typeface="宋体" pitchFamily="2" charset="-122"/>
                <a:ea typeface="宋体" panose="02010600030101010101" pitchFamily="2" charset="-122"/>
              </a:rPr>
              <a:t>归约</a:t>
            </a:r>
            <a:r>
              <a:rPr lang="en-US" altLang="zh-CN" sz="2400" kern="0" dirty="0">
                <a:solidFill>
                  <a:srgbClr val="FF3399"/>
                </a:solidFill>
                <a:latin typeface="宋体" pitchFamily="2" charset="-122"/>
                <a:ea typeface="宋体" panose="02010600030101010101" pitchFamily="2" charset="-122"/>
              </a:rPr>
              <a:t>:</a:t>
            </a:r>
            <a:r>
              <a:rPr lang="zh-CN" altLang="zh-CN" sz="2400" dirty="0">
                <a:latin typeface="宋体" panose="02010600030101010101" pitchFamily="2" charset="-122"/>
                <a:ea typeface="宋体" panose="02010600030101010101" pitchFamily="2" charset="-122"/>
              </a:rPr>
              <a:t>推导的逆过程</a:t>
            </a:r>
            <a:r>
              <a:rPr lang="zh-CN" altLang="en-US" sz="2400" kern="0" dirty="0">
                <a:latin typeface="宋体" pitchFamily="2" charset="-122"/>
                <a:ea typeface="宋体" panose="02010600030101010101" pitchFamily="2" charset="-122"/>
              </a:rPr>
              <a:t>。</a:t>
            </a:r>
          </a:p>
          <a:p>
            <a:pPr eaLnBrk="1" hangingPunct="1">
              <a:defRPr/>
            </a:pPr>
            <a:r>
              <a:rPr lang="zh-CN" altLang="en-US" sz="2400" b="1" kern="0" dirty="0">
                <a:solidFill>
                  <a:srgbClr val="FF3399"/>
                </a:solidFill>
                <a:latin typeface="宋体" panose="02010600030101010101" pitchFamily="2" charset="-122"/>
                <a:ea typeface="宋体" panose="02010600030101010101" pitchFamily="2" charset="-122"/>
              </a:rPr>
              <a:t>直接归约</a:t>
            </a:r>
            <a:r>
              <a:rPr lang="zh-CN" altLang="en-US" sz="2400" kern="0" dirty="0">
                <a:latin typeface="宋体" panose="02010600030101010101" pitchFamily="2" charset="-122"/>
                <a:ea typeface="宋体" panose="02010600030101010101" pitchFamily="2" charset="-122"/>
              </a:rPr>
              <a:t>：</a:t>
            </a:r>
            <a:r>
              <a:rPr lang="zh-CN" altLang="zh-CN" sz="2400" dirty="0">
                <a:latin typeface="宋体" panose="02010600030101010101" pitchFamily="2" charset="-122"/>
                <a:ea typeface="宋体" panose="02010600030101010101" pitchFamily="2" charset="-122"/>
              </a:rPr>
              <a:t>直接推导的逆过程</a:t>
            </a:r>
            <a:endParaRPr lang="zh-CN" altLang="en-US" sz="2400" kern="0" dirty="0">
              <a:latin typeface="宋体" panose="02010600030101010101" pitchFamily="2" charset="-122"/>
              <a:ea typeface="宋体" panose="02010600030101010101" pitchFamily="2" charset="-122"/>
            </a:endParaRPr>
          </a:p>
        </p:txBody>
      </p:sp>
      <p:sp>
        <p:nvSpPr>
          <p:cNvPr id="5" name="Rectangle 1027"/>
          <p:cNvSpPr txBox="1">
            <a:spLocks noChangeArrowheads="1"/>
          </p:cNvSpPr>
          <p:nvPr/>
        </p:nvSpPr>
        <p:spPr>
          <a:xfrm>
            <a:off x="7202727" y="1203598"/>
            <a:ext cx="1776999" cy="1540912"/>
          </a:xfrm>
          <a:prstGeom prst="rect">
            <a:avLst/>
          </a:prstGeom>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dk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dk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dk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dk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dk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marL="109728" indent="0">
              <a:buNone/>
              <a:defRPr/>
            </a:pPr>
            <a:r>
              <a:rPr lang="en-US" altLang="zh-CN" sz="2200" dirty="0">
                <a:solidFill>
                  <a:srgbClr val="0066FF"/>
                </a:solidFill>
                <a:ea typeface="华文行楷" pitchFamily="2" charset="-122"/>
                <a:sym typeface="Symbol" pitchFamily="18" charset="2"/>
              </a:rPr>
              <a:t>E=&gt;(</a:t>
            </a:r>
            <a:r>
              <a:rPr lang="en-US" altLang="zh-CN" sz="2200" dirty="0">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+E)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err="1">
                <a:solidFill>
                  <a:srgbClr val="0066FF"/>
                </a:solidFill>
                <a:ea typeface="华文行楷" pitchFamily="2" charset="-122"/>
                <a:sym typeface="Symbol" pitchFamily="18" charset="2"/>
              </a:rPr>
              <a:t>i+</a:t>
            </a:r>
            <a:r>
              <a:rPr lang="en-US" altLang="zh-CN" sz="2200" dirty="0" err="1">
                <a:solidFill>
                  <a:srgbClr val="FF0000"/>
                </a:solidFill>
                <a:ea typeface="华文行楷" pitchFamily="2" charset="-122"/>
                <a:sym typeface="Symbol" pitchFamily="18" charset="2"/>
              </a:rPr>
              <a:t>E</a:t>
            </a:r>
            <a:r>
              <a:rPr lang="en-US" altLang="zh-CN" sz="2200" dirty="0">
                <a:solidFill>
                  <a:srgbClr val="0066FF"/>
                </a:solidFill>
                <a:ea typeface="华文行楷" pitchFamily="2" charset="-122"/>
                <a:sym typeface="Symbol" pitchFamily="18" charset="2"/>
              </a:rPr>
              <a:t>) </a:t>
            </a:r>
          </a:p>
          <a:p>
            <a:pPr marL="109728" indent="0">
              <a:buNone/>
              <a:defRPr/>
            </a:pPr>
            <a:r>
              <a:rPr lang="en-US" altLang="zh-CN" sz="2200" dirty="0">
                <a:solidFill>
                  <a:srgbClr val="0066FF"/>
                </a:solidFill>
                <a:ea typeface="华文行楷" pitchFamily="2" charset="-122"/>
                <a:sym typeface="Symbol" pitchFamily="18" charset="2"/>
              </a:rPr>
              <a:t>  =&gt;(</a:t>
            </a:r>
            <a:r>
              <a:rPr lang="en-US" altLang="zh-CN" sz="2200" dirty="0" err="1">
                <a:solidFill>
                  <a:srgbClr val="0066FF"/>
                </a:solidFill>
                <a:ea typeface="华文行楷" pitchFamily="2" charset="-122"/>
                <a:sym typeface="Symbol" pitchFamily="18" charset="2"/>
              </a:rPr>
              <a:t>i+i</a:t>
            </a:r>
            <a:r>
              <a:rPr lang="en-US" altLang="zh-CN" sz="2200" dirty="0">
                <a:solidFill>
                  <a:srgbClr val="0066FF"/>
                </a:solidFill>
                <a:ea typeface="华文行楷" pitchFamily="2" charset="-122"/>
                <a:sym typeface="Symbol" pitchFamily="18" charset="2"/>
              </a:rPr>
              <a:t>)</a:t>
            </a:r>
            <a:endParaRPr lang="en-US" altLang="zh-CN" sz="2200" dirty="0">
              <a:solidFill>
                <a:srgbClr val="0066FF"/>
              </a:solidFill>
              <a:latin typeface="宋体" pitchFamily="2" charset="-122"/>
              <a:ea typeface="华文行楷" pitchFamily="2" charset="-122"/>
            </a:endParaRPr>
          </a:p>
        </p:txBody>
      </p:sp>
      <p:sp>
        <p:nvSpPr>
          <p:cNvPr id="6" name="Rectangle 3"/>
          <p:cNvSpPr txBox="1">
            <a:spLocks noChangeArrowheads="1"/>
          </p:cNvSpPr>
          <p:nvPr/>
        </p:nvSpPr>
        <p:spPr>
          <a:xfrm>
            <a:off x="409575" y="1978086"/>
            <a:ext cx="6538689" cy="881696"/>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120000"/>
              </a:lnSpc>
              <a:spcBef>
                <a:spcPts val="0"/>
              </a:spcBef>
            </a:pPr>
            <a:r>
              <a:rPr lang="zh-CN" altLang="en-US" sz="2100" b="1" dirty="0">
                <a:solidFill>
                  <a:srgbClr val="FF3399"/>
                </a:solidFill>
                <a:latin typeface="宋体" panose="02010600030101010101" pitchFamily="2" charset="-122"/>
                <a:ea typeface="宋体" panose="02010600030101010101" pitchFamily="2" charset="-122"/>
              </a:rPr>
              <a:t>直接推导</a:t>
            </a:r>
            <a:r>
              <a:rPr lang="zh-CN" altLang="en-US" sz="2100" dirty="0">
                <a:latin typeface="宋体" panose="02010600030101010101" pitchFamily="2" charset="-122"/>
                <a:ea typeface="宋体" panose="02010600030101010101" pitchFamily="2" charset="-122"/>
              </a:rPr>
              <a:t>：又称一步推导</a:t>
            </a:r>
            <a:r>
              <a:rPr lang="en-US" altLang="zh-CN" sz="2100" dirty="0">
                <a:latin typeface="宋体" pitchFamily="2" charset="-122"/>
                <a:ea typeface="宋体" panose="02010600030101010101" pitchFamily="2" charset="-122"/>
              </a:rPr>
              <a:t>(</a:t>
            </a:r>
            <a:r>
              <a:rPr lang="zh-CN" altLang="en-US" sz="2100" dirty="0">
                <a:latin typeface="宋体" pitchFamily="2" charset="-122"/>
                <a:ea typeface="宋体" panose="02010600030101010101" pitchFamily="2" charset="-122"/>
              </a:rPr>
              <a:t>用 符号</a:t>
            </a:r>
            <a:r>
              <a:rPr lang="en-US" altLang="zh-CN" sz="2100" dirty="0">
                <a:latin typeface="宋体" pitchFamily="2" charset="-122"/>
                <a:ea typeface="宋体" panose="02010600030101010101" pitchFamily="2" charset="-122"/>
              </a:rPr>
              <a:t>=&gt;</a:t>
            </a:r>
            <a:r>
              <a:rPr lang="zh-CN" altLang="en-US" sz="2100" dirty="0">
                <a:latin typeface="宋体" pitchFamily="2" charset="-122"/>
                <a:ea typeface="宋体" panose="02010600030101010101" pitchFamily="2" charset="-122"/>
              </a:rPr>
              <a:t>表示</a:t>
            </a:r>
            <a:r>
              <a:rPr lang="en-US" altLang="zh-CN" sz="2100" dirty="0">
                <a:latin typeface="宋体" pitchFamily="2" charset="-122"/>
                <a:ea typeface="宋体" panose="02010600030101010101" pitchFamily="2" charset="-122"/>
              </a:rPr>
              <a:t>),</a:t>
            </a:r>
            <a:r>
              <a:rPr lang="zh-CN" altLang="en-US" sz="2100" dirty="0">
                <a:latin typeface="宋体" pitchFamily="2" charset="-122"/>
                <a:ea typeface="宋体" panose="02010600030101010101" pitchFamily="2" charset="-122"/>
              </a:rPr>
              <a:t>就是用某条规则的右部去替换该规则的左部符号的过程</a:t>
            </a:r>
          </a:p>
        </p:txBody>
      </p:sp>
    </p:spTree>
    <p:extLst>
      <p:ext uri="{BB962C8B-B14F-4D97-AF65-F5344CB8AC3E}">
        <p14:creationId xmlns:p14="http://schemas.microsoft.com/office/powerpoint/2010/main" val="3446870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0" y="0"/>
            <a:ext cx="7772400" cy="628650"/>
          </a:xfrm>
        </p:spPr>
        <p:txBody>
          <a:bodyPr>
            <a:noAutofit/>
          </a:bodyPr>
          <a:lstStyle/>
          <a:p>
            <a:pPr algn="l" eaLnBrk="1" hangingPunct="1"/>
            <a:r>
              <a:rPr lang="zh-CN" altLang="en-US" sz="4300" dirty="0">
                <a:solidFill>
                  <a:srgbClr val="CC0099"/>
                </a:solidFill>
                <a:ea typeface="隶书" pitchFamily="49" charset="-122"/>
              </a:rPr>
              <a:t>形式化</a:t>
            </a:r>
          </a:p>
        </p:txBody>
      </p:sp>
      <p:sp>
        <p:nvSpPr>
          <p:cNvPr id="26627" name="Rectangle 3"/>
          <p:cNvSpPr>
            <a:spLocks noGrp="1" noChangeArrowheads="1"/>
          </p:cNvSpPr>
          <p:nvPr>
            <p:ph type="body" idx="1"/>
          </p:nvPr>
        </p:nvSpPr>
        <p:spPr>
          <a:xfrm>
            <a:off x="1744538" y="627535"/>
            <a:ext cx="7075934" cy="1440160"/>
          </a:xfrm>
          <a:solidFill>
            <a:schemeClr val="bg1"/>
          </a:solidFill>
          <a:ln w="28575">
            <a:solidFill>
              <a:srgbClr val="0000CC"/>
            </a:solidFill>
            <a:miter lim="800000"/>
            <a:headEnd/>
            <a:tailEnd/>
          </a:ln>
        </p:spPr>
        <p:txBody>
          <a:bodyPr>
            <a:normAutofit lnSpcReduction="10000"/>
          </a:bodyPr>
          <a:lstStyle/>
          <a:p>
            <a:pPr>
              <a:spcBef>
                <a:spcPts val="0"/>
              </a:spcBef>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α</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β</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是文法 </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G=(</a:t>
            </a:r>
            <a:r>
              <a:rPr lang="en-US" altLang="zh-CN" sz="2200" dirty="0" err="1">
                <a:latin typeface="Times New Roman" panose="02020603050405020304" pitchFamily="18" charset="0"/>
                <a:ea typeface="宋体" panose="02010600030101010101" pitchFamily="2" charset="-122"/>
                <a:cs typeface="Times New Roman" panose="02020603050405020304" pitchFamily="18" charset="0"/>
              </a:rPr>
              <a:t>Vn,Vt,P,S</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的产生式，</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γ</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和</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δ</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是Ｖ</a:t>
            </a:r>
            <a:r>
              <a:rPr lang="zh-CN" altLang="en-US" sz="2200" baseline="300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中的任意符号串</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a:spcBef>
                <a:spcPts val="0"/>
              </a:spcBef>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则有  </a:t>
            </a:r>
            <a:r>
              <a:rPr lang="en-US" altLang="zh-CN" sz="2800" b="1" dirty="0">
                <a:latin typeface="Times New Roman" panose="02020603050405020304" pitchFamily="18" charset="0"/>
                <a:ea typeface="宋体" panose="02010600030101010101" pitchFamily="2" charset="-122"/>
                <a:cs typeface="Times New Roman" panose="02020603050405020304" pitchFamily="18" charset="0"/>
              </a:rPr>
              <a:t>γ</a:t>
            </a:r>
            <a:r>
              <a:rPr lang="en-US" altLang="zh-CN" sz="2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800" b="1" dirty="0">
                <a:latin typeface="Times New Roman" panose="02020603050405020304" pitchFamily="18" charset="0"/>
                <a:ea typeface="宋体" panose="02010600030101010101" pitchFamily="2" charset="-122"/>
                <a:cs typeface="Times New Roman" panose="02020603050405020304" pitchFamily="18" charset="0"/>
              </a:rPr>
              <a:t>δ</a:t>
            </a:r>
            <a:r>
              <a:rPr lang="en-US" altLang="zh-CN" sz="2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 =&gt; </a:t>
            </a:r>
            <a:r>
              <a:rPr lang="en-US" altLang="zh-CN" sz="2800" b="1" dirty="0">
                <a:latin typeface="Times New Roman" panose="02020603050405020304" pitchFamily="18" charset="0"/>
                <a:ea typeface="宋体" panose="02010600030101010101" pitchFamily="2" charset="-122"/>
                <a:cs typeface="Times New Roman" panose="02020603050405020304" pitchFamily="18" charset="0"/>
              </a:rPr>
              <a:t>γ</a:t>
            </a:r>
            <a:r>
              <a:rPr lang="en-US" altLang="zh-CN" sz="2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β</a:t>
            </a:r>
            <a:r>
              <a:rPr lang="en-US" altLang="zh-CN" sz="2800" b="1" dirty="0">
                <a:latin typeface="Times New Roman" panose="02020603050405020304" pitchFamily="18" charset="0"/>
                <a:ea typeface="宋体" panose="02010600030101010101" pitchFamily="2" charset="-122"/>
                <a:cs typeface="Times New Roman" panose="02020603050405020304" pitchFamily="18" charset="0"/>
              </a:rPr>
              <a:t>δ </a:t>
            </a:r>
            <a:r>
              <a:rPr lang="zh-CN" altLang="en-US" sz="2200" b="1" dirty="0">
                <a:latin typeface="Times New Roman" panose="02020603050405020304" pitchFamily="18" charset="0"/>
                <a:ea typeface="宋体" panose="02010600030101010101" pitchFamily="2" charset="-122"/>
                <a:cs typeface="Times New Roman" panose="02020603050405020304" pitchFamily="18" charset="0"/>
              </a:rPr>
              <a:t>或 </a:t>
            </a:r>
            <a:r>
              <a:rPr lang="zh-CN" altLang="en-US" sz="2800" b="1"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v =&gt; w</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若：</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v=γ</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δ, w=γ</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β</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δ</a:t>
            </a:r>
          </a:p>
          <a:p>
            <a:pPr>
              <a:spcBef>
                <a:spcPts val="0"/>
              </a:spcBef>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称为：</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v</a:t>
            </a:r>
            <a:r>
              <a:rPr lang="zh-CN" altLang="en-US"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直接产生</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w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w</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是</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v</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的</a:t>
            </a:r>
            <a:r>
              <a:rPr lang="zh-CN" altLang="en-US"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直接推导</a:t>
            </a:r>
            <a:endPar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5" name="组合 4"/>
          <p:cNvGrpSpPr/>
          <p:nvPr/>
        </p:nvGrpSpPr>
        <p:grpSpPr>
          <a:xfrm>
            <a:off x="1759838" y="2787774"/>
            <a:ext cx="7047188" cy="1200329"/>
            <a:chOff x="1634972" y="3219822"/>
            <a:chExt cx="7047188" cy="1200329"/>
          </a:xfrm>
        </p:grpSpPr>
        <p:sp>
          <p:nvSpPr>
            <p:cNvPr id="19463" name="Rectangle 7"/>
            <p:cNvSpPr>
              <a:spLocks noChangeArrowheads="1"/>
            </p:cNvSpPr>
            <p:nvPr/>
          </p:nvSpPr>
          <p:spPr bwMode="auto">
            <a:xfrm>
              <a:off x="1634972" y="3219822"/>
              <a:ext cx="7047188" cy="1200329"/>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marL="363538" indent="-36353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400" dirty="0">
                  <a:ea typeface="华文行楷" pitchFamily="2" charset="-122"/>
                </a:rPr>
                <a:t>如果存在</a:t>
              </a:r>
              <a:r>
                <a:rPr lang="en-US" altLang="zh-CN" sz="2400" dirty="0">
                  <a:ea typeface="华文行楷" pitchFamily="2" charset="-122"/>
                </a:rPr>
                <a:t>v=w0=&gt;w1=&gt;w2...=&gt;</a:t>
              </a:r>
              <a:r>
                <a:rPr lang="en-US" altLang="zh-CN" sz="2400" dirty="0" err="1">
                  <a:ea typeface="华文行楷" pitchFamily="2" charset="-122"/>
                </a:rPr>
                <a:t>Wn</a:t>
              </a:r>
              <a:r>
                <a:rPr lang="en-US" altLang="zh-CN" sz="2400" dirty="0">
                  <a:ea typeface="华文行楷" pitchFamily="2" charset="-122"/>
                </a:rPr>
                <a:t>=w(n&gt;0)</a:t>
              </a:r>
              <a:r>
                <a:rPr lang="zh-CN" altLang="en-US" sz="2400" dirty="0">
                  <a:ea typeface="华文行楷" pitchFamily="2" charset="-122"/>
                </a:rPr>
                <a:t>，则称</a:t>
              </a:r>
              <a:endParaRPr lang="en-US" altLang="zh-CN" sz="2400" dirty="0">
                <a:ea typeface="华文行楷" pitchFamily="2" charset="-122"/>
              </a:endParaRPr>
            </a:p>
            <a:p>
              <a:pPr marL="0" indent="0" eaLnBrk="1" hangingPunct="1">
                <a:spcBef>
                  <a:spcPct val="0"/>
                </a:spcBef>
                <a:buNone/>
              </a:pPr>
              <a:r>
                <a:rPr lang="en-US" altLang="zh-CN" sz="2400" dirty="0">
                  <a:ea typeface="华文行楷" pitchFamily="2" charset="-122"/>
                </a:rPr>
                <a:t>    v</a:t>
              </a:r>
              <a:r>
                <a:rPr lang="zh-CN" altLang="en-US" sz="2400" dirty="0">
                  <a:solidFill>
                    <a:schemeClr val="accent2"/>
                  </a:solidFill>
                  <a:ea typeface="华文行楷" pitchFamily="2" charset="-122"/>
                </a:rPr>
                <a:t>推导</a:t>
              </a:r>
              <a:r>
                <a:rPr lang="zh-CN" altLang="en-US" sz="2400" dirty="0">
                  <a:ea typeface="华文行楷" pitchFamily="2" charset="-122"/>
                </a:rPr>
                <a:t>出</a:t>
              </a:r>
              <a:r>
                <a:rPr lang="en-US" altLang="zh-CN" sz="2400" dirty="0">
                  <a:ea typeface="华文行楷" pitchFamily="2" charset="-122"/>
                </a:rPr>
                <a:t>w</a:t>
              </a:r>
              <a:r>
                <a:rPr lang="zh-CN" altLang="en-US" sz="2400" dirty="0">
                  <a:ea typeface="华文行楷" pitchFamily="2" charset="-122"/>
                </a:rPr>
                <a:t>（长度为</a:t>
              </a:r>
              <a:r>
                <a:rPr lang="en-US" altLang="zh-CN" sz="2400" dirty="0">
                  <a:ea typeface="华文行楷" pitchFamily="2" charset="-122"/>
                </a:rPr>
                <a:t>n</a:t>
              </a:r>
              <a:r>
                <a:rPr lang="zh-CN" altLang="en-US" sz="2400" dirty="0">
                  <a:ea typeface="华文行楷" pitchFamily="2" charset="-122"/>
                </a:rPr>
                <a:t>），记作</a:t>
              </a:r>
              <a:r>
                <a:rPr lang="en-US" altLang="zh-CN" sz="2400" dirty="0">
                  <a:ea typeface="华文行楷" pitchFamily="2" charset="-122"/>
                </a:rPr>
                <a:t>v=&gt;w(</a:t>
              </a:r>
              <a:r>
                <a:rPr lang="zh-CN" altLang="en-US" sz="2400" dirty="0">
                  <a:solidFill>
                    <a:srgbClr val="0066FF"/>
                  </a:solidFill>
                  <a:ea typeface="华文行楷" pitchFamily="2" charset="-122"/>
                </a:rPr>
                <a:t>至少一步</a:t>
              </a:r>
              <a:r>
                <a:rPr lang="en-US" altLang="zh-CN" sz="2400" dirty="0">
                  <a:ea typeface="华文行楷" pitchFamily="2" charset="-122"/>
                </a:rPr>
                <a:t>)</a:t>
              </a:r>
            </a:p>
            <a:p>
              <a:pPr>
                <a:spcBef>
                  <a:spcPct val="0"/>
                </a:spcBef>
              </a:pPr>
              <a:r>
                <a:rPr lang="zh-CN" altLang="en-US" sz="2400" dirty="0">
                  <a:ea typeface="华文行楷" pitchFamily="2" charset="-122"/>
                </a:rPr>
                <a:t>若有</a:t>
              </a:r>
              <a:r>
                <a:rPr lang="en-US" altLang="zh-CN" sz="2400" dirty="0">
                  <a:ea typeface="华文行楷" pitchFamily="2" charset="-122"/>
                </a:rPr>
                <a:t>v=&gt;w</a:t>
              </a:r>
              <a:r>
                <a:rPr lang="zh-CN" altLang="en-US" sz="2400" dirty="0">
                  <a:ea typeface="华文行楷" pitchFamily="2" charset="-122"/>
                </a:rPr>
                <a:t>或</a:t>
              </a:r>
              <a:r>
                <a:rPr lang="en-US" altLang="zh-CN" sz="2400" dirty="0">
                  <a:ea typeface="华文行楷" pitchFamily="2" charset="-122"/>
                </a:rPr>
                <a:t>v=w</a:t>
              </a:r>
              <a:r>
                <a:rPr lang="zh-CN" altLang="en-US" sz="2400" dirty="0">
                  <a:ea typeface="华文行楷" pitchFamily="2" charset="-122"/>
                </a:rPr>
                <a:t>，则记作</a:t>
              </a:r>
              <a:r>
                <a:rPr lang="en-US" altLang="zh-CN" sz="2400" dirty="0">
                  <a:ea typeface="华文行楷" pitchFamily="2" charset="-122"/>
                </a:rPr>
                <a:t>v=&gt;w(</a:t>
              </a:r>
              <a:r>
                <a:rPr lang="en-US" altLang="zh-CN" sz="2400" dirty="0">
                  <a:solidFill>
                    <a:srgbClr val="0066FF"/>
                  </a:solidFill>
                  <a:ea typeface="华文行楷" pitchFamily="2" charset="-122"/>
                </a:rPr>
                <a:t>0</a:t>
              </a:r>
              <a:r>
                <a:rPr lang="zh-CN" altLang="en-US" sz="2400" dirty="0">
                  <a:solidFill>
                    <a:srgbClr val="0066FF"/>
                  </a:solidFill>
                  <a:ea typeface="华文行楷" pitchFamily="2" charset="-122"/>
                </a:rPr>
                <a:t>步或若干步</a:t>
              </a:r>
              <a:r>
                <a:rPr lang="en-US" altLang="zh-CN" sz="2400" dirty="0">
                  <a:ea typeface="华文行楷" pitchFamily="2" charset="-122"/>
                </a:rPr>
                <a:t>)</a:t>
              </a:r>
            </a:p>
          </p:txBody>
        </p:sp>
        <p:sp>
          <p:nvSpPr>
            <p:cNvPr id="19461" name="Text Box 4"/>
            <p:cNvSpPr txBox="1">
              <a:spLocks noChangeArrowheads="1"/>
            </p:cNvSpPr>
            <p:nvPr/>
          </p:nvSpPr>
          <p:spPr bwMode="auto">
            <a:xfrm>
              <a:off x="5582494" y="3825869"/>
              <a:ext cx="304800" cy="462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
          <p:nvSpPr>
            <p:cNvPr id="19462" name="Text Box 5"/>
            <p:cNvSpPr txBox="1">
              <a:spLocks noChangeArrowheads="1"/>
            </p:cNvSpPr>
            <p:nvPr/>
          </p:nvSpPr>
          <p:spPr bwMode="auto">
            <a:xfrm>
              <a:off x="6031310" y="3435846"/>
              <a:ext cx="288925" cy="462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grpSp>
      <p:sp>
        <p:nvSpPr>
          <p:cNvPr id="3" name="矩形 2"/>
          <p:cNvSpPr/>
          <p:nvPr/>
        </p:nvSpPr>
        <p:spPr>
          <a:xfrm>
            <a:off x="1029256" y="757033"/>
            <a:ext cx="724878" cy="1569660"/>
          </a:xfrm>
          <a:prstGeom prst="rect">
            <a:avLst/>
          </a:prstGeom>
        </p:spPr>
        <p:txBody>
          <a:bodyPr wrap="square">
            <a:spAutoFit/>
          </a:bodyPr>
          <a:lstStyle/>
          <a:p>
            <a:pPr marL="109728"/>
            <a:r>
              <a:rPr lang="zh-CN" altLang="en-US" sz="2400" b="1" dirty="0">
                <a:solidFill>
                  <a:srgbClr val="FF3399"/>
                </a:solidFill>
                <a:latin typeface="宋体" pitchFamily="2" charset="-122"/>
                <a:ea typeface="宋体" panose="02010600030101010101" pitchFamily="2" charset="-122"/>
              </a:rPr>
              <a:t>直接推导</a:t>
            </a:r>
            <a:r>
              <a:rPr lang="en-US" altLang="zh-CN" sz="2400" b="1" dirty="0">
                <a:latin typeface="宋体" pitchFamily="2" charset="-122"/>
                <a:ea typeface="宋体" panose="02010600030101010101" pitchFamily="2" charset="-122"/>
              </a:rPr>
              <a:t> </a:t>
            </a:r>
          </a:p>
        </p:txBody>
      </p:sp>
      <p:sp>
        <p:nvSpPr>
          <p:cNvPr id="4" name="矩形 3"/>
          <p:cNvSpPr/>
          <p:nvPr/>
        </p:nvSpPr>
        <p:spPr>
          <a:xfrm>
            <a:off x="1471810" y="2211710"/>
            <a:ext cx="6969472" cy="461665"/>
          </a:xfrm>
          <a:prstGeom prst="rect">
            <a:avLst/>
          </a:prstGeom>
        </p:spPr>
        <p:txBody>
          <a:bodyPr wrap="square">
            <a:spAutoFit/>
          </a:bodyPr>
          <a:lstStyle/>
          <a:p>
            <a:pPr lvl="0">
              <a:spcBef>
                <a:spcPct val="0"/>
              </a:spcBef>
            </a:pPr>
            <a:r>
              <a:rPr lang="zh-CN" altLang="en-US" sz="2400" dirty="0">
                <a:ea typeface="华文行楷" pitchFamily="2" charset="-122"/>
              </a:rPr>
              <a:t>例：</a:t>
            </a:r>
            <a:r>
              <a:rPr lang="en-US" altLang="zh-CN" sz="2400" dirty="0">
                <a:ea typeface="华文行楷" pitchFamily="2" charset="-122"/>
              </a:rPr>
              <a:t>S</a:t>
            </a:r>
            <a:r>
              <a:rPr lang="en-US" altLang="zh-CN" sz="2400" dirty="0">
                <a:ea typeface="华文行楷" pitchFamily="2" charset="-122"/>
                <a:sym typeface="Symbol" pitchFamily="18" charset="2"/>
              </a:rPr>
              <a:t></a:t>
            </a:r>
            <a:r>
              <a:rPr lang="en-US" altLang="zh-CN" sz="2400" dirty="0">
                <a:ea typeface="华文行楷" pitchFamily="2" charset="-122"/>
              </a:rPr>
              <a:t>01, 0S0=&gt;0010(</a:t>
            </a:r>
            <a:r>
              <a:rPr lang="zh-CN" altLang="en-US" sz="2400" dirty="0">
                <a:ea typeface="华文行楷" pitchFamily="2" charset="-122"/>
              </a:rPr>
              <a:t>直接推导</a:t>
            </a:r>
            <a:r>
              <a:rPr lang="en-US" altLang="zh-CN" sz="2400" dirty="0">
                <a:ea typeface="华文行楷" pitchFamily="2" charset="-122"/>
              </a:rPr>
              <a:t>γ</a:t>
            </a:r>
            <a:r>
              <a:rPr lang="zh-CN" altLang="en-US" sz="2400" dirty="0">
                <a:ea typeface="华文行楷" pitchFamily="2" charset="-122"/>
              </a:rPr>
              <a:t>＝０</a:t>
            </a:r>
            <a:r>
              <a:rPr lang="en-US" altLang="zh-CN" sz="2400" dirty="0">
                <a:ea typeface="华文行楷" pitchFamily="2" charset="-122"/>
              </a:rPr>
              <a:t>,δ</a:t>
            </a:r>
            <a:r>
              <a:rPr lang="zh-CN" altLang="en-US" sz="2400" dirty="0">
                <a:ea typeface="华文行楷" pitchFamily="2" charset="-122"/>
              </a:rPr>
              <a:t>＝０</a:t>
            </a:r>
            <a:r>
              <a:rPr lang="en-US" altLang="zh-CN" sz="2400" dirty="0">
                <a:ea typeface="华文行楷" pitchFamily="2" charset="-122"/>
              </a:rPr>
              <a:t>)</a:t>
            </a:r>
          </a:p>
        </p:txBody>
      </p:sp>
      <p:sp>
        <p:nvSpPr>
          <p:cNvPr id="11" name="矩形 10"/>
          <p:cNvSpPr/>
          <p:nvPr/>
        </p:nvSpPr>
        <p:spPr>
          <a:xfrm>
            <a:off x="1093158" y="3133297"/>
            <a:ext cx="660976" cy="830997"/>
          </a:xfrm>
          <a:prstGeom prst="rect">
            <a:avLst/>
          </a:prstGeom>
        </p:spPr>
        <p:txBody>
          <a:bodyPr wrap="square">
            <a:spAutoFit/>
          </a:bodyPr>
          <a:lstStyle/>
          <a:p>
            <a:pPr marL="109728"/>
            <a:r>
              <a:rPr lang="zh-CN" altLang="en-US" sz="2400" b="1" dirty="0">
                <a:solidFill>
                  <a:srgbClr val="FF3399"/>
                </a:solidFill>
                <a:latin typeface="宋体" pitchFamily="2" charset="-122"/>
                <a:ea typeface="宋体" panose="02010600030101010101" pitchFamily="2" charset="-122"/>
              </a:rPr>
              <a:t>推导</a:t>
            </a:r>
            <a:r>
              <a:rPr lang="en-US" altLang="zh-CN" sz="2400" b="1" dirty="0">
                <a:latin typeface="宋体" pitchFamily="2" charset="-122"/>
                <a:ea typeface="宋体" panose="02010600030101010101" pitchFamily="2" charset="-122"/>
              </a:rPr>
              <a:t> </a:t>
            </a:r>
          </a:p>
        </p:txBody>
      </p:sp>
      <p:sp>
        <p:nvSpPr>
          <p:cNvPr id="12" name="矩形 11"/>
          <p:cNvSpPr/>
          <p:nvPr/>
        </p:nvSpPr>
        <p:spPr>
          <a:xfrm>
            <a:off x="1754134" y="4213417"/>
            <a:ext cx="7054052" cy="769441"/>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zh-CN" altLang="en-US" sz="2200" dirty="0">
                <a:solidFill>
                  <a:srgbClr val="FF0000"/>
                </a:solidFill>
              </a:rPr>
              <a:t>推导过程</a:t>
            </a:r>
            <a:r>
              <a:rPr lang="zh-CN" altLang="zh-CN" sz="2200" dirty="0"/>
              <a:t>提供了一种证明</a:t>
            </a:r>
            <a:r>
              <a:rPr lang="zh-CN" altLang="en-US" sz="2200" dirty="0"/>
              <a:t>给定的符号串</a:t>
            </a:r>
            <a:r>
              <a:rPr lang="zh-CN" altLang="zh-CN" sz="2200" dirty="0"/>
              <a:t>是</a:t>
            </a:r>
            <a:r>
              <a:rPr lang="zh-CN" altLang="en-US" sz="2200" dirty="0"/>
              <a:t>否</a:t>
            </a:r>
            <a:r>
              <a:rPr lang="zh-CN" altLang="zh-CN" sz="2200" dirty="0">
                <a:solidFill>
                  <a:srgbClr val="FF0000"/>
                </a:solidFill>
              </a:rPr>
              <a:t>符合文法</a:t>
            </a:r>
            <a:r>
              <a:rPr lang="zh-CN" altLang="en-US" sz="2200" dirty="0">
                <a:solidFill>
                  <a:srgbClr val="FF0000"/>
                </a:solidFill>
              </a:rPr>
              <a:t>规则</a:t>
            </a:r>
            <a:r>
              <a:rPr lang="zh-CN" altLang="zh-CN" sz="2200" dirty="0"/>
              <a:t>的方法</a:t>
            </a:r>
            <a:endParaRPr lang="zh-CN" altLang="en-US" sz="2200" dirty="0"/>
          </a:p>
        </p:txBody>
      </p:sp>
    </p:spTree>
    <p:extLst>
      <p:ext uri="{BB962C8B-B14F-4D97-AF65-F5344CB8AC3E}">
        <p14:creationId xmlns:p14="http://schemas.microsoft.com/office/powerpoint/2010/main" val="3167699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627">
                                            <p:bg/>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662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6627">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6627">
                                            <p:txEl>
                                              <p:pRg st="2" end="2"/>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uiExpand="1" build="p" animBg="1"/>
      <p:bldP spid="4" grpId="0"/>
      <p:bldP spid="1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3"/>
          <p:cNvSpPr>
            <a:spLocks noGrp="1" noChangeArrowheads="1"/>
          </p:cNvSpPr>
          <p:nvPr>
            <p:ph type="body" sz="half" idx="1"/>
          </p:nvPr>
        </p:nvSpPr>
        <p:spPr>
          <a:xfrm>
            <a:off x="21752" y="820899"/>
            <a:ext cx="4984657" cy="886755"/>
          </a:xfrm>
        </p:spPr>
        <p:txBody>
          <a:bodyPr>
            <a:normAutofit fontScale="92500"/>
          </a:bodyPr>
          <a:lstStyle/>
          <a:p>
            <a:pPr marL="109728" indent="0" eaLnBrk="1" hangingPunct="1">
              <a:lnSpc>
                <a:spcPct val="120000"/>
              </a:lnSpc>
              <a:spcBef>
                <a:spcPts val="0"/>
              </a:spcBef>
              <a:buNone/>
            </a:pPr>
            <a:r>
              <a:rPr lang="zh-CN" altLang="en-US" sz="2400" dirty="0">
                <a:solidFill>
                  <a:srgbClr val="000000"/>
                </a:solidFill>
                <a:sym typeface="Symbol" pitchFamily="18" charset="2"/>
              </a:rPr>
              <a:t>例</a:t>
            </a:r>
            <a:r>
              <a:rPr lang="en-US" altLang="zh-CN" sz="2400" dirty="0">
                <a:solidFill>
                  <a:srgbClr val="000000"/>
                </a:solidFill>
                <a:sym typeface="Symbol" pitchFamily="18" charset="2"/>
              </a:rPr>
              <a:t>3 : G = ({E}</a:t>
            </a:r>
            <a:r>
              <a:rPr lang="en-GB" altLang="zh-CN" sz="2400" dirty="0">
                <a:solidFill>
                  <a:srgbClr val="000000"/>
                </a:solidFill>
                <a:sym typeface="Symbol" pitchFamily="18" charset="2"/>
              </a:rPr>
              <a:t>, </a:t>
            </a:r>
            <a:r>
              <a:rPr lang="en-US" altLang="zh-CN" sz="2400" dirty="0">
                <a:solidFill>
                  <a:srgbClr val="000000"/>
                </a:solidFill>
                <a:sym typeface="Symbol" pitchFamily="18" charset="2"/>
              </a:rPr>
              <a:t>{</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 (, ) } , P , E) </a:t>
            </a:r>
            <a:br>
              <a:rPr lang="en-US" altLang="zh-CN" sz="2400" dirty="0">
                <a:solidFill>
                  <a:srgbClr val="000000"/>
                </a:solidFill>
                <a:sym typeface="Symbol" pitchFamily="18" charset="2"/>
              </a:rPr>
            </a:br>
            <a:r>
              <a:rPr lang="en-US" altLang="zh-CN" sz="2400" dirty="0">
                <a:solidFill>
                  <a:srgbClr val="000000"/>
                </a:solidFill>
                <a:sym typeface="Symbol" pitchFamily="18" charset="2"/>
              </a:rPr>
              <a:t>         P</a:t>
            </a:r>
            <a:r>
              <a:rPr lang="zh-CN" altLang="en-US" sz="2400" dirty="0">
                <a:solidFill>
                  <a:srgbClr val="000000"/>
                </a:solidFill>
                <a:sym typeface="Symbol" pitchFamily="18" charset="2"/>
              </a:rPr>
              <a:t>： </a:t>
            </a:r>
            <a:r>
              <a:rPr lang="en-US" altLang="zh-CN" sz="2400" dirty="0">
                <a:solidFill>
                  <a:srgbClr val="000000"/>
                </a:solidFill>
                <a:sym typeface="Symbol" pitchFamily="18" charset="2"/>
              </a:rPr>
              <a:t>E  E+E | E*E  | (E) | </a:t>
            </a:r>
            <a:r>
              <a:rPr lang="en-US" altLang="zh-CN" sz="2400" dirty="0" err="1">
                <a:solidFill>
                  <a:srgbClr val="000000"/>
                </a:solidFill>
                <a:sym typeface="Symbol" pitchFamily="18" charset="2"/>
              </a:rPr>
              <a:t>i</a:t>
            </a:r>
            <a:endParaRPr lang="zh-CN" altLang="en-US" sz="2400" dirty="0">
              <a:solidFill>
                <a:srgbClr val="008080"/>
              </a:solidFill>
            </a:endParaRPr>
          </a:p>
        </p:txBody>
      </p:sp>
      <p:sp>
        <p:nvSpPr>
          <p:cNvPr id="27652" name="Rectangle 4"/>
          <p:cNvSpPr>
            <a:spLocks noChangeArrowheads="1"/>
          </p:cNvSpPr>
          <p:nvPr/>
        </p:nvSpPr>
        <p:spPr bwMode="auto">
          <a:xfrm>
            <a:off x="611560" y="1997359"/>
            <a:ext cx="2390857" cy="2308324"/>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00"/>
                </a:solidFill>
                <a:ea typeface="华文行楷" pitchFamily="2" charset="-122"/>
                <a:sym typeface="Symbol" pitchFamily="18" charset="2"/>
              </a:rPr>
              <a:t>E  E*E </a:t>
            </a:r>
          </a:p>
          <a:p>
            <a:pPr eaLnBrk="1" hangingPunct="1">
              <a:spcBef>
                <a:spcPct val="0"/>
              </a:spcBef>
              <a:buFontTx/>
              <a:buNone/>
            </a:pPr>
            <a:r>
              <a:rPr lang="en-US" altLang="zh-CN" sz="2400" dirty="0">
                <a:solidFill>
                  <a:srgbClr val="000000"/>
                </a:solidFill>
                <a:ea typeface="华文行楷" pitchFamily="2" charset="-122"/>
                <a:sym typeface="Symbol" pitchFamily="18" charset="2"/>
              </a:rPr>
              <a:t>    (E)*E</a:t>
            </a:r>
          </a:p>
          <a:p>
            <a:pPr eaLnBrk="1" hangingPunct="1">
              <a:spcBef>
                <a:spcPct val="0"/>
              </a:spcBef>
              <a:buFontTx/>
              <a:buNone/>
            </a:pPr>
            <a:r>
              <a:rPr lang="en-US" altLang="zh-CN" sz="2400" dirty="0">
                <a:solidFill>
                  <a:srgbClr val="000000"/>
                </a:solidFill>
                <a:ea typeface="华文行楷" pitchFamily="2" charset="-122"/>
                <a:sym typeface="Symbol" pitchFamily="18" charset="2"/>
              </a:rPr>
              <a:t>    (E+E)*E </a:t>
            </a:r>
          </a:p>
          <a:p>
            <a:pPr eaLnBrk="1" hangingPunct="1">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i+E</a:t>
            </a:r>
            <a:r>
              <a:rPr lang="en-US" altLang="zh-CN" sz="2400" dirty="0">
                <a:solidFill>
                  <a:srgbClr val="000000"/>
                </a:solidFill>
                <a:ea typeface="华文行楷" pitchFamily="2" charset="-122"/>
                <a:sym typeface="Symbol" pitchFamily="18" charset="2"/>
              </a:rPr>
              <a:t>)*E </a:t>
            </a:r>
          </a:p>
          <a:p>
            <a:pPr eaLnBrk="1" hangingPunct="1">
              <a:spcBef>
                <a:spcPct val="0"/>
              </a:spcBef>
              <a:buFontTx/>
              <a:buNone/>
            </a:pPr>
            <a:r>
              <a:rPr lang="en-US" altLang="zh-CN" sz="2400" dirty="0">
                <a:solidFill>
                  <a:srgbClr val="000000"/>
                </a:solidFill>
                <a:ea typeface="华文行楷" pitchFamily="2" charset="-122"/>
                <a:sym typeface="Symbol" pitchFamily="18" charset="2"/>
              </a:rPr>
              <a:t>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)*E </a:t>
            </a:r>
          </a:p>
          <a:p>
            <a:pPr eaLnBrk="1" hangingPunct="1">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endParaRPr lang="en-US" altLang="zh-CN" sz="2400" dirty="0">
              <a:solidFill>
                <a:srgbClr val="000000"/>
              </a:solidFill>
              <a:ea typeface="华文行楷" pitchFamily="2" charset="-122"/>
              <a:sym typeface="Symbol" pitchFamily="18" charset="2"/>
            </a:endParaRPr>
          </a:p>
        </p:txBody>
      </p:sp>
      <p:grpSp>
        <p:nvGrpSpPr>
          <p:cNvPr id="2" name="组合 1"/>
          <p:cNvGrpSpPr/>
          <p:nvPr/>
        </p:nvGrpSpPr>
        <p:grpSpPr>
          <a:xfrm>
            <a:off x="5491999" y="42479"/>
            <a:ext cx="3579983" cy="1569660"/>
            <a:chOff x="5069883" y="1995686"/>
            <a:chExt cx="3579983" cy="1569660"/>
          </a:xfrm>
        </p:grpSpPr>
        <p:sp>
          <p:nvSpPr>
            <p:cNvPr id="20485" name="Rectangle 6"/>
            <p:cNvSpPr>
              <a:spLocks noChangeArrowheads="1"/>
            </p:cNvSpPr>
            <p:nvPr/>
          </p:nvSpPr>
          <p:spPr bwMode="auto">
            <a:xfrm>
              <a:off x="5069883" y="1995686"/>
              <a:ext cx="3579983" cy="1569660"/>
            </a:xfrm>
            <a:prstGeom prst="rect">
              <a:avLst/>
            </a:prstGeom>
            <a:ln/>
          </p:spPr>
          <p:style>
            <a:lnRef idx="2">
              <a:schemeClr val="dk1"/>
            </a:lnRef>
            <a:fillRef idx="1">
              <a:schemeClr val="lt1"/>
            </a:fillRef>
            <a:effectRef idx="0">
              <a:schemeClr val="dk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00"/>
                  </a:solidFill>
                  <a:ea typeface="华文行楷" pitchFamily="2" charset="-122"/>
                  <a:sym typeface="Symbol" pitchFamily="18" charset="2"/>
                </a:rPr>
                <a:t>E      </a:t>
              </a:r>
              <a:r>
                <a:rPr lang="en-US" altLang="zh-CN" sz="2400" dirty="0" err="1">
                  <a:solidFill>
                    <a:srgbClr val="000000"/>
                  </a:solidFill>
                  <a:ea typeface="华文行楷" pitchFamily="2" charset="-122"/>
                  <a:sym typeface="Symbol" pitchFamily="18" charset="2"/>
                </a:rPr>
                <a:t>E</a:t>
              </a:r>
              <a:r>
                <a:rPr lang="en-US" altLang="zh-CN" sz="2400" dirty="0">
                  <a:solidFill>
                    <a:srgbClr val="000000"/>
                  </a:solidFill>
                  <a:ea typeface="华文行楷" pitchFamily="2" charset="-122"/>
                  <a:sym typeface="Symbol" pitchFamily="18" charset="2"/>
                </a:rPr>
                <a:t>                </a:t>
              </a:r>
              <a:r>
                <a:rPr lang="en-GB" altLang="zh-CN" sz="2400" dirty="0">
                  <a:solidFill>
                    <a:srgbClr val="000000"/>
                  </a:solidFill>
                  <a:ea typeface="华文行楷" pitchFamily="2" charset="-122"/>
                  <a:sym typeface="Symbol" pitchFamily="18" charset="2"/>
                </a:rPr>
                <a:t> </a:t>
              </a:r>
              <a:r>
                <a:rPr lang="en-US" altLang="zh-CN" sz="2400" dirty="0">
                  <a:solidFill>
                    <a:srgbClr val="000000"/>
                  </a:solidFill>
                  <a:ea typeface="华文行楷" pitchFamily="2" charset="-122"/>
                  <a:sym typeface="Symbol" pitchFamily="18" charset="2"/>
                </a:rPr>
                <a:t> 0</a:t>
              </a:r>
              <a:r>
                <a:rPr lang="zh-CN" altLang="en-US" sz="2400" dirty="0">
                  <a:solidFill>
                    <a:srgbClr val="000000"/>
                  </a:solidFill>
                  <a:ea typeface="华文行楷" pitchFamily="2" charset="-122"/>
                  <a:sym typeface="Symbol" pitchFamily="18" charset="2"/>
                </a:rPr>
                <a:t>步推导</a:t>
              </a:r>
              <a:br>
                <a:rPr lang="en-US" altLang="en-US" sz="2400" dirty="0">
                  <a:solidFill>
                    <a:srgbClr val="000000"/>
                  </a:solidFill>
                  <a:ea typeface="华文行楷" pitchFamily="2" charset="-122"/>
                  <a:sym typeface="Symbol" pitchFamily="18" charset="2"/>
                </a:rPr>
              </a:br>
              <a:r>
                <a:rPr lang="en-US" altLang="zh-CN" sz="2400" dirty="0">
                  <a:solidFill>
                    <a:srgbClr val="000000"/>
                  </a:solidFill>
                  <a:ea typeface="华文行楷" pitchFamily="2" charset="-122"/>
                  <a:sym typeface="Symbol" pitchFamily="18" charset="2"/>
                </a:rPr>
                <a:t>E      (</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6</a:t>
              </a:r>
              <a:r>
                <a:rPr lang="zh-CN" altLang="en-US" sz="2400" dirty="0">
                  <a:solidFill>
                    <a:srgbClr val="000000"/>
                  </a:solidFill>
                  <a:ea typeface="华文行楷" pitchFamily="2" charset="-122"/>
                  <a:sym typeface="Symbol" pitchFamily="18" charset="2"/>
                </a:rPr>
                <a:t>步推导</a:t>
              </a:r>
              <a:endParaRPr lang="en-US" altLang="zh-CN" sz="2400" dirty="0">
                <a:solidFill>
                  <a:srgbClr val="000000"/>
                </a:solidFill>
                <a:ea typeface="华文行楷" pitchFamily="2" charset="-122"/>
                <a:sym typeface="Symbol" pitchFamily="18" charset="2"/>
              </a:endParaRPr>
            </a:p>
            <a:p>
              <a:pPr eaLnBrk="1" hangingPunct="1">
                <a:spcBef>
                  <a:spcPct val="0"/>
                </a:spcBef>
                <a:buFontTx/>
                <a:buNone/>
              </a:pPr>
              <a:r>
                <a:rPr lang="en-US" altLang="zh-CN" sz="2400" dirty="0">
                  <a:solidFill>
                    <a:srgbClr val="000000"/>
                  </a:solidFill>
                  <a:ea typeface="华文行楷" pitchFamily="2" charset="-122"/>
                  <a:sym typeface="Symbol" pitchFamily="18" charset="2"/>
                </a:rPr>
                <a:t>E      (</a:t>
              </a:r>
              <a:r>
                <a:rPr lang="en-GB"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 </a:t>
              </a:r>
              <a:r>
                <a:rPr lang="en-GB"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a:t>
              </a:r>
              <a:r>
                <a:rPr lang="en-GB"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a:t>
              </a:r>
              <a:r>
                <a:rPr lang="en-GB" altLang="zh-CN" sz="2400" dirty="0">
                  <a:solidFill>
                    <a:srgbClr val="000000"/>
                  </a:solidFill>
                  <a:ea typeface="华文行楷" pitchFamily="2" charset="-122"/>
                  <a:sym typeface="Symbol" pitchFamily="18" charset="2"/>
                </a:rPr>
                <a:t> </a:t>
              </a:r>
              <a:r>
                <a:rPr lang="en-US" altLang="zh-CN" sz="2400" dirty="0">
                  <a:solidFill>
                    <a:srgbClr val="000000"/>
                  </a:solidFill>
                  <a:ea typeface="华文行楷" pitchFamily="2" charset="-122"/>
                  <a:sym typeface="Symbol" pitchFamily="18" charset="2"/>
                </a:rPr>
                <a:t>6</a:t>
              </a:r>
              <a:r>
                <a:rPr lang="zh-CN" altLang="en-US" sz="2400" dirty="0">
                  <a:solidFill>
                    <a:srgbClr val="000000"/>
                  </a:solidFill>
                  <a:ea typeface="华文行楷" pitchFamily="2" charset="-122"/>
                  <a:sym typeface="Symbol" pitchFamily="18" charset="2"/>
                </a:rPr>
                <a:t>步推导</a:t>
              </a:r>
              <a:br>
                <a:rPr lang="zh-CN" altLang="en-US" sz="2400" dirty="0">
                  <a:solidFill>
                    <a:srgbClr val="000000"/>
                  </a:solidFill>
                  <a:ea typeface="华文行楷" pitchFamily="2" charset="-122"/>
                  <a:sym typeface="Symbol" pitchFamily="18" charset="2"/>
                </a:rPr>
              </a:br>
              <a:r>
                <a:rPr lang="en-US" altLang="zh-CN" sz="2400" dirty="0">
                  <a:solidFill>
                    <a:srgbClr val="000000"/>
                  </a:solidFill>
                  <a:ea typeface="华文行楷" pitchFamily="2" charset="-122"/>
                  <a:sym typeface="Symbol" pitchFamily="18" charset="2"/>
                </a:rPr>
                <a:t>E       </a:t>
              </a:r>
              <a:r>
                <a:rPr lang="en-GB" altLang="zh-CN" sz="2400" dirty="0">
                  <a:solidFill>
                    <a:srgbClr val="000000"/>
                  </a:solidFill>
                  <a:ea typeface="华文行楷" pitchFamily="2" charset="-122"/>
                  <a:sym typeface="Symbol" pitchFamily="18" charset="2"/>
                </a:rPr>
                <a:t>E</a:t>
              </a:r>
              <a:r>
                <a:rPr lang="zh-CN" altLang="en-US" sz="2400" dirty="0">
                  <a:solidFill>
                    <a:srgbClr val="000000"/>
                  </a:solidFill>
                  <a:ea typeface="华文行楷" pitchFamily="2" charset="-122"/>
                  <a:sym typeface="Symbol" pitchFamily="18" charset="2"/>
                </a:rPr>
                <a:t>*</a:t>
              </a:r>
              <a:r>
                <a:rPr lang="en-US" altLang="zh-CN" sz="2400" dirty="0">
                  <a:solidFill>
                    <a:srgbClr val="000000"/>
                  </a:solidFill>
                  <a:ea typeface="华文行楷" pitchFamily="2" charset="-122"/>
                  <a:sym typeface="Symbol" pitchFamily="18" charset="2"/>
                </a:rPr>
                <a:t>E </a:t>
              </a:r>
              <a:r>
                <a:rPr lang="en-GB" altLang="zh-CN" sz="2400" dirty="0">
                  <a:solidFill>
                    <a:srgbClr val="000000"/>
                  </a:solidFill>
                  <a:ea typeface="华文行楷" pitchFamily="2" charset="-122"/>
                  <a:sym typeface="Symbol" pitchFamily="18" charset="2"/>
                </a:rPr>
                <a:t>	   </a:t>
              </a:r>
              <a:r>
                <a:rPr lang="zh-CN" altLang="en-US" sz="2400" dirty="0">
                  <a:solidFill>
                    <a:srgbClr val="000000"/>
                  </a:solidFill>
                  <a:ea typeface="华文行楷" pitchFamily="2" charset="-122"/>
                  <a:sym typeface="Symbol" pitchFamily="18" charset="2"/>
                </a:rPr>
                <a:t>直接推导</a:t>
              </a:r>
            </a:p>
          </p:txBody>
        </p:sp>
        <p:pic>
          <p:nvPicPr>
            <p:cNvPr id="20486"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7137" y="2072997"/>
              <a:ext cx="429473" cy="244131"/>
            </a:xfrm>
            <a:prstGeom prst="rect">
              <a:avLst/>
            </a:prstGeom>
            <a:ln>
              <a:noFill/>
            </a:ln>
          </p:spPr>
          <p:style>
            <a:lnRef idx="2">
              <a:schemeClr val="accent2"/>
            </a:lnRef>
            <a:fillRef idx="1">
              <a:schemeClr val="lt1"/>
            </a:fillRef>
            <a:effectRef idx="0">
              <a:schemeClr val="accent2"/>
            </a:effectRef>
            <a:fontRef idx="minor">
              <a:schemeClr val="dk1"/>
            </a:fontRef>
          </p:style>
        </p:pic>
        <p:pic>
          <p:nvPicPr>
            <p:cNvPr id="20487"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7137" y="2471944"/>
              <a:ext cx="429473" cy="244131"/>
            </a:xfrm>
            <a:prstGeom prst="rect">
              <a:avLst/>
            </a:prstGeom>
            <a:ln>
              <a:noFill/>
            </a:ln>
          </p:spPr>
          <p:style>
            <a:lnRef idx="2">
              <a:schemeClr val="accent2"/>
            </a:lnRef>
            <a:fillRef idx="1">
              <a:schemeClr val="lt1"/>
            </a:fillRef>
            <a:effectRef idx="0">
              <a:schemeClr val="accent2"/>
            </a:effectRef>
            <a:fontRef idx="minor">
              <a:schemeClr val="dk1"/>
            </a:fontRef>
          </p:style>
        </p:pic>
        <p:pic>
          <p:nvPicPr>
            <p:cNvPr id="20488"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64088" y="2767283"/>
              <a:ext cx="391528" cy="236986"/>
            </a:xfrm>
            <a:prstGeom prst="rect">
              <a:avLst/>
            </a:prstGeom>
            <a:ln>
              <a:noFill/>
            </a:ln>
          </p:spPr>
          <p:style>
            <a:lnRef idx="2">
              <a:schemeClr val="accent2"/>
            </a:lnRef>
            <a:fillRef idx="1">
              <a:schemeClr val="lt1"/>
            </a:fillRef>
            <a:effectRef idx="0">
              <a:schemeClr val="accent2"/>
            </a:effectRef>
            <a:fontRef idx="minor">
              <a:schemeClr val="dk1"/>
            </a:fontRef>
          </p:style>
        </p:pic>
        <p:pic>
          <p:nvPicPr>
            <p:cNvPr id="20489" name="Picture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64088" y="3150748"/>
              <a:ext cx="351858" cy="213168"/>
            </a:xfrm>
            <a:prstGeom prst="rect">
              <a:avLst/>
            </a:prstGeom>
            <a:ln>
              <a:noFill/>
            </a:ln>
          </p:spPr>
          <p:style>
            <a:lnRef idx="2">
              <a:schemeClr val="accent2"/>
            </a:lnRef>
            <a:fillRef idx="1">
              <a:schemeClr val="lt1"/>
            </a:fillRef>
            <a:effectRef idx="0">
              <a:schemeClr val="accent2"/>
            </a:effectRef>
            <a:fontRef idx="minor">
              <a:schemeClr val="dk1"/>
            </a:fontRef>
          </p:style>
        </p:pic>
      </p:grpSp>
      <p:sp>
        <p:nvSpPr>
          <p:cNvPr id="15" name="Rectangle 3"/>
          <p:cNvSpPr txBox="1">
            <a:spLocks noChangeArrowheads="1"/>
          </p:cNvSpPr>
          <p:nvPr/>
        </p:nvSpPr>
        <p:spPr>
          <a:xfrm>
            <a:off x="307973" y="1485889"/>
            <a:ext cx="3022683" cy="581805"/>
          </a:xfrm>
          <a:prstGeom prst="rect">
            <a:avLst/>
          </a:prstGeom>
        </p:spPr>
        <p:txBody>
          <a:bodyPr vert="horz">
            <a:normAutofit fontScale="85000" lnSpcReduction="1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20000"/>
              </a:lnSpc>
              <a:spcBef>
                <a:spcPts val="0"/>
              </a:spcBef>
              <a:buFont typeface="Wingdings 3"/>
              <a:buNone/>
            </a:pPr>
            <a:r>
              <a:rPr lang="zh-CN" altLang="en-US" sz="2200" dirty="0">
                <a:solidFill>
                  <a:srgbClr val="008080"/>
                </a:solidFill>
              </a:rPr>
              <a:t>符号串</a:t>
            </a:r>
            <a:r>
              <a:rPr lang="en-US" altLang="zh-CN" sz="2200" dirty="0">
                <a:solidFill>
                  <a:srgbClr val="008080"/>
                </a:solidFill>
              </a:rPr>
              <a:t> </a:t>
            </a:r>
            <a:r>
              <a:rPr lang="zh-CN" altLang="zh-CN" sz="2200" dirty="0">
                <a:solidFill>
                  <a:srgbClr val="008080"/>
                </a:solidFill>
              </a:rPr>
              <a:t>(</a:t>
            </a:r>
            <a:r>
              <a:rPr lang="en-US" altLang="zh-CN" sz="2200" dirty="0" err="1">
                <a:solidFill>
                  <a:srgbClr val="008080"/>
                </a:solidFill>
              </a:rPr>
              <a:t>i+i</a:t>
            </a:r>
            <a:r>
              <a:rPr lang="en-US" altLang="zh-CN" sz="2200" dirty="0">
                <a:solidFill>
                  <a:srgbClr val="008080"/>
                </a:solidFill>
              </a:rPr>
              <a:t>)*</a:t>
            </a:r>
            <a:r>
              <a:rPr lang="en-US" altLang="zh-CN" sz="2200" dirty="0" err="1">
                <a:solidFill>
                  <a:srgbClr val="008080"/>
                </a:solidFill>
              </a:rPr>
              <a:t>i</a:t>
            </a:r>
            <a:r>
              <a:rPr lang="zh-CN" altLang="zh-CN" sz="2200" dirty="0">
                <a:solidFill>
                  <a:srgbClr val="008080"/>
                </a:solidFill>
              </a:rPr>
              <a:t>的推导</a:t>
            </a:r>
            <a:r>
              <a:rPr lang="zh-CN" altLang="en-US" sz="2200" dirty="0">
                <a:solidFill>
                  <a:srgbClr val="008080"/>
                </a:solidFill>
              </a:rPr>
              <a:t>过程。</a:t>
            </a:r>
          </a:p>
        </p:txBody>
      </p:sp>
      <p:sp>
        <p:nvSpPr>
          <p:cNvPr id="16" name="Rectangle 2"/>
          <p:cNvSpPr txBox="1">
            <a:spLocks noChangeArrowheads="1"/>
          </p:cNvSpPr>
          <p:nvPr/>
        </p:nvSpPr>
        <p:spPr>
          <a:xfrm>
            <a:off x="3330656" y="2001427"/>
            <a:ext cx="5694151" cy="2376264"/>
          </a:xfrm>
          <a:prstGeom prst="rect">
            <a:avLst/>
          </a:prstGeom>
          <a:solidFill>
            <a:schemeClr val="bg1"/>
          </a:solidFill>
          <a:ln w="28575">
            <a:solidFill>
              <a:srgbClr val="0000CC"/>
            </a:solidFill>
            <a:miter lim="800000"/>
            <a:headEnd/>
            <a:tailEnd/>
          </a:ln>
        </p:spPr>
        <p:txBody>
          <a:bodyPr vert="horz">
            <a:normAutofit fontScale="92500" lnSpcReduction="1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zh-CN" altLang="en-US" sz="2400" b="1" dirty="0">
                <a:solidFill>
                  <a:srgbClr val="FF3399"/>
                </a:solidFill>
                <a:latin typeface="宋体" pitchFamily="2" charset="-122"/>
                <a:ea typeface="宋体" panose="02010600030101010101" pitchFamily="2" charset="-122"/>
              </a:rPr>
              <a:t>句型</a:t>
            </a:r>
            <a:r>
              <a:rPr lang="zh-CN" altLang="en-US" sz="2400" dirty="0">
                <a:solidFill>
                  <a:schemeClr val="accent2"/>
                </a:solidFill>
                <a:latin typeface="宋体" pitchFamily="2" charset="-122"/>
                <a:ea typeface="宋体" panose="02010600030101010101" pitchFamily="2" charset="-122"/>
              </a:rPr>
              <a:t>：</a:t>
            </a:r>
            <a:r>
              <a:rPr lang="zh-CN" altLang="en-US" sz="2400" dirty="0">
                <a:solidFill>
                  <a:srgbClr val="0000CC"/>
                </a:solidFill>
                <a:latin typeface="宋体" pitchFamily="2" charset="-122"/>
                <a:ea typeface="宋体" panose="02010600030101010101" pitchFamily="2" charset="-122"/>
              </a:rPr>
              <a:t>从开始符推导出的符号串</a:t>
            </a:r>
          </a:p>
          <a:p>
            <a:r>
              <a:rPr lang="zh-CN" altLang="en-US" sz="2400" dirty="0">
                <a:latin typeface="宋体" pitchFamily="2" charset="-122"/>
                <a:ea typeface="宋体" panose="02010600030101010101" pitchFamily="2" charset="-122"/>
              </a:rPr>
              <a:t>形式化描述：设Ｇ</a:t>
            </a:r>
            <a:r>
              <a:rPr lang="en-US" altLang="zh-CN" sz="2400" dirty="0">
                <a:latin typeface="宋体" pitchFamily="2" charset="-122"/>
                <a:ea typeface="宋体" panose="02010600030101010101" pitchFamily="2" charset="-122"/>
              </a:rPr>
              <a:t>[S]</a:t>
            </a:r>
            <a:r>
              <a:rPr lang="zh-CN" altLang="en-US" sz="2400" dirty="0">
                <a:latin typeface="宋体" pitchFamily="2" charset="-122"/>
                <a:ea typeface="宋体" panose="02010600030101010101" pitchFamily="2" charset="-122"/>
              </a:rPr>
              <a:t>是一文法，如果符号串</a:t>
            </a:r>
            <a:r>
              <a:rPr lang="en-US" altLang="zh-CN" sz="2400" dirty="0">
                <a:latin typeface="宋体" panose="02010600030101010101" pitchFamily="2" charset="-122"/>
                <a:ea typeface="宋体" panose="02010600030101010101" pitchFamily="2" charset="-122"/>
                <a:cs typeface="Times New Roman" panose="02020603050405020304" pitchFamily="18" charset="0"/>
              </a:rPr>
              <a:t>α</a:t>
            </a:r>
            <a:r>
              <a:rPr lang="zh-CN" altLang="en-US" sz="2400" dirty="0">
                <a:latin typeface="宋体" pitchFamily="2" charset="-122"/>
                <a:ea typeface="宋体" panose="02010600030101010101" pitchFamily="2" charset="-122"/>
              </a:rPr>
              <a:t>是从开始符号推导出来的，即有 </a:t>
            </a:r>
            <a:r>
              <a:rPr lang="en-US" altLang="zh-CN" sz="2400" dirty="0">
                <a:latin typeface="宋体" pitchFamily="2" charset="-122"/>
                <a:ea typeface="宋体" panose="02010600030101010101" pitchFamily="2" charset="-122"/>
              </a:rPr>
              <a:t>S=&gt;</a:t>
            </a:r>
            <a:r>
              <a:rPr lang="en-US" altLang="zh-CN" sz="2400"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sz="2400" dirty="0">
                <a:latin typeface="宋体" pitchFamily="2" charset="-122"/>
                <a:ea typeface="宋体" panose="02010600030101010101" pitchFamily="2" charset="-122"/>
              </a:rPr>
              <a:t>,</a:t>
            </a:r>
          </a:p>
          <a:p>
            <a:pPr marL="109728" indent="0">
              <a:buNone/>
            </a:pPr>
            <a:r>
              <a:rPr lang="en-US" altLang="zh-CN" sz="2400" dirty="0">
                <a:latin typeface="宋体" pitchFamily="2" charset="-122"/>
                <a:ea typeface="宋体" panose="02010600030101010101" pitchFamily="2" charset="-122"/>
              </a:rPr>
              <a:t>       </a:t>
            </a:r>
            <a:r>
              <a:rPr lang="zh-CN" altLang="en-US" sz="2400" dirty="0">
                <a:latin typeface="宋体" pitchFamily="2" charset="-122"/>
                <a:ea typeface="宋体" panose="02010600030101010101" pitchFamily="2" charset="-122"/>
              </a:rPr>
              <a:t>则称</a:t>
            </a:r>
            <a:r>
              <a:rPr lang="en-US" altLang="zh-CN" sz="2400" dirty="0">
                <a:latin typeface="宋体" panose="02010600030101010101" pitchFamily="2" charset="-122"/>
                <a:ea typeface="宋体" panose="02010600030101010101" pitchFamily="2" charset="-122"/>
                <a:cs typeface="Times New Roman" panose="02020603050405020304" pitchFamily="18" charset="0"/>
              </a:rPr>
              <a:t>α</a:t>
            </a:r>
            <a:r>
              <a:rPr lang="zh-CN" altLang="en-US" sz="2400" dirty="0">
                <a:latin typeface="宋体" pitchFamily="2" charset="-122"/>
                <a:ea typeface="宋体" panose="02010600030101010101" pitchFamily="2" charset="-122"/>
              </a:rPr>
              <a:t>是文法的一个</a:t>
            </a:r>
            <a:r>
              <a:rPr lang="zh-CN" altLang="en-US" sz="2400" dirty="0">
                <a:solidFill>
                  <a:schemeClr val="accent2"/>
                </a:solidFill>
                <a:latin typeface="宋体" pitchFamily="2" charset="-122"/>
                <a:ea typeface="宋体" panose="02010600030101010101" pitchFamily="2" charset="-122"/>
              </a:rPr>
              <a:t>句型</a:t>
            </a:r>
            <a:r>
              <a:rPr lang="zh-CN" altLang="en-US" sz="2400" dirty="0">
                <a:latin typeface="宋体" pitchFamily="2" charset="-122"/>
                <a:ea typeface="宋体" panose="02010600030101010101" pitchFamily="2" charset="-122"/>
              </a:rPr>
              <a:t>。</a:t>
            </a:r>
          </a:p>
          <a:p>
            <a:pPr>
              <a:buFontTx/>
              <a:buNone/>
            </a:pPr>
            <a:r>
              <a:rPr lang="zh-CN" altLang="en-US" sz="2400" dirty="0">
                <a:latin typeface="宋体" pitchFamily="2" charset="-122"/>
                <a:ea typeface="宋体" panose="02010600030101010101" pitchFamily="2" charset="-122"/>
              </a:rPr>
              <a:t>  </a:t>
            </a:r>
            <a:r>
              <a:rPr lang="zh-CN" altLang="en-US" sz="2400" b="1" dirty="0">
                <a:solidFill>
                  <a:srgbClr val="FF3399"/>
                </a:solidFill>
                <a:latin typeface="宋体" pitchFamily="2" charset="-122"/>
                <a:ea typeface="宋体" panose="02010600030101010101" pitchFamily="2" charset="-122"/>
              </a:rPr>
              <a:t>句子</a:t>
            </a:r>
            <a:r>
              <a:rPr lang="zh-CN" altLang="en-US" sz="2400" dirty="0">
                <a:solidFill>
                  <a:schemeClr val="accent2"/>
                </a:solidFill>
                <a:latin typeface="宋体" pitchFamily="2" charset="-122"/>
                <a:ea typeface="宋体" panose="02010600030101010101" pitchFamily="2" charset="-122"/>
              </a:rPr>
              <a:t>：</a:t>
            </a:r>
            <a:r>
              <a:rPr lang="zh-CN" altLang="en-US" sz="2400" dirty="0">
                <a:latin typeface="宋体" pitchFamily="2" charset="-122"/>
                <a:ea typeface="宋体" panose="02010600030101010101" pitchFamily="2" charset="-122"/>
              </a:rPr>
              <a:t>若</a:t>
            </a:r>
            <a:r>
              <a:rPr lang="en-US" altLang="zh-CN" sz="2400" dirty="0">
                <a:latin typeface="宋体" panose="02010600030101010101" pitchFamily="2" charset="-122"/>
                <a:ea typeface="宋体" panose="02010600030101010101" pitchFamily="2" charset="-122"/>
                <a:cs typeface="Times New Roman" panose="02020603050405020304" pitchFamily="18" charset="0"/>
              </a:rPr>
              <a:t>α</a:t>
            </a:r>
            <a:r>
              <a:rPr lang="zh-CN" altLang="en-US" sz="2400" dirty="0">
                <a:latin typeface="宋体" pitchFamily="2" charset="-122"/>
                <a:ea typeface="宋体" panose="02010600030101010101" pitchFamily="2" charset="-122"/>
              </a:rPr>
              <a:t>仅包括终结符号，称</a:t>
            </a:r>
            <a:r>
              <a:rPr lang="en-US" altLang="zh-CN" sz="2400" dirty="0">
                <a:latin typeface="宋体" panose="02010600030101010101" pitchFamily="2" charset="-122"/>
                <a:ea typeface="宋体" panose="02010600030101010101" pitchFamily="2" charset="-122"/>
                <a:cs typeface="Times New Roman" panose="02020603050405020304" pitchFamily="18" charset="0"/>
              </a:rPr>
              <a:t>α</a:t>
            </a:r>
            <a:r>
              <a:rPr lang="zh-CN" altLang="en-US" sz="2400" dirty="0">
                <a:latin typeface="宋体" pitchFamily="2" charset="-122"/>
                <a:ea typeface="宋体" panose="02010600030101010101" pitchFamily="2" charset="-122"/>
              </a:rPr>
              <a:t>为</a:t>
            </a:r>
            <a:r>
              <a:rPr lang="en-US" altLang="zh-CN" sz="2400" dirty="0">
                <a:latin typeface="宋体" pitchFamily="2" charset="-122"/>
                <a:ea typeface="宋体" panose="02010600030101010101" pitchFamily="2" charset="-122"/>
              </a:rPr>
              <a:t>G[S]</a:t>
            </a:r>
            <a:r>
              <a:rPr lang="zh-CN" altLang="en-US" sz="2400" dirty="0">
                <a:latin typeface="宋体" pitchFamily="2" charset="-122"/>
                <a:ea typeface="宋体" panose="02010600030101010101" pitchFamily="2" charset="-122"/>
              </a:rPr>
              <a:t>的</a:t>
            </a:r>
            <a:r>
              <a:rPr lang="zh-CN" altLang="en-US" sz="2400" dirty="0">
                <a:solidFill>
                  <a:schemeClr val="accent2"/>
                </a:solidFill>
                <a:latin typeface="宋体" pitchFamily="2" charset="-122"/>
                <a:ea typeface="宋体" panose="02010600030101010101" pitchFamily="2" charset="-122"/>
              </a:rPr>
              <a:t>句子</a:t>
            </a:r>
            <a:endParaRPr lang="zh-CN" altLang="en-US" sz="2400" dirty="0">
              <a:latin typeface="宋体" pitchFamily="2" charset="-122"/>
              <a:ea typeface="宋体" panose="02010600030101010101" pitchFamily="2" charset="-122"/>
            </a:endParaRPr>
          </a:p>
        </p:txBody>
      </p:sp>
      <p:sp>
        <p:nvSpPr>
          <p:cNvPr id="17" name="Rectangle 2"/>
          <p:cNvSpPr>
            <a:spLocks noGrp="1" noChangeArrowheads="1"/>
          </p:cNvSpPr>
          <p:nvPr>
            <p:ph type="title"/>
          </p:nvPr>
        </p:nvSpPr>
        <p:spPr>
          <a:xfrm>
            <a:off x="61951" y="17569"/>
            <a:ext cx="3514725" cy="623234"/>
          </a:xfrm>
        </p:spPr>
        <p:txBody>
          <a:bodyPr>
            <a:noAutofit/>
          </a:bodyPr>
          <a:lstStyle/>
          <a:p>
            <a:pPr algn="l">
              <a:lnSpc>
                <a:spcPct val="172000"/>
              </a:lnSpc>
              <a:spcBef>
                <a:spcPts val="800"/>
              </a:spcBef>
              <a:spcAft>
                <a:spcPts val="300"/>
              </a:spcAft>
              <a:defRPr/>
            </a:pPr>
            <a:r>
              <a:rPr lang="zh-CN" altLang="en-US" sz="4300" dirty="0">
                <a:solidFill>
                  <a:srgbClr val="CC0099"/>
                </a:solidFill>
                <a:ea typeface="隶书" pitchFamily="49" charset="-122"/>
              </a:rPr>
              <a:t>句型和句子</a:t>
            </a:r>
            <a:endParaRPr lang="zh-CN" altLang="zh-CN" sz="4300" dirty="0">
              <a:solidFill>
                <a:srgbClr val="CC0099"/>
              </a:solidFill>
              <a:ea typeface="隶书" pitchFamily="49" charset="-122"/>
            </a:endParaRPr>
          </a:p>
        </p:txBody>
      </p:sp>
      <p:sp>
        <p:nvSpPr>
          <p:cNvPr id="6" name="矩形 5"/>
          <p:cNvSpPr/>
          <p:nvPr/>
        </p:nvSpPr>
        <p:spPr>
          <a:xfrm>
            <a:off x="611560" y="4377691"/>
            <a:ext cx="8413247" cy="800219"/>
          </a:xfrm>
          <a:prstGeom prst="rect">
            <a:avLst/>
          </a:prstGeom>
          <a:solidFill>
            <a:schemeClr val="bg1"/>
          </a:solidFill>
        </p:spPr>
        <p:txBody>
          <a:bodyPr wrap="square">
            <a:spAutoFit/>
          </a:bodyPr>
          <a:lstStyle/>
          <a:p>
            <a:pPr>
              <a:spcBef>
                <a:spcPct val="0"/>
              </a:spcBef>
            </a:pPr>
            <a:r>
              <a:rPr lang="en-US" altLang="zh-CN" sz="2200" dirty="0">
                <a:solidFill>
                  <a:srgbClr val="000000"/>
                </a:solidFill>
                <a:ea typeface="华文行楷" pitchFamily="2" charset="-122"/>
                <a:sym typeface="Symbol" pitchFamily="18" charset="2"/>
              </a:rPr>
              <a:t>E </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E*E</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(E)*E</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(E+E)*E</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a:t>
            </a:r>
            <a:r>
              <a:rPr lang="en-US" altLang="zh-CN" sz="2200" dirty="0" err="1">
                <a:solidFill>
                  <a:srgbClr val="000000"/>
                </a:solidFill>
                <a:ea typeface="华文行楷" pitchFamily="2" charset="-122"/>
                <a:sym typeface="Symbol" pitchFamily="18" charset="2"/>
              </a:rPr>
              <a:t>i+E</a:t>
            </a:r>
            <a:r>
              <a:rPr lang="en-US" altLang="zh-CN" sz="2200" dirty="0">
                <a:solidFill>
                  <a:srgbClr val="000000"/>
                </a:solidFill>
                <a:ea typeface="华文行楷" pitchFamily="2" charset="-122"/>
                <a:sym typeface="Symbol" pitchFamily="18" charset="2"/>
              </a:rPr>
              <a:t>)*E </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a:t>
            </a:r>
            <a:r>
              <a:rPr lang="en-US" altLang="zh-CN" sz="2200" dirty="0" err="1">
                <a:solidFill>
                  <a:srgbClr val="000000"/>
                </a:solidFill>
                <a:ea typeface="华文行楷" pitchFamily="2" charset="-122"/>
                <a:sym typeface="Symbol" pitchFamily="18" charset="2"/>
              </a:rPr>
              <a:t>i+i</a:t>
            </a:r>
            <a:r>
              <a:rPr lang="en-US" altLang="zh-CN" sz="2200" dirty="0">
                <a:solidFill>
                  <a:srgbClr val="000000"/>
                </a:solidFill>
                <a:ea typeface="华文行楷" pitchFamily="2" charset="-122"/>
                <a:sym typeface="Symbol" pitchFamily="18" charset="2"/>
              </a:rPr>
              <a:t>)*E</a:t>
            </a:r>
            <a:r>
              <a:rPr lang="zh-CN" altLang="en-US" sz="2200" dirty="0">
                <a:solidFill>
                  <a:srgbClr val="000000"/>
                </a:solidFill>
                <a:ea typeface="华文行楷" pitchFamily="2" charset="-122"/>
                <a:sym typeface="Symbol" pitchFamily="18" charset="2"/>
              </a:rPr>
              <a:t>、</a:t>
            </a:r>
            <a:r>
              <a:rPr lang="en-US" altLang="zh-CN" sz="2200" dirty="0">
                <a:solidFill>
                  <a:srgbClr val="000000"/>
                </a:solidFill>
                <a:ea typeface="华文行楷" pitchFamily="2" charset="-122"/>
                <a:sym typeface="Symbol" pitchFamily="18" charset="2"/>
              </a:rPr>
              <a:t>(</a:t>
            </a:r>
            <a:r>
              <a:rPr lang="en-US" altLang="zh-CN" sz="2200" dirty="0" err="1">
                <a:solidFill>
                  <a:srgbClr val="000000"/>
                </a:solidFill>
                <a:ea typeface="华文行楷" pitchFamily="2" charset="-122"/>
                <a:sym typeface="Symbol" pitchFamily="18" charset="2"/>
              </a:rPr>
              <a:t>i+i</a:t>
            </a:r>
            <a:r>
              <a:rPr lang="en-US" altLang="zh-CN" sz="2200" dirty="0">
                <a:solidFill>
                  <a:srgbClr val="000000"/>
                </a:solidFill>
                <a:ea typeface="华文行楷" pitchFamily="2" charset="-122"/>
                <a:sym typeface="Symbol" pitchFamily="18" charset="2"/>
              </a:rPr>
              <a:t>)*</a:t>
            </a:r>
            <a:r>
              <a:rPr lang="en-US" altLang="zh-CN" sz="2200" dirty="0" err="1">
                <a:solidFill>
                  <a:srgbClr val="000000"/>
                </a:solidFill>
                <a:ea typeface="华文行楷" pitchFamily="2" charset="-122"/>
                <a:sym typeface="Symbol" pitchFamily="18" charset="2"/>
              </a:rPr>
              <a:t>i</a:t>
            </a:r>
            <a:r>
              <a:rPr lang="zh-CN" altLang="en-US" sz="2200" dirty="0">
                <a:solidFill>
                  <a:srgbClr val="000000"/>
                </a:solidFill>
                <a:ea typeface="华文行楷" pitchFamily="2" charset="-122"/>
                <a:sym typeface="Symbol" pitchFamily="18" charset="2"/>
              </a:rPr>
              <a:t>都是</a:t>
            </a:r>
            <a:r>
              <a:rPr lang="zh-CN" altLang="en-US" sz="2200" b="1" dirty="0">
                <a:solidFill>
                  <a:srgbClr val="FF0000"/>
                </a:solidFill>
                <a:ea typeface="华文行楷" pitchFamily="2" charset="-122"/>
                <a:sym typeface="Symbol" pitchFamily="18" charset="2"/>
              </a:rPr>
              <a:t>句型</a:t>
            </a:r>
            <a:r>
              <a:rPr lang="zh-CN" altLang="en-US" sz="2200" dirty="0">
                <a:solidFill>
                  <a:srgbClr val="000000"/>
                </a:solidFill>
                <a:ea typeface="华文行楷" pitchFamily="2" charset="-122"/>
                <a:sym typeface="Symbol" pitchFamily="18" charset="2"/>
              </a:rPr>
              <a:t>，只有 </a:t>
            </a:r>
            <a:r>
              <a:rPr lang="en-US" altLang="zh-CN" sz="2400" b="1" dirty="0">
                <a:solidFill>
                  <a:srgbClr val="FF0000"/>
                </a:solidFill>
                <a:ea typeface="华文行楷" pitchFamily="2" charset="-122"/>
                <a:sym typeface="Symbol" pitchFamily="18" charset="2"/>
              </a:rPr>
              <a:t>(</a:t>
            </a:r>
            <a:r>
              <a:rPr lang="en-US" altLang="zh-CN" sz="2400" b="1" dirty="0" err="1">
                <a:solidFill>
                  <a:srgbClr val="FF0000"/>
                </a:solidFill>
                <a:ea typeface="华文行楷" pitchFamily="2" charset="-122"/>
                <a:sym typeface="Symbol" pitchFamily="18" charset="2"/>
              </a:rPr>
              <a:t>i+i</a:t>
            </a:r>
            <a:r>
              <a:rPr lang="en-US" altLang="zh-CN" sz="2400" b="1" dirty="0">
                <a:solidFill>
                  <a:srgbClr val="FF0000"/>
                </a:solidFill>
                <a:ea typeface="华文行楷" pitchFamily="2" charset="-122"/>
                <a:sym typeface="Symbol" pitchFamily="18" charset="2"/>
              </a:rPr>
              <a:t>)*</a:t>
            </a:r>
            <a:r>
              <a:rPr lang="en-US" altLang="zh-CN" sz="2400" b="1" dirty="0" err="1">
                <a:solidFill>
                  <a:srgbClr val="FF0000"/>
                </a:solidFill>
                <a:ea typeface="华文行楷" pitchFamily="2" charset="-122"/>
                <a:sym typeface="Symbol" pitchFamily="18" charset="2"/>
              </a:rPr>
              <a:t>i</a:t>
            </a:r>
            <a:r>
              <a:rPr lang="en-US" altLang="zh-CN" sz="2200" dirty="0">
                <a:solidFill>
                  <a:srgbClr val="000000"/>
                </a:solidFill>
                <a:ea typeface="华文行楷" pitchFamily="2" charset="-122"/>
                <a:sym typeface="Symbol" pitchFamily="18" charset="2"/>
              </a:rPr>
              <a:t> </a:t>
            </a:r>
            <a:r>
              <a:rPr lang="zh-CN" altLang="en-US" sz="2200" dirty="0">
                <a:solidFill>
                  <a:srgbClr val="000000"/>
                </a:solidFill>
                <a:ea typeface="华文行楷" pitchFamily="2" charset="-122"/>
                <a:sym typeface="Symbol" pitchFamily="18" charset="2"/>
              </a:rPr>
              <a:t>是</a:t>
            </a:r>
            <a:r>
              <a:rPr lang="zh-CN" altLang="en-US" sz="2200" b="1" dirty="0">
                <a:solidFill>
                  <a:srgbClr val="FF0000"/>
                </a:solidFill>
                <a:ea typeface="华文行楷" pitchFamily="2" charset="-122"/>
                <a:sym typeface="Symbol" pitchFamily="18" charset="2"/>
              </a:rPr>
              <a:t>句子</a:t>
            </a:r>
            <a:endParaRPr lang="en-US" altLang="zh-CN" sz="2200" b="1" dirty="0">
              <a:solidFill>
                <a:srgbClr val="FF0000"/>
              </a:solidFill>
              <a:ea typeface="华文行楷" pitchFamily="2" charset="-122"/>
              <a:sym typeface="Symbol" pitchFamily="18" charset="2"/>
            </a:endParaRPr>
          </a:p>
        </p:txBody>
      </p:sp>
      <p:grpSp>
        <p:nvGrpSpPr>
          <p:cNvPr id="4" name="组合 3"/>
          <p:cNvGrpSpPr/>
          <p:nvPr/>
        </p:nvGrpSpPr>
        <p:grpSpPr>
          <a:xfrm>
            <a:off x="3635896" y="2787774"/>
            <a:ext cx="889987" cy="626373"/>
            <a:chOff x="5135064" y="4948014"/>
            <a:chExt cx="889987" cy="626373"/>
          </a:xfrm>
        </p:grpSpPr>
        <p:sp>
          <p:nvSpPr>
            <p:cNvPr id="3" name="矩形 2"/>
            <p:cNvSpPr/>
            <p:nvPr/>
          </p:nvSpPr>
          <p:spPr>
            <a:xfrm>
              <a:off x="5135064" y="5143500"/>
              <a:ext cx="889987" cy="430887"/>
            </a:xfrm>
            <a:prstGeom prst="rect">
              <a:avLst/>
            </a:prstGeom>
            <a:solidFill>
              <a:schemeClr val="bg1"/>
            </a:solidFill>
          </p:spPr>
          <p:txBody>
            <a:bodyPr wrap="none">
              <a:spAutoFit/>
            </a:bodyPr>
            <a:lstStyle/>
            <a:p>
              <a:r>
                <a:rPr lang="en-US" altLang="zh-CN" sz="2200" dirty="0">
                  <a:latin typeface="宋体" pitchFamily="2" charset="-122"/>
                  <a:ea typeface="宋体" panose="02010600030101010101" pitchFamily="2" charset="-122"/>
                </a:rPr>
                <a:t>S=&gt;</a:t>
              </a:r>
              <a:r>
                <a:rPr lang="en-US" altLang="zh-CN" sz="2200" dirty="0">
                  <a:latin typeface="宋体" panose="02010600030101010101" pitchFamily="2" charset="-122"/>
                  <a:ea typeface="宋体" panose="02010600030101010101" pitchFamily="2" charset="-122"/>
                  <a:cs typeface="Times New Roman" panose="02020603050405020304" pitchFamily="18" charset="0"/>
                </a:rPr>
                <a:t>α</a:t>
              </a:r>
              <a:endParaRPr lang="zh-CN" altLang="en-US" sz="2200" dirty="0">
                <a:latin typeface="宋体" panose="02010600030101010101" pitchFamily="2" charset="-122"/>
                <a:ea typeface="宋体" panose="02010600030101010101" pitchFamily="2" charset="-122"/>
              </a:endParaRPr>
            </a:p>
          </p:txBody>
        </p:sp>
        <p:sp>
          <p:nvSpPr>
            <p:cNvPr id="18" name="矩形 17"/>
            <p:cNvSpPr/>
            <p:nvPr/>
          </p:nvSpPr>
          <p:spPr>
            <a:xfrm>
              <a:off x="5292080" y="4948014"/>
              <a:ext cx="325730" cy="430887"/>
            </a:xfrm>
            <a:prstGeom prst="rect">
              <a:avLst/>
            </a:prstGeom>
          </p:spPr>
          <p:txBody>
            <a:bodyPr wrap="none">
              <a:spAutoFit/>
            </a:bodyPr>
            <a:lstStyle/>
            <a:p>
              <a:r>
                <a:rPr lang="zh-CN" altLang="en-US" sz="2200" dirty="0">
                  <a:latin typeface="宋体" panose="02010600030101010101" pitchFamily="2" charset="-122"/>
                  <a:ea typeface="宋体" panose="02010600030101010101" pitchFamily="2" charset="-122"/>
                </a:rPr>
                <a:t>*</a:t>
              </a:r>
            </a:p>
          </p:txBody>
        </p:sp>
      </p:grpSp>
    </p:spTree>
    <p:extLst>
      <p:ext uri="{BB962C8B-B14F-4D97-AF65-F5344CB8AC3E}">
        <p14:creationId xmlns:p14="http://schemas.microsoft.com/office/powerpoint/2010/main" val="17734284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8" presetClass="entr" presetSubtype="16" fill="hold" grpId="0" nodeType="clickEffect">
                                  <p:stCondLst>
                                    <p:cond delay="0"/>
                                  </p:stCondLst>
                                  <p:childTnLst>
                                    <p:set>
                                      <p:cBhvr>
                                        <p:cTn id="10" dur="1" fill="hold">
                                          <p:stCondLst>
                                            <p:cond delay="0"/>
                                          </p:stCondLst>
                                        </p:cTn>
                                        <p:tgtEl>
                                          <p:spTgt spid="27652"/>
                                        </p:tgtEl>
                                        <p:attrNameLst>
                                          <p:attrName>style.visibility</p:attrName>
                                        </p:attrNameLst>
                                      </p:cBhvr>
                                      <p:to>
                                        <p:strVal val="visible"/>
                                      </p:to>
                                    </p:set>
                                    <p:animEffect transition="in" filter="diamond(in)">
                                      <p:cBhvr>
                                        <p:cTn id="11" dur="1000"/>
                                        <p:tgtEl>
                                          <p:spTgt spid="27652"/>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4" presetClass="entr" presetSubtype="16" fill="hold" grpId="0" nodeType="clickEffect">
                                  <p:stCondLst>
                                    <p:cond delay="0"/>
                                  </p:stCondLst>
                                  <p:childTnLst>
                                    <p:set>
                                      <p:cBhvr>
                                        <p:cTn id="19" dur="1" fill="hold">
                                          <p:stCondLst>
                                            <p:cond delay="0"/>
                                          </p:stCondLst>
                                        </p:cTn>
                                        <p:tgtEl>
                                          <p:spTgt spid="16">
                                            <p:bg/>
                                          </p:spTgt>
                                        </p:tgtEl>
                                        <p:attrNameLst>
                                          <p:attrName>style.visibility</p:attrName>
                                        </p:attrNameLst>
                                      </p:cBhvr>
                                      <p:to>
                                        <p:strVal val="visible"/>
                                      </p:to>
                                    </p:set>
                                    <p:animEffect transition="in" filter="box(in)">
                                      <p:cBhvr>
                                        <p:cTn id="20" dur="500"/>
                                        <p:tgtEl>
                                          <p:spTgt spid="16">
                                            <p:bg/>
                                          </p:spTgt>
                                        </p:tgtEl>
                                      </p:cBhvr>
                                    </p:animEffect>
                                  </p:childTnLst>
                                </p:cTn>
                              </p:par>
                            </p:childTnLst>
                          </p:cTn>
                        </p:par>
                        <p:par>
                          <p:cTn id="21" fill="hold">
                            <p:stCondLst>
                              <p:cond delay="500"/>
                            </p:stCondLst>
                            <p:childTnLst>
                              <p:par>
                                <p:cTn id="22" presetID="1" presetClass="entr" presetSubtype="0" fill="hold" grpId="1" nodeType="afterEffect">
                                  <p:stCondLst>
                                    <p:cond delay="0"/>
                                  </p:stCondLst>
                                  <p:childTnLst>
                                    <p:set>
                                      <p:cBhvr>
                                        <p:cTn id="23"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1" nodeType="clickEffect">
                                  <p:stCondLst>
                                    <p:cond delay="0"/>
                                  </p:stCondLst>
                                  <p:childTnLst>
                                    <p:set>
                                      <p:cBhvr>
                                        <p:cTn id="27" dur="1" fill="hold">
                                          <p:stCondLst>
                                            <p:cond delay="0"/>
                                          </p:stCondLst>
                                        </p:cTn>
                                        <p:tgtEl>
                                          <p:spTgt spid="16">
                                            <p:txEl>
                                              <p:pRg st="1" end="1"/>
                                            </p:txEl>
                                          </p:spTgt>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1" nodeType="afterEffect">
                                  <p:stCondLst>
                                    <p:cond delay="0"/>
                                  </p:stCondLst>
                                  <p:childTnLst>
                                    <p:set>
                                      <p:cBhvr>
                                        <p:cTn id="30" dur="1" fill="hold">
                                          <p:stCondLst>
                                            <p:cond delay="0"/>
                                          </p:stCondLst>
                                        </p:cTn>
                                        <p:tgtEl>
                                          <p:spTgt spid="16">
                                            <p:txEl>
                                              <p:pRg st="2" end="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1" nodeType="clickEffect">
                                  <p:stCondLst>
                                    <p:cond delay="0"/>
                                  </p:stCondLst>
                                  <p:childTnLst>
                                    <p:set>
                                      <p:cBhvr>
                                        <p:cTn id="36" dur="1" fill="hold">
                                          <p:stCondLst>
                                            <p:cond delay="0"/>
                                          </p:stCondLst>
                                        </p:cTn>
                                        <p:tgtEl>
                                          <p:spTgt spid="16">
                                            <p:txEl>
                                              <p:pRg st="3" end="3"/>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2" grpId="0" animBg="1"/>
      <p:bldP spid="15" grpId="0"/>
      <p:bldP spid="16" grpId="0" build="p" animBg="1"/>
      <p:bldP spid="16" grpId="1" uiExpand="1" build="allAtOnce"/>
      <p:bldP spid="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3"/>
          <p:cNvSpPr>
            <a:spLocks noGrp="1" noChangeArrowheads="1"/>
          </p:cNvSpPr>
          <p:nvPr>
            <p:ph type="body" sz="half" idx="1"/>
          </p:nvPr>
        </p:nvSpPr>
        <p:spPr>
          <a:xfrm>
            <a:off x="107504" y="959345"/>
            <a:ext cx="4984657" cy="886755"/>
          </a:xfrm>
        </p:spPr>
        <p:txBody>
          <a:bodyPr>
            <a:normAutofit fontScale="92500"/>
          </a:bodyPr>
          <a:lstStyle/>
          <a:p>
            <a:pPr marL="109728" indent="0" eaLnBrk="1" hangingPunct="1">
              <a:lnSpc>
                <a:spcPct val="120000"/>
              </a:lnSpc>
              <a:spcBef>
                <a:spcPts val="0"/>
              </a:spcBef>
              <a:buNone/>
            </a:pPr>
            <a:r>
              <a:rPr lang="zh-CN" altLang="en-US" sz="2400" dirty="0">
                <a:solidFill>
                  <a:srgbClr val="000000"/>
                </a:solidFill>
                <a:sym typeface="Symbol" pitchFamily="18" charset="2"/>
              </a:rPr>
              <a:t>例</a:t>
            </a:r>
            <a:r>
              <a:rPr lang="en-US" altLang="zh-CN" sz="2400" dirty="0">
                <a:solidFill>
                  <a:srgbClr val="000000"/>
                </a:solidFill>
                <a:sym typeface="Symbol" pitchFamily="18" charset="2"/>
              </a:rPr>
              <a:t>3 : G = ({E}</a:t>
            </a:r>
            <a:r>
              <a:rPr lang="en-GB" altLang="zh-CN" sz="2400" dirty="0">
                <a:solidFill>
                  <a:srgbClr val="000000"/>
                </a:solidFill>
                <a:sym typeface="Symbol" pitchFamily="18" charset="2"/>
              </a:rPr>
              <a:t>, </a:t>
            </a:r>
            <a:r>
              <a:rPr lang="en-US" altLang="zh-CN" sz="2400" dirty="0">
                <a:solidFill>
                  <a:srgbClr val="000000"/>
                </a:solidFill>
                <a:sym typeface="Symbol" pitchFamily="18" charset="2"/>
              </a:rPr>
              <a:t>{</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 (, ) } , P , E) </a:t>
            </a:r>
            <a:br>
              <a:rPr lang="en-US" altLang="zh-CN" sz="2400" dirty="0">
                <a:solidFill>
                  <a:srgbClr val="000000"/>
                </a:solidFill>
                <a:sym typeface="Symbol" pitchFamily="18" charset="2"/>
              </a:rPr>
            </a:br>
            <a:r>
              <a:rPr lang="en-US" altLang="zh-CN" sz="2400" dirty="0">
                <a:solidFill>
                  <a:srgbClr val="000000"/>
                </a:solidFill>
                <a:sym typeface="Symbol" pitchFamily="18" charset="2"/>
              </a:rPr>
              <a:t>         P</a:t>
            </a:r>
            <a:r>
              <a:rPr lang="zh-CN" altLang="en-US" sz="2400" dirty="0">
                <a:solidFill>
                  <a:srgbClr val="000000"/>
                </a:solidFill>
                <a:sym typeface="Symbol" pitchFamily="18" charset="2"/>
              </a:rPr>
              <a:t>： </a:t>
            </a:r>
            <a:r>
              <a:rPr lang="en-US" altLang="zh-CN" sz="2400" dirty="0">
                <a:solidFill>
                  <a:srgbClr val="000000"/>
                </a:solidFill>
                <a:sym typeface="Symbol" pitchFamily="18" charset="2"/>
              </a:rPr>
              <a:t>E  E+E | E*E  | (E) | </a:t>
            </a:r>
            <a:r>
              <a:rPr lang="en-US" altLang="zh-CN" sz="2400" dirty="0" err="1">
                <a:solidFill>
                  <a:srgbClr val="000000"/>
                </a:solidFill>
                <a:sym typeface="Symbol" pitchFamily="18" charset="2"/>
              </a:rPr>
              <a:t>i</a:t>
            </a:r>
            <a:endParaRPr lang="zh-CN" altLang="en-US" sz="2400" dirty="0">
              <a:solidFill>
                <a:srgbClr val="008080"/>
              </a:solidFill>
            </a:endParaRPr>
          </a:p>
        </p:txBody>
      </p:sp>
      <p:sp>
        <p:nvSpPr>
          <p:cNvPr id="27652" name="Rectangle 4"/>
          <p:cNvSpPr>
            <a:spLocks noChangeArrowheads="1"/>
          </p:cNvSpPr>
          <p:nvPr/>
        </p:nvSpPr>
        <p:spPr bwMode="auto">
          <a:xfrm>
            <a:off x="829095" y="2351658"/>
            <a:ext cx="2390857" cy="2308324"/>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00"/>
                </a:solidFill>
                <a:ea typeface="华文行楷" pitchFamily="2" charset="-122"/>
                <a:sym typeface="Symbol" pitchFamily="18" charset="2"/>
              </a:rPr>
              <a:t>E  E*E </a:t>
            </a:r>
          </a:p>
          <a:p>
            <a:pPr eaLnBrk="1" hangingPunct="1">
              <a:spcBef>
                <a:spcPct val="0"/>
              </a:spcBef>
              <a:buFontTx/>
              <a:buNone/>
            </a:pPr>
            <a:r>
              <a:rPr lang="en-US" altLang="zh-CN" sz="2400" dirty="0">
                <a:solidFill>
                  <a:srgbClr val="000000"/>
                </a:solidFill>
                <a:ea typeface="华文行楷" pitchFamily="2" charset="-122"/>
                <a:sym typeface="Symbol" pitchFamily="18" charset="2"/>
              </a:rPr>
              <a:t>    (E)*E</a:t>
            </a:r>
          </a:p>
          <a:p>
            <a:pPr eaLnBrk="1" hangingPunct="1">
              <a:spcBef>
                <a:spcPct val="0"/>
              </a:spcBef>
              <a:buFontTx/>
              <a:buNone/>
            </a:pPr>
            <a:r>
              <a:rPr lang="en-US" altLang="zh-CN" sz="2400" dirty="0">
                <a:solidFill>
                  <a:srgbClr val="000000"/>
                </a:solidFill>
                <a:ea typeface="华文行楷" pitchFamily="2" charset="-122"/>
                <a:sym typeface="Symbol" pitchFamily="18" charset="2"/>
              </a:rPr>
              <a:t>    (E+E)*E </a:t>
            </a:r>
          </a:p>
          <a:p>
            <a:pPr eaLnBrk="1" hangingPunct="1">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i+E</a:t>
            </a:r>
            <a:r>
              <a:rPr lang="en-US" altLang="zh-CN" sz="2400" dirty="0">
                <a:solidFill>
                  <a:srgbClr val="000000"/>
                </a:solidFill>
                <a:ea typeface="华文行楷" pitchFamily="2" charset="-122"/>
                <a:sym typeface="Symbol" pitchFamily="18" charset="2"/>
              </a:rPr>
              <a:t>)*E </a:t>
            </a:r>
          </a:p>
          <a:p>
            <a:pPr eaLnBrk="1" hangingPunct="1">
              <a:spcBef>
                <a:spcPct val="0"/>
              </a:spcBef>
              <a:buFontTx/>
              <a:buNone/>
            </a:pPr>
            <a:r>
              <a:rPr lang="en-US" altLang="zh-CN" sz="2400" dirty="0">
                <a:solidFill>
                  <a:srgbClr val="000000"/>
                </a:solidFill>
                <a:ea typeface="华文行楷" pitchFamily="2" charset="-122"/>
                <a:sym typeface="Symbol" pitchFamily="18" charset="2"/>
              </a:rPr>
              <a:t>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)*E </a:t>
            </a:r>
          </a:p>
          <a:p>
            <a:pPr eaLnBrk="1" hangingPunct="1">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endParaRPr lang="en-US" altLang="zh-CN" sz="2400" dirty="0">
              <a:solidFill>
                <a:srgbClr val="000000"/>
              </a:solidFill>
              <a:ea typeface="华文行楷" pitchFamily="2" charset="-122"/>
              <a:sym typeface="Symbol" pitchFamily="18" charset="2"/>
            </a:endParaRPr>
          </a:p>
        </p:txBody>
      </p:sp>
      <p:sp>
        <p:nvSpPr>
          <p:cNvPr id="4" name="矩形 3"/>
          <p:cNvSpPr/>
          <p:nvPr/>
        </p:nvSpPr>
        <p:spPr>
          <a:xfrm>
            <a:off x="3677517" y="2299701"/>
            <a:ext cx="4870248" cy="1569660"/>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zh-CN" altLang="zh-CN" sz="2400" dirty="0">
                <a:latin typeface="宋体" panose="02010600030101010101" pitchFamily="2" charset="-122"/>
                <a:ea typeface="宋体" panose="02010600030101010101" pitchFamily="2" charset="-122"/>
              </a:rPr>
              <a:t>推导的每一步都有</a:t>
            </a:r>
            <a:r>
              <a:rPr lang="zh-CN" altLang="zh-CN" sz="2400" dirty="0">
                <a:solidFill>
                  <a:srgbClr val="FF0000"/>
                </a:solidFill>
                <a:latin typeface="宋体" panose="02010600030101010101" pitchFamily="2" charset="-122"/>
                <a:ea typeface="宋体" panose="02010600030101010101" pitchFamily="2" charset="-122"/>
              </a:rPr>
              <a:t>两个选择</a:t>
            </a:r>
            <a:r>
              <a:rPr lang="zh-CN" altLang="en-US" sz="2400" dirty="0">
                <a:latin typeface="宋体" panose="02010600030101010101" pitchFamily="2" charset="-122"/>
                <a:ea typeface="宋体" panose="02010600030101010101" pitchFamily="2" charset="-122"/>
              </a:rPr>
              <a:t>：</a:t>
            </a:r>
            <a:endParaRPr lang="en-US" altLang="zh-CN" sz="2400" dirty="0">
              <a:latin typeface="宋体" panose="02010600030101010101" pitchFamily="2" charset="-122"/>
              <a:ea typeface="宋体" panose="02010600030101010101" pitchFamily="2" charset="-122"/>
            </a:endParaRPr>
          </a:p>
          <a:p>
            <a:endParaRPr lang="en-US" altLang="zh-CN" sz="2400" dirty="0">
              <a:latin typeface="宋体" panose="02010600030101010101" pitchFamily="2" charset="-122"/>
              <a:ea typeface="宋体" panose="02010600030101010101" pitchFamily="2" charset="-122"/>
            </a:endParaRPr>
          </a:p>
          <a:p>
            <a:pPr marL="285750" indent="-285750">
              <a:buFont typeface="Arial" panose="020B0604020202020204" pitchFamily="34" charset="0"/>
              <a:buChar char="•"/>
            </a:pPr>
            <a:endParaRPr lang="en-US" altLang="zh-CN" sz="2400" dirty="0">
              <a:latin typeface="宋体" panose="02010600030101010101" pitchFamily="2" charset="-122"/>
              <a:ea typeface="宋体" panose="02010600030101010101" pitchFamily="2" charset="-122"/>
            </a:endParaRPr>
          </a:p>
          <a:p>
            <a:pPr marL="285750" indent="-285750">
              <a:buFont typeface="Arial" panose="020B0604020202020204" pitchFamily="34" charset="0"/>
              <a:buChar char="•"/>
            </a:pPr>
            <a:endParaRPr lang="en-US" altLang="zh-CN" sz="2400" dirty="0">
              <a:latin typeface="宋体" panose="02010600030101010101" pitchFamily="2" charset="-122"/>
              <a:ea typeface="宋体" panose="02010600030101010101" pitchFamily="2" charset="-122"/>
            </a:endParaRPr>
          </a:p>
        </p:txBody>
      </p:sp>
      <p:sp>
        <p:nvSpPr>
          <p:cNvPr id="5" name="矩形 4"/>
          <p:cNvSpPr/>
          <p:nvPr/>
        </p:nvSpPr>
        <p:spPr>
          <a:xfrm>
            <a:off x="1425084" y="3148975"/>
            <a:ext cx="1274708" cy="430887"/>
          </a:xfrm>
          <a:prstGeom prst="rect">
            <a:avLst/>
          </a:prstGeom>
          <a:solidFill>
            <a:schemeClr val="bg1"/>
          </a:solidFill>
        </p:spPr>
        <p:txBody>
          <a:bodyPr wrap="none">
            <a:spAutoFit/>
          </a:bodyPr>
          <a:lstStyle/>
          <a:p>
            <a:r>
              <a:rPr lang="en-US" altLang="zh-CN" sz="2200" dirty="0">
                <a:solidFill>
                  <a:srgbClr val="FF0000"/>
                </a:solidFill>
                <a:ea typeface="华文行楷" pitchFamily="2" charset="-122"/>
                <a:sym typeface="Symbol" pitchFamily="18" charset="2"/>
              </a:rPr>
              <a:t>(E+E)*E </a:t>
            </a:r>
            <a:endParaRPr lang="zh-CN" altLang="en-US" sz="2200" dirty="0">
              <a:solidFill>
                <a:srgbClr val="FF0000"/>
              </a:solidFill>
            </a:endParaRPr>
          </a:p>
        </p:txBody>
      </p:sp>
      <p:sp>
        <p:nvSpPr>
          <p:cNvPr id="15" name="Rectangle 3"/>
          <p:cNvSpPr txBox="1">
            <a:spLocks noChangeArrowheads="1"/>
          </p:cNvSpPr>
          <p:nvPr/>
        </p:nvSpPr>
        <p:spPr>
          <a:xfrm>
            <a:off x="324078" y="1645888"/>
            <a:ext cx="3327923" cy="581805"/>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20000"/>
              </a:lnSpc>
              <a:spcBef>
                <a:spcPts val="0"/>
              </a:spcBef>
              <a:buFont typeface="Wingdings 3"/>
              <a:buNone/>
            </a:pPr>
            <a:r>
              <a:rPr lang="zh-CN" altLang="en-US" sz="2200" dirty="0">
                <a:solidFill>
                  <a:srgbClr val="008080"/>
                </a:solidFill>
              </a:rPr>
              <a:t>表达式</a:t>
            </a:r>
            <a:r>
              <a:rPr lang="en-US" altLang="zh-CN" sz="2200" dirty="0">
                <a:solidFill>
                  <a:srgbClr val="008080"/>
                </a:solidFill>
              </a:rPr>
              <a:t> </a:t>
            </a:r>
            <a:r>
              <a:rPr lang="zh-CN" altLang="zh-CN" sz="2200" dirty="0">
                <a:solidFill>
                  <a:srgbClr val="008080"/>
                </a:solidFill>
              </a:rPr>
              <a:t>(</a:t>
            </a:r>
            <a:r>
              <a:rPr lang="en-US" altLang="zh-CN" sz="2200" dirty="0" err="1">
                <a:solidFill>
                  <a:srgbClr val="008080"/>
                </a:solidFill>
              </a:rPr>
              <a:t>i+i</a:t>
            </a:r>
            <a:r>
              <a:rPr lang="en-US" altLang="zh-CN" sz="2200" dirty="0">
                <a:solidFill>
                  <a:srgbClr val="008080"/>
                </a:solidFill>
              </a:rPr>
              <a:t>)*</a:t>
            </a:r>
            <a:r>
              <a:rPr lang="en-US" altLang="zh-CN" sz="2200" dirty="0" err="1">
                <a:solidFill>
                  <a:srgbClr val="008080"/>
                </a:solidFill>
              </a:rPr>
              <a:t>i</a:t>
            </a:r>
            <a:r>
              <a:rPr lang="zh-CN" altLang="zh-CN" sz="2200" dirty="0">
                <a:solidFill>
                  <a:srgbClr val="008080"/>
                </a:solidFill>
              </a:rPr>
              <a:t>的推导：</a:t>
            </a:r>
            <a:endParaRPr lang="zh-CN" altLang="en-US" sz="2200" dirty="0">
              <a:solidFill>
                <a:srgbClr val="008080"/>
              </a:solidFill>
            </a:endParaRPr>
          </a:p>
        </p:txBody>
      </p:sp>
      <p:sp>
        <p:nvSpPr>
          <p:cNvPr id="13" name="Rectangle 2"/>
          <p:cNvSpPr>
            <a:spLocks noGrp="1" noChangeArrowheads="1"/>
          </p:cNvSpPr>
          <p:nvPr>
            <p:ph type="title"/>
          </p:nvPr>
        </p:nvSpPr>
        <p:spPr>
          <a:xfrm>
            <a:off x="318165" y="195486"/>
            <a:ext cx="8229600" cy="637183"/>
          </a:xfrm>
        </p:spPr>
        <p:txBody>
          <a:bodyPr>
            <a:noAutofit/>
          </a:bodyPr>
          <a:lstStyle/>
          <a:p>
            <a:pPr algn="l">
              <a:lnSpc>
                <a:spcPct val="172000"/>
              </a:lnSpc>
              <a:spcBef>
                <a:spcPts val="800"/>
              </a:spcBef>
              <a:spcAft>
                <a:spcPts val="300"/>
              </a:spcAft>
              <a:defRPr/>
            </a:pPr>
            <a:r>
              <a:rPr lang="zh-CN" altLang="en-US" sz="4300" dirty="0">
                <a:solidFill>
                  <a:srgbClr val="CC0099"/>
                </a:solidFill>
                <a:ea typeface="隶书" pitchFamily="49" charset="-122"/>
              </a:rPr>
              <a:t>推导中的问题</a:t>
            </a:r>
            <a:endParaRPr lang="zh-CN" altLang="zh-CN" sz="4300" dirty="0">
              <a:solidFill>
                <a:srgbClr val="CC0099"/>
              </a:solidFill>
              <a:ea typeface="隶书" pitchFamily="49" charset="-122"/>
            </a:endParaRPr>
          </a:p>
        </p:txBody>
      </p:sp>
      <p:cxnSp>
        <p:nvCxnSpPr>
          <p:cNvPr id="6" name="直接连接符 5"/>
          <p:cNvCxnSpPr/>
          <p:nvPr/>
        </p:nvCxnSpPr>
        <p:spPr>
          <a:xfrm>
            <a:off x="2267744" y="1707654"/>
            <a:ext cx="22322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3666257" y="3147814"/>
            <a:ext cx="4895764" cy="830997"/>
          </a:xfrm>
          <a:prstGeom prst="rect">
            <a:avLst/>
          </a:prstGeom>
        </p:spPr>
        <p:txBody>
          <a:bodyPr wrap="square">
            <a:spAutoFit/>
          </a:bodyPr>
          <a:lstStyle/>
          <a:p>
            <a:pPr marL="285750" lvl="0" indent="-285750">
              <a:buFont typeface="Arial" panose="020B0604020202020204" pitchFamily="34" charset="0"/>
              <a:buChar char="•"/>
            </a:pPr>
            <a:r>
              <a:rPr lang="zh-CN" altLang="zh-CN" sz="2400" dirty="0">
                <a:solidFill>
                  <a:prstClr val="black"/>
                </a:solidFill>
                <a:latin typeface="宋体" panose="02010600030101010101" pitchFamily="2" charset="-122"/>
                <a:ea typeface="宋体" panose="02010600030101010101" pitchFamily="2" charset="-122"/>
              </a:rPr>
              <a:t>用该非终结符的哪</a:t>
            </a:r>
            <a:r>
              <a:rPr lang="zh-CN" altLang="en-US" sz="2400" dirty="0">
                <a:solidFill>
                  <a:prstClr val="black"/>
                </a:solidFill>
                <a:latin typeface="宋体" panose="02010600030101010101" pitchFamily="2" charset="-122"/>
                <a:ea typeface="宋体" panose="02010600030101010101" pitchFamily="2" charset="-122"/>
              </a:rPr>
              <a:t>个</a:t>
            </a:r>
            <a:r>
              <a:rPr lang="zh-CN" altLang="zh-CN" sz="2400" dirty="0">
                <a:solidFill>
                  <a:prstClr val="black"/>
                </a:solidFill>
                <a:latin typeface="宋体" panose="02010600030101010101" pitchFamily="2" charset="-122"/>
                <a:ea typeface="宋体" panose="02010600030101010101" pitchFamily="2" charset="-122"/>
              </a:rPr>
              <a:t>候选式进行替换</a:t>
            </a:r>
            <a:endParaRPr lang="zh-CN" altLang="en-US" sz="2400" dirty="0">
              <a:solidFill>
                <a:prstClr val="black"/>
              </a:solidFill>
              <a:latin typeface="宋体" panose="02010600030101010101" pitchFamily="2" charset="-122"/>
              <a:ea typeface="宋体" panose="02010600030101010101" pitchFamily="2" charset="-122"/>
            </a:endParaRPr>
          </a:p>
        </p:txBody>
      </p:sp>
      <p:sp>
        <p:nvSpPr>
          <p:cNvPr id="8" name="矩形 7"/>
          <p:cNvSpPr/>
          <p:nvPr/>
        </p:nvSpPr>
        <p:spPr>
          <a:xfrm>
            <a:off x="3662193" y="2741219"/>
            <a:ext cx="4870247" cy="461665"/>
          </a:xfrm>
          <a:prstGeom prst="rect">
            <a:avLst/>
          </a:prstGeom>
        </p:spPr>
        <p:txBody>
          <a:bodyPr wrap="square">
            <a:spAutoFit/>
          </a:bodyPr>
          <a:lstStyle/>
          <a:p>
            <a:pPr marL="285750" lvl="0" indent="-285750">
              <a:buFont typeface="Arial" panose="020B0604020202020204" pitchFamily="34" charset="0"/>
              <a:buChar char="•"/>
            </a:pPr>
            <a:r>
              <a:rPr lang="zh-CN" altLang="zh-CN" sz="2400" dirty="0">
                <a:solidFill>
                  <a:prstClr val="black"/>
                </a:solidFill>
                <a:latin typeface="宋体" panose="02010600030101010101" pitchFamily="2" charset="-122"/>
                <a:ea typeface="宋体" panose="02010600030101010101" pitchFamily="2" charset="-122"/>
              </a:rPr>
              <a:t>替换</a:t>
            </a:r>
            <a:r>
              <a:rPr lang="zh-CN" altLang="en-US" sz="2400" dirty="0">
                <a:solidFill>
                  <a:prstClr val="black"/>
                </a:solidFill>
                <a:latin typeface="宋体" panose="02010600030101010101" pitchFamily="2" charset="-122"/>
                <a:ea typeface="宋体" panose="02010600030101010101" pitchFamily="2" charset="-122"/>
              </a:rPr>
              <a:t>哪个</a:t>
            </a:r>
            <a:r>
              <a:rPr lang="zh-CN" altLang="zh-CN" sz="2400" dirty="0">
                <a:solidFill>
                  <a:prstClr val="black"/>
                </a:solidFill>
                <a:latin typeface="宋体" panose="02010600030101010101" pitchFamily="2" charset="-122"/>
                <a:ea typeface="宋体" panose="02010600030101010101" pitchFamily="2" charset="-122"/>
              </a:rPr>
              <a:t>非终结符</a:t>
            </a:r>
            <a:endParaRPr lang="en-US" altLang="zh-CN" sz="2400" dirty="0">
              <a:solidFill>
                <a:prstClr val="black"/>
              </a:solidFill>
              <a:latin typeface="宋体" panose="02010600030101010101" pitchFamily="2" charset="-122"/>
              <a:ea typeface="宋体" panose="02010600030101010101" pitchFamily="2" charset="-122"/>
            </a:endParaRPr>
          </a:p>
        </p:txBody>
      </p:sp>
    </p:spTree>
    <p:extLst>
      <p:ext uri="{BB962C8B-B14F-4D97-AF65-F5344CB8AC3E}">
        <p14:creationId xmlns:p14="http://schemas.microsoft.com/office/powerpoint/2010/main" val="3617182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p:bldP spid="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body" idx="1"/>
          </p:nvPr>
        </p:nvSpPr>
        <p:spPr>
          <a:xfrm>
            <a:off x="3637805" y="197573"/>
            <a:ext cx="5326683" cy="1376907"/>
          </a:xfrm>
          <a:solidFill>
            <a:schemeClr val="bg1"/>
          </a:solidFill>
          <a:ln w="28575">
            <a:solidFill>
              <a:srgbClr val="0000CC"/>
            </a:solidFill>
            <a:miter lim="800000"/>
            <a:headEnd/>
            <a:tailEnd/>
          </a:ln>
        </p:spPr>
        <p:txBody>
          <a:bodyPr>
            <a:noAutofit/>
          </a:bodyPr>
          <a:lstStyle/>
          <a:p>
            <a:pPr eaLnBrk="1" hangingPunct="1"/>
            <a:r>
              <a:rPr lang="zh-CN" altLang="en-US" sz="2200" b="1" dirty="0">
                <a:solidFill>
                  <a:srgbClr val="FF3399"/>
                </a:solidFill>
              </a:rPr>
              <a:t>最左推导</a:t>
            </a:r>
            <a:r>
              <a:rPr lang="en-US" altLang="zh-CN" sz="2200" dirty="0"/>
              <a:t>: </a:t>
            </a:r>
            <a:r>
              <a:rPr lang="zh-CN" altLang="en-US" sz="2200" dirty="0"/>
              <a:t>在整个推导过程中</a:t>
            </a:r>
            <a:r>
              <a:rPr lang="en-US" altLang="zh-CN" sz="2200" dirty="0"/>
              <a:t>,</a:t>
            </a:r>
            <a:r>
              <a:rPr lang="zh-CN" altLang="en-US" sz="2200" dirty="0"/>
              <a:t>任何一步推导</a:t>
            </a:r>
            <a:r>
              <a:rPr lang="en-US" altLang="zh-CN" sz="2200" dirty="0">
                <a:latin typeface="宋体" pitchFamily="2" charset="-122"/>
              </a:rPr>
              <a:t>α=&gt;β</a:t>
            </a:r>
            <a:r>
              <a:rPr lang="zh-CN" altLang="en-US" sz="2200" dirty="0">
                <a:latin typeface="宋体" pitchFamily="2" charset="-122"/>
              </a:rPr>
              <a:t>都是对</a:t>
            </a:r>
            <a:r>
              <a:rPr lang="en-US" altLang="zh-CN" sz="2200" dirty="0">
                <a:latin typeface="宋体" pitchFamily="2" charset="-122"/>
              </a:rPr>
              <a:t>α</a:t>
            </a:r>
            <a:r>
              <a:rPr lang="zh-CN" altLang="en-US" sz="2200" dirty="0">
                <a:latin typeface="宋体" pitchFamily="2" charset="-122"/>
              </a:rPr>
              <a:t>中最左边的非终结符进行替换。</a:t>
            </a:r>
          </a:p>
          <a:p>
            <a:pPr eaLnBrk="1" hangingPunct="1">
              <a:spcBef>
                <a:spcPct val="0"/>
              </a:spcBef>
            </a:pPr>
            <a:r>
              <a:rPr lang="zh-CN" altLang="en-US" sz="2200" dirty="0"/>
              <a:t> </a:t>
            </a:r>
            <a:r>
              <a:rPr lang="zh-CN" altLang="en-US" sz="2200" b="1" dirty="0">
                <a:solidFill>
                  <a:srgbClr val="FF3399"/>
                </a:solidFill>
              </a:rPr>
              <a:t>最右推导</a:t>
            </a:r>
            <a:r>
              <a:rPr lang="en-US" altLang="zh-CN" sz="2200" b="1" dirty="0">
                <a:solidFill>
                  <a:srgbClr val="FF3399"/>
                </a:solidFill>
              </a:rPr>
              <a:t>:</a:t>
            </a:r>
          </a:p>
        </p:txBody>
      </p:sp>
      <p:sp>
        <p:nvSpPr>
          <p:cNvPr id="21507" name="Rectangle 3"/>
          <p:cNvSpPr>
            <a:spLocks noChangeArrowheads="1"/>
          </p:cNvSpPr>
          <p:nvPr/>
        </p:nvSpPr>
        <p:spPr bwMode="auto">
          <a:xfrm>
            <a:off x="28616" y="195263"/>
            <a:ext cx="309569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55600" indent="-3556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400" dirty="0">
                <a:ea typeface="华文行楷" pitchFamily="2" charset="-122"/>
              </a:rPr>
              <a:t>在推导之前确定推导的顺序，是对句子进行</a:t>
            </a:r>
            <a:r>
              <a:rPr lang="zh-CN" altLang="en-US" sz="2400" dirty="0">
                <a:solidFill>
                  <a:schemeClr val="accent2"/>
                </a:solidFill>
                <a:ea typeface="华文行楷" pitchFamily="2" charset="-122"/>
              </a:rPr>
              <a:t>确定性分析</a:t>
            </a:r>
            <a:r>
              <a:rPr lang="zh-CN" altLang="en-US" sz="2400" dirty="0">
                <a:ea typeface="华文行楷" pitchFamily="2" charset="-122"/>
              </a:rPr>
              <a:t>所必须的</a:t>
            </a:r>
          </a:p>
        </p:txBody>
      </p:sp>
      <p:sp>
        <p:nvSpPr>
          <p:cNvPr id="5" name="Rectangle 2"/>
          <p:cNvSpPr txBox="1">
            <a:spLocks noChangeArrowheads="1"/>
          </p:cNvSpPr>
          <p:nvPr/>
        </p:nvSpPr>
        <p:spPr bwMode="auto">
          <a:xfrm>
            <a:off x="5722738" y="2119892"/>
            <a:ext cx="3179763" cy="744537"/>
          </a:xfrm>
          <a:prstGeom prst="rect">
            <a:avLst/>
          </a:prstGeom>
          <a:solidFill>
            <a:schemeClr val="bg1"/>
          </a:solidFill>
          <a:ln w="28575">
            <a:solidFill>
              <a:srgbClr val="0000CC"/>
            </a:solidFill>
            <a:miter lim="800000"/>
            <a:headEnd/>
            <a:tailEnd/>
          </a:ln>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eaLnBrk="1" hangingPunct="1">
              <a:defRPr/>
            </a:pPr>
            <a:r>
              <a:rPr lang="zh-CN" altLang="en-US" sz="2000" b="1" kern="0" dirty="0">
                <a:solidFill>
                  <a:srgbClr val="FF3399"/>
                </a:solidFill>
              </a:rPr>
              <a:t>最右归约</a:t>
            </a:r>
            <a:endParaRPr lang="en-US" altLang="zh-CN" sz="2000" b="1" kern="0" dirty="0">
              <a:solidFill>
                <a:srgbClr val="FF3399"/>
              </a:solidFill>
            </a:endParaRPr>
          </a:p>
        </p:txBody>
      </p:sp>
      <p:sp>
        <p:nvSpPr>
          <p:cNvPr id="6" name="Rectangle 3"/>
          <p:cNvSpPr txBox="1">
            <a:spLocks noChangeArrowheads="1"/>
          </p:cNvSpPr>
          <p:nvPr/>
        </p:nvSpPr>
        <p:spPr>
          <a:xfrm>
            <a:off x="-132280" y="1848022"/>
            <a:ext cx="4984657" cy="886755"/>
          </a:xfrm>
          <a:prstGeom prst="rect">
            <a:avLst/>
          </a:prstGeom>
        </p:spPr>
        <p:txBody>
          <a:bodyPr vert="horz">
            <a:normAutofit fontScale="925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20000"/>
              </a:lnSpc>
              <a:spcBef>
                <a:spcPts val="0"/>
              </a:spcBef>
              <a:buFont typeface="Wingdings 3"/>
              <a:buNone/>
            </a:pPr>
            <a:r>
              <a:rPr lang="zh-CN" altLang="en-US" sz="2400" dirty="0">
                <a:solidFill>
                  <a:srgbClr val="000000"/>
                </a:solidFill>
                <a:sym typeface="Symbol" pitchFamily="18" charset="2"/>
              </a:rPr>
              <a:t>例</a:t>
            </a:r>
            <a:r>
              <a:rPr lang="en-US" altLang="zh-CN" sz="2400" dirty="0">
                <a:solidFill>
                  <a:srgbClr val="000000"/>
                </a:solidFill>
                <a:sym typeface="Symbol" pitchFamily="18" charset="2"/>
              </a:rPr>
              <a:t>3 : G = ({E}</a:t>
            </a:r>
            <a:r>
              <a:rPr lang="en-GB" altLang="zh-CN" sz="2400" dirty="0">
                <a:solidFill>
                  <a:srgbClr val="000000"/>
                </a:solidFill>
                <a:sym typeface="Symbol" pitchFamily="18" charset="2"/>
              </a:rPr>
              <a:t>, </a:t>
            </a:r>
            <a:r>
              <a:rPr lang="en-US" altLang="zh-CN" sz="2400" dirty="0">
                <a:solidFill>
                  <a:srgbClr val="000000"/>
                </a:solidFill>
                <a:sym typeface="Symbol" pitchFamily="18" charset="2"/>
              </a:rPr>
              <a:t>{</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 (, ) } , P , E) </a:t>
            </a:r>
            <a:br>
              <a:rPr lang="en-US" altLang="zh-CN" sz="2400" dirty="0">
                <a:solidFill>
                  <a:srgbClr val="000000"/>
                </a:solidFill>
                <a:sym typeface="Symbol" pitchFamily="18" charset="2"/>
              </a:rPr>
            </a:br>
            <a:r>
              <a:rPr lang="en-US" altLang="zh-CN" sz="2400" dirty="0">
                <a:solidFill>
                  <a:srgbClr val="000000"/>
                </a:solidFill>
                <a:sym typeface="Symbol" pitchFamily="18" charset="2"/>
              </a:rPr>
              <a:t>         P</a:t>
            </a:r>
            <a:r>
              <a:rPr lang="zh-CN" altLang="en-US" sz="2400" dirty="0">
                <a:solidFill>
                  <a:srgbClr val="000000"/>
                </a:solidFill>
                <a:sym typeface="Symbol" pitchFamily="18" charset="2"/>
              </a:rPr>
              <a:t>： </a:t>
            </a:r>
            <a:r>
              <a:rPr lang="en-US" altLang="zh-CN" sz="2400" dirty="0">
                <a:solidFill>
                  <a:srgbClr val="000000"/>
                </a:solidFill>
                <a:sym typeface="Symbol" pitchFamily="18" charset="2"/>
              </a:rPr>
              <a:t>E  E+E | E*E  | (E) | </a:t>
            </a:r>
            <a:r>
              <a:rPr lang="en-US" altLang="zh-CN" sz="2400" dirty="0" err="1">
                <a:solidFill>
                  <a:srgbClr val="000000"/>
                </a:solidFill>
                <a:sym typeface="Symbol" pitchFamily="18" charset="2"/>
              </a:rPr>
              <a:t>i</a:t>
            </a:r>
            <a:endParaRPr lang="zh-CN" altLang="en-US" sz="2400" dirty="0">
              <a:solidFill>
                <a:srgbClr val="008080"/>
              </a:solidFill>
            </a:endParaRPr>
          </a:p>
        </p:txBody>
      </p:sp>
      <p:grpSp>
        <p:nvGrpSpPr>
          <p:cNvPr id="3" name="组合 2"/>
          <p:cNvGrpSpPr/>
          <p:nvPr/>
        </p:nvGrpSpPr>
        <p:grpSpPr>
          <a:xfrm>
            <a:off x="395536" y="2706474"/>
            <a:ext cx="2272333" cy="2457564"/>
            <a:chOff x="395536" y="2706474"/>
            <a:chExt cx="2272333" cy="2457564"/>
          </a:xfrm>
        </p:grpSpPr>
        <p:sp>
          <p:nvSpPr>
            <p:cNvPr id="7" name="Rectangle 4"/>
            <p:cNvSpPr>
              <a:spLocks noChangeArrowheads="1"/>
            </p:cNvSpPr>
            <p:nvPr/>
          </p:nvSpPr>
          <p:spPr bwMode="auto">
            <a:xfrm>
              <a:off x="485060" y="3077313"/>
              <a:ext cx="2182809" cy="2086725"/>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E  E*E </a:t>
              </a:r>
            </a:p>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    (E)*E</a:t>
              </a:r>
            </a:p>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    (E+E)*E </a:t>
              </a:r>
            </a:p>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i+E</a:t>
              </a:r>
              <a:r>
                <a:rPr lang="en-US" altLang="zh-CN" sz="2400" dirty="0">
                  <a:solidFill>
                    <a:srgbClr val="000000"/>
                  </a:solidFill>
                  <a:ea typeface="华文行楷" pitchFamily="2" charset="-122"/>
                  <a:sym typeface="Symbol" pitchFamily="18" charset="2"/>
                </a:rPr>
                <a:t>)*E </a:t>
              </a:r>
            </a:p>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)*E </a:t>
              </a:r>
            </a:p>
            <a:p>
              <a:pPr eaLnBrk="1" hangingPunct="1">
                <a:lnSpc>
                  <a:spcPct val="90000"/>
                </a:lnSpc>
                <a:spcBef>
                  <a:spcPct val="0"/>
                </a:spcBef>
                <a:buFontTx/>
                <a:buNone/>
              </a:pP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endParaRPr lang="en-US" altLang="zh-CN" sz="2400" dirty="0">
                <a:solidFill>
                  <a:srgbClr val="000000"/>
                </a:solidFill>
                <a:ea typeface="华文行楷" pitchFamily="2" charset="-122"/>
                <a:sym typeface="Symbol" pitchFamily="18" charset="2"/>
              </a:endParaRPr>
            </a:p>
          </p:txBody>
        </p:sp>
        <p:sp>
          <p:nvSpPr>
            <p:cNvPr id="2" name="TextBox 1"/>
            <p:cNvSpPr txBox="1"/>
            <p:nvPr/>
          </p:nvSpPr>
          <p:spPr>
            <a:xfrm>
              <a:off x="395536" y="2706474"/>
              <a:ext cx="1728192" cy="369332"/>
            </a:xfrm>
            <a:prstGeom prst="rect">
              <a:avLst/>
            </a:prstGeom>
            <a:noFill/>
          </p:spPr>
          <p:txBody>
            <a:bodyPr wrap="square" rtlCol="0">
              <a:spAutoFit/>
            </a:bodyPr>
            <a:lstStyle/>
            <a:p>
              <a:r>
                <a:rPr lang="zh-CN" altLang="en-US" dirty="0"/>
                <a:t>最左推导过程</a:t>
              </a:r>
            </a:p>
          </p:txBody>
        </p:sp>
      </p:grpSp>
      <p:grpSp>
        <p:nvGrpSpPr>
          <p:cNvPr id="4" name="组合 3"/>
          <p:cNvGrpSpPr/>
          <p:nvPr/>
        </p:nvGrpSpPr>
        <p:grpSpPr>
          <a:xfrm>
            <a:off x="3419872" y="2715766"/>
            <a:ext cx="2150868" cy="2322365"/>
            <a:chOff x="3717276" y="2693940"/>
            <a:chExt cx="2150868" cy="2322365"/>
          </a:xfrm>
        </p:grpSpPr>
        <p:sp>
          <p:nvSpPr>
            <p:cNvPr id="10" name="Rectangle 4"/>
            <p:cNvSpPr>
              <a:spLocks noChangeArrowheads="1"/>
            </p:cNvSpPr>
            <p:nvPr/>
          </p:nvSpPr>
          <p:spPr bwMode="auto">
            <a:xfrm>
              <a:off x="3777831" y="3077313"/>
              <a:ext cx="2090313" cy="1938992"/>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00"/>
                  </a:solidFill>
                  <a:ea typeface="华文行楷" pitchFamily="2" charset="-122"/>
                  <a:sym typeface="Symbol" pitchFamily="18" charset="2"/>
                </a:rPr>
                <a:t>E  E*E </a:t>
              </a:r>
            </a:p>
            <a:p>
              <a:pPr>
                <a:spcBef>
                  <a:spcPct val="0"/>
                </a:spcBef>
                <a:buNone/>
              </a:pPr>
              <a:r>
                <a:rPr lang="en-US" altLang="zh-CN" sz="2400" dirty="0">
                  <a:solidFill>
                    <a:srgbClr val="000000"/>
                  </a:solidFill>
                  <a:ea typeface="华文行楷" pitchFamily="2" charset="-122"/>
                  <a:sym typeface="Symbol" pitchFamily="18" charset="2"/>
                </a:rPr>
                <a:t>    E*</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a:t>
              </a:r>
            </a:p>
            <a:p>
              <a:pPr>
                <a:spcBef>
                  <a:spcPct val="0"/>
                </a:spcBef>
                <a:buNone/>
              </a:pPr>
              <a:r>
                <a:rPr lang="en-US" altLang="zh-CN" sz="2400" dirty="0">
                  <a:solidFill>
                    <a:srgbClr val="000000"/>
                  </a:solidFill>
                  <a:ea typeface="华文行楷" pitchFamily="2" charset="-122"/>
                  <a:sym typeface="Symbol" pitchFamily="18" charset="2"/>
                </a:rPr>
                <a:t>    (E+E)*</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a:t>
              </a:r>
            </a:p>
            <a:p>
              <a:pPr>
                <a:spcBef>
                  <a:spcPct val="0"/>
                </a:spcBef>
                <a:buNone/>
              </a:pPr>
              <a:r>
                <a:rPr lang="en-US" altLang="zh-CN" sz="2400" dirty="0">
                  <a:solidFill>
                    <a:srgbClr val="000000"/>
                  </a:solidFill>
                  <a:ea typeface="华文行楷" pitchFamily="2" charset="-122"/>
                  <a:sym typeface="Symbol" pitchFamily="18" charset="2"/>
                </a:rPr>
                <a:t>    (E+ </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a:t>
              </a:r>
            </a:p>
            <a:p>
              <a:pPr>
                <a:spcBef>
                  <a:spcPct val="0"/>
                </a:spcBef>
                <a:buNone/>
              </a:pPr>
              <a:r>
                <a:rPr lang="en-US" altLang="zh-CN" sz="2400" dirty="0">
                  <a:solidFill>
                    <a:srgbClr val="000000"/>
                  </a:solidFill>
                  <a:ea typeface="华文行楷" pitchFamily="2" charset="-122"/>
                  <a:sym typeface="Symbol" pitchFamily="18" charset="2"/>
                </a:rPr>
                <a:t>   (</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 + </a:t>
              </a:r>
              <a:r>
                <a:rPr lang="en-US" altLang="zh-CN" sz="2400" dirty="0" err="1">
                  <a:solidFill>
                    <a:srgbClr val="000000"/>
                  </a:solidFill>
                  <a:ea typeface="华文行楷" pitchFamily="2" charset="-122"/>
                  <a:sym typeface="Symbol" pitchFamily="18" charset="2"/>
                </a:rPr>
                <a:t>i</a:t>
              </a:r>
              <a:r>
                <a:rPr lang="en-US" altLang="zh-CN" sz="2400" dirty="0">
                  <a:solidFill>
                    <a:srgbClr val="000000"/>
                  </a:solidFill>
                  <a:ea typeface="华文行楷" pitchFamily="2" charset="-122"/>
                  <a:sym typeface="Symbol" pitchFamily="18" charset="2"/>
                </a:rPr>
                <a:t>)*</a:t>
              </a:r>
              <a:r>
                <a:rPr lang="en-US" altLang="zh-CN" sz="2400" dirty="0" err="1">
                  <a:solidFill>
                    <a:srgbClr val="000000"/>
                  </a:solidFill>
                  <a:ea typeface="华文行楷" pitchFamily="2" charset="-122"/>
                  <a:sym typeface="Symbol" pitchFamily="18" charset="2"/>
                </a:rPr>
                <a:t>i</a:t>
              </a:r>
              <a:endParaRPr lang="en-US" altLang="zh-CN" sz="2400" dirty="0">
                <a:solidFill>
                  <a:srgbClr val="000000"/>
                </a:solidFill>
                <a:ea typeface="华文行楷" pitchFamily="2" charset="-122"/>
                <a:sym typeface="Symbol" pitchFamily="18" charset="2"/>
              </a:endParaRPr>
            </a:p>
          </p:txBody>
        </p:sp>
        <p:sp>
          <p:nvSpPr>
            <p:cNvPr id="12" name="TextBox 11"/>
            <p:cNvSpPr txBox="1"/>
            <p:nvPr/>
          </p:nvSpPr>
          <p:spPr>
            <a:xfrm>
              <a:off x="3717276" y="2693940"/>
              <a:ext cx="1728192" cy="369332"/>
            </a:xfrm>
            <a:prstGeom prst="rect">
              <a:avLst/>
            </a:prstGeom>
            <a:noFill/>
          </p:spPr>
          <p:txBody>
            <a:bodyPr wrap="square" rtlCol="0">
              <a:spAutoFit/>
            </a:bodyPr>
            <a:lstStyle/>
            <a:p>
              <a:r>
                <a:rPr lang="zh-CN" altLang="en-US" dirty="0"/>
                <a:t>最右推导过程</a:t>
              </a:r>
            </a:p>
          </p:txBody>
        </p:sp>
      </p:grpSp>
      <p:sp>
        <p:nvSpPr>
          <p:cNvPr id="11" name="矩形 10"/>
          <p:cNvSpPr/>
          <p:nvPr/>
        </p:nvSpPr>
        <p:spPr>
          <a:xfrm>
            <a:off x="5757285" y="2446074"/>
            <a:ext cx="3135195" cy="400110"/>
          </a:xfrm>
          <a:prstGeom prst="rect">
            <a:avLst/>
          </a:prstGeom>
        </p:spPr>
        <p:txBody>
          <a:bodyPr wrap="square">
            <a:spAutoFit/>
          </a:bodyPr>
          <a:lstStyle/>
          <a:p>
            <a:pPr marL="342900" lvl="0" indent="-342900">
              <a:buFont typeface="Arial" panose="020B0604020202020204" pitchFamily="34" charset="0"/>
              <a:buChar char="•"/>
              <a:defRPr/>
            </a:pPr>
            <a:r>
              <a:rPr kumimoji="1" lang="zh-CN" altLang="en-US" sz="2000" b="1" kern="0" dirty="0">
                <a:solidFill>
                  <a:srgbClr val="FF3399"/>
                </a:solidFill>
              </a:rPr>
              <a:t>最左归约</a:t>
            </a:r>
            <a:endParaRPr kumimoji="1" lang="en-US" altLang="zh-CN" sz="2000" b="1" kern="0" dirty="0">
              <a:solidFill>
                <a:srgbClr val="FF3399"/>
              </a:solidFill>
            </a:endParaRPr>
          </a:p>
        </p:txBody>
      </p:sp>
    </p:spTree>
    <p:extLst>
      <p:ext uri="{BB962C8B-B14F-4D97-AF65-F5344CB8AC3E}">
        <p14:creationId xmlns:p14="http://schemas.microsoft.com/office/powerpoint/2010/main" val="2554050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818">
                                            <p:bg/>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4818">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34818">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down)">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8" grpId="0" uiExpand="1" build="p" animBg="1"/>
      <p:bldP spid="5" grpId="0" animBg="1"/>
      <p:bldP spid="6" grpId="0"/>
      <p:bldP spid="1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p:cNvSpPr>
            <a:spLocks noChangeArrowheads="1"/>
          </p:cNvSpPr>
          <p:nvPr/>
        </p:nvSpPr>
        <p:spPr bwMode="auto">
          <a:xfrm>
            <a:off x="482600" y="267494"/>
            <a:ext cx="8145463" cy="2592288"/>
          </a:xfrm>
          <a:prstGeom prst="rect">
            <a:avLst/>
          </a:prstGeom>
          <a:ln/>
        </p:spPr>
        <p:style>
          <a:lnRef idx="2">
            <a:schemeClr val="accent1"/>
          </a:lnRef>
          <a:fillRef idx="1">
            <a:schemeClr val="lt1"/>
          </a:fillRef>
          <a:effectRef idx="0">
            <a:schemeClr val="accent1"/>
          </a:effectRef>
          <a:fontRef idx="minor">
            <a:schemeClr val="dk1"/>
          </a:fontRef>
        </p:style>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defRPr/>
            </a:pPr>
            <a:r>
              <a:rPr lang="zh-CN" altLang="en-US" sz="2800" b="1" dirty="0">
                <a:solidFill>
                  <a:srgbClr val="FF3399"/>
                </a:solidFill>
                <a:latin typeface="宋体" pitchFamily="2" charset="-122"/>
                <a:ea typeface="华文行楷" pitchFamily="2" charset="-122"/>
              </a:rPr>
              <a:t>练习</a:t>
            </a:r>
          </a:p>
          <a:p>
            <a:pPr eaLnBrk="1" hangingPunct="1">
              <a:buFontTx/>
              <a:buNone/>
              <a:defRPr/>
            </a:pPr>
            <a:r>
              <a:rPr lang="zh-CN" altLang="en-US" sz="2800" b="1" dirty="0">
                <a:ea typeface="华文行楷" pitchFamily="2" charset="-122"/>
              </a:rPr>
              <a:t>   文法</a:t>
            </a:r>
            <a:r>
              <a:rPr lang="en-US" altLang="zh-CN" sz="2800" b="1" dirty="0">
                <a:ea typeface="华文行楷" pitchFamily="2" charset="-122"/>
              </a:rPr>
              <a:t>G</a:t>
            </a:r>
            <a:r>
              <a:rPr lang="zh-CN" altLang="en-US" sz="2800" b="1" dirty="0">
                <a:ea typeface="华文行楷" pitchFamily="2" charset="-122"/>
              </a:rPr>
              <a:t>：</a:t>
            </a:r>
            <a:r>
              <a:rPr lang="en-US" altLang="zh-CN" sz="2800" b="1" dirty="0" err="1">
                <a:ea typeface="华文行楷" pitchFamily="2" charset="-122"/>
              </a:rPr>
              <a:t>S</a:t>
            </a:r>
            <a:r>
              <a:rPr lang="en-US" altLang="zh-CN" sz="2800" b="1" dirty="0" err="1">
                <a:ea typeface="华文行楷" pitchFamily="2" charset="-122"/>
                <a:sym typeface="Wingdings" pitchFamily="2" charset="2"/>
              </a:rPr>
              <a:t>aAcB</a:t>
            </a:r>
            <a:r>
              <a:rPr lang="en-US" altLang="zh-CN" sz="2800" b="1" dirty="0">
                <a:ea typeface="华文行楷" pitchFamily="2" charset="-122"/>
                <a:sym typeface="Wingdings" pitchFamily="2" charset="2"/>
              </a:rPr>
              <a:t> | </a:t>
            </a:r>
            <a:r>
              <a:rPr lang="en-US" altLang="zh-CN" sz="2800" b="1" dirty="0" err="1">
                <a:ea typeface="华文行楷" pitchFamily="2" charset="-122"/>
                <a:sym typeface="Wingdings" pitchFamily="2" charset="2"/>
              </a:rPr>
              <a:t>Bd</a:t>
            </a:r>
            <a:endParaRPr lang="en-US" altLang="zh-CN" sz="2800" b="1" dirty="0">
              <a:ea typeface="华文行楷" pitchFamily="2" charset="-122"/>
              <a:sym typeface="Wingdings" pitchFamily="2" charset="2"/>
            </a:endParaRPr>
          </a:p>
          <a:p>
            <a:pPr eaLnBrk="1" hangingPunct="1">
              <a:buFontTx/>
              <a:buNone/>
              <a:defRPr/>
            </a:pPr>
            <a:r>
              <a:rPr lang="en-US" altLang="zh-CN" sz="2800" b="1" dirty="0">
                <a:ea typeface="华文行楷" pitchFamily="2" charset="-122"/>
              </a:rPr>
              <a:t>                 </a:t>
            </a:r>
            <a:r>
              <a:rPr lang="en-US" altLang="zh-CN" sz="2800" b="1" dirty="0" err="1">
                <a:ea typeface="华文行楷" pitchFamily="2" charset="-122"/>
              </a:rPr>
              <a:t>A</a:t>
            </a:r>
            <a:r>
              <a:rPr lang="en-US" altLang="zh-CN" sz="2800" b="1" dirty="0" err="1">
                <a:ea typeface="华文行楷" pitchFamily="2" charset="-122"/>
                <a:sym typeface="Wingdings" pitchFamily="2" charset="2"/>
              </a:rPr>
              <a:t>AaB</a:t>
            </a:r>
            <a:r>
              <a:rPr lang="en-US" altLang="zh-CN" sz="2800" b="1" dirty="0">
                <a:ea typeface="华文行楷" pitchFamily="2" charset="-122"/>
                <a:sym typeface="Wingdings" pitchFamily="2" charset="2"/>
              </a:rPr>
              <a:t> | c</a:t>
            </a:r>
          </a:p>
          <a:p>
            <a:pPr eaLnBrk="1" hangingPunct="1">
              <a:buFontTx/>
              <a:buNone/>
              <a:defRPr/>
            </a:pPr>
            <a:r>
              <a:rPr lang="en-US" altLang="zh-CN" sz="2800" b="1" dirty="0">
                <a:ea typeface="华文行楷" pitchFamily="2" charset="-122"/>
                <a:sym typeface="Wingdings" pitchFamily="2" charset="2"/>
              </a:rPr>
              <a:t>                 </a:t>
            </a:r>
            <a:r>
              <a:rPr lang="en-US" altLang="zh-CN" sz="2800" b="1" dirty="0" err="1">
                <a:ea typeface="华文行楷" pitchFamily="2" charset="-122"/>
                <a:sym typeface="Wingdings" pitchFamily="2" charset="2"/>
              </a:rPr>
              <a:t>BbScA</a:t>
            </a:r>
            <a:r>
              <a:rPr lang="en-US" altLang="zh-CN" sz="2800" b="1" dirty="0">
                <a:ea typeface="华文行楷" pitchFamily="2" charset="-122"/>
                <a:sym typeface="Wingdings" pitchFamily="2" charset="2"/>
              </a:rPr>
              <a:t> | b</a:t>
            </a:r>
          </a:p>
          <a:p>
            <a:pPr eaLnBrk="1" hangingPunct="1">
              <a:buFontTx/>
              <a:buNone/>
              <a:defRPr/>
            </a:pPr>
            <a:r>
              <a:rPr lang="en-US" altLang="zh-CN" sz="2800" b="1" dirty="0">
                <a:ea typeface="华文行楷" pitchFamily="2" charset="-122"/>
                <a:sym typeface="Wingdings" pitchFamily="2" charset="2"/>
              </a:rPr>
              <a:t>   </a:t>
            </a:r>
            <a:r>
              <a:rPr lang="zh-CN" altLang="en-US" sz="2800" b="1" dirty="0">
                <a:ea typeface="华文行楷" pitchFamily="2" charset="-122"/>
                <a:sym typeface="Wingdings" pitchFamily="2" charset="2"/>
              </a:rPr>
              <a:t>写出句型</a:t>
            </a:r>
            <a:r>
              <a:rPr lang="en-US" altLang="zh-CN" sz="2800" b="1" dirty="0" err="1">
                <a:ea typeface="华文行楷" pitchFamily="2" charset="-122"/>
                <a:sym typeface="Wingdings" pitchFamily="2" charset="2"/>
              </a:rPr>
              <a:t>aAcbBdcc</a:t>
            </a:r>
            <a:r>
              <a:rPr lang="zh-CN" altLang="en-US" sz="2800" b="1" dirty="0">
                <a:ea typeface="华文行楷" pitchFamily="2" charset="-122"/>
                <a:sym typeface="Wingdings" pitchFamily="2" charset="2"/>
              </a:rPr>
              <a:t>和句子</a:t>
            </a:r>
            <a:r>
              <a:rPr lang="en-US" altLang="zh-CN" sz="2800" b="1" dirty="0" err="1">
                <a:ea typeface="华文行楷" pitchFamily="2" charset="-122"/>
                <a:sym typeface="Wingdings" pitchFamily="2" charset="2"/>
              </a:rPr>
              <a:t>acabcbbdcc</a:t>
            </a:r>
            <a:r>
              <a:rPr lang="zh-CN" altLang="en-US" sz="2800" b="1" dirty="0">
                <a:ea typeface="华文行楷" pitchFamily="2" charset="-122"/>
                <a:sym typeface="Wingdings" pitchFamily="2" charset="2"/>
              </a:rPr>
              <a:t>的</a:t>
            </a:r>
            <a:r>
              <a:rPr lang="zh-CN" altLang="en-US" sz="2800" b="1" dirty="0">
                <a:solidFill>
                  <a:srgbClr val="FF0000"/>
                </a:solidFill>
                <a:ea typeface="华文行楷" pitchFamily="2" charset="-122"/>
                <a:sym typeface="Wingdings" pitchFamily="2" charset="2"/>
              </a:rPr>
              <a:t>推导</a:t>
            </a:r>
            <a:r>
              <a:rPr lang="zh-CN" altLang="en-US" sz="2800" b="1" dirty="0">
                <a:ea typeface="华文行楷" pitchFamily="2" charset="-122"/>
                <a:sym typeface="Wingdings" pitchFamily="2" charset="2"/>
              </a:rPr>
              <a:t>过程。</a:t>
            </a:r>
            <a:endParaRPr lang="zh-CN" altLang="en-US" sz="2800" dirty="0">
              <a:ea typeface="华文行楷" pitchFamily="2" charset="-122"/>
            </a:endParaRPr>
          </a:p>
        </p:txBody>
      </p:sp>
      <p:sp>
        <p:nvSpPr>
          <p:cNvPr id="24579" name="矩形 1"/>
          <p:cNvSpPr>
            <a:spLocks noChangeArrowheads="1"/>
          </p:cNvSpPr>
          <p:nvPr/>
        </p:nvSpPr>
        <p:spPr bwMode="auto">
          <a:xfrm>
            <a:off x="606004" y="3075806"/>
            <a:ext cx="8145463"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dirty="0">
                <a:ea typeface="华文行楷" pitchFamily="2" charset="-122"/>
              </a:rPr>
              <a:t>S</a:t>
            </a:r>
            <a:r>
              <a:rPr lang="en-US" altLang="zh-CN" sz="2800" dirty="0">
                <a:solidFill>
                  <a:srgbClr val="000000"/>
                </a:solidFill>
                <a:ea typeface="华文行楷" pitchFamily="2" charset="-122"/>
                <a:sym typeface="Symbol" pitchFamily="18" charset="2"/>
              </a:rPr>
              <a:t>  </a:t>
            </a:r>
            <a:r>
              <a:rPr lang="en-US" altLang="zh-CN" sz="2800" b="1" dirty="0" err="1">
                <a:ea typeface="华文行楷" pitchFamily="2" charset="-122"/>
                <a:sym typeface="Wingdings" pitchFamily="2" charset="2"/>
              </a:rPr>
              <a:t>aAcB</a:t>
            </a:r>
            <a:r>
              <a:rPr lang="en-US" altLang="zh-CN" sz="2800" b="1" dirty="0">
                <a:ea typeface="华文行楷" pitchFamily="2" charset="-122"/>
                <a:sym typeface="Wingdings" pitchFamily="2" charset="2"/>
              </a:rPr>
              <a:t> </a:t>
            </a:r>
            <a:r>
              <a:rPr lang="en-US" altLang="zh-CN" sz="2800" dirty="0">
                <a:solidFill>
                  <a:srgbClr val="000000"/>
                </a:solidFill>
                <a:ea typeface="华文行楷" pitchFamily="2" charset="-122"/>
                <a:sym typeface="Symbol" pitchFamily="18" charset="2"/>
              </a:rPr>
              <a:t> </a:t>
            </a:r>
            <a:r>
              <a:rPr lang="en-US" altLang="zh-CN" sz="2800" b="1" dirty="0" err="1">
                <a:ea typeface="华文行楷" pitchFamily="2" charset="-122"/>
                <a:sym typeface="Wingdings" pitchFamily="2" charset="2"/>
              </a:rPr>
              <a:t>aAcbScA</a:t>
            </a:r>
            <a:r>
              <a:rPr lang="en-US" altLang="zh-CN" sz="2800" b="1" dirty="0">
                <a:ea typeface="华文行楷" pitchFamily="2" charset="-122"/>
                <a:sym typeface="Wingdings" pitchFamily="2" charset="2"/>
              </a:rPr>
              <a:t> </a:t>
            </a:r>
            <a:r>
              <a:rPr lang="en-US" altLang="zh-CN" sz="2800" dirty="0">
                <a:solidFill>
                  <a:srgbClr val="000000"/>
                </a:solidFill>
                <a:ea typeface="华文行楷" pitchFamily="2" charset="-122"/>
                <a:sym typeface="Symbol" pitchFamily="18" charset="2"/>
              </a:rPr>
              <a:t> </a:t>
            </a:r>
            <a:r>
              <a:rPr lang="en-US" altLang="zh-CN" sz="2800" b="1" dirty="0" err="1">
                <a:ea typeface="华文行楷" pitchFamily="2" charset="-122"/>
                <a:sym typeface="Wingdings" pitchFamily="2" charset="2"/>
              </a:rPr>
              <a:t>aAcbBdcA</a:t>
            </a:r>
            <a:r>
              <a:rPr lang="en-US" altLang="zh-CN" sz="2800" b="1" dirty="0">
                <a:ea typeface="华文行楷" pitchFamily="2" charset="-122"/>
                <a:sym typeface="Wingdings" pitchFamily="2" charset="2"/>
              </a:rPr>
              <a:t> </a:t>
            </a:r>
            <a:r>
              <a:rPr lang="en-US" altLang="zh-CN" sz="2800" dirty="0">
                <a:solidFill>
                  <a:srgbClr val="000000"/>
                </a:solidFill>
                <a:ea typeface="华文行楷" pitchFamily="2" charset="-122"/>
                <a:sym typeface="Symbol" pitchFamily="18" charset="2"/>
              </a:rPr>
              <a:t> </a:t>
            </a:r>
            <a:r>
              <a:rPr lang="en-US" altLang="zh-CN" sz="2800" b="1" dirty="0" err="1">
                <a:ea typeface="华文行楷" pitchFamily="2" charset="-122"/>
                <a:sym typeface="Wingdings" pitchFamily="2" charset="2"/>
              </a:rPr>
              <a:t>aAcbBdcc</a:t>
            </a:r>
            <a:endParaRPr lang="en-US" altLang="zh-CN" sz="2800" b="1" dirty="0">
              <a:ea typeface="华文行楷" pitchFamily="2" charset="-122"/>
              <a:sym typeface="Wingdings" pitchFamily="2" charset="2"/>
            </a:endParaRPr>
          </a:p>
          <a:p>
            <a:pPr eaLnBrk="1" hangingPunct="1">
              <a:spcBef>
                <a:spcPct val="0"/>
              </a:spcBef>
              <a:buFontTx/>
              <a:buNone/>
            </a:pPr>
            <a:r>
              <a:rPr lang="en-US" altLang="zh-CN" sz="2800" dirty="0">
                <a:solidFill>
                  <a:srgbClr val="000000"/>
                </a:solidFill>
                <a:ea typeface="华文行楷" pitchFamily="2" charset="-122"/>
                <a:sym typeface="Symbol" pitchFamily="18" charset="2"/>
              </a:rPr>
              <a:t>    </a:t>
            </a:r>
            <a:r>
              <a:rPr lang="en-US" altLang="zh-CN" sz="2800" b="1" dirty="0" err="1">
                <a:ea typeface="华文行楷" pitchFamily="2" charset="-122"/>
                <a:sym typeface="Wingdings" pitchFamily="2" charset="2"/>
              </a:rPr>
              <a:t>aAaBcbBdcc</a:t>
            </a:r>
            <a:r>
              <a:rPr lang="en-US" altLang="zh-CN" sz="2800" b="1" dirty="0">
                <a:ea typeface="华文行楷" pitchFamily="2" charset="-122"/>
                <a:sym typeface="Wingdings" pitchFamily="2" charset="2"/>
              </a:rPr>
              <a:t> </a:t>
            </a:r>
            <a:r>
              <a:rPr lang="en-US" altLang="zh-CN" sz="2800" dirty="0">
                <a:solidFill>
                  <a:srgbClr val="000000"/>
                </a:solidFill>
                <a:ea typeface="华文行楷" pitchFamily="2" charset="-122"/>
                <a:sym typeface="Symbol" pitchFamily="18" charset="2"/>
              </a:rPr>
              <a:t> </a:t>
            </a:r>
            <a:r>
              <a:rPr lang="en-US" altLang="zh-CN" sz="2800" b="1" dirty="0" err="1">
                <a:ea typeface="华文行楷" pitchFamily="2" charset="-122"/>
                <a:sym typeface="Wingdings" pitchFamily="2" charset="2"/>
              </a:rPr>
              <a:t>acaBcbBdcc</a:t>
            </a:r>
            <a:r>
              <a:rPr lang="en-US" altLang="zh-CN" sz="2800" dirty="0">
                <a:solidFill>
                  <a:srgbClr val="000000"/>
                </a:solidFill>
                <a:ea typeface="华文行楷" pitchFamily="2" charset="-122"/>
                <a:sym typeface="Symbol" pitchFamily="18" charset="2"/>
              </a:rPr>
              <a:t>  </a:t>
            </a:r>
            <a:r>
              <a:rPr lang="en-US" altLang="zh-CN" sz="2800" b="1" dirty="0" err="1">
                <a:ea typeface="华文行楷" pitchFamily="2" charset="-122"/>
                <a:sym typeface="Wingdings" pitchFamily="2" charset="2"/>
              </a:rPr>
              <a:t>acabcbBdcc</a:t>
            </a:r>
            <a:r>
              <a:rPr lang="en-US" altLang="zh-CN" sz="2800" b="1" dirty="0">
                <a:ea typeface="华文行楷" pitchFamily="2" charset="-122"/>
                <a:sym typeface="Wingdings" pitchFamily="2" charset="2"/>
              </a:rPr>
              <a:t> </a:t>
            </a:r>
          </a:p>
          <a:p>
            <a:pPr eaLnBrk="1" hangingPunct="1">
              <a:spcBef>
                <a:spcPct val="0"/>
              </a:spcBef>
              <a:buFontTx/>
              <a:buNone/>
            </a:pPr>
            <a:r>
              <a:rPr lang="en-US" altLang="zh-CN" sz="2800" b="1" dirty="0">
                <a:solidFill>
                  <a:srgbClr val="000000"/>
                </a:solidFill>
                <a:ea typeface="华文行楷" pitchFamily="2" charset="-122"/>
                <a:sym typeface="Wingdings" pitchFamily="2" charset="2"/>
              </a:rPr>
              <a:t>   </a:t>
            </a:r>
            <a:r>
              <a:rPr lang="en-US" altLang="zh-CN" sz="2800" dirty="0">
                <a:solidFill>
                  <a:srgbClr val="000000"/>
                </a:solidFill>
                <a:ea typeface="华文行楷" pitchFamily="2" charset="-122"/>
                <a:sym typeface="Symbol" pitchFamily="18" charset="2"/>
              </a:rPr>
              <a:t></a:t>
            </a:r>
            <a:r>
              <a:rPr lang="en-US" altLang="zh-CN" sz="2800" b="1" dirty="0">
                <a:ea typeface="华文行楷" pitchFamily="2" charset="-122"/>
                <a:sym typeface="Wingdings" pitchFamily="2" charset="2"/>
              </a:rPr>
              <a:t> </a:t>
            </a:r>
            <a:r>
              <a:rPr lang="en-US" altLang="zh-CN" sz="2800" b="1" dirty="0" err="1">
                <a:ea typeface="华文行楷" pitchFamily="2" charset="-122"/>
                <a:sym typeface="Wingdings" pitchFamily="2" charset="2"/>
              </a:rPr>
              <a:t>acabcbbdcc</a:t>
            </a:r>
            <a:endParaRPr lang="en-US" altLang="zh-CN" sz="2800" b="1" dirty="0">
              <a:ea typeface="华文行楷" pitchFamily="2" charset="-122"/>
              <a:sym typeface="Wingdings" pitchFamily="2" charset="2"/>
            </a:endParaRPr>
          </a:p>
        </p:txBody>
      </p:sp>
    </p:spTree>
    <p:extLst>
      <p:ext uri="{BB962C8B-B14F-4D97-AF65-F5344CB8AC3E}">
        <p14:creationId xmlns:p14="http://schemas.microsoft.com/office/powerpoint/2010/main" val="931522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5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9"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noChangeArrowheads="1"/>
          </p:cNvSpPr>
          <p:nvPr>
            <p:ph type="title"/>
          </p:nvPr>
        </p:nvSpPr>
        <p:spPr>
          <a:xfrm>
            <a:off x="457200" y="206375"/>
            <a:ext cx="8229600" cy="755650"/>
          </a:xfrm>
        </p:spPr>
        <p:txBody>
          <a:bodyPr>
            <a:noAutofit/>
          </a:bodyPr>
          <a:lstStyle/>
          <a:p>
            <a:pPr algn="l">
              <a:lnSpc>
                <a:spcPct val="172000"/>
              </a:lnSpc>
              <a:spcBef>
                <a:spcPts val="800"/>
              </a:spcBef>
              <a:spcAft>
                <a:spcPts val="300"/>
              </a:spcAft>
              <a:defRPr/>
            </a:pPr>
            <a:r>
              <a:rPr lang="zh-CN" altLang="zh-CN" sz="4300" dirty="0">
                <a:solidFill>
                  <a:srgbClr val="CC0099"/>
                </a:solidFill>
                <a:ea typeface="隶书" pitchFamily="49" charset="-122"/>
              </a:rPr>
              <a:t>文法产生的语言</a:t>
            </a:r>
          </a:p>
        </p:txBody>
      </p:sp>
      <p:sp>
        <p:nvSpPr>
          <p:cNvPr id="25603" name="Rectangle 3"/>
          <p:cNvSpPr>
            <a:spLocks noGrp="1" noChangeArrowheads="1"/>
          </p:cNvSpPr>
          <p:nvPr>
            <p:ph type="body" idx="1"/>
          </p:nvPr>
        </p:nvSpPr>
        <p:spPr>
          <a:xfrm>
            <a:off x="287338" y="1455739"/>
            <a:ext cx="8569325" cy="1476052"/>
          </a:xfrm>
          <a:solidFill>
            <a:schemeClr val="bg1"/>
          </a:solidFill>
          <a:ln w="28575">
            <a:solidFill>
              <a:srgbClr val="0000CC"/>
            </a:solidFill>
            <a:miter lim="800000"/>
            <a:headEnd/>
            <a:tailEnd/>
          </a:ln>
        </p:spPr>
        <p:txBody>
          <a:bodyPr/>
          <a:lstStyle/>
          <a:p>
            <a:pPr eaLnBrk="1" hangingPunct="1">
              <a:spcBef>
                <a:spcPts val="0"/>
              </a:spcBef>
            </a:pPr>
            <a:r>
              <a:rPr lang="zh-CN" altLang="en-US" sz="2400" b="1" dirty="0">
                <a:solidFill>
                  <a:srgbClr val="FF3399"/>
                </a:solidFill>
                <a:latin typeface="宋体" pitchFamily="2" charset="-122"/>
              </a:rPr>
              <a:t>文法</a:t>
            </a:r>
            <a:r>
              <a:rPr lang="en-US" altLang="zh-CN" sz="2400" b="1" dirty="0">
                <a:solidFill>
                  <a:srgbClr val="FF3399"/>
                </a:solidFill>
              </a:rPr>
              <a:t>G</a:t>
            </a:r>
            <a:r>
              <a:rPr lang="zh-CN" altLang="en-US" sz="2400" b="1" dirty="0">
                <a:solidFill>
                  <a:srgbClr val="FF3399"/>
                </a:solidFill>
                <a:latin typeface="宋体" pitchFamily="2" charset="-122"/>
              </a:rPr>
              <a:t>所产生的语言</a:t>
            </a:r>
            <a:r>
              <a:rPr lang="zh-CN" altLang="en-US" sz="2400" dirty="0">
                <a:latin typeface="宋体" pitchFamily="2" charset="-122"/>
              </a:rPr>
              <a:t>定义为：</a:t>
            </a:r>
          </a:p>
          <a:p>
            <a:pPr eaLnBrk="1" hangingPunct="1">
              <a:lnSpc>
                <a:spcPct val="120000"/>
              </a:lnSpc>
              <a:spcBef>
                <a:spcPts val="0"/>
              </a:spcBef>
              <a:buFontTx/>
              <a:buNone/>
            </a:pPr>
            <a:r>
              <a:rPr lang="zh-CN" altLang="en-US" sz="2400" dirty="0"/>
              <a:t>     </a:t>
            </a:r>
            <a:r>
              <a:rPr lang="en-US" altLang="zh-CN" sz="2400" dirty="0"/>
              <a:t>L(G)={</a:t>
            </a:r>
            <a:r>
              <a:rPr lang="en-US" altLang="zh-CN" sz="2400" dirty="0" err="1"/>
              <a:t>x|S</a:t>
            </a:r>
            <a:r>
              <a:rPr lang="en-US" altLang="zh-CN" sz="2400" dirty="0">
                <a:latin typeface="宋体" pitchFamily="2" charset="-122"/>
              </a:rPr>
              <a:t>=&gt;</a:t>
            </a:r>
            <a:r>
              <a:rPr lang="en-US" altLang="zh-CN" sz="2400" dirty="0"/>
              <a:t>x,</a:t>
            </a:r>
            <a:r>
              <a:rPr lang="zh-CN" altLang="en-US" sz="2400" dirty="0">
                <a:latin typeface="宋体" pitchFamily="2" charset="-122"/>
              </a:rPr>
              <a:t>其中</a:t>
            </a:r>
            <a:r>
              <a:rPr lang="en-US" altLang="zh-CN" sz="2400" dirty="0"/>
              <a:t>S</a:t>
            </a:r>
            <a:r>
              <a:rPr lang="zh-CN" altLang="en-US" sz="2400" dirty="0">
                <a:latin typeface="宋体" pitchFamily="2" charset="-122"/>
              </a:rPr>
              <a:t>为文法的开始符号，</a:t>
            </a:r>
            <a:r>
              <a:rPr lang="en-US" altLang="zh-CN" sz="2400" dirty="0" err="1"/>
              <a:t>x∈V</a:t>
            </a:r>
            <a:r>
              <a:rPr lang="en-US" altLang="zh-CN" sz="2400" baseline="-25000" dirty="0" err="1"/>
              <a:t>t</a:t>
            </a:r>
            <a:r>
              <a:rPr lang="en-US" altLang="zh-CN" sz="2400" baseline="30000" dirty="0"/>
              <a:t>*</a:t>
            </a:r>
            <a:r>
              <a:rPr lang="en-US" altLang="zh-CN" sz="2400" dirty="0"/>
              <a:t>} </a:t>
            </a:r>
            <a:r>
              <a:rPr lang="zh-CN" altLang="en-US" sz="2400" dirty="0"/>
              <a:t>。</a:t>
            </a:r>
            <a:endParaRPr lang="en-US" altLang="zh-CN" sz="2400" dirty="0"/>
          </a:p>
          <a:p>
            <a:pPr>
              <a:lnSpc>
                <a:spcPct val="120000"/>
              </a:lnSpc>
              <a:spcBef>
                <a:spcPts val="0"/>
              </a:spcBef>
            </a:pPr>
            <a:r>
              <a:rPr lang="zh-CN" altLang="en-US" sz="2400" dirty="0">
                <a:solidFill>
                  <a:srgbClr val="000000"/>
                </a:solidFill>
                <a:sym typeface="Symbol" pitchFamily="18" charset="2"/>
              </a:rPr>
              <a:t>即</a:t>
            </a:r>
            <a:r>
              <a:rPr lang="en-US" altLang="zh-CN" sz="2400" dirty="0">
                <a:solidFill>
                  <a:srgbClr val="000000"/>
                </a:solidFill>
                <a:sym typeface="Symbol" pitchFamily="18" charset="2"/>
              </a:rPr>
              <a:t>: </a:t>
            </a:r>
            <a:r>
              <a:rPr lang="zh-CN" altLang="en-US" sz="2400" dirty="0">
                <a:solidFill>
                  <a:srgbClr val="000000"/>
                </a:solidFill>
                <a:sym typeface="Symbol" pitchFamily="18" charset="2"/>
              </a:rPr>
              <a:t>是文法可以推导出的所有句子构成的集合</a:t>
            </a:r>
            <a:endParaRPr lang="en-US" altLang="zh-CN" sz="2400" dirty="0"/>
          </a:p>
        </p:txBody>
      </p:sp>
      <p:sp>
        <p:nvSpPr>
          <p:cNvPr id="25604" name="Text Box 4"/>
          <p:cNvSpPr txBox="1">
            <a:spLocks noChangeArrowheads="1"/>
          </p:cNvSpPr>
          <p:nvPr/>
        </p:nvSpPr>
        <p:spPr bwMode="auto">
          <a:xfrm>
            <a:off x="2322984" y="1707654"/>
            <a:ext cx="304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Tree>
    <p:extLst>
      <p:ext uri="{BB962C8B-B14F-4D97-AF65-F5344CB8AC3E}">
        <p14:creationId xmlns:p14="http://schemas.microsoft.com/office/powerpoint/2010/main" val="54442830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3"/>
          <p:cNvSpPr>
            <a:spLocks noGrp="1" noChangeArrowheads="1"/>
          </p:cNvSpPr>
          <p:nvPr>
            <p:ph type="body" idx="1"/>
          </p:nvPr>
        </p:nvSpPr>
        <p:spPr>
          <a:xfrm>
            <a:off x="445436" y="584994"/>
            <a:ext cx="2794052" cy="971550"/>
          </a:xfrm>
          <a:solidFill>
            <a:schemeClr val="bg1">
              <a:lumMod val="95000"/>
            </a:schemeClr>
          </a:solidFill>
        </p:spPr>
        <p:txBody>
          <a:bodyPr>
            <a:normAutofit/>
          </a:bodyPr>
          <a:lstStyle/>
          <a:p>
            <a:pPr eaLnBrk="1" hangingPunct="1"/>
            <a:r>
              <a:rPr lang="zh-CN" altLang="en-US" sz="2000" dirty="0"/>
              <a:t>示例：考虑文法</a:t>
            </a:r>
            <a:r>
              <a:rPr lang="en-US" altLang="zh-CN" sz="2000" dirty="0"/>
              <a:t>G:</a:t>
            </a:r>
          </a:p>
          <a:p>
            <a:pPr eaLnBrk="1" hangingPunct="1">
              <a:buFontTx/>
              <a:buNone/>
            </a:pPr>
            <a:r>
              <a:rPr lang="en-US" altLang="zh-CN" sz="2000" dirty="0"/>
              <a:t>    </a:t>
            </a:r>
            <a:r>
              <a:rPr lang="zh-CN" altLang="en-US" sz="2000" dirty="0"/>
              <a:t>它定义了什么语言。</a:t>
            </a:r>
          </a:p>
          <a:p>
            <a:pPr eaLnBrk="1" hangingPunct="1"/>
            <a:endParaRPr lang="en-US" altLang="zh-CN" sz="2000" dirty="0"/>
          </a:p>
        </p:txBody>
      </p:sp>
      <p:sp>
        <p:nvSpPr>
          <p:cNvPr id="26627" name="Text Box 4"/>
          <p:cNvSpPr txBox="1">
            <a:spLocks noChangeArrowheads="1"/>
          </p:cNvSpPr>
          <p:nvPr/>
        </p:nvSpPr>
        <p:spPr bwMode="auto">
          <a:xfrm>
            <a:off x="3695700" y="573212"/>
            <a:ext cx="1752600" cy="830997"/>
          </a:xfrm>
          <a:prstGeom prst="rect">
            <a:avLst/>
          </a:prstGeom>
          <a:noFill/>
          <a:ln w="9525">
            <a:solidFill>
              <a:srgbClr val="00CC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400" dirty="0">
                <a:solidFill>
                  <a:schemeClr val="accent2"/>
                </a:solidFill>
                <a:ea typeface="华文行楷" pitchFamily="2" charset="-122"/>
              </a:rPr>
              <a:t>S </a:t>
            </a:r>
            <a:r>
              <a:rPr lang="en-US" altLang="zh-CN" sz="2400" dirty="0">
                <a:solidFill>
                  <a:schemeClr val="accent2"/>
                </a:solidFill>
                <a:latin typeface="宋体" pitchFamily="2" charset="-122"/>
                <a:ea typeface="华文行楷" pitchFamily="2" charset="-122"/>
                <a:sym typeface="Symbol" pitchFamily="18" charset="2"/>
              </a:rPr>
              <a:t></a:t>
            </a:r>
            <a:r>
              <a:rPr lang="en-US" altLang="zh-CN" sz="2400" dirty="0">
                <a:solidFill>
                  <a:schemeClr val="accent2"/>
                </a:solidFill>
                <a:ea typeface="华文行楷" pitchFamily="2" charset="-122"/>
              </a:rPr>
              <a:t> </a:t>
            </a:r>
            <a:r>
              <a:rPr lang="en-US" altLang="zh-CN" sz="2400" dirty="0" err="1">
                <a:solidFill>
                  <a:schemeClr val="accent2"/>
                </a:solidFill>
                <a:ea typeface="华文行楷" pitchFamily="2" charset="-122"/>
              </a:rPr>
              <a:t>bA</a:t>
            </a:r>
            <a:endParaRPr lang="en-US" altLang="zh-CN" sz="2400" dirty="0">
              <a:solidFill>
                <a:schemeClr val="accent2"/>
              </a:solidFill>
              <a:ea typeface="华文行楷" pitchFamily="2" charset="-122"/>
            </a:endParaRPr>
          </a:p>
          <a:p>
            <a:pPr eaLnBrk="1" hangingPunct="1">
              <a:spcBef>
                <a:spcPts val="0"/>
              </a:spcBef>
              <a:buFontTx/>
              <a:buNone/>
            </a:pPr>
            <a:r>
              <a:rPr lang="en-US" altLang="zh-CN" sz="2400" dirty="0">
                <a:solidFill>
                  <a:schemeClr val="accent2"/>
                </a:solidFill>
                <a:ea typeface="华文行楷" pitchFamily="2" charset="-122"/>
              </a:rPr>
              <a:t>A </a:t>
            </a:r>
            <a:r>
              <a:rPr lang="en-US" altLang="zh-CN" sz="2400" dirty="0">
                <a:solidFill>
                  <a:schemeClr val="accent2"/>
                </a:solidFill>
                <a:latin typeface="宋体" pitchFamily="2" charset="-122"/>
                <a:ea typeface="华文行楷" pitchFamily="2" charset="-122"/>
                <a:sym typeface="Symbol" pitchFamily="18" charset="2"/>
              </a:rPr>
              <a:t></a:t>
            </a:r>
            <a:r>
              <a:rPr lang="en-US" altLang="zh-CN" sz="2400" dirty="0">
                <a:solidFill>
                  <a:schemeClr val="accent2"/>
                </a:solidFill>
                <a:ea typeface="华文行楷" pitchFamily="2" charset="-122"/>
              </a:rPr>
              <a:t> </a:t>
            </a:r>
            <a:r>
              <a:rPr lang="en-US" altLang="zh-CN" sz="2400" dirty="0" err="1">
                <a:solidFill>
                  <a:schemeClr val="accent2"/>
                </a:solidFill>
                <a:ea typeface="华文行楷" pitchFamily="2" charset="-122"/>
              </a:rPr>
              <a:t>aA|a</a:t>
            </a:r>
            <a:endParaRPr lang="en-US" altLang="zh-CN" sz="2400" dirty="0">
              <a:solidFill>
                <a:schemeClr val="accent2"/>
              </a:solidFill>
              <a:ea typeface="华文行楷" pitchFamily="2" charset="-122"/>
            </a:endParaRPr>
          </a:p>
        </p:txBody>
      </p:sp>
      <p:sp>
        <p:nvSpPr>
          <p:cNvPr id="30725" name="Text Box 5"/>
          <p:cNvSpPr txBox="1">
            <a:spLocks noChangeArrowheads="1"/>
          </p:cNvSpPr>
          <p:nvPr/>
        </p:nvSpPr>
        <p:spPr bwMode="auto">
          <a:xfrm>
            <a:off x="1331640" y="1535713"/>
            <a:ext cx="5760640" cy="2246769"/>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600"/>
              </a:spcBef>
              <a:buFontTx/>
              <a:buNone/>
            </a:pPr>
            <a:r>
              <a:rPr lang="zh-CN" altLang="en-US" sz="2400" dirty="0">
                <a:solidFill>
                  <a:schemeClr val="accent2"/>
                </a:solidFill>
                <a:ea typeface="华文行楷" pitchFamily="2" charset="-122"/>
              </a:rPr>
              <a:t>推导过程 ：</a:t>
            </a:r>
            <a:endParaRPr lang="en-US" altLang="zh-CN" sz="2400" dirty="0">
              <a:solidFill>
                <a:schemeClr val="accent2"/>
              </a:solidFill>
              <a:ea typeface="华文行楷" pitchFamily="2" charset="-122"/>
            </a:endParaRPr>
          </a:p>
          <a:p>
            <a:pPr eaLnBrk="1" hangingPunct="1">
              <a:spcBef>
                <a:spcPts val="600"/>
              </a:spcBef>
              <a:buFontTx/>
              <a:buNone/>
            </a:pPr>
            <a:endParaRPr lang="en-US" altLang="zh-CN" sz="2400" dirty="0">
              <a:solidFill>
                <a:schemeClr val="accent2"/>
              </a:solidFill>
              <a:ea typeface="华文行楷" pitchFamily="2" charset="-122"/>
            </a:endParaRPr>
          </a:p>
          <a:p>
            <a:pPr eaLnBrk="1" hangingPunct="1">
              <a:spcBef>
                <a:spcPts val="600"/>
              </a:spcBef>
              <a:buFontTx/>
              <a:buNone/>
            </a:pPr>
            <a:endParaRPr lang="en-US" altLang="zh-CN" sz="2400" dirty="0">
              <a:solidFill>
                <a:schemeClr val="accent2"/>
              </a:solidFill>
              <a:ea typeface="华文行楷" pitchFamily="2" charset="-122"/>
            </a:endParaRPr>
          </a:p>
          <a:p>
            <a:pPr eaLnBrk="1" hangingPunct="1">
              <a:spcBef>
                <a:spcPts val="600"/>
              </a:spcBef>
              <a:buFontTx/>
              <a:buNone/>
            </a:pPr>
            <a:endParaRPr lang="en-US" altLang="zh-CN" sz="2400" dirty="0">
              <a:solidFill>
                <a:schemeClr val="accent2"/>
              </a:solidFill>
              <a:ea typeface="华文行楷" pitchFamily="2" charset="-122"/>
            </a:endParaRPr>
          </a:p>
          <a:p>
            <a:pPr eaLnBrk="1" hangingPunct="1">
              <a:spcBef>
                <a:spcPts val="600"/>
              </a:spcBef>
              <a:buFontTx/>
              <a:buNone/>
            </a:pPr>
            <a:endParaRPr lang="en-US" altLang="zh-CN" sz="2400" dirty="0">
              <a:solidFill>
                <a:schemeClr val="accent2"/>
              </a:solidFill>
              <a:ea typeface="华文行楷" pitchFamily="2" charset="-122"/>
            </a:endParaRPr>
          </a:p>
        </p:txBody>
      </p:sp>
      <p:sp>
        <p:nvSpPr>
          <p:cNvPr id="30726" name="Text Box 6"/>
          <p:cNvSpPr txBox="1">
            <a:spLocks noChangeArrowheads="1"/>
          </p:cNvSpPr>
          <p:nvPr/>
        </p:nvSpPr>
        <p:spPr bwMode="auto">
          <a:xfrm>
            <a:off x="1217340" y="4217059"/>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dirty="0">
                <a:solidFill>
                  <a:schemeClr val="accent2"/>
                </a:solidFill>
                <a:ea typeface="华文行楷" pitchFamily="2" charset="-122"/>
                <a:cs typeface="Times New Roman" pitchFamily="18" charset="0"/>
              </a:rPr>
              <a:t>归纳得：</a:t>
            </a:r>
            <a:r>
              <a:rPr lang="zh-CN" altLang="en-US" dirty="0">
                <a:ea typeface="华文行楷" pitchFamily="2" charset="-122"/>
                <a:cs typeface="Times New Roman" pitchFamily="18" charset="0"/>
              </a:rPr>
              <a:t> </a:t>
            </a:r>
            <a:r>
              <a:rPr lang="en-US" altLang="zh-CN" dirty="0">
                <a:ea typeface="华文行楷" pitchFamily="2" charset="-122"/>
                <a:cs typeface="Times New Roman" pitchFamily="18" charset="0"/>
              </a:rPr>
              <a:t>L(G) = {ba</a:t>
            </a:r>
            <a:r>
              <a:rPr lang="en-US" altLang="zh-CN" baseline="30000" dirty="0">
                <a:ea typeface="华文行楷" pitchFamily="2" charset="-122"/>
                <a:cs typeface="Times New Roman" pitchFamily="18" charset="0"/>
              </a:rPr>
              <a:t>n</a:t>
            </a:r>
            <a:r>
              <a:rPr lang="en-US" altLang="zh-CN" dirty="0">
                <a:ea typeface="华文行楷" pitchFamily="2" charset="-122"/>
                <a:cs typeface="Times New Roman" pitchFamily="18" charset="0"/>
              </a:rPr>
              <a:t>  |</a:t>
            </a:r>
            <a:r>
              <a:rPr lang="en-US" altLang="zh-CN" sz="2400" dirty="0">
                <a:ea typeface="华文行楷" pitchFamily="2" charset="-122"/>
                <a:cs typeface="Times New Roman" pitchFamily="18" charset="0"/>
              </a:rPr>
              <a:t> </a:t>
            </a:r>
            <a:r>
              <a:rPr lang="en-US" altLang="zh-CN" dirty="0">
                <a:ea typeface="华文行楷" pitchFamily="2" charset="-122"/>
                <a:cs typeface="Times New Roman" pitchFamily="18" charset="0"/>
              </a:rPr>
              <a:t>n</a:t>
            </a:r>
            <a:r>
              <a:rPr lang="zh-CN" altLang="en-US" dirty="0">
                <a:ea typeface="华文行楷" pitchFamily="2" charset="-122"/>
                <a:cs typeface="Times New Roman" pitchFamily="18" charset="0"/>
              </a:rPr>
              <a:t>≥</a:t>
            </a:r>
            <a:r>
              <a:rPr lang="en-US" altLang="zh-CN" dirty="0">
                <a:ea typeface="华文行楷" pitchFamily="2" charset="-122"/>
                <a:cs typeface="Times New Roman" pitchFamily="18" charset="0"/>
              </a:rPr>
              <a:t>1}</a:t>
            </a:r>
          </a:p>
        </p:txBody>
      </p:sp>
      <p:sp>
        <p:nvSpPr>
          <p:cNvPr id="2" name="矩形 1"/>
          <p:cNvSpPr/>
          <p:nvPr/>
        </p:nvSpPr>
        <p:spPr>
          <a:xfrm>
            <a:off x="2141984" y="2097404"/>
            <a:ext cx="4572000" cy="461665"/>
          </a:xfrm>
          <a:prstGeom prst="rect">
            <a:avLst/>
          </a:prstGeom>
        </p:spPr>
        <p:txBody>
          <a:bodyPr>
            <a:spAutoFit/>
          </a:bodyPr>
          <a:lstStyle/>
          <a:p>
            <a:pPr>
              <a:spcBef>
                <a:spcPts val="600"/>
              </a:spcBef>
            </a:pPr>
            <a:r>
              <a:rPr lang="en-US" altLang="zh-CN" sz="2400" dirty="0">
                <a:ea typeface="华文行楷" pitchFamily="2" charset="-122"/>
              </a:rPr>
              <a:t>S=&gt;</a:t>
            </a:r>
            <a:r>
              <a:rPr lang="en-US" altLang="zh-CN" sz="2400" dirty="0" err="1">
                <a:ea typeface="华文行楷" pitchFamily="2" charset="-122"/>
              </a:rPr>
              <a:t>bA</a:t>
            </a:r>
            <a:r>
              <a:rPr lang="en-US" altLang="zh-CN" sz="2400" dirty="0">
                <a:ea typeface="华文行楷" pitchFamily="2" charset="-122"/>
              </a:rPr>
              <a:t> =&gt;</a:t>
            </a:r>
            <a:r>
              <a:rPr lang="en-US" altLang="zh-CN" sz="2400" dirty="0" err="1">
                <a:solidFill>
                  <a:srgbClr val="FF0000"/>
                </a:solidFill>
                <a:ea typeface="华文行楷" pitchFamily="2" charset="-122"/>
              </a:rPr>
              <a:t>ba</a:t>
            </a:r>
            <a:endParaRPr lang="en-US" altLang="zh-CN" sz="2400" dirty="0">
              <a:solidFill>
                <a:srgbClr val="FF0000"/>
              </a:solidFill>
              <a:ea typeface="华文行楷" pitchFamily="2" charset="-122"/>
            </a:endParaRPr>
          </a:p>
        </p:txBody>
      </p:sp>
      <p:sp>
        <p:nvSpPr>
          <p:cNvPr id="3" name="矩形 2"/>
          <p:cNvSpPr/>
          <p:nvPr/>
        </p:nvSpPr>
        <p:spPr>
          <a:xfrm>
            <a:off x="2132396" y="2499742"/>
            <a:ext cx="4572000" cy="461665"/>
          </a:xfrm>
          <a:prstGeom prst="rect">
            <a:avLst/>
          </a:prstGeom>
        </p:spPr>
        <p:txBody>
          <a:bodyPr>
            <a:spAutoFit/>
          </a:bodyPr>
          <a:lstStyle/>
          <a:p>
            <a:pPr>
              <a:spcBef>
                <a:spcPts val="600"/>
              </a:spcBef>
            </a:pPr>
            <a:r>
              <a:rPr lang="en-US" altLang="zh-CN" sz="2400" dirty="0">
                <a:ea typeface="华文行楷" pitchFamily="2" charset="-122"/>
              </a:rPr>
              <a:t>S=&gt;</a:t>
            </a:r>
            <a:r>
              <a:rPr lang="en-US" altLang="zh-CN" sz="2400" dirty="0" err="1">
                <a:ea typeface="华文行楷" pitchFamily="2" charset="-122"/>
              </a:rPr>
              <a:t>bA</a:t>
            </a:r>
            <a:r>
              <a:rPr lang="en-US" altLang="zh-CN" sz="2400" dirty="0">
                <a:ea typeface="华文行楷" pitchFamily="2" charset="-122"/>
              </a:rPr>
              <a:t> =&gt;</a:t>
            </a:r>
            <a:r>
              <a:rPr lang="en-US" altLang="zh-CN" sz="2400" dirty="0" err="1">
                <a:ea typeface="华文行楷" pitchFamily="2" charset="-122"/>
              </a:rPr>
              <a:t>baA</a:t>
            </a:r>
            <a:r>
              <a:rPr lang="en-US" altLang="zh-CN" sz="2400" dirty="0">
                <a:ea typeface="华文行楷" pitchFamily="2" charset="-122"/>
              </a:rPr>
              <a:t>=&gt;</a:t>
            </a:r>
            <a:r>
              <a:rPr lang="en-US" altLang="zh-CN" sz="2400" dirty="0">
                <a:solidFill>
                  <a:srgbClr val="FF0000"/>
                </a:solidFill>
                <a:ea typeface="华文行楷" pitchFamily="2" charset="-122"/>
              </a:rPr>
              <a:t>baa</a:t>
            </a:r>
          </a:p>
        </p:txBody>
      </p:sp>
      <p:sp>
        <p:nvSpPr>
          <p:cNvPr id="4" name="矩形 3"/>
          <p:cNvSpPr/>
          <p:nvPr/>
        </p:nvSpPr>
        <p:spPr>
          <a:xfrm>
            <a:off x="2141984" y="2859782"/>
            <a:ext cx="4572000" cy="461665"/>
          </a:xfrm>
          <a:prstGeom prst="rect">
            <a:avLst/>
          </a:prstGeom>
        </p:spPr>
        <p:txBody>
          <a:bodyPr>
            <a:spAutoFit/>
          </a:bodyPr>
          <a:lstStyle/>
          <a:p>
            <a:pPr>
              <a:spcBef>
                <a:spcPts val="600"/>
              </a:spcBef>
            </a:pPr>
            <a:r>
              <a:rPr lang="en-US" altLang="zh-CN" sz="2400" dirty="0">
                <a:ea typeface="华文行楷" pitchFamily="2" charset="-122"/>
              </a:rPr>
              <a:t>……………..</a:t>
            </a:r>
          </a:p>
        </p:txBody>
      </p:sp>
      <p:sp>
        <p:nvSpPr>
          <p:cNvPr id="5" name="矩形 4"/>
          <p:cNvSpPr/>
          <p:nvPr/>
        </p:nvSpPr>
        <p:spPr>
          <a:xfrm>
            <a:off x="2166440" y="3291830"/>
            <a:ext cx="4637808" cy="461665"/>
          </a:xfrm>
          <a:prstGeom prst="rect">
            <a:avLst/>
          </a:prstGeom>
        </p:spPr>
        <p:txBody>
          <a:bodyPr wrap="none">
            <a:spAutoFit/>
          </a:bodyPr>
          <a:lstStyle/>
          <a:p>
            <a:pPr>
              <a:spcBef>
                <a:spcPts val="600"/>
              </a:spcBef>
            </a:pPr>
            <a:r>
              <a:rPr lang="en-US" altLang="zh-CN" sz="2400" dirty="0">
                <a:ea typeface="华文行楷" pitchFamily="2" charset="-122"/>
              </a:rPr>
              <a:t>S=&gt;</a:t>
            </a:r>
            <a:r>
              <a:rPr lang="en-US" altLang="zh-CN" sz="2400" dirty="0" err="1">
                <a:ea typeface="华文行楷" pitchFamily="2" charset="-122"/>
              </a:rPr>
              <a:t>bA</a:t>
            </a:r>
            <a:r>
              <a:rPr lang="en-US" altLang="zh-CN" sz="2400" dirty="0">
                <a:ea typeface="华文行楷" pitchFamily="2" charset="-122"/>
              </a:rPr>
              <a:t> =&gt;</a:t>
            </a:r>
            <a:r>
              <a:rPr lang="en-US" altLang="zh-CN" sz="2400" dirty="0" err="1">
                <a:ea typeface="华文行楷" pitchFamily="2" charset="-122"/>
              </a:rPr>
              <a:t>baA</a:t>
            </a:r>
            <a:r>
              <a:rPr lang="en-US" altLang="zh-CN" sz="2400" dirty="0">
                <a:ea typeface="华文行楷" pitchFamily="2" charset="-122"/>
              </a:rPr>
              <a:t>=&gt;… =&gt;</a:t>
            </a:r>
            <a:r>
              <a:rPr lang="en-US" altLang="zh-CN" sz="2400" dirty="0" err="1">
                <a:solidFill>
                  <a:srgbClr val="FF0000"/>
                </a:solidFill>
                <a:ea typeface="华文行楷" pitchFamily="2" charset="-122"/>
              </a:rPr>
              <a:t>ba</a:t>
            </a:r>
            <a:r>
              <a:rPr lang="en-US" altLang="zh-CN" sz="2400" dirty="0">
                <a:solidFill>
                  <a:srgbClr val="FF0000"/>
                </a:solidFill>
                <a:ea typeface="华文行楷" pitchFamily="2" charset="-122"/>
              </a:rPr>
              <a:t>…a</a:t>
            </a:r>
          </a:p>
        </p:txBody>
      </p:sp>
    </p:spTree>
    <p:extLst>
      <p:ext uri="{BB962C8B-B14F-4D97-AF65-F5344CB8AC3E}">
        <p14:creationId xmlns:p14="http://schemas.microsoft.com/office/powerpoint/2010/main" val="359586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7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wipe(left)">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30726"/>
                                        </p:tgtEl>
                                        <p:attrNameLst>
                                          <p:attrName>style.visibility</p:attrName>
                                        </p:attrNameLst>
                                      </p:cBhvr>
                                      <p:to>
                                        <p:strVal val="visible"/>
                                      </p:to>
                                    </p:set>
                                    <p:animEffect transition="in" filter="wipe(down)">
                                      <p:cBhvr>
                                        <p:cTn id="31" dur="500"/>
                                        <p:tgtEl>
                                          <p:spTgt spid="307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5" grpId="0" animBg="1"/>
      <p:bldP spid="30726" grpId="0"/>
      <p:bldP spid="2" grpId="0"/>
      <p:bldP spid="3" grpId="0"/>
      <p:bldP spid="4" grpId="0"/>
      <p:bldP spid="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p:txBody>
          <a:bodyPr/>
          <a:lstStyle/>
          <a:p>
            <a:pPr eaLnBrk="1" hangingPunct="1"/>
            <a:endParaRPr lang="zh-CN" altLang="zh-CN"/>
          </a:p>
        </p:txBody>
      </p:sp>
      <p:sp>
        <p:nvSpPr>
          <p:cNvPr id="27651" name="Rectangle 3"/>
          <p:cNvSpPr>
            <a:spLocks noGrp="1" noChangeArrowheads="1"/>
          </p:cNvSpPr>
          <p:nvPr>
            <p:ph type="body" idx="1"/>
          </p:nvPr>
        </p:nvSpPr>
        <p:spPr/>
        <p:txBody>
          <a:bodyPr/>
          <a:lstStyle/>
          <a:p>
            <a:pPr eaLnBrk="1" hangingPunct="1"/>
            <a:r>
              <a:rPr lang="zh-CN" altLang="en-US">
                <a:latin typeface="宋体" pitchFamily="2" charset="-122"/>
              </a:rPr>
              <a:t>练习：文法Ｇ＝</a:t>
            </a:r>
            <a:r>
              <a:rPr lang="en-US" altLang="zh-CN"/>
              <a:t>({A,B,S},{a,b,c},P,S)</a:t>
            </a:r>
            <a:br>
              <a:rPr lang="en-US" altLang="zh-CN">
                <a:solidFill>
                  <a:schemeClr val="accent2"/>
                </a:solidFill>
              </a:rPr>
            </a:br>
            <a:r>
              <a:rPr lang="en-US" altLang="zh-CN">
                <a:solidFill>
                  <a:schemeClr val="accent2"/>
                </a:solidFill>
              </a:rPr>
              <a:t>         S </a:t>
            </a:r>
            <a:r>
              <a:rPr lang="en-US" altLang="zh-CN">
                <a:solidFill>
                  <a:schemeClr val="accent2"/>
                </a:solidFill>
                <a:latin typeface="宋体" pitchFamily="2" charset="-122"/>
                <a:sym typeface="Symbol" pitchFamily="18" charset="2"/>
              </a:rPr>
              <a:t></a:t>
            </a:r>
            <a:r>
              <a:rPr lang="en-US" altLang="zh-CN">
                <a:solidFill>
                  <a:schemeClr val="accent2"/>
                </a:solidFill>
              </a:rPr>
              <a:t> Ac|aB</a:t>
            </a:r>
            <a:br>
              <a:rPr lang="en-US" altLang="zh-CN">
                <a:solidFill>
                  <a:schemeClr val="accent2"/>
                </a:solidFill>
              </a:rPr>
            </a:br>
            <a:r>
              <a:rPr lang="en-US" altLang="zh-CN">
                <a:solidFill>
                  <a:schemeClr val="accent2"/>
                </a:solidFill>
              </a:rPr>
              <a:t>         A </a:t>
            </a:r>
            <a:r>
              <a:rPr lang="en-US" altLang="zh-CN">
                <a:solidFill>
                  <a:schemeClr val="accent2"/>
                </a:solidFill>
                <a:latin typeface="宋体" pitchFamily="2" charset="-122"/>
                <a:sym typeface="Symbol" pitchFamily="18" charset="2"/>
              </a:rPr>
              <a:t></a:t>
            </a:r>
            <a:r>
              <a:rPr lang="en-US" altLang="zh-CN">
                <a:solidFill>
                  <a:schemeClr val="accent2"/>
                </a:solidFill>
              </a:rPr>
              <a:t> ab</a:t>
            </a:r>
            <a:br>
              <a:rPr lang="en-US" altLang="zh-CN">
                <a:solidFill>
                  <a:schemeClr val="accent2"/>
                </a:solidFill>
              </a:rPr>
            </a:br>
            <a:r>
              <a:rPr lang="en-US" altLang="zh-CN">
                <a:solidFill>
                  <a:schemeClr val="accent2"/>
                </a:solidFill>
              </a:rPr>
              <a:t>         B </a:t>
            </a:r>
            <a:r>
              <a:rPr lang="en-US" altLang="zh-CN">
                <a:solidFill>
                  <a:schemeClr val="accent2"/>
                </a:solidFill>
                <a:latin typeface="宋体" pitchFamily="2" charset="-122"/>
                <a:sym typeface="Symbol" pitchFamily="18" charset="2"/>
              </a:rPr>
              <a:t></a:t>
            </a:r>
            <a:r>
              <a:rPr lang="en-US" altLang="zh-CN">
                <a:solidFill>
                  <a:schemeClr val="accent2"/>
                </a:solidFill>
              </a:rPr>
              <a:t> bc</a:t>
            </a:r>
            <a:br>
              <a:rPr lang="en-US" altLang="zh-CN">
                <a:solidFill>
                  <a:schemeClr val="accent2"/>
                </a:solidFill>
              </a:rPr>
            </a:br>
            <a:r>
              <a:rPr lang="zh-CN" altLang="en-US">
                <a:latin typeface="宋体" pitchFamily="2" charset="-122"/>
              </a:rPr>
              <a:t>写出Ｌ</a:t>
            </a:r>
            <a:r>
              <a:rPr lang="en-US" altLang="zh-CN"/>
              <a:t>(G)</a:t>
            </a:r>
            <a:r>
              <a:rPr lang="zh-CN" altLang="en-US">
                <a:latin typeface="宋体" pitchFamily="2" charset="-122"/>
              </a:rPr>
              <a:t>的全部元素</a:t>
            </a:r>
            <a:r>
              <a:rPr lang="zh-CN" altLang="en-US"/>
              <a:t> </a:t>
            </a:r>
          </a:p>
          <a:p>
            <a:pPr eaLnBrk="1" hangingPunct="1"/>
            <a:endParaRPr lang="en-US" altLang="zh-CN"/>
          </a:p>
        </p:txBody>
      </p:sp>
      <p:sp>
        <p:nvSpPr>
          <p:cNvPr id="29700" name="Text Box 4"/>
          <p:cNvSpPr txBox="1">
            <a:spLocks noChangeArrowheads="1"/>
          </p:cNvSpPr>
          <p:nvPr/>
        </p:nvSpPr>
        <p:spPr bwMode="auto">
          <a:xfrm>
            <a:off x="1905000" y="4229100"/>
            <a:ext cx="4114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solidFill>
                  <a:schemeClr val="accent2"/>
                </a:solidFill>
                <a:ea typeface="华文行楷" pitchFamily="2" charset="-122"/>
              </a:rPr>
              <a:t>L(G) = {abc}</a:t>
            </a:r>
          </a:p>
        </p:txBody>
      </p:sp>
    </p:spTree>
    <p:extLst>
      <p:ext uri="{BB962C8B-B14F-4D97-AF65-F5344CB8AC3E}">
        <p14:creationId xmlns:p14="http://schemas.microsoft.com/office/powerpoint/2010/main" val="4623598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9700"/>
                                        </p:tgtEl>
                                        <p:attrNameLst>
                                          <p:attrName>style.visibility</p:attrName>
                                        </p:attrNameLst>
                                      </p:cBhvr>
                                      <p:to>
                                        <p:strVal val="visible"/>
                                      </p:to>
                                    </p:set>
                                    <p:anim calcmode="lin" valueType="num">
                                      <p:cBhvr additive="base">
                                        <p:cTn id="7" dur="500" fill="hold"/>
                                        <p:tgtEl>
                                          <p:spTgt spid="29700"/>
                                        </p:tgtEl>
                                        <p:attrNameLst>
                                          <p:attrName>ppt_x</p:attrName>
                                        </p:attrNameLst>
                                      </p:cBhvr>
                                      <p:tavLst>
                                        <p:tav tm="0">
                                          <p:val>
                                            <p:strVal val="#ppt_x"/>
                                          </p:val>
                                        </p:tav>
                                        <p:tav tm="100000">
                                          <p:val>
                                            <p:strVal val="#ppt_x"/>
                                          </p:val>
                                        </p:tav>
                                      </p:tavLst>
                                    </p:anim>
                                    <p:anim calcmode="lin" valueType="num">
                                      <p:cBhvr additive="base">
                                        <p:cTn id="8" dur="500" fill="hold"/>
                                        <p:tgtEl>
                                          <p:spTgt spid="297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0"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p:txBody>
          <a:bodyPr/>
          <a:lstStyle/>
          <a:p>
            <a:pPr eaLnBrk="1" hangingPunct="1"/>
            <a:endParaRPr lang="zh-CN" altLang="zh-CN"/>
          </a:p>
        </p:txBody>
      </p:sp>
      <p:sp>
        <p:nvSpPr>
          <p:cNvPr id="28675" name="Rectangle 3"/>
          <p:cNvSpPr>
            <a:spLocks noGrp="1" noChangeArrowheads="1"/>
          </p:cNvSpPr>
          <p:nvPr>
            <p:ph type="body" idx="1"/>
          </p:nvPr>
        </p:nvSpPr>
        <p:spPr/>
        <p:txBody>
          <a:bodyPr/>
          <a:lstStyle/>
          <a:p>
            <a:pPr eaLnBrk="1" hangingPunct="1"/>
            <a:r>
              <a:rPr lang="zh-CN" altLang="en-US"/>
              <a:t>例：考虑文法</a:t>
            </a:r>
            <a:r>
              <a:rPr lang="en-US" altLang="zh-CN"/>
              <a:t>G2:</a:t>
            </a:r>
          </a:p>
          <a:p>
            <a:pPr eaLnBrk="1" hangingPunct="1"/>
            <a:endParaRPr lang="en-US" altLang="zh-CN"/>
          </a:p>
          <a:p>
            <a:pPr eaLnBrk="1" hangingPunct="1"/>
            <a:endParaRPr lang="en-US" altLang="zh-CN"/>
          </a:p>
          <a:p>
            <a:pPr eaLnBrk="1" hangingPunct="1"/>
            <a:r>
              <a:rPr lang="zh-CN" altLang="en-US"/>
              <a:t>它定义的语言是：</a:t>
            </a:r>
          </a:p>
        </p:txBody>
      </p:sp>
      <p:sp>
        <p:nvSpPr>
          <p:cNvPr id="28676" name="Text Box 4"/>
          <p:cNvSpPr txBox="1">
            <a:spLocks noChangeArrowheads="1"/>
          </p:cNvSpPr>
          <p:nvPr/>
        </p:nvSpPr>
        <p:spPr bwMode="auto">
          <a:xfrm>
            <a:off x="5003800" y="1222375"/>
            <a:ext cx="1752600" cy="181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solidFill>
                  <a:schemeClr val="accent2"/>
                </a:solidFill>
                <a:ea typeface="华文行楷" pitchFamily="2" charset="-122"/>
              </a:rPr>
              <a:t>S </a:t>
            </a:r>
            <a:r>
              <a:rPr lang="en-US" altLang="zh-CN" sz="2800">
                <a:solidFill>
                  <a:schemeClr val="accent2"/>
                </a:solidFill>
                <a:latin typeface="宋体" pitchFamily="2" charset="-122"/>
                <a:ea typeface="华文行楷" pitchFamily="2" charset="-122"/>
                <a:sym typeface="Symbol" pitchFamily="18" charset="2"/>
              </a:rPr>
              <a:t></a:t>
            </a:r>
            <a:r>
              <a:rPr lang="en-US" altLang="zh-CN" sz="2800">
                <a:solidFill>
                  <a:schemeClr val="accent2"/>
                </a:solidFill>
                <a:ea typeface="华文行楷" pitchFamily="2" charset="-122"/>
              </a:rPr>
              <a:t> AB</a:t>
            </a:r>
          </a:p>
          <a:p>
            <a:pPr algn="ctr" eaLnBrk="1" hangingPunct="1">
              <a:spcBef>
                <a:spcPct val="50000"/>
              </a:spcBef>
              <a:buFontTx/>
              <a:buNone/>
            </a:pPr>
            <a:r>
              <a:rPr lang="en-US" altLang="zh-CN" sz="2800">
                <a:solidFill>
                  <a:schemeClr val="accent2"/>
                </a:solidFill>
                <a:ea typeface="华文行楷" pitchFamily="2" charset="-122"/>
              </a:rPr>
              <a:t>A </a:t>
            </a:r>
            <a:r>
              <a:rPr lang="en-US" altLang="zh-CN" sz="2800">
                <a:solidFill>
                  <a:schemeClr val="accent2"/>
                </a:solidFill>
                <a:latin typeface="宋体" pitchFamily="2" charset="-122"/>
                <a:ea typeface="华文行楷" pitchFamily="2" charset="-122"/>
                <a:sym typeface="Symbol" pitchFamily="18" charset="2"/>
              </a:rPr>
              <a:t></a:t>
            </a:r>
            <a:r>
              <a:rPr lang="en-US" altLang="zh-CN" sz="2800">
                <a:solidFill>
                  <a:schemeClr val="accent2"/>
                </a:solidFill>
                <a:ea typeface="华文行楷" pitchFamily="2" charset="-122"/>
              </a:rPr>
              <a:t> aA|a</a:t>
            </a:r>
          </a:p>
          <a:p>
            <a:pPr algn="ctr" eaLnBrk="1" hangingPunct="1">
              <a:spcBef>
                <a:spcPct val="50000"/>
              </a:spcBef>
              <a:buFontTx/>
              <a:buNone/>
            </a:pPr>
            <a:r>
              <a:rPr lang="en-US" altLang="zh-CN" sz="2800">
                <a:solidFill>
                  <a:schemeClr val="accent2"/>
                </a:solidFill>
                <a:ea typeface="华文行楷" pitchFamily="2" charset="-122"/>
              </a:rPr>
              <a:t>B </a:t>
            </a:r>
            <a:r>
              <a:rPr lang="en-US" altLang="zh-CN" sz="2800">
                <a:solidFill>
                  <a:schemeClr val="accent2"/>
                </a:solidFill>
                <a:latin typeface="宋体" pitchFamily="2" charset="-122"/>
                <a:ea typeface="华文行楷" pitchFamily="2" charset="-122"/>
                <a:sym typeface="Symbol" pitchFamily="18" charset="2"/>
              </a:rPr>
              <a:t></a:t>
            </a:r>
            <a:r>
              <a:rPr lang="en-US" altLang="zh-CN" sz="2800">
                <a:solidFill>
                  <a:schemeClr val="accent2"/>
                </a:solidFill>
                <a:ea typeface="华文行楷" pitchFamily="2" charset="-122"/>
              </a:rPr>
              <a:t> bB|b</a:t>
            </a:r>
          </a:p>
        </p:txBody>
      </p:sp>
      <p:sp>
        <p:nvSpPr>
          <p:cNvPr id="31749" name="Text Box 5"/>
          <p:cNvSpPr txBox="1">
            <a:spLocks noChangeArrowheads="1"/>
          </p:cNvSpPr>
          <p:nvPr/>
        </p:nvSpPr>
        <p:spPr bwMode="auto">
          <a:xfrm>
            <a:off x="4038600" y="3371850"/>
            <a:ext cx="4419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a:solidFill>
                  <a:schemeClr val="accent2"/>
                </a:solidFill>
                <a:ea typeface="华文行楷" pitchFamily="2" charset="-122"/>
              </a:rPr>
              <a:t>L(G2) = {a</a:t>
            </a:r>
            <a:r>
              <a:rPr lang="en-US" altLang="zh-CN" baseline="30000">
                <a:solidFill>
                  <a:schemeClr val="accent2"/>
                </a:solidFill>
                <a:ea typeface="华文行楷" pitchFamily="2" charset="-122"/>
              </a:rPr>
              <a:t>m</a:t>
            </a:r>
            <a:r>
              <a:rPr lang="en-US" altLang="zh-CN">
                <a:solidFill>
                  <a:schemeClr val="accent2"/>
                </a:solidFill>
                <a:ea typeface="华文行楷" pitchFamily="2" charset="-122"/>
              </a:rPr>
              <a:t>b</a:t>
            </a:r>
            <a:r>
              <a:rPr lang="en-US" altLang="zh-CN" baseline="30000">
                <a:solidFill>
                  <a:schemeClr val="accent2"/>
                </a:solidFill>
                <a:ea typeface="华文行楷" pitchFamily="2" charset="-122"/>
              </a:rPr>
              <a:t>n</a:t>
            </a:r>
            <a:r>
              <a:rPr lang="en-US" altLang="zh-CN">
                <a:solidFill>
                  <a:schemeClr val="accent2"/>
                </a:solidFill>
                <a:ea typeface="华文行楷" pitchFamily="2" charset="-122"/>
              </a:rPr>
              <a:t>  |m,n</a:t>
            </a:r>
            <a:r>
              <a:rPr lang="en-US" altLang="zh-CN">
                <a:solidFill>
                  <a:schemeClr val="accent2"/>
                </a:solidFill>
                <a:ea typeface="华文行楷" pitchFamily="2" charset="-122"/>
                <a:cs typeface="Times New Roman" pitchFamily="18" charset="0"/>
              </a:rPr>
              <a:t>≥1</a:t>
            </a:r>
            <a:r>
              <a:rPr lang="en-US" altLang="zh-CN">
                <a:solidFill>
                  <a:schemeClr val="accent2"/>
                </a:solidFill>
                <a:ea typeface="华文行楷" pitchFamily="2" charset="-122"/>
              </a:rPr>
              <a:t>}</a:t>
            </a:r>
          </a:p>
        </p:txBody>
      </p:sp>
    </p:spTree>
    <p:extLst>
      <p:ext uri="{BB962C8B-B14F-4D97-AF65-F5344CB8AC3E}">
        <p14:creationId xmlns:p14="http://schemas.microsoft.com/office/powerpoint/2010/main" val="24529657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grpId="0" nodeType="clickEffect">
                                  <p:stCondLst>
                                    <p:cond delay="0"/>
                                  </p:stCondLst>
                                  <p:childTnLst>
                                    <p:set>
                                      <p:cBhvr>
                                        <p:cTn id="6" dur="1" fill="hold">
                                          <p:stCondLst>
                                            <p:cond delay="0"/>
                                          </p:stCondLst>
                                        </p:cTn>
                                        <p:tgtEl>
                                          <p:spTgt spid="31749"/>
                                        </p:tgtEl>
                                        <p:attrNameLst>
                                          <p:attrName>style.visibility</p:attrName>
                                        </p:attrNameLst>
                                      </p:cBhvr>
                                      <p:to>
                                        <p:strVal val="visible"/>
                                      </p:to>
                                    </p:set>
                                    <p:anim calcmode="lin" valueType="num">
                                      <p:cBhvr additive="base">
                                        <p:cTn id="7" dur="500" fill="hold"/>
                                        <p:tgtEl>
                                          <p:spTgt spid="31749"/>
                                        </p:tgtEl>
                                        <p:attrNameLst>
                                          <p:attrName>ppt_x</p:attrName>
                                        </p:attrNameLst>
                                      </p:cBhvr>
                                      <p:tavLst>
                                        <p:tav tm="0">
                                          <p:val>
                                            <p:strVal val="0-#ppt_w/2"/>
                                          </p:val>
                                        </p:tav>
                                        <p:tav tm="100000">
                                          <p:val>
                                            <p:strVal val="#ppt_x"/>
                                          </p:val>
                                        </p:tav>
                                      </p:tavLst>
                                    </p:anim>
                                    <p:anim calcmode="lin" valueType="num">
                                      <p:cBhvr additive="base">
                                        <p:cTn id="8" dur="500" fill="hold"/>
                                        <p:tgtEl>
                                          <p:spTgt spid="317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9"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3"/>
          <p:cNvSpPr>
            <a:spLocks noGrp="1" noChangeArrowheads="1"/>
          </p:cNvSpPr>
          <p:nvPr>
            <p:ph type="body" idx="1"/>
          </p:nvPr>
        </p:nvSpPr>
        <p:spPr>
          <a:xfrm>
            <a:off x="457200" y="699542"/>
            <a:ext cx="8229600" cy="1318171"/>
          </a:xfrm>
        </p:spPr>
        <p:txBody>
          <a:bodyPr>
            <a:normAutofit/>
          </a:bodyPr>
          <a:lstStyle/>
          <a:p>
            <a:pPr eaLnBrk="1" hangingPunct="1"/>
            <a:r>
              <a:rPr lang="zh-CN" altLang="en-US" dirty="0">
                <a:latin typeface="宋体" pitchFamily="2" charset="-122"/>
              </a:rPr>
              <a:t>思考：构造</a:t>
            </a:r>
            <a:r>
              <a:rPr lang="zh-CN" altLang="zh-CN" sz="24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嵌套括号</a:t>
            </a:r>
            <a:r>
              <a:rPr lang="en-US" altLang="zh-CN" sz="2400" kern="100" dirty="0">
                <a:solidFill>
                  <a:srgbClr val="FF0000"/>
                </a:solidFill>
                <a:effectLst/>
                <a:latin typeface="Times New Roman" panose="02020603050405020304" pitchFamily="18" charset="0"/>
                <a:ea typeface="宋体" panose="02010600030101010101" pitchFamily="2" charset="-122"/>
              </a:rPr>
              <a:t>(((……)))</a:t>
            </a:r>
            <a:r>
              <a:rPr lang="zh-CN" altLang="zh-CN" sz="24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的上下文无关文法</a:t>
            </a:r>
            <a:r>
              <a:rPr lang="en-US" altLang="zh-CN" sz="2400" kern="100" dirty="0">
                <a:solidFill>
                  <a:srgbClr val="FF0000"/>
                </a:solidFill>
                <a:effectLst/>
                <a:latin typeface="Times New Roman" panose="02020603050405020304" pitchFamily="18" charset="0"/>
                <a:ea typeface="宋体" panose="02010600030101010101" pitchFamily="2" charset="-122"/>
              </a:rPr>
              <a:t>G3</a:t>
            </a:r>
            <a:r>
              <a:rPr lang="zh-CN" altLang="zh-CN" sz="24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，使得左右括号是配对出现的。</a:t>
            </a:r>
            <a:endParaRPr lang="zh-CN" altLang="en-US" dirty="0"/>
          </a:p>
        </p:txBody>
      </p:sp>
      <p:sp>
        <p:nvSpPr>
          <p:cNvPr id="29699" name="Text Box 4"/>
          <p:cNvSpPr txBox="1">
            <a:spLocks noChangeArrowheads="1"/>
          </p:cNvSpPr>
          <p:nvPr/>
        </p:nvSpPr>
        <p:spPr bwMode="auto">
          <a:xfrm>
            <a:off x="3491880" y="2260532"/>
            <a:ext cx="45720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solidFill>
                  <a:schemeClr val="accent2"/>
                </a:solidFill>
                <a:ea typeface="华文行楷" pitchFamily="2" charset="-122"/>
              </a:rPr>
              <a:t>L(G3) =  {</a:t>
            </a:r>
            <a:r>
              <a:rPr lang="en-US" altLang="zh-CN" dirty="0" err="1">
                <a:solidFill>
                  <a:schemeClr val="accent2"/>
                </a:solidFill>
                <a:ea typeface="华文行楷" pitchFamily="2" charset="-122"/>
              </a:rPr>
              <a:t>a</a:t>
            </a:r>
            <a:r>
              <a:rPr lang="en-US" altLang="zh-CN" baseline="30000" dirty="0" err="1">
                <a:solidFill>
                  <a:schemeClr val="accent2"/>
                </a:solidFill>
                <a:ea typeface="华文行楷" pitchFamily="2" charset="-122"/>
              </a:rPr>
              <a:t>n</a:t>
            </a:r>
            <a:r>
              <a:rPr lang="en-US" altLang="zh-CN" dirty="0" err="1">
                <a:solidFill>
                  <a:schemeClr val="accent2"/>
                </a:solidFill>
                <a:ea typeface="华文行楷" pitchFamily="2" charset="-122"/>
              </a:rPr>
              <a:t>b</a:t>
            </a:r>
            <a:r>
              <a:rPr lang="en-US" altLang="zh-CN" baseline="30000" dirty="0" err="1">
                <a:solidFill>
                  <a:schemeClr val="accent2"/>
                </a:solidFill>
                <a:ea typeface="华文行楷" pitchFamily="2" charset="-122"/>
              </a:rPr>
              <a:t>n</a:t>
            </a:r>
            <a:r>
              <a:rPr lang="en-US" altLang="zh-CN" dirty="0">
                <a:solidFill>
                  <a:schemeClr val="accent2"/>
                </a:solidFill>
                <a:ea typeface="华文行楷" pitchFamily="2" charset="-122"/>
              </a:rPr>
              <a:t>  |n</a:t>
            </a:r>
            <a:r>
              <a:rPr lang="en-US" altLang="zh-CN" dirty="0">
                <a:solidFill>
                  <a:schemeClr val="accent2"/>
                </a:solidFill>
                <a:ea typeface="华文行楷" pitchFamily="2" charset="-122"/>
                <a:cs typeface="Times New Roman" pitchFamily="18" charset="0"/>
              </a:rPr>
              <a:t>≥1</a:t>
            </a:r>
            <a:r>
              <a:rPr lang="en-US" altLang="zh-CN" dirty="0">
                <a:ea typeface="华文行楷" pitchFamily="2" charset="-122"/>
              </a:rPr>
              <a:t> } </a:t>
            </a:r>
          </a:p>
        </p:txBody>
      </p:sp>
      <p:sp>
        <p:nvSpPr>
          <p:cNvPr id="32773" name="Text Box 5"/>
          <p:cNvSpPr txBox="1">
            <a:spLocks noChangeArrowheads="1"/>
          </p:cNvSpPr>
          <p:nvPr/>
        </p:nvSpPr>
        <p:spPr bwMode="auto">
          <a:xfrm>
            <a:off x="4876800" y="3486150"/>
            <a:ext cx="251460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a:solidFill>
                  <a:schemeClr val="accent2"/>
                </a:solidFill>
                <a:ea typeface="华文行楷" pitchFamily="2" charset="-122"/>
              </a:rPr>
              <a:t>S </a:t>
            </a:r>
            <a:r>
              <a:rPr lang="en-US" altLang="zh-CN" sz="2800">
                <a:latin typeface="宋体" pitchFamily="2" charset="-122"/>
                <a:ea typeface="华文行楷" pitchFamily="2" charset="-122"/>
                <a:sym typeface="Symbol" pitchFamily="18" charset="2"/>
              </a:rPr>
              <a:t></a:t>
            </a:r>
            <a:r>
              <a:rPr lang="en-US" altLang="zh-CN">
                <a:solidFill>
                  <a:schemeClr val="accent2"/>
                </a:solidFill>
                <a:ea typeface="华文行楷" pitchFamily="2" charset="-122"/>
              </a:rPr>
              <a:t> aSb</a:t>
            </a:r>
          </a:p>
          <a:p>
            <a:pPr algn="ctr" eaLnBrk="1" hangingPunct="1">
              <a:spcBef>
                <a:spcPct val="50000"/>
              </a:spcBef>
              <a:buFontTx/>
              <a:buNone/>
            </a:pPr>
            <a:r>
              <a:rPr lang="en-US" altLang="zh-CN">
                <a:solidFill>
                  <a:schemeClr val="accent2"/>
                </a:solidFill>
                <a:ea typeface="华文行楷" pitchFamily="2" charset="-122"/>
              </a:rPr>
              <a:t>S </a:t>
            </a:r>
            <a:r>
              <a:rPr lang="en-US" altLang="zh-CN" sz="2800">
                <a:latin typeface="宋体" pitchFamily="2" charset="-122"/>
                <a:ea typeface="华文行楷" pitchFamily="2" charset="-122"/>
                <a:sym typeface="Symbol" pitchFamily="18" charset="2"/>
              </a:rPr>
              <a:t></a:t>
            </a:r>
            <a:r>
              <a:rPr lang="en-US" altLang="zh-CN">
                <a:solidFill>
                  <a:schemeClr val="accent2"/>
                </a:solidFill>
                <a:ea typeface="华文行楷" pitchFamily="2" charset="-122"/>
              </a:rPr>
              <a:t> ab</a:t>
            </a:r>
          </a:p>
        </p:txBody>
      </p:sp>
      <p:sp>
        <p:nvSpPr>
          <p:cNvPr id="32774" name="Rectangle 6"/>
          <p:cNvSpPr>
            <a:spLocks noChangeArrowheads="1"/>
          </p:cNvSpPr>
          <p:nvPr/>
        </p:nvSpPr>
        <p:spPr bwMode="auto">
          <a:xfrm>
            <a:off x="1403648" y="2905483"/>
            <a:ext cx="61468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3600" dirty="0">
                <a:ea typeface="华文行楷" pitchFamily="2" charset="-122"/>
              </a:rPr>
              <a:t> </a:t>
            </a:r>
            <a:r>
              <a:rPr lang="en-US" altLang="zh-CN" sz="3600" dirty="0" err="1">
                <a:ea typeface="华文行楷" pitchFamily="2" charset="-122"/>
              </a:rPr>
              <a:t>a,b</a:t>
            </a:r>
            <a:r>
              <a:rPr lang="zh-CN" altLang="en-US" sz="3600" dirty="0">
                <a:ea typeface="华文行楷" pitchFamily="2" charset="-122"/>
              </a:rPr>
              <a:t>的个数相同</a:t>
            </a:r>
            <a:r>
              <a:rPr lang="en-US" altLang="zh-CN" sz="3600" dirty="0">
                <a:ea typeface="华文行楷" pitchFamily="2" charset="-122"/>
              </a:rPr>
              <a:t>,</a:t>
            </a:r>
            <a:r>
              <a:rPr lang="zh-CN" altLang="en-US" sz="3600" dirty="0">
                <a:ea typeface="华文行楷" pitchFamily="2" charset="-122"/>
              </a:rPr>
              <a:t>则文法</a:t>
            </a:r>
            <a:r>
              <a:rPr lang="en-US" altLang="zh-CN" sz="3600" dirty="0">
                <a:ea typeface="华文行楷" pitchFamily="2" charset="-122"/>
              </a:rPr>
              <a:t>G3</a:t>
            </a:r>
            <a:r>
              <a:rPr lang="zh-CN" altLang="en-US" sz="3600" dirty="0">
                <a:ea typeface="华文行楷" pitchFamily="2" charset="-122"/>
              </a:rPr>
              <a:t>为：</a:t>
            </a:r>
          </a:p>
        </p:txBody>
      </p:sp>
      <p:sp>
        <p:nvSpPr>
          <p:cNvPr id="4" name="文本框 3">
            <a:extLst>
              <a:ext uri="{FF2B5EF4-FFF2-40B4-BE49-F238E27FC236}">
                <a16:creationId xmlns:a16="http://schemas.microsoft.com/office/drawing/2014/main" id="{E98099E8-5E80-EB10-9255-1FF3136573F9}"/>
              </a:ext>
            </a:extLst>
          </p:cNvPr>
          <p:cNvSpPr txBox="1"/>
          <p:nvPr/>
        </p:nvSpPr>
        <p:spPr>
          <a:xfrm>
            <a:off x="683568" y="1616256"/>
            <a:ext cx="7776864" cy="707886"/>
          </a:xfrm>
          <a:prstGeom prst="rect">
            <a:avLst/>
          </a:prstGeom>
          <a:noFill/>
        </p:spPr>
        <p:txBody>
          <a:bodyPr wrap="square">
            <a:spAutoFit/>
          </a:bodyPr>
          <a:lstStyle/>
          <a:p>
            <a:r>
              <a:rPr lang="zh-CN" altLang="en-US" sz="2000" dirty="0"/>
              <a:t>假定用</a:t>
            </a:r>
            <a:r>
              <a:rPr lang="en-US" altLang="zh-CN" sz="2000" dirty="0"/>
              <a:t>a</a:t>
            </a:r>
            <a:r>
              <a:rPr lang="zh-CN" altLang="en-US" sz="2000" dirty="0"/>
              <a:t>表示左括号</a:t>
            </a:r>
            <a:r>
              <a:rPr lang="en-US" altLang="zh-CN" sz="2000" dirty="0"/>
              <a:t>(</a:t>
            </a:r>
            <a:r>
              <a:rPr lang="zh-CN" altLang="en-US" sz="2000" dirty="0"/>
              <a:t>，用</a:t>
            </a:r>
            <a:r>
              <a:rPr lang="en-US" altLang="zh-CN" sz="2000" dirty="0"/>
              <a:t>b</a:t>
            </a:r>
            <a:r>
              <a:rPr lang="zh-CN" altLang="en-US" sz="2000" dirty="0"/>
              <a:t>表示右括号</a:t>
            </a:r>
            <a:r>
              <a:rPr lang="en-US" altLang="zh-CN" sz="2000" dirty="0"/>
              <a:t>)</a:t>
            </a:r>
            <a:r>
              <a:rPr lang="zh-CN" altLang="en-US" sz="2000" dirty="0"/>
              <a:t>，那么嵌套括号配对出现的语言可以表示为：</a:t>
            </a:r>
          </a:p>
        </p:txBody>
      </p:sp>
    </p:spTree>
    <p:extLst>
      <p:ext uri="{BB962C8B-B14F-4D97-AF65-F5344CB8AC3E}">
        <p14:creationId xmlns:p14="http://schemas.microsoft.com/office/powerpoint/2010/main" val="27606730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32774"/>
                                        </p:tgtEl>
                                        <p:attrNameLst>
                                          <p:attrName>style.visibility</p:attrName>
                                        </p:attrNameLst>
                                      </p:cBhvr>
                                      <p:to>
                                        <p:strVal val="visible"/>
                                      </p:to>
                                    </p:set>
                                    <p:anim calcmode="lin" valueType="num">
                                      <p:cBhvr additive="base">
                                        <p:cTn id="7" dur="500" fill="hold"/>
                                        <p:tgtEl>
                                          <p:spTgt spid="32774"/>
                                        </p:tgtEl>
                                        <p:attrNameLst>
                                          <p:attrName>ppt_x</p:attrName>
                                        </p:attrNameLst>
                                      </p:cBhvr>
                                      <p:tavLst>
                                        <p:tav tm="0">
                                          <p:val>
                                            <p:strVal val="1+#ppt_w/2"/>
                                          </p:val>
                                        </p:tav>
                                        <p:tav tm="100000">
                                          <p:val>
                                            <p:strVal val="#ppt_x"/>
                                          </p:val>
                                        </p:tav>
                                      </p:tavLst>
                                    </p:anim>
                                    <p:anim calcmode="lin" valueType="num">
                                      <p:cBhvr additive="base">
                                        <p:cTn id="8" dur="500" fill="hold"/>
                                        <p:tgtEl>
                                          <p:spTgt spid="3277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2773"/>
                                        </p:tgtEl>
                                        <p:attrNameLst>
                                          <p:attrName>style.visibility</p:attrName>
                                        </p:attrNameLst>
                                      </p:cBhvr>
                                      <p:to>
                                        <p:strVal val="visible"/>
                                      </p:to>
                                    </p:set>
                                    <p:anim calcmode="lin" valueType="num">
                                      <p:cBhvr additive="base">
                                        <p:cTn id="13" dur="500" fill="hold"/>
                                        <p:tgtEl>
                                          <p:spTgt spid="32773"/>
                                        </p:tgtEl>
                                        <p:attrNameLst>
                                          <p:attrName>ppt_x</p:attrName>
                                        </p:attrNameLst>
                                      </p:cBhvr>
                                      <p:tavLst>
                                        <p:tav tm="0">
                                          <p:val>
                                            <p:strVal val="#ppt_x"/>
                                          </p:val>
                                        </p:tav>
                                        <p:tav tm="100000">
                                          <p:val>
                                            <p:strVal val="#ppt_x"/>
                                          </p:val>
                                        </p:tav>
                                      </p:tavLst>
                                    </p:anim>
                                    <p:anim calcmode="lin" valueType="num">
                                      <p:cBhvr additive="base">
                                        <p:cTn id="14" dur="500" fill="hold"/>
                                        <p:tgtEl>
                                          <p:spTgt spid="3277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3" grpId="0" autoUpdateAnimBg="0"/>
      <p:bldP spid="32774" grpId="0" autoUpdateAnimBg="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3"/>
          <p:cNvSpPr>
            <a:spLocks noGrp="1" noChangeArrowheads="1"/>
          </p:cNvSpPr>
          <p:nvPr>
            <p:ph type="body" idx="1"/>
          </p:nvPr>
        </p:nvSpPr>
        <p:spPr>
          <a:xfrm>
            <a:off x="439324" y="1059582"/>
            <a:ext cx="8229600" cy="1027112"/>
          </a:xfrm>
        </p:spPr>
        <p:txBody>
          <a:bodyPr>
            <a:normAutofit fontScale="92500" lnSpcReduction="20000"/>
          </a:bodyPr>
          <a:lstStyle/>
          <a:p>
            <a:pPr eaLnBrk="1" hangingPunct="1">
              <a:lnSpc>
                <a:spcPct val="90000"/>
              </a:lnSpc>
              <a:buFontTx/>
              <a:buNone/>
            </a:pPr>
            <a:r>
              <a:rPr lang="zh-CN" altLang="en-US" sz="2800" dirty="0"/>
              <a:t>例：有如下两个文法，判断它们是否等价？</a:t>
            </a:r>
          </a:p>
          <a:p>
            <a:pPr lvl="1" eaLnBrk="1" hangingPunct="1">
              <a:lnSpc>
                <a:spcPct val="90000"/>
              </a:lnSpc>
              <a:buFontTx/>
              <a:buNone/>
            </a:pPr>
            <a:r>
              <a:rPr lang="zh-CN" altLang="en-US" sz="2400" dirty="0"/>
              <a:t>    </a:t>
            </a:r>
            <a:r>
              <a:rPr lang="en-US" altLang="zh-CN" sz="2400" dirty="0"/>
              <a:t>G1=</a:t>
            </a:r>
            <a:r>
              <a:rPr lang="zh-CN" altLang="en-US" sz="2400" dirty="0"/>
              <a:t>（</a:t>
            </a:r>
            <a:r>
              <a:rPr lang="en-US" altLang="zh-CN" sz="2400" dirty="0">
                <a:solidFill>
                  <a:srgbClr val="00B050"/>
                </a:solidFill>
              </a:rPr>
              <a:t>{S}</a:t>
            </a:r>
            <a:r>
              <a:rPr lang="zh-CN" altLang="en-US" sz="2400" dirty="0">
                <a:solidFill>
                  <a:srgbClr val="00B050"/>
                </a:solidFill>
              </a:rPr>
              <a:t>，</a:t>
            </a:r>
            <a:r>
              <a:rPr lang="en-US" altLang="zh-CN" sz="2400" dirty="0">
                <a:solidFill>
                  <a:srgbClr val="00B050"/>
                </a:solidFill>
              </a:rPr>
              <a:t>{0}</a:t>
            </a:r>
            <a:r>
              <a:rPr lang="zh-CN" altLang="en-US" sz="2400" dirty="0">
                <a:solidFill>
                  <a:srgbClr val="00B050"/>
                </a:solidFill>
              </a:rPr>
              <a:t>，</a:t>
            </a:r>
            <a:r>
              <a:rPr lang="en-US" altLang="zh-CN" sz="2400" dirty="0">
                <a:solidFill>
                  <a:srgbClr val="00B050"/>
                </a:solidFill>
              </a:rPr>
              <a:t>S</a:t>
            </a:r>
            <a:r>
              <a:rPr lang="zh-CN" altLang="en-US" sz="2400" dirty="0">
                <a:solidFill>
                  <a:srgbClr val="00B050"/>
                </a:solidFill>
              </a:rPr>
              <a:t>，</a:t>
            </a:r>
            <a:r>
              <a:rPr lang="en-US" altLang="zh-CN" sz="2400" dirty="0">
                <a:solidFill>
                  <a:srgbClr val="00B050"/>
                </a:solidFill>
              </a:rPr>
              <a:t>{S</a:t>
            </a:r>
            <a:r>
              <a:rPr lang="en-US" altLang="zh-CN" sz="2400" dirty="0">
                <a:solidFill>
                  <a:srgbClr val="00B050"/>
                </a:solidFill>
                <a:sym typeface="Symbol" pitchFamily="18" charset="2"/>
              </a:rPr>
              <a:t></a:t>
            </a:r>
            <a:r>
              <a:rPr lang="en-US" altLang="zh-CN" sz="2400" dirty="0">
                <a:solidFill>
                  <a:srgbClr val="00B050"/>
                </a:solidFill>
              </a:rPr>
              <a:t>0S</a:t>
            </a:r>
            <a:r>
              <a:rPr lang="zh-CN" altLang="en-US" sz="2400" dirty="0">
                <a:solidFill>
                  <a:srgbClr val="00B050"/>
                </a:solidFill>
              </a:rPr>
              <a:t>，</a:t>
            </a:r>
            <a:r>
              <a:rPr lang="en-US" altLang="zh-CN" sz="2400" dirty="0">
                <a:solidFill>
                  <a:srgbClr val="00B050"/>
                </a:solidFill>
              </a:rPr>
              <a:t>S</a:t>
            </a:r>
            <a:r>
              <a:rPr lang="en-US" altLang="zh-CN" sz="2400" dirty="0">
                <a:solidFill>
                  <a:srgbClr val="00B050"/>
                </a:solidFill>
                <a:sym typeface="Symbol" pitchFamily="18" charset="2"/>
              </a:rPr>
              <a:t></a:t>
            </a:r>
            <a:r>
              <a:rPr lang="en-US" altLang="zh-CN" sz="2400" dirty="0">
                <a:solidFill>
                  <a:srgbClr val="00B050"/>
                </a:solidFill>
              </a:rPr>
              <a:t>0}</a:t>
            </a:r>
            <a:r>
              <a:rPr lang="zh-CN" altLang="en-US" sz="2400" dirty="0"/>
              <a:t>）</a:t>
            </a:r>
          </a:p>
          <a:p>
            <a:pPr lvl="1" eaLnBrk="1" hangingPunct="1">
              <a:lnSpc>
                <a:spcPct val="90000"/>
              </a:lnSpc>
              <a:buFontTx/>
              <a:buNone/>
            </a:pPr>
            <a:r>
              <a:rPr lang="zh-CN" altLang="en-US" sz="2400" dirty="0"/>
              <a:t>    </a:t>
            </a:r>
            <a:r>
              <a:rPr lang="en-US" altLang="zh-CN" sz="2400" dirty="0"/>
              <a:t>G2=</a:t>
            </a:r>
            <a:r>
              <a:rPr lang="zh-CN" altLang="en-US" sz="2400" dirty="0"/>
              <a:t>（</a:t>
            </a:r>
            <a:r>
              <a:rPr lang="en-US" altLang="zh-CN" sz="2400" dirty="0">
                <a:solidFill>
                  <a:srgbClr val="0000CC"/>
                </a:solidFill>
              </a:rPr>
              <a:t>{S}</a:t>
            </a:r>
            <a:r>
              <a:rPr lang="zh-CN" altLang="en-US" sz="2400" dirty="0">
                <a:solidFill>
                  <a:srgbClr val="0000CC"/>
                </a:solidFill>
              </a:rPr>
              <a:t>，</a:t>
            </a:r>
            <a:r>
              <a:rPr lang="en-US" altLang="zh-CN" sz="2400" dirty="0">
                <a:solidFill>
                  <a:srgbClr val="0000CC"/>
                </a:solidFill>
              </a:rPr>
              <a:t>{0}</a:t>
            </a:r>
            <a:r>
              <a:rPr lang="zh-CN" altLang="en-US" sz="2400" dirty="0">
                <a:solidFill>
                  <a:srgbClr val="0000CC"/>
                </a:solidFill>
              </a:rPr>
              <a:t>，</a:t>
            </a:r>
            <a:r>
              <a:rPr lang="en-US" altLang="zh-CN" sz="2400" dirty="0">
                <a:solidFill>
                  <a:srgbClr val="0000CC"/>
                </a:solidFill>
              </a:rPr>
              <a:t>S</a:t>
            </a:r>
            <a:r>
              <a:rPr lang="zh-CN" altLang="en-US" sz="2400" dirty="0">
                <a:solidFill>
                  <a:srgbClr val="0000CC"/>
                </a:solidFill>
              </a:rPr>
              <a:t>，</a:t>
            </a:r>
            <a:r>
              <a:rPr lang="en-US" altLang="zh-CN" sz="2400" dirty="0">
                <a:solidFill>
                  <a:srgbClr val="0000CC"/>
                </a:solidFill>
              </a:rPr>
              <a:t>{S</a:t>
            </a:r>
            <a:r>
              <a:rPr lang="en-US" altLang="zh-CN" sz="2400" dirty="0">
                <a:solidFill>
                  <a:srgbClr val="0000CC"/>
                </a:solidFill>
                <a:sym typeface="Symbol" pitchFamily="18" charset="2"/>
              </a:rPr>
              <a:t></a:t>
            </a:r>
            <a:r>
              <a:rPr lang="en-US" altLang="zh-CN" sz="2400" dirty="0">
                <a:solidFill>
                  <a:srgbClr val="0000CC"/>
                </a:solidFill>
              </a:rPr>
              <a:t>S0</a:t>
            </a:r>
            <a:r>
              <a:rPr lang="zh-CN" altLang="en-US" sz="2400" dirty="0">
                <a:solidFill>
                  <a:srgbClr val="0000CC"/>
                </a:solidFill>
              </a:rPr>
              <a:t>，</a:t>
            </a:r>
            <a:r>
              <a:rPr lang="en-US" altLang="zh-CN" sz="2400" dirty="0">
                <a:solidFill>
                  <a:srgbClr val="0000CC"/>
                </a:solidFill>
              </a:rPr>
              <a:t>S</a:t>
            </a:r>
            <a:r>
              <a:rPr lang="en-US" altLang="zh-CN" sz="2400" dirty="0">
                <a:solidFill>
                  <a:srgbClr val="0000CC"/>
                </a:solidFill>
                <a:sym typeface="Symbol" pitchFamily="18" charset="2"/>
              </a:rPr>
              <a:t></a:t>
            </a:r>
            <a:r>
              <a:rPr lang="en-US" altLang="zh-CN" sz="2400" dirty="0">
                <a:solidFill>
                  <a:srgbClr val="0000CC"/>
                </a:solidFill>
              </a:rPr>
              <a:t>0}</a:t>
            </a:r>
            <a:r>
              <a:rPr lang="zh-CN" altLang="en-US" sz="2400" dirty="0"/>
              <a:t>）</a:t>
            </a:r>
          </a:p>
        </p:txBody>
      </p:sp>
      <p:sp>
        <p:nvSpPr>
          <p:cNvPr id="121860" name="Rectangle 4"/>
          <p:cNvSpPr>
            <a:spLocks noChangeArrowheads="1"/>
          </p:cNvSpPr>
          <p:nvPr/>
        </p:nvSpPr>
        <p:spPr bwMode="auto">
          <a:xfrm>
            <a:off x="2045632" y="2122789"/>
            <a:ext cx="4295706" cy="1261884"/>
          </a:xfrm>
          <a:prstGeom prst="rect">
            <a:avLst/>
          </a:prstGeom>
          <a:ln/>
        </p:spPr>
        <p:style>
          <a:lnRef idx="2">
            <a:schemeClr val="accent1"/>
          </a:lnRef>
          <a:fillRef idx="1">
            <a:schemeClr val="lt1"/>
          </a:fillRef>
          <a:effectRef idx="0">
            <a:schemeClr val="accent1"/>
          </a:effectRef>
          <a:fontRef idx="minor">
            <a:schemeClr val="dk1"/>
          </a:fontRef>
        </p:style>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spcAft>
                <a:spcPts val="600"/>
              </a:spcAft>
              <a:buFontTx/>
              <a:buNone/>
            </a:pPr>
            <a:r>
              <a:rPr lang="en-US" altLang="zh-CN" sz="2200" dirty="0">
                <a:ea typeface="华文行楷" pitchFamily="2" charset="-122"/>
              </a:rPr>
              <a:t>S</a:t>
            </a:r>
            <a:r>
              <a:rPr lang="en-US" altLang="zh-CN" sz="2200" dirty="0">
                <a:ea typeface="华文行楷" pitchFamily="2" charset="-122"/>
                <a:sym typeface="Symbol" pitchFamily="18" charset="2"/>
              </a:rPr>
              <a:t></a:t>
            </a:r>
            <a:r>
              <a:rPr lang="en-US" altLang="zh-CN" sz="2200" dirty="0">
                <a:ea typeface="华文行楷" pitchFamily="2" charset="-122"/>
              </a:rPr>
              <a:t>0</a:t>
            </a:r>
          </a:p>
          <a:p>
            <a:pPr eaLnBrk="1" hangingPunct="1">
              <a:spcBef>
                <a:spcPct val="0"/>
              </a:spcBef>
              <a:spcAft>
                <a:spcPts val="600"/>
              </a:spcAft>
              <a:buFontTx/>
              <a:buNone/>
            </a:pPr>
            <a:endParaRPr lang="en-US" altLang="zh-CN" sz="2200" dirty="0">
              <a:ea typeface="华文行楷" pitchFamily="2" charset="-122"/>
            </a:endParaRPr>
          </a:p>
          <a:p>
            <a:pPr eaLnBrk="1" hangingPunct="1">
              <a:spcBef>
                <a:spcPct val="0"/>
              </a:spcBef>
              <a:spcAft>
                <a:spcPts val="600"/>
              </a:spcAft>
              <a:buFontTx/>
              <a:buNone/>
            </a:pPr>
            <a:endParaRPr lang="en-US" altLang="zh-CN" sz="2200" dirty="0">
              <a:ea typeface="华文行楷" pitchFamily="2" charset="-122"/>
            </a:endParaRPr>
          </a:p>
        </p:txBody>
      </p:sp>
      <p:sp>
        <p:nvSpPr>
          <p:cNvPr id="121861" name="Rectangle 5"/>
          <p:cNvSpPr>
            <a:spLocks noChangeArrowheads="1"/>
          </p:cNvSpPr>
          <p:nvPr/>
        </p:nvSpPr>
        <p:spPr bwMode="auto">
          <a:xfrm>
            <a:off x="6348924" y="2672481"/>
            <a:ext cx="279507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dirty="0">
                <a:solidFill>
                  <a:srgbClr val="0000CC"/>
                </a:solidFill>
                <a:ea typeface="华文行楷" pitchFamily="2" charset="-122"/>
              </a:rPr>
              <a:t>L(G1) = {0</a:t>
            </a:r>
            <a:r>
              <a:rPr lang="en-US" altLang="zh-CN" sz="2800" b="1" baseline="30000" dirty="0">
                <a:solidFill>
                  <a:srgbClr val="0000CC"/>
                </a:solidFill>
                <a:ea typeface="华文行楷" pitchFamily="2" charset="-122"/>
              </a:rPr>
              <a:t>n</a:t>
            </a:r>
            <a:r>
              <a:rPr lang="en-US" altLang="zh-CN" sz="2800" b="1" dirty="0">
                <a:solidFill>
                  <a:srgbClr val="0000CC"/>
                </a:solidFill>
                <a:ea typeface="华文行楷" pitchFamily="2" charset="-122"/>
              </a:rPr>
              <a:t> | n≥1} </a:t>
            </a:r>
          </a:p>
        </p:txBody>
      </p:sp>
      <p:sp>
        <p:nvSpPr>
          <p:cNvPr id="121862" name="Rectangle 6"/>
          <p:cNvSpPr>
            <a:spLocks noChangeArrowheads="1"/>
          </p:cNvSpPr>
          <p:nvPr/>
        </p:nvSpPr>
        <p:spPr bwMode="auto">
          <a:xfrm>
            <a:off x="445012" y="3590056"/>
            <a:ext cx="1809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dirty="0">
                <a:solidFill>
                  <a:srgbClr val="FF0000"/>
                </a:solidFill>
                <a:ea typeface="华文行楷" pitchFamily="2" charset="-122"/>
              </a:rPr>
              <a:t>对于</a:t>
            </a:r>
            <a:r>
              <a:rPr lang="en-US" altLang="zh-CN" sz="2800" b="1" dirty="0">
                <a:solidFill>
                  <a:srgbClr val="FF0000"/>
                </a:solidFill>
                <a:ea typeface="华文行楷" pitchFamily="2" charset="-122"/>
              </a:rPr>
              <a:t>G2</a:t>
            </a:r>
            <a:r>
              <a:rPr lang="zh-CN" altLang="en-US" sz="2800" b="1" dirty="0">
                <a:solidFill>
                  <a:srgbClr val="FF0000"/>
                </a:solidFill>
                <a:ea typeface="华文行楷" pitchFamily="2" charset="-122"/>
              </a:rPr>
              <a:t>： </a:t>
            </a:r>
          </a:p>
        </p:txBody>
      </p:sp>
      <p:sp>
        <p:nvSpPr>
          <p:cNvPr id="121863" name="Rectangle 7"/>
          <p:cNvSpPr>
            <a:spLocks noChangeArrowheads="1"/>
          </p:cNvSpPr>
          <p:nvPr/>
        </p:nvSpPr>
        <p:spPr bwMode="auto">
          <a:xfrm>
            <a:off x="445012" y="2343869"/>
            <a:ext cx="1809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dirty="0">
                <a:solidFill>
                  <a:srgbClr val="FF0000"/>
                </a:solidFill>
                <a:ea typeface="华文行楷" pitchFamily="2" charset="-122"/>
              </a:rPr>
              <a:t>对于</a:t>
            </a:r>
            <a:r>
              <a:rPr lang="en-US" altLang="zh-CN" sz="2800" b="1" dirty="0">
                <a:solidFill>
                  <a:srgbClr val="FF0000"/>
                </a:solidFill>
                <a:ea typeface="华文行楷" pitchFamily="2" charset="-122"/>
              </a:rPr>
              <a:t>G1 </a:t>
            </a:r>
            <a:r>
              <a:rPr lang="zh-CN" altLang="en-US" sz="2800" b="1" dirty="0">
                <a:solidFill>
                  <a:srgbClr val="FF0000"/>
                </a:solidFill>
                <a:ea typeface="华文行楷" pitchFamily="2" charset="-122"/>
              </a:rPr>
              <a:t>：</a:t>
            </a:r>
          </a:p>
        </p:txBody>
      </p:sp>
      <p:sp>
        <p:nvSpPr>
          <p:cNvPr id="121865" name="Rectangle 9"/>
          <p:cNvSpPr>
            <a:spLocks noChangeArrowheads="1"/>
          </p:cNvSpPr>
          <p:nvPr/>
        </p:nvSpPr>
        <p:spPr bwMode="auto">
          <a:xfrm>
            <a:off x="2045632" y="3512179"/>
            <a:ext cx="4326568" cy="1200329"/>
          </a:xfrm>
          <a:prstGeom prst="rect">
            <a:avLst/>
          </a:prstGeom>
          <a:ln/>
        </p:spPr>
        <p:style>
          <a:lnRef idx="2">
            <a:schemeClr val="accent1"/>
          </a:lnRef>
          <a:fillRef idx="1">
            <a:schemeClr val="lt1"/>
          </a:fillRef>
          <a:effectRef idx="0">
            <a:schemeClr val="accent1"/>
          </a:effectRef>
          <a:fontRef idx="minor">
            <a:schemeClr val="dk1"/>
          </a:fontRef>
        </p:style>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400" dirty="0">
                <a:ea typeface="华文行楷" pitchFamily="2" charset="-122"/>
              </a:rPr>
              <a:t>S</a:t>
            </a:r>
            <a:r>
              <a:rPr lang="en-US" altLang="zh-CN" sz="2400" dirty="0">
                <a:ea typeface="华文行楷" pitchFamily="2" charset="-122"/>
                <a:sym typeface="Symbol" pitchFamily="18" charset="2"/>
              </a:rPr>
              <a:t></a:t>
            </a:r>
            <a:r>
              <a:rPr lang="en-US" altLang="zh-CN" sz="2400" dirty="0">
                <a:ea typeface="华文行楷" pitchFamily="2" charset="-122"/>
              </a:rPr>
              <a:t>0</a:t>
            </a:r>
          </a:p>
          <a:p>
            <a:pPr>
              <a:spcBef>
                <a:spcPct val="0"/>
              </a:spcBef>
              <a:buNone/>
            </a:pPr>
            <a:r>
              <a:rPr lang="en-US" altLang="zh-CN" sz="2400" dirty="0">
                <a:ea typeface="华文行楷" pitchFamily="2" charset="-122"/>
              </a:rPr>
              <a:t>S</a:t>
            </a:r>
            <a:r>
              <a:rPr lang="en-US" altLang="zh-CN" sz="2400" dirty="0">
                <a:ea typeface="华文行楷" pitchFamily="2" charset="-122"/>
                <a:sym typeface="Symbol" pitchFamily="18" charset="2"/>
              </a:rPr>
              <a:t></a:t>
            </a:r>
            <a:r>
              <a:rPr lang="en-US" altLang="zh-CN" sz="2400" dirty="0">
                <a:ea typeface="华文行楷" pitchFamily="2" charset="-122"/>
              </a:rPr>
              <a:t>S0</a:t>
            </a:r>
            <a:r>
              <a:rPr lang="en-US" altLang="zh-CN" sz="2400" dirty="0">
                <a:ea typeface="华文行楷" pitchFamily="2" charset="-122"/>
                <a:sym typeface="Symbol" pitchFamily="18" charset="2"/>
              </a:rPr>
              <a:t> </a:t>
            </a:r>
            <a:r>
              <a:rPr lang="en-US" altLang="zh-CN" sz="2400" dirty="0">
                <a:ea typeface="华文行楷" pitchFamily="2" charset="-122"/>
              </a:rPr>
              <a:t>00</a:t>
            </a:r>
          </a:p>
          <a:p>
            <a:pPr>
              <a:spcBef>
                <a:spcPct val="0"/>
              </a:spcBef>
              <a:buNone/>
            </a:pPr>
            <a:r>
              <a:rPr lang="en-US" altLang="zh-CN" sz="2400" dirty="0">
                <a:ea typeface="华文行楷" pitchFamily="2" charset="-122"/>
              </a:rPr>
              <a:t>S</a:t>
            </a:r>
            <a:r>
              <a:rPr lang="en-US" altLang="zh-CN" sz="2400" dirty="0">
                <a:ea typeface="华文行楷" pitchFamily="2" charset="-122"/>
                <a:sym typeface="Symbol" pitchFamily="18" charset="2"/>
              </a:rPr>
              <a:t></a:t>
            </a:r>
            <a:r>
              <a:rPr lang="en-US" altLang="zh-CN" sz="2400" dirty="0">
                <a:ea typeface="华文行楷" pitchFamily="2" charset="-122"/>
              </a:rPr>
              <a:t>S0</a:t>
            </a:r>
            <a:r>
              <a:rPr lang="en-US" altLang="zh-CN" sz="2400" dirty="0">
                <a:ea typeface="华文行楷" pitchFamily="2" charset="-122"/>
                <a:sym typeface="Symbol" pitchFamily="18" charset="2"/>
              </a:rPr>
              <a:t> </a:t>
            </a:r>
            <a:r>
              <a:rPr lang="en-US" altLang="zh-CN" sz="2400" dirty="0">
                <a:ea typeface="华文行楷" pitchFamily="2" charset="-122"/>
              </a:rPr>
              <a:t> S00</a:t>
            </a:r>
            <a:r>
              <a:rPr lang="en-US" altLang="zh-CN" sz="2400" dirty="0">
                <a:ea typeface="华文行楷" pitchFamily="2" charset="-122"/>
                <a:sym typeface="Symbol" pitchFamily="18" charset="2"/>
              </a:rPr>
              <a:t></a:t>
            </a:r>
            <a:r>
              <a:rPr lang="en-US" altLang="zh-CN" sz="2400" dirty="0">
                <a:ea typeface="华文行楷" pitchFamily="2" charset="-122"/>
              </a:rPr>
              <a:t>… </a:t>
            </a:r>
            <a:r>
              <a:rPr lang="en-US" altLang="zh-CN" sz="2400" dirty="0">
                <a:ea typeface="华文行楷" pitchFamily="2" charset="-122"/>
                <a:sym typeface="Symbol" pitchFamily="18" charset="2"/>
              </a:rPr>
              <a:t></a:t>
            </a:r>
            <a:r>
              <a:rPr lang="en-US" altLang="zh-CN" sz="2400" dirty="0">
                <a:ea typeface="华文行楷" pitchFamily="2" charset="-122"/>
              </a:rPr>
              <a:t>000……0</a:t>
            </a:r>
            <a:r>
              <a:rPr lang="en-US" altLang="zh-CN" sz="2400" b="1" dirty="0">
                <a:ea typeface="华文行楷" pitchFamily="2" charset="-122"/>
                <a:sym typeface="Symbol" pitchFamily="18" charset="2"/>
              </a:rPr>
              <a:t> </a:t>
            </a:r>
          </a:p>
        </p:txBody>
      </p:sp>
      <p:sp>
        <p:nvSpPr>
          <p:cNvPr id="121866" name="Rectangle 10"/>
          <p:cNvSpPr>
            <a:spLocks noChangeArrowheads="1"/>
          </p:cNvSpPr>
          <p:nvPr/>
        </p:nvSpPr>
        <p:spPr bwMode="auto">
          <a:xfrm>
            <a:off x="6348924" y="3886655"/>
            <a:ext cx="29116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dirty="0">
                <a:solidFill>
                  <a:srgbClr val="0000CC"/>
                </a:solidFill>
                <a:ea typeface="华文行楷" pitchFamily="2" charset="-122"/>
              </a:rPr>
              <a:t>L(G2) = {0</a:t>
            </a:r>
            <a:r>
              <a:rPr lang="en-US" altLang="zh-CN" sz="2800" b="1" baseline="30000" dirty="0">
                <a:solidFill>
                  <a:srgbClr val="0000CC"/>
                </a:solidFill>
                <a:ea typeface="华文行楷" pitchFamily="2" charset="-122"/>
              </a:rPr>
              <a:t>n</a:t>
            </a:r>
            <a:r>
              <a:rPr lang="en-US" altLang="zh-CN" sz="2800" b="1" dirty="0">
                <a:solidFill>
                  <a:srgbClr val="0000CC"/>
                </a:solidFill>
                <a:ea typeface="华文行楷" pitchFamily="2" charset="-122"/>
              </a:rPr>
              <a:t> | n≥1} </a:t>
            </a:r>
          </a:p>
        </p:txBody>
      </p:sp>
      <p:sp>
        <p:nvSpPr>
          <p:cNvPr id="121867" name="Rectangle 11"/>
          <p:cNvSpPr>
            <a:spLocks noChangeArrowheads="1"/>
          </p:cNvSpPr>
          <p:nvPr/>
        </p:nvSpPr>
        <p:spPr bwMode="auto">
          <a:xfrm>
            <a:off x="1763688" y="4702373"/>
            <a:ext cx="7188186" cy="461665"/>
          </a:xfrm>
          <a:prstGeom prst="rect">
            <a:avLst/>
          </a:prstGeom>
          <a:solidFill>
            <a:schemeClr val="bg1"/>
          </a:solidFill>
          <a:ln>
            <a:noFill/>
          </a:ln>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dirty="0">
                <a:ea typeface="华文行楷" pitchFamily="2" charset="-122"/>
              </a:rPr>
              <a:t>结论：</a:t>
            </a:r>
            <a:r>
              <a:rPr lang="en-US" altLang="zh-CN" sz="2400" dirty="0">
                <a:ea typeface="华文行楷" pitchFamily="2" charset="-122"/>
              </a:rPr>
              <a:t>G1</a:t>
            </a:r>
            <a:r>
              <a:rPr lang="en-US" altLang="zh-CN" sz="2400" dirty="0">
                <a:ea typeface="华文行楷" pitchFamily="2" charset="-122"/>
                <a:sym typeface="Symbol" pitchFamily="18" charset="2"/>
              </a:rPr>
              <a:t></a:t>
            </a:r>
            <a:r>
              <a:rPr lang="en-US" altLang="zh-CN" sz="2400" dirty="0">
                <a:ea typeface="华文行楷" pitchFamily="2" charset="-122"/>
              </a:rPr>
              <a:t>G2</a:t>
            </a:r>
            <a:r>
              <a:rPr lang="zh-CN" altLang="en-US" sz="2400" dirty="0">
                <a:ea typeface="华文行楷" pitchFamily="2" charset="-122"/>
                <a:sym typeface="Symbol" pitchFamily="18" charset="2"/>
              </a:rPr>
              <a:t>，但</a:t>
            </a:r>
            <a:r>
              <a:rPr lang="en-US" altLang="zh-CN" sz="2400" dirty="0">
                <a:ea typeface="华文行楷" pitchFamily="2" charset="-122"/>
                <a:sym typeface="Symbol" pitchFamily="18" charset="2"/>
              </a:rPr>
              <a:t>L(G1) = L(G2)</a:t>
            </a:r>
            <a:r>
              <a:rPr lang="zh-CN" altLang="en-US" sz="2400" dirty="0">
                <a:ea typeface="华文行楷" pitchFamily="2" charset="-122"/>
                <a:sym typeface="Symbol" pitchFamily="18" charset="2"/>
              </a:rPr>
              <a:t>，文法</a:t>
            </a:r>
            <a:r>
              <a:rPr lang="en-US" altLang="zh-CN" sz="2400" dirty="0">
                <a:ea typeface="华文行楷" pitchFamily="2" charset="-122"/>
                <a:sym typeface="Symbol" pitchFamily="18" charset="2"/>
              </a:rPr>
              <a:t>G1</a:t>
            </a:r>
            <a:r>
              <a:rPr lang="zh-CN" altLang="en-US" sz="2400" dirty="0">
                <a:ea typeface="华文行楷" pitchFamily="2" charset="-122"/>
                <a:sym typeface="Symbol" pitchFamily="18" charset="2"/>
              </a:rPr>
              <a:t>和</a:t>
            </a:r>
            <a:r>
              <a:rPr lang="en-US" altLang="zh-CN" sz="2400" dirty="0">
                <a:ea typeface="华文行楷" pitchFamily="2" charset="-122"/>
                <a:sym typeface="Symbol" pitchFamily="18" charset="2"/>
              </a:rPr>
              <a:t>G2</a:t>
            </a:r>
            <a:r>
              <a:rPr lang="zh-CN" altLang="en-US" sz="2400" dirty="0">
                <a:ea typeface="华文行楷" pitchFamily="2" charset="-122"/>
                <a:sym typeface="Symbol" pitchFamily="18" charset="2"/>
              </a:rPr>
              <a:t>等价</a:t>
            </a:r>
            <a:r>
              <a:rPr lang="zh-CN" altLang="en-US" sz="2400" b="1" dirty="0">
                <a:ea typeface="华文行楷" pitchFamily="2" charset="-122"/>
                <a:sym typeface="Symbol" pitchFamily="18" charset="2"/>
              </a:rPr>
              <a:t> </a:t>
            </a:r>
          </a:p>
        </p:txBody>
      </p:sp>
      <p:sp>
        <p:nvSpPr>
          <p:cNvPr id="10" name="Rectangle 2"/>
          <p:cNvSpPr>
            <a:spLocks noGrp="1" noChangeArrowheads="1"/>
          </p:cNvSpPr>
          <p:nvPr>
            <p:ph type="title"/>
          </p:nvPr>
        </p:nvSpPr>
        <p:spPr>
          <a:xfrm>
            <a:off x="457200" y="205979"/>
            <a:ext cx="2314600" cy="857250"/>
          </a:xfrm>
        </p:spPr>
        <p:txBody>
          <a:bodyPr>
            <a:normAutofit/>
          </a:bodyPr>
          <a:lstStyle/>
          <a:p>
            <a:pPr eaLnBrk="1" hangingPunct="1"/>
            <a:r>
              <a:rPr lang="zh-CN" altLang="en-US" sz="4000" dirty="0">
                <a:solidFill>
                  <a:srgbClr val="CC0099"/>
                </a:solidFill>
                <a:ea typeface="隶书" pitchFamily="49" charset="-122"/>
              </a:rPr>
              <a:t>文法等价</a:t>
            </a:r>
            <a:endParaRPr lang="zh-CN" altLang="zh-CN" sz="4000" dirty="0">
              <a:solidFill>
                <a:srgbClr val="CC0099"/>
              </a:solidFill>
              <a:ea typeface="隶书" pitchFamily="49" charset="-122"/>
            </a:endParaRPr>
          </a:p>
        </p:txBody>
      </p:sp>
      <p:sp>
        <p:nvSpPr>
          <p:cNvPr id="11" name="Rectangle 3"/>
          <p:cNvSpPr txBox="1">
            <a:spLocks noChangeArrowheads="1"/>
          </p:cNvSpPr>
          <p:nvPr/>
        </p:nvSpPr>
        <p:spPr>
          <a:xfrm>
            <a:off x="2843808" y="123478"/>
            <a:ext cx="5853336" cy="864096"/>
          </a:xfrm>
          <a:prstGeom prst="rect">
            <a:avLst/>
          </a:prstGeom>
          <a:solidFill>
            <a:schemeClr val="bg1"/>
          </a:solidFill>
          <a:ln w="28575">
            <a:solidFill>
              <a:srgbClr val="0000CC"/>
            </a:solidFill>
            <a:miter lim="800000"/>
            <a:headEnd/>
            <a:tailEnd/>
          </a:ln>
        </p:spPr>
        <p:txBody>
          <a:bodyPr vert="horz">
            <a:normAutofit fontScale="92500" lnSpcReduction="1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20000"/>
              </a:lnSpc>
              <a:spcBef>
                <a:spcPct val="50000"/>
              </a:spcBef>
              <a:buFont typeface="Wingdings 3"/>
              <a:buNone/>
            </a:pPr>
            <a:r>
              <a:rPr lang="zh-CN" altLang="en-US" sz="2400" dirty="0">
                <a:solidFill>
                  <a:srgbClr val="000000"/>
                </a:solidFill>
                <a:sym typeface="Symbol" pitchFamily="18" charset="2"/>
              </a:rPr>
              <a:t>若文法</a:t>
            </a:r>
            <a:r>
              <a:rPr lang="en-US" altLang="zh-CN" sz="2400" dirty="0">
                <a:solidFill>
                  <a:srgbClr val="000000"/>
                </a:solidFill>
                <a:sym typeface="Symbol" pitchFamily="18" charset="2"/>
              </a:rPr>
              <a:t>G1</a:t>
            </a:r>
            <a:r>
              <a:rPr lang="zh-CN" altLang="en-US" sz="2400" dirty="0">
                <a:solidFill>
                  <a:srgbClr val="000000"/>
                </a:solidFill>
                <a:sym typeface="Symbol" pitchFamily="18" charset="2"/>
              </a:rPr>
              <a:t>和文法</a:t>
            </a:r>
            <a:r>
              <a:rPr lang="en-US" altLang="zh-CN" sz="2400" dirty="0">
                <a:solidFill>
                  <a:srgbClr val="000000"/>
                </a:solidFill>
                <a:sym typeface="Symbol" pitchFamily="18" charset="2"/>
              </a:rPr>
              <a:t>G2</a:t>
            </a:r>
            <a:r>
              <a:rPr lang="zh-CN" altLang="en-US" sz="2400" dirty="0">
                <a:solidFill>
                  <a:srgbClr val="000000"/>
                </a:solidFill>
                <a:sym typeface="Symbol" pitchFamily="18" charset="2"/>
              </a:rPr>
              <a:t>所产生的</a:t>
            </a:r>
            <a:r>
              <a:rPr lang="zh-CN" altLang="en-US" sz="2400" dirty="0">
                <a:solidFill>
                  <a:srgbClr val="FF0000"/>
                </a:solidFill>
                <a:sym typeface="Symbol" pitchFamily="18" charset="2"/>
              </a:rPr>
              <a:t>语言相同</a:t>
            </a:r>
            <a:r>
              <a:rPr lang="zh-CN" altLang="en-US" sz="2400" dirty="0">
                <a:solidFill>
                  <a:srgbClr val="000000"/>
                </a:solidFill>
                <a:sym typeface="Symbol" pitchFamily="18" charset="2"/>
              </a:rPr>
              <a:t>，即</a:t>
            </a:r>
            <a:r>
              <a:rPr lang="en-US" altLang="zh-CN" sz="2400" dirty="0">
                <a:solidFill>
                  <a:srgbClr val="000000"/>
                </a:solidFill>
                <a:sym typeface="Symbol" pitchFamily="18" charset="2"/>
              </a:rPr>
              <a:t>L(G1) = L(G2)</a:t>
            </a:r>
            <a:r>
              <a:rPr lang="zh-CN" altLang="en-US" sz="2400" dirty="0">
                <a:solidFill>
                  <a:srgbClr val="000000"/>
                </a:solidFill>
                <a:sym typeface="Symbol" pitchFamily="18" charset="2"/>
              </a:rPr>
              <a:t>，则称文法</a:t>
            </a:r>
            <a:r>
              <a:rPr lang="en-US" altLang="zh-CN" sz="2400" dirty="0">
                <a:solidFill>
                  <a:srgbClr val="000000"/>
                </a:solidFill>
                <a:sym typeface="Symbol" pitchFamily="18" charset="2"/>
              </a:rPr>
              <a:t>G1</a:t>
            </a:r>
            <a:r>
              <a:rPr lang="zh-CN" altLang="en-US" sz="2400" dirty="0">
                <a:solidFill>
                  <a:srgbClr val="000000"/>
                </a:solidFill>
                <a:sym typeface="Symbol" pitchFamily="18" charset="2"/>
              </a:rPr>
              <a:t>和文法</a:t>
            </a:r>
            <a:r>
              <a:rPr lang="en-US" altLang="zh-CN" sz="2400" dirty="0">
                <a:solidFill>
                  <a:srgbClr val="000000"/>
                </a:solidFill>
                <a:sym typeface="Symbol" pitchFamily="18" charset="2"/>
              </a:rPr>
              <a:t>G2</a:t>
            </a:r>
            <a:r>
              <a:rPr lang="zh-CN" altLang="en-US" sz="2400" b="1" dirty="0">
                <a:solidFill>
                  <a:srgbClr val="FF3399"/>
                </a:solidFill>
                <a:sym typeface="Symbol" pitchFamily="18" charset="2"/>
              </a:rPr>
              <a:t>等价</a:t>
            </a:r>
            <a:endParaRPr lang="zh-CN" altLang="en-US" sz="2400" dirty="0">
              <a:solidFill>
                <a:srgbClr val="000000"/>
              </a:solidFill>
              <a:sym typeface="Symbol" pitchFamily="18" charset="2"/>
            </a:endParaRPr>
          </a:p>
          <a:p>
            <a:pPr marL="109728" indent="0">
              <a:buFont typeface="Wingdings 3"/>
              <a:buNone/>
            </a:pPr>
            <a:endParaRPr lang="en-US" altLang="zh-CN" sz="2800" dirty="0"/>
          </a:p>
        </p:txBody>
      </p:sp>
      <p:sp>
        <p:nvSpPr>
          <p:cNvPr id="12" name="Rectangle 4"/>
          <p:cNvSpPr>
            <a:spLocks noChangeArrowheads="1"/>
          </p:cNvSpPr>
          <p:nvPr/>
        </p:nvSpPr>
        <p:spPr bwMode="auto">
          <a:xfrm>
            <a:off x="2080491" y="2429405"/>
            <a:ext cx="4295706" cy="430887"/>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S</a:t>
            </a:r>
            <a:r>
              <a:rPr lang="en-US" altLang="zh-CN" sz="2200" dirty="0">
                <a:ea typeface="华文行楷" pitchFamily="2" charset="-122"/>
                <a:sym typeface="Symbol" pitchFamily="18" charset="2"/>
              </a:rPr>
              <a:t></a:t>
            </a:r>
            <a:r>
              <a:rPr lang="en-US" altLang="zh-CN" sz="2200" dirty="0">
                <a:ea typeface="华文行楷" pitchFamily="2" charset="-122"/>
              </a:rPr>
              <a:t>0S</a:t>
            </a:r>
            <a:r>
              <a:rPr lang="en-US" altLang="zh-CN" sz="2200" dirty="0">
                <a:ea typeface="华文行楷" pitchFamily="2" charset="-122"/>
                <a:sym typeface="Symbol" pitchFamily="18" charset="2"/>
              </a:rPr>
              <a:t></a:t>
            </a:r>
            <a:r>
              <a:rPr lang="en-US" altLang="zh-CN" sz="2200" dirty="0">
                <a:ea typeface="华文行楷" pitchFamily="2" charset="-122"/>
              </a:rPr>
              <a:t>00</a:t>
            </a:r>
          </a:p>
        </p:txBody>
      </p:sp>
      <p:sp>
        <p:nvSpPr>
          <p:cNvPr id="13" name="Rectangle 4"/>
          <p:cNvSpPr>
            <a:spLocks noChangeArrowheads="1"/>
          </p:cNvSpPr>
          <p:nvPr/>
        </p:nvSpPr>
        <p:spPr bwMode="auto">
          <a:xfrm>
            <a:off x="2065877" y="2587649"/>
            <a:ext cx="4295706" cy="430887"/>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a:t>
            </a:r>
          </a:p>
        </p:txBody>
      </p:sp>
      <p:sp>
        <p:nvSpPr>
          <p:cNvPr id="14" name="Rectangle 4"/>
          <p:cNvSpPr>
            <a:spLocks noChangeArrowheads="1"/>
          </p:cNvSpPr>
          <p:nvPr/>
        </p:nvSpPr>
        <p:spPr bwMode="auto">
          <a:xfrm>
            <a:off x="2045632" y="2947689"/>
            <a:ext cx="4295706" cy="430887"/>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S</a:t>
            </a:r>
            <a:r>
              <a:rPr lang="en-US" altLang="zh-CN" sz="2200" dirty="0">
                <a:ea typeface="华文行楷" pitchFamily="2" charset="-122"/>
                <a:sym typeface="Symbol" pitchFamily="18" charset="2"/>
              </a:rPr>
              <a:t></a:t>
            </a:r>
            <a:r>
              <a:rPr lang="en-US" altLang="zh-CN" sz="2200" dirty="0">
                <a:ea typeface="华文行楷" pitchFamily="2" charset="-122"/>
              </a:rPr>
              <a:t>0S </a:t>
            </a:r>
            <a:r>
              <a:rPr lang="en-US" altLang="zh-CN" sz="2200" dirty="0">
                <a:ea typeface="华文行楷" pitchFamily="2" charset="-122"/>
                <a:sym typeface="Symbol" pitchFamily="18" charset="2"/>
              </a:rPr>
              <a:t></a:t>
            </a:r>
            <a:r>
              <a:rPr lang="en-US" altLang="zh-CN" sz="2200" dirty="0">
                <a:ea typeface="华文行楷" pitchFamily="2" charset="-122"/>
              </a:rPr>
              <a:t>00S</a:t>
            </a:r>
            <a:r>
              <a:rPr lang="en-US" altLang="zh-CN" sz="2200" dirty="0">
                <a:ea typeface="华文行楷" pitchFamily="2" charset="-122"/>
                <a:sym typeface="Symbol" pitchFamily="18" charset="2"/>
              </a:rPr>
              <a:t></a:t>
            </a:r>
            <a:r>
              <a:rPr lang="en-US" altLang="zh-CN" sz="2200" dirty="0">
                <a:ea typeface="华文行楷" pitchFamily="2" charset="-122"/>
              </a:rPr>
              <a:t>… </a:t>
            </a:r>
            <a:r>
              <a:rPr lang="en-US" altLang="zh-CN" sz="2200" dirty="0">
                <a:ea typeface="华文行楷" pitchFamily="2" charset="-122"/>
                <a:sym typeface="Symbol" pitchFamily="18" charset="2"/>
              </a:rPr>
              <a:t></a:t>
            </a:r>
            <a:r>
              <a:rPr lang="en-US" altLang="zh-CN" sz="2200" dirty="0">
                <a:ea typeface="华文行楷" pitchFamily="2" charset="-122"/>
              </a:rPr>
              <a:t>000……0 </a:t>
            </a:r>
          </a:p>
        </p:txBody>
      </p:sp>
      <p:grpSp>
        <p:nvGrpSpPr>
          <p:cNvPr id="4" name="组合 3"/>
          <p:cNvGrpSpPr/>
          <p:nvPr/>
        </p:nvGrpSpPr>
        <p:grpSpPr>
          <a:xfrm>
            <a:off x="3851920" y="1635646"/>
            <a:ext cx="794760" cy="360040"/>
            <a:chOff x="3851920" y="1707654"/>
            <a:chExt cx="794760" cy="360040"/>
          </a:xfrm>
        </p:grpSpPr>
        <p:cxnSp>
          <p:nvCxnSpPr>
            <p:cNvPr id="3" name="直接连接符 2"/>
            <p:cNvCxnSpPr/>
            <p:nvPr/>
          </p:nvCxnSpPr>
          <p:spPr>
            <a:xfrm>
              <a:off x="3851920" y="2067694"/>
              <a:ext cx="79208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3854592" y="1707654"/>
              <a:ext cx="79208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222203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746">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746">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74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21863"/>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121860"/>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left)">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left)">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121861"/>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121862"/>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121865"/>
                                        </p:tgtEl>
                                        <p:attrNameLst>
                                          <p:attrName>style.visibility</p:attrName>
                                        </p:attrNameLst>
                                      </p:cBhvr>
                                      <p:to>
                                        <p:strVal val="visible"/>
                                      </p:to>
                                    </p:set>
                                    <p:animEffect transition="in" filter="wipe(left)">
                                      <p:cBhvr>
                                        <p:cTn id="50" dur="500"/>
                                        <p:tgtEl>
                                          <p:spTgt spid="121865"/>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121866"/>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218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6" grpId="0" build="p"/>
      <p:bldP spid="121860" grpId="0" animBg="1"/>
      <p:bldP spid="121861" grpId="0"/>
      <p:bldP spid="121862" grpId="0"/>
      <p:bldP spid="121863" grpId="0"/>
      <p:bldP spid="121865" grpId="0" animBg="1"/>
      <p:bldP spid="121866" grpId="0"/>
      <p:bldP spid="121867" grpId="0" animBg="1"/>
      <p:bldP spid="12" grpId="0"/>
      <p:bldP spid="13" grpId="0"/>
      <p:bldP spid="14"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2805576" cy="769441"/>
          </a:xfrm>
          <a:prstGeom prst="rect">
            <a:avLst/>
          </a:prstGeom>
        </p:spPr>
        <p:txBody>
          <a:bodyPr wrap="none">
            <a:spAutoFit/>
          </a:bodyPr>
          <a:lstStyle/>
          <a:p>
            <a:r>
              <a:rPr lang="en-US" altLang="zh-CN" sz="4400" b="1" dirty="0">
                <a:solidFill>
                  <a:srgbClr val="CC0099"/>
                </a:solidFill>
                <a:ea typeface="隶书" pitchFamily="49" charset="-122"/>
              </a:rPr>
              <a:t>4</a:t>
            </a:r>
            <a:r>
              <a:rPr lang="zh-CN" altLang="en-US" sz="4400" b="1" dirty="0">
                <a:solidFill>
                  <a:srgbClr val="CC0099"/>
                </a:solidFill>
                <a:ea typeface="隶书" pitchFamily="49" charset="-122"/>
              </a:rPr>
              <a:t>、语法树</a:t>
            </a:r>
            <a:endParaRPr lang="zh-CN" altLang="en-US" sz="4400" dirty="0"/>
          </a:p>
        </p:txBody>
      </p:sp>
    </p:spTree>
    <p:extLst>
      <p:ext uri="{BB962C8B-B14F-4D97-AF65-F5344CB8AC3E}">
        <p14:creationId xmlns:p14="http://schemas.microsoft.com/office/powerpoint/2010/main" val="169166889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a:xfrm>
            <a:off x="542925" y="368300"/>
            <a:ext cx="7772400" cy="561975"/>
          </a:xfrm>
        </p:spPr>
        <p:txBody>
          <a:bodyPr>
            <a:normAutofit fontScale="90000"/>
          </a:bodyPr>
          <a:lstStyle/>
          <a:p>
            <a:pPr algn="l" eaLnBrk="1" hangingPunct="1"/>
            <a:r>
              <a:rPr lang="zh-CN" altLang="en-US" sz="4800" b="1" dirty="0">
                <a:solidFill>
                  <a:srgbClr val="CC0099"/>
                </a:solidFill>
                <a:ea typeface="隶书" pitchFamily="49" charset="-122"/>
              </a:rPr>
              <a:t>语法树</a:t>
            </a:r>
          </a:p>
        </p:txBody>
      </p:sp>
      <p:sp>
        <p:nvSpPr>
          <p:cNvPr id="32771" name="内容占位符 1"/>
          <p:cNvSpPr>
            <a:spLocks noGrp="1"/>
          </p:cNvSpPr>
          <p:nvPr>
            <p:ph idx="1"/>
          </p:nvPr>
        </p:nvSpPr>
        <p:spPr/>
        <p:txBody>
          <a:bodyPr/>
          <a:lstStyle/>
          <a:p>
            <a:pPr eaLnBrk="1" hangingPunct="1">
              <a:spcBef>
                <a:spcPct val="50000"/>
              </a:spcBef>
              <a:buFont typeface="Wingdings" pitchFamily="2" charset="2"/>
              <a:buChar char="l"/>
            </a:pPr>
            <a:r>
              <a:rPr lang="zh-CN" altLang="zh-CN" sz="2400" dirty="0"/>
              <a:t>用推导的方式</a:t>
            </a:r>
            <a:r>
              <a:rPr lang="zh-CN" altLang="en-US" sz="2400" dirty="0"/>
              <a:t>来表示一个</a:t>
            </a:r>
            <a:r>
              <a:rPr lang="zh-CN" altLang="zh-CN" sz="2400" dirty="0"/>
              <a:t>文法</a:t>
            </a:r>
            <a:r>
              <a:rPr lang="zh-CN" altLang="en-US" sz="2400" dirty="0"/>
              <a:t>产生某个符号串</a:t>
            </a:r>
            <a:r>
              <a:rPr lang="zh-CN" altLang="zh-CN" sz="2400" dirty="0"/>
              <a:t>的过程，但是推导不能表示</a:t>
            </a:r>
            <a:r>
              <a:rPr lang="zh-CN" altLang="en-US" sz="2400" dirty="0"/>
              <a:t>符号串</a:t>
            </a:r>
            <a:r>
              <a:rPr lang="zh-CN" altLang="zh-CN" sz="2400" dirty="0"/>
              <a:t>的各个组成部分间的结构关系</a:t>
            </a:r>
            <a:endParaRPr lang="en-US" altLang="zh-CN" sz="2400" dirty="0">
              <a:ea typeface="华文行楷" pitchFamily="2" charset="-122"/>
            </a:endParaRPr>
          </a:p>
          <a:p>
            <a:pPr eaLnBrk="1" hangingPunct="1">
              <a:spcBef>
                <a:spcPct val="50000"/>
              </a:spcBef>
              <a:buFont typeface="Wingdings" pitchFamily="2" charset="2"/>
              <a:buChar char="l"/>
            </a:pPr>
            <a:r>
              <a:rPr lang="zh-CN" altLang="en-US" sz="2400" dirty="0">
                <a:ea typeface="华文行楷" pitchFamily="2" charset="-122"/>
              </a:rPr>
              <a:t>推导过程可以用树来表示，</a:t>
            </a:r>
            <a:r>
              <a:rPr lang="zh-CN" altLang="zh-CN" sz="2400" dirty="0"/>
              <a:t>观察句子的构成，表示句子的层次关系</a:t>
            </a:r>
            <a:endParaRPr lang="zh-CN" altLang="en-US" sz="2400" dirty="0">
              <a:ea typeface="华文行楷" pitchFamily="2" charset="-122"/>
            </a:endParaRPr>
          </a:p>
          <a:p>
            <a:endParaRPr lang="zh-CN" altLang="en-US" dirty="0"/>
          </a:p>
        </p:txBody>
      </p:sp>
    </p:spTree>
    <p:extLst>
      <p:ext uri="{BB962C8B-B14F-4D97-AF65-F5344CB8AC3E}">
        <p14:creationId xmlns:p14="http://schemas.microsoft.com/office/powerpoint/2010/main" val="426072654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a:xfrm>
            <a:off x="609600" y="228600"/>
            <a:ext cx="7772400" cy="857250"/>
          </a:xfrm>
        </p:spPr>
        <p:txBody>
          <a:bodyPr/>
          <a:lstStyle/>
          <a:p>
            <a:pPr algn="l" eaLnBrk="1" hangingPunct="1"/>
            <a:r>
              <a:rPr lang="zh-CN" altLang="en-US" sz="4800" b="1" dirty="0">
                <a:solidFill>
                  <a:srgbClr val="CC0099"/>
                </a:solidFill>
                <a:ea typeface="隶书" pitchFamily="49" charset="-122"/>
              </a:rPr>
              <a:t>语法树</a:t>
            </a:r>
          </a:p>
        </p:txBody>
      </p:sp>
      <p:sp>
        <p:nvSpPr>
          <p:cNvPr id="35843" name="Rectangle 3"/>
          <p:cNvSpPr>
            <a:spLocks noGrp="1" noChangeArrowheads="1"/>
          </p:cNvSpPr>
          <p:nvPr>
            <p:ph type="body" idx="1"/>
          </p:nvPr>
        </p:nvSpPr>
        <p:spPr>
          <a:xfrm>
            <a:off x="755650" y="1112838"/>
            <a:ext cx="7772400" cy="2755056"/>
          </a:xfrm>
        </p:spPr>
        <p:txBody>
          <a:bodyPr>
            <a:normAutofit lnSpcReduction="10000"/>
          </a:bodyPr>
          <a:lstStyle/>
          <a:p>
            <a:pPr eaLnBrk="1" hangingPunct="1">
              <a:lnSpc>
                <a:spcPct val="110000"/>
              </a:lnSpc>
            </a:pPr>
            <a:r>
              <a:rPr lang="zh-CN" altLang="en-US" sz="2200" b="1" dirty="0">
                <a:solidFill>
                  <a:srgbClr val="FF3399"/>
                </a:solidFill>
                <a:latin typeface="宋体" pitchFamily="2" charset="-122"/>
                <a:ea typeface="宋体" panose="02010600030101010101" pitchFamily="2" charset="-122"/>
              </a:rPr>
              <a:t>语法树</a:t>
            </a:r>
            <a:r>
              <a:rPr lang="zh-CN" altLang="en-US" sz="2200" dirty="0">
                <a:latin typeface="宋体" pitchFamily="2" charset="-122"/>
                <a:ea typeface="宋体" panose="02010600030101010101" pitchFamily="2" charset="-122"/>
              </a:rPr>
              <a:t>：</a:t>
            </a:r>
            <a:r>
              <a:rPr lang="zh-CN" altLang="en-US" sz="2200" b="1" dirty="0">
                <a:latin typeface="宋体" pitchFamily="2" charset="-122"/>
                <a:ea typeface="宋体" panose="02010600030101010101" pitchFamily="2" charset="-122"/>
              </a:rPr>
              <a:t>推导的形式化表示</a:t>
            </a:r>
            <a:r>
              <a:rPr lang="zh-CN" altLang="en-US" sz="2200" dirty="0">
                <a:latin typeface="宋体" pitchFamily="2" charset="-122"/>
                <a:ea typeface="宋体" panose="02010600030101010101" pitchFamily="2" charset="-122"/>
              </a:rPr>
              <a:t>，有助于理解句子语法结构的层次</a:t>
            </a:r>
          </a:p>
          <a:p>
            <a:pPr eaLnBrk="1" hangingPunct="1">
              <a:lnSpc>
                <a:spcPct val="110000"/>
              </a:lnSpc>
            </a:pPr>
            <a:r>
              <a:rPr lang="zh-CN" altLang="en-US" sz="2200" dirty="0">
                <a:latin typeface="宋体" pitchFamily="2" charset="-122"/>
                <a:ea typeface="宋体" panose="02010600030101010101" pitchFamily="2" charset="-122"/>
              </a:rPr>
              <a:t>每个结点都有一个标记，该标记属字母集中的一个符号，根由开始符号Ｓ标记。</a:t>
            </a:r>
          </a:p>
          <a:p>
            <a:pPr eaLnBrk="1" hangingPunct="1">
              <a:lnSpc>
                <a:spcPct val="110000"/>
              </a:lnSpc>
            </a:pPr>
            <a:r>
              <a:rPr lang="zh-CN" altLang="en-US" sz="2200" dirty="0">
                <a:latin typeface="宋体" pitchFamily="2" charset="-122"/>
                <a:ea typeface="宋体" panose="02010600030101010101" pitchFamily="2" charset="-122"/>
              </a:rPr>
              <a:t>当某个非终结符用它的某个候选式替换时，就产生相应的下一层的结点，候选式中自左至右的每个符号对应一个新的结点，并标记它，画出其与父结点之间的连线。</a:t>
            </a:r>
          </a:p>
          <a:p>
            <a:pPr eaLnBrk="1" hangingPunct="1">
              <a:lnSpc>
                <a:spcPct val="110000"/>
              </a:lnSpc>
            </a:pPr>
            <a:endParaRPr lang="en-US" altLang="zh-CN" sz="2200" dirty="0">
              <a:solidFill>
                <a:schemeClr val="accent2"/>
              </a:solidFill>
              <a:latin typeface="宋体" panose="02010600030101010101" pitchFamily="2" charset="-122"/>
              <a:ea typeface="宋体" panose="02010600030101010101" pitchFamily="2"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2088136020"/>
              </p:ext>
            </p:extLst>
          </p:nvPr>
        </p:nvGraphicFramePr>
        <p:xfrm>
          <a:off x="6444208" y="3673076"/>
          <a:ext cx="2408535" cy="1460915"/>
        </p:xfrm>
        <a:graphic>
          <a:graphicData uri="http://schemas.openxmlformats.org/presentationml/2006/ole">
            <mc:AlternateContent xmlns:mc="http://schemas.openxmlformats.org/markup-compatibility/2006">
              <mc:Choice xmlns:v="urn:schemas-microsoft-com:vml" Requires="v">
                <p:oleObj spid="_x0000_s5127" name="Visio" r:id="rId4" imgW="965632" imgH="587675" progId="Visio.Drawing.11">
                  <p:embed/>
                </p:oleObj>
              </mc:Choice>
              <mc:Fallback>
                <p:oleObj name="Visio" r:id="rId4" imgW="965632" imgH="587675" progId="Visio.Drawing.11">
                  <p:embed/>
                  <p:pic>
                    <p:nvPicPr>
                      <p:cNvPr id="3"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44208" y="3673076"/>
                        <a:ext cx="2408535" cy="1460915"/>
                      </a:xfrm>
                      <a:prstGeom prst="rect">
                        <a:avLst/>
                      </a:prstGeom>
                      <a:noFill/>
                    </p:spPr>
                  </p:pic>
                </p:oleObj>
              </mc:Fallback>
            </mc:AlternateContent>
          </a:graphicData>
        </a:graphic>
      </p:graphicFrame>
      <p:sp>
        <p:nvSpPr>
          <p:cNvPr id="4" name="矩形 3"/>
          <p:cNvSpPr/>
          <p:nvPr/>
        </p:nvSpPr>
        <p:spPr>
          <a:xfrm>
            <a:off x="4955972" y="4371948"/>
            <a:ext cx="1107996" cy="461665"/>
          </a:xfrm>
          <a:prstGeom prst="rect">
            <a:avLst/>
          </a:prstGeom>
        </p:spPr>
        <p:txBody>
          <a:bodyPr wrap="none">
            <a:spAutoFit/>
          </a:bodyPr>
          <a:lstStyle/>
          <a:p>
            <a:r>
              <a:rPr lang="en-US" altLang="zh-CN" sz="2400" dirty="0">
                <a:latin typeface="宋体" panose="02010600030101010101" pitchFamily="2" charset="-122"/>
                <a:ea typeface="宋体" panose="02010600030101010101" pitchFamily="2" charset="-122"/>
              </a:rPr>
              <a:t>A</a:t>
            </a:r>
            <a:r>
              <a:rPr lang="zh-CN" altLang="en-US" sz="2400" dirty="0">
                <a:latin typeface="宋体" panose="02010600030101010101" pitchFamily="2" charset="-122"/>
                <a:ea typeface="宋体" panose="02010600030101010101" pitchFamily="2" charset="-122"/>
              </a:rPr>
              <a:t>→</a:t>
            </a:r>
            <a:r>
              <a:rPr lang="en-US" altLang="zh-CN" sz="2400" dirty="0">
                <a:latin typeface="宋体" panose="02010600030101010101" pitchFamily="2" charset="-122"/>
                <a:ea typeface="宋体" panose="02010600030101010101" pitchFamily="2" charset="-122"/>
              </a:rPr>
              <a:t>UVW</a:t>
            </a:r>
            <a:endParaRPr lang="zh-CN" altLang="en-US" sz="2400" dirty="0">
              <a:latin typeface="宋体" panose="02010600030101010101" pitchFamily="2" charset="-122"/>
              <a:ea typeface="宋体" panose="02010600030101010101" pitchFamily="2" charset="-122"/>
            </a:endParaRPr>
          </a:p>
        </p:txBody>
      </p:sp>
    </p:spTree>
    <p:extLst>
      <p:ext uri="{BB962C8B-B14F-4D97-AF65-F5344CB8AC3E}">
        <p14:creationId xmlns:p14="http://schemas.microsoft.com/office/powerpoint/2010/main" val="6551115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35843">
                                            <p:txEl>
                                              <p:pRg st="0" end="0"/>
                                            </p:txEl>
                                          </p:spTgt>
                                        </p:tgtEl>
                                        <p:attrNameLst>
                                          <p:attrName>style.visibility</p:attrName>
                                        </p:attrNameLst>
                                      </p:cBhvr>
                                      <p:to>
                                        <p:strVal val="visible"/>
                                      </p:to>
                                    </p:set>
                                    <p:anim to="" calcmode="lin" valueType="num">
                                      <p:cBhvr>
                                        <p:cTn id="7" dur="1" fill="hold"/>
                                        <p:tgtEl>
                                          <p:spTgt spid="35843">
                                            <p:txEl>
                                              <p:pRg st="0" end="0"/>
                                            </p:txEl>
                                          </p:spTgt>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grpId="0" nodeType="clickEffect">
                                  <p:stCondLst>
                                    <p:cond delay="0"/>
                                  </p:stCondLst>
                                  <p:childTnLst>
                                    <p:set>
                                      <p:cBhvr>
                                        <p:cTn id="11" dur="1" fill="hold">
                                          <p:stCondLst>
                                            <p:cond delay="0"/>
                                          </p:stCondLst>
                                        </p:cTn>
                                        <p:tgtEl>
                                          <p:spTgt spid="35843">
                                            <p:txEl>
                                              <p:pRg st="1" end="1"/>
                                            </p:txEl>
                                          </p:spTgt>
                                        </p:tgtEl>
                                        <p:attrNameLst>
                                          <p:attrName>style.visibility</p:attrName>
                                        </p:attrNameLst>
                                      </p:cBhvr>
                                      <p:to>
                                        <p:strVal val="visible"/>
                                      </p:to>
                                    </p:set>
                                    <p:anim to="" calcmode="lin" valueType="num">
                                      <p:cBhvr>
                                        <p:cTn id="12" dur="1" fill="hold"/>
                                        <p:tgtEl>
                                          <p:spTgt spid="35843">
                                            <p:txEl>
                                              <p:pRg st="1" end="1"/>
                                            </p:txEl>
                                          </p:spTgt>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35843">
                                            <p:txEl>
                                              <p:pRg st="2" end="2"/>
                                            </p:txEl>
                                          </p:spTgt>
                                        </p:tgtEl>
                                        <p:attrNameLst>
                                          <p:attrName>style.visibility</p:attrName>
                                        </p:attrNameLst>
                                      </p:cBhvr>
                                      <p:to>
                                        <p:strVal val="visible"/>
                                      </p:to>
                                    </p:set>
                                    <p:anim to="" calcmode="lin" valueType="num">
                                      <p:cBhvr>
                                        <p:cTn id="17" dur="1" fill="hold"/>
                                        <p:tgtEl>
                                          <p:spTgt spid="35843">
                                            <p:txEl>
                                              <p:pRg st="2" end="2"/>
                                            </p:txEl>
                                          </p:spTgt>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0"/>
                                          </p:stCondLst>
                                        </p:cTn>
                                        <p:tgtEl>
                                          <p:spTgt spid="35843">
                                            <p:txEl>
                                              <p:charRg st="138" end="138"/>
                                            </p:txEl>
                                          </p:spTgt>
                                        </p:tgtEl>
                                        <p:attrNameLst>
                                          <p:attrName>style.visibility</p:attrName>
                                        </p:attrNameLst>
                                      </p:cBhvr>
                                      <p:to>
                                        <p:strVal val="visible"/>
                                      </p:to>
                                    </p:set>
                                    <p:anim to="" calcmode="lin" valueType="num">
                                      <p:cBhvr>
                                        <p:cTn id="22" dur="1" fill="hold"/>
                                        <p:tgtEl>
                                          <p:spTgt spid="35843">
                                            <p:txEl>
                                              <p:charRg st="138" end="138"/>
                                            </p:txEl>
                                          </p:spTgt>
                                        </p:tgtEl>
                                        <p:attrNameLst>
                                          <p:attrName/>
                                        </p:attrNameLst>
                                      </p:cBhvr>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3" grpId="0" build="p"/>
      <p:bldP spid="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idx="4294967295"/>
          </p:nvPr>
        </p:nvSpPr>
        <p:spPr>
          <a:xfrm>
            <a:off x="0" y="0"/>
            <a:ext cx="1966913" cy="1403350"/>
          </a:xfrm>
        </p:spPr>
        <p:txBody>
          <a:bodyPr>
            <a:normAutofit fontScale="90000"/>
          </a:bodyPr>
          <a:lstStyle/>
          <a:p>
            <a:pPr algn="l" eaLnBrk="1" hangingPunct="1"/>
            <a:r>
              <a:rPr lang="zh-CN" altLang="en-US" sz="3600" b="1" dirty="0">
                <a:solidFill>
                  <a:srgbClr val="CC0000"/>
                </a:solidFill>
              </a:rPr>
              <a:t>语法树的生成过程</a:t>
            </a:r>
          </a:p>
        </p:txBody>
      </p:sp>
      <p:sp>
        <p:nvSpPr>
          <p:cNvPr id="357379" name="Text Box 3"/>
          <p:cNvSpPr txBox="1">
            <a:spLocks noChangeArrowheads="1"/>
          </p:cNvSpPr>
          <p:nvPr/>
        </p:nvSpPr>
        <p:spPr bwMode="auto">
          <a:xfrm>
            <a:off x="1884363" y="846138"/>
            <a:ext cx="11461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nvGrpSpPr>
          <p:cNvPr id="2" name="Group 4"/>
          <p:cNvGrpSpPr>
            <a:grpSpLocks/>
          </p:cNvGrpSpPr>
          <p:nvPr/>
        </p:nvGrpSpPr>
        <p:grpSpPr bwMode="auto">
          <a:xfrm>
            <a:off x="1130300" y="1217613"/>
            <a:ext cx="2598738" cy="1009650"/>
            <a:chOff x="712" y="1121"/>
            <a:chExt cx="1637" cy="849"/>
          </a:xfrm>
        </p:grpSpPr>
        <p:grpSp>
          <p:nvGrpSpPr>
            <p:cNvPr id="34886" name="Group 5"/>
            <p:cNvGrpSpPr>
              <a:grpSpLocks/>
            </p:cNvGrpSpPr>
            <p:nvPr/>
          </p:nvGrpSpPr>
          <p:grpSpPr bwMode="auto">
            <a:xfrm>
              <a:off x="1050" y="1121"/>
              <a:ext cx="932" cy="439"/>
              <a:chOff x="3246" y="1408"/>
              <a:chExt cx="932" cy="439"/>
            </a:xfrm>
          </p:grpSpPr>
          <p:sp>
            <p:nvSpPr>
              <p:cNvPr id="34888" name="Line 6"/>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9" name="Line 7"/>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0" name="Line 8"/>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87" name="Text Box 9"/>
            <p:cNvSpPr txBox="1">
              <a:spLocks noChangeArrowheads="1"/>
            </p:cNvSpPr>
            <p:nvPr/>
          </p:nvSpPr>
          <p:spPr bwMode="auto">
            <a:xfrm>
              <a:off x="712" y="1479"/>
              <a:ext cx="1637"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       *      E</a:t>
              </a:r>
            </a:p>
          </p:txBody>
        </p:sp>
      </p:grpSp>
      <p:grpSp>
        <p:nvGrpSpPr>
          <p:cNvPr id="4" name="Group 10"/>
          <p:cNvGrpSpPr>
            <a:grpSpLocks/>
          </p:cNvGrpSpPr>
          <p:nvPr/>
        </p:nvGrpSpPr>
        <p:grpSpPr bwMode="auto">
          <a:xfrm>
            <a:off x="171450" y="2044700"/>
            <a:ext cx="2511425" cy="1042988"/>
            <a:chOff x="108" y="1816"/>
            <a:chExt cx="1582" cy="876"/>
          </a:xfrm>
        </p:grpSpPr>
        <p:grpSp>
          <p:nvGrpSpPr>
            <p:cNvPr id="34881" name="Group 11"/>
            <p:cNvGrpSpPr>
              <a:grpSpLocks/>
            </p:cNvGrpSpPr>
            <p:nvPr/>
          </p:nvGrpSpPr>
          <p:grpSpPr bwMode="auto">
            <a:xfrm>
              <a:off x="436" y="1816"/>
              <a:ext cx="932" cy="439"/>
              <a:chOff x="3246" y="1408"/>
              <a:chExt cx="932" cy="439"/>
            </a:xfrm>
          </p:grpSpPr>
          <p:sp>
            <p:nvSpPr>
              <p:cNvPr id="34883" name="Line 12"/>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4" name="Line 13"/>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5" name="Line 14"/>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82" name="Text Box 15"/>
            <p:cNvSpPr txBox="1">
              <a:spLocks noChangeArrowheads="1"/>
            </p:cNvSpPr>
            <p:nvPr/>
          </p:nvSpPr>
          <p:spPr bwMode="auto">
            <a:xfrm>
              <a:off x="108" y="2201"/>
              <a:ext cx="158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         E        )</a:t>
              </a:r>
            </a:p>
          </p:txBody>
        </p:sp>
      </p:grpSp>
      <p:grpSp>
        <p:nvGrpSpPr>
          <p:cNvPr id="6" name="Group 16"/>
          <p:cNvGrpSpPr>
            <a:grpSpLocks/>
          </p:cNvGrpSpPr>
          <p:nvPr/>
        </p:nvGrpSpPr>
        <p:grpSpPr bwMode="auto">
          <a:xfrm>
            <a:off x="373063" y="2860675"/>
            <a:ext cx="2090737" cy="1052513"/>
            <a:chOff x="235" y="2502"/>
            <a:chExt cx="1317" cy="884"/>
          </a:xfrm>
        </p:grpSpPr>
        <p:sp>
          <p:nvSpPr>
            <p:cNvPr id="34876" name="Text Box 17"/>
            <p:cNvSpPr txBox="1">
              <a:spLocks noChangeArrowheads="1"/>
            </p:cNvSpPr>
            <p:nvPr/>
          </p:nvSpPr>
          <p:spPr bwMode="auto">
            <a:xfrm>
              <a:off x="235" y="2895"/>
              <a:ext cx="1317"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      +     E</a:t>
              </a:r>
            </a:p>
          </p:txBody>
        </p:sp>
        <p:grpSp>
          <p:nvGrpSpPr>
            <p:cNvPr id="34877" name="Group 18"/>
            <p:cNvGrpSpPr>
              <a:grpSpLocks/>
            </p:cNvGrpSpPr>
            <p:nvPr/>
          </p:nvGrpSpPr>
          <p:grpSpPr bwMode="auto">
            <a:xfrm>
              <a:off x="509" y="2502"/>
              <a:ext cx="804" cy="439"/>
              <a:chOff x="3246" y="1408"/>
              <a:chExt cx="932" cy="439"/>
            </a:xfrm>
          </p:grpSpPr>
          <p:sp>
            <p:nvSpPr>
              <p:cNvPr id="34878" name="Line 19"/>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9" name="Line 20"/>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0" name="Line 21"/>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8" name="Group 22"/>
          <p:cNvGrpSpPr>
            <a:grpSpLocks/>
          </p:cNvGrpSpPr>
          <p:nvPr/>
        </p:nvGrpSpPr>
        <p:grpSpPr bwMode="auto">
          <a:xfrm>
            <a:off x="215900" y="3730625"/>
            <a:ext cx="784225" cy="1020763"/>
            <a:chOff x="136" y="3233"/>
            <a:chExt cx="494" cy="857"/>
          </a:xfrm>
        </p:grpSpPr>
        <p:sp>
          <p:nvSpPr>
            <p:cNvPr id="34874" name="Line 23"/>
            <p:cNvSpPr>
              <a:spLocks noChangeShapeType="1"/>
            </p:cNvSpPr>
            <p:nvPr/>
          </p:nvSpPr>
          <p:spPr bwMode="auto">
            <a:xfrm>
              <a:off x="383" y="3233"/>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5" name="Text Box 24"/>
            <p:cNvSpPr txBox="1">
              <a:spLocks noChangeArrowheads="1"/>
            </p:cNvSpPr>
            <p:nvPr/>
          </p:nvSpPr>
          <p:spPr bwMode="auto">
            <a:xfrm>
              <a:off x="136" y="3599"/>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grpSp>
        <p:nvGrpSpPr>
          <p:cNvPr id="9" name="Group 25"/>
          <p:cNvGrpSpPr>
            <a:grpSpLocks/>
          </p:cNvGrpSpPr>
          <p:nvPr/>
        </p:nvGrpSpPr>
        <p:grpSpPr bwMode="auto">
          <a:xfrm>
            <a:off x="1778000" y="3740150"/>
            <a:ext cx="784225" cy="1009650"/>
            <a:chOff x="1120" y="3241"/>
            <a:chExt cx="494" cy="847"/>
          </a:xfrm>
        </p:grpSpPr>
        <p:sp>
          <p:nvSpPr>
            <p:cNvPr id="34872" name="Line 26"/>
            <p:cNvSpPr>
              <a:spLocks noChangeShapeType="1"/>
            </p:cNvSpPr>
            <p:nvPr/>
          </p:nvSpPr>
          <p:spPr bwMode="auto">
            <a:xfrm>
              <a:off x="1367" y="3241"/>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3" name="Text Box 27"/>
            <p:cNvSpPr txBox="1">
              <a:spLocks noChangeArrowheads="1"/>
            </p:cNvSpPr>
            <p:nvPr/>
          </p:nvSpPr>
          <p:spPr bwMode="auto">
            <a:xfrm>
              <a:off x="1120" y="3597"/>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grpSp>
        <p:nvGrpSpPr>
          <p:cNvPr id="10" name="Group 28"/>
          <p:cNvGrpSpPr>
            <a:grpSpLocks/>
          </p:cNvGrpSpPr>
          <p:nvPr/>
        </p:nvGrpSpPr>
        <p:grpSpPr bwMode="auto">
          <a:xfrm>
            <a:off x="2954338" y="2043113"/>
            <a:ext cx="784225" cy="1008062"/>
            <a:chOff x="1861" y="1815"/>
            <a:chExt cx="494" cy="847"/>
          </a:xfrm>
        </p:grpSpPr>
        <p:sp>
          <p:nvSpPr>
            <p:cNvPr id="34870" name="Line 29"/>
            <p:cNvSpPr>
              <a:spLocks noChangeShapeType="1"/>
            </p:cNvSpPr>
            <p:nvPr/>
          </p:nvSpPr>
          <p:spPr bwMode="auto">
            <a:xfrm>
              <a:off x="2100" y="1815"/>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1" name="Text Box 30"/>
            <p:cNvSpPr txBox="1">
              <a:spLocks noChangeArrowheads="1"/>
            </p:cNvSpPr>
            <p:nvPr/>
          </p:nvSpPr>
          <p:spPr bwMode="auto">
            <a:xfrm>
              <a:off x="1861" y="2171"/>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grpSp>
        <p:nvGrpSpPr>
          <p:cNvPr id="11" name="Group 31"/>
          <p:cNvGrpSpPr>
            <a:grpSpLocks/>
          </p:cNvGrpSpPr>
          <p:nvPr/>
        </p:nvGrpSpPr>
        <p:grpSpPr bwMode="auto">
          <a:xfrm>
            <a:off x="5829300" y="965200"/>
            <a:ext cx="2598738" cy="1338263"/>
            <a:chOff x="3672" y="910"/>
            <a:chExt cx="1637" cy="1123"/>
          </a:xfrm>
        </p:grpSpPr>
        <p:sp>
          <p:nvSpPr>
            <p:cNvPr id="34863" name="Text Box 32"/>
            <p:cNvSpPr txBox="1">
              <a:spLocks noChangeArrowheads="1"/>
            </p:cNvSpPr>
            <p:nvPr/>
          </p:nvSpPr>
          <p:spPr bwMode="auto">
            <a:xfrm>
              <a:off x="4127" y="910"/>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nvGrpSpPr>
            <p:cNvPr id="34864" name="Group 33"/>
            <p:cNvGrpSpPr>
              <a:grpSpLocks/>
            </p:cNvGrpSpPr>
            <p:nvPr/>
          </p:nvGrpSpPr>
          <p:grpSpPr bwMode="auto">
            <a:xfrm>
              <a:off x="3672" y="1184"/>
              <a:ext cx="1637" cy="849"/>
              <a:chOff x="712" y="1121"/>
              <a:chExt cx="1637" cy="849"/>
            </a:xfrm>
          </p:grpSpPr>
          <p:grpSp>
            <p:nvGrpSpPr>
              <p:cNvPr id="34865" name="Group 34"/>
              <p:cNvGrpSpPr>
                <a:grpSpLocks/>
              </p:cNvGrpSpPr>
              <p:nvPr/>
            </p:nvGrpSpPr>
            <p:grpSpPr bwMode="auto">
              <a:xfrm>
                <a:off x="1050" y="1121"/>
                <a:ext cx="932" cy="439"/>
                <a:chOff x="3246" y="1408"/>
                <a:chExt cx="932" cy="439"/>
              </a:xfrm>
            </p:grpSpPr>
            <p:sp>
              <p:nvSpPr>
                <p:cNvPr id="34867" name="Line 35"/>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8" name="Line 36"/>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9" name="Line 37"/>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66" name="Text Box 38"/>
              <p:cNvSpPr txBox="1">
                <a:spLocks noChangeArrowheads="1"/>
              </p:cNvSpPr>
              <p:nvPr/>
            </p:nvSpPr>
            <p:spPr bwMode="auto">
              <a:xfrm>
                <a:off x="712" y="1479"/>
                <a:ext cx="1637"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       *      E</a:t>
                </a:r>
              </a:p>
            </p:txBody>
          </p:sp>
        </p:grpSp>
      </p:grpSp>
      <p:grpSp>
        <p:nvGrpSpPr>
          <p:cNvPr id="14" name="Group 39"/>
          <p:cNvGrpSpPr>
            <a:grpSpLocks/>
          </p:cNvGrpSpPr>
          <p:nvPr/>
        </p:nvGrpSpPr>
        <p:grpSpPr bwMode="auto">
          <a:xfrm>
            <a:off x="4738688" y="3413125"/>
            <a:ext cx="1146175" cy="1423988"/>
            <a:chOff x="2985" y="2966"/>
            <a:chExt cx="722" cy="1196"/>
          </a:xfrm>
        </p:grpSpPr>
        <p:grpSp>
          <p:nvGrpSpPr>
            <p:cNvPr id="34859" name="Group 40"/>
            <p:cNvGrpSpPr>
              <a:grpSpLocks/>
            </p:cNvGrpSpPr>
            <p:nvPr/>
          </p:nvGrpSpPr>
          <p:grpSpPr bwMode="auto">
            <a:xfrm>
              <a:off x="3096" y="3305"/>
              <a:ext cx="494" cy="857"/>
              <a:chOff x="136" y="3233"/>
              <a:chExt cx="494" cy="857"/>
            </a:xfrm>
          </p:grpSpPr>
          <p:sp>
            <p:nvSpPr>
              <p:cNvPr id="34861" name="Line 41"/>
              <p:cNvSpPr>
                <a:spLocks noChangeShapeType="1"/>
              </p:cNvSpPr>
              <p:nvPr/>
            </p:nvSpPr>
            <p:spPr bwMode="auto">
              <a:xfrm>
                <a:off x="383" y="3233"/>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2" name="Text Box 42"/>
              <p:cNvSpPr txBox="1">
                <a:spLocks noChangeArrowheads="1"/>
              </p:cNvSpPr>
              <p:nvPr/>
            </p:nvSpPr>
            <p:spPr bwMode="auto">
              <a:xfrm>
                <a:off x="136" y="3599"/>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sp>
          <p:nvSpPr>
            <p:cNvPr id="34860" name="Text Box 43"/>
            <p:cNvSpPr txBox="1">
              <a:spLocks noChangeArrowheads="1"/>
            </p:cNvSpPr>
            <p:nvPr/>
          </p:nvSpPr>
          <p:spPr bwMode="auto">
            <a:xfrm>
              <a:off x="2985" y="2966"/>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grpSp>
        <p:nvGrpSpPr>
          <p:cNvPr id="16" name="Group 44"/>
          <p:cNvGrpSpPr>
            <a:grpSpLocks/>
          </p:cNvGrpSpPr>
          <p:nvPr/>
        </p:nvGrpSpPr>
        <p:grpSpPr bwMode="auto">
          <a:xfrm>
            <a:off x="6362700" y="3413125"/>
            <a:ext cx="1146175" cy="1411288"/>
            <a:chOff x="4008" y="2966"/>
            <a:chExt cx="722" cy="1185"/>
          </a:xfrm>
        </p:grpSpPr>
        <p:grpSp>
          <p:nvGrpSpPr>
            <p:cNvPr id="34855" name="Group 45"/>
            <p:cNvGrpSpPr>
              <a:grpSpLocks/>
            </p:cNvGrpSpPr>
            <p:nvPr/>
          </p:nvGrpSpPr>
          <p:grpSpPr bwMode="auto">
            <a:xfrm>
              <a:off x="4080" y="3304"/>
              <a:ext cx="494" cy="847"/>
              <a:chOff x="1120" y="3241"/>
              <a:chExt cx="494" cy="847"/>
            </a:xfrm>
          </p:grpSpPr>
          <p:sp>
            <p:nvSpPr>
              <p:cNvPr id="34857" name="Line 46"/>
              <p:cNvSpPr>
                <a:spLocks noChangeShapeType="1"/>
              </p:cNvSpPr>
              <p:nvPr/>
            </p:nvSpPr>
            <p:spPr bwMode="auto">
              <a:xfrm>
                <a:off x="1367" y="3241"/>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8" name="Text Box 47"/>
              <p:cNvSpPr txBox="1">
                <a:spLocks noChangeArrowheads="1"/>
              </p:cNvSpPr>
              <p:nvPr/>
            </p:nvSpPr>
            <p:spPr bwMode="auto">
              <a:xfrm>
                <a:off x="1120" y="3597"/>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sp>
          <p:nvSpPr>
            <p:cNvPr id="34856" name="Text Box 48"/>
            <p:cNvSpPr txBox="1">
              <a:spLocks noChangeArrowheads="1"/>
            </p:cNvSpPr>
            <p:nvPr/>
          </p:nvSpPr>
          <p:spPr bwMode="auto">
            <a:xfrm>
              <a:off x="4008" y="2966"/>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grpSp>
        <p:nvGrpSpPr>
          <p:cNvPr id="18" name="Group 49"/>
          <p:cNvGrpSpPr>
            <a:grpSpLocks/>
          </p:cNvGrpSpPr>
          <p:nvPr/>
        </p:nvGrpSpPr>
        <p:grpSpPr bwMode="auto">
          <a:xfrm>
            <a:off x="5072063" y="2576513"/>
            <a:ext cx="2090737" cy="1411287"/>
            <a:chOff x="3195" y="2263"/>
            <a:chExt cx="1317" cy="1186"/>
          </a:xfrm>
        </p:grpSpPr>
        <p:grpSp>
          <p:nvGrpSpPr>
            <p:cNvPr id="34848" name="Group 50"/>
            <p:cNvGrpSpPr>
              <a:grpSpLocks/>
            </p:cNvGrpSpPr>
            <p:nvPr/>
          </p:nvGrpSpPr>
          <p:grpSpPr bwMode="auto">
            <a:xfrm>
              <a:off x="3195" y="2565"/>
              <a:ext cx="1317" cy="884"/>
              <a:chOff x="235" y="2502"/>
              <a:chExt cx="1317" cy="884"/>
            </a:xfrm>
          </p:grpSpPr>
          <p:sp>
            <p:nvSpPr>
              <p:cNvPr id="34850" name="Text Box 51"/>
              <p:cNvSpPr txBox="1">
                <a:spLocks noChangeArrowheads="1"/>
              </p:cNvSpPr>
              <p:nvPr/>
            </p:nvSpPr>
            <p:spPr bwMode="auto">
              <a:xfrm>
                <a:off x="235" y="2895"/>
                <a:ext cx="1317"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      +     E</a:t>
                </a:r>
              </a:p>
            </p:txBody>
          </p:sp>
          <p:grpSp>
            <p:nvGrpSpPr>
              <p:cNvPr id="34851" name="Group 52"/>
              <p:cNvGrpSpPr>
                <a:grpSpLocks/>
              </p:cNvGrpSpPr>
              <p:nvPr/>
            </p:nvGrpSpPr>
            <p:grpSpPr bwMode="auto">
              <a:xfrm>
                <a:off x="509" y="2502"/>
                <a:ext cx="804" cy="439"/>
                <a:chOff x="3246" y="1408"/>
                <a:chExt cx="932" cy="439"/>
              </a:xfrm>
            </p:grpSpPr>
            <p:sp>
              <p:nvSpPr>
                <p:cNvPr id="34852" name="Line 53"/>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3" name="Line 54"/>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4" name="Line 55"/>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4849" name="Text Box 56"/>
            <p:cNvSpPr txBox="1">
              <a:spLocks noChangeArrowheads="1"/>
            </p:cNvSpPr>
            <p:nvPr/>
          </p:nvSpPr>
          <p:spPr bwMode="auto">
            <a:xfrm>
              <a:off x="3534" y="2263"/>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grpSp>
        <p:nvGrpSpPr>
          <p:cNvPr id="21" name="Group 57"/>
          <p:cNvGrpSpPr>
            <a:grpSpLocks/>
          </p:cNvGrpSpPr>
          <p:nvPr/>
        </p:nvGrpSpPr>
        <p:grpSpPr bwMode="auto">
          <a:xfrm>
            <a:off x="4870450" y="1716088"/>
            <a:ext cx="2511425" cy="1446212"/>
            <a:chOff x="3068" y="1540"/>
            <a:chExt cx="1582" cy="1215"/>
          </a:xfrm>
        </p:grpSpPr>
        <p:grpSp>
          <p:nvGrpSpPr>
            <p:cNvPr id="34841" name="Group 58"/>
            <p:cNvGrpSpPr>
              <a:grpSpLocks/>
            </p:cNvGrpSpPr>
            <p:nvPr/>
          </p:nvGrpSpPr>
          <p:grpSpPr bwMode="auto">
            <a:xfrm>
              <a:off x="3068" y="1879"/>
              <a:ext cx="1582" cy="876"/>
              <a:chOff x="108" y="1816"/>
              <a:chExt cx="1582" cy="876"/>
            </a:xfrm>
          </p:grpSpPr>
          <p:grpSp>
            <p:nvGrpSpPr>
              <p:cNvPr id="34843" name="Group 59"/>
              <p:cNvGrpSpPr>
                <a:grpSpLocks/>
              </p:cNvGrpSpPr>
              <p:nvPr/>
            </p:nvGrpSpPr>
            <p:grpSpPr bwMode="auto">
              <a:xfrm>
                <a:off x="436" y="1816"/>
                <a:ext cx="932" cy="439"/>
                <a:chOff x="3246" y="1408"/>
                <a:chExt cx="932" cy="439"/>
              </a:xfrm>
            </p:grpSpPr>
            <p:sp>
              <p:nvSpPr>
                <p:cNvPr id="34845" name="Line 60"/>
                <p:cNvSpPr>
                  <a:spLocks noChangeShapeType="1"/>
                </p:cNvSpPr>
                <p:nvPr/>
              </p:nvSpPr>
              <p:spPr bwMode="auto">
                <a:xfrm flipH="1">
                  <a:off x="3246" y="1408"/>
                  <a:ext cx="393"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6" name="Line 61"/>
                <p:cNvSpPr>
                  <a:spLocks noChangeShapeType="1"/>
                </p:cNvSpPr>
                <p:nvPr/>
              </p:nvSpPr>
              <p:spPr bwMode="auto">
                <a:xfrm>
                  <a:off x="3712" y="1417"/>
                  <a:ext cx="0" cy="4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7" name="Line 62"/>
                <p:cNvSpPr>
                  <a:spLocks noChangeShapeType="1"/>
                </p:cNvSpPr>
                <p:nvPr/>
              </p:nvSpPr>
              <p:spPr bwMode="auto">
                <a:xfrm>
                  <a:off x="3813" y="1417"/>
                  <a:ext cx="365" cy="3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44" name="Text Box 63"/>
              <p:cNvSpPr txBox="1">
                <a:spLocks noChangeArrowheads="1"/>
              </p:cNvSpPr>
              <p:nvPr/>
            </p:nvSpPr>
            <p:spPr bwMode="auto">
              <a:xfrm>
                <a:off x="108" y="2201"/>
                <a:ext cx="158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         E        )</a:t>
                </a:r>
              </a:p>
            </p:txBody>
          </p:sp>
        </p:grpSp>
        <p:sp>
          <p:nvSpPr>
            <p:cNvPr id="34842" name="Text Box 64"/>
            <p:cNvSpPr txBox="1">
              <a:spLocks noChangeArrowheads="1"/>
            </p:cNvSpPr>
            <p:nvPr/>
          </p:nvSpPr>
          <p:spPr bwMode="auto">
            <a:xfrm>
              <a:off x="3561" y="1540"/>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grpSp>
        <p:nvGrpSpPr>
          <p:cNvPr id="24" name="Group 65"/>
          <p:cNvGrpSpPr>
            <a:grpSpLocks/>
          </p:cNvGrpSpPr>
          <p:nvPr/>
        </p:nvGrpSpPr>
        <p:grpSpPr bwMode="auto">
          <a:xfrm>
            <a:off x="7454900" y="1716088"/>
            <a:ext cx="1146175" cy="1411287"/>
            <a:chOff x="4696" y="1540"/>
            <a:chExt cx="722" cy="1185"/>
          </a:xfrm>
        </p:grpSpPr>
        <p:grpSp>
          <p:nvGrpSpPr>
            <p:cNvPr id="34837" name="Group 66"/>
            <p:cNvGrpSpPr>
              <a:grpSpLocks/>
            </p:cNvGrpSpPr>
            <p:nvPr/>
          </p:nvGrpSpPr>
          <p:grpSpPr bwMode="auto">
            <a:xfrm>
              <a:off x="4821" y="1878"/>
              <a:ext cx="494" cy="847"/>
              <a:chOff x="1861" y="1815"/>
              <a:chExt cx="494" cy="847"/>
            </a:xfrm>
          </p:grpSpPr>
          <p:sp>
            <p:nvSpPr>
              <p:cNvPr id="34839" name="Line 67"/>
              <p:cNvSpPr>
                <a:spLocks noChangeShapeType="1"/>
              </p:cNvSpPr>
              <p:nvPr/>
            </p:nvSpPr>
            <p:spPr bwMode="auto">
              <a:xfrm>
                <a:off x="2100" y="1815"/>
                <a:ext cx="0" cy="3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0" name="Text Box 68"/>
              <p:cNvSpPr txBox="1">
                <a:spLocks noChangeArrowheads="1"/>
              </p:cNvSpPr>
              <p:nvPr/>
            </p:nvSpPr>
            <p:spPr bwMode="auto">
              <a:xfrm>
                <a:off x="1861" y="2171"/>
                <a:ext cx="494"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i</a:t>
                </a:r>
              </a:p>
            </p:txBody>
          </p:sp>
        </p:grpSp>
        <p:sp>
          <p:nvSpPr>
            <p:cNvPr id="34838" name="Text Box 69"/>
            <p:cNvSpPr txBox="1">
              <a:spLocks noChangeArrowheads="1"/>
            </p:cNvSpPr>
            <p:nvPr/>
          </p:nvSpPr>
          <p:spPr bwMode="auto">
            <a:xfrm>
              <a:off x="4696" y="1540"/>
              <a:ext cx="722" cy="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b="1">
                  <a:ea typeface="华文行楷" pitchFamily="2" charset="-122"/>
                </a:rPr>
                <a:t>E</a:t>
              </a:r>
            </a:p>
          </p:txBody>
        </p:sp>
      </p:grpSp>
      <p:sp>
        <p:nvSpPr>
          <p:cNvPr id="34832" name="Rectangle 70"/>
          <p:cNvSpPr>
            <a:spLocks noChangeArrowheads="1"/>
          </p:cNvSpPr>
          <p:nvPr/>
        </p:nvSpPr>
        <p:spPr bwMode="auto">
          <a:xfrm>
            <a:off x="1966913" y="0"/>
            <a:ext cx="7177087" cy="941796"/>
          </a:xfrm>
          <a:prstGeom prst="rect">
            <a:avLst/>
          </a:prstGeom>
          <a:solidFill>
            <a:srgbClr val="99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30000"/>
              </a:spcBef>
              <a:buFontTx/>
              <a:buNone/>
            </a:pPr>
            <a:r>
              <a:rPr lang="en-US" altLang="zh-CN" sz="2400" dirty="0">
                <a:solidFill>
                  <a:srgbClr val="000000"/>
                </a:solidFill>
                <a:sym typeface="Symbol" pitchFamily="18" charset="2"/>
              </a:rPr>
              <a:t>E  E*E  (E)*E  (E + E)*E  (</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E)*E </a:t>
            </a:r>
          </a:p>
          <a:p>
            <a:pPr eaLnBrk="1" hangingPunct="1">
              <a:spcBef>
                <a:spcPct val="30000"/>
              </a:spcBef>
              <a:buFontTx/>
              <a:buNone/>
            </a:pPr>
            <a:r>
              <a:rPr lang="en-US" altLang="zh-CN" sz="2400" dirty="0">
                <a:solidFill>
                  <a:srgbClr val="000000"/>
                </a:solidFill>
                <a:sym typeface="Symbol" pitchFamily="18" charset="2"/>
              </a:rPr>
              <a:t>   (</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)*E  (</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a:t>
            </a:r>
            <a:r>
              <a:rPr lang="en-US" altLang="zh-CN" sz="2400" dirty="0" err="1">
                <a:solidFill>
                  <a:srgbClr val="000000"/>
                </a:solidFill>
                <a:sym typeface="Symbol" pitchFamily="18" charset="2"/>
              </a:rPr>
              <a:t>i</a:t>
            </a:r>
            <a:endParaRPr lang="en-US" altLang="zh-CN" sz="2400" dirty="0">
              <a:solidFill>
                <a:srgbClr val="000000"/>
              </a:solidFill>
              <a:sym typeface="Symbol" pitchFamily="18" charset="2"/>
            </a:endParaRPr>
          </a:p>
        </p:txBody>
      </p:sp>
      <p:sp>
        <p:nvSpPr>
          <p:cNvPr id="357447" name="Line 71"/>
          <p:cNvSpPr>
            <a:spLocks noChangeShapeType="1"/>
          </p:cNvSpPr>
          <p:nvPr/>
        </p:nvSpPr>
        <p:spPr bwMode="auto">
          <a:xfrm>
            <a:off x="3671888" y="958850"/>
            <a:ext cx="0" cy="3598863"/>
          </a:xfrm>
          <a:prstGeom prst="line">
            <a:avLst/>
          </a:prstGeom>
          <a:noFill/>
          <a:ln w="57150">
            <a:solidFill>
              <a:srgbClr val="003366"/>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57448" name="Line 72"/>
          <p:cNvSpPr>
            <a:spLocks noChangeShapeType="1"/>
          </p:cNvSpPr>
          <p:nvPr/>
        </p:nvSpPr>
        <p:spPr bwMode="auto">
          <a:xfrm flipV="1">
            <a:off x="8609013" y="1011238"/>
            <a:ext cx="31750" cy="3478212"/>
          </a:xfrm>
          <a:prstGeom prst="line">
            <a:avLst/>
          </a:prstGeom>
          <a:noFill/>
          <a:ln w="57150">
            <a:solidFill>
              <a:srgbClr val="003366"/>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57449" name="Rectangle 73"/>
          <p:cNvSpPr>
            <a:spLocks noChangeArrowheads="1"/>
          </p:cNvSpPr>
          <p:nvPr/>
        </p:nvSpPr>
        <p:spPr bwMode="auto">
          <a:xfrm>
            <a:off x="2282825" y="4541838"/>
            <a:ext cx="27559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a:solidFill>
                  <a:schemeClr val="accent2"/>
                </a:solidFill>
                <a:ea typeface="华文行楷" pitchFamily="2" charset="-122"/>
              </a:rPr>
              <a:t>自上而下建立</a:t>
            </a:r>
          </a:p>
        </p:txBody>
      </p:sp>
      <p:sp>
        <p:nvSpPr>
          <p:cNvPr id="357450" name="Rectangle 74"/>
          <p:cNvSpPr>
            <a:spLocks noChangeArrowheads="1"/>
          </p:cNvSpPr>
          <p:nvPr/>
        </p:nvSpPr>
        <p:spPr bwMode="auto">
          <a:xfrm>
            <a:off x="6508750" y="4556125"/>
            <a:ext cx="2647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a:solidFill>
                  <a:schemeClr val="accent2"/>
                </a:solidFill>
                <a:ea typeface="华文行楷" pitchFamily="2" charset="-122"/>
              </a:rPr>
              <a:t>自下而上建立</a:t>
            </a:r>
          </a:p>
        </p:txBody>
      </p:sp>
      <p:sp>
        <p:nvSpPr>
          <p:cNvPr id="3" name="矩形 2"/>
          <p:cNvSpPr/>
          <p:nvPr/>
        </p:nvSpPr>
        <p:spPr>
          <a:xfrm>
            <a:off x="6084168" y="641906"/>
            <a:ext cx="3095625" cy="369332"/>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en-US" altLang="zh-CN" dirty="0">
                <a:solidFill>
                  <a:srgbClr val="000000"/>
                </a:solidFill>
                <a:sym typeface="Symbol" pitchFamily="18" charset="2"/>
              </a:rPr>
              <a:t>E  E + E | E * E  | ( E ) | </a:t>
            </a:r>
            <a:r>
              <a:rPr lang="en-US" altLang="zh-CN" dirty="0" err="1">
                <a:solidFill>
                  <a:srgbClr val="000000"/>
                </a:solidFill>
                <a:sym typeface="Symbol" pitchFamily="18" charset="2"/>
              </a:rPr>
              <a:t>i</a:t>
            </a:r>
            <a:endParaRPr lang="zh-CN" altLang="en-US" dirty="0"/>
          </a:p>
        </p:txBody>
      </p:sp>
    </p:spTree>
    <p:extLst>
      <p:ext uri="{BB962C8B-B14F-4D97-AF65-F5344CB8AC3E}">
        <p14:creationId xmlns:p14="http://schemas.microsoft.com/office/powerpoint/2010/main" val="10723893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737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2" presetClass="entr" presetSubtype="1"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Top)">
                                      <p:cBhvr>
                                        <p:cTn id="11" dur="1000"/>
                                        <p:tgtEl>
                                          <p:spTgt spid="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2" presetClass="entr" presetSubtype="1"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slide(fromTop)">
                                      <p:cBhvr>
                                        <p:cTn id="16" dur="1000"/>
                                        <p:tgtEl>
                                          <p:spTgt spid="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2" presetClass="entr" presetSubtype="1"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Top)">
                                      <p:cBhvr>
                                        <p:cTn id="21" dur="1000"/>
                                        <p:tgtEl>
                                          <p:spTgt spid="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1"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Top)">
                                      <p:cBhvr>
                                        <p:cTn id="26" dur="1000"/>
                                        <p:tgtEl>
                                          <p:spTgt spid="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2" presetClass="entr" presetSubtype="1"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slide(fromTop)">
                                      <p:cBhvr>
                                        <p:cTn id="31" dur="1000"/>
                                        <p:tgtEl>
                                          <p:spTgt spid="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2" presetClass="entr" presetSubtype="1"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slide(fromTop)">
                                      <p:cBhvr>
                                        <p:cTn id="36" dur="1000"/>
                                        <p:tgtEl>
                                          <p:spTgt spid="1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2" presetClass="entr" presetSubtype="1" fill="hold" grpId="0" nodeType="clickEffect">
                                  <p:stCondLst>
                                    <p:cond delay="0"/>
                                  </p:stCondLst>
                                  <p:childTnLst>
                                    <p:set>
                                      <p:cBhvr>
                                        <p:cTn id="40" dur="1" fill="hold">
                                          <p:stCondLst>
                                            <p:cond delay="0"/>
                                          </p:stCondLst>
                                        </p:cTn>
                                        <p:tgtEl>
                                          <p:spTgt spid="357447"/>
                                        </p:tgtEl>
                                        <p:attrNameLst>
                                          <p:attrName>style.visibility</p:attrName>
                                        </p:attrNameLst>
                                      </p:cBhvr>
                                      <p:to>
                                        <p:strVal val="visible"/>
                                      </p:to>
                                    </p:set>
                                    <p:animEffect transition="in" filter="slide(fromTop)">
                                      <p:cBhvr>
                                        <p:cTn id="41" dur="2000"/>
                                        <p:tgtEl>
                                          <p:spTgt spid="357447"/>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8" presetClass="entr" presetSubtype="12" fill="hold" grpId="0" nodeType="clickEffect">
                                  <p:stCondLst>
                                    <p:cond delay="0"/>
                                  </p:stCondLst>
                                  <p:childTnLst>
                                    <p:set>
                                      <p:cBhvr>
                                        <p:cTn id="45" dur="1" fill="hold">
                                          <p:stCondLst>
                                            <p:cond delay="0"/>
                                          </p:stCondLst>
                                        </p:cTn>
                                        <p:tgtEl>
                                          <p:spTgt spid="357449"/>
                                        </p:tgtEl>
                                        <p:attrNameLst>
                                          <p:attrName>style.visibility</p:attrName>
                                        </p:attrNameLst>
                                      </p:cBhvr>
                                      <p:to>
                                        <p:strVal val="visible"/>
                                      </p:to>
                                    </p:set>
                                    <p:animEffect transition="in" filter="strips(downLeft)">
                                      <p:cBhvr>
                                        <p:cTn id="46" dur="500"/>
                                        <p:tgtEl>
                                          <p:spTgt spid="357449"/>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2" presetClass="entr" presetSubtype="4"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slide(fromBottom)">
                                      <p:cBhvr>
                                        <p:cTn id="51" dur="1000"/>
                                        <p:tgtEl>
                                          <p:spTgt spid="14"/>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2" presetClass="entr" presetSubtype="4"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slide(fromBottom)">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2" presetClass="entr" presetSubtype="4" fill="hold"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slide(fromBottom)">
                                      <p:cBhvr>
                                        <p:cTn id="61" dur="1000"/>
                                        <p:tgtEl>
                                          <p:spTgt spid="18"/>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2" presetClass="entr" presetSubtype="4" fill="hold" nodeType="click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slide(fromBottom)">
                                      <p:cBhvr>
                                        <p:cTn id="66" dur="1000"/>
                                        <p:tgtEl>
                                          <p:spTgt spid="21"/>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12" presetClass="entr" presetSubtype="4" fill="hold" nodeType="click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slide(fromBottom)">
                                      <p:cBhvr>
                                        <p:cTn id="71" dur="1000"/>
                                        <p:tgtEl>
                                          <p:spTgt spid="2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2" presetClass="entr" presetSubtype="4" fill="hold" nodeType="click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slide(fromBottom)">
                                      <p:cBhvr>
                                        <p:cTn id="76" dur="1000"/>
                                        <p:tgtEl>
                                          <p:spTgt spid="11"/>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12" presetClass="entr" presetSubtype="4" fill="hold" grpId="0" nodeType="clickEffect">
                                  <p:stCondLst>
                                    <p:cond delay="0"/>
                                  </p:stCondLst>
                                  <p:childTnLst>
                                    <p:set>
                                      <p:cBhvr>
                                        <p:cTn id="80" dur="1" fill="hold">
                                          <p:stCondLst>
                                            <p:cond delay="0"/>
                                          </p:stCondLst>
                                        </p:cTn>
                                        <p:tgtEl>
                                          <p:spTgt spid="357448"/>
                                        </p:tgtEl>
                                        <p:attrNameLst>
                                          <p:attrName>style.visibility</p:attrName>
                                        </p:attrNameLst>
                                      </p:cBhvr>
                                      <p:to>
                                        <p:strVal val="visible"/>
                                      </p:to>
                                    </p:set>
                                    <p:animEffect transition="in" filter="slide(fromBottom)">
                                      <p:cBhvr>
                                        <p:cTn id="81" dur="2000"/>
                                        <p:tgtEl>
                                          <p:spTgt spid="357448"/>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18" presetClass="entr" presetSubtype="12" fill="hold" grpId="0" nodeType="clickEffect">
                                  <p:stCondLst>
                                    <p:cond delay="0"/>
                                  </p:stCondLst>
                                  <p:childTnLst>
                                    <p:set>
                                      <p:cBhvr>
                                        <p:cTn id="85" dur="1" fill="hold">
                                          <p:stCondLst>
                                            <p:cond delay="0"/>
                                          </p:stCondLst>
                                        </p:cTn>
                                        <p:tgtEl>
                                          <p:spTgt spid="357450"/>
                                        </p:tgtEl>
                                        <p:attrNameLst>
                                          <p:attrName>style.visibility</p:attrName>
                                        </p:attrNameLst>
                                      </p:cBhvr>
                                      <p:to>
                                        <p:strVal val="visible"/>
                                      </p:to>
                                    </p:set>
                                    <p:animEffect transition="in" filter="strips(downLeft)">
                                      <p:cBhvr>
                                        <p:cTn id="86" dur="500"/>
                                        <p:tgtEl>
                                          <p:spTgt spid="3574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7379" grpId="0"/>
      <p:bldP spid="357447" grpId="0" animBg="1"/>
      <p:bldP spid="357448" grpId="0" animBg="1"/>
      <p:bldP spid="357449" grpId="0"/>
      <p:bldP spid="357450" grpId="0"/>
    </p:bldLst>
  </p:timing>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5842" name="Rectangle 2"/>
          <p:cNvSpPr>
            <a:spLocks noGrp="1" noChangeArrowheads="1"/>
          </p:cNvSpPr>
          <p:nvPr>
            <p:ph type="title"/>
          </p:nvPr>
        </p:nvSpPr>
        <p:spPr>
          <a:xfrm>
            <a:off x="209550" y="234950"/>
            <a:ext cx="7772400" cy="857250"/>
          </a:xfrm>
        </p:spPr>
        <p:txBody>
          <a:bodyPr>
            <a:normAutofit fontScale="90000"/>
          </a:bodyPr>
          <a:lstStyle/>
          <a:p>
            <a:pPr algn="l" eaLnBrk="1" hangingPunct="1"/>
            <a:r>
              <a:rPr lang="zh-CN" altLang="en-US" sz="2400" dirty="0">
                <a:solidFill>
                  <a:srgbClr val="000000"/>
                </a:solidFill>
                <a:sym typeface="Symbol" pitchFamily="18" charset="2"/>
              </a:rPr>
              <a:t>例：对文法</a:t>
            </a:r>
            <a:r>
              <a:rPr lang="en-US" altLang="zh-CN" sz="2400" dirty="0">
                <a:solidFill>
                  <a:srgbClr val="000000"/>
                </a:solidFill>
                <a:sym typeface="Symbol" pitchFamily="18" charset="2"/>
              </a:rPr>
              <a:t>G = ({E}</a:t>
            </a:r>
            <a:r>
              <a:rPr lang="en-GB" altLang="zh-CN" sz="2400" dirty="0">
                <a:solidFill>
                  <a:srgbClr val="000000"/>
                </a:solidFill>
                <a:sym typeface="Symbol" pitchFamily="18" charset="2"/>
              </a:rPr>
              <a:t>, </a:t>
            </a:r>
            <a:r>
              <a:rPr lang="en-US" altLang="zh-CN" sz="2400" dirty="0">
                <a:solidFill>
                  <a:srgbClr val="000000"/>
                </a:solidFill>
                <a:sym typeface="Symbol" pitchFamily="18" charset="2"/>
              </a:rPr>
              <a:t>{</a:t>
            </a:r>
            <a:r>
              <a:rPr lang="en-US" altLang="zh-CN" sz="2400" dirty="0" err="1">
                <a:solidFill>
                  <a:srgbClr val="000000"/>
                </a:solidFill>
                <a:sym typeface="Symbol" pitchFamily="18" charset="2"/>
              </a:rPr>
              <a:t>i</a:t>
            </a:r>
            <a:r>
              <a:rPr lang="en-US" altLang="zh-CN" sz="2400" dirty="0">
                <a:solidFill>
                  <a:srgbClr val="000000"/>
                </a:solidFill>
                <a:sym typeface="Symbol" pitchFamily="18" charset="2"/>
              </a:rPr>
              <a:t>, +, *, (, ) } , P , E) </a:t>
            </a:r>
            <a:br>
              <a:rPr lang="en-US" altLang="zh-CN" sz="2400" dirty="0">
                <a:solidFill>
                  <a:srgbClr val="000000"/>
                </a:solidFill>
                <a:sym typeface="Symbol" pitchFamily="18" charset="2"/>
              </a:rPr>
            </a:br>
            <a:r>
              <a:rPr lang="en-US" altLang="zh-CN" sz="2400" dirty="0">
                <a:solidFill>
                  <a:srgbClr val="000000"/>
                </a:solidFill>
                <a:sym typeface="Symbol" pitchFamily="18" charset="2"/>
              </a:rPr>
              <a:t>           P</a:t>
            </a:r>
            <a:r>
              <a:rPr lang="zh-CN" altLang="en-US" sz="2400" dirty="0">
                <a:solidFill>
                  <a:srgbClr val="000000"/>
                </a:solidFill>
                <a:sym typeface="Symbol" pitchFamily="18" charset="2"/>
              </a:rPr>
              <a:t>： </a:t>
            </a:r>
            <a:r>
              <a:rPr lang="en-US" altLang="zh-CN" sz="2400" dirty="0">
                <a:solidFill>
                  <a:srgbClr val="000000"/>
                </a:solidFill>
                <a:sym typeface="Symbol" pitchFamily="18" charset="2"/>
              </a:rPr>
              <a:t>E  E + E | E * E  | ( E ) | </a:t>
            </a:r>
            <a:r>
              <a:rPr lang="en-US" altLang="zh-CN" sz="2400" dirty="0" err="1">
                <a:solidFill>
                  <a:srgbClr val="000000"/>
                </a:solidFill>
                <a:sym typeface="Symbol" pitchFamily="18" charset="2"/>
              </a:rPr>
              <a:t>i</a:t>
            </a:r>
            <a:br>
              <a:rPr lang="en-US" altLang="zh-CN" sz="2400" dirty="0">
                <a:solidFill>
                  <a:srgbClr val="000000"/>
                </a:solidFill>
                <a:sym typeface="Symbol" pitchFamily="18" charset="2"/>
              </a:rPr>
            </a:br>
            <a:r>
              <a:rPr lang="en-US" altLang="zh-CN" sz="2400" dirty="0">
                <a:solidFill>
                  <a:srgbClr val="000000"/>
                </a:solidFill>
                <a:sym typeface="Symbol" pitchFamily="18" charset="2"/>
              </a:rPr>
              <a:t>        </a:t>
            </a:r>
            <a:r>
              <a:rPr lang="zh-CN" altLang="en-US" sz="2400" dirty="0">
                <a:solidFill>
                  <a:srgbClr val="000000"/>
                </a:solidFill>
                <a:sym typeface="Symbol" pitchFamily="18" charset="2"/>
              </a:rPr>
              <a:t>句子</a:t>
            </a:r>
            <a:r>
              <a:rPr lang="en-US" altLang="zh-CN" sz="2400" dirty="0">
                <a:solidFill>
                  <a:srgbClr val="9966FF"/>
                </a:solidFill>
                <a:sym typeface="Symbol" pitchFamily="18" charset="2"/>
              </a:rPr>
              <a:t>(</a:t>
            </a:r>
            <a:r>
              <a:rPr lang="en-US" altLang="zh-CN" sz="2400" dirty="0" err="1">
                <a:solidFill>
                  <a:srgbClr val="9966FF"/>
                </a:solidFill>
                <a:sym typeface="Symbol" pitchFamily="18" charset="2"/>
              </a:rPr>
              <a:t>i+i</a:t>
            </a:r>
            <a:r>
              <a:rPr lang="en-US" altLang="zh-CN" sz="2400" dirty="0">
                <a:solidFill>
                  <a:srgbClr val="9966FF"/>
                </a:solidFill>
                <a:sym typeface="Symbol" pitchFamily="18" charset="2"/>
              </a:rPr>
              <a:t>)*</a:t>
            </a:r>
            <a:r>
              <a:rPr lang="en-US" altLang="zh-CN" sz="2400" dirty="0" err="1">
                <a:solidFill>
                  <a:srgbClr val="9966FF"/>
                </a:solidFill>
                <a:sym typeface="Symbol" pitchFamily="18" charset="2"/>
              </a:rPr>
              <a:t>i</a:t>
            </a:r>
            <a:r>
              <a:rPr lang="en-US" altLang="zh-CN" sz="2400" dirty="0">
                <a:solidFill>
                  <a:srgbClr val="9966FF"/>
                </a:solidFill>
                <a:sym typeface="Symbol" pitchFamily="18" charset="2"/>
              </a:rPr>
              <a:t> </a:t>
            </a:r>
            <a:r>
              <a:rPr lang="zh-CN" altLang="en-US" sz="2400" dirty="0">
                <a:solidFill>
                  <a:srgbClr val="9966FF"/>
                </a:solidFill>
                <a:sym typeface="Symbol" pitchFamily="18" charset="2"/>
              </a:rPr>
              <a:t>的语法树：</a:t>
            </a:r>
          </a:p>
        </p:txBody>
      </p:sp>
      <p:sp>
        <p:nvSpPr>
          <p:cNvPr id="87043" name="Rectangle 3"/>
          <p:cNvSpPr>
            <a:spLocks noGrp="1" noChangeArrowheads="1"/>
          </p:cNvSpPr>
          <p:nvPr>
            <p:ph type="body" idx="1"/>
          </p:nvPr>
        </p:nvSpPr>
        <p:spPr>
          <a:xfrm>
            <a:off x="4648200" y="971550"/>
            <a:ext cx="4267200" cy="4171950"/>
          </a:xfrm>
        </p:spPr>
        <p:txBody>
          <a:bodyPr>
            <a:normAutofit/>
          </a:bodyPr>
          <a:lstStyle/>
          <a:p>
            <a:pPr eaLnBrk="1" hangingPunct="1">
              <a:lnSpc>
                <a:spcPct val="110000"/>
              </a:lnSpc>
            </a:pPr>
            <a:r>
              <a:rPr lang="zh-CN" altLang="en-US" sz="2200" dirty="0">
                <a:latin typeface="宋体" panose="02010600030101010101" pitchFamily="2" charset="-122"/>
                <a:ea typeface="宋体" panose="02010600030101010101" pitchFamily="2" charset="-122"/>
              </a:rPr>
              <a:t>在语法树建立过程中的任何时刻，没有后代的端末结点自左至右排列起来就是一个</a:t>
            </a:r>
            <a:r>
              <a:rPr lang="zh-CN" altLang="en-US" sz="2200" dirty="0">
                <a:solidFill>
                  <a:srgbClr val="FF3399"/>
                </a:solidFill>
                <a:latin typeface="宋体" panose="02010600030101010101" pitchFamily="2" charset="-122"/>
                <a:ea typeface="宋体" panose="02010600030101010101" pitchFamily="2" charset="-122"/>
              </a:rPr>
              <a:t>句型</a:t>
            </a:r>
          </a:p>
          <a:p>
            <a:r>
              <a:rPr lang="zh-CN" altLang="en-US" sz="2200" dirty="0">
                <a:solidFill>
                  <a:schemeClr val="accent2"/>
                </a:solidFill>
                <a:latin typeface="宋体" panose="02010600030101010101" pitchFamily="2" charset="-122"/>
                <a:ea typeface="宋体" panose="02010600030101010101" pitchFamily="2" charset="-122"/>
              </a:rPr>
              <a:t>一棵语法树表示了一个句型很多可能的不同推导过程。</a:t>
            </a:r>
            <a:r>
              <a:rPr lang="en-US" altLang="zh-CN" sz="2200" dirty="0">
                <a:solidFill>
                  <a:schemeClr val="accent2"/>
                </a:solidFill>
                <a:latin typeface="宋体" panose="02010600030101010101" pitchFamily="2" charset="-122"/>
                <a:ea typeface="宋体" panose="02010600030101010101" pitchFamily="2" charset="-122"/>
              </a:rPr>
              <a:t>(</a:t>
            </a:r>
            <a:r>
              <a:rPr lang="zh-CN" altLang="en-US" sz="2200" dirty="0">
                <a:solidFill>
                  <a:schemeClr val="accent2"/>
                </a:solidFill>
                <a:latin typeface="宋体" panose="02010600030101010101" pitchFamily="2" charset="-122"/>
                <a:ea typeface="宋体" panose="02010600030101010101" pitchFamily="2" charset="-122"/>
              </a:rPr>
              <a:t>包括最左推导和最右推导</a:t>
            </a:r>
            <a:r>
              <a:rPr lang="en-US" altLang="zh-CN" sz="2200" dirty="0">
                <a:solidFill>
                  <a:schemeClr val="accent2"/>
                </a:solidFill>
                <a:latin typeface="宋体" panose="02010600030101010101" pitchFamily="2" charset="-122"/>
                <a:ea typeface="宋体" panose="02010600030101010101" pitchFamily="2" charset="-122"/>
              </a:rPr>
              <a:t>),</a:t>
            </a:r>
          </a:p>
          <a:p>
            <a:r>
              <a:rPr lang="zh-CN" altLang="zh-CN" sz="2200" dirty="0">
                <a:latin typeface="宋体" panose="02010600030101010101" pitchFamily="2" charset="-122"/>
                <a:ea typeface="宋体" panose="02010600030101010101" pitchFamily="2" charset="-122"/>
              </a:rPr>
              <a:t>语法树是这些不同推导过程的共性抽象</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如果只看</a:t>
            </a:r>
            <a:r>
              <a:rPr lang="zh-CN" altLang="zh-CN" sz="2200" dirty="0">
                <a:latin typeface="宋体" panose="02010600030101010101" pitchFamily="2" charset="-122"/>
                <a:ea typeface="宋体" panose="02010600030101010101" pitchFamily="2" charset="-122"/>
              </a:rPr>
              <a:t>最左推导</a:t>
            </a:r>
            <a:r>
              <a:rPr lang="zh-CN" altLang="en-US" sz="2200" dirty="0">
                <a:latin typeface="宋体" panose="02010600030101010101" pitchFamily="2" charset="-122"/>
                <a:ea typeface="宋体" panose="02010600030101010101" pitchFamily="2" charset="-122"/>
              </a:rPr>
              <a:t>或</a:t>
            </a:r>
            <a:r>
              <a:rPr lang="zh-CN" altLang="zh-CN" sz="2200" dirty="0">
                <a:latin typeface="宋体" panose="02010600030101010101" pitchFamily="2" charset="-122"/>
                <a:ea typeface="宋体" panose="02010600030101010101" pitchFamily="2" charset="-122"/>
              </a:rPr>
              <a:t>最右推导</a:t>
            </a:r>
            <a:r>
              <a:rPr lang="zh-CN" altLang="en-US" sz="2200" dirty="0">
                <a:latin typeface="宋体" panose="02010600030101010101" pitchFamily="2" charset="-122"/>
                <a:ea typeface="宋体" panose="02010600030101010101" pitchFamily="2" charset="-122"/>
              </a:rPr>
              <a:t>，那</a:t>
            </a:r>
            <a:r>
              <a:rPr lang="zh-CN" altLang="zh-CN" sz="2200" dirty="0">
                <a:latin typeface="宋体" panose="02010600030101010101" pitchFamily="2" charset="-122"/>
                <a:ea typeface="宋体" panose="02010600030101010101" pitchFamily="2" charset="-122"/>
              </a:rPr>
              <a:t>每棵语法树都有一个与之对应的唯一的最左推导和唯一的最右推导</a:t>
            </a:r>
            <a:endParaRPr lang="en-US" altLang="zh-CN" sz="2200" dirty="0">
              <a:solidFill>
                <a:schemeClr val="accent2"/>
              </a:solidFill>
              <a:latin typeface="宋体" panose="02010600030101010101" pitchFamily="2" charset="-122"/>
              <a:ea typeface="宋体" panose="02010600030101010101" pitchFamily="2" charset="-122"/>
            </a:endParaRPr>
          </a:p>
          <a:p>
            <a:pPr eaLnBrk="1" hangingPunct="1"/>
            <a:endParaRPr lang="en-US" altLang="zh-CN" sz="2200" dirty="0">
              <a:solidFill>
                <a:schemeClr val="accent2"/>
              </a:solidFill>
              <a:latin typeface="宋体" panose="02010600030101010101" pitchFamily="2" charset="-122"/>
              <a:ea typeface="宋体" panose="02010600030101010101" pitchFamily="2" charset="-122"/>
            </a:endParaRPr>
          </a:p>
        </p:txBody>
      </p:sp>
      <p:graphicFrame>
        <p:nvGraphicFramePr>
          <p:cNvPr id="87044" name="Object 4"/>
          <p:cNvGraphicFramePr>
            <a:graphicFrameLocks noChangeAspect="1"/>
          </p:cNvGraphicFramePr>
          <p:nvPr/>
        </p:nvGraphicFramePr>
        <p:xfrm>
          <a:off x="304800" y="1314450"/>
          <a:ext cx="3890963" cy="3829050"/>
        </p:xfrm>
        <a:graphic>
          <a:graphicData uri="http://schemas.openxmlformats.org/presentationml/2006/ole">
            <mc:AlternateContent xmlns:mc="http://schemas.openxmlformats.org/markup-compatibility/2006">
              <mc:Choice xmlns:v="urn:schemas-microsoft-com:vml" Requires="v">
                <p:oleObj spid="_x0000_s6151" name="位图图像" r:id="rId4" imgW="2285714" imgH="3000000" progId="Paint.Picture">
                  <p:embed/>
                </p:oleObj>
              </mc:Choice>
              <mc:Fallback>
                <p:oleObj name="位图图像" r:id="rId4" imgW="2285714" imgH="3000000" progId="Paint.Picture">
                  <p:embed/>
                  <p:pic>
                    <p:nvPicPr>
                      <p:cNvPr id="87044"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4800" y="1314450"/>
                        <a:ext cx="3890963" cy="3829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27690215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8704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8" presetClass="entr" presetSubtype="12" fill="hold" grpId="0" nodeType="clickEffect">
                                  <p:stCondLst>
                                    <p:cond delay="0"/>
                                  </p:stCondLst>
                                  <p:childTnLst>
                                    <p:set>
                                      <p:cBhvr>
                                        <p:cTn id="10" dur="1" fill="hold">
                                          <p:stCondLst>
                                            <p:cond delay="0"/>
                                          </p:stCondLst>
                                        </p:cTn>
                                        <p:tgtEl>
                                          <p:spTgt spid="87043">
                                            <p:txEl>
                                              <p:pRg st="0" end="0"/>
                                            </p:txEl>
                                          </p:spTgt>
                                        </p:tgtEl>
                                        <p:attrNameLst>
                                          <p:attrName>style.visibility</p:attrName>
                                        </p:attrNameLst>
                                      </p:cBhvr>
                                      <p:to>
                                        <p:strVal val="visible"/>
                                      </p:to>
                                    </p:set>
                                    <p:animEffect transition="in" filter="strips(downLeft)">
                                      <p:cBhvr>
                                        <p:cTn id="11" dur="500"/>
                                        <p:tgtEl>
                                          <p:spTgt spid="87043">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12" fill="hold" grpId="0" nodeType="clickEffect">
                                  <p:stCondLst>
                                    <p:cond delay="0"/>
                                  </p:stCondLst>
                                  <p:childTnLst>
                                    <p:set>
                                      <p:cBhvr>
                                        <p:cTn id="15" dur="1" fill="hold">
                                          <p:stCondLst>
                                            <p:cond delay="0"/>
                                          </p:stCondLst>
                                        </p:cTn>
                                        <p:tgtEl>
                                          <p:spTgt spid="87043">
                                            <p:txEl>
                                              <p:pRg st="1" end="1"/>
                                            </p:txEl>
                                          </p:spTgt>
                                        </p:tgtEl>
                                        <p:attrNameLst>
                                          <p:attrName>style.visibility</p:attrName>
                                        </p:attrNameLst>
                                      </p:cBhvr>
                                      <p:to>
                                        <p:strVal val="visible"/>
                                      </p:to>
                                    </p:set>
                                    <p:animEffect transition="in" filter="strips(downLeft)">
                                      <p:cBhvr>
                                        <p:cTn id="16" dur="500"/>
                                        <p:tgtEl>
                                          <p:spTgt spid="87043">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8" presetClass="entr" presetSubtype="12" fill="hold" grpId="0" nodeType="clickEffect">
                                  <p:stCondLst>
                                    <p:cond delay="0"/>
                                  </p:stCondLst>
                                  <p:childTnLst>
                                    <p:set>
                                      <p:cBhvr>
                                        <p:cTn id="20" dur="1" fill="hold">
                                          <p:stCondLst>
                                            <p:cond delay="0"/>
                                          </p:stCondLst>
                                        </p:cTn>
                                        <p:tgtEl>
                                          <p:spTgt spid="87043">
                                            <p:txEl>
                                              <p:pRg st="2" end="2"/>
                                            </p:txEl>
                                          </p:spTgt>
                                        </p:tgtEl>
                                        <p:attrNameLst>
                                          <p:attrName>style.visibility</p:attrName>
                                        </p:attrNameLst>
                                      </p:cBhvr>
                                      <p:to>
                                        <p:strVal val="visible"/>
                                      </p:to>
                                    </p:set>
                                    <p:animEffect transition="in" filter="strips(downLeft)">
                                      <p:cBhvr>
                                        <p:cTn id="21" dur="500"/>
                                        <p:tgtEl>
                                          <p:spTgt spid="8704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build="p"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3371436" cy="769441"/>
          </a:xfrm>
          <a:prstGeom prst="rect">
            <a:avLst/>
          </a:prstGeom>
        </p:spPr>
        <p:txBody>
          <a:bodyPr wrap="none">
            <a:spAutoFit/>
          </a:bodyPr>
          <a:lstStyle/>
          <a:p>
            <a:r>
              <a:rPr lang="en-US" altLang="zh-CN" sz="4400" b="1" dirty="0">
                <a:solidFill>
                  <a:srgbClr val="CC0099"/>
                </a:solidFill>
                <a:ea typeface="隶书" pitchFamily="49" charset="-122"/>
              </a:rPr>
              <a:t>5</a:t>
            </a:r>
            <a:r>
              <a:rPr lang="zh-CN" altLang="en-US" sz="4400" b="1" dirty="0">
                <a:solidFill>
                  <a:srgbClr val="CC0099"/>
                </a:solidFill>
                <a:ea typeface="隶书" pitchFamily="49" charset="-122"/>
              </a:rPr>
              <a:t>、二义文法</a:t>
            </a:r>
            <a:endParaRPr lang="zh-CN" altLang="en-US" sz="4400" dirty="0"/>
          </a:p>
        </p:txBody>
      </p:sp>
    </p:spTree>
    <p:extLst>
      <p:ext uri="{BB962C8B-B14F-4D97-AF65-F5344CB8AC3E}">
        <p14:creationId xmlns:p14="http://schemas.microsoft.com/office/powerpoint/2010/main" val="35511727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p:cNvSpPr>
            <a:spLocks noChangeArrowheads="1"/>
          </p:cNvSpPr>
          <p:nvPr/>
        </p:nvSpPr>
        <p:spPr bwMode="auto">
          <a:xfrm>
            <a:off x="435678" y="1812608"/>
            <a:ext cx="8672513" cy="43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110000"/>
              </a:lnSpc>
              <a:spcBef>
                <a:spcPct val="0"/>
              </a:spcBef>
              <a:buFontTx/>
              <a:buNone/>
            </a:pPr>
            <a:r>
              <a:rPr lang="zh-CN" altLang="en-US" sz="2000" dirty="0">
                <a:sym typeface="Symbol" pitchFamily="18" charset="2"/>
              </a:rPr>
              <a:t> </a:t>
            </a:r>
            <a:r>
              <a:rPr lang="en-US" altLang="zh-CN" sz="2000" dirty="0">
                <a:sym typeface="Symbol" pitchFamily="18" charset="2"/>
              </a:rPr>
              <a:t>(1) </a:t>
            </a:r>
            <a:r>
              <a:rPr lang="zh-CN" altLang="en-US" sz="2000" dirty="0">
                <a:sym typeface="Symbol" pitchFamily="18" charset="2"/>
              </a:rPr>
              <a:t>最左推导：</a:t>
            </a:r>
            <a:r>
              <a:rPr lang="pt-PT" altLang="zh-CN" sz="2200" dirty="0">
                <a:latin typeface="Arial" pitchFamily="34" charset="0"/>
                <a:sym typeface="Symbol" pitchFamily="18" charset="2"/>
              </a:rPr>
              <a:t>E </a:t>
            </a:r>
            <a:r>
              <a:rPr lang="en-US" altLang="zh-CN" sz="2200" dirty="0">
                <a:latin typeface="Arial" pitchFamily="34" charset="0"/>
                <a:sym typeface="Symbol" pitchFamily="18" charset="2"/>
              </a:rPr>
              <a:t></a:t>
            </a:r>
            <a:r>
              <a:rPr lang="pt-PT" altLang="zh-CN" sz="2200" dirty="0">
                <a:latin typeface="Arial" pitchFamily="34" charset="0"/>
                <a:sym typeface="Symbol" pitchFamily="18" charset="2"/>
              </a:rPr>
              <a:t> E+E </a:t>
            </a:r>
            <a:r>
              <a:rPr lang="en-US" altLang="zh-CN" sz="2200" dirty="0">
                <a:latin typeface="Arial" pitchFamily="34" charset="0"/>
                <a:sym typeface="Symbol" pitchFamily="18" charset="2"/>
              </a:rPr>
              <a:t></a:t>
            </a:r>
            <a:r>
              <a:rPr lang="pt-PT" altLang="zh-CN" sz="2200" dirty="0">
                <a:latin typeface="Arial" pitchFamily="34" charset="0"/>
                <a:sym typeface="Symbol" pitchFamily="18" charset="2"/>
              </a:rPr>
              <a:t> E*E+E </a:t>
            </a:r>
            <a:r>
              <a:rPr lang="en-US" altLang="zh-CN" sz="2200" dirty="0">
                <a:latin typeface="Arial" pitchFamily="34" charset="0"/>
                <a:sym typeface="Symbol" pitchFamily="18" charset="2"/>
              </a:rPr>
              <a:t> </a:t>
            </a:r>
            <a:r>
              <a:rPr lang="pt-PT" altLang="zh-CN" sz="2200" dirty="0">
                <a:latin typeface="Arial" pitchFamily="34" charset="0"/>
                <a:sym typeface="Symbol" pitchFamily="18" charset="2"/>
              </a:rPr>
              <a:t>i*E+E </a:t>
            </a:r>
            <a:r>
              <a:rPr lang="en-US" altLang="zh-CN" sz="2200" dirty="0">
                <a:latin typeface="Arial" pitchFamily="34" charset="0"/>
                <a:sym typeface="Symbol" pitchFamily="18" charset="2"/>
              </a:rPr>
              <a:t> </a:t>
            </a:r>
            <a:r>
              <a:rPr lang="pt-PT" altLang="zh-CN" sz="2200" dirty="0">
                <a:latin typeface="Arial" pitchFamily="34" charset="0"/>
                <a:sym typeface="Symbol" pitchFamily="18" charset="2"/>
              </a:rPr>
              <a:t>i*i+E </a:t>
            </a:r>
            <a:r>
              <a:rPr lang="en-US" altLang="zh-CN" sz="2200" dirty="0">
                <a:latin typeface="Arial" pitchFamily="34" charset="0"/>
                <a:sym typeface="Symbol" pitchFamily="18" charset="2"/>
              </a:rPr>
              <a:t></a:t>
            </a:r>
            <a:r>
              <a:rPr lang="pt-PT" altLang="zh-CN" sz="2200" dirty="0">
                <a:latin typeface="Arial" pitchFamily="34" charset="0"/>
                <a:sym typeface="Symbol" pitchFamily="18" charset="2"/>
              </a:rPr>
              <a:t> i*i+i </a:t>
            </a:r>
            <a:endParaRPr lang="en-US" altLang="zh-CN" sz="2200" dirty="0">
              <a:latin typeface="Arial" pitchFamily="34" charset="0"/>
              <a:sym typeface="Symbol" pitchFamily="18" charset="2"/>
            </a:endParaRPr>
          </a:p>
        </p:txBody>
      </p:sp>
      <p:sp>
        <p:nvSpPr>
          <p:cNvPr id="36866" name="Rectangle 2"/>
          <p:cNvSpPr>
            <a:spLocks noChangeArrowheads="1"/>
          </p:cNvSpPr>
          <p:nvPr/>
        </p:nvSpPr>
        <p:spPr bwMode="auto">
          <a:xfrm>
            <a:off x="256420" y="713329"/>
            <a:ext cx="8672513" cy="1144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5000"/>
              </a:lnSpc>
              <a:spcBef>
                <a:spcPct val="0"/>
              </a:spcBef>
              <a:buFontTx/>
              <a:buNone/>
            </a:pPr>
            <a:r>
              <a:rPr lang="zh-CN" altLang="en-US" sz="2000" dirty="0">
                <a:solidFill>
                  <a:srgbClr val="000000"/>
                </a:solidFill>
                <a:sym typeface="Symbol" pitchFamily="18" charset="2"/>
              </a:rPr>
              <a:t>例</a:t>
            </a:r>
            <a:r>
              <a:rPr lang="en-US" altLang="zh-CN" sz="2000" dirty="0">
                <a:solidFill>
                  <a:srgbClr val="000000"/>
                </a:solidFill>
                <a:sym typeface="Symbol" pitchFamily="18" charset="2"/>
              </a:rPr>
              <a:t>3</a:t>
            </a:r>
            <a:r>
              <a:rPr lang="zh-CN" altLang="en-US" sz="2000" dirty="0">
                <a:solidFill>
                  <a:srgbClr val="000000"/>
                </a:solidFill>
                <a:sym typeface="Symbol" pitchFamily="18" charset="2"/>
              </a:rPr>
              <a:t>： </a:t>
            </a:r>
            <a:r>
              <a:rPr kumimoji="0" lang="en-US" altLang="zh-CN" sz="2400" dirty="0">
                <a:solidFill>
                  <a:srgbClr val="000000"/>
                </a:solidFill>
                <a:latin typeface="Arial" pitchFamily="34" charset="0"/>
                <a:sym typeface="Symbol" pitchFamily="18" charset="2"/>
              </a:rPr>
              <a:t>G = ({E}</a:t>
            </a:r>
            <a:r>
              <a:rPr kumimoji="0" lang="en-GB" altLang="zh-CN" sz="2400" dirty="0">
                <a:solidFill>
                  <a:srgbClr val="000000"/>
                </a:solidFill>
                <a:latin typeface="Arial" pitchFamily="34" charset="0"/>
                <a:sym typeface="Symbol" pitchFamily="18" charset="2"/>
              </a:rPr>
              <a:t>, </a:t>
            </a:r>
            <a:r>
              <a:rPr kumimoji="0" lang="en-US" altLang="zh-CN" sz="2400" dirty="0">
                <a:solidFill>
                  <a:srgbClr val="000000"/>
                </a:solidFill>
                <a:latin typeface="Arial" pitchFamily="34" charset="0"/>
                <a:sym typeface="Symbol" pitchFamily="18" charset="2"/>
              </a:rPr>
              <a:t>{</a:t>
            </a:r>
            <a:r>
              <a:rPr kumimoji="0" lang="en-US" altLang="zh-CN" sz="2400" dirty="0" err="1">
                <a:solidFill>
                  <a:srgbClr val="000000"/>
                </a:solidFill>
                <a:latin typeface="Arial" pitchFamily="34" charset="0"/>
                <a:sym typeface="Symbol" pitchFamily="18" charset="2"/>
              </a:rPr>
              <a:t>i</a:t>
            </a:r>
            <a:r>
              <a:rPr kumimoji="0" lang="en-US" altLang="zh-CN" sz="2400" dirty="0">
                <a:solidFill>
                  <a:srgbClr val="000000"/>
                </a:solidFill>
                <a:latin typeface="Arial" pitchFamily="34" charset="0"/>
                <a:sym typeface="Symbol" pitchFamily="18" charset="2"/>
              </a:rPr>
              <a:t>, +, *, (, ) } , P , E)</a:t>
            </a:r>
            <a:r>
              <a:rPr kumimoji="0" lang="en-US" altLang="zh-CN" sz="2800" dirty="0">
                <a:solidFill>
                  <a:srgbClr val="000000"/>
                </a:solidFill>
                <a:latin typeface="Arial" pitchFamily="34" charset="0"/>
                <a:sym typeface="Symbol" pitchFamily="18" charset="2"/>
              </a:rPr>
              <a:t> </a:t>
            </a:r>
            <a:br>
              <a:rPr lang="en-US" altLang="zh-CN" sz="2000" dirty="0">
                <a:solidFill>
                  <a:srgbClr val="000000"/>
                </a:solidFill>
                <a:sym typeface="Symbol" pitchFamily="18" charset="2"/>
              </a:rPr>
            </a:br>
            <a:r>
              <a:rPr lang="en-US" altLang="zh-CN" sz="2000" dirty="0">
                <a:solidFill>
                  <a:srgbClr val="000000"/>
                </a:solidFill>
                <a:sym typeface="Symbol" pitchFamily="18" charset="2"/>
              </a:rPr>
              <a:t>           </a:t>
            </a:r>
            <a:r>
              <a:rPr lang="en-US" altLang="zh-CN" sz="2400" dirty="0">
                <a:solidFill>
                  <a:srgbClr val="000000"/>
                </a:solidFill>
                <a:sym typeface="Symbol" pitchFamily="18" charset="2"/>
              </a:rPr>
              <a:t>P</a:t>
            </a:r>
            <a:r>
              <a:rPr lang="zh-CN" altLang="en-US" sz="2400" dirty="0">
                <a:solidFill>
                  <a:srgbClr val="000000"/>
                </a:solidFill>
                <a:sym typeface="Symbol" pitchFamily="18" charset="2"/>
              </a:rPr>
              <a:t>： </a:t>
            </a:r>
            <a:r>
              <a:rPr lang="en-US" altLang="zh-CN" sz="2400" dirty="0">
                <a:solidFill>
                  <a:srgbClr val="000000"/>
                </a:solidFill>
                <a:sym typeface="Symbol" pitchFamily="18" charset="2"/>
              </a:rPr>
              <a:t>E  E + E | E * E  | ( E ) | </a:t>
            </a:r>
            <a:r>
              <a:rPr lang="en-US" altLang="zh-CN" sz="2400" dirty="0" err="1">
                <a:solidFill>
                  <a:srgbClr val="000000"/>
                </a:solidFill>
                <a:sym typeface="Symbol" pitchFamily="18" charset="2"/>
              </a:rPr>
              <a:t>i</a:t>
            </a:r>
            <a:endParaRPr lang="en-US" altLang="zh-CN" sz="2400" dirty="0">
              <a:solidFill>
                <a:srgbClr val="000000"/>
              </a:solidFill>
              <a:sym typeface="Symbol" pitchFamily="18" charset="2"/>
            </a:endParaRPr>
          </a:p>
          <a:p>
            <a:pPr eaLnBrk="1" hangingPunct="1">
              <a:lnSpc>
                <a:spcPct val="95000"/>
              </a:lnSpc>
              <a:spcBef>
                <a:spcPct val="0"/>
              </a:spcBef>
              <a:buFontTx/>
              <a:buNone/>
            </a:pPr>
            <a:r>
              <a:rPr lang="en-US" altLang="zh-CN" sz="2000" dirty="0">
                <a:solidFill>
                  <a:srgbClr val="000000"/>
                </a:solidFill>
                <a:sym typeface="Symbol" pitchFamily="18" charset="2"/>
              </a:rPr>
              <a:t> </a:t>
            </a:r>
            <a:r>
              <a:rPr lang="zh-CN" altLang="en-US" sz="2000" dirty="0">
                <a:solidFill>
                  <a:srgbClr val="FF0066"/>
                </a:solidFill>
                <a:sym typeface="Symbol" pitchFamily="18" charset="2"/>
              </a:rPr>
              <a:t>句子</a:t>
            </a:r>
            <a:r>
              <a:rPr lang="en-US" altLang="zh-CN" sz="2000" dirty="0">
                <a:solidFill>
                  <a:srgbClr val="FF0066"/>
                </a:solidFill>
                <a:sym typeface="Symbol" pitchFamily="18" charset="2"/>
              </a:rPr>
              <a:t> </a:t>
            </a:r>
            <a:r>
              <a:rPr lang="en-US" altLang="zh-CN" sz="2000" dirty="0" err="1">
                <a:solidFill>
                  <a:srgbClr val="FF0066"/>
                </a:solidFill>
                <a:sym typeface="Symbol" pitchFamily="18" charset="2"/>
              </a:rPr>
              <a:t>i</a:t>
            </a:r>
            <a:r>
              <a:rPr lang="en-US" altLang="zh-CN" sz="2000" dirty="0">
                <a:solidFill>
                  <a:srgbClr val="FF0066"/>
                </a:solidFill>
                <a:sym typeface="Symbol" pitchFamily="18" charset="2"/>
              </a:rPr>
              <a:t> * </a:t>
            </a:r>
            <a:r>
              <a:rPr lang="en-US" altLang="zh-CN" sz="2000" dirty="0" err="1">
                <a:solidFill>
                  <a:srgbClr val="FF0066"/>
                </a:solidFill>
                <a:sym typeface="Symbol" pitchFamily="18" charset="2"/>
              </a:rPr>
              <a:t>i</a:t>
            </a:r>
            <a:r>
              <a:rPr lang="en-US" altLang="zh-CN" sz="2000" dirty="0">
                <a:solidFill>
                  <a:srgbClr val="FF0066"/>
                </a:solidFill>
                <a:sym typeface="Symbol" pitchFamily="18" charset="2"/>
              </a:rPr>
              <a:t> + </a:t>
            </a:r>
            <a:r>
              <a:rPr lang="en-US" altLang="zh-CN" sz="2000" dirty="0" err="1">
                <a:solidFill>
                  <a:srgbClr val="FF0066"/>
                </a:solidFill>
                <a:sym typeface="Symbol" pitchFamily="18" charset="2"/>
              </a:rPr>
              <a:t>i</a:t>
            </a:r>
            <a:r>
              <a:rPr lang="zh-CN" altLang="en-US" sz="2000" dirty="0">
                <a:solidFill>
                  <a:srgbClr val="FF0066"/>
                </a:solidFill>
                <a:sym typeface="Symbol" pitchFamily="18" charset="2"/>
              </a:rPr>
              <a:t>的语法树：</a:t>
            </a:r>
            <a:endParaRPr lang="en-US" altLang="zh-CN" sz="1600" dirty="0">
              <a:latin typeface="Arial" pitchFamily="34" charset="0"/>
              <a:sym typeface="Symbol" pitchFamily="18" charset="2"/>
            </a:endParaRPr>
          </a:p>
        </p:txBody>
      </p:sp>
      <p:sp>
        <p:nvSpPr>
          <p:cNvPr id="36869" name="Rectangle 5"/>
          <p:cNvSpPr>
            <a:spLocks noChangeArrowheads="1"/>
          </p:cNvSpPr>
          <p:nvPr/>
        </p:nvSpPr>
        <p:spPr bwMode="auto">
          <a:xfrm>
            <a:off x="445984" y="1851670"/>
            <a:ext cx="8748712" cy="464743"/>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110000"/>
              </a:lnSpc>
              <a:spcBef>
                <a:spcPct val="0"/>
              </a:spcBef>
              <a:buFontTx/>
              <a:buNone/>
            </a:pPr>
            <a:r>
              <a:rPr lang="en-US" altLang="zh-CN" sz="2200" dirty="0">
                <a:solidFill>
                  <a:srgbClr val="9933FF"/>
                </a:solidFill>
                <a:sym typeface="Symbol" pitchFamily="18" charset="2"/>
              </a:rPr>
              <a:t> (2) </a:t>
            </a:r>
            <a:r>
              <a:rPr lang="zh-CN" altLang="en-US" sz="2200" dirty="0">
                <a:solidFill>
                  <a:srgbClr val="9933FF"/>
                </a:solidFill>
                <a:sym typeface="Symbol" pitchFamily="18" charset="2"/>
              </a:rPr>
              <a:t>最左推导：</a:t>
            </a:r>
            <a:r>
              <a:rPr lang="pt-PT" altLang="zh-CN" sz="2200" dirty="0">
                <a:solidFill>
                  <a:srgbClr val="6600FF"/>
                </a:solidFill>
                <a:latin typeface="Arial" pitchFamily="34" charset="0"/>
                <a:sym typeface="Symbol" pitchFamily="18" charset="2"/>
              </a:rPr>
              <a:t>E </a:t>
            </a:r>
            <a:r>
              <a:rPr lang="en-US" altLang="zh-CN" sz="2200" dirty="0">
                <a:solidFill>
                  <a:srgbClr val="6600FF"/>
                </a:solidFill>
                <a:latin typeface="Arial" pitchFamily="34" charset="0"/>
                <a:sym typeface="Symbol" pitchFamily="18" charset="2"/>
              </a:rPr>
              <a:t></a:t>
            </a:r>
            <a:r>
              <a:rPr lang="pt-PT" altLang="zh-CN" sz="2200" dirty="0">
                <a:solidFill>
                  <a:srgbClr val="6600FF"/>
                </a:solidFill>
                <a:latin typeface="Arial" pitchFamily="34" charset="0"/>
                <a:sym typeface="Symbol" pitchFamily="18" charset="2"/>
              </a:rPr>
              <a:t> E*E </a:t>
            </a:r>
            <a:r>
              <a:rPr lang="en-US" altLang="zh-CN" sz="2200" dirty="0">
                <a:solidFill>
                  <a:srgbClr val="6600FF"/>
                </a:solidFill>
                <a:latin typeface="Arial" pitchFamily="34" charset="0"/>
                <a:sym typeface="Symbol" pitchFamily="18" charset="2"/>
              </a:rPr>
              <a:t></a:t>
            </a:r>
            <a:r>
              <a:rPr lang="pt-PT" altLang="zh-CN" sz="2200" dirty="0">
                <a:solidFill>
                  <a:srgbClr val="6600FF"/>
                </a:solidFill>
                <a:latin typeface="Arial" pitchFamily="34" charset="0"/>
                <a:sym typeface="Symbol" pitchFamily="18" charset="2"/>
              </a:rPr>
              <a:t> i*E </a:t>
            </a:r>
            <a:r>
              <a:rPr lang="en-US" altLang="zh-CN" sz="2200" dirty="0">
                <a:solidFill>
                  <a:srgbClr val="6600FF"/>
                </a:solidFill>
                <a:latin typeface="Arial" pitchFamily="34" charset="0"/>
                <a:sym typeface="Symbol" pitchFamily="18" charset="2"/>
              </a:rPr>
              <a:t></a:t>
            </a:r>
            <a:r>
              <a:rPr lang="pt-PT" altLang="zh-CN" sz="2200" dirty="0">
                <a:solidFill>
                  <a:srgbClr val="6600FF"/>
                </a:solidFill>
                <a:latin typeface="Arial" pitchFamily="34" charset="0"/>
                <a:sym typeface="Symbol" pitchFamily="18" charset="2"/>
              </a:rPr>
              <a:t> i*E+E </a:t>
            </a:r>
            <a:r>
              <a:rPr lang="en-US" altLang="zh-CN" sz="2200" dirty="0">
                <a:solidFill>
                  <a:srgbClr val="6600FF"/>
                </a:solidFill>
                <a:latin typeface="Arial" pitchFamily="34" charset="0"/>
                <a:sym typeface="Symbol" pitchFamily="18" charset="2"/>
              </a:rPr>
              <a:t></a:t>
            </a:r>
            <a:r>
              <a:rPr lang="pt-PT" altLang="zh-CN" sz="2200" dirty="0">
                <a:solidFill>
                  <a:srgbClr val="6600FF"/>
                </a:solidFill>
                <a:latin typeface="Arial" pitchFamily="34" charset="0"/>
                <a:sym typeface="Symbol" pitchFamily="18" charset="2"/>
              </a:rPr>
              <a:t> i*i+E </a:t>
            </a:r>
            <a:r>
              <a:rPr lang="en-US" altLang="zh-CN" sz="2200" dirty="0">
                <a:solidFill>
                  <a:srgbClr val="6600FF"/>
                </a:solidFill>
                <a:latin typeface="Arial" pitchFamily="34" charset="0"/>
                <a:sym typeface="Symbol" pitchFamily="18" charset="2"/>
              </a:rPr>
              <a:t></a:t>
            </a:r>
            <a:r>
              <a:rPr lang="pt-PT" altLang="zh-CN" sz="2200" dirty="0">
                <a:solidFill>
                  <a:srgbClr val="6600FF"/>
                </a:solidFill>
                <a:latin typeface="Arial" pitchFamily="34" charset="0"/>
                <a:sym typeface="Symbol" pitchFamily="18" charset="2"/>
              </a:rPr>
              <a:t> i*i+i </a:t>
            </a:r>
            <a:endParaRPr lang="en-US" altLang="zh-CN" sz="2200" dirty="0">
              <a:solidFill>
                <a:srgbClr val="6600FF"/>
              </a:solidFill>
              <a:latin typeface="Arial" pitchFamily="34" charset="0"/>
              <a:sym typeface="Symbol" pitchFamily="18" charset="2"/>
            </a:endParaRPr>
          </a:p>
        </p:txBody>
      </p:sp>
      <p:sp>
        <p:nvSpPr>
          <p:cNvPr id="36868" name="Rectangle 6"/>
          <p:cNvSpPr>
            <a:spLocks noChangeArrowheads="1"/>
          </p:cNvSpPr>
          <p:nvPr/>
        </p:nvSpPr>
        <p:spPr bwMode="auto">
          <a:xfrm>
            <a:off x="0" y="195263"/>
            <a:ext cx="757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kumimoji="0" lang="zh-CN" altLang="en-US" sz="2400" dirty="0">
                <a:solidFill>
                  <a:schemeClr val="accent2"/>
                </a:solidFill>
                <a:latin typeface="Arial" pitchFamily="34" charset="0"/>
              </a:rPr>
              <a:t>并不是任何情况下一个句型就唯一地对应一棵语法树。</a:t>
            </a:r>
          </a:p>
        </p:txBody>
      </p:sp>
      <p:graphicFrame>
        <p:nvGraphicFramePr>
          <p:cNvPr id="2" name="Object 7"/>
          <p:cNvGraphicFramePr>
            <a:graphicFrameLocks noChangeAspect="1"/>
          </p:cNvGraphicFramePr>
          <p:nvPr>
            <p:extLst>
              <p:ext uri="{D42A27DB-BD31-4B8C-83A1-F6EECF244321}">
                <p14:modId xmlns:p14="http://schemas.microsoft.com/office/powerpoint/2010/main" val="16984162"/>
              </p:ext>
            </p:extLst>
          </p:nvPr>
        </p:nvGraphicFramePr>
        <p:xfrm>
          <a:off x="714375" y="2337693"/>
          <a:ext cx="3167063" cy="2679700"/>
        </p:xfrm>
        <a:graphic>
          <a:graphicData uri="http://schemas.openxmlformats.org/presentationml/2006/ole">
            <mc:AlternateContent xmlns:mc="http://schemas.openxmlformats.org/markup-compatibility/2006">
              <mc:Choice xmlns:v="urn:schemas-microsoft-com:vml" Requires="v">
                <p:oleObj spid="_x0000_s7180" name="位图图像" r:id="rId4" imgW="1619476" imgH="1800476" progId="PBrush">
                  <p:embed/>
                </p:oleObj>
              </mc:Choice>
              <mc:Fallback>
                <p:oleObj name="位图图像" r:id="rId4" imgW="1619476" imgH="1800476" progId="PBrush">
                  <p:embed/>
                  <p:pic>
                    <p:nvPicPr>
                      <p:cNvPr id="2"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375" y="2337693"/>
                        <a:ext cx="3167063" cy="267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6870" name="Rectangle 11"/>
          <p:cNvSpPr>
            <a:spLocks noChangeArrowheads="1"/>
          </p:cNvSpPr>
          <p:nvPr/>
        </p:nvSpPr>
        <p:spPr bwMode="auto">
          <a:xfrm>
            <a:off x="0" y="-184150"/>
            <a:ext cx="1841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kumimoji="0" lang="zh-CN" altLang="en-US" sz="1800">
              <a:latin typeface="Arial" pitchFamily="34" charset="0"/>
            </a:endParaRPr>
          </a:p>
        </p:txBody>
      </p:sp>
      <p:sp>
        <p:nvSpPr>
          <p:cNvPr id="36871" name="Rectangle 14"/>
          <p:cNvSpPr>
            <a:spLocks noChangeArrowheads="1"/>
          </p:cNvSpPr>
          <p:nvPr/>
        </p:nvSpPr>
        <p:spPr bwMode="auto">
          <a:xfrm>
            <a:off x="0" y="-184150"/>
            <a:ext cx="1841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kumimoji="0" lang="zh-CN" altLang="en-US" sz="1800">
              <a:latin typeface="Arial" pitchFamily="34" charset="0"/>
            </a:endParaRPr>
          </a:p>
        </p:txBody>
      </p:sp>
      <p:graphicFrame>
        <p:nvGraphicFramePr>
          <p:cNvPr id="36877" name="Object 13"/>
          <p:cNvGraphicFramePr>
            <a:graphicFrameLocks noChangeAspect="1"/>
          </p:cNvGraphicFramePr>
          <p:nvPr>
            <p:extLst>
              <p:ext uri="{D42A27DB-BD31-4B8C-83A1-F6EECF244321}">
                <p14:modId xmlns:p14="http://schemas.microsoft.com/office/powerpoint/2010/main" val="675998239"/>
              </p:ext>
            </p:extLst>
          </p:nvPr>
        </p:nvGraphicFramePr>
        <p:xfrm>
          <a:off x="4787900" y="2283718"/>
          <a:ext cx="3449638" cy="2733675"/>
        </p:xfrm>
        <a:graphic>
          <a:graphicData uri="http://schemas.openxmlformats.org/presentationml/2006/ole">
            <mc:AlternateContent xmlns:mc="http://schemas.openxmlformats.org/markup-compatibility/2006">
              <mc:Choice xmlns:v="urn:schemas-microsoft-com:vml" Requires="v">
                <p:oleObj spid="_x0000_s7181" name="位图图像" r:id="rId6" imgW="2333333" imgH="2457143" progId="Paint.Picture">
                  <p:embed/>
                </p:oleObj>
              </mc:Choice>
              <mc:Fallback>
                <p:oleObj name="位图图像" r:id="rId6" imgW="2333333" imgH="2457143" progId="Paint.Picture">
                  <p:embed/>
                  <p:pic>
                    <p:nvPicPr>
                      <p:cNvPr id="36877" name="Object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87900" y="2283718"/>
                        <a:ext cx="3449638" cy="273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5777381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686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6" presetClass="entr" presetSubtype="0" fill="hold" grpId="0" nodeType="clickEffect">
                                  <p:stCondLst>
                                    <p:cond delay="0"/>
                                  </p:stCondLst>
                                  <p:childTnLst>
                                    <p:set>
                                      <p:cBhvr>
                                        <p:cTn id="18" dur="1" fill="hold">
                                          <p:stCondLst>
                                            <p:cond delay="0"/>
                                          </p:stCondLst>
                                        </p:cTn>
                                        <p:tgtEl>
                                          <p:spTgt spid="36869"/>
                                        </p:tgtEl>
                                        <p:attrNameLst>
                                          <p:attrName>style.visibility</p:attrName>
                                        </p:attrNameLst>
                                      </p:cBhvr>
                                      <p:to>
                                        <p:strVal val="visible"/>
                                      </p:to>
                                    </p:set>
                                    <p:animEffect transition="in" filter="wipe(down)">
                                      <p:cBhvr>
                                        <p:cTn id="19" dur="580">
                                          <p:stCondLst>
                                            <p:cond delay="0"/>
                                          </p:stCondLst>
                                        </p:cTn>
                                        <p:tgtEl>
                                          <p:spTgt spid="36869"/>
                                        </p:tgtEl>
                                      </p:cBhvr>
                                    </p:animEffect>
                                    <p:anim calcmode="lin" valueType="num">
                                      <p:cBhvr>
                                        <p:cTn id="20" dur="1822" tmFilter="0,0; 0.14,0.36; 0.43,0.73; 0.71,0.91; 1.0,1.0">
                                          <p:stCondLst>
                                            <p:cond delay="0"/>
                                          </p:stCondLst>
                                        </p:cTn>
                                        <p:tgtEl>
                                          <p:spTgt spid="36869"/>
                                        </p:tgtEl>
                                        <p:attrNameLst>
                                          <p:attrName>ppt_x</p:attrName>
                                        </p:attrNameLst>
                                      </p:cBhvr>
                                      <p:tavLst>
                                        <p:tav tm="0">
                                          <p:val>
                                            <p:strVal val="#ppt_x-0.25"/>
                                          </p:val>
                                        </p:tav>
                                        <p:tav tm="100000">
                                          <p:val>
                                            <p:strVal val="#ppt_x"/>
                                          </p:val>
                                        </p:tav>
                                      </p:tavLst>
                                    </p:anim>
                                    <p:anim calcmode="lin" valueType="num">
                                      <p:cBhvr>
                                        <p:cTn id="21" dur="664" tmFilter="0.0,0.0; 0.25,0.07; 0.50,0.2; 0.75,0.467; 1.0,1.0">
                                          <p:stCondLst>
                                            <p:cond delay="0"/>
                                          </p:stCondLst>
                                        </p:cTn>
                                        <p:tgtEl>
                                          <p:spTgt spid="36869"/>
                                        </p:tgtEl>
                                        <p:attrNameLst>
                                          <p:attrName>ppt_y</p:attrName>
                                        </p:attrNameLst>
                                      </p:cBhvr>
                                      <p:tavLst>
                                        <p:tav tm="0" fmla="#ppt_y-sin(pi*$)/3">
                                          <p:val>
                                            <p:fltVal val="0.5"/>
                                          </p:val>
                                        </p:tav>
                                        <p:tav tm="100000">
                                          <p:val>
                                            <p:fltVal val="1"/>
                                          </p:val>
                                        </p:tav>
                                      </p:tavLst>
                                    </p:anim>
                                    <p:anim calcmode="lin" valueType="num">
                                      <p:cBhvr>
                                        <p:cTn id="22" dur="664" tmFilter="0, 0; 0.125,0.2665; 0.25,0.4; 0.375,0.465; 0.5,0.5;  0.625,0.535; 0.75,0.6; 0.875,0.7335; 1,1">
                                          <p:stCondLst>
                                            <p:cond delay="664"/>
                                          </p:stCondLst>
                                        </p:cTn>
                                        <p:tgtEl>
                                          <p:spTgt spid="36869"/>
                                        </p:tgtEl>
                                        <p:attrNameLst>
                                          <p:attrName>ppt_y</p:attrName>
                                        </p:attrNameLst>
                                      </p:cBhvr>
                                      <p:tavLst>
                                        <p:tav tm="0" fmla="#ppt_y-sin(pi*$)/9">
                                          <p:val>
                                            <p:fltVal val="0"/>
                                          </p:val>
                                        </p:tav>
                                        <p:tav tm="100000">
                                          <p:val>
                                            <p:fltVal val="1"/>
                                          </p:val>
                                        </p:tav>
                                      </p:tavLst>
                                    </p:anim>
                                    <p:anim calcmode="lin" valueType="num">
                                      <p:cBhvr>
                                        <p:cTn id="23" dur="332" tmFilter="0, 0; 0.125,0.2665; 0.25,0.4; 0.375,0.465; 0.5,0.5;  0.625,0.535; 0.75,0.6; 0.875,0.7335; 1,1">
                                          <p:stCondLst>
                                            <p:cond delay="1324"/>
                                          </p:stCondLst>
                                        </p:cTn>
                                        <p:tgtEl>
                                          <p:spTgt spid="36869"/>
                                        </p:tgtEl>
                                        <p:attrNameLst>
                                          <p:attrName>ppt_y</p:attrName>
                                        </p:attrNameLst>
                                      </p:cBhvr>
                                      <p:tavLst>
                                        <p:tav tm="0" fmla="#ppt_y-sin(pi*$)/27">
                                          <p:val>
                                            <p:fltVal val="0"/>
                                          </p:val>
                                        </p:tav>
                                        <p:tav tm="100000">
                                          <p:val>
                                            <p:fltVal val="1"/>
                                          </p:val>
                                        </p:tav>
                                      </p:tavLst>
                                    </p:anim>
                                    <p:anim calcmode="lin" valueType="num">
                                      <p:cBhvr>
                                        <p:cTn id="24" dur="164" tmFilter="0, 0; 0.125,0.2665; 0.25,0.4; 0.375,0.465; 0.5,0.5;  0.625,0.535; 0.75,0.6; 0.875,0.7335; 1,1">
                                          <p:stCondLst>
                                            <p:cond delay="1656"/>
                                          </p:stCondLst>
                                        </p:cTn>
                                        <p:tgtEl>
                                          <p:spTgt spid="36869"/>
                                        </p:tgtEl>
                                        <p:attrNameLst>
                                          <p:attrName>ppt_y</p:attrName>
                                        </p:attrNameLst>
                                      </p:cBhvr>
                                      <p:tavLst>
                                        <p:tav tm="0" fmla="#ppt_y-sin(pi*$)/81">
                                          <p:val>
                                            <p:fltVal val="0"/>
                                          </p:val>
                                        </p:tav>
                                        <p:tav tm="100000">
                                          <p:val>
                                            <p:fltVal val="1"/>
                                          </p:val>
                                        </p:tav>
                                      </p:tavLst>
                                    </p:anim>
                                    <p:animScale>
                                      <p:cBhvr>
                                        <p:cTn id="25" dur="26">
                                          <p:stCondLst>
                                            <p:cond delay="650"/>
                                          </p:stCondLst>
                                        </p:cTn>
                                        <p:tgtEl>
                                          <p:spTgt spid="36869"/>
                                        </p:tgtEl>
                                      </p:cBhvr>
                                      <p:to x="100000" y="60000"/>
                                    </p:animScale>
                                    <p:animScale>
                                      <p:cBhvr>
                                        <p:cTn id="26" dur="166" decel="50000">
                                          <p:stCondLst>
                                            <p:cond delay="676"/>
                                          </p:stCondLst>
                                        </p:cTn>
                                        <p:tgtEl>
                                          <p:spTgt spid="36869"/>
                                        </p:tgtEl>
                                      </p:cBhvr>
                                      <p:to x="100000" y="100000"/>
                                    </p:animScale>
                                    <p:animScale>
                                      <p:cBhvr>
                                        <p:cTn id="27" dur="26">
                                          <p:stCondLst>
                                            <p:cond delay="1312"/>
                                          </p:stCondLst>
                                        </p:cTn>
                                        <p:tgtEl>
                                          <p:spTgt spid="36869"/>
                                        </p:tgtEl>
                                      </p:cBhvr>
                                      <p:to x="100000" y="80000"/>
                                    </p:animScale>
                                    <p:animScale>
                                      <p:cBhvr>
                                        <p:cTn id="28" dur="166" decel="50000">
                                          <p:stCondLst>
                                            <p:cond delay="1338"/>
                                          </p:stCondLst>
                                        </p:cTn>
                                        <p:tgtEl>
                                          <p:spTgt spid="36869"/>
                                        </p:tgtEl>
                                      </p:cBhvr>
                                      <p:to x="100000" y="100000"/>
                                    </p:animScale>
                                    <p:animScale>
                                      <p:cBhvr>
                                        <p:cTn id="29" dur="26">
                                          <p:stCondLst>
                                            <p:cond delay="1642"/>
                                          </p:stCondLst>
                                        </p:cTn>
                                        <p:tgtEl>
                                          <p:spTgt spid="36869"/>
                                        </p:tgtEl>
                                      </p:cBhvr>
                                      <p:to x="100000" y="90000"/>
                                    </p:animScale>
                                    <p:animScale>
                                      <p:cBhvr>
                                        <p:cTn id="30" dur="166" decel="50000">
                                          <p:stCondLst>
                                            <p:cond delay="1668"/>
                                          </p:stCondLst>
                                        </p:cTn>
                                        <p:tgtEl>
                                          <p:spTgt spid="36869"/>
                                        </p:tgtEl>
                                      </p:cBhvr>
                                      <p:to x="100000" y="100000"/>
                                    </p:animScale>
                                    <p:animScale>
                                      <p:cBhvr>
                                        <p:cTn id="31" dur="26">
                                          <p:stCondLst>
                                            <p:cond delay="1808"/>
                                          </p:stCondLst>
                                        </p:cTn>
                                        <p:tgtEl>
                                          <p:spTgt spid="36869"/>
                                        </p:tgtEl>
                                      </p:cBhvr>
                                      <p:to x="100000" y="95000"/>
                                    </p:animScale>
                                    <p:animScale>
                                      <p:cBhvr>
                                        <p:cTn id="32" dur="166" decel="50000">
                                          <p:stCondLst>
                                            <p:cond delay="1834"/>
                                          </p:stCondLst>
                                        </p:cTn>
                                        <p:tgtEl>
                                          <p:spTgt spid="36869"/>
                                        </p:tgtEl>
                                      </p:cBhvr>
                                      <p:to x="100000" y="100000"/>
                                    </p:animScale>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68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36866" grpId="0"/>
      <p:bldP spid="3686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a:xfrm>
            <a:off x="395536" y="195486"/>
            <a:ext cx="7772400" cy="857250"/>
          </a:xfrm>
        </p:spPr>
        <p:txBody>
          <a:bodyPr/>
          <a:lstStyle/>
          <a:p>
            <a:pPr algn="l" eaLnBrk="1" hangingPunct="1"/>
            <a:r>
              <a:rPr lang="zh-CN" altLang="en-US" sz="4800" b="1" dirty="0">
                <a:solidFill>
                  <a:srgbClr val="CC0099"/>
                </a:solidFill>
                <a:ea typeface="隶书" pitchFamily="49" charset="-122"/>
              </a:rPr>
              <a:t>文法的二义性</a:t>
            </a:r>
            <a:r>
              <a:rPr lang="zh-CN" altLang="en-US" dirty="0"/>
              <a:t> </a:t>
            </a:r>
          </a:p>
        </p:txBody>
      </p:sp>
      <p:sp>
        <p:nvSpPr>
          <p:cNvPr id="37891" name="Rectangle 3"/>
          <p:cNvSpPr>
            <a:spLocks noGrp="1" noChangeArrowheads="1"/>
          </p:cNvSpPr>
          <p:nvPr>
            <p:ph type="body" idx="1"/>
          </p:nvPr>
        </p:nvSpPr>
        <p:spPr>
          <a:xfrm>
            <a:off x="539552" y="1419622"/>
            <a:ext cx="7850188" cy="969065"/>
          </a:xfrm>
          <a:solidFill>
            <a:schemeClr val="bg1"/>
          </a:solidFill>
          <a:ln w="28575">
            <a:solidFill>
              <a:srgbClr val="0000CC"/>
            </a:solidFill>
            <a:miter lim="800000"/>
            <a:headEnd/>
            <a:tailEnd/>
          </a:ln>
        </p:spPr>
        <p:txBody>
          <a:bodyPr>
            <a:normAutofit/>
          </a:bodyPr>
          <a:lstStyle/>
          <a:p>
            <a:pPr eaLnBrk="1" hangingPunct="1">
              <a:lnSpc>
                <a:spcPct val="90000"/>
              </a:lnSpc>
            </a:pPr>
            <a:r>
              <a:rPr lang="zh-CN" altLang="en-US" sz="2400" b="1" dirty="0">
                <a:solidFill>
                  <a:srgbClr val="FF0000"/>
                </a:solidFill>
                <a:latin typeface="宋体" pitchFamily="2" charset="-122"/>
              </a:rPr>
              <a:t>定义</a:t>
            </a:r>
            <a:r>
              <a:rPr lang="zh-CN" altLang="en-US" sz="2400" dirty="0">
                <a:latin typeface="宋体" pitchFamily="2" charset="-122"/>
              </a:rPr>
              <a:t>：如果一个文法</a:t>
            </a:r>
            <a:r>
              <a:rPr lang="zh-CN" altLang="en-US" sz="2400" dirty="0">
                <a:solidFill>
                  <a:srgbClr val="FF0000"/>
                </a:solidFill>
                <a:latin typeface="宋体" pitchFamily="2" charset="-122"/>
              </a:rPr>
              <a:t>存在</a:t>
            </a:r>
            <a:r>
              <a:rPr lang="zh-CN" altLang="en-US" sz="2400" dirty="0">
                <a:latin typeface="宋体" pitchFamily="2" charset="-122"/>
              </a:rPr>
              <a:t>某个句型对应两棵不同的语法树，则说这个文法是</a:t>
            </a:r>
            <a:r>
              <a:rPr lang="zh-CN" altLang="en-US" sz="2400" b="1" dirty="0">
                <a:solidFill>
                  <a:srgbClr val="FF3399"/>
                </a:solidFill>
                <a:latin typeface="宋体" pitchFamily="2" charset="-122"/>
              </a:rPr>
              <a:t>二义</a:t>
            </a:r>
            <a:r>
              <a:rPr lang="zh-CN" altLang="en-US" sz="2400" dirty="0">
                <a:latin typeface="宋体" pitchFamily="2" charset="-122"/>
              </a:rPr>
              <a:t>的 </a:t>
            </a:r>
          </a:p>
        </p:txBody>
      </p:sp>
      <p:sp>
        <p:nvSpPr>
          <p:cNvPr id="37893" name="Rectangle 3"/>
          <p:cNvSpPr>
            <a:spLocks noChangeArrowheads="1"/>
          </p:cNvSpPr>
          <p:nvPr/>
        </p:nvSpPr>
        <p:spPr bwMode="auto">
          <a:xfrm>
            <a:off x="539552" y="2643758"/>
            <a:ext cx="7848872" cy="695821"/>
          </a:xfrm>
          <a:prstGeom prst="rect">
            <a:avLst/>
          </a:prstGeom>
          <a:solidFill>
            <a:schemeClr val="bg1"/>
          </a:solidFill>
          <a:ln w="28575">
            <a:solidFill>
              <a:srgbClr val="0000CC"/>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400" b="1" dirty="0" err="1">
                <a:solidFill>
                  <a:srgbClr val="FF0000"/>
                </a:solidFill>
                <a:latin typeface="宋体" pitchFamily="2" charset="-122"/>
              </a:rPr>
              <a:t>ie</a:t>
            </a:r>
            <a:r>
              <a:rPr lang="zh-CN" altLang="en-US" sz="2400" b="1" dirty="0">
                <a:solidFill>
                  <a:srgbClr val="FF0000"/>
                </a:solidFill>
                <a:latin typeface="宋体" pitchFamily="2" charset="-122"/>
              </a:rPr>
              <a:t>，不同的语法树对应不同的最左推导过程</a:t>
            </a:r>
            <a:r>
              <a:rPr lang="zh-CN" altLang="en-US" sz="2400" dirty="0">
                <a:latin typeface="宋体" pitchFamily="2" charset="-122"/>
              </a:rPr>
              <a:t> </a:t>
            </a:r>
          </a:p>
        </p:txBody>
      </p:sp>
    </p:spTree>
    <p:extLst>
      <p:ext uri="{BB962C8B-B14F-4D97-AF65-F5344CB8AC3E}">
        <p14:creationId xmlns:p14="http://schemas.microsoft.com/office/powerpoint/2010/main" val="4053960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891">
                                            <p:bg/>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7891">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378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1" grpId="0" uiExpand="1" build="p" animBg="1"/>
      <p:bldP spid="3789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Grp="1" noChangeArrowheads="1"/>
          </p:cNvSpPr>
          <p:nvPr>
            <p:ph type="title"/>
          </p:nvPr>
        </p:nvSpPr>
        <p:spPr>
          <a:xfrm>
            <a:off x="288041" y="195486"/>
            <a:ext cx="7772400" cy="727075"/>
          </a:xfrm>
        </p:spPr>
        <p:txBody>
          <a:bodyPr/>
          <a:lstStyle/>
          <a:p>
            <a:pPr algn="l" eaLnBrk="1" hangingPunct="1"/>
            <a:r>
              <a:rPr lang="zh-CN" altLang="en-US" sz="2800" dirty="0"/>
              <a:t>例：证明下述文法是二义文法。 </a:t>
            </a:r>
          </a:p>
        </p:txBody>
      </p:sp>
      <p:sp>
        <p:nvSpPr>
          <p:cNvPr id="38915" name="Rectangle 3"/>
          <p:cNvSpPr>
            <a:spLocks noGrp="1" noChangeArrowheads="1"/>
          </p:cNvSpPr>
          <p:nvPr>
            <p:ph type="body" idx="1"/>
          </p:nvPr>
        </p:nvSpPr>
        <p:spPr>
          <a:xfrm>
            <a:off x="685800" y="883653"/>
            <a:ext cx="7772400" cy="2304255"/>
          </a:xfrm>
        </p:spPr>
        <p:style>
          <a:lnRef idx="2">
            <a:schemeClr val="accent1"/>
          </a:lnRef>
          <a:fillRef idx="1">
            <a:schemeClr val="lt1"/>
          </a:fillRef>
          <a:effectRef idx="0">
            <a:schemeClr val="accent1"/>
          </a:effectRef>
          <a:fontRef idx="minor">
            <a:schemeClr val="dk1"/>
          </a:fontRef>
        </p:style>
        <p:txBody>
          <a:bodyPr>
            <a:noAutofit/>
          </a:bodyPr>
          <a:lstStyle/>
          <a:p>
            <a:pPr eaLnBrk="1" hangingPunct="1">
              <a:lnSpc>
                <a:spcPct val="110000"/>
              </a:lnSpc>
              <a:spcBef>
                <a:spcPts val="0"/>
              </a:spcBef>
              <a:buFontTx/>
              <a:buNone/>
            </a:pPr>
            <a:r>
              <a:rPr lang="zh-CN" altLang="en-US" sz="2200" dirty="0">
                <a:latin typeface="宋体" panose="02010600030101010101" pitchFamily="2" charset="-122"/>
                <a:ea typeface="宋体" panose="02010600030101010101" pitchFamily="2" charset="-122"/>
              </a:rPr>
              <a:t>设</a:t>
            </a:r>
            <a:r>
              <a:rPr lang="en-US" altLang="zh-CN" sz="2200" dirty="0">
                <a:latin typeface="宋体" panose="02010600030101010101" pitchFamily="2" charset="-122"/>
                <a:ea typeface="宋体" panose="02010600030101010101" pitchFamily="2" charset="-122"/>
              </a:rPr>
              <a:t>if</a:t>
            </a:r>
            <a:r>
              <a:rPr lang="zh-CN" altLang="en-US" sz="2200" dirty="0">
                <a:latin typeface="宋体" panose="02010600030101010101" pitchFamily="2" charset="-122"/>
                <a:ea typeface="宋体" panose="02010600030101010101" pitchFamily="2" charset="-122"/>
              </a:rPr>
              <a:t>语句</a:t>
            </a:r>
            <a:r>
              <a:rPr lang="en-US" altLang="zh-CN" sz="2200" dirty="0">
                <a:latin typeface="宋体" panose="02010600030101010101" pitchFamily="2" charset="-122"/>
                <a:ea typeface="宋体" panose="02010600030101010101" pitchFamily="2" charset="-122"/>
              </a:rPr>
              <a:t>S</a:t>
            </a:r>
            <a:r>
              <a:rPr lang="zh-CN" altLang="en-US" sz="2200" dirty="0">
                <a:latin typeface="宋体" panose="02010600030101010101" pitchFamily="2" charset="-122"/>
                <a:ea typeface="宋体" panose="02010600030101010101" pitchFamily="2" charset="-122"/>
              </a:rPr>
              <a:t>的文法</a:t>
            </a:r>
            <a:r>
              <a:rPr lang="en-US" altLang="zh-CN" sz="2200" dirty="0">
                <a:latin typeface="宋体" panose="02010600030101010101" pitchFamily="2" charset="-122"/>
                <a:ea typeface="宋体" panose="02010600030101010101" pitchFamily="2" charset="-122"/>
              </a:rPr>
              <a:t>G=({E</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S}</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{if</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then</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else</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e}</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P</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S)</a:t>
            </a:r>
            <a:r>
              <a:rPr lang="zh-CN" altLang="en-US" sz="2200" dirty="0">
                <a:latin typeface="宋体" panose="02010600030101010101" pitchFamily="2" charset="-122"/>
                <a:ea typeface="宋体" panose="02010600030101010101" pitchFamily="2" charset="-122"/>
              </a:rPr>
              <a:t>，其中</a:t>
            </a:r>
            <a:r>
              <a:rPr lang="en-US" altLang="zh-CN" sz="2200" dirty="0">
                <a:latin typeface="宋体" panose="02010600030101010101" pitchFamily="2" charset="-122"/>
                <a:ea typeface="宋体" panose="02010600030101010101" pitchFamily="2" charset="-122"/>
              </a:rPr>
              <a:t>P</a:t>
            </a:r>
            <a:r>
              <a:rPr lang="zh-CN" altLang="en-US" sz="2200" dirty="0">
                <a:latin typeface="宋体" panose="02010600030101010101" pitchFamily="2" charset="-122"/>
                <a:ea typeface="宋体" panose="02010600030101010101" pitchFamily="2" charset="-122"/>
              </a:rPr>
              <a:t>为：</a:t>
            </a:r>
          </a:p>
          <a:p>
            <a:pPr marL="365125" indent="-276225" eaLnBrk="1" hangingPunct="1">
              <a:lnSpc>
                <a:spcPct val="110000"/>
              </a:lnSpc>
              <a:spcBef>
                <a:spcPts val="0"/>
              </a:spcBef>
              <a:buFontTx/>
              <a:buNone/>
            </a:pPr>
            <a:r>
              <a:rPr lang="zh-CN" altLang="en-US" sz="2200" dirty="0">
                <a:latin typeface="宋体" panose="02010600030101010101" pitchFamily="2" charset="-122"/>
                <a:ea typeface="宋体" panose="02010600030101010101" pitchFamily="2" charset="-122"/>
              </a:rPr>
              <a:t>    </a:t>
            </a:r>
            <a:r>
              <a:rPr lang="en-US" altLang="zh-CN" sz="2200" dirty="0" err="1">
                <a:latin typeface="宋体" panose="02010600030101010101" pitchFamily="2" charset="-122"/>
                <a:ea typeface="宋体" panose="02010600030101010101" pitchFamily="2" charset="-122"/>
              </a:rPr>
              <a:t>S</a:t>
            </a:r>
            <a:r>
              <a:rPr lang="en-US" altLang="zh-CN" sz="2200" dirty="0" err="1">
                <a:latin typeface="宋体" panose="02010600030101010101" pitchFamily="2" charset="-122"/>
                <a:ea typeface="宋体" panose="02010600030101010101" pitchFamily="2" charset="-122"/>
                <a:sym typeface="Symbol" pitchFamily="18" charset="2"/>
              </a:rPr>
              <a:t></a:t>
            </a:r>
            <a:r>
              <a:rPr lang="en-US" altLang="zh-CN" sz="2200" dirty="0" err="1">
                <a:latin typeface="宋体" panose="02010600030101010101" pitchFamily="2" charset="-122"/>
                <a:ea typeface="宋体" panose="02010600030101010101" pitchFamily="2" charset="-122"/>
              </a:rPr>
              <a:t>if</a:t>
            </a:r>
            <a:r>
              <a:rPr lang="en-US" altLang="zh-CN" sz="2200" dirty="0">
                <a:latin typeface="宋体" panose="02010600030101010101" pitchFamily="2" charset="-122"/>
                <a:ea typeface="宋体" panose="02010600030101010101" pitchFamily="2" charset="-122"/>
              </a:rPr>
              <a:t> E then S                </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1</a:t>
            </a:r>
            <a:r>
              <a:rPr lang="zh-CN" altLang="en-US" sz="2200" dirty="0">
                <a:latin typeface="宋体" panose="02010600030101010101" pitchFamily="2" charset="-122"/>
                <a:ea typeface="宋体" panose="02010600030101010101" pitchFamily="2" charset="-122"/>
              </a:rPr>
              <a:t>）</a:t>
            </a:r>
          </a:p>
          <a:p>
            <a:pPr lvl="2" eaLnBrk="1" hangingPunct="1">
              <a:lnSpc>
                <a:spcPct val="110000"/>
              </a:lnSpc>
              <a:spcBef>
                <a:spcPts val="0"/>
              </a:spcBef>
              <a:buFontTx/>
              <a:buNone/>
            </a:pPr>
            <a:r>
              <a:rPr lang="en-US" altLang="zh-CN" sz="2200" dirty="0" err="1">
                <a:latin typeface="宋体" panose="02010600030101010101" pitchFamily="2" charset="-122"/>
                <a:ea typeface="宋体" panose="02010600030101010101" pitchFamily="2" charset="-122"/>
              </a:rPr>
              <a:t>S</a:t>
            </a:r>
            <a:r>
              <a:rPr lang="en-US" altLang="zh-CN" sz="2200" dirty="0" err="1">
                <a:latin typeface="宋体" panose="02010600030101010101" pitchFamily="2" charset="-122"/>
                <a:ea typeface="宋体" panose="02010600030101010101" pitchFamily="2" charset="-122"/>
                <a:sym typeface="Symbol" pitchFamily="18" charset="2"/>
              </a:rPr>
              <a:t></a:t>
            </a:r>
            <a:r>
              <a:rPr lang="en-US" altLang="zh-CN" sz="2200" dirty="0" err="1">
                <a:latin typeface="宋体" panose="02010600030101010101" pitchFamily="2" charset="-122"/>
                <a:ea typeface="宋体" panose="02010600030101010101" pitchFamily="2" charset="-122"/>
              </a:rPr>
              <a:t>if</a:t>
            </a:r>
            <a:r>
              <a:rPr lang="en-US" altLang="zh-CN" sz="2200" dirty="0">
                <a:latin typeface="宋体" panose="02010600030101010101" pitchFamily="2" charset="-122"/>
                <a:ea typeface="宋体" panose="02010600030101010101" pitchFamily="2" charset="-122"/>
              </a:rPr>
              <a:t> E then S else S         </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2</a:t>
            </a:r>
            <a:r>
              <a:rPr lang="zh-CN" altLang="en-US" sz="2200" dirty="0">
                <a:latin typeface="宋体" panose="02010600030101010101" pitchFamily="2" charset="-122"/>
                <a:ea typeface="宋体" panose="02010600030101010101" pitchFamily="2" charset="-122"/>
              </a:rPr>
              <a:t>）</a:t>
            </a:r>
          </a:p>
          <a:p>
            <a:pPr lvl="2" eaLnBrk="1" hangingPunct="1">
              <a:lnSpc>
                <a:spcPct val="110000"/>
              </a:lnSpc>
              <a:spcBef>
                <a:spcPts val="0"/>
              </a:spcBef>
              <a:buFontTx/>
              <a:buNone/>
            </a:pPr>
            <a:r>
              <a:rPr lang="en-US" altLang="zh-CN" sz="2200" dirty="0" err="1">
                <a:latin typeface="宋体" panose="02010600030101010101" pitchFamily="2" charset="-122"/>
                <a:ea typeface="宋体" panose="02010600030101010101" pitchFamily="2" charset="-122"/>
              </a:rPr>
              <a:t>S</a:t>
            </a:r>
            <a:r>
              <a:rPr lang="en-US" altLang="zh-CN" sz="2200" dirty="0" err="1">
                <a:latin typeface="宋体" panose="02010600030101010101" pitchFamily="2" charset="-122"/>
                <a:ea typeface="宋体" panose="02010600030101010101" pitchFamily="2" charset="-122"/>
                <a:sym typeface="Symbol" pitchFamily="18" charset="2"/>
              </a:rPr>
              <a:t></a:t>
            </a:r>
            <a:r>
              <a:rPr lang="en-US" altLang="zh-CN" sz="2200" dirty="0" err="1">
                <a:latin typeface="宋体" panose="02010600030101010101" pitchFamily="2" charset="-122"/>
                <a:ea typeface="宋体" panose="02010600030101010101" pitchFamily="2" charset="-122"/>
              </a:rPr>
              <a:t>a</a:t>
            </a:r>
            <a:r>
              <a:rPr lang="en-US" altLang="zh-CN" sz="2200" dirty="0">
                <a:latin typeface="宋体" panose="02010600030101010101" pitchFamily="2" charset="-122"/>
                <a:ea typeface="宋体" panose="02010600030101010101" pitchFamily="2" charset="-122"/>
              </a:rPr>
              <a:t>                          </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3</a:t>
            </a:r>
            <a:r>
              <a:rPr lang="zh-CN" altLang="en-US" sz="2200" dirty="0">
                <a:latin typeface="宋体" panose="02010600030101010101" pitchFamily="2" charset="-122"/>
                <a:ea typeface="宋体" panose="02010600030101010101" pitchFamily="2" charset="-122"/>
              </a:rPr>
              <a:t>）</a:t>
            </a:r>
          </a:p>
          <a:p>
            <a:pPr lvl="2" eaLnBrk="1" hangingPunct="1">
              <a:lnSpc>
                <a:spcPct val="110000"/>
              </a:lnSpc>
              <a:spcBef>
                <a:spcPts val="0"/>
              </a:spcBef>
              <a:buFontTx/>
              <a:buNone/>
            </a:pPr>
            <a:r>
              <a:rPr lang="en-US" altLang="zh-CN" sz="2200" dirty="0" err="1">
                <a:latin typeface="宋体" panose="02010600030101010101" pitchFamily="2" charset="-122"/>
                <a:ea typeface="宋体" panose="02010600030101010101" pitchFamily="2" charset="-122"/>
              </a:rPr>
              <a:t>E</a:t>
            </a:r>
            <a:r>
              <a:rPr lang="en-US" altLang="zh-CN" sz="2200" dirty="0" err="1">
                <a:latin typeface="宋体" panose="02010600030101010101" pitchFamily="2" charset="-122"/>
                <a:ea typeface="宋体" panose="02010600030101010101" pitchFamily="2" charset="-122"/>
                <a:sym typeface="Symbol" pitchFamily="18" charset="2"/>
              </a:rPr>
              <a:t></a:t>
            </a:r>
            <a:r>
              <a:rPr lang="en-US" altLang="zh-CN" sz="2200" dirty="0" err="1">
                <a:latin typeface="宋体" panose="02010600030101010101" pitchFamily="2" charset="-122"/>
                <a:ea typeface="宋体" panose="02010600030101010101" pitchFamily="2" charset="-122"/>
              </a:rPr>
              <a:t>e</a:t>
            </a:r>
            <a:r>
              <a:rPr lang="en-US" altLang="zh-CN" sz="2200" dirty="0">
                <a:latin typeface="宋体" panose="02010600030101010101" pitchFamily="2" charset="-122"/>
                <a:ea typeface="宋体" panose="02010600030101010101" pitchFamily="2" charset="-122"/>
              </a:rPr>
              <a:t>                          </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4</a:t>
            </a:r>
            <a:r>
              <a:rPr lang="zh-CN" altLang="en-US" sz="2200" dirty="0">
                <a:latin typeface="宋体" panose="02010600030101010101" pitchFamily="2" charset="-122"/>
                <a:ea typeface="宋体" panose="02010600030101010101" pitchFamily="2" charset="-122"/>
              </a:rPr>
              <a:t>）</a:t>
            </a:r>
          </a:p>
        </p:txBody>
      </p:sp>
      <p:sp>
        <p:nvSpPr>
          <p:cNvPr id="37892" name="Rectangle 4"/>
          <p:cNvSpPr>
            <a:spLocks noChangeArrowheads="1"/>
          </p:cNvSpPr>
          <p:nvPr/>
        </p:nvSpPr>
        <p:spPr bwMode="auto">
          <a:xfrm>
            <a:off x="395536" y="3539792"/>
            <a:ext cx="71593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latin typeface="Arial" pitchFamily="34" charset="0"/>
              </a:rPr>
              <a:t>推导</a:t>
            </a:r>
            <a:r>
              <a:rPr lang="en-US" altLang="zh-CN" sz="2000" dirty="0">
                <a:latin typeface="Arial" pitchFamily="34" charset="0"/>
              </a:rPr>
              <a:t>(1)</a:t>
            </a:r>
            <a:r>
              <a:rPr lang="zh-CN" altLang="en-US" sz="2000" dirty="0">
                <a:latin typeface="Arial" pitchFamily="34" charset="0"/>
              </a:rPr>
              <a:t>：</a:t>
            </a:r>
            <a:r>
              <a:rPr lang="en-US" altLang="zh-CN" sz="2000" dirty="0">
                <a:latin typeface="Arial" pitchFamily="34" charset="0"/>
              </a:rPr>
              <a:t>S </a:t>
            </a:r>
            <a:r>
              <a:rPr lang="en-US" altLang="zh-CN" sz="2000" dirty="0">
                <a:latin typeface="Arial" pitchFamily="34" charset="0"/>
                <a:sym typeface="Symbol" pitchFamily="18" charset="2"/>
              </a:rPr>
              <a:t></a:t>
            </a:r>
            <a:r>
              <a:rPr lang="en-US" altLang="zh-CN" sz="2000" dirty="0">
                <a:latin typeface="Arial" pitchFamily="34" charset="0"/>
              </a:rPr>
              <a:t> </a:t>
            </a:r>
            <a:r>
              <a:rPr lang="en-US" altLang="zh-CN" sz="2000" dirty="0">
                <a:latin typeface="Arial" pitchFamily="34" charset="0"/>
                <a:sym typeface="Symbol" pitchFamily="18" charset="2"/>
              </a:rPr>
              <a:t>if E then </a:t>
            </a:r>
            <a:r>
              <a:rPr lang="en-US" altLang="zh-CN" sz="2000" dirty="0">
                <a:solidFill>
                  <a:srgbClr val="FF0000"/>
                </a:solidFill>
                <a:latin typeface="Arial" pitchFamily="34" charset="0"/>
                <a:sym typeface="Symbol" pitchFamily="18" charset="2"/>
              </a:rPr>
              <a:t>S</a:t>
            </a:r>
            <a:r>
              <a:rPr lang="en-US" altLang="zh-CN" sz="2000" dirty="0">
                <a:latin typeface="Arial" pitchFamily="34" charset="0"/>
                <a:sym typeface="Symbol" pitchFamily="18" charset="2"/>
              </a:rPr>
              <a:t>            </a:t>
            </a:r>
            <a:r>
              <a:rPr lang="en-US" altLang="zh-CN" sz="2000" dirty="0">
                <a:latin typeface="Arial" pitchFamily="34" charset="0"/>
              </a:rPr>
              <a:t> </a:t>
            </a:r>
            <a:r>
              <a:rPr lang="en-US" altLang="zh-CN" sz="2000" dirty="0">
                <a:latin typeface="Arial" pitchFamily="34" charset="0"/>
                <a:sym typeface="Symbol" pitchFamily="18" charset="2"/>
              </a:rPr>
              <a:t>if E then if E then S else S</a:t>
            </a:r>
          </a:p>
        </p:txBody>
      </p:sp>
      <p:sp>
        <p:nvSpPr>
          <p:cNvPr id="2" name="矩形 1"/>
          <p:cNvSpPr>
            <a:spLocks noChangeArrowheads="1"/>
          </p:cNvSpPr>
          <p:nvPr/>
        </p:nvSpPr>
        <p:spPr bwMode="auto">
          <a:xfrm>
            <a:off x="323850" y="4371975"/>
            <a:ext cx="8486775" cy="707886"/>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zh-CN" sz="2000" dirty="0">
                <a:ea typeface="华文行楷" pitchFamily="2" charset="-122"/>
              </a:rPr>
              <a:t>对于同一个句型 </a:t>
            </a:r>
            <a:r>
              <a:rPr lang="en-US" altLang="zh-CN" sz="2000" dirty="0">
                <a:ea typeface="华文行楷" pitchFamily="2" charset="-122"/>
              </a:rPr>
              <a:t>if E then if E then S else S</a:t>
            </a:r>
            <a:r>
              <a:rPr lang="zh-CN" altLang="zh-CN" sz="2000" dirty="0">
                <a:ea typeface="华文行楷" pitchFamily="2" charset="-122"/>
              </a:rPr>
              <a:t>，由于应用产生式的顺序不同，得到了两个不同的推导，所以该文法是二义文法。</a:t>
            </a:r>
          </a:p>
        </p:txBody>
      </p:sp>
      <p:sp>
        <p:nvSpPr>
          <p:cNvPr id="3" name="矩形 2"/>
          <p:cNvSpPr/>
          <p:nvPr/>
        </p:nvSpPr>
        <p:spPr>
          <a:xfrm>
            <a:off x="5650786" y="3107719"/>
            <a:ext cx="3159839" cy="400110"/>
          </a:xfrm>
          <a:prstGeom prst="rect">
            <a:avLst/>
          </a:prstGeom>
        </p:spPr>
        <p:style>
          <a:lnRef idx="2">
            <a:schemeClr val="accent2"/>
          </a:lnRef>
          <a:fillRef idx="1">
            <a:schemeClr val="lt1"/>
          </a:fillRef>
          <a:effectRef idx="0">
            <a:schemeClr val="accent2"/>
          </a:effectRef>
          <a:fontRef idx="minor">
            <a:schemeClr val="dk1"/>
          </a:fontRef>
        </p:style>
        <p:txBody>
          <a:bodyPr wrap="none">
            <a:spAutoFit/>
          </a:bodyPr>
          <a:lstStyle/>
          <a:p>
            <a:r>
              <a:rPr lang="en-US" altLang="zh-CN" sz="2000" dirty="0">
                <a:latin typeface="Arial" pitchFamily="34" charset="0"/>
                <a:sym typeface="Symbol" pitchFamily="18" charset="2"/>
              </a:rPr>
              <a:t>if E then if E then S else S</a:t>
            </a:r>
            <a:endParaRPr lang="zh-CN" altLang="en-US" sz="2000" dirty="0"/>
          </a:p>
        </p:txBody>
      </p:sp>
      <p:sp>
        <p:nvSpPr>
          <p:cNvPr id="7" name="Rectangle 4"/>
          <p:cNvSpPr>
            <a:spLocks noChangeArrowheads="1"/>
          </p:cNvSpPr>
          <p:nvPr/>
        </p:nvSpPr>
        <p:spPr bwMode="auto">
          <a:xfrm>
            <a:off x="366620" y="3939902"/>
            <a:ext cx="71673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latin typeface="Arial" pitchFamily="34" charset="0"/>
                <a:sym typeface="Symbol" pitchFamily="18" charset="2"/>
              </a:rPr>
              <a:t>推导</a:t>
            </a:r>
            <a:r>
              <a:rPr lang="en-US" altLang="zh-CN" sz="2000" dirty="0">
                <a:latin typeface="Arial" pitchFamily="34" charset="0"/>
                <a:sym typeface="Symbol" pitchFamily="18" charset="2"/>
              </a:rPr>
              <a:t>(2)</a:t>
            </a:r>
            <a:r>
              <a:rPr lang="zh-CN" altLang="en-US" sz="2000" dirty="0">
                <a:latin typeface="Arial" pitchFamily="34" charset="0"/>
                <a:sym typeface="Symbol" pitchFamily="18" charset="2"/>
              </a:rPr>
              <a:t>：</a:t>
            </a:r>
            <a:r>
              <a:rPr lang="en-US" altLang="zh-CN" sz="2000" dirty="0">
                <a:latin typeface="Arial" pitchFamily="34" charset="0"/>
                <a:sym typeface="Symbol" pitchFamily="18" charset="2"/>
              </a:rPr>
              <a:t>S </a:t>
            </a:r>
            <a:r>
              <a:rPr lang="en-US" altLang="zh-CN" sz="2000" dirty="0">
                <a:latin typeface="Arial" pitchFamily="34" charset="0"/>
              </a:rPr>
              <a:t> </a:t>
            </a:r>
            <a:r>
              <a:rPr lang="en-US" altLang="zh-CN" sz="2000" dirty="0">
                <a:latin typeface="Arial" pitchFamily="34" charset="0"/>
                <a:sym typeface="Symbol" pitchFamily="18" charset="2"/>
              </a:rPr>
              <a:t>if E then </a:t>
            </a:r>
            <a:r>
              <a:rPr lang="en-US" altLang="zh-CN" sz="2000" dirty="0">
                <a:solidFill>
                  <a:srgbClr val="FF0000"/>
                </a:solidFill>
                <a:latin typeface="Arial" pitchFamily="34" charset="0"/>
                <a:sym typeface="Symbol" pitchFamily="18" charset="2"/>
              </a:rPr>
              <a:t>S</a:t>
            </a:r>
            <a:r>
              <a:rPr lang="en-US" altLang="zh-CN" sz="2000" dirty="0">
                <a:latin typeface="Arial" pitchFamily="34" charset="0"/>
                <a:sym typeface="Symbol" pitchFamily="18" charset="2"/>
              </a:rPr>
              <a:t> else S </a:t>
            </a:r>
            <a:r>
              <a:rPr lang="en-US" altLang="zh-CN" sz="2000" dirty="0">
                <a:latin typeface="Arial" pitchFamily="34" charset="0"/>
              </a:rPr>
              <a:t> </a:t>
            </a:r>
            <a:r>
              <a:rPr lang="en-US" altLang="zh-CN" sz="2000" dirty="0">
                <a:latin typeface="Arial" pitchFamily="34" charset="0"/>
                <a:sym typeface="Symbol" pitchFamily="18" charset="2"/>
              </a:rPr>
              <a:t>if E then if E then S else S</a:t>
            </a:r>
          </a:p>
        </p:txBody>
      </p:sp>
    </p:spTree>
    <p:extLst>
      <p:ext uri="{BB962C8B-B14F-4D97-AF65-F5344CB8AC3E}">
        <p14:creationId xmlns:p14="http://schemas.microsoft.com/office/powerpoint/2010/main" val="1681341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37892"/>
                                        </p:tgtEl>
                                        <p:attrNameLst>
                                          <p:attrName>style.visibility</p:attrName>
                                        </p:attrNameLst>
                                      </p:cBhvr>
                                      <p:to>
                                        <p:strVal val="visible"/>
                                      </p:to>
                                    </p:set>
                                    <p:anim calcmode="lin" valueType="num">
                                      <p:cBhvr additive="base">
                                        <p:cTn id="11" dur="500" fill="hold"/>
                                        <p:tgtEl>
                                          <p:spTgt spid="37892"/>
                                        </p:tgtEl>
                                        <p:attrNameLst>
                                          <p:attrName>ppt_x</p:attrName>
                                        </p:attrNameLst>
                                      </p:cBhvr>
                                      <p:tavLst>
                                        <p:tav tm="0">
                                          <p:val>
                                            <p:strVal val="#ppt_x"/>
                                          </p:val>
                                        </p:tav>
                                        <p:tav tm="100000">
                                          <p:val>
                                            <p:strVal val="#ppt_x"/>
                                          </p:val>
                                        </p:tav>
                                      </p:tavLst>
                                    </p:anim>
                                    <p:anim calcmode="lin" valueType="num">
                                      <p:cBhvr additive="base">
                                        <p:cTn id="12" dur="500" fill="hold"/>
                                        <p:tgtEl>
                                          <p:spTgt spid="37892"/>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p:bldP spid="2" grpId="0" animBg="1"/>
      <p:bldP spid="3" grpId="0" animBg="1"/>
      <p:bldP spid="7"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标题 1"/>
          <p:cNvSpPr>
            <a:spLocks noGrp="1"/>
          </p:cNvSpPr>
          <p:nvPr>
            <p:ph type="title"/>
          </p:nvPr>
        </p:nvSpPr>
        <p:spPr>
          <a:xfrm>
            <a:off x="685800" y="192088"/>
            <a:ext cx="7772400" cy="857250"/>
          </a:xfrm>
        </p:spPr>
        <p:txBody>
          <a:bodyPr/>
          <a:lstStyle/>
          <a:p>
            <a:r>
              <a:rPr lang="zh-CN" altLang="zh-CN" sz="4800" b="1" dirty="0">
                <a:solidFill>
                  <a:srgbClr val="CC0099"/>
                </a:solidFill>
                <a:ea typeface="隶书" pitchFamily="49" charset="-122"/>
              </a:rPr>
              <a:t>消除二义性</a:t>
            </a:r>
            <a:endParaRPr lang="zh-CN" altLang="en-US" sz="4800" b="1" dirty="0">
              <a:solidFill>
                <a:srgbClr val="CC0099"/>
              </a:solidFill>
              <a:ea typeface="隶书" pitchFamily="49" charset="-122"/>
            </a:endParaRPr>
          </a:p>
        </p:txBody>
      </p:sp>
      <p:sp>
        <p:nvSpPr>
          <p:cNvPr id="56323" name="内容占位符 2"/>
          <p:cNvSpPr>
            <a:spLocks noGrp="1"/>
          </p:cNvSpPr>
          <p:nvPr>
            <p:ph idx="1"/>
          </p:nvPr>
        </p:nvSpPr>
        <p:spPr>
          <a:xfrm>
            <a:off x="642158" y="2244184"/>
            <a:ext cx="8229600" cy="1573679"/>
          </a:xfrm>
        </p:spPr>
        <p:txBody>
          <a:bodyPr>
            <a:normAutofit/>
          </a:bodyPr>
          <a:lstStyle/>
          <a:p>
            <a:pPr marL="0" indent="0">
              <a:buFontTx/>
              <a:buNone/>
              <a:defRPr/>
            </a:pPr>
            <a:r>
              <a:rPr lang="zh-CN" altLang="zh-CN" sz="2200" dirty="0">
                <a:latin typeface="宋体" panose="02010600030101010101" pitchFamily="2" charset="-122"/>
                <a:ea typeface="宋体" panose="02010600030101010101" pitchFamily="2" charset="-122"/>
              </a:rPr>
              <a:t>文法的二义性并不代表语言一定是二义的。只有当产生一个语言的所有文法都是二义的，这个语言才是二义的。</a:t>
            </a:r>
            <a:endParaRPr lang="en-US" altLang="zh-CN" sz="2200" dirty="0">
              <a:latin typeface="宋体" panose="02010600030101010101" pitchFamily="2" charset="-122"/>
              <a:ea typeface="宋体" panose="02010600030101010101" pitchFamily="2" charset="-122"/>
            </a:endParaRPr>
          </a:p>
          <a:p>
            <a:pPr>
              <a:defRPr/>
            </a:pPr>
            <a:r>
              <a:rPr lang="zh-CN" altLang="en-US" sz="2200" dirty="0">
                <a:latin typeface="宋体" panose="02010600030101010101" pitchFamily="2" charset="-122"/>
                <a:ea typeface="宋体" panose="02010600030101010101" pitchFamily="2" charset="-122"/>
              </a:rPr>
              <a:t>改写文法：重新构造一个等价的无二义性文法</a:t>
            </a:r>
            <a:endParaRPr lang="en-US" altLang="zh-CN" sz="2200" dirty="0">
              <a:latin typeface="宋体" panose="02010600030101010101" pitchFamily="2" charset="-122"/>
              <a:ea typeface="宋体" panose="02010600030101010101" pitchFamily="2" charset="-122"/>
            </a:endParaRPr>
          </a:p>
          <a:p>
            <a:pPr>
              <a:defRPr/>
            </a:pPr>
            <a:r>
              <a:rPr lang="zh-CN" altLang="en-US" sz="2200" dirty="0">
                <a:latin typeface="宋体" panose="02010600030101010101" pitchFamily="2" charset="-122"/>
                <a:ea typeface="宋体" panose="02010600030101010101" pitchFamily="2" charset="-122"/>
              </a:rPr>
              <a:t>补充规则：不改变文法的原有规则，加进一些非形式规定</a:t>
            </a:r>
            <a:endParaRPr lang="en-US" altLang="zh-CN" sz="2200" dirty="0">
              <a:latin typeface="宋体" panose="02010600030101010101" pitchFamily="2" charset="-122"/>
              <a:ea typeface="宋体" panose="02010600030101010101" pitchFamily="2" charset="-122"/>
            </a:endParaRPr>
          </a:p>
          <a:p>
            <a:pPr>
              <a:defRPr/>
            </a:pPr>
            <a:endParaRPr lang="zh-CN" altLang="en-US" sz="2200" dirty="0">
              <a:latin typeface="宋体" panose="02010600030101010101" pitchFamily="2" charset="-122"/>
              <a:ea typeface="宋体" panose="02010600030101010101" pitchFamily="2" charset="-122"/>
            </a:endParaRPr>
          </a:p>
        </p:txBody>
      </p:sp>
      <p:sp>
        <p:nvSpPr>
          <p:cNvPr id="4" name="Rectangle 5"/>
          <p:cNvSpPr>
            <a:spLocks noChangeArrowheads="1"/>
          </p:cNvSpPr>
          <p:nvPr/>
        </p:nvSpPr>
        <p:spPr bwMode="auto">
          <a:xfrm>
            <a:off x="665163" y="1131591"/>
            <a:ext cx="7772400" cy="108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r>
              <a:rPr lang="zh-CN" altLang="en-US" sz="2800" dirty="0">
                <a:latin typeface="宋体" pitchFamily="2" charset="-122"/>
                <a:ea typeface="华文行楷" pitchFamily="2" charset="-122"/>
              </a:rPr>
              <a:t>对二义文法中的某些句型的分析过程是不唯一的，因此总是希望文法是无二义的。</a:t>
            </a:r>
          </a:p>
        </p:txBody>
      </p:sp>
    </p:spTree>
    <p:extLst>
      <p:ext uri="{BB962C8B-B14F-4D97-AF65-F5344CB8AC3E}">
        <p14:creationId xmlns:p14="http://schemas.microsoft.com/office/powerpoint/2010/main" val="1924679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323">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323">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3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build="p"/>
      <p:bldP spid="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标题 1"/>
          <p:cNvSpPr>
            <a:spLocks noGrp="1"/>
          </p:cNvSpPr>
          <p:nvPr>
            <p:ph type="title"/>
          </p:nvPr>
        </p:nvSpPr>
        <p:spPr>
          <a:xfrm>
            <a:off x="698500" y="0"/>
            <a:ext cx="7772400" cy="857250"/>
          </a:xfrm>
        </p:spPr>
        <p:txBody>
          <a:bodyPr/>
          <a:lstStyle/>
          <a:p>
            <a:pPr algn="l"/>
            <a:r>
              <a:rPr lang="zh-CN" altLang="zh-CN" sz="4800" b="1" dirty="0">
                <a:solidFill>
                  <a:srgbClr val="CC0099"/>
                </a:solidFill>
                <a:ea typeface="隶书" pitchFamily="49" charset="-122"/>
              </a:rPr>
              <a:t>消除二义性</a:t>
            </a:r>
            <a:endParaRPr lang="zh-CN" altLang="en-US" sz="4800" b="1" dirty="0">
              <a:solidFill>
                <a:srgbClr val="CC0099"/>
              </a:solidFill>
              <a:ea typeface="隶书" pitchFamily="49" charset="-122"/>
            </a:endParaRPr>
          </a:p>
        </p:txBody>
      </p:sp>
      <p:sp>
        <p:nvSpPr>
          <p:cNvPr id="40963" name="内容占位符 2"/>
          <p:cNvSpPr>
            <a:spLocks noGrp="1"/>
          </p:cNvSpPr>
          <p:nvPr>
            <p:ph idx="1"/>
          </p:nvPr>
        </p:nvSpPr>
        <p:spPr>
          <a:xfrm>
            <a:off x="565150" y="992188"/>
            <a:ext cx="7893050" cy="765175"/>
          </a:xfrm>
        </p:spPr>
        <p:txBody>
          <a:bodyPr>
            <a:normAutofit lnSpcReduction="10000"/>
          </a:bodyPr>
          <a:lstStyle/>
          <a:p>
            <a:r>
              <a:rPr lang="zh-CN" altLang="en-US" sz="2400" dirty="0"/>
              <a:t>（</a:t>
            </a:r>
            <a:r>
              <a:rPr lang="en-US" altLang="zh-CN" sz="2400" dirty="0"/>
              <a:t>1</a:t>
            </a:r>
            <a:r>
              <a:rPr lang="zh-CN" altLang="en-US" sz="2400" dirty="0"/>
              <a:t>）</a:t>
            </a:r>
            <a:r>
              <a:rPr lang="zh-CN" altLang="zh-CN" sz="2400" dirty="0"/>
              <a:t>可以利用算符之间的</a:t>
            </a:r>
            <a:r>
              <a:rPr lang="zh-CN" altLang="zh-CN" sz="2400" b="1" dirty="0">
                <a:solidFill>
                  <a:srgbClr val="FF3300"/>
                </a:solidFill>
              </a:rPr>
              <a:t>优先级和结合性</a:t>
            </a:r>
            <a:r>
              <a:rPr lang="zh-CN" altLang="en-US" sz="2400" b="1" dirty="0">
                <a:solidFill>
                  <a:srgbClr val="FF3300"/>
                </a:solidFill>
              </a:rPr>
              <a:t>改写文法</a:t>
            </a:r>
            <a:r>
              <a:rPr lang="zh-CN" altLang="zh-CN" sz="2400" dirty="0"/>
              <a:t>来消除算术表达式文法的二义性。</a:t>
            </a:r>
            <a:endParaRPr lang="zh-CN" altLang="en-US" sz="2400" dirty="0"/>
          </a:p>
        </p:txBody>
      </p:sp>
      <p:sp>
        <p:nvSpPr>
          <p:cNvPr id="38918" name="Rectangle 2"/>
          <p:cNvSpPr>
            <a:spLocks noChangeArrowheads="1"/>
          </p:cNvSpPr>
          <p:nvPr/>
        </p:nvSpPr>
        <p:spPr bwMode="auto">
          <a:xfrm>
            <a:off x="569913" y="1895475"/>
            <a:ext cx="3498031" cy="1702490"/>
          </a:xfrm>
          <a:prstGeom prst="rect">
            <a:avLst/>
          </a:prstGeom>
          <a:solidFill>
            <a:schemeClr val="bg1"/>
          </a:solidFill>
          <a:ln w="38100">
            <a:solidFill>
              <a:srgbClr val="3366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buFontTx/>
              <a:buNone/>
            </a:pPr>
            <a:r>
              <a:rPr lang="en-US" altLang="zh-CN" sz="2000" b="1" dirty="0">
                <a:sym typeface="Symbol" pitchFamily="18" charset="2"/>
              </a:rPr>
              <a:t>G = ({E}</a:t>
            </a:r>
            <a:r>
              <a:rPr lang="en-GB" altLang="zh-CN" sz="2000" b="1" dirty="0">
                <a:sym typeface="Symbol" pitchFamily="18" charset="2"/>
              </a:rPr>
              <a:t>, </a:t>
            </a:r>
            <a:r>
              <a:rPr lang="en-US" altLang="zh-CN" sz="2000" b="1" dirty="0">
                <a:sym typeface="Symbol" pitchFamily="18" charset="2"/>
              </a:rPr>
              <a:t>{</a:t>
            </a:r>
            <a:r>
              <a:rPr lang="en-US" altLang="zh-CN" sz="2000" b="1" dirty="0" err="1">
                <a:sym typeface="Symbol" pitchFamily="18" charset="2"/>
              </a:rPr>
              <a:t>i</a:t>
            </a:r>
            <a:r>
              <a:rPr lang="en-US" altLang="zh-CN" sz="2000" b="1" dirty="0">
                <a:sym typeface="Symbol" pitchFamily="18" charset="2"/>
              </a:rPr>
              <a:t>, +, *, (, ) } , P , E)</a:t>
            </a:r>
            <a:br>
              <a:rPr lang="en-US" altLang="zh-CN" sz="2000" b="1" dirty="0">
                <a:sym typeface="Symbol" pitchFamily="18" charset="2"/>
              </a:rPr>
            </a:br>
            <a:r>
              <a:rPr lang="en-US" altLang="zh-CN" sz="2000" b="1" dirty="0">
                <a:sym typeface="Symbol" pitchFamily="18" charset="2"/>
              </a:rPr>
              <a:t>   P</a:t>
            </a:r>
            <a:r>
              <a:rPr lang="zh-CN" altLang="en-US" sz="2000" b="1" dirty="0">
                <a:sym typeface="Symbol" pitchFamily="18" charset="2"/>
              </a:rPr>
              <a:t>： </a:t>
            </a:r>
            <a:r>
              <a:rPr lang="en-US" altLang="zh-CN" sz="2000" b="1" dirty="0">
                <a:sym typeface="Symbol" pitchFamily="18" charset="2"/>
              </a:rPr>
              <a:t>E  E + E </a:t>
            </a:r>
          </a:p>
          <a:p>
            <a:pPr eaLnBrk="1" hangingPunct="1">
              <a:lnSpc>
                <a:spcPct val="90000"/>
              </a:lnSpc>
              <a:buFontTx/>
              <a:buNone/>
            </a:pPr>
            <a:r>
              <a:rPr lang="en-US" altLang="zh-CN" sz="2000" b="1" dirty="0">
                <a:sym typeface="Symbol" pitchFamily="18" charset="2"/>
              </a:rPr>
              <a:t>               E   E * E </a:t>
            </a:r>
          </a:p>
          <a:p>
            <a:pPr eaLnBrk="1" hangingPunct="1">
              <a:lnSpc>
                <a:spcPct val="90000"/>
              </a:lnSpc>
              <a:buFontTx/>
              <a:buNone/>
            </a:pPr>
            <a:r>
              <a:rPr lang="en-US" altLang="zh-CN" sz="2000" b="1" dirty="0">
                <a:sym typeface="Symbol" pitchFamily="18" charset="2"/>
              </a:rPr>
              <a:t>	          E   ( E ) </a:t>
            </a:r>
          </a:p>
          <a:p>
            <a:pPr eaLnBrk="1" hangingPunct="1">
              <a:lnSpc>
                <a:spcPct val="90000"/>
              </a:lnSpc>
              <a:buFontTx/>
              <a:buNone/>
            </a:pPr>
            <a:r>
              <a:rPr lang="en-US" altLang="zh-CN" sz="2000" b="1" dirty="0">
                <a:sym typeface="Symbol" pitchFamily="18" charset="2"/>
              </a:rPr>
              <a:t>		  E  </a:t>
            </a:r>
            <a:r>
              <a:rPr lang="en-US" altLang="zh-CN" sz="2000" b="1" dirty="0" err="1">
                <a:sym typeface="Symbol" pitchFamily="18" charset="2"/>
              </a:rPr>
              <a:t>i</a:t>
            </a:r>
            <a:r>
              <a:rPr lang="en-US" altLang="zh-CN" sz="2000" b="1" dirty="0">
                <a:sym typeface="Symbol" pitchFamily="18" charset="2"/>
              </a:rPr>
              <a:t> </a:t>
            </a:r>
            <a:endParaRPr lang="en-US" altLang="zh-CN" sz="2000" b="1" dirty="0"/>
          </a:p>
        </p:txBody>
      </p:sp>
      <p:sp>
        <p:nvSpPr>
          <p:cNvPr id="38919" name="Rectangle 2"/>
          <p:cNvSpPr>
            <a:spLocks noChangeArrowheads="1"/>
          </p:cNvSpPr>
          <p:nvPr/>
        </p:nvSpPr>
        <p:spPr bwMode="auto">
          <a:xfrm>
            <a:off x="6087368" y="1924050"/>
            <a:ext cx="2157040" cy="1535752"/>
          </a:xfrm>
          <a:prstGeom prst="rect">
            <a:avLst/>
          </a:prstGeom>
          <a:solidFill>
            <a:schemeClr val="bg1"/>
          </a:solidFill>
          <a:ln w="38100">
            <a:solidFill>
              <a:srgbClr val="3366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FontTx/>
              <a:buNone/>
            </a:pPr>
            <a:r>
              <a:rPr lang="en-US" altLang="zh-CN" sz="2800" dirty="0"/>
              <a:t>E→E+T | T</a:t>
            </a:r>
          </a:p>
          <a:p>
            <a:pPr>
              <a:buFontTx/>
              <a:buNone/>
            </a:pPr>
            <a:r>
              <a:rPr lang="en-US" altLang="zh-CN" sz="2800" dirty="0"/>
              <a:t>T→T*F | F</a:t>
            </a:r>
          </a:p>
          <a:p>
            <a:pPr>
              <a:buFontTx/>
              <a:buNone/>
            </a:pPr>
            <a:r>
              <a:rPr lang="en-US" altLang="zh-CN" sz="2800" dirty="0" err="1"/>
              <a:t>F→i</a:t>
            </a:r>
            <a:r>
              <a:rPr lang="en-US" altLang="zh-CN" sz="2800" dirty="0"/>
              <a:t> | (E)</a:t>
            </a:r>
          </a:p>
        </p:txBody>
      </p:sp>
      <p:sp>
        <p:nvSpPr>
          <p:cNvPr id="25607" name="AutoShape 7"/>
          <p:cNvSpPr>
            <a:spLocks noChangeArrowheads="1"/>
          </p:cNvSpPr>
          <p:nvPr/>
        </p:nvSpPr>
        <p:spPr bwMode="auto">
          <a:xfrm>
            <a:off x="4211960" y="2582699"/>
            <a:ext cx="1651000" cy="377825"/>
          </a:xfrm>
          <a:prstGeom prst="rightArrow">
            <a:avLst>
              <a:gd name="adj1" fmla="val 50000"/>
              <a:gd name="adj2" fmla="val 81933"/>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sp>
        <p:nvSpPr>
          <p:cNvPr id="38921" name="内容占位符 2"/>
          <p:cNvSpPr>
            <a:spLocks/>
          </p:cNvSpPr>
          <p:nvPr/>
        </p:nvSpPr>
        <p:spPr bwMode="auto">
          <a:xfrm>
            <a:off x="565150" y="3833952"/>
            <a:ext cx="8189913" cy="1190625"/>
          </a:xfrm>
          <a:prstGeom prst="rect">
            <a:avLst/>
          </a:prstGeom>
          <a:solidFill>
            <a:schemeClr val="bg1"/>
          </a:solidFill>
          <a:ln>
            <a:noFill/>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r>
              <a:rPr lang="zh-CN" altLang="en-US" sz="2400" b="1" dirty="0">
                <a:solidFill>
                  <a:srgbClr val="FF3300"/>
                </a:solidFill>
              </a:rPr>
              <a:t>（</a:t>
            </a:r>
            <a:r>
              <a:rPr lang="en-US" altLang="zh-CN" sz="2400" b="1" dirty="0">
                <a:solidFill>
                  <a:srgbClr val="FF3300"/>
                </a:solidFill>
              </a:rPr>
              <a:t>2</a:t>
            </a:r>
            <a:r>
              <a:rPr lang="zh-CN" altLang="en-US" sz="2400" b="1" dirty="0">
                <a:solidFill>
                  <a:srgbClr val="FF3300"/>
                </a:solidFill>
              </a:rPr>
              <a:t>）强制规定</a:t>
            </a:r>
            <a:r>
              <a:rPr lang="zh-CN" altLang="en-US" sz="2400" dirty="0"/>
              <a:t>：如悬空</a:t>
            </a:r>
            <a:r>
              <a:rPr lang="en-US" altLang="zh-CN" sz="2400" dirty="0"/>
              <a:t>else</a:t>
            </a:r>
            <a:r>
              <a:rPr lang="zh-CN" altLang="en-US" sz="2400" dirty="0"/>
              <a:t>，规定</a:t>
            </a:r>
            <a:r>
              <a:rPr lang="en-US" altLang="zh-CN" sz="2400" dirty="0"/>
              <a:t>else</a:t>
            </a:r>
            <a:r>
              <a:rPr lang="zh-CN" altLang="en-US" sz="2400" dirty="0"/>
              <a:t>总是和最近的尚未匹配的</a:t>
            </a:r>
            <a:r>
              <a:rPr lang="en-US" altLang="zh-CN" sz="2400" dirty="0"/>
              <a:t>if</a:t>
            </a:r>
            <a:r>
              <a:rPr lang="zh-CN" altLang="en-US" sz="2400" dirty="0"/>
              <a:t>匹配。一般不修改文法的产生式，而是在分析过程中直接进行判断 </a:t>
            </a:r>
          </a:p>
        </p:txBody>
      </p:sp>
    </p:spTree>
    <p:extLst>
      <p:ext uri="{BB962C8B-B14F-4D97-AF65-F5344CB8AC3E}">
        <p14:creationId xmlns:p14="http://schemas.microsoft.com/office/powerpoint/2010/main" val="19929760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96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4" presetClass="entr" presetSubtype="0" fill="hold" grpId="0" nodeType="clickEffect">
                                  <p:stCondLst>
                                    <p:cond delay="0"/>
                                  </p:stCondLst>
                                  <p:childTnLst>
                                    <p:set>
                                      <p:cBhvr>
                                        <p:cTn id="10" dur="1" fill="hold">
                                          <p:stCondLst>
                                            <p:cond delay="0"/>
                                          </p:stCondLst>
                                        </p:cTn>
                                        <p:tgtEl>
                                          <p:spTgt spid="38918"/>
                                        </p:tgtEl>
                                        <p:attrNameLst>
                                          <p:attrName>style.visibility</p:attrName>
                                        </p:attrNameLst>
                                      </p:cBhvr>
                                      <p:to>
                                        <p:strVal val="visible"/>
                                      </p:to>
                                    </p:set>
                                    <p:anim to="" calcmode="lin" valueType="num">
                                      <p:cBhvr>
                                        <p:cTn id="11" dur="1" fill="hold"/>
                                        <p:tgtEl>
                                          <p:spTgt spid="38918"/>
                                        </p:tgtEl>
                                        <p:attrNameLst>
                                          <p:attrName/>
                                        </p:attrNameLst>
                                      </p:cBhvr>
                                    </p:anim>
                                  </p:childTnLst>
                                </p:cTn>
                              </p:par>
                            </p:childTnLst>
                          </p:cTn>
                        </p:par>
                      </p:childTnLst>
                    </p:cTn>
                  </p:par>
                  <p:par>
                    <p:cTn id="12" fill="hold" nodeType="clickPar">
                      <p:stCondLst>
                        <p:cond delay="indefinite"/>
                      </p:stCondLst>
                      <p:childTnLst>
                        <p:par>
                          <p:cTn id="13" fill="hold" nodeType="withGroup">
                            <p:stCondLst>
                              <p:cond delay="0"/>
                            </p:stCondLst>
                            <p:childTnLst>
                              <p:par>
                                <p:cTn id="14" presetID="17" presetClass="entr" presetSubtype="8" fill="hold" grpId="0" nodeType="clickEffect">
                                  <p:stCondLst>
                                    <p:cond delay="0"/>
                                  </p:stCondLst>
                                  <p:childTnLst>
                                    <p:set>
                                      <p:cBhvr>
                                        <p:cTn id="15" dur="1" fill="hold">
                                          <p:stCondLst>
                                            <p:cond delay="0"/>
                                          </p:stCondLst>
                                        </p:cTn>
                                        <p:tgtEl>
                                          <p:spTgt spid="25607"/>
                                        </p:tgtEl>
                                        <p:attrNameLst>
                                          <p:attrName>style.visibility</p:attrName>
                                        </p:attrNameLst>
                                      </p:cBhvr>
                                      <p:to>
                                        <p:strVal val="visible"/>
                                      </p:to>
                                    </p:set>
                                    <p:anim calcmode="lin" valueType="num">
                                      <p:cBhvr>
                                        <p:cTn id="16" dur="500" fill="hold"/>
                                        <p:tgtEl>
                                          <p:spTgt spid="25607"/>
                                        </p:tgtEl>
                                        <p:attrNameLst>
                                          <p:attrName>ppt_x</p:attrName>
                                        </p:attrNameLst>
                                      </p:cBhvr>
                                      <p:tavLst>
                                        <p:tav tm="0">
                                          <p:val>
                                            <p:strVal val="#ppt_x-#ppt_w/2"/>
                                          </p:val>
                                        </p:tav>
                                        <p:tav tm="100000">
                                          <p:val>
                                            <p:strVal val="#ppt_x"/>
                                          </p:val>
                                        </p:tav>
                                      </p:tavLst>
                                    </p:anim>
                                    <p:anim calcmode="lin" valueType="num">
                                      <p:cBhvr>
                                        <p:cTn id="17" dur="500" fill="hold"/>
                                        <p:tgtEl>
                                          <p:spTgt spid="25607"/>
                                        </p:tgtEl>
                                        <p:attrNameLst>
                                          <p:attrName>ppt_y</p:attrName>
                                        </p:attrNameLst>
                                      </p:cBhvr>
                                      <p:tavLst>
                                        <p:tav tm="0">
                                          <p:val>
                                            <p:strVal val="#ppt_y"/>
                                          </p:val>
                                        </p:tav>
                                        <p:tav tm="100000">
                                          <p:val>
                                            <p:strVal val="#ppt_y"/>
                                          </p:val>
                                        </p:tav>
                                      </p:tavLst>
                                    </p:anim>
                                    <p:anim calcmode="lin" valueType="num">
                                      <p:cBhvr>
                                        <p:cTn id="18" dur="500" fill="hold"/>
                                        <p:tgtEl>
                                          <p:spTgt spid="25607"/>
                                        </p:tgtEl>
                                        <p:attrNameLst>
                                          <p:attrName>ppt_w</p:attrName>
                                        </p:attrNameLst>
                                      </p:cBhvr>
                                      <p:tavLst>
                                        <p:tav tm="0">
                                          <p:val>
                                            <p:fltVal val="0"/>
                                          </p:val>
                                        </p:tav>
                                        <p:tav tm="100000">
                                          <p:val>
                                            <p:strVal val="#ppt_w"/>
                                          </p:val>
                                        </p:tav>
                                      </p:tavLst>
                                    </p:anim>
                                    <p:anim calcmode="lin" valueType="num">
                                      <p:cBhvr>
                                        <p:cTn id="19" dur="500" fill="hold"/>
                                        <p:tgtEl>
                                          <p:spTgt spid="25607"/>
                                        </p:tgtEl>
                                        <p:attrNameLst>
                                          <p:attrName>ppt_h</p:attrName>
                                        </p:attrNameLst>
                                      </p:cBhvr>
                                      <p:tavLst>
                                        <p:tav tm="0">
                                          <p:val>
                                            <p:strVal val="#ppt_h"/>
                                          </p:val>
                                        </p:tav>
                                        <p:tav tm="100000">
                                          <p:val>
                                            <p:strVal val="#ppt_h"/>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4" presetClass="entr" presetSubtype="0" fill="hold" grpId="0" nodeType="clickEffect">
                                  <p:stCondLst>
                                    <p:cond delay="0"/>
                                  </p:stCondLst>
                                  <p:childTnLst>
                                    <p:set>
                                      <p:cBhvr>
                                        <p:cTn id="23" dur="1" fill="hold">
                                          <p:stCondLst>
                                            <p:cond delay="0"/>
                                          </p:stCondLst>
                                        </p:cTn>
                                        <p:tgtEl>
                                          <p:spTgt spid="38919"/>
                                        </p:tgtEl>
                                        <p:attrNameLst>
                                          <p:attrName>style.visibility</p:attrName>
                                        </p:attrNameLst>
                                      </p:cBhvr>
                                      <p:to>
                                        <p:strVal val="visible"/>
                                      </p:to>
                                    </p:set>
                                    <p:anim to="" calcmode="lin" valueType="num">
                                      <p:cBhvr>
                                        <p:cTn id="24" dur="1" fill="hold"/>
                                        <p:tgtEl>
                                          <p:spTgt spid="38919"/>
                                        </p:tgtEl>
                                        <p:attrNameLst>
                                          <p:attrName/>
                                        </p:attrNameLst>
                                      </p:cBhvr>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4" presetClass="entr" presetSubtype="0" fill="hold" grpId="0" nodeType="clickEffect">
                                  <p:stCondLst>
                                    <p:cond delay="0"/>
                                  </p:stCondLst>
                                  <p:childTnLst>
                                    <p:set>
                                      <p:cBhvr>
                                        <p:cTn id="28" dur="1" fill="hold">
                                          <p:stCondLst>
                                            <p:cond delay="0"/>
                                          </p:stCondLst>
                                        </p:cTn>
                                        <p:tgtEl>
                                          <p:spTgt spid="38921"/>
                                        </p:tgtEl>
                                        <p:attrNameLst>
                                          <p:attrName>style.visibility</p:attrName>
                                        </p:attrNameLst>
                                      </p:cBhvr>
                                      <p:to>
                                        <p:strVal val="visible"/>
                                      </p:to>
                                    </p:set>
                                    <p:anim to="" calcmode="lin" valueType="num">
                                      <p:cBhvr>
                                        <p:cTn id="29" dur="1" fill="hold"/>
                                        <p:tgtEl>
                                          <p:spTgt spid="3892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3" grpId="0" build="p"/>
      <p:bldP spid="38918" grpId="0" animBg="1"/>
      <p:bldP spid="38919" grpId="0" animBg="1"/>
      <p:bldP spid="25607" grpId="0" animBg="1"/>
      <p:bldP spid="3892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标题 1"/>
          <p:cNvSpPr>
            <a:spLocks noGrp="1"/>
          </p:cNvSpPr>
          <p:nvPr>
            <p:ph type="title"/>
          </p:nvPr>
        </p:nvSpPr>
        <p:spPr>
          <a:xfrm>
            <a:off x="700088" y="0"/>
            <a:ext cx="7772400" cy="695325"/>
          </a:xfrm>
        </p:spPr>
        <p:txBody>
          <a:bodyPr>
            <a:normAutofit fontScale="90000"/>
          </a:bodyPr>
          <a:lstStyle/>
          <a:p>
            <a:pPr algn="l"/>
            <a:r>
              <a:rPr lang="en-US" altLang="zh-CN" sz="4800" b="1" dirty="0">
                <a:solidFill>
                  <a:srgbClr val="CC0099"/>
                </a:solidFill>
                <a:ea typeface="隶书" pitchFamily="49" charset="-122"/>
              </a:rPr>
              <a:t>Sample</a:t>
            </a:r>
            <a:r>
              <a:rPr lang="zh-CN" altLang="en-US" sz="4800" b="1" dirty="0">
                <a:solidFill>
                  <a:srgbClr val="CC0099"/>
                </a:solidFill>
                <a:ea typeface="隶书" pitchFamily="49" charset="-122"/>
              </a:rPr>
              <a:t>语言文法描述</a:t>
            </a:r>
          </a:p>
        </p:txBody>
      </p:sp>
      <p:sp>
        <p:nvSpPr>
          <p:cNvPr id="41987" name="内容占位符 2"/>
          <p:cNvSpPr>
            <a:spLocks noGrp="1"/>
          </p:cNvSpPr>
          <p:nvPr>
            <p:ph idx="1"/>
          </p:nvPr>
        </p:nvSpPr>
        <p:spPr>
          <a:xfrm>
            <a:off x="168275" y="680831"/>
            <a:ext cx="8658225" cy="908050"/>
          </a:xfrm>
        </p:spPr>
        <p:txBody>
          <a:bodyPr>
            <a:normAutofit fontScale="92500" lnSpcReduction="20000"/>
          </a:bodyPr>
          <a:lstStyle/>
          <a:p>
            <a:r>
              <a:rPr lang="zh-CN" altLang="en-US" sz="2000" dirty="0"/>
              <a:t>进行语法分析之前，必须清晰地理解待编译的高级语言的语法结构</a:t>
            </a:r>
          </a:p>
          <a:p>
            <a:r>
              <a:rPr lang="zh-CN" altLang="en-US" sz="2000" dirty="0"/>
              <a:t>明确各种语法单位，如表达式、语句、函数、程序是如何构成的</a:t>
            </a:r>
          </a:p>
          <a:p>
            <a:r>
              <a:rPr lang="zh-CN" altLang="en-US" sz="2000" dirty="0"/>
              <a:t>并用形式化的方式表示为文法</a:t>
            </a:r>
          </a:p>
        </p:txBody>
      </p:sp>
      <p:sp>
        <p:nvSpPr>
          <p:cNvPr id="41988" name="Rectangle 2"/>
          <p:cNvSpPr>
            <a:spLocks noChangeArrowheads="1"/>
          </p:cNvSpPr>
          <p:nvPr/>
        </p:nvSpPr>
        <p:spPr bwMode="auto">
          <a:xfrm>
            <a:off x="881063" y="1784350"/>
            <a:ext cx="7945437" cy="2680494"/>
          </a:xfrm>
          <a:prstGeom prst="rect">
            <a:avLst/>
          </a:prstGeom>
          <a:solidFill>
            <a:schemeClr val="bg1"/>
          </a:solidFill>
          <a:ln w="38100">
            <a:solidFill>
              <a:srgbClr val="3366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r>
              <a:rPr lang="en-US" altLang="zh-CN" sz="1800" b="1" dirty="0">
                <a:solidFill>
                  <a:srgbClr val="FF3300"/>
                </a:solidFill>
                <a:sym typeface="Symbol" pitchFamily="18" charset="2"/>
              </a:rPr>
              <a:t>&lt;</a:t>
            </a:r>
            <a:r>
              <a:rPr lang="zh-CN" altLang="en-US" sz="1800" b="1" dirty="0">
                <a:solidFill>
                  <a:srgbClr val="FF3300"/>
                </a:solidFill>
                <a:sym typeface="Symbol" pitchFamily="18" charset="2"/>
              </a:rPr>
              <a:t>算术表达式</a:t>
            </a:r>
            <a:r>
              <a:rPr lang="en-US" altLang="zh-CN" sz="1800" b="1" dirty="0">
                <a:solidFill>
                  <a:srgbClr val="FF3300"/>
                </a:solidFill>
                <a:sym typeface="Symbol" pitchFamily="18" charset="2"/>
              </a:rPr>
              <a:t>&gt;→&lt;</a:t>
            </a:r>
            <a:r>
              <a:rPr lang="zh-CN" altLang="en-US" sz="1800" b="1" dirty="0">
                <a:solidFill>
                  <a:srgbClr val="FF3300"/>
                </a:solidFill>
                <a:sym typeface="Symbol" pitchFamily="18" charset="2"/>
              </a:rPr>
              <a:t>算术表达式</a:t>
            </a:r>
            <a:r>
              <a:rPr lang="en-US" altLang="zh-CN" sz="1800" b="1" dirty="0">
                <a:solidFill>
                  <a:srgbClr val="FF3300"/>
                </a:solidFill>
                <a:sym typeface="Symbol" pitchFamily="18" charset="2"/>
              </a:rPr>
              <a:t>&gt;+&lt;</a:t>
            </a:r>
            <a:r>
              <a:rPr lang="zh-CN" altLang="en-US" sz="1800" b="1" dirty="0">
                <a:solidFill>
                  <a:srgbClr val="FF3300"/>
                </a:solidFill>
                <a:sym typeface="Symbol" pitchFamily="18" charset="2"/>
              </a:rPr>
              <a:t>项</a:t>
            </a:r>
            <a:r>
              <a:rPr lang="en-US" altLang="zh-CN" sz="1800" b="1" dirty="0">
                <a:solidFill>
                  <a:srgbClr val="FF0000"/>
                </a:solidFill>
                <a:sym typeface="Symbol" pitchFamily="18" charset="2"/>
              </a:rPr>
              <a:t>&gt;</a:t>
            </a:r>
            <a:r>
              <a:rPr lang="en-US" altLang="zh-CN" sz="1800" b="1" dirty="0">
                <a:sym typeface="Symbol" pitchFamily="18" charset="2"/>
              </a:rPr>
              <a:t>|&lt;</a:t>
            </a:r>
            <a:r>
              <a:rPr lang="zh-CN" altLang="en-US" sz="1800" b="1" dirty="0">
                <a:sym typeface="Symbol" pitchFamily="18" charset="2"/>
              </a:rPr>
              <a:t>算术表达式</a:t>
            </a:r>
            <a:r>
              <a:rPr lang="en-US" altLang="zh-CN" sz="1800" b="1" dirty="0">
                <a:sym typeface="Symbol" pitchFamily="18" charset="2"/>
              </a:rPr>
              <a:t>&gt;-&lt;</a:t>
            </a:r>
            <a:r>
              <a:rPr lang="zh-CN" altLang="en-US" sz="1800" b="1" dirty="0">
                <a:sym typeface="Symbol" pitchFamily="18" charset="2"/>
              </a:rPr>
              <a:t>项</a:t>
            </a:r>
            <a:r>
              <a:rPr lang="en-US" altLang="zh-CN" sz="1800" b="1" dirty="0">
                <a:sym typeface="Symbol" pitchFamily="18" charset="2"/>
              </a:rPr>
              <a:t>&gt; </a:t>
            </a:r>
            <a:r>
              <a:rPr lang="en-US" altLang="zh-CN" sz="1800" b="1" dirty="0">
                <a:solidFill>
                  <a:srgbClr val="FF3300"/>
                </a:solidFill>
                <a:sym typeface="Symbol" pitchFamily="18" charset="2"/>
              </a:rPr>
              <a:t>| &lt;</a:t>
            </a:r>
            <a:r>
              <a:rPr lang="zh-CN" altLang="en-US" sz="1800" b="1" dirty="0">
                <a:solidFill>
                  <a:srgbClr val="FF3300"/>
                </a:solidFill>
                <a:sym typeface="Symbol" pitchFamily="18" charset="2"/>
              </a:rPr>
              <a:t>项</a:t>
            </a:r>
            <a:r>
              <a:rPr lang="en-US" altLang="zh-CN" sz="1800" b="1" dirty="0">
                <a:solidFill>
                  <a:srgbClr val="FF3300"/>
                </a:solidFill>
                <a:sym typeface="Symbol" pitchFamily="18" charset="2"/>
              </a:rPr>
              <a:t>&gt;</a:t>
            </a:r>
            <a:r>
              <a:rPr lang="en-US" altLang="zh-CN" sz="1800" b="1" dirty="0">
                <a:sym typeface="Symbol" pitchFamily="18" charset="2"/>
              </a:rPr>
              <a:t> </a:t>
            </a:r>
          </a:p>
          <a:p>
            <a:r>
              <a:rPr lang="en-US" altLang="zh-CN" sz="1800" b="1" dirty="0">
                <a:solidFill>
                  <a:srgbClr val="FF3300"/>
                </a:solidFill>
                <a:sym typeface="Symbol" pitchFamily="18" charset="2"/>
              </a:rPr>
              <a:t>&lt;</a:t>
            </a:r>
            <a:r>
              <a:rPr lang="zh-CN" altLang="en-US" sz="1800" b="1" dirty="0">
                <a:solidFill>
                  <a:srgbClr val="FF3300"/>
                </a:solidFill>
                <a:sym typeface="Symbol" pitchFamily="18" charset="2"/>
              </a:rPr>
              <a:t>项</a:t>
            </a:r>
            <a:r>
              <a:rPr lang="en-US" altLang="zh-CN" sz="1800" b="1" dirty="0">
                <a:solidFill>
                  <a:srgbClr val="FF3300"/>
                </a:solidFill>
                <a:sym typeface="Symbol" pitchFamily="18" charset="2"/>
              </a:rPr>
              <a:t>&gt;→&lt;</a:t>
            </a:r>
            <a:r>
              <a:rPr lang="zh-CN" altLang="en-US" sz="1800" b="1" dirty="0">
                <a:solidFill>
                  <a:srgbClr val="FF3300"/>
                </a:solidFill>
                <a:sym typeface="Symbol" pitchFamily="18" charset="2"/>
              </a:rPr>
              <a:t>项</a:t>
            </a:r>
            <a:r>
              <a:rPr lang="en-US" altLang="zh-CN" sz="1800" b="1" dirty="0">
                <a:solidFill>
                  <a:srgbClr val="FF3300"/>
                </a:solidFill>
                <a:sym typeface="Symbol" pitchFamily="18" charset="2"/>
              </a:rPr>
              <a:t>&gt;*&lt;</a:t>
            </a:r>
            <a:r>
              <a:rPr lang="zh-CN" altLang="en-US" sz="1800" b="1" dirty="0">
                <a:solidFill>
                  <a:srgbClr val="FF3300"/>
                </a:solidFill>
                <a:sym typeface="Symbol" pitchFamily="18" charset="2"/>
              </a:rPr>
              <a:t>因子</a:t>
            </a:r>
            <a:r>
              <a:rPr lang="en-US" altLang="zh-CN" sz="1800" b="1" dirty="0">
                <a:solidFill>
                  <a:srgbClr val="FF3300"/>
                </a:solidFill>
                <a:sym typeface="Symbol" pitchFamily="18" charset="2"/>
              </a:rPr>
              <a:t>&gt;</a:t>
            </a:r>
            <a:r>
              <a:rPr lang="en-US" altLang="zh-CN" sz="1800" b="1" dirty="0">
                <a:sym typeface="Symbol" pitchFamily="18" charset="2"/>
              </a:rPr>
              <a:t>|&lt;</a:t>
            </a:r>
            <a:r>
              <a:rPr lang="zh-CN" altLang="en-US" sz="1800" b="1" dirty="0">
                <a:sym typeface="Symbol" pitchFamily="18" charset="2"/>
              </a:rPr>
              <a:t>项</a:t>
            </a:r>
            <a:r>
              <a:rPr lang="en-US" altLang="zh-CN" sz="1800" b="1" dirty="0">
                <a:sym typeface="Symbol" pitchFamily="18" charset="2"/>
              </a:rPr>
              <a:t>&gt;/&lt;</a:t>
            </a:r>
            <a:r>
              <a:rPr lang="zh-CN" altLang="en-US" sz="1800" b="1" dirty="0">
                <a:sym typeface="Symbol" pitchFamily="18" charset="2"/>
              </a:rPr>
              <a:t>因子</a:t>
            </a:r>
            <a:r>
              <a:rPr lang="en-US" altLang="zh-CN" sz="1800" b="1" dirty="0">
                <a:sym typeface="Symbol" pitchFamily="18" charset="2"/>
              </a:rPr>
              <a:t>&gt;|&lt;</a:t>
            </a:r>
            <a:r>
              <a:rPr lang="zh-CN" altLang="en-US" sz="1800" b="1" dirty="0">
                <a:sym typeface="Symbol" pitchFamily="18" charset="2"/>
              </a:rPr>
              <a:t>因子</a:t>
            </a:r>
            <a:r>
              <a:rPr lang="en-US" altLang="zh-CN" sz="1800" b="1" dirty="0">
                <a:sym typeface="Symbol" pitchFamily="18" charset="2"/>
              </a:rPr>
              <a:t>&gt;%&lt;</a:t>
            </a:r>
            <a:r>
              <a:rPr lang="zh-CN" altLang="en-US" sz="1800" b="1" dirty="0">
                <a:sym typeface="Symbol" pitchFamily="18" charset="2"/>
              </a:rPr>
              <a:t>因子</a:t>
            </a:r>
            <a:r>
              <a:rPr lang="en-US" altLang="zh-CN" sz="1800" b="1" dirty="0">
                <a:sym typeface="Symbol" pitchFamily="18" charset="2"/>
              </a:rPr>
              <a:t>&gt;</a:t>
            </a:r>
            <a:r>
              <a:rPr lang="en-US" altLang="zh-CN" sz="1800" b="1" dirty="0">
                <a:solidFill>
                  <a:srgbClr val="FF3300"/>
                </a:solidFill>
                <a:sym typeface="Symbol" pitchFamily="18" charset="2"/>
              </a:rPr>
              <a:t>|&lt;</a:t>
            </a:r>
            <a:r>
              <a:rPr lang="zh-CN" altLang="en-US" sz="1800" b="1" dirty="0">
                <a:solidFill>
                  <a:srgbClr val="FF3300"/>
                </a:solidFill>
                <a:sym typeface="Symbol" pitchFamily="18" charset="2"/>
              </a:rPr>
              <a:t>因子</a:t>
            </a:r>
            <a:r>
              <a:rPr lang="en-US" altLang="zh-CN" sz="1800" b="1" dirty="0">
                <a:solidFill>
                  <a:srgbClr val="FF3300"/>
                </a:solidFill>
                <a:sym typeface="Symbol" pitchFamily="18" charset="2"/>
              </a:rPr>
              <a:t>&gt;</a:t>
            </a:r>
          </a:p>
          <a:p>
            <a:r>
              <a:rPr lang="en-US" altLang="zh-CN" sz="1800" b="1" dirty="0">
                <a:solidFill>
                  <a:srgbClr val="FF3300"/>
                </a:solidFill>
                <a:sym typeface="Symbol" pitchFamily="18" charset="2"/>
              </a:rPr>
              <a:t>&lt;</a:t>
            </a:r>
            <a:r>
              <a:rPr lang="zh-CN" altLang="en-US" sz="1800" b="1" dirty="0">
                <a:solidFill>
                  <a:srgbClr val="FF3300"/>
                </a:solidFill>
                <a:sym typeface="Symbol" pitchFamily="18" charset="2"/>
              </a:rPr>
              <a:t>因子</a:t>
            </a:r>
            <a:r>
              <a:rPr lang="en-US" altLang="zh-CN" sz="1800" b="1" dirty="0">
                <a:solidFill>
                  <a:srgbClr val="FF3300"/>
                </a:solidFill>
                <a:sym typeface="Symbol" pitchFamily="18" charset="2"/>
              </a:rPr>
              <a:t>&gt;→(&lt;</a:t>
            </a:r>
            <a:r>
              <a:rPr lang="zh-CN" altLang="en-US" sz="1800" b="1" dirty="0">
                <a:solidFill>
                  <a:srgbClr val="FF3300"/>
                </a:solidFill>
                <a:sym typeface="Symbol" pitchFamily="18" charset="2"/>
              </a:rPr>
              <a:t>算术表达式</a:t>
            </a:r>
            <a:r>
              <a:rPr lang="en-US" altLang="zh-CN" sz="1800" b="1" dirty="0">
                <a:solidFill>
                  <a:srgbClr val="FF3300"/>
                </a:solidFill>
                <a:sym typeface="Symbol" pitchFamily="18" charset="2"/>
              </a:rPr>
              <a:t>&gt;)</a:t>
            </a:r>
            <a:r>
              <a:rPr lang="en-US" altLang="zh-CN" sz="1800" b="1" dirty="0">
                <a:sym typeface="Symbol" pitchFamily="18" charset="2"/>
              </a:rPr>
              <a:t>|&lt;</a:t>
            </a:r>
            <a:r>
              <a:rPr lang="zh-CN" altLang="en-US" sz="1800" b="1" dirty="0">
                <a:sym typeface="Symbol" pitchFamily="18" charset="2"/>
              </a:rPr>
              <a:t>常量</a:t>
            </a:r>
            <a:r>
              <a:rPr lang="en-US" altLang="zh-CN" sz="1800" b="1" dirty="0">
                <a:sym typeface="Symbol" pitchFamily="18" charset="2"/>
              </a:rPr>
              <a:t>&gt;</a:t>
            </a:r>
            <a:r>
              <a:rPr lang="en-US" altLang="zh-CN" sz="1800" b="1" dirty="0">
                <a:solidFill>
                  <a:srgbClr val="FF3300"/>
                </a:solidFill>
                <a:sym typeface="Symbol" pitchFamily="18" charset="2"/>
              </a:rPr>
              <a:t>|&lt;</a:t>
            </a:r>
            <a:r>
              <a:rPr lang="zh-CN" altLang="en-US" sz="1800" b="1" dirty="0">
                <a:solidFill>
                  <a:srgbClr val="FF3300"/>
                </a:solidFill>
                <a:sym typeface="Symbol" pitchFamily="18" charset="2"/>
              </a:rPr>
              <a:t>变量</a:t>
            </a:r>
            <a:r>
              <a:rPr lang="en-US" altLang="zh-CN" sz="1800" b="1" dirty="0">
                <a:solidFill>
                  <a:srgbClr val="FF3300"/>
                </a:solidFill>
                <a:sym typeface="Symbol" pitchFamily="18" charset="2"/>
              </a:rPr>
              <a:t>&gt;</a:t>
            </a:r>
            <a:r>
              <a:rPr lang="en-US" altLang="zh-CN" sz="1800" b="1" dirty="0">
                <a:sym typeface="Symbol" pitchFamily="18" charset="2"/>
              </a:rPr>
              <a:t>|&lt;</a:t>
            </a:r>
            <a:r>
              <a:rPr lang="zh-CN" altLang="en-US" sz="1800" b="1" dirty="0">
                <a:sym typeface="Symbol" pitchFamily="18" charset="2"/>
              </a:rPr>
              <a:t>函数调用</a:t>
            </a:r>
            <a:r>
              <a:rPr lang="en-US" altLang="zh-CN" sz="1800" b="1" dirty="0">
                <a:sym typeface="Symbol" pitchFamily="18" charset="2"/>
              </a:rPr>
              <a:t>&gt;</a:t>
            </a:r>
          </a:p>
          <a:p>
            <a:r>
              <a:rPr lang="en-US" altLang="zh-CN" sz="1800" b="1" dirty="0">
                <a:sym typeface="Symbol" pitchFamily="18" charset="2"/>
              </a:rPr>
              <a:t>&lt;</a:t>
            </a:r>
            <a:r>
              <a:rPr lang="zh-CN" altLang="en-US" sz="1800" b="1" dirty="0">
                <a:sym typeface="Symbol" pitchFamily="18" charset="2"/>
              </a:rPr>
              <a:t>常量</a:t>
            </a:r>
            <a:r>
              <a:rPr lang="en-US" altLang="zh-CN" sz="1800" b="1" dirty="0">
                <a:sym typeface="Symbol" pitchFamily="18" charset="2"/>
              </a:rPr>
              <a:t>&gt;→&lt;</a:t>
            </a:r>
            <a:r>
              <a:rPr lang="zh-CN" altLang="en-US" sz="1800" b="1" dirty="0">
                <a:sym typeface="Symbol" pitchFamily="18" charset="2"/>
              </a:rPr>
              <a:t>数值型常量</a:t>
            </a:r>
            <a:r>
              <a:rPr lang="en-US" altLang="zh-CN" sz="1800" b="1" dirty="0">
                <a:sym typeface="Symbol" pitchFamily="18" charset="2"/>
              </a:rPr>
              <a:t>&gt;|&lt;</a:t>
            </a:r>
            <a:r>
              <a:rPr lang="zh-CN" altLang="en-US" sz="1800" b="1" dirty="0">
                <a:sym typeface="Symbol" pitchFamily="18" charset="2"/>
              </a:rPr>
              <a:t>字符型常量</a:t>
            </a:r>
            <a:r>
              <a:rPr lang="en-US" altLang="zh-CN" sz="1800" b="1" dirty="0">
                <a:sym typeface="Symbol" pitchFamily="18" charset="2"/>
              </a:rPr>
              <a:t>&gt;</a:t>
            </a:r>
          </a:p>
          <a:p>
            <a:r>
              <a:rPr lang="en-US" altLang="zh-CN" sz="1800" b="1" dirty="0">
                <a:sym typeface="Symbol" pitchFamily="18" charset="2"/>
              </a:rPr>
              <a:t>&lt;</a:t>
            </a:r>
            <a:r>
              <a:rPr lang="zh-CN" altLang="en-US" sz="1800" b="1" dirty="0">
                <a:sym typeface="Symbol" pitchFamily="18" charset="2"/>
              </a:rPr>
              <a:t>变量</a:t>
            </a:r>
            <a:r>
              <a:rPr lang="en-US" altLang="zh-CN" sz="1800" b="1" dirty="0">
                <a:sym typeface="Symbol" pitchFamily="18" charset="2"/>
              </a:rPr>
              <a:t>&gt;→&lt;</a:t>
            </a:r>
            <a:r>
              <a:rPr lang="zh-CN" altLang="en-US" sz="1800" b="1" dirty="0">
                <a:sym typeface="Symbol" pitchFamily="18" charset="2"/>
              </a:rPr>
              <a:t>标识符</a:t>
            </a:r>
            <a:r>
              <a:rPr lang="en-US" altLang="zh-CN" sz="1800" b="1" dirty="0">
                <a:sym typeface="Symbol" pitchFamily="18" charset="2"/>
              </a:rPr>
              <a:t>&gt;</a:t>
            </a:r>
          </a:p>
          <a:p>
            <a:r>
              <a:rPr lang="en-US" altLang="zh-CN" sz="1800" b="1" dirty="0">
                <a:sym typeface="Symbol" pitchFamily="18" charset="2"/>
              </a:rPr>
              <a:t>&lt;</a:t>
            </a:r>
            <a:r>
              <a:rPr lang="zh-CN" altLang="en-US" sz="1800" b="1" dirty="0">
                <a:sym typeface="Symbol" pitchFamily="18" charset="2"/>
              </a:rPr>
              <a:t>函数调用</a:t>
            </a:r>
            <a:r>
              <a:rPr lang="en-US" altLang="zh-CN" sz="1800" b="1" dirty="0">
                <a:sym typeface="Symbol" pitchFamily="18" charset="2"/>
              </a:rPr>
              <a:t>&gt;→&lt;</a:t>
            </a:r>
            <a:r>
              <a:rPr lang="zh-CN" altLang="en-US" sz="1800" b="1" dirty="0">
                <a:sym typeface="Symbol" pitchFamily="18" charset="2"/>
              </a:rPr>
              <a:t>标识符</a:t>
            </a:r>
            <a:r>
              <a:rPr lang="en-US" altLang="zh-CN" sz="1800" b="1" dirty="0">
                <a:sym typeface="Symbol" pitchFamily="18" charset="2"/>
              </a:rPr>
              <a:t>&gt;(&lt;</a:t>
            </a:r>
            <a:r>
              <a:rPr lang="zh-CN" altLang="en-US" sz="1800" b="1" dirty="0">
                <a:sym typeface="Symbol" pitchFamily="18" charset="2"/>
              </a:rPr>
              <a:t>实参列表</a:t>
            </a:r>
            <a:r>
              <a:rPr lang="en-US" altLang="zh-CN" sz="1800" b="1" dirty="0">
                <a:sym typeface="Symbol" pitchFamily="18" charset="2"/>
              </a:rPr>
              <a:t>&gt;)</a:t>
            </a:r>
          </a:p>
          <a:p>
            <a:r>
              <a:rPr lang="en-US" altLang="zh-CN" sz="1800" b="1" dirty="0">
                <a:sym typeface="Symbol" pitchFamily="18" charset="2"/>
              </a:rPr>
              <a:t>&lt;</a:t>
            </a:r>
            <a:r>
              <a:rPr lang="zh-CN" altLang="en-US" sz="1800" b="1" dirty="0">
                <a:sym typeface="Symbol" pitchFamily="18" charset="2"/>
              </a:rPr>
              <a:t>实参列表</a:t>
            </a:r>
            <a:r>
              <a:rPr lang="en-US" altLang="zh-CN" sz="1800" b="1" dirty="0">
                <a:sym typeface="Symbol" pitchFamily="18" charset="2"/>
              </a:rPr>
              <a:t>&gt;→&lt;</a:t>
            </a:r>
            <a:r>
              <a:rPr lang="zh-CN" altLang="en-US" sz="1800" b="1" dirty="0">
                <a:sym typeface="Symbol" pitchFamily="18" charset="2"/>
              </a:rPr>
              <a:t>实参</a:t>
            </a:r>
            <a:r>
              <a:rPr lang="en-US" altLang="zh-CN" sz="1800" b="1" dirty="0">
                <a:sym typeface="Symbol" pitchFamily="18" charset="2"/>
              </a:rPr>
              <a:t>&gt;|</a:t>
            </a:r>
          </a:p>
          <a:p>
            <a:r>
              <a:rPr lang="en-US" altLang="zh-CN" sz="1800" b="1" dirty="0">
                <a:sym typeface="Symbol" pitchFamily="18" charset="2"/>
              </a:rPr>
              <a:t>&lt;</a:t>
            </a:r>
            <a:r>
              <a:rPr lang="zh-CN" altLang="en-US" sz="1800" b="1" dirty="0">
                <a:sym typeface="Symbol" pitchFamily="18" charset="2"/>
              </a:rPr>
              <a:t>实参</a:t>
            </a:r>
            <a:r>
              <a:rPr lang="en-US" altLang="zh-CN" sz="1800" b="1" dirty="0">
                <a:sym typeface="Symbol" pitchFamily="18" charset="2"/>
              </a:rPr>
              <a:t>&gt;→&lt;</a:t>
            </a:r>
            <a:r>
              <a:rPr lang="zh-CN" altLang="en-US" sz="1800" b="1" dirty="0">
                <a:sym typeface="Symbol" pitchFamily="18" charset="2"/>
              </a:rPr>
              <a:t>表达式</a:t>
            </a:r>
            <a:r>
              <a:rPr lang="en-US" altLang="zh-CN" sz="1800" b="1" dirty="0">
                <a:sym typeface="Symbol" pitchFamily="18" charset="2"/>
              </a:rPr>
              <a:t>&gt;|&lt;</a:t>
            </a:r>
            <a:r>
              <a:rPr lang="zh-CN" altLang="en-US" sz="1800" b="1" dirty="0">
                <a:sym typeface="Symbol" pitchFamily="18" charset="2"/>
              </a:rPr>
              <a:t>表达式</a:t>
            </a:r>
            <a:r>
              <a:rPr lang="en-US" altLang="zh-CN" sz="1800" b="1" dirty="0">
                <a:sym typeface="Symbol" pitchFamily="18" charset="2"/>
              </a:rPr>
              <a:t>&gt;,&lt;</a:t>
            </a:r>
            <a:r>
              <a:rPr lang="zh-CN" altLang="en-US" sz="1800" b="1" dirty="0">
                <a:sym typeface="Symbol" pitchFamily="18" charset="2"/>
              </a:rPr>
              <a:t>实参</a:t>
            </a:r>
            <a:r>
              <a:rPr lang="en-US" altLang="zh-CN" sz="1800" b="1" dirty="0">
                <a:sym typeface="Symbol" pitchFamily="18" charset="2"/>
              </a:rPr>
              <a:t>&gt;</a:t>
            </a:r>
            <a:r>
              <a:rPr lang="en-US" altLang="zh-CN" sz="1800" dirty="0">
                <a:sym typeface="Symbol" pitchFamily="18" charset="2"/>
              </a:rPr>
              <a:t> </a:t>
            </a:r>
          </a:p>
        </p:txBody>
      </p:sp>
      <p:sp>
        <p:nvSpPr>
          <p:cNvPr id="39942" name="Rectangle 2"/>
          <p:cNvSpPr>
            <a:spLocks noChangeArrowheads="1"/>
          </p:cNvSpPr>
          <p:nvPr/>
        </p:nvSpPr>
        <p:spPr bwMode="auto">
          <a:xfrm>
            <a:off x="6656388" y="3786188"/>
            <a:ext cx="2149475" cy="1357312"/>
          </a:xfrm>
          <a:prstGeom prst="rect">
            <a:avLst/>
          </a:prstGeom>
          <a:solidFill>
            <a:schemeClr val="bg1"/>
          </a:solidFill>
          <a:ln w="38100">
            <a:solidFill>
              <a:srgbClr val="FF00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FontTx/>
              <a:buNone/>
            </a:pPr>
            <a:r>
              <a:rPr lang="en-US" altLang="zh-CN" sz="2400" dirty="0"/>
              <a:t>E→E+T | T</a:t>
            </a:r>
          </a:p>
          <a:p>
            <a:pPr>
              <a:buFontTx/>
              <a:buNone/>
            </a:pPr>
            <a:r>
              <a:rPr lang="en-US" altLang="zh-CN" sz="2400" dirty="0"/>
              <a:t>T→T*F | F</a:t>
            </a:r>
          </a:p>
          <a:p>
            <a:pPr>
              <a:buFontTx/>
              <a:buNone/>
            </a:pPr>
            <a:r>
              <a:rPr lang="en-US" altLang="zh-CN" sz="2400" dirty="0"/>
              <a:t>F→(E) | </a:t>
            </a:r>
            <a:r>
              <a:rPr lang="en-US" altLang="zh-CN" sz="2400" dirty="0" err="1"/>
              <a:t>i</a:t>
            </a:r>
            <a:endParaRPr lang="en-US" altLang="zh-CN" sz="2400" dirty="0"/>
          </a:p>
        </p:txBody>
      </p:sp>
      <p:sp>
        <p:nvSpPr>
          <p:cNvPr id="25607" name="AutoShape 7"/>
          <p:cNvSpPr>
            <a:spLocks noChangeArrowheads="1"/>
          </p:cNvSpPr>
          <p:nvPr/>
        </p:nvSpPr>
        <p:spPr bwMode="auto">
          <a:xfrm>
            <a:off x="4068418" y="4482790"/>
            <a:ext cx="2389188" cy="560388"/>
          </a:xfrm>
          <a:prstGeom prst="rightArrow">
            <a:avLst>
              <a:gd name="adj1" fmla="val 50000"/>
              <a:gd name="adj2" fmla="val 65176"/>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000" dirty="0">
                <a:ea typeface="华文行楷" pitchFamily="2" charset="-122"/>
              </a:rPr>
              <a:t>红色部分写为</a:t>
            </a:r>
          </a:p>
        </p:txBody>
      </p:sp>
      <p:sp>
        <p:nvSpPr>
          <p:cNvPr id="2" name="矩形 1"/>
          <p:cNvSpPr/>
          <p:nvPr/>
        </p:nvSpPr>
        <p:spPr>
          <a:xfrm>
            <a:off x="1763688" y="1491630"/>
            <a:ext cx="378630" cy="523220"/>
          </a:xfrm>
          <a:prstGeom prst="rect">
            <a:avLst/>
          </a:prstGeom>
        </p:spPr>
        <p:txBody>
          <a:bodyPr wrap="none">
            <a:spAutoFit/>
          </a:bodyPr>
          <a:lstStyle/>
          <a:p>
            <a:r>
              <a:rPr lang="en-US" altLang="zh-CN" sz="2800" b="1" dirty="0">
                <a:solidFill>
                  <a:srgbClr val="CC00FF"/>
                </a:solidFill>
              </a:rPr>
              <a:t>E</a:t>
            </a:r>
            <a:endParaRPr lang="zh-CN" altLang="en-US" sz="2400" b="1" dirty="0">
              <a:solidFill>
                <a:srgbClr val="CC00FF"/>
              </a:solidFill>
            </a:endParaRPr>
          </a:p>
        </p:txBody>
      </p:sp>
      <p:sp>
        <p:nvSpPr>
          <p:cNvPr id="8" name="矩形 7"/>
          <p:cNvSpPr/>
          <p:nvPr/>
        </p:nvSpPr>
        <p:spPr>
          <a:xfrm>
            <a:off x="4551808" y="1534021"/>
            <a:ext cx="380232" cy="461665"/>
          </a:xfrm>
          <a:prstGeom prst="rect">
            <a:avLst/>
          </a:prstGeom>
        </p:spPr>
        <p:txBody>
          <a:bodyPr wrap="none">
            <a:spAutoFit/>
          </a:bodyPr>
          <a:lstStyle/>
          <a:p>
            <a:r>
              <a:rPr lang="en-US" altLang="zh-CN" sz="2400" b="1" dirty="0">
                <a:solidFill>
                  <a:srgbClr val="CC00FF"/>
                </a:solidFill>
              </a:rPr>
              <a:t>T</a:t>
            </a:r>
            <a:endParaRPr lang="zh-CN" altLang="en-US" sz="2400" b="1" dirty="0">
              <a:solidFill>
                <a:srgbClr val="CC00FF"/>
              </a:solidFill>
            </a:endParaRPr>
          </a:p>
        </p:txBody>
      </p:sp>
      <p:sp>
        <p:nvSpPr>
          <p:cNvPr id="9" name="矩形 8"/>
          <p:cNvSpPr/>
          <p:nvPr/>
        </p:nvSpPr>
        <p:spPr>
          <a:xfrm>
            <a:off x="7020272" y="2090070"/>
            <a:ext cx="349776" cy="461665"/>
          </a:xfrm>
          <a:prstGeom prst="rect">
            <a:avLst/>
          </a:prstGeom>
        </p:spPr>
        <p:txBody>
          <a:bodyPr wrap="none">
            <a:spAutoFit/>
          </a:bodyPr>
          <a:lstStyle/>
          <a:p>
            <a:r>
              <a:rPr lang="en-US" altLang="zh-CN" sz="2400" b="1" dirty="0">
                <a:solidFill>
                  <a:srgbClr val="CC00FF"/>
                </a:solidFill>
              </a:rPr>
              <a:t>F</a:t>
            </a:r>
            <a:endParaRPr lang="zh-CN" altLang="en-US" sz="2400" b="1" dirty="0">
              <a:solidFill>
                <a:srgbClr val="CC00FF"/>
              </a:solidFill>
            </a:endParaRPr>
          </a:p>
        </p:txBody>
      </p:sp>
    </p:spTree>
    <p:extLst>
      <p:ext uri="{BB962C8B-B14F-4D97-AF65-F5344CB8AC3E}">
        <p14:creationId xmlns:p14="http://schemas.microsoft.com/office/powerpoint/2010/main" val="1594859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98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98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198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198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1+#ppt_w/2"/>
                                          </p:val>
                                        </p:tav>
                                        <p:tav tm="100000">
                                          <p:val>
                                            <p:strVal val="#ppt_x"/>
                                          </p:val>
                                        </p:tav>
                                      </p:tavLst>
                                    </p:anim>
                                    <p:anim calcmode="lin" valueType="num">
                                      <p:cBhvr additive="base">
                                        <p:cTn id="24"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3"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1+#ppt_w/2"/>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3"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1+#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560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99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7" grpId="0" build="p"/>
      <p:bldP spid="41988" grpId="0" animBg="1"/>
      <p:bldP spid="39942" grpId="0" animBg="1"/>
      <p:bldP spid="25607" grpId="0" animBg="1"/>
      <p:bldP spid="2" grpId="0"/>
      <p:bldP spid="8" grpId="0"/>
      <p:bldP spid="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endParaRPr lang="zh-CN" altLang="en-US"/>
          </a:p>
        </p:txBody>
      </p:sp>
      <p:sp>
        <p:nvSpPr>
          <p:cNvPr id="4" name="Rectangle 2"/>
          <p:cNvSpPr>
            <a:spLocks noGrp="1" noChangeArrowheads="1"/>
          </p:cNvSpPr>
          <p:nvPr>
            <p:ph type="title"/>
          </p:nvPr>
        </p:nvSpPr>
        <p:spPr/>
        <p:txBody>
          <a:bodyPr/>
          <a:lstStyle/>
          <a:p>
            <a:pPr eaLnBrk="1" hangingPunct="1"/>
            <a:r>
              <a:rPr lang="en-US" altLang="zh-CN" b="1" dirty="0">
                <a:solidFill>
                  <a:srgbClr val="CC0099"/>
                </a:solidFill>
                <a:ea typeface="隶书" pitchFamily="49" charset="-122"/>
              </a:rPr>
              <a:t>3.3 </a:t>
            </a:r>
            <a:r>
              <a:rPr lang="zh-CN" altLang="en-US" b="1" dirty="0">
                <a:solidFill>
                  <a:srgbClr val="CC0099"/>
                </a:solidFill>
                <a:ea typeface="隶书" pitchFamily="49" charset="-122"/>
              </a:rPr>
              <a:t>自上而下语法分析</a:t>
            </a:r>
          </a:p>
        </p:txBody>
      </p:sp>
    </p:spTree>
    <p:extLst>
      <p:ext uri="{BB962C8B-B14F-4D97-AF65-F5344CB8AC3E}">
        <p14:creationId xmlns:p14="http://schemas.microsoft.com/office/powerpoint/2010/main" val="177284084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5559535" cy="769441"/>
          </a:xfrm>
          <a:prstGeom prst="rect">
            <a:avLst/>
          </a:prstGeom>
        </p:spPr>
        <p:txBody>
          <a:bodyPr wrap="none">
            <a:spAutoFit/>
          </a:bodyPr>
          <a:lstStyle/>
          <a:p>
            <a:r>
              <a:rPr lang="en-US" altLang="zh-CN" sz="4400" b="1" dirty="0">
                <a:solidFill>
                  <a:srgbClr val="CC0099"/>
                </a:solidFill>
                <a:ea typeface="隶书" pitchFamily="49" charset="-122"/>
              </a:rPr>
              <a:t>1</a:t>
            </a:r>
            <a:r>
              <a:rPr lang="zh-CN" altLang="en-US" sz="4400" b="1" dirty="0">
                <a:solidFill>
                  <a:srgbClr val="CC0099"/>
                </a:solidFill>
                <a:ea typeface="隶书" pitchFamily="49" charset="-122"/>
              </a:rPr>
              <a:t>、自上而下语法分析</a:t>
            </a:r>
            <a:endParaRPr lang="zh-CN" altLang="en-US" sz="4400" dirty="0"/>
          </a:p>
        </p:txBody>
      </p:sp>
    </p:spTree>
    <p:extLst>
      <p:ext uri="{BB962C8B-B14F-4D97-AF65-F5344CB8AC3E}">
        <p14:creationId xmlns:p14="http://schemas.microsoft.com/office/powerpoint/2010/main" val="140870528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2" name="Object 7"/>
          <p:cNvGraphicFramePr>
            <a:graphicFrameLocks noChangeAspect="1"/>
          </p:cNvGraphicFramePr>
          <p:nvPr>
            <p:extLst>
              <p:ext uri="{D42A27DB-BD31-4B8C-83A1-F6EECF244321}">
                <p14:modId xmlns:p14="http://schemas.microsoft.com/office/powerpoint/2010/main" val="410610247"/>
              </p:ext>
            </p:extLst>
          </p:nvPr>
        </p:nvGraphicFramePr>
        <p:xfrm>
          <a:off x="6840897" y="877941"/>
          <a:ext cx="1979575" cy="2079154"/>
        </p:xfrm>
        <a:graphic>
          <a:graphicData uri="http://schemas.openxmlformats.org/presentationml/2006/ole">
            <mc:AlternateContent xmlns:mc="http://schemas.openxmlformats.org/markup-compatibility/2006">
              <mc:Choice xmlns:v="urn:schemas-microsoft-com:vml" Requires="v">
                <p:oleObj spid="_x0000_s8199" name="位图图像" r:id="rId3" imgW="1619476" imgH="1800476" progId="PBrush">
                  <p:embed/>
                </p:oleObj>
              </mc:Choice>
              <mc:Fallback>
                <p:oleObj name="位图图像" r:id="rId3" imgW="1619476" imgH="1800476" progId="PBrush">
                  <p:embed/>
                  <p:pic>
                    <p:nvPicPr>
                      <p:cNvPr id="12"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0897" y="877941"/>
                        <a:ext cx="1979575" cy="2079154"/>
                      </a:xfrm>
                      <a:prstGeom prst="rect">
                        <a:avLst/>
                      </a:prstGeom>
                      <a:noFill/>
                      <a:ln w="38100">
                        <a:solidFill>
                          <a:srgbClr val="00B050"/>
                        </a:solidFill>
                      </a:ln>
                    </p:spPr>
                  </p:pic>
                </p:oleObj>
              </mc:Fallback>
            </mc:AlternateContent>
          </a:graphicData>
        </a:graphic>
      </p:graphicFrame>
      <p:sp>
        <p:nvSpPr>
          <p:cNvPr id="43010" name="Rectangle 2"/>
          <p:cNvSpPr>
            <a:spLocks noGrp="1" noChangeArrowheads="1"/>
          </p:cNvSpPr>
          <p:nvPr>
            <p:ph type="title"/>
          </p:nvPr>
        </p:nvSpPr>
        <p:spPr>
          <a:xfrm>
            <a:off x="179512" y="-24999"/>
            <a:ext cx="4860032" cy="744116"/>
          </a:xfrm>
        </p:spPr>
        <p:txBody>
          <a:bodyPr/>
          <a:lstStyle/>
          <a:p>
            <a:pPr eaLnBrk="1" hangingPunct="1"/>
            <a:r>
              <a:rPr lang="zh-CN" altLang="en-US" b="1" dirty="0">
                <a:solidFill>
                  <a:srgbClr val="CC0099"/>
                </a:solidFill>
                <a:ea typeface="隶书" pitchFamily="49" charset="-122"/>
              </a:rPr>
              <a:t>自上而下语法分析</a:t>
            </a:r>
          </a:p>
        </p:txBody>
      </p:sp>
      <p:sp>
        <p:nvSpPr>
          <p:cNvPr id="187395" name="Rectangle 3"/>
          <p:cNvSpPr>
            <a:spLocks noGrp="1" noChangeArrowheads="1"/>
          </p:cNvSpPr>
          <p:nvPr>
            <p:ph idx="1"/>
          </p:nvPr>
        </p:nvSpPr>
        <p:spPr>
          <a:xfrm>
            <a:off x="149222" y="692988"/>
            <a:ext cx="4968552" cy="4155926"/>
          </a:xfrm>
        </p:spPr>
        <p:style>
          <a:lnRef idx="2">
            <a:schemeClr val="accent1"/>
          </a:lnRef>
          <a:fillRef idx="1">
            <a:schemeClr val="lt1"/>
          </a:fillRef>
          <a:effectRef idx="0">
            <a:schemeClr val="accent1"/>
          </a:effectRef>
          <a:fontRef idx="minor">
            <a:schemeClr val="dk1"/>
          </a:fontRef>
        </p:style>
        <p:txBody>
          <a:bodyPr>
            <a:noAutofit/>
          </a:bodyPr>
          <a:lstStyle/>
          <a:p>
            <a:pPr>
              <a:lnSpc>
                <a:spcPct val="120000"/>
              </a:lnSpc>
              <a:spcBef>
                <a:spcPts val="0"/>
              </a:spcBef>
            </a:pPr>
            <a:r>
              <a:rPr lang="zh-CN" altLang="en-US" sz="2200" dirty="0">
                <a:latin typeface="宋体" panose="02010600030101010101" pitchFamily="2" charset="-122"/>
                <a:ea typeface="宋体" panose="02010600030101010101" pitchFamily="2" charset="-122"/>
              </a:rPr>
              <a:t>基本思路是：对给定的输入符号串，从文法的开始符号出发，为每个非终结符寻求可能的候选式进行匹配，</a:t>
            </a:r>
            <a:r>
              <a:rPr lang="zh-CN" altLang="en-US" sz="2200" dirty="0">
                <a:solidFill>
                  <a:srgbClr val="FF0000"/>
                </a:solidFill>
                <a:latin typeface="宋体" panose="02010600030101010101" pitchFamily="2" charset="-122"/>
                <a:ea typeface="宋体" panose="02010600030101010101" pitchFamily="2" charset="-122"/>
              </a:rPr>
              <a:t>试图</a:t>
            </a:r>
            <a:r>
              <a:rPr lang="zh-CN" altLang="en-US" sz="2200" dirty="0">
                <a:latin typeface="宋体" panose="02010600030101010101" pitchFamily="2" charset="-122"/>
                <a:ea typeface="宋体" panose="02010600030101010101" pitchFamily="2" charset="-122"/>
              </a:rPr>
              <a:t>自上而下地为输入符号串建立一棵语法树，使其端末节点正好与输入符号串相同</a:t>
            </a:r>
          </a:p>
          <a:p>
            <a:pPr eaLnBrk="1" hangingPunct="1">
              <a:lnSpc>
                <a:spcPct val="120000"/>
              </a:lnSpc>
              <a:spcBef>
                <a:spcPts val="0"/>
              </a:spcBef>
            </a:pPr>
            <a:r>
              <a:rPr lang="zh-CN" altLang="en-US" sz="2200" dirty="0">
                <a:latin typeface="宋体" panose="02010600030101010101" pitchFamily="2" charset="-122"/>
                <a:ea typeface="宋体" panose="02010600030101010101" pitchFamily="2" charset="-122"/>
              </a:rPr>
              <a:t>从推导的角度看，从开始符号出发，使用最左推导，试图推导出与输入符号串相同的句子</a:t>
            </a:r>
          </a:p>
          <a:p>
            <a:pPr eaLnBrk="1" hangingPunct="1">
              <a:lnSpc>
                <a:spcPct val="120000"/>
              </a:lnSpc>
              <a:spcBef>
                <a:spcPts val="0"/>
              </a:spcBef>
            </a:pPr>
            <a:r>
              <a:rPr lang="zh-CN" altLang="en-US" sz="2200" dirty="0">
                <a:latin typeface="宋体" panose="02010600030101010101" pitchFamily="2" charset="-122"/>
                <a:ea typeface="宋体" panose="02010600030101010101" pitchFamily="2" charset="-122"/>
              </a:rPr>
              <a:t>这是一个</a:t>
            </a:r>
            <a:r>
              <a:rPr lang="zh-CN" altLang="en-US" sz="2200" b="1" dirty="0">
                <a:solidFill>
                  <a:srgbClr val="FF0000"/>
                </a:solidFill>
                <a:latin typeface="宋体" panose="02010600030101010101" pitchFamily="2" charset="-122"/>
                <a:ea typeface="宋体" panose="02010600030101010101" pitchFamily="2" charset="-122"/>
              </a:rPr>
              <a:t>反复试探</a:t>
            </a:r>
            <a:r>
              <a:rPr lang="zh-CN" altLang="en-US" sz="2200" dirty="0">
                <a:latin typeface="宋体" panose="02010600030101010101" pitchFamily="2" charset="-122"/>
                <a:ea typeface="宋体" panose="02010600030101010101" pitchFamily="2" charset="-122"/>
              </a:rPr>
              <a:t>的过程</a:t>
            </a:r>
          </a:p>
        </p:txBody>
      </p:sp>
      <p:cxnSp>
        <p:nvCxnSpPr>
          <p:cNvPr id="5" name="直接箭头连接符 4"/>
          <p:cNvCxnSpPr/>
          <p:nvPr/>
        </p:nvCxnSpPr>
        <p:spPr>
          <a:xfrm>
            <a:off x="6557934" y="889401"/>
            <a:ext cx="0" cy="2067694"/>
          </a:xfrm>
          <a:prstGeom prst="straightConnector1">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5"/>
          <p:cNvCxnSpPr/>
          <p:nvPr/>
        </p:nvCxnSpPr>
        <p:spPr>
          <a:xfrm>
            <a:off x="5621830" y="4155926"/>
            <a:ext cx="3288362" cy="0"/>
          </a:xfrm>
          <a:prstGeom prst="straightConnector1">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8" name="Rectangle 1027"/>
          <p:cNvSpPr txBox="1">
            <a:spLocks noChangeArrowheads="1"/>
          </p:cNvSpPr>
          <p:nvPr/>
        </p:nvSpPr>
        <p:spPr>
          <a:xfrm>
            <a:off x="5405806" y="3651870"/>
            <a:ext cx="3707904" cy="360040"/>
          </a:xfrm>
          <a:prstGeom prst="rect">
            <a:avLst/>
          </a:prstGeom>
          <a:noFill/>
          <a:ln w="38100">
            <a:solidFill>
              <a:srgbClr val="00B050"/>
            </a:solidFill>
          </a:ln>
        </p:spPr>
        <p:style>
          <a:lnRef idx="2">
            <a:schemeClr val="dk1"/>
          </a:lnRef>
          <a:fillRef idx="1">
            <a:schemeClr val="lt1"/>
          </a:fillRef>
          <a:effectRef idx="0">
            <a:schemeClr val="dk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dk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dk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dk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dk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dk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marL="0" indent="0">
              <a:buNone/>
              <a:defRPr/>
            </a:pPr>
            <a:r>
              <a:rPr lang="pt-PT" altLang="zh-CN" sz="1600" dirty="0">
                <a:latin typeface="Arial" pitchFamily="34" charset="0"/>
                <a:sym typeface="Symbol" pitchFamily="18" charset="2"/>
              </a:rPr>
              <a:t>E</a:t>
            </a:r>
            <a:r>
              <a:rPr lang="en-US" altLang="zh-CN" sz="1600" dirty="0">
                <a:latin typeface="Arial" pitchFamily="34" charset="0"/>
                <a:sym typeface="Symbol" pitchFamily="18" charset="2"/>
              </a:rPr>
              <a:t></a:t>
            </a:r>
            <a:r>
              <a:rPr lang="pt-PT" altLang="zh-CN" sz="1600" dirty="0">
                <a:latin typeface="Arial" pitchFamily="34" charset="0"/>
                <a:sym typeface="Symbol" pitchFamily="18" charset="2"/>
              </a:rPr>
              <a:t>E+E</a:t>
            </a:r>
            <a:r>
              <a:rPr lang="en-US" altLang="zh-CN" sz="1600" dirty="0">
                <a:latin typeface="Arial" pitchFamily="34" charset="0"/>
                <a:sym typeface="Symbol" pitchFamily="18" charset="2"/>
              </a:rPr>
              <a:t></a:t>
            </a:r>
            <a:r>
              <a:rPr lang="pt-PT" altLang="zh-CN" sz="1600" dirty="0">
                <a:latin typeface="Arial" pitchFamily="34" charset="0"/>
                <a:sym typeface="Symbol" pitchFamily="18" charset="2"/>
              </a:rPr>
              <a:t>E*E+E</a:t>
            </a:r>
            <a:r>
              <a:rPr lang="en-US" altLang="zh-CN" sz="1600" dirty="0">
                <a:latin typeface="Arial" pitchFamily="34" charset="0"/>
                <a:sym typeface="Symbol" pitchFamily="18" charset="2"/>
              </a:rPr>
              <a:t></a:t>
            </a:r>
            <a:r>
              <a:rPr lang="pt-PT" altLang="zh-CN" sz="1600" dirty="0">
                <a:latin typeface="Arial" pitchFamily="34" charset="0"/>
                <a:sym typeface="Symbol" pitchFamily="18" charset="2"/>
              </a:rPr>
              <a:t>i*E+E</a:t>
            </a:r>
            <a:r>
              <a:rPr lang="en-US" altLang="zh-CN" sz="1600" dirty="0">
                <a:latin typeface="Arial" pitchFamily="34" charset="0"/>
                <a:sym typeface="Symbol" pitchFamily="18" charset="2"/>
              </a:rPr>
              <a:t></a:t>
            </a:r>
            <a:r>
              <a:rPr lang="pt-PT" altLang="zh-CN" sz="1600" dirty="0">
                <a:latin typeface="Arial" pitchFamily="34" charset="0"/>
                <a:sym typeface="Symbol" pitchFamily="18" charset="2"/>
              </a:rPr>
              <a:t>i*i+E</a:t>
            </a:r>
            <a:r>
              <a:rPr lang="en-US" altLang="zh-CN" sz="1600" dirty="0">
                <a:latin typeface="Arial" pitchFamily="34" charset="0"/>
                <a:sym typeface="Symbol" pitchFamily="18" charset="2"/>
              </a:rPr>
              <a:t></a:t>
            </a:r>
            <a:r>
              <a:rPr lang="pt-PT" altLang="zh-CN" sz="1600" dirty="0">
                <a:latin typeface="Arial" pitchFamily="34" charset="0"/>
                <a:sym typeface="Symbol" pitchFamily="18" charset="2"/>
              </a:rPr>
              <a:t>i*i+i</a:t>
            </a:r>
            <a:endParaRPr lang="en-US" altLang="zh-CN" sz="1600" dirty="0">
              <a:solidFill>
                <a:schemeClr val="tx1"/>
              </a:solidFill>
              <a:latin typeface="宋体" pitchFamily="2" charset="-122"/>
              <a:ea typeface="宋体" panose="02010600030101010101" pitchFamily="2" charset="-122"/>
            </a:endParaRPr>
          </a:p>
        </p:txBody>
      </p:sp>
    </p:spTree>
    <p:extLst>
      <p:ext uri="{BB962C8B-B14F-4D97-AF65-F5344CB8AC3E}">
        <p14:creationId xmlns:p14="http://schemas.microsoft.com/office/powerpoint/2010/main" val="2663935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7395">
                                            <p:bg/>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187395">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up)">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7395">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500"/>
                                        <p:tgtEl>
                                          <p:spTgt spid="6"/>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1873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395" grpId="0" uiExpand="1" build="p" animBg="1"/>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ext Box 2"/>
          <p:cNvSpPr txBox="1">
            <a:spLocks noChangeArrowheads="1"/>
          </p:cNvSpPr>
          <p:nvPr/>
        </p:nvSpPr>
        <p:spPr bwMode="auto">
          <a:xfrm>
            <a:off x="239713" y="996950"/>
            <a:ext cx="3636962" cy="2529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en-US" altLang="zh-CN" sz="2400" dirty="0"/>
              <a:t>  </a:t>
            </a:r>
            <a:r>
              <a:rPr lang="zh-CN" altLang="en-US" sz="2400" dirty="0"/>
              <a:t>例</a:t>
            </a:r>
            <a:r>
              <a:rPr lang="en-US" altLang="zh-CN" sz="2400" dirty="0"/>
              <a:t>1</a:t>
            </a:r>
            <a:r>
              <a:rPr lang="zh-CN" altLang="en-US" sz="2400" dirty="0"/>
              <a:t>：设有文法</a:t>
            </a:r>
          </a:p>
          <a:p>
            <a:pPr eaLnBrk="1" hangingPunct="1">
              <a:buFontTx/>
              <a:buNone/>
            </a:pPr>
            <a:r>
              <a:rPr lang="zh-CN" altLang="en-US" sz="2400" dirty="0"/>
              <a:t>	</a:t>
            </a:r>
            <a:r>
              <a:rPr lang="en-US" altLang="zh-CN" sz="2800" b="1" dirty="0">
                <a:solidFill>
                  <a:schemeClr val="accent2"/>
                </a:solidFill>
              </a:rPr>
              <a:t>(1) S </a:t>
            </a:r>
            <a:r>
              <a:rPr lang="en-US" altLang="zh-CN" sz="2800" b="1" dirty="0">
                <a:solidFill>
                  <a:schemeClr val="accent2"/>
                </a:solidFill>
                <a:sym typeface="Wingdings" pitchFamily="2" charset="2"/>
              </a:rPr>
              <a:t></a:t>
            </a:r>
            <a:r>
              <a:rPr lang="en-US" altLang="zh-CN" sz="2800" b="1" dirty="0">
                <a:solidFill>
                  <a:schemeClr val="accent2"/>
                </a:solidFill>
              </a:rPr>
              <a:t> </a:t>
            </a:r>
            <a:r>
              <a:rPr lang="en-US" altLang="zh-CN" sz="2800" b="1" dirty="0" err="1">
                <a:solidFill>
                  <a:schemeClr val="accent2"/>
                </a:solidFill>
              </a:rPr>
              <a:t>xAy</a:t>
            </a:r>
            <a:r>
              <a:rPr lang="en-US" altLang="zh-CN" sz="2800" b="1" dirty="0">
                <a:solidFill>
                  <a:schemeClr val="accent2"/>
                </a:solidFill>
              </a:rPr>
              <a:t> </a:t>
            </a:r>
          </a:p>
          <a:p>
            <a:pPr eaLnBrk="1" hangingPunct="1">
              <a:buFontTx/>
              <a:buNone/>
            </a:pPr>
            <a:r>
              <a:rPr lang="en-US" altLang="zh-CN" sz="2800" b="1" dirty="0">
                <a:solidFill>
                  <a:schemeClr val="accent2"/>
                </a:solidFill>
              </a:rPr>
              <a:t>	(2) A </a:t>
            </a:r>
            <a:r>
              <a:rPr lang="en-US" altLang="zh-CN" sz="2800" b="1" dirty="0">
                <a:solidFill>
                  <a:schemeClr val="accent2"/>
                </a:solidFill>
                <a:sym typeface="Wingdings" pitchFamily="2" charset="2"/>
              </a:rPr>
              <a:t></a:t>
            </a:r>
            <a:r>
              <a:rPr lang="en-US" altLang="zh-CN" sz="2800" b="1" dirty="0">
                <a:solidFill>
                  <a:schemeClr val="accent2"/>
                </a:solidFill>
              </a:rPr>
              <a:t> ** | *</a:t>
            </a:r>
          </a:p>
          <a:p>
            <a:pPr eaLnBrk="1" hangingPunct="1">
              <a:buFontTx/>
              <a:buNone/>
            </a:pPr>
            <a:r>
              <a:rPr lang="en-US" altLang="zh-CN" sz="2400" dirty="0"/>
              <a:t>  </a:t>
            </a:r>
            <a:r>
              <a:rPr lang="zh-CN" altLang="en-US" sz="2400" dirty="0"/>
              <a:t>现有输入串：</a:t>
            </a:r>
            <a:r>
              <a:rPr lang="en-US" altLang="zh-CN" sz="2800" b="1" dirty="0">
                <a:solidFill>
                  <a:srgbClr val="FF0000"/>
                </a:solidFill>
              </a:rPr>
              <a:t>x*y</a:t>
            </a:r>
          </a:p>
          <a:p>
            <a:pPr eaLnBrk="1" hangingPunct="1">
              <a:buFontTx/>
              <a:buNone/>
            </a:pPr>
            <a:r>
              <a:rPr lang="en-US" altLang="zh-CN" sz="2400" dirty="0"/>
              <a:t>  </a:t>
            </a:r>
            <a:r>
              <a:rPr lang="zh-CN" altLang="en-US" sz="2400" dirty="0"/>
              <a:t>其分析过程如右：</a:t>
            </a:r>
          </a:p>
        </p:txBody>
      </p:sp>
      <p:sp>
        <p:nvSpPr>
          <p:cNvPr id="233488" name="Text Box 16"/>
          <p:cNvSpPr txBox="1">
            <a:spLocks noChangeArrowheads="1"/>
          </p:cNvSpPr>
          <p:nvPr/>
        </p:nvSpPr>
        <p:spPr bwMode="auto">
          <a:xfrm>
            <a:off x="4572000" y="3190205"/>
            <a:ext cx="4572000" cy="461665"/>
          </a:xfrm>
          <a:prstGeom prst="rect">
            <a:avLst/>
          </a:prstGeom>
          <a:solidFill>
            <a:schemeClr val="bg1"/>
          </a:solidFill>
          <a:ln w="38100" algn="ctr">
            <a:solidFill>
              <a:srgbClr val="33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b="1" i="1" dirty="0">
                <a:latin typeface="仿宋_GB2312" pitchFamily="49" charset="-122"/>
                <a:ea typeface="仿宋_GB2312" pitchFamily="49" charset="-122"/>
              </a:rPr>
              <a:t>失败</a:t>
            </a:r>
            <a:r>
              <a:rPr lang="en-US" altLang="zh-CN" sz="2400" b="1" i="1" dirty="0">
                <a:latin typeface="仿宋_GB2312" pitchFamily="49" charset="-122"/>
                <a:ea typeface="仿宋_GB2312" pitchFamily="49" charset="-122"/>
              </a:rPr>
              <a:t>!!</a:t>
            </a:r>
          </a:p>
        </p:txBody>
      </p:sp>
      <p:sp>
        <p:nvSpPr>
          <p:cNvPr id="233489" name="Text Box 17"/>
          <p:cNvSpPr txBox="1">
            <a:spLocks noChangeArrowheads="1"/>
          </p:cNvSpPr>
          <p:nvPr/>
        </p:nvSpPr>
        <p:spPr bwMode="auto">
          <a:xfrm>
            <a:off x="216024" y="3632706"/>
            <a:ext cx="35638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800" dirty="0">
                <a:solidFill>
                  <a:srgbClr val="008080"/>
                </a:solidFill>
                <a:ea typeface="华文行楷" pitchFamily="2" charset="-122"/>
              </a:rPr>
              <a:t>思考：产生的原因？</a:t>
            </a:r>
          </a:p>
        </p:txBody>
      </p:sp>
      <p:grpSp>
        <p:nvGrpSpPr>
          <p:cNvPr id="2" name="Group 18"/>
          <p:cNvGrpSpPr>
            <a:grpSpLocks/>
          </p:cNvGrpSpPr>
          <p:nvPr/>
        </p:nvGrpSpPr>
        <p:grpSpPr bwMode="auto">
          <a:xfrm>
            <a:off x="4895850" y="1735585"/>
            <a:ext cx="4019550" cy="707961"/>
            <a:chOff x="2880" y="2304"/>
            <a:chExt cx="2304" cy="594"/>
          </a:xfrm>
        </p:grpSpPr>
        <p:sp>
          <p:nvSpPr>
            <p:cNvPr id="44062" name="Text Box 19"/>
            <p:cNvSpPr txBox="1">
              <a:spLocks noChangeArrowheads="1"/>
            </p:cNvSpPr>
            <p:nvPr/>
          </p:nvSpPr>
          <p:spPr bwMode="auto">
            <a:xfrm>
              <a:off x="3984" y="2304"/>
              <a:ext cx="1200" cy="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a:ea typeface="华文行楷" pitchFamily="2" charset="-122"/>
                </a:rPr>
                <a:t>x*y</a:t>
              </a:r>
            </a:p>
          </p:txBody>
        </p:sp>
        <p:sp>
          <p:nvSpPr>
            <p:cNvPr id="44063" name="Text Box 20"/>
            <p:cNvSpPr txBox="1">
              <a:spLocks noChangeArrowheads="1"/>
            </p:cNvSpPr>
            <p:nvPr/>
          </p:nvSpPr>
          <p:spPr bwMode="auto">
            <a:xfrm>
              <a:off x="2880" y="2400"/>
              <a:ext cx="1344"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400" dirty="0">
                  <a:ea typeface="华文行楷" pitchFamily="2" charset="-122"/>
                </a:rPr>
                <a:t>输入符号串：</a:t>
              </a:r>
            </a:p>
          </p:txBody>
        </p:sp>
      </p:grpSp>
      <p:sp>
        <p:nvSpPr>
          <p:cNvPr id="233493" name="Line 21"/>
          <p:cNvSpPr>
            <a:spLocks noChangeShapeType="1"/>
          </p:cNvSpPr>
          <p:nvPr/>
        </p:nvSpPr>
        <p:spPr bwMode="auto">
          <a:xfrm flipV="1">
            <a:off x="7596336" y="2328775"/>
            <a:ext cx="0" cy="5715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44059" name="Line 27"/>
          <p:cNvSpPr>
            <a:spLocks noChangeShapeType="1"/>
          </p:cNvSpPr>
          <p:nvPr/>
        </p:nvSpPr>
        <p:spPr bwMode="auto">
          <a:xfrm flipV="1">
            <a:off x="7164288" y="1248670"/>
            <a:ext cx="0" cy="486966"/>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44057" name="Line 31"/>
          <p:cNvSpPr>
            <a:spLocks noChangeShapeType="1"/>
          </p:cNvSpPr>
          <p:nvPr/>
        </p:nvSpPr>
        <p:spPr bwMode="auto">
          <a:xfrm flipV="1">
            <a:off x="7842326" y="2355609"/>
            <a:ext cx="8258" cy="546819"/>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44042" name="Rectangle 32"/>
          <p:cNvSpPr>
            <a:spLocks noGrp="1" noChangeArrowheads="1"/>
          </p:cNvSpPr>
          <p:nvPr>
            <p:ph type="title" idx="4294967295"/>
          </p:nvPr>
        </p:nvSpPr>
        <p:spPr>
          <a:xfrm>
            <a:off x="0" y="371475"/>
            <a:ext cx="7772400" cy="374650"/>
          </a:xfrm>
        </p:spPr>
        <p:txBody>
          <a:bodyPr>
            <a:normAutofit fontScale="90000"/>
          </a:bodyPr>
          <a:lstStyle/>
          <a:p>
            <a:pPr algn="l" eaLnBrk="1" hangingPunct="1">
              <a:buFontTx/>
              <a:buChar char="•"/>
            </a:pPr>
            <a:r>
              <a:rPr lang="zh-CN" altLang="en-US" sz="3200" b="1" i="1" dirty="0">
                <a:solidFill>
                  <a:srgbClr val="008000"/>
                </a:solidFill>
              </a:rPr>
              <a:t>问题</a:t>
            </a:r>
            <a:r>
              <a:rPr lang="en-US" altLang="zh-CN" sz="3200" b="1" i="1" dirty="0">
                <a:solidFill>
                  <a:srgbClr val="008000"/>
                </a:solidFill>
              </a:rPr>
              <a:t>1</a:t>
            </a:r>
            <a:r>
              <a:rPr lang="zh-CN" altLang="en-US" sz="3200" b="1" i="1" dirty="0">
                <a:solidFill>
                  <a:srgbClr val="008000"/>
                </a:solidFill>
              </a:rPr>
              <a:t>：分析器不稳定（回溯）</a:t>
            </a:r>
          </a:p>
        </p:txBody>
      </p:sp>
      <p:sp>
        <p:nvSpPr>
          <p:cNvPr id="233505" name="Rectangle 33"/>
          <p:cNvSpPr>
            <a:spLocks noChangeArrowheads="1"/>
          </p:cNvSpPr>
          <p:nvPr/>
        </p:nvSpPr>
        <p:spPr bwMode="auto">
          <a:xfrm>
            <a:off x="1" y="4733151"/>
            <a:ext cx="9143999" cy="430887"/>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ea typeface="华文行楷" pitchFamily="2" charset="-122"/>
              </a:rPr>
              <a:t>文法产生式有问题：一个非终结符的多个候选式的首字符相同</a:t>
            </a:r>
            <a:r>
              <a:rPr lang="zh-CN" altLang="en-US" sz="2200">
                <a:ea typeface="华文行楷" pitchFamily="2" charset="-122"/>
              </a:rPr>
              <a:t>，都为*</a:t>
            </a:r>
            <a:endParaRPr lang="zh-CN" altLang="en-US" sz="2200" dirty="0">
              <a:ea typeface="华文行楷" pitchFamily="2" charset="-122"/>
            </a:endParaRPr>
          </a:p>
        </p:txBody>
      </p:sp>
      <p:sp>
        <p:nvSpPr>
          <p:cNvPr id="233507" name="Rectangle 35"/>
          <p:cNvSpPr>
            <a:spLocks noChangeArrowheads="1"/>
          </p:cNvSpPr>
          <p:nvPr/>
        </p:nvSpPr>
        <p:spPr bwMode="auto">
          <a:xfrm>
            <a:off x="5114119" y="817563"/>
            <a:ext cx="13748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solidFill>
                  <a:schemeClr val="accent2"/>
                </a:solidFill>
                <a:ea typeface="华文行楷" pitchFamily="2" charset="-122"/>
              </a:rPr>
              <a:t>S=&gt;xAy</a:t>
            </a:r>
          </a:p>
        </p:txBody>
      </p:sp>
      <p:sp>
        <p:nvSpPr>
          <p:cNvPr id="233508" name="Rectangle 36"/>
          <p:cNvSpPr>
            <a:spLocks noChangeArrowheads="1"/>
          </p:cNvSpPr>
          <p:nvPr/>
        </p:nvSpPr>
        <p:spPr bwMode="auto">
          <a:xfrm>
            <a:off x="6409404" y="841375"/>
            <a:ext cx="130676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solidFill>
                  <a:schemeClr val="accent2"/>
                </a:solidFill>
                <a:ea typeface="华文行楷" pitchFamily="2" charset="-122"/>
              </a:rPr>
              <a:t>=&gt;x**y</a:t>
            </a:r>
          </a:p>
        </p:txBody>
      </p:sp>
      <p:sp>
        <p:nvSpPr>
          <p:cNvPr id="44055" name="Line 39"/>
          <p:cNvSpPr>
            <a:spLocks noChangeShapeType="1"/>
          </p:cNvSpPr>
          <p:nvPr/>
        </p:nvSpPr>
        <p:spPr bwMode="auto">
          <a:xfrm flipV="1">
            <a:off x="6100936" y="1292790"/>
            <a:ext cx="0" cy="442795"/>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44053" name="Line 42"/>
          <p:cNvSpPr>
            <a:spLocks noChangeShapeType="1"/>
          </p:cNvSpPr>
          <p:nvPr/>
        </p:nvSpPr>
        <p:spPr bwMode="auto">
          <a:xfrm flipV="1">
            <a:off x="7380312" y="1264808"/>
            <a:ext cx="0" cy="470777"/>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44051" name="Line 48"/>
          <p:cNvSpPr>
            <a:spLocks noChangeShapeType="1"/>
          </p:cNvSpPr>
          <p:nvPr/>
        </p:nvSpPr>
        <p:spPr bwMode="auto">
          <a:xfrm flipV="1">
            <a:off x="8100392" y="2355726"/>
            <a:ext cx="0" cy="549412"/>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2000"/>
          </a:p>
        </p:txBody>
      </p:sp>
      <p:sp>
        <p:nvSpPr>
          <p:cNvPr id="233521" name="Oval 49"/>
          <p:cNvSpPr>
            <a:spLocks noChangeArrowheads="1"/>
          </p:cNvSpPr>
          <p:nvPr/>
        </p:nvSpPr>
        <p:spPr bwMode="auto">
          <a:xfrm>
            <a:off x="2441301" y="1980059"/>
            <a:ext cx="474515" cy="447675"/>
          </a:xfrm>
          <a:prstGeom prst="ellipse">
            <a:avLst/>
          </a:prstGeom>
          <a:noFill/>
          <a:ln w="38100" algn="ctr">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solidFill>
                <a:srgbClr val="0000CC"/>
              </a:solidFill>
              <a:ea typeface="华文行楷" pitchFamily="2" charset="-122"/>
            </a:endParaRPr>
          </a:p>
        </p:txBody>
      </p:sp>
      <p:sp>
        <p:nvSpPr>
          <p:cNvPr id="32" name="Text Box 16"/>
          <p:cNvSpPr txBox="1">
            <a:spLocks noChangeArrowheads="1"/>
          </p:cNvSpPr>
          <p:nvPr/>
        </p:nvSpPr>
        <p:spPr bwMode="auto">
          <a:xfrm>
            <a:off x="4572000" y="3632706"/>
            <a:ext cx="4572000" cy="830997"/>
          </a:xfrm>
          <a:prstGeom prst="rect">
            <a:avLst/>
          </a:prstGeom>
          <a:solidFill>
            <a:schemeClr val="bg1"/>
          </a:solidFill>
          <a:ln w="38100" algn="ctr">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400" b="1" i="1" dirty="0">
                <a:latin typeface="仿宋_GB2312" pitchFamily="49" charset="-122"/>
                <a:ea typeface="仿宋_GB2312" pitchFamily="49" charset="-122"/>
              </a:rPr>
              <a:t>需要退回，重新选取</a:t>
            </a:r>
            <a:r>
              <a:rPr lang="en-US" altLang="zh-CN" sz="2400" b="1" i="1" dirty="0">
                <a:latin typeface="仿宋_GB2312" pitchFamily="49" charset="-122"/>
                <a:ea typeface="仿宋_GB2312" pitchFamily="49" charset="-122"/>
              </a:rPr>
              <a:t>A</a:t>
            </a:r>
            <a:r>
              <a:rPr lang="zh-CN" altLang="en-US" sz="2400" b="1" i="1" dirty="0">
                <a:latin typeface="仿宋_GB2312" pitchFamily="49" charset="-122"/>
                <a:ea typeface="仿宋_GB2312" pitchFamily="49" charset="-122"/>
              </a:rPr>
              <a:t>的侯选式，</a:t>
            </a:r>
          </a:p>
          <a:p>
            <a:pPr eaLnBrk="1" hangingPunct="1">
              <a:spcBef>
                <a:spcPts val="0"/>
              </a:spcBef>
              <a:buFontTx/>
              <a:buNone/>
            </a:pPr>
            <a:r>
              <a:rPr lang="zh-CN" altLang="en-US" sz="2400" b="1" i="1" dirty="0">
                <a:latin typeface="仿宋_GB2312" pitchFamily="49" charset="-122"/>
                <a:ea typeface="仿宋_GB2312" pitchFamily="49" charset="-122"/>
              </a:rPr>
              <a:t>使得分析器的动作不稳定</a:t>
            </a:r>
          </a:p>
        </p:txBody>
      </p:sp>
    </p:spTree>
    <p:extLst>
      <p:ext uri="{BB962C8B-B14F-4D97-AF65-F5344CB8AC3E}">
        <p14:creationId xmlns:p14="http://schemas.microsoft.com/office/powerpoint/2010/main" val="31455167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33474"/>
                                        </p:tgtEl>
                                        <p:attrNameLst>
                                          <p:attrName>style.visibility</p:attrName>
                                        </p:attrNameLst>
                                      </p:cBhvr>
                                      <p:to>
                                        <p:strVal val="visible"/>
                                      </p:to>
                                    </p:set>
                                    <p:animEffect transition="in" filter="box(in)">
                                      <p:cBhvr>
                                        <p:cTn id="7" dur="500"/>
                                        <p:tgtEl>
                                          <p:spTgt spid="2334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2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arn(inHorizontal)">
                                      <p:cBhvr>
                                        <p:cTn id="12" dur="5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23349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3350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233493"/>
                                        </p:tgtEl>
                                        <p:attrNameLst>
                                          <p:attrName>style.visibility</p:attrName>
                                        </p:attrNameLst>
                                      </p:cBhvr>
                                      <p:to>
                                        <p:strVal val="hidden"/>
                                      </p:to>
                                    </p:set>
                                  </p:childTnLst>
                                </p:cTn>
                              </p:par>
                            </p:childTnLst>
                          </p:cTn>
                        </p:par>
                        <p:par>
                          <p:cTn id="25" fill="hold">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44057"/>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44055"/>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33521"/>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233508"/>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44055"/>
                                        </p:tgtEl>
                                        <p:attrNameLst>
                                          <p:attrName>style.visibility</p:attrName>
                                        </p:attrNameLst>
                                      </p:cBhvr>
                                      <p:to>
                                        <p:strVal val="hidden"/>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44059"/>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1" nodeType="clickEffect">
                                  <p:stCondLst>
                                    <p:cond delay="0"/>
                                  </p:stCondLst>
                                  <p:childTnLst>
                                    <p:set>
                                      <p:cBhvr>
                                        <p:cTn id="50" dur="1" fill="hold">
                                          <p:stCondLst>
                                            <p:cond delay="0"/>
                                          </p:stCondLst>
                                        </p:cTn>
                                        <p:tgtEl>
                                          <p:spTgt spid="44057"/>
                                        </p:tgtEl>
                                        <p:attrNameLst>
                                          <p:attrName>style.visibility</p:attrName>
                                        </p:attrNameLst>
                                      </p:cBhvr>
                                      <p:to>
                                        <p:strVal val="hidden"/>
                                      </p:to>
                                    </p:set>
                                  </p:childTnLst>
                                </p:cTn>
                              </p:par>
                            </p:childTnLst>
                          </p:cTn>
                        </p:par>
                        <p:par>
                          <p:cTn id="51" fill="hold">
                            <p:stCondLst>
                              <p:cond delay="0"/>
                            </p:stCondLst>
                            <p:childTnLst>
                              <p:par>
                                <p:cTn id="52" presetID="1" presetClass="entr" presetSubtype="0" fill="hold" grpId="0" nodeType="afterEffect">
                                  <p:stCondLst>
                                    <p:cond delay="0"/>
                                  </p:stCondLst>
                                  <p:childTnLst>
                                    <p:set>
                                      <p:cBhvr>
                                        <p:cTn id="53" dur="1" fill="hold">
                                          <p:stCondLst>
                                            <p:cond delay="0"/>
                                          </p:stCondLst>
                                        </p:cTn>
                                        <p:tgtEl>
                                          <p:spTgt spid="44051"/>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xit" presetSubtype="0" fill="hold" grpId="1" nodeType="clickEffect">
                                  <p:stCondLst>
                                    <p:cond delay="0"/>
                                  </p:stCondLst>
                                  <p:childTnLst>
                                    <p:set>
                                      <p:cBhvr>
                                        <p:cTn id="57" dur="1" fill="hold">
                                          <p:stCondLst>
                                            <p:cond delay="0"/>
                                          </p:stCondLst>
                                        </p:cTn>
                                        <p:tgtEl>
                                          <p:spTgt spid="44059"/>
                                        </p:tgtEl>
                                        <p:attrNameLst>
                                          <p:attrName>style.visibility</p:attrName>
                                        </p:attrNameLst>
                                      </p:cBhvr>
                                      <p:to>
                                        <p:strVal val="hidden"/>
                                      </p:to>
                                    </p:set>
                                  </p:childTnLst>
                                </p:cTn>
                              </p:par>
                            </p:childTnLst>
                          </p:cTn>
                        </p:par>
                        <p:par>
                          <p:cTn id="58" fill="hold">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44053"/>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7" presetClass="entr" presetSubtype="2" fill="hold" grpId="0" nodeType="clickEffect">
                                  <p:stCondLst>
                                    <p:cond delay="0"/>
                                  </p:stCondLst>
                                  <p:childTnLst>
                                    <p:set>
                                      <p:cBhvr>
                                        <p:cTn id="64" dur="1" fill="hold">
                                          <p:stCondLst>
                                            <p:cond delay="0"/>
                                          </p:stCondLst>
                                        </p:cTn>
                                        <p:tgtEl>
                                          <p:spTgt spid="233488"/>
                                        </p:tgtEl>
                                        <p:attrNameLst>
                                          <p:attrName>style.visibility</p:attrName>
                                        </p:attrNameLst>
                                      </p:cBhvr>
                                      <p:to>
                                        <p:strVal val="visible"/>
                                      </p:to>
                                    </p:set>
                                    <p:anim calcmode="lin" valueType="num">
                                      <p:cBhvr>
                                        <p:cTn id="65" dur="500" fill="hold"/>
                                        <p:tgtEl>
                                          <p:spTgt spid="233488"/>
                                        </p:tgtEl>
                                        <p:attrNameLst>
                                          <p:attrName>ppt_x</p:attrName>
                                        </p:attrNameLst>
                                      </p:cBhvr>
                                      <p:tavLst>
                                        <p:tav tm="0">
                                          <p:val>
                                            <p:strVal val="#ppt_x+#ppt_w/2"/>
                                          </p:val>
                                        </p:tav>
                                        <p:tav tm="100000">
                                          <p:val>
                                            <p:strVal val="#ppt_x"/>
                                          </p:val>
                                        </p:tav>
                                      </p:tavLst>
                                    </p:anim>
                                    <p:anim calcmode="lin" valueType="num">
                                      <p:cBhvr>
                                        <p:cTn id="66" dur="500" fill="hold"/>
                                        <p:tgtEl>
                                          <p:spTgt spid="233488"/>
                                        </p:tgtEl>
                                        <p:attrNameLst>
                                          <p:attrName>ppt_y</p:attrName>
                                        </p:attrNameLst>
                                      </p:cBhvr>
                                      <p:tavLst>
                                        <p:tav tm="0">
                                          <p:val>
                                            <p:strVal val="#ppt_y"/>
                                          </p:val>
                                        </p:tav>
                                        <p:tav tm="100000">
                                          <p:val>
                                            <p:strVal val="#ppt_y"/>
                                          </p:val>
                                        </p:tav>
                                      </p:tavLst>
                                    </p:anim>
                                    <p:anim calcmode="lin" valueType="num">
                                      <p:cBhvr>
                                        <p:cTn id="67" dur="500" fill="hold"/>
                                        <p:tgtEl>
                                          <p:spTgt spid="233488"/>
                                        </p:tgtEl>
                                        <p:attrNameLst>
                                          <p:attrName>ppt_w</p:attrName>
                                        </p:attrNameLst>
                                      </p:cBhvr>
                                      <p:tavLst>
                                        <p:tav tm="0">
                                          <p:val>
                                            <p:fltVal val="0"/>
                                          </p:val>
                                        </p:tav>
                                        <p:tav tm="100000">
                                          <p:val>
                                            <p:strVal val="#ppt_w"/>
                                          </p:val>
                                        </p:tav>
                                      </p:tavLst>
                                    </p:anim>
                                    <p:anim calcmode="lin" valueType="num">
                                      <p:cBhvr>
                                        <p:cTn id="68" dur="500" fill="hold"/>
                                        <p:tgtEl>
                                          <p:spTgt spid="233488"/>
                                        </p:tgtEl>
                                        <p:attrNameLst>
                                          <p:attrName>ppt_h</p:attrName>
                                        </p:attrNameLst>
                                      </p:cBhvr>
                                      <p:tavLst>
                                        <p:tav tm="0">
                                          <p:val>
                                            <p:strVal val="#ppt_h"/>
                                          </p:val>
                                        </p:tav>
                                        <p:tav tm="100000">
                                          <p:val>
                                            <p:strVal val="#ppt_h"/>
                                          </p:val>
                                        </p:tav>
                                      </p:tavLst>
                                    </p:anim>
                                  </p:childTnLst>
                                </p:cTn>
                              </p:par>
                            </p:childTnLst>
                          </p:cTn>
                        </p:par>
                      </p:childTnLst>
                    </p:cTn>
                  </p:par>
                  <p:par>
                    <p:cTn id="69" fill="hold">
                      <p:stCondLst>
                        <p:cond delay="indefinite"/>
                      </p:stCondLst>
                      <p:childTnLst>
                        <p:par>
                          <p:cTn id="70" fill="hold">
                            <p:stCondLst>
                              <p:cond delay="0"/>
                            </p:stCondLst>
                            <p:childTnLst>
                              <p:par>
                                <p:cTn id="71" presetID="17" presetClass="entr" presetSubtype="2" fill="hold" grpId="0" nodeType="click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ppt_x</p:attrName>
                                        </p:attrNameLst>
                                      </p:cBhvr>
                                      <p:tavLst>
                                        <p:tav tm="0">
                                          <p:val>
                                            <p:strVal val="#ppt_x+#ppt_w/2"/>
                                          </p:val>
                                        </p:tav>
                                        <p:tav tm="100000">
                                          <p:val>
                                            <p:strVal val="#ppt_x"/>
                                          </p:val>
                                        </p:tav>
                                      </p:tavLst>
                                    </p:anim>
                                    <p:anim calcmode="lin" valueType="num">
                                      <p:cBhvr>
                                        <p:cTn id="74" dur="500" fill="hold"/>
                                        <p:tgtEl>
                                          <p:spTgt spid="32"/>
                                        </p:tgtEl>
                                        <p:attrNameLst>
                                          <p:attrName>ppt_y</p:attrName>
                                        </p:attrNameLst>
                                      </p:cBhvr>
                                      <p:tavLst>
                                        <p:tav tm="0">
                                          <p:val>
                                            <p:strVal val="#ppt_y"/>
                                          </p:val>
                                        </p:tav>
                                        <p:tav tm="100000">
                                          <p:val>
                                            <p:strVal val="#ppt_y"/>
                                          </p:val>
                                        </p:tav>
                                      </p:tavLst>
                                    </p:anim>
                                    <p:anim calcmode="lin" valueType="num">
                                      <p:cBhvr>
                                        <p:cTn id="75" dur="500" fill="hold"/>
                                        <p:tgtEl>
                                          <p:spTgt spid="32"/>
                                        </p:tgtEl>
                                        <p:attrNameLst>
                                          <p:attrName>ppt_w</p:attrName>
                                        </p:attrNameLst>
                                      </p:cBhvr>
                                      <p:tavLst>
                                        <p:tav tm="0">
                                          <p:val>
                                            <p:fltVal val="0"/>
                                          </p:val>
                                        </p:tav>
                                        <p:tav tm="100000">
                                          <p:val>
                                            <p:strVal val="#ppt_w"/>
                                          </p:val>
                                        </p:tav>
                                      </p:tavLst>
                                    </p:anim>
                                    <p:anim calcmode="lin" valueType="num">
                                      <p:cBhvr>
                                        <p:cTn id="76" dur="500" fill="hold"/>
                                        <p:tgtEl>
                                          <p:spTgt spid="32"/>
                                        </p:tgtEl>
                                        <p:attrNameLst>
                                          <p:attrName>ppt_h</p:attrName>
                                        </p:attrNameLst>
                                      </p:cBhvr>
                                      <p:tavLst>
                                        <p:tav tm="0">
                                          <p:val>
                                            <p:strVal val="#ppt_h"/>
                                          </p:val>
                                        </p:tav>
                                        <p:tav tm="100000">
                                          <p:val>
                                            <p:strVal val="#ppt_h"/>
                                          </p:val>
                                        </p:tav>
                                      </p:tavLst>
                                    </p:anim>
                                  </p:childTnLst>
                                </p:cTn>
                              </p:par>
                            </p:childTnLst>
                          </p:cTn>
                        </p:par>
                      </p:childTnLst>
                    </p:cTn>
                  </p:par>
                  <p:par>
                    <p:cTn id="77" fill="hold">
                      <p:stCondLst>
                        <p:cond delay="indefinite"/>
                      </p:stCondLst>
                      <p:childTnLst>
                        <p:par>
                          <p:cTn id="78" fill="hold">
                            <p:stCondLst>
                              <p:cond delay="0"/>
                            </p:stCondLst>
                            <p:childTnLst>
                              <p:par>
                                <p:cTn id="79" presetID="23" presetClass="entr" presetSubtype="32" fill="hold" grpId="0" nodeType="clickEffect">
                                  <p:stCondLst>
                                    <p:cond delay="0"/>
                                  </p:stCondLst>
                                  <p:childTnLst>
                                    <p:set>
                                      <p:cBhvr>
                                        <p:cTn id="80" dur="1" fill="hold">
                                          <p:stCondLst>
                                            <p:cond delay="0"/>
                                          </p:stCondLst>
                                        </p:cTn>
                                        <p:tgtEl>
                                          <p:spTgt spid="233489"/>
                                        </p:tgtEl>
                                        <p:attrNameLst>
                                          <p:attrName>style.visibility</p:attrName>
                                        </p:attrNameLst>
                                      </p:cBhvr>
                                      <p:to>
                                        <p:strVal val="visible"/>
                                      </p:to>
                                    </p:set>
                                    <p:anim calcmode="lin" valueType="num">
                                      <p:cBhvr>
                                        <p:cTn id="81" dur="500" fill="hold"/>
                                        <p:tgtEl>
                                          <p:spTgt spid="233489"/>
                                        </p:tgtEl>
                                        <p:attrNameLst>
                                          <p:attrName>ppt_w</p:attrName>
                                        </p:attrNameLst>
                                      </p:cBhvr>
                                      <p:tavLst>
                                        <p:tav tm="0">
                                          <p:val>
                                            <p:strVal val="4*#ppt_w"/>
                                          </p:val>
                                        </p:tav>
                                        <p:tav tm="100000">
                                          <p:val>
                                            <p:strVal val="#ppt_w"/>
                                          </p:val>
                                        </p:tav>
                                      </p:tavLst>
                                    </p:anim>
                                    <p:anim calcmode="lin" valueType="num">
                                      <p:cBhvr>
                                        <p:cTn id="82" dur="500" fill="hold"/>
                                        <p:tgtEl>
                                          <p:spTgt spid="233489"/>
                                        </p:tgtEl>
                                        <p:attrNameLst>
                                          <p:attrName>ppt_h</p:attrName>
                                        </p:attrNameLst>
                                      </p:cBhvr>
                                      <p:tavLst>
                                        <p:tav tm="0">
                                          <p:val>
                                            <p:strVal val="4*#ppt_h"/>
                                          </p:val>
                                        </p:tav>
                                        <p:tav tm="100000">
                                          <p:val>
                                            <p:strVal val="#ppt_h"/>
                                          </p:val>
                                        </p:tav>
                                      </p:tavLst>
                                    </p:anim>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233505"/>
                                        </p:tgtEl>
                                        <p:attrNameLst>
                                          <p:attrName>style.visibility</p:attrName>
                                        </p:attrNameLst>
                                      </p:cBhvr>
                                      <p:to>
                                        <p:strVal val="visible"/>
                                      </p:to>
                                    </p:set>
                                    <p:animEffect transition="in" filter="wipe(left)">
                                      <p:cBhvr>
                                        <p:cTn id="87" dur="500"/>
                                        <p:tgtEl>
                                          <p:spTgt spid="2335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74" grpId="0" autoUpdateAnimBg="0"/>
      <p:bldP spid="233488" grpId="0" animBg="1" autoUpdateAnimBg="0"/>
      <p:bldP spid="233489" grpId="0" autoUpdateAnimBg="0"/>
      <p:bldP spid="233493" grpId="0" animBg="1"/>
      <p:bldP spid="233493" grpId="1" animBg="1"/>
      <p:bldP spid="44059" grpId="0" animBg="1"/>
      <p:bldP spid="44059" grpId="1" animBg="1"/>
      <p:bldP spid="44057" grpId="0" animBg="1"/>
      <p:bldP spid="44057" grpId="1" animBg="1"/>
      <p:bldP spid="233505" grpId="0" animBg="1" autoUpdateAnimBg="0"/>
      <p:bldP spid="233507" grpId="0"/>
      <p:bldP spid="233508" grpId="0"/>
      <p:bldP spid="44055" grpId="0" animBg="1"/>
      <p:bldP spid="44055" grpId="1" animBg="1"/>
      <p:bldP spid="44053" grpId="0" animBg="1"/>
      <p:bldP spid="44051" grpId="0" animBg="1"/>
      <p:bldP spid="233521" grpId="0" animBg="1"/>
      <p:bldP spid="32" grpId="0" animBg="1"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35522" name="Rectangle 2"/>
          <p:cNvSpPr>
            <a:spLocks noGrp="1" noChangeArrowheads="1"/>
          </p:cNvSpPr>
          <p:nvPr>
            <p:ph type="body" sz="half" idx="1"/>
          </p:nvPr>
        </p:nvSpPr>
        <p:spPr>
          <a:xfrm>
            <a:off x="683568" y="1059582"/>
            <a:ext cx="4856731" cy="1271588"/>
          </a:xfrm>
        </p:spPr>
        <p:txBody>
          <a:bodyPr>
            <a:normAutofit/>
          </a:bodyPr>
          <a:lstStyle/>
          <a:p>
            <a:pPr eaLnBrk="1" hangingPunct="1">
              <a:buFontTx/>
              <a:buNone/>
            </a:pPr>
            <a:r>
              <a:rPr lang="zh-CN" altLang="en-US" sz="2400" b="1" dirty="0">
                <a:solidFill>
                  <a:srgbClr val="FF3300"/>
                </a:solidFill>
                <a:sym typeface="Symbol" pitchFamily="18" charset="2"/>
              </a:rPr>
              <a:t>直接左递归</a:t>
            </a:r>
            <a:r>
              <a:rPr lang="zh-CN" altLang="en-US" sz="2400" dirty="0">
                <a:solidFill>
                  <a:schemeClr val="accent2"/>
                </a:solidFill>
                <a:sym typeface="Symbol" pitchFamily="18" charset="2"/>
              </a:rPr>
              <a:t>：</a:t>
            </a:r>
            <a:r>
              <a:rPr lang="zh-CN" altLang="en-US" sz="2400" dirty="0">
                <a:solidFill>
                  <a:srgbClr val="000000"/>
                </a:solidFill>
                <a:sym typeface="Symbol" pitchFamily="18" charset="2"/>
              </a:rPr>
              <a:t>有产生式</a:t>
            </a:r>
            <a:r>
              <a:rPr lang="en-US" altLang="zh-CN" sz="2400" dirty="0">
                <a:solidFill>
                  <a:srgbClr val="000000"/>
                </a:solidFill>
                <a:sym typeface="Symbol" pitchFamily="18" charset="2"/>
              </a:rPr>
              <a:t>P </a:t>
            </a:r>
            <a:r>
              <a:rPr lang="en-US" altLang="zh-CN" sz="2400" dirty="0">
                <a:solidFill>
                  <a:srgbClr val="000000"/>
                </a:solidFill>
                <a:sym typeface="Wingdings" pitchFamily="2" charset="2"/>
              </a:rPr>
              <a:t></a:t>
            </a:r>
            <a:r>
              <a:rPr lang="en-US" altLang="zh-CN" sz="2400" dirty="0">
                <a:solidFill>
                  <a:srgbClr val="000000"/>
                </a:solidFill>
                <a:sym typeface="Symbol" pitchFamily="18" charset="2"/>
              </a:rPr>
              <a:t> P</a:t>
            </a:r>
          </a:p>
          <a:p>
            <a:pPr eaLnBrk="1" hangingPunct="1">
              <a:buFontTx/>
              <a:buNone/>
            </a:pPr>
            <a:r>
              <a:rPr lang="zh-CN" altLang="en-US" sz="2400" b="1" dirty="0">
                <a:solidFill>
                  <a:srgbClr val="FF3300"/>
                </a:solidFill>
                <a:sym typeface="Symbol" pitchFamily="18" charset="2"/>
              </a:rPr>
              <a:t>间接左递归</a:t>
            </a:r>
            <a:r>
              <a:rPr lang="zh-CN" altLang="en-US" sz="2400" dirty="0">
                <a:solidFill>
                  <a:srgbClr val="000000"/>
                </a:solidFill>
                <a:sym typeface="Symbol" pitchFamily="18" charset="2"/>
              </a:rPr>
              <a:t>：</a:t>
            </a:r>
          </a:p>
        </p:txBody>
      </p:sp>
      <p:sp>
        <p:nvSpPr>
          <p:cNvPr id="235524" name="Text Box 4"/>
          <p:cNvSpPr txBox="1">
            <a:spLocks noChangeArrowheads="1"/>
          </p:cNvSpPr>
          <p:nvPr/>
        </p:nvSpPr>
        <p:spPr bwMode="auto">
          <a:xfrm>
            <a:off x="0" y="2052012"/>
            <a:ext cx="515461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400" dirty="0"/>
              <a:t>例</a:t>
            </a:r>
            <a:r>
              <a:rPr lang="en-US" altLang="zh-CN" sz="2400" dirty="0"/>
              <a:t>2</a:t>
            </a:r>
            <a:r>
              <a:rPr lang="zh-CN" altLang="en-US" sz="2400" dirty="0"/>
              <a:t>：设有文法</a:t>
            </a:r>
            <a:r>
              <a:rPr lang="en-US" altLang="zh-CN" sz="2400" dirty="0"/>
              <a:t>G(E)</a:t>
            </a:r>
            <a:r>
              <a:rPr lang="zh-CN" altLang="en-US" sz="2400" dirty="0"/>
              <a:t>：</a:t>
            </a:r>
          </a:p>
          <a:p>
            <a:pPr eaLnBrk="1" hangingPunct="1">
              <a:spcBef>
                <a:spcPts val="0"/>
              </a:spcBef>
              <a:buFontTx/>
              <a:buNone/>
            </a:pPr>
            <a:r>
              <a:rPr lang="zh-CN" altLang="en-US" sz="2000" dirty="0">
                <a:solidFill>
                  <a:schemeClr val="accent2"/>
                </a:solidFill>
              </a:rPr>
              <a:t>    </a:t>
            </a:r>
            <a:r>
              <a:rPr lang="en-US" altLang="zh-CN" sz="2000" dirty="0">
                <a:solidFill>
                  <a:schemeClr val="accent2"/>
                </a:solidFill>
              </a:rPr>
              <a:t>(1) E </a:t>
            </a:r>
            <a:r>
              <a:rPr lang="en-US" altLang="zh-CN" sz="2000" dirty="0">
                <a:solidFill>
                  <a:schemeClr val="accent2"/>
                </a:solidFill>
                <a:sym typeface="Wingdings" pitchFamily="2" charset="2"/>
              </a:rPr>
              <a:t> </a:t>
            </a:r>
            <a:r>
              <a:rPr lang="en-US" altLang="zh-CN" sz="2000" dirty="0">
                <a:solidFill>
                  <a:schemeClr val="accent2"/>
                </a:solidFill>
              </a:rPr>
              <a:t>E+T | T</a:t>
            </a:r>
          </a:p>
          <a:p>
            <a:pPr eaLnBrk="1" hangingPunct="1">
              <a:spcBef>
                <a:spcPts val="0"/>
              </a:spcBef>
              <a:buFontTx/>
              <a:buNone/>
            </a:pPr>
            <a:r>
              <a:rPr lang="en-US" altLang="zh-CN" sz="2000" dirty="0">
                <a:solidFill>
                  <a:schemeClr val="accent2"/>
                </a:solidFill>
              </a:rPr>
              <a:t>    (2) T </a:t>
            </a:r>
            <a:r>
              <a:rPr lang="en-US" altLang="zh-CN" sz="2000" dirty="0">
                <a:solidFill>
                  <a:schemeClr val="accent2"/>
                </a:solidFill>
                <a:sym typeface="Wingdings" pitchFamily="2" charset="2"/>
              </a:rPr>
              <a:t> </a:t>
            </a:r>
            <a:r>
              <a:rPr lang="en-US" altLang="zh-CN" sz="2000" dirty="0">
                <a:solidFill>
                  <a:schemeClr val="accent2"/>
                </a:solidFill>
              </a:rPr>
              <a:t>T*F | F</a:t>
            </a:r>
          </a:p>
          <a:p>
            <a:pPr eaLnBrk="1" hangingPunct="1">
              <a:spcBef>
                <a:spcPts val="0"/>
              </a:spcBef>
              <a:buFontTx/>
              <a:buNone/>
            </a:pPr>
            <a:r>
              <a:rPr lang="en-US" altLang="zh-CN" sz="2000" dirty="0">
                <a:solidFill>
                  <a:schemeClr val="accent2"/>
                </a:solidFill>
              </a:rPr>
              <a:t>    (3) F </a:t>
            </a:r>
            <a:r>
              <a:rPr lang="en-US" altLang="zh-CN" sz="2000" dirty="0">
                <a:solidFill>
                  <a:schemeClr val="accent2"/>
                </a:solidFill>
                <a:sym typeface="Wingdings" pitchFamily="2" charset="2"/>
              </a:rPr>
              <a:t> </a:t>
            </a:r>
            <a:r>
              <a:rPr lang="en-US" altLang="zh-CN" sz="2000" dirty="0">
                <a:solidFill>
                  <a:schemeClr val="accent2"/>
                </a:solidFill>
              </a:rPr>
              <a:t>(E) | </a:t>
            </a:r>
            <a:r>
              <a:rPr lang="en-US" altLang="zh-CN" sz="2000" dirty="0" err="1">
                <a:solidFill>
                  <a:schemeClr val="accent2"/>
                </a:solidFill>
              </a:rPr>
              <a:t>i</a:t>
            </a:r>
            <a:endParaRPr lang="en-US" altLang="zh-CN" sz="2000" dirty="0">
              <a:solidFill>
                <a:schemeClr val="accent2"/>
              </a:solidFill>
            </a:endParaRPr>
          </a:p>
          <a:p>
            <a:pPr eaLnBrk="1" hangingPunct="1">
              <a:spcBef>
                <a:spcPts val="0"/>
              </a:spcBef>
              <a:buFontTx/>
              <a:buNone/>
            </a:pPr>
            <a:r>
              <a:rPr lang="zh-CN" altLang="en-US" sz="2400" dirty="0"/>
              <a:t>现有输入串</a:t>
            </a:r>
            <a:r>
              <a:rPr lang="en-US" altLang="zh-CN" sz="2800" b="1" dirty="0" err="1">
                <a:solidFill>
                  <a:srgbClr val="FF0000"/>
                </a:solidFill>
              </a:rPr>
              <a:t>i</a:t>
            </a:r>
            <a:r>
              <a:rPr lang="en-US" altLang="zh-CN" sz="2800" b="1" dirty="0">
                <a:solidFill>
                  <a:srgbClr val="FF0000"/>
                </a:solidFill>
              </a:rPr>
              <a:t>*</a:t>
            </a:r>
            <a:r>
              <a:rPr lang="en-US" altLang="zh-CN" sz="2800" b="1" dirty="0" err="1">
                <a:solidFill>
                  <a:srgbClr val="FF0000"/>
                </a:solidFill>
              </a:rPr>
              <a:t>i+i</a:t>
            </a:r>
            <a:r>
              <a:rPr lang="en-US" altLang="zh-CN" sz="2400" dirty="0"/>
              <a:t>, </a:t>
            </a:r>
            <a:r>
              <a:rPr lang="zh-CN" altLang="en-US" sz="2400" dirty="0"/>
              <a:t>分析过程是：</a:t>
            </a:r>
          </a:p>
        </p:txBody>
      </p:sp>
      <p:sp>
        <p:nvSpPr>
          <p:cNvPr id="235537" name="Text Box 17"/>
          <p:cNvSpPr txBox="1">
            <a:spLocks noChangeArrowheads="1"/>
          </p:cNvSpPr>
          <p:nvPr/>
        </p:nvSpPr>
        <p:spPr bwMode="auto">
          <a:xfrm>
            <a:off x="6014721" y="2813050"/>
            <a:ext cx="492443" cy="325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eaVert">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000"/>
              <a:t>…</a:t>
            </a:r>
          </a:p>
        </p:txBody>
      </p:sp>
      <p:grpSp>
        <p:nvGrpSpPr>
          <p:cNvPr id="2" name="Group 30"/>
          <p:cNvGrpSpPr>
            <a:grpSpLocks/>
          </p:cNvGrpSpPr>
          <p:nvPr/>
        </p:nvGrpSpPr>
        <p:grpSpPr bwMode="auto">
          <a:xfrm>
            <a:off x="7126288" y="1241423"/>
            <a:ext cx="2017712" cy="866390"/>
            <a:chOff x="3921" y="1449"/>
            <a:chExt cx="1271" cy="728"/>
          </a:xfrm>
        </p:grpSpPr>
        <p:sp>
          <p:nvSpPr>
            <p:cNvPr id="45083" name="Text Box 8"/>
            <p:cNvSpPr txBox="1">
              <a:spLocks noChangeArrowheads="1"/>
            </p:cNvSpPr>
            <p:nvPr/>
          </p:nvSpPr>
          <p:spPr bwMode="auto">
            <a:xfrm>
              <a:off x="4329" y="1449"/>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84" name="Text Box 11"/>
            <p:cNvSpPr txBox="1">
              <a:spLocks noChangeArrowheads="1"/>
            </p:cNvSpPr>
            <p:nvPr/>
          </p:nvSpPr>
          <p:spPr bwMode="auto">
            <a:xfrm>
              <a:off x="3921" y="1812"/>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85" name="Text Box 12"/>
            <p:cNvSpPr txBox="1">
              <a:spLocks noChangeArrowheads="1"/>
            </p:cNvSpPr>
            <p:nvPr/>
          </p:nvSpPr>
          <p:spPr bwMode="auto">
            <a:xfrm>
              <a:off x="4468" y="1841"/>
              <a:ext cx="20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000" dirty="0"/>
                <a:t>+</a:t>
              </a:r>
            </a:p>
          </p:txBody>
        </p:sp>
        <p:sp>
          <p:nvSpPr>
            <p:cNvPr id="45086" name="Text Box 13"/>
            <p:cNvSpPr txBox="1">
              <a:spLocks noChangeArrowheads="1"/>
            </p:cNvSpPr>
            <p:nvPr/>
          </p:nvSpPr>
          <p:spPr bwMode="auto">
            <a:xfrm>
              <a:off x="4783" y="1812"/>
              <a:ext cx="40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T</a:t>
              </a:r>
            </a:p>
          </p:txBody>
        </p:sp>
        <p:sp>
          <p:nvSpPr>
            <p:cNvPr id="45087" name="Line 20"/>
            <p:cNvSpPr>
              <a:spLocks noChangeShapeType="1"/>
            </p:cNvSpPr>
            <p:nvPr/>
          </p:nvSpPr>
          <p:spPr bwMode="auto">
            <a:xfrm flipH="1">
              <a:off x="4193" y="1721"/>
              <a:ext cx="273"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88" name="Line 21"/>
            <p:cNvSpPr>
              <a:spLocks noChangeShapeType="1"/>
            </p:cNvSpPr>
            <p:nvPr/>
          </p:nvSpPr>
          <p:spPr bwMode="auto">
            <a:xfrm>
              <a:off x="4647" y="1721"/>
              <a:ext cx="272"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89" name="Line 22"/>
            <p:cNvSpPr>
              <a:spLocks noChangeShapeType="1"/>
            </p:cNvSpPr>
            <p:nvPr/>
          </p:nvSpPr>
          <p:spPr bwMode="auto">
            <a:xfrm flipH="1">
              <a:off x="4556" y="1721"/>
              <a:ext cx="0"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grpSp>
      <p:sp>
        <p:nvSpPr>
          <p:cNvPr id="235546" name="Rectangle 26"/>
          <p:cNvSpPr>
            <a:spLocks noChangeArrowheads="1"/>
          </p:cNvSpPr>
          <p:nvPr/>
        </p:nvSpPr>
        <p:spPr bwMode="auto">
          <a:xfrm>
            <a:off x="5380038" y="3360738"/>
            <a:ext cx="3763962" cy="461665"/>
          </a:xfrm>
          <a:prstGeom prst="rect">
            <a:avLst/>
          </a:prstGeom>
          <a:solidFill>
            <a:schemeClr val="bg1"/>
          </a:solidFill>
          <a:ln w="38100" algn="ctr">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2400" b="1" i="1">
                <a:ea typeface="仿宋_GB2312" pitchFamily="49" charset="-122"/>
                <a:sym typeface="Symbol" pitchFamily="18" charset="2"/>
              </a:rPr>
              <a:t>失败：出现无限循环</a:t>
            </a:r>
          </a:p>
        </p:txBody>
      </p:sp>
      <p:sp>
        <p:nvSpPr>
          <p:cNvPr id="235547" name="Text Box 27"/>
          <p:cNvSpPr txBox="1">
            <a:spLocks noChangeArrowheads="1"/>
          </p:cNvSpPr>
          <p:nvPr/>
        </p:nvSpPr>
        <p:spPr bwMode="auto">
          <a:xfrm>
            <a:off x="0" y="3992746"/>
            <a:ext cx="56118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800" dirty="0">
                <a:solidFill>
                  <a:srgbClr val="008080"/>
                </a:solidFill>
                <a:ea typeface="华文行楷" pitchFamily="2" charset="-122"/>
              </a:rPr>
              <a:t>思考：产生无限循环的原因？</a:t>
            </a:r>
          </a:p>
        </p:txBody>
      </p:sp>
      <p:sp>
        <p:nvSpPr>
          <p:cNvPr id="45065" name="Rectangle 28"/>
          <p:cNvSpPr>
            <a:spLocks noGrp="1" noChangeArrowheads="1"/>
          </p:cNvSpPr>
          <p:nvPr>
            <p:ph type="title"/>
          </p:nvPr>
        </p:nvSpPr>
        <p:spPr>
          <a:xfrm>
            <a:off x="0" y="117475"/>
            <a:ext cx="7772400" cy="471488"/>
          </a:xfrm>
          <a:noFill/>
        </p:spPr>
        <p:txBody>
          <a:bodyPr>
            <a:normAutofit fontScale="90000"/>
          </a:bodyPr>
          <a:lstStyle/>
          <a:p>
            <a:pPr algn="l" eaLnBrk="1" hangingPunct="1">
              <a:buFontTx/>
              <a:buChar char="•"/>
            </a:pPr>
            <a:r>
              <a:rPr lang="en-US" altLang="zh-CN" sz="3200" b="1" i="1" dirty="0">
                <a:solidFill>
                  <a:srgbClr val="008000"/>
                </a:solidFill>
              </a:rPr>
              <a:t>  </a:t>
            </a:r>
            <a:r>
              <a:rPr lang="zh-CN" altLang="en-US" sz="3200" b="1" i="1" dirty="0">
                <a:solidFill>
                  <a:srgbClr val="008000"/>
                </a:solidFill>
              </a:rPr>
              <a:t>问题</a:t>
            </a:r>
            <a:r>
              <a:rPr lang="en-US" altLang="zh-CN" sz="3200" b="1" i="1" dirty="0">
                <a:solidFill>
                  <a:srgbClr val="008000"/>
                </a:solidFill>
              </a:rPr>
              <a:t>2</a:t>
            </a:r>
            <a:r>
              <a:rPr lang="zh-CN" altLang="en-US" sz="3200" b="1" i="1" dirty="0">
                <a:solidFill>
                  <a:srgbClr val="008000"/>
                </a:solidFill>
              </a:rPr>
              <a:t>：无限循环（左递归）</a:t>
            </a:r>
          </a:p>
        </p:txBody>
      </p:sp>
      <p:sp>
        <p:nvSpPr>
          <p:cNvPr id="235549" name="Rectangle 29"/>
          <p:cNvSpPr>
            <a:spLocks noChangeArrowheads="1"/>
          </p:cNvSpPr>
          <p:nvPr/>
        </p:nvSpPr>
        <p:spPr bwMode="auto">
          <a:xfrm>
            <a:off x="0" y="4733151"/>
            <a:ext cx="9144000" cy="430887"/>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zh-CN" altLang="en-US" sz="2200" dirty="0">
                <a:ea typeface="华文行楷" pitchFamily="2" charset="-122"/>
              </a:rPr>
              <a:t>文法产生式有问题：</a:t>
            </a:r>
            <a:r>
              <a:rPr lang="zh-CN" altLang="en-US" sz="2200" b="1" i="1" dirty="0">
                <a:ea typeface="华文行楷" pitchFamily="2" charset="-122"/>
                <a:sym typeface="Symbol" pitchFamily="18" charset="2"/>
              </a:rPr>
              <a:t>在最左推导过程中，使用左递归文法</a:t>
            </a:r>
            <a:endParaRPr lang="zh-CN" altLang="en-US" sz="2200" dirty="0">
              <a:ea typeface="华文行楷" pitchFamily="2" charset="-122"/>
            </a:endParaRPr>
          </a:p>
        </p:txBody>
      </p:sp>
      <p:grpSp>
        <p:nvGrpSpPr>
          <p:cNvPr id="3" name="Group 31"/>
          <p:cNvGrpSpPr>
            <a:grpSpLocks/>
          </p:cNvGrpSpPr>
          <p:nvPr/>
        </p:nvGrpSpPr>
        <p:grpSpPr bwMode="auto">
          <a:xfrm>
            <a:off x="6475413" y="1670050"/>
            <a:ext cx="2017712" cy="901305"/>
            <a:chOff x="3921" y="1445"/>
            <a:chExt cx="1271" cy="756"/>
          </a:xfrm>
        </p:grpSpPr>
        <p:sp>
          <p:nvSpPr>
            <p:cNvPr id="45076" name="Text Box 32"/>
            <p:cNvSpPr txBox="1">
              <a:spLocks noChangeArrowheads="1"/>
            </p:cNvSpPr>
            <p:nvPr/>
          </p:nvSpPr>
          <p:spPr bwMode="auto">
            <a:xfrm>
              <a:off x="4327" y="1445"/>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77" name="Text Box 33"/>
            <p:cNvSpPr txBox="1">
              <a:spLocks noChangeArrowheads="1"/>
            </p:cNvSpPr>
            <p:nvPr/>
          </p:nvSpPr>
          <p:spPr bwMode="auto">
            <a:xfrm>
              <a:off x="3921" y="1812"/>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78" name="Text Box 34"/>
            <p:cNvSpPr txBox="1">
              <a:spLocks noChangeArrowheads="1"/>
            </p:cNvSpPr>
            <p:nvPr/>
          </p:nvSpPr>
          <p:spPr bwMode="auto">
            <a:xfrm>
              <a:off x="4471" y="1865"/>
              <a:ext cx="247"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000" dirty="0"/>
                <a:t>+</a:t>
              </a:r>
            </a:p>
          </p:txBody>
        </p:sp>
        <p:sp>
          <p:nvSpPr>
            <p:cNvPr id="45079" name="Text Box 35"/>
            <p:cNvSpPr txBox="1">
              <a:spLocks noChangeArrowheads="1"/>
            </p:cNvSpPr>
            <p:nvPr/>
          </p:nvSpPr>
          <p:spPr bwMode="auto">
            <a:xfrm>
              <a:off x="4783" y="1812"/>
              <a:ext cx="40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T</a:t>
              </a:r>
            </a:p>
          </p:txBody>
        </p:sp>
        <p:sp>
          <p:nvSpPr>
            <p:cNvPr id="45080" name="Line 36"/>
            <p:cNvSpPr>
              <a:spLocks noChangeShapeType="1"/>
            </p:cNvSpPr>
            <p:nvPr/>
          </p:nvSpPr>
          <p:spPr bwMode="auto">
            <a:xfrm flipH="1">
              <a:off x="4193" y="1721"/>
              <a:ext cx="273"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81" name="Line 37"/>
            <p:cNvSpPr>
              <a:spLocks noChangeShapeType="1"/>
            </p:cNvSpPr>
            <p:nvPr/>
          </p:nvSpPr>
          <p:spPr bwMode="auto">
            <a:xfrm>
              <a:off x="4647" y="1721"/>
              <a:ext cx="272"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82" name="Line 38"/>
            <p:cNvSpPr>
              <a:spLocks noChangeShapeType="1"/>
            </p:cNvSpPr>
            <p:nvPr/>
          </p:nvSpPr>
          <p:spPr bwMode="auto">
            <a:xfrm flipH="1">
              <a:off x="4556" y="1721"/>
              <a:ext cx="0"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grpSp>
      <p:grpSp>
        <p:nvGrpSpPr>
          <p:cNvPr id="4" name="Group 39"/>
          <p:cNvGrpSpPr>
            <a:grpSpLocks/>
          </p:cNvGrpSpPr>
          <p:nvPr/>
        </p:nvGrpSpPr>
        <p:grpSpPr bwMode="auto">
          <a:xfrm>
            <a:off x="5829300" y="2117724"/>
            <a:ext cx="2017713" cy="886219"/>
            <a:chOff x="3921" y="1464"/>
            <a:chExt cx="1271" cy="744"/>
          </a:xfrm>
        </p:grpSpPr>
        <p:sp>
          <p:nvSpPr>
            <p:cNvPr id="45069" name="Text Box 40"/>
            <p:cNvSpPr txBox="1">
              <a:spLocks noChangeArrowheads="1"/>
            </p:cNvSpPr>
            <p:nvPr/>
          </p:nvSpPr>
          <p:spPr bwMode="auto">
            <a:xfrm>
              <a:off x="4330" y="1464"/>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70" name="Text Box 41"/>
            <p:cNvSpPr txBox="1">
              <a:spLocks noChangeArrowheads="1"/>
            </p:cNvSpPr>
            <p:nvPr/>
          </p:nvSpPr>
          <p:spPr bwMode="auto">
            <a:xfrm>
              <a:off x="3921" y="1812"/>
              <a:ext cx="45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E</a:t>
              </a:r>
            </a:p>
          </p:txBody>
        </p:sp>
        <p:sp>
          <p:nvSpPr>
            <p:cNvPr id="45071" name="Text Box 42"/>
            <p:cNvSpPr txBox="1">
              <a:spLocks noChangeArrowheads="1"/>
            </p:cNvSpPr>
            <p:nvPr/>
          </p:nvSpPr>
          <p:spPr bwMode="auto">
            <a:xfrm>
              <a:off x="4490" y="1872"/>
              <a:ext cx="227"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000" dirty="0"/>
                <a:t>+</a:t>
              </a:r>
            </a:p>
          </p:txBody>
        </p:sp>
        <p:sp>
          <p:nvSpPr>
            <p:cNvPr id="45072" name="Text Box 43"/>
            <p:cNvSpPr txBox="1">
              <a:spLocks noChangeArrowheads="1"/>
            </p:cNvSpPr>
            <p:nvPr/>
          </p:nvSpPr>
          <p:spPr bwMode="auto">
            <a:xfrm>
              <a:off x="4783" y="1825"/>
              <a:ext cx="40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a:t>T</a:t>
              </a:r>
            </a:p>
          </p:txBody>
        </p:sp>
        <p:sp>
          <p:nvSpPr>
            <p:cNvPr id="45073" name="Line 44"/>
            <p:cNvSpPr>
              <a:spLocks noChangeShapeType="1"/>
            </p:cNvSpPr>
            <p:nvPr/>
          </p:nvSpPr>
          <p:spPr bwMode="auto">
            <a:xfrm flipH="1">
              <a:off x="4193" y="1721"/>
              <a:ext cx="273"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74" name="Line 45"/>
            <p:cNvSpPr>
              <a:spLocks noChangeShapeType="1"/>
            </p:cNvSpPr>
            <p:nvPr/>
          </p:nvSpPr>
          <p:spPr bwMode="auto">
            <a:xfrm>
              <a:off x="4647" y="1721"/>
              <a:ext cx="272"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45075" name="Line 46"/>
            <p:cNvSpPr>
              <a:spLocks noChangeShapeType="1"/>
            </p:cNvSpPr>
            <p:nvPr/>
          </p:nvSpPr>
          <p:spPr bwMode="auto">
            <a:xfrm flipH="1">
              <a:off x="4556" y="1721"/>
              <a:ext cx="0" cy="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grpSp>
      <p:grpSp>
        <p:nvGrpSpPr>
          <p:cNvPr id="5" name="组合 4"/>
          <p:cNvGrpSpPr/>
          <p:nvPr/>
        </p:nvGrpSpPr>
        <p:grpSpPr>
          <a:xfrm>
            <a:off x="683568" y="555526"/>
            <a:ext cx="6457156" cy="606696"/>
            <a:chOff x="2614837" y="-596602"/>
            <a:chExt cx="6457156" cy="606696"/>
          </a:xfrm>
        </p:grpSpPr>
        <p:graphicFrame>
          <p:nvGraphicFramePr>
            <p:cNvPr id="45059" name="Object 2"/>
            <p:cNvGraphicFramePr>
              <a:graphicFrameLocks noGrp="1" noChangeAspect="1"/>
            </p:cNvGraphicFramePr>
            <p:nvPr>
              <p:ph sz="half" idx="2"/>
              <p:extLst>
                <p:ext uri="{D42A27DB-BD31-4B8C-83A1-F6EECF244321}">
                  <p14:modId xmlns:p14="http://schemas.microsoft.com/office/powerpoint/2010/main" val="2049014685"/>
                </p:ext>
              </p:extLst>
            </p:nvPr>
          </p:nvGraphicFramePr>
          <p:xfrm>
            <a:off x="7978279" y="-596602"/>
            <a:ext cx="338137" cy="371475"/>
          </p:xfrm>
          <a:graphic>
            <a:graphicData uri="http://schemas.openxmlformats.org/presentationml/2006/ole">
              <mc:AlternateContent xmlns:mc="http://schemas.openxmlformats.org/markup-compatibility/2006">
                <mc:Choice xmlns:v="urn:schemas-microsoft-com:vml" Requires="v">
                  <p:oleObj spid="_x0000_s9223" name="Microsoft 公式 3.0" r:id="rId4" imgW="190500" imgH="279400" progId="Equation.3">
                    <p:embed/>
                  </p:oleObj>
                </mc:Choice>
                <mc:Fallback>
                  <p:oleObj name="Microsoft 公式 3.0" r:id="rId4" imgW="190500" imgH="279400" progId="Equation.3">
                    <p:embed/>
                    <p:pic>
                      <p:nvPicPr>
                        <p:cNvPr id="45059"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78279" y="-596602"/>
                          <a:ext cx="338137" cy="371475"/>
                        </a:xfrm>
                        <a:prstGeom prst="rect">
                          <a:avLst/>
                        </a:prstGeom>
                        <a:noFill/>
                        <a:ln>
                          <a:noFill/>
                        </a:ln>
                        <a:effectLst/>
                      </p:spPr>
                    </p:pic>
                  </p:oleObj>
                </mc:Fallback>
              </mc:AlternateContent>
            </a:graphicData>
          </a:graphic>
        </p:graphicFrame>
        <p:sp>
          <p:nvSpPr>
            <p:cNvPr id="35" name="Rectangle 2"/>
            <p:cNvSpPr txBox="1">
              <a:spLocks noChangeArrowheads="1"/>
            </p:cNvSpPr>
            <p:nvPr/>
          </p:nvSpPr>
          <p:spPr>
            <a:xfrm>
              <a:off x="2614837" y="-506249"/>
              <a:ext cx="6457156" cy="516343"/>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buFontTx/>
                <a:buNone/>
              </a:pPr>
              <a:r>
                <a:rPr lang="zh-CN" altLang="en-US" sz="2400" b="1" dirty="0">
                  <a:solidFill>
                    <a:srgbClr val="FF3300"/>
                  </a:solidFill>
                </a:rPr>
                <a:t>左递归</a:t>
              </a:r>
              <a:r>
                <a:rPr lang="zh-CN" altLang="en-US" sz="2400" dirty="0">
                  <a:solidFill>
                    <a:srgbClr val="000000"/>
                  </a:solidFill>
                </a:rPr>
                <a:t>：文法中</a:t>
              </a:r>
              <a:r>
                <a:rPr lang="zh-CN" altLang="en-US" sz="2400" b="1" dirty="0">
                  <a:solidFill>
                    <a:schemeClr val="accent2"/>
                  </a:solidFill>
                </a:rPr>
                <a:t>存在</a:t>
              </a:r>
              <a:r>
                <a:rPr lang="zh-CN" altLang="en-US" sz="2400" dirty="0">
                  <a:solidFill>
                    <a:srgbClr val="000000"/>
                  </a:solidFill>
                </a:rPr>
                <a:t>某个</a:t>
              </a:r>
              <a:r>
                <a:rPr lang="en-US" altLang="zh-CN" sz="2400" dirty="0" err="1">
                  <a:solidFill>
                    <a:srgbClr val="000000"/>
                  </a:solidFill>
                </a:rPr>
                <a:t>P</a:t>
              </a:r>
              <a:r>
                <a:rPr lang="en-US" altLang="zh-CN" sz="2400" dirty="0" err="1">
                  <a:solidFill>
                    <a:srgbClr val="000000"/>
                  </a:solidFill>
                  <a:sym typeface="Symbol" pitchFamily="18" charset="2"/>
                </a:rPr>
                <a:t></a:t>
              </a:r>
              <a:r>
                <a:rPr lang="en-US" altLang="zh-CN" sz="2400" dirty="0" err="1"/>
                <a:t>Vn</a:t>
              </a:r>
              <a:r>
                <a:rPr lang="zh-CN" altLang="en-US" sz="2400" dirty="0">
                  <a:solidFill>
                    <a:srgbClr val="000000"/>
                  </a:solidFill>
                </a:rPr>
                <a:t>，有</a:t>
              </a:r>
              <a:r>
                <a:rPr lang="en-US" altLang="zh-CN" sz="2400" dirty="0">
                  <a:solidFill>
                    <a:srgbClr val="000000"/>
                  </a:solidFill>
                </a:rPr>
                <a:t>P      </a:t>
              </a:r>
              <a:r>
                <a:rPr lang="en-US" altLang="zh-CN" sz="2400" dirty="0" err="1">
                  <a:solidFill>
                    <a:srgbClr val="000000"/>
                  </a:solidFill>
                </a:rPr>
                <a:t>P</a:t>
              </a:r>
              <a:r>
                <a:rPr lang="en-US" altLang="zh-CN" sz="2400" dirty="0">
                  <a:solidFill>
                    <a:srgbClr val="000000"/>
                  </a:solidFill>
                  <a:sym typeface="Symbol" pitchFamily="18" charset="2"/>
                </a:rPr>
                <a:t></a:t>
              </a:r>
              <a:r>
                <a:rPr lang="zh-CN" altLang="en-US" sz="2400" dirty="0">
                  <a:solidFill>
                    <a:srgbClr val="000000"/>
                  </a:solidFill>
                  <a:sym typeface="Symbol" pitchFamily="18" charset="2"/>
                </a:rPr>
                <a:t>。</a:t>
              </a:r>
            </a:p>
          </p:txBody>
        </p:sp>
      </p:grpSp>
      <p:cxnSp>
        <p:nvCxnSpPr>
          <p:cNvPr id="7" name="直接连接符 6"/>
          <p:cNvCxnSpPr/>
          <p:nvPr/>
        </p:nvCxnSpPr>
        <p:spPr>
          <a:xfrm>
            <a:off x="3912146" y="1441359"/>
            <a:ext cx="1019894" cy="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4126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35522">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35522">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8" presetClass="entr" presetSubtype="12" fill="hold" grpId="0" nodeType="clickEffect">
                                  <p:stCondLst>
                                    <p:cond delay="0"/>
                                  </p:stCondLst>
                                  <p:childTnLst>
                                    <p:set>
                                      <p:cBhvr>
                                        <p:cTn id="22" dur="1" fill="hold">
                                          <p:stCondLst>
                                            <p:cond delay="0"/>
                                          </p:stCondLst>
                                        </p:cTn>
                                        <p:tgtEl>
                                          <p:spTgt spid="235524"/>
                                        </p:tgtEl>
                                        <p:attrNameLst>
                                          <p:attrName>style.visibility</p:attrName>
                                        </p:attrNameLst>
                                      </p:cBhvr>
                                      <p:to>
                                        <p:strVal val="visible"/>
                                      </p:to>
                                    </p:set>
                                    <p:animEffect transition="in" filter="strips(downLeft)">
                                      <p:cBhvr>
                                        <p:cTn id="23" dur="500"/>
                                        <p:tgtEl>
                                          <p:spTgt spid="23552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8" presetClass="entr" presetSubtype="12"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strips(downLeft)">
                                      <p:cBhvr>
                                        <p:cTn id="28" dur="1000"/>
                                        <p:tgtEl>
                                          <p:spTgt spid="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12" fill="hold"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strips(downLeft)">
                                      <p:cBhvr>
                                        <p:cTn id="33" dur="1000"/>
                                        <p:tgtEl>
                                          <p:spTgt spid="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8" presetClass="entr" presetSubtype="12" fill="hold" nodeType="click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strips(downLeft)">
                                      <p:cBhvr>
                                        <p:cTn id="38" dur="1000"/>
                                        <p:tgtEl>
                                          <p:spTgt spid="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8" presetClass="entr" presetSubtype="12" fill="hold" grpId="0" nodeType="clickEffect">
                                  <p:stCondLst>
                                    <p:cond delay="0"/>
                                  </p:stCondLst>
                                  <p:childTnLst>
                                    <p:set>
                                      <p:cBhvr>
                                        <p:cTn id="42" dur="1" fill="hold">
                                          <p:stCondLst>
                                            <p:cond delay="0"/>
                                          </p:stCondLst>
                                        </p:cTn>
                                        <p:tgtEl>
                                          <p:spTgt spid="235537"/>
                                        </p:tgtEl>
                                        <p:attrNameLst>
                                          <p:attrName>style.visibility</p:attrName>
                                        </p:attrNameLst>
                                      </p:cBhvr>
                                      <p:to>
                                        <p:strVal val="visible"/>
                                      </p:to>
                                    </p:set>
                                    <p:animEffect transition="in" filter="strips(downLeft)">
                                      <p:cBhvr>
                                        <p:cTn id="43" dur="1000"/>
                                        <p:tgtEl>
                                          <p:spTgt spid="23553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2" presetClass="entr" presetSubtype="4" fill="hold" grpId="0" nodeType="clickEffect">
                                  <p:stCondLst>
                                    <p:cond delay="0"/>
                                  </p:stCondLst>
                                  <p:childTnLst>
                                    <p:set>
                                      <p:cBhvr>
                                        <p:cTn id="47" dur="1" fill="hold">
                                          <p:stCondLst>
                                            <p:cond delay="0"/>
                                          </p:stCondLst>
                                        </p:cTn>
                                        <p:tgtEl>
                                          <p:spTgt spid="235546"/>
                                        </p:tgtEl>
                                        <p:attrNameLst>
                                          <p:attrName>style.visibility</p:attrName>
                                        </p:attrNameLst>
                                      </p:cBhvr>
                                      <p:to>
                                        <p:strVal val="visible"/>
                                      </p:to>
                                    </p:set>
                                    <p:animEffect transition="in" filter="slide(fromBottom)">
                                      <p:cBhvr>
                                        <p:cTn id="48" dur="500"/>
                                        <p:tgtEl>
                                          <p:spTgt spid="235546"/>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3" presetClass="entr" presetSubtype="32" fill="hold" grpId="0" nodeType="clickEffect">
                                  <p:stCondLst>
                                    <p:cond delay="0"/>
                                  </p:stCondLst>
                                  <p:childTnLst>
                                    <p:set>
                                      <p:cBhvr>
                                        <p:cTn id="52" dur="1" fill="hold">
                                          <p:stCondLst>
                                            <p:cond delay="0"/>
                                          </p:stCondLst>
                                        </p:cTn>
                                        <p:tgtEl>
                                          <p:spTgt spid="235547"/>
                                        </p:tgtEl>
                                        <p:attrNameLst>
                                          <p:attrName>style.visibility</p:attrName>
                                        </p:attrNameLst>
                                      </p:cBhvr>
                                      <p:to>
                                        <p:strVal val="visible"/>
                                      </p:to>
                                    </p:set>
                                    <p:anim calcmode="lin" valueType="num">
                                      <p:cBhvr>
                                        <p:cTn id="53" dur="500" fill="hold"/>
                                        <p:tgtEl>
                                          <p:spTgt spid="235547"/>
                                        </p:tgtEl>
                                        <p:attrNameLst>
                                          <p:attrName>ppt_w</p:attrName>
                                        </p:attrNameLst>
                                      </p:cBhvr>
                                      <p:tavLst>
                                        <p:tav tm="0">
                                          <p:val>
                                            <p:strVal val="4*#ppt_w"/>
                                          </p:val>
                                        </p:tav>
                                        <p:tav tm="100000">
                                          <p:val>
                                            <p:strVal val="#ppt_w"/>
                                          </p:val>
                                        </p:tav>
                                      </p:tavLst>
                                    </p:anim>
                                    <p:anim calcmode="lin" valueType="num">
                                      <p:cBhvr>
                                        <p:cTn id="54" dur="500" fill="hold"/>
                                        <p:tgtEl>
                                          <p:spTgt spid="235547"/>
                                        </p:tgtEl>
                                        <p:attrNameLst>
                                          <p:attrName>ppt_h</p:attrName>
                                        </p:attrNameLst>
                                      </p:cBhvr>
                                      <p:tavLst>
                                        <p:tav tm="0">
                                          <p:val>
                                            <p:strVal val="4*#ppt_h"/>
                                          </p:val>
                                        </p:tav>
                                        <p:tav tm="100000">
                                          <p:val>
                                            <p:strVal val="#ppt_h"/>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235549"/>
                                        </p:tgtEl>
                                        <p:attrNameLst>
                                          <p:attrName>style.visibility</p:attrName>
                                        </p:attrNameLst>
                                      </p:cBhvr>
                                      <p:to>
                                        <p:strVal val="visible"/>
                                      </p:to>
                                    </p:set>
                                    <p:animEffect transition="in" filter="wipe(left)">
                                      <p:cBhvr>
                                        <p:cTn id="59" dur="500"/>
                                        <p:tgtEl>
                                          <p:spTgt spid="235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2" grpId="0" uiExpand="1" build="p" autoUpdateAnimBg="0"/>
      <p:bldP spid="235524" grpId="0" autoUpdateAnimBg="0"/>
      <p:bldP spid="235537" grpId="0"/>
      <p:bldP spid="235546" grpId="0" animBg="1" autoUpdateAnimBg="0"/>
      <p:bldP spid="235547" grpId="0" autoUpdateAnimBg="0"/>
      <p:bldP spid="235549" grpId="0" animBg="1"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6082" name="Rectangle 2"/>
          <p:cNvSpPr>
            <a:spLocks noGrp="1" noChangeArrowheads="1"/>
          </p:cNvSpPr>
          <p:nvPr>
            <p:ph type="title"/>
          </p:nvPr>
        </p:nvSpPr>
        <p:spPr>
          <a:xfrm>
            <a:off x="2699792" y="831850"/>
            <a:ext cx="5758408" cy="566738"/>
          </a:xfrm>
        </p:spPr>
        <p:txBody>
          <a:bodyPr>
            <a:normAutofit fontScale="90000"/>
          </a:bodyPr>
          <a:lstStyle/>
          <a:p>
            <a:pPr algn="l" eaLnBrk="1" hangingPunct="1"/>
            <a:r>
              <a:rPr lang="zh-CN" altLang="en-US" sz="3600" b="1">
                <a:solidFill>
                  <a:srgbClr val="FF0000"/>
                </a:solidFill>
              </a:rPr>
              <a:t>结论</a:t>
            </a:r>
          </a:p>
        </p:txBody>
      </p:sp>
      <p:sp>
        <p:nvSpPr>
          <p:cNvPr id="237571" name="Rectangle 3"/>
          <p:cNvSpPr>
            <a:spLocks noGrp="1" noChangeArrowheads="1"/>
          </p:cNvSpPr>
          <p:nvPr>
            <p:ph type="body" idx="1"/>
          </p:nvPr>
        </p:nvSpPr>
        <p:spPr>
          <a:xfrm>
            <a:off x="900113" y="1608138"/>
            <a:ext cx="7231062" cy="2268537"/>
          </a:xfrm>
        </p:spPr>
        <p:txBody>
          <a:bodyPr>
            <a:normAutofit/>
          </a:bodyPr>
          <a:lstStyle/>
          <a:p>
            <a:pPr eaLnBrk="1" hangingPunct="1">
              <a:buFontTx/>
              <a:buNone/>
            </a:pPr>
            <a:r>
              <a:rPr lang="en-US" altLang="zh-CN" sz="2200" dirty="0">
                <a:latin typeface="宋体" panose="02010600030101010101" pitchFamily="2" charset="-122"/>
                <a:ea typeface="宋体" panose="02010600030101010101" pitchFamily="2" charset="-122"/>
              </a:rPr>
              <a:t>1. </a:t>
            </a:r>
            <a:r>
              <a:rPr lang="zh-CN" altLang="en-US" sz="2200" dirty="0">
                <a:latin typeface="宋体" panose="02010600030101010101" pitchFamily="2" charset="-122"/>
                <a:ea typeface="宋体" panose="02010600030101010101" pitchFamily="2" charset="-122"/>
              </a:rPr>
              <a:t>左递归和回溯问题的产生直接与描述语言的</a:t>
            </a:r>
            <a:r>
              <a:rPr lang="zh-CN" altLang="en-US" sz="2200" b="1" dirty="0">
                <a:solidFill>
                  <a:srgbClr val="FF0000"/>
                </a:solidFill>
                <a:latin typeface="宋体" panose="02010600030101010101" pitchFamily="2" charset="-122"/>
                <a:ea typeface="宋体" panose="02010600030101010101" pitchFamily="2" charset="-122"/>
              </a:rPr>
              <a:t>文法</a:t>
            </a:r>
            <a:r>
              <a:rPr lang="zh-CN" altLang="en-US" sz="2200" dirty="0">
                <a:latin typeface="宋体" panose="02010600030101010101" pitchFamily="2" charset="-122"/>
                <a:ea typeface="宋体" panose="02010600030101010101" pitchFamily="2" charset="-122"/>
              </a:rPr>
              <a:t>有关</a:t>
            </a:r>
          </a:p>
          <a:p>
            <a:pPr eaLnBrk="1" hangingPunct="1">
              <a:buFontTx/>
              <a:buNone/>
            </a:pPr>
            <a:endParaRPr lang="zh-CN" altLang="en-US" sz="2200" dirty="0">
              <a:latin typeface="宋体" panose="02010600030101010101" pitchFamily="2" charset="-122"/>
              <a:ea typeface="宋体" panose="02010600030101010101" pitchFamily="2" charset="-122"/>
            </a:endParaRPr>
          </a:p>
          <a:p>
            <a:pPr eaLnBrk="1" hangingPunct="1">
              <a:buFontTx/>
              <a:buNone/>
            </a:pPr>
            <a:r>
              <a:rPr lang="en-US" altLang="zh-CN" sz="2200" dirty="0">
                <a:latin typeface="宋体" panose="02010600030101010101" pitchFamily="2" charset="-122"/>
                <a:ea typeface="宋体" panose="02010600030101010101" pitchFamily="2" charset="-122"/>
              </a:rPr>
              <a:t>2. </a:t>
            </a:r>
            <a:r>
              <a:rPr lang="zh-CN" altLang="en-US" sz="2200" dirty="0">
                <a:latin typeface="宋体" panose="02010600030101010101" pitchFamily="2" charset="-122"/>
                <a:ea typeface="宋体" panose="02010600030101010101" pitchFamily="2" charset="-122"/>
              </a:rPr>
              <a:t>应该</a:t>
            </a:r>
            <a:r>
              <a:rPr lang="zh-CN" altLang="en-US" sz="2200" b="1" dirty="0">
                <a:solidFill>
                  <a:srgbClr val="FF0000"/>
                </a:solidFill>
                <a:latin typeface="宋体" panose="02010600030101010101" pitchFamily="2" charset="-122"/>
                <a:ea typeface="宋体" panose="02010600030101010101" pitchFamily="2" charset="-122"/>
              </a:rPr>
              <a:t>改造文法</a:t>
            </a:r>
            <a:r>
              <a:rPr lang="zh-CN" altLang="en-US" sz="2200" dirty="0">
                <a:latin typeface="宋体" panose="02010600030101010101" pitchFamily="2" charset="-122"/>
                <a:ea typeface="宋体" panose="02010600030101010101" pitchFamily="2" charset="-122"/>
              </a:rPr>
              <a:t>，使其不含</a:t>
            </a:r>
            <a:r>
              <a:rPr lang="zh-CN" altLang="en-US" sz="2200" dirty="0">
                <a:solidFill>
                  <a:srgbClr val="FF0000"/>
                </a:solidFill>
                <a:latin typeface="宋体" panose="02010600030101010101" pitchFamily="2" charset="-122"/>
                <a:ea typeface="宋体" panose="02010600030101010101" pitchFamily="2" charset="-122"/>
              </a:rPr>
              <a:t>左递归</a:t>
            </a:r>
            <a:r>
              <a:rPr lang="zh-CN" altLang="en-US" sz="2200" dirty="0">
                <a:latin typeface="宋体" panose="02010600030101010101" pitchFamily="2" charset="-122"/>
                <a:ea typeface="宋体" panose="02010600030101010101" pitchFamily="2" charset="-122"/>
              </a:rPr>
              <a:t>和</a:t>
            </a:r>
            <a:r>
              <a:rPr lang="zh-CN" altLang="en-US" sz="2200" dirty="0">
                <a:solidFill>
                  <a:srgbClr val="FF0000"/>
                </a:solidFill>
                <a:latin typeface="宋体" panose="02010600030101010101" pitchFamily="2" charset="-122"/>
                <a:ea typeface="宋体" panose="02010600030101010101" pitchFamily="2" charset="-122"/>
              </a:rPr>
              <a:t>回溯</a:t>
            </a:r>
            <a:r>
              <a:rPr lang="zh-CN" altLang="en-US" sz="2200" dirty="0">
                <a:latin typeface="宋体" panose="02010600030101010101" pitchFamily="2" charset="-122"/>
                <a:ea typeface="宋体" panose="02010600030101010101" pitchFamily="2" charset="-122"/>
              </a:rPr>
              <a:t>，才能进行确定的自上而下分析</a:t>
            </a:r>
          </a:p>
        </p:txBody>
      </p:sp>
      <p:pic>
        <p:nvPicPr>
          <p:cNvPr id="4" name="Picture 2" descr="https://timgsa.baidu.com/timg?image&amp;quality=80&amp;size=b9999_10000&amp;sec=1581129009716&amp;di=47d35af534c2d58a1f91742dc6592bbd&amp;imgtype=0&amp;src=http%3A%2F%2Fhiphotos.baidu.com%2Ffeed%2Fpic%2Fitem%2F0d338744ebf81a4c84fdb238db2a6059242da670.jpg"/>
          <p:cNvPicPr>
            <a:picLocks noChangeAspect="1" noChangeArrowheads="1" noCrop="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0"/>
            <a:ext cx="2675137" cy="13476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74980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237571">
                                            <p:txEl>
                                              <p:pRg st="0" end="0"/>
                                            </p:txEl>
                                          </p:spTgt>
                                        </p:tgtEl>
                                        <p:attrNameLst>
                                          <p:attrName>style.visibility</p:attrName>
                                        </p:attrNameLst>
                                      </p:cBhvr>
                                      <p:to>
                                        <p:strVal val="visible"/>
                                      </p:to>
                                    </p:set>
                                    <p:animEffect transition="in" filter="strips(downLeft)">
                                      <p:cBhvr>
                                        <p:cTn id="7" dur="500"/>
                                        <p:tgtEl>
                                          <p:spTgt spid="23757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237571">
                                            <p:txEl>
                                              <p:pRg st="2" end="2"/>
                                            </p:txEl>
                                          </p:spTgt>
                                        </p:tgtEl>
                                        <p:attrNameLst>
                                          <p:attrName>style.visibility</p:attrName>
                                        </p:attrNameLst>
                                      </p:cBhvr>
                                      <p:to>
                                        <p:strVal val="visible"/>
                                      </p:to>
                                    </p:set>
                                    <p:animEffect transition="in" filter="strips(downLeft)">
                                      <p:cBhvr>
                                        <p:cTn id="12" dur="500"/>
                                        <p:tgtEl>
                                          <p:spTgt spid="23757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1" grpId="0" build="p"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a:xfrm>
            <a:off x="457200" y="457200"/>
            <a:ext cx="7772400" cy="857250"/>
          </a:xfrm>
        </p:spPr>
        <p:txBody>
          <a:bodyPr>
            <a:normAutofit/>
          </a:bodyPr>
          <a:lstStyle/>
          <a:p>
            <a:pPr algn="l" eaLnBrk="1" hangingPunct="1"/>
            <a:r>
              <a:rPr lang="zh-CN" altLang="en-US" sz="4800" b="1" dirty="0">
                <a:solidFill>
                  <a:srgbClr val="CC0099"/>
                </a:solidFill>
                <a:ea typeface="隶书" pitchFamily="49" charset="-122"/>
              </a:rPr>
              <a:t>问题的解决方法</a:t>
            </a:r>
          </a:p>
        </p:txBody>
      </p:sp>
      <p:sp>
        <p:nvSpPr>
          <p:cNvPr id="47107" name="Rectangle 3"/>
          <p:cNvSpPr>
            <a:spLocks noGrp="1" noChangeArrowheads="1"/>
          </p:cNvSpPr>
          <p:nvPr>
            <p:ph type="body" idx="1"/>
          </p:nvPr>
        </p:nvSpPr>
        <p:spPr>
          <a:xfrm>
            <a:off x="2381250" y="2014538"/>
            <a:ext cx="4191000" cy="1528762"/>
          </a:xfrm>
        </p:spPr>
        <p:txBody>
          <a:bodyPr>
            <a:normAutofit fontScale="92500" lnSpcReduction="10000"/>
          </a:bodyPr>
          <a:lstStyle/>
          <a:p>
            <a:pPr eaLnBrk="1" hangingPunct="1"/>
            <a:r>
              <a:rPr lang="zh-CN" altLang="en-US" sz="3200" b="1" i="1" dirty="0">
                <a:solidFill>
                  <a:srgbClr val="008000"/>
                </a:solidFill>
              </a:rPr>
              <a:t>消除左递归</a:t>
            </a:r>
          </a:p>
          <a:p>
            <a:pPr eaLnBrk="1" hangingPunct="1"/>
            <a:endParaRPr lang="zh-CN" altLang="en-US" sz="3200" b="1" i="1" dirty="0"/>
          </a:p>
          <a:p>
            <a:pPr eaLnBrk="1" hangingPunct="1"/>
            <a:r>
              <a:rPr lang="zh-CN" altLang="en-US" sz="3200" b="1" i="1" dirty="0"/>
              <a:t>消除回溯</a:t>
            </a:r>
          </a:p>
        </p:txBody>
      </p:sp>
      <p:grpSp>
        <p:nvGrpSpPr>
          <p:cNvPr id="47108" name="Group 6"/>
          <p:cNvGrpSpPr>
            <a:grpSpLocks/>
          </p:cNvGrpSpPr>
          <p:nvPr/>
        </p:nvGrpSpPr>
        <p:grpSpPr bwMode="auto">
          <a:xfrm>
            <a:off x="5004048" y="2130425"/>
            <a:ext cx="3265487" cy="1323975"/>
            <a:chOff x="3385" y="1789"/>
            <a:chExt cx="2057" cy="1112"/>
          </a:xfrm>
        </p:grpSpPr>
        <p:sp>
          <p:nvSpPr>
            <p:cNvPr id="47109" name="AutoShape 4"/>
            <p:cNvSpPr>
              <a:spLocks/>
            </p:cNvSpPr>
            <p:nvPr/>
          </p:nvSpPr>
          <p:spPr bwMode="auto">
            <a:xfrm>
              <a:off x="3385" y="1789"/>
              <a:ext cx="378" cy="1112"/>
            </a:xfrm>
            <a:prstGeom prst="rightBrace">
              <a:avLst>
                <a:gd name="adj1" fmla="val 24515"/>
                <a:gd name="adj2" fmla="val 50000"/>
              </a:avLst>
            </a:prstGeom>
            <a:noFill/>
            <a:ln w="3810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sp>
          <p:nvSpPr>
            <p:cNvPr id="47110" name="Rectangle 5"/>
            <p:cNvSpPr>
              <a:spLocks noChangeArrowheads="1"/>
            </p:cNvSpPr>
            <p:nvPr/>
          </p:nvSpPr>
          <p:spPr bwMode="auto">
            <a:xfrm>
              <a:off x="3773" y="2097"/>
              <a:ext cx="1669"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ea typeface="华文行楷" pitchFamily="2" charset="-122"/>
                </a:rPr>
                <a:t>改造为等价文法</a:t>
              </a:r>
            </a:p>
          </p:txBody>
        </p:sp>
      </p:grpSp>
    </p:spTree>
    <p:extLst>
      <p:ext uri="{BB962C8B-B14F-4D97-AF65-F5344CB8AC3E}">
        <p14:creationId xmlns:p14="http://schemas.microsoft.com/office/powerpoint/2010/main" val="207243240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5762" name="Rectangle 2"/>
          <p:cNvSpPr>
            <a:spLocks noGrp="1" noChangeArrowheads="1"/>
          </p:cNvSpPr>
          <p:nvPr>
            <p:ph type="body" idx="1"/>
          </p:nvPr>
        </p:nvSpPr>
        <p:spPr>
          <a:xfrm>
            <a:off x="638175" y="1203598"/>
            <a:ext cx="7739062" cy="894978"/>
          </a:xfrm>
        </p:spPr>
        <p:txBody>
          <a:bodyPr>
            <a:normAutofit/>
          </a:bodyPr>
          <a:lstStyle/>
          <a:p>
            <a:pPr eaLnBrk="1" hangingPunct="1">
              <a:spcBef>
                <a:spcPct val="60000"/>
              </a:spcBef>
            </a:pPr>
            <a:r>
              <a:rPr lang="zh-CN" altLang="en-US" sz="2200" b="1" dirty="0">
                <a:solidFill>
                  <a:schemeClr val="accent2"/>
                </a:solidFill>
                <a:latin typeface="宋体" pitchFamily="2" charset="-122"/>
              </a:rPr>
              <a:t>方法是</a:t>
            </a:r>
            <a:r>
              <a:rPr lang="en-US" altLang="zh-CN" sz="2200" b="1" dirty="0">
                <a:solidFill>
                  <a:schemeClr val="accent2"/>
                </a:solidFill>
                <a:latin typeface="宋体" pitchFamily="2" charset="-122"/>
              </a:rPr>
              <a:t>:</a:t>
            </a:r>
            <a:r>
              <a:rPr lang="zh-CN" altLang="en-US" sz="2200" dirty="0">
                <a:latin typeface="宋体" pitchFamily="2" charset="-122"/>
              </a:rPr>
              <a:t>反复 </a:t>
            </a:r>
            <a:r>
              <a:rPr lang="zh-CN" altLang="en-US" sz="2200" b="1" dirty="0">
                <a:solidFill>
                  <a:schemeClr val="accent2"/>
                </a:solidFill>
              </a:rPr>
              <a:t>“</a:t>
            </a:r>
            <a:r>
              <a:rPr lang="zh-CN" altLang="en-US" sz="2200" b="1" dirty="0">
                <a:solidFill>
                  <a:schemeClr val="accent2"/>
                </a:solidFill>
                <a:latin typeface="宋体" pitchFamily="2" charset="-122"/>
              </a:rPr>
              <a:t>提取候选式中的公共左因子</a:t>
            </a:r>
            <a:r>
              <a:rPr lang="zh-CN" altLang="en-US" sz="2200" b="1" dirty="0">
                <a:solidFill>
                  <a:schemeClr val="accent2"/>
                </a:solidFill>
              </a:rPr>
              <a:t>”</a:t>
            </a:r>
            <a:r>
              <a:rPr lang="zh-CN" altLang="en-US" sz="2200" dirty="0">
                <a:latin typeface="宋体" pitchFamily="2" charset="-122"/>
              </a:rPr>
              <a:t>，使得文法的每个非终结符号的各个候选式的第一个符号不同</a:t>
            </a:r>
          </a:p>
        </p:txBody>
      </p:sp>
      <p:sp>
        <p:nvSpPr>
          <p:cNvPr id="245763" name="Rectangle 3"/>
          <p:cNvSpPr>
            <a:spLocks noChangeArrowheads="1"/>
          </p:cNvSpPr>
          <p:nvPr/>
        </p:nvSpPr>
        <p:spPr bwMode="auto">
          <a:xfrm>
            <a:off x="638175" y="2351088"/>
            <a:ext cx="4572000" cy="119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2400" b="1" dirty="0"/>
              <a:t>   </a:t>
            </a:r>
            <a:r>
              <a:rPr lang="zh-CN" altLang="en-US" sz="2400" b="1" dirty="0"/>
              <a:t>设产生式为</a:t>
            </a:r>
            <a:r>
              <a:rPr lang="zh-CN" altLang="en-US" sz="2800" b="1" dirty="0"/>
              <a:t>：</a:t>
            </a:r>
            <a:r>
              <a:rPr lang="en-US" altLang="zh-CN" sz="2400" b="1" dirty="0">
                <a:solidFill>
                  <a:srgbClr val="FF3300"/>
                </a:solidFill>
              </a:rPr>
              <a:t>A</a:t>
            </a:r>
            <a:r>
              <a:rPr lang="en-US" altLang="zh-CN" sz="2400" b="1" dirty="0">
                <a:solidFill>
                  <a:srgbClr val="FF3300"/>
                </a:solidFill>
                <a:latin typeface="宋体" pitchFamily="2" charset="-122"/>
              </a:rPr>
              <a:t>→</a:t>
            </a:r>
            <a:r>
              <a:rPr lang="el-GR" altLang="zh-CN" sz="2400" b="1" dirty="0">
                <a:solidFill>
                  <a:srgbClr val="FF3300"/>
                </a:solidFill>
                <a:latin typeface="宋体" pitchFamily="2" charset="-122"/>
              </a:rPr>
              <a:t>δ</a:t>
            </a:r>
            <a:r>
              <a:rPr lang="en-US" altLang="zh-CN" sz="2400" b="1" dirty="0">
                <a:solidFill>
                  <a:srgbClr val="FF3300"/>
                </a:solidFill>
              </a:rPr>
              <a:t>α</a:t>
            </a:r>
            <a:r>
              <a:rPr lang="en-US" altLang="zh-CN" sz="2400" b="1" baseline="-30000" dirty="0">
                <a:solidFill>
                  <a:srgbClr val="FF3300"/>
                </a:solidFill>
                <a:latin typeface="宋体" pitchFamily="2" charset="-122"/>
              </a:rPr>
              <a:t>1</a:t>
            </a:r>
            <a:r>
              <a:rPr lang="en-US" altLang="zh-CN" sz="2400" b="1" dirty="0">
                <a:solidFill>
                  <a:srgbClr val="FF3300"/>
                </a:solidFill>
                <a:latin typeface="宋体" pitchFamily="2" charset="-122"/>
              </a:rPr>
              <a:t>|</a:t>
            </a:r>
            <a:r>
              <a:rPr lang="el-GR" altLang="zh-CN" sz="2400" b="1" dirty="0">
                <a:solidFill>
                  <a:srgbClr val="FF3300"/>
                </a:solidFill>
                <a:latin typeface="宋体" pitchFamily="2" charset="-122"/>
              </a:rPr>
              <a:t>δ</a:t>
            </a:r>
            <a:r>
              <a:rPr lang="en-US" altLang="zh-CN" sz="2400" b="1" dirty="0">
                <a:solidFill>
                  <a:srgbClr val="FF3300"/>
                </a:solidFill>
              </a:rPr>
              <a:t>α</a:t>
            </a:r>
            <a:r>
              <a:rPr lang="en-US" altLang="zh-CN" sz="2400" b="1" baseline="-30000" dirty="0">
                <a:solidFill>
                  <a:srgbClr val="FF3300"/>
                </a:solidFill>
                <a:latin typeface="宋体" pitchFamily="2" charset="-122"/>
              </a:rPr>
              <a:t>2</a:t>
            </a:r>
            <a:r>
              <a:rPr lang="en-US" altLang="zh-CN" sz="2400" b="1" dirty="0">
                <a:solidFill>
                  <a:srgbClr val="FF3300"/>
                </a:solidFill>
                <a:latin typeface="宋体" pitchFamily="2" charset="-122"/>
              </a:rPr>
              <a:t>|</a:t>
            </a:r>
            <a:r>
              <a:rPr lang="en-US" altLang="zh-CN" sz="2400" b="1" dirty="0">
                <a:solidFill>
                  <a:srgbClr val="FF3300"/>
                </a:solidFill>
              </a:rPr>
              <a:t>…</a:t>
            </a:r>
            <a:r>
              <a:rPr lang="en-US" altLang="zh-CN" sz="2400" b="1" dirty="0">
                <a:solidFill>
                  <a:srgbClr val="FF3300"/>
                </a:solidFill>
                <a:latin typeface="宋体" pitchFamily="2" charset="-122"/>
              </a:rPr>
              <a:t>|</a:t>
            </a:r>
            <a:r>
              <a:rPr lang="el-GR" altLang="zh-CN" sz="2400" b="1" dirty="0">
                <a:solidFill>
                  <a:srgbClr val="FF3300"/>
                </a:solidFill>
                <a:latin typeface="宋体" pitchFamily="2" charset="-122"/>
              </a:rPr>
              <a:t>δ</a:t>
            </a:r>
            <a:r>
              <a:rPr lang="en-US" altLang="zh-CN" sz="2400" b="1" dirty="0">
                <a:solidFill>
                  <a:srgbClr val="FF3300"/>
                </a:solidFill>
              </a:rPr>
              <a:t>α</a:t>
            </a:r>
            <a:r>
              <a:rPr lang="en-US" altLang="zh-CN" sz="2400" b="1" baseline="-30000" dirty="0">
                <a:solidFill>
                  <a:srgbClr val="FF3300"/>
                </a:solidFill>
                <a:latin typeface="宋体" pitchFamily="2" charset="-122"/>
              </a:rPr>
              <a:t>n</a:t>
            </a:r>
            <a:r>
              <a:rPr lang="en-US" altLang="zh-CN" sz="2800" b="1" dirty="0">
                <a:solidFill>
                  <a:srgbClr val="66FFFF"/>
                </a:solidFill>
                <a:latin typeface="宋体" pitchFamily="2" charset="-122"/>
              </a:rPr>
              <a:t> </a:t>
            </a:r>
            <a:endParaRPr lang="en-US" altLang="zh-CN" sz="2000" b="1" dirty="0">
              <a:solidFill>
                <a:srgbClr val="66FFFF"/>
              </a:solidFill>
            </a:endParaRPr>
          </a:p>
        </p:txBody>
      </p:sp>
      <p:grpSp>
        <p:nvGrpSpPr>
          <p:cNvPr id="2" name="Group 4"/>
          <p:cNvGrpSpPr>
            <a:grpSpLocks/>
          </p:cNvGrpSpPr>
          <p:nvPr/>
        </p:nvGrpSpPr>
        <p:grpSpPr bwMode="auto">
          <a:xfrm>
            <a:off x="4843985" y="3551238"/>
            <a:ext cx="3472431" cy="976312"/>
            <a:chOff x="2290" y="2069"/>
            <a:chExt cx="2559" cy="635"/>
          </a:xfrm>
        </p:grpSpPr>
        <p:sp>
          <p:nvSpPr>
            <p:cNvPr id="52233" name="AutoShape 5"/>
            <p:cNvSpPr>
              <a:spLocks/>
            </p:cNvSpPr>
            <p:nvPr/>
          </p:nvSpPr>
          <p:spPr bwMode="auto">
            <a:xfrm>
              <a:off x="2290" y="2115"/>
              <a:ext cx="227" cy="544"/>
            </a:xfrm>
            <a:prstGeom prst="leftBrace">
              <a:avLst>
                <a:gd name="adj1" fmla="val 1997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sp>
          <p:nvSpPr>
            <p:cNvPr id="52234" name="Rectangle 6"/>
            <p:cNvSpPr>
              <a:spLocks noChangeArrowheads="1"/>
            </p:cNvSpPr>
            <p:nvPr/>
          </p:nvSpPr>
          <p:spPr bwMode="auto">
            <a:xfrm>
              <a:off x="2608" y="2069"/>
              <a:ext cx="2241" cy="635"/>
            </a:xfrm>
            <a:prstGeom prst="rect">
              <a:avLst/>
            </a:prstGeom>
            <a:solidFill>
              <a:schemeClr val="bg1"/>
            </a:solidFill>
            <a:ln w="38100">
              <a:solidFill>
                <a:srgbClr val="3366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b="1" dirty="0"/>
                <a:t>A</a:t>
              </a:r>
              <a:r>
                <a:rPr lang="en-US" altLang="zh-CN" b="1" dirty="0">
                  <a:sym typeface="Symbol" pitchFamily="18" charset="2"/>
                </a:rPr>
                <a:t></a:t>
              </a:r>
              <a:r>
                <a:rPr lang="el-GR" altLang="zh-CN" b="1" dirty="0">
                  <a:latin typeface="宋体" pitchFamily="2" charset="-122"/>
                </a:rPr>
                <a:t>δ</a:t>
              </a:r>
              <a:r>
                <a:rPr lang="en-US" altLang="zh-CN" b="1" dirty="0"/>
                <a:t>A'</a:t>
              </a:r>
              <a:endParaRPr lang="en-US" altLang="zh-CN" sz="2400" b="1" dirty="0"/>
            </a:p>
            <a:p>
              <a:pPr lvl="1" eaLnBrk="1" hangingPunct="1">
                <a:lnSpc>
                  <a:spcPct val="90000"/>
                </a:lnSpc>
                <a:buFontTx/>
                <a:buNone/>
              </a:pPr>
              <a:r>
                <a:rPr lang="en-US" altLang="zh-CN" sz="2400" b="1" dirty="0"/>
                <a:t>A</a:t>
              </a:r>
              <a:r>
                <a:rPr lang="en-US" altLang="zh-CN" b="1" dirty="0"/>
                <a:t>'</a:t>
              </a:r>
              <a:r>
                <a:rPr lang="en-US" altLang="zh-CN" sz="2400" b="1" dirty="0"/>
                <a:t> </a:t>
              </a:r>
              <a:r>
                <a:rPr lang="en-US" altLang="zh-CN" sz="2400" b="1" dirty="0">
                  <a:sym typeface="Symbol" pitchFamily="18" charset="2"/>
                </a:rPr>
                <a:t></a:t>
              </a:r>
              <a:r>
                <a:rPr lang="en-US" altLang="zh-CN" sz="2400" b="1" dirty="0"/>
                <a:t>α</a:t>
              </a:r>
              <a:r>
                <a:rPr lang="en-US" altLang="zh-CN" sz="2400" b="1" baseline="-30000" dirty="0"/>
                <a:t>1</a:t>
              </a:r>
              <a:r>
                <a:rPr lang="en-US" altLang="zh-CN" sz="2400" b="1" dirty="0"/>
                <a:t>|α</a:t>
              </a:r>
              <a:r>
                <a:rPr lang="en-US" altLang="zh-CN" sz="2400" b="1" baseline="-30000" dirty="0"/>
                <a:t>2</a:t>
              </a:r>
              <a:r>
                <a:rPr lang="en-US" altLang="zh-CN" b="1" dirty="0"/>
                <a:t>|…|α</a:t>
              </a:r>
              <a:r>
                <a:rPr lang="en-US" altLang="zh-CN" b="1" baseline="-30000" dirty="0"/>
                <a:t>n</a:t>
              </a:r>
            </a:p>
          </p:txBody>
        </p:sp>
      </p:grpSp>
      <p:grpSp>
        <p:nvGrpSpPr>
          <p:cNvPr id="3" name="Group 7"/>
          <p:cNvGrpSpPr>
            <a:grpSpLocks/>
          </p:cNvGrpSpPr>
          <p:nvPr/>
        </p:nvGrpSpPr>
        <p:grpSpPr bwMode="auto">
          <a:xfrm>
            <a:off x="3145360" y="3320331"/>
            <a:ext cx="1631950" cy="763587"/>
            <a:chOff x="2086" y="3336"/>
            <a:chExt cx="1028" cy="642"/>
          </a:xfrm>
        </p:grpSpPr>
        <p:sp>
          <p:nvSpPr>
            <p:cNvPr id="52231" name="Rectangle 8"/>
            <p:cNvSpPr>
              <a:spLocks noChangeArrowheads="1"/>
            </p:cNvSpPr>
            <p:nvPr/>
          </p:nvSpPr>
          <p:spPr bwMode="auto">
            <a:xfrm>
              <a:off x="2184" y="3437"/>
              <a:ext cx="892"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2400">
                  <a:latin typeface="宋体" pitchFamily="2" charset="-122"/>
                </a:rPr>
                <a:t>替换为：</a:t>
              </a:r>
            </a:p>
          </p:txBody>
        </p:sp>
        <p:sp>
          <p:nvSpPr>
            <p:cNvPr id="52232" name="AutoShape 9"/>
            <p:cNvSpPr>
              <a:spLocks noChangeArrowheads="1"/>
            </p:cNvSpPr>
            <p:nvPr/>
          </p:nvSpPr>
          <p:spPr bwMode="auto">
            <a:xfrm rot="11143631" flipH="1">
              <a:off x="2086" y="3336"/>
              <a:ext cx="1028" cy="642"/>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8 w 21600"/>
                <a:gd name="T13" fmla="*/ 5316 h 21600"/>
                <a:gd name="T14" fmla="*/ 21138 w 21600"/>
                <a:gd name="T15" fmla="*/ 6830 h 21600"/>
              </a:gdLst>
              <a:ahLst/>
              <a:cxnLst>
                <a:cxn ang="T8">
                  <a:pos x="T0" y="T1"/>
                </a:cxn>
                <a:cxn ang="T9">
                  <a:pos x="T2" y="T3"/>
                </a:cxn>
                <a:cxn ang="T10">
                  <a:pos x="T4" y="T5"/>
                </a:cxn>
                <a:cxn ang="T11">
                  <a:pos x="T6" y="T7"/>
                </a:cxn>
              </a:cxnLst>
              <a:rect l="T12" t="T13" r="T14" b="T15"/>
              <a:pathLst>
                <a:path w="21600" h="21600">
                  <a:moveTo>
                    <a:pt x="21600" y="6079"/>
                  </a:moveTo>
                  <a:lnTo>
                    <a:pt x="17937" y="0"/>
                  </a:lnTo>
                  <a:lnTo>
                    <a:pt x="17937" y="5327"/>
                  </a:lnTo>
                  <a:lnTo>
                    <a:pt x="12427" y="5327"/>
                  </a:lnTo>
                  <a:cubicBezTo>
                    <a:pt x="5564" y="5327"/>
                    <a:pt x="0" y="8385"/>
                    <a:pt x="0" y="12158"/>
                  </a:cubicBezTo>
                  <a:lnTo>
                    <a:pt x="0" y="21600"/>
                  </a:lnTo>
                  <a:lnTo>
                    <a:pt x="1537" y="21600"/>
                  </a:lnTo>
                  <a:lnTo>
                    <a:pt x="1537" y="12158"/>
                  </a:lnTo>
                  <a:cubicBezTo>
                    <a:pt x="1537" y="9216"/>
                    <a:pt x="6413" y="6831"/>
                    <a:pt x="12427" y="6831"/>
                  </a:cubicBezTo>
                  <a:lnTo>
                    <a:pt x="17937" y="6831"/>
                  </a:lnTo>
                  <a:lnTo>
                    <a:pt x="17937" y="12158"/>
                  </a:lnTo>
                  <a:lnTo>
                    <a:pt x="21600" y="6079"/>
                  </a:lnTo>
                  <a:close/>
                </a:path>
              </a:pathLst>
            </a:custGeom>
            <a:solidFill>
              <a:schemeClr val="accent1"/>
            </a:solidFill>
            <a:ln w="9525">
              <a:solidFill>
                <a:schemeClr val="tx1"/>
              </a:solidFill>
              <a:miter lim="800000"/>
              <a:headEnd/>
              <a:tailEnd/>
            </a:ln>
          </p:spPr>
          <p:txBody>
            <a:bodyPr wrap="none" anchor="ctr"/>
            <a:lstStyle/>
            <a:p>
              <a:endParaRPr lang="zh-CN" altLang="en-US" sz="2000"/>
            </a:p>
          </p:txBody>
        </p:sp>
      </p:grpSp>
      <p:sp>
        <p:nvSpPr>
          <p:cNvPr id="52230" name="Rectangle 10"/>
          <p:cNvSpPr>
            <a:spLocks noGrp="1" noChangeArrowheads="1"/>
          </p:cNvSpPr>
          <p:nvPr>
            <p:ph type="title"/>
          </p:nvPr>
        </p:nvSpPr>
        <p:spPr>
          <a:xfrm>
            <a:off x="0" y="274638"/>
            <a:ext cx="7772400" cy="471487"/>
          </a:xfrm>
          <a:noFill/>
        </p:spPr>
        <p:txBody>
          <a:bodyPr>
            <a:normAutofit fontScale="90000"/>
          </a:bodyPr>
          <a:lstStyle/>
          <a:p>
            <a:pPr algn="l" eaLnBrk="1" hangingPunct="1">
              <a:buFontTx/>
              <a:buChar char="•"/>
            </a:pPr>
            <a:r>
              <a:rPr lang="zh-CN" altLang="en-US" sz="3600" b="1" i="1">
                <a:solidFill>
                  <a:srgbClr val="008000"/>
                </a:solidFill>
              </a:rPr>
              <a:t>消除回溯</a:t>
            </a:r>
          </a:p>
        </p:txBody>
      </p:sp>
      <p:sp>
        <p:nvSpPr>
          <p:cNvPr id="4" name="矩形 3"/>
          <p:cNvSpPr/>
          <p:nvPr/>
        </p:nvSpPr>
        <p:spPr>
          <a:xfrm>
            <a:off x="221737" y="3945910"/>
            <a:ext cx="1653017" cy="461665"/>
          </a:xfrm>
          <a:prstGeom prst="rect">
            <a:avLst/>
          </a:prstGeom>
        </p:spPr>
        <p:txBody>
          <a:bodyPr wrap="none">
            <a:spAutoFit/>
          </a:bodyPr>
          <a:lstStyle/>
          <a:p>
            <a:r>
              <a:rPr lang="en-US" altLang="zh-CN" sz="2400" b="1" dirty="0">
                <a:solidFill>
                  <a:schemeClr val="accent2"/>
                </a:solidFill>
              </a:rPr>
              <a:t>A </a:t>
            </a:r>
            <a:r>
              <a:rPr lang="en-US" altLang="zh-CN" sz="2400" b="1" dirty="0">
                <a:solidFill>
                  <a:schemeClr val="accent2"/>
                </a:solidFill>
                <a:sym typeface="Wingdings" pitchFamily="2" charset="2"/>
              </a:rPr>
              <a:t></a:t>
            </a:r>
            <a:r>
              <a:rPr lang="en-US" altLang="zh-CN" sz="2400" b="1" dirty="0">
                <a:solidFill>
                  <a:schemeClr val="accent2"/>
                </a:solidFill>
              </a:rPr>
              <a:t> ** | *</a:t>
            </a:r>
          </a:p>
        </p:txBody>
      </p:sp>
      <p:sp>
        <p:nvSpPr>
          <p:cNvPr id="12" name="TextBox 12">
            <a:extLst>
              <a:ext uri="{FF2B5EF4-FFF2-40B4-BE49-F238E27FC236}">
                <a16:creationId xmlns:a16="http://schemas.microsoft.com/office/drawing/2014/main" id="{4DB35419-4B76-46B5-84D9-6B9CDA9B5EFD}"/>
              </a:ext>
            </a:extLst>
          </p:cNvPr>
          <p:cNvSpPr txBox="1">
            <a:spLocks noChangeArrowheads="1"/>
          </p:cNvSpPr>
          <p:nvPr/>
        </p:nvSpPr>
        <p:spPr bwMode="auto">
          <a:xfrm>
            <a:off x="5724128" y="323562"/>
            <a:ext cx="2816055" cy="584775"/>
          </a:xfrm>
          <a:prstGeom prst="rect">
            <a:avLst/>
          </a:prstGeom>
          <a:ln/>
        </p:spPr>
        <p:style>
          <a:lnRef idx="1">
            <a:schemeClr val="accent1"/>
          </a:lnRef>
          <a:fillRef idx="2">
            <a:schemeClr val="accent1"/>
          </a:fillRef>
          <a:effectRef idx="1">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defRPr/>
            </a:pPr>
            <a:r>
              <a:rPr lang="zh-CN" altLang="en-US" dirty="0">
                <a:ea typeface="华文行楷" pitchFamily="2" charset="-122"/>
              </a:rPr>
              <a:t>利用文法等价</a:t>
            </a:r>
          </a:p>
        </p:txBody>
      </p:sp>
    </p:spTree>
    <p:extLst>
      <p:ext uri="{BB962C8B-B14F-4D97-AF65-F5344CB8AC3E}">
        <p14:creationId xmlns:p14="http://schemas.microsoft.com/office/powerpoint/2010/main" val="23480428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45762">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8" presetClass="entr" presetSubtype="12" fill="hold" grpId="0" nodeType="clickEffect">
                                  <p:stCondLst>
                                    <p:cond delay="0"/>
                                  </p:stCondLst>
                                  <p:childTnLst>
                                    <p:set>
                                      <p:cBhvr>
                                        <p:cTn id="14" dur="1" fill="hold">
                                          <p:stCondLst>
                                            <p:cond delay="0"/>
                                          </p:stCondLst>
                                        </p:cTn>
                                        <p:tgtEl>
                                          <p:spTgt spid="245763">
                                            <p:txEl>
                                              <p:pRg st="0" end="0"/>
                                            </p:txEl>
                                          </p:spTgt>
                                        </p:tgtEl>
                                        <p:attrNameLst>
                                          <p:attrName>style.visibility</p:attrName>
                                        </p:attrNameLst>
                                      </p:cBhvr>
                                      <p:to>
                                        <p:strVal val="visible"/>
                                      </p:to>
                                    </p:set>
                                    <p:animEffect transition="in" filter="strips(downLeft)">
                                      <p:cBhvr>
                                        <p:cTn id="15" dur="500"/>
                                        <p:tgtEl>
                                          <p:spTgt spid="245763">
                                            <p:txEl>
                                              <p:pRg st="0" end="0"/>
                                            </p:txEl>
                                          </p:spTgt>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499"/>
                                          </p:stCondLst>
                                        </p:cTn>
                                        <p:tgtEl>
                                          <p:spTgt spid="3"/>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8" presetClass="entr" presetSubtype="12" fill="hold"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strips(downLeft)">
                                      <p:cBhvr>
                                        <p:cTn id="24" dur="500"/>
                                        <p:tgtEl>
                                          <p:spTgt spid="2"/>
                                        </p:tgtEl>
                                      </p:cBhvr>
                                    </p:animEffect>
                                  </p:childTnLst>
                                </p:cTn>
                              </p:par>
                            </p:childTnLst>
                          </p:cTn>
                        </p:par>
                      </p:childTnLst>
                    </p:cTn>
                  </p:par>
                  <p:par>
                    <p:cTn id="25" fill="hold">
                      <p:stCondLst>
                        <p:cond delay="indefinite"/>
                      </p:stCondLst>
                      <p:childTnLst>
                        <p:par>
                          <p:cTn id="26" fill="hold">
                            <p:stCondLst>
                              <p:cond delay="0"/>
                            </p:stCondLst>
                            <p:childTnLst>
                              <p:par>
                                <p:cTn id="27" presetID="24" presetClass="entr" presetSubtype="0"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anim to="" calcmode="lin" valueType="num">
                                      <p:cBhvr>
                                        <p:cTn id="29" dur="1" fill="hold"/>
                                        <p:tgtEl>
                                          <p:spTgt spid="12"/>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62" grpId="0" build="p" autoUpdateAnimBg="0"/>
      <p:bldP spid="245763" grpId="0" build="p" autoUpdateAnimBg="0"/>
      <p:bldP spid="4" grpId="0"/>
      <p:bldP spid="1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body" idx="1"/>
          </p:nvPr>
        </p:nvSpPr>
        <p:spPr>
          <a:xfrm>
            <a:off x="679450" y="835025"/>
            <a:ext cx="7772400" cy="1304677"/>
          </a:xfrm>
        </p:spPr>
        <p:txBody>
          <a:bodyPr>
            <a:normAutofit/>
          </a:bodyPr>
          <a:lstStyle/>
          <a:p>
            <a:pPr eaLnBrk="1" hangingPunct="1">
              <a:lnSpc>
                <a:spcPct val="90000"/>
              </a:lnSpc>
            </a:pPr>
            <a:r>
              <a:rPr lang="zh-CN" altLang="en-US" sz="2400" dirty="0"/>
              <a:t>例</a:t>
            </a:r>
            <a:r>
              <a:rPr lang="en-US" altLang="zh-CN" sz="2400" dirty="0"/>
              <a:t>3</a:t>
            </a:r>
            <a:r>
              <a:rPr lang="zh-CN" altLang="en-US" sz="2400" dirty="0"/>
              <a:t>：有如下</a:t>
            </a:r>
            <a:r>
              <a:rPr lang="en-US" altLang="zh-CN" sz="2400" dirty="0"/>
              <a:t>&lt;IF</a:t>
            </a:r>
            <a:r>
              <a:rPr lang="zh-CN" altLang="en-US" sz="2400" dirty="0"/>
              <a:t>语句</a:t>
            </a:r>
            <a:r>
              <a:rPr lang="en-US" altLang="zh-CN" sz="2400" dirty="0"/>
              <a:t>&gt;</a:t>
            </a:r>
            <a:r>
              <a:rPr lang="zh-CN" altLang="en-US" sz="2400" dirty="0"/>
              <a:t>的产生式：</a:t>
            </a:r>
          </a:p>
          <a:p>
            <a:pPr lvl="1" eaLnBrk="1" hangingPunct="1">
              <a:lnSpc>
                <a:spcPct val="90000"/>
              </a:lnSpc>
              <a:buFontTx/>
              <a:buNone/>
            </a:pPr>
            <a:r>
              <a:rPr lang="zh-CN" altLang="en-US" sz="2200" dirty="0">
                <a:solidFill>
                  <a:schemeClr val="accent2"/>
                </a:solidFill>
              </a:rPr>
              <a:t>          </a:t>
            </a:r>
            <a:r>
              <a:rPr lang="en-US" altLang="zh-CN" sz="2200" dirty="0">
                <a:solidFill>
                  <a:schemeClr val="accent2"/>
                </a:solidFill>
              </a:rPr>
              <a:t>&lt;IF</a:t>
            </a:r>
            <a:r>
              <a:rPr lang="zh-CN" altLang="en-US" sz="2200" dirty="0">
                <a:solidFill>
                  <a:schemeClr val="accent2"/>
                </a:solidFill>
              </a:rPr>
              <a:t>语句</a:t>
            </a:r>
            <a:r>
              <a:rPr lang="en-US" altLang="zh-CN" sz="2200" dirty="0">
                <a:solidFill>
                  <a:schemeClr val="accent2"/>
                </a:solidFill>
              </a:rPr>
              <a:t>&gt; </a:t>
            </a:r>
            <a:r>
              <a:rPr lang="en-US" altLang="zh-CN" sz="2200" b="1" dirty="0">
                <a:solidFill>
                  <a:schemeClr val="accent2"/>
                </a:solidFill>
                <a:sym typeface="Wingdings" pitchFamily="2" charset="2"/>
              </a:rPr>
              <a:t></a:t>
            </a:r>
            <a:r>
              <a:rPr lang="en-US" altLang="zh-CN" sz="2200" dirty="0">
                <a:solidFill>
                  <a:schemeClr val="accent2"/>
                </a:solidFill>
              </a:rPr>
              <a:t> if  E then S1 else S2</a:t>
            </a:r>
          </a:p>
          <a:p>
            <a:pPr lvl="1" eaLnBrk="1" hangingPunct="1">
              <a:lnSpc>
                <a:spcPct val="90000"/>
              </a:lnSpc>
              <a:buFontTx/>
              <a:buNone/>
            </a:pPr>
            <a:r>
              <a:rPr lang="en-US" altLang="zh-CN" sz="2200" dirty="0">
                <a:solidFill>
                  <a:schemeClr val="accent2"/>
                </a:solidFill>
              </a:rPr>
              <a:t>          &lt;IF</a:t>
            </a:r>
            <a:r>
              <a:rPr lang="zh-CN" altLang="en-US" sz="2200" dirty="0">
                <a:solidFill>
                  <a:schemeClr val="accent2"/>
                </a:solidFill>
              </a:rPr>
              <a:t>语句</a:t>
            </a:r>
            <a:r>
              <a:rPr lang="en-US" altLang="zh-CN" sz="2200" dirty="0">
                <a:solidFill>
                  <a:schemeClr val="accent2"/>
                </a:solidFill>
              </a:rPr>
              <a:t>&gt; </a:t>
            </a:r>
            <a:r>
              <a:rPr lang="en-US" altLang="zh-CN" sz="2200" b="1" dirty="0">
                <a:solidFill>
                  <a:schemeClr val="accent2"/>
                </a:solidFill>
                <a:sym typeface="Wingdings" pitchFamily="2" charset="2"/>
              </a:rPr>
              <a:t></a:t>
            </a:r>
            <a:r>
              <a:rPr lang="en-US" altLang="zh-CN" sz="2200" dirty="0">
                <a:solidFill>
                  <a:schemeClr val="accent2"/>
                </a:solidFill>
              </a:rPr>
              <a:t> if  E then S1</a:t>
            </a:r>
            <a:r>
              <a:rPr lang="en-US" altLang="zh-CN" sz="2200" dirty="0"/>
              <a:t>	</a:t>
            </a:r>
            <a:endParaRPr lang="en-US" altLang="zh-CN" sz="2200" dirty="0">
              <a:solidFill>
                <a:schemeClr val="accent2"/>
              </a:solidFill>
            </a:endParaRPr>
          </a:p>
        </p:txBody>
      </p:sp>
      <p:sp>
        <p:nvSpPr>
          <p:cNvPr id="247811" name="Rectangle 3"/>
          <p:cNvSpPr>
            <a:spLocks noChangeArrowheads="1"/>
          </p:cNvSpPr>
          <p:nvPr/>
        </p:nvSpPr>
        <p:spPr bwMode="auto">
          <a:xfrm>
            <a:off x="1481139" y="2357438"/>
            <a:ext cx="5467126"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dirty="0"/>
              <a:t>提取左因子后：</a:t>
            </a:r>
          </a:p>
          <a:p>
            <a:pPr lvl="1" eaLnBrk="1" hangingPunct="1">
              <a:spcBef>
                <a:spcPct val="50000"/>
              </a:spcBef>
              <a:buFontTx/>
              <a:buNone/>
            </a:pPr>
            <a:r>
              <a:rPr lang="zh-CN" altLang="en-US" sz="2400" dirty="0">
                <a:solidFill>
                  <a:schemeClr val="accent2"/>
                </a:solidFill>
              </a:rPr>
              <a:t>          </a:t>
            </a:r>
            <a:r>
              <a:rPr lang="en-US" altLang="zh-CN" sz="2400" dirty="0">
                <a:solidFill>
                  <a:schemeClr val="accent2"/>
                </a:solidFill>
              </a:rPr>
              <a:t>&lt;IF</a:t>
            </a:r>
            <a:r>
              <a:rPr lang="zh-CN" altLang="en-US" sz="2400" dirty="0">
                <a:solidFill>
                  <a:schemeClr val="accent2"/>
                </a:solidFill>
              </a:rPr>
              <a:t>语句</a:t>
            </a:r>
            <a:r>
              <a:rPr lang="en-US" altLang="zh-CN" sz="2400" dirty="0">
                <a:solidFill>
                  <a:schemeClr val="accent2"/>
                </a:solidFill>
              </a:rPr>
              <a:t>&gt; </a:t>
            </a:r>
            <a:r>
              <a:rPr lang="en-US" altLang="zh-CN" sz="2400" b="1" dirty="0">
                <a:solidFill>
                  <a:schemeClr val="accent2"/>
                </a:solidFill>
                <a:sym typeface="Wingdings" pitchFamily="2" charset="2"/>
              </a:rPr>
              <a:t></a:t>
            </a:r>
            <a:r>
              <a:rPr lang="en-US" altLang="zh-CN" sz="2400" dirty="0">
                <a:solidFill>
                  <a:schemeClr val="accent2"/>
                </a:solidFill>
              </a:rPr>
              <a:t> if  E then S1 B</a:t>
            </a:r>
          </a:p>
          <a:p>
            <a:pPr lvl="1" eaLnBrk="1" hangingPunct="1">
              <a:spcBef>
                <a:spcPct val="50000"/>
              </a:spcBef>
              <a:buFontTx/>
              <a:buNone/>
            </a:pPr>
            <a:r>
              <a:rPr lang="en-US" altLang="zh-CN" sz="2400" dirty="0">
                <a:solidFill>
                  <a:schemeClr val="accent2"/>
                </a:solidFill>
              </a:rPr>
              <a:t>          B </a:t>
            </a:r>
            <a:r>
              <a:rPr lang="en-US" altLang="zh-CN" sz="2400" b="1" dirty="0">
                <a:solidFill>
                  <a:schemeClr val="accent2"/>
                </a:solidFill>
                <a:sym typeface="Wingdings" pitchFamily="2" charset="2"/>
              </a:rPr>
              <a:t></a:t>
            </a:r>
            <a:r>
              <a:rPr lang="en-US" altLang="zh-CN" sz="2400" dirty="0">
                <a:solidFill>
                  <a:schemeClr val="accent2"/>
                </a:solidFill>
              </a:rPr>
              <a:t> else S2 |</a:t>
            </a:r>
            <a:r>
              <a:rPr lang="en-US" altLang="zh-CN" sz="2400" b="1" dirty="0">
                <a:solidFill>
                  <a:schemeClr val="accent2"/>
                </a:solidFill>
                <a:latin typeface="宋体" pitchFamily="2" charset="-122"/>
              </a:rPr>
              <a:t>ε</a:t>
            </a:r>
            <a:r>
              <a:rPr lang="en-US" altLang="zh-CN" sz="2400" dirty="0">
                <a:solidFill>
                  <a:schemeClr val="accent2"/>
                </a:solidFill>
              </a:rPr>
              <a:t> </a:t>
            </a:r>
          </a:p>
        </p:txBody>
      </p:sp>
      <p:cxnSp>
        <p:nvCxnSpPr>
          <p:cNvPr id="3" name="直接连接符 2"/>
          <p:cNvCxnSpPr/>
          <p:nvPr/>
        </p:nvCxnSpPr>
        <p:spPr>
          <a:xfrm>
            <a:off x="3707904" y="1563638"/>
            <a:ext cx="1584176" cy="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3707904" y="1923678"/>
            <a:ext cx="1584176" cy="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9571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par>
                                <p:cTn id="8" presetID="22" presetClass="entr" presetSubtype="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478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1"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87313" y="-14288"/>
            <a:ext cx="7772401" cy="857251"/>
          </a:xfrm>
        </p:spPr>
        <p:txBody>
          <a:bodyPr/>
          <a:lstStyle/>
          <a:p>
            <a:pPr eaLnBrk="1" hangingPunct="1"/>
            <a:r>
              <a:rPr lang="zh-CN" altLang="en-US">
                <a:solidFill>
                  <a:schemeClr val="tx1"/>
                </a:solidFill>
                <a:ea typeface="隶书" pitchFamily="49" charset="-122"/>
              </a:rPr>
              <a:t>练习</a:t>
            </a:r>
          </a:p>
        </p:txBody>
      </p:sp>
      <p:sp>
        <p:nvSpPr>
          <p:cNvPr id="54275" name="Rectangle 3"/>
          <p:cNvSpPr>
            <a:spLocks noGrp="1" noChangeArrowheads="1"/>
          </p:cNvSpPr>
          <p:nvPr>
            <p:ph type="body" idx="1"/>
          </p:nvPr>
        </p:nvSpPr>
        <p:spPr>
          <a:xfrm>
            <a:off x="249238" y="1612900"/>
            <a:ext cx="4943475" cy="503238"/>
          </a:xfrm>
        </p:spPr>
        <p:txBody>
          <a:bodyPr/>
          <a:lstStyle/>
          <a:p>
            <a:pPr eaLnBrk="1" hangingPunct="1"/>
            <a:r>
              <a:rPr lang="zh-CN" altLang="en-US" sz="2400"/>
              <a:t>提取下述文法的左因子</a:t>
            </a:r>
          </a:p>
        </p:txBody>
      </p:sp>
      <p:sp>
        <p:nvSpPr>
          <p:cNvPr id="54276" name="Text Box 4"/>
          <p:cNvSpPr txBox="1">
            <a:spLocks noChangeArrowheads="1"/>
          </p:cNvSpPr>
          <p:nvPr/>
        </p:nvSpPr>
        <p:spPr bwMode="auto">
          <a:xfrm>
            <a:off x="5337175" y="427038"/>
            <a:ext cx="3806825" cy="1569660"/>
          </a:xfrm>
          <a:prstGeom prst="rect">
            <a:avLst/>
          </a:prstGeom>
          <a:solidFill>
            <a:schemeClr val="bg1"/>
          </a:solidFill>
          <a:ln w="38100">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400">
                <a:ea typeface="华文行楷" pitchFamily="2" charset="-122"/>
              </a:rPr>
              <a:t>S </a:t>
            </a:r>
            <a:r>
              <a:rPr lang="en-US" altLang="zh-CN" sz="2400">
                <a:ea typeface="华文行楷" pitchFamily="2" charset="-122"/>
                <a:sym typeface="Wingdings" pitchFamily="2" charset="2"/>
              </a:rPr>
              <a:t> (T) | a + S | a</a:t>
            </a:r>
          </a:p>
          <a:p>
            <a:pPr eaLnBrk="1" hangingPunct="1">
              <a:spcBef>
                <a:spcPct val="50000"/>
              </a:spcBef>
              <a:buFontTx/>
              <a:buNone/>
            </a:pPr>
            <a:r>
              <a:rPr lang="en-US" altLang="zh-CN" sz="2400">
                <a:ea typeface="华文行楷" pitchFamily="2" charset="-122"/>
                <a:sym typeface="Wingdings" pitchFamily="2" charset="2"/>
              </a:rPr>
              <a:t>T  ST</a:t>
            </a:r>
            <a:r>
              <a:rPr lang="en-US" altLang="zh-CN" sz="2400" b="1"/>
              <a:t>' </a:t>
            </a:r>
            <a:endParaRPr lang="en-US" altLang="zh-CN" sz="2400">
              <a:ea typeface="华文行楷" pitchFamily="2" charset="-122"/>
              <a:sym typeface="Wingdings" pitchFamily="2" charset="2"/>
            </a:endParaRPr>
          </a:p>
          <a:p>
            <a:pPr eaLnBrk="1" hangingPunct="1">
              <a:spcBef>
                <a:spcPct val="50000"/>
              </a:spcBef>
              <a:buFontTx/>
              <a:buNone/>
            </a:pPr>
            <a:r>
              <a:rPr lang="en-US" altLang="zh-CN" sz="2400">
                <a:ea typeface="华文行楷" pitchFamily="2" charset="-122"/>
                <a:sym typeface="Wingdings" pitchFamily="2" charset="2"/>
              </a:rPr>
              <a:t>T’  ,ST</a:t>
            </a:r>
            <a:r>
              <a:rPr lang="en-US" altLang="zh-CN" sz="2400" b="1"/>
              <a:t>'</a:t>
            </a:r>
            <a:r>
              <a:rPr lang="en-US" altLang="zh-CN" sz="2400">
                <a:ea typeface="华文行楷" pitchFamily="2" charset="-122"/>
                <a:sym typeface="Wingdings" pitchFamily="2" charset="2"/>
              </a:rPr>
              <a:t> | </a:t>
            </a:r>
            <a:r>
              <a:rPr lang="en-US" altLang="zh-CN" sz="2400" b="1">
                <a:ea typeface="华文行楷" pitchFamily="2" charset="-122"/>
              </a:rPr>
              <a:t>ε</a:t>
            </a:r>
          </a:p>
        </p:txBody>
      </p:sp>
      <p:grpSp>
        <p:nvGrpSpPr>
          <p:cNvPr id="2" name="Group 5"/>
          <p:cNvGrpSpPr>
            <a:grpSpLocks/>
          </p:cNvGrpSpPr>
          <p:nvPr/>
        </p:nvGrpSpPr>
        <p:grpSpPr bwMode="auto">
          <a:xfrm>
            <a:off x="508000" y="2919414"/>
            <a:ext cx="5251450" cy="2124075"/>
            <a:chOff x="948" y="2781"/>
            <a:chExt cx="2852" cy="1784"/>
          </a:xfrm>
        </p:grpSpPr>
        <p:sp>
          <p:nvSpPr>
            <p:cNvPr id="54279" name="Text Box 6"/>
            <p:cNvSpPr txBox="1">
              <a:spLocks noChangeArrowheads="1"/>
            </p:cNvSpPr>
            <p:nvPr/>
          </p:nvSpPr>
          <p:spPr bwMode="auto">
            <a:xfrm>
              <a:off x="2036" y="2781"/>
              <a:ext cx="1764" cy="1784"/>
            </a:xfrm>
            <a:prstGeom prst="rect">
              <a:avLst/>
            </a:prstGeom>
            <a:solidFill>
              <a:schemeClr val="bg1"/>
            </a:solidFill>
            <a:ln w="38100">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400" b="1">
                  <a:ea typeface="华文行楷" pitchFamily="2" charset="-122"/>
                </a:rPr>
                <a:t>S </a:t>
              </a:r>
              <a:r>
                <a:rPr lang="en-US" altLang="zh-CN" sz="2400" b="1">
                  <a:ea typeface="华文行楷" pitchFamily="2" charset="-122"/>
                  <a:sym typeface="Wingdings" pitchFamily="2" charset="2"/>
                </a:rPr>
                <a:t> (T) | aS</a:t>
              </a:r>
              <a:r>
                <a:rPr lang="en-US" altLang="zh-CN" sz="2400" b="1"/>
                <a:t>' </a:t>
              </a:r>
              <a:endParaRPr lang="en-US" altLang="zh-CN" sz="2400" b="1">
                <a:ea typeface="华文行楷" pitchFamily="2" charset="-122"/>
                <a:sym typeface="Wingdings" pitchFamily="2" charset="2"/>
              </a:endParaRPr>
            </a:p>
            <a:p>
              <a:pPr eaLnBrk="1" hangingPunct="1">
                <a:spcBef>
                  <a:spcPct val="50000"/>
                </a:spcBef>
                <a:buFontTx/>
                <a:buNone/>
              </a:pPr>
              <a:r>
                <a:rPr lang="en-US" altLang="zh-CN" sz="2400" b="1">
                  <a:ea typeface="华文行楷" pitchFamily="2" charset="-122"/>
                  <a:sym typeface="Wingdings" pitchFamily="2" charset="2"/>
                </a:rPr>
                <a:t>S’  + S | </a:t>
              </a:r>
              <a:r>
                <a:rPr lang="en-US" altLang="zh-CN" sz="2400" b="1">
                  <a:latin typeface="宋体" pitchFamily="2" charset="-122"/>
                </a:rPr>
                <a:t>ε</a:t>
              </a:r>
              <a:endParaRPr lang="en-US" altLang="zh-CN" sz="2400" b="1">
                <a:ea typeface="华文行楷" pitchFamily="2" charset="-122"/>
                <a:sym typeface="Wingdings" pitchFamily="2" charset="2"/>
              </a:endParaRPr>
            </a:p>
            <a:p>
              <a:pPr eaLnBrk="1" hangingPunct="1">
                <a:spcBef>
                  <a:spcPct val="50000"/>
                </a:spcBef>
                <a:buFontTx/>
                <a:buNone/>
              </a:pPr>
              <a:r>
                <a:rPr lang="en-US" altLang="zh-CN" sz="2400" b="1">
                  <a:ea typeface="华文行楷" pitchFamily="2" charset="-122"/>
                  <a:sym typeface="Wingdings" pitchFamily="2" charset="2"/>
                </a:rPr>
                <a:t>T  ST’</a:t>
              </a:r>
            </a:p>
            <a:p>
              <a:pPr eaLnBrk="1" hangingPunct="1">
                <a:spcBef>
                  <a:spcPct val="50000"/>
                </a:spcBef>
                <a:buFontTx/>
                <a:buNone/>
              </a:pPr>
              <a:r>
                <a:rPr lang="en-US" altLang="zh-CN" sz="2400" b="1">
                  <a:ea typeface="华文行楷" pitchFamily="2" charset="-122"/>
                  <a:sym typeface="Wingdings" pitchFamily="2" charset="2"/>
                </a:rPr>
                <a:t>T’  ,ST</a:t>
              </a:r>
              <a:r>
                <a:rPr lang="en-US" altLang="zh-CN" sz="2400" b="1"/>
                <a:t>'</a:t>
              </a:r>
              <a:r>
                <a:rPr lang="en-US" altLang="zh-CN" sz="2400" b="1">
                  <a:ea typeface="华文行楷" pitchFamily="2" charset="-122"/>
                  <a:sym typeface="Wingdings" pitchFamily="2" charset="2"/>
                </a:rPr>
                <a:t> | S</a:t>
              </a:r>
            </a:p>
          </p:txBody>
        </p:sp>
        <p:sp>
          <p:nvSpPr>
            <p:cNvPr id="54280" name="Text Box 7"/>
            <p:cNvSpPr txBox="1">
              <a:spLocks noChangeArrowheads="1"/>
            </p:cNvSpPr>
            <p:nvPr/>
          </p:nvSpPr>
          <p:spPr bwMode="auto">
            <a:xfrm>
              <a:off x="948" y="2797"/>
              <a:ext cx="984" cy="54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3600">
                  <a:ea typeface="华文行楷" pitchFamily="2" charset="-122"/>
                </a:rPr>
                <a:t>答案</a:t>
              </a:r>
              <a:r>
                <a:rPr lang="en-US" altLang="zh-CN" sz="3600">
                  <a:ea typeface="华文行楷" pitchFamily="2" charset="-122"/>
                </a:rPr>
                <a:t>:</a:t>
              </a:r>
            </a:p>
          </p:txBody>
        </p:sp>
      </p:grpSp>
      <p:sp>
        <p:nvSpPr>
          <p:cNvPr id="8" name="Text Box 4"/>
          <p:cNvSpPr txBox="1">
            <a:spLocks noChangeArrowheads="1"/>
          </p:cNvSpPr>
          <p:nvPr/>
        </p:nvSpPr>
        <p:spPr bwMode="auto">
          <a:xfrm>
            <a:off x="7046913" y="1989138"/>
            <a:ext cx="2097087" cy="1569660"/>
          </a:xfrm>
          <a:prstGeom prst="rect">
            <a:avLst/>
          </a:prstGeom>
          <a:ln>
            <a:headEnd/>
            <a:tailEnd/>
          </a:ln>
        </p:spPr>
        <p:style>
          <a:lnRef idx="1">
            <a:schemeClr val="accent2"/>
          </a:lnRef>
          <a:fillRef idx="2">
            <a:schemeClr val="accent2"/>
          </a:fillRef>
          <a:effectRef idx="1">
            <a:schemeClr val="accent2"/>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defRPr/>
            </a:pPr>
            <a:r>
              <a:rPr lang="en-US" altLang="zh-CN" sz="2400" dirty="0">
                <a:ea typeface="华文行楷" pitchFamily="2" charset="-122"/>
              </a:rPr>
              <a:t>S </a:t>
            </a:r>
            <a:r>
              <a:rPr lang="en-US" altLang="zh-CN" sz="2400" dirty="0">
                <a:ea typeface="华文行楷" pitchFamily="2" charset="-122"/>
                <a:sym typeface="Wingdings" pitchFamily="2" charset="2"/>
              </a:rPr>
              <a:t> (T) </a:t>
            </a:r>
          </a:p>
          <a:p>
            <a:pPr eaLnBrk="1" hangingPunct="1">
              <a:spcBef>
                <a:spcPct val="50000"/>
              </a:spcBef>
              <a:buFontTx/>
              <a:buNone/>
              <a:defRPr/>
            </a:pPr>
            <a:r>
              <a:rPr lang="en-US" altLang="zh-CN" sz="2400" dirty="0">
                <a:ea typeface="华文行楷" pitchFamily="2" charset="-122"/>
              </a:rPr>
              <a:t>S </a:t>
            </a:r>
            <a:r>
              <a:rPr lang="en-US" altLang="zh-CN" sz="2400" dirty="0">
                <a:ea typeface="华文行楷" pitchFamily="2" charset="-122"/>
                <a:sym typeface="Wingdings" pitchFamily="2" charset="2"/>
              </a:rPr>
              <a:t> a + S </a:t>
            </a:r>
          </a:p>
          <a:p>
            <a:pPr eaLnBrk="1" hangingPunct="1">
              <a:spcBef>
                <a:spcPct val="50000"/>
              </a:spcBef>
              <a:buFontTx/>
              <a:buNone/>
              <a:defRPr/>
            </a:pPr>
            <a:r>
              <a:rPr lang="en-US" altLang="zh-CN" sz="2400" dirty="0">
                <a:ea typeface="华文行楷" pitchFamily="2" charset="-122"/>
              </a:rPr>
              <a:t>S </a:t>
            </a:r>
            <a:r>
              <a:rPr lang="en-US" altLang="zh-CN" sz="2400" dirty="0">
                <a:ea typeface="华文行楷" pitchFamily="2" charset="-122"/>
                <a:sym typeface="Wingdings" pitchFamily="2" charset="2"/>
              </a:rPr>
              <a:t> a</a:t>
            </a:r>
          </a:p>
        </p:txBody>
      </p:sp>
    </p:spTree>
    <p:extLst>
      <p:ext uri="{BB962C8B-B14F-4D97-AF65-F5344CB8AC3E}">
        <p14:creationId xmlns:p14="http://schemas.microsoft.com/office/powerpoint/2010/main" val="10135485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a:xfrm>
            <a:off x="107505" y="123478"/>
            <a:ext cx="3096344" cy="633412"/>
          </a:xfrm>
          <a:noFill/>
        </p:spPr>
        <p:txBody>
          <a:bodyPr/>
          <a:lstStyle/>
          <a:p>
            <a:pPr algn="l" eaLnBrk="1" hangingPunct="1">
              <a:buFontTx/>
              <a:buChar char="•"/>
            </a:pPr>
            <a:r>
              <a:rPr lang="zh-CN" altLang="en-US" sz="3200" b="1" i="1" dirty="0">
                <a:solidFill>
                  <a:srgbClr val="008000"/>
                </a:solidFill>
              </a:rPr>
              <a:t>消除左递归</a:t>
            </a:r>
          </a:p>
        </p:txBody>
      </p:sp>
      <p:sp>
        <p:nvSpPr>
          <p:cNvPr id="48131" name="Rectangle 3"/>
          <p:cNvSpPr>
            <a:spLocks noGrp="1" noChangeArrowheads="1"/>
          </p:cNvSpPr>
          <p:nvPr>
            <p:ph sz="half" idx="1"/>
          </p:nvPr>
        </p:nvSpPr>
        <p:spPr>
          <a:xfrm>
            <a:off x="395536" y="835599"/>
            <a:ext cx="8061325" cy="467508"/>
          </a:xfrm>
        </p:spPr>
        <p:txBody>
          <a:bodyPr>
            <a:normAutofit/>
          </a:bodyPr>
          <a:lstStyle/>
          <a:p>
            <a:pPr eaLnBrk="1" hangingPunct="1">
              <a:buFontTx/>
              <a:buNone/>
            </a:pPr>
            <a:r>
              <a:rPr lang="en-US" altLang="zh-CN" sz="2400" b="1" dirty="0">
                <a:latin typeface="宋体" pitchFamily="2" charset="-122"/>
              </a:rPr>
              <a:t>1. </a:t>
            </a:r>
            <a:r>
              <a:rPr lang="zh-CN" altLang="en-US" sz="2400" b="1" dirty="0">
                <a:latin typeface="宋体" pitchFamily="2" charset="-122"/>
              </a:rPr>
              <a:t>直接左递归的消除：</a:t>
            </a:r>
          </a:p>
        </p:txBody>
      </p:sp>
      <p:grpSp>
        <p:nvGrpSpPr>
          <p:cNvPr id="2" name="Group 7"/>
          <p:cNvGrpSpPr>
            <a:grpSpLocks/>
          </p:cNvGrpSpPr>
          <p:nvPr/>
        </p:nvGrpSpPr>
        <p:grpSpPr bwMode="auto">
          <a:xfrm>
            <a:off x="6227210" y="1154221"/>
            <a:ext cx="2456417" cy="831403"/>
            <a:chOff x="3088" y="1616"/>
            <a:chExt cx="1865" cy="698"/>
          </a:xfrm>
        </p:grpSpPr>
        <p:sp>
          <p:nvSpPr>
            <p:cNvPr id="48140" name="AutoShape 8"/>
            <p:cNvSpPr>
              <a:spLocks/>
            </p:cNvSpPr>
            <p:nvPr/>
          </p:nvSpPr>
          <p:spPr bwMode="auto">
            <a:xfrm>
              <a:off x="3088" y="1635"/>
              <a:ext cx="205" cy="561"/>
            </a:xfrm>
            <a:prstGeom prst="leftBrace">
              <a:avLst>
                <a:gd name="adj1" fmla="val 22805"/>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cs typeface="Times New Roman" panose="02020603050405020304" pitchFamily="18" charset="0"/>
              </a:endParaRPr>
            </a:p>
          </p:txBody>
        </p:sp>
        <p:sp>
          <p:nvSpPr>
            <p:cNvPr id="48141" name="Rectangle 9"/>
            <p:cNvSpPr>
              <a:spLocks noChangeArrowheads="1"/>
            </p:cNvSpPr>
            <p:nvPr/>
          </p:nvSpPr>
          <p:spPr bwMode="auto">
            <a:xfrm>
              <a:off x="3319" y="1616"/>
              <a:ext cx="1634" cy="698"/>
            </a:xfrm>
            <a:prstGeom prst="rect">
              <a:avLst/>
            </a:prstGeom>
            <a:solidFill>
              <a:schemeClr val="bg1"/>
            </a:solidFill>
            <a:ln w="28575" algn="ctr">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ea typeface="华文行楷" pitchFamily="2" charset="-122"/>
                  <a:cs typeface="Times New Roman" panose="02020603050405020304" pitchFamily="18" charset="0"/>
                </a:rPr>
                <a:t> </a:t>
              </a:r>
              <a:r>
                <a:rPr lang="en-US" altLang="zh-CN" sz="2400" b="1" dirty="0">
                  <a:ea typeface="华文行楷" pitchFamily="2" charset="-122"/>
                  <a:cs typeface="Times New Roman" panose="02020603050405020304" pitchFamily="18" charset="0"/>
                </a:rPr>
                <a:t>P→βP</a:t>
              </a:r>
              <a:r>
                <a:rPr lang="en-US" altLang="zh-CN" sz="2400" b="1" dirty="0">
                  <a:cs typeface="Times New Roman" panose="02020603050405020304" pitchFamily="18" charset="0"/>
                </a:rPr>
                <a:t>'</a:t>
              </a:r>
              <a:r>
                <a:rPr lang="en-US" altLang="zh-CN" sz="2400" b="1" dirty="0">
                  <a:ea typeface="华文行楷" pitchFamily="2" charset="-122"/>
                  <a:cs typeface="Times New Roman" panose="02020603050405020304" pitchFamily="18" charset="0"/>
                </a:rPr>
                <a:t> </a:t>
              </a:r>
            </a:p>
            <a:p>
              <a:pPr eaLnBrk="1" hangingPunct="1">
                <a:spcBef>
                  <a:spcPct val="0"/>
                </a:spcBef>
                <a:buFontTx/>
                <a:buNone/>
              </a:pPr>
              <a:r>
                <a:rPr lang="en-US" altLang="zh-CN" sz="2400" b="1" dirty="0">
                  <a:ea typeface="华文行楷" pitchFamily="2" charset="-122"/>
                  <a:cs typeface="Times New Roman" panose="02020603050405020304" pitchFamily="18" charset="0"/>
                </a:rPr>
                <a:t> P</a:t>
              </a:r>
              <a:r>
                <a:rPr lang="en-US" altLang="zh-CN" sz="2400" b="1" dirty="0">
                  <a:cs typeface="Times New Roman" panose="02020603050405020304" pitchFamily="18" charset="0"/>
                </a:rPr>
                <a:t>'</a:t>
              </a:r>
              <a:r>
                <a:rPr lang="en-US" altLang="zh-CN" sz="2400" b="1" dirty="0">
                  <a:ea typeface="华文行楷" pitchFamily="2" charset="-122"/>
                  <a:cs typeface="Times New Roman" panose="02020603050405020304" pitchFamily="18" charset="0"/>
                </a:rPr>
                <a:t> →αP</a:t>
              </a:r>
              <a:r>
                <a:rPr lang="en-US" altLang="zh-CN" sz="2400" b="1" dirty="0">
                  <a:cs typeface="Times New Roman" panose="02020603050405020304" pitchFamily="18" charset="0"/>
                </a:rPr>
                <a:t>'</a:t>
              </a:r>
              <a:r>
                <a:rPr lang="en-US" altLang="zh-CN" sz="2400" b="1" dirty="0">
                  <a:ea typeface="华文行楷" pitchFamily="2" charset="-122"/>
                  <a:cs typeface="Times New Roman" panose="02020603050405020304" pitchFamily="18" charset="0"/>
                </a:rPr>
                <a:t> </a:t>
              </a:r>
              <a:r>
                <a:rPr lang="zh-CN" altLang="en-US" sz="2400" b="1" dirty="0">
                  <a:ea typeface="华文行楷" pitchFamily="2" charset="-122"/>
                  <a:cs typeface="Times New Roman" panose="02020603050405020304" pitchFamily="18" charset="0"/>
                </a:rPr>
                <a:t>｜</a:t>
              </a:r>
              <a:r>
                <a:rPr lang="en-US" altLang="zh-CN" sz="2400" b="1" dirty="0">
                  <a:ea typeface="华文行楷" pitchFamily="2" charset="-122"/>
                  <a:cs typeface="Times New Roman" panose="02020603050405020304" pitchFamily="18" charset="0"/>
                </a:rPr>
                <a:t>ε</a:t>
              </a:r>
            </a:p>
          </p:txBody>
        </p:sp>
      </p:grpSp>
      <p:sp>
        <p:nvSpPr>
          <p:cNvPr id="13" name="TextBox 12"/>
          <p:cNvSpPr txBox="1">
            <a:spLocks noChangeArrowheads="1"/>
          </p:cNvSpPr>
          <p:nvPr/>
        </p:nvSpPr>
        <p:spPr bwMode="auto">
          <a:xfrm>
            <a:off x="6076425" y="250824"/>
            <a:ext cx="2816055" cy="584775"/>
          </a:xfrm>
          <a:prstGeom prst="rect">
            <a:avLst/>
          </a:prstGeom>
          <a:ln/>
        </p:spPr>
        <p:style>
          <a:lnRef idx="1">
            <a:schemeClr val="accent1"/>
          </a:lnRef>
          <a:fillRef idx="2">
            <a:schemeClr val="accent1"/>
          </a:fillRef>
          <a:effectRef idx="1">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defRPr/>
            </a:pPr>
            <a:r>
              <a:rPr lang="zh-CN" altLang="en-US" dirty="0">
                <a:ea typeface="华文行楷" pitchFamily="2" charset="-122"/>
              </a:rPr>
              <a:t>利用文法等价</a:t>
            </a:r>
          </a:p>
        </p:txBody>
      </p:sp>
      <p:sp>
        <p:nvSpPr>
          <p:cNvPr id="3" name="矩形 2"/>
          <p:cNvSpPr/>
          <p:nvPr/>
        </p:nvSpPr>
        <p:spPr>
          <a:xfrm>
            <a:off x="1022996" y="3512284"/>
            <a:ext cx="1343638" cy="1631216"/>
          </a:xfrm>
          <a:prstGeom prst="rect">
            <a:avLst/>
          </a:prstGeom>
        </p:spPr>
        <p:style>
          <a:lnRef idx="2">
            <a:schemeClr val="accent4"/>
          </a:lnRef>
          <a:fillRef idx="1">
            <a:schemeClr val="lt1"/>
          </a:fillRef>
          <a:effectRef idx="0">
            <a:schemeClr val="accent4"/>
          </a:effectRef>
          <a:fontRef idx="minor">
            <a:schemeClr val="dk1"/>
          </a:fontRef>
        </p:style>
        <p:txBody>
          <a:bodyPr wrap="none">
            <a:spAutoFit/>
          </a:bodyPr>
          <a:lstStyle/>
          <a:p>
            <a:r>
              <a:rPr lang="en-US" altLang="zh-CN" sz="2000" b="1" dirty="0">
                <a:solidFill>
                  <a:schemeClr val="tx1"/>
                </a:solidFill>
                <a:latin typeface="Times New Roman" panose="02020603050405020304" pitchFamily="18" charset="0"/>
                <a:cs typeface="Times New Roman" panose="02020603050405020304" pitchFamily="18" charset="0"/>
              </a:rPr>
              <a:t>P</a:t>
            </a:r>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 </a:t>
            </a:r>
            <a:r>
              <a:rPr lang="en-US" altLang="zh-CN" sz="2000" b="1" dirty="0">
                <a:solidFill>
                  <a:schemeClr val="tx1"/>
                </a:solidFill>
                <a:latin typeface="Times New Roman" panose="02020603050405020304" pitchFamily="18" charset="0"/>
                <a:cs typeface="Times New Roman" panose="02020603050405020304" pitchFamily="18" charset="0"/>
              </a:rPr>
              <a:t>Pα</a:t>
            </a:r>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r>
              <a:rPr lang="en-US" altLang="zh-CN" sz="2000" b="1" dirty="0">
                <a:solidFill>
                  <a:schemeClr val="tx1"/>
                </a:solidFill>
                <a:latin typeface="Times New Roman" panose="02020603050405020304" pitchFamily="18" charset="0"/>
                <a:cs typeface="Times New Roman" panose="02020603050405020304" pitchFamily="18" charset="0"/>
              </a:rPr>
              <a:t> Pαα</a:t>
            </a:r>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r>
              <a:rPr lang="en-US" altLang="zh-CN" sz="2000" b="1" dirty="0">
                <a:solidFill>
                  <a:schemeClr val="tx1"/>
                </a:solidFill>
                <a:latin typeface="Times New Roman" panose="02020603050405020304" pitchFamily="18" charset="0"/>
                <a:cs typeface="Times New Roman" panose="02020603050405020304" pitchFamily="18" charset="0"/>
              </a:rPr>
              <a:t> Pααα</a:t>
            </a:r>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cs typeface="Times New Roman" panose="02020603050405020304" pitchFamily="18" charset="0"/>
                <a:sym typeface="Symbol" pitchFamily="18" charset="2"/>
              </a:rPr>
              <a:t>   </a:t>
            </a:r>
            <a:r>
              <a:rPr lang="en-US" altLang="zh-CN" sz="2000" b="1" dirty="0">
                <a:solidFill>
                  <a:schemeClr val="tx1"/>
                </a:solidFill>
                <a:latin typeface="Times New Roman" panose="02020603050405020304" pitchFamily="18" charset="0"/>
                <a:cs typeface="Times New Roman" panose="02020603050405020304" pitchFamily="18" charset="0"/>
              </a:rPr>
              <a:t>βα</a:t>
            </a:r>
            <a:r>
              <a:rPr lang="en-US" altLang="zh-CN" sz="2000" b="1" baseline="60000" dirty="0">
                <a:solidFill>
                  <a:schemeClr val="tx1"/>
                </a:solidFill>
                <a:latin typeface="Times New Roman" panose="02020603050405020304" pitchFamily="18" charset="0"/>
                <a:cs typeface="Times New Roman" panose="02020603050405020304" pitchFamily="18" charset="0"/>
              </a:rPr>
              <a:t>n</a:t>
            </a:r>
            <a:endParaRPr lang="zh-CN" altLang="en-US" sz="2000" baseline="60000" dirty="0">
              <a:solidFill>
                <a:schemeClr val="tx1"/>
              </a:solidFill>
              <a:latin typeface="Times New Roman" panose="02020603050405020304" pitchFamily="18" charset="0"/>
              <a:cs typeface="Times New Roman" panose="02020603050405020304" pitchFamily="18" charset="0"/>
            </a:endParaRPr>
          </a:p>
        </p:txBody>
      </p:sp>
      <p:sp>
        <p:nvSpPr>
          <p:cNvPr id="4" name="矩形 3"/>
          <p:cNvSpPr/>
          <p:nvPr/>
        </p:nvSpPr>
        <p:spPr>
          <a:xfrm>
            <a:off x="900018" y="2391217"/>
            <a:ext cx="2591862" cy="923330"/>
          </a:xfrm>
          <a:prstGeom prst="rect">
            <a:avLst/>
          </a:prstGeom>
        </p:spPr>
        <p:txBody>
          <a:bodyPr wrap="square">
            <a:spAutoFit/>
          </a:bodyPr>
          <a:lstStyle/>
          <a:p>
            <a:r>
              <a:rPr lang="zh-CN" altLang="en-US" b="1" dirty="0">
                <a:solidFill>
                  <a:srgbClr val="FF0000"/>
                </a:solidFill>
                <a:latin typeface="Times New Roman" panose="02020603050405020304" pitchFamily="18" charset="0"/>
                <a:cs typeface="Times New Roman" panose="02020603050405020304" pitchFamily="18" charset="0"/>
              </a:rPr>
              <a:t>对于产生式：</a:t>
            </a:r>
            <a:endParaRPr lang="en-US" altLang="zh-CN" b="1" dirty="0">
              <a:solidFill>
                <a:srgbClr val="FF0000"/>
              </a:solidFill>
              <a:latin typeface="Times New Roman" panose="02020603050405020304" pitchFamily="18" charset="0"/>
              <a:cs typeface="Times New Roman" panose="02020603050405020304" pitchFamily="18" charset="0"/>
            </a:endParaRPr>
          </a:p>
          <a:p>
            <a:r>
              <a:rPr lang="zh-CN" altLang="en-US" b="1" dirty="0">
                <a:latin typeface="Times New Roman" panose="02020603050405020304" pitchFamily="18" charset="0"/>
                <a:cs typeface="Times New Roman" panose="02020603050405020304" pitchFamily="18" charset="0"/>
              </a:rPr>
              <a:t> </a:t>
            </a:r>
            <a:r>
              <a:rPr lang="en-US" altLang="zh-CN" b="1" dirty="0">
                <a:latin typeface="Times New Roman" panose="02020603050405020304" pitchFamily="18" charset="0"/>
                <a:cs typeface="Times New Roman" panose="02020603050405020304" pitchFamily="18" charset="0"/>
              </a:rPr>
              <a:t>P→Pα|β</a:t>
            </a:r>
          </a:p>
          <a:p>
            <a:r>
              <a:rPr lang="zh-CN" altLang="en-US" b="1" dirty="0">
                <a:solidFill>
                  <a:srgbClr val="FF0000"/>
                </a:solidFill>
                <a:latin typeface="Times New Roman" panose="02020603050405020304" pitchFamily="18" charset="0"/>
                <a:cs typeface="Times New Roman" panose="02020603050405020304" pitchFamily="18" charset="0"/>
              </a:rPr>
              <a:t>其产生的语言为：</a:t>
            </a:r>
            <a:r>
              <a:rPr lang="en-US" altLang="zh-CN" b="1" dirty="0">
                <a:solidFill>
                  <a:srgbClr val="FF0000"/>
                </a:solidFill>
                <a:latin typeface="Times New Roman" panose="02020603050405020304" pitchFamily="18" charset="0"/>
                <a:cs typeface="Times New Roman" panose="02020603050405020304" pitchFamily="18" charset="0"/>
              </a:rPr>
              <a:t>βα</a:t>
            </a:r>
            <a:r>
              <a:rPr lang="en-US" altLang="zh-CN" b="1" baseline="60000" dirty="0">
                <a:solidFill>
                  <a:srgbClr val="FF0000"/>
                </a:solidFill>
                <a:latin typeface="Times New Roman" panose="02020603050405020304" pitchFamily="18" charset="0"/>
                <a:cs typeface="Times New Roman" panose="02020603050405020304" pitchFamily="18" charset="0"/>
              </a:rPr>
              <a:t>n</a:t>
            </a:r>
            <a:endParaRPr lang="zh-CN" altLang="en-US" baseline="60000" dirty="0">
              <a:latin typeface="Times New Roman" panose="02020603050405020304" pitchFamily="18" charset="0"/>
              <a:cs typeface="Times New Roman" panose="02020603050405020304" pitchFamily="18" charset="0"/>
            </a:endParaRPr>
          </a:p>
        </p:txBody>
      </p:sp>
      <p:sp>
        <p:nvSpPr>
          <p:cNvPr id="16" name="矩形 15"/>
          <p:cNvSpPr/>
          <p:nvPr/>
        </p:nvSpPr>
        <p:spPr>
          <a:xfrm>
            <a:off x="6660232" y="2773621"/>
            <a:ext cx="1406154" cy="1938992"/>
          </a:xfrm>
          <a:prstGeom prst="rect">
            <a:avLst/>
          </a:prstGeom>
        </p:spPr>
        <p:style>
          <a:lnRef idx="2">
            <a:schemeClr val="accent4"/>
          </a:lnRef>
          <a:fillRef idx="1">
            <a:schemeClr val="lt1"/>
          </a:fillRef>
          <a:effectRef idx="0">
            <a:schemeClr val="accent4"/>
          </a:effectRef>
          <a:fontRef idx="minor">
            <a:schemeClr val="dk1"/>
          </a:fontRef>
        </p:style>
        <p:txBody>
          <a:bodyPr wrap="none">
            <a:spAutoFit/>
          </a:bodyPr>
          <a:lstStyle/>
          <a:p>
            <a:r>
              <a:rPr lang="en-US" altLang="zh-CN" sz="2000" b="1"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P</a:t>
            </a:r>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βP' </a:t>
            </a:r>
          </a:p>
          <a:p>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β</a:t>
            </a:r>
            <a:r>
              <a:rPr lang="en-US" altLang="zh-CN" sz="2000" b="1"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P' </a:t>
            </a:r>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β</a:t>
            </a:r>
            <a:r>
              <a:rPr lang="en-US" altLang="zh-CN" sz="2000" b="1"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αα</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P' </a:t>
            </a:r>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p>
          <a:p>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βα</a:t>
            </a:r>
            <a:r>
              <a:rPr lang="en-US" altLang="zh-CN" sz="2000" b="1" baseline="60000" dirty="0" err="1">
                <a:solidFill>
                  <a:schemeClr val="tx1"/>
                </a:solidFill>
                <a:latin typeface="Times New Roman" panose="02020603050405020304" pitchFamily="18" charset="0"/>
                <a:ea typeface="宋体" panose="02010600030101010101" pitchFamily="2" charset="-122"/>
                <a:cs typeface="Times New Roman" panose="02020603050405020304" pitchFamily="18" charset="0"/>
              </a:rPr>
              <a:t>n</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rPr>
              <a:t>P</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 </a:t>
            </a:r>
          </a:p>
          <a:p>
            <a:r>
              <a:rPr lang="en-US" altLang="zh-CN" sz="2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βα</a:t>
            </a:r>
            <a:r>
              <a:rPr lang="en-US" altLang="zh-CN" sz="2000" b="1" baseline="60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rPr>
              <a:t>n</a:t>
            </a:r>
            <a:endParaRPr lang="zh-CN" altLang="en-US" sz="2000" baseline="60000" dirty="0">
              <a:solidFill>
                <a:schemeClr val="tx1"/>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17" name="矩形 16"/>
          <p:cNvSpPr/>
          <p:nvPr/>
        </p:nvSpPr>
        <p:spPr>
          <a:xfrm>
            <a:off x="3980468" y="2542788"/>
            <a:ext cx="2580874" cy="1200329"/>
          </a:xfrm>
          <a:prstGeom prst="rect">
            <a:avLst/>
          </a:prstGeom>
        </p:spPr>
        <p:txBody>
          <a:bodyPr wrap="square">
            <a:spAutoFit/>
          </a:bodyPr>
          <a:lstStyle/>
          <a:p>
            <a:r>
              <a:rPr lang="zh-CN" altLang="en-US" b="1" dirty="0">
                <a:solidFill>
                  <a:srgbClr val="FF0000"/>
                </a:solidFill>
                <a:latin typeface="Times New Roman" panose="02020603050405020304" pitchFamily="18" charset="0"/>
                <a:cs typeface="Times New Roman" panose="02020603050405020304" pitchFamily="18" charset="0"/>
              </a:rPr>
              <a:t>对于产生式组： </a:t>
            </a:r>
            <a:endParaRPr lang="en-US" altLang="zh-CN" b="1" dirty="0">
              <a:solidFill>
                <a:srgbClr val="FF0000"/>
              </a:solidFill>
              <a:latin typeface="Times New Roman" panose="02020603050405020304" pitchFamily="18" charset="0"/>
              <a:cs typeface="Times New Roman" panose="02020603050405020304" pitchFamily="18" charset="0"/>
            </a:endParaRPr>
          </a:p>
          <a:p>
            <a:pPr>
              <a:spcBef>
                <a:spcPct val="0"/>
              </a:spcBef>
            </a:pPr>
            <a:r>
              <a:rPr lang="en-US" altLang="zh-CN" b="1" dirty="0">
                <a:latin typeface="Times New Roman" panose="02020603050405020304" pitchFamily="18" charset="0"/>
                <a:ea typeface="华文行楷" pitchFamily="2" charset="-122"/>
                <a:cs typeface="Times New Roman" panose="02020603050405020304" pitchFamily="18" charset="0"/>
              </a:rPr>
              <a:t>P→βP</a:t>
            </a:r>
            <a:r>
              <a:rPr lang="en-US" altLang="zh-CN" b="1" dirty="0">
                <a:latin typeface="Times New Roman" panose="02020603050405020304" pitchFamily="18" charset="0"/>
                <a:cs typeface="Times New Roman" panose="02020603050405020304" pitchFamily="18" charset="0"/>
              </a:rPr>
              <a:t>'</a:t>
            </a:r>
            <a:r>
              <a:rPr lang="en-US" altLang="zh-CN" b="1" dirty="0">
                <a:latin typeface="Times New Roman" panose="02020603050405020304" pitchFamily="18" charset="0"/>
                <a:ea typeface="华文行楷" pitchFamily="2" charset="-122"/>
                <a:cs typeface="Times New Roman" panose="02020603050405020304" pitchFamily="18" charset="0"/>
              </a:rPr>
              <a:t> </a:t>
            </a:r>
          </a:p>
          <a:p>
            <a:pPr>
              <a:spcBef>
                <a:spcPct val="0"/>
              </a:spcBef>
            </a:pPr>
            <a:r>
              <a:rPr lang="en-US" altLang="zh-CN" b="1" dirty="0">
                <a:latin typeface="Times New Roman" panose="02020603050405020304" pitchFamily="18" charset="0"/>
                <a:ea typeface="华文行楷" pitchFamily="2" charset="-122"/>
                <a:cs typeface="Times New Roman" panose="02020603050405020304" pitchFamily="18" charset="0"/>
              </a:rPr>
              <a:t>P</a:t>
            </a:r>
            <a:r>
              <a:rPr lang="en-US" altLang="zh-CN" b="1" dirty="0">
                <a:latin typeface="Times New Roman" panose="02020603050405020304" pitchFamily="18" charset="0"/>
                <a:cs typeface="Times New Roman" panose="02020603050405020304" pitchFamily="18" charset="0"/>
              </a:rPr>
              <a:t>'</a:t>
            </a:r>
            <a:r>
              <a:rPr lang="en-US" altLang="zh-CN" b="1" dirty="0">
                <a:latin typeface="Times New Roman" panose="02020603050405020304" pitchFamily="18" charset="0"/>
                <a:ea typeface="华文行楷" pitchFamily="2" charset="-122"/>
                <a:cs typeface="Times New Roman" panose="02020603050405020304" pitchFamily="18" charset="0"/>
              </a:rPr>
              <a:t> →αP</a:t>
            </a:r>
            <a:r>
              <a:rPr lang="en-US" altLang="zh-CN" b="1" dirty="0">
                <a:latin typeface="Times New Roman" panose="02020603050405020304" pitchFamily="18" charset="0"/>
                <a:cs typeface="Times New Roman" panose="02020603050405020304" pitchFamily="18" charset="0"/>
              </a:rPr>
              <a:t>'</a:t>
            </a:r>
            <a:r>
              <a:rPr lang="en-US" altLang="zh-CN" b="1" dirty="0">
                <a:latin typeface="Times New Roman" panose="02020603050405020304" pitchFamily="18" charset="0"/>
                <a:ea typeface="华文行楷" pitchFamily="2" charset="-122"/>
                <a:cs typeface="Times New Roman" panose="02020603050405020304" pitchFamily="18" charset="0"/>
              </a:rPr>
              <a:t> </a:t>
            </a:r>
            <a:r>
              <a:rPr lang="zh-CN" altLang="en-US" b="1" dirty="0">
                <a:latin typeface="Times New Roman" panose="02020603050405020304" pitchFamily="18" charset="0"/>
                <a:ea typeface="华文行楷" pitchFamily="2" charset="-122"/>
                <a:cs typeface="Times New Roman" panose="02020603050405020304" pitchFamily="18" charset="0"/>
              </a:rPr>
              <a:t>｜</a:t>
            </a:r>
            <a:r>
              <a:rPr lang="en-US" altLang="zh-CN" b="1" dirty="0">
                <a:latin typeface="Times New Roman" panose="02020603050405020304" pitchFamily="18" charset="0"/>
                <a:ea typeface="华文行楷" pitchFamily="2" charset="-122"/>
                <a:cs typeface="Times New Roman" panose="02020603050405020304" pitchFamily="18" charset="0"/>
              </a:rPr>
              <a:t>ε</a:t>
            </a:r>
          </a:p>
          <a:p>
            <a:r>
              <a:rPr lang="zh-CN" altLang="en-US" b="1" dirty="0">
                <a:solidFill>
                  <a:srgbClr val="FF0000"/>
                </a:solidFill>
                <a:latin typeface="Times New Roman" panose="02020603050405020304" pitchFamily="18" charset="0"/>
                <a:cs typeface="Times New Roman" panose="02020603050405020304" pitchFamily="18" charset="0"/>
              </a:rPr>
              <a:t>其产生的语言为：</a:t>
            </a:r>
            <a:r>
              <a:rPr lang="en-US" altLang="zh-CN" b="1" dirty="0">
                <a:solidFill>
                  <a:srgbClr val="FF0000"/>
                </a:solidFill>
                <a:latin typeface="Times New Roman" panose="02020603050405020304" pitchFamily="18" charset="0"/>
                <a:cs typeface="Times New Roman" panose="02020603050405020304" pitchFamily="18" charset="0"/>
              </a:rPr>
              <a:t>βα</a:t>
            </a:r>
            <a:r>
              <a:rPr lang="en-US" altLang="zh-CN" b="1" baseline="60000" dirty="0">
                <a:solidFill>
                  <a:srgbClr val="FF0000"/>
                </a:solidFill>
                <a:latin typeface="Times New Roman" panose="02020603050405020304" pitchFamily="18" charset="0"/>
                <a:cs typeface="Times New Roman" panose="02020603050405020304" pitchFamily="18" charset="0"/>
              </a:rPr>
              <a:t>n</a:t>
            </a:r>
            <a:endParaRPr lang="zh-CN" altLang="en-US" baseline="60000" dirty="0">
              <a:latin typeface="Times New Roman" panose="02020603050405020304" pitchFamily="18" charset="0"/>
              <a:cs typeface="Times New Roman" panose="02020603050405020304" pitchFamily="18" charset="0"/>
            </a:endParaRPr>
          </a:p>
        </p:txBody>
      </p:sp>
      <p:sp>
        <p:nvSpPr>
          <p:cNvPr id="18" name="Rectangle 3"/>
          <p:cNvSpPr txBox="1">
            <a:spLocks noChangeArrowheads="1"/>
          </p:cNvSpPr>
          <p:nvPr/>
        </p:nvSpPr>
        <p:spPr>
          <a:xfrm>
            <a:off x="683568" y="1284513"/>
            <a:ext cx="4160201" cy="1113991"/>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0" lvl="1" indent="0"/>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假定产生式为</a:t>
            </a:r>
            <a:r>
              <a:rPr lang="zh-CN" altLang="en-US" sz="2200" b="1"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2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P→Pα|β</a:t>
            </a:r>
          </a:p>
          <a:p>
            <a:pPr marL="0" lvl="1" indent="0"/>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将其替换为</a:t>
            </a:r>
            <a:r>
              <a:rPr lang="zh-CN" altLang="en-US" sz="22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等价</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的产生式组</a:t>
            </a:r>
          </a:p>
        </p:txBody>
      </p:sp>
      <p:sp>
        <p:nvSpPr>
          <p:cNvPr id="5" name="右箭头 4"/>
          <p:cNvSpPr/>
          <p:nvPr/>
        </p:nvSpPr>
        <p:spPr>
          <a:xfrm>
            <a:off x="4588221" y="1442253"/>
            <a:ext cx="1494973" cy="22907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1135219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to="" calcmode="lin" valueType="num">
                                      <p:cBhvr>
                                        <p:cTn id="7" dur="1" fill="hold"/>
                                        <p:tgtEl>
                                          <p:spTgt spid="13"/>
                                        </p:tgtEl>
                                        <p:attrNameLst>
                                          <p:attrName/>
                                        </p:attrNameLst>
                                      </p:cBhvr>
                                    </p:anim>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48131">
                                            <p:txEl>
                                              <p:pRg st="0" end="0"/>
                                            </p:txEl>
                                          </p:spTgt>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499"/>
                                          </p:stCondLst>
                                        </p:cTn>
                                        <p:tgtEl>
                                          <p:spTgt spid="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 grpId="0" build="p"/>
      <p:bldP spid="13" grpId="0" animBg="1"/>
      <p:bldP spid="3" grpId="0" animBg="1"/>
      <p:bldP spid="4" grpId="0"/>
      <p:bldP spid="16" grpId="0" animBg="1"/>
      <p:bldP spid="17" grpId="0"/>
      <p:bldP spid="18" grpId="0"/>
      <p:bldP spid="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Rectangle 3"/>
          <p:cNvSpPr>
            <a:spLocks noGrp="1" noChangeArrowheads="1"/>
          </p:cNvSpPr>
          <p:nvPr>
            <p:ph type="body" idx="4294967295"/>
          </p:nvPr>
        </p:nvSpPr>
        <p:spPr>
          <a:xfrm>
            <a:off x="235244" y="123478"/>
            <a:ext cx="4025606" cy="483518"/>
          </a:xfrm>
        </p:spPr>
        <p:txBody>
          <a:bodyPr>
            <a:normAutofit/>
          </a:bodyPr>
          <a:lstStyle/>
          <a:p>
            <a:pPr eaLnBrk="1" hangingPunct="1">
              <a:buFontTx/>
              <a:buNone/>
            </a:pPr>
            <a:r>
              <a:rPr lang="en-US" altLang="zh-CN" sz="2400" b="1" dirty="0">
                <a:latin typeface="宋体" pitchFamily="2" charset="-122"/>
              </a:rPr>
              <a:t>1. </a:t>
            </a:r>
            <a:r>
              <a:rPr lang="zh-CN" altLang="en-US" sz="2400" b="1" dirty="0">
                <a:latin typeface="宋体" pitchFamily="2" charset="-122"/>
              </a:rPr>
              <a:t>直接左递归的消除：</a:t>
            </a:r>
          </a:p>
        </p:txBody>
      </p:sp>
      <p:sp>
        <p:nvSpPr>
          <p:cNvPr id="240644" name="Text Box 4"/>
          <p:cNvSpPr txBox="1">
            <a:spLocks noChangeArrowheads="1"/>
          </p:cNvSpPr>
          <p:nvPr/>
        </p:nvSpPr>
        <p:spPr bwMode="auto">
          <a:xfrm>
            <a:off x="381764" y="1888135"/>
            <a:ext cx="41182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dirty="0"/>
              <a:t>例</a:t>
            </a:r>
            <a:r>
              <a:rPr lang="en-US" altLang="zh-CN" sz="2400" dirty="0"/>
              <a:t>2</a:t>
            </a:r>
            <a:r>
              <a:rPr lang="zh-CN" altLang="en-US" sz="2400" dirty="0"/>
              <a:t>：消去下面文法的左递归：</a:t>
            </a:r>
          </a:p>
        </p:txBody>
      </p:sp>
      <p:sp>
        <p:nvSpPr>
          <p:cNvPr id="240645" name="Text Box 5"/>
          <p:cNvSpPr txBox="1">
            <a:spLocks noChangeArrowheads="1"/>
          </p:cNvSpPr>
          <p:nvPr/>
        </p:nvSpPr>
        <p:spPr bwMode="auto">
          <a:xfrm>
            <a:off x="6255252" y="3027956"/>
            <a:ext cx="2446338" cy="886397"/>
          </a:xfrm>
          <a:prstGeom prst="rect">
            <a:avLst/>
          </a:prstGeom>
          <a:solidFill>
            <a:schemeClr val="bg1"/>
          </a:solidFill>
          <a:ln w="28575" algn="ctr">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15000"/>
              </a:spcBef>
              <a:buFontTx/>
              <a:buNone/>
            </a:pPr>
            <a:r>
              <a:rPr lang="en-US" altLang="zh-CN" sz="2400" b="1"/>
              <a:t>T </a:t>
            </a:r>
            <a:r>
              <a:rPr lang="en-US" altLang="zh-CN" sz="2400" b="1">
                <a:sym typeface="Wingdings" pitchFamily="2" charset="2"/>
              </a:rPr>
              <a:t> </a:t>
            </a:r>
            <a:r>
              <a:rPr lang="en-US" altLang="zh-CN" sz="2400" b="1"/>
              <a:t>FT'</a:t>
            </a:r>
          </a:p>
          <a:p>
            <a:pPr eaLnBrk="1" hangingPunct="1">
              <a:spcBef>
                <a:spcPct val="15000"/>
              </a:spcBef>
              <a:buFontTx/>
              <a:buNone/>
            </a:pPr>
            <a:r>
              <a:rPr lang="en-US" altLang="zh-CN" sz="2400" b="1"/>
              <a:t>T' </a:t>
            </a:r>
            <a:r>
              <a:rPr lang="en-US" altLang="zh-CN" sz="2400" b="1">
                <a:sym typeface="Wingdings" pitchFamily="2" charset="2"/>
              </a:rPr>
              <a:t></a:t>
            </a:r>
            <a:r>
              <a:rPr lang="en-US" altLang="zh-CN" sz="2400" b="1"/>
              <a:t>*FT' | </a:t>
            </a:r>
            <a:r>
              <a:rPr lang="en-US" altLang="zh-CN" sz="2400" b="1">
                <a:ea typeface="华文行楷" pitchFamily="2" charset="-122"/>
              </a:rPr>
              <a:t>ε</a:t>
            </a:r>
            <a:r>
              <a:rPr lang="en-US" altLang="zh-CN" sz="2400" b="1"/>
              <a:t>     </a:t>
            </a:r>
          </a:p>
        </p:txBody>
      </p:sp>
      <p:sp>
        <p:nvSpPr>
          <p:cNvPr id="240646" name="AutoShape 6"/>
          <p:cNvSpPr>
            <a:spLocks noChangeArrowheads="1"/>
          </p:cNvSpPr>
          <p:nvPr/>
        </p:nvSpPr>
        <p:spPr bwMode="auto">
          <a:xfrm>
            <a:off x="3382283" y="3384597"/>
            <a:ext cx="2733334" cy="150813"/>
          </a:xfrm>
          <a:prstGeom prst="rightArrow">
            <a:avLst>
              <a:gd name="adj1" fmla="val 50000"/>
              <a:gd name="adj2" fmla="val 252236"/>
            </a:avLst>
          </a:prstGeom>
          <a:solidFill>
            <a:srgbClr val="33CC33"/>
          </a:solidFill>
          <a:ln w="9525" algn="ctr">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grpSp>
        <p:nvGrpSpPr>
          <p:cNvPr id="2" name="Group 7"/>
          <p:cNvGrpSpPr>
            <a:grpSpLocks/>
          </p:cNvGrpSpPr>
          <p:nvPr/>
        </p:nvGrpSpPr>
        <p:grpSpPr bwMode="auto">
          <a:xfrm>
            <a:off x="6663056" y="578977"/>
            <a:ext cx="2301432" cy="831403"/>
            <a:chOff x="3088" y="1616"/>
            <a:chExt cx="1705" cy="698"/>
          </a:xfrm>
        </p:grpSpPr>
        <p:sp>
          <p:nvSpPr>
            <p:cNvPr id="48140" name="AutoShape 8"/>
            <p:cNvSpPr>
              <a:spLocks/>
            </p:cNvSpPr>
            <p:nvPr/>
          </p:nvSpPr>
          <p:spPr bwMode="auto">
            <a:xfrm>
              <a:off x="3088" y="1635"/>
              <a:ext cx="205" cy="561"/>
            </a:xfrm>
            <a:prstGeom prst="leftBrace">
              <a:avLst>
                <a:gd name="adj1" fmla="val 22805"/>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sp>
          <p:nvSpPr>
            <p:cNvPr id="48141" name="Rectangle 9"/>
            <p:cNvSpPr>
              <a:spLocks noChangeArrowheads="1"/>
            </p:cNvSpPr>
            <p:nvPr/>
          </p:nvSpPr>
          <p:spPr bwMode="auto">
            <a:xfrm>
              <a:off x="3319" y="1616"/>
              <a:ext cx="1474" cy="698"/>
            </a:xfrm>
            <a:prstGeom prst="rect">
              <a:avLst/>
            </a:prstGeom>
            <a:solidFill>
              <a:schemeClr val="bg1"/>
            </a:solidFill>
            <a:ln w="28575" algn="ctr">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a:ea typeface="华文行楷" pitchFamily="2" charset="-122"/>
                </a:rPr>
                <a:t> </a:t>
              </a:r>
              <a:r>
                <a:rPr lang="en-US" altLang="zh-CN" sz="2400" b="1">
                  <a:ea typeface="华文行楷" pitchFamily="2" charset="-122"/>
                </a:rPr>
                <a:t>P→βP</a:t>
              </a:r>
              <a:r>
                <a:rPr lang="en-US" altLang="zh-CN" sz="2400" b="1"/>
                <a:t>'</a:t>
              </a:r>
              <a:r>
                <a:rPr lang="en-US" altLang="zh-CN" sz="2400" b="1">
                  <a:ea typeface="华文行楷" pitchFamily="2" charset="-122"/>
                </a:rPr>
                <a:t> </a:t>
              </a:r>
            </a:p>
            <a:p>
              <a:pPr eaLnBrk="1" hangingPunct="1">
                <a:spcBef>
                  <a:spcPct val="0"/>
                </a:spcBef>
                <a:buFontTx/>
                <a:buNone/>
              </a:pPr>
              <a:r>
                <a:rPr lang="en-US" altLang="zh-CN" sz="2400" b="1">
                  <a:ea typeface="华文行楷" pitchFamily="2" charset="-122"/>
                </a:rPr>
                <a:t> P</a:t>
              </a:r>
              <a:r>
                <a:rPr lang="en-US" altLang="zh-CN" sz="2400" b="1"/>
                <a:t>'</a:t>
              </a:r>
              <a:r>
                <a:rPr lang="en-US" altLang="zh-CN" sz="2400" b="1">
                  <a:ea typeface="华文行楷" pitchFamily="2" charset="-122"/>
                </a:rPr>
                <a:t> →αP</a:t>
              </a:r>
              <a:r>
                <a:rPr lang="en-US" altLang="zh-CN" sz="2400" b="1"/>
                <a:t>'</a:t>
              </a:r>
              <a:r>
                <a:rPr lang="en-US" altLang="zh-CN" sz="2400" b="1">
                  <a:ea typeface="华文行楷" pitchFamily="2" charset="-122"/>
                </a:rPr>
                <a:t> </a:t>
              </a:r>
              <a:r>
                <a:rPr lang="zh-CN" altLang="en-US" sz="2400" b="1">
                  <a:ea typeface="华文行楷" pitchFamily="2" charset="-122"/>
                </a:rPr>
                <a:t>｜</a:t>
              </a:r>
              <a:r>
                <a:rPr lang="en-US" altLang="zh-CN" sz="2400" b="1">
                  <a:ea typeface="华文行楷" pitchFamily="2" charset="-122"/>
                </a:rPr>
                <a:t>ε</a:t>
              </a:r>
            </a:p>
          </p:txBody>
        </p:sp>
      </p:grpSp>
      <p:sp>
        <p:nvSpPr>
          <p:cNvPr id="240650" name="Rectangle 10"/>
          <p:cNvSpPr>
            <a:spLocks noChangeArrowheads="1"/>
          </p:cNvSpPr>
          <p:nvPr/>
        </p:nvSpPr>
        <p:spPr bwMode="auto">
          <a:xfrm>
            <a:off x="6255252" y="2168153"/>
            <a:ext cx="2441575" cy="904863"/>
          </a:xfrm>
          <a:prstGeom prst="rect">
            <a:avLst/>
          </a:prstGeom>
          <a:solidFill>
            <a:schemeClr val="bg1"/>
          </a:solidFill>
          <a:ln w="28575">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2400" b="1"/>
              <a:t>E </a:t>
            </a:r>
            <a:r>
              <a:rPr lang="en-US" altLang="zh-CN" sz="2400" b="1">
                <a:sym typeface="Wingdings" pitchFamily="2" charset="2"/>
              </a:rPr>
              <a:t></a:t>
            </a:r>
            <a:r>
              <a:rPr lang="en-US" altLang="zh-CN" sz="2400" b="1"/>
              <a:t> TE'</a:t>
            </a:r>
          </a:p>
          <a:p>
            <a:pPr eaLnBrk="1" hangingPunct="1">
              <a:buFontTx/>
              <a:buNone/>
            </a:pPr>
            <a:r>
              <a:rPr lang="en-US" altLang="zh-CN" sz="2400" b="1"/>
              <a:t>E' </a:t>
            </a:r>
            <a:r>
              <a:rPr lang="en-US" altLang="zh-CN" sz="2400" b="1">
                <a:sym typeface="Wingdings" pitchFamily="2" charset="2"/>
              </a:rPr>
              <a:t></a:t>
            </a:r>
            <a:r>
              <a:rPr lang="en-US" altLang="zh-CN" sz="2400" b="1"/>
              <a:t>+TE'</a:t>
            </a:r>
            <a:r>
              <a:rPr lang="en-US" altLang="zh-CN" sz="2400" b="1">
                <a:ea typeface="华文行楷" pitchFamily="2" charset="-122"/>
              </a:rPr>
              <a:t> | ε</a:t>
            </a:r>
          </a:p>
        </p:txBody>
      </p:sp>
      <p:sp>
        <p:nvSpPr>
          <p:cNvPr id="240651" name="Rectangle 11"/>
          <p:cNvSpPr>
            <a:spLocks noChangeArrowheads="1"/>
          </p:cNvSpPr>
          <p:nvPr/>
        </p:nvSpPr>
        <p:spPr bwMode="auto">
          <a:xfrm>
            <a:off x="6255252" y="3891761"/>
            <a:ext cx="2446338" cy="461665"/>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15000"/>
              </a:spcBef>
              <a:buFontTx/>
              <a:buNone/>
            </a:pPr>
            <a:r>
              <a:rPr lang="en-US" altLang="zh-CN" sz="2400" b="1"/>
              <a:t>F </a:t>
            </a:r>
            <a:r>
              <a:rPr lang="en-US" altLang="zh-CN" sz="2400" b="1">
                <a:sym typeface="Wingdings" pitchFamily="2" charset="2"/>
              </a:rPr>
              <a:t> </a:t>
            </a:r>
            <a:r>
              <a:rPr lang="en-US" altLang="zh-CN" sz="2400" b="1"/>
              <a:t>(E) | i</a:t>
            </a:r>
          </a:p>
        </p:txBody>
      </p:sp>
      <p:sp>
        <p:nvSpPr>
          <p:cNvPr id="15" name="Rectangle 3"/>
          <p:cNvSpPr txBox="1">
            <a:spLocks noChangeArrowheads="1"/>
          </p:cNvSpPr>
          <p:nvPr/>
        </p:nvSpPr>
        <p:spPr>
          <a:xfrm>
            <a:off x="3407931" y="694668"/>
            <a:ext cx="1724224" cy="490092"/>
          </a:xfrm>
          <a:prstGeom prst="rect">
            <a:avLst/>
          </a:prstGeom>
          <a:ln w="28575">
            <a:solidFill>
              <a:srgbClr val="0000CC"/>
            </a:solidFill>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0" lvl="1" indent="0">
              <a:buNone/>
            </a:pPr>
            <a:r>
              <a:rPr lang="en-US" altLang="zh-CN" sz="2400" b="1" dirty="0">
                <a:solidFill>
                  <a:srgbClr val="FF0000"/>
                </a:solidFill>
                <a:latin typeface="宋体" pitchFamily="2" charset="-122"/>
              </a:rPr>
              <a:t>P→Pα|β</a:t>
            </a:r>
          </a:p>
        </p:txBody>
      </p:sp>
      <p:sp>
        <p:nvSpPr>
          <p:cNvPr id="16" name="AutoShape 6"/>
          <p:cNvSpPr>
            <a:spLocks noChangeArrowheads="1"/>
          </p:cNvSpPr>
          <p:nvPr/>
        </p:nvSpPr>
        <p:spPr bwMode="auto">
          <a:xfrm>
            <a:off x="5132155" y="885625"/>
            <a:ext cx="1504764" cy="173957"/>
          </a:xfrm>
          <a:prstGeom prst="rightArrow">
            <a:avLst>
              <a:gd name="adj1" fmla="val 50000"/>
              <a:gd name="adj2" fmla="val 252236"/>
            </a:avLst>
          </a:prstGeom>
          <a:solidFill>
            <a:srgbClr val="33CC33"/>
          </a:solidFill>
          <a:ln w="9525" algn="ctr">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400">
              <a:ea typeface="华文行楷" pitchFamily="2" charset="-122"/>
            </a:endParaRPr>
          </a:p>
        </p:txBody>
      </p:sp>
      <p:cxnSp>
        <p:nvCxnSpPr>
          <p:cNvPr id="5" name="直接连接符 4"/>
          <p:cNvCxnSpPr/>
          <p:nvPr/>
        </p:nvCxnSpPr>
        <p:spPr>
          <a:xfrm>
            <a:off x="1565298" y="3219822"/>
            <a:ext cx="1584176" cy="0"/>
          </a:xfrm>
          <a:prstGeom prst="line">
            <a:avLst/>
          </a:prstGeom>
          <a:ln w="38100">
            <a:solidFill>
              <a:srgbClr val="0000CC"/>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1565298" y="3651870"/>
            <a:ext cx="1584176" cy="0"/>
          </a:xfrm>
          <a:prstGeom prst="line">
            <a:avLst/>
          </a:prstGeom>
          <a:ln w="38100">
            <a:solidFill>
              <a:srgbClr val="0000CC"/>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565298" y="4083918"/>
            <a:ext cx="1584176" cy="0"/>
          </a:xfrm>
          <a:prstGeom prst="line">
            <a:avLst/>
          </a:prstGeom>
          <a:ln w="38100">
            <a:solidFill>
              <a:srgbClr val="0000CC"/>
            </a:solidFill>
          </a:ln>
        </p:spPr>
        <p:style>
          <a:lnRef idx="1">
            <a:schemeClr val="accent1"/>
          </a:lnRef>
          <a:fillRef idx="0">
            <a:schemeClr val="accent1"/>
          </a:fillRef>
          <a:effectRef idx="0">
            <a:schemeClr val="accent1"/>
          </a:effectRef>
          <a:fontRef idx="minor">
            <a:schemeClr val="tx1"/>
          </a:fontRef>
        </p:style>
      </p:cxnSp>
      <p:sp>
        <p:nvSpPr>
          <p:cNvPr id="21" name="Text Box 4"/>
          <p:cNvSpPr txBox="1">
            <a:spLocks noChangeArrowheads="1"/>
          </p:cNvSpPr>
          <p:nvPr/>
        </p:nvSpPr>
        <p:spPr bwMode="auto">
          <a:xfrm>
            <a:off x="1306841" y="2787774"/>
            <a:ext cx="2101090" cy="1348061"/>
          </a:xfrm>
          <a:prstGeom prst="rect">
            <a:avLst/>
          </a:prstGeom>
          <a:noFill/>
          <a:ln w="28575"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400" dirty="0">
                <a:solidFill>
                  <a:schemeClr val="accent2"/>
                </a:solidFill>
              </a:rPr>
              <a:t>  E </a:t>
            </a:r>
            <a:r>
              <a:rPr lang="en-US" altLang="zh-CN" sz="2400" dirty="0">
                <a:solidFill>
                  <a:schemeClr val="accent2"/>
                </a:solidFill>
                <a:sym typeface="Wingdings" pitchFamily="2" charset="2"/>
              </a:rPr>
              <a:t></a:t>
            </a:r>
            <a:r>
              <a:rPr lang="en-US" altLang="zh-CN" sz="2400" dirty="0">
                <a:solidFill>
                  <a:schemeClr val="accent2"/>
                </a:solidFill>
              </a:rPr>
              <a:t> E+T | T</a:t>
            </a:r>
          </a:p>
          <a:p>
            <a:pPr eaLnBrk="1" hangingPunct="1">
              <a:buFontTx/>
              <a:buNone/>
            </a:pPr>
            <a:r>
              <a:rPr lang="en-US" altLang="zh-CN" sz="2400" dirty="0">
                <a:solidFill>
                  <a:schemeClr val="accent2"/>
                </a:solidFill>
              </a:rPr>
              <a:t>  T </a:t>
            </a:r>
            <a:r>
              <a:rPr lang="en-US" altLang="zh-CN" sz="2400" dirty="0">
                <a:solidFill>
                  <a:schemeClr val="accent2"/>
                </a:solidFill>
                <a:sym typeface="Wingdings" pitchFamily="2" charset="2"/>
              </a:rPr>
              <a:t> </a:t>
            </a:r>
            <a:r>
              <a:rPr lang="en-US" altLang="zh-CN" sz="2400" dirty="0">
                <a:solidFill>
                  <a:schemeClr val="accent2"/>
                </a:solidFill>
              </a:rPr>
              <a:t>T*F | F</a:t>
            </a:r>
          </a:p>
          <a:p>
            <a:pPr eaLnBrk="1" hangingPunct="1">
              <a:buFontTx/>
              <a:buNone/>
            </a:pPr>
            <a:r>
              <a:rPr lang="en-US" altLang="zh-CN" sz="2400" dirty="0">
                <a:solidFill>
                  <a:schemeClr val="accent2"/>
                </a:solidFill>
              </a:rPr>
              <a:t>  F</a:t>
            </a:r>
            <a:r>
              <a:rPr lang="en-US" altLang="zh-CN" sz="2400" dirty="0">
                <a:solidFill>
                  <a:schemeClr val="accent2"/>
                </a:solidFill>
                <a:sym typeface="Wingdings" pitchFamily="2" charset="2"/>
              </a:rPr>
              <a:t> </a:t>
            </a:r>
            <a:r>
              <a:rPr lang="en-US" altLang="zh-CN" sz="2400" dirty="0">
                <a:solidFill>
                  <a:schemeClr val="accent2"/>
                </a:solidFill>
              </a:rPr>
              <a:t>(E) | </a:t>
            </a:r>
            <a:r>
              <a:rPr lang="en-US" altLang="zh-CN" sz="2400" dirty="0" err="1">
                <a:solidFill>
                  <a:schemeClr val="accent2"/>
                </a:solidFill>
              </a:rPr>
              <a:t>i</a:t>
            </a:r>
            <a:endParaRPr lang="en-US" altLang="zh-CN" sz="2400" dirty="0">
              <a:solidFill>
                <a:schemeClr val="accent2"/>
              </a:solidFill>
            </a:endParaRPr>
          </a:p>
        </p:txBody>
      </p:sp>
    </p:spTree>
    <p:extLst>
      <p:ext uri="{BB962C8B-B14F-4D97-AF65-F5344CB8AC3E}">
        <p14:creationId xmlns:p14="http://schemas.microsoft.com/office/powerpoint/2010/main" val="270975563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40644"/>
                                        </p:tgtEl>
                                        <p:attrNameLst>
                                          <p:attrName>style.visibility</p:attrName>
                                        </p:attrNameLst>
                                      </p:cBhvr>
                                      <p:to>
                                        <p:strVal val="visible"/>
                                      </p:to>
                                    </p:set>
                                    <p:animEffect transition="in" filter="box(in)">
                                      <p:cBhvr>
                                        <p:cTn id="7" dur="500"/>
                                        <p:tgtEl>
                                          <p:spTgt spid="240644"/>
                                        </p:tgtEl>
                                      </p:cBhvr>
                                    </p:animEffect>
                                  </p:childTnLst>
                                </p:cTn>
                              </p:par>
                            </p:childTnLst>
                          </p:cTn>
                        </p:par>
                        <p:par>
                          <p:cTn id="8" fill="hold">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box(in)">
                                      <p:cBhvr>
                                        <p:cTn id="11" dur="500"/>
                                        <p:tgtEl>
                                          <p:spTgt spid="2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2" presetClass="entr" presetSubtype="4" fill="hold" grpId="0" nodeType="clickEffect">
                                  <p:stCondLst>
                                    <p:cond delay="0"/>
                                  </p:stCondLst>
                                  <p:childTnLst>
                                    <p:set>
                                      <p:cBhvr>
                                        <p:cTn id="15" dur="1" fill="hold">
                                          <p:stCondLst>
                                            <p:cond delay="0"/>
                                          </p:stCondLst>
                                        </p:cTn>
                                        <p:tgtEl>
                                          <p:spTgt spid="240646"/>
                                        </p:tgtEl>
                                        <p:attrNameLst>
                                          <p:attrName>style.visibility</p:attrName>
                                        </p:attrNameLst>
                                      </p:cBhvr>
                                      <p:to>
                                        <p:strVal val="visible"/>
                                      </p:to>
                                    </p:set>
                                    <p:animEffect transition="in" filter="slide(fromBottom)">
                                      <p:cBhvr>
                                        <p:cTn id="16" dur="500"/>
                                        <p:tgtEl>
                                          <p:spTgt spid="24064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240650"/>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wipe(left)">
                                      <p:cBhvr>
                                        <p:cTn id="30" dur="500"/>
                                        <p:tgtEl>
                                          <p:spTgt spid="19"/>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24064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8" fill="hold" nodeType="click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wipe(left)">
                                      <p:cBhvr>
                                        <p:cTn id="39" dur="500"/>
                                        <p:tgtEl>
                                          <p:spTgt spid="20"/>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499"/>
                                          </p:stCondLst>
                                        </p:cTn>
                                        <p:tgtEl>
                                          <p:spTgt spid="2406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44" grpId="0" autoUpdateAnimBg="0"/>
      <p:bldP spid="240645" grpId="0" animBg="1" autoUpdateAnimBg="0"/>
      <p:bldP spid="240646" grpId="0" animBg="1"/>
      <p:bldP spid="240650" grpId="0" animBg="1" autoUpdateAnimBg="0"/>
      <p:bldP spid="240651" grpId="0" animBg="1" autoUpdateAnimBg="0"/>
      <p:bldP spid="21" grpId="0" animBg="1"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Grp="1" noChangeArrowheads="1"/>
          </p:cNvSpPr>
          <p:nvPr>
            <p:ph type="body" idx="1"/>
          </p:nvPr>
        </p:nvSpPr>
        <p:spPr>
          <a:xfrm>
            <a:off x="34762" y="1786023"/>
            <a:ext cx="8486775" cy="1193800"/>
          </a:xfrm>
        </p:spPr>
        <p:txBody>
          <a:bodyPr>
            <a:normAutofit/>
          </a:bodyPr>
          <a:lstStyle/>
          <a:p>
            <a:pPr marL="668338" lvl="1" indent="-293688" eaLnBrk="1" hangingPunct="1"/>
            <a:r>
              <a:rPr lang="en-US" altLang="zh-CN" sz="2200" b="1" dirty="0"/>
              <a:t> </a:t>
            </a:r>
            <a:r>
              <a:rPr lang="zh-CN" altLang="en-US" sz="2200" b="1" dirty="0"/>
              <a:t>一般而言，若产生式形式为：    			  	  	</a:t>
            </a:r>
            <a:r>
              <a:rPr lang="en-US" altLang="zh-CN" sz="2200" b="1" dirty="0">
                <a:solidFill>
                  <a:srgbClr val="FF0000"/>
                </a:solidFill>
              </a:rPr>
              <a:t>A</a:t>
            </a:r>
            <a:r>
              <a:rPr lang="en-US" altLang="zh-CN" sz="2200" b="1" dirty="0">
                <a:solidFill>
                  <a:srgbClr val="FF0000"/>
                </a:solidFill>
                <a:latin typeface="宋体" pitchFamily="2" charset="-122"/>
              </a:rPr>
              <a:t>→A</a:t>
            </a:r>
            <a:r>
              <a:rPr lang="en-US" altLang="zh-CN" sz="2200" b="1" dirty="0">
                <a:solidFill>
                  <a:srgbClr val="FF0000"/>
                </a:solidFill>
              </a:rPr>
              <a:t>α</a:t>
            </a:r>
            <a:r>
              <a:rPr lang="en-US" altLang="zh-CN" sz="2200" b="1" baseline="-30000" dirty="0">
                <a:solidFill>
                  <a:srgbClr val="FF0000"/>
                </a:solidFill>
                <a:latin typeface="宋体" pitchFamily="2" charset="-122"/>
              </a:rPr>
              <a:t>1</a:t>
            </a:r>
            <a:r>
              <a:rPr lang="en-US" altLang="zh-CN" sz="2200" b="1" dirty="0">
                <a:solidFill>
                  <a:srgbClr val="FF0000"/>
                </a:solidFill>
                <a:latin typeface="宋体" pitchFamily="2" charset="-122"/>
              </a:rPr>
              <a:t>|A</a:t>
            </a:r>
            <a:r>
              <a:rPr lang="en-US" altLang="zh-CN" sz="2200" b="1" dirty="0">
                <a:solidFill>
                  <a:srgbClr val="FF0000"/>
                </a:solidFill>
              </a:rPr>
              <a:t>α</a:t>
            </a:r>
            <a:r>
              <a:rPr lang="en-US" altLang="zh-CN" sz="2200" b="1" baseline="-30000" dirty="0">
                <a:solidFill>
                  <a:srgbClr val="FF0000"/>
                </a:solidFill>
                <a:latin typeface="宋体" pitchFamily="2" charset="-122"/>
              </a:rPr>
              <a:t>2</a:t>
            </a:r>
            <a:r>
              <a:rPr lang="en-US" altLang="zh-CN" sz="2200" b="1" dirty="0">
                <a:solidFill>
                  <a:srgbClr val="FF0000"/>
                </a:solidFill>
                <a:latin typeface="宋体" pitchFamily="2" charset="-122"/>
              </a:rPr>
              <a:t>|</a:t>
            </a:r>
            <a:r>
              <a:rPr lang="en-US" altLang="zh-CN" sz="2200" b="1" dirty="0">
                <a:solidFill>
                  <a:srgbClr val="FF0000"/>
                </a:solidFill>
              </a:rPr>
              <a:t>…</a:t>
            </a:r>
            <a:r>
              <a:rPr lang="en-US" altLang="zh-CN" sz="2200" b="1" dirty="0">
                <a:solidFill>
                  <a:srgbClr val="FF0000"/>
                </a:solidFill>
                <a:latin typeface="宋体" pitchFamily="2" charset="-122"/>
              </a:rPr>
              <a:t>|A</a:t>
            </a:r>
            <a:r>
              <a:rPr lang="en-US" altLang="zh-CN" sz="2200" b="1" dirty="0">
                <a:solidFill>
                  <a:srgbClr val="FF0000"/>
                </a:solidFill>
              </a:rPr>
              <a:t>α</a:t>
            </a:r>
            <a:r>
              <a:rPr lang="en-US" altLang="zh-CN" sz="2200" b="1" baseline="-30000" dirty="0">
                <a:solidFill>
                  <a:srgbClr val="FF0000"/>
                </a:solidFill>
                <a:latin typeface="宋体" pitchFamily="2" charset="-122"/>
              </a:rPr>
              <a:t>n</a:t>
            </a:r>
            <a:r>
              <a:rPr lang="en-US" altLang="zh-CN" sz="2200" b="1" dirty="0">
                <a:solidFill>
                  <a:srgbClr val="FF0000"/>
                </a:solidFill>
                <a:latin typeface="宋体" pitchFamily="2" charset="-122"/>
              </a:rPr>
              <a:t>|</a:t>
            </a:r>
            <a:r>
              <a:rPr lang="en-US" altLang="zh-CN" sz="2200" b="1" dirty="0">
                <a:solidFill>
                  <a:srgbClr val="FF0000"/>
                </a:solidFill>
              </a:rPr>
              <a:t>β</a:t>
            </a:r>
            <a:r>
              <a:rPr lang="en-US" altLang="zh-CN" sz="2200" b="1" baseline="-30000" dirty="0">
                <a:solidFill>
                  <a:srgbClr val="FF0000"/>
                </a:solidFill>
                <a:latin typeface="宋体" pitchFamily="2" charset="-122"/>
              </a:rPr>
              <a:t>1</a:t>
            </a:r>
            <a:r>
              <a:rPr lang="en-US" altLang="zh-CN" sz="2200" b="1" dirty="0">
                <a:solidFill>
                  <a:srgbClr val="FF0000"/>
                </a:solidFill>
                <a:latin typeface="宋体" pitchFamily="2" charset="-122"/>
              </a:rPr>
              <a:t>|</a:t>
            </a:r>
            <a:r>
              <a:rPr lang="en-US" altLang="zh-CN" sz="2200" b="1" dirty="0">
                <a:solidFill>
                  <a:srgbClr val="FF0000"/>
                </a:solidFill>
              </a:rPr>
              <a:t>β</a:t>
            </a:r>
            <a:r>
              <a:rPr lang="en-US" altLang="zh-CN" sz="2200" b="1" baseline="-30000" dirty="0">
                <a:solidFill>
                  <a:srgbClr val="FF0000"/>
                </a:solidFill>
                <a:latin typeface="宋体" pitchFamily="2" charset="-122"/>
              </a:rPr>
              <a:t>2</a:t>
            </a:r>
            <a:r>
              <a:rPr lang="en-US" altLang="zh-CN" sz="2200" b="1" dirty="0">
                <a:solidFill>
                  <a:srgbClr val="FF0000"/>
                </a:solidFill>
                <a:latin typeface="宋体" pitchFamily="2" charset="-122"/>
              </a:rPr>
              <a:t>|</a:t>
            </a:r>
            <a:r>
              <a:rPr lang="en-US" altLang="zh-CN" sz="2200" b="1" dirty="0">
                <a:solidFill>
                  <a:srgbClr val="FF0000"/>
                </a:solidFill>
              </a:rPr>
              <a:t>…</a:t>
            </a:r>
            <a:r>
              <a:rPr lang="en-US" altLang="zh-CN" sz="2200" b="1" dirty="0">
                <a:solidFill>
                  <a:srgbClr val="FF0000"/>
                </a:solidFill>
                <a:latin typeface="宋体" pitchFamily="2" charset="-122"/>
              </a:rPr>
              <a:t>|</a:t>
            </a:r>
            <a:r>
              <a:rPr lang="en-US" altLang="zh-CN" sz="2200" b="1" dirty="0">
                <a:solidFill>
                  <a:srgbClr val="FF0000"/>
                </a:solidFill>
              </a:rPr>
              <a:t>β</a:t>
            </a:r>
            <a:r>
              <a:rPr lang="en-US" altLang="zh-CN" sz="2200" b="1" baseline="-30000" dirty="0">
                <a:solidFill>
                  <a:srgbClr val="FF0000"/>
                </a:solidFill>
                <a:latin typeface="宋体" pitchFamily="2" charset="-122"/>
              </a:rPr>
              <a:t>m</a:t>
            </a:r>
            <a:r>
              <a:rPr lang="en-US" altLang="zh-CN" sz="2200" b="1" dirty="0">
                <a:latin typeface="宋体" pitchFamily="2" charset="-122"/>
              </a:rPr>
              <a:t> </a:t>
            </a:r>
          </a:p>
          <a:p>
            <a:pPr marL="668338" lvl="1" indent="-293688" eaLnBrk="1" hangingPunct="1">
              <a:buFontTx/>
              <a:buNone/>
            </a:pPr>
            <a:r>
              <a:rPr lang="en-US" altLang="zh-CN" sz="2200" b="1" dirty="0">
                <a:latin typeface="宋体" pitchFamily="2" charset="-122"/>
              </a:rPr>
              <a:t>   </a:t>
            </a:r>
            <a:endParaRPr lang="zh-CN" altLang="en-US" sz="2200" b="1" dirty="0"/>
          </a:p>
        </p:txBody>
      </p:sp>
      <p:grpSp>
        <p:nvGrpSpPr>
          <p:cNvPr id="49155" name="Group 3"/>
          <p:cNvGrpSpPr>
            <a:grpSpLocks/>
          </p:cNvGrpSpPr>
          <p:nvPr/>
        </p:nvGrpSpPr>
        <p:grpSpPr bwMode="auto">
          <a:xfrm>
            <a:off x="3311132" y="3263464"/>
            <a:ext cx="4262438" cy="971353"/>
            <a:chOff x="2290" y="2069"/>
            <a:chExt cx="2685" cy="776"/>
          </a:xfrm>
        </p:grpSpPr>
        <p:sp>
          <p:nvSpPr>
            <p:cNvPr id="49157" name="AutoShape 4"/>
            <p:cNvSpPr>
              <a:spLocks/>
            </p:cNvSpPr>
            <p:nvPr/>
          </p:nvSpPr>
          <p:spPr bwMode="auto">
            <a:xfrm>
              <a:off x="2290" y="2115"/>
              <a:ext cx="227" cy="634"/>
            </a:xfrm>
            <a:prstGeom prst="leftBrace">
              <a:avLst>
                <a:gd name="adj1" fmla="val 19971"/>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sp>
          <p:nvSpPr>
            <p:cNvPr id="49158" name="Rectangle 5"/>
            <p:cNvSpPr>
              <a:spLocks noChangeArrowheads="1"/>
            </p:cNvSpPr>
            <p:nvPr/>
          </p:nvSpPr>
          <p:spPr bwMode="auto">
            <a:xfrm>
              <a:off x="2608" y="2069"/>
              <a:ext cx="2367" cy="776"/>
            </a:xfrm>
            <a:prstGeom prst="rect">
              <a:avLst/>
            </a:prstGeom>
            <a:solidFill>
              <a:schemeClr val="bg1"/>
            </a:solidFill>
            <a:ln w="38100">
              <a:solidFill>
                <a:srgbClr val="3366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sz="2400" b="1" dirty="0"/>
                <a:t>       </a:t>
              </a:r>
              <a:r>
                <a:rPr lang="en-US" altLang="zh-CN" sz="2400" b="1" baseline="-30000" dirty="0"/>
                <a:t> </a:t>
              </a:r>
              <a:endParaRPr lang="en-US" altLang="zh-CN" sz="2400" b="1" dirty="0"/>
            </a:p>
            <a:p>
              <a:pPr lvl="1" eaLnBrk="1" hangingPunct="1">
                <a:lnSpc>
                  <a:spcPct val="90000"/>
                </a:lnSpc>
                <a:buFontTx/>
                <a:buNone/>
              </a:pPr>
              <a:endParaRPr lang="en-US" altLang="zh-CN" sz="2400" b="1" dirty="0"/>
            </a:p>
          </p:txBody>
        </p:sp>
      </p:grpSp>
      <p:sp>
        <p:nvSpPr>
          <p:cNvPr id="49156" name="AutoShape 6"/>
          <p:cNvSpPr>
            <a:spLocks noChangeArrowheads="1"/>
          </p:cNvSpPr>
          <p:nvPr/>
        </p:nvSpPr>
        <p:spPr bwMode="auto">
          <a:xfrm rot="10476965" flipH="1">
            <a:off x="2219764" y="2625131"/>
            <a:ext cx="1014413" cy="1548894"/>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5646 h 21600"/>
              <a:gd name="T14" fmla="*/ 20947 w 21600"/>
              <a:gd name="T15" fmla="*/ 6512 h 21600"/>
            </a:gdLst>
            <a:ahLst/>
            <a:cxnLst>
              <a:cxn ang="T8">
                <a:pos x="T0" y="T1"/>
              </a:cxn>
              <a:cxn ang="T9">
                <a:pos x="T2" y="T3"/>
              </a:cxn>
              <a:cxn ang="T10">
                <a:pos x="T4" y="T5"/>
              </a:cxn>
              <a:cxn ang="T11">
                <a:pos x="T6" y="T7"/>
              </a:cxn>
            </a:cxnLst>
            <a:rect l="T12" t="T13" r="T14" b="T15"/>
            <a:pathLst>
              <a:path w="21600" h="21600">
                <a:moveTo>
                  <a:pt x="21600" y="6079"/>
                </a:moveTo>
                <a:lnTo>
                  <a:pt x="12432" y="0"/>
                </a:lnTo>
                <a:lnTo>
                  <a:pt x="12432" y="5646"/>
                </a:lnTo>
                <a:lnTo>
                  <a:pt x="12427" y="5646"/>
                </a:lnTo>
                <a:cubicBezTo>
                  <a:pt x="5564" y="5646"/>
                  <a:pt x="0" y="8562"/>
                  <a:pt x="0" y="12158"/>
                </a:cubicBezTo>
                <a:lnTo>
                  <a:pt x="0" y="21600"/>
                </a:lnTo>
                <a:lnTo>
                  <a:pt x="885" y="21600"/>
                </a:lnTo>
                <a:lnTo>
                  <a:pt x="885" y="12158"/>
                </a:lnTo>
                <a:cubicBezTo>
                  <a:pt x="885" y="9040"/>
                  <a:pt x="6053" y="6512"/>
                  <a:pt x="12427" y="6512"/>
                </a:cubicBezTo>
                <a:lnTo>
                  <a:pt x="12432" y="6512"/>
                </a:lnTo>
                <a:lnTo>
                  <a:pt x="12432" y="12158"/>
                </a:lnTo>
                <a:lnTo>
                  <a:pt x="21600" y="6079"/>
                </a:lnTo>
                <a:close/>
              </a:path>
            </a:pathLst>
          </a:custGeom>
          <a:solidFill>
            <a:schemeClr val="accent1"/>
          </a:solidFill>
          <a:ln w="9525">
            <a:solidFill>
              <a:schemeClr val="tx1"/>
            </a:solidFill>
            <a:miter lim="800000"/>
            <a:headEnd/>
            <a:tailEnd/>
          </a:ln>
        </p:spPr>
        <p:txBody>
          <a:bodyPr wrap="none" anchor="ctr"/>
          <a:lstStyle/>
          <a:p>
            <a:endParaRPr lang="zh-CN" altLang="en-US" sz="2000"/>
          </a:p>
        </p:txBody>
      </p:sp>
      <p:sp>
        <p:nvSpPr>
          <p:cNvPr id="2" name="矩形 1"/>
          <p:cNvSpPr/>
          <p:nvPr/>
        </p:nvSpPr>
        <p:spPr>
          <a:xfrm>
            <a:off x="251520" y="195486"/>
            <a:ext cx="1213794" cy="707886"/>
          </a:xfrm>
          <a:prstGeom prst="rect">
            <a:avLst/>
          </a:prstGeom>
        </p:spPr>
        <p:txBody>
          <a:bodyPr wrap="none">
            <a:spAutoFit/>
          </a:bodyPr>
          <a:lstStyle/>
          <a:p>
            <a:pPr marL="668338" lvl="1" indent="-668338">
              <a:spcBef>
                <a:spcPts val="324"/>
              </a:spcBef>
              <a:buClr>
                <a:srgbClr val="2DA2BF"/>
              </a:buClr>
            </a:pPr>
            <a:r>
              <a:rPr lang="zh-CN" altLang="en-US" sz="4000" b="1" dirty="0">
                <a:solidFill>
                  <a:srgbClr val="CC00FF"/>
                </a:solidFill>
                <a:latin typeface="隶书" panose="02010509060101010101" pitchFamily="49" charset="-122"/>
                <a:ea typeface="隶书" panose="02010509060101010101" pitchFamily="49" charset="-122"/>
              </a:rPr>
              <a:t>推广</a:t>
            </a:r>
          </a:p>
        </p:txBody>
      </p:sp>
      <p:grpSp>
        <p:nvGrpSpPr>
          <p:cNvPr id="8" name="Group 7"/>
          <p:cNvGrpSpPr>
            <a:grpSpLocks/>
          </p:cNvGrpSpPr>
          <p:nvPr/>
        </p:nvGrpSpPr>
        <p:grpSpPr bwMode="auto">
          <a:xfrm>
            <a:off x="6927899" y="195486"/>
            <a:ext cx="2045803" cy="790905"/>
            <a:chOff x="3088" y="1635"/>
            <a:chExt cx="1790" cy="664"/>
          </a:xfrm>
        </p:grpSpPr>
        <p:sp>
          <p:nvSpPr>
            <p:cNvPr id="9" name="AutoShape 8"/>
            <p:cNvSpPr>
              <a:spLocks/>
            </p:cNvSpPr>
            <p:nvPr/>
          </p:nvSpPr>
          <p:spPr bwMode="auto">
            <a:xfrm>
              <a:off x="3088" y="1635"/>
              <a:ext cx="205" cy="561"/>
            </a:xfrm>
            <a:prstGeom prst="leftBrace">
              <a:avLst>
                <a:gd name="adj1" fmla="val 22805"/>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200">
                <a:ea typeface="华文行楷" pitchFamily="2" charset="-122"/>
              </a:endParaRPr>
            </a:p>
          </p:txBody>
        </p:sp>
        <p:sp>
          <p:nvSpPr>
            <p:cNvPr id="10" name="Rectangle 9"/>
            <p:cNvSpPr>
              <a:spLocks noChangeArrowheads="1"/>
            </p:cNvSpPr>
            <p:nvPr/>
          </p:nvSpPr>
          <p:spPr bwMode="auto">
            <a:xfrm>
              <a:off x="3319" y="1653"/>
              <a:ext cx="1559" cy="646"/>
            </a:xfrm>
            <a:prstGeom prst="rect">
              <a:avLst/>
            </a:prstGeom>
            <a:solidFill>
              <a:schemeClr val="bg1"/>
            </a:solidFill>
            <a:ln w="28575" algn="ctr">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 </a:t>
              </a:r>
              <a:r>
                <a:rPr lang="en-US" altLang="zh-CN" sz="2200" b="1" dirty="0">
                  <a:ea typeface="华文行楷" pitchFamily="2" charset="-122"/>
                </a:rPr>
                <a:t>P→βP</a:t>
              </a:r>
              <a:r>
                <a:rPr lang="en-US" altLang="zh-CN" sz="2200" b="1" dirty="0"/>
                <a:t>'</a:t>
              </a:r>
              <a:r>
                <a:rPr lang="en-US" altLang="zh-CN" sz="2200" b="1" dirty="0">
                  <a:ea typeface="华文行楷" pitchFamily="2" charset="-122"/>
                </a:rPr>
                <a:t> </a:t>
              </a:r>
            </a:p>
            <a:p>
              <a:pPr eaLnBrk="1" hangingPunct="1">
                <a:spcBef>
                  <a:spcPct val="0"/>
                </a:spcBef>
                <a:buFontTx/>
                <a:buNone/>
              </a:pPr>
              <a:r>
                <a:rPr lang="en-US" altLang="zh-CN" sz="2200" b="1" dirty="0">
                  <a:ea typeface="华文行楷" pitchFamily="2" charset="-122"/>
                </a:rPr>
                <a:t> P</a:t>
              </a:r>
              <a:r>
                <a:rPr lang="en-US" altLang="zh-CN" sz="2200" b="1" dirty="0"/>
                <a:t>'</a:t>
              </a:r>
              <a:r>
                <a:rPr lang="en-US" altLang="zh-CN" sz="2200" b="1" dirty="0">
                  <a:ea typeface="华文行楷" pitchFamily="2" charset="-122"/>
                </a:rPr>
                <a:t> →αP</a:t>
              </a:r>
              <a:r>
                <a:rPr lang="en-US" altLang="zh-CN" sz="2200" b="1" dirty="0"/>
                <a:t>'</a:t>
              </a:r>
              <a:r>
                <a:rPr lang="en-US" altLang="zh-CN" sz="2200" b="1" dirty="0">
                  <a:ea typeface="华文行楷" pitchFamily="2" charset="-122"/>
                </a:rPr>
                <a:t> </a:t>
              </a:r>
              <a:r>
                <a:rPr lang="zh-CN" altLang="en-US" sz="2200" b="1" dirty="0">
                  <a:ea typeface="华文行楷" pitchFamily="2" charset="-122"/>
                </a:rPr>
                <a:t>｜</a:t>
              </a:r>
              <a:r>
                <a:rPr lang="en-US" altLang="zh-CN" sz="2200" b="1" dirty="0">
                  <a:ea typeface="华文行楷" pitchFamily="2" charset="-122"/>
                </a:rPr>
                <a:t>ε</a:t>
              </a:r>
            </a:p>
          </p:txBody>
        </p:sp>
      </p:grpSp>
      <p:sp>
        <p:nvSpPr>
          <p:cNvPr id="11" name="Rectangle 3"/>
          <p:cNvSpPr txBox="1">
            <a:spLocks noChangeArrowheads="1"/>
          </p:cNvSpPr>
          <p:nvPr/>
        </p:nvSpPr>
        <p:spPr>
          <a:xfrm>
            <a:off x="4572000" y="315660"/>
            <a:ext cx="1693516" cy="455890"/>
          </a:xfrm>
          <a:prstGeom prst="rect">
            <a:avLst/>
          </a:prstGeom>
          <a:ln w="28575">
            <a:solidFill>
              <a:srgbClr val="0000CC"/>
            </a:solidFill>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0" lvl="1" indent="0">
              <a:buNone/>
            </a:pPr>
            <a:r>
              <a:rPr lang="en-US" altLang="zh-CN" sz="2200" b="1" dirty="0">
                <a:solidFill>
                  <a:srgbClr val="FF0000"/>
                </a:solidFill>
                <a:latin typeface="宋体" pitchFamily="2" charset="-122"/>
              </a:rPr>
              <a:t>P→Pα|β</a:t>
            </a:r>
          </a:p>
        </p:txBody>
      </p:sp>
      <p:sp>
        <p:nvSpPr>
          <p:cNvPr id="12" name="AutoShape 6"/>
          <p:cNvSpPr>
            <a:spLocks noChangeArrowheads="1"/>
          </p:cNvSpPr>
          <p:nvPr/>
        </p:nvSpPr>
        <p:spPr bwMode="auto">
          <a:xfrm>
            <a:off x="6265791" y="449168"/>
            <a:ext cx="637053" cy="156210"/>
          </a:xfrm>
          <a:prstGeom prst="rightArrow">
            <a:avLst>
              <a:gd name="adj1" fmla="val 50000"/>
              <a:gd name="adj2" fmla="val 252236"/>
            </a:avLst>
          </a:prstGeom>
          <a:solidFill>
            <a:srgbClr val="33CC33"/>
          </a:solidFill>
          <a:ln w="9525" algn="ctr">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200">
              <a:ea typeface="华文行楷" pitchFamily="2" charset="-122"/>
            </a:endParaRPr>
          </a:p>
        </p:txBody>
      </p:sp>
      <p:cxnSp>
        <p:nvCxnSpPr>
          <p:cNvPr id="4" name="直接连接符 3"/>
          <p:cNvCxnSpPr/>
          <p:nvPr/>
        </p:nvCxnSpPr>
        <p:spPr>
          <a:xfrm>
            <a:off x="3671495" y="2580956"/>
            <a:ext cx="1548577" cy="0"/>
          </a:xfrm>
          <a:prstGeom prst="line">
            <a:avLst/>
          </a:prstGeom>
          <a:ln w="571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1465314" y="2580956"/>
            <a:ext cx="2025999" cy="0"/>
          </a:xfrm>
          <a:prstGeom prst="line">
            <a:avLst/>
          </a:prstGeom>
          <a:ln w="571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4922265" y="3683092"/>
            <a:ext cx="2122782" cy="0"/>
          </a:xfrm>
          <a:prstGeom prst="line">
            <a:avLst/>
          </a:prstGeom>
          <a:ln w="571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4932040" y="4155926"/>
            <a:ext cx="2160240" cy="0"/>
          </a:xfrm>
          <a:prstGeom prst="line">
            <a:avLst/>
          </a:prstGeom>
          <a:ln w="571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13" name="直接箭头连接符 12"/>
          <p:cNvCxnSpPr/>
          <p:nvPr/>
        </p:nvCxnSpPr>
        <p:spPr>
          <a:xfrm flipH="1" flipV="1">
            <a:off x="7310118" y="4083918"/>
            <a:ext cx="70194" cy="545333"/>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4255095" y="3635284"/>
            <a:ext cx="667170" cy="461665"/>
          </a:xfrm>
          <a:prstGeom prst="rect">
            <a:avLst/>
          </a:prstGeom>
        </p:spPr>
        <p:txBody>
          <a:bodyPr wrap="none">
            <a:spAutoFit/>
          </a:bodyPr>
          <a:lstStyle/>
          <a:p>
            <a:r>
              <a:rPr lang="en-US" altLang="zh-CN" sz="2400" b="1" dirty="0">
                <a:solidFill>
                  <a:prstClr val="black"/>
                </a:solidFill>
              </a:rPr>
              <a:t>B</a:t>
            </a:r>
            <a:r>
              <a:rPr lang="en-US" altLang="zh-CN" sz="2400" b="1" dirty="0">
                <a:solidFill>
                  <a:prstClr val="black"/>
                </a:solidFill>
                <a:sym typeface="Symbol" pitchFamily="18" charset="2"/>
              </a:rPr>
              <a:t></a:t>
            </a:r>
            <a:endParaRPr lang="zh-CN" altLang="en-US" dirty="0"/>
          </a:p>
        </p:txBody>
      </p:sp>
      <p:sp>
        <p:nvSpPr>
          <p:cNvPr id="29" name="Rectangle 5"/>
          <p:cNvSpPr>
            <a:spLocks noChangeArrowheads="1"/>
          </p:cNvSpPr>
          <p:nvPr/>
        </p:nvSpPr>
        <p:spPr bwMode="auto">
          <a:xfrm>
            <a:off x="4317720" y="3701337"/>
            <a:ext cx="2774560" cy="485676"/>
          </a:xfrm>
          <a:prstGeom prst="rect">
            <a:avLst/>
          </a:prstGeom>
          <a:noFill/>
          <a:ln w="38100">
            <a:no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sz="2400" b="1" dirty="0"/>
              <a:t>α</a:t>
            </a:r>
            <a:r>
              <a:rPr lang="en-US" altLang="zh-CN" sz="2400" b="1" baseline="-30000" dirty="0"/>
              <a:t>1  </a:t>
            </a:r>
            <a:r>
              <a:rPr lang="en-US" altLang="zh-CN" sz="2400" b="1" dirty="0"/>
              <a:t>  |α</a:t>
            </a:r>
            <a:r>
              <a:rPr lang="en-US" altLang="zh-CN" sz="2400" b="1" baseline="-30000" dirty="0"/>
              <a:t>2 </a:t>
            </a:r>
            <a:r>
              <a:rPr lang="en-US" altLang="zh-CN" sz="2400" b="1" dirty="0"/>
              <a:t>  </a:t>
            </a:r>
            <a:r>
              <a:rPr lang="en-US" altLang="zh-CN" sz="2400" b="1" baseline="-30000" dirty="0"/>
              <a:t> </a:t>
            </a:r>
            <a:r>
              <a:rPr lang="en-US" altLang="zh-CN" sz="2400" b="1" dirty="0"/>
              <a:t>|…|α</a:t>
            </a:r>
            <a:r>
              <a:rPr lang="en-US" altLang="zh-CN" sz="2400" b="1" baseline="-30000" dirty="0"/>
              <a:t>n </a:t>
            </a:r>
            <a:endParaRPr lang="en-US" altLang="zh-CN" sz="2000" b="1" dirty="0"/>
          </a:p>
        </p:txBody>
      </p:sp>
      <p:sp>
        <p:nvSpPr>
          <p:cNvPr id="30" name="Rectangle 5"/>
          <p:cNvSpPr>
            <a:spLocks noChangeArrowheads="1"/>
          </p:cNvSpPr>
          <p:nvPr/>
        </p:nvSpPr>
        <p:spPr bwMode="auto">
          <a:xfrm>
            <a:off x="4522758" y="3308332"/>
            <a:ext cx="3073578" cy="415546"/>
          </a:xfrm>
          <a:prstGeom prst="rect">
            <a:avLst/>
          </a:prstGeom>
          <a:noFill/>
          <a:ln w="38100">
            <a:no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sz="2400" b="1" dirty="0">
                <a:solidFill>
                  <a:srgbClr val="FF0000"/>
                </a:solidFill>
              </a:rPr>
              <a:t> B     </a:t>
            </a:r>
            <a:r>
              <a:rPr lang="en-US" altLang="zh-CN" sz="2400" b="1" dirty="0" err="1">
                <a:solidFill>
                  <a:srgbClr val="FF0000"/>
                </a:solidFill>
              </a:rPr>
              <a:t>B</a:t>
            </a:r>
            <a:r>
              <a:rPr lang="en-US" altLang="zh-CN" sz="2400" b="1" baseline="-30000" dirty="0">
                <a:solidFill>
                  <a:srgbClr val="FF0000"/>
                </a:solidFill>
              </a:rPr>
              <a:t>                </a:t>
            </a:r>
            <a:r>
              <a:rPr lang="en-US" altLang="zh-CN" sz="2400" b="1" dirty="0" err="1">
                <a:solidFill>
                  <a:srgbClr val="FF0000"/>
                </a:solidFill>
              </a:rPr>
              <a:t>B</a:t>
            </a:r>
            <a:endParaRPr lang="en-US" altLang="zh-CN" sz="2400" b="1" dirty="0">
              <a:solidFill>
                <a:srgbClr val="FF0000"/>
              </a:solidFill>
            </a:endParaRPr>
          </a:p>
        </p:txBody>
      </p:sp>
      <p:sp>
        <p:nvSpPr>
          <p:cNvPr id="31" name="矩形 30"/>
          <p:cNvSpPr/>
          <p:nvPr/>
        </p:nvSpPr>
        <p:spPr>
          <a:xfrm>
            <a:off x="4229604" y="3291830"/>
            <a:ext cx="702436" cy="461665"/>
          </a:xfrm>
          <a:prstGeom prst="rect">
            <a:avLst/>
          </a:prstGeom>
        </p:spPr>
        <p:txBody>
          <a:bodyPr wrap="none">
            <a:spAutoFit/>
          </a:bodyPr>
          <a:lstStyle/>
          <a:p>
            <a:r>
              <a:rPr lang="en-US" altLang="zh-CN" sz="2400" b="1" dirty="0">
                <a:solidFill>
                  <a:prstClr val="black"/>
                </a:solidFill>
                <a:sym typeface="Symbol" pitchFamily="18" charset="2"/>
              </a:rPr>
              <a:t>A</a:t>
            </a:r>
            <a:endParaRPr lang="zh-CN" altLang="en-US" dirty="0"/>
          </a:p>
        </p:txBody>
      </p:sp>
      <p:sp>
        <p:nvSpPr>
          <p:cNvPr id="33" name="Rectangle 5"/>
          <p:cNvSpPr>
            <a:spLocks noChangeArrowheads="1"/>
          </p:cNvSpPr>
          <p:nvPr/>
        </p:nvSpPr>
        <p:spPr bwMode="auto">
          <a:xfrm>
            <a:off x="6444208" y="3723878"/>
            <a:ext cx="1187624" cy="485676"/>
          </a:xfrm>
          <a:prstGeom prst="rect">
            <a:avLst/>
          </a:prstGeom>
          <a:noFill/>
          <a:ln w="38100">
            <a:no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sz="2400" b="1" dirty="0">
                <a:solidFill>
                  <a:srgbClr val="FF0000"/>
                </a:solidFill>
                <a:latin typeface="宋体" pitchFamily="2" charset="-122"/>
              </a:rPr>
              <a:t>|ε</a:t>
            </a:r>
            <a:endParaRPr lang="en-US" altLang="zh-CN" sz="2000" b="1" dirty="0">
              <a:solidFill>
                <a:srgbClr val="FF0000"/>
              </a:solidFill>
            </a:endParaRPr>
          </a:p>
        </p:txBody>
      </p:sp>
      <p:sp>
        <p:nvSpPr>
          <p:cNvPr id="34" name="Rectangle 5"/>
          <p:cNvSpPr>
            <a:spLocks noChangeArrowheads="1"/>
          </p:cNvSpPr>
          <p:nvPr/>
        </p:nvSpPr>
        <p:spPr bwMode="auto">
          <a:xfrm>
            <a:off x="4499992" y="3723878"/>
            <a:ext cx="3073578" cy="415546"/>
          </a:xfrm>
          <a:prstGeom prst="rect">
            <a:avLst/>
          </a:prstGeom>
          <a:noFill/>
          <a:ln w="38100">
            <a:no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buFontTx/>
              <a:buNone/>
            </a:pPr>
            <a:r>
              <a:rPr lang="en-US" altLang="zh-CN" sz="2400" b="1" dirty="0">
                <a:solidFill>
                  <a:srgbClr val="FF0000"/>
                </a:solidFill>
              </a:rPr>
              <a:t> B     </a:t>
            </a:r>
            <a:r>
              <a:rPr lang="en-US" altLang="zh-CN" sz="2400" b="1" dirty="0" err="1">
                <a:solidFill>
                  <a:srgbClr val="FF0000"/>
                </a:solidFill>
              </a:rPr>
              <a:t>B</a:t>
            </a:r>
            <a:r>
              <a:rPr lang="en-US" altLang="zh-CN" sz="2400" b="1" baseline="-30000" dirty="0">
                <a:solidFill>
                  <a:srgbClr val="FF0000"/>
                </a:solidFill>
              </a:rPr>
              <a:t>                </a:t>
            </a:r>
            <a:r>
              <a:rPr lang="en-US" altLang="zh-CN" sz="2400" b="1" dirty="0" err="1">
                <a:solidFill>
                  <a:srgbClr val="FF0000"/>
                </a:solidFill>
              </a:rPr>
              <a:t>B</a:t>
            </a:r>
            <a:endParaRPr lang="en-US" altLang="zh-CN" sz="2400" b="1" dirty="0">
              <a:solidFill>
                <a:srgbClr val="FF0000"/>
              </a:solidFill>
            </a:endParaRPr>
          </a:p>
        </p:txBody>
      </p:sp>
      <p:sp>
        <p:nvSpPr>
          <p:cNvPr id="21" name="矩形 20"/>
          <p:cNvSpPr/>
          <p:nvPr/>
        </p:nvSpPr>
        <p:spPr>
          <a:xfrm>
            <a:off x="4716016" y="3221427"/>
            <a:ext cx="2146742" cy="461665"/>
          </a:xfrm>
          <a:prstGeom prst="rect">
            <a:avLst/>
          </a:prstGeom>
        </p:spPr>
        <p:txBody>
          <a:bodyPr wrap="none">
            <a:spAutoFit/>
          </a:bodyPr>
          <a:lstStyle/>
          <a:p>
            <a:r>
              <a:rPr lang="en-US" altLang="zh-CN" sz="2400" b="1" dirty="0">
                <a:latin typeface="Times New Roman" panose="02020603050405020304" pitchFamily="18" charset="0"/>
                <a:cs typeface="Times New Roman" panose="02020603050405020304" pitchFamily="18" charset="0"/>
              </a:rPr>
              <a:t> β</a:t>
            </a:r>
            <a:r>
              <a:rPr lang="en-US" altLang="zh-CN" sz="2400" b="1" baseline="-30000" dirty="0">
                <a:latin typeface="Times New Roman" panose="02020603050405020304" pitchFamily="18" charset="0"/>
                <a:cs typeface="Times New Roman" panose="02020603050405020304" pitchFamily="18" charset="0"/>
              </a:rPr>
              <a:t>1     </a:t>
            </a:r>
            <a:r>
              <a:rPr lang="en-US" altLang="zh-CN" sz="2400" b="1" dirty="0">
                <a:latin typeface="Times New Roman" panose="02020603050405020304" pitchFamily="18" charset="0"/>
                <a:cs typeface="Times New Roman" panose="02020603050405020304" pitchFamily="18" charset="0"/>
              </a:rPr>
              <a:t>|β</a:t>
            </a:r>
            <a:r>
              <a:rPr lang="en-US" altLang="zh-CN" sz="2400" b="1" baseline="-30000" dirty="0">
                <a:latin typeface="Times New Roman" panose="02020603050405020304" pitchFamily="18" charset="0"/>
                <a:cs typeface="Times New Roman" panose="02020603050405020304" pitchFamily="18" charset="0"/>
              </a:rPr>
              <a:t>2 </a:t>
            </a:r>
            <a:r>
              <a:rPr lang="en-US" altLang="zh-CN" sz="2400" b="1" dirty="0">
                <a:latin typeface="Times New Roman" panose="02020603050405020304" pitchFamily="18" charset="0"/>
                <a:cs typeface="Times New Roman" panose="02020603050405020304" pitchFamily="18" charset="0"/>
              </a:rPr>
              <a:t>  </a:t>
            </a:r>
            <a:r>
              <a:rPr lang="en-US" altLang="zh-CN" sz="2400" b="1" baseline="-30000" dirty="0">
                <a:latin typeface="Times New Roman" panose="02020603050405020304" pitchFamily="18" charset="0"/>
                <a:cs typeface="Times New Roman" panose="02020603050405020304" pitchFamily="18" charset="0"/>
              </a:rPr>
              <a:t> </a:t>
            </a:r>
            <a:r>
              <a:rPr lang="en-US" altLang="zh-CN" sz="2400" b="1" dirty="0">
                <a:latin typeface="Times New Roman" panose="02020603050405020304" pitchFamily="18" charset="0"/>
                <a:cs typeface="Times New Roman" panose="02020603050405020304" pitchFamily="18" charset="0"/>
              </a:rPr>
              <a:t>|…|β</a:t>
            </a:r>
            <a:r>
              <a:rPr lang="en-US" altLang="zh-CN" sz="2400" b="1" baseline="-30000" dirty="0">
                <a:latin typeface="Times New Roman" panose="02020603050405020304" pitchFamily="18" charset="0"/>
                <a:cs typeface="Times New Roman" panose="02020603050405020304" pitchFamily="18" charset="0"/>
              </a:rPr>
              <a:t>m</a:t>
            </a:r>
            <a:endParaRPr lang="zh-CN" altLang="en-US" sz="2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1577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15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15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915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915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21"/>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30"/>
                                        </p:tgtEl>
                                        <p:attrNameLst>
                                          <p:attrName>style.visibility</p:attrName>
                                        </p:attrNameLst>
                                      </p:cBhvr>
                                      <p:to>
                                        <p:strVal val="visible"/>
                                      </p:to>
                                    </p:set>
                                    <p:anim calcmode="lin" valueType="num">
                                      <p:cBhvr additive="base">
                                        <p:cTn id="30" dur="500" fill="hold"/>
                                        <p:tgtEl>
                                          <p:spTgt spid="30"/>
                                        </p:tgtEl>
                                        <p:attrNameLst>
                                          <p:attrName>ppt_x</p:attrName>
                                        </p:attrNameLst>
                                      </p:cBhvr>
                                      <p:tavLst>
                                        <p:tav tm="0">
                                          <p:val>
                                            <p:strVal val="#ppt_x"/>
                                          </p:val>
                                        </p:tav>
                                        <p:tav tm="100000">
                                          <p:val>
                                            <p:strVal val="#ppt_x"/>
                                          </p:val>
                                        </p:tav>
                                      </p:tavLst>
                                    </p:anim>
                                    <p:anim calcmode="lin" valueType="num">
                                      <p:cBhvr additive="base">
                                        <p:cTn id="31"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1"/>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wipe(left)">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29"/>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 presetClass="entr" presetSubtype="4" fill="hold" grpId="0" nodeType="clickEffect">
                                  <p:stCondLst>
                                    <p:cond delay="0"/>
                                  </p:stCondLst>
                                  <p:childTnLst>
                                    <p:set>
                                      <p:cBhvr>
                                        <p:cTn id="57" dur="1" fill="hold">
                                          <p:stCondLst>
                                            <p:cond delay="0"/>
                                          </p:stCondLst>
                                        </p:cTn>
                                        <p:tgtEl>
                                          <p:spTgt spid="34"/>
                                        </p:tgtEl>
                                        <p:attrNameLst>
                                          <p:attrName>style.visibility</p:attrName>
                                        </p:attrNameLst>
                                      </p:cBhvr>
                                      <p:to>
                                        <p:strVal val="visible"/>
                                      </p:to>
                                    </p:set>
                                    <p:anim calcmode="lin" valueType="num">
                                      <p:cBhvr additive="base">
                                        <p:cTn id="58" dur="500" fill="hold"/>
                                        <p:tgtEl>
                                          <p:spTgt spid="34"/>
                                        </p:tgtEl>
                                        <p:attrNameLst>
                                          <p:attrName>ppt_x</p:attrName>
                                        </p:attrNameLst>
                                      </p:cBhvr>
                                      <p:tavLst>
                                        <p:tav tm="0">
                                          <p:val>
                                            <p:strVal val="#ppt_x"/>
                                          </p:val>
                                        </p:tav>
                                        <p:tav tm="100000">
                                          <p:val>
                                            <p:strVal val="#ppt_x"/>
                                          </p:val>
                                        </p:tav>
                                      </p:tavLst>
                                    </p:anim>
                                    <p:anim calcmode="lin" valueType="num">
                                      <p:cBhvr additive="base">
                                        <p:cTn id="59"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wipe(left)">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33"/>
                                        </p:tgtEl>
                                        <p:attrNameLst>
                                          <p:attrName>style.visibility</p:attrName>
                                        </p:attrNameLst>
                                      </p:cBhvr>
                                      <p:to>
                                        <p:strVal val="visible"/>
                                      </p:to>
                                    </p:set>
                                    <p:anim calcmode="lin" valueType="num">
                                      <p:cBhvr additive="base">
                                        <p:cTn id="69" dur="500" fill="hold"/>
                                        <p:tgtEl>
                                          <p:spTgt spid="33"/>
                                        </p:tgtEl>
                                        <p:attrNameLst>
                                          <p:attrName>ppt_x</p:attrName>
                                        </p:attrNameLst>
                                      </p:cBhvr>
                                      <p:tavLst>
                                        <p:tav tm="0">
                                          <p:val>
                                            <p:strVal val="1+#ppt_w/2"/>
                                          </p:val>
                                        </p:tav>
                                        <p:tav tm="100000">
                                          <p:val>
                                            <p:strVal val="#ppt_x"/>
                                          </p:val>
                                        </p:tav>
                                      </p:tavLst>
                                    </p:anim>
                                    <p:anim calcmode="lin" valueType="num">
                                      <p:cBhvr additive="base">
                                        <p:cTn id="70"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2" presetClass="entr" presetSubtype="4" fill="hold" nodeType="click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wipe(down)">
                                      <p:cBhvr>
                                        <p:cTn id="7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uiExpand="1" build="p"/>
      <p:bldP spid="49156" grpId="0" animBg="1"/>
      <p:bldP spid="20" grpId="0"/>
      <p:bldP spid="29" grpId="0"/>
      <p:bldP spid="30" grpId="0"/>
      <p:bldP spid="31" grpId="0"/>
      <p:bldP spid="33" grpId="0"/>
      <p:bldP spid="34" grpId="0"/>
      <p:bldP spid="21"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noChangeArrowheads="1"/>
          </p:cNvSpPr>
          <p:nvPr>
            <p:ph type="title"/>
          </p:nvPr>
        </p:nvSpPr>
        <p:spPr>
          <a:xfrm>
            <a:off x="647700" y="285750"/>
            <a:ext cx="7772400" cy="857250"/>
          </a:xfrm>
        </p:spPr>
        <p:txBody>
          <a:bodyPr>
            <a:normAutofit fontScale="90000"/>
          </a:bodyPr>
          <a:lstStyle/>
          <a:p>
            <a:pPr eaLnBrk="1" hangingPunct="1"/>
            <a:r>
              <a:rPr lang="zh-CN" altLang="en-US" sz="6000">
                <a:solidFill>
                  <a:schemeClr val="tx1"/>
                </a:solidFill>
                <a:ea typeface="隶书" pitchFamily="49" charset="-122"/>
              </a:rPr>
              <a:t>练  习</a:t>
            </a:r>
          </a:p>
        </p:txBody>
      </p:sp>
      <p:sp>
        <p:nvSpPr>
          <p:cNvPr id="50179" name="Rectangle 3"/>
          <p:cNvSpPr>
            <a:spLocks noGrp="1" noChangeArrowheads="1"/>
          </p:cNvSpPr>
          <p:nvPr>
            <p:ph type="body" idx="1"/>
          </p:nvPr>
        </p:nvSpPr>
        <p:spPr>
          <a:xfrm>
            <a:off x="565150" y="1355725"/>
            <a:ext cx="7772400" cy="3086100"/>
          </a:xfrm>
        </p:spPr>
        <p:txBody>
          <a:bodyPr/>
          <a:lstStyle/>
          <a:p>
            <a:pPr eaLnBrk="1" hangingPunct="1"/>
            <a:r>
              <a:rPr lang="zh-CN" altLang="en-US" sz="2800"/>
              <a:t>消去文法</a:t>
            </a:r>
            <a:r>
              <a:rPr lang="en-US" altLang="zh-CN" sz="2800"/>
              <a:t>G[S]</a:t>
            </a:r>
            <a:r>
              <a:rPr lang="zh-CN" altLang="en-US" sz="2800"/>
              <a:t>的左递归</a:t>
            </a:r>
          </a:p>
        </p:txBody>
      </p:sp>
      <p:sp>
        <p:nvSpPr>
          <p:cNvPr id="50180" name="Text Box 4"/>
          <p:cNvSpPr txBox="1">
            <a:spLocks noChangeArrowheads="1"/>
          </p:cNvSpPr>
          <p:nvPr/>
        </p:nvSpPr>
        <p:spPr bwMode="auto">
          <a:xfrm>
            <a:off x="4912538" y="1414463"/>
            <a:ext cx="3636150" cy="1169551"/>
          </a:xfrm>
          <a:prstGeom prst="rect">
            <a:avLst/>
          </a:prstGeom>
          <a:solidFill>
            <a:schemeClr val="bg1"/>
          </a:solidFill>
          <a:ln w="38100">
            <a:solidFill>
              <a:srgbClr val="33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800" dirty="0">
                <a:ea typeface="华文行楷" pitchFamily="2" charset="-122"/>
              </a:rPr>
              <a:t>S</a:t>
            </a:r>
            <a:r>
              <a:rPr lang="en-US" altLang="zh-CN" sz="2800" dirty="0">
                <a:ea typeface="华文行楷" pitchFamily="2" charset="-122"/>
                <a:sym typeface="Wingdings" pitchFamily="2" charset="2"/>
              </a:rPr>
              <a:t> (T) | a + S | a</a:t>
            </a:r>
          </a:p>
          <a:p>
            <a:pPr eaLnBrk="1" hangingPunct="1">
              <a:spcBef>
                <a:spcPct val="50000"/>
              </a:spcBef>
              <a:buFontTx/>
              <a:buNone/>
            </a:pPr>
            <a:r>
              <a:rPr lang="en-US" altLang="zh-CN" sz="2800" dirty="0">
                <a:ea typeface="华文行楷" pitchFamily="2" charset="-122"/>
                <a:sym typeface="Wingdings" pitchFamily="2" charset="2"/>
              </a:rPr>
              <a:t>T  T,S | S</a:t>
            </a:r>
            <a:endParaRPr lang="en-US" altLang="zh-CN" sz="2800" dirty="0">
              <a:ea typeface="华文行楷" pitchFamily="2" charset="-122"/>
            </a:endParaRPr>
          </a:p>
        </p:txBody>
      </p:sp>
      <p:grpSp>
        <p:nvGrpSpPr>
          <p:cNvPr id="2" name="Group 5"/>
          <p:cNvGrpSpPr>
            <a:grpSpLocks/>
          </p:cNvGrpSpPr>
          <p:nvPr/>
        </p:nvGrpSpPr>
        <p:grpSpPr bwMode="auto">
          <a:xfrm>
            <a:off x="2381250" y="3228974"/>
            <a:ext cx="6167438" cy="1816103"/>
            <a:chOff x="1860" y="2712"/>
            <a:chExt cx="2992" cy="1609"/>
          </a:xfrm>
        </p:grpSpPr>
        <p:sp>
          <p:nvSpPr>
            <p:cNvPr id="50182" name="Text Box 6"/>
            <p:cNvSpPr txBox="1">
              <a:spLocks noChangeArrowheads="1"/>
            </p:cNvSpPr>
            <p:nvPr/>
          </p:nvSpPr>
          <p:spPr bwMode="auto">
            <a:xfrm>
              <a:off x="3088" y="2712"/>
              <a:ext cx="1764" cy="1609"/>
            </a:xfrm>
            <a:prstGeom prst="rect">
              <a:avLst/>
            </a:prstGeom>
            <a:solidFill>
              <a:schemeClr val="bg1"/>
            </a:solidFill>
            <a:ln w="38100">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800">
                  <a:ea typeface="华文行楷" pitchFamily="2" charset="-122"/>
                </a:rPr>
                <a:t>S </a:t>
              </a:r>
              <a:r>
                <a:rPr lang="en-US" altLang="zh-CN" sz="2800">
                  <a:ea typeface="华文行楷" pitchFamily="2" charset="-122"/>
                  <a:sym typeface="Wingdings" pitchFamily="2" charset="2"/>
                </a:rPr>
                <a:t> (T) | a + S | a</a:t>
              </a:r>
            </a:p>
            <a:p>
              <a:pPr eaLnBrk="1" hangingPunct="1">
                <a:spcBef>
                  <a:spcPct val="50000"/>
                </a:spcBef>
                <a:buFontTx/>
                <a:buNone/>
              </a:pPr>
              <a:r>
                <a:rPr lang="en-US" altLang="zh-CN" sz="2800">
                  <a:ea typeface="华文行楷" pitchFamily="2" charset="-122"/>
                  <a:sym typeface="Wingdings" pitchFamily="2" charset="2"/>
                </a:rPr>
                <a:t>T  ST</a:t>
              </a:r>
              <a:r>
                <a:rPr lang="en-US" altLang="zh-CN" sz="2800" b="1"/>
                <a:t>'</a:t>
              </a:r>
              <a:endParaRPr lang="en-US" altLang="zh-CN" sz="2400">
                <a:ea typeface="华文行楷" pitchFamily="2" charset="-122"/>
                <a:sym typeface="Wingdings" pitchFamily="2" charset="2"/>
              </a:endParaRPr>
            </a:p>
            <a:p>
              <a:pPr eaLnBrk="1" hangingPunct="1">
                <a:spcBef>
                  <a:spcPct val="50000"/>
                </a:spcBef>
                <a:buFontTx/>
                <a:buNone/>
              </a:pPr>
              <a:r>
                <a:rPr lang="en-US" altLang="zh-CN" sz="2800">
                  <a:ea typeface="华文行楷" pitchFamily="2" charset="-122"/>
                  <a:sym typeface="Wingdings" pitchFamily="2" charset="2"/>
                </a:rPr>
                <a:t>T’  ,ST</a:t>
              </a:r>
              <a:r>
                <a:rPr lang="en-US" altLang="zh-CN" sz="2800" b="1"/>
                <a:t>'</a:t>
              </a:r>
              <a:r>
                <a:rPr lang="en-US" altLang="zh-CN" sz="2800">
                  <a:ea typeface="华文行楷" pitchFamily="2" charset="-122"/>
                  <a:sym typeface="Wingdings" pitchFamily="2" charset="2"/>
                </a:rPr>
                <a:t> |</a:t>
              </a:r>
              <a:r>
                <a:rPr lang="en-US" altLang="zh-CN" sz="2800" b="1">
                  <a:ea typeface="华文行楷" pitchFamily="2" charset="-122"/>
                </a:rPr>
                <a:t>ε</a:t>
              </a:r>
            </a:p>
          </p:txBody>
        </p:sp>
        <p:sp>
          <p:nvSpPr>
            <p:cNvPr id="50183" name="Text Box 7"/>
            <p:cNvSpPr txBox="1">
              <a:spLocks noChangeArrowheads="1"/>
            </p:cNvSpPr>
            <p:nvPr/>
          </p:nvSpPr>
          <p:spPr bwMode="auto">
            <a:xfrm>
              <a:off x="1860" y="2808"/>
              <a:ext cx="1020"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4000">
                  <a:ea typeface="华文行楷" pitchFamily="2" charset="-122"/>
                </a:rPr>
                <a:t>答案：</a:t>
              </a:r>
            </a:p>
          </p:txBody>
        </p:sp>
      </p:grpSp>
    </p:spTree>
    <p:extLst>
      <p:ext uri="{BB962C8B-B14F-4D97-AF65-F5344CB8AC3E}">
        <p14:creationId xmlns:p14="http://schemas.microsoft.com/office/powerpoint/2010/main" val="19277844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2690" name="Rectangle 2"/>
          <p:cNvSpPr>
            <a:spLocks noGrp="1" noChangeArrowheads="1"/>
          </p:cNvSpPr>
          <p:nvPr>
            <p:ph type="body" idx="1"/>
          </p:nvPr>
        </p:nvSpPr>
        <p:spPr>
          <a:xfrm>
            <a:off x="676384" y="1787555"/>
            <a:ext cx="4053259" cy="623887"/>
          </a:xfrm>
        </p:spPr>
        <p:txBody>
          <a:bodyPr>
            <a:normAutofit/>
          </a:bodyPr>
          <a:lstStyle/>
          <a:p>
            <a:pPr>
              <a:lnSpc>
                <a:spcPct val="90000"/>
              </a:lnSpc>
              <a:buNone/>
            </a:pPr>
            <a:r>
              <a:rPr lang="zh-CN" altLang="en-US" sz="2400" dirty="0"/>
              <a:t>例：消除右边文法的左递归</a:t>
            </a:r>
          </a:p>
        </p:txBody>
      </p:sp>
      <p:sp>
        <p:nvSpPr>
          <p:cNvPr id="51203" name="Rectangle 3"/>
          <p:cNvSpPr>
            <a:spLocks noChangeArrowheads="1"/>
          </p:cNvSpPr>
          <p:nvPr/>
        </p:nvSpPr>
        <p:spPr bwMode="auto">
          <a:xfrm>
            <a:off x="971601" y="668338"/>
            <a:ext cx="74723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636588" indent="-7938">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pPr>
            <a:r>
              <a:rPr lang="en-US" altLang="zh-CN" sz="2400" b="1" dirty="0">
                <a:latin typeface="宋体" pitchFamily="2" charset="-122"/>
              </a:rPr>
              <a:t>(1) </a:t>
            </a:r>
            <a:r>
              <a:rPr lang="zh-CN" altLang="en-US" sz="2400" b="1" dirty="0">
                <a:latin typeface="宋体" pitchFamily="2" charset="-122"/>
              </a:rPr>
              <a:t>代入</a:t>
            </a:r>
            <a:r>
              <a:rPr lang="en-US" altLang="zh-CN" sz="2400" b="1" dirty="0">
                <a:latin typeface="宋体" pitchFamily="2" charset="-122"/>
              </a:rPr>
              <a:t>:</a:t>
            </a:r>
            <a:r>
              <a:rPr lang="zh-CN" altLang="en-US" sz="2400" b="1" dirty="0">
                <a:latin typeface="宋体" pitchFamily="2" charset="-122"/>
              </a:rPr>
              <a:t>将间接左递归变为直接左递归   </a:t>
            </a:r>
            <a:endParaRPr lang="en-US" altLang="zh-CN" sz="2400" b="1" dirty="0">
              <a:latin typeface="宋体" pitchFamily="2" charset="-122"/>
            </a:endParaRPr>
          </a:p>
          <a:p>
            <a:pPr>
              <a:spcBef>
                <a:spcPct val="0"/>
              </a:spcBef>
            </a:pPr>
            <a:r>
              <a:rPr lang="en-US" altLang="zh-CN" sz="2400" b="1" dirty="0">
                <a:latin typeface="宋体" pitchFamily="2" charset="-122"/>
              </a:rPr>
              <a:t>(2) </a:t>
            </a:r>
            <a:r>
              <a:rPr lang="zh-CN" altLang="en-US" sz="2400" b="1" dirty="0">
                <a:latin typeface="宋体" pitchFamily="2" charset="-122"/>
              </a:rPr>
              <a:t>消除直接左递归</a:t>
            </a:r>
          </a:p>
        </p:txBody>
      </p:sp>
      <p:sp>
        <p:nvSpPr>
          <p:cNvPr id="242693" name="Text Box 5"/>
          <p:cNvSpPr txBox="1">
            <a:spLocks noChangeArrowheads="1"/>
          </p:cNvSpPr>
          <p:nvPr/>
        </p:nvSpPr>
        <p:spPr bwMode="auto">
          <a:xfrm>
            <a:off x="385763" y="2491413"/>
            <a:ext cx="6850533" cy="2462213"/>
          </a:xfrm>
          <a:prstGeom prst="rect">
            <a:avLst/>
          </a:prstGeom>
          <a:solidFill>
            <a:schemeClr val="bg1"/>
          </a:solid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dirty="0">
                <a:solidFill>
                  <a:schemeClr val="accent2"/>
                </a:solidFill>
                <a:ea typeface="华文行楷" pitchFamily="2" charset="-122"/>
              </a:rPr>
              <a:t>解：第</a:t>
            </a:r>
            <a:r>
              <a:rPr lang="en-US" altLang="zh-CN" sz="2200" b="1" dirty="0">
                <a:solidFill>
                  <a:schemeClr val="accent2"/>
                </a:solidFill>
                <a:ea typeface="华文行楷" pitchFamily="2" charset="-122"/>
              </a:rPr>
              <a:t>1</a:t>
            </a:r>
            <a:r>
              <a:rPr lang="zh-CN" altLang="en-US" sz="2200" b="1" dirty="0">
                <a:solidFill>
                  <a:schemeClr val="accent2"/>
                </a:solidFill>
                <a:ea typeface="华文行楷" pitchFamily="2" charset="-122"/>
              </a:rPr>
              <a:t>步</a:t>
            </a:r>
            <a:r>
              <a:rPr lang="zh-CN" altLang="en-US" sz="2200" dirty="0">
                <a:ea typeface="华文行楷" pitchFamily="2" charset="-122"/>
              </a:rPr>
              <a:t>：为</a:t>
            </a:r>
            <a:r>
              <a:rPr lang="en-US" altLang="zh-CN" sz="2200" dirty="0">
                <a:ea typeface="华文行楷" pitchFamily="2" charset="-122"/>
              </a:rPr>
              <a:t>R</a:t>
            </a:r>
            <a:r>
              <a:rPr lang="zh-CN" altLang="en-US" sz="2200" dirty="0">
                <a:ea typeface="华文行楷" pitchFamily="2" charset="-122"/>
              </a:rPr>
              <a:t>、</a:t>
            </a:r>
            <a:r>
              <a:rPr lang="en-US" altLang="zh-CN" sz="2200" dirty="0">
                <a:ea typeface="华文行楷" pitchFamily="2" charset="-122"/>
              </a:rPr>
              <a:t>S</a:t>
            </a:r>
            <a:r>
              <a:rPr lang="zh-CN" altLang="en-US" sz="2200" dirty="0">
                <a:ea typeface="华文行楷" pitchFamily="2" charset="-122"/>
              </a:rPr>
              <a:t>、</a:t>
            </a:r>
            <a:r>
              <a:rPr lang="en-US" altLang="zh-CN" sz="2200" dirty="0">
                <a:ea typeface="华文行楷" pitchFamily="2" charset="-122"/>
              </a:rPr>
              <a:t>Q</a:t>
            </a:r>
            <a:r>
              <a:rPr lang="zh-CN" altLang="en-US" sz="2200" dirty="0">
                <a:ea typeface="华文行楷" pitchFamily="2" charset="-122"/>
              </a:rPr>
              <a:t>排序</a:t>
            </a:r>
          </a:p>
          <a:p>
            <a:pPr eaLnBrk="1" hangingPunct="1">
              <a:spcBef>
                <a:spcPct val="0"/>
              </a:spcBef>
              <a:buFontTx/>
              <a:buNone/>
            </a:pPr>
            <a:r>
              <a:rPr lang="zh-CN" altLang="en-US" sz="2200" b="1" dirty="0">
                <a:solidFill>
                  <a:schemeClr val="accent2"/>
                </a:solidFill>
                <a:ea typeface="华文行楷" pitchFamily="2" charset="-122"/>
              </a:rPr>
              <a:t>        第</a:t>
            </a:r>
            <a:r>
              <a:rPr lang="en-US" altLang="zh-CN" sz="2200" b="1" dirty="0">
                <a:solidFill>
                  <a:schemeClr val="accent2"/>
                </a:solidFill>
                <a:ea typeface="华文行楷" pitchFamily="2" charset="-122"/>
              </a:rPr>
              <a:t>2</a:t>
            </a:r>
            <a:r>
              <a:rPr lang="zh-CN" altLang="en-US" sz="2200" b="1" dirty="0">
                <a:solidFill>
                  <a:schemeClr val="accent2"/>
                </a:solidFill>
                <a:ea typeface="华文行楷" pitchFamily="2" charset="-122"/>
              </a:rPr>
              <a:t>步</a:t>
            </a:r>
            <a:r>
              <a:rPr lang="zh-CN" altLang="en-US" sz="2200" dirty="0">
                <a:ea typeface="华文行楷" pitchFamily="2" charset="-122"/>
              </a:rPr>
              <a:t>：代入：将</a:t>
            </a:r>
            <a:r>
              <a:rPr lang="en-US" altLang="zh-CN" sz="2200" dirty="0">
                <a:ea typeface="华文行楷" pitchFamily="2" charset="-122"/>
              </a:rPr>
              <a:t>R</a:t>
            </a:r>
            <a:r>
              <a:rPr lang="zh-CN" altLang="en-US" sz="2200" dirty="0">
                <a:ea typeface="华文行楷" pitchFamily="2" charset="-122"/>
              </a:rPr>
              <a:t>代入</a:t>
            </a:r>
            <a:r>
              <a:rPr lang="en-US" altLang="zh-CN" sz="2200" dirty="0">
                <a:ea typeface="华文行楷" pitchFamily="2" charset="-122"/>
              </a:rPr>
              <a:t>Q, Q</a:t>
            </a:r>
            <a:r>
              <a:rPr lang="zh-CN" altLang="en-US" sz="2200" dirty="0">
                <a:ea typeface="华文行楷" pitchFamily="2" charset="-122"/>
              </a:rPr>
              <a:t>代入</a:t>
            </a:r>
            <a:r>
              <a:rPr lang="en-US" altLang="zh-CN" sz="2200" dirty="0">
                <a:ea typeface="华文行楷" pitchFamily="2" charset="-122"/>
              </a:rPr>
              <a:t>S</a:t>
            </a:r>
            <a:r>
              <a:rPr lang="zh-CN" altLang="en-US" sz="2200" dirty="0">
                <a:ea typeface="华文行楷" pitchFamily="2" charset="-122"/>
              </a:rPr>
              <a:t>，得到新的文 </a:t>
            </a:r>
          </a:p>
          <a:p>
            <a:pPr eaLnBrk="1" hangingPunct="1">
              <a:spcBef>
                <a:spcPct val="0"/>
              </a:spcBef>
              <a:buFontTx/>
              <a:buNone/>
            </a:pPr>
            <a:r>
              <a:rPr lang="zh-CN" altLang="en-US" sz="2200" dirty="0">
                <a:ea typeface="华文行楷" pitchFamily="2" charset="-122"/>
              </a:rPr>
              <a:t>		 法产生式组：</a:t>
            </a:r>
          </a:p>
          <a:p>
            <a:pPr eaLnBrk="1" hangingPunct="1">
              <a:spcBef>
                <a:spcPct val="0"/>
              </a:spcBef>
              <a:buFontTx/>
              <a:buNone/>
            </a:pPr>
            <a:r>
              <a:rPr lang="zh-CN" altLang="en-US" sz="2200" b="1" dirty="0">
                <a:sym typeface="Symbol" pitchFamily="18" charset="2"/>
              </a:rPr>
              <a:t>	         </a:t>
            </a:r>
            <a:r>
              <a:rPr lang="en-US" altLang="zh-CN" sz="2200" b="1" dirty="0">
                <a:sym typeface="Symbol" pitchFamily="18" charset="2"/>
              </a:rPr>
              <a:t>R </a:t>
            </a:r>
            <a:r>
              <a:rPr lang="en-US" altLang="zh-CN" sz="2200" b="1" dirty="0" err="1">
                <a:sym typeface="Symbol" pitchFamily="18" charset="2"/>
              </a:rPr>
              <a:t>Sa|a</a:t>
            </a:r>
            <a:r>
              <a:rPr lang="en-US" altLang="zh-CN" sz="2200" dirty="0">
                <a:ea typeface="华文行楷" pitchFamily="2" charset="-122"/>
              </a:rPr>
              <a:t> 	</a:t>
            </a:r>
          </a:p>
          <a:p>
            <a:pPr eaLnBrk="1" hangingPunct="1">
              <a:spcBef>
                <a:spcPct val="0"/>
              </a:spcBef>
              <a:buFontTx/>
              <a:buNone/>
            </a:pPr>
            <a:r>
              <a:rPr lang="en-US" altLang="zh-CN" sz="2200" dirty="0">
                <a:ea typeface="华文行楷" pitchFamily="2" charset="-122"/>
              </a:rPr>
              <a:t>   	         Q </a:t>
            </a:r>
            <a:r>
              <a:rPr lang="en-US" altLang="zh-CN" sz="2200" b="1" dirty="0">
                <a:sym typeface="Symbol" pitchFamily="18" charset="2"/>
              </a:rPr>
              <a:t></a:t>
            </a:r>
            <a:r>
              <a:rPr lang="en-US" altLang="zh-CN" sz="2200" dirty="0">
                <a:ea typeface="华文行楷" pitchFamily="2" charset="-122"/>
              </a:rPr>
              <a:t> </a:t>
            </a:r>
            <a:r>
              <a:rPr lang="en-US" altLang="zh-CN" sz="2200" b="1" dirty="0" err="1">
                <a:sym typeface="Symbol" pitchFamily="18" charset="2"/>
              </a:rPr>
              <a:t>Sab|ab|b</a:t>
            </a:r>
            <a:endParaRPr lang="en-US" altLang="zh-CN" sz="2200" b="1" dirty="0">
              <a:sym typeface="Symbol" pitchFamily="18" charset="2"/>
            </a:endParaRPr>
          </a:p>
          <a:p>
            <a:pPr eaLnBrk="1" hangingPunct="1">
              <a:spcBef>
                <a:spcPct val="0"/>
              </a:spcBef>
              <a:buFontTx/>
              <a:buNone/>
            </a:pPr>
            <a:r>
              <a:rPr lang="en-US" altLang="zh-CN" sz="2200" dirty="0">
                <a:ea typeface="华文行楷" pitchFamily="2" charset="-122"/>
              </a:rPr>
              <a:t>	         S </a:t>
            </a:r>
            <a:r>
              <a:rPr lang="en-US" altLang="zh-CN" sz="2200" b="1" dirty="0">
                <a:sym typeface="Symbol" pitchFamily="18" charset="2"/>
              </a:rPr>
              <a:t></a:t>
            </a:r>
            <a:r>
              <a:rPr lang="en-US" altLang="zh-CN" sz="2200" dirty="0">
                <a:ea typeface="华文行楷" pitchFamily="2" charset="-122"/>
              </a:rPr>
              <a:t> </a:t>
            </a:r>
            <a:r>
              <a:rPr lang="en-US" altLang="zh-CN" sz="2200" b="1" dirty="0" err="1">
                <a:sym typeface="Symbol" pitchFamily="18" charset="2"/>
              </a:rPr>
              <a:t>Sabc|abc|bc|c</a:t>
            </a:r>
            <a:endParaRPr lang="en-US" altLang="zh-CN" sz="2200" b="1" dirty="0">
              <a:sym typeface="Symbol" pitchFamily="18" charset="2"/>
            </a:endParaRPr>
          </a:p>
          <a:p>
            <a:pPr eaLnBrk="1" hangingPunct="1">
              <a:spcBef>
                <a:spcPct val="0"/>
              </a:spcBef>
              <a:buFontTx/>
              <a:buNone/>
            </a:pPr>
            <a:r>
              <a:rPr lang="en-US" altLang="zh-CN" sz="2200" b="1" dirty="0">
                <a:solidFill>
                  <a:schemeClr val="accent2"/>
                </a:solidFill>
                <a:ea typeface="华文行楷" pitchFamily="2" charset="-122"/>
              </a:rPr>
              <a:t>       </a:t>
            </a:r>
            <a:r>
              <a:rPr lang="zh-CN" altLang="en-US" sz="2200" b="1" dirty="0">
                <a:solidFill>
                  <a:schemeClr val="accent2"/>
                </a:solidFill>
                <a:ea typeface="华文行楷" pitchFamily="2" charset="-122"/>
              </a:rPr>
              <a:t>第</a:t>
            </a:r>
            <a:r>
              <a:rPr lang="en-US" altLang="zh-CN" sz="2200" b="1" dirty="0">
                <a:solidFill>
                  <a:schemeClr val="accent2"/>
                </a:solidFill>
                <a:ea typeface="华文行楷" pitchFamily="2" charset="-122"/>
              </a:rPr>
              <a:t>3</a:t>
            </a:r>
            <a:r>
              <a:rPr lang="zh-CN" altLang="en-US" sz="2200" b="1" dirty="0">
                <a:solidFill>
                  <a:schemeClr val="accent2"/>
                </a:solidFill>
                <a:ea typeface="华文行楷" pitchFamily="2" charset="-122"/>
              </a:rPr>
              <a:t>步</a:t>
            </a:r>
            <a:r>
              <a:rPr lang="zh-CN" altLang="en-US" sz="2200" dirty="0">
                <a:ea typeface="华文行楷" pitchFamily="2" charset="-122"/>
              </a:rPr>
              <a:t>：消去</a:t>
            </a:r>
            <a:r>
              <a:rPr lang="en-US" altLang="zh-CN" sz="2200" dirty="0">
                <a:ea typeface="华文行楷" pitchFamily="2" charset="-122"/>
              </a:rPr>
              <a:t>S</a:t>
            </a:r>
            <a:r>
              <a:rPr lang="zh-CN" altLang="en-US" sz="2200" dirty="0">
                <a:ea typeface="华文行楷" pitchFamily="2" charset="-122"/>
              </a:rPr>
              <a:t>的直接左递归，得到</a:t>
            </a:r>
          </a:p>
        </p:txBody>
      </p:sp>
      <p:sp>
        <p:nvSpPr>
          <p:cNvPr id="242694" name="Rectangle 6"/>
          <p:cNvSpPr>
            <a:spLocks noChangeArrowheads="1"/>
          </p:cNvSpPr>
          <p:nvPr/>
        </p:nvSpPr>
        <p:spPr bwMode="auto">
          <a:xfrm>
            <a:off x="6021430" y="3435846"/>
            <a:ext cx="2655026" cy="892552"/>
          </a:xfrm>
          <a:prstGeom prst="rect">
            <a:avLst/>
          </a:prstGeom>
          <a:solidFill>
            <a:schemeClr val="bg1"/>
          </a:solidFill>
          <a:ln w="38100">
            <a:solidFill>
              <a:srgbClr val="33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ea typeface="华文行楷" pitchFamily="2" charset="-122"/>
              </a:rPr>
              <a:t>S </a:t>
            </a:r>
            <a:r>
              <a:rPr lang="en-US" altLang="zh-CN" sz="2400" b="1" dirty="0">
                <a:sym typeface="Symbol" pitchFamily="18" charset="2"/>
              </a:rPr>
              <a:t></a:t>
            </a:r>
            <a:r>
              <a:rPr lang="en-US" altLang="zh-CN" sz="2400" dirty="0">
                <a:ea typeface="华文行楷" pitchFamily="2" charset="-122"/>
              </a:rPr>
              <a:t> </a:t>
            </a:r>
            <a:r>
              <a:rPr lang="en-US" altLang="zh-CN" sz="2400" b="1" dirty="0" err="1">
                <a:sym typeface="Symbol" pitchFamily="18" charset="2"/>
              </a:rPr>
              <a:t>abcS</a:t>
            </a:r>
            <a:r>
              <a:rPr lang="en-US" altLang="zh-CN" sz="2400" b="1" dirty="0">
                <a:sym typeface="Symbol" pitchFamily="18" charset="2"/>
              </a:rPr>
              <a:t>'|</a:t>
            </a:r>
            <a:r>
              <a:rPr lang="en-US" altLang="zh-CN" sz="2400" b="1" dirty="0" err="1">
                <a:sym typeface="Symbol" pitchFamily="18" charset="2"/>
              </a:rPr>
              <a:t>bcS</a:t>
            </a:r>
            <a:r>
              <a:rPr lang="en-US" altLang="zh-CN" sz="2400" b="1" dirty="0">
                <a:sym typeface="Symbol" pitchFamily="18" charset="2"/>
              </a:rPr>
              <a:t>'|</a:t>
            </a:r>
            <a:r>
              <a:rPr lang="en-US" altLang="zh-CN" sz="2400" b="1" dirty="0" err="1">
                <a:sym typeface="Symbol" pitchFamily="18" charset="2"/>
              </a:rPr>
              <a:t>cS'</a:t>
            </a:r>
            <a:endParaRPr lang="en-US" altLang="zh-CN" sz="2400" b="1" dirty="0">
              <a:sym typeface="Symbol" pitchFamily="18" charset="2"/>
            </a:endParaRPr>
          </a:p>
          <a:p>
            <a:pPr eaLnBrk="1" hangingPunct="1">
              <a:spcBef>
                <a:spcPct val="0"/>
              </a:spcBef>
              <a:buFontTx/>
              <a:buNone/>
            </a:pPr>
            <a:r>
              <a:rPr lang="en-US" altLang="zh-CN" sz="2400" b="1" dirty="0">
                <a:sym typeface="Symbol" pitchFamily="18" charset="2"/>
              </a:rPr>
              <a:t>S' </a:t>
            </a:r>
            <a:r>
              <a:rPr lang="en-US" altLang="zh-CN" sz="2400" b="1" dirty="0" err="1">
                <a:sym typeface="Symbol" pitchFamily="18" charset="2"/>
              </a:rPr>
              <a:t>abcS</a:t>
            </a:r>
            <a:r>
              <a:rPr lang="en-US" altLang="zh-CN" sz="2400" b="1" dirty="0">
                <a:sym typeface="Symbol" pitchFamily="18" charset="2"/>
              </a:rPr>
              <a:t>'|</a:t>
            </a:r>
            <a:r>
              <a:rPr lang="en-US" altLang="zh-CN" sz="2800" b="1" dirty="0">
                <a:latin typeface="宋体" pitchFamily="2" charset="-122"/>
              </a:rPr>
              <a:t>ε</a:t>
            </a:r>
          </a:p>
        </p:txBody>
      </p:sp>
      <p:sp>
        <p:nvSpPr>
          <p:cNvPr id="51207" name="Rectangle 7"/>
          <p:cNvSpPr>
            <a:spLocks noGrp="1" noChangeArrowheads="1"/>
          </p:cNvSpPr>
          <p:nvPr>
            <p:ph type="title"/>
          </p:nvPr>
        </p:nvSpPr>
        <p:spPr>
          <a:xfrm>
            <a:off x="323528" y="180975"/>
            <a:ext cx="7305675" cy="495300"/>
          </a:xfrm>
        </p:spPr>
        <p:txBody>
          <a:bodyPr>
            <a:normAutofit/>
          </a:bodyPr>
          <a:lstStyle/>
          <a:p>
            <a:pPr algn="l" eaLnBrk="1" hangingPunct="1"/>
            <a:r>
              <a:rPr lang="en-US" altLang="zh-CN" sz="2400" b="1" dirty="0">
                <a:solidFill>
                  <a:schemeClr val="tx1"/>
                </a:solidFill>
                <a:latin typeface="+mn-ea"/>
                <a:ea typeface="+mn-ea"/>
              </a:rPr>
              <a:t>2. </a:t>
            </a:r>
            <a:r>
              <a:rPr lang="zh-CN" altLang="en-US" sz="2400" b="1" dirty="0">
                <a:solidFill>
                  <a:schemeClr val="tx1"/>
                </a:solidFill>
                <a:latin typeface="+mn-ea"/>
                <a:ea typeface="+mn-ea"/>
              </a:rPr>
              <a:t>间接左递归的消除</a:t>
            </a:r>
            <a:endParaRPr lang="en-US" altLang="zh-CN" sz="2400" dirty="0">
              <a:latin typeface="+mn-ea"/>
              <a:ea typeface="+mn-ea"/>
            </a:endParaRPr>
          </a:p>
        </p:txBody>
      </p:sp>
      <p:sp>
        <p:nvSpPr>
          <p:cNvPr id="242692" name="Text Box 4"/>
          <p:cNvSpPr txBox="1">
            <a:spLocks noChangeArrowheads="1"/>
          </p:cNvSpPr>
          <p:nvPr/>
        </p:nvSpPr>
        <p:spPr bwMode="auto">
          <a:xfrm>
            <a:off x="5250396" y="1499335"/>
            <a:ext cx="1700734" cy="1200329"/>
          </a:xfrm>
          <a:prstGeom prst="rect">
            <a:avLst/>
          </a:prstGeom>
          <a:solidFill>
            <a:schemeClr val="bg1"/>
          </a:solidFill>
          <a:ln w="38100">
            <a:solidFill>
              <a:srgbClr val="33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b="1" dirty="0"/>
              <a:t>S </a:t>
            </a:r>
            <a:r>
              <a:rPr lang="en-US" altLang="zh-CN" sz="2400" b="1" dirty="0">
                <a:sym typeface="Symbol" pitchFamily="18" charset="2"/>
              </a:rPr>
              <a:t></a:t>
            </a:r>
            <a:r>
              <a:rPr lang="en-US" altLang="zh-CN" sz="2400" b="1" dirty="0" err="1">
                <a:sym typeface="Symbol" pitchFamily="18" charset="2"/>
              </a:rPr>
              <a:t>Qc|c</a:t>
            </a:r>
            <a:endParaRPr lang="en-US" altLang="zh-CN" sz="2400" b="1" dirty="0">
              <a:sym typeface="Symbol" pitchFamily="18" charset="2"/>
            </a:endParaRPr>
          </a:p>
          <a:p>
            <a:pPr algn="ctr" eaLnBrk="1" hangingPunct="1">
              <a:spcBef>
                <a:spcPct val="0"/>
              </a:spcBef>
              <a:buFontTx/>
              <a:buNone/>
            </a:pPr>
            <a:r>
              <a:rPr lang="en-US" altLang="zh-CN" sz="2400" b="1" dirty="0">
                <a:sym typeface="Symbol" pitchFamily="18" charset="2"/>
              </a:rPr>
              <a:t>Q </a:t>
            </a:r>
            <a:r>
              <a:rPr lang="en-US" altLang="zh-CN" sz="2400" b="1" dirty="0" err="1">
                <a:sym typeface="Symbol" pitchFamily="18" charset="2"/>
              </a:rPr>
              <a:t>Rb|b</a:t>
            </a:r>
            <a:endParaRPr lang="en-US" altLang="zh-CN" sz="2400" b="1" dirty="0">
              <a:sym typeface="Symbol" pitchFamily="18" charset="2"/>
            </a:endParaRPr>
          </a:p>
          <a:p>
            <a:pPr algn="ctr" eaLnBrk="1" hangingPunct="1">
              <a:spcBef>
                <a:spcPct val="0"/>
              </a:spcBef>
              <a:buFontTx/>
              <a:buNone/>
            </a:pPr>
            <a:r>
              <a:rPr lang="en-US" altLang="zh-CN" sz="2400" b="1" dirty="0">
                <a:sym typeface="Symbol" pitchFamily="18" charset="2"/>
              </a:rPr>
              <a:t>R </a:t>
            </a:r>
            <a:r>
              <a:rPr lang="en-US" altLang="zh-CN" sz="2400" b="1" dirty="0" err="1">
                <a:sym typeface="Symbol" pitchFamily="18" charset="2"/>
              </a:rPr>
              <a:t>Sa|a</a:t>
            </a:r>
            <a:endParaRPr lang="en-US" altLang="zh-CN" sz="2400" b="1" dirty="0">
              <a:sym typeface="Symbol" pitchFamily="18" charset="2"/>
            </a:endParaRPr>
          </a:p>
        </p:txBody>
      </p:sp>
      <p:sp>
        <p:nvSpPr>
          <p:cNvPr id="8" name="Rectangle 6"/>
          <p:cNvSpPr>
            <a:spLocks noChangeArrowheads="1"/>
          </p:cNvSpPr>
          <p:nvPr/>
        </p:nvSpPr>
        <p:spPr bwMode="auto">
          <a:xfrm>
            <a:off x="6021430" y="4328398"/>
            <a:ext cx="2655026" cy="830997"/>
          </a:xfrm>
          <a:prstGeom prst="rect">
            <a:avLst/>
          </a:prstGeom>
          <a:solidFill>
            <a:schemeClr val="bg1"/>
          </a:solidFill>
          <a:ln w="38100">
            <a:solidFill>
              <a:srgbClr val="33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400" b="1" dirty="0">
                <a:sym typeface="Symbol" pitchFamily="18" charset="2"/>
              </a:rPr>
              <a:t>R </a:t>
            </a:r>
            <a:r>
              <a:rPr lang="en-US" altLang="zh-CN" sz="2400" b="1" dirty="0" err="1">
                <a:sym typeface="Symbol" pitchFamily="18" charset="2"/>
              </a:rPr>
              <a:t>Sa|a</a:t>
            </a:r>
            <a:r>
              <a:rPr lang="en-US" altLang="zh-CN" sz="2400" dirty="0">
                <a:ea typeface="华文行楷" pitchFamily="2" charset="-122"/>
              </a:rPr>
              <a:t> 	</a:t>
            </a:r>
          </a:p>
          <a:p>
            <a:pPr>
              <a:spcBef>
                <a:spcPct val="0"/>
              </a:spcBef>
              <a:buNone/>
            </a:pPr>
            <a:r>
              <a:rPr lang="en-US" altLang="zh-CN" sz="2400" dirty="0">
                <a:ea typeface="华文行楷" pitchFamily="2" charset="-122"/>
              </a:rPr>
              <a:t>Q </a:t>
            </a:r>
            <a:r>
              <a:rPr lang="en-US" altLang="zh-CN" sz="2400" b="1" dirty="0">
                <a:sym typeface="Symbol" pitchFamily="18" charset="2"/>
              </a:rPr>
              <a:t></a:t>
            </a:r>
            <a:r>
              <a:rPr lang="en-US" altLang="zh-CN" sz="2400" dirty="0">
                <a:ea typeface="华文行楷" pitchFamily="2" charset="-122"/>
              </a:rPr>
              <a:t> </a:t>
            </a:r>
            <a:r>
              <a:rPr lang="en-US" altLang="zh-CN" sz="2400" b="1" dirty="0" err="1">
                <a:sym typeface="Symbol" pitchFamily="18" charset="2"/>
              </a:rPr>
              <a:t>Sab|ab|b</a:t>
            </a:r>
            <a:endParaRPr lang="en-US" altLang="zh-CN" sz="2400" b="1" dirty="0">
              <a:sym typeface="Symbol" pitchFamily="18" charset="2"/>
            </a:endParaRPr>
          </a:p>
        </p:txBody>
      </p:sp>
    </p:spTree>
    <p:extLst>
      <p:ext uri="{BB962C8B-B14F-4D97-AF65-F5344CB8AC3E}">
        <p14:creationId xmlns:p14="http://schemas.microsoft.com/office/powerpoint/2010/main" val="2975467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20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42690">
                                            <p:txEl>
                                              <p:pRg st="0" end="0"/>
                                            </p:txEl>
                                          </p:spTgt>
                                        </p:tgtEl>
                                        <p:attrNameLst>
                                          <p:attrName>style.visibility</p:attrName>
                                        </p:attrNameLst>
                                      </p:cBhvr>
                                      <p:to>
                                        <p:strVal val="visible"/>
                                      </p:to>
                                    </p:set>
                                  </p:childTnLst>
                                </p:cTn>
                              </p:par>
                            </p:childTnLst>
                          </p:cTn>
                        </p:par>
                        <p:par>
                          <p:cTn id="11" fill="hold" nodeType="withGroup">
                            <p:stCondLst>
                              <p:cond delay="500"/>
                            </p:stCondLst>
                            <p:childTnLst>
                              <p:par>
                                <p:cTn id="12" presetID="1" presetClass="entr" presetSubtype="0" fill="hold" grpId="0" nodeType="afterEffect">
                                  <p:stCondLst>
                                    <p:cond delay="0"/>
                                  </p:stCondLst>
                                  <p:childTnLst>
                                    <p:set>
                                      <p:cBhvr>
                                        <p:cTn id="13" dur="1" fill="hold">
                                          <p:stCondLst>
                                            <p:cond delay="499"/>
                                          </p:stCondLst>
                                        </p:cTn>
                                        <p:tgtEl>
                                          <p:spTgt spid="242692"/>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499"/>
                                          </p:stCondLst>
                                        </p:cTn>
                                        <p:tgtEl>
                                          <p:spTgt spid="242693">
                                            <p:txEl>
                                              <p:pRg st="0" end="0"/>
                                            </p:txEl>
                                          </p:spTgt>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242693">
                                            <p:txEl>
                                              <p:pRg st="1" end="1"/>
                                            </p:txEl>
                                          </p:spTgt>
                                        </p:tgtEl>
                                        <p:attrNameLst>
                                          <p:attrName>style.visibility</p:attrName>
                                        </p:attrNameLst>
                                      </p:cBhvr>
                                      <p:to>
                                        <p:strVal val="visible"/>
                                      </p:to>
                                    </p:set>
                                  </p:childTnLst>
                                </p:cTn>
                              </p:par>
                            </p:childTnLst>
                          </p:cTn>
                        </p:par>
                        <p:par>
                          <p:cTn id="22" fill="hold" nodeType="withGroup">
                            <p:stCondLst>
                              <p:cond delay="500"/>
                            </p:stCondLst>
                            <p:childTnLst>
                              <p:par>
                                <p:cTn id="23" presetID="1" presetClass="entr" presetSubtype="0" fill="hold" grpId="0" nodeType="afterEffect">
                                  <p:stCondLst>
                                    <p:cond delay="0"/>
                                  </p:stCondLst>
                                  <p:childTnLst>
                                    <p:set>
                                      <p:cBhvr>
                                        <p:cTn id="24" dur="1" fill="hold">
                                          <p:stCondLst>
                                            <p:cond delay="499"/>
                                          </p:stCondLst>
                                        </p:cTn>
                                        <p:tgtEl>
                                          <p:spTgt spid="242693">
                                            <p:txEl>
                                              <p:pRg st="2" end="2"/>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24269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499"/>
                                          </p:stCondLst>
                                        </p:cTn>
                                        <p:tgtEl>
                                          <p:spTgt spid="242693">
                                            <p:txEl>
                                              <p:pRg st="4" end="4"/>
                                            </p:txEl>
                                          </p:spTgt>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242693">
                                            <p:txEl>
                                              <p:pRg st="5" end="5"/>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499"/>
                                          </p:stCondLst>
                                        </p:cTn>
                                        <p:tgtEl>
                                          <p:spTgt spid="242693">
                                            <p:txEl>
                                              <p:pRg st="6" end="6"/>
                                            </p:txEl>
                                          </p:spTgt>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499"/>
                                          </p:stCondLst>
                                        </p:cTn>
                                        <p:tgtEl>
                                          <p:spTgt spid="242694"/>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499"/>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0" grpId="0" build="p" autoUpdateAnimBg="0"/>
      <p:bldP spid="51203" grpId="0"/>
      <p:bldP spid="242693" grpId="0" uiExpand="1" build="p" autoUpdateAnimBg="0"/>
      <p:bldP spid="242694" grpId="0" animBg="1" autoUpdateAnimBg="0"/>
      <p:bldP spid="242692" grpId="0" animBg="1" autoUpdateAnimBg="0"/>
      <p:bldP spid="8" grpId="0" animBg="1"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3879588" cy="1446550"/>
          </a:xfrm>
          <a:prstGeom prst="rect">
            <a:avLst/>
          </a:prstGeom>
        </p:spPr>
        <p:txBody>
          <a:bodyPr wrap="none">
            <a:spAutoFit/>
          </a:bodyPr>
          <a:lstStyle/>
          <a:p>
            <a:r>
              <a:rPr lang="en-US" altLang="zh-CN" sz="4400" b="1" dirty="0">
                <a:solidFill>
                  <a:srgbClr val="CC0099"/>
                </a:solidFill>
                <a:ea typeface="隶书" pitchFamily="49" charset="-122"/>
              </a:rPr>
              <a:t>2</a:t>
            </a:r>
            <a:r>
              <a:rPr lang="zh-CN" altLang="en-US" sz="4400" b="1" dirty="0">
                <a:solidFill>
                  <a:srgbClr val="CC0099"/>
                </a:solidFill>
                <a:ea typeface="隶书" pitchFamily="49" charset="-122"/>
              </a:rPr>
              <a:t>、</a:t>
            </a:r>
            <a:r>
              <a:rPr lang="en-US" altLang="zh-CN" sz="4400" b="1" dirty="0">
                <a:solidFill>
                  <a:srgbClr val="CC0099"/>
                </a:solidFill>
                <a:ea typeface="隶书" pitchFamily="49" charset="-122"/>
              </a:rPr>
              <a:t>LL(1)</a:t>
            </a:r>
            <a:r>
              <a:rPr lang="zh-CN" altLang="en-US" sz="4400" b="1" dirty="0">
                <a:solidFill>
                  <a:srgbClr val="CC0099"/>
                </a:solidFill>
                <a:ea typeface="隶书" pitchFamily="49" charset="-122"/>
              </a:rPr>
              <a:t>文法</a:t>
            </a:r>
            <a:endParaRPr lang="en-US" altLang="zh-CN" sz="4400" b="1" dirty="0">
              <a:solidFill>
                <a:srgbClr val="CC0099"/>
              </a:solidFill>
              <a:ea typeface="隶书" pitchFamily="49" charset="-122"/>
            </a:endParaRPr>
          </a:p>
          <a:p>
            <a:r>
              <a:rPr lang="en-US" altLang="zh-CN" sz="4400" b="1" dirty="0">
                <a:solidFill>
                  <a:srgbClr val="CC0099"/>
                </a:solidFill>
                <a:ea typeface="隶书" pitchFamily="49" charset="-122"/>
              </a:rPr>
              <a:t>     ——first</a:t>
            </a:r>
            <a:r>
              <a:rPr lang="zh-CN" altLang="en-US" sz="4400" b="1" dirty="0">
                <a:solidFill>
                  <a:srgbClr val="CC0099"/>
                </a:solidFill>
                <a:ea typeface="隶书" pitchFamily="49" charset="-122"/>
              </a:rPr>
              <a:t>集</a:t>
            </a:r>
            <a:endParaRPr lang="zh-CN" altLang="en-US" sz="4400" dirty="0"/>
          </a:p>
        </p:txBody>
      </p:sp>
    </p:spTree>
    <p:extLst>
      <p:ext uri="{BB962C8B-B14F-4D97-AF65-F5344CB8AC3E}">
        <p14:creationId xmlns:p14="http://schemas.microsoft.com/office/powerpoint/2010/main" val="113621943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9748" name="Text Box 4"/>
          <p:cNvSpPr txBox="1">
            <a:spLocks noChangeArrowheads="1"/>
          </p:cNvSpPr>
          <p:nvPr/>
        </p:nvSpPr>
        <p:spPr bwMode="auto">
          <a:xfrm>
            <a:off x="5105847" y="186116"/>
            <a:ext cx="2778521" cy="1348061"/>
          </a:xfrm>
          <a:prstGeom prst="rect">
            <a:avLst/>
          </a:prstGeom>
          <a:solidFill>
            <a:srgbClr val="FFFF99"/>
          </a:solidFill>
          <a:ln w="38100" algn="ctr">
            <a:solidFill>
              <a:schemeClr val="accent2"/>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None/>
            </a:pPr>
            <a:r>
              <a:rPr lang="zh-CN" altLang="zh-CN" sz="2400" dirty="0"/>
              <a:t>（</a:t>
            </a:r>
            <a:r>
              <a:rPr lang="en-US" altLang="zh-CN" sz="2400" dirty="0"/>
              <a:t>1</a:t>
            </a:r>
            <a:r>
              <a:rPr lang="zh-CN" altLang="zh-CN" sz="2400" dirty="0"/>
              <a:t>）</a:t>
            </a:r>
            <a:r>
              <a:rPr lang="en-US" altLang="zh-CN" sz="2400" dirty="0" err="1"/>
              <a:t>S→Ac</a:t>
            </a:r>
            <a:r>
              <a:rPr lang="en-US" altLang="zh-CN" sz="2400" dirty="0"/>
              <a:t> | Be</a:t>
            </a:r>
            <a:endParaRPr lang="zh-CN" altLang="zh-CN" sz="2400" dirty="0"/>
          </a:p>
          <a:p>
            <a:pPr>
              <a:buNone/>
            </a:pPr>
            <a:r>
              <a:rPr lang="zh-CN" altLang="zh-CN" sz="2400" dirty="0"/>
              <a:t>（</a:t>
            </a:r>
            <a:r>
              <a:rPr lang="en-US" altLang="zh-CN" sz="2400" dirty="0"/>
              <a:t>2</a:t>
            </a:r>
            <a:r>
              <a:rPr lang="zh-CN" altLang="zh-CN" sz="2400" dirty="0"/>
              <a:t>）</a:t>
            </a:r>
            <a:r>
              <a:rPr lang="en-US" altLang="zh-CN" sz="2400" dirty="0" err="1"/>
              <a:t>A→db</a:t>
            </a:r>
            <a:r>
              <a:rPr lang="en-US" altLang="zh-CN" sz="2400" dirty="0"/>
              <a:t> | b</a:t>
            </a:r>
            <a:endParaRPr lang="zh-CN" altLang="zh-CN" sz="2400" dirty="0"/>
          </a:p>
          <a:p>
            <a:pPr>
              <a:buNone/>
            </a:pPr>
            <a:r>
              <a:rPr lang="zh-CN" altLang="zh-CN" sz="2400" dirty="0"/>
              <a:t>（</a:t>
            </a:r>
            <a:r>
              <a:rPr lang="en-US" altLang="zh-CN" sz="2400" dirty="0"/>
              <a:t>3</a:t>
            </a:r>
            <a:r>
              <a:rPr lang="zh-CN" altLang="zh-CN" sz="2400" dirty="0"/>
              <a:t>）</a:t>
            </a:r>
            <a:r>
              <a:rPr lang="en-US" altLang="zh-CN" sz="2400" dirty="0" err="1"/>
              <a:t>B→da</a:t>
            </a:r>
            <a:r>
              <a:rPr lang="en-US" altLang="zh-CN" sz="2400" dirty="0"/>
              <a:t> | a</a:t>
            </a:r>
            <a:endParaRPr lang="zh-CN" altLang="zh-CN" sz="2400" dirty="0"/>
          </a:p>
        </p:txBody>
      </p:sp>
      <p:sp>
        <p:nvSpPr>
          <p:cNvPr id="159749" name="Text Box 5"/>
          <p:cNvSpPr txBox="1">
            <a:spLocks noChangeArrowheads="1"/>
          </p:cNvSpPr>
          <p:nvPr/>
        </p:nvSpPr>
        <p:spPr bwMode="auto">
          <a:xfrm>
            <a:off x="461690" y="444649"/>
            <a:ext cx="30749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dirty="0">
                <a:ea typeface="华文行楷" pitchFamily="2" charset="-122"/>
              </a:rPr>
              <a:t>给定文法，是否会产生回溯？</a:t>
            </a:r>
          </a:p>
        </p:txBody>
      </p:sp>
      <p:sp>
        <p:nvSpPr>
          <p:cNvPr id="159751" name="Text Box 7"/>
          <p:cNvSpPr txBox="1">
            <a:spLocks noChangeArrowheads="1"/>
          </p:cNvSpPr>
          <p:nvPr/>
        </p:nvSpPr>
        <p:spPr bwMode="auto">
          <a:xfrm>
            <a:off x="1619671" y="1801961"/>
            <a:ext cx="53285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dirty="0">
                <a:ea typeface="华文行楷" pitchFamily="2" charset="-122"/>
              </a:rPr>
              <a:t>不含左递归，也没有公共左因子</a:t>
            </a:r>
            <a:endParaRPr lang="en-US" altLang="zh-CN" sz="2400" dirty="0">
              <a:ea typeface="华文行楷" pitchFamily="2" charset="-122"/>
            </a:endParaRPr>
          </a:p>
        </p:txBody>
      </p:sp>
      <p:sp>
        <p:nvSpPr>
          <p:cNvPr id="6" name="Text Box 7"/>
          <p:cNvSpPr txBox="1">
            <a:spLocks noChangeArrowheads="1"/>
          </p:cNvSpPr>
          <p:nvPr/>
        </p:nvSpPr>
        <p:spPr bwMode="auto">
          <a:xfrm>
            <a:off x="1676127" y="2263626"/>
            <a:ext cx="18605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dirty="0" err="1">
                <a:solidFill>
                  <a:srgbClr val="FF0000"/>
                </a:solidFill>
                <a:ea typeface="华文行楷" pitchFamily="2" charset="-122"/>
              </a:rPr>
              <a:t>d</a:t>
            </a:r>
            <a:r>
              <a:rPr lang="en-US" altLang="zh-CN" sz="3600" dirty="0" err="1">
                <a:ea typeface="华文行楷" pitchFamily="2" charset="-122"/>
              </a:rPr>
              <a:t>ae</a:t>
            </a:r>
            <a:endParaRPr lang="en-US" altLang="zh-CN" sz="3600" dirty="0">
              <a:ea typeface="华文行楷" pitchFamily="2" charset="-122"/>
            </a:endParaRPr>
          </a:p>
        </p:txBody>
      </p:sp>
      <p:sp>
        <p:nvSpPr>
          <p:cNvPr id="7" name="Text Box 7"/>
          <p:cNvSpPr txBox="1">
            <a:spLocks noChangeArrowheads="1"/>
          </p:cNvSpPr>
          <p:nvPr/>
        </p:nvSpPr>
        <p:spPr bwMode="auto">
          <a:xfrm>
            <a:off x="3203847" y="2462316"/>
            <a:ext cx="54311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400" dirty="0">
                <a:ea typeface="华文行楷" pitchFamily="2" charset="-122"/>
              </a:rPr>
              <a:t>分析过程中仍然会出现错误的选择</a:t>
            </a:r>
            <a:endParaRPr lang="en-US" altLang="zh-CN" sz="2400" dirty="0">
              <a:ea typeface="华文行楷" pitchFamily="2" charset="-122"/>
            </a:endParaRPr>
          </a:p>
        </p:txBody>
      </p:sp>
      <p:sp>
        <p:nvSpPr>
          <p:cNvPr id="9" name="Rectangle 2"/>
          <p:cNvSpPr>
            <a:spLocks noGrp="1" noChangeArrowheads="1"/>
          </p:cNvSpPr>
          <p:nvPr>
            <p:ph type="title"/>
          </p:nvPr>
        </p:nvSpPr>
        <p:spPr>
          <a:xfrm>
            <a:off x="287338" y="3579862"/>
            <a:ext cx="8856662" cy="1223963"/>
          </a:xfrm>
          <a:solidFill>
            <a:schemeClr val="bg1"/>
          </a:solidFill>
        </p:spPr>
        <p:txBody>
          <a:bodyPr>
            <a:normAutofit/>
          </a:bodyPr>
          <a:lstStyle/>
          <a:p>
            <a:pPr algn="l" eaLnBrk="1" hangingPunct="1"/>
            <a:r>
              <a:rPr lang="zh-CN" altLang="en-US" sz="3200" b="1" i="1" dirty="0">
                <a:solidFill>
                  <a:srgbClr val="FF0000"/>
                </a:solidFill>
                <a:latin typeface="隶书" pitchFamily="49" charset="-122"/>
                <a:ea typeface="隶书" pitchFamily="49" charset="-122"/>
              </a:rPr>
              <a:t>探究</a:t>
            </a:r>
            <a:r>
              <a:rPr lang="en-US" altLang="zh-CN" sz="3200" b="1" i="1" dirty="0">
                <a:solidFill>
                  <a:srgbClr val="FF0000"/>
                </a:solidFill>
                <a:latin typeface="隶书" pitchFamily="49" charset="-122"/>
                <a:ea typeface="隶书" pitchFamily="49" charset="-122"/>
              </a:rPr>
              <a:t>:</a:t>
            </a:r>
            <a:r>
              <a:rPr lang="en-US" altLang="zh-CN" sz="3200" b="1" i="1" dirty="0">
                <a:solidFill>
                  <a:schemeClr val="tx1"/>
                </a:solidFill>
                <a:latin typeface="隶书" pitchFamily="49" charset="-122"/>
                <a:ea typeface="隶书" pitchFamily="49" charset="-122"/>
              </a:rPr>
              <a:t> </a:t>
            </a:r>
            <a:br>
              <a:rPr lang="en-US" altLang="zh-CN" sz="3200" b="1" i="1" dirty="0">
                <a:solidFill>
                  <a:schemeClr val="tx1"/>
                </a:solidFill>
                <a:latin typeface="隶书" pitchFamily="49" charset="-122"/>
                <a:ea typeface="隶书" pitchFamily="49" charset="-122"/>
              </a:rPr>
            </a:br>
            <a:r>
              <a:rPr lang="en-US" altLang="zh-CN" sz="3200" b="1" i="1" dirty="0">
                <a:solidFill>
                  <a:schemeClr val="tx1"/>
                </a:solidFill>
                <a:latin typeface="隶书" pitchFamily="49" charset="-122"/>
                <a:ea typeface="隶书" pitchFamily="49" charset="-122"/>
              </a:rPr>
              <a:t>      </a:t>
            </a:r>
            <a:r>
              <a:rPr lang="zh-CN" altLang="en-US" sz="3200" b="1" i="1" dirty="0">
                <a:solidFill>
                  <a:schemeClr val="tx1"/>
                </a:solidFill>
                <a:latin typeface="隶书" pitchFamily="49" charset="-122"/>
                <a:ea typeface="隶书" pitchFamily="49" charset="-122"/>
              </a:rPr>
              <a:t>文法满足怎样的条件才不会产生</a:t>
            </a:r>
            <a:r>
              <a:rPr lang="zh-CN" altLang="en-US" sz="3200" b="1" dirty="0">
                <a:solidFill>
                  <a:schemeClr val="tx1"/>
                </a:solidFill>
                <a:latin typeface="隶书" pitchFamily="49" charset="-122"/>
                <a:ea typeface="隶书" pitchFamily="49" charset="-122"/>
              </a:rPr>
              <a:t>回溯？</a:t>
            </a:r>
            <a:endParaRPr lang="zh-CN" altLang="en-US" dirty="0">
              <a:latin typeface="隶书" pitchFamily="49" charset="-122"/>
              <a:ea typeface="隶书" pitchFamily="49" charset="-122"/>
            </a:endParaRPr>
          </a:p>
        </p:txBody>
      </p:sp>
    </p:spTree>
    <p:extLst>
      <p:ext uri="{BB962C8B-B14F-4D97-AF65-F5344CB8AC3E}">
        <p14:creationId xmlns:p14="http://schemas.microsoft.com/office/powerpoint/2010/main" val="32744712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975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51" grpId="0"/>
      <p:bldP spid="6" grpId="0"/>
      <p:bldP spid="7" grpId="0"/>
      <p:bldP spid="9"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25438" y="1298575"/>
            <a:ext cx="8096250" cy="1908660"/>
            <a:chOff x="324" y="796"/>
            <a:chExt cx="5100" cy="1816"/>
          </a:xfrm>
        </p:grpSpPr>
        <p:sp>
          <p:nvSpPr>
            <p:cNvPr id="57349" name="Rectangle 3"/>
            <p:cNvSpPr>
              <a:spLocks noChangeArrowheads="1"/>
            </p:cNvSpPr>
            <p:nvPr/>
          </p:nvSpPr>
          <p:spPr bwMode="auto">
            <a:xfrm>
              <a:off x="324" y="796"/>
              <a:ext cx="5100" cy="1816"/>
            </a:xfrm>
            <a:prstGeom prst="rect">
              <a:avLst/>
            </a:prstGeom>
            <a:solidFill>
              <a:schemeClr val="bg1"/>
            </a:solidFill>
            <a:ln w="28575">
              <a:solidFill>
                <a:schemeClr val="accent2"/>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dirty="0"/>
                <a:t>对</a:t>
              </a:r>
              <a:r>
                <a:rPr lang="zh-CN" altLang="en-US" sz="2800" dirty="0">
                  <a:solidFill>
                    <a:srgbClr val="FF0000"/>
                  </a:solidFill>
                </a:rPr>
                <a:t>不含左递归</a:t>
              </a:r>
              <a:r>
                <a:rPr lang="zh-CN" altLang="en-US" sz="2800" dirty="0"/>
                <a:t>的文法</a:t>
              </a:r>
              <a:r>
                <a:rPr lang="en-US" altLang="zh-CN" sz="2800" dirty="0"/>
                <a:t>G</a:t>
              </a:r>
              <a:r>
                <a:rPr lang="zh-CN" altLang="en-US" sz="2800" dirty="0"/>
                <a:t>，对某文法符号串</a:t>
              </a:r>
              <a:r>
                <a:rPr lang="el-GR" altLang="zh-CN" sz="2800" dirty="0"/>
                <a:t>α</a:t>
              </a:r>
              <a:r>
                <a:rPr lang="zh-CN" altLang="en-US" sz="2800" dirty="0"/>
                <a:t>，定义：</a:t>
              </a:r>
            </a:p>
            <a:p>
              <a:pPr lvl="1" eaLnBrk="1" hangingPunct="1">
                <a:spcBef>
                  <a:spcPct val="50000"/>
                </a:spcBef>
                <a:buFontTx/>
                <a:buNone/>
              </a:pPr>
              <a:r>
                <a:rPr lang="zh-CN" altLang="en-US" dirty="0">
                  <a:solidFill>
                    <a:schemeClr val="accent2"/>
                  </a:solidFill>
                </a:rPr>
                <a:t>               </a:t>
              </a:r>
              <a:r>
                <a:rPr lang="en-US" altLang="zh-CN" dirty="0">
                  <a:solidFill>
                    <a:srgbClr val="FF0000"/>
                  </a:solidFill>
                </a:rPr>
                <a:t>First(</a:t>
              </a:r>
              <a:r>
                <a:rPr lang="el-GR" altLang="zh-CN" dirty="0">
                  <a:solidFill>
                    <a:srgbClr val="FF0000"/>
                  </a:solidFill>
                </a:rPr>
                <a:t>α</a:t>
              </a:r>
              <a:r>
                <a:rPr lang="en-US" altLang="zh-CN" dirty="0">
                  <a:solidFill>
                    <a:srgbClr val="FF0000"/>
                  </a:solidFill>
                </a:rPr>
                <a:t>) </a:t>
              </a:r>
              <a:r>
                <a:rPr lang="en-US" altLang="zh-CN" dirty="0"/>
                <a:t>= {</a:t>
              </a:r>
              <a:r>
                <a:rPr lang="en-US" altLang="zh-CN" dirty="0">
                  <a:latin typeface="宋体" pitchFamily="2" charset="-122"/>
                </a:rPr>
                <a:t>a| </a:t>
              </a:r>
              <a:r>
                <a:rPr lang="el-GR" altLang="zh-CN" dirty="0"/>
                <a:t>α</a:t>
              </a:r>
              <a:r>
                <a:rPr lang="en-US" altLang="zh-CN" dirty="0"/>
                <a:t>    </a:t>
              </a:r>
              <a:r>
                <a:rPr lang="en-US" altLang="zh-CN" dirty="0">
                  <a:latin typeface="宋体" pitchFamily="2" charset="-122"/>
                </a:rPr>
                <a:t> a…,</a:t>
              </a:r>
              <a:r>
                <a:rPr lang="en-US" altLang="zh-CN" dirty="0" err="1">
                  <a:latin typeface="宋体" pitchFamily="2" charset="-122"/>
                </a:rPr>
                <a:t>a</a:t>
              </a:r>
              <a:r>
                <a:rPr lang="en-US" altLang="zh-CN" sz="3000" b="1" dirty="0" err="1">
                  <a:latin typeface="宋体" pitchFamily="2" charset="-122"/>
                </a:rPr>
                <a:t>∈</a:t>
              </a:r>
              <a:r>
                <a:rPr lang="en-US" altLang="zh-CN" dirty="0" err="1">
                  <a:latin typeface="宋体" pitchFamily="2" charset="-122"/>
                </a:rPr>
                <a:t>V</a:t>
              </a:r>
              <a:r>
                <a:rPr lang="en-US" altLang="zh-CN" baseline="-25000" dirty="0" err="1">
                  <a:latin typeface="宋体" pitchFamily="2" charset="-122"/>
                </a:rPr>
                <a:t>T</a:t>
              </a:r>
              <a:r>
                <a:rPr lang="en-US" altLang="zh-CN" dirty="0"/>
                <a:t>}</a:t>
              </a:r>
            </a:p>
            <a:p>
              <a:pPr lvl="1" eaLnBrk="1" hangingPunct="1">
                <a:spcBef>
                  <a:spcPct val="50000"/>
                </a:spcBef>
                <a:buFontTx/>
                <a:buNone/>
              </a:pPr>
              <a:r>
                <a:rPr lang="en-US" altLang="zh-CN" dirty="0">
                  <a:latin typeface="宋体" pitchFamily="2" charset="-122"/>
                </a:rPr>
                <a:t>       </a:t>
              </a:r>
              <a:r>
                <a:rPr lang="zh-CN" altLang="en-US" dirty="0">
                  <a:latin typeface="宋体" pitchFamily="2" charset="-122"/>
                </a:rPr>
                <a:t>若</a:t>
              </a:r>
              <a:r>
                <a:rPr lang="el-GR" altLang="zh-CN" dirty="0"/>
                <a:t>α</a:t>
              </a:r>
              <a:r>
                <a:rPr lang="en-US" altLang="zh-CN" dirty="0">
                  <a:latin typeface="宋体" pitchFamily="2" charset="-122"/>
                </a:rPr>
                <a:t>   </a:t>
              </a:r>
              <a:r>
                <a:rPr lang="en-US" altLang="zh-CN" b="1" dirty="0">
                  <a:latin typeface="宋体" pitchFamily="2" charset="-122"/>
                </a:rPr>
                <a:t>ε</a:t>
              </a:r>
              <a:r>
                <a:rPr lang="zh-CN" altLang="en-US" dirty="0"/>
                <a:t>，则</a:t>
              </a:r>
              <a:r>
                <a:rPr lang="en-US" altLang="zh-CN" b="1" dirty="0">
                  <a:latin typeface="宋体" pitchFamily="2" charset="-122"/>
                </a:rPr>
                <a:t>ε</a:t>
              </a:r>
              <a:r>
                <a:rPr lang="en-US" altLang="zh-CN" sz="3000" b="1" dirty="0">
                  <a:latin typeface="宋体" pitchFamily="2" charset="-122"/>
                </a:rPr>
                <a:t>∈</a:t>
              </a:r>
              <a:r>
                <a:rPr lang="en-US" altLang="zh-CN" dirty="0"/>
                <a:t> First(</a:t>
              </a:r>
              <a:r>
                <a:rPr lang="el-GR" altLang="zh-CN" dirty="0"/>
                <a:t>α</a:t>
              </a:r>
              <a:r>
                <a:rPr lang="en-US" altLang="zh-CN" dirty="0"/>
                <a:t>)</a:t>
              </a:r>
            </a:p>
          </p:txBody>
        </p:sp>
        <p:grpSp>
          <p:nvGrpSpPr>
            <p:cNvPr id="57350" name="Group 4"/>
            <p:cNvGrpSpPr>
              <a:grpSpLocks/>
            </p:cNvGrpSpPr>
            <p:nvPr/>
          </p:nvGrpSpPr>
          <p:grpSpPr bwMode="auto">
            <a:xfrm>
              <a:off x="3028" y="1345"/>
              <a:ext cx="406" cy="566"/>
              <a:chOff x="2020" y="1141"/>
              <a:chExt cx="406" cy="566"/>
            </a:xfrm>
          </p:grpSpPr>
          <p:sp>
            <p:nvSpPr>
              <p:cNvPr id="249861" name="Rectangle 5"/>
              <p:cNvSpPr>
                <a:spLocks noChangeArrowheads="1"/>
              </p:cNvSpPr>
              <p:nvPr/>
            </p:nvSpPr>
            <p:spPr bwMode="auto">
              <a:xfrm>
                <a:off x="2020" y="1319"/>
                <a:ext cx="406" cy="388"/>
              </a:xfrm>
              <a:prstGeom prst="rect">
                <a:avLst/>
              </a:prstGeom>
              <a:noFill/>
              <a:ln w="9525" algn="ctr">
                <a:noFill/>
                <a:miter lim="800000"/>
                <a:headEnd/>
                <a:tailEnd/>
              </a:ln>
              <a:effectLst/>
            </p:spPr>
            <p:txBody>
              <a:bodyPr>
                <a:spAutoFit/>
              </a:bodyPr>
              <a:lstStyle/>
              <a:p>
                <a:pPr>
                  <a:defRPr/>
                </a:pPr>
                <a:r>
                  <a:rPr lang="en-US" altLang="zh-CN" b="1" dirty="0">
                    <a:effectLst>
                      <a:outerShdw blurRad="38100" dist="38100" dir="2700000" algn="tl">
                        <a:srgbClr val="C0C0C0"/>
                      </a:outerShdw>
                    </a:effectLst>
                    <a:sym typeface="Symbol" pitchFamily="18" charset="2"/>
                  </a:rPr>
                  <a:t></a:t>
                </a:r>
                <a:endParaRPr lang="en-US" altLang="zh-CN" b="1" dirty="0">
                  <a:effectLst>
                    <a:outerShdw blurRad="38100" dist="38100" dir="2700000" algn="tl">
                      <a:srgbClr val="C0C0C0"/>
                    </a:outerShdw>
                  </a:effectLst>
                </a:endParaRPr>
              </a:p>
            </p:txBody>
          </p:sp>
          <p:sp>
            <p:nvSpPr>
              <p:cNvPr id="249862" name="Rectangle 6"/>
              <p:cNvSpPr>
                <a:spLocks noChangeArrowheads="1"/>
              </p:cNvSpPr>
              <p:nvPr/>
            </p:nvSpPr>
            <p:spPr bwMode="auto">
              <a:xfrm>
                <a:off x="2036" y="1141"/>
                <a:ext cx="363" cy="388"/>
              </a:xfrm>
              <a:prstGeom prst="rect">
                <a:avLst/>
              </a:prstGeom>
              <a:noFill/>
              <a:ln w="9525" algn="ctr">
                <a:noFill/>
                <a:miter lim="800000"/>
                <a:headEnd/>
                <a:tailEnd/>
              </a:ln>
              <a:effectLst/>
            </p:spPr>
            <p:txBody>
              <a:bodyPr>
                <a:spAutoFit/>
              </a:bodyPr>
              <a:lstStyle>
                <a:lvl1pPr eaLnBrk="0" hangingPunct="0">
                  <a:defRPr kumimoji="1" sz="2800">
                    <a:solidFill>
                      <a:schemeClr val="tx1"/>
                    </a:solidFill>
                    <a:latin typeface="Times New Roman" pitchFamily="18" charset="0"/>
                    <a:ea typeface="华文行楷" pitchFamily="2" charset="-122"/>
                  </a:defRPr>
                </a:lvl1pPr>
                <a:lvl2pPr marL="742950" indent="-285750" eaLnBrk="0" hangingPunct="0">
                  <a:defRPr kumimoji="1" sz="2800">
                    <a:solidFill>
                      <a:schemeClr val="tx1"/>
                    </a:solidFill>
                    <a:latin typeface="Times New Roman" pitchFamily="18" charset="0"/>
                    <a:ea typeface="华文行楷" pitchFamily="2" charset="-122"/>
                  </a:defRPr>
                </a:lvl2pPr>
                <a:lvl3pPr marL="1143000" indent="-228600" eaLnBrk="0" hangingPunct="0">
                  <a:defRPr kumimoji="1" sz="2800">
                    <a:solidFill>
                      <a:schemeClr val="tx1"/>
                    </a:solidFill>
                    <a:latin typeface="Times New Roman" pitchFamily="18" charset="0"/>
                    <a:ea typeface="华文行楷" pitchFamily="2" charset="-122"/>
                  </a:defRPr>
                </a:lvl3pPr>
                <a:lvl4pPr marL="1600200" indent="-228600" eaLnBrk="0" hangingPunct="0">
                  <a:defRPr kumimoji="1" sz="2800">
                    <a:solidFill>
                      <a:schemeClr val="tx1"/>
                    </a:solidFill>
                    <a:latin typeface="Times New Roman" pitchFamily="18" charset="0"/>
                    <a:ea typeface="华文行楷" pitchFamily="2" charset="-122"/>
                  </a:defRPr>
                </a:lvl4pPr>
                <a:lvl5pPr marL="2057400" indent="-228600" eaLnBrk="0" hangingPunct="0">
                  <a:defRPr kumimoji="1" sz="2800">
                    <a:solidFill>
                      <a:schemeClr val="tx1"/>
                    </a:solidFill>
                    <a:latin typeface="Times New Roman" pitchFamily="18" charset="0"/>
                    <a:ea typeface="华文行楷" pitchFamily="2" charset="-122"/>
                  </a:defRPr>
                </a:lvl5pPr>
                <a:lvl6pPr marL="25146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6pPr>
                <a:lvl7pPr marL="29718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7pPr>
                <a:lvl8pPr marL="34290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8pPr>
                <a:lvl9pPr marL="38862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9pPr>
              </a:lstStyle>
              <a:p>
                <a:pPr eaLnBrk="1" hangingPunct="1">
                  <a:defRPr/>
                </a:pPr>
                <a:r>
                  <a:rPr lang="en-US" altLang="zh-CN" sz="2400" b="1" dirty="0">
                    <a:effectLst>
                      <a:outerShdw blurRad="38100" dist="38100" dir="2700000" algn="tl">
                        <a:srgbClr val="C0C0C0"/>
                      </a:outerShdw>
                    </a:effectLst>
                  </a:rPr>
                  <a:t>*</a:t>
                </a:r>
              </a:p>
            </p:txBody>
          </p:sp>
        </p:grpSp>
        <p:grpSp>
          <p:nvGrpSpPr>
            <p:cNvPr id="57351" name="Group 7"/>
            <p:cNvGrpSpPr>
              <a:grpSpLocks/>
            </p:cNvGrpSpPr>
            <p:nvPr/>
          </p:nvGrpSpPr>
          <p:grpSpPr bwMode="auto">
            <a:xfrm>
              <a:off x="1858" y="2007"/>
              <a:ext cx="406" cy="548"/>
              <a:chOff x="454" y="1731"/>
              <a:chExt cx="406" cy="548"/>
            </a:xfrm>
          </p:grpSpPr>
          <p:sp>
            <p:nvSpPr>
              <p:cNvPr id="249864" name="Rectangle 8"/>
              <p:cNvSpPr>
                <a:spLocks noChangeArrowheads="1"/>
              </p:cNvSpPr>
              <p:nvPr/>
            </p:nvSpPr>
            <p:spPr bwMode="auto">
              <a:xfrm>
                <a:off x="454" y="1891"/>
                <a:ext cx="406" cy="388"/>
              </a:xfrm>
              <a:prstGeom prst="rect">
                <a:avLst/>
              </a:prstGeom>
              <a:noFill/>
              <a:ln w="9525" algn="ctr">
                <a:noFill/>
                <a:miter lim="800000"/>
                <a:headEnd/>
                <a:tailEnd/>
              </a:ln>
              <a:effectLst/>
            </p:spPr>
            <p:txBody>
              <a:bodyPr>
                <a:spAutoFit/>
              </a:bodyPr>
              <a:lstStyle/>
              <a:p>
                <a:pPr>
                  <a:defRPr/>
                </a:pPr>
                <a:r>
                  <a:rPr lang="en-US" altLang="zh-CN" b="1" dirty="0">
                    <a:effectLst>
                      <a:outerShdw blurRad="38100" dist="38100" dir="2700000" algn="tl">
                        <a:srgbClr val="C0C0C0"/>
                      </a:outerShdw>
                    </a:effectLst>
                    <a:sym typeface="Symbol" pitchFamily="18" charset="2"/>
                  </a:rPr>
                  <a:t></a:t>
                </a:r>
                <a:endParaRPr lang="en-US" altLang="zh-CN" b="1" dirty="0">
                  <a:effectLst>
                    <a:outerShdw blurRad="38100" dist="38100" dir="2700000" algn="tl">
                      <a:srgbClr val="C0C0C0"/>
                    </a:outerShdw>
                  </a:effectLst>
                </a:endParaRPr>
              </a:p>
            </p:txBody>
          </p:sp>
          <p:sp>
            <p:nvSpPr>
              <p:cNvPr id="249865" name="Rectangle 9"/>
              <p:cNvSpPr>
                <a:spLocks noChangeArrowheads="1"/>
              </p:cNvSpPr>
              <p:nvPr/>
            </p:nvSpPr>
            <p:spPr bwMode="auto">
              <a:xfrm>
                <a:off x="461" y="1731"/>
                <a:ext cx="273" cy="439"/>
              </a:xfrm>
              <a:prstGeom prst="rect">
                <a:avLst/>
              </a:prstGeom>
              <a:noFill/>
              <a:ln w="9525" algn="ctr">
                <a:noFill/>
                <a:miter lim="800000"/>
                <a:headEnd/>
                <a:tailEnd/>
              </a:ln>
              <a:effectLst/>
            </p:spPr>
            <p:txBody>
              <a:bodyPr wrap="square">
                <a:spAutoFit/>
              </a:bodyPr>
              <a:lstStyle>
                <a:lvl1pPr eaLnBrk="0" hangingPunct="0">
                  <a:defRPr kumimoji="1" sz="2800">
                    <a:solidFill>
                      <a:schemeClr val="tx1"/>
                    </a:solidFill>
                    <a:latin typeface="Times New Roman" pitchFamily="18" charset="0"/>
                    <a:ea typeface="华文行楷" pitchFamily="2" charset="-122"/>
                  </a:defRPr>
                </a:lvl1pPr>
                <a:lvl2pPr marL="742950" indent="-285750" eaLnBrk="0" hangingPunct="0">
                  <a:defRPr kumimoji="1" sz="2800">
                    <a:solidFill>
                      <a:schemeClr val="tx1"/>
                    </a:solidFill>
                    <a:latin typeface="Times New Roman" pitchFamily="18" charset="0"/>
                    <a:ea typeface="华文行楷" pitchFamily="2" charset="-122"/>
                  </a:defRPr>
                </a:lvl2pPr>
                <a:lvl3pPr marL="1143000" indent="-228600" eaLnBrk="0" hangingPunct="0">
                  <a:defRPr kumimoji="1" sz="2800">
                    <a:solidFill>
                      <a:schemeClr val="tx1"/>
                    </a:solidFill>
                    <a:latin typeface="Times New Roman" pitchFamily="18" charset="0"/>
                    <a:ea typeface="华文行楷" pitchFamily="2" charset="-122"/>
                  </a:defRPr>
                </a:lvl3pPr>
                <a:lvl4pPr marL="1600200" indent="-228600" eaLnBrk="0" hangingPunct="0">
                  <a:defRPr kumimoji="1" sz="2800">
                    <a:solidFill>
                      <a:schemeClr val="tx1"/>
                    </a:solidFill>
                    <a:latin typeface="Times New Roman" pitchFamily="18" charset="0"/>
                    <a:ea typeface="华文行楷" pitchFamily="2" charset="-122"/>
                  </a:defRPr>
                </a:lvl4pPr>
                <a:lvl5pPr marL="2057400" indent="-228600" eaLnBrk="0" hangingPunct="0">
                  <a:defRPr kumimoji="1" sz="2800">
                    <a:solidFill>
                      <a:schemeClr val="tx1"/>
                    </a:solidFill>
                    <a:latin typeface="Times New Roman" pitchFamily="18" charset="0"/>
                    <a:ea typeface="华文行楷" pitchFamily="2" charset="-122"/>
                  </a:defRPr>
                </a:lvl5pPr>
                <a:lvl6pPr marL="25146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6pPr>
                <a:lvl7pPr marL="29718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7pPr>
                <a:lvl8pPr marL="34290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8pPr>
                <a:lvl9pPr marL="38862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9pPr>
              </a:lstStyle>
              <a:p>
                <a:pPr eaLnBrk="1" hangingPunct="1">
                  <a:defRPr/>
                </a:pPr>
                <a:r>
                  <a:rPr lang="en-US" altLang="zh-CN" sz="2400" b="1" dirty="0">
                    <a:effectLst>
                      <a:outerShdw blurRad="38100" dist="38100" dir="2700000" algn="tl">
                        <a:srgbClr val="C0C0C0"/>
                      </a:outerShdw>
                    </a:effectLst>
                  </a:rPr>
                  <a:t>*</a:t>
                </a:r>
              </a:p>
            </p:txBody>
          </p:sp>
        </p:grpSp>
      </p:grpSp>
      <p:sp>
        <p:nvSpPr>
          <p:cNvPr id="249876" name="Rectangle 20"/>
          <p:cNvSpPr>
            <a:spLocks noChangeArrowheads="1"/>
          </p:cNvSpPr>
          <p:nvPr/>
        </p:nvSpPr>
        <p:spPr bwMode="auto">
          <a:xfrm>
            <a:off x="582613" y="3471061"/>
            <a:ext cx="783907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dirty="0">
                <a:solidFill>
                  <a:srgbClr val="0066FF"/>
                </a:solidFill>
                <a:ea typeface="华文行楷" pitchFamily="2" charset="-122"/>
              </a:rPr>
              <a:t>即由文法符号串</a:t>
            </a:r>
            <a:r>
              <a:rPr lang="zh-CN" altLang="en-US" sz="2800" dirty="0">
                <a:solidFill>
                  <a:srgbClr val="FF0000"/>
                </a:solidFill>
                <a:ea typeface="华文行楷" pitchFamily="2" charset="-122"/>
              </a:rPr>
              <a:t>推出</a:t>
            </a:r>
            <a:r>
              <a:rPr lang="zh-CN" altLang="en-US" sz="2800" dirty="0">
                <a:solidFill>
                  <a:srgbClr val="0066FF"/>
                </a:solidFill>
                <a:ea typeface="华文行楷" pitchFamily="2" charset="-122"/>
              </a:rPr>
              <a:t>的</a:t>
            </a:r>
            <a:r>
              <a:rPr lang="zh-CN" altLang="en-US" sz="2800" dirty="0">
                <a:solidFill>
                  <a:srgbClr val="FF0000"/>
                </a:solidFill>
                <a:ea typeface="华文行楷" pitchFamily="2" charset="-122"/>
              </a:rPr>
              <a:t>所有</a:t>
            </a:r>
            <a:r>
              <a:rPr lang="zh-CN" altLang="en-US" sz="2800" dirty="0">
                <a:solidFill>
                  <a:srgbClr val="0066FF"/>
                </a:solidFill>
                <a:ea typeface="华文行楷" pitchFamily="2" charset="-122"/>
              </a:rPr>
              <a:t>符号串中的</a:t>
            </a:r>
            <a:r>
              <a:rPr lang="zh-CN" altLang="en-US" sz="2800" dirty="0">
                <a:solidFill>
                  <a:srgbClr val="00B050"/>
                </a:solidFill>
                <a:ea typeface="华文行楷" pitchFamily="2" charset="-122"/>
              </a:rPr>
              <a:t>第一个</a:t>
            </a:r>
            <a:r>
              <a:rPr lang="zh-CN" altLang="en-US" sz="2800" dirty="0">
                <a:solidFill>
                  <a:srgbClr val="FF0000"/>
                </a:solidFill>
                <a:ea typeface="华文行楷" pitchFamily="2" charset="-122"/>
              </a:rPr>
              <a:t>终结符</a:t>
            </a:r>
            <a:r>
              <a:rPr lang="zh-CN" altLang="en-US" sz="2800" dirty="0">
                <a:solidFill>
                  <a:srgbClr val="0066FF"/>
                </a:solidFill>
                <a:ea typeface="华文行楷" pitchFamily="2" charset="-122"/>
              </a:rPr>
              <a:t>构成的集合</a:t>
            </a:r>
          </a:p>
        </p:txBody>
      </p:sp>
      <p:sp>
        <p:nvSpPr>
          <p:cNvPr id="57348" name="Rectangle 21"/>
          <p:cNvSpPr>
            <a:spLocks noGrp="1" noChangeArrowheads="1"/>
          </p:cNvSpPr>
          <p:nvPr>
            <p:ph type="title"/>
          </p:nvPr>
        </p:nvSpPr>
        <p:spPr>
          <a:xfrm>
            <a:off x="292172" y="411510"/>
            <a:ext cx="7772400" cy="747713"/>
          </a:xfrm>
          <a:noFill/>
        </p:spPr>
        <p:txBody>
          <a:bodyPr>
            <a:normAutofit/>
          </a:bodyPr>
          <a:lstStyle/>
          <a:p>
            <a:pPr algn="l" eaLnBrk="1" hangingPunct="1"/>
            <a:r>
              <a:rPr lang="zh-CN" altLang="en-US" sz="3600" i="1" dirty="0">
                <a:solidFill>
                  <a:srgbClr val="008000"/>
                </a:solidFill>
              </a:rPr>
              <a:t>文法符号串</a:t>
            </a:r>
            <a:r>
              <a:rPr lang="el-GR" altLang="zh-CN" sz="4000" i="1" dirty="0">
                <a:latin typeface="Times New Roman" panose="02020603050405020304" pitchFamily="18" charset="0"/>
                <a:cs typeface="Times New Roman" panose="02020603050405020304" pitchFamily="18" charset="0"/>
              </a:rPr>
              <a:t>α</a:t>
            </a:r>
            <a:r>
              <a:rPr lang="zh-CN" altLang="en-US" sz="3600" b="1" i="1" dirty="0">
                <a:solidFill>
                  <a:srgbClr val="008000"/>
                </a:solidFill>
              </a:rPr>
              <a:t>的首终结符集</a:t>
            </a:r>
          </a:p>
        </p:txBody>
      </p:sp>
      <p:sp>
        <p:nvSpPr>
          <p:cNvPr id="4" name="文本框 3">
            <a:extLst>
              <a:ext uri="{FF2B5EF4-FFF2-40B4-BE49-F238E27FC236}">
                <a16:creationId xmlns:a16="http://schemas.microsoft.com/office/drawing/2014/main" id="{A6DB2777-B680-5DDB-0756-CE3F79997986}"/>
              </a:ext>
            </a:extLst>
          </p:cNvPr>
          <p:cNvSpPr txBox="1"/>
          <p:nvPr/>
        </p:nvSpPr>
        <p:spPr>
          <a:xfrm>
            <a:off x="4716016" y="4155926"/>
            <a:ext cx="4137425" cy="707886"/>
          </a:xfrm>
          <a:prstGeom prst="rect">
            <a:avLst/>
          </a:prstGeom>
          <a:noFill/>
        </p:spPr>
        <p:txBody>
          <a:bodyPr wrap="square">
            <a:spAutoFit/>
          </a:bodyPr>
          <a:lstStyle/>
          <a:p>
            <a:r>
              <a:rPr lang="zh-CN" altLang="en-US" sz="2000" dirty="0"/>
              <a:t>每个产生式也是一个文法符号串</a:t>
            </a:r>
          </a:p>
          <a:p>
            <a:r>
              <a:rPr lang="en-US" altLang="zh-CN" sz="2000" dirty="0"/>
              <a:t>First</a:t>
            </a:r>
            <a:r>
              <a:rPr lang="zh-CN" altLang="en-US" sz="2000" dirty="0"/>
              <a:t>集关心产生式以什么开头</a:t>
            </a:r>
            <a:endParaRPr lang="en-US" altLang="zh-CN" sz="2000" dirty="0"/>
          </a:p>
        </p:txBody>
      </p:sp>
    </p:spTree>
    <p:extLst>
      <p:ext uri="{BB962C8B-B14F-4D97-AF65-F5344CB8AC3E}">
        <p14:creationId xmlns:p14="http://schemas.microsoft.com/office/powerpoint/2010/main" val="2884313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0"/>
                                          </p:stCondLst>
                                        </p:cTn>
                                        <p:tgtEl>
                                          <p:spTgt spid="2"/>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4987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876" grpId="0"/>
      <p:bldP spid="4"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2" name="Group 4"/>
          <p:cNvGrpSpPr>
            <a:grpSpLocks/>
          </p:cNvGrpSpPr>
          <p:nvPr/>
        </p:nvGrpSpPr>
        <p:grpSpPr bwMode="auto">
          <a:xfrm>
            <a:off x="314326" y="837077"/>
            <a:ext cx="8143876" cy="1655054"/>
            <a:chOff x="160" y="1957"/>
            <a:chExt cx="5130" cy="1413"/>
          </a:xfrm>
        </p:grpSpPr>
        <p:sp>
          <p:nvSpPr>
            <p:cNvPr id="58376" name="Text Box 5"/>
            <p:cNvSpPr txBox="1">
              <a:spLocks noChangeArrowheads="1"/>
            </p:cNvSpPr>
            <p:nvPr/>
          </p:nvSpPr>
          <p:spPr bwMode="auto">
            <a:xfrm>
              <a:off x="160" y="1957"/>
              <a:ext cx="404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200" dirty="0">
                  <a:latin typeface="宋体" pitchFamily="2" charset="-122"/>
                </a:rPr>
                <a:t>例：对右边的文法</a:t>
              </a:r>
              <a:r>
                <a:rPr lang="en-US" altLang="zh-CN" sz="2200" dirty="0">
                  <a:latin typeface="宋体" pitchFamily="2" charset="-122"/>
                </a:rPr>
                <a:t>G</a:t>
              </a:r>
              <a:r>
                <a:rPr lang="zh-CN" altLang="en-US" sz="2200" dirty="0">
                  <a:latin typeface="宋体" pitchFamily="2" charset="-122"/>
                </a:rPr>
                <a:t>，求每个候选式的</a:t>
              </a:r>
              <a:r>
                <a:rPr lang="en-US" altLang="zh-CN" sz="2200" dirty="0">
                  <a:latin typeface="宋体" pitchFamily="2" charset="-122"/>
                </a:rPr>
                <a:t>First</a:t>
              </a:r>
              <a:r>
                <a:rPr lang="zh-CN" altLang="en-US" sz="2200" dirty="0">
                  <a:latin typeface="宋体" pitchFamily="2" charset="-122"/>
                </a:rPr>
                <a:t>集为： </a:t>
              </a:r>
            </a:p>
          </p:txBody>
        </p:sp>
        <p:sp>
          <p:nvSpPr>
            <p:cNvPr id="58377" name="Rectangle 6"/>
            <p:cNvSpPr>
              <a:spLocks noChangeArrowheads="1"/>
            </p:cNvSpPr>
            <p:nvPr/>
          </p:nvSpPr>
          <p:spPr bwMode="auto">
            <a:xfrm>
              <a:off x="4328" y="2135"/>
              <a:ext cx="962" cy="1235"/>
            </a:xfrm>
            <a:prstGeom prst="rect">
              <a:avLst/>
            </a:prstGeom>
            <a:solidFill>
              <a:schemeClr val="bg1"/>
            </a:solidFill>
            <a:ln w="38100">
              <a:solidFill>
                <a:srgbClr val="33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a:t>S</a:t>
              </a:r>
              <a:r>
                <a:rPr lang="en-US" altLang="zh-CN" sz="2200" b="1">
                  <a:latin typeface="宋体" pitchFamily="2" charset="-122"/>
                  <a:sym typeface="Wingdings" pitchFamily="2" charset="2"/>
                </a:rPr>
                <a:t></a:t>
              </a:r>
              <a:r>
                <a:rPr lang="en-US" altLang="zh-CN" sz="2200"/>
                <a:t>Ap</a:t>
              </a:r>
              <a:br>
                <a:rPr lang="en-US" altLang="zh-CN" sz="2200"/>
              </a:br>
              <a:r>
                <a:rPr lang="en-US" altLang="zh-CN" sz="2200"/>
                <a:t>A</a:t>
              </a:r>
              <a:r>
                <a:rPr lang="en-US" altLang="zh-CN" sz="2200" b="1">
                  <a:latin typeface="宋体" pitchFamily="2" charset="-122"/>
                  <a:sym typeface="Wingdings" pitchFamily="2" charset="2"/>
                </a:rPr>
                <a:t></a:t>
              </a:r>
              <a:r>
                <a:rPr lang="en-US" altLang="zh-CN" sz="2200"/>
                <a:t>a |</a:t>
              </a:r>
              <a:r>
                <a:rPr lang="en-US" altLang="zh-CN" sz="2200" b="1">
                  <a:latin typeface="宋体" pitchFamily="2" charset="-122"/>
                </a:rPr>
                <a:t>ε</a:t>
              </a:r>
              <a:br>
                <a:rPr lang="en-US" altLang="zh-CN" sz="2200"/>
              </a:br>
              <a:r>
                <a:rPr lang="en-US" altLang="zh-CN" sz="2200"/>
                <a:t>A</a:t>
              </a:r>
              <a:r>
                <a:rPr lang="en-US" altLang="zh-CN" sz="2200" b="1">
                  <a:latin typeface="宋体" pitchFamily="2" charset="-122"/>
                  <a:sym typeface="Wingdings" pitchFamily="2" charset="2"/>
                </a:rPr>
                <a:t></a:t>
              </a:r>
              <a:r>
                <a:rPr lang="en-US" altLang="zh-CN" sz="2200"/>
                <a:t>cA</a:t>
              </a:r>
            </a:p>
            <a:p>
              <a:pPr eaLnBrk="1" hangingPunct="1">
                <a:spcBef>
                  <a:spcPct val="0"/>
                </a:spcBef>
                <a:buFontTx/>
                <a:buNone/>
              </a:pPr>
              <a:r>
                <a:rPr lang="en-US" altLang="zh-CN" sz="2200"/>
                <a:t>A</a:t>
              </a:r>
              <a:r>
                <a:rPr lang="en-US" altLang="zh-CN" sz="2200" b="1">
                  <a:latin typeface="宋体" pitchFamily="2" charset="-122"/>
                  <a:sym typeface="Wingdings" pitchFamily="2" charset="2"/>
                </a:rPr>
                <a:t>a</a:t>
              </a:r>
              <a:r>
                <a:rPr lang="en-US" altLang="zh-CN" sz="2200"/>
                <a:t>A</a:t>
              </a:r>
            </a:p>
          </p:txBody>
        </p:sp>
      </p:grpSp>
      <p:sp>
        <p:nvSpPr>
          <p:cNvPr id="58374" name="Rectangle 8"/>
          <p:cNvSpPr>
            <a:spLocks noChangeArrowheads="1"/>
          </p:cNvSpPr>
          <p:nvPr/>
        </p:nvSpPr>
        <p:spPr bwMode="auto">
          <a:xfrm>
            <a:off x="5304559" y="2898085"/>
            <a:ext cx="3153157" cy="1785104"/>
          </a:xfrm>
          <a:prstGeom prst="rect">
            <a:avLst/>
          </a:prstGeom>
          <a:solidFill>
            <a:schemeClr val="bg1"/>
          </a:solidFill>
          <a:ln w="28575">
            <a:solidFill>
              <a:srgbClr val="0066FF"/>
            </a:solidFill>
            <a:miter lim="800000"/>
            <a:headEnd/>
            <a:tailEnd/>
          </a:ln>
        </p:spPr>
        <p:txBody>
          <a:bodyPr wrap="square">
            <a:spAutoFit/>
          </a:bodyPr>
          <a:lstStyle>
            <a:lvl1pPr marL="457200" indent="-457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200" b="1" dirty="0">
                <a:solidFill>
                  <a:srgbClr val="0066FF"/>
                </a:solidFill>
              </a:rPr>
              <a:t>First(</a:t>
            </a:r>
            <a:r>
              <a:rPr lang="en-US" altLang="zh-CN" sz="2200" dirty="0" err="1">
                <a:solidFill>
                  <a:srgbClr val="0066FF"/>
                </a:solidFill>
              </a:rPr>
              <a:t>S</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rPr>
              <a:t>Ap</a:t>
            </a:r>
            <a:r>
              <a:rPr lang="en-US" altLang="zh-CN" sz="2200" b="1" dirty="0">
                <a:solidFill>
                  <a:srgbClr val="0066FF"/>
                </a:solidFill>
              </a:rPr>
              <a:t>) = { a, c, p}</a:t>
            </a:r>
          </a:p>
          <a:p>
            <a:pPr eaLnBrk="1" hangingPunct="1">
              <a:spcBef>
                <a:spcPct val="0"/>
              </a:spcBef>
              <a:buFontTx/>
              <a:buNone/>
            </a:pPr>
            <a:r>
              <a:rPr lang="en-US" altLang="zh-CN" sz="2200" b="1" dirty="0">
                <a:solidFill>
                  <a:srgbClr val="0066FF"/>
                </a:solidFill>
              </a:rPr>
              <a:t>First(</a:t>
            </a:r>
            <a:r>
              <a:rPr lang="en-US" altLang="zh-CN" sz="2200" dirty="0" err="1">
                <a:solidFill>
                  <a:srgbClr val="0066FF"/>
                </a:solidFill>
              </a:rPr>
              <a:t>A</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rPr>
              <a:t>a</a:t>
            </a:r>
            <a:r>
              <a:rPr lang="en-US" altLang="zh-CN" sz="2200" b="1" dirty="0">
                <a:solidFill>
                  <a:srgbClr val="0066FF"/>
                </a:solidFill>
              </a:rPr>
              <a:t> ) = {a}</a:t>
            </a:r>
          </a:p>
          <a:p>
            <a:pPr eaLnBrk="1" hangingPunct="1">
              <a:spcBef>
                <a:spcPct val="0"/>
              </a:spcBef>
              <a:buFontTx/>
              <a:buNone/>
            </a:pPr>
            <a:r>
              <a:rPr lang="en-US" altLang="zh-CN" sz="2200" b="1" dirty="0">
                <a:solidFill>
                  <a:srgbClr val="0066FF"/>
                </a:solidFill>
              </a:rPr>
              <a:t>First(</a:t>
            </a:r>
            <a:r>
              <a:rPr lang="en-US" altLang="zh-CN" sz="2200" dirty="0" err="1">
                <a:solidFill>
                  <a:srgbClr val="0066FF"/>
                </a:solidFill>
              </a:rPr>
              <a:t>A</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ea typeface="华文行楷" pitchFamily="2" charset="-122"/>
              </a:rPr>
              <a:t>ε</a:t>
            </a:r>
            <a:r>
              <a:rPr lang="en-US" altLang="zh-CN" sz="2200" b="1" dirty="0">
                <a:solidFill>
                  <a:srgbClr val="0066FF"/>
                </a:solidFill>
              </a:rPr>
              <a:t>) = {ε}</a:t>
            </a:r>
          </a:p>
          <a:p>
            <a:pPr eaLnBrk="1" hangingPunct="1">
              <a:spcBef>
                <a:spcPct val="0"/>
              </a:spcBef>
              <a:buFontTx/>
              <a:buNone/>
            </a:pPr>
            <a:r>
              <a:rPr lang="en-US" altLang="zh-CN" sz="2200" b="1" dirty="0">
                <a:solidFill>
                  <a:srgbClr val="0066FF"/>
                </a:solidFill>
              </a:rPr>
              <a:t>First(</a:t>
            </a:r>
            <a:r>
              <a:rPr lang="en-US" altLang="zh-CN" sz="2200" dirty="0" err="1">
                <a:solidFill>
                  <a:srgbClr val="0066FF"/>
                </a:solidFill>
              </a:rPr>
              <a:t>A</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rPr>
              <a:t>cA</a:t>
            </a:r>
            <a:r>
              <a:rPr lang="en-US" altLang="zh-CN" sz="2200" b="1" dirty="0">
                <a:solidFill>
                  <a:srgbClr val="0066FF"/>
                </a:solidFill>
              </a:rPr>
              <a:t>) = {c}</a:t>
            </a:r>
          </a:p>
          <a:p>
            <a:pPr eaLnBrk="1" hangingPunct="1">
              <a:spcBef>
                <a:spcPct val="0"/>
              </a:spcBef>
              <a:buFontTx/>
              <a:buNone/>
            </a:pPr>
            <a:r>
              <a:rPr lang="en-US" altLang="zh-CN" sz="2200" b="1" dirty="0">
                <a:solidFill>
                  <a:srgbClr val="0066FF"/>
                </a:solidFill>
              </a:rPr>
              <a:t>First(</a:t>
            </a:r>
            <a:r>
              <a:rPr lang="en-US" altLang="zh-CN" sz="2200" dirty="0" err="1">
                <a:solidFill>
                  <a:srgbClr val="0066FF"/>
                </a:solidFill>
              </a:rPr>
              <a:t>A</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rPr>
              <a:t>aA</a:t>
            </a:r>
            <a:r>
              <a:rPr lang="en-US" altLang="zh-CN" sz="2200" b="1" dirty="0">
                <a:solidFill>
                  <a:srgbClr val="0066FF"/>
                </a:solidFill>
              </a:rPr>
              <a:t>) = {a}</a:t>
            </a:r>
          </a:p>
        </p:txBody>
      </p:sp>
      <p:sp>
        <p:nvSpPr>
          <p:cNvPr id="58375" name="Text Box 9"/>
          <p:cNvSpPr txBox="1">
            <a:spLocks noChangeArrowheads="1"/>
          </p:cNvSpPr>
          <p:nvPr/>
        </p:nvSpPr>
        <p:spPr bwMode="auto">
          <a:xfrm>
            <a:off x="827584" y="1491630"/>
            <a:ext cx="1011269" cy="430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dirty="0">
                <a:ea typeface="黑体" pitchFamily="49" charset="-122"/>
              </a:rPr>
              <a:t>解：</a:t>
            </a:r>
          </a:p>
        </p:txBody>
      </p:sp>
      <p:sp>
        <p:nvSpPr>
          <p:cNvPr id="2" name="矩形 1"/>
          <p:cNvSpPr/>
          <p:nvPr/>
        </p:nvSpPr>
        <p:spPr>
          <a:xfrm>
            <a:off x="1879655" y="1522339"/>
            <a:ext cx="3700052" cy="430887"/>
          </a:xfrm>
          <a:prstGeom prst="rect">
            <a:avLst/>
          </a:prstGeom>
        </p:spPr>
        <p:txBody>
          <a:bodyPr wrap="none">
            <a:spAutoFit/>
          </a:bodyPr>
          <a:lstStyle/>
          <a:p>
            <a:r>
              <a:rPr lang="en-US" altLang="zh-CN" sz="2200" b="1" dirty="0">
                <a:solidFill>
                  <a:srgbClr val="0066FF"/>
                </a:solidFill>
              </a:rPr>
              <a:t>First(</a:t>
            </a:r>
            <a:r>
              <a:rPr lang="en-US" altLang="zh-CN" sz="2200" dirty="0" err="1">
                <a:solidFill>
                  <a:srgbClr val="0066FF"/>
                </a:solidFill>
              </a:rPr>
              <a:t>S</a:t>
            </a:r>
            <a:r>
              <a:rPr lang="en-US" altLang="zh-CN" sz="2200" b="1" dirty="0" err="1">
                <a:solidFill>
                  <a:srgbClr val="0066FF"/>
                </a:solidFill>
                <a:latin typeface="宋体" pitchFamily="2" charset="-122"/>
                <a:sym typeface="Wingdings" pitchFamily="2" charset="2"/>
              </a:rPr>
              <a:t></a:t>
            </a:r>
            <a:r>
              <a:rPr lang="en-US" altLang="zh-CN" sz="2200" b="1" dirty="0" err="1">
                <a:solidFill>
                  <a:srgbClr val="0066FF"/>
                </a:solidFill>
              </a:rPr>
              <a:t>Ap</a:t>
            </a:r>
            <a:r>
              <a:rPr lang="en-US" altLang="zh-CN" sz="2200" b="1" dirty="0">
                <a:solidFill>
                  <a:srgbClr val="0066FF"/>
                </a:solidFill>
              </a:rPr>
              <a:t>) ={                }</a:t>
            </a:r>
            <a:endParaRPr lang="zh-CN" altLang="en-US" dirty="0"/>
          </a:p>
        </p:txBody>
      </p:sp>
      <p:sp>
        <p:nvSpPr>
          <p:cNvPr id="4" name="矩形 3"/>
          <p:cNvSpPr/>
          <p:nvPr/>
        </p:nvSpPr>
        <p:spPr>
          <a:xfrm>
            <a:off x="2051720" y="2492132"/>
            <a:ext cx="1138453" cy="369332"/>
          </a:xfrm>
          <a:prstGeom prst="rect">
            <a:avLst/>
          </a:prstGeom>
        </p:spPr>
        <p:txBody>
          <a:bodyPr wrap="none">
            <a:spAutoFit/>
          </a:bodyPr>
          <a:lstStyle/>
          <a:p>
            <a:r>
              <a:rPr lang="en-US" altLang="zh-CN" dirty="0" err="1"/>
              <a:t>Ap</a:t>
            </a:r>
            <a:r>
              <a:rPr lang="en-US" altLang="zh-CN" dirty="0">
                <a:solidFill>
                  <a:srgbClr val="000000"/>
                </a:solidFill>
                <a:ea typeface="华文行楷" pitchFamily="2" charset="-122"/>
                <a:sym typeface="Symbol" pitchFamily="18" charset="2"/>
              </a:rPr>
              <a:t>  </a:t>
            </a:r>
            <a:r>
              <a:rPr lang="en-US" altLang="zh-CN" dirty="0" err="1">
                <a:solidFill>
                  <a:srgbClr val="000000"/>
                </a:solidFill>
                <a:ea typeface="华文行楷" pitchFamily="2" charset="-122"/>
                <a:sym typeface="Symbol" pitchFamily="18" charset="2"/>
              </a:rPr>
              <a:t>ap</a:t>
            </a:r>
            <a:endParaRPr lang="zh-CN" altLang="en-US" dirty="0"/>
          </a:p>
        </p:txBody>
      </p:sp>
      <p:sp>
        <p:nvSpPr>
          <p:cNvPr id="12" name="矩形 11"/>
          <p:cNvSpPr/>
          <p:nvPr/>
        </p:nvSpPr>
        <p:spPr>
          <a:xfrm>
            <a:off x="2065395" y="2898085"/>
            <a:ext cx="1010213" cy="369332"/>
          </a:xfrm>
          <a:prstGeom prst="rect">
            <a:avLst/>
          </a:prstGeom>
        </p:spPr>
        <p:txBody>
          <a:bodyPr wrap="none">
            <a:spAutoFit/>
          </a:bodyPr>
          <a:lstStyle/>
          <a:p>
            <a:r>
              <a:rPr lang="en-US" altLang="zh-CN" dirty="0" err="1"/>
              <a:t>Ap</a:t>
            </a:r>
            <a:r>
              <a:rPr lang="en-US" altLang="zh-CN" dirty="0">
                <a:solidFill>
                  <a:srgbClr val="000000"/>
                </a:solidFill>
                <a:ea typeface="华文行楷" pitchFamily="2" charset="-122"/>
                <a:sym typeface="Symbol" pitchFamily="18" charset="2"/>
              </a:rPr>
              <a:t>  p</a:t>
            </a:r>
            <a:endParaRPr lang="zh-CN" altLang="en-US" dirty="0"/>
          </a:p>
        </p:txBody>
      </p:sp>
      <p:sp>
        <p:nvSpPr>
          <p:cNvPr id="13" name="矩形 12"/>
          <p:cNvSpPr/>
          <p:nvPr/>
        </p:nvSpPr>
        <p:spPr>
          <a:xfrm>
            <a:off x="2046851" y="3301777"/>
            <a:ext cx="1287532" cy="369332"/>
          </a:xfrm>
          <a:prstGeom prst="rect">
            <a:avLst/>
          </a:prstGeom>
        </p:spPr>
        <p:txBody>
          <a:bodyPr wrap="none">
            <a:spAutoFit/>
          </a:bodyPr>
          <a:lstStyle/>
          <a:p>
            <a:r>
              <a:rPr lang="en-US" altLang="zh-CN" dirty="0" err="1"/>
              <a:t>Ap</a:t>
            </a:r>
            <a:r>
              <a:rPr lang="en-US" altLang="zh-CN" dirty="0">
                <a:solidFill>
                  <a:srgbClr val="000000"/>
                </a:solidFill>
                <a:ea typeface="华文行楷" pitchFamily="2" charset="-122"/>
                <a:sym typeface="Symbol" pitchFamily="18" charset="2"/>
              </a:rPr>
              <a:t>  </a:t>
            </a:r>
            <a:r>
              <a:rPr lang="en-US" altLang="zh-CN" dirty="0" err="1">
                <a:solidFill>
                  <a:srgbClr val="000000"/>
                </a:solidFill>
                <a:ea typeface="华文行楷" pitchFamily="2" charset="-122"/>
                <a:sym typeface="Symbol" pitchFamily="18" charset="2"/>
              </a:rPr>
              <a:t>cAp</a:t>
            </a:r>
            <a:endParaRPr lang="zh-CN" altLang="en-US" dirty="0"/>
          </a:p>
        </p:txBody>
      </p:sp>
      <p:sp>
        <p:nvSpPr>
          <p:cNvPr id="14" name="矩形 13"/>
          <p:cNvSpPr/>
          <p:nvPr/>
        </p:nvSpPr>
        <p:spPr>
          <a:xfrm>
            <a:off x="2046851" y="3723878"/>
            <a:ext cx="1287532" cy="369332"/>
          </a:xfrm>
          <a:prstGeom prst="rect">
            <a:avLst/>
          </a:prstGeom>
        </p:spPr>
        <p:txBody>
          <a:bodyPr wrap="none">
            <a:spAutoFit/>
          </a:bodyPr>
          <a:lstStyle/>
          <a:p>
            <a:r>
              <a:rPr lang="en-US" altLang="zh-CN" dirty="0" err="1"/>
              <a:t>Ap</a:t>
            </a:r>
            <a:r>
              <a:rPr lang="en-US" altLang="zh-CN" dirty="0">
                <a:solidFill>
                  <a:srgbClr val="000000"/>
                </a:solidFill>
                <a:ea typeface="华文行楷" pitchFamily="2" charset="-122"/>
                <a:sym typeface="Symbol" pitchFamily="18" charset="2"/>
              </a:rPr>
              <a:t>  </a:t>
            </a:r>
            <a:r>
              <a:rPr lang="en-US" altLang="zh-CN" dirty="0" err="1">
                <a:solidFill>
                  <a:srgbClr val="000000"/>
                </a:solidFill>
                <a:ea typeface="华文行楷" pitchFamily="2" charset="-122"/>
                <a:sym typeface="Symbol" pitchFamily="18" charset="2"/>
              </a:rPr>
              <a:t>aAp</a:t>
            </a:r>
            <a:endParaRPr lang="zh-CN" altLang="en-US" dirty="0"/>
          </a:p>
        </p:txBody>
      </p:sp>
      <p:sp>
        <p:nvSpPr>
          <p:cNvPr id="15" name="矩形 14"/>
          <p:cNvSpPr/>
          <p:nvPr/>
        </p:nvSpPr>
        <p:spPr>
          <a:xfrm>
            <a:off x="4139952" y="1534021"/>
            <a:ext cx="354584" cy="461665"/>
          </a:xfrm>
          <a:prstGeom prst="rect">
            <a:avLst/>
          </a:prstGeom>
        </p:spPr>
        <p:txBody>
          <a:bodyPr wrap="none">
            <a:spAutoFit/>
          </a:bodyPr>
          <a:lstStyle/>
          <a:p>
            <a:r>
              <a:rPr lang="en-US" altLang="zh-CN" sz="2400" b="1" dirty="0">
                <a:solidFill>
                  <a:srgbClr val="FF0000"/>
                </a:solidFill>
              </a:rPr>
              <a:t>a</a:t>
            </a:r>
            <a:endParaRPr lang="zh-CN" altLang="en-US" sz="2000" dirty="0">
              <a:solidFill>
                <a:srgbClr val="FF0000"/>
              </a:solidFill>
            </a:endParaRPr>
          </a:p>
        </p:txBody>
      </p:sp>
      <p:sp>
        <p:nvSpPr>
          <p:cNvPr id="16" name="矩形 15"/>
          <p:cNvSpPr/>
          <p:nvPr/>
        </p:nvSpPr>
        <p:spPr>
          <a:xfrm>
            <a:off x="4904176" y="1552875"/>
            <a:ext cx="537327" cy="461665"/>
          </a:xfrm>
          <a:prstGeom prst="rect">
            <a:avLst/>
          </a:prstGeom>
        </p:spPr>
        <p:txBody>
          <a:bodyPr wrap="none">
            <a:spAutoFit/>
          </a:bodyPr>
          <a:lstStyle/>
          <a:p>
            <a:r>
              <a:rPr lang="en-US" altLang="zh-CN" sz="2400" b="1" dirty="0">
                <a:solidFill>
                  <a:srgbClr val="0066FF"/>
                </a:solidFill>
              </a:rPr>
              <a:t>, </a:t>
            </a:r>
            <a:r>
              <a:rPr lang="en-US" altLang="zh-CN" sz="2400" b="1" dirty="0">
                <a:solidFill>
                  <a:srgbClr val="FF0000"/>
                </a:solidFill>
              </a:rPr>
              <a:t>c</a:t>
            </a:r>
            <a:endParaRPr lang="zh-CN" altLang="en-US" sz="2000" dirty="0">
              <a:solidFill>
                <a:srgbClr val="FF0000"/>
              </a:solidFill>
            </a:endParaRPr>
          </a:p>
        </p:txBody>
      </p:sp>
      <p:sp>
        <p:nvSpPr>
          <p:cNvPr id="17" name="矩形 16"/>
          <p:cNvSpPr/>
          <p:nvPr/>
        </p:nvSpPr>
        <p:spPr>
          <a:xfrm>
            <a:off x="4427984" y="1534021"/>
            <a:ext cx="574196" cy="461665"/>
          </a:xfrm>
          <a:prstGeom prst="rect">
            <a:avLst/>
          </a:prstGeom>
        </p:spPr>
        <p:txBody>
          <a:bodyPr wrap="none">
            <a:spAutoFit/>
          </a:bodyPr>
          <a:lstStyle/>
          <a:p>
            <a:r>
              <a:rPr lang="en-US" altLang="zh-CN" sz="2400" b="1" dirty="0">
                <a:solidFill>
                  <a:srgbClr val="0066FF"/>
                </a:solidFill>
              </a:rPr>
              <a:t>, </a:t>
            </a:r>
            <a:r>
              <a:rPr lang="en-US" altLang="zh-CN" sz="2400" b="1" dirty="0">
                <a:solidFill>
                  <a:srgbClr val="FF0000"/>
                </a:solidFill>
              </a:rPr>
              <a:t>p</a:t>
            </a:r>
            <a:endParaRPr lang="zh-CN" altLang="en-US" sz="2000" dirty="0">
              <a:solidFill>
                <a:srgbClr val="FF0000"/>
              </a:solidFill>
            </a:endParaRPr>
          </a:p>
        </p:txBody>
      </p:sp>
      <p:sp>
        <p:nvSpPr>
          <p:cNvPr id="5" name="文本框 4">
            <a:extLst>
              <a:ext uri="{FF2B5EF4-FFF2-40B4-BE49-F238E27FC236}">
                <a16:creationId xmlns:a16="http://schemas.microsoft.com/office/drawing/2014/main" id="{7888B5CC-83C6-5B6B-0878-BFA8C6642EDD}"/>
              </a:ext>
            </a:extLst>
          </p:cNvPr>
          <p:cNvSpPr txBox="1"/>
          <p:nvPr/>
        </p:nvSpPr>
        <p:spPr>
          <a:xfrm>
            <a:off x="313580" y="356014"/>
            <a:ext cx="4865919" cy="369332"/>
          </a:xfrm>
          <a:prstGeom prst="rect">
            <a:avLst/>
          </a:prstGeom>
          <a:noFill/>
        </p:spPr>
        <p:txBody>
          <a:bodyPr wrap="square">
            <a:spAutoFit/>
          </a:bodyPr>
          <a:lstStyle/>
          <a:p>
            <a:r>
              <a:rPr lang="zh-CN" altLang="en-US" sz="1800" dirty="0">
                <a:latin typeface="宋体" pitchFamily="2" charset="-122"/>
              </a:rPr>
              <a:t>一个文法</a:t>
            </a:r>
            <a:r>
              <a:rPr lang="en-US" altLang="zh-CN" sz="1800" dirty="0">
                <a:latin typeface="宋体" pitchFamily="2" charset="-122"/>
              </a:rPr>
              <a:t>G</a:t>
            </a:r>
            <a:r>
              <a:rPr lang="zh-CN" altLang="en-US" sz="1800" dirty="0">
                <a:latin typeface="宋体" pitchFamily="2" charset="-122"/>
              </a:rPr>
              <a:t>的每个候选式都是一个文法符号串</a:t>
            </a:r>
            <a:endParaRPr lang="zh-CN" altLang="en-US" dirty="0"/>
          </a:p>
        </p:txBody>
      </p:sp>
    </p:spTree>
    <p:extLst>
      <p:ext uri="{BB962C8B-B14F-4D97-AF65-F5344CB8AC3E}">
        <p14:creationId xmlns:p14="http://schemas.microsoft.com/office/powerpoint/2010/main" val="1282342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37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583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4" grpId="0" animBg="1"/>
      <p:bldP spid="58375" grpId="0"/>
      <p:bldP spid="2" grpId="0"/>
      <p:bldP spid="4" grpId="0"/>
      <p:bldP spid="12" grpId="0"/>
      <p:bldP spid="13" grpId="0"/>
      <p:bldP spid="14" grpId="0"/>
      <p:bldP spid="15" grpId="0"/>
      <p:bldP spid="16" grpId="0"/>
      <p:bldP spid="1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Grp="1" noChangeArrowheads="1"/>
          </p:cNvSpPr>
          <p:nvPr>
            <p:ph type="body" idx="1"/>
          </p:nvPr>
        </p:nvSpPr>
        <p:spPr>
          <a:xfrm>
            <a:off x="495300" y="1535113"/>
            <a:ext cx="2300288" cy="2335212"/>
          </a:xfrm>
          <a:solidFill>
            <a:schemeClr val="bg1"/>
          </a:solidFill>
          <a:ln w="28575">
            <a:solidFill>
              <a:srgbClr val="0066FF"/>
            </a:solidFill>
            <a:miter lim="800000"/>
            <a:headEnd/>
            <a:tailEnd/>
          </a:ln>
        </p:spPr>
        <p:txBody>
          <a:bodyPr>
            <a:normAutofit lnSpcReduction="10000"/>
          </a:bodyPr>
          <a:lstStyle/>
          <a:p>
            <a:pPr eaLnBrk="1" hangingPunct="1">
              <a:buFontTx/>
              <a:buNone/>
            </a:pPr>
            <a:r>
              <a:rPr lang="en-US" altLang="zh-CN"/>
              <a:t>   S</a:t>
            </a:r>
            <a:r>
              <a:rPr lang="en-US" altLang="zh-CN" b="1">
                <a:solidFill>
                  <a:srgbClr val="000000"/>
                </a:solidFill>
                <a:latin typeface="宋体" pitchFamily="2" charset="-122"/>
                <a:sym typeface="Wingdings" pitchFamily="2" charset="2"/>
              </a:rPr>
              <a:t></a:t>
            </a:r>
            <a:r>
              <a:rPr lang="en-US" altLang="zh-CN"/>
              <a:t>Ap</a:t>
            </a:r>
            <a:br>
              <a:rPr lang="en-US" altLang="zh-CN"/>
            </a:br>
            <a:r>
              <a:rPr lang="en-US" altLang="zh-CN"/>
              <a:t>S</a:t>
            </a:r>
            <a:r>
              <a:rPr lang="en-US" altLang="zh-CN" b="1">
                <a:solidFill>
                  <a:srgbClr val="000000"/>
                </a:solidFill>
                <a:latin typeface="宋体" pitchFamily="2" charset="-122"/>
                <a:sym typeface="Wingdings" pitchFamily="2" charset="2"/>
              </a:rPr>
              <a:t></a:t>
            </a:r>
            <a:r>
              <a:rPr lang="en-US" altLang="zh-CN"/>
              <a:t>Bq</a:t>
            </a:r>
            <a:br>
              <a:rPr lang="en-US" altLang="zh-CN"/>
            </a:br>
            <a:r>
              <a:rPr lang="en-US" altLang="zh-CN"/>
              <a:t>A</a:t>
            </a:r>
            <a:r>
              <a:rPr lang="en-US" altLang="zh-CN" b="1">
                <a:solidFill>
                  <a:srgbClr val="000000"/>
                </a:solidFill>
                <a:latin typeface="宋体" pitchFamily="2" charset="-122"/>
                <a:sym typeface="Wingdings" pitchFamily="2" charset="2"/>
              </a:rPr>
              <a:t></a:t>
            </a:r>
            <a:r>
              <a:rPr lang="en-US" altLang="zh-CN"/>
              <a:t>a</a:t>
            </a:r>
            <a:br>
              <a:rPr lang="en-US" altLang="zh-CN"/>
            </a:br>
            <a:r>
              <a:rPr lang="en-US" altLang="zh-CN"/>
              <a:t>A</a:t>
            </a:r>
            <a:r>
              <a:rPr lang="en-US" altLang="zh-CN" b="1">
                <a:solidFill>
                  <a:srgbClr val="000000"/>
                </a:solidFill>
                <a:latin typeface="宋体" pitchFamily="2" charset="-122"/>
                <a:sym typeface="Wingdings" pitchFamily="2" charset="2"/>
              </a:rPr>
              <a:t></a:t>
            </a:r>
            <a:r>
              <a:rPr lang="en-US" altLang="zh-CN"/>
              <a:t>cA</a:t>
            </a:r>
            <a:br>
              <a:rPr lang="en-US" altLang="zh-CN"/>
            </a:br>
            <a:r>
              <a:rPr lang="en-US" altLang="zh-CN"/>
              <a:t>B</a:t>
            </a:r>
            <a:r>
              <a:rPr lang="en-US" altLang="zh-CN" b="1">
                <a:solidFill>
                  <a:srgbClr val="000000"/>
                </a:solidFill>
                <a:latin typeface="宋体" pitchFamily="2" charset="-122"/>
                <a:sym typeface="Wingdings" pitchFamily="2" charset="2"/>
              </a:rPr>
              <a:t></a:t>
            </a:r>
            <a:r>
              <a:rPr lang="en-US" altLang="zh-CN"/>
              <a:t>b</a:t>
            </a:r>
            <a:br>
              <a:rPr lang="en-US" altLang="zh-CN"/>
            </a:br>
            <a:r>
              <a:rPr lang="en-US" altLang="zh-CN"/>
              <a:t>B</a:t>
            </a:r>
            <a:r>
              <a:rPr lang="en-US" altLang="zh-CN" b="1">
                <a:solidFill>
                  <a:srgbClr val="000000"/>
                </a:solidFill>
                <a:latin typeface="宋体" pitchFamily="2" charset="-122"/>
                <a:sym typeface="Wingdings" pitchFamily="2" charset="2"/>
              </a:rPr>
              <a:t></a:t>
            </a:r>
            <a:r>
              <a:rPr lang="en-US" altLang="zh-CN"/>
              <a:t>dB </a:t>
            </a:r>
          </a:p>
        </p:txBody>
      </p:sp>
      <p:sp>
        <p:nvSpPr>
          <p:cNvPr id="59395" name="Rectangle 4"/>
          <p:cNvSpPr>
            <a:spLocks noChangeArrowheads="1"/>
          </p:cNvSpPr>
          <p:nvPr/>
        </p:nvSpPr>
        <p:spPr bwMode="auto">
          <a:xfrm>
            <a:off x="184150" y="315913"/>
            <a:ext cx="87423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latin typeface="楷体_GB2312" pitchFamily="49" charset="-122"/>
                <a:ea typeface="楷体_GB2312" pitchFamily="49" charset="-122"/>
              </a:rPr>
              <a:t>练习：</a:t>
            </a:r>
            <a:r>
              <a:rPr lang="zh-CN" altLang="en-US" sz="3600">
                <a:solidFill>
                  <a:schemeClr val="accent2"/>
                </a:solidFill>
                <a:ea typeface="华文行楷" pitchFamily="2" charset="-122"/>
              </a:rPr>
              <a:t>求给定文法的每个候选式的</a:t>
            </a:r>
            <a:r>
              <a:rPr lang="en-US" altLang="zh-CN" sz="3600">
                <a:solidFill>
                  <a:schemeClr val="accent2"/>
                </a:solidFill>
                <a:ea typeface="华文行楷" pitchFamily="2" charset="-122"/>
              </a:rPr>
              <a:t>First</a:t>
            </a:r>
            <a:r>
              <a:rPr lang="zh-CN" altLang="en-US" sz="3600">
                <a:solidFill>
                  <a:schemeClr val="accent2"/>
                </a:solidFill>
                <a:ea typeface="华文行楷" pitchFamily="2" charset="-122"/>
              </a:rPr>
              <a:t>集</a:t>
            </a:r>
          </a:p>
        </p:txBody>
      </p:sp>
      <p:grpSp>
        <p:nvGrpSpPr>
          <p:cNvPr id="2" name="Group 6"/>
          <p:cNvGrpSpPr>
            <a:grpSpLocks/>
          </p:cNvGrpSpPr>
          <p:nvPr/>
        </p:nvGrpSpPr>
        <p:grpSpPr bwMode="auto">
          <a:xfrm>
            <a:off x="4181475" y="1335088"/>
            <a:ext cx="4198938" cy="3237799"/>
            <a:chOff x="2126" y="1344"/>
            <a:chExt cx="2645" cy="2720"/>
          </a:xfrm>
        </p:grpSpPr>
        <p:sp>
          <p:nvSpPr>
            <p:cNvPr id="59397" name="Rectangle 3"/>
            <p:cNvSpPr>
              <a:spLocks noChangeArrowheads="1"/>
            </p:cNvSpPr>
            <p:nvPr/>
          </p:nvSpPr>
          <p:spPr bwMode="auto">
            <a:xfrm>
              <a:off x="2126" y="1815"/>
              <a:ext cx="2645" cy="2249"/>
            </a:xfrm>
            <a:prstGeom prst="rect">
              <a:avLst/>
            </a:prstGeom>
            <a:solidFill>
              <a:schemeClr val="bg1"/>
            </a:solidFill>
            <a:ln w="28575">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dirty="0">
                  <a:solidFill>
                    <a:srgbClr val="0066FF"/>
                  </a:solidFill>
                </a:rPr>
                <a:t>First(</a:t>
              </a:r>
              <a:r>
                <a:rPr lang="en-US" altLang="zh-CN" sz="2800" dirty="0" err="1">
                  <a:solidFill>
                    <a:srgbClr val="0066FF"/>
                  </a:solidFill>
                </a:rPr>
                <a:t>A</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a</a:t>
              </a:r>
              <a:r>
                <a:rPr lang="en-US" altLang="zh-CN" sz="2800" dirty="0">
                  <a:solidFill>
                    <a:srgbClr val="0066FF"/>
                  </a:solidFill>
                </a:rPr>
                <a:t>) = {a}</a:t>
              </a:r>
              <a:br>
                <a:rPr lang="en-US" altLang="zh-CN" sz="2800" dirty="0">
                  <a:solidFill>
                    <a:srgbClr val="0066FF"/>
                  </a:solidFill>
                </a:rPr>
              </a:br>
              <a:r>
                <a:rPr lang="en-US" altLang="zh-CN" sz="2800" dirty="0">
                  <a:solidFill>
                    <a:srgbClr val="0066FF"/>
                  </a:solidFill>
                </a:rPr>
                <a:t>First(</a:t>
              </a:r>
              <a:r>
                <a:rPr lang="en-US" altLang="zh-CN" sz="2800" dirty="0" err="1">
                  <a:solidFill>
                    <a:srgbClr val="0066FF"/>
                  </a:solidFill>
                </a:rPr>
                <a:t>A</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cA</a:t>
              </a:r>
              <a:r>
                <a:rPr lang="en-US" altLang="zh-CN" sz="2800" dirty="0">
                  <a:solidFill>
                    <a:srgbClr val="0066FF"/>
                  </a:solidFill>
                </a:rPr>
                <a:t>) = {c}</a:t>
              </a:r>
              <a:br>
                <a:rPr lang="en-US" altLang="zh-CN" sz="2800" dirty="0">
                  <a:solidFill>
                    <a:srgbClr val="0066FF"/>
                  </a:solidFill>
                </a:rPr>
              </a:br>
              <a:r>
                <a:rPr lang="en-US" altLang="zh-CN" sz="2800" dirty="0">
                  <a:solidFill>
                    <a:srgbClr val="0066FF"/>
                  </a:solidFill>
                </a:rPr>
                <a:t>First(</a:t>
              </a:r>
              <a:r>
                <a:rPr lang="en-US" altLang="zh-CN" sz="2800" dirty="0" err="1">
                  <a:solidFill>
                    <a:srgbClr val="0066FF"/>
                  </a:solidFill>
                </a:rPr>
                <a:t>B</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b</a:t>
              </a:r>
              <a:r>
                <a:rPr lang="en-US" altLang="zh-CN" sz="2800" dirty="0">
                  <a:solidFill>
                    <a:srgbClr val="0066FF"/>
                  </a:solidFill>
                </a:rPr>
                <a:t>) = {b}</a:t>
              </a:r>
            </a:p>
            <a:p>
              <a:pPr eaLnBrk="1" hangingPunct="1">
                <a:spcBef>
                  <a:spcPct val="0"/>
                </a:spcBef>
                <a:buFontTx/>
                <a:buNone/>
              </a:pPr>
              <a:r>
                <a:rPr lang="en-US" altLang="zh-CN" sz="2800" dirty="0">
                  <a:solidFill>
                    <a:srgbClr val="0066FF"/>
                  </a:solidFill>
                </a:rPr>
                <a:t>First(</a:t>
              </a:r>
              <a:r>
                <a:rPr lang="en-US" altLang="zh-CN" sz="2800" dirty="0" err="1">
                  <a:solidFill>
                    <a:srgbClr val="0066FF"/>
                  </a:solidFill>
                </a:rPr>
                <a:t>B</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dB</a:t>
              </a:r>
              <a:r>
                <a:rPr lang="en-US" altLang="zh-CN" sz="2800" dirty="0">
                  <a:solidFill>
                    <a:srgbClr val="0066FF"/>
                  </a:solidFill>
                </a:rPr>
                <a:t>) = {d} </a:t>
              </a:r>
            </a:p>
            <a:p>
              <a:pPr eaLnBrk="1" hangingPunct="1">
                <a:spcBef>
                  <a:spcPct val="0"/>
                </a:spcBef>
                <a:buFontTx/>
                <a:buNone/>
              </a:pPr>
              <a:r>
                <a:rPr lang="en-US" altLang="zh-CN" sz="2800" dirty="0">
                  <a:solidFill>
                    <a:srgbClr val="0066FF"/>
                  </a:solidFill>
                </a:rPr>
                <a:t>First(</a:t>
              </a:r>
              <a:r>
                <a:rPr lang="en-US" altLang="zh-CN" sz="2800" dirty="0" err="1">
                  <a:solidFill>
                    <a:srgbClr val="0066FF"/>
                  </a:solidFill>
                </a:rPr>
                <a:t>S</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Ap</a:t>
              </a:r>
              <a:r>
                <a:rPr lang="en-US" altLang="zh-CN" sz="2800" dirty="0">
                  <a:solidFill>
                    <a:srgbClr val="0066FF"/>
                  </a:solidFill>
                </a:rPr>
                <a:t>) </a:t>
              </a:r>
              <a:r>
                <a:rPr lang="zh-CN" altLang="en-US" sz="2800" dirty="0">
                  <a:solidFill>
                    <a:srgbClr val="0066FF"/>
                  </a:solidFill>
                </a:rPr>
                <a:t>＝</a:t>
              </a:r>
              <a:r>
                <a:rPr lang="en-US" altLang="zh-CN" sz="2800" dirty="0">
                  <a:solidFill>
                    <a:srgbClr val="0066FF"/>
                  </a:solidFill>
                </a:rPr>
                <a:t>{ </a:t>
              </a:r>
              <a:r>
                <a:rPr lang="en-US" altLang="zh-CN" sz="2800" dirty="0" err="1">
                  <a:solidFill>
                    <a:srgbClr val="0066FF"/>
                  </a:solidFill>
                </a:rPr>
                <a:t>a,c</a:t>
              </a:r>
              <a:r>
                <a:rPr lang="en-US" altLang="zh-CN" sz="2800" dirty="0">
                  <a:solidFill>
                    <a:srgbClr val="0066FF"/>
                  </a:solidFill>
                </a:rPr>
                <a:t> } </a:t>
              </a:r>
              <a:br>
                <a:rPr lang="en-US" altLang="zh-CN" sz="2800" dirty="0">
                  <a:solidFill>
                    <a:srgbClr val="0066FF"/>
                  </a:solidFill>
                </a:rPr>
              </a:br>
              <a:r>
                <a:rPr lang="en-US" altLang="zh-CN" sz="2800" dirty="0">
                  <a:solidFill>
                    <a:srgbClr val="0066FF"/>
                  </a:solidFill>
                </a:rPr>
                <a:t>First(</a:t>
              </a:r>
              <a:r>
                <a:rPr lang="en-US" altLang="zh-CN" sz="2800" dirty="0" err="1">
                  <a:solidFill>
                    <a:srgbClr val="0066FF"/>
                  </a:solidFill>
                </a:rPr>
                <a:t>S</a:t>
              </a:r>
              <a:r>
                <a:rPr lang="en-US" altLang="zh-CN" sz="2800" b="1" dirty="0" err="1">
                  <a:solidFill>
                    <a:srgbClr val="0066FF"/>
                  </a:solidFill>
                  <a:latin typeface="宋体" pitchFamily="2" charset="-122"/>
                  <a:sym typeface="Wingdings" pitchFamily="2" charset="2"/>
                </a:rPr>
                <a:t></a:t>
              </a:r>
              <a:r>
                <a:rPr lang="en-US" altLang="zh-CN" sz="2800" dirty="0" err="1">
                  <a:solidFill>
                    <a:srgbClr val="0066FF"/>
                  </a:solidFill>
                </a:rPr>
                <a:t>Bq</a:t>
              </a:r>
              <a:r>
                <a:rPr lang="en-US" altLang="zh-CN" sz="2800" dirty="0">
                  <a:solidFill>
                    <a:srgbClr val="0066FF"/>
                  </a:solidFill>
                </a:rPr>
                <a:t>) ={</a:t>
              </a:r>
              <a:r>
                <a:rPr lang="en-US" altLang="zh-CN" sz="2800" dirty="0" err="1">
                  <a:solidFill>
                    <a:srgbClr val="0066FF"/>
                  </a:solidFill>
                </a:rPr>
                <a:t>b,d</a:t>
              </a:r>
              <a:r>
                <a:rPr lang="en-US" altLang="zh-CN" sz="2800" dirty="0">
                  <a:solidFill>
                    <a:srgbClr val="0066FF"/>
                  </a:solidFill>
                </a:rPr>
                <a:t> } </a:t>
              </a:r>
              <a:endParaRPr lang="en-US" altLang="zh-CN" sz="2800" dirty="0">
                <a:solidFill>
                  <a:schemeClr val="accent2"/>
                </a:solidFill>
              </a:endParaRPr>
            </a:p>
          </p:txBody>
        </p:sp>
        <p:sp>
          <p:nvSpPr>
            <p:cNvPr id="59398" name="Text Box 5"/>
            <p:cNvSpPr txBox="1">
              <a:spLocks noChangeArrowheads="1"/>
            </p:cNvSpPr>
            <p:nvPr/>
          </p:nvSpPr>
          <p:spPr bwMode="auto">
            <a:xfrm>
              <a:off x="2158" y="1344"/>
              <a:ext cx="1024"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3600" b="1">
                  <a:ea typeface="华文行楷" pitchFamily="2" charset="-122"/>
                </a:rPr>
                <a:t>解：</a:t>
              </a:r>
            </a:p>
          </p:txBody>
        </p:sp>
      </p:grpSp>
    </p:spTree>
    <p:extLst>
      <p:ext uri="{BB962C8B-B14F-4D97-AF65-F5344CB8AC3E}">
        <p14:creationId xmlns:p14="http://schemas.microsoft.com/office/powerpoint/2010/main" val="34626592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3"/>
          <p:cNvSpPr>
            <a:spLocks noGrp="1" noChangeArrowheads="1"/>
          </p:cNvSpPr>
          <p:nvPr>
            <p:ph type="body" idx="1"/>
          </p:nvPr>
        </p:nvSpPr>
        <p:spPr>
          <a:xfrm>
            <a:off x="32661" y="229578"/>
            <a:ext cx="5796136" cy="855171"/>
          </a:xfrm>
          <a:noFill/>
        </p:spPr>
        <p:txBody>
          <a:bodyPr lIns="92075" tIns="46038" rIns="92075" bIns="46038">
            <a:normAutofit/>
          </a:bodyPr>
          <a:lstStyle/>
          <a:p>
            <a:pPr marL="495300" indent="-495300" eaLnBrk="1" hangingPunct="1">
              <a:spcBef>
                <a:spcPct val="0"/>
              </a:spcBef>
              <a:buSzPct val="70000"/>
              <a:buFont typeface="Wingdings" pitchFamily="2" charset="2"/>
              <a:buChar char="v"/>
            </a:pPr>
            <a:r>
              <a:rPr lang="zh-CN" altLang="en-US" sz="2200" dirty="0">
                <a:latin typeface="宋体" pitchFamily="2" charset="-122"/>
                <a:ea typeface="宋体" panose="02010600030101010101" pitchFamily="2" charset="-122"/>
              </a:rPr>
              <a:t>例</a:t>
            </a:r>
            <a:r>
              <a:rPr lang="en-US" altLang="zh-CN" sz="2200" dirty="0">
                <a:latin typeface="宋体" pitchFamily="2" charset="-122"/>
                <a:ea typeface="宋体" panose="02010600030101010101" pitchFamily="2" charset="-122"/>
              </a:rPr>
              <a:t>2</a:t>
            </a:r>
            <a:r>
              <a:rPr lang="zh-CN" altLang="en-US" sz="2200" dirty="0">
                <a:latin typeface="宋体" pitchFamily="2" charset="-122"/>
                <a:ea typeface="宋体" panose="02010600030101010101" pitchFamily="2" charset="-122"/>
              </a:rPr>
              <a:t>：对于文法</a:t>
            </a:r>
            <a:r>
              <a:rPr lang="en-US" altLang="zh-CN" sz="2200" dirty="0">
                <a:latin typeface="宋体" pitchFamily="2" charset="-122"/>
                <a:ea typeface="宋体" panose="02010600030101010101" pitchFamily="2" charset="-122"/>
              </a:rPr>
              <a:t>G2[S]</a:t>
            </a:r>
            <a:r>
              <a:rPr lang="zh-CN" altLang="en-US" sz="2200" dirty="0">
                <a:latin typeface="宋体" pitchFamily="2" charset="-122"/>
                <a:ea typeface="宋体" panose="02010600030101010101" pitchFamily="2" charset="-122"/>
              </a:rPr>
              <a:t>：</a:t>
            </a:r>
            <a:endParaRPr lang="en-US" altLang="zh-CN" sz="2200" dirty="0">
              <a:latin typeface="宋体" pitchFamily="2" charset="-122"/>
              <a:ea typeface="宋体" panose="02010600030101010101" pitchFamily="2" charset="-122"/>
            </a:endParaRPr>
          </a:p>
          <a:p>
            <a:pPr marL="495300" indent="-495300" eaLnBrk="1" hangingPunct="1">
              <a:spcBef>
                <a:spcPct val="0"/>
              </a:spcBef>
              <a:buSzPct val="70000"/>
              <a:buFont typeface="Wingdings" pitchFamily="2" charset="2"/>
              <a:buChar char="v"/>
            </a:pPr>
            <a:r>
              <a:rPr lang="zh-CN" altLang="en-US" sz="2200" dirty="0">
                <a:latin typeface="宋体" pitchFamily="2" charset="-122"/>
                <a:ea typeface="宋体" panose="02010600030101010101" pitchFamily="2" charset="-122"/>
              </a:rPr>
              <a:t>对输入串</a:t>
            </a:r>
            <a:r>
              <a:rPr lang="en-US" altLang="zh-CN" sz="2200" dirty="0" err="1">
                <a:solidFill>
                  <a:srgbClr val="FF0000"/>
                </a:solidFill>
                <a:latin typeface="宋体" pitchFamily="2" charset="-122"/>
                <a:ea typeface="宋体" panose="02010600030101010101" pitchFamily="2" charset="-122"/>
              </a:rPr>
              <a:t>ccap</a:t>
            </a:r>
            <a:r>
              <a:rPr lang="zh-CN" altLang="en-US" sz="2200" dirty="0">
                <a:solidFill>
                  <a:srgbClr val="FF0000"/>
                </a:solidFill>
                <a:latin typeface="宋体" pitchFamily="2" charset="-122"/>
                <a:ea typeface="宋体" panose="02010600030101010101" pitchFamily="2" charset="-122"/>
              </a:rPr>
              <a:t>进行</a:t>
            </a:r>
            <a:r>
              <a:rPr lang="zh-CN" altLang="en-US" sz="2200" dirty="0">
                <a:latin typeface="宋体" pitchFamily="2" charset="-122"/>
                <a:ea typeface="宋体" panose="02010600030101010101" pitchFamily="2" charset="-122"/>
              </a:rPr>
              <a:t>自上而下分析。</a:t>
            </a:r>
            <a:endParaRPr lang="en-US" altLang="zh-CN" sz="2200" dirty="0">
              <a:latin typeface="宋体" pitchFamily="2" charset="-122"/>
              <a:ea typeface="宋体" panose="02010600030101010101" pitchFamily="2" charset="-122"/>
            </a:endParaRPr>
          </a:p>
        </p:txBody>
      </p:sp>
      <p:graphicFrame>
        <p:nvGraphicFramePr>
          <p:cNvPr id="67587" name="Object 5"/>
          <p:cNvGraphicFramePr>
            <a:graphicFrameLocks noChangeAspect="1"/>
          </p:cNvGraphicFramePr>
          <p:nvPr>
            <p:extLst>
              <p:ext uri="{D42A27DB-BD31-4B8C-83A1-F6EECF244321}">
                <p14:modId xmlns:p14="http://schemas.microsoft.com/office/powerpoint/2010/main" val="3654352044"/>
              </p:ext>
            </p:extLst>
          </p:nvPr>
        </p:nvGraphicFramePr>
        <p:xfrm>
          <a:off x="604813" y="1923678"/>
          <a:ext cx="5407347" cy="3036118"/>
        </p:xfrm>
        <a:graphic>
          <a:graphicData uri="http://schemas.openxmlformats.org/presentationml/2006/ole">
            <mc:AlternateContent xmlns:mc="http://schemas.openxmlformats.org/markup-compatibility/2006">
              <mc:Choice xmlns:v="urn:schemas-microsoft-com:vml" Requires="v">
                <p:oleObj spid="_x0000_s11271" name="VISIO" r:id="rId4" imgW="4206240" imgH="2463800" progId="Visio.Drawing.4">
                  <p:embed/>
                </p:oleObj>
              </mc:Choice>
              <mc:Fallback>
                <p:oleObj name="VISIO" r:id="rId4" imgW="4206240" imgH="2463800" progId="Visio.Drawing.4">
                  <p:embed/>
                  <p:pic>
                    <p:nvPicPr>
                      <p:cNvPr id="67587"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4813" y="1923678"/>
                        <a:ext cx="5407347" cy="3036118"/>
                      </a:xfrm>
                      <a:prstGeom prst="rect">
                        <a:avLst/>
                      </a:prstGeom>
                      <a:noFill/>
                      <a:ln>
                        <a:noFill/>
                      </a:ln>
                      <a:effectLst/>
                    </p:spPr>
                  </p:pic>
                </p:oleObj>
              </mc:Fallback>
            </mc:AlternateContent>
          </a:graphicData>
        </a:graphic>
      </p:graphicFrame>
      <p:sp>
        <p:nvSpPr>
          <p:cNvPr id="2" name="矩形 1"/>
          <p:cNvSpPr/>
          <p:nvPr/>
        </p:nvSpPr>
        <p:spPr>
          <a:xfrm>
            <a:off x="6372200" y="26318"/>
            <a:ext cx="1512168" cy="2123658"/>
          </a:xfrm>
          <a:prstGeom prst="rect">
            <a:avLst/>
          </a:prstGeom>
        </p:spPr>
        <p:style>
          <a:lnRef idx="2">
            <a:schemeClr val="accent4"/>
          </a:lnRef>
          <a:fillRef idx="1">
            <a:schemeClr val="lt1"/>
          </a:fillRef>
          <a:effectRef idx="0">
            <a:schemeClr val="accent4"/>
          </a:effectRef>
          <a:fontRef idx="minor">
            <a:schemeClr val="dk1"/>
          </a:fontRef>
        </p:style>
        <p:txBody>
          <a:bodyPr wrap="square">
            <a:spAutoFit/>
          </a:bodyPr>
          <a:lstStyle/>
          <a:p>
            <a:pPr indent="179388">
              <a:spcBef>
                <a:spcPct val="0"/>
              </a:spcBef>
              <a:buSzPct val="70000"/>
            </a:pPr>
            <a:r>
              <a:rPr lang="en-US" altLang="zh-CN" sz="2200" dirty="0" err="1">
                <a:latin typeface="宋体" pitchFamily="2" charset="-122"/>
              </a:rPr>
              <a:t>S→Ap</a:t>
            </a:r>
            <a:endParaRPr lang="en-US" altLang="zh-CN" sz="2200" dirty="0">
              <a:latin typeface="宋体" pitchFamily="2" charset="-122"/>
            </a:endParaRPr>
          </a:p>
          <a:p>
            <a:pPr indent="179388">
              <a:spcBef>
                <a:spcPct val="0"/>
              </a:spcBef>
              <a:buSzPct val="70000"/>
            </a:pPr>
            <a:r>
              <a:rPr lang="en-US" altLang="zh-CN" sz="2200" dirty="0" err="1">
                <a:latin typeface="宋体" pitchFamily="2" charset="-122"/>
              </a:rPr>
              <a:t>S→Bq</a:t>
            </a:r>
            <a:endParaRPr lang="en-US" altLang="zh-CN" sz="2200" dirty="0">
              <a:latin typeface="宋体" pitchFamily="2" charset="-122"/>
            </a:endParaRPr>
          </a:p>
          <a:p>
            <a:pPr indent="179388">
              <a:spcBef>
                <a:spcPct val="0"/>
              </a:spcBef>
              <a:buSzPct val="70000"/>
            </a:pPr>
            <a:r>
              <a:rPr lang="en-US" altLang="zh-CN" sz="2200" dirty="0" err="1">
                <a:latin typeface="宋体" pitchFamily="2" charset="-122"/>
              </a:rPr>
              <a:t>A→a</a:t>
            </a:r>
            <a:endParaRPr lang="en-US" altLang="zh-CN" sz="2200" dirty="0">
              <a:latin typeface="宋体" pitchFamily="2" charset="-122"/>
            </a:endParaRPr>
          </a:p>
          <a:p>
            <a:pPr indent="179388">
              <a:spcBef>
                <a:spcPct val="0"/>
              </a:spcBef>
              <a:buSzPct val="70000"/>
            </a:pPr>
            <a:r>
              <a:rPr lang="en-US" altLang="zh-CN" sz="2200" dirty="0" err="1">
                <a:latin typeface="宋体" pitchFamily="2" charset="-122"/>
              </a:rPr>
              <a:t>A→cA</a:t>
            </a:r>
            <a:endParaRPr lang="en-US" altLang="zh-CN" sz="2200" dirty="0">
              <a:latin typeface="宋体" pitchFamily="2" charset="-122"/>
            </a:endParaRPr>
          </a:p>
          <a:p>
            <a:pPr indent="179388">
              <a:spcBef>
                <a:spcPct val="0"/>
              </a:spcBef>
              <a:buSzPct val="70000"/>
            </a:pPr>
            <a:r>
              <a:rPr lang="en-US" altLang="zh-CN" sz="2200" dirty="0" err="1">
                <a:latin typeface="宋体" pitchFamily="2" charset="-122"/>
              </a:rPr>
              <a:t>B→b</a:t>
            </a:r>
            <a:endParaRPr lang="en-US" altLang="zh-CN" sz="2200" dirty="0">
              <a:latin typeface="宋体" pitchFamily="2" charset="-122"/>
            </a:endParaRPr>
          </a:p>
          <a:p>
            <a:pPr indent="179388">
              <a:spcBef>
                <a:spcPct val="0"/>
              </a:spcBef>
              <a:buSzPct val="70000"/>
            </a:pPr>
            <a:r>
              <a:rPr lang="en-US" altLang="zh-CN" sz="2200" dirty="0" err="1">
                <a:latin typeface="宋体" pitchFamily="2" charset="-122"/>
              </a:rPr>
              <a:t>B→dB</a:t>
            </a:r>
            <a:endParaRPr lang="en-US" altLang="zh-CN" sz="2200" dirty="0">
              <a:latin typeface="宋体" pitchFamily="2" charset="-122"/>
            </a:endParaRPr>
          </a:p>
        </p:txBody>
      </p:sp>
      <p:cxnSp>
        <p:nvCxnSpPr>
          <p:cNvPr id="4" name="直接箭头连接符 3"/>
          <p:cNvCxnSpPr/>
          <p:nvPr/>
        </p:nvCxnSpPr>
        <p:spPr>
          <a:xfrm>
            <a:off x="219244" y="2643758"/>
            <a:ext cx="601593" cy="0"/>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3" name="矩形 2"/>
          <p:cNvSpPr/>
          <p:nvPr/>
        </p:nvSpPr>
        <p:spPr>
          <a:xfrm>
            <a:off x="219244" y="3415685"/>
            <a:ext cx="1005403" cy="584775"/>
          </a:xfrm>
          <a:prstGeom prst="rect">
            <a:avLst/>
          </a:prstGeom>
        </p:spPr>
        <p:txBody>
          <a:bodyPr wrap="none">
            <a:spAutoFit/>
          </a:bodyPr>
          <a:lstStyle/>
          <a:p>
            <a:r>
              <a:rPr lang="en-US" altLang="zh-CN" sz="3200" dirty="0" err="1">
                <a:solidFill>
                  <a:srgbClr val="FF0000"/>
                </a:solidFill>
                <a:latin typeface="宋体" pitchFamily="2" charset="-122"/>
                <a:ea typeface="宋体" panose="02010600030101010101" pitchFamily="2" charset="-122"/>
              </a:rPr>
              <a:t>ccap</a:t>
            </a:r>
            <a:endParaRPr lang="zh-CN" altLang="en-US" sz="3200" dirty="0"/>
          </a:p>
        </p:txBody>
      </p:sp>
      <p:cxnSp>
        <p:nvCxnSpPr>
          <p:cNvPr id="7" name="直接箭头连接符 6"/>
          <p:cNvCxnSpPr/>
          <p:nvPr/>
        </p:nvCxnSpPr>
        <p:spPr>
          <a:xfrm flipV="1">
            <a:off x="388789" y="3867894"/>
            <a:ext cx="0" cy="648072"/>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6660232" y="2661253"/>
            <a:ext cx="2492990" cy="461665"/>
          </a:xfrm>
          <a:prstGeom prst="rect">
            <a:avLst/>
          </a:prstGeom>
          <a:solidFill>
            <a:schemeClr val="bg1"/>
          </a:solidFill>
        </p:spPr>
        <p:txBody>
          <a:bodyPr wrap="none">
            <a:spAutoFit/>
          </a:bodyPr>
          <a:lstStyle/>
          <a:p>
            <a:r>
              <a:rPr lang="en-US" altLang="zh-CN" sz="2400" dirty="0">
                <a:solidFill>
                  <a:srgbClr val="CC00FF"/>
                </a:solidFill>
                <a:latin typeface="宋体" pitchFamily="2" charset="-122"/>
                <a:ea typeface="宋体" panose="02010600030101010101" pitchFamily="2" charset="-122"/>
              </a:rPr>
              <a:t>First(S1)={</a:t>
            </a:r>
            <a:r>
              <a:rPr lang="en-US" altLang="zh-CN" sz="2400" dirty="0" err="1">
                <a:solidFill>
                  <a:srgbClr val="CC00FF"/>
                </a:solidFill>
                <a:latin typeface="宋体" pitchFamily="2" charset="-122"/>
                <a:ea typeface="宋体" panose="02010600030101010101" pitchFamily="2" charset="-122"/>
              </a:rPr>
              <a:t>a,c</a:t>
            </a:r>
            <a:r>
              <a:rPr lang="en-US" altLang="zh-CN" sz="2400" dirty="0">
                <a:solidFill>
                  <a:srgbClr val="CC00FF"/>
                </a:solidFill>
                <a:latin typeface="宋体" pitchFamily="2" charset="-122"/>
                <a:ea typeface="宋体" panose="02010600030101010101" pitchFamily="2" charset="-122"/>
              </a:rPr>
              <a:t>}</a:t>
            </a:r>
            <a:endParaRPr lang="zh-CN" altLang="en-US" sz="2000" dirty="0">
              <a:solidFill>
                <a:srgbClr val="CC00FF"/>
              </a:solidFill>
            </a:endParaRPr>
          </a:p>
        </p:txBody>
      </p:sp>
      <p:sp>
        <p:nvSpPr>
          <p:cNvPr id="13" name="矩形 12"/>
          <p:cNvSpPr/>
          <p:nvPr/>
        </p:nvSpPr>
        <p:spPr>
          <a:xfrm>
            <a:off x="6660232" y="3184852"/>
            <a:ext cx="2492990" cy="461665"/>
          </a:xfrm>
          <a:prstGeom prst="rect">
            <a:avLst/>
          </a:prstGeom>
          <a:solidFill>
            <a:schemeClr val="bg1"/>
          </a:solidFill>
        </p:spPr>
        <p:txBody>
          <a:bodyPr wrap="none">
            <a:spAutoFit/>
          </a:bodyPr>
          <a:lstStyle/>
          <a:p>
            <a:r>
              <a:rPr lang="en-US" altLang="zh-CN" sz="2400" dirty="0">
                <a:solidFill>
                  <a:srgbClr val="CC00FF"/>
                </a:solidFill>
                <a:latin typeface="宋体" pitchFamily="2" charset="-122"/>
                <a:ea typeface="宋体" panose="02010600030101010101" pitchFamily="2" charset="-122"/>
              </a:rPr>
              <a:t>First(S2)={</a:t>
            </a:r>
            <a:r>
              <a:rPr lang="en-US" altLang="zh-CN" sz="2400" dirty="0" err="1">
                <a:solidFill>
                  <a:srgbClr val="CC00FF"/>
                </a:solidFill>
                <a:latin typeface="宋体" pitchFamily="2" charset="-122"/>
                <a:ea typeface="宋体" panose="02010600030101010101" pitchFamily="2" charset="-122"/>
              </a:rPr>
              <a:t>b,d</a:t>
            </a:r>
            <a:r>
              <a:rPr lang="en-US" altLang="zh-CN" sz="2400" dirty="0">
                <a:solidFill>
                  <a:srgbClr val="CC00FF"/>
                </a:solidFill>
                <a:latin typeface="宋体" pitchFamily="2" charset="-122"/>
                <a:ea typeface="宋体" panose="02010600030101010101" pitchFamily="2" charset="-122"/>
              </a:rPr>
              <a:t>}</a:t>
            </a:r>
            <a:endParaRPr lang="zh-CN" altLang="en-US" sz="2000" dirty="0">
              <a:solidFill>
                <a:srgbClr val="CC00FF"/>
              </a:solidFill>
            </a:endParaRPr>
          </a:p>
        </p:txBody>
      </p:sp>
      <p:sp>
        <p:nvSpPr>
          <p:cNvPr id="14" name="矩形 13"/>
          <p:cNvSpPr/>
          <p:nvPr/>
        </p:nvSpPr>
        <p:spPr>
          <a:xfrm>
            <a:off x="6640046" y="3730265"/>
            <a:ext cx="2396450" cy="830997"/>
          </a:xfrm>
          <a:prstGeom prst="rect">
            <a:avLst/>
          </a:prstGeom>
          <a:solidFill>
            <a:schemeClr val="bg1"/>
          </a:solidFill>
        </p:spPr>
        <p:txBody>
          <a:bodyPr wrap="square">
            <a:spAutoFit/>
          </a:bodyPr>
          <a:lstStyle/>
          <a:p>
            <a:r>
              <a:rPr lang="en-US" altLang="zh-CN" sz="2400" dirty="0">
                <a:solidFill>
                  <a:srgbClr val="CC00FF"/>
                </a:solidFill>
                <a:latin typeface="宋体" pitchFamily="2" charset="-122"/>
                <a:ea typeface="宋体" panose="02010600030101010101" pitchFamily="2" charset="-122"/>
              </a:rPr>
              <a:t>First(S1)</a:t>
            </a:r>
            <a:r>
              <a:rPr lang="zh-CN" altLang="en-US" sz="2400" dirty="0">
                <a:solidFill>
                  <a:srgbClr val="CC00FF"/>
                </a:solidFill>
                <a:latin typeface="宋体" pitchFamily="2" charset="-122"/>
                <a:ea typeface="宋体" panose="02010600030101010101" pitchFamily="2" charset="-122"/>
              </a:rPr>
              <a:t>∩</a:t>
            </a:r>
            <a:endParaRPr lang="en-US" altLang="zh-CN" sz="2400" dirty="0">
              <a:solidFill>
                <a:srgbClr val="CC00FF"/>
              </a:solidFill>
              <a:latin typeface="宋体" pitchFamily="2" charset="-122"/>
              <a:ea typeface="宋体" panose="02010600030101010101" pitchFamily="2" charset="-122"/>
            </a:endParaRPr>
          </a:p>
          <a:p>
            <a:r>
              <a:rPr lang="en-US" altLang="zh-CN" sz="2400" dirty="0">
                <a:solidFill>
                  <a:srgbClr val="CC00FF"/>
                </a:solidFill>
                <a:latin typeface="宋体" pitchFamily="2" charset="-122"/>
                <a:ea typeface="宋体" panose="02010600030101010101" pitchFamily="2" charset="-122"/>
              </a:rPr>
              <a:t>First(S2)= </a:t>
            </a:r>
            <a:r>
              <a:rPr lang="en-US" altLang="zh-CN" sz="2400" b="1" dirty="0">
                <a:solidFill>
                  <a:srgbClr val="CC00FF"/>
                </a:solidFill>
                <a:effectLst>
                  <a:outerShdw blurRad="38100" dist="38100" dir="2700000" algn="tl">
                    <a:srgbClr val="C0C0C0"/>
                  </a:outerShdw>
                </a:effectLst>
                <a:latin typeface="宋体" pitchFamily="2" charset="-122"/>
              </a:rPr>
              <a:t>φ</a:t>
            </a:r>
            <a:endParaRPr lang="zh-CN" altLang="en-US" sz="2400" dirty="0">
              <a:solidFill>
                <a:srgbClr val="CC00FF"/>
              </a:solidFill>
            </a:endParaRPr>
          </a:p>
        </p:txBody>
      </p:sp>
      <p:sp>
        <p:nvSpPr>
          <p:cNvPr id="15" name="矩形 14"/>
          <p:cNvSpPr/>
          <p:nvPr/>
        </p:nvSpPr>
        <p:spPr>
          <a:xfrm>
            <a:off x="1622381" y="3787175"/>
            <a:ext cx="1005403" cy="584775"/>
          </a:xfrm>
          <a:prstGeom prst="rect">
            <a:avLst/>
          </a:prstGeom>
        </p:spPr>
        <p:txBody>
          <a:bodyPr wrap="none">
            <a:spAutoFit/>
          </a:bodyPr>
          <a:lstStyle/>
          <a:p>
            <a:r>
              <a:rPr lang="en-US" altLang="zh-CN" sz="3200" dirty="0" err="1">
                <a:solidFill>
                  <a:srgbClr val="0000CC"/>
                </a:solidFill>
                <a:latin typeface="宋体" pitchFamily="2" charset="-122"/>
                <a:ea typeface="宋体" panose="02010600030101010101" pitchFamily="2" charset="-122"/>
              </a:rPr>
              <a:t>xcap</a:t>
            </a:r>
            <a:endParaRPr lang="zh-CN" altLang="en-US" sz="3200" dirty="0">
              <a:solidFill>
                <a:srgbClr val="0000CC"/>
              </a:solidFill>
            </a:endParaRPr>
          </a:p>
        </p:txBody>
      </p:sp>
      <p:cxnSp>
        <p:nvCxnSpPr>
          <p:cNvPr id="16" name="直接箭头连接符 15"/>
          <p:cNvCxnSpPr/>
          <p:nvPr/>
        </p:nvCxnSpPr>
        <p:spPr>
          <a:xfrm flipV="1">
            <a:off x="1781139" y="4371950"/>
            <a:ext cx="0" cy="648072"/>
          </a:xfrm>
          <a:prstGeom prst="straightConnector1">
            <a:avLst/>
          </a:prstGeom>
          <a:ln w="38100">
            <a:solidFill>
              <a:srgbClr val="0000CC"/>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3"/>
          <p:cNvSpPr txBox="1">
            <a:spLocks noChangeArrowheads="1"/>
          </p:cNvSpPr>
          <p:nvPr/>
        </p:nvSpPr>
        <p:spPr>
          <a:xfrm>
            <a:off x="-270284" y="1088147"/>
            <a:ext cx="5796136" cy="907539"/>
          </a:xfrm>
          <a:prstGeom prst="rect">
            <a:avLst/>
          </a:prstGeom>
          <a:noFill/>
        </p:spPr>
        <p:txBody>
          <a:bodyPr vert="horz" lIns="92075" tIns="46038" rIns="92075" bIns="46038">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495300" indent="-495300">
              <a:spcBef>
                <a:spcPct val="0"/>
              </a:spcBef>
              <a:buSzPct val="70000"/>
              <a:buFont typeface="Wingdings" pitchFamily="2" charset="2"/>
              <a:buChar char="v"/>
            </a:pPr>
            <a:r>
              <a:rPr lang="zh-CN" altLang="en-US" sz="2200" dirty="0">
                <a:latin typeface="宋体" pitchFamily="2" charset="-122"/>
                <a:ea typeface="宋体" panose="02010600030101010101" pitchFamily="2" charset="-122"/>
              </a:rPr>
              <a:t>推导过程是：</a:t>
            </a:r>
            <a:endParaRPr lang="en-US" altLang="zh-CN" sz="2200" dirty="0">
              <a:latin typeface="宋体" pitchFamily="2" charset="-122"/>
              <a:ea typeface="宋体" panose="02010600030101010101" pitchFamily="2" charset="-122"/>
            </a:endParaRPr>
          </a:p>
          <a:p>
            <a:pPr marL="1333500" lvl="2" indent="-419100">
              <a:spcBef>
                <a:spcPct val="0"/>
              </a:spcBef>
              <a:buSzPct val="70000"/>
              <a:buFont typeface="Wingdings" pitchFamily="2" charset="2"/>
              <a:buNone/>
            </a:pPr>
            <a:r>
              <a:rPr lang="en-US" altLang="zh-CN" sz="2200" dirty="0">
                <a:solidFill>
                  <a:srgbClr val="0000CC"/>
                </a:solidFill>
                <a:latin typeface="宋体" pitchFamily="2" charset="-122"/>
                <a:ea typeface="宋体" panose="02010600030101010101" pitchFamily="2" charset="-122"/>
              </a:rPr>
              <a:t>S =&gt; </a:t>
            </a:r>
            <a:r>
              <a:rPr lang="en-US" altLang="zh-CN" sz="2200" dirty="0" err="1">
                <a:solidFill>
                  <a:srgbClr val="0000CC"/>
                </a:solidFill>
                <a:latin typeface="宋体" pitchFamily="2" charset="-122"/>
                <a:ea typeface="宋体" panose="02010600030101010101" pitchFamily="2" charset="-122"/>
              </a:rPr>
              <a:t>Ap</a:t>
            </a:r>
            <a:r>
              <a:rPr lang="en-US" altLang="zh-CN" sz="2200" dirty="0">
                <a:solidFill>
                  <a:srgbClr val="0000CC"/>
                </a:solidFill>
                <a:latin typeface="宋体" pitchFamily="2" charset="-122"/>
                <a:ea typeface="宋体" panose="02010600030101010101" pitchFamily="2" charset="-122"/>
              </a:rPr>
              <a:t> =&gt; </a:t>
            </a:r>
            <a:r>
              <a:rPr lang="en-US" altLang="zh-CN" sz="2200" dirty="0" err="1">
                <a:solidFill>
                  <a:srgbClr val="0000CC"/>
                </a:solidFill>
                <a:latin typeface="宋体" pitchFamily="2" charset="-122"/>
                <a:ea typeface="宋体" panose="02010600030101010101" pitchFamily="2" charset="-122"/>
              </a:rPr>
              <a:t>cAp</a:t>
            </a:r>
            <a:r>
              <a:rPr lang="en-US" altLang="zh-CN" sz="2200" dirty="0">
                <a:solidFill>
                  <a:srgbClr val="0000CC"/>
                </a:solidFill>
                <a:latin typeface="宋体" pitchFamily="2" charset="-122"/>
                <a:ea typeface="宋体" panose="02010600030101010101" pitchFamily="2" charset="-122"/>
              </a:rPr>
              <a:t> =&gt; </a:t>
            </a:r>
            <a:r>
              <a:rPr lang="en-US" altLang="zh-CN" sz="2200" dirty="0" err="1">
                <a:solidFill>
                  <a:srgbClr val="0000CC"/>
                </a:solidFill>
                <a:latin typeface="宋体" pitchFamily="2" charset="-122"/>
                <a:ea typeface="宋体" panose="02010600030101010101" pitchFamily="2" charset="-122"/>
              </a:rPr>
              <a:t>ccAp</a:t>
            </a:r>
            <a:r>
              <a:rPr lang="en-US" altLang="zh-CN" sz="2200" dirty="0">
                <a:solidFill>
                  <a:srgbClr val="0000CC"/>
                </a:solidFill>
                <a:latin typeface="宋体" pitchFamily="2" charset="-122"/>
                <a:ea typeface="宋体" panose="02010600030101010101" pitchFamily="2" charset="-122"/>
              </a:rPr>
              <a:t> =&gt; </a:t>
            </a:r>
            <a:r>
              <a:rPr lang="en-US" altLang="zh-CN" sz="2200" dirty="0" err="1">
                <a:solidFill>
                  <a:srgbClr val="0000CC"/>
                </a:solidFill>
                <a:latin typeface="宋体" pitchFamily="2" charset="-122"/>
                <a:ea typeface="宋体" panose="02010600030101010101" pitchFamily="2" charset="-122"/>
              </a:rPr>
              <a:t>ccap</a:t>
            </a:r>
            <a:endParaRPr lang="en-US" altLang="zh-CN" sz="2200" dirty="0">
              <a:solidFill>
                <a:srgbClr val="0000CC"/>
              </a:solidFill>
              <a:latin typeface="宋体" pitchFamily="2" charset="-122"/>
              <a:ea typeface="宋体" panose="02010600030101010101" pitchFamily="2" charset="-122"/>
            </a:endParaRPr>
          </a:p>
        </p:txBody>
      </p:sp>
    </p:spTree>
    <p:extLst>
      <p:ext uri="{BB962C8B-B14F-4D97-AF65-F5344CB8AC3E}">
        <p14:creationId xmlns:p14="http://schemas.microsoft.com/office/powerpoint/2010/main" val="3293449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7587"/>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childTnLst>
                                </p:cTn>
                              </p:par>
                            </p:childTnLst>
                          </p:cTn>
                        </p:par>
                        <p:par>
                          <p:cTn id="18" fill="hold">
                            <p:stCondLst>
                              <p:cond delay="0"/>
                            </p:stCondLst>
                            <p:childTnLst>
                              <p:par>
                                <p:cTn id="19" presetID="1" presetClass="entr" presetSubtype="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animBg="1"/>
      <p:bldP spid="13" grpId="0" animBg="1"/>
      <p:bldP spid="14" grpId="0" animBg="1"/>
      <p:bldP spid="15" grpId="0"/>
      <p:bldP spid="17"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ChangeArrowheads="1"/>
          </p:cNvSpPr>
          <p:nvPr/>
        </p:nvSpPr>
        <p:spPr bwMode="auto">
          <a:xfrm>
            <a:off x="401638" y="1455738"/>
            <a:ext cx="1709737" cy="938719"/>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50000"/>
              </a:spcBef>
              <a:buFontTx/>
              <a:buNone/>
              <a:defRPr/>
            </a:pPr>
            <a:r>
              <a:rPr lang="en-US" altLang="zh-CN" sz="2200" dirty="0"/>
              <a:t>S </a:t>
            </a:r>
            <a:r>
              <a:rPr lang="en-US" altLang="zh-CN" sz="2200" dirty="0">
                <a:sym typeface="Wingdings" panose="05000000000000000000" pitchFamily="2" charset="2"/>
              </a:rPr>
              <a:t></a:t>
            </a:r>
            <a:r>
              <a:rPr lang="en-US" altLang="zh-CN" sz="2200" dirty="0"/>
              <a:t> </a:t>
            </a:r>
            <a:r>
              <a:rPr lang="en-US" altLang="zh-CN" sz="2200" dirty="0" err="1"/>
              <a:t>xAy</a:t>
            </a:r>
            <a:r>
              <a:rPr lang="en-US" altLang="zh-CN" sz="2200" dirty="0"/>
              <a:t> </a:t>
            </a:r>
          </a:p>
          <a:p>
            <a:pPr eaLnBrk="1" hangingPunct="1">
              <a:spcBef>
                <a:spcPct val="50000"/>
              </a:spcBef>
              <a:buFontTx/>
              <a:buNone/>
              <a:defRPr/>
            </a:pPr>
            <a:r>
              <a:rPr lang="en-US" altLang="zh-CN" sz="2200" dirty="0"/>
              <a:t>A </a:t>
            </a:r>
            <a:r>
              <a:rPr lang="en-US" altLang="zh-CN" sz="2200" dirty="0">
                <a:sym typeface="Wingdings" panose="05000000000000000000" pitchFamily="2" charset="2"/>
              </a:rPr>
              <a:t></a:t>
            </a:r>
            <a:r>
              <a:rPr lang="en-US" altLang="zh-CN" sz="2200" dirty="0"/>
              <a:t> **|*</a:t>
            </a:r>
          </a:p>
        </p:txBody>
      </p:sp>
      <p:sp>
        <p:nvSpPr>
          <p:cNvPr id="60419" name="Rectangle 3"/>
          <p:cNvSpPr>
            <a:spLocks noGrp="1" noChangeArrowheads="1"/>
          </p:cNvSpPr>
          <p:nvPr>
            <p:ph type="body" sz="half" idx="1"/>
          </p:nvPr>
        </p:nvSpPr>
        <p:spPr>
          <a:xfrm>
            <a:off x="250825" y="193675"/>
            <a:ext cx="6626225" cy="1157288"/>
          </a:xfrm>
        </p:spPr>
        <p:txBody>
          <a:bodyPr>
            <a:normAutofit/>
          </a:bodyPr>
          <a:lstStyle/>
          <a:p>
            <a:pPr eaLnBrk="1" hangingPunct="1"/>
            <a:r>
              <a:rPr lang="zh-CN" altLang="en-US" sz="2200" dirty="0"/>
              <a:t>分析前面给定的文法，若某个非终结符</a:t>
            </a:r>
            <a:r>
              <a:rPr lang="zh-CN" altLang="en-US" sz="2200" dirty="0">
                <a:solidFill>
                  <a:srgbClr val="FF0000"/>
                </a:solidFill>
              </a:rPr>
              <a:t>有多个候选式</a:t>
            </a:r>
            <a:r>
              <a:rPr lang="zh-CN" altLang="en-US" sz="2200" dirty="0"/>
              <a:t>，分别求其首终结符集。</a:t>
            </a:r>
            <a:endParaRPr lang="en-US" altLang="zh-CN" sz="2200" dirty="0"/>
          </a:p>
          <a:p>
            <a:pPr eaLnBrk="1" hangingPunct="1"/>
            <a:r>
              <a:rPr lang="zh-CN" altLang="en-US" sz="2200" dirty="0"/>
              <a:t>若相交，就会产生回溯</a:t>
            </a:r>
          </a:p>
        </p:txBody>
      </p:sp>
      <p:sp>
        <p:nvSpPr>
          <p:cNvPr id="250884" name="Rectangle 4"/>
          <p:cNvSpPr>
            <a:spLocks noChangeArrowheads="1"/>
          </p:cNvSpPr>
          <p:nvPr/>
        </p:nvSpPr>
        <p:spPr bwMode="auto">
          <a:xfrm>
            <a:off x="401638" y="3875088"/>
            <a:ext cx="8266112" cy="1107996"/>
          </a:xfrm>
          <a:prstGeom prst="rect">
            <a:avLst/>
          </a:prstGeom>
          <a:ln/>
        </p:spPr>
        <p:style>
          <a:lnRef idx="1">
            <a:schemeClr val="accent2"/>
          </a:lnRef>
          <a:fillRef idx="2">
            <a:schemeClr val="accent2"/>
          </a:fillRef>
          <a:effectRef idx="1">
            <a:schemeClr val="accent2"/>
          </a:effectRef>
          <a:fontRef idx="minor">
            <a:schemeClr val="dk1"/>
          </a:fontRef>
        </p:style>
        <p:txBody>
          <a:bodyPr>
            <a:spAutoFit/>
          </a:bodyPr>
          <a:lstStyle>
            <a:lvl1pPr marL="285750" indent="-285750">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60000"/>
              </a:spcBef>
              <a:defRPr/>
            </a:pPr>
            <a:r>
              <a:rPr lang="en-US" altLang="zh-CN" sz="2200" b="1" dirty="0">
                <a:solidFill>
                  <a:schemeClr val="accent2"/>
                </a:solidFill>
              </a:rPr>
              <a:t> </a:t>
            </a:r>
            <a:r>
              <a:rPr lang="zh-CN" altLang="en-US" sz="2200" b="1" dirty="0">
                <a:solidFill>
                  <a:schemeClr val="accent2"/>
                </a:solidFill>
              </a:rPr>
              <a:t>结论：</a:t>
            </a:r>
            <a:r>
              <a:rPr lang="zh-CN" altLang="en-US" sz="2200" dirty="0"/>
              <a:t>只要存在某个非终结符</a:t>
            </a:r>
            <a:r>
              <a:rPr lang="zh-CN" altLang="en-US" sz="2200" b="1" dirty="0">
                <a:solidFill>
                  <a:schemeClr val="accent2"/>
                </a:solidFill>
              </a:rPr>
              <a:t>的多个候选式的首终结符集相交</a:t>
            </a:r>
            <a:r>
              <a:rPr lang="zh-CN" altLang="en-US" sz="2200" dirty="0"/>
              <a:t>，就会在推导的某时刻产生回溯</a:t>
            </a:r>
            <a:r>
              <a:rPr lang="zh-CN" altLang="en-US" sz="2200" b="1" dirty="0">
                <a:solidFill>
                  <a:schemeClr val="accent2"/>
                </a:solidFill>
              </a:rPr>
              <a:t>。</a:t>
            </a:r>
            <a:r>
              <a:rPr lang="zh-CN" altLang="en-US" sz="2200" dirty="0">
                <a:latin typeface="宋体" panose="02010600030101010101" pitchFamily="2" charset="-122"/>
              </a:rPr>
              <a:t>从而导致语法分析器选择了错误的侯选式。</a:t>
            </a:r>
            <a:endParaRPr lang="zh-CN" altLang="en-US" sz="2200" b="1" dirty="0">
              <a:solidFill>
                <a:schemeClr val="accent2"/>
              </a:solidFill>
            </a:endParaRPr>
          </a:p>
        </p:txBody>
      </p:sp>
      <p:sp>
        <p:nvSpPr>
          <p:cNvPr id="5" name="Text Box 4"/>
          <p:cNvSpPr txBox="1">
            <a:spLocks noChangeArrowheads="1"/>
          </p:cNvSpPr>
          <p:nvPr/>
        </p:nvSpPr>
        <p:spPr bwMode="auto">
          <a:xfrm>
            <a:off x="6950075" y="142875"/>
            <a:ext cx="2065338" cy="246221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defRPr/>
            </a:pPr>
            <a:r>
              <a:rPr lang="en-US" altLang="zh-CN" sz="2200" dirty="0" err="1">
                <a:ea typeface="华文行楷" panose="02010800040101010101" pitchFamily="2" charset="-122"/>
              </a:rPr>
              <a:t>S</a:t>
            </a:r>
            <a:r>
              <a:rPr lang="en-US" altLang="zh-CN" sz="2200" b="1" dirty="0" err="1">
                <a:ea typeface="华文行楷" panose="02010800040101010101" pitchFamily="2" charset="-122"/>
                <a:sym typeface="Wingdings" panose="05000000000000000000" pitchFamily="2" charset="2"/>
              </a:rPr>
              <a:t>xAy</a:t>
            </a:r>
            <a:endParaRPr lang="en-US" altLang="zh-CN" sz="2200" dirty="0">
              <a:ea typeface="华文行楷" panose="02010800040101010101" pitchFamily="2" charset="-122"/>
            </a:endParaRPr>
          </a:p>
          <a:p>
            <a:pPr eaLnBrk="1" hangingPunct="1">
              <a:spcBef>
                <a:spcPct val="0"/>
              </a:spcBef>
              <a:buFontTx/>
              <a:buNone/>
              <a:defRPr/>
            </a:pPr>
            <a:r>
              <a:rPr lang="en-US" altLang="zh-CN" sz="2200" dirty="0">
                <a:ea typeface="华文行楷" panose="02010800040101010101" pitchFamily="2" charset="-122"/>
              </a:rPr>
              <a:t>A</a:t>
            </a:r>
            <a:r>
              <a:rPr lang="en-US" altLang="zh-CN" sz="2200" b="1" dirty="0">
                <a:ea typeface="华文行楷" panose="02010800040101010101" pitchFamily="2" charset="-122"/>
                <a:sym typeface="Wingdings" panose="05000000000000000000" pitchFamily="2" charset="2"/>
              </a:rPr>
              <a:t></a:t>
            </a:r>
            <a:r>
              <a:rPr lang="en-US" altLang="zh-CN" sz="2200" dirty="0">
                <a:ea typeface="华文行楷" panose="02010800040101010101" pitchFamily="2" charset="-122"/>
              </a:rPr>
              <a:t>B</a:t>
            </a:r>
            <a:r>
              <a:rPr lang="en-US" altLang="zh-CN" sz="2200" b="1" dirty="0">
                <a:ea typeface="华文行楷" panose="02010800040101010101" pitchFamily="2" charset="-122"/>
              </a:rPr>
              <a:t>α</a:t>
            </a:r>
            <a:br>
              <a:rPr lang="en-US" altLang="zh-CN" sz="2200" dirty="0">
                <a:ea typeface="华文行楷" panose="02010800040101010101" pitchFamily="2" charset="-122"/>
              </a:rPr>
            </a:br>
            <a:r>
              <a:rPr lang="en-US" altLang="zh-CN" sz="2200" dirty="0">
                <a:ea typeface="华文行楷" panose="02010800040101010101" pitchFamily="2" charset="-122"/>
              </a:rPr>
              <a:t>A</a:t>
            </a:r>
            <a:r>
              <a:rPr lang="en-US" altLang="zh-CN" sz="2200" b="1" dirty="0">
                <a:ea typeface="华文行楷" panose="02010800040101010101" pitchFamily="2" charset="-122"/>
                <a:sym typeface="Wingdings" panose="05000000000000000000" pitchFamily="2" charset="2"/>
              </a:rPr>
              <a:t>C</a:t>
            </a:r>
            <a:r>
              <a:rPr lang="en-US" altLang="zh-CN" sz="2200" b="1" dirty="0">
                <a:ea typeface="华文行楷" panose="02010800040101010101" pitchFamily="2" charset="-122"/>
              </a:rPr>
              <a:t>β</a:t>
            </a:r>
          </a:p>
          <a:p>
            <a:pPr eaLnBrk="1" hangingPunct="1">
              <a:spcBef>
                <a:spcPct val="0"/>
              </a:spcBef>
              <a:buFontTx/>
              <a:buNone/>
              <a:defRPr/>
            </a:pPr>
            <a:r>
              <a:rPr lang="en-US" altLang="zh-CN" sz="2200" dirty="0">
                <a:ea typeface="华文行楷" panose="02010800040101010101" pitchFamily="2" charset="-122"/>
              </a:rPr>
              <a:t>A</a:t>
            </a:r>
            <a:r>
              <a:rPr lang="en-US" altLang="zh-CN" sz="2200" b="1" dirty="0">
                <a:ea typeface="华文行楷" panose="02010800040101010101" pitchFamily="2" charset="-122"/>
                <a:sym typeface="Wingdings" panose="05000000000000000000" pitchFamily="2" charset="2"/>
              </a:rPr>
              <a:t>D</a:t>
            </a:r>
            <a:r>
              <a:rPr lang="en-US" altLang="zh-CN" sz="2200" b="1" dirty="0">
                <a:ea typeface="华文行楷" panose="02010800040101010101" pitchFamily="2" charset="-122"/>
              </a:rPr>
              <a:t>*</a:t>
            </a:r>
            <a:r>
              <a:rPr lang="en-US" altLang="zh-CN" sz="2200" dirty="0">
                <a:ea typeface="华文行楷" panose="02010800040101010101" pitchFamily="2" charset="-122"/>
              </a:rPr>
              <a:t> </a:t>
            </a:r>
            <a:br>
              <a:rPr lang="en-US" altLang="zh-CN" sz="2200" dirty="0">
                <a:ea typeface="华文行楷" panose="02010800040101010101" pitchFamily="2" charset="-122"/>
              </a:rPr>
            </a:br>
            <a:r>
              <a:rPr lang="en-US" altLang="zh-CN" sz="2200" dirty="0">
                <a:ea typeface="华文行楷" panose="02010800040101010101" pitchFamily="2" charset="-122"/>
              </a:rPr>
              <a:t>B</a:t>
            </a:r>
            <a:r>
              <a:rPr lang="en-US" altLang="zh-CN" sz="2200" b="1" dirty="0">
                <a:ea typeface="华文行楷" panose="02010800040101010101" pitchFamily="2" charset="-122"/>
                <a:sym typeface="Wingdings" panose="05000000000000000000" pitchFamily="2" charset="2"/>
              </a:rPr>
              <a:t></a:t>
            </a:r>
            <a:r>
              <a:rPr lang="en-US" altLang="zh-CN" sz="2200" dirty="0">
                <a:ea typeface="华文行楷" panose="02010800040101010101" pitchFamily="2" charset="-122"/>
              </a:rPr>
              <a:t>*</a:t>
            </a:r>
          </a:p>
          <a:p>
            <a:pPr eaLnBrk="1" hangingPunct="1">
              <a:spcBef>
                <a:spcPct val="0"/>
              </a:spcBef>
              <a:buFontTx/>
              <a:buNone/>
              <a:defRPr/>
            </a:pPr>
            <a:r>
              <a:rPr lang="en-US" altLang="zh-CN" sz="2200" dirty="0">
                <a:ea typeface="华文行楷" panose="02010800040101010101" pitchFamily="2" charset="-122"/>
              </a:rPr>
              <a:t>C</a:t>
            </a:r>
            <a:r>
              <a:rPr lang="en-US" altLang="zh-CN" sz="2200" b="1" dirty="0">
                <a:ea typeface="华文行楷" panose="02010800040101010101" pitchFamily="2" charset="-122"/>
                <a:sym typeface="Wingdings" panose="05000000000000000000" pitchFamily="2" charset="2"/>
              </a:rPr>
              <a:t>**</a:t>
            </a:r>
          </a:p>
          <a:p>
            <a:pPr eaLnBrk="1" hangingPunct="1">
              <a:spcBef>
                <a:spcPct val="0"/>
              </a:spcBef>
              <a:buFontTx/>
              <a:buNone/>
              <a:defRPr/>
            </a:pPr>
            <a:r>
              <a:rPr lang="en-US" altLang="zh-CN" sz="2200" dirty="0" err="1">
                <a:ea typeface="华文行楷" panose="02010800040101010101" pitchFamily="2" charset="-122"/>
              </a:rPr>
              <a:t>D</a:t>
            </a:r>
            <a:r>
              <a:rPr lang="en-US" altLang="zh-CN" sz="2200" b="1" dirty="0" err="1">
                <a:ea typeface="华文行楷" panose="02010800040101010101" pitchFamily="2" charset="-122"/>
                <a:sym typeface="Wingdings" panose="05000000000000000000" pitchFamily="2" charset="2"/>
              </a:rPr>
              <a:t></a:t>
            </a:r>
            <a:r>
              <a:rPr lang="en-US" altLang="zh-CN" sz="2200" b="1" dirty="0" err="1">
                <a:ea typeface="华文行楷" panose="02010800040101010101" pitchFamily="2" charset="-122"/>
              </a:rPr>
              <a:t>ε</a:t>
            </a:r>
            <a:endParaRPr lang="en-US" altLang="zh-CN" sz="2200" b="1" dirty="0">
              <a:ea typeface="华文行楷" panose="02010800040101010101" pitchFamily="2" charset="-122"/>
            </a:endParaRPr>
          </a:p>
        </p:txBody>
      </p:sp>
      <p:sp>
        <p:nvSpPr>
          <p:cNvPr id="6" name="Text Box 4"/>
          <p:cNvSpPr txBox="1">
            <a:spLocks noChangeArrowheads="1"/>
          </p:cNvSpPr>
          <p:nvPr/>
        </p:nvSpPr>
        <p:spPr bwMode="auto">
          <a:xfrm>
            <a:off x="4325938" y="1576388"/>
            <a:ext cx="2432050" cy="1107996"/>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lvl="1" indent="0" eaLnBrk="1" hangingPunct="1">
              <a:spcBef>
                <a:spcPct val="0"/>
              </a:spcBef>
              <a:buFontTx/>
              <a:buNone/>
              <a:defRPr/>
            </a:pPr>
            <a:r>
              <a:rPr lang="en-US" altLang="zh-CN" sz="2200" dirty="0">
                <a:solidFill>
                  <a:schemeClr val="accent2"/>
                </a:solidFill>
              </a:rPr>
              <a:t>First(</a:t>
            </a:r>
            <a:r>
              <a:rPr lang="en-US" altLang="zh-CN" sz="2200" dirty="0"/>
              <a:t>A</a:t>
            </a:r>
            <a:r>
              <a:rPr lang="en-US" altLang="zh-CN" sz="2200" baseline="-25000" dirty="0"/>
              <a:t>1</a:t>
            </a:r>
            <a:r>
              <a:rPr lang="en-US" altLang="zh-CN" sz="2200" dirty="0">
                <a:solidFill>
                  <a:schemeClr val="accent2"/>
                </a:solidFill>
              </a:rPr>
              <a:t>) = {*}</a:t>
            </a:r>
          </a:p>
          <a:p>
            <a:pPr marL="0" lvl="1" indent="0" eaLnBrk="1" hangingPunct="1">
              <a:spcBef>
                <a:spcPct val="0"/>
              </a:spcBef>
              <a:buFontTx/>
              <a:buNone/>
              <a:defRPr/>
            </a:pPr>
            <a:r>
              <a:rPr lang="en-US" altLang="zh-CN" sz="2200" dirty="0">
                <a:solidFill>
                  <a:schemeClr val="accent2"/>
                </a:solidFill>
              </a:rPr>
              <a:t>First(</a:t>
            </a:r>
            <a:r>
              <a:rPr lang="en-US" altLang="zh-CN" sz="2200" dirty="0"/>
              <a:t>A</a:t>
            </a:r>
            <a:r>
              <a:rPr lang="en-US" altLang="zh-CN" sz="2200" baseline="-25000" dirty="0"/>
              <a:t>2</a:t>
            </a:r>
            <a:r>
              <a:rPr lang="en-US" altLang="zh-CN" sz="2200" dirty="0">
                <a:solidFill>
                  <a:schemeClr val="accent2"/>
                </a:solidFill>
              </a:rPr>
              <a:t>) = {*}</a:t>
            </a:r>
          </a:p>
          <a:p>
            <a:pPr marL="0" lvl="1" indent="0" eaLnBrk="1" hangingPunct="1">
              <a:spcBef>
                <a:spcPct val="0"/>
              </a:spcBef>
              <a:buFontTx/>
              <a:buNone/>
              <a:defRPr/>
            </a:pPr>
            <a:r>
              <a:rPr lang="en-US" altLang="zh-CN" sz="2200" dirty="0">
                <a:solidFill>
                  <a:schemeClr val="accent2"/>
                </a:solidFill>
              </a:rPr>
              <a:t>First(</a:t>
            </a:r>
            <a:r>
              <a:rPr lang="en-US" altLang="zh-CN" sz="2200" dirty="0"/>
              <a:t>A</a:t>
            </a:r>
            <a:r>
              <a:rPr lang="en-US" altLang="zh-CN" sz="2200" baseline="-25000" dirty="0"/>
              <a:t>3</a:t>
            </a:r>
            <a:r>
              <a:rPr lang="en-US" altLang="zh-CN" sz="2200" dirty="0">
                <a:solidFill>
                  <a:schemeClr val="accent2"/>
                </a:solidFill>
              </a:rPr>
              <a:t>) = {*}</a:t>
            </a:r>
          </a:p>
        </p:txBody>
      </p:sp>
      <p:sp>
        <p:nvSpPr>
          <p:cNvPr id="7" name="Rectangle 2"/>
          <p:cNvSpPr>
            <a:spLocks noChangeArrowheads="1"/>
          </p:cNvSpPr>
          <p:nvPr/>
        </p:nvSpPr>
        <p:spPr bwMode="auto">
          <a:xfrm>
            <a:off x="401638" y="2613025"/>
            <a:ext cx="2689225" cy="769441"/>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lvl="1" indent="0" eaLnBrk="1" hangingPunct="1">
              <a:spcBef>
                <a:spcPct val="0"/>
              </a:spcBef>
              <a:buFontTx/>
              <a:buNone/>
              <a:defRPr/>
            </a:pPr>
            <a:r>
              <a:rPr lang="en-US" altLang="zh-CN" sz="2200" dirty="0">
                <a:solidFill>
                  <a:schemeClr val="accent2"/>
                </a:solidFill>
              </a:rPr>
              <a:t>First(</a:t>
            </a:r>
            <a:r>
              <a:rPr lang="en-US" altLang="zh-CN" sz="2200" dirty="0"/>
              <a:t>A</a:t>
            </a:r>
            <a:r>
              <a:rPr lang="en-US" altLang="zh-CN" sz="2200" baseline="-25000" dirty="0"/>
              <a:t>1</a:t>
            </a:r>
            <a:r>
              <a:rPr lang="en-US" altLang="zh-CN" sz="2200" dirty="0">
                <a:solidFill>
                  <a:schemeClr val="accent2"/>
                </a:solidFill>
              </a:rPr>
              <a:t>) = {*}</a:t>
            </a:r>
          </a:p>
          <a:p>
            <a:pPr marL="0" lvl="1" indent="0" eaLnBrk="1" hangingPunct="1">
              <a:spcBef>
                <a:spcPct val="0"/>
              </a:spcBef>
              <a:buFontTx/>
              <a:buNone/>
              <a:defRPr/>
            </a:pPr>
            <a:r>
              <a:rPr lang="en-US" altLang="zh-CN" sz="2200" dirty="0">
                <a:solidFill>
                  <a:schemeClr val="accent2"/>
                </a:solidFill>
              </a:rPr>
              <a:t>First(</a:t>
            </a:r>
            <a:r>
              <a:rPr lang="en-US" altLang="zh-CN" sz="2200" dirty="0"/>
              <a:t>A</a:t>
            </a:r>
            <a:r>
              <a:rPr lang="en-US" altLang="zh-CN" sz="2200" baseline="-25000" dirty="0"/>
              <a:t>2</a:t>
            </a:r>
            <a:r>
              <a:rPr lang="en-US" altLang="zh-CN" sz="2200" dirty="0">
                <a:solidFill>
                  <a:schemeClr val="accent2"/>
                </a:solidFill>
              </a:rPr>
              <a:t>) = {*}</a:t>
            </a:r>
          </a:p>
        </p:txBody>
      </p:sp>
      <p:sp>
        <p:nvSpPr>
          <p:cNvPr id="2" name="矩形 1"/>
          <p:cNvSpPr/>
          <p:nvPr/>
        </p:nvSpPr>
        <p:spPr>
          <a:xfrm>
            <a:off x="4365854" y="2387084"/>
            <a:ext cx="412292" cy="369332"/>
          </a:xfrm>
          <a:prstGeom prst="rect">
            <a:avLst/>
          </a:prstGeom>
        </p:spPr>
        <p:txBody>
          <a:bodyPr wrap="none">
            <a:spAutoFit/>
          </a:bodyPr>
          <a:lstStyle/>
          <a:p>
            <a:r>
              <a:rPr lang="en-US" altLang="zh-CN" dirty="0">
                <a:solidFill>
                  <a:srgbClr val="000000"/>
                </a:solidFill>
                <a:ea typeface="华文行楷" pitchFamily="2" charset="-122"/>
                <a:sym typeface="Symbol" pitchFamily="18" charset="2"/>
              </a:rPr>
              <a:t></a:t>
            </a:r>
            <a:endParaRPr lang="zh-CN" altLang="en-US" dirty="0"/>
          </a:p>
        </p:txBody>
      </p:sp>
    </p:spTree>
    <p:extLst>
      <p:ext uri="{BB962C8B-B14F-4D97-AF65-F5344CB8AC3E}">
        <p14:creationId xmlns:p14="http://schemas.microsoft.com/office/powerpoint/2010/main" val="2031421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39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508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nimBg="1"/>
      <p:bldP spid="250884" grpId="0" animBg="1" autoUpdateAnimBg="0"/>
      <p:bldP spid="5" grpId="0" animBg="1"/>
      <p:bldP spid="6" grpId="0" animBg="1"/>
      <p:bldP spid="7"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ChangeArrowheads="1"/>
          </p:cNvSpPr>
          <p:nvPr>
            <p:ph type="body" sz="half" idx="1"/>
          </p:nvPr>
        </p:nvSpPr>
        <p:spPr>
          <a:xfrm>
            <a:off x="590550" y="1042988"/>
            <a:ext cx="7870825" cy="3086100"/>
          </a:xfrm>
        </p:spPr>
        <p:txBody>
          <a:bodyPr>
            <a:normAutofit/>
          </a:bodyPr>
          <a:lstStyle/>
          <a:p>
            <a:pPr eaLnBrk="1" hangingPunct="1">
              <a:spcBef>
                <a:spcPct val="0"/>
              </a:spcBef>
              <a:defRPr/>
            </a:pPr>
            <a:r>
              <a:rPr lang="zh-CN" altLang="en-US" sz="2400" dirty="0"/>
              <a:t>因此，</a:t>
            </a:r>
            <a:r>
              <a:rPr lang="zh-CN" altLang="en-US" sz="2400" b="1" dirty="0">
                <a:solidFill>
                  <a:srgbClr val="008080"/>
                </a:solidFill>
              </a:rPr>
              <a:t>不产生回溯的条件</a:t>
            </a:r>
            <a:r>
              <a:rPr lang="zh-CN" altLang="en-US" sz="2400" dirty="0"/>
              <a:t>就是：</a:t>
            </a:r>
          </a:p>
          <a:p>
            <a:pPr lvl="1" eaLnBrk="1" hangingPunct="1">
              <a:spcBef>
                <a:spcPct val="0"/>
              </a:spcBef>
              <a:buFontTx/>
              <a:buNone/>
              <a:defRPr/>
            </a:pPr>
            <a:r>
              <a:rPr lang="zh-CN" altLang="en-US" sz="2000" dirty="0"/>
              <a:t>对非终结符</a:t>
            </a:r>
            <a:r>
              <a:rPr lang="en-US" altLang="zh-CN" sz="2000" dirty="0"/>
              <a:t>A</a:t>
            </a:r>
            <a:r>
              <a:rPr lang="zh-CN" altLang="en-US" sz="2000" dirty="0"/>
              <a:t>的任意两个不同的侯选式</a:t>
            </a:r>
            <a:r>
              <a:rPr lang="en-US" altLang="zh-CN" sz="2000" dirty="0" err="1"/>
              <a:t>a</a:t>
            </a:r>
            <a:r>
              <a:rPr lang="en-US" altLang="zh-CN" sz="2000" baseline="-25000" dirty="0" err="1"/>
              <a:t>i</a:t>
            </a:r>
            <a:r>
              <a:rPr lang="en-US" altLang="zh-CN" sz="2000" dirty="0"/>
              <a:t> </a:t>
            </a:r>
            <a:r>
              <a:rPr lang="zh-CN" altLang="en-US" sz="2000" dirty="0"/>
              <a:t>和</a:t>
            </a:r>
            <a:r>
              <a:rPr lang="en-US" altLang="zh-CN" sz="2000" dirty="0" err="1"/>
              <a:t>a</a:t>
            </a:r>
            <a:r>
              <a:rPr lang="en-US" altLang="zh-CN" sz="2000" baseline="-25000" dirty="0" err="1"/>
              <a:t>j</a:t>
            </a:r>
            <a:r>
              <a:rPr lang="en-US" altLang="zh-CN" sz="2000" dirty="0"/>
              <a:t> </a:t>
            </a:r>
            <a:r>
              <a:rPr lang="zh-CN" altLang="en-US" sz="2000" dirty="0"/>
              <a:t>，都有：</a:t>
            </a:r>
          </a:p>
          <a:p>
            <a:pPr lvl="1" eaLnBrk="1" hangingPunct="1">
              <a:spcBef>
                <a:spcPct val="0"/>
              </a:spcBef>
              <a:buFontTx/>
              <a:buNone/>
              <a:defRPr/>
            </a:pPr>
            <a:r>
              <a:rPr lang="zh-CN" altLang="en-US" sz="2000" dirty="0"/>
              <a:t>		</a:t>
            </a:r>
            <a:r>
              <a:rPr lang="en-US" altLang="zh-CN" sz="2000" dirty="0">
                <a:latin typeface="宋体" pitchFamily="2" charset="-122"/>
              </a:rPr>
              <a:t>First(</a:t>
            </a:r>
            <a:r>
              <a:rPr lang="en-US" altLang="zh-CN" sz="2000" dirty="0" err="1">
                <a:latin typeface="宋体" pitchFamily="2" charset="-122"/>
              </a:rPr>
              <a:t>a</a:t>
            </a:r>
            <a:r>
              <a:rPr lang="en-US" altLang="zh-CN" sz="2000" baseline="-25000" dirty="0" err="1">
                <a:latin typeface="宋体" pitchFamily="2" charset="-122"/>
              </a:rPr>
              <a:t>i</a:t>
            </a:r>
            <a:r>
              <a:rPr lang="en-US" altLang="zh-CN" sz="2000" dirty="0">
                <a:latin typeface="宋体" pitchFamily="2" charset="-122"/>
              </a:rPr>
              <a:t>)</a:t>
            </a:r>
            <a:r>
              <a:rPr lang="en-US" altLang="zh-CN" sz="2000" b="1" dirty="0">
                <a:effectLst>
                  <a:outerShdw blurRad="38100" dist="38100" dir="2700000" algn="tl">
                    <a:srgbClr val="C0C0C0"/>
                  </a:outerShdw>
                </a:effectLst>
                <a:latin typeface="宋体" pitchFamily="2" charset="-122"/>
              </a:rPr>
              <a:t>∩ First(</a:t>
            </a:r>
            <a:r>
              <a:rPr lang="en-US" altLang="zh-CN" sz="2000" dirty="0" err="1">
                <a:latin typeface="宋体" pitchFamily="2" charset="-122"/>
              </a:rPr>
              <a:t>a</a:t>
            </a:r>
            <a:r>
              <a:rPr lang="en-US" altLang="zh-CN" sz="2000" baseline="-25000" dirty="0" err="1">
                <a:latin typeface="宋体" pitchFamily="2" charset="-122"/>
              </a:rPr>
              <a:t>j</a:t>
            </a:r>
            <a:r>
              <a:rPr lang="en-US" altLang="zh-CN" sz="2000" dirty="0">
                <a:latin typeface="宋体" pitchFamily="2" charset="-122"/>
              </a:rPr>
              <a:t>) = </a:t>
            </a:r>
            <a:r>
              <a:rPr lang="en-US" altLang="zh-CN" sz="2000" b="1" dirty="0">
                <a:effectLst>
                  <a:outerShdw blurRad="38100" dist="38100" dir="2700000" algn="tl">
                    <a:srgbClr val="C0C0C0"/>
                  </a:outerShdw>
                </a:effectLst>
                <a:latin typeface="宋体" pitchFamily="2" charset="-122"/>
              </a:rPr>
              <a:t>φ</a:t>
            </a:r>
          </a:p>
          <a:p>
            <a:pPr lvl="1" eaLnBrk="1" hangingPunct="1">
              <a:spcBef>
                <a:spcPct val="0"/>
              </a:spcBef>
              <a:buFontTx/>
              <a:buNone/>
              <a:defRPr/>
            </a:pPr>
            <a:endParaRPr lang="en-US" altLang="zh-CN" sz="2000" b="1" dirty="0">
              <a:effectLst>
                <a:outerShdw blurRad="38100" dist="38100" dir="2700000" algn="tl">
                  <a:srgbClr val="C0C0C0"/>
                </a:outerShdw>
              </a:effectLst>
              <a:latin typeface="宋体" pitchFamily="2" charset="-122"/>
            </a:endParaRPr>
          </a:p>
          <a:p>
            <a:pPr lvl="1" eaLnBrk="1" hangingPunct="1">
              <a:spcBef>
                <a:spcPct val="0"/>
              </a:spcBef>
              <a:buFontTx/>
              <a:buNone/>
              <a:defRPr/>
            </a:pPr>
            <a:endParaRPr lang="en-US" altLang="zh-CN" sz="2000" b="1" dirty="0">
              <a:effectLst>
                <a:outerShdw blurRad="38100" dist="38100" dir="2700000" algn="tl">
                  <a:srgbClr val="C0C0C0"/>
                </a:outerShdw>
              </a:effectLst>
              <a:latin typeface="宋体" pitchFamily="2" charset="-122"/>
            </a:endParaRPr>
          </a:p>
          <a:p>
            <a:pPr eaLnBrk="1" hangingPunct="1">
              <a:spcBef>
                <a:spcPct val="0"/>
              </a:spcBef>
              <a:defRPr/>
            </a:pPr>
            <a:r>
              <a:rPr lang="zh-CN" altLang="en-US" sz="2400" dirty="0">
                <a:latin typeface="宋体" pitchFamily="2" charset="-122"/>
              </a:rPr>
              <a:t>当要求用</a:t>
            </a:r>
            <a:r>
              <a:rPr lang="en-US" altLang="zh-CN" sz="2400" dirty="0">
                <a:latin typeface="宋体" pitchFamily="2" charset="-122"/>
              </a:rPr>
              <a:t>A</a:t>
            </a:r>
            <a:r>
              <a:rPr lang="zh-CN" altLang="en-US" sz="2400" dirty="0">
                <a:latin typeface="宋体" pitchFamily="2" charset="-122"/>
              </a:rPr>
              <a:t>进行匹配时，就能根据当前所面临的输入符号，准确地选取一个</a:t>
            </a:r>
            <a:r>
              <a:rPr lang="en-US" altLang="zh-CN" sz="2400" dirty="0">
                <a:latin typeface="宋体" pitchFamily="2" charset="-122"/>
              </a:rPr>
              <a:t>A</a:t>
            </a:r>
            <a:r>
              <a:rPr lang="zh-CN" altLang="en-US" sz="2400" dirty="0">
                <a:latin typeface="宋体" pitchFamily="2" charset="-122"/>
              </a:rPr>
              <a:t>的侯选式。</a:t>
            </a:r>
            <a:endParaRPr lang="zh-CN" altLang="en-US" sz="2400" dirty="0"/>
          </a:p>
        </p:txBody>
      </p:sp>
    </p:spTree>
    <p:extLst>
      <p:ext uri="{BB962C8B-B14F-4D97-AF65-F5344CB8AC3E}">
        <p14:creationId xmlns:p14="http://schemas.microsoft.com/office/powerpoint/2010/main" val="3660092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52930">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52930">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52930">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2930">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2930" grpId="0" uiExpand="1" build="p"/>
    </p:bld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2466" name="Rectangle 2"/>
          <p:cNvSpPr>
            <a:spLocks noGrp="1" noChangeArrowheads="1"/>
          </p:cNvSpPr>
          <p:nvPr>
            <p:ph type="title"/>
          </p:nvPr>
        </p:nvSpPr>
        <p:spPr>
          <a:xfrm>
            <a:off x="209550" y="129629"/>
            <a:ext cx="8391525" cy="569913"/>
          </a:xfrm>
        </p:spPr>
        <p:txBody>
          <a:bodyPr>
            <a:normAutofit/>
          </a:bodyPr>
          <a:lstStyle/>
          <a:p>
            <a:pPr algn="l" eaLnBrk="1" hangingPunct="1"/>
            <a:r>
              <a:rPr lang="zh-CN" altLang="zh-CN" sz="2800" dirty="0"/>
              <a:t>文法符号</a:t>
            </a:r>
            <a:r>
              <a:rPr lang="en-US" altLang="zh-CN" sz="2800" dirty="0"/>
              <a:t>A</a:t>
            </a:r>
            <a:r>
              <a:rPr lang="zh-CN" altLang="zh-CN" sz="2800" dirty="0"/>
              <a:t>的</a:t>
            </a:r>
            <a:r>
              <a:rPr lang="zh-CN" altLang="en-US" sz="2800" dirty="0"/>
              <a:t>首终结符</a:t>
            </a:r>
            <a:r>
              <a:rPr lang="zh-CN" altLang="zh-CN" sz="2800" dirty="0"/>
              <a:t>集</a:t>
            </a:r>
            <a:r>
              <a:rPr lang="en-US" altLang="zh-CN" sz="2800" b="1" i="1" dirty="0">
                <a:solidFill>
                  <a:srgbClr val="008000"/>
                </a:solidFill>
              </a:rPr>
              <a:t>First(A)</a:t>
            </a:r>
            <a:endParaRPr lang="zh-CN" altLang="en-US" sz="2800" b="1" i="1" dirty="0">
              <a:solidFill>
                <a:srgbClr val="008000"/>
              </a:solidFill>
            </a:endParaRPr>
          </a:p>
        </p:txBody>
      </p:sp>
      <p:sp>
        <p:nvSpPr>
          <p:cNvPr id="279555" name="Rectangle 3"/>
          <p:cNvSpPr>
            <a:spLocks noGrp="1" noChangeArrowheads="1"/>
          </p:cNvSpPr>
          <p:nvPr>
            <p:ph type="body" idx="1"/>
          </p:nvPr>
        </p:nvSpPr>
        <p:spPr>
          <a:xfrm>
            <a:off x="580206" y="2265363"/>
            <a:ext cx="7976419" cy="838200"/>
          </a:xfrm>
        </p:spPr>
        <p:txBody>
          <a:bodyPr/>
          <a:lstStyle/>
          <a:p>
            <a:pPr eaLnBrk="1" hangingPunct="1">
              <a:buFontTx/>
              <a:buNone/>
            </a:pPr>
            <a:r>
              <a:rPr lang="zh-CN" altLang="en-US" sz="2400" dirty="0">
                <a:solidFill>
                  <a:srgbClr val="0066FF"/>
                </a:solidFill>
                <a:ea typeface="华文行楷" pitchFamily="2" charset="-122"/>
              </a:rPr>
              <a:t>由该文法推导出的所有符号串中的第一个终结符构成的集合。</a:t>
            </a:r>
          </a:p>
        </p:txBody>
      </p:sp>
      <p:grpSp>
        <p:nvGrpSpPr>
          <p:cNvPr id="2" name="Group 4"/>
          <p:cNvGrpSpPr>
            <a:grpSpLocks/>
          </p:cNvGrpSpPr>
          <p:nvPr/>
        </p:nvGrpSpPr>
        <p:grpSpPr bwMode="auto">
          <a:xfrm>
            <a:off x="580206" y="892188"/>
            <a:ext cx="8389938" cy="1247514"/>
            <a:chOff x="324" y="796"/>
            <a:chExt cx="5285" cy="1048"/>
          </a:xfrm>
        </p:grpSpPr>
        <p:sp>
          <p:nvSpPr>
            <p:cNvPr id="62471" name="Rectangle 5"/>
            <p:cNvSpPr>
              <a:spLocks noChangeArrowheads="1"/>
            </p:cNvSpPr>
            <p:nvPr/>
          </p:nvSpPr>
          <p:spPr bwMode="auto">
            <a:xfrm>
              <a:off x="324" y="796"/>
              <a:ext cx="5285" cy="1008"/>
            </a:xfrm>
            <a:prstGeom prst="rect">
              <a:avLst/>
            </a:prstGeom>
            <a:solidFill>
              <a:schemeClr val="bg1"/>
            </a:solidFill>
            <a:ln w="28575">
              <a:solidFill>
                <a:schemeClr val="accent2"/>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400" dirty="0"/>
                <a:t>对不含左递归的文法</a:t>
              </a:r>
              <a:r>
                <a:rPr lang="en-US" altLang="zh-CN" sz="2400" dirty="0"/>
                <a:t>G</a:t>
              </a:r>
              <a:r>
                <a:rPr lang="zh-CN" altLang="en-US" sz="2400" dirty="0"/>
                <a:t>，对</a:t>
              </a:r>
              <a:r>
                <a:rPr lang="zh-CN" altLang="en-US" sz="2400" b="1" dirty="0">
                  <a:solidFill>
                    <a:srgbClr val="FF0000"/>
                  </a:solidFill>
                </a:rPr>
                <a:t>某文法符号</a:t>
              </a:r>
              <a:r>
                <a:rPr lang="en-US" altLang="zh-CN" sz="2400" dirty="0"/>
                <a:t>A</a:t>
              </a:r>
              <a:r>
                <a:rPr lang="zh-CN" altLang="en-US" sz="2400" dirty="0"/>
                <a:t>：</a:t>
              </a:r>
            </a:p>
            <a:p>
              <a:pPr lvl="1" eaLnBrk="1" hangingPunct="1">
                <a:spcBef>
                  <a:spcPts val="0"/>
                </a:spcBef>
                <a:buFontTx/>
                <a:buNone/>
              </a:pPr>
              <a:r>
                <a:rPr lang="zh-CN" altLang="en-US" sz="2400" dirty="0">
                  <a:solidFill>
                    <a:schemeClr val="accent2"/>
                  </a:solidFill>
                </a:rPr>
                <a:t>             </a:t>
              </a:r>
              <a:r>
                <a:rPr lang="en-US" altLang="zh-CN" sz="2400" dirty="0"/>
                <a:t>First(</a:t>
              </a:r>
              <a:r>
                <a:rPr lang="en-US" altLang="zh-CN" sz="2400" dirty="0">
                  <a:latin typeface="宋体" pitchFamily="2" charset="-122"/>
                </a:rPr>
                <a:t>A</a:t>
              </a:r>
              <a:r>
                <a:rPr lang="en-US" altLang="zh-CN" sz="2400" dirty="0"/>
                <a:t>) = {</a:t>
              </a:r>
              <a:r>
                <a:rPr lang="en-US" altLang="zh-CN" sz="2400" dirty="0">
                  <a:latin typeface="宋体" pitchFamily="2" charset="-122"/>
                </a:rPr>
                <a:t>a| A    a…,</a:t>
              </a:r>
              <a:r>
                <a:rPr lang="en-US" altLang="zh-CN" sz="2400" dirty="0" err="1">
                  <a:latin typeface="宋体" pitchFamily="2" charset="-122"/>
                </a:rPr>
                <a:t>a</a:t>
              </a:r>
              <a:r>
                <a:rPr lang="en-US" altLang="zh-CN" sz="2400" b="1" dirty="0" err="1">
                  <a:latin typeface="宋体" pitchFamily="2" charset="-122"/>
                </a:rPr>
                <a:t>∈</a:t>
              </a:r>
              <a:r>
                <a:rPr lang="en-US" altLang="zh-CN" sz="2400" dirty="0" err="1">
                  <a:latin typeface="宋体" pitchFamily="2" charset="-122"/>
                </a:rPr>
                <a:t>V</a:t>
              </a:r>
              <a:r>
                <a:rPr lang="en-US" altLang="zh-CN" sz="2400" baseline="-25000" dirty="0" err="1">
                  <a:latin typeface="宋体" pitchFamily="2" charset="-122"/>
                </a:rPr>
                <a:t>T</a:t>
              </a:r>
              <a:r>
                <a:rPr lang="en-US" altLang="zh-CN" sz="2400" dirty="0"/>
                <a:t>}</a:t>
              </a:r>
            </a:p>
            <a:p>
              <a:pPr lvl="1" eaLnBrk="1" hangingPunct="1">
                <a:spcBef>
                  <a:spcPts val="0"/>
                </a:spcBef>
                <a:buFontTx/>
                <a:buNone/>
              </a:pPr>
              <a:r>
                <a:rPr lang="en-US" altLang="zh-CN" sz="2400" dirty="0">
                  <a:latin typeface="宋体" pitchFamily="2" charset="-122"/>
                </a:rPr>
                <a:t>       </a:t>
              </a:r>
              <a:r>
                <a:rPr lang="zh-CN" altLang="en-US" sz="2400" dirty="0">
                  <a:latin typeface="宋体" pitchFamily="2" charset="-122"/>
                </a:rPr>
                <a:t>若</a:t>
              </a:r>
              <a:r>
                <a:rPr lang="en-US" altLang="zh-CN" sz="2400" dirty="0">
                  <a:latin typeface="宋体" pitchFamily="2" charset="-122"/>
                </a:rPr>
                <a:t>A  </a:t>
              </a:r>
              <a:r>
                <a:rPr lang="en-US" altLang="zh-CN" sz="2400" b="1" dirty="0">
                  <a:latin typeface="宋体" pitchFamily="2" charset="-122"/>
                </a:rPr>
                <a:t>ε</a:t>
              </a:r>
              <a:r>
                <a:rPr lang="en-US" altLang="zh-CN" sz="2400" dirty="0"/>
                <a:t> </a:t>
              </a:r>
              <a:r>
                <a:rPr lang="zh-CN" altLang="en-US" sz="2400" dirty="0"/>
                <a:t>，则</a:t>
              </a:r>
              <a:r>
                <a:rPr lang="en-US" altLang="zh-CN" sz="2400" b="1" dirty="0">
                  <a:latin typeface="宋体" pitchFamily="2" charset="-122"/>
                </a:rPr>
                <a:t>ε∈</a:t>
              </a:r>
              <a:r>
                <a:rPr lang="en-US" altLang="zh-CN" sz="2400" dirty="0"/>
                <a:t> First(</a:t>
              </a:r>
              <a:r>
                <a:rPr lang="en-US" altLang="zh-CN" sz="2400" dirty="0">
                  <a:latin typeface="宋体" pitchFamily="2" charset="-122"/>
                </a:rPr>
                <a:t>A</a:t>
              </a:r>
              <a:r>
                <a:rPr lang="en-US" altLang="zh-CN" sz="2400" dirty="0"/>
                <a:t>)</a:t>
              </a:r>
            </a:p>
          </p:txBody>
        </p:sp>
        <p:grpSp>
          <p:nvGrpSpPr>
            <p:cNvPr id="62472" name="Group 6"/>
            <p:cNvGrpSpPr>
              <a:grpSpLocks/>
            </p:cNvGrpSpPr>
            <p:nvPr/>
          </p:nvGrpSpPr>
          <p:grpSpPr bwMode="auto">
            <a:xfrm>
              <a:off x="2553" y="1067"/>
              <a:ext cx="406" cy="475"/>
              <a:chOff x="1545" y="863"/>
              <a:chExt cx="406" cy="475"/>
            </a:xfrm>
          </p:grpSpPr>
          <p:sp>
            <p:nvSpPr>
              <p:cNvPr id="279559" name="Rectangle 7"/>
              <p:cNvSpPr>
                <a:spLocks noChangeArrowheads="1"/>
              </p:cNvSpPr>
              <p:nvPr/>
            </p:nvSpPr>
            <p:spPr bwMode="auto">
              <a:xfrm>
                <a:off x="1545" y="976"/>
                <a:ext cx="406" cy="362"/>
              </a:xfrm>
              <a:prstGeom prst="rect">
                <a:avLst/>
              </a:prstGeom>
              <a:noFill/>
              <a:ln w="9525" algn="ctr">
                <a:noFill/>
                <a:miter lim="800000"/>
                <a:headEnd/>
                <a:tailEnd/>
              </a:ln>
              <a:effectLst/>
            </p:spPr>
            <p:txBody>
              <a:bodyPr>
                <a:spAutoFit/>
              </a:bodyPr>
              <a:lstStyle/>
              <a:p>
                <a:pPr>
                  <a:defRPr/>
                </a:pPr>
                <a:r>
                  <a:rPr lang="en-US" altLang="zh-CN" sz="2200" b="1" dirty="0">
                    <a:effectLst>
                      <a:outerShdw blurRad="38100" dist="38100" dir="2700000" algn="tl">
                        <a:srgbClr val="C0C0C0"/>
                      </a:outerShdw>
                    </a:effectLst>
                    <a:sym typeface="Symbol" pitchFamily="18" charset="2"/>
                  </a:rPr>
                  <a:t></a:t>
                </a:r>
                <a:endParaRPr lang="en-US" altLang="zh-CN" sz="2200" b="1" dirty="0">
                  <a:effectLst>
                    <a:outerShdw blurRad="38100" dist="38100" dir="2700000" algn="tl">
                      <a:srgbClr val="C0C0C0"/>
                    </a:outerShdw>
                  </a:effectLst>
                </a:endParaRPr>
              </a:p>
            </p:txBody>
          </p:sp>
          <p:sp>
            <p:nvSpPr>
              <p:cNvPr id="279560" name="Rectangle 8"/>
              <p:cNvSpPr>
                <a:spLocks noChangeArrowheads="1"/>
              </p:cNvSpPr>
              <p:nvPr/>
            </p:nvSpPr>
            <p:spPr bwMode="auto">
              <a:xfrm>
                <a:off x="1573" y="863"/>
                <a:ext cx="363" cy="362"/>
              </a:xfrm>
              <a:prstGeom prst="rect">
                <a:avLst/>
              </a:prstGeom>
              <a:noFill/>
              <a:ln w="9525" algn="ctr">
                <a:noFill/>
                <a:miter lim="800000"/>
                <a:headEnd/>
                <a:tailEnd/>
              </a:ln>
              <a:effectLst/>
            </p:spPr>
            <p:txBody>
              <a:bodyPr>
                <a:spAutoFit/>
              </a:bodyPr>
              <a:lstStyle>
                <a:lvl1pPr eaLnBrk="0" hangingPunct="0">
                  <a:defRPr kumimoji="1" sz="2800">
                    <a:solidFill>
                      <a:schemeClr val="tx1"/>
                    </a:solidFill>
                    <a:latin typeface="Times New Roman" pitchFamily="18" charset="0"/>
                    <a:ea typeface="华文行楷" pitchFamily="2" charset="-122"/>
                  </a:defRPr>
                </a:lvl1pPr>
                <a:lvl2pPr marL="742950" indent="-285750" eaLnBrk="0" hangingPunct="0">
                  <a:defRPr kumimoji="1" sz="2800">
                    <a:solidFill>
                      <a:schemeClr val="tx1"/>
                    </a:solidFill>
                    <a:latin typeface="Times New Roman" pitchFamily="18" charset="0"/>
                    <a:ea typeface="华文行楷" pitchFamily="2" charset="-122"/>
                  </a:defRPr>
                </a:lvl2pPr>
                <a:lvl3pPr marL="1143000" indent="-228600" eaLnBrk="0" hangingPunct="0">
                  <a:defRPr kumimoji="1" sz="2800">
                    <a:solidFill>
                      <a:schemeClr val="tx1"/>
                    </a:solidFill>
                    <a:latin typeface="Times New Roman" pitchFamily="18" charset="0"/>
                    <a:ea typeface="华文行楷" pitchFamily="2" charset="-122"/>
                  </a:defRPr>
                </a:lvl3pPr>
                <a:lvl4pPr marL="1600200" indent="-228600" eaLnBrk="0" hangingPunct="0">
                  <a:defRPr kumimoji="1" sz="2800">
                    <a:solidFill>
                      <a:schemeClr val="tx1"/>
                    </a:solidFill>
                    <a:latin typeface="Times New Roman" pitchFamily="18" charset="0"/>
                    <a:ea typeface="华文行楷" pitchFamily="2" charset="-122"/>
                  </a:defRPr>
                </a:lvl4pPr>
                <a:lvl5pPr marL="2057400" indent="-228600" eaLnBrk="0" hangingPunct="0">
                  <a:defRPr kumimoji="1" sz="2800">
                    <a:solidFill>
                      <a:schemeClr val="tx1"/>
                    </a:solidFill>
                    <a:latin typeface="Times New Roman" pitchFamily="18" charset="0"/>
                    <a:ea typeface="华文行楷" pitchFamily="2" charset="-122"/>
                  </a:defRPr>
                </a:lvl5pPr>
                <a:lvl6pPr marL="25146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6pPr>
                <a:lvl7pPr marL="29718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7pPr>
                <a:lvl8pPr marL="34290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8pPr>
                <a:lvl9pPr marL="38862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9pPr>
              </a:lstStyle>
              <a:p>
                <a:pPr eaLnBrk="1" hangingPunct="1">
                  <a:defRPr/>
                </a:pPr>
                <a:r>
                  <a:rPr lang="en-US" altLang="zh-CN" sz="2200" b="1" dirty="0">
                    <a:effectLst>
                      <a:outerShdw blurRad="38100" dist="38100" dir="2700000" algn="tl">
                        <a:srgbClr val="C0C0C0"/>
                      </a:outerShdw>
                    </a:effectLst>
                  </a:rPr>
                  <a:t>*</a:t>
                </a:r>
              </a:p>
            </p:txBody>
          </p:sp>
        </p:grpSp>
        <p:grpSp>
          <p:nvGrpSpPr>
            <p:cNvPr id="62473" name="Group 9"/>
            <p:cNvGrpSpPr>
              <a:grpSpLocks/>
            </p:cNvGrpSpPr>
            <p:nvPr/>
          </p:nvGrpSpPr>
          <p:grpSpPr bwMode="auto">
            <a:xfrm>
              <a:off x="1599" y="1361"/>
              <a:ext cx="408" cy="483"/>
              <a:chOff x="195" y="1085"/>
              <a:chExt cx="408" cy="483"/>
            </a:xfrm>
          </p:grpSpPr>
          <p:sp>
            <p:nvSpPr>
              <p:cNvPr id="279562" name="Rectangle 10"/>
              <p:cNvSpPr>
                <a:spLocks noChangeArrowheads="1"/>
              </p:cNvSpPr>
              <p:nvPr/>
            </p:nvSpPr>
            <p:spPr bwMode="auto">
              <a:xfrm>
                <a:off x="195" y="1206"/>
                <a:ext cx="406" cy="362"/>
              </a:xfrm>
              <a:prstGeom prst="rect">
                <a:avLst/>
              </a:prstGeom>
              <a:noFill/>
              <a:ln w="9525" algn="ctr">
                <a:noFill/>
                <a:miter lim="800000"/>
                <a:headEnd/>
                <a:tailEnd/>
              </a:ln>
              <a:effectLst/>
            </p:spPr>
            <p:txBody>
              <a:bodyPr>
                <a:spAutoFit/>
              </a:bodyPr>
              <a:lstStyle/>
              <a:p>
                <a:pPr>
                  <a:defRPr/>
                </a:pPr>
                <a:r>
                  <a:rPr lang="en-US" altLang="zh-CN" sz="2200" b="1" dirty="0">
                    <a:effectLst>
                      <a:outerShdw blurRad="38100" dist="38100" dir="2700000" algn="tl">
                        <a:srgbClr val="C0C0C0"/>
                      </a:outerShdw>
                    </a:effectLst>
                    <a:sym typeface="Symbol" pitchFamily="18" charset="2"/>
                  </a:rPr>
                  <a:t></a:t>
                </a:r>
                <a:endParaRPr lang="en-US" altLang="zh-CN" sz="2200" b="1" dirty="0">
                  <a:effectLst>
                    <a:outerShdw blurRad="38100" dist="38100" dir="2700000" algn="tl">
                      <a:srgbClr val="C0C0C0"/>
                    </a:outerShdw>
                  </a:effectLst>
                </a:endParaRPr>
              </a:p>
            </p:txBody>
          </p:sp>
          <p:sp>
            <p:nvSpPr>
              <p:cNvPr id="279563" name="Rectangle 11"/>
              <p:cNvSpPr>
                <a:spLocks noChangeArrowheads="1"/>
              </p:cNvSpPr>
              <p:nvPr/>
            </p:nvSpPr>
            <p:spPr bwMode="auto">
              <a:xfrm>
                <a:off x="240" y="1085"/>
                <a:ext cx="363" cy="362"/>
              </a:xfrm>
              <a:prstGeom prst="rect">
                <a:avLst/>
              </a:prstGeom>
              <a:noFill/>
              <a:ln w="9525" algn="ctr">
                <a:noFill/>
                <a:miter lim="800000"/>
                <a:headEnd/>
                <a:tailEnd/>
              </a:ln>
              <a:effectLst/>
            </p:spPr>
            <p:txBody>
              <a:bodyPr>
                <a:spAutoFit/>
              </a:bodyPr>
              <a:lstStyle>
                <a:lvl1pPr eaLnBrk="0" hangingPunct="0">
                  <a:defRPr kumimoji="1" sz="2800">
                    <a:solidFill>
                      <a:schemeClr val="tx1"/>
                    </a:solidFill>
                    <a:latin typeface="Times New Roman" pitchFamily="18" charset="0"/>
                    <a:ea typeface="华文行楷" pitchFamily="2" charset="-122"/>
                  </a:defRPr>
                </a:lvl1pPr>
                <a:lvl2pPr marL="742950" indent="-285750" eaLnBrk="0" hangingPunct="0">
                  <a:defRPr kumimoji="1" sz="2800">
                    <a:solidFill>
                      <a:schemeClr val="tx1"/>
                    </a:solidFill>
                    <a:latin typeface="Times New Roman" pitchFamily="18" charset="0"/>
                    <a:ea typeface="华文行楷" pitchFamily="2" charset="-122"/>
                  </a:defRPr>
                </a:lvl2pPr>
                <a:lvl3pPr marL="1143000" indent="-228600" eaLnBrk="0" hangingPunct="0">
                  <a:defRPr kumimoji="1" sz="2800">
                    <a:solidFill>
                      <a:schemeClr val="tx1"/>
                    </a:solidFill>
                    <a:latin typeface="Times New Roman" pitchFamily="18" charset="0"/>
                    <a:ea typeface="华文行楷" pitchFamily="2" charset="-122"/>
                  </a:defRPr>
                </a:lvl3pPr>
                <a:lvl4pPr marL="1600200" indent="-228600" eaLnBrk="0" hangingPunct="0">
                  <a:defRPr kumimoji="1" sz="2800">
                    <a:solidFill>
                      <a:schemeClr val="tx1"/>
                    </a:solidFill>
                    <a:latin typeface="Times New Roman" pitchFamily="18" charset="0"/>
                    <a:ea typeface="华文行楷" pitchFamily="2" charset="-122"/>
                  </a:defRPr>
                </a:lvl4pPr>
                <a:lvl5pPr marL="2057400" indent="-228600" eaLnBrk="0" hangingPunct="0">
                  <a:defRPr kumimoji="1" sz="2800">
                    <a:solidFill>
                      <a:schemeClr val="tx1"/>
                    </a:solidFill>
                    <a:latin typeface="Times New Roman" pitchFamily="18" charset="0"/>
                    <a:ea typeface="华文行楷" pitchFamily="2" charset="-122"/>
                  </a:defRPr>
                </a:lvl5pPr>
                <a:lvl6pPr marL="25146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6pPr>
                <a:lvl7pPr marL="29718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7pPr>
                <a:lvl8pPr marL="34290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8pPr>
                <a:lvl9pPr marL="3886200" indent="-228600" algn="ctr" eaLnBrk="0" fontAlgn="base" hangingPunct="0">
                  <a:spcBef>
                    <a:spcPct val="0"/>
                  </a:spcBef>
                  <a:spcAft>
                    <a:spcPct val="0"/>
                  </a:spcAft>
                  <a:defRPr kumimoji="1" sz="2800">
                    <a:solidFill>
                      <a:schemeClr val="tx1"/>
                    </a:solidFill>
                    <a:latin typeface="Times New Roman" pitchFamily="18" charset="0"/>
                    <a:ea typeface="华文行楷" pitchFamily="2" charset="-122"/>
                  </a:defRPr>
                </a:lvl9pPr>
              </a:lstStyle>
              <a:p>
                <a:pPr eaLnBrk="1" hangingPunct="1">
                  <a:defRPr/>
                </a:pPr>
                <a:r>
                  <a:rPr lang="en-US" altLang="zh-CN" sz="2200" b="1" dirty="0">
                    <a:effectLst>
                      <a:outerShdw blurRad="38100" dist="38100" dir="2700000" algn="tl">
                        <a:srgbClr val="C0C0C0"/>
                      </a:outerShdw>
                    </a:effectLst>
                  </a:rPr>
                  <a:t>*</a:t>
                </a:r>
              </a:p>
            </p:txBody>
          </p:sp>
        </p:grpSp>
      </p:grpSp>
      <p:sp>
        <p:nvSpPr>
          <p:cNvPr id="3" name="Rectangle 13"/>
          <p:cNvSpPr>
            <a:spLocks noChangeArrowheads="1"/>
          </p:cNvSpPr>
          <p:nvPr/>
        </p:nvSpPr>
        <p:spPr bwMode="auto">
          <a:xfrm>
            <a:off x="209550" y="3103563"/>
            <a:ext cx="8759825" cy="1273175"/>
          </a:xfrm>
          <a:prstGeom prst="rect">
            <a:avLst/>
          </a:prstGeom>
          <a:ln/>
        </p:spPr>
        <p:style>
          <a:lnRef idx="2">
            <a:schemeClr val="accent2"/>
          </a:lnRef>
          <a:fillRef idx="1">
            <a:schemeClr val="lt1"/>
          </a:fillRef>
          <a:effectRef idx="0">
            <a:schemeClr val="accent2"/>
          </a:effectRef>
          <a:fontRef idx="minor">
            <a:schemeClr val="dk1"/>
          </a:fontRef>
        </p:style>
        <p:txBody>
          <a:bodyPr anchor="ctr">
            <a:spAutoFit/>
          </a:bodyPr>
          <a:lstStyle>
            <a:lvl1pPr indent="266700">
              <a:defRPr kumimoji="1" sz="2400">
                <a:solidFill>
                  <a:schemeClr val="tx1"/>
                </a:solidFill>
                <a:latin typeface="Times New Roman" panose="02020603050405020304" pitchFamily="18" charset="0"/>
                <a:ea typeface="华文行楷" panose="02010800040101010101" pitchFamily="2" charset="-122"/>
              </a:defRPr>
            </a:lvl1pPr>
            <a:lvl2pPr marL="742950" indent="-285750">
              <a:defRPr kumimoji="1" sz="2400">
                <a:solidFill>
                  <a:schemeClr val="tx1"/>
                </a:solidFill>
                <a:latin typeface="Times New Roman" panose="02020603050405020304" pitchFamily="18" charset="0"/>
                <a:ea typeface="华文行楷" panose="02010800040101010101" pitchFamily="2" charset="-122"/>
              </a:defRPr>
            </a:lvl2pPr>
            <a:lvl3pPr marL="1143000" indent="-228600">
              <a:defRPr kumimoji="1" sz="2400">
                <a:solidFill>
                  <a:schemeClr val="tx1"/>
                </a:solidFill>
                <a:latin typeface="Times New Roman" panose="02020603050405020304" pitchFamily="18" charset="0"/>
                <a:ea typeface="华文行楷" panose="02010800040101010101" pitchFamily="2" charset="-122"/>
              </a:defRPr>
            </a:lvl3pPr>
            <a:lvl4pPr marL="1600200" indent="-228600">
              <a:defRPr kumimoji="1" sz="2400">
                <a:solidFill>
                  <a:schemeClr val="tx1"/>
                </a:solidFill>
                <a:latin typeface="Times New Roman" panose="02020603050405020304" pitchFamily="18" charset="0"/>
                <a:ea typeface="华文行楷" panose="02010800040101010101" pitchFamily="2" charset="-122"/>
              </a:defRPr>
            </a:lvl4pPr>
            <a:lvl5pPr marL="2057400" indent="-228600">
              <a:defRPr kumimoji="1" sz="2400">
                <a:solidFill>
                  <a:schemeClr val="tx1"/>
                </a:solidFill>
                <a:latin typeface="Times New Roman" panose="02020603050405020304" pitchFamily="18" charset="0"/>
                <a:ea typeface="华文行楷" panose="0201080004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华文行楷" panose="0201080004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华文行楷" panose="0201080004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华文行楷" panose="0201080004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华文行楷" panose="02010800040101010101" pitchFamily="2" charset="-122"/>
              </a:defRPr>
            </a:lvl9pPr>
          </a:lstStyle>
          <a:p>
            <a:pPr>
              <a:spcBef>
                <a:spcPct val="20000"/>
              </a:spcBef>
              <a:buFontTx/>
              <a:buChar char="•"/>
              <a:defRPr/>
            </a:pPr>
            <a:r>
              <a:rPr lang="zh-CN" altLang="zh-CN" dirty="0"/>
              <a:t>（</a:t>
            </a:r>
            <a:r>
              <a:rPr lang="en-US" altLang="zh-CN" dirty="0"/>
              <a:t>1</a:t>
            </a:r>
            <a:r>
              <a:rPr lang="zh-CN" altLang="en-US" dirty="0"/>
              <a:t>）若文法符号</a:t>
            </a:r>
            <a:r>
              <a:rPr lang="en-US" altLang="zh-CN" dirty="0"/>
              <a:t>A</a:t>
            </a:r>
            <a:r>
              <a:rPr lang="en-US" altLang="zh-CN" dirty="0">
                <a:ea typeface="宋体" panose="02010600030101010101" pitchFamily="2" charset="-122"/>
              </a:rPr>
              <a:t>∈</a:t>
            </a:r>
            <a:r>
              <a:rPr lang="en-US" altLang="zh-CN" dirty="0"/>
              <a:t>V</a:t>
            </a:r>
            <a:r>
              <a:rPr lang="en-US" altLang="zh-CN" baseline="-30000" dirty="0"/>
              <a:t>T</a:t>
            </a:r>
            <a:r>
              <a:rPr lang="zh-CN" altLang="en-US" dirty="0"/>
              <a:t>，则</a:t>
            </a:r>
            <a:r>
              <a:rPr lang="en-US" altLang="zh-CN" dirty="0"/>
              <a:t>First(A)={A}</a:t>
            </a:r>
            <a:r>
              <a:rPr lang="zh-CN" altLang="en-US" dirty="0"/>
              <a:t>；</a:t>
            </a:r>
            <a:endParaRPr lang="en-US" altLang="zh-CN" dirty="0"/>
          </a:p>
          <a:p>
            <a:pPr>
              <a:spcBef>
                <a:spcPct val="20000"/>
              </a:spcBef>
              <a:buFontTx/>
              <a:buChar char="•"/>
              <a:defRPr/>
            </a:pPr>
            <a:r>
              <a:rPr lang="zh-CN" altLang="en-US" dirty="0">
                <a:latin typeface="宋体" panose="02010600030101010101" pitchFamily="2" charset="-122"/>
                <a:cs typeface="Times New Roman" panose="02020603050405020304" pitchFamily="18" charset="0"/>
              </a:rPr>
              <a:t>（</a:t>
            </a:r>
            <a:r>
              <a:rPr lang="en-US" altLang="zh-CN" dirty="0"/>
              <a:t>2</a:t>
            </a:r>
            <a:r>
              <a:rPr lang="zh-CN" altLang="en-US" dirty="0">
                <a:latin typeface="宋体" panose="02010600030101010101" pitchFamily="2" charset="-122"/>
                <a:cs typeface="Times New Roman" panose="02020603050405020304" pitchFamily="18" charset="0"/>
              </a:rPr>
              <a:t>）若文法符号为非终结符</a:t>
            </a:r>
            <a:r>
              <a:rPr lang="en-US" altLang="zh-CN" dirty="0"/>
              <a:t>A</a:t>
            </a:r>
            <a:r>
              <a:rPr lang="zh-CN" altLang="en-US" dirty="0">
                <a:latin typeface="宋体" panose="02010600030101010101" pitchFamily="2" charset="-122"/>
                <a:cs typeface="Times New Roman" panose="02020603050405020304" pitchFamily="18" charset="0"/>
              </a:rPr>
              <a:t>（</a:t>
            </a:r>
            <a:r>
              <a:rPr lang="en-US" altLang="zh-CN" dirty="0"/>
              <a:t>A∈V</a:t>
            </a:r>
            <a:r>
              <a:rPr lang="en-US" altLang="zh-CN" baseline="-30000" dirty="0"/>
              <a:t>N</a:t>
            </a:r>
            <a:r>
              <a:rPr lang="zh-CN" altLang="en-US" dirty="0">
                <a:latin typeface="宋体" panose="02010600030101010101" pitchFamily="2" charset="-122"/>
                <a:cs typeface="Times New Roman" panose="02020603050405020304" pitchFamily="18" charset="0"/>
              </a:rPr>
              <a:t>），求</a:t>
            </a:r>
            <a:r>
              <a:rPr lang="en-US" altLang="zh-CN" dirty="0"/>
              <a:t>First</a:t>
            </a:r>
            <a:r>
              <a:rPr lang="zh-CN" altLang="en-US" dirty="0">
                <a:latin typeface="宋体" panose="02010600030101010101" pitchFamily="2" charset="-122"/>
                <a:cs typeface="Times New Roman" panose="02020603050405020304" pitchFamily="18" charset="0"/>
              </a:rPr>
              <a:t>集的方法是将非终结符</a:t>
            </a:r>
            <a:r>
              <a:rPr lang="en-US" altLang="zh-CN" dirty="0"/>
              <a:t>A</a:t>
            </a:r>
            <a:r>
              <a:rPr lang="zh-CN" altLang="en-US" dirty="0">
                <a:latin typeface="宋体" panose="02010600030101010101" pitchFamily="2" charset="-122"/>
                <a:cs typeface="Times New Roman" panose="02020603050405020304" pitchFamily="18" charset="0"/>
              </a:rPr>
              <a:t>的每个候选式的</a:t>
            </a:r>
            <a:r>
              <a:rPr lang="en-US" altLang="zh-CN" dirty="0"/>
              <a:t>First</a:t>
            </a:r>
            <a:r>
              <a:rPr lang="zh-CN" altLang="en-US" dirty="0">
                <a:latin typeface="宋体" panose="02010600030101010101" pitchFamily="2" charset="-122"/>
                <a:cs typeface="Times New Roman" panose="02020603050405020304" pitchFamily="18" charset="0"/>
              </a:rPr>
              <a:t>集都加入到</a:t>
            </a:r>
            <a:r>
              <a:rPr lang="en-US" altLang="zh-CN" dirty="0"/>
              <a:t>First(A)</a:t>
            </a:r>
            <a:r>
              <a:rPr lang="zh-CN" altLang="en-US" dirty="0">
                <a:latin typeface="宋体" panose="02010600030101010101" pitchFamily="2" charset="-122"/>
                <a:cs typeface="Times New Roman" panose="02020603050405020304" pitchFamily="18" charset="0"/>
              </a:rPr>
              <a:t>中，即</a:t>
            </a:r>
            <a:endParaRPr lang="zh-CN" altLang="en-US" dirty="0"/>
          </a:p>
        </p:txBody>
      </p:sp>
      <p:graphicFrame>
        <p:nvGraphicFramePr>
          <p:cNvPr id="62470" name="对象 3"/>
          <p:cNvGraphicFramePr>
            <a:graphicFrameLocks noChangeAspect="1"/>
          </p:cNvGraphicFramePr>
          <p:nvPr>
            <p:extLst>
              <p:ext uri="{D42A27DB-BD31-4B8C-83A1-F6EECF244321}">
                <p14:modId xmlns:p14="http://schemas.microsoft.com/office/powerpoint/2010/main" val="2127398185"/>
              </p:ext>
            </p:extLst>
          </p:nvPr>
        </p:nvGraphicFramePr>
        <p:xfrm>
          <a:off x="3951564" y="4531940"/>
          <a:ext cx="5017811" cy="627534"/>
        </p:xfrm>
        <a:graphic>
          <a:graphicData uri="http://schemas.openxmlformats.org/presentationml/2006/ole">
            <mc:AlternateContent xmlns:mc="http://schemas.openxmlformats.org/markup-compatibility/2006">
              <mc:Choice xmlns:v="urn:schemas-microsoft-com:vml" Requires="v">
                <p:oleObj spid="_x0000_s12295" name="Equation" r:id="rId4" imgW="1916868" imgH="355446" progId="Equation.DSMT4">
                  <p:embed/>
                </p:oleObj>
              </mc:Choice>
              <mc:Fallback>
                <p:oleObj name="Equation" r:id="rId4" imgW="1916868" imgH="355446" progId="Equation.DSMT4">
                  <p:embed/>
                  <p:pic>
                    <p:nvPicPr>
                      <p:cNvPr id="62470" name="对象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1564" y="4531940"/>
                        <a:ext cx="5017811" cy="627534"/>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2329653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79555">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24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555" grpId="0" build="p" autoUpdateAnimBg="0"/>
      <p:bldP spid="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3"/>
          <p:cNvSpPr>
            <a:spLocks noGrp="1" noChangeArrowheads="1"/>
          </p:cNvSpPr>
          <p:nvPr>
            <p:ph type="body" idx="1"/>
          </p:nvPr>
        </p:nvSpPr>
        <p:spPr>
          <a:xfrm>
            <a:off x="244416" y="1762269"/>
            <a:ext cx="2733675" cy="3100387"/>
          </a:xfrm>
          <a:solidFill>
            <a:schemeClr val="bg1"/>
          </a:solidFill>
          <a:ln w="28575">
            <a:solidFill>
              <a:srgbClr val="0066FF"/>
            </a:solidFill>
            <a:miter lim="800000"/>
            <a:headEnd/>
            <a:tailEnd/>
          </a:ln>
        </p:spPr>
        <p:txBody>
          <a:bodyPr>
            <a:normAutofit/>
          </a:bodyPr>
          <a:lstStyle/>
          <a:p>
            <a:pPr eaLnBrk="1" hangingPunct="1"/>
            <a:r>
              <a:rPr lang="en-US" altLang="zh-CN" sz="2400" dirty="0"/>
              <a:t>E </a:t>
            </a:r>
            <a:r>
              <a:rPr lang="en-US" altLang="zh-CN" sz="2400" b="1" dirty="0">
                <a:solidFill>
                  <a:srgbClr val="000000"/>
                </a:solidFill>
                <a:latin typeface="宋体" pitchFamily="2" charset="-122"/>
                <a:sym typeface="Wingdings" pitchFamily="2" charset="2"/>
              </a:rPr>
              <a:t> </a:t>
            </a:r>
            <a:r>
              <a:rPr lang="en-US" altLang="zh-CN" sz="2400" dirty="0"/>
              <a:t>TE'</a:t>
            </a:r>
            <a:br>
              <a:rPr lang="en-US" altLang="zh-CN" sz="2400" dirty="0"/>
            </a:br>
            <a:r>
              <a:rPr lang="en-US" altLang="zh-CN" sz="2400" dirty="0">
                <a:solidFill>
                  <a:srgbClr val="FF0000"/>
                </a:solidFill>
              </a:rPr>
              <a:t>E' </a:t>
            </a:r>
            <a:r>
              <a:rPr lang="en-US" altLang="zh-CN" sz="2400" b="1" dirty="0">
                <a:solidFill>
                  <a:srgbClr val="FF0000"/>
                </a:solidFill>
                <a:latin typeface="宋体" pitchFamily="2" charset="-122"/>
                <a:sym typeface="Wingdings" pitchFamily="2" charset="2"/>
              </a:rPr>
              <a:t> </a:t>
            </a:r>
            <a:r>
              <a:rPr lang="en-US" altLang="zh-CN" sz="2400" dirty="0">
                <a:solidFill>
                  <a:srgbClr val="FF0000"/>
                </a:solidFill>
              </a:rPr>
              <a:t>+TE'</a:t>
            </a:r>
            <a:br>
              <a:rPr lang="en-US" altLang="zh-CN" sz="2400" dirty="0">
                <a:solidFill>
                  <a:srgbClr val="FF0000"/>
                </a:solidFill>
              </a:rPr>
            </a:br>
            <a:r>
              <a:rPr lang="en-US" altLang="zh-CN" sz="2400" dirty="0">
                <a:solidFill>
                  <a:srgbClr val="FF0000"/>
                </a:solidFill>
              </a:rPr>
              <a:t>E' </a:t>
            </a:r>
            <a:r>
              <a:rPr lang="en-US" altLang="zh-CN" sz="2400" b="1" dirty="0">
                <a:solidFill>
                  <a:srgbClr val="FF0000"/>
                </a:solidFill>
                <a:latin typeface="宋体" pitchFamily="2" charset="-122"/>
                <a:sym typeface="Wingdings" pitchFamily="2" charset="2"/>
              </a:rPr>
              <a:t> </a:t>
            </a:r>
            <a:r>
              <a:rPr lang="en-US" altLang="zh-CN" sz="2400" dirty="0">
                <a:solidFill>
                  <a:srgbClr val="FF0000"/>
                </a:solidFill>
              </a:rPr>
              <a:t>ε</a:t>
            </a:r>
            <a:br>
              <a:rPr lang="en-US" altLang="zh-CN" sz="2400" dirty="0">
                <a:solidFill>
                  <a:srgbClr val="FF0000"/>
                </a:solidFill>
              </a:rPr>
            </a:br>
            <a:r>
              <a:rPr lang="en-US" altLang="zh-CN" sz="2400" dirty="0"/>
              <a:t>T </a:t>
            </a:r>
            <a:r>
              <a:rPr lang="en-US" altLang="zh-CN" sz="2400" b="1" dirty="0">
                <a:solidFill>
                  <a:srgbClr val="000000"/>
                </a:solidFill>
                <a:latin typeface="宋体" pitchFamily="2" charset="-122"/>
                <a:sym typeface="Wingdings" pitchFamily="2" charset="2"/>
              </a:rPr>
              <a:t> </a:t>
            </a:r>
            <a:r>
              <a:rPr lang="en-US" altLang="zh-CN" sz="2400" dirty="0"/>
              <a:t>FT'</a:t>
            </a:r>
            <a:br>
              <a:rPr lang="en-US" altLang="zh-CN" sz="2400" dirty="0"/>
            </a:br>
            <a:r>
              <a:rPr lang="en-US" altLang="zh-CN" sz="2400" dirty="0">
                <a:solidFill>
                  <a:srgbClr val="00B050"/>
                </a:solidFill>
              </a:rPr>
              <a:t>T' </a:t>
            </a:r>
            <a:r>
              <a:rPr lang="en-US" altLang="zh-CN" sz="2400" b="1" dirty="0">
                <a:solidFill>
                  <a:srgbClr val="00B050"/>
                </a:solidFill>
                <a:latin typeface="宋体" pitchFamily="2" charset="-122"/>
                <a:sym typeface="Wingdings" pitchFamily="2" charset="2"/>
              </a:rPr>
              <a:t> </a:t>
            </a:r>
            <a:r>
              <a:rPr lang="en-US" altLang="zh-CN" sz="2400" dirty="0">
                <a:solidFill>
                  <a:srgbClr val="00B050"/>
                </a:solidFill>
              </a:rPr>
              <a:t>*FT'</a:t>
            </a:r>
            <a:br>
              <a:rPr lang="en-US" altLang="zh-CN" sz="2400" dirty="0">
                <a:solidFill>
                  <a:srgbClr val="00B050"/>
                </a:solidFill>
              </a:rPr>
            </a:br>
            <a:r>
              <a:rPr lang="en-US" altLang="zh-CN" sz="2400" dirty="0">
                <a:solidFill>
                  <a:srgbClr val="00B050"/>
                </a:solidFill>
              </a:rPr>
              <a:t>T' </a:t>
            </a:r>
            <a:r>
              <a:rPr lang="en-US" altLang="zh-CN" sz="2400" b="1" dirty="0">
                <a:solidFill>
                  <a:srgbClr val="00B050"/>
                </a:solidFill>
                <a:latin typeface="宋体" pitchFamily="2" charset="-122"/>
                <a:sym typeface="Wingdings" pitchFamily="2" charset="2"/>
              </a:rPr>
              <a:t></a:t>
            </a:r>
            <a:r>
              <a:rPr lang="en-US" altLang="zh-CN" sz="2400" dirty="0">
                <a:solidFill>
                  <a:srgbClr val="00B050"/>
                </a:solidFill>
              </a:rPr>
              <a:t> ε</a:t>
            </a:r>
            <a:br>
              <a:rPr lang="en-US" altLang="zh-CN" sz="2400" dirty="0">
                <a:solidFill>
                  <a:srgbClr val="00B050"/>
                </a:solidFill>
              </a:rPr>
            </a:br>
            <a:r>
              <a:rPr lang="en-US" altLang="zh-CN" sz="2400" dirty="0">
                <a:solidFill>
                  <a:srgbClr val="7030A0"/>
                </a:solidFill>
              </a:rPr>
              <a:t>F </a:t>
            </a:r>
            <a:r>
              <a:rPr lang="en-US" altLang="zh-CN" sz="2400" b="1" dirty="0">
                <a:solidFill>
                  <a:srgbClr val="7030A0"/>
                </a:solidFill>
                <a:latin typeface="宋体" pitchFamily="2" charset="-122"/>
                <a:sym typeface="Wingdings" pitchFamily="2" charset="2"/>
              </a:rPr>
              <a:t></a:t>
            </a:r>
            <a:r>
              <a:rPr lang="en-US" altLang="zh-CN" sz="2400" dirty="0">
                <a:solidFill>
                  <a:srgbClr val="7030A0"/>
                </a:solidFill>
              </a:rPr>
              <a:t> (E)</a:t>
            </a:r>
            <a:br>
              <a:rPr lang="en-US" altLang="zh-CN" sz="2400" dirty="0">
                <a:solidFill>
                  <a:srgbClr val="7030A0"/>
                </a:solidFill>
              </a:rPr>
            </a:br>
            <a:r>
              <a:rPr lang="en-US" altLang="zh-CN" sz="2400" dirty="0">
                <a:solidFill>
                  <a:srgbClr val="7030A0"/>
                </a:solidFill>
              </a:rPr>
              <a:t>F </a:t>
            </a:r>
            <a:r>
              <a:rPr lang="en-US" altLang="zh-CN" sz="2400" b="1" dirty="0">
                <a:solidFill>
                  <a:srgbClr val="7030A0"/>
                </a:solidFill>
                <a:latin typeface="宋体" pitchFamily="2" charset="-122"/>
                <a:sym typeface="Wingdings" pitchFamily="2" charset="2"/>
              </a:rPr>
              <a:t></a:t>
            </a:r>
            <a:r>
              <a:rPr lang="en-US" altLang="zh-CN" sz="2400" b="1" dirty="0">
                <a:solidFill>
                  <a:srgbClr val="7030A0"/>
                </a:solidFill>
                <a:latin typeface="宋体" pitchFamily="2" charset="-122"/>
              </a:rPr>
              <a:t> </a:t>
            </a:r>
            <a:r>
              <a:rPr lang="en-US" altLang="zh-CN" sz="2400" dirty="0" err="1">
                <a:solidFill>
                  <a:srgbClr val="7030A0"/>
                </a:solidFill>
              </a:rPr>
              <a:t>i</a:t>
            </a:r>
            <a:r>
              <a:rPr lang="en-US" altLang="zh-CN" sz="2400" dirty="0">
                <a:solidFill>
                  <a:srgbClr val="7030A0"/>
                </a:solidFill>
              </a:rPr>
              <a:t> </a:t>
            </a:r>
          </a:p>
        </p:txBody>
      </p:sp>
      <p:sp>
        <p:nvSpPr>
          <p:cNvPr id="99332" name="Rectangle 4"/>
          <p:cNvSpPr>
            <a:spLocks noChangeArrowheads="1"/>
          </p:cNvSpPr>
          <p:nvPr/>
        </p:nvSpPr>
        <p:spPr bwMode="auto">
          <a:xfrm>
            <a:off x="3419872" y="2931790"/>
            <a:ext cx="5544617" cy="1631216"/>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000" dirty="0">
                <a:cs typeface="Times New Roman" panose="02020603050405020304" pitchFamily="18" charset="0"/>
              </a:rPr>
              <a:t>First(E) = { ( </a:t>
            </a:r>
            <a:r>
              <a:rPr lang="zh-CN" altLang="en-US" sz="2000" dirty="0">
                <a:cs typeface="Times New Roman" panose="02020603050405020304" pitchFamily="18" charset="0"/>
              </a:rPr>
              <a:t>，</a:t>
            </a:r>
            <a:r>
              <a:rPr lang="en-US" altLang="zh-CN" sz="2000" dirty="0" err="1">
                <a:cs typeface="Times New Roman" panose="02020603050405020304" pitchFamily="18" charset="0"/>
              </a:rPr>
              <a:t>i</a:t>
            </a:r>
            <a:r>
              <a:rPr lang="en-US" altLang="zh-CN" sz="2000" dirty="0">
                <a:cs typeface="Times New Roman" panose="02020603050405020304" pitchFamily="18" charset="0"/>
              </a:rPr>
              <a:t> } </a:t>
            </a:r>
            <a:br>
              <a:rPr lang="en-US" altLang="zh-CN" sz="2000" dirty="0">
                <a:cs typeface="Times New Roman" panose="02020603050405020304" pitchFamily="18" charset="0"/>
              </a:rPr>
            </a:br>
            <a:br>
              <a:rPr lang="en-US" altLang="zh-CN" sz="2000" dirty="0">
                <a:solidFill>
                  <a:srgbClr val="FF0000"/>
                </a:solidFill>
                <a:cs typeface="Times New Roman" panose="02020603050405020304" pitchFamily="18" charset="0"/>
              </a:rPr>
            </a:br>
            <a:r>
              <a:rPr lang="en-US" altLang="zh-CN" sz="2000" dirty="0">
                <a:cs typeface="Times New Roman" panose="02020603050405020304" pitchFamily="18" charset="0"/>
              </a:rPr>
              <a:t>First(T) = { ( </a:t>
            </a:r>
            <a:r>
              <a:rPr lang="zh-CN" altLang="en-US" sz="2000" dirty="0">
                <a:cs typeface="Times New Roman" panose="02020603050405020304" pitchFamily="18" charset="0"/>
              </a:rPr>
              <a:t>，</a:t>
            </a:r>
            <a:r>
              <a:rPr lang="en-US" altLang="zh-CN" sz="2000" dirty="0" err="1">
                <a:cs typeface="Times New Roman" panose="02020603050405020304" pitchFamily="18" charset="0"/>
              </a:rPr>
              <a:t>i</a:t>
            </a:r>
            <a:r>
              <a:rPr lang="en-US" altLang="zh-CN" sz="2000" dirty="0">
                <a:cs typeface="Times New Roman" panose="02020603050405020304" pitchFamily="18" charset="0"/>
              </a:rPr>
              <a:t> }</a:t>
            </a:r>
            <a:br>
              <a:rPr lang="en-US" altLang="zh-CN" sz="2000" dirty="0">
                <a:cs typeface="Times New Roman" panose="02020603050405020304" pitchFamily="18" charset="0"/>
              </a:rPr>
            </a:br>
            <a:endParaRPr lang="en-US" altLang="zh-CN" sz="2000" dirty="0">
              <a:cs typeface="Times New Roman" panose="02020603050405020304" pitchFamily="18" charset="0"/>
            </a:endParaRPr>
          </a:p>
          <a:p>
            <a:pPr>
              <a:spcBef>
                <a:spcPct val="0"/>
              </a:spcBef>
              <a:buNone/>
            </a:pPr>
            <a:endParaRPr lang="en-US" altLang="zh-CN" sz="2000" dirty="0">
              <a:solidFill>
                <a:srgbClr val="00B050"/>
              </a:solidFill>
              <a:cs typeface="Times New Roman" panose="02020603050405020304" pitchFamily="18" charset="0"/>
            </a:endParaRPr>
          </a:p>
        </p:txBody>
      </p:sp>
      <p:sp>
        <p:nvSpPr>
          <p:cNvPr id="64516" name="Text Box 5"/>
          <p:cNvSpPr txBox="1">
            <a:spLocks noChangeArrowheads="1"/>
          </p:cNvSpPr>
          <p:nvPr/>
        </p:nvSpPr>
        <p:spPr bwMode="auto">
          <a:xfrm>
            <a:off x="18661" y="118592"/>
            <a:ext cx="176973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5400" dirty="0">
                <a:ea typeface="隶书" pitchFamily="49" charset="-122"/>
              </a:rPr>
              <a:t> </a:t>
            </a:r>
            <a:r>
              <a:rPr lang="zh-CN" altLang="en-US" sz="5400" dirty="0">
                <a:ea typeface="隶书" pitchFamily="49" charset="-122"/>
              </a:rPr>
              <a:t>例题</a:t>
            </a:r>
          </a:p>
        </p:txBody>
      </p:sp>
      <p:sp>
        <p:nvSpPr>
          <p:cNvPr id="64517" name="Rectangle 6"/>
          <p:cNvSpPr>
            <a:spLocks noChangeArrowheads="1"/>
          </p:cNvSpPr>
          <p:nvPr/>
        </p:nvSpPr>
        <p:spPr bwMode="auto">
          <a:xfrm>
            <a:off x="18661" y="763588"/>
            <a:ext cx="3185187"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r>
              <a:rPr lang="zh-CN" altLang="en-US" sz="2800" dirty="0">
                <a:solidFill>
                  <a:schemeClr val="accent2"/>
                </a:solidFill>
                <a:ea typeface="华文行楷" pitchFamily="2" charset="-122"/>
              </a:rPr>
              <a:t>求下列文法的每个非终结符的</a:t>
            </a:r>
            <a:r>
              <a:rPr lang="en-US" altLang="zh-CN" sz="2800" dirty="0">
                <a:solidFill>
                  <a:schemeClr val="accent2"/>
                </a:solidFill>
                <a:ea typeface="华文行楷" pitchFamily="2" charset="-122"/>
              </a:rPr>
              <a:t>First</a:t>
            </a:r>
            <a:r>
              <a:rPr lang="zh-CN" altLang="en-US" sz="2800" dirty="0">
                <a:solidFill>
                  <a:schemeClr val="accent2"/>
                </a:solidFill>
                <a:ea typeface="华文行楷" pitchFamily="2" charset="-122"/>
              </a:rPr>
              <a:t>集 </a:t>
            </a:r>
          </a:p>
        </p:txBody>
      </p:sp>
      <p:sp>
        <p:nvSpPr>
          <p:cNvPr id="6" name="Rectangle 3"/>
          <p:cNvSpPr txBox="1">
            <a:spLocks noChangeArrowheads="1"/>
          </p:cNvSpPr>
          <p:nvPr/>
        </p:nvSpPr>
        <p:spPr bwMode="auto">
          <a:xfrm>
            <a:off x="3419872" y="314552"/>
            <a:ext cx="5544617" cy="2473222"/>
          </a:xfrm>
          <a:prstGeom prst="rect">
            <a:avLst/>
          </a:prstGeom>
          <a:solidFill>
            <a:schemeClr val="bg1"/>
          </a:solidFill>
          <a:ln w="28575">
            <a:solidFill>
              <a:srgbClr val="0066FF"/>
            </a:solidFill>
            <a:miter lim="800000"/>
            <a:headEnd/>
            <a:tailEnd/>
          </a:ln>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eaLnBrk="1" hangingPunct="1">
              <a:defRPr/>
            </a:pPr>
            <a:r>
              <a:rPr lang="en-US" altLang="zh-CN" sz="2000" kern="0" dirty="0"/>
              <a:t>First(E</a:t>
            </a:r>
            <a:r>
              <a:rPr lang="en-US" altLang="zh-CN" sz="2000" b="1" kern="0" dirty="0">
                <a:solidFill>
                  <a:srgbClr val="000000"/>
                </a:solidFill>
                <a:latin typeface="宋体" pitchFamily="2" charset="-122"/>
                <a:sym typeface="Wingdings" pitchFamily="2" charset="2"/>
              </a:rPr>
              <a:t></a:t>
            </a:r>
            <a:r>
              <a:rPr lang="en-US" altLang="zh-CN" sz="2000" kern="0" dirty="0"/>
              <a:t>TE')={ </a:t>
            </a:r>
            <a:r>
              <a:rPr lang="en-US" altLang="zh-CN" sz="2000" dirty="0"/>
              <a:t>( </a:t>
            </a:r>
            <a:r>
              <a:rPr lang="zh-CN" altLang="en-US" sz="2000" dirty="0">
                <a:latin typeface="宋体" pitchFamily="2" charset="-122"/>
              </a:rPr>
              <a:t>，</a:t>
            </a:r>
            <a:r>
              <a:rPr lang="en-US" altLang="zh-CN" sz="2000" dirty="0" err="1"/>
              <a:t>i</a:t>
            </a:r>
            <a:r>
              <a:rPr lang="en-US" altLang="zh-CN" sz="2000" kern="0" dirty="0"/>
              <a:t>  }</a:t>
            </a:r>
            <a:br>
              <a:rPr lang="en-US" altLang="zh-CN" sz="2000" kern="0" dirty="0"/>
            </a:br>
            <a:r>
              <a:rPr lang="en-US" altLang="zh-CN" sz="2000" kern="0" dirty="0">
                <a:solidFill>
                  <a:srgbClr val="FF0000"/>
                </a:solidFill>
              </a:rPr>
              <a:t>First(E'</a:t>
            </a:r>
            <a:r>
              <a:rPr lang="en-US" altLang="zh-CN" sz="2000" b="1" kern="0" dirty="0">
                <a:solidFill>
                  <a:srgbClr val="FF0000"/>
                </a:solidFill>
                <a:latin typeface="宋体" pitchFamily="2" charset="-122"/>
                <a:sym typeface="Wingdings" pitchFamily="2" charset="2"/>
              </a:rPr>
              <a:t></a:t>
            </a:r>
            <a:r>
              <a:rPr lang="en-US" altLang="zh-CN" sz="2000" kern="0" dirty="0">
                <a:solidFill>
                  <a:srgbClr val="FF0000"/>
                </a:solidFill>
              </a:rPr>
              <a:t>+TE')={ +  }</a:t>
            </a:r>
            <a:br>
              <a:rPr lang="en-US" altLang="zh-CN" sz="2000" kern="0" dirty="0">
                <a:solidFill>
                  <a:srgbClr val="FF0000"/>
                </a:solidFill>
              </a:rPr>
            </a:br>
            <a:r>
              <a:rPr lang="en-US" altLang="zh-CN" sz="2000" kern="0" dirty="0">
                <a:solidFill>
                  <a:srgbClr val="FF0000"/>
                </a:solidFill>
              </a:rPr>
              <a:t>First(</a:t>
            </a:r>
            <a:r>
              <a:rPr lang="en-US" altLang="zh-CN" sz="2000" kern="0" dirty="0" err="1">
                <a:solidFill>
                  <a:srgbClr val="FF0000"/>
                </a:solidFill>
              </a:rPr>
              <a:t>E'</a:t>
            </a:r>
            <a:r>
              <a:rPr lang="en-US" altLang="zh-CN" sz="2000" b="1" kern="0" dirty="0" err="1">
                <a:solidFill>
                  <a:srgbClr val="FF0000"/>
                </a:solidFill>
                <a:latin typeface="宋体" pitchFamily="2" charset="-122"/>
                <a:sym typeface="Wingdings" pitchFamily="2" charset="2"/>
              </a:rPr>
              <a:t></a:t>
            </a:r>
            <a:r>
              <a:rPr lang="en-US" altLang="zh-CN" sz="2000" kern="0" dirty="0" err="1">
                <a:solidFill>
                  <a:srgbClr val="FF0000"/>
                </a:solidFill>
              </a:rPr>
              <a:t>ε</a:t>
            </a:r>
            <a:r>
              <a:rPr lang="en-US" altLang="zh-CN" sz="2000" kern="0" dirty="0">
                <a:solidFill>
                  <a:srgbClr val="FF0000"/>
                </a:solidFill>
              </a:rPr>
              <a:t>)={ ε  }</a:t>
            </a:r>
            <a:br>
              <a:rPr lang="en-US" altLang="zh-CN" sz="2000" kern="0" dirty="0">
                <a:solidFill>
                  <a:srgbClr val="FF0000"/>
                </a:solidFill>
              </a:rPr>
            </a:br>
            <a:r>
              <a:rPr lang="en-US" altLang="zh-CN" sz="2000" kern="0" dirty="0"/>
              <a:t>First(T</a:t>
            </a:r>
            <a:r>
              <a:rPr lang="en-US" altLang="zh-CN" sz="2000" b="1" kern="0" dirty="0">
                <a:solidFill>
                  <a:srgbClr val="000000"/>
                </a:solidFill>
                <a:latin typeface="宋体" pitchFamily="2" charset="-122"/>
                <a:sym typeface="Wingdings" pitchFamily="2" charset="2"/>
              </a:rPr>
              <a:t></a:t>
            </a:r>
            <a:r>
              <a:rPr lang="en-US" altLang="zh-CN" sz="2000" kern="0" dirty="0"/>
              <a:t>FT')={</a:t>
            </a:r>
            <a:r>
              <a:rPr lang="en-US" altLang="zh-CN" sz="2000" dirty="0"/>
              <a:t>( </a:t>
            </a:r>
            <a:r>
              <a:rPr lang="zh-CN" altLang="en-US" sz="2000" dirty="0">
                <a:latin typeface="宋体" pitchFamily="2" charset="-122"/>
              </a:rPr>
              <a:t>，</a:t>
            </a:r>
            <a:r>
              <a:rPr lang="en-US" altLang="zh-CN" sz="2000" dirty="0" err="1"/>
              <a:t>i</a:t>
            </a:r>
            <a:r>
              <a:rPr lang="en-US" altLang="zh-CN" sz="2000" kern="0" dirty="0"/>
              <a:t>  }</a:t>
            </a:r>
            <a:br>
              <a:rPr lang="en-US" altLang="zh-CN" sz="2000" kern="0" dirty="0"/>
            </a:br>
            <a:r>
              <a:rPr lang="en-US" altLang="zh-CN" sz="2000" kern="0" dirty="0">
                <a:solidFill>
                  <a:srgbClr val="00B050"/>
                </a:solidFill>
              </a:rPr>
              <a:t>First(T'</a:t>
            </a:r>
            <a:r>
              <a:rPr lang="en-US" altLang="zh-CN" sz="2000" b="1" kern="0" dirty="0">
                <a:solidFill>
                  <a:srgbClr val="00B050"/>
                </a:solidFill>
                <a:latin typeface="宋体" pitchFamily="2" charset="-122"/>
                <a:sym typeface="Wingdings" pitchFamily="2" charset="2"/>
              </a:rPr>
              <a:t></a:t>
            </a:r>
            <a:r>
              <a:rPr lang="en-US" altLang="zh-CN" sz="2000" kern="0" dirty="0">
                <a:solidFill>
                  <a:srgbClr val="00B050"/>
                </a:solidFill>
              </a:rPr>
              <a:t>*FT')={* }</a:t>
            </a:r>
            <a:br>
              <a:rPr lang="en-US" altLang="zh-CN" sz="2000" kern="0" dirty="0">
                <a:solidFill>
                  <a:srgbClr val="00B050"/>
                </a:solidFill>
              </a:rPr>
            </a:br>
            <a:r>
              <a:rPr lang="en-US" altLang="zh-CN" sz="2000" kern="0" dirty="0">
                <a:solidFill>
                  <a:srgbClr val="00B050"/>
                </a:solidFill>
              </a:rPr>
              <a:t>First(</a:t>
            </a:r>
            <a:r>
              <a:rPr lang="en-US" altLang="zh-CN" sz="2000" kern="0" dirty="0" err="1">
                <a:solidFill>
                  <a:srgbClr val="00B050"/>
                </a:solidFill>
              </a:rPr>
              <a:t>T'</a:t>
            </a:r>
            <a:r>
              <a:rPr lang="en-US" altLang="zh-CN" sz="2000" b="1" kern="0" dirty="0" err="1">
                <a:solidFill>
                  <a:srgbClr val="00B050"/>
                </a:solidFill>
                <a:latin typeface="宋体" pitchFamily="2" charset="-122"/>
                <a:sym typeface="Wingdings" pitchFamily="2" charset="2"/>
              </a:rPr>
              <a:t></a:t>
            </a:r>
            <a:r>
              <a:rPr lang="en-US" altLang="zh-CN" sz="2000" kern="0" dirty="0" err="1">
                <a:solidFill>
                  <a:srgbClr val="00B050"/>
                </a:solidFill>
              </a:rPr>
              <a:t>ε</a:t>
            </a:r>
            <a:r>
              <a:rPr lang="en-US" altLang="zh-CN" sz="2000" kern="0" dirty="0">
                <a:solidFill>
                  <a:srgbClr val="00B050"/>
                </a:solidFill>
              </a:rPr>
              <a:t>)={ ε  }</a:t>
            </a:r>
            <a:br>
              <a:rPr lang="en-US" altLang="zh-CN" sz="2000" kern="0" dirty="0">
                <a:solidFill>
                  <a:srgbClr val="00B050"/>
                </a:solidFill>
              </a:rPr>
            </a:br>
            <a:r>
              <a:rPr lang="en-US" altLang="zh-CN" sz="2000" kern="0" dirty="0">
                <a:solidFill>
                  <a:srgbClr val="7030A0"/>
                </a:solidFill>
              </a:rPr>
              <a:t>First(F</a:t>
            </a:r>
            <a:r>
              <a:rPr lang="en-US" altLang="zh-CN" sz="2000" b="1" kern="0" dirty="0">
                <a:solidFill>
                  <a:srgbClr val="7030A0"/>
                </a:solidFill>
                <a:latin typeface="宋体" pitchFamily="2" charset="-122"/>
                <a:sym typeface="Wingdings" pitchFamily="2" charset="2"/>
              </a:rPr>
              <a:t></a:t>
            </a:r>
            <a:r>
              <a:rPr lang="en-US" altLang="zh-CN" sz="2000" kern="0" dirty="0">
                <a:solidFill>
                  <a:srgbClr val="7030A0"/>
                </a:solidFill>
              </a:rPr>
              <a:t>(E) )={ (  }</a:t>
            </a:r>
            <a:br>
              <a:rPr lang="en-US" altLang="zh-CN" sz="2000" kern="0" dirty="0">
                <a:solidFill>
                  <a:srgbClr val="7030A0"/>
                </a:solidFill>
              </a:rPr>
            </a:br>
            <a:r>
              <a:rPr lang="en-US" altLang="zh-CN" sz="2000" kern="0" dirty="0">
                <a:solidFill>
                  <a:srgbClr val="7030A0"/>
                </a:solidFill>
              </a:rPr>
              <a:t>First(</a:t>
            </a:r>
            <a:r>
              <a:rPr lang="en-US" altLang="zh-CN" sz="2000" kern="0" dirty="0" err="1">
                <a:solidFill>
                  <a:srgbClr val="7030A0"/>
                </a:solidFill>
              </a:rPr>
              <a:t>F</a:t>
            </a:r>
            <a:r>
              <a:rPr lang="en-US" altLang="zh-CN" sz="2000" b="1" kern="0" dirty="0" err="1">
                <a:solidFill>
                  <a:srgbClr val="7030A0"/>
                </a:solidFill>
                <a:latin typeface="宋体" pitchFamily="2" charset="-122"/>
                <a:sym typeface="Wingdings" pitchFamily="2" charset="2"/>
              </a:rPr>
              <a:t></a:t>
            </a:r>
            <a:r>
              <a:rPr lang="en-US" altLang="zh-CN" sz="2000" kern="0" dirty="0" err="1">
                <a:solidFill>
                  <a:srgbClr val="7030A0"/>
                </a:solidFill>
              </a:rPr>
              <a:t>i</a:t>
            </a:r>
            <a:r>
              <a:rPr lang="en-US" altLang="zh-CN" sz="2000" kern="0" dirty="0">
                <a:solidFill>
                  <a:srgbClr val="7030A0"/>
                </a:solidFill>
              </a:rPr>
              <a:t> )={ </a:t>
            </a:r>
            <a:r>
              <a:rPr lang="en-US" altLang="zh-CN" sz="2000" kern="0" dirty="0" err="1">
                <a:solidFill>
                  <a:srgbClr val="7030A0"/>
                </a:solidFill>
              </a:rPr>
              <a:t>i</a:t>
            </a:r>
            <a:r>
              <a:rPr lang="en-US" altLang="zh-CN" sz="2000" kern="0" dirty="0">
                <a:solidFill>
                  <a:srgbClr val="7030A0"/>
                </a:solidFill>
              </a:rPr>
              <a:t>  }</a:t>
            </a:r>
          </a:p>
        </p:txBody>
      </p:sp>
      <p:sp>
        <p:nvSpPr>
          <p:cNvPr id="10" name="Rectangle 4"/>
          <p:cNvSpPr>
            <a:spLocks noChangeArrowheads="1"/>
          </p:cNvSpPr>
          <p:nvPr/>
        </p:nvSpPr>
        <p:spPr bwMode="auto">
          <a:xfrm>
            <a:off x="3419872" y="3251760"/>
            <a:ext cx="5544617" cy="400110"/>
          </a:xfrm>
          <a:prstGeom prst="rect">
            <a:avLst/>
          </a:prstGeom>
          <a:noFill/>
          <a:ln w="28575">
            <a:no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000" dirty="0">
                <a:solidFill>
                  <a:srgbClr val="FF0000"/>
                </a:solidFill>
                <a:cs typeface="Times New Roman" panose="02020603050405020304" pitchFamily="18" charset="0"/>
              </a:rPr>
              <a:t>First(E</a:t>
            </a:r>
            <a:r>
              <a:rPr lang="en-US" altLang="zh-CN" sz="2000" kern="0" dirty="0">
                <a:solidFill>
                  <a:srgbClr val="FF0000"/>
                </a:solidFill>
              </a:rPr>
              <a:t>'</a:t>
            </a:r>
            <a:r>
              <a:rPr lang="en-US" altLang="zh-CN" sz="2000" dirty="0">
                <a:solidFill>
                  <a:srgbClr val="FF0000"/>
                </a:solidFill>
                <a:cs typeface="Times New Roman" panose="02020603050405020304" pitchFamily="18" charset="0"/>
              </a:rPr>
              <a:t>) = </a:t>
            </a:r>
            <a:r>
              <a:rPr lang="en-US" altLang="zh-CN" sz="2000" kern="0" dirty="0">
                <a:solidFill>
                  <a:srgbClr val="FF0000"/>
                </a:solidFill>
                <a:cs typeface="Times New Roman" panose="02020603050405020304" pitchFamily="18" charset="0"/>
              </a:rPr>
              <a:t>First(E</a:t>
            </a:r>
            <a:r>
              <a:rPr lang="en-US" altLang="zh-CN" sz="2000" kern="0" dirty="0">
                <a:solidFill>
                  <a:srgbClr val="FF0000"/>
                </a:solidFill>
              </a:rPr>
              <a:t>' </a:t>
            </a:r>
            <a:r>
              <a:rPr lang="en-US" altLang="zh-CN" sz="2000" b="1" kern="0" dirty="0">
                <a:solidFill>
                  <a:srgbClr val="FF0000"/>
                </a:solidFill>
                <a:cs typeface="Times New Roman" panose="02020603050405020304" pitchFamily="18" charset="0"/>
                <a:sym typeface="Wingdings" pitchFamily="2" charset="2"/>
              </a:rPr>
              <a:t></a:t>
            </a:r>
            <a:r>
              <a:rPr lang="en-US" altLang="zh-CN" sz="2000" kern="0" dirty="0">
                <a:solidFill>
                  <a:srgbClr val="FF0000"/>
                </a:solidFill>
                <a:cs typeface="Times New Roman" panose="02020603050405020304" pitchFamily="18" charset="0"/>
              </a:rPr>
              <a:t>+TE</a:t>
            </a:r>
            <a:r>
              <a:rPr lang="en-US" altLang="zh-CN" sz="2000" kern="0" dirty="0">
                <a:solidFill>
                  <a:srgbClr val="FF0000"/>
                </a:solidFill>
              </a:rPr>
              <a:t>'</a:t>
            </a:r>
            <a:r>
              <a:rPr lang="en-US" altLang="zh-CN" sz="2000" kern="0" dirty="0">
                <a:solidFill>
                  <a:srgbClr val="FF0000"/>
                </a:solidFill>
                <a:cs typeface="Times New Roman" panose="02020603050405020304" pitchFamily="18" charset="0"/>
              </a:rPr>
              <a:t>)</a:t>
            </a:r>
            <a:r>
              <a:rPr lang="zh-CN" altLang="en-US" sz="2000" kern="0" dirty="0">
                <a:solidFill>
                  <a:srgbClr val="FF0000"/>
                </a:solidFill>
                <a:cs typeface="Times New Roman" panose="02020603050405020304" pitchFamily="18" charset="0"/>
              </a:rPr>
              <a:t>∪</a:t>
            </a:r>
            <a:r>
              <a:rPr lang="en-US" altLang="zh-CN" sz="2000" kern="0" dirty="0">
                <a:solidFill>
                  <a:srgbClr val="FF0000"/>
                </a:solidFill>
                <a:cs typeface="Times New Roman" panose="02020603050405020304" pitchFamily="18" charset="0"/>
              </a:rPr>
              <a:t>First(E</a:t>
            </a:r>
            <a:r>
              <a:rPr lang="en-US" altLang="zh-CN" sz="2000" kern="0" dirty="0">
                <a:solidFill>
                  <a:srgbClr val="FF0000"/>
                </a:solidFill>
              </a:rPr>
              <a:t>' </a:t>
            </a:r>
            <a:r>
              <a:rPr lang="en-US" altLang="zh-CN" sz="2000" b="1" kern="0" dirty="0">
                <a:solidFill>
                  <a:srgbClr val="FF0000"/>
                </a:solidFill>
                <a:cs typeface="Times New Roman" panose="02020603050405020304" pitchFamily="18" charset="0"/>
                <a:sym typeface="Wingdings" pitchFamily="2" charset="2"/>
              </a:rPr>
              <a:t></a:t>
            </a:r>
            <a:r>
              <a:rPr lang="en-US" altLang="zh-CN" sz="2000" kern="0" dirty="0">
                <a:solidFill>
                  <a:srgbClr val="FF0000"/>
                </a:solidFill>
                <a:cs typeface="Times New Roman" panose="02020603050405020304" pitchFamily="18" charset="0"/>
              </a:rPr>
              <a:t>ε) =</a:t>
            </a:r>
            <a:r>
              <a:rPr lang="en-US" altLang="zh-CN" sz="2000" dirty="0">
                <a:solidFill>
                  <a:srgbClr val="FF0000"/>
                </a:solidFill>
                <a:cs typeface="Times New Roman" panose="02020603050405020304" pitchFamily="18" charset="0"/>
              </a:rPr>
              <a:t>{+</a:t>
            </a:r>
            <a:r>
              <a:rPr lang="zh-CN" altLang="en-US" sz="2000" dirty="0">
                <a:solidFill>
                  <a:srgbClr val="FF0000"/>
                </a:solidFill>
                <a:cs typeface="Times New Roman" panose="02020603050405020304" pitchFamily="18" charset="0"/>
              </a:rPr>
              <a:t>，</a:t>
            </a:r>
            <a:r>
              <a:rPr lang="en-US" altLang="zh-CN" sz="2000" b="1" dirty="0">
                <a:solidFill>
                  <a:srgbClr val="FF0000"/>
                </a:solidFill>
                <a:cs typeface="Times New Roman" panose="02020603050405020304" pitchFamily="18" charset="0"/>
              </a:rPr>
              <a:t>ε</a:t>
            </a:r>
            <a:r>
              <a:rPr lang="en-US" altLang="zh-CN" sz="2000" dirty="0">
                <a:solidFill>
                  <a:srgbClr val="FF0000"/>
                </a:solidFill>
                <a:cs typeface="Times New Roman" panose="02020603050405020304" pitchFamily="18" charset="0"/>
              </a:rPr>
              <a:t>}</a:t>
            </a:r>
            <a:endParaRPr lang="en-US" altLang="zh-CN" sz="2000" dirty="0">
              <a:solidFill>
                <a:srgbClr val="7030A0"/>
              </a:solidFill>
              <a:cs typeface="Times New Roman" panose="02020603050405020304" pitchFamily="18" charset="0"/>
            </a:endParaRPr>
          </a:p>
        </p:txBody>
      </p:sp>
      <p:sp>
        <p:nvSpPr>
          <p:cNvPr id="11" name="Rectangle 4"/>
          <p:cNvSpPr>
            <a:spLocks noChangeArrowheads="1"/>
          </p:cNvSpPr>
          <p:nvPr/>
        </p:nvSpPr>
        <p:spPr bwMode="auto">
          <a:xfrm>
            <a:off x="3419871" y="3875562"/>
            <a:ext cx="5544617" cy="400110"/>
          </a:xfrm>
          <a:prstGeom prst="rect">
            <a:avLst/>
          </a:prstGeom>
          <a:noFill/>
          <a:ln w="28575">
            <a:no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000" dirty="0">
                <a:solidFill>
                  <a:srgbClr val="00B050"/>
                </a:solidFill>
                <a:cs typeface="Times New Roman" panose="02020603050405020304" pitchFamily="18" charset="0"/>
              </a:rPr>
              <a:t>First(T</a:t>
            </a:r>
            <a:r>
              <a:rPr lang="en-US" altLang="zh-CN" sz="2000" kern="0" dirty="0">
                <a:solidFill>
                  <a:srgbClr val="00B050"/>
                </a:solidFill>
              </a:rPr>
              <a:t>'</a:t>
            </a:r>
            <a:r>
              <a:rPr lang="en-US" altLang="zh-CN" sz="2000" dirty="0">
                <a:solidFill>
                  <a:srgbClr val="00B050"/>
                </a:solidFill>
                <a:cs typeface="Times New Roman" panose="02020603050405020304" pitchFamily="18" charset="0"/>
              </a:rPr>
              <a:t>) = </a:t>
            </a:r>
            <a:r>
              <a:rPr lang="en-US" altLang="zh-CN" sz="2000" kern="0" dirty="0">
                <a:solidFill>
                  <a:srgbClr val="00B050"/>
                </a:solidFill>
                <a:cs typeface="Times New Roman" panose="02020603050405020304" pitchFamily="18" charset="0"/>
              </a:rPr>
              <a:t>First(T</a:t>
            </a:r>
            <a:r>
              <a:rPr lang="en-US" altLang="zh-CN" sz="2000" kern="0" dirty="0">
                <a:solidFill>
                  <a:srgbClr val="00B050"/>
                </a:solidFill>
              </a:rPr>
              <a:t>' </a:t>
            </a:r>
            <a:r>
              <a:rPr lang="en-US" altLang="zh-CN" sz="2000" b="1" kern="0" dirty="0">
                <a:solidFill>
                  <a:srgbClr val="00B050"/>
                </a:solidFill>
                <a:cs typeface="Times New Roman" panose="02020603050405020304" pitchFamily="18" charset="0"/>
                <a:sym typeface="Wingdings" pitchFamily="2" charset="2"/>
              </a:rPr>
              <a:t></a:t>
            </a:r>
            <a:r>
              <a:rPr lang="en-US" altLang="zh-CN" sz="2000" kern="0" dirty="0">
                <a:solidFill>
                  <a:srgbClr val="00B050"/>
                </a:solidFill>
                <a:cs typeface="Times New Roman" panose="02020603050405020304" pitchFamily="18" charset="0"/>
              </a:rPr>
              <a:t>*FT</a:t>
            </a:r>
            <a:r>
              <a:rPr lang="en-US" altLang="zh-CN" sz="2000" kern="0" dirty="0">
                <a:solidFill>
                  <a:srgbClr val="00B050"/>
                </a:solidFill>
              </a:rPr>
              <a:t>'</a:t>
            </a:r>
            <a:r>
              <a:rPr lang="en-US" altLang="zh-CN" sz="2000" kern="0" dirty="0">
                <a:solidFill>
                  <a:srgbClr val="00B050"/>
                </a:solidFill>
                <a:cs typeface="Times New Roman" panose="02020603050405020304" pitchFamily="18" charset="0"/>
              </a:rPr>
              <a:t>)</a:t>
            </a:r>
            <a:r>
              <a:rPr lang="zh-CN" altLang="en-US" sz="2000" kern="0" dirty="0">
                <a:solidFill>
                  <a:srgbClr val="00B050"/>
                </a:solidFill>
                <a:cs typeface="Times New Roman" panose="02020603050405020304" pitchFamily="18" charset="0"/>
              </a:rPr>
              <a:t>∪</a:t>
            </a:r>
            <a:r>
              <a:rPr lang="en-US" altLang="zh-CN" sz="2000" kern="0" dirty="0">
                <a:solidFill>
                  <a:srgbClr val="00B050"/>
                </a:solidFill>
                <a:cs typeface="Times New Roman" panose="02020603050405020304" pitchFamily="18" charset="0"/>
              </a:rPr>
              <a:t> First(T</a:t>
            </a:r>
            <a:r>
              <a:rPr lang="en-US" altLang="zh-CN" sz="2000" kern="0" dirty="0">
                <a:solidFill>
                  <a:srgbClr val="00B050"/>
                </a:solidFill>
              </a:rPr>
              <a:t>' </a:t>
            </a:r>
            <a:r>
              <a:rPr lang="en-US" altLang="zh-CN" sz="2000" b="1" kern="0" dirty="0">
                <a:solidFill>
                  <a:srgbClr val="00B050"/>
                </a:solidFill>
                <a:cs typeface="Times New Roman" panose="02020603050405020304" pitchFamily="18" charset="0"/>
                <a:sym typeface="Wingdings" pitchFamily="2" charset="2"/>
              </a:rPr>
              <a:t></a:t>
            </a:r>
            <a:r>
              <a:rPr lang="en-US" altLang="zh-CN" sz="2000" kern="0" dirty="0">
                <a:solidFill>
                  <a:srgbClr val="00B050"/>
                </a:solidFill>
                <a:cs typeface="Times New Roman" panose="02020603050405020304" pitchFamily="18" charset="0"/>
              </a:rPr>
              <a:t>ε) =</a:t>
            </a:r>
            <a:r>
              <a:rPr lang="en-US" altLang="zh-CN" sz="2000" dirty="0">
                <a:solidFill>
                  <a:srgbClr val="00B050"/>
                </a:solidFill>
                <a:cs typeface="Times New Roman" panose="02020603050405020304" pitchFamily="18" charset="0"/>
              </a:rPr>
              <a:t>{*</a:t>
            </a:r>
            <a:r>
              <a:rPr lang="zh-CN" altLang="en-US" sz="2000" dirty="0">
                <a:solidFill>
                  <a:srgbClr val="00B050"/>
                </a:solidFill>
                <a:cs typeface="Times New Roman" panose="02020603050405020304" pitchFamily="18" charset="0"/>
              </a:rPr>
              <a:t>， </a:t>
            </a:r>
            <a:r>
              <a:rPr lang="en-US" altLang="zh-CN" sz="2000" b="1" dirty="0">
                <a:solidFill>
                  <a:srgbClr val="00B050"/>
                </a:solidFill>
                <a:cs typeface="Times New Roman" panose="02020603050405020304" pitchFamily="18" charset="0"/>
              </a:rPr>
              <a:t>ε</a:t>
            </a:r>
            <a:r>
              <a:rPr lang="en-US" altLang="zh-CN" sz="2000" dirty="0">
                <a:solidFill>
                  <a:srgbClr val="00B050"/>
                </a:solidFill>
                <a:cs typeface="Times New Roman" panose="02020603050405020304" pitchFamily="18" charset="0"/>
              </a:rPr>
              <a:t>} </a:t>
            </a:r>
          </a:p>
        </p:txBody>
      </p:sp>
      <p:sp>
        <p:nvSpPr>
          <p:cNvPr id="12" name="Rectangle 4"/>
          <p:cNvSpPr>
            <a:spLocks noChangeArrowheads="1"/>
          </p:cNvSpPr>
          <p:nvPr/>
        </p:nvSpPr>
        <p:spPr bwMode="auto">
          <a:xfrm>
            <a:off x="3419871" y="4155926"/>
            <a:ext cx="5544617" cy="400110"/>
          </a:xfrm>
          <a:prstGeom prst="rect">
            <a:avLst/>
          </a:prstGeom>
          <a:noFill/>
          <a:ln w="28575">
            <a:no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000" dirty="0">
                <a:solidFill>
                  <a:srgbClr val="7030A0"/>
                </a:solidFill>
                <a:cs typeface="Times New Roman" panose="02020603050405020304" pitchFamily="18" charset="0"/>
              </a:rPr>
              <a:t>First(F) = </a:t>
            </a:r>
            <a:r>
              <a:rPr lang="en-US" altLang="zh-CN" sz="2000" kern="0" dirty="0">
                <a:solidFill>
                  <a:srgbClr val="7030A0"/>
                </a:solidFill>
                <a:cs typeface="Times New Roman" panose="02020603050405020304" pitchFamily="18" charset="0"/>
              </a:rPr>
              <a:t>First(F</a:t>
            </a:r>
            <a:r>
              <a:rPr lang="en-US" altLang="zh-CN" sz="2000" b="1" kern="0" dirty="0">
                <a:solidFill>
                  <a:srgbClr val="7030A0"/>
                </a:solidFill>
                <a:cs typeface="Times New Roman" panose="02020603050405020304" pitchFamily="18" charset="0"/>
                <a:sym typeface="Wingdings" pitchFamily="2" charset="2"/>
              </a:rPr>
              <a:t></a:t>
            </a:r>
            <a:r>
              <a:rPr lang="en-US" altLang="zh-CN" sz="2000" kern="0" dirty="0">
                <a:solidFill>
                  <a:srgbClr val="7030A0"/>
                </a:solidFill>
                <a:cs typeface="Times New Roman" panose="02020603050405020304" pitchFamily="18" charset="0"/>
              </a:rPr>
              <a:t>(E) ) </a:t>
            </a:r>
            <a:r>
              <a:rPr lang="zh-CN" altLang="en-US" sz="2000" kern="0" dirty="0">
                <a:solidFill>
                  <a:srgbClr val="7030A0"/>
                </a:solidFill>
                <a:cs typeface="Times New Roman" panose="02020603050405020304" pitchFamily="18" charset="0"/>
              </a:rPr>
              <a:t>∪</a:t>
            </a:r>
            <a:r>
              <a:rPr lang="en-US" altLang="zh-CN" sz="2000" kern="0" dirty="0">
                <a:solidFill>
                  <a:srgbClr val="7030A0"/>
                </a:solidFill>
                <a:cs typeface="Times New Roman" panose="02020603050405020304" pitchFamily="18" charset="0"/>
              </a:rPr>
              <a:t>First(</a:t>
            </a:r>
            <a:r>
              <a:rPr lang="en-US" altLang="zh-CN" sz="2000" kern="0" dirty="0" err="1">
                <a:solidFill>
                  <a:srgbClr val="7030A0"/>
                </a:solidFill>
                <a:cs typeface="Times New Roman" panose="02020603050405020304" pitchFamily="18" charset="0"/>
              </a:rPr>
              <a:t>F</a:t>
            </a:r>
            <a:r>
              <a:rPr lang="en-US" altLang="zh-CN" sz="2000" b="1" kern="0" dirty="0" err="1">
                <a:solidFill>
                  <a:srgbClr val="7030A0"/>
                </a:solidFill>
                <a:cs typeface="Times New Roman" panose="02020603050405020304" pitchFamily="18" charset="0"/>
                <a:sym typeface="Wingdings" pitchFamily="2" charset="2"/>
              </a:rPr>
              <a:t></a:t>
            </a:r>
            <a:r>
              <a:rPr lang="en-US" altLang="zh-CN" sz="2000" kern="0" dirty="0" err="1">
                <a:solidFill>
                  <a:srgbClr val="7030A0"/>
                </a:solidFill>
                <a:cs typeface="Times New Roman" panose="02020603050405020304" pitchFamily="18" charset="0"/>
              </a:rPr>
              <a:t>i</a:t>
            </a:r>
            <a:r>
              <a:rPr lang="en-US" altLang="zh-CN" sz="2000" kern="0" dirty="0">
                <a:solidFill>
                  <a:srgbClr val="7030A0"/>
                </a:solidFill>
                <a:cs typeface="Times New Roman" panose="02020603050405020304" pitchFamily="18" charset="0"/>
              </a:rPr>
              <a:t> )  = </a:t>
            </a:r>
            <a:r>
              <a:rPr lang="en-US" altLang="zh-CN" sz="2000" dirty="0">
                <a:solidFill>
                  <a:srgbClr val="7030A0"/>
                </a:solidFill>
                <a:cs typeface="Times New Roman" panose="02020603050405020304" pitchFamily="18" charset="0"/>
              </a:rPr>
              <a:t>{  ( </a:t>
            </a:r>
            <a:r>
              <a:rPr lang="zh-CN" altLang="en-US" sz="2000" dirty="0">
                <a:solidFill>
                  <a:srgbClr val="7030A0"/>
                </a:solidFill>
                <a:cs typeface="Times New Roman" panose="02020603050405020304" pitchFamily="18" charset="0"/>
              </a:rPr>
              <a:t>，</a:t>
            </a:r>
            <a:r>
              <a:rPr lang="en-US" altLang="zh-CN" sz="2000" dirty="0" err="1">
                <a:solidFill>
                  <a:srgbClr val="7030A0"/>
                </a:solidFill>
                <a:cs typeface="Times New Roman" panose="02020603050405020304" pitchFamily="18" charset="0"/>
              </a:rPr>
              <a:t>i</a:t>
            </a:r>
            <a:r>
              <a:rPr lang="en-US" altLang="zh-CN" sz="2000" dirty="0">
                <a:solidFill>
                  <a:srgbClr val="7030A0"/>
                </a:solidFill>
                <a:cs typeface="Times New Roman" panose="02020603050405020304" pitchFamily="18" charset="0"/>
              </a:rPr>
              <a:t>  } </a:t>
            </a:r>
          </a:p>
        </p:txBody>
      </p:sp>
    </p:spTree>
    <p:extLst>
      <p:ext uri="{BB962C8B-B14F-4D97-AF65-F5344CB8AC3E}">
        <p14:creationId xmlns:p14="http://schemas.microsoft.com/office/powerpoint/2010/main" val="13858853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93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left)">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left)">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2" grpId="0" animBg="1" autoUpdateAnimBg="0"/>
      <p:bldP spid="6" grpId="0" animBg="1"/>
      <p:bldP spid="10" grpId="0"/>
      <p:bldP spid="11" grpId="0"/>
      <p:bldP spid="12" grpId="0"/>
    </p:bldLst>
  </p:timing>
</p:sld>
</file>

<file path=ppt/slides/slide7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a:xfrm>
            <a:off x="179388" y="129183"/>
            <a:ext cx="7772400" cy="714375"/>
          </a:xfrm>
        </p:spPr>
        <p:txBody>
          <a:bodyPr>
            <a:normAutofit fontScale="90000"/>
          </a:bodyPr>
          <a:lstStyle/>
          <a:p>
            <a:pPr algn="l" eaLnBrk="1" hangingPunct="1"/>
            <a:r>
              <a:rPr lang="zh-CN" altLang="en-US" sz="3600" b="1" i="1" dirty="0">
                <a:solidFill>
                  <a:srgbClr val="008000"/>
                </a:solidFill>
              </a:rPr>
              <a:t>求文法符号</a:t>
            </a:r>
            <a:r>
              <a:rPr lang="en-US" altLang="zh-CN" sz="3600" b="1" i="1" dirty="0">
                <a:solidFill>
                  <a:srgbClr val="008000"/>
                </a:solidFill>
              </a:rPr>
              <a:t>A</a:t>
            </a:r>
            <a:r>
              <a:rPr lang="zh-CN" altLang="en-US" sz="3600" b="1" i="1" dirty="0">
                <a:solidFill>
                  <a:srgbClr val="008000"/>
                </a:solidFill>
              </a:rPr>
              <a:t>的</a:t>
            </a:r>
            <a:r>
              <a:rPr lang="en-US" altLang="zh-CN" sz="3600" b="1" i="1" dirty="0">
                <a:solidFill>
                  <a:srgbClr val="008000"/>
                </a:solidFill>
              </a:rPr>
              <a:t>First</a:t>
            </a:r>
            <a:r>
              <a:rPr lang="zh-CN" altLang="en-US" sz="3600" b="1" i="1" dirty="0">
                <a:solidFill>
                  <a:srgbClr val="008000"/>
                </a:solidFill>
              </a:rPr>
              <a:t>集的算法</a:t>
            </a:r>
            <a:r>
              <a:rPr lang="zh-CN" altLang="en-US" dirty="0">
                <a:solidFill>
                  <a:schemeClr val="accent2"/>
                </a:solidFill>
                <a:latin typeface="隶书" pitchFamily="49" charset="-122"/>
                <a:ea typeface="隶书" pitchFamily="49" charset="-122"/>
              </a:rPr>
              <a:t> </a:t>
            </a:r>
          </a:p>
        </p:txBody>
      </p:sp>
      <p:sp>
        <p:nvSpPr>
          <p:cNvPr id="63491" name="Rectangle 3"/>
          <p:cNvSpPr>
            <a:spLocks noGrp="1" noChangeArrowheads="1"/>
          </p:cNvSpPr>
          <p:nvPr>
            <p:ph type="body" idx="1"/>
          </p:nvPr>
        </p:nvSpPr>
        <p:spPr>
          <a:xfrm>
            <a:off x="179388" y="1131590"/>
            <a:ext cx="8964612" cy="3384376"/>
          </a:xfrm>
          <a:solidFill>
            <a:schemeClr val="bg1"/>
          </a:solidFill>
          <a:ln w="28575">
            <a:solidFill>
              <a:schemeClr val="accent2"/>
            </a:solidFill>
            <a:miter lim="800000"/>
            <a:headEnd/>
            <a:tailEnd/>
          </a:ln>
        </p:spPr>
        <p:txBody>
          <a:bodyPr>
            <a:normAutofit/>
          </a:bodyPr>
          <a:lstStyle/>
          <a:p>
            <a:pPr marL="109728" indent="0">
              <a:buNone/>
            </a:pPr>
            <a:r>
              <a:rPr lang="zh-CN" altLang="zh-CN" sz="2200" dirty="0"/>
              <a:t>（</a:t>
            </a:r>
            <a:r>
              <a:rPr lang="en-US" altLang="zh-CN" sz="2200" dirty="0"/>
              <a:t>1</a:t>
            </a:r>
            <a:r>
              <a:rPr lang="zh-CN" altLang="zh-CN" sz="2200" dirty="0"/>
              <a:t>）如果</a:t>
            </a:r>
            <a:r>
              <a:rPr lang="en-US" altLang="zh-CN" sz="2200" dirty="0"/>
              <a:t>A</a:t>
            </a:r>
            <a:r>
              <a:rPr lang="zh-CN" altLang="zh-CN" sz="2200" dirty="0"/>
              <a:t>是终结符，则</a:t>
            </a:r>
            <a:r>
              <a:rPr lang="en-US" altLang="zh-CN" sz="2200" dirty="0"/>
              <a:t>First(A)={A}</a:t>
            </a:r>
            <a:r>
              <a:rPr lang="zh-CN" altLang="zh-CN" sz="2200" dirty="0"/>
              <a:t>。</a:t>
            </a:r>
          </a:p>
          <a:p>
            <a:pPr marL="109728" indent="0">
              <a:buNone/>
            </a:pPr>
            <a:r>
              <a:rPr lang="zh-CN" altLang="zh-CN" sz="2200" dirty="0"/>
              <a:t>（</a:t>
            </a:r>
            <a:r>
              <a:rPr lang="en-US" altLang="zh-CN" sz="2200" dirty="0"/>
              <a:t>2</a:t>
            </a:r>
            <a:r>
              <a:rPr lang="zh-CN" altLang="zh-CN" sz="2200" dirty="0"/>
              <a:t>）如果</a:t>
            </a:r>
            <a:r>
              <a:rPr lang="en-US" altLang="zh-CN" sz="2200" dirty="0"/>
              <a:t>A</a:t>
            </a:r>
            <a:r>
              <a:rPr lang="zh-CN" altLang="zh-CN" sz="2200" dirty="0"/>
              <a:t>是非终结符，有产生式形如</a:t>
            </a:r>
            <a:r>
              <a:rPr lang="en-US" altLang="zh-CN" sz="2200" dirty="0"/>
              <a:t>A→</a:t>
            </a:r>
            <a:r>
              <a:rPr lang="en-US" altLang="zh-CN" sz="2200" dirty="0">
                <a:sym typeface="Symbol" panose="05050102010706020507" pitchFamily="18" charset="2"/>
              </a:rPr>
              <a:t></a:t>
            </a:r>
            <a:r>
              <a:rPr lang="zh-CN" altLang="zh-CN" sz="2200" dirty="0"/>
              <a:t>，则把</a:t>
            </a:r>
            <a:r>
              <a:rPr lang="en-US" altLang="zh-CN" sz="2200" dirty="0">
                <a:sym typeface="Symbol" panose="05050102010706020507" pitchFamily="18" charset="2"/>
              </a:rPr>
              <a:t></a:t>
            </a:r>
            <a:r>
              <a:rPr lang="zh-CN" altLang="zh-CN" sz="2200" dirty="0"/>
              <a:t>加入</a:t>
            </a:r>
            <a:r>
              <a:rPr lang="en-US" altLang="zh-CN" sz="2200" dirty="0"/>
              <a:t>First(A)</a:t>
            </a:r>
            <a:r>
              <a:rPr lang="zh-CN" altLang="zh-CN" sz="2200" dirty="0"/>
              <a:t>中。</a:t>
            </a:r>
          </a:p>
          <a:p>
            <a:pPr marL="109728" indent="0">
              <a:buNone/>
            </a:pPr>
            <a:r>
              <a:rPr lang="zh-CN" altLang="zh-CN" sz="2200" dirty="0"/>
              <a:t>（</a:t>
            </a:r>
            <a:r>
              <a:rPr lang="en-US" altLang="zh-CN" sz="2200" dirty="0"/>
              <a:t>3</a:t>
            </a:r>
            <a:r>
              <a:rPr lang="zh-CN" altLang="zh-CN" sz="2200" dirty="0"/>
              <a:t>）如果</a:t>
            </a:r>
            <a:r>
              <a:rPr lang="en-US" altLang="zh-CN" sz="2200" dirty="0"/>
              <a:t>A</a:t>
            </a:r>
            <a:r>
              <a:rPr lang="zh-CN" altLang="zh-CN" sz="2200" dirty="0"/>
              <a:t>是非终结符，有产生式形如</a:t>
            </a:r>
            <a:r>
              <a:rPr lang="en-US" altLang="zh-CN" sz="2200" dirty="0"/>
              <a:t>A→X</a:t>
            </a:r>
            <a:r>
              <a:rPr lang="en-US" altLang="zh-CN" sz="2200" baseline="-25000" dirty="0"/>
              <a:t>1</a:t>
            </a:r>
            <a:r>
              <a:rPr lang="en-US" altLang="zh-CN" sz="2200" dirty="0"/>
              <a:t>X</a:t>
            </a:r>
            <a:r>
              <a:rPr lang="en-US" altLang="zh-CN" sz="2200" baseline="-25000" dirty="0"/>
              <a:t>2</a:t>
            </a:r>
            <a:r>
              <a:rPr lang="en-US" altLang="zh-CN" sz="2200" dirty="0"/>
              <a:t>..X</a:t>
            </a:r>
            <a:r>
              <a:rPr lang="en-US" altLang="zh-CN" sz="2200" baseline="-25000" dirty="0"/>
              <a:t>n</a:t>
            </a:r>
            <a:r>
              <a:rPr lang="zh-CN" altLang="zh-CN" sz="2200" dirty="0"/>
              <a:t>（</a:t>
            </a:r>
            <a:r>
              <a:rPr lang="en-US" altLang="zh-CN" sz="2200" dirty="0"/>
              <a:t>n</a:t>
            </a:r>
            <a:r>
              <a:rPr lang="zh-CN" altLang="zh-CN" sz="2200" dirty="0"/>
              <a:t>≥</a:t>
            </a:r>
            <a:r>
              <a:rPr lang="en-US" altLang="zh-CN" sz="2200" dirty="0"/>
              <a:t>1</a:t>
            </a:r>
            <a:r>
              <a:rPr lang="zh-CN" altLang="zh-CN" sz="2200" dirty="0"/>
              <a:t>），那么</a:t>
            </a:r>
          </a:p>
        </p:txBody>
      </p:sp>
      <p:sp>
        <p:nvSpPr>
          <p:cNvPr id="14" name="Rectangle 8">
            <a:extLst>
              <a:ext uri="{FF2B5EF4-FFF2-40B4-BE49-F238E27FC236}">
                <a16:creationId xmlns:a16="http://schemas.microsoft.com/office/drawing/2014/main" id="{82F80497-6910-7781-DD94-4E2DC45E6B85}"/>
              </a:ext>
            </a:extLst>
          </p:cNvPr>
          <p:cNvSpPr>
            <a:spLocks noChangeArrowheads="1"/>
          </p:cNvSpPr>
          <p:nvPr/>
        </p:nvSpPr>
        <p:spPr bwMode="auto">
          <a:xfrm>
            <a:off x="395536" y="2283718"/>
            <a:ext cx="8964612"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271463"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71463" algn="l" defTabSz="914400" rtl="0" eaLnBrk="0" fontAlgn="base" latinLnBrk="0" hangingPunct="0">
              <a:lnSpc>
                <a:spcPct val="100000"/>
              </a:lnSpc>
              <a:spcBef>
                <a:spcPct val="0"/>
              </a:spcBef>
              <a:spcAft>
                <a:spcPct val="0"/>
              </a:spcAft>
              <a:buClrTx/>
              <a:buSzTx/>
              <a:buFontTx/>
              <a:buNone/>
              <a:tabLst/>
            </a:pPr>
            <a:r>
              <a:rPr kumimoji="0" lang="zh-CN"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宋体" panose="02010600030101010101" pitchFamily="2" charset="-122"/>
              </a:rPr>
              <a:t>①</a:t>
            </a:r>
            <a:r>
              <a:rPr kumimoji="0" lang="zh-CN"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把</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First(X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中的非</a:t>
            </a:r>
            <a:r>
              <a:rPr kumimoji="0" lang="zh-CN" altLang="en-US"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元素加入到</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First(A)</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中；</a:t>
            </a:r>
            <a:endParaRPr kumimoji="0" lang="zh-CN" altLang="en-US" sz="1100" b="0" i="0" u="none" strike="noStrike" cap="none" normalizeH="0" baseline="0" dirty="0">
              <a:ln>
                <a:noFill/>
              </a:ln>
              <a:solidFill>
                <a:schemeClr val="tx1"/>
              </a:solidFill>
              <a:effectLst/>
              <a:sym typeface="Symbol" panose="05050102010706020507" pitchFamily="18" charset="2"/>
            </a:endParaRPr>
          </a:p>
          <a:p>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宋体" panose="02010600030101010101" pitchFamily="2" charset="-122"/>
                <a:sym typeface="Symbol" panose="05050102010706020507" pitchFamily="18" charset="2"/>
              </a:rPr>
              <a:t>② </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如果存在某个</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k</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k≥2</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），且</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宋体" panose="02010600030101010101" pitchFamily="2" charset="-122"/>
              </a:rPr>
              <a:t>在所有的</a:t>
            </a:r>
            <a:r>
              <a:rPr kumimoji="0" lang="en-US" altLang="zh-CN" sz="2000" b="0" i="0" u="none" strike="noStrike" cap="none" normalizeH="0" baseline="0" dirty="0">
                <a:ln>
                  <a:noFill/>
                </a:ln>
                <a:solidFill>
                  <a:schemeClr val="tx1"/>
                </a:solidFill>
                <a:effectLst/>
                <a:latin typeface="Times New Roman" panose="02020603050405020304" pitchFamily="18" charset="0"/>
                <a:ea typeface="等线" panose="02010600030101010101" pitchFamily="2" charset="-122"/>
                <a:cs typeface="Times New Roman" panose="02020603050405020304" pitchFamily="18" charset="0"/>
                <a:sym typeface="Symbol" panose="05050102010706020507" pitchFamily="18" charset="2"/>
              </a:rPr>
              <a:t>First</a:t>
            </a:r>
            <a:r>
              <a:rPr kumimoji="0" lang="en-US" altLang="zh-CN" sz="2000" b="0" i="0" u="none" strike="noStrike" cap="none" normalizeH="0" baseline="0" dirty="0">
                <a:ln>
                  <a:noFill/>
                </a:ln>
                <a:solidFill>
                  <a:schemeClr val="tx1"/>
                </a:solidFill>
                <a:effectLst/>
                <a:latin typeface="Times New Roman" panose="02020603050405020304" pitchFamily="18" charset="0"/>
                <a:ea typeface="MS Gothic" panose="020B0609070205080204" pitchFamily="49" charset="-128"/>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1</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等线" panose="02010600030101010101" pitchFamily="2" charset="-122"/>
                <a:cs typeface="Times New Roman" panose="02020603050405020304" pitchFamily="18" charset="0"/>
                <a:sym typeface="Symbol" panose="05050102010706020507" pitchFamily="18" charset="2"/>
              </a:rPr>
              <a:t>First</a:t>
            </a:r>
            <a:r>
              <a:rPr kumimoji="0" lang="en-US" altLang="zh-CN" sz="2000" b="0" i="0" u="none" strike="noStrike" cap="none" normalizeH="0" baseline="0" dirty="0">
                <a:ln>
                  <a:noFill/>
                </a:ln>
                <a:solidFill>
                  <a:schemeClr val="tx1"/>
                </a:solidFill>
                <a:effectLst/>
                <a:latin typeface="Times New Roman" panose="02020603050405020304" pitchFamily="18" charset="0"/>
                <a:ea typeface="MS Gothic" panose="020B0609070205080204" pitchFamily="49" charset="-128"/>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2</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等线" panose="02010600030101010101" pitchFamily="2" charset="-122"/>
                <a:cs typeface="Times New Roman" panose="02020603050405020304" pitchFamily="18" charset="0"/>
                <a:sym typeface="Symbol" panose="05050102010706020507" pitchFamily="18" charset="2"/>
              </a:rPr>
              <a:t>First</a:t>
            </a:r>
            <a:r>
              <a:rPr kumimoji="0" lang="en-US" altLang="zh-CN" sz="2000" b="0" i="0" u="none" strike="noStrike" cap="none" normalizeH="0" baseline="0" dirty="0">
                <a:ln>
                  <a:noFill/>
                </a:ln>
                <a:solidFill>
                  <a:schemeClr val="tx1"/>
                </a:solidFill>
                <a:effectLst/>
                <a:latin typeface="Times New Roman" panose="02020603050405020304" pitchFamily="18" charset="0"/>
                <a:ea typeface="MS Gothic" panose="020B0609070205080204" pitchFamily="49" charset="-128"/>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k-1</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中</a:t>
            </a:r>
            <a:r>
              <a:rPr kumimoji="0" lang="zh-CN" altLang="en-US" sz="2000" b="0" i="0" u="none" strike="noStrike" cap="none" normalizeH="0" baseline="0" dirty="0">
                <a:ln>
                  <a:noFill/>
                </a:ln>
                <a:solidFill>
                  <a:schemeClr val="tx1"/>
                </a:solidFill>
                <a:effectLst/>
                <a:latin typeface="等线" panose="02010600030101010101" pitchFamily="2" charset="-122"/>
                <a:ea typeface="等线" panose="02010600030101010101" pitchFamily="2" charset="-122"/>
                <a:cs typeface="Times New Roman" panose="02020603050405020304" pitchFamily="18" charset="0"/>
                <a:sym typeface="Symbol" panose="05050102010706020507" pitchFamily="18" charset="2"/>
              </a:rPr>
              <a:t>（相当于</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1</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2</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k-1               </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等线" panose="02010600030101010101" pitchFamily="2" charset="-122"/>
                <a:ea typeface="等线" panose="02010600030101010101" pitchFamily="2" charset="-122"/>
                <a:cs typeface="Times New Roman" panose="02020603050405020304" pitchFamily="18" charset="0"/>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，则把</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First(</a:t>
            </a:r>
            <a:r>
              <a:rPr kumimoji="0" lang="en-US" altLang="zh-CN" sz="20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k</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中的非</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元素加入到</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First(A)</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中。</a:t>
            </a:r>
            <a:endPar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endParaRPr>
          </a:p>
        </p:txBody>
      </p:sp>
      <p:pic>
        <p:nvPicPr>
          <p:cNvPr id="1031" name="图片 1260489008">
            <a:extLst>
              <a:ext uri="{FF2B5EF4-FFF2-40B4-BE49-F238E27FC236}">
                <a16:creationId xmlns:a16="http://schemas.microsoft.com/office/drawing/2014/main" id="{8833192D-5F40-DA92-990F-DB990E8D2B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5816" y="2967328"/>
            <a:ext cx="432904" cy="331044"/>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9">
            <a:extLst>
              <a:ext uri="{FF2B5EF4-FFF2-40B4-BE49-F238E27FC236}">
                <a16:creationId xmlns:a16="http://schemas.microsoft.com/office/drawing/2014/main" id="{3DE3CB24-A221-02F5-D07B-A6C9691B14B5}"/>
              </a:ext>
            </a:extLst>
          </p:cNvPr>
          <p:cNvSpPr>
            <a:spLocks noChangeArrowheads="1"/>
          </p:cNvSpPr>
          <p:nvPr/>
        </p:nvSpPr>
        <p:spPr bwMode="auto">
          <a:xfrm>
            <a:off x="395536" y="3405693"/>
            <a:ext cx="799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271463" algn="l" defTabSz="914400" rtl="0" eaLnBrk="0" fontAlgn="base" latinLnBrk="0" hangingPunct="0">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③</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 </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如果对所有的</a:t>
            </a:r>
            <a:r>
              <a:rPr kumimoji="0" lang="en-US" altLang="zh-CN" sz="20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i</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1</a:t>
            </a:r>
            <a:r>
              <a:rPr kumimoji="0"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i</a:t>
            </a:r>
            <a:r>
              <a:rPr kumimoji="0" lang="en-US" altLang="zh-CN" sz="2000" b="0" i="0" u="none" strike="noStrike" cap="none" normalizeH="0" baseline="0" dirty="0">
                <a:ln>
                  <a:noFill/>
                </a:ln>
                <a:solidFill>
                  <a:srgbClr val="FF0000"/>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n</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cs typeface="宋体" panose="02010600030101010101" pitchFamily="2" charset="-12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等线" panose="02010600030101010101" pitchFamily="2" charset="-122"/>
                <a:cs typeface="Times New Roman" panose="02020603050405020304" pitchFamily="18" charset="0"/>
                <a:sym typeface="Symbol" panose="05050102010706020507" pitchFamily="18" charset="2"/>
              </a:rPr>
              <a:t>First</a:t>
            </a:r>
            <a:r>
              <a:rPr kumimoji="0" lang="en-US" altLang="zh-CN" sz="2000" b="0" i="0" u="none" strike="noStrike" cap="none" normalizeH="0" baseline="0" dirty="0">
                <a:ln>
                  <a:noFill/>
                </a:ln>
                <a:solidFill>
                  <a:schemeClr val="tx1"/>
                </a:solidFill>
                <a:effectLst/>
                <a:latin typeface="Times New Roman" panose="02020603050405020304" pitchFamily="18" charset="0"/>
                <a:ea typeface="MS Gothic" panose="020B0609070205080204" pitchFamily="49" charset="-128"/>
                <a:cs typeface="Times New Roman" panose="02020603050405020304" pitchFamily="18" charset="0"/>
                <a:sym typeface="Symbol" panose="05050102010706020507" pitchFamily="18" charset="2"/>
              </a:rPr>
              <a:t>(</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X</a:t>
            </a:r>
            <a:r>
              <a:rPr kumimoji="0" lang="en-US" altLang="zh-CN" sz="20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i</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，则把</a:t>
            </a:r>
            <a:r>
              <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加入</a:t>
            </a: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First(A)</a:t>
            </a:r>
            <a:r>
              <a:rPr kumimoji="0" lang="zh-CN" altLang="en-US"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sym typeface="Symbol" panose="05050102010706020507" pitchFamily="18" charset="2"/>
              </a:rPr>
              <a:t>中。</a:t>
            </a:r>
            <a:r>
              <a:rPr kumimoji="0" lang="zh-CN" altLang="en-US" sz="2000" b="0" i="0" u="none" strike="noStrike" cap="none" normalizeH="0" baseline="0" dirty="0">
                <a:ln>
                  <a:noFill/>
                </a:ln>
                <a:solidFill>
                  <a:schemeClr val="tx1"/>
                </a:solidFill>
                <a:effectLst/>
                <a:sym typeface="Symbol" panose="05050102010706020507" pitchFamily="18" charset="2"/>
              </a:rPr>
              <a:t> </a:t>
            </a:r>
            <a:endParaRPr kumimoji="0" lang="zh-CN" altLang="en-US"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endParaRPr>
          </a:p>
        </p:txBody>
      </p:sp>
      <p:sp>
        <p:nvSpPr>
          <p:cNvPr id="18" name="文本框 17">
            <a:extLst>
              <a:ext uri="{FF2B5EF4-FFF2-40B4-BE49-F238E27FC236}">
                <a16:creationId xmlns:a16="http://schemas.microsoft.com/office/drawing/2014/main" id="{9E33C2A4-F9FE-A9AC-F38D-EE8EC416062B}"/>
              </a:ext>
            </a:extLst>
          </p:cNvPr>
          <p:cNvSpPr txBox="1"/>
          <p:nvPr/>
        </p:nvSpPr>
        <p:spPr>
          <a:xfrm>
            <a:off x="619866" y="3939902"/>
            <a:ext cx="8344746" cy="461665"/>
          </a:xfrm>
          <a:prstGeom prst="rect">
            <a:avLst/>
          </a:prstGeom>
          <a:noFill/>
        </p:spPr>
        <p:txBody>
          <a:bodyPr wrap="square">
            <a:spAutoFit/>
          </a:bodyPr>
          <a:lstStyle/>
          <a:p>
            <a:r>
              <a:rPr lang="zh-CN" altLang="zh-CN" sz="2400" b="1" kern="100" dirty="0">
                <a:effectLst/>
                <a:latin typeface="Times New Roman" panose="02020603050405020304" pitchFamily="18" charset="0"/>
                <a:ea typeface="宋体" panose="02010600030101010101" pitchFamily="2" charset="-122"/>
                <a:cs typeface="Times New Roman" panose="02020603050405020304" pitchFamily="18" charset="0"/>
              </a:rPr>
              <a:t>反复使用如上规则，直到文法符号</a:t>
            </a:r>
            <a:r>
              <a:rPr lang="en-US" altLang="zh-CN" sz="2400" b="1" kern="100" dirty="0">
                <a:effectLst/>
                <a:latin typeface="Times New Roman" panose="02020603050405020304" pitchFamily="18" charset="0"/>
                <a:ea typeface="宋体" panose="02010600030101010101" pitchFamily="2" charset="-122"/>
              </a:rPr>
              <a:t>A</a:t>
            </a:r>
            <a:r>
              <a:rPr lang="zh-CN" altLang="zh-CN" sz="2400" b="1" kern="100" dirty="0">
                <a:effectLst/>
                <a:latin typeface="Times New Roman" panose="02020603050405020304" pitchFamily="18" charset="0"/>
                <a:ea typeface="宋体" panose="02010600030101010101" pitchFamily="2" charset="-122"/>
                <a:cs typeface="Times New Roman" panose="02020603050405020304" pitchFamily="18" charset="0"/>
              </a:rPr>
              <a:t>的</a:t>
            </a:r>
            <a:r>
              <a:rPr lang="en-US" altLang="zh-CN" sz="2400" b="1" kern="100" dirty="0">
                <a:effectLst/>
                <a:latin typeface="Times New Roman" panose="02020603050405020304" pitchFamily="18" charset="0"/>
                <a:ea typeface="宋体" panose="02010600030101010101" pitchFamily="2" charset="-122"/>
              </a:rPr>
              <a:t>First</a:t>
            </a:r>
            <a:r>
              <a:rPr lang="zh-CN" altLang="zh-CN" sz="2400" b="1" kern="100" dirty="0">
                <a:effectLst/>
                <a:latin typeface="Times New Roman" panose="02020603050405020304" pitchFamily="18" charset="0"/>
                <a:ea typeface="宋体" panose="02010600030101010101" pitchFamily="2" charset="-122"/>
                <a:cs typeface="Times New Roman" panose="02020603050405020304" pitchFamily="18" charset="0"/>
              </a:rPr>
              <a:t>集不再增大为止。</a:t>
            </a:r>
            <a:endParaRPr lang="zh-CN" altLang="en-US" sz="2400" b="1" dirty="0"/>
          </a:p>
        </p:txBody>
      </p:sp>
    </p:spTree>
    <p:extLst>
      <p:ext uri="{BB962C8B-B14F-4D97-AF65-F5344CB8AC3E}">
        <p14:creationId xmlns:p14="http://schemas.microsoft.com/office/powerpoint/2010/main" val="1368758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491">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349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3491">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3491">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03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1" grpId="0" uiExpand="1" build="p" animBg="1"/>
      <p:bldP spid="14" grpId="0"/>
      <p:bldP spid="15" grpId="0"/>
      <p:bldP spid="18" grpId="0"/>
    </p:bldLst>
  </p:timing>
</p:sld>
</file>

<file path=ppt/slides/slide7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a:xfrm>
            <a:off x="179388" y="129183"/>
            <a:ext cx="7772400" cy="714375"/>
          </a:xfrm>
        </p:spPr>
        <p:txBody>
          <a:bodyPr>
            <a:normAutofit fontScale="90000"/>
          </a:bodyPr>
          <a:lstStyle/>
          <a:p>
            <a:r>
              <a:rPr lang="zh-CN" altLang="en-US" sz="3600" b="1" i="1" dirty="0">
                <a:solidFill>
                  <a:srgbClr val="008000"/>
                </a:solidFill>
              </a:rPr>
              <a:t>求候选式</a:t>
            </a:r>
            <a:r>
              <a:rPr lang="en-US" altLang="zh-CN" dirty="0">
                <a:effectLst/>
                <a:sym typeface="Symbol" panose="05050102010706020507" pitchFamily="18" charset="2"/>
              </a:rPr>
              <a:t></a:t>
            </a:r>
            <a:r>
              <a:rPr lang="en-US" altLang="zh-CN" dirty="0">
                <a:effectLst/>
              </a:rPr>
              <a:t> = X</a:t>
            </a:r>
            <a:r>
              <a:rPr lang="en-US" altLang="zh-CN" baseline="-25000" dirty="0">
                <a:effectLst/>
              </a:rPr>
              <a:t>1</a:t>
            </a:r>
            <a:r>
              <a:rPr lang="en-US" altLang="zh-CN" dirty="0">
                <a:effectLst/>
              </a:rPr>
              <a:t>X</a:t>
            </a:r>
            <a:r>
              <a:rPr lang="en-US" altLang="zh-CN" baseline="-25000" dirty="0">
                <a:effectLst/>
              </a:rPr>
              <a:t>2</a:t>
            </a:r>
            <a:r>
              <a:rPr lang="en-US" altLang="zh-CN" dirty="0">
                <a:effectLst/>
              </a:rPr>
              <a:t>..X</a:t>
            </a:r>
            <a:r>
              <a:rPr lang="en-US" altLang="zh-CN" baseline="-25000" dirty="0">
                <a:effectLst/>
              </a:rPr>
              <a:t>n</a:t>
            </a:r>
            <a:r>
              <a:rPr lang="zh-CN" altLang="en-US" sz="3600" b="1" i="1" dirty="0">
                <a:solidFill>
                  <a:srgbClr val="008000"/>
                </a:solidFill>
              </a:rPr>
              <a:t>的</a:t>
            </a:r>
            <a:r>
              <a:rPr lang="en-US" altLang="zh-CN" sz="3600" b="1" i="1" dirty="0">
                <a:solidFill>
                  <a:srgbClr val="008000"/>
                </a:solidFill>
              </a:rPr>
              <a:t>First</a:t>
            </a:r>
            <a:r>
              <a:rPr lang="zh-CN" altLang="en-US" sz="3600" b="1" i="1" dirty="0">
                <a:solidFill>
                  <a:srgbClr val="008000"/>
                </a:solidFill>
              </a:rPr>
              <a:t>集的算法</a:t>
            </a:r>
            <a:r>
              <a:rPr lang="zh-CN" altLang="en-US" dirty="0">
                <a:solidFill>
                  <a:schemeClr val="accent2"/>
                </a:solidFill>
                <a:latin typeface="隶书" pitchFamily="49" charset="-122"/>
                <a:ea typeface="隶书" pitchFamily="49" charset="-122"/>
              </a:rPr>
              <a:t> </a:t>
            </a:r>
          </a:p>
        </p:txBody>
      </p:sp>
      <p:sp>
        <p:nvSpPr>
          <p:cNvPr id="63491" name="Rectangle 3"/>
          <p:cNvSpPr>
            <a:spLocks noGrp="1" noChangeArrowheads="1"/>
          </p:cNvSpPr>
          <p:nvPr>
            <p:ph type="body" idx="1"/>
          </p:nvPr>
        </p:nvSpPr>
        <p:spPr>
          <a:xfrm>
            <a:off x="202659" y="1131590"/>
            <a:ext cx="8964612" cy="2736304"/>
          </a:xfrm>
          <a:solidFill>
            <a:schemeClr val="bg1"/>
          </a:solidFill>
          <a:ln w="28575">
            <a:solidFill>
              <a:schemeClr val="accent2"/>
            </a:solidFill>
            <a:miter lim="800000"/>
            <a:headEnd/>
            <a:tailEnd/>
          </a:ln>
        </p:spPr>
        <p:txBody>
          <a:bodyPr>
            <a:normAutofit/>
          </a:bodyPr>
          <a:lstStyle/>
          <a:p>
            <a:r>
              <a:rPr lang="zh-CN" altLang="zh-CN" sz="2200" dirty="0"/>
              <a:t>首先向</a:t>
            </a:r>
            <a:r>
              <a:rPr lang="en-US" altLang="zh-CN" sz="2200" dirty="0"/>
              <a:t>First(</a:t>
            </a:r>
            <a:r>
              <a:rPr lang="en-US" altLang="zh-CN" sz="2200" dirty="0">
                <a:sym typeface="Symbol" panose="05050102010706020507" pitchFamily="18" charset="2"/>
              </a:rPr>
              <a:t></a:t>
            </a:r>
            <a:r>
              <a:rPr lang="en-US" altLang="zh-CN" sz="2200" dirty="0"/>
              <a:t>)</a:t>
            </a:r>
            <a:r>
              <a:rPr lang="zh-CN" altLang="zh-CN" sz="2200" dirty="0"/>
              <a:t>中加入</a:t>
            </a:r>
            <a:r>
              <a:rPr lang="en-US" altLang="zh-CN" sz="2200" dirty="0"/>
              <a:t>First(X</a:t>
            </a:r>
            <a:r>
              <a:rPr lang="en-US" altLang="zh-CN" sz="2200" baseline="-25000" dirty="0"/>
              <a:t>1</a:t>
            </a:r>
            <a:r>
              <a:rPr lang="en-US" altLang="zh-CN" sz="2200" dirty="0"/>
              <a:t>)</a:t>
            </a:r>
            <a:r>
              <a:rPr lang="zh-CN" altLang="zh-CN" sz="2200" dirty="0"/>
              <a:t>中的非</a:t>
            </a:r>
            <a:r>
              <a:rPr lang="en-US" altLang="zh-CN" sz="2200" dirty="0">
                <a:sym typeface="Symbol" panose="05050102010706020507" pitchFamily="18" charset="2"/>
              </a:rPr>
              <a:t></a:t>
            </a:r>
            <a:r>
              <a:rPr lang="zh-CN" altLang="zh-CN" sz="2200" dirty="0"/>
              <a:t>元素。</a:t>
            </a:r>
            <a:endParaRPr lang="en-US" altLang="zh-CN" sz="2200" dirty="0"/>
          </a:p>
          <a:p>
            <a:r>
              <a:rPr lang="zh-CN" altLang="zh-CN" sz="2200" dirty="0"/>
              <a:t>如果</a:t>
            </a:r>
            <a:r>
              <a:rPr lang="en-US" altLang="zh-CN" sz="2200" dirty="0"/>
              <a:t>First(X</a:t>
            </a:r>
            <a:r>
              <a:rPr lang="en-US" altLang="zh-CN" sz="2200" baseline="-25000" dirty="0"/>
              <a:t>1</a:t>
            </a:r>
            <a:r>
              <a:rPr lang="en-US" altLang="zh-CN" sz="2200" dirty="0"/>
              <a:t>)</a:t>
            </a:r>
            <a:r>
              <a:rPr lang="zh-CN" altLang="zh-CN" sz="2200" dirty="0"/>
              <a:t>中含有</a:t>
            </a:r>
            <a:r>
              <a:rPr lang="en-US" altLang="zh-CN" sz="2200" dirty="0">
                <a:sym typeface="Symbol" panose="05050102010706020507" pitchFamily="18" charset="2"/>
              </a:rPr>
              <a:t></a:t>
            </a:r>
            <a:r>
              <a:rPr lang="zh-CN" altLang="zh-CN" sz="2200" dirty="0"/>
              <a:t>，就把</a:t>
            </a:r>
            <a:r>
              <a:rPr lang="en-US" altLang="zh-CN" sz="2200" dirty="0"/>
              <a:t>First(X</a:t>
            </a:r>
            <a:r>
              <a:rPr lang="en-US" altLang="zh-CN" sz="2200" baseline="-25000" dirty="0"/>
              <a:t>2</a:t>
            </a:r>
            <a:r>
              <a:rPr lang="en-US" altLang="zh-CN" sz="2200" dirty="0"/>
              <a:t>)</a:t>
            </a:r>
            <a:r>
              <a:rPr lang="zh-CN" altLang="zh-CN" sz="2200" dirty="0"/>
              <a:t>中的非</a:t>
            </a:r>
            <a:r>
              <a:rPr lang="en-US" altLang="zh-CN" sz="2200" dirty="0">
                <a:sym typeface="Symbol" panose="05050102010706020507" pitchFamily="18" charset="2"/>
              </a:rPr>
              <a:t></a:t>
            </a:r>
            <a:r>
              <a:rPr lang="zh-CN" altLang="zh-CN" sz="2200" dirty="0"/>
              <a:t>元素加入到</a:t>
            </a:r>
            <a:r>
              <a:rPr lang="en-US" altLang="zh-CN" sz="2200" dirty="0"/>
              <a:t>First(</a:t>
            </a:r>
            <a:r>
              <a:rPr lang="en-US" altLang="zh-CN" sz="2200" dirty="0">
                <a:sym typeface="Symbol" panose="05050102010706020507" pitchFamily="18" charset="2"/>
              </a:rPr>
              <a:t></a:t>
            </a:r>
            <a:r>
              <a:rPr lang="en-US" altLang="zh-CN" sz="2200" dirty="0"/>
              <a:t>)</a:t>
            </a:r>
            <a:r>
              <a:rPr lang="zh-CN" altLang="zh-CN" sz="2200" dirty="0"/>
              <a:t>中；</a:t>
            </a:r>
            <a:endParaRPr lang="en-US" altLang="zh-CN" sz="2200" dirty="0"/>
          </a:p>
          <a:p>
            <a:r>
              <a:rPr lang="zh-CN" altLang="zh-CN" sz="2200" dirty="0"/>
              <a:t>如果</a:t>
            </a:r>
            <a:r>
              <a:rPr lang="en-US" altLang="zh-CN" sz="2200" dirty="0"/>
              <a:t>First(X</a:t>
            </a:r>
            <a:r>
              <a:rPr lang="en-US" altLang="zh-CN" sz="2200" baseline="-25000" dirty="0"/>
              <a:t>1</a:t>
            </a:r>
            <a:r>
              <a:rPr lang="en-US" altLang="zh-CN" sz="2200" dirty="0"/>
              <a:t>)</a:t>
            </a:r>
            <a:r>
              <a:rPr lang="zh-CN" altLang="zh-CN" sz="2200" dirty="0"/>
              <a:t>和</a:t>
            </a:r>
            <a:r>
              <a:rPr lang="en-US" altLang="zh-CN" sz="2200" dirty="0"/>
              <a:t>First(X</a:t>
            </a:r>
            <a:r>
              <a:rPr lang="en-US" altLang="zh-CN" sz="2200" baseline="-25000" dirty="0"/>
              <a:t>2</a:t>
            </a:r>
            <a:r>
              <a:rPr lang="en-US" altLang="zh-CN" sz="2200" dirty="0"/>
              <a:t>)</a:t>
            </a:r>
            <a:r>
              <a:rPr lang="zh-CN" altLang="zh-CN" sz="2200" dirty="0"/>
              <a:t>中都含有</a:t>
            </a:r>
            <a:r>
              <a:rPr lang="en-US" altLang="zh-CN" sz="2200" dirty="0">
                <a:sym typeface="Symbol" panose="05050102010706020507" pitchFamily="18" charset="2"/>
              </a:rPr>
              <a:t></a:t>
            </a:r>
            <a:r>
              <a:rPr lang="zh-CN" altLang="zh-CN" sz="2200" dirty="0"/>
              <a:t>，就把</a:t>
            </a:r>
            <a:r>
              <a:rPr lang="en-US" altLang="zh-CN" sz="2200" dirty="0"/>
              <a:t>First(X</a:t>
            </a:r>
            <a:r>
              <a:rPr lang="en-US" altLang="zh-CN" sz="2200" baseline="-25000" dirty="0"/>
              <a:t>3</a:t>
            </a:r>
            <a:r>
              <a:rPr lang="en-US" altLang="zh-CN" sz="2200" dirty="0"/>
              <a:t>)</a:t>
            </a:r>
            <a:r>
              <a:rPr lang="zh-CN" altLang="zh-CN" sz="2200" dirty="0"/>
              <a:t>中的非</a:t>
            </a:r>
            <a:r>
              <a:rPr lang="en-US" altLang="zh-CN" sz="2200" dirty="0">
                <a:sym typeface="Symbol" panose="05050102010706020507" pitchFamily="18" charset="2"/>
              </a:rPr>
              <a:t></a:t>
            </a:r>
            <a:r>
              <a:rPr lang="zh-CN" altLang="zh-CN" sz="2200" dirty="0"/>
              <a:t>元素加入到</a:t>
            </a:r>
            <a:r>
              <a:rPr lang="en-US" altLang="zh-CN" sz="2200" dirty="0"/>
              <a:t>First(</a:t>
            </a:r>
            <a:r>
              <a:rPr lang="en-US" altLang="zh-CN" sz="2200" dirty="0">
                <a:sym typeface="Symbol" panose="05050102010706020507" pitchFamily="18" charset="2"/>
              </a:rPr>
              <a:t></a:t>
            </a:r>
            <a:r>
              <a:rPr lang="en-US" altLang="zh-CN" sz="2200" dirty="0"/>
              <a:t>)</a:t>
            </a:r>
            <a:r>
              <a:rPr lang="zh-CN" altLang="zh-CN" sz="2200" dirty="0"/>
              <a:t>中；</a:t>
            </a:r>
            <a:endParaRPr lang="en-US" altLang="zh-CN" sz="2200" dirty="0"/>
          </a:p>
          <a:p>
            <a:r>
              <a:rPr lang="zh-CN" altLang="zh-CN" sz="2200" dirty="0"/>
              <a:t>依次类推。</a:t>
            </a:r>
            <a:endParaRPr lang="en-US" altLang="zh-CN" sz="2200" dirty="0"/>
          </a:p>
          <a:p>
            <a:r>
              <a:rPr lang="zh-CN" altLang="zh-CN" sz="2200" dirty="0"/>
              <a:t>最后，如果所有的</a:t>
            </a:r>
            <a:r>
              <a:rPr lang="en-US" altLang="zh-CN" sz="2200" dirty="0"/>
              <a:t>First(X</a:t>
            </a:r>
            <a:r>
              <a:rPr lang="en-US" altLang="zh-CN" sz="2200" baseline="-25000" dirty="0"/>
              <a:t>i</a:t>
            </a:r>
            <a:r>
              <a:rPr lang="en-US" altLang="zh-CN" sz="2200" dirty="0"/>
              <a:t>)</a:t>
            </a:r>
            <a:r>
              <a:rPr lang="zh-CN" altLang="zh-CN" sz="2200" dirty="0"/>
              <a:t>（</a:t>
            </a:r>
            <a:r>
              <a:rPr lang="en-US" altLang="zh-CN" sz="2200" dirty="0"/>
              <a:t>1</a:t>
            </a:r>
            <a:r>
              <a:rPr lang="zh-CN" altLang="zh-CN" sz="2200" dirty="0"/>
              <a:t>≤</a:t>
            </a:r>
            <a:r>
              <a:rPr lang="en-US" altLang="zh-CN" sz="2200" dirty="0" err="1"/>
              <a:t>i</a:t>
            </a:r>
            <a:r>
              <a:rPr lang="zh-CN" altLang="zh-CN" sz="2200" dirty="0"/>
              <a:t>≤</a:t>
            </a:r>
            <a:r>
              <a:rPr lang="en-US" altLang="zh-CN" sz="2200" dirty="0"/>
              <a:t>n</a:t>
            </a:r>
            <a:r>
              <a:rPr lang="zh-CN" altLang="zh-CN" sz="2200" dirty="0"/>
              <a:t>）中都含有</a:t>
            </a:r>
            <a:r>
              <a:rPr lang="en-US" altLang="zh-CN" sz="2200" dirty="0">
                <a:sym typeface="Symbol" panose="05050102010706020507" pitchFamily="18" charset="2"/>
              </a:rPr>
              <a:t></a:t>
            </a:r>
            <a:r>
              <a:rPr lang="zh-CN" altLang="zh-CN" sz="2200" dirty="0"/>
              <a:t>，就把</a:t>
            </a:r>
            <a:r>
              <a:rPr lang="en-US" altLang="zh-CN" sz="2200" dirty="0">
                <a:sym typeface="Symbol" panose="05050102010706020507" pitchFamily="18" charset="2"/>
              </a:rPr>
              <a:t></a:t>
            </a:r>
            <a:r>
              <a:rPr lang="zh-CN" altLang="zh-CN" sz="2200" dirty="0"/>
              <a:t>加入到</a:t>
            </a:r>
            <a:r>
              <a:rPr lang="en-US" altLang="zh-CN" sz="2200" dirty="0"/>
              <a:t>First(</a:t>
            </a:r>
            <a:r>
              <a:rPr lang="en-US" altLang="zh-CN" sz="2200" dirty="0">
                <a:sym typeface="Symbol" panose="05050102010706020507" pitchFamily="18" charset="2"/>
              </a:rPr>
              <a:t></a:t>
            </a:r>
            <a:r>
              <a:rPr lang="en-US" altLang="zh-CN" sz="2200" dirty="0"/>
              <a:t>)</a:t>
            </a:r>
            <a:r>
              <a:rPr lang="zh-CN" altLang="zh-CN" sz="2200" dirty="0"/>
              <a:t>中。</a:t>
            </a:r>
          </a:p>
          <a:p>
            <a:endParaRPr lang="zh-CN" altLang="zh-CN" sz="2200" dirty="0"/>
          </a:p>
        </p:txBody>
      </p:sp>
    </p:spTree>
    <p:extLst>
      <p:ext uri="{BB962C8B-B14F-4D97-AF65-F5344CB8AC3E}">
        <p14:creationId xmlns:p14="http://schemas.microsoft.com/office/powerpoint/2010/main" val="4003187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491">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349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3491">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3491">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3491">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34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1" grpId="0" uiExpand="1" build="p"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4439036" cy="1446550"/>
          </a:xfrm>
          <a:prstGeom prst="rect">
            <a:avLst/>
          </a:prstGeom>
        </p:spPr>
        <p:txBody>
          <a:bodyPr wrap="none">
            <a:spAutoFit/>
          </a:bodyPr>
          <a:lstStyle/>
          <a:p>
            <a:r>
              <a:rPr lang="en-US" altLang="zh-CN" sz="4400" b="1" dirty="0">
                <a:solidFill>
                  <a:srgbClr val="CC0099"/>
                </a:solidFill>
                <a:ea typeface="隶书" pitchFamily="49" charset="-122"/>
              </a:rPr>
              <a:t>2</a:t>
            </a:r>
            <a:r>
              <a:rPr lang="zh-CN" altLang="en-US" sz="4400" b="1" dirty="0">
                <a:solidFill>
                  <a:srgbClr val="CC0099"/>
                </a:solidFill>
                <a:ea typeface="隶书" pitchFamily="49" charset="-122"/>
              </a:rPr>
              <a:t>、</a:t>
            </a:r>
            <a:r>
              <a:rPr lang="en-US" altLang="zh-CN" sz="4400" b="1" dirty="0">
                <a:solidFill>
                  <a:srgbClr val="CC0099"/>
                </a:solidFill>
                <a:ea typeface="隶书" pitchFamily="49" charset="-122"/>
              </a:rPr>
              <a:t>LL(1)</a:t>
            </a:r>
            <a:r>
              <a:rPr lang="zh-CN" altLang="en-US" sz="4400" b="1" dirty="0">
                <a:solidFill>
                  <a:srgbClr val="CC0099"/>
                </a:solidFill>
                <a:ea typeface="隶书" pitchFamily="49" charset="-122"/>
              </a:rPr>
              <a:t>文法</a:t>
            </a:r>
            <a:endParaRPr lang="en-US" altLang="zh-CN" sz="4400" b="1" dirty="0">
              <a:solidFill>
                <a:srgbClr val="CC0099"/>
              </a:solidFill>
              <a:ea typeface="隶书" pitchFamily="49" charset="-122"/>
            </a:endParaRPr>
          </a:p>
          <a:p>
            <a:r>
              <a:rPr lang="en-US" altLang="zh-CN" sz="4400" b="1" dirty="0">
                <a:solidFill>
                  <a:srgbClr val="CC0099"/>
                </a:solidFill>
                <a:ea typeface="隶书" pitchFamily="49" charset="-122"/>
              </a:rPr>
              <a:t>     ——follow</a:t>
            </a:r>
            <a:r>
              <a:rPr lang="zh-CN" altLang="en-US" sz="4400" b="1" dirty="0">
                <a:solidFill>
                  <a:srgbClr val="CC0099"/>
                </a:solidFill>
                <a:ea typeface="隶书" pitchFamily="49" charset="-122"/>
              </a:rPr>
              <a:t>集</a:t>
            </a:r>
            <a:endParaRPr lang="zh-CN" altLang="en-US" sz="4400" dirty="0"/>
          </a:p>
        </p:txBody>
      </p:sp>
    </p:spTree>
    <p:extLst>
      <p:ext uri="{BB962C8B-B14F-4D97-AF65-F5344CB8AC3E}">
        <p14:creationId xmlns:p14="http://schemas.microsoft.com/office/powerpoint/2010/main" val="188008087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ChangeArrowheads="1"/>
          </p:cNvSpPr>
          <p:nvPr/>
        </p:nvSpPr>
        <p:spPr bwMode="auto">
          <a:xfrm>
            <a:off x="476250" y="500063"/>
            <a:ext cx="7772400"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zh-CN" sz="5400" b="1">
              <a:solidFill>
                <a:srgbClr val="CC0099"/>
              </a:solidFill>
              <a:ea typeface="隶书" pitchFamily="49" charset="-122"/>
            </a:endParaRPr>
          </a:p>
        </p:txBody>
      </p:sp>
      <p:sp>
        <p:nvSpPr>
          <p:cNvPr id="64515" name="Rectangle 3"/>
          <p:cNvSpPr>
            <a:spLocks noChangeArrowheads="1"/>
          </p:cNvSpPr>
          <p:nvPr/>
        </p:nvSpPr>
        <p:spPr bwMode="auto">
          <a:xfrm>
            <a:off x="795338" y="1814513"/>
            <a:ext cx="7586662" cy="1089529"/>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marL="476250" indent="-476250">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buFontTx/>
              <a:buNone/>
              <a:defRPr/>
            </a:pPr>
            <a:r>
              <a:rPr lang="en-US" altLang="zh-CN" sz="2400" dirty="0"/>
              <a:t>	</a:t>
            </a:r>
            <a:r>
              <a:rPr lang="zh-CN" altLang="en-US" sz="2400" dirty="0"/>
              <a:t>是否满足：</a:t>
            </a:r>
            <a:r>
              <a:rPr lang="zh-CN" altLang="en-US" sz="2400" dirty="0">
                <a:solidFill>
                  <a:srgbClr val="FF0000"/>
                </a:solidFill>
              </a:rPr>
              <a:t>没有左递归</a:t>
            </a:r>
            <a:r>
              <a:rPr lang="zh-CN" altLang="en-US" sz="2400" dirty="0"/>
              <a:t>，每个侯选式的</a:t>
            </a:r>
            <a:r>
              <a:rPr lang="zh-CN" altLang="en-US" sz="2400" dirty="0">
                <a:solidFill>
                  <a:srgbClr val="FF0000"/>
                </a:solidFill>
              </a:rPr>
              <a:t>首终结符集不相交</a:t>
            </a:r>
            <a:r>
              <a:rPr lang="zh-CN" altLang="en-US" sz="2400" dirty="0"/>
              <a:t>这两个条件，就一定能进行确定的自上而下的分析呢？</a:t>
            </a:r>
          </a:p>
        </p:txBody>
      </p:sp>
      <p:sp>
        <p:nvSpPr>
          <p:cNvPr id="65540" name="Rectangle 4"/>
          <p:cNvSpPr>
            <a:spLocks noGrp="1" noChangeArrowheads="1"/>
          </p:cNvSpPr>
          <p:nvPr>
            <p:ph type="title"/>
          </p:nvPr>
        </p:nvSpPr>
        <p:spPr>
          <a:xfrm>
            <a:off x="609600" y="542925"/>
            <a:ext cx="7772400" cy="857250"/>
          </a:xfrm>
          <a:noFill/>
        </p:spPr>
        <p:txBody>
          <a:bodyPr>
            <a:normAutofit fontScale="90000"/>
          </a:bodyPr>
          <a:lstStyle/>
          <a:p>
            <a:pPr eaLnBrk="1" hangingPunct="1"/>
            <a:r>
              <a:rPr lang="zh-CN" altLang="en-US" sz="5400">
                <a:solidFill>
                  <a:schemeClr val="tx1"/>
                </a:solidFill>
                <a:ea typeface="隶书" pitchFamily="49" charset="-122"/>
              </a:rPr>
              <a:t>思考题</a:t>
            </a:r>
          </a:p>
        </p:txBody>
      </p:sp>
      <p:pic>
        <p:nvPicPr>
          <p:cNvPr id="5" name="Picture 2" descr="https://timgsa.baidu.com/timg?image&amp;quality=80&amp;size=b9999_10000&amp;sec=1581913474160&amp;di=686d46b2d917d6be39cf6a37bd9bf83d&amp;imgtype=0&amp;src=http%3A%2F%2Fwww.onlycollege.com.cn%2Fnews%2Fh000%2Fh77%2Fimg201412191409350.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34517" y="0"/>
            <a:ext cx="1702180" cy="16356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691568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3"/>
          <p:cNvSpPr>
            <a:spLocks noGrp="1" noChangeArrowheads="1"/>
          </p:cNvSpPr>
          <p:nvPr>
            <p:ph type="body" idx="1"/>
          </p:nvPr>
        </p:nvSpPr>
        <p:spPr>
          <a:xfrm>
            <a:off x="3658228" y="257528"/>
            <a:ext cx="4224213" cy="690563"/>
          </a:xfrm>
        </p:spPr>
        <p:txBody>
          <a:bodyPr>
            <a:normAutofit fontScale="70000" lnSpcReduction="20000"/>
          </a:bodyPr>
          <a:lstStyle/>
          <a:p>
            <a:pPr marL="109728" indent="0" eaLnBrk="1" hangingPunct="1">
              <a:buNone/>
            </a:pPr>
            <a:r>
              <a:rPr lang="zh-CN" altLang="en-US" sz="2800" dirty="0"/>
              <a:t>例</a:t>
            </a:r>
            <a:r>
              <a:rPr lang="en-US" altLang="zh-CN" sz="2800" dirty="0"/>
              <a:t>3</a:t>
            </a:r>
            <a:r>
              <a:rPr lang="zh-CN" altLang="en-US" sz="2800" dirty="0"/>
              <a:t>：使用左边的文法对</a:t>
            </a:r>
            <a:r>
              <a:rPr lang="zh-CN" altLang="en-US" dirty="0">
                <a:solidFill>
                  <a:srgbClr val="FF3300"/>
                </a:solidFill>
              </a:rPr>
              <a:t> </a:t>
            </a:r>
            <a:endParaRPr lang="en-US" altLang="zh-CN" dirty="0">
              <a:solidFill>
                <a:srgbClr val="FF3300"/>
              </a:solidFill>
            </a:endParaRPr>
          </a:p>
          <a:p>
            <a:pPr marL="109728" indent="0" eaLnBrk="1" hangingPunct="1">
              <a:buNone/>
            </a:pPr>
            <a:r>
              <a:rPr lang="en-US" altLang="zh-CN" dirty="0" err="1">
                <a:solidFill>
                  <a:srgbClr val="FF3300"/>
                </a:solidFill>
              </a:rPr>
              <a:t>i</a:t>
            </a:r>
            <a:r>
              <a:rPr lang="en-US" altLang="zh-CN" dirty="0">
                <a:solidFill>
                  <a:srgbClr val="FF3300"/>
                </a:solidFill>
              </a:rPr>
              <a:t> + </a:t>
            </a:r>
            <a:r>
              <a:rPr lang="en-US" altLang="zh-CN" dirty="0" err="1">
                <a:solidFill>
                  <a:srgbClr val="FF3300"/>
                </a:solidFill>
              </a:rPr>
              <a:t>i</a:t>
            </a:r>
            <a:r>
              <a:rPr lang="en-US" altLang="zh-CN" sz="2800" dirty="0"/>
              <a:t> </a:t>
            </a:r>
            <a:r>
              <a:rPr lang="zh-CN" altLang="en-US" sz="2800" dirty="0"/>
              <a:t>进行自上而下的分析。</a:t>
            </a:r>
          </a:p>
        </p:txBody>
      </p:sp>
      <p:sp>
        <p:nvSpPr>
          <p:cNvPr id="178180" name="Text Box 4"/>
          <p:cNvSpPr txBox="1">
            <a:spLocks noChangeArrowheads="1"/>
          </p:cNvSpPr>
          <p:nvPr/>
        </p:nvSpPr>
        <p:spPr bwMode="auto">
          <a:xfrm>
            <a:off x="640507" y="267494"/>
            <a:ext cx="2419325" cy="1988237"/>
          </a:xfrm>
          <a:prstGeom prst="rect">
            <a:avLst/>
          </a:prstGeom>
          <a:ln>
            <a:headEnd/>
            <a:tailEnd/>
          </a:ln>
        </p:spPr>
        <p:style>
          <a:lnRef idx="2">
            <a:schemeClr val="accent4"/>
          </a:lnRef>
          <a:fillRef idx="1">
            <a:schemeClr val="lt1"/>
          </a:fillRef>
          <a:effectRef idx="0">
            <a:schemeClr val="accent4"/>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15000"/>
              </a:spcBef>
              <a:buFontTx/>
              <a:buNone/>
            </a:pPr>
            <a:r>
              <a:rPr lang="en-US" altLang="zh-CN" sz="2200" b="1" dirty="0"/>
              <a:t>     E </a:t>
            </a:r>
            <a:r>
              <a:rPr lang="en-US" altLang="zh-CN" sz="2200" b="1" dirty="0">
                <a:sym typeface="Wingdings" pitchFamily="2" charset="2"/>
              </a:rPr>
              <a:t></a:t>
            </a:r>
            <a:r>
              <a:rPr lang="en-US" altLang="zh-CN" sz="2200" b="1" dirty="0"/>
              <a:t> TE'</a:t>
            </a:r>
          </a:p>
          <a:p>
            <a:pPr eaLnBrk="1" hangingPunct="1">
              <a:spcBef>
                <a:spcPct val="15000"/>
              </a:spcBef>
              <a:buFontTx/>
              <a:buNone/>
            </a:pPr>
            <a:r>
              <a:rPr lang="en-US" altLang="zh-CN" sz="2200" b="1" dirty="0"/>
              <a:t>     E'</a:t>
            </a:r>
            <a:r>
              <a:rPr lang="en-US" altLang="zh-CN" sz="2200" b="1" dirty="0">
                <a:sym typeface="Wingdings" pitchFamily="2" charset="2"/>
              </a:rPr>
              <a:t></a:t>
            </a:r>
            <a:r>
              <a:rPr lang="en-US" altLang="zh-CN" sz="2200" b="1" dirty="0"/>
              <a:t> </a:t>
            </a:r>
            <a:r>
              <a:rPr lang="en-US" altLang="zh-CN" sz="2200" b="1" dirty="0">
                <a:ea typeface="华文行楷" pitchFamily="2" charset="-122"/>
              </a:rPr>
              <a:t>+TE</a:t>
            </a:r>
            <a:r>
              <a:rPr lang="en-US" altLang="zh-CN" sz="2200" b="1" dirty="0"/>
              <a:t>'</a:t>
            </a:r>
            <a:r>
              <a:rPr lang="en-US" altLang="zh-CN" sz="2200" b="1" dirty="0">
                <a:ea typeface="华文行楷" pitchFamily="2" charset="-122"/>
              </a:rPr>
              <a:t>| ε</a:t>
            </a:r>
            <a:endParaRPr lang="en-US" altLang="zh-CN" sz="2200" b="1" dirty="0"/>
          </a:p>
          <a:p>
            <a:pPr eaLnBrk="1" hangingPunct="1">
              <a:spcBef>
                <a:spcPct val="15000"/>
              </a:spcBef>
              <a:buFontTx/>
              <a:buNone/>
            </a:pPr>
            <a:r>
              <a:rPr lang="en-US" altLang="zh-CN" sz="2200" b="1" dirty="0"/>
              <a:t>     T </a:t>
            </a:r>
            <a:r>
              <a:rPr lang="en-US" altLang="zh-CN" sz="2200" b="1" dirty="0">
                <a:sym typeface="Wingdings" pitchFamily="2" charset="2"/>
              </a:rPr>
              <a:t></a:t>
            </a:r>
            <a:r>
              <a:rPr lang="en-US" altLang="zh-CN" sz="2200" b="1" dirty="0"/>
              <a:t> FT'</a:t>
            </a:r>
          </a:p>
          <a:p>
            <a:pPr eaLnBrk="1" hangingPunct="1">
              <a:spcBef>
                <a:spcPct val="15000"/>
              </a:spcBef>
              <a:buFontTx/>
              <a:buNone/>
            </a:pPr>
            <a:r>
              <a:rPr lang="en-US" altLang="zh-CN" sz="2200" b="1" dirty="0"/>
              <a:t>     T' </a:t>
            </a:r>
            <a:r>
              <a:rPr lang="en-US" altLang="zh-CN" sz="2200" b="1" dirty="0">
                <a:sym typeface="Wingdings" pitchFamily="2" charset="2"/>
              </a:rPr>
              <a:t></a:t>
            </a:r>
            <a:r>
              <a:rPr lang="en-US" altLang="zh-CN" sz="2200" b="1" dirty="0"/>
              <a:t> *FT '| </a:t>
            </a:r>
            <a:r>
              <a:rPr lang="en-US" altLang="zh-CN" sz="2200" b="1" dirty="0">
                <a:ea typeface="华文行楷" pitchFamily="2" charset="-122"/>
              </a:rPr>
              <a:t>ε</a:t>
            </a:r>
            <a:endParaRPr lang="en-US" altLang="zh-CN" sz="2200" b="1" dirty="0"/>
          </a:p>
          <a:p>
            <a:pPr eaLnBrk="1" hangingPunct="1">
              <a:spcBef>
                <a:spcPct val="15000"/>
              </a:spcBef>
              <a:buFontTx/>
              <a:buNone/>
            </a:pPr>
            <a:r>
              <a:rPr lang="en-US" altLang="zh-CN" sz="2200" b="1" dirty="0"/>
              <a:t>     F </a:t>
            </a:r>
            <a:r>
              <a:rPr lang="en-US" altLang="zh-CN" sz="2200" b="1" dirty="0">
                <a:sym typeface="Wingdings" pitchFamily="2" charset="2"/>
              </a:rPr>
              <a:t></a:t>
            </a:r>
            <a:r>
              <a:rPr lang="en-US" altLang="zh-CN" sz="2200" b="1" dirty="0"/>
              <a:t>(E)|</a:t>
            </a:r>
            <a:r>
              <a:rPr lang="en-US" altLang="zh-CN" sz="2200" b="1" dirty="0" err="1"/>
              <a:t>i</a:t>
            </a:r>
            <a:endParaRPr lang="en-US" altLang="zh-CN" sz="2200" b="1" dirty="0"/>
          </a:p>
        </p:txBody>
      </p:sp>
      <p:sp>
        <p:nvSpPr>
          <p:cNvPr id="178182" name="Text Box 6"/>
          <p:cNvSpPr txBox="1">
            <a:spLocks noChangeArrowheads="1"/>
          </p:cNvSpPr>
          <p:nvPr/>
        </p:nvSpPr>
        <p:spPr bwMode="auto">
          <a:xfrm>
            <a:off x="334016" y="2355726"/>
            <a:ext cx="38417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ea typeface="华文行楷" pitchFamily="2" charset="-122"/>
              </a:rPr>
              <a:t>第一步：</a:t>
            </a:r>
            <a:r>
              <a:rPr lang="en-US" altLang="zh-CN" sz="2400" dirty="0" err="1">
                <a:ea typeface="华文行楷" pitchFamily="2" charset="-122"/>
              </a:rPr>
              <a:t>i∈First</a:t>
            </a:r>
            <a:r>
              <a:rPr lang="en-US" altLang="zh-CN" sz="2400" dirty="0">
                <a:ea typeface="华文行楷" pitchFamily="2" charset="-122"/>
              </a:rPr>
              <a:t>(TE</a:t>
            </a:r>
            <a:r>
              <a:rPr lang="en-US" altLang="zh-CN" sz="2400" dirty="0"/>
              <a:t>'</a:t>
            </a:r>
            <a:r>
              <a:rPr lang="en-US" altLang="zh-CN" sz="2400" dirty="0">
                <a:ea typeface="华文行楷" pitchFamily="2" charset="-122"/>
              </a:rPr>
              <a:t>)</a:t>
            </a:r>
          </a:p>
        </p:txBody>
      </p:sp>
      <p:grpSp>
        <p:nvGrpSpPr>
          <p:cNvPr id="2" name="Group 25"/>
          <p:cNvGrpSpPr>
            <a:grpSpLocks/>
          </p:cNvGrpSpPr>
          <p:nvPr/>
        </p:nvGrpSpPr>
        <p:grpSpPr bwMode="auto">
          <a:xfrm>
            <a:off x="5221188" y="948091"/>
            <a:ext cx="1943100" cy="991594"/>
            <a:chOff x="3334" y="1434"/>
            <a:chExt cx="1224" cy="833"/>
          </a:xfrm>
        </p:grpSpPr>
        <p:sp>
          <p:nvSpPr>
            <p:cNvPr id="68638" name="Text Box 11"/>
            <p:cNvSpPr txBox="1">
              <a:spLocks noChangeArrowheads="1"/>
            </p:cNvSpPr>
            <p:nvPr/>
          </p:nvSpPr>
          <p:spPr bwMode="auto">
            <a:xfrm>
              <a:off x="3696" y="1434"/>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E</a:t>
              </a:r>
            </a:p>
          </p:txBody>
        </p:sp>
        <p:sp>
          <p:nvSpPr>
            <p:cNvPr id="68639" name="Text Box 12"/>
            <p:cNvSpPr txBox="1">
              <a:spLocks noChangeArrowheads="1"/>
            </p:cNvSpPr>
            <p:nvPr/>
          </p:nvSpPr>
          <p:spPr bwMode="auto">
            <a:xfrm>
              <a:off x="3334" y="1828"/>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p>
          </p:txBody>
        </p:sp>
        <p:sp>
          <p:nvSpPr>
            <p:cNvPr id="68640" name="Text Box 13"/>
            <p:cNvSpPr txBox="1">
              <a:spLocks noChangeArrowheads="1"/>
            </p:cNvSpPr>
            <p:nvPr/>
          </p:nvSpPr>
          <p:spPr bwMode="auto">
            <a:xfrm>
              <a:off x="4059" y="1797"/>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E</a:t>
              </a:r>
              <a:r>
                <a:rPr lang="en-US" altLang="zh-CN" sz="2800" b="1"/>
                <a:t>'</a:t>
              </a:r>
              <a:endParaRPr lang="en-US" altLang="zh-CN" sz="2800">
                <a:ea typeface="华文行楷" pitchFamily="2" charset="-122"/>
              </a:endParaRPr>
            </a:p>
          </p:txBody>
        </p:sp>
        <p:sp>
          <p:nvSpPr>
            <p:cNvPr id="68644" name="Line 20"/>
            <p:cNvSpPr>
              <a:spLocks noChangeShapeType="1"/>
            </p:cNvSpPr>
            <p:nvPr/>
          </p:nvSpPr>
          <p:spPr bwMode="auto">
            <a:xfrm flipH="1">
              <a:off x="3606" y="1661"/>
              <a:ext cx="227"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5" name="Line 21"/>
            <p:cNvSpPr>
              <a:spLocks noChangeShapeType="1"/>
            </p:cNvSpPr>
            <p:nvPr/>
          </p:nvSpPr>
          <p:spPr bwMode="auto">
            <a:xfrm>
              <a:off x="4014" y="1661"/>
              <a:ext cx="181" cy="1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78209" name="Rectangle 33"/>
          <p:cNvSpPr>
            <a:spLocks noChangeArrowheads="1"/>
          </p:cNvSpPr>
          <p:nvPr/>
        </p:nvSpPr>
        <p:spPr bwMode="auto">
          <a:xfrm>
            <a:off x="4740275" y="3878263"/>
            <a:ext cx="3529013"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a:ea typeface="华文行楷" pitchFamily="2" charset="-122"/>
              </a:rPr>
              <a:t>第三步：</a:t>
            </a:r>
            <a:r>
              <a:rPr lang="en-US" altLang="zh-CN" sz="2800">
                <a:ea typeface="华文行楷" pitchFamily="2" charset="-122"/>
              </a:rPr>
              <a:t>+</a:t>
            </a:r>
            <a:r>
              <a:rPr lang="en-US" altLang="zh-CN" sz="2800" b="1">
                <a:solidFill>
                  <a:schemeClr val="accent2"/>
                </a:solidFill>
                <a:ea typeface="华文行楷" pitchFamily="2" charset="-122"/>
              </a:rPr>
              <a:t>∈First(E</a:t>
            </a:r>
            <a:r>
              <a:rPr lang="en-US" altLang="zh-CN" sz="3600" b="1">
                <a:solidFill>
                  <a:srgbClr val="0066FF"/>
                </a:solidFill>
              </a:rPr>
              <a:t>'</a:t>
            </a:r>
            <a:r>
              <a:rPr lang="en-US" altLang="zh-CN" sz="2800" b="1">
                <a:solidFill>
                  <a:srgbClr val="0066FF"/>
                </a:solidFill>
                <a:ea typeface="华文行楷" pitchFamily="2" charset="-122"/>
              </a:rPr>
              <a:t>)</a:t>
            </a:r>
          </a:p>
          <a:p>
            <a:pPr eaLnBrk="1" hangingPunct="1">
              <a:spcBef>
                <a:spcPct val="0"/>
              </a:spcBef>
              <a:buFontTx/>
              <a:buNone/>
            </a:pPr>
            <a:r>
              <a:rPr lang="en-US" altLang="zh-CN" sz="2800" b="1">
                <a:solidFill>
                  <a:schemeClr val="accent2"/>
                </a:solidFill>
                <a:ea typeface="华文行楷" pitchFamily="2" charset="-122"/>
              </a:rPr>
              <a:t>……</a:t>
            </a:r>
          </a:p>
        </p:txBody>
      </p:sp>
      <p:sp>
        <p:nvSpPr>
          <p:cNvPr id="178210" name="Rectangle 34"/>
          <p:cNvSpPr>
            <a:spLocks noChangeArrowheads="1"/>
          </p:cNvSpPr>
          <p:nvPr/>
        </p:nvSpPr>
        <p:spPr bwMode="auto">
          <a:xfrm>
            <a:off x="251520" y="3687163"/>
            <a:ext cx="2871299" cy="830997"/>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ea typeface="华文行楷" pitchFamily="2" charset="-122"/>
              </a:rPr>
              <a:t>第二步：</a:t>
            </a:r>
            <a:r>
              <a:rPr lang="en-US" altLang="zh-CN" sz="2400" dirty="0">
                <a:ea typeface="华文行楷" pitchFamily="2" charset="-122"/>
              </a:rPr>
              <a:t>+</a:t>
            </a:r>
            <a:r>
              <a:rPr lang="en-US" altLang="zh-CN" sz="2400" dirty="0">
                <a:solidFill>
                  <a:schemeClr val="accent2"/>
                </a:solidFill>
                <a:ea typeface="华文行楷" pitchFamily="2" charset="-122"/>
                <a:sym typeface="Symbol" pitchFamily="18" charset="2"/>
              </a:rPr>
              <a:t>F</a:t>
            </a:r>
            <a:r>
              <a:rPr lang="en-US" altLang="zh-CN" sz="2400" dirty="0">
                <a:solidFill>
                  <a:schemeClr val="accent2"/>
                </a:solidFill>
                <a:ea typeface="华文行楷" pitchFamily="2" charset="-122"/>
              </a:rPr>
              <a:t>irst(T</a:t>
            </a:r>
            <a:r>
              <a:rPr lang="en-US" altLang="zh-CN" sz="2400" dirty="0">
                <a:solidFill>
                  <a:srgbClr val="0066FF"/>
                </a:solidFill>
              </a:rPr>
              <a:t>'</a:t>
            </a:r>
            <a:r>
              <a:rPr lang="en-US" altLang="zh-CN" sz="2400" dirty="0">
                <a:solidFill>
                  <a:schemeClr val="accent2"/>
                </a:solidFill>
                <a:ea typeface="华文行楷" pitchFamily="2" charset="-122"/>
              </a:rPr>
              <a:t>)</a:t>
            </a:r>
          </a:p>
          <a:p>
            <a:pPr>
              <a:spcBef>
                <a:spcPct val="0"/>
              </a:spcBef>
              <a:buNone/>
            </a:pPr>
            <a:r>
              <a:rPr lang="en-US" altLang="zh-CN" sz="2400" dirty="0">
                <a:solidFill>
                  <a:schemeClr val="accent2"/>
                </a:solidFill>
                <a:ea typeface="华文行楷" pitchFamily="2" charset="-122"/>
              </a:rPr>
              <a:t>               </a:t>
            </a:r>
            <a:endParaRPr lang="en-US" altLang="zh-CN" sz="2400" dirty="0">
              <a:ea typeface="华文行楷" pitchFamily="2" charset="-122"/>
            </a:endParaRPr>
          </a:p>
        </p:txBody>
      </p:sp>
      <p:grpSp>
        <p:nvGrpSpPr>
          <p:cNvPr id="3" name="Group 45"/>
          <p:cNvGrpSpPr>
            <a:grpSpLocks/>
          </p:cNvGrpSpPr>
          <p:nvPr/>
        </p:nvGrpSpPr>
        <p:grpSpPr bwMode="auto">
          <a:xfrm>
            <a:off x="6372745" y="1851670"/>
            <a:ext cx="1871663" cy="900112"/>
            <a:chOff x="4332" y="1752"/>
            <a:chExt cx="1179" cy="756"/>
          </a:xfrm>
        </p:grpSpPr>
        <p:sp>
          <p:nvSpPr>
            <p:cNvPr id="68632" name="Text Box 37"/>
            <p:cNvSpPr txBox="1">
              <a:spLocks noChangeArrowheads="1"/>
            </p:cNvSpPr>
            <p:nvPr/>
          </p:nvSpPr>
          <p:spPr bwMode="auto">
            <a:xfrm>
              <a:off x="4332" y="2069"/>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a:t>
              </a:r>
            </a:p>
          </p:txBody>
        </p:sp>
        <p:sp>
          <p:nvSpPr>
            <p:cNvPr id="68633" name="Text Box 38"/>
            <p:cNvSpPr txBox="1">
              <a:spLocks noChangeArrowheads="1"/>
            </p:cNvSpPr>
            <p:nvPr/>
          </p:nvSpPr>
          <p:spPr bwMode="auto">
            <a:xfrm>
              <a:off x="4649" y="2039"/>
              <a:ext cx="31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p>
          </p:txBody>
        </p:sp>
        <p:sp>
          <p:nvSpPr>
            <p:cNvPr id="68634" name="Text Box 39"/>
            <p:cNvSpPr txBox="1">
              <a:spLocks noChangeArrowheads="1"/>
            </p:cNvSpPr>
            <p:nvPr/>
          </p:nvSpPr>
          <p:spPr bwMode="auto">
            <a:xfrm>
              <a:off x="5103" y="2054"/>
              <a:ext cx="40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E</a:t>
              </a:r>
              <a:r>
                <a:rPr lang="en-US" altLang="zh-CN" sz="2800" b="1" dirty="0"/>
                <a:t>'</a:t>
              </a:r>
            </a:p>
          </p:txBody>
        </p:sp>
        <p:sp>
          <p:nvSpPr>
            <p:cNvPr id="68635" name="Line 40"/>
            <p:cNvSpPr>
              <a:spLocks noChangeShapeType="1"/>
            </p:cNvSpPr>
            <p:nvPr/>
          </p:nvSpPr>
          <p:spPr bwMode="auto">
            <a:xfrm flipH="1">
              <a:off x="4422" y="1797"/>
              <a:ext cx="91"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6" name="Line 41"/>
            <p:cNvSpPr>
              <a:spLocks noChangeShapeType="1"/>
            </p:cNvSpPr>
            <p:nvPr/>
          </p:nvSpPr>
          <p:spPr bwMode="auto">
            <a:xfrm>
              <a:off x="4604" y="1797"/>
              <a:ext cx="181"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7" name="Line 42"/>
            <p:cNvSpPr>
              <a:spLocks noChangeShapeType="1"/>
            </p:cNvSpPr>
            <p:nvPr/>
          </p:nvSpPr>
          <p:spPr bwMode="auto">
            <a:xfrm>
              <a:off x="4649" y="1752"/>
              <a:ext cx="590" cy="31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 name="Group 52"/>
          <p:cNvGrpSpPr>
            <a:grpSpLocks/>
          </p:cNvGrpSpPr>
          <p:nvPr/>
        </p:nvGrpSpPr>
        <p:grpSpPr bwMode="auto">
          <a:xfrm>
            <a:off x="6587207" y="2643759"/>
            <a:ext cx="1227138" cy="1458903"/>
            <a:chOff x="4512" y="2296"/>
            <a:chExt cx="773" cy="1226"/>
          </a:xfrm>
        </p:grpSpPr>
        <p:sp>
          <p:nvSpPr>
            <p:cNvPr id="68626" name="Text Box 46"/>
            <p:cNvSpPr txBox="1">
              <a:spLocks noChangeArrowheads="1"/>
            </p:cNvSpPr>
            <p:nvPr/>
          </p:nvSpPr>
          <p:spPr bwMode="auto">
            <a:xfrm>
              <a:off x="4513" y="2538"/>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F</a:t>
              </a:r>
            </a:p>
          </p:txBody>
        </p:sp>
        <p:sp>
          <p:nvSpPr>
            <p:cNvPr id="68627" name="Text Box 47"/>
            <p:cNvSpPr txBox="1">
              <a:spLocks noChangeArrowheads="1"/>
            </p:cNvSpPr>
            <p:nvPr/>
          </p:nvSpPr>
          <p:spPr bwMode="auto">
            <a:xfrm>
              <a:off x="4967" y="2478"/>
              <a:ext cx="31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r>
                <a:rPr lang="en-US" altLang="zh-CN" sz="2800" b="1" dirty="0"/>
                <a:t>'</a:t>
              </a:r>
              <a:endParaRPr lang="en-US" altLang="zh-CN" sz="2800" dirty="0">
                <a:ea typeface="华文行楷" pitchFamily="2" charset="-122"/>
              </a:endParaRPr>
            </a:p>
          </p:txBody>
        </p:sp>
        <p:sp>
          <p:nvSpPr>
            <p:cNvPr id="68628" name="Line 48"/>
            <p:cNvSpPr>
              <a:spLocks noChangeShapeType="1"/>
            </p:cNvSpPr>
            <p:nvPr/>
          </p:nvSpPr>
          <p:spPr bwMode="auto">
            <a:xfrm flipH="1">
              <a:off x="4649" y="2296"/>
              <a:ext cx="136" cy="29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29" name="Line 49"/>
            <p:cNvSpPr>
              <a:spLocks noChangeShapeType="1"/>
            </p:cNvSpPr>
            <p:nvPr/>
          </p:nvSpPr>
          <p:spPr bwMode="auto">
            <a:xfrm>
              <a:off x="4876" y="2296"/>
              <a:ext cx="227"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0" name="Text Box 50"/>
            <p:cNvSpPr txBox="1">
              <a:spLocks noChangeArrowheads="1"/>
            </p:cNvSpPr>
            <p:nvPr/>
          </p:nvSpPr>
          <p:spPr bwMode="auto">
            <a:xfrm>
              <a:off x="4512" y="3083"/>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i</a:t>
              </a:r>
            </a:p>
          </p:txBody>
        </p:sp>
        <p:sp>
          <p:nvSpPr>
            <p:cNvPr id="68631" name="Line 51"/>
            <p:cNvSpPr>
              <a:spLocks noChangeShapeType="1"/>
            </p:cNvSpPr>
            <p:nvPr/>
          </p:nvSpPr>
          <p:spPr bwMode="auto">
            <a:xfrm>
              <a:off x="4603" y="2916"/>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 name="Group 59"/>
          <p:cNvGrpSpPr>
            <a:grpSpLocks/>
          </p:cNvGrpSpPr>
          <p:nvPr/>
        </p:nvGrpSpPr>
        <p:grpSpPr bwMode="auto">
          <a:xfrm>
            <a:off x="7402016" y="2762821"/>
            <a:ext cx="914400" cy="1298575"/>
            <a:chOff x="4968" y="2341"/>
            <a:chExt cx="576" cy="1091"/>
          </a:xfrm>
        </p:grpSpPr>
        <p:sp>
          <p:nvSpPr>
            <p:cNvPr id="68622" name="Rectangle 26"/>
            <p:cNvSpPr>
              <a:spLocks noChangeArrowheads="1"/>
            </p:cNvSpPr>
            <p:nvPr/>
          </p:nvSpPr>
          <p:spPr bwMode="auto">
            <a:xfrm>
              <a:off x="4968" y="2993"/>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dirty="0">
                  <a:ea typeface="华文行楷" pitchFamily="2" charset="-122"/>
                </a:rPr>
                <a:t>ε</a:t>
              </a:r>
            </a:p>
          </p:txBody>
        </p:sp>
        <p:sp>
          <p:nvSpPr>
            <p:cNvPr id="68623" name="Line 27"/>
            <p:cNvSpPr>
              <a:spLocks noChangeShapeType="1"/>
            </p:cNvSpPr>
            <p:nvPr/>
          </p:nvSpPr>
          <p:spPr bwMode="auto">
            <a:xfrm>
              <a:off x="5045" y="2815"/>
              <a:ext cx="0" cy="2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24" name="Rectangle 54"/>
            <p:cNvSpPr>
              <a:spLocks noChangeArrowheads="1"/>
            </p:cNvSpPr>
            <p:nvPr/>
          </p:nvSpPr>
          <p:spPr bwMode="auto">
            <a:xfrm>
              <a:off x="5331" y="2630"/>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a:ea typeface="华文行楷" pitchFamily="2" charset="-122"/>
                </a:rPr>
                <a:t>ε</a:t>
              </a:r>
            </a:p>
          </p:txBody>
        </p:sp>
        <p:sp>
          <p:nvSpPr>
            <p:cNvPr id="68625" name="Line 55"/>
            <p:cNvSpPr>
              <a:spLocks noChangeShapeType="1"/>
            </p:cNvSpPr>
            <p:nvPr/>
          </p:nvSpPr>
          <p:spPr bwMode="auto">
            <a:xfrm>
              <a:off x="5317" y="2341"/>
              <a:ext cx="91" cy="3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 name="Group 56"/>
          <p:cNvGrpSpPr>
            <a:grpSpLocks/>
          </p:cNvGrpSpPr>
          <p:nvPr/>
        </p:nvGrpSpPr>
        <p:grpSpPr bwMode="auto">
          <a:xfrm>
            <a:off x="5767593" y="2474437"/>
            <a:ext cx="338138" cy="758825"/>
            <a:chOff x="3970" y="2205"/>
            <a:chExt cx="213" cy="637"/>
          </a:xfrm>
        </p:grpSpPr>
        <p:sp>
          <p:nvSpPr>
            <p:cNvPr id="68620" name="Rectangle 57"/>
            <p:cNvSpPr>
              <a:spLocks noChangeArrowheads="1"/>
            </p:cNvSpPr>
            <p:nvPr/>
          </p:nvSpPr>
          <p:spPr bwMode="auto">
            <a:xfrm>
              <a:off x="3970" y="2403"/>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dirty="0">
                  <a:ea typeface="华文行楷" pitchFamily="2" charset="-122"/>
                </a:rPr>
                <a:t>ε</a:t>
              </a:r>
            </a:p>
          </p:txBody>
        </p:sp>
        <p:sp>
          <p:nvSpPr>
            <p:cNvPr id="68621" name="Line 58"/>
            <p:cNvSpPr>
              <a:spLocks noChangeShapeType="1"/>
            </p:cNvSpPr>
            <p:nvPr/>
          </p:nvSpPr>
          <p:spPr bwMode="auto">
            <a:xfrm>
              <a:off x="4059" y="2205"/>
              <a:ext cx="0" cy="2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1" name="Text Box 6"/>
          <p:cNvSpPr txBox="1">
            <a:spLocks noChangeArrowheads="1"/>
          </p:cNvSpPr>
          <p:nvPr/>
        </p:nvSpPr>
        <p:spPr bwMode="auto">
          <a:xfrm>
            <a:off x="1579608" y="2767328"/>
            <a:ext cx="203120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err="1">
                <a:ea typeface="华文行楷" pitchFamily="2" charset="-122"/>
              </a:rPr>
              <a:t>i∈First</a:t>
            </a:r>
            <a:r>
              <a:rPr lang="en-US" altLang="zh-CN" sz="2400" dirty="0">
                <a:ea typeface="华文行楷" pitchFamily="2" charset="-122"/>
              </a:rPr>
              <a:t>(FT</a:t>
            </a:r>
            <a:r>
              <a:rPr lang="en-US" altLang="zh-CN" sz="2400" dirty="0"/>
              <a:t>'</a:t>
            </a:r>
            <a:r>
              <a:rPr lang="en-US" altLang="zh-CN" sz="2400" dirty="0">
                <a:ea typeface="华文行楷" pitchFamily="2" charset="-122"/>
              </a:rPr>
              <a:t>)</a:t>
            </a:r>
          </a:p>
        </p:txBody>
      </p:sp>
      <p:sp>
        <p:nvSpPr>
          <p:cNvPr id="42" name="Text Box 6"/>
          <p:cNvSpPr txBox="1">
            <a:spLocks noChangeArrowheads="1"/>
          </p:cNvSpPr>
          <p:nvPr/>
        </p:nvSpPr>
        <p:spPr bwMode="auto">
          <a:xfrm>
            <a:off x="1563871" y="3157733"/>
            <a:ext cx="17165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err="1">
                <a:ea typeface="华文行楷" pitchFamily="2" charset="-122"/>
              </a:rPr>
              <a:t>i∈First</a:t>
            </a:r>
            <a:r>
              <a:rPr lang="en-US" altLang="zh-CN" sz="2400" dirty="0">
                <a:ea typeface="华文行楷" pitchFamily="2" charset="-122"/>
              </a:rPr>
              <a:t>(F)</a:t>
            </a:r>
          </a:p>
        </p:txBody>
      </p:sp>
      <p:grpSp>
        <p:nvGrpSpPr>
          <p:cNvPr id="43" name="Group 25"/>
          <p:cNvGrpSpPr>
            <a:grpSpLocks/>
          </p:cNvGrpSpPr>
          <p:nvPr/>
        </p:nvGrpSpPr>
        <p:grpSpPr bwMode="auto">
          <a:xfrm>
            <a:off x="4971936" y="1831328"/>
            <a:ext cx="1257300" cy="740422"/>
            <a:chOff x="3167" y="2024"/>
            <a:chExt cx="792" cy="622"/>
          </a:xfrm>
        </p:grpSpPr>
        <p:sp>
          <p:nvSpPr>
            <p:cNvPr id="47" name="Text Box 15"/>
            <p:cNvSpPr txBox="1">
              <a:spLocks noChangeArrowheads="1"/>
            </p:cNvSpPr>
            <p:nvPr/>
          </p:nvSpPr>
          <p:spPr bwMode="auto">
            <a:xfrm>
              <a:off x="3167" y="2200"/>
              <a:ext cx="24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ea typeface="华文行楷" pitchFamily="2" charset="-122"/>
                </a:rPr>
                <a:t>F</a:t>
              </a:r>
            </a:p>
          </p:txBody>
        </p:sp>
        <p:sp>
          <p:nvSpPr>
            <p:cNvPr id="48" name="Text Box 17"/>
            <p:cNvSpPr txBox="1">
              <a:spLocks noChangeArrowheads="1"/>
            </p:cNvSpPr>
            <p:nvPr/>
          </p:nvSpPr>
          <p:spPr bwMode="auto">
            <a:xfrm>
              <a:off x="3642" y="2207"/>
              <a:ext cx="31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T</a:t>
              </a:r>
              <a:r>
                <a:rPr lang="en-US" altLang="zh-CN" sz="2800" b="1"/>
                <a:t>'</a:t>
              </a:r>
            </a:p>
          </p:txBody>
        </p:sp>
        <p:sp>
          <p:nvSpPr>
            <p:cNvPr id="52" name="Line 22"/>
            <p:cNvSpPr>
              <a:spLocks noChangeShapeType="1"/>
            </p:cNvSpPr>
            <p:nvPr/>
          </p:nvSpPr>
          <p:spPr bwMode="auto">
            <a:xfrm flipH="1">
              <a:off x="3334" y="2024"/>
              <a:ext cx="181"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 name="Line 23"/>
            <p:cNvSpPr>
              <a:spLocks noChangeShapeType="1"/>
            </p:cNvSpPr>
            <p:nvPr/>
          </p:nvSpPr>
          <p:spPr bwMode="auto">
            <a:xfrm>
              <a:off x="3606" y="2024"/>
              <a:ext cx="181"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5" name="Group 25"/>
          <p:cNvGrpSpPr>
            <a:grpSpLocks/>
          </p:cNvGrpSpPr>
          <p:nvPr/>
        </p:nvGrpSpPr>
        <p:grpSpPr bwMode="auto">
          <a:xfrm>
            <a:off x="4932040" y="2463925"/>
            <a:ext cx="349782" cy="755897"/>
            <a:chOff x="3194" y="2478"/>
            <a:chExt cx="179" cy="635"/>
          </a:xfrm>
        </p:grpSpPr>
        <p:sp>
          <p:nvSpPr>
            <p:cNvPr id="61" name="Text Box 19"/>
            <p:cNvSpPr txBox="1">
              <a:spLocks noChangeArrowheads="1"/>
            </p:cNvSpPr>
            <p:nvPr/>
          </p:nvSpPr>
          <p:spPr bwMode="auto">
            <a:xfrm>
              <a:off x="3194" y="2674"/>
              <a:ext cx="17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i</a:t>
              </a:r>
            </a:p>
          </p:txBody>
        </p:sp>
        <p:sp>
          <p:nvSpPr>
            <p:cNvPr id="66" name="Line 24"/>
            <p:cNvSpPr>
              <a:spLocks noChangeShapeType="1"/>
            </p:cNvSpPr>
            <p:nvPr/>
          </p:nvSpPr>
          <p:spPr bwMode="auto">
            <a:xfrm>
              <a:off x="3288" y="2478"/>
              <a:ext cx="0" cy="2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 name="矩形 6"/>
          <p:cNvSpPr/>
          <p:nvPr/>
        </p:nvSpPr>
        <p:spPr>
          <a:xfrm>
            <a:off x="7978279" y="571895"/>
            <a:ext cx="1019831" cy="523220"/>
          </a:xfrm>
          <a:prstGeom prst="rect">
            <a:avLst/>
          </a:prstGeom>
        </p:spPr>
        <p:txBody>
          <a:bodyPr wrap="none">
            <a:spAutoFit/>
          </a:bodyPr>
          <a:lstStyle/>
          <a:p>
            <a:r>
              <a:rPr lang="en-US" altLang="zh-CN" sz="2800" dirty="0" err="1">
                <a:solidFill>
                  <a:srgbClr val="FF3300"/>
                </a:solidFill>
              </a:rPr>
              <a:t>i</a:t>
            </a:r>
            <a:r>
              <a:rPr lang="en-US" altLang="zh-CN" sz="2800" dirty="0">
                <a:solidFill>
                  <a:srgbClr val="FF3300"/>
                </a:solidFill>
              </a:rPr>
              <a:t> + </a:t>
            </a:r>
            <a:r>
              <a:rPr lang="en-US" altLang="zh-CN" sz="2800" dirty="0" err="1">
                <a:solidFill>
                  <a:srgbClr val="FF3300"/>
                </a:solidFill>
              </a:rPr>
              <a:t>i</a:t>
            </a:r>
            <a:r>
              <a:rPr lang="en-US" altLang="zh-CN" sz="2800" dirty="0"/>
              <a:t> </a:t>
            </a:r>
            <a:endParaRPr lang="zh-CN" altLang="en-US" sz="2800" dirty="0"/>
          </a:p>
        </p:txBody>
      </p:sp>
      <p:cxnSp>
        <p:nvCxnSpPr>
          <p:cNvPr id="68" name="直接箭头连接符 67"/>
          <p:cNvCxnSpPr/>
          <p:nvPr/>
        </p:nvCxnSpPr>
        <p:spPr>
          <a:xfrm flipV="1">
            <a:off x="8137614" y="1056166"/>
            <a:ext cx="0" cy="648072"/>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flipV="1">
            <a:off x="8460432" y="1078224"/>
            <a:ext cx="0" cy="648072"/>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70" name="Rectangle 34"/>
          <p:cNvSpPr>
            <a:spLocks noChangeArrowheads="1"/>
          </p:cNvSpPr>
          <p:nvPr/>
        </p:nvSpPr>
        <p:spPr bwMode="auto">
          <a:xfrm>
            <a:off x="79823" y="4548726"/>
            <a:ext cx="4007828" cy="461665"/>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accent2"/>
                </a:solidFill>
                <a:ea typeface="华文行楷" pitchFamily="2" charset="-122"/>
              </a:rPr>
              <a:t>用</a:t>
            </a:r>
            <a:r>
              <a:rPr lang="en-US" altLang="zh-CN" sz="2400" dirty="0">
                <a:ea typeface="华文行楷" pitchFamily="2" charset="-122"/>
              </a:rPr>
              <a:t>ε</a:t>
            </a:r>
            <a:r>
              <a:rPr lang="zh-CN" altLang="en-US" sz="2400" dirty="0">
                <a:ea typeface="华文行楷" pitchFamily="2" charset="-122"/>
              </a:rPr>
              <a:t>自动匹配，不读输入符号</a:t>
            </a:r>
          </a:p>
        </p:txBody>
      </p:sp>
      <p:sp>
        <p:nvSpPr>
          <p:cNvPr id="71" name="Rectangle 34"/>
          <p:cNvSpPr>
            <a:spLocks noChangeArrowheads="1"/>
          </p:cNvSpPr>
          <p:nvPr/>
        </p:nvSpPr>
        <p:spPr bwMode="auto">
          <a:xfrm>
            <a:off x="1491647" y="4083918"/>
            <a:ext cx="1635384" cy="461665"/>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400" dirty="0" err="1">
                <a:ea typeface="华文行楷" pitchFamily="2" charset="-122"/>
              </a:rPr>
              <a:t>ε∈First</a:t>
            </a:r>
            <a:r>
              <a:rPr lang="en-US" altLang="zh-CN" sz="2400" dirty="0">
                <a:ea typeface="华文行楷" pitchFamily="2" charset="-122"/>
              </a:rPr>
              <a:t>(</a:t>
            </a:r>
            <a:r>
              <a:rPr lang="en-US" altLang="zh-CN" sz="2400" dirty="0">
                <a:solidFill>
                  <a:schemeClr val="accent2"/>
                </a:solidFill>
                <a:ea typeface="华文行楷" pitchFamily="2" charset="-122"/>
              </a:rPr>
              <a:t>T</a:t>
            </a:r>
            <a:r>
              <a:rPr lang="en-US" altLang="zh-CN" sz="2400" dirty="0">
                <a:solidFill>
                  <a:srgbClr val="0066FF"/>
                </a:solidFill>
              </a:rPr>
              <a:t>'</a:t>
            </a:r>
            <a:r>
              <a:rPr lang="en-US" altLang="zh-CN" sz="2400" dirty="0">
                <a:ea typeface="华文行楷" pitchFamily="2" charset="-122"/>
              </a:rPr>
              <a:t>)</a:t>
            </a:r>
          </a:p>
        </p:txBody>
      </p:sp>
    </p:spTree>
    <p:extLst>
      <p:ext uri="{BB962C8B-B14F-4D97-AF65-F5344CB8AC3E}">
        <p14:creationId xmlns:p14="http://schemas.microsoft.com/office/powerpoint/2010/main" val="1129471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178182"/>
                                        </p:tgtEl>
                                        <p:attrNameLst>
                                          <p:attrName>style.visibility</p:attrName>
                                        </p:attrNameLst>
                                      </p:cBhvr>
                                      <p:to>
                                        <p:strVal val="visible"/>
                                      </p:to>
                                    </p:set>
                                    <p:anim calcmode="lin" valueType="num">
                                      <p:cBhvr additive="base">
                                        <p:cTn id="15" dur="500" fill="hold"/>
                                        <p:tgtEl>
                                          <p:spTgt spid="178182"/>
                                        </p:tgtEl>
                                        <p:attrNameLst>
                                          <p:attrName>ppt_x</p:attrName>
                                        </p:attrNameLst>
                                      </p:cBhvr>
                                      <p:tavLst>
                                        <p:tav tm="0">
                                          <p:val>
                                            <p:strVal val="0-#ppt_w/2"/>
                                          </p:val>
                                        </p:tav>
                                        <p:tav tm="100000">
                                          <p:val>
                                            <p:strVal val="#ppt_x"/>
                                          </p:val>
                                        </p:tav>
                                      </p:tavLst>
                                    </p:anim>
                                    <p:anim calcmode="lin" valueType="num">
                                      <p:cBhvr additive="base">
                                        <p:cTn id="16" dur="500" fill="hold"/>
                                        <p:tgtEl>
                                          <p:spTgt spid="178182"/>
                                        </p:tgtEl>
                                        <p:attrNameLst>
                                          <p:attrName>ppt_y</p:attrName>
                                        </p:attrNameLst>
                                      </p:cBhvr>
                                      <p:tavLst>
                                        <p:tav tm="0">
                                          <p:val>
                                            <p:strVal val="#ppt_y"/>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2" presetClass="entr" presetSubtype="2"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slide(fromRight)">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41"/>
                                        </p:tgtEl>
                                        <p:attrNameLst>
                                          <p:attrName>style.visibility</p:attrName>
                                        </p:attrNameLst>
                                      </p:cBhvr>
                                      <p:to>
                                        <p:strVal val="visible"/>
                                      </p:to>
                                    </p:set>
                                    <p:anim calcmode="lin" valueType="num">
                                      <p:cBhvr additive="base">
                                        <p:cTn id="26" dur="500" fill="hold"/>
                                        <p:tgtEl>
                                          <p:spTgt spid="41"/>
                                        </p:tgtEl>
                                        <p:attrNameLst>
                                          <p:attrName>ppt_x</p:attrName>
                                        </p:attrNameLst>
                                      </p:cBhvr>
                                      <p:tavLst>
                                        <p:tav tm="0">
                                          <p:val>
                                            <p:strVal val="0-#ppt_w/2"/>
                                          </p:val>
                                        </p:tav>
                                        <p:tav tm="100000">
                                          <p:val>
                                            <p:strVal val="#ppt_x"/>
                                          </p:val>
                                        </p:tav>
                                      </p:tavLst>
                                    </p:anim>
                                    <p:anim calcmode="lin" valueType="num">
                                      <p:cBhvr additive="base">
                                        <p:cTn id="27"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500" fill="hold"/>
                                        <p:tgtEl>
                                          <p:spTgt spid="42"/>
                                        </p:tgtEl>
                                        <p:attrNameLst>
                                          <p:attrName>ppt_x</p:attrName>
                                        </p:attrNameLst>
                                      </p:cBhvr>
                                      <p:tavLst>
                                        <p:tav tm="0">
                                          <p:val>
                                            <p:strVal val="0-#ppt_w/2"/>
                                          </p:val>
                                        </p:tav>
                                        <p:tav tm="100000">
                                          <p:val>
                                            <p:strVal val="#ppt_x"/>
                                          </p:val>
                                        </p:tav>
                                      </p:tavLst>
                                    </p:anim>
                                    <p:anim calcmode="lin" valueType="num">
                                      <p:cBhvr additive="base">
                                        <p:cTn id="3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up)">
                                      <p:cBhvr>
                                        <p:cTn id="43" dur="500"/>
                                        <p:tgtEl>
                                          <p:spTgt spid="55"/>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xit" presetSubtype="0" fill="hold" nodeType="clickEffect">
                                  <p:stCondLst>
                                    <p:cond delay="0"/>
                                  </p:stCondLst>
                                  <p:childTnLst>
                                    <p:set>
                                      <p:cBhvr>
                                        <p:cTn id="47" dur="1" fill="hold">
                                          <p:stCondLst>
                                            <p:cond delay="0"/>
                                          </p:stCondLst>
                                        </p:cTn>
                                        <p:tgtEl>
                                          <p:spTgt spid="68"/>
                                        </p:tgtEl>
                                        <p:attrNameLst>
                                          <p:attrName>style.visibility</p:attrName>
                                        </p:attrNameLst>
                                      </p:cBhvr>
                                      <p:to>
                                        <p:strVal val="hidden"/>
                                      </p:to>
                                    </p:set>
                                  </p:childTnLst>
                                </p:cTn>
                              </p:par>
                            </p:childTnLst>
                          </p:cTn>
                        </p:par>
                        <p:par>
                          <p:cTn id="48" fill="hold">
                            <p:stCondLst>
                              <p:cond delay="0"/>
                            </p:stCondLst>
                            <p:childTnLst>
                              <p:par>
                                <p:cTn id="49" presetID="1" presetClass="entr" presetSubtype="0" fill="hold" nodeType="afterEffect">
                                  <p:stCondLst>
                                    <p:cond delay="0"/>
                                  </p:stCondLst>
                                  <p:childTnLst>
                                    <p:set>
                                      <p:cBhvr>
                                        <p:cTn id="50" dur="1" fill="hold">
                                          <p:stCondLst>
                                            <p:cond delay="0"/>
                                          </p:stCondLst>
                                        </p:cTn>
                                        <p:tgtEl>
                                          <p:spTgt spid="6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178210"/>
                                        </p:tgtEl>
                                        <p:attrNameLst>
                                          <p:attrName>style.visibility</p:attrName>
                                        </p:attrNameLst>
                                      </p:cBhvr>
                                      <p:to>
                                        <p:strVal val="visible"/>
                                      </p:to>
                                    </p:set>
                                    <p:anim calcmode="lin" valueType="num">
                                      <p:cBhvr additive="base">
                                        <p:cTn id="55" dur="500" fill="hold"/>
                                        <p:tgtEl>
                                          <p:spTgt spid="178210"/>
                                        </p:tgtEl>
                                        <p:attrNameLst>
                                          <p:attrName>ppt_x</p:attrName>
                                        </p:attrNameLst>
                                      </p:cBhvr>
                                      <p:tavLst>
                                        <p:tav tm="0">
                                          <p:val>
                                            <p:strVal val="0-#ppt_w/2"/>
                                          </p:val>
                                        </p:tav>
                                        <p:tav tm="100000">
                                          <p:val>
                                            <p:strVal val="#ppt_x"/>
                                          </p:val>
                                        </p:tav>
                                      </p:tavLst>
                                    </p:anim>
                                    <p:anim calcmode="lin" valueType="num">
                                      <p:cBhvr additive="base">
                                        <p:cTn id="56" dur="500" fill="hold"/>
                                        <p:tgtEl>
                                          <p:spTgt spid="178210"/>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additive="base">
                                        <p:cTn id="61" dur="500" fill="hold"/>
                                        <p:tgtEl>
                                          <p:spTgt spid="71"/>
                                        </p:tgtEl>
                                        <p:attrNameLst>
                                          <p:attrName>ppt_x</p:attrName>
                                        </p:attrNameLst>
                                      </p:cBhvr>
                                      <p:tavLst>
                                        <p:tav tm="0">
                                          <p:val>
                                            <p:strVal val="0-#ppt_w/2"/>
                                          </p:val>
                                        </p:tav>
                                        <p:tav tm="100000">
                                          <p:val>
                                            <p:strVal val="#ppt_x"/>
                                          </p:val>
                                        </p:tav>
                                      </p:tavLst>
                                    </p:anim>
                                    <p:anim calcmode="lin" valueType="num">
                                      <p:cBhvr additive="base">
                                        <p:cTn id="62"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70"/>
                                        </p:tgtEl>
                                        <p:attrNameLst>
                                          <p:attrName>style.visibility</p:attrName>
                                        </p:attrNameLst>
                                      </p:cBhvr>
                                      <p:to>
                                        <p:strVal val="visible"/>
                                      </p:to>
                                    </p:set>
                                    <p:anim calcmode="lin" valueType="num">
                                      <p:cBhvr additive="base">
                                        <p:cTn id="67" dur="500" fill="hold"/>
                                        <p:tgtEl>
                                          <p:spTgt spid="70"/>
                                        </p:tgtEl>
                                        <p:attrNameLst>
                                          <p:attrName>ppt_x</p:attrName>
                                        </p:attrNameLst>
                                      </p:cBhvr>
                                      <p:tavLst>
                                        <p:tav tm="0">
                                          <p:val>
                                            <p:strVal val="0-#ppt_w/2"/>
                                          </p:val>
                                        </p:tav>
                                        <p:tav tm="100000">
                                          <p:val>
                                            <p:strVal val="#ppt_x"/>
                                          </p:val>
                                        </p:tav>
                                      </p:tavLst>
                                    </p:anim>
                                    <p:anim calcmode="lin" valueType="num">
                                      <p:cBhvr additive="base">
                                        <p:cTn id="68" dur="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nodeType="click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wipe(up)">
                                      <p:cBhvr>
                                        <p:cTn id="73" dur="500"/>
                                        <p:tgtEl>
                                          <p:spTgt spid="6"/>
                                        </p:tgtEl>
                                      </p:cBhvr>
                                    </p:animEffect>
                                  </p:childTnLst>
                                </p:cTn>
                              </p:par>
                            </p:childTnLst>
                          </p:cTn>
                        </p:par>
                      </p:childTnLst>
                    </p:cTn>
                  </p:par>
                  <p:par>
                    <p:cTn id="74" fill="hold">
                      <p:stCondLst>
                        <p:cond delay="indefinite"/>
                      </p:stCondLst>
                      <p:childTnLst>
                        <p:par>
                          <p:cTn id="75" fill="hold">
                            <p:stCondLst>
                              <p:cond delay="0"/>
                            </p:stCondLst>
                            <p:childTnLst>
                              <p:par>
                                <p:cTn id="76" presetID="2" presetClass="entr" presetSubtype="4" fill="hold" grpId="0" nodeType="clickEffect">
                                  <p:stCondLst>
                                    <p:cond delay="0"/>
                                  </p:stCondLst>
                                  <p:childTnLst>
                                    <p:set>
                                      <p:cBhvr>
                                        <p:cTn id="77" dur="1" fill="hold">
                                          <p:stCondLst>
                                            <p:cond delay="0"/>
                                          </p:stCondLst>
                                        </p:cTn>
                                        <p:tgtEl>
                                          <p:spTgt spid="178209"/>
                                        </p:tgtEl>
                                        <p:attrNameLst>
                                          <p:attrName>style.visibility</p:attrName>
                                        </p:attrNameLst>
                                      </p:cBhvr>
                                      <p:to>
                                        <p:strVal val="visible"/>
                                      </p:to>
                                    </p:set>
                                    <p:anim calcmode="lin" valueType="num">
                                      <p:cBhvr additive="base">
                                        <p:cTn id="78" dur="500" fill="hold"/>
                                        <p:tgtEl>
                                          <p:spTgt spid="178209"/>
                                        </p:tgtEl>
                                        <p:attrNameLst>
                                          <p:attrName>ppt_x</p:attrName>
                                        </p:attrNameLst>
                                      </p:cBhvr>
                                      <p:tavLst>
                                        <p:tav tm="0">
                                          <p:val>
                                            <p:strVal val="#ppt_x"/>
                                          </p:val>
                                        </p:tav>
                                        <p:tav tm="100000">
                                          <p:val>
                                            <p:strVal val="#ppt_x"/>
                                          </p:val>
                                        </p:tav>
                                      </p:tavLst>
                                    </p:anim>
                                    <p:anim calcmode="lin" valueType="num">
                                      <p:cBhvr additive="base">
                                        <p:cTn id="79" dur="500" fill="hold"/>
                                        <p:tgtEl>
                                          <p:spTgt spid="178209"/>
                                        </p:tgtEl>
                                        <p:attrNameLst>
                                          <p:attrName>ppt_y</p:attrName>
                                        </p:attrNameLst>
                                      </p:cBhvr>
                                      <p:tavLst>
                                        <p:tav tm="0">
                                          <p:val>
                                            <p:strVal val="1+#ppt_h/2"/>
                                          </p:val>
                                        </p:tav>
                                        <p:tav tm="100000">
                                          <p:val>
                                            <p:strVal val="#ppt_y"/>
                                          </p:val>
                                        </p:tav>
                                      </p:tavLst>
                                    </p:anim>
                                  </p:childTnLst>
                                </p:cTn>
                              </p:par>
                            </p:childTnLst>
                          </p:cTn>
                        </p:par>
                      </p:childTnLst>
                    </p:cTn>
                  </p:par>
                  <p:par>
                    <p:cTn id="80" fill="hold" nodeType="clickPar">
                      <p:stCondLst>
                        <p:cond delay="indefinite"/>
                      </p:stCondLst>
                      <p:childTnLst>
                        <p:par>
                          <p:cTn id="81" fill="hold" nodeType="withGroup">
                            <p:stCondLst>
                              <p:cond delay="0"/>
                            </p:stCondLst>
                            <p:childTnLst>
                              <p:par>
                                <p:cTn id="82" presetID="2" presetClass="entr" presetSubtype="2" fill="hold" nodeType="clickEffect">
                                  <p:stCondLst>
                                    <p:cond delay="0"/>
                                  </p:stCondLst>
                                  <p:childTnLst>
                                    <p:set>
                                      <p:cBhvr>
                                        <p:cTn id="83" dur="1" fill="hold">
                                          <p:stCondLst>
                                            <p:cond delay="0"/>
                                          </p:stCondLst>
                                        </p:cTn>
                                        <p:tgtEl>
                                          <p:spTgt spid="3"/>
                                        </p:tgtEl>
                                        <p:attrNameLst>
                                          <p:attrName>style.visibility</p:attrName>
                                        </p:attrNameLst>
                                      </p:cBhvr>
                                      <p:to>
                                        <p:strVal val="visible"/>
                                      </p:to>
                                    </p:set>
                                    <p:anim calcmode="lin" valueType="num">
                                      <p:cBhvr additive="base">
                                        <p:cTn id="84" dur="500" fill="hold"/>
                                        <p:tgtEl>
                                          <p:spTgt spid="3"/>
                                        </p:tgtEl>
                                        <p:attrNameLst>
                                          <p:attrName>ppt_x</p:attrName>
                                        </p:attrNameLst>
                                      </p:cBhvr>
                                      <p:tavLst>
                                        <p:tav tm="0">
                                          <p:val>
                                            <p:strVal val="1+#ppt_w/2"/>
                                          </p:val>
                                        </p:tav>
                                        <p:tav tm="100000">
                                          <p:val>
                                            <p:strVal val="#ppt_x"/>
                                          </p:val>
                                        </p:tav>
                                      </p:tavLst>
                                    </p:anim>
                                    <p:anim calcmode="lin" valueType="num">
                                      <p:cBhvr additive="base">
                                        <p:cTn id="85"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2" presetClass="entr" presetSubtype="2" fill="hold" nodeType="click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500" fill="hold"/>
                                        <p:tgtEl>
                                          <p:spTgt spid="4"/>
                                        </p:tgtEl>
                                        <p:attrNameLst>
                                          <p:attrName>ppt_x</p:attrName>
                                        </p:attrNameLst>
                                      </p:cBhvr>
                                      <p:tavLst>
                                        <p:tav tm="0">
                                          <p:val>
                                            <p:strVal val="1+#ppt_w/2"/>
                                          </p:val>
                                        </p:tav>
                                        <p:tav tm="100000">
                                          <p:val>
                                            <p:strVal val="#ppt_x"/>
                                          </p:val>
                                        </p:tav>
                                      </p:tavLst>
                                    </p:anim>
                                    <p:anim calcmode="lin" valueType="num">
                                      <p:cBhvr additive="base">
                                        <p:cTn id="91"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2" fill="hold" nodeType="clickPar">
                      <p:stCondLst>
                        <p:cond delay="indefinite"/>
                      </p:stCondLst>
                      <p:childTnLst>
                        <p:par>
                          <p:cTn id="93" fill="hold" nodeType="withGroup">
                            <p:stCondLst>
                              <p:cond delay="0"/>
                            </p:stCondLst>
                            <p:childTnLst>
                              <p:par>
                                <p:cTn id="94" presetID="12" presetClass="entr" presetSubtype="2" fill="hold" nodeType="clickEffect">
                                  <p:stCondLst>
                                    <p:cond delay="0"/>
                                  </p:stCondLst>
                                  <p:childTnLst>
                                    <p:set>
                                      <p:cBhvr>
                                        <p:cTn id="95" dur="1" fill="hold">
                                          <p:stCondLst>
                                            <p:cond delay="0"/>
                                          </p:stCondLst>
                                        </p:cTn>
                                        <p:tgtEl>
                                          <p:spTgt spid="5"/>
                                        </p:tgtEl>
                                        <p:attrNameLst>
                                          <p:attrName>style.visibility</p:attrName>
                                        </p:attrNameLst>
                                      </p:cBhvr>
                                      <p:to>
                                        <p:strVal val="visible"/>
                                      </p:to>
                                    </p:set>
                                    <p:animEffect transition="in" filter="slide(fromRight)">
                                      <p:cBhvr>
                                        <p:cTn id="9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82" grpId="0" autoUpdateAnimBg="0"/>
      <p:bldP spid="178209" grpId="0" autoUpdateAnimBg="0"/>
      <p:bldP spid="178210" grpId="0" animBg="1"/>
      <p:bldP spid="41" grpId="0" autoUpdateAnimBg="0"/>
      <p:bldP spid="42" grpId="0" autoUpdateAnimBg="0"/>
      <p:bldP spid="7" grpId="0"/>
      <p:bldP spid="70" grpId="0" animBg="1"/>
      <p:bldP spid="71"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3"/>
          <p:cNvSpPr>
            <a:spLocks noGrp="1" noChangeArrowheads="1"/>
          </p:cNvSpPr>
          <p:nvPr>
            <p:ph type="body" idx="1"/>
          </p:nvPr>
        </p:nvSpPr>
        <p:spPr>
          <a:xfrm>
            <a:off x="366713" y="133350"/>
            <a:ext cx="8134350" cy="738188"/>
          </a:xfrm>
        </p:spPr>
        <p:txBody>
          <a:bodyPr/>
          <a:lstStyle/>
          <a:p>
            <a:pPr eaLnBrk="1" hangingPunct="1">
              <a:buFontTx/>
              <a:buNone/>
            </a:pPr>
            <a:r>
              <a:rPr lang="zh-CN" altLang="en-US" sz="3600" b="1" i="1" dirty="0">
                <a:solidFill>
                  <a:srgbClr val="008000"/>
                </a:solidFill>
              </a:rPr>
              <a:t>非终结符的后随符号集</a:t>
            </a:r>
          </a:p>
        </p:txBody>
      </p:sp>
      <p:sp>
        <p:nvSpPr>
          <p:cNvPr id="180228" name="Rectangle 4"/>
          <p:cNvSpPr>
            <a:spLocks noChangeArrowheads="1"/>
          </p:cNvSpPr>
          <p:nvPr/>
        </p:nvSpPr>
        <p:spPr bwMode="auto">
          <a:xfrm>
            <a:off x="381000" y="1085592"/>
            <a:ext cx="8134350" cy="1995487"/>
          </a:xfrm>
          <a:prstGeom prst="rect">
            <a:avLst/>
          </a:prstGeom>
          <a:solidFill>
            <a:schemeClr val="bg1"/>
          </a:solidFill>
          <a:ln w="28575">
            <a:solidFill>
              <a:schemeClr val="accent2"/>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pPr>
            <a:r>
              <a:rPr lang="zh-CN" altLang="en-US" sz="2400" dirty="0"/>
              <a:t>假定</a:t>
            </a:r>
            <a:r>
              <a:rPr lang="en-US" altLang="zh-CN" sz="2400" b="1" dirty="0">
                <a:solidFill>
                  <a:srgbClr val="CC00FF"/>
                </a:solidFill>
              </a:rPr>
              <a:t>S</a:t>
            </a:r>
            <a:r>
              <a:rPr lang="zh-CN" altLang="en-US" sz="2400" dirty="0"/>
              <a:t>是文法的开始符号，</a:t>
            </a:r>
            <a:r>
              <a:rPr lang="zh-CN" altLang="en-US" sz="2400" dirty="0">
                <a:latin typeface="宋体" pitchFamily="2" charset="-122"/>
              </a:rPr>
              <a:t>对于</a:t>
            </a:r>
            <a:r>
              <a:rPr lang="zh-CN" altLang="en-US" sz="2400" b="1" dirty="0">
                <a:sym typeface="Symbol" pitchFamily="18" charset="2"/>
              </a:rPr>
              <a:t></a:t>
            </a:r>
            <a:r>
              <a:rPr lang="en-US" altLang="zh-CN" sz="2400" b="1" dirty="0"/>
              <a:t>A∈</a:t>
            </a:r>
            <a:r>
              <a:rPr lang="zh-CN" altLang="en-US" sz="2400" b="1" dirty="0">
                <a:latin typeface="宋体" pitchFamily="2" charset="-122"/>
              </a:rPr>
              <a:t>Ｖ</a:t>
            </a:r>
            <a:r>
              <a:rPr lang="en-US" altLang="zh-CN" sz="2400" b="1" baseline="-25000" dirty="0">
                <a:latin typeface="宋体" pitchFamily="2" charset="-122"/>
              </a:rPr>
              <a:t>N</a:t>
            </a:r>
            <a:r>
              <a:rPr lang="zh-CN" altLang="en-US" sz="2400" b="1" dirty="0">
                <a:latin typeface="宋体" pitchFamily="2" charset="-122"/>
              </a:rPr>
              <a:t>：  </a:t>
            </a:r>
          </a:p>
          <a:p>
            <a:pPr lvl="1" eaLnBrk="1" hangingPunct="1">
              <a:spcBef>
                <a:spcPts val="0"/>
              </a:spcBef>
            </a:pPr>
            <a:endParaRPr lang="zh-CN" altLang="en-US" sz="2000" b="1" dirty="0">
              <a:latin typeface="宋体" pitchFamily="2" charset="-122"/>
            </a:endParaRPr>
          </a:p>
          <a:p>
            <a:pPr lvl="1" eaLnBrk="1" hangingPunct="1">
              <a:spcBef>
                <a:spcPts val="0"/>
              </a:spcBef>
              <a:buFontTx/>
              <a:buNone/>
            </a:pPr>
            <a:r>
              <a:rPr lang="zh-CN" altLang="en-US" sz="2400" b="1" dirty="0">
                <a:latin typeface="宋体" pitchFamily="2" charset="-122"/>
              </a:rPr>
              <a:t>    </a:t>
            </a:r>
            <a:r>
              <a:rPr lang="en-US" altLang="zh-CN" sz="2400" b="1" dirty="0">
                <a:latin typeface="宋体" pitchFamily="2" charset="-122"/>
              </a:rPr>
              <a:t>Follow(</a:t>
            </a:r>
            <a:r>
              <a:rPr lang="en-US" altLang="zh-CN" sz="2400" b="1" dirty="0">
                <a:solidFill>
                  <a:srgbClr val="FF0000"/>
                </a:solidFill>
                <a:latin typeface="宋体" pitchFamily="2" charset="-122"/>
              </a:rPr>
              <a:t>A</a:t>
            </a:r>
            <a:r>
              <a:rPr lang="en-US" altLang="zh-CN" sz="2400" b="1" dirty="0">
                <a:latin typeface="宋体" pitchFamily="2" charset="-122"/>
              </a:rPr>
              <a:t>)={</a:t>
            </a:r>
            <a:r>
              <a:rPr lang="en-US" altLang="zh-CN" sz="2400" b="1" dirty="0" err="1">
                <a:solidFill>
                  <a:srgbClr val="3333FF"/>
                </a:solidFill>
                <a:latin typeface="宋体" pitchFamily="2" charset="-122"/>
              </a:rPr>
              <a:t>a</a:t>
            </a:r>
            <a:r>
              <a:rPr lang="en-US" altLang="zh-CN" sz="2400" b="1" dirty="0" err="1">
                <a:latin typeface="宋体" pitchFamily="2" charset="-122"/>
              </a:rPr>
              <a:t>|</a:t>
            </a:r>
            <a:r>
              <a:rPr lang="en-US" altLang="zh-CN" sz="2400" b="1" dirty="0" err="1">
                <a:solidFill>
                  <a:srgbClr val="CC00FF"/>
                </a:solidFill>
                <a:latin typeface="宋体" pitchFamily="2" charset="-122"/>
              </a:rPr>
              <a:t>S</a:t>
            </a:r>
            <a:r>
              <a:rPr lang="en-US" altLang="zh-CN" sz="2400" b="1" dirty="0">
                <a:sym typeface="Symbol" pitchFamily="18" charset="2"/>
              </a:rPr>
              <a:t></a:t>
            </a:r>
            <a:r>
              <a:rPr lang="en-US" altLang="zh-CN" sz="2400" b="1" dirty="0"/>
              <a:t>…</a:t>
            </a:r>
            <a:r>
              <a:rPr lang="en-US" altLang="zh-CN" sz="2400" b="1" dirty="0">
                <a:solidFill>
                  <a:srgbClr val="FF0000"/>
                </a:solidFill>
                <a:latin typeface="宋体" pitchFamily="2" charset="-122"/>
              </a:rPr>
              <a:t>A</a:t>
            </a:r>
            <a:r>
              <a:rPr lang="en-US" altLang="zh-CN" sz="2400" b="1" dirty="0">
                <a:solidFill>
                  <a:srgbClr val="3333FF"/>
                </a:solidFill>
                <a:latin typeface="宋体" pitchFamily="2" charset="-122"/>
              </a:rPr>
              <a:t>a</a:t>
            </a:r>
            <a:r>
              <a:rPr lang="en-US" altLang="zh-CN" sz="2400" b="1" dirty="0"/>
              <a:t>…</a:t>
            </a:r>
            <a:r>
              <a:rPr lang="zh-CN" altLang="en-US" sz="2400" b="1" dirty="0">
                <a:latin typeface="宋体" pitchFamily="2" charset="-122"/>
              </a:rPr>
              <a:t>，</a:t>
            </a:r>
            <a:r>
              <a:rPr lang="en-US" altLang="zh-CN" sz="2400" b="1" dirty="0">
                <a:latin typeface="宋体" pitchFamily="2" charset="-122"/>
              </a:rPr>
              <a:t>a∈</a:t>
            </a:r>
            <a:r>
              <a:rPr lang="zh-CN" altLang="en-US" sz="2400" b="1" dirty="0">
                <a:latin typeface="宋体" pitchFamily="2" charset="-122"/>
              </a:rPr>
              <a:t>Ｖ</a:t>
            </a:r>
            <a:r>
              <a:rPr lang="en-US" altLang="zh-CN" sz="2400" b="1" baseline="-25000" dirty="0">
                <a:latin typeface="宋体" pitchFamily="2" charset="-122"/>
              </a:rPr>
              <a:t>T</a:t>
            </a:r>
            <a:r>
              <a:rPr lang="en-US" altLang="zh-CN" sz="2400" b="1" dirty="0">
                <a:latin typeface="宋体" pitchFamily="2" charset="-122"/>
              </a:rPr>
              <a:t> }</a:t>
            </a:r>
          </a:p>
          <a:p>
            <a:pPr lvl="1" eaLnBrk="1" hangingPunct="1">
              <a:spcBef>
                <a:spcPts val="0"/>
              </a:spcBef>
              <a:buFontTx/>
              <a:buNone/>
            </a:pPr>
            <a:r>
              <a:rPr lang="en-US" altLang="zh-CN" sz="2400" dirty="0"/>
              <a:t>	</a:t>
            </a:r>
          </a:p>
          <a:p>
            <a:pPr eaLnBrk="1" hangingPunct="1">
              <a:spcBef>
                <a:spcPts val="0"/>
              </a:spcBef>
              <a:buFontTx/>
              <a:buNone/>
            </a:pPr>
            <a:r>
              <a:rPr lang="en-US" altLang="zh-CN" sz="2400" dirty="0"/>
              <a:t>	    </a:t>
            </a:r>
            <a:r>
              <a:rPr lang="zh-CN" altLang="en-US" sz="2400" dirty="0"/>
              <a:t>特别，若    </a:t>
            </a:r>
            <a:r>
              <a:rPr lang="en-US" altLang="zh-CN" sz="2400" b="1" dirty="0">
                <a:solidFill>
                  <a:srgbClr val="CC00FF"/>
                </a:solidFill>
                <a:latin typeface="宋体" pitchFamily="2" charset="-122"/>
              </a:rPr>
              <a:t>S</a:t>
            </a:r>
            <a:r>
              <a:rPr lang="en-US" altLang="zh-CN" sz="2400" b="1" dirty="0">
                <a:sym typeface="Symbol" pitchFamily="18" charset="2"/>
              </a:rPr>
              <a:t></a:t>
            </a:r>
            <a:r>
              <a:rPr lang="en-US" altLang="zh-CN" sz="2400" b="1" dirty="0"/>
              <a:t>…</a:t>
            </a:r>
            <a:r>
              <a:rPr lang="en-US" altLang="zh-CN" sz="2400" b="1" dirty="0">
                <a:solidFill>
                  <a:srgbClr val="FF0000"/>
                </a:solidFill>
                <a:latin typeface="宋体" pitchFamily="2" charset="-122"/>
              </a:rPr>
              <a:t>A</a:t>
            </a:r>
            <a:r>
              <a:rPr lang="zh-CN" altLang="en-US" sz="2400" b="1" dirty="0">
                <a:latin typeface="宋体" pitchFamily="2" charset="-122"/>
              </a:rPr>
              <a:t>，则，</a:t>
            </a:r>
            <a:r>
              <a:rPr lang="en-US" altLang="zh-CN" sz="2400" b="1" dirty="0">
                <a:latin typeface="宋体" pitchFamily="2" charset="-122"/>
              </a:rPr>
              <a:t>#</a:t>
            </a:r>
            <a:r>
              <a:rPr lang="en-US" altLang="zh-CN" sz="2400" dirty="0"/>
              <a:t> </a:t>
            </a:r>
            <a:r>
              <a:rPr lang="en-US" altLang="zh-CN" sz="2400" b="1" dirty="0">
                <a:latin typeface="宋体" pitchFamily="2" charset="-122"/>
              </a:rPr>
              <a:t>∈FOLLOW(A)</a:t>
            </a:r>
            <a:endParaRPr lang="en-US" altLang="zh-CN" sz="2400" dirty="0"/>
          </a:p>
        </p:txBody>
      </p:sp>
      <p:sp>
        <p:nvSpPr>
          <p:cNvPr id="69636" name="Rectangle 5"/>
          <p:cNvSpPr>
            <a:spLocks noChangeArrowheads="1"/>
          </p:cNvSpPr>
          <p:nvPr/>
        </p:nvSpPr>
        <p:spPr bwMode="auto">
          <a:xfrm>
            <a:off x="3707904" y="1720602"/>
            <a:ext cx="322263"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baseline="30000" dirty="0">
                <a:latin typeface="宋体" pitchFamily="2" charset="-122"/>
              </a:rPr>
              <a:t>*</a:t>
            </a:r>
          </a:p>
        </p:txBody>
      </p:sp>
      <p:sp>
        <p:nvSpPr>
          <p:cNvPr id="69637" name="Rectangle 6"/>
          <p:cNvSpPr>
            <a:spLocks noChangeArrowheads="1"/>
          </p:cNvSpPr>
          <p:nvPr/>
        </p:nvSpPr>
        <p:spPr bwMode="auto">
          <a:xfrm>
            <a:off x="2771800" y="2475547"/>
            <a:ext cx="304800" cy="37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baseline="30000" dirty="0">
                <a:latin typeface="宋体" pitchFamily="2" charset="-122"/>
              </a:rPr>
              <a:t>*</a:t>
            </a:r>
          </a:p>
        </p:txBody>
      </p:sp>
      <p:sp>
        <p:nvSpPr>
          <p:cNvPr id="180231" name="Text Box 7"/>
          <p:cNvSpPr txBox="1">
            <a:spLocks noChangeArrowheads="1"/>
          </p:cNvSpPr>
          <p:nvPr/>
        </p:nvSpPr>
        <p:spPr bwMode="auto">
          <a:xfrm>
            <a:off x="588169" y="3345725"/>
            <a:ext cx="7967662" cy="1015663"/>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r>
              <a:rPr lang="zh-CN" altLang="en-US" sz="2000" dirty="0">
                <a:latin typeface="宋体" pitchFamily="2" charset="-122"/>
              </a:rPr>
              <a:t>当非终结符</a:t>
            </a:r>
            <a:r>
              <a:rPr lang="en-US" altLang="zh-CN" sz="2000" dirty="0">
                <a:latin typeface="宋体" pitchFamily="2" charset="-122"/>
              </a:rPr>
              <a:t>A</a:t>
            </a:r>
            <a:r>
              <a:rPr lang="zh-CN" altLang="en-US" sz="2000" dirty="0">
                <a:latin typeface="宋体" pitchFamily="2" charset="-122"/>
              </a:rPr>
              <a:t>面临输入符号</a:t>
            </a:r>
            <a:r>
              <a:rPr lang="en-US" altLang="zh-CN" sz="2000" dirty="0">
                <a:latin typeface="宋体" pitchFamily="2" charset="-122"/>
              </a:rPr>
              <a:t>a</a:t>
            </a:r>
            <a:r>
              <a:rPr lang="zh-CN" altLang="en-US" sz="2000" dirty="0">
                <a:latin typeface="宋体" pitchFamily="2" charset="-122"/>
              </a:rPr>
              <a:t>时， </a:t>
            </a:r>
            <a:r>
              <a:rPr lang="en-US" altLang="zh-CN" sz="2000" dirty="0">
                <a:latin typeface="宋体" pitchFamily="2" charset="-122"/>
              </a:rPr>
              <a:t>a</a:t>
            </a:r>
            <a:r>
              <a:rPr lang="zh-CN" altLang="en-US" sz="2000" dirty="0">
                <a:latin typeface="宋体" pitchFamily="2" charset="-122"/>
              </a:rPr>
              <a:t>不属于</a:t>
            </a:r>
            <a:r>
              <a:rPr lang="en-US" altLang="zh-CN" sz="2000" dirty="0">
                <a:latin typeface="宋体" pitchFamily="2" charset="-122"/>
              </a:rPr>
              <a:t>A</a:t>
            </a:r>
            <a:r>
              <a:rPr lang="zh-CN" altLang="en-US" sz="2000" dirty="0">
                <a:latin typeface="宋体" pitchFamily="2" charset="-122"/>
              </a:rPr>
              <a:t>的任何一个侯选式的首终结符集，如果</a:t>
            </a:r>
            <a:r>
              <a:rPr lang="en-US" altLang="zh-CN" sz="2000" dirty="0">
                <a:latin typeface="宋体" pitchFamily="2" charset="-122"/>
              </a:rPr>
              <a:t>A</a:t>
            </a:r>
            <a:r>
              <a:rPr lang="zh-CN" altLang="en-US" sz="2000" dirty="0">
                <a:latin typeface="宋体" pitchFamily="2" charset="-122"/>
              </a:rPr>
              <a:t>的某个候选的首终结符集中含</a:t>
            </a:r>
            <a:r>
              <a:rPr lang="en-US" altLang="zh-CN" sz="2000" dirty="0">
                <a:latin typeface="宋体" pitchFamily="2" charset="-122"/>
              </a:rPr>
              <a:t>ε</a:t>
            </a:r>
            <a:r>
              <a:rPr lang="zh-CN" altLang="en-US" sz="2000" dirty="0">
                <a:latin typeface="宋体" pitchFamily="2" charset="-122"/>
              </a:rPr>
              <a:t>，只有当</a:t>
            </a:r>
            <a:r>
              <a:rPr lang="en-US" altLang="zh-CN" sz="2000" dirty="0" err="1">
                <a:latin typeface="宋体" pitchFamily="2" charset="-122"/>
              </a:rPr>
              <a:t>a</a:t>
            </a:r>
            <a:r>
              <a:rPr lang="en-US" altLang="zh-CN" sz="2000" dirty="0" err="1">
                <a:solidFill>
                  <a:schemeClr val="accent2"/>
                </a:solidFill>
                <a:latin typeface="宋体" pitchFamily="2" charset="-122"/>
              </a:rPr>
              <a:t>∈</a:t>
            </a:r>
            <a:r>
              <a:rPr lang="en-US" altLang="zh-CN" sz="2000" dirty="0" err="1">
                <a:latin typeface="宋体" pitchFamily="2" charset="-122"/>
              </a:rPr>
              <a:t>FOLLOW</a:t>
            </a:r>
            <a:r>
              <a:rPr lang="en-US" altLang="zh-CN" sz="2000" dirty="0">
                <a:latin typeface="宋体" pitchFamily="2" charset="-122"/>
              </a:rPr>
              <a:t>(A)</a:t>
            </a:r>
            <a:r>
              <a:rPr lang="zh-CN" altLang="en-US" sz="2000" dirty="0">
                <a:latin typeface="宋体" pitchFamily="2" charset="-122"/>
              </a:rPr>
              <a:t>时才能使用</a:t>
            </a:r>
            <a:r>
              <a:rPr lang="en-US" altLang="zh-CN" sz="2000" dirty="0">
                <a:latin typeface="宋体" pitchFamily="2" charset="-122"/>
              </a:rPr>
              <a:t>ε</a:t>
            </a:r>
            <a:r>
              <a:rPr lang="zh-CN" altLang="en-US" sz="2000" dirty="0">
                <a:latin typeface="宋体" pitchFamily="2" charset="-122"/>
              </a:rPr>
              <a:t>自动进行匹配。</a:t>
            </a:r>
          </a:p>
        </p:txBody>
      </p:sp>
      <p:sp>
        <p:nvSpPr>
          <p:cNvPr id="3" name="文本框 2">
            <a:extLst>
              <a:ext uri="{FF2B5EF4-FFF2-40B4-BE49-F238E27FC236}">
                <a16:creationId xmlns:a16="http://schemas.microsoft.com/office/drawing/2014/main" id="{79955D0B-5B2F-060B-BFD2-AF72D9C42A6D}"/>
              </a:ext>
            </a:extLst>
          </p:cNvPr>
          <p:cNvSpPr txBox="1"/>
          <p:nvPr/>
        </p:nvSpPr>
        <p:spPr>
          <a:xfrm>
            <a:off x="5007664" y="4363819"/>
            <a:ext cx="3580443" cy="646331"/>
          </a:xfrm>
          <a:prstGeom prst="rect">
            <a:avLst/>
          </a:prstGeom>
          <a:noFill/>
        </p:spPr>
        <p:txBody>
          <a:bodyPr wrap="square">
            <a:spAutoFit/>
          </a:bodyPr>
          <a:lstStyle/>
          <a:p>
            <a:r>
              <a:rPr lang="en-US" altLang="zh-CN" dirty="0"/>
              <a:t>Follow</a:t>
            </a:r>
            <a:r>
              <a:rPr lang="zh-CN" altLang="en-US" dirty="0"/>
              <a:t>集关心非终符以什么结尾，</a:t>
            </a:r>
            <a:r>
              <a:rPr lang="en-US" altLang="zh-CN" dirty="0"/>
              <a:t>Follow</a:t>
            </a:r>
            <a:r>
              <a:rPr lang="zh-CN" altLang="en-US" dirty="0"/>
              <a:t>集只针对非终结符</a:t>
            </a:r>
          </a:p>
        </p:txBody>
      </p:sp>
    </p:spTree>
    <p:extLst>
      <p:ext uri="{BB962C8B-B14F-4D97-AF65-F5344CB8AC3E}">
        <p14:creationId xmlns:p14="http://schemas.microsoft.com/office/powerpoint/2010/main" val="8659438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02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31"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Grp="1" noChangeArrowheads="1"/>
          </p:cNvSpPr>
          <p:nvPr>
            <p:ph type="title"/>
          </p:nvPr>
        </p:nvSpPr>
        <p:spPr/>
        <p:txBody>
          <a:bodyPr>
            <a:normAutofit/>
          </a:bodyPr>
          <a:lstStyle/>
          <a:p>
            <a:pPr eaLnBrk="1" hangingPunct="1"/>
            <a:r>
              <a:rPr lang="zh-CN" altLang="en-US" sz="3600" dirty="0"/>
              <a:t>例：</a:t>
            </a:r>
            <a:endParaRPr lang="zh-CN" altLang="zh-CN" sz="3600" dirty="0"/>
          </a:p>
        </p:txBody>
      </p:sp>
      <p:sp>
        <p:nvSpPr>
          <p:cNvPr id="70659" name="Rectangle 3"/>
          <p:cNvSpPr>
            <a:spLocks noGrp="1" noChangeArrowheads="1"/>
          </p:cNvSpPr>
          <p:nvPr>
            <p:ph type="body" idx="1"/>
          </p:nvPr>
        </p:nvSpPr>
        <p:spPr>
          <a:xfrm>
            <a:off x="611560" y="1275606"/>
            <a:ext cx="4933950" cy="971550"/>
          </a:xfrm>
        </p:spPr>
        <p:txBody>
          <a:bodyPr/>
          <a:lstStyle/>
          <a:p>
            <a:pPr eaLnBrk="1" hangingPunct="1"/>
            <a:r>
              <a:rPr lang="zh-CN" altLang="en-US" dirty="0"/>
              <a:t>对右边给定的文法，求</a:t>
            </a:r>
            <a:r>
              <a:rPr lang="en-US" altLang="zh-CN" dirty="0"/>
              <a:t>A</a:t>
            </a:r>
            <a:r>
              <a:rPr lang="zh-CN" altLang="en-US" dirty="0"/>
              <a:t>的后随符号集</a:t>
            </a:r>
            <a:r>
              <a:rPr lang="en-US" altLang="zh-CN" dirty="0"/>
              <a:t>Follow(A) </a:t>
            </a:r>
          </a:p>
          <a:p>
            <a:pPr eaLnBrk="1" hangingPunct="1"/>
            <a:endParaRPr lang="en-US" altLang="zh-CN" dirty="0"/>
          </a:p>
        </p:txBody>
      </p:sp>
      <p:sp>
        <p:nvSpPr>
          <p:cNvPr id="70660" name="Rectangle 5"/>
          <p:cNvSpPr>
            <a:spLocks noChangeArrowheads="1"/>
          </p:cNvSpPr>
          <p:nvPr/>
        </p:nvSpPr>
        <p:spPr bwMode="auto">
          <a:xfrm>
            <a:off x="5996782" y="695672"/>
            <a:ext cx="1477962" cy="1816100"/>
          </a:xfrm>
          <a:prstGeom prst="rect">
            <a:avLst/>
          </a:prstGeom>
          <a:ln/>
        </p:spPr>
        <p:style>
          <a:lnRef idx="2">
            <a:schemeClr val="accent4"/>
          </a:lnRef>
          <a:fillRef idx="1">
            <a:schemeClr val="lt1"/>
          </a:fillRef>
          <a:effectRef idx="0">
            <a:schemeClr val="accent4"/>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dirty="0" err="1"/>
              <a:t>S</a:t>
            </a:r>
            <a:r>
              <a:rPr lang="en-US" altLang="zh-CN" sz="2800" b="1" dirty="0" err="1">
                <a:solidFill>
                  <a:srgbClr val="000000"/>
                </a:solidFill>
                <a:latin typeface="宋体" pitchFamily="2" charset="-122"/>
                <a:sym typeface="Wingdings" pitchFamily="2" charset="2"/>
              </a:rPr>
              <a:t></a:t>
            </a:r>
            <a:r>
              <a:rPr lang="en-US" altLang="zh-CN" sz="2800" dirty="0" err="1"/>
              <a:t>Ap</a:t>
            </a:r>
            <a:br>
              <a:rPr lang="en-US" altLang="zh-CN" sz="2800" dirty="0"/>
            </a:br>
            <a:r>
              <a:rPr lang="en-US" altLang="zh-CN" sz="2800" dirty="0" err="1"/>
              <a:t>A</a:t>
            </a:r>
            <a:r>
              <a:rPr lang="en-US" altLang="zh-CN" sz="2800" b="1" dirty="0" err="1">
                <a:solidFill>
                  <a:srgbClr val="000000"/>
                </a:solidFill>
                <a:latin typeface="宋体" pitchFamily="2" charset="-122"/>
                <a:sym typeface="Wingdings" pitchFamily="2" charset="2"/>
              </a:rPr>
              <a:t></a:t>
            </a:r>
            <a:r>
              <a:rPr lang="en-US" altLang="zh-CN" sz="2800" dirty="0" err="1"/>
              <a:t>a</a:t>
            </a:r>
            <a:r>
              <a:rPr lang="en-US" altLang="zh-CN" sz="2800" dirty="0"/>
              <a:t> |</a:t>
            </a:r>
            <a:r>
              <a:rPr lang="en-US" altLang="zh-CN" sz="2800" b="1" dirty="0">
                <a:latin typeface="宋体" pitchFamily="2" charset="-122"/>
              </a:rPr>
              <a:t>ε</a:t>
            </a:r>
            <a:br>
              <a:rPr lang="en-US" altLang="zh-CN" sz="2800" dirty="0"/>
            </a:br>
            <a:r>
              <a:rPr lang="en-US" altLang="zh-CN" sz="2800" dirty="0" err="1"/>
              <a:t>A</a:t>
            </a:r>
            <a:r>
              <a:rPr lang="en-US" altLang="zh-CN" sz="2800" b="1" dirty="0" err="1">
                <a:solidFill>
                  <a:srgbClr val="000000"/>
                </a:solidFill>
                <a:latin typeface="宋体" pitchFamily="2" charset="-122"/>
                <a:sym typeface="Wingdings" pitchFamily="2" charset="2"/>
              </a:rPr>
              <a:t></a:t>
            </a:r>
            <a:r>
              <a:rPr lang="en-US" altLang="zh-CN" sz="2800" dirty="0" err="1"/>
              <a:t>cA</a:t>
            </a:r>
            <a:endParaRPr lang="en-US" altLang="zh-CN" sz="2800" dirty="0"/>
          </a:p>
          <a:p>
            <a:pPr eaLnBrk="1" hangingPunct="1">
              <a:spcBef>
                <a:spcPct val="0"/>
              </a:spcBef>
              <a:buFontTx/>
              <a:buNone/>
            </a:pPr>
            <a:r>
              <a:rPr lang="en-US" altLang="zh-CN" sz="2800" dirty="0" err="1"/>
              <a:t>A</a:t>
            </a:r>
            <a:r>
              <a:rPr lang="en-US" altLang="zh-CN" sz="2800" b="1" dirty="0" err="1">
                <a:solidFill>
                  <a:srgbClr val="000000"/>
                </a:solidFill>
                <a:latin typeface="宋体" pitchFamily="2" charset="-122"/>
                <a:sym typeface="Wingdings" pitchFamily="2" charset="2"/>
              </a:rPr>
              <a:t>a</a:t>
            </a:r>
            <a:r>
              <a:rPr lang="en-US" altLang="zh-CN" sz="2800" dirty="0" err="1"/>
              <a:t>A</a:t>
            </a:r>
            <a:endParaRPr lang="en-US" altLang="zh-CN" sz="2800" dirty="0"/>
          </a:p>
        </p:txBody>
      </p:sp>
      <p:sp>
        <p:nvSpPr>
          <p:cNvPr id="210950" name="Rectangle 6"/>
          <p:cNvSpPr>
            <a:spLocks noChangeArrowheads="1"/>
          </p:cNvSpPr>
          <p:nvPr/>
        </p:nvSpPr>
        <p:spPr bwMode="auto">
          <a:xfrm>
            <a:off x="5260039" y="3649133"/>
            <a:ext cx="29514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dirty="0"/>
              <a:t>Follow(A) = {p}</a:t>
            </a:r>
          </a:p>
        </p:txBody>
      </p:sp>
      <p:sp>
        <p:nvSpPr>
          <p:cNvPr id="2" name="矩形 1"/>
          <p:cNvSpPr/>
          <p:nvPr/>
        </p:nvSpPr>
        <p:spPr>
          <a:xfrm>
            <a:off x="1653153" y="2283718"/>
            <a:ext cx="737702" cy="461665"/>
          </a:xfrm>
          <a:prstGeom prst="rect">
            <a:avLst/>
          </a:prstGeom>
        </p:spPr>
        <p:txBody>
          <a:bodyPr wrap="none">
            <a:spAutoFit/>
          </a:bodyPr>
          <a:lstStyle/>
          <a:p>
            <a:r>
              <a:rPr lang="en-US" altLang="zh-CN" sz="2400" dirty="0"/>
              <a:t>S</a:t>
            </a:r>
            <a:r>
              <a:rPr lang="en-US" altLang="zh-CN" sz="2400" dirty="0">
                <a:latin typeface="Arial" pitchFamily="34" charset="0"/>
                <a:sym typeface="Symbol" pitchFamily="18" charset="2"/>
              </a:rPr>
              <a:t> </a:t>
            </a:r>
            <a:endParaRPr lang="zh-CN" altLang="en-US" sz="2400" dirty="0"/>
          </a:p>
        </p:txBody>
      </p:sp>
      <p:sp>
        <p:nvSpPr>
          <p:cNvPr id="7" name="矩形 6"/>
          <p:cNvSpPr/>
          <p:nvPr/>
        </p:nvSpPr>
        <p:spPr>
          <a:xfrm>
            <a:off x="2267744" y="2298535"/>
            <a:ext cx="590226" cy="461665"/>
          </a:xfrm>
          <a:prstGeom prst="rect">
            <a:avLst/>
          </a:prstGeom>
        </p:spPr>
        <p:txBody>
          <a:bodyPr wrap="none">
            <a:spAutoFit/>
          </a:bodyPr>
          <a:lstStyle/>
          <a:p>
            <a:r>
              <a:rPr lang="en-US" altLang="zh-CN" sz="2400" dirty="0" err="1"/>
              <a:t>Ap</a:t>
            </a:r>
            <a:endParaRPr lang="zh-CN" altLang="en-US" sz="2400" dirty="0"/>
          </a:p>
        </p:txBody>
      </p:sp>
      <p:sp>
        <p:nvSpPr>
          <p:cNvPr id="8" name="矩形 7"/>
          <p:cNvSpPr/>
          <p:nvPr/>
        </p:nvSpPr>
        <p:spPr>
          <a:xfrm>
            <a:off x="1653153" y="2760200"/>
            <a:ext cx="2198767" cy="461665"/>
          </a:xfrm>
          <a:prstGeom prst="rect">
            <a:avLst/>
          </a:prstGeom>
        </p:spPr>
        <p:txBody>
          <a:bodyPr wrap="square">
            <a:spAutoFit/>
          </a:bodyPr>
          <a:lstStyle/>
          <a:p>
            <a:r>
              <a:rPr lang="en-US" altLang="zh-CN" sz="2400" dirty="0"/>
              <a:t>S</a:t>
            </a:r>
            <a:r>
              <a:rPr lang="en-US" altLang="zh-CN" sz="2400" dirty="0">
                <a:latin typeface="Arial" pitchFamily="34" charset="0"/>
                <a:sym typeface="Symbol" pitchFamily="18" charset="2"/>
              </a:rPr>
              <a:t>  </a:t>
            </a:r>
            <a:r>
              <a:rPr lang="en-US" altLang="zh-CN" sz="2400" dirty="0" err="1"/>
              <a:t>Ap</a:t>
            </a:r>
            <a:r>
              <a:rPr lang="en-US" altLang="zh-CN" sz="2400" dirty="0">
                <a:latin typeface="Arial" pitchFamily="34" charset="0"/>
                <a:sym typeface="Symbol" pitchFamily="18" charset="2"/>
              </a:rPr>
              <a:t>  </a:t>
            </a:r>
            <a:r>
              <a:rPr lang="en-US" altLang="zh-CN" sz="2400" dirty="0" err="1"/>
              <a:t>ap</a:t>
            </a:r>
            <a:endParaRPr lang="zh-CN" altLang="en-US" sz="2400" dirty="0"/>
          </a:p>
        </p:txBody>
      </p:sp>
      <p:sp>
        <p:nvSpPr>
          <p:cNvPr id="9" name="矩形 8"/>
          <p:cNvSpPr/>
          <p:nvPr/>
        </p:nvSpPr>
        <p:spPr>
          <a:xfrm>
            <a:off x="1653153" y="3202276"/>
            <a:ext cx="1895071" cy="461665"/>
          </a:xfrm>
          <a:prstGeom prst="rect">
            <a:avLst/>
          </a:prstGeom>
        </p:spPr>
        <p:txBody>
          <a:bodyPr wrap="none">
            <a:spAutoFit/>
          </a:bodyPr>
          <a:lstStyle/>
          <a:p>
            <a:r>
              <a:rPr lang="en-US" altLang="zh-CN" sz="2400" dirty="0"/>
              <a:t>S</a:t>
            </a:r>
            <a:r>
              <a:rPr lang="en-US" altLang="zh-CN" sz="2400" dirty="0">
                <a:latin typeface="Arial" pitchFamily="34" charset="0"/>
                <a:sym typeface="Symbol" pitchFamily="18" charset="2"/>
              </a:rPr>
              <a:t>  </a:t>
            </a:r>
            <a:r>
              <a:rPr lang="en-US" altLang="zh-CN" sz="2400" dirty="0" err="1"/>
              <a:t>Ap</a:t>
            </a:r>
            <a:r>
              <a:rPr lang="en-US" altLang="zh-CN" sz="2400" dirty="0">
                <a:latin typeface="Arial" pitchFamily="34" charset="0"/>
                <a:sym typeface="Symbol" pitchFamily="18" charset="2"/>
              </a:rPr>
              <a:t>  </a:t>
            </a:r>
            <a:r>
              <a:rPr lang="en-US" altLang="zh-CN" sz="2400" dirty="0"/>
              <a:t>p</a:t>
            </a:r>
            <a:endParaRPr lang="zh-CN" altLang="en-US" sz="2400" dirty="0"/>
          </a:p>
        </p:txBody>
      </p:sp>
      <p:sp>
        <p:nvSpPr>
          <p:cNvPr id="10" name="矩形 9"/>
          <p:cNvSpPr/>
          <p:nvPr/>
        </p:nvSpPr>
        <p:spPr>
          <a:xfrm>
            <a:off x="1653153" y="3706273"/>
            <a:ext cx="2254143" cy="461665"/>
          </a:xfrm>
          <a:prstGeom prst="rect">
            <a:avLst/>
          </a:prstGeom>
        </p:spPr>
        <p:txBody>
          <a:bodyPr wrap="none">
            <a:spAutoFit/>
          </a:bodyPr>
          <a:lstStyle/>
          <a:p>
            <a:r>
              <a:rPr lang="en-US" altLang="zh-CN" sz="2400" dirty="0"/>
              <a:t>S</a:t>
            </a:r>
            <a:r>
              <a:rPr lang="en-US" altLang="zh-CN" sz="2400" dirty="0">
                <a:latin typeface="Arial" pitchFamily="34" charset="0"/>
                <a:sym typeface="Symbol" pitchFamily="18" charset="2"/>
              </a:rPr>
              <a:t>  </a:t>
            </a:r>
            <a:r>
              <a:rPr lang="en-US" altLang="zh-CN" sz="2400" dirty="0" err="1"/>
              <a:t>Ap</a:t>
            </a:r>
            <a:r>
              <a:rPr lang="en-US" altLang="zh-CN" sz="2400" dirty="0">
                <a:latin typeface="Arial" pitchFamily="34" charset="0"/>
                <a:sym typeface="Symbol" pitchFamily="18" charset="2"/>
              </a:rPr>
              <a:t>  </a:t>
            </a:r>
            <a:r>
              <a:rPr lang="en-US" altLang="zh-CN" sz="2400" dirty="0" err="1">
                <a:latin typeface="Arial" pitchFamily="34" charset="0"/>
                <a:sym typeface="Symbol" pitchFamily="18" charset="2"/>
              </a:rPr>
              <a:t>cA</a:t>
            </a:r>
            <a:r>
              <a:rPr lang="en-US" altLang="zh-CN" sz="2400" dirty="0" err="1"/>
              <a:t>p</a:t>
            </a:r>
            <a:endParaRPr lang="zh-CN" altLang="en-US" sz="2400" dirty="0"/>
          </a:p>
        </p:txBody>
      </p:sp>
      <p:sp>
        <p:nvSpPr>
          <p:cNvPr id="11" name="矩形 10"/>
          <p:cNvSpPr/>
          <p:nvPr/>
        </p:nvSpPr>
        <p:spPr>
          <a:xfrm>
            <a:off x="1653153" y="4182640"/>
            <a:ext cx="2276585" cy="461665"/>
          </a:xfrm>
          <a:prstGeom prst="rect">
            <a:avLst/>
          </a:prstGeom>
        </p:spPr>
        <p:txBody>
          <a:bodyPr wrap="none">
            <a:spAutoFit/>
          </a:bodyPr>
          <a:lstStyle/>
          <a:p>
            <a:r>
              <a:rPr lang="en-US" altLang="zh-CN" sz="2400" dirty="0"/>
              <a:t>S</a:t>
            </a:r>
            <a:r>
              <a:rPr lang="en-US" altLang="zh-CN" sz="2400" dirty="0">
                <a:latin typeface="Arial" pitchFamily="34" charset="0"/>
                <a:sym typeface="Symbol" pitchFamily="18" charset="2"/>
              </a:rPr>
              <a:t>  </a:t>
            </a:r>
            <a:r>
              <a:rPr lang="en-US" altLang="zh-CN" sz="2400" dirty="0" err="1"/>
              <a:t>Ap</a:t>
            </a:r>
            <a:r>
              <a:rPr lang="en-US" altLang="zh-CN" sz="2400" dirty="0">
                <a:latin typeface="Arial" pitchFamily="34" charset="0"/>
                <a:sym typeface="Symbol" pitchFamily="18" charset="2"/>
              </a:rPr>
              <a:t>  </a:t>
            </a:r>
            <a:r>
              <a:rPr lang="en-US" altLang="zh-CN" sz="2400" dirty="0" err="1"/>
              <a:t>aAp</a:t>
            </a:r>
            <a:endParaRPr lang="zh-CN" altLang="en-US" sz="2400" dirty="0"/>
          </a:p>
        </p:txBody>
      </p:sp>
      <p:sp>
        <p:nvSpPr>
          <p:cNvPr id="12" name="矩形 11"/>
          <p:cNvSpPr/>
          <p:nvPr/>
        </p:nvSpPr>
        <p:spPr>
          <a:xfrm>
            <a:off x="1666479" y="4644412"/>
            <a:ext cx="3081293" cy="461665"/>
          </a:xfrm>
          <a:prstGeom prst="rect">
            <a:avLst/>
          </a:prstGeom>
          <a:solidFill>
            <a:schemeClr val="bg1"/>
          </a:solidFill>
        </p:spPr>
        <p:txBody>
          <a:bodyPr wrap="none">
            <a:spAutoFit/>
          </a:bodyPr>
          <a:lstStyle/>
          <a:p>
            <a:r>
              <a:rPr lang="en-US" altLang="zh-CN" sz="2400" dirty="0"/>
              <a:t>S</a:t>
            </a:r>
            <a:r>
              <a:rPr lang="en-US" altLang="zh-CN" sz="2400" dirty="0">
                <a:latin typeface="Arial" pitchFamily="34" charset="0"/>
                <a:sym typeface="Symbol" pitchFamily="18" charset="2"/>
              </a:rPr>
              <a:t>  </a:t>
            </a:r>
            <a:r>
              <a:rPr lang="en-US" altLang="zh-CN" sz="2400" dirty="0" err="1"/>
              <a:t>Ap</a:t>
            </a:r>
            <a:r>
              <a:rPr lang="en-US" altLang="zh-CN" sz="2400" dirty="0">
                <a:latin typeface="Arial" pitchFamily="34" charset="0"/>
                <a:sym typeface="Symbol" pitchFamily="18" charset="2"/>
              </a:rPr>
              <a:t> … …</a:t>
            </a:r>
            <a:r>
              <a:rPr lang="en-US" altLang="zh-CN" sz="2400" dirty="0" err="1">
                <a:latin typeface="Arial" pitchFamily="34" charset="0"/>
                <a:sym typeface="Symbol" pitchFamily="18" charset="2"/>
              </a:rPr>
              <a:t>Ap</a:t>
            </a:r>
            <a:r>
              <a:rPr lang="en-US" altLang="zh-CN" sz="2400" dirty="0">
                <a:latin typeface="Arial" pitchFamily="34" charset="0"/>
                <a:sym typeface="Symbol" pitchFamily="18" charset="2"/>
              </a:rPr>
              <a:t> </a:t>
            </a:r>
            <a:endParaRPr lang="zh-CN" altLang="en-US" sz="2400" dirty="0"/>
          </a:p>
        </p:txBody>
      </p:sp>
    </p:spTree>
    <p:extLst>
      <p:ext uri="{BB962C8B-B14F-4D97-AF65-F5344CB8AC3E}">
        <p14:creationId xmlns:p14="http://schemas.microsoft.com/office/powerpoint/2010/main" val="1386212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2109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950" grpId="0" autoUpdateAnimBg="0"/>
      <p:bldP spid="2" grpId="0"/>
      <p:bldP spid="7" grpId="0"/>
      <p:bldP spid="8" grpId="0"/>
      <p:bldP spid="9" grpId="0"/>
      <p:bldP spid="10" grpId="0"/>
      <p:bldP spid="11" grpId="0"/>
      <p:bldP spid="12" grpId="0" animBg="1"/>
    </p:bldLst>
  </p:timing>
</p:sld>
</file>

<file path=ppt/slides/slide7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a:xfrm>
            <a:off x="0" y="131763"/>
            <a:ext cx="8839200" cy="685800"/>
          </a:xfrm>
        </p:spPr>
        <p:txBody>
          <a:bodyPr>
            <a:normAutofit/>
          </a:bodyPr>
          <a:lstStyle/>
          <a:p>
            <a:pPr algn="l" eaLnBrk="1" hangingPunct="1"/>
            <a:r>
              <a:rPr lang="zh-CN" altLang="en-US" sz="2800" b="1" i="1" dirty="0">
                <a:solidFill>
                  <a:srgbClr val="008000"/>
                </a:solidFill>
              </a:rPr>
              <a:t>求非终结符</a:t>
            </a:r>
            <a:r>
              <a:rPr lang="en-US" altLang="zh-CN" sz="2800" b="1" i="1" dirty="0">
                <a:solidFill>
                  <a:srgbClr val="FF3300"/>
                </a:solidFill>
              </a:rPr>
              <a:t>A</a:t>
            </a:r>
            <a:r>
              <a:rPr lang="zh-CN" altLang="en-US" sz="2800" b="1" i="1" dirty="0">
                <a:solidFill>
                  <a:srgbClr val="008000"/>
                </a:solidFill>
              </a:rPr>
              <a:t>的</a:t>
            </a:r>
            <a:r>
              <a:rPr lang="en-US" altLang="zh-CN" sz="2800" b="1" i="1" dirty="0">
                <a:solidFill>
                  <a:srgbClr val="008000"/>
                </a:solidFill>
              </a:rPr>
              <a:t>Follow</a:t>
            </a:r>
            <a:r>
              <a:rPr lang="zh-CN" altLang="en-US" sz="2800" b="1" i="1" dirty="0">
                <a:solidFill>
                  <a:srgbClr val="008000"/>
                </a:solidFill>
              </a:rPr>
              <a:t>集的算法</a:t>
            </a:r>
            <a:r>
              <a:rPr lang="zh-CN" altLang="en-US" sz="3600" dirty="0">
                <a:solidFill>
                  <a:schemeClr val="accent2"/>
                </a:solidFill>
                <a:latin typeface="隶书" pitchFamily="49" charset="-122"/>
                <a:ea typeface="隶书" pitchFamily="49" charset="-122"/>
              </a:rPr>
              <a:t> </a:t>
            </a:r>
          </a:p>
        </p:txBody>
      </p:sp>
      <p:sp>
        <p:nvSpPr>
          <p:cNvPr id="97283" name="Rectangle 3"/>
          <p:cNvSpPr>
            <a:spLocks noGrp="1" noChangeArrowheads="1"/>
          </p:cNvSpPr>
          <p:nvPr>
            <p:ph type="body" idx="1"/>
          </p:nvPr>
        </p:nvSpPr>
        <p:spPr>
          <a:xfrm>
            <a:off x="433710" y="1108170"/>
            <a:ext cx="6370538" cy="2451114"/>
          </a:xfrm>
          <a:solidFill>
            <a:schemeClr val="bg1"/>
          </a:solidFill>
          <a:ln w="28575">
            <a:solidFill>
              <a:schemeClr val="accent2"/>
            </a:solidFill>
            <a:miter lim="800000"/>
            <a:headEnd/>
            <a:tailEnd/>
          </a:ln>
        </p:spPr>
        <p:txBody>
          <a:bodyPr>
            <a:normAutofit/>
          </a:bodyPr>
          <a:lstStyle/>
          <a:p>
            <a:pPr algn="just" eaLnBrk="1" hangingPunct="1"/>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1.</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是开始符号，＃∈</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Follow(A)</a:t>
            </a:r>
          </a:p>
          <a:p>
            <a:pPr algn="just" eaLnBrk="1" hangingPunct="1"/>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2.</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若有产生式</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sz="2200"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β</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A∈V</a:t>
            </a:r>
            <a:r>
              <a:rPr lang="en-US" altLang="zh-CN" sz="2200" baseline="-25000" dirty="0">
                <a:latin typeface="Times New Roman" panose="02020603050405020304" pitchFamily="18" charset="0"/>
                <a:ea typeface="宋体" panose="02010600030101010101" pitchFamily="2" charset="-122"/>
                <a:cs typeface="Times New Roman" panose="02020603050405020304" pitchFamily="18" charset="0"/>
              </a:rPr>
              <a:t>N</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，则</a:t>
            </a:r>
          </a:p>
          <a:p>
            <a:pPr lvl="1" algn="just" eaLnBrk="1" hangingPunct="1">
              <a:buFontTx/>
              <a:buNone/>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   把</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First(β)</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中非</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ε</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元素加入</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Follow(A)</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中；</a:t>
            </a:r>
          </a:p>
        </p:txBody>
      </p:sp>
      <p:sp>
        <p:nvSpPr>
          <p:cNvPr id="2" name="矩形 1"/>
          <p:cNvSpPr/>
          <p:nvPr/>
        </p:nvSpPr>
        <p:spPr>
          <a:xfrm>
            <a:off x="467544" y="3128397"/>
            <a:ext cx="6408712" cy="430887"/>
          </a:xfrm>
          <a:prstGeom prst="rect">
            <a:avLst/>
          </a:prstGeom>
        </p:spPr>
        <p:txBody>
          <a:bodyPr wrap="square">
            <a:spAutoFit/>
          </a:bodyPr>
          <a:lstStyle/>
          <a:p>
            <a:pPr marL="365760" lvl="0" indent="-256032" algn="just">
              <a:spcBef>
                <a:spcPts val="400"/>
              </a:spcBef>
              <a:buClr>
                <a:srgbClr val="2DA2BF"/>
              </a:buClr>
              <a:buSzPct val="68000"/>
              <a:buFont typeface="Wingdings 3"/>
              <a:buChar char=""/>
            </a:pPr>
            <a:r>
              <a:rPr lang="en-US" altLang="zh-CN" sz="2200" dirty="0">
                <a:solidFill>
                  <a:prstClr val="black"/>
                </a:solidFill>
                <a:latin typeface="Times New Roman" panose="02020603050405020304" pitchFamily="18" charset="0"/>
                <a:ea typeface="宋体" panose="02010600030101010101" pitchFamily="2" charset="-122"/>
                <a:cs typeface="Times New Roman" panose="02020603050405020304" pitchFamily="18" charset="0"/>
              </a:rPr>
              <a:t>4.</a:t>
            </a:r>
            <a:r>
              <a:rPr lang="zh-CN" altLang="en-US" sz="2200" dirty="0">
                <a:solidFill>
                  <a:prstClr val="black"/>
                </a:solidFill>
                <a:latin typeface="Times New Roman" panose="02020603050405020304" pitchFamily="18" charset="0"/>
                <a:ea typeface="宋体" panose="02010600030101010101" pitchFamily="2" charset="-122"/>
                <a:cs typeface="Times New Roman" panose="02020603050405020304" pitchFamily="18" charset="0"/>
              </a:rPr>
              <a:t>连续使用上述规则，直到</a:t>
            </a:r>
            <a:r>
              <a:rPr lang="en-US" altLang="zh-CN" sz="2200" dirty="0">
                <a:solidFill>
                  <a:prstClr val="black"/>
                </a:solidFill>
                <a:latin typeface="Times New Roman" panose="02020603050405020304" pitchFamily="18" charset="0"/>
                <a:ea typeface="宋体" panose="02010600030101010101" pitchFamily="2" charset="-122"/>
                <a:cs typeface="Times New Roman" panose="02020603050405020304" pitchFamily="18" charset="0"/>
              </a:rPr>
              <a:t>Follow(A)</a:t>
            </a:r>
            <a:r>
              <a:rPr lang="zh-CN" altLang="en-US" sz="2200" dirty="0">
                <a:solidFill>
                  <a:prstClr val="black"/>
                </a:solidFill>
                <a:latin typeface="Times New Roman" panose="02020603050405020304" pitchFamily="18" charset="0"/>
                <a:ea typeface="宋体" panose="02010600030101010101" pitchFamily="2" charset="-122"/>
                <a:cs typeface="Times New Roman" panose="02020603050405020304" pitchFamily="18" charset="0"/>
              </a:rPr>
              <a:t>不再增大。</a:t>
            </a:r>
          </a:p>
        </p:txBody>
      </p:sp>
      <p:grpSp>
        <p:nvGrpSpPr>
          <p:cNvPr id="4" name="组合 3"/>
          <p:cNvGrpSpPr/>
          <p:nvPr/>
        </p:nvGrpSpPr>
        <p:grpSpPr>
          <a:xfrm>
            <a:off x="862608" y="2263140"/>
            <a:ext cx="5544616" cy="807040"/>
            <a:chOff x="1259632" y="3397741"/>
            <a:chExt cx="5544616" cy="807040"/>
          </a:xfrm>
        </p:grpSpPr>
        <p:sp>
          <p:nvSpPr>
            <p:cNvPr id="71684" name="Text Box 4"/>
            <p:cNvSpPr txBox="1">
              <a:spLocks noChangeArrowheads="1"/>
            </p:cNvSpPr>
            <p:nvPr/>
          </p:nvSpPr>
          <p:spPr bwMode="auto">
            <a:xfrm>
              <a:off x="4536976" y="3397741"/>
              <a:ext cx="4318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200" dirty="0">
                  <a:solidFill>
                    <a:srgbClr val="0066FF"/>
                  </a:solidFill>
                  <a:cs typeface="Times New Roman" panose="02020603050405020304" pitchFamily="18" charset="0"/>
                </a:rPr>
                <a:t>*</a:t>
              </a:r>
            </a:p>
          </p:txBody>
        </p:sp>
        <p:sp>
          <p:nvSpPr>
            <p:cNvPr id="3" name="矩形 2"/>
            <p:cNvSpPr/>
            <p:nvPr/>
          </p:nvSpPr>
          <p:spPr>
            <a:xfrm>
              <a:off x="1259632" y="3435340"/>
              <a:ext cx="5544616" cy="769441"/>
            </a:xfrm>
            <a:prstGeom prst="rect">
              <a:avLst/>
            </a:prstGeom>
          </p:spPr>
          <p:txBody>
            <a:bodyPr wrap="square">
              <a:spAutoFit/>
            </a:bodyPr>
            <a:lstStyle/>
            <a:p>
              <a:pPr algn="just"/>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3.</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若</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sz="2200"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或  </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sz="2200"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β</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β </a:t>
              </a:r>
              <a:r>
                <a:rPr lang="en-US" altLang="zh-CN" sz="2200"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ε</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，则</a:t>
              </a:r>
            </a:p>
            <a:p>
              <a:pPr lvl="1" indent="-185738" algn="just"/>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把</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Follow(B)</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加入到</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Follow(A)</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中；</a:t>
              </a:r>
            </a:p>
          </p:txBody>
        </p:sp>
      </p:grpSp>
      <p:grpSp>
        <p:nvGrpSpPr>
          <p:cNvPr id="5" name="组合 4"/>
          <p:cNvGrpSpPr/>
          <p:nvPr/>
        </p:nvGrpSpPr>
        <p:grpSpPr>
          <a:xfrm>
            <a:off x="3779912" y="3775308"/>
            <a:ext cx="5364088" cy="997743"/>
            <a:chOff x="3779912" y="3700725"/>
            <a:chExt cx="5364088" cy="997743"/>
          </a:xfrm>
        </p:grpSpPr>
        <p:sp>
          <p:nvSpPr>
            <p:cNvPr id="9" name="Rectangle 4"/>
            <p:cNvSpPr>
              <a:spLocks noChangeArrowheads="1"/>
            </p:cNvSpPr>
            <p:nvPr/>
          </p:nvSpPr>
          <p:spPr bwMode="auto">
            <a:xfrm>
              <a:off x="3779912" y="3700725"/>
              <a:ext cx="5364088" cy="997743"/>
            </a:xfrm>
            <a:prstGeom prst="rect">
              <a:avLst/>
            </a:prstGeom>
            <a:ln>
              <a:headEnd/>
              <a:tailEnd/>
            </a:ln>
          </p:spPr>
          <p:style>
            <a:lnRef idx="2">
              <a:schemeClr val="dk1"/>
            </a:lnRef>
            <a:fillRef idx="1">
              <a:schemeClr val="lt1"/>
            </a:fillRef>
            <a:effectRef idx="0">
              <a:schemeClr val="dk1"/>
            </a:effectRef>
            <a:fontRef idx="minor">
              <a:schemeClr val="dk1"/>
            </a:fontRef>
          </p:style>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pPr>
              <a:r>
                <a:rPr lang="zh-CN" altLang="en-US" sz="2000" dirty="0"/>
                <a:t>假定</a:t>
              </a:r>
              <a:r>
                <a:rPr lang="en-US" altLang="zh-CN" sz="2000" b="1" dirty="0">
                  <a:solidFill>
                    <a:srgbClr val="CC00FF"/>
                  </a:solidFill>
                </a:rPr>
                <a:t>S</a:t>
              </a:r>
              <a:r>
                <a:rPr lang="zh-CN" altLang="en-US" sz="2000" dirty="0"/>
                <a:t>是文法的开始符号，</a:t>
              </a:r>
              <a:r>
                <a:rPr lang="zh-CN" altLang="en-US" sz="2000" dirty="0">
                  <a:latin typeface="宋体" pitchFamily="2" charset="-122"/>
                </a:rPr>
                <a:t>对于</a:t>
              </a:r>
              <a:r>
                <a:rPr lang="zh-CN" altLang="en-US" sz="2000" dirty="0">
                  <a:sym typeface="Symbol" pitchFamily="18" charset="2"/>
                </a:rPr>
                <a:t></a:t>
              </a:r>
              <a:r>
                <a:rPr lang="en-US" altLang="zh-CN" sz="2000" dirty="0"/>
                <a:t>A∈</a:t>
              </a:r>
              <a:r>
                <a:rPr lang="zh-CN" altLang="en-US" sz="2000" dirty="0">
                  <a:latin typeface="宋体" pitchFamily="2" charset="-122"/>
                </a:rPr>
                <a:t>Ｖ</a:t>
              </a:r>
              <a:r>
                <a:rPr lang="en-US" altLang="zh-CN" sz="2000" baseline="-25000" dirty="0">
                  <a:latin typeface="宋体" pitchFamily="2" charset="-122"/>
                </a:rPr>
                <a:t>N</a:t>
              </a:r>
              <a:r>
                <a:rPr lang="zh-CN" altLang="en-US" sz="2000" dirty="0">
                  <a:latin typeface="宋体" pitchFamily="2" charset="-122"/>
                </a:rPr>
                <a:t>：  </a:t>
              </a:r>
            </a:p>
            <a:p>
              <a:pPr lvl="1" eaLnBrk="1" hangingPunct="1">
                <a:spcBef>
                  <a:spcPts val="0"/>
                </a:spcBef>
                <a:buFontTx/>
                <a:buNone/>
              </a:pPr>
              <a:r>
                <a:rPr lang="zh-CN" altLang="en-US" sz="2000" dirty="0">
                  <a:latin typeface="宋体" pitchFamily="2" charset="-122"/>
                </a:rPr>
                <a:t>    </a:t>
              </a:r>
              <a:r>
                <a:rPr lang="en-US" altLang="zh-CN" sz="2000" dirty="0">
                  <a:latin typeface="宋体" pitchFamily="2" charset="-122"/>
                </a:rPr>
                <a:t>Follow(</a:t>
              </a:r>
              <a:r>
                <a:rPr lang="en-US" altLang="zh-CN" sz="2000" b="1" dirty="0">
                  <a:solidFill>
                    <a:srgbClr val="FF0000"/>
                  </a:solidFill>
                  <a:latin typeface="宋体" pitchFamily="2" charset="-122"/>
                </a:rPr>
                <a:t>A</a:t>
              </a:r>
              <a:r>
                <a:rPr lang="en-US" altLang="zh-CN" sz="2000" dirty="0">
                  <a:latin typeface="宋体" pitchFamily="2" charset="-122"/>
                </a:rPr>
                <a:t>)={</a:t>
              </a:r>
              <a:r>
                <a:rPr lang="en-US" altLang="zh-CN" sz="2000" b="1" dirty="0" err="1">
                  <a:solidFill>
                    <a:srgbClr val="3333FF"/>
                  </a:solidFill>
                  <a:latin typeface="宋体" pitchFamily="2" charset="-122"/>
                </a:rPr>
                <a:t>a</a:t>
              </a:r>
              <a:r>
                <a:rPr lang="en-US" altLang="zh-CN" sz="2000" dirty="0" err="1">
                  <a:latin typeface="宋体" pitchFamily="2" charset="-122"/>
                </a:rPr>
                <a:t>|</a:t>
              </a:r>
              <a:r>
                <a:rPr lang="en-US" altLang="zh-CN" sz="2000" b="1" dirty="0" err="1">
                  <a:solidFill>
                    <a:srgbClr val="CC00FF"/>
                  </a:solidFill>
                  <a:latin typeface="宋体" pitchFamily="2" charset="-122"/>
                </a:rPr>
                <a:t>S</a:t>
              </a:r>
              <a:r>
                <a:rPr lang="en-US" altLang="zh-CN" sz="2000" dirty="0">
                  <a:sym typeface="Symbol" pitchFamily="18" charset="2"/>
                </a:rPr>
                <a:t></a:t>
              </a:r>
              <a:r>
                <a:rPr lang="en-US" altLang="zh-CN" sz="2000" dirty="0"/>
                <a:t>…</a:t>
              </a:r>
              <a:r>
                <a:rPr lang="en-US" altLang="zh-CN" sz="2000" b="1" dirty="0">
                  <a:solidFill>
                    <a:srgbClr val="FF0000"/>
                  </a:solidFill>
                  <a:latin typeface="宋体" pitchFamily="2" charset="-122"/>
                </a:rPr>
                <a:t>A</a:t>
              </a:r>
              <a:r>
                <a:rPr lang="en-US" altLang="zh-CN" sz="2000" b="1" dirty="0">
                  <a:solidFill>
                    <a:srgbClr val="3333FF"/>
                  </a:solidFill>
                  <a:latin typeface="宋体" pitchFamily="2" charset="-122"/>
                </a:rPr>
                <a:t>a</a:t>
              </a:r>
              <a:r>
                <a:rPr lang="en-US" altLang="zh-CN" sz="2000" dirty="0"/>
                <a:t>…</a:t>
              </a:r>
              <a:r>
                <a:rPr lang="zh-CN" altLang="en-US" sz="2000" dirty="0">
                  <a:latin typeface="宋体" pitchFamily="2" charset="-122"/>
                </a:rPr>
                <a:t>，</a:t>
              </a:r>
              <a:r>
                <a:rPr lang="en-US" altLang="zh-CN" sz="2000" dirty="0">
                  <a:latin typeface="宋体" pitchFamily="2" charset="-122"/>
                </a:rPr>
                <a:t>a∈</a:t>
              </a:r>
              <a:r>
                <a:rPr lang="zh-CN" altLang="en-US" sz="2000" dirty="0">
                  <a:latin typeface="宋体" pitchFamily="2" charset="-122"/>
                </a:rPr>
                <a:t>Ｖ</a:t>
              </a:r>
              <a:r>
                <a:rPr lang="en-US" altLang="zh-CN" sz="2000" baseline="-25000" dirty="0">
                  <a:latin typeface="宋体" pitchFamily="2" charset="-122"/>
                </a:rPr>
                <a:t>T</a:t>
              </a:r>
              <a:r>
                <a:rPr lang="en-US" altLang="zh-CN" sz="2000" dirty="0">
                  <a:latin typeface="宋体" pitchFamily="2" charset="-122"/>
                </a:rPr>
                <a:t> }</a:t>
              </a:r>
            </a:p>
            <a:p>
              <a:pPr eaLnBrk="1" hangingPunct="1">
                <a:spcBef>
                  <a:spcPts val="0"/>
                </a:spcBef>
                <a:buFontTx/>
                <a:buNone/>
              </a:pPr>
              <a:r>
                <a:rPr lang="en-US" altLang="zh-CN" sz="2000" dirty="0"/>
                <a:t>	    </a:t>
              </a:r>
              <a:r>
                <a:rPr lang="zh-CN" altLang="en-US" sz="2000" dirty="0"/>
                <a:t>特别，若    </a:t>
              </a:r>
              <a:r>
                <a:rPr lang="en-US" altLang="zh-CN" sz="2000" b="1" dirty="0">
                  <a:solidFill>
                    <a:srgbClr val="CC00FF"/>
                  </a:solidFill>
                  <a:latin typeface="宋体" pitchFamily="2" charset="-122"/>
                </a:rPr>
                <a:t>S</a:t>
              </a:r>
              <a:r>
                <a:rPr lang="en-US" altLang="zh-CN" sz="2000" dirty="0">
                  <a:sym typeface="Symbol" pitchFamily="18" charset="2"/>
                </a:rPr>
                <a:t></a:t>
              </a:r>
              <a:r>
                <a:rPr lang="en-US" altLang="zh-CN" sz="2000" dirty="0"/>
                <a:t>…</a:t>
              </a:r>
              <a:r>
                <a:rPr lang="en-US" altLang="zh-CN" sz="2000" b="1" dirty="0">
                  <a:solidFill>
                    <a:srgbClr val="FF0000"/>
                  </a:solidFill>
                  <a:latin typeface="宋体" pitchFamily="2" charset="-122"/>
                </a:rPr>
                <a:t>A</a:t>
              </a:r>
              <a:r>
                <a:rPr lang="zh-CN" altLang="en-US" sz="2000" dirty="0">
                  <a:latin typeface="宋体" pitchFamily="2" charset="-122"/>
                </a:rPr>
                <a:t>，则，</a:t>
              </a:r>
              <a:r>
                <a:rPr lang="en-US" altLang="zh-CN" sz="2000" dirty="0">
                  <a:latin typeface="宋体" pitchFamily="2" charset="-122"/>
                </a:rPr>
                <a:t>#</a:t>
              </a:r>
              <a:r>
                <a:rPr lang="en-US" altLang="zh-CN" sz="2000" dirty="0"/>
                <a:t> </a:t>
              </a:r>
              <a:r>
                <a:rPr lang="en-US" altLang="zh-CN" sz="2000" dirty="0">
                  <a:latin typeface="宋体" pitchFamily="2" charset="-122"/>
                </a:rPr>
                <a:t>∈FOLLOW(A)</a:t>
              </a:r>
              <a:endParaRPr lang="en-US" altLang="zh-CN" sz="2000" dirty="0"/>
            </a:p>
          </p:txBody>
        </p:sp>
        <p:sp>
          <p:nvSpPr>
            <p:cNvPr id="10" name="Rectangle 5"/>
            <p:cNvSpPr>
              <a:spLocks noChangeArrowheads="1"/>
            </p:cNvSpPr>
            <p:nvPr/>
          </p:nvSpPr>
          <p:spPr bwMode="auto">
            <a:xfrm>
              <a:off x="6570738" y="4002425"/>
              <a:ext cx="271228"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b="1" baseline="30000" dirty="0">
                  <a:latin typeface="宋体" pitchFamily="2" charset="-122"/>
                </a:rPr>
                <a:t>*</a:t>
              </a:r>
            </a:p>
          </p:txBody>
        </p:sp>
        <p:sp>
          <p:nvSpPr>
            <p:cNvPr id="11" name="Rectangle 6"/>
            <p:cNvSpPr>
              <a:spLocks noChangeArrowheads="1"/>
            </p:cNvSpPr>
            <p:nvPr/>
          </p:nvSpPr>
          <p:spPr bwMode="auto">
            <a:xfrm>
              <a:off x="5830426" y="4299942"/>
              <a:ext cx="271228"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b="1" baseline="30000" dirty="0">
                  <a:latin typeface="宋体" pitchFamily="2" charset="-122"/>
                </a:rPr>
                <a:t>*</a:t>
              </a:r>
            </a:p>
          </p:txBody>
        </p:sp>
      </p:grpSp>
      <p:sp>
        <p:nvSpPr>
          <p:cNvPr id="14" name="Rectangle 4"/>
          <p:cNvSpPr>
            <a:spLocks noChangeArrowheads="1"/>
          </p:cNvSpPr>
          <p:nvPr/>
        </p:nvSpPr>
        <p:spPr bwMode="auto">
          <a:xfrm>
            <a:off x="6110656" y="1569262"/>
            <a:ext cx="3032148" cy="498871"/>
          </a:xfrm>
          <a:prstGeom prst="rect">
            <a:avLst/>
          </a:prstGeom>
          <a:ln w="12700">
            <a:headEnd/>
            <a:tailEnd/>
          </a:ln>
        </p:spPr>
        <p:style>
          <a:lnRef idx="2">
            <a:schemeClr val="dk1"/>
          </a:lnRef>
          <a:fillRef idx="1">
            <a:schemeClr val="lt1"/>
          </a:fillRef>
          <a:effectRef idx="0">
            <a:schemeClr val="dk1"/>
          </a:effectRef>
          <a:fontRef idx="minor">
            <a:schemeClr val="dk1"/>
          </a:fontRef>
        </p:style>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0" indent="0">
              <a:spcBef>
                <a:spcPts val="0"/>
              </a:spcBef>
              <a:buNone/>
            </a:pPr>
            <a:r>
              <a:rPr lang="zh-CN" altLang="en-US" sz="2000" dirty="0">
                <a:latin typeface="宋体" pitchFamily="2" charset="-122"/>
              </a:rPr>
              <a:t> </a:t>
            </a:r>
            <a:r>
              <a:rPr lang="en-US" altLang="zh-CN" sz="2000" dirty="0">
                <a:latin typeface="宋体" pitchFamily="2" charset="-122"/>
              </a:rPr>
              <a:t>S</a:t>
            </a:r>
            <a:r>
              <a:rPr lang="en-US" altLang="zh-CN" sz="2000" dirty="0">
                <a:sym typeface="Symbol" pitchFamily="18" charset="2"/>
              </a:rPr>
              <a:t></a:t>
            </a:r>
            <a:r>
              <a:rPr lang="en-US" altLang="zh-CN" sz="2000" dirty="0"/>
              <a:t>…B…</a:t>
            </a:r>
            <a:r>
              <a:rPr lang="en-US" altLang="zh-CN" sz="2000" dirty="0">
                <a:sym typeface="Symbol" pitchFamily="18" charset="2"/>
              </a:rPr>
              <a:t> </a:t>
            </a:r>
            <a:r>
              <a:rPr lang="en-US" altLang="zh-CN" sz="2000" dirty="0"/>
              <a:t>…</a:t>
            </a:r>
            <a:r>
              <a:rPr lang="en-US" altLang="zh-CN" sz="2000" dirty="0">
                <a:cs typeface="Times New Roman" panose="02020603050405020304" pitchFamily="18" charset="0"/>
              </a:rPr>
              <a:t>αAβ</a:t>
            </a:r>
            <a:r>
              <a:rPr lang="en-US" altLang="zh-CN" sz="2000" dirty="0"/>
              <a:t>…</a:t>
            </a:r>
            <a:endParaRPr lang="en-US" altLang="zh-CN" sz="2000" dirty="0">
              <a:latin typeface="宋体" pitchFamily="2" charset="-122"/>
            </a:endParaRPr>
          </a:p>
        </p:txBody>
      </p:sp>
      <p:sp>
        <p:nvSpPr>
          <p:cNvPr id="16" name="Rectangle 4"/>
          <p:cNvSpPr>
            <a:spLocks noChangeArrowheads="1"/>
          </p:cNvSpPr>
          <p:nvPr/>
        </p:nvSpPr>
        <p:spPr bwMode="auto">
          <a:xfrm>
            <a:off x="6111852" y="2581200"/>
            <a:ext cx="3032148" cy="498871"/>
          </a:xfrm>
          <a:prstGeom prst="rect">
            <a:avLst/>
          </a:prstGeom>
          <a:ln w="12700">
            <a:headEnd/>
            <a:tailEnd/>
          </a:ln>
        </p:spPr>
        <p:style>
          <a:lnRef idx="2">
            <a:schemeClr val="dk1"/>
          </a:lnRef>
          <a:fillRef idx="1">
            <a:schemeClr val="lt1"/>
          </a:fillRef>
          <a:effectRef idx="0">
            <a:schemeClr val="dk1"/>
          </a:effectRef>
          <a:fontRef idx="minor">
            <a:schemeClr val="dk1"/>
          </a:fontRef>
        </p:style>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0" indent="0">
              <a:spcBef>
                <a:spcPts val="0"/>
              </a:spcBef>
              <a:buNone/>
            </a:pPr>
            <a:r>
              <a:rPr lang="zh-CN" altLang="en-US" sz="2000" dirty="0">
                <a:latin typeface="宋体" pitchFamily="2" charset="-122"/>
              </a:rPr>
              <a:t> </a:t>
            </a:r>
            <a:r>
              <a:rPr lang="en-US" altLang="zh-CN" sz="2000" dirty="0">
                <a:latin typeface="宋体" pitchFamily="2" charset="-122"/>
              </a:rPr>
              <a:t>S</a:t>
            </a:r>
            <a:r>
              <a:rPr lang="en-US" altLang="zh-CN" sz="2000" dirty="0">
                <a:sym typeface="Symbol" pitchFamily="18" charset="2"/>
              </a:rPr>
              <a:t></a:t>
            </a:r>
            <a:r>
              <a:rPr lang="en-US" altLang="zh-CN" sz="2000" dirty="0"/>
              <a:t>…B…</a:t>
            </a:r>
            <a:r>
              <a:rPr lang="en-US" altLang="zh-CN" sz="2000" dirty="0">
                <a:sym typeface="Symbol" pitchFamily="18" charset="2"/>
              </a:rPr>
              <a:t> </a:t>
            </a:r>
            <a:r>
              <a:rPr lang="en-US" altLang="zh-CN" sz="2000" dirty="0"/>
              <a:t>…</a:t>
            </a:r>
            <a:r>
              <a:rPr lang="en-US" altLang="zh-CN" sz="2000" dirty="0">
                <a:cs typeface="Times New Roman" panose="02020603050405020304" pitchFamily="18" charset="0"/>
              </a:rPr>
              <a:t>αA</a:t>
            </a:r>
            <a:r>
              <a:rPr lang="en-US" altLang="zh-CN" sz="2000" dirty="0"/>
              <a:t>…</a:t>
            </a:r>
            <a:endParaRPr lang="en-US" altLang="zh-CN" sz="2000" dirty="0">
              <a:latin typeface="宋体" pitchFamily="2" charset="-122"/>
            </a:endParaRPr>
          </a:p>
        </p:txBody>
      </p:sp>
      <p:sp>
        <p:nvSpPr>
          <p:cNvPr id="6" name="矩形 5">
            <a:extLst>
              <a:ext uri="{FF2B5EF4-FFF2-40B4-BE49-F238E27FC236}">
                <a16:creationId xmlns:a16="http://schemas.microsoft.com/office/drawing/2014/main" id="{15AAD8B2-8A47-8473-8FBC-718CF9FAC226}"/>
              </a:ext>
            </a:extLst>
          </p:cNvPr>
          <p:cNvSpPr/>
          <p:nvPr/>
        </p:nvSpPr>
        <p:spPr>
          <a:xfrm>
            <a:off x="2699792" y="2312170"/>
            <a:ext cx="1944216" cy="393288"/>
          </a:xfrm>
          <a:prstGeom prst="rect">
            <a:avLst/>
          </a:prstGeom>
          <a:noFill/>
          <a:ln w="19050">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7355955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728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728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9728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uiExpand="1" build="p" autoUpdateAnimBg="0"/>
      <p:bldP spid="2" grpId="0"/>
      <p:bldP spid="14" grpId="0" animBg="1"/>
      <p:bldP spid="16" grpId="0" animBg="1"/>
      <p:bldP spid="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a:xfrm>
            <a:off x="457200" y="205979"/>
            <a:ext cx="3178696" cy="857250"/>
          </a:xfrm>
        </p:spPr>
        <p:txBody>
          <a:bodyPr>
            <a:normAutofit fontScale="90000"/>
          </a:bodyPr>
          <a:lstStyle/>
          <a:p>
            <a:pPr algn="l" eaLnBrk="1" hangingPunct="1"/>
            <a:r>
              <a:rPr lang="zh-CN" altLang="en-US" sz="2800" b="0" dirty="0">
                <a:solidFill>
                  <a:schemeClr val="tx1"/>
                </a:solidFill>
                <a:latin typeface="华文行楷" pitchFamily="2" charset="-122"/>
                <a:ea typeface="华文行楷" pitchFamily="2" charset="-122"/>
              </a:rPr>
              <a:t>例</a:t>
            </a:r>
            <a:r>
              <a:rPr lang="en-US" altLang="zh-CN" sz="2800" b="0" dirty="0">
                <a:solidFill>
                  <a:schemeClr val="tx1"/>
                </a:solidFill>
                <a:latin typeface="华文行楷" pitchFamily="2" charset="-122"/>
                <a:ea typeface="华文行楷" pitchFamily="2" charset="-122"/>
              </a:rPr>
              <a:t>:</a:t>
            </a:r>
            <a:r>
              <a:rPr lang="zh-CN" altLang="en-US" sz="2800" b="0" dirty="0">
                <a:solidFill>
                  <a:schemeClr val="tx1"/>
                </a:solidFill>
                <a:latin typeface="华文行楷" pitchFamily="2" charset="-122"/>
                <a:ea typeface="华文行楷" pitchFamily="2" charset="-122"/>
              </a:rPr>
              <a:t>求下述文法中每个非终结符的</a:t>
            </a:r>
            <a:r>
              <a:rPr lang="en-US" altLang="zh-CN" sz="2800" b="0" dirty="0">
                <a:solidFill>
                  <a:schemeClr val="tx1"/>
                </a:solidFill>
                <a:ea typeface="华文行楷" pitchFamily="2" charset="-122"/>
              </a:rPr>
              <a:t>Follow</a:t>
            </a:r>
            <a:r>
              <a:rPr lang="zh-CN" altLang="en-US" sz="2800" b="0" dirty="0">
                <a:solidFill>
                  <a:schemeClr val="tx1"/>
                </a:solidFill>
                <a:latin typeface="华文行楷" pitchFamily="2" charset="-122"/>
                <a:ea typeface="华文行楷" pitchFamily="2" charset="-122"/>
              </a:rPr>
              <a:t>集 </a:t>
            </a:r>
          </a:p>
        </p:txBody>
      </p:sp>
      <p:sp>
        <p:nvSpPr>
          <p:cNvPr id="72707" name="Rectangle 3"/>
          <p:cNvSpPr>
            <a:spLocks noGrp="1" noChangeArrowheads="1"/>
          </p:cNvSpPr>
          <p:nvPr>
            <p:ph type="body" idx="1"/>
          </p:nvPr>
        </p:nvSpPr>
        <p:spPr>
          <a:xfrm>
            <a:off x="611560" y="1119271"/>
            <a:ext cx="1512168" cy="2312988"/>
          </a:xfrm>
          <a:solidFill>
            <a:schemeClr val="bg1"/>
          </a:solidFill>
          <a:ln w="28575">
            <a:solidFill>
              <a:srgbClr val="0066FF"/>
            </a:solidFill>
            <a:miter lim="800000"/>
            <a:headEnd/>
            <a:tailEnd/>
          </a:ln>
        </p:spPr>
        <p:txBody>
          <a:bodyPr>
            <a:normAutofit fontScale="92500" lnSpcReduction="10000"/>
          </a:bodyPr>
          <a:lstStyle/>
          <a:p>
            <a:pPr marL="84138" indent="0" eaLnBrk="1" hangingPunct="1">
              <a:buFontTx/>
              <a:buNone/>
            </a:pPr>
            <a:r>
              <a:rPr lang="en-US" altLang="zh-CN" dirty="0" err="1"/>
              <a:t>S</a:t>
            </a:r>
            <a:r>
              <a:rPr lang="en-US" altLang="zh-CN" dirty="0" err="1">
                <a:sym typeface="Wingdings" pitchFamily="2" charset="2"/>
              </a:rPr>
              <a:t></a:t>
            </a:r>
            <a:r>
              <a:rPr lang="en-US" altLang="zh-CN" dirty="0" err="1"/>
              <a:t>Ap</a:t>
            </a:r>
            <a:br>
              <a:rPr lang="en-US" altLang="zh-CN" dirty="0"/>
            </a:br>
            <a:r>
              <a:rPr lang="en-US" altLang="zh-CN" dirty="0" err="1"/>
              <a:t>S</a:t>
            </a:r>
            <a:r>
              <a:rPr lang="en-US" altLang="zh-CN" dirty="0" err="1">
                <a:sym typeface="Wingdings" pitchFamily="2" charset="2"/>
              </a:rPr>
              <a:t></a:t>
            </a:r>
            <a:r>
              <a:rPr lang="en-US" altLang="zh-CN" dirty="0" err="1"/>
              <a:t>Bq</a:t>
            </a:r>
            <a:br>
              <a:rPr lang="en-US" altLang="zh-CN" dirty="0"/>
            </a:br>
            <a:r>
              <a:rPr lang="en-US" altLang="zh-CN" dirty="0" err="1"/>
              <a:t>A</a:t>
            </a:r>
            <a:r>
              <a:rPr lang="en-US" altLang="zh-CN" dirty="0" err="1">
                <a:sym typeface="Wingdings" pitchFamily="2" charset="2"/>
              </a:rPr>
              <a:t></a:t>
            </a:r>
            <a:r>
              <a:rPr lang="en-US" altLang="zh-CN" dirty="0" err="1"/>
              <a:t>a</a:t>
            </a:r>
            <a:br>
              <a:rPr lang="en-US" altLang="zh-CN" dirty="0"/>
            </a:br>
            <a:r>
              <a:rPr lang="en-US" altLang="zh-CN" dirty="0" err="1"/>
              <a:t>A</a:t>
            </a:r>
            <a:r>
              <a:rPr lang="en-US" altLang="zh-CN" dirty="0" err="1">
                <a:sym typeface="Wingdings" pitchFamily="2" charset="2"/>
              </a:rPr>
              <a:t></a:t>
            </a:r>
            <a:r>
              <a:rPr lang="en-US" altLang="zh-CN" dirty="0" err="1"/>
              <a:t>cA</a:t>
            </a:r>
            <a:br>
              <a:rPr lang="en-US" altLang="zh-CN" dirty="0"/>
            </a:br>
            <a:r>
              <a:rPr lang="en-US" altLang="zh-CN" dirty="0" err="1"/>
              <a:t>B</a:t>
            </a:r>
            <a:r>
              <a:rPr lang="en-US" altLang="zh-CN" dirty="0" err="1">
                <a:sym typeface="Wingdings" pitchFamily="2" charset="2"/>
              </a:rPr>
              <a:t></a:t>
            </a:r>
            <a:r>
              <a:rPr lang="en-US" altLang="zh-CN" dirty="0" err="1"/>
              <a:t>b</a:t>
            </a:r>
            <a:br>
              <a:rPr lang="en-US" altLang="zh-CN" dirty="0"/>
            </a:br>
            <a:r>
              <a:rPr lang="en-US" altLang="zh-CN" dirty="0" err="1"/>
              <a:t>B</a:t>
            </a:r>
            <a:r>
              <a:rPr lang="en-US" altLang="zh-CN" dirty="0" err="1">
                <a:sym typeface="Wingdings" pitchFamily="2" charset="2"/>
              </a:rPr>
              <a:t></a:t>
            </a:r>
            <a:r>
              <a:rPr lang="en-US" altLang="zh-CN" dirty="0" err="1"/>
              <a:t>dB</a:t>
            </a:r>
            <a:r>
              <a:rPr lang="en-US" altLang="zh-CN" dirty="0"/>
              <a:t> </a:t>
            </a:r>
          </a:p>
        </p:txBody>
      </p:sp>
      <p:sp>
        <p:nvSpPr>
          <p:cNvPr id="80900" name="Text Box 4"/>
          <p:cNvSpPr txBox="1">
            <a:spLocks noChangeArrowheads="1"/>
          </p:cNvSpPr>
          <p:nvPr/>
        </p:nvSpPr>
        <p:spPr bwMode="auto">
          <a:xfrm>
            <a:off x="6540985" y="2465844"/>
            <a:ext cx="2343943" cy="2123658"/>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endParaRPr lang="en-US" altLang="zh-CN" sz="2400" dirty="0">
              <a:solidFill>
                <a:schemeClr val="accent2"/>
              </a:solidFill>
            </a:endParaRPr>
          </a:p>
          <a:p>
            <a:pPr algn="just" eaLnBrk="1" hangingPunct="1">
              <a:spcBef>
                <a:spcPct val="50000"/>
              </a:spcBef>
              <a:buFontTx/>
              <a:buNone/>
            </a:pPr>
            <a:endParaRPr lang="en-US" altLang="zh-CN" sz="2400" dirty="0">
              <a:solidFill>
                <a:schemeClr val="accent2"/>
              </a:solidFill>
            </a:endParaRPr>
          </a:p>
          <a:p>
            <a:pPr algn="just" eaLnBrk="1" hangingPunct="1">
              <a:spcBef>
                <a:spcPct val="50000"/>
              </a:spcBef>
              <a:buFontTx/>
              <a:buNone/>
            </a:pPr>
            <a:endParaRPr lang="en-US" altLang="zh-CN" sz="2400" dirty="0">
              <a:solidFill>
                <a:schemeClr val="accent2"/>
              </a:solidFill>
            </a:endParaRPr>
          </a:p>
          <a:p>
            <a:pPr algn="just" eaLnBrk="1" hangingPunct="1">
              <a:spcBef>
                <a:spcPct val="50000"/>
              </a:spcBef>
              <a:buFontTx/>
              <a:buNone/>
            </a:pPr>
            <a:endParaRPr lang="en-US" altLang="zh-CN" sz="2400" dirty="0">
              <a:solidFill>
                <a:schemeClr val="accent2"/>
              </a:solidFill>
            </a:endParaRPr>
          </a:p>
        </p:txBody>
      </p:sp>
      <p:grpSp>
        <p:nvGrpSpPr>
          <p:cNvPr id="7" name="组合 6"/>
          <p:cNvGrpSpPr/>
          <p:nvPr/>
        </p:nvGrpSpPr>
        <p:grpSpPr>
          <a:xfrm>
            <a:off x="4456250" y="341243"/>
            <a:ext cx="4495038" cy="1649581"/>
            <a:chOff x="4456250" y="-180528"/>
            <a:chExt cx="4655848" cy="2281977"/>
          </a:xfrm>
        </p:grpSpPr>
        <p:sp>
          <p:nvSpPr>
            <p:cNvPr id="8" name="Rectangle 3"/>
            <p:cNvSpPr txBox="1">
              <a:spLocks noChangeArrowheads="1"/>
            </p:cNvSpPr>
            <p:nvPr/>
          </p:nvSpPr>
          <p:spPr>
            <a:xfrm>
              <a:off x="4456250" y="-180528"/>
              <a:ext cx="4655848" cy="2281977"/>
            </a:xfrm>
            <a:prstGeom prst="rect">
              <a:avLst/>
            </a:prstGeom>
            <a:solidFill>
              <a:schemeClr val="bg1"/>
            </a:solidFill>
            <a:ln w="28575">
              <a:solidFill>
                <a:schemeClr val="accent2"/>
              </a:solid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gn="just"/>
              <a:r>
                <a:rPr lang="en-US" altLang="zh-CN" sz="18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1.</a:t>
              </a:r>
              <a:r>
                <a:rPr lang="zh-CN" altLang="en-US" sz="18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zh-CN" altLang="en-US" sz="18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是开始符号，＃∈</a:t>
              </a:r>
              <a:r>
                <a:rPr lang="en-US" altLang="zh-CN" sz="18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Follow(A)</a:t>
              </a:r>
            </a:p>
            <a:p>
              <a:pPr algn="just"/>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2.</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 若有产生式</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sz="1800"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sz="1800"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β</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X∈V</a:t>
              </a:r>
              <a:r>
                <a:rPr lang="en-US" altLang="zh-CN" sz="1800" baseline="-25000" dirty="0">
                  <a:latin typeface="Times New Roman" panose="02020603050405020304" pitchFamily="18" charset="0"/>
                  <a:ea typeface="宋体" panose="02010600030101010101" pitchFamily="2" charset="-122"/>
                  <a:cs typeface="Times New Roman" panose="02020603050405020304" pitchFamily="18" charset="0"/>
                </a:rPr>
                <a:t>N</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，则</a:t>
              </a:r>
            </a:p>
            <a:p>
              <a:pPr lvl="1" algn="just">
                <a:buFontTx/>
                <a:buNone/>
              </a:pP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   把</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First(β)</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中非</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ε</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元素加入</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Follow(A)</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中；</a:t>
              </a:r>
            </a:p>
          </p:txBody>
        </p:sp>
        <p:grpSp>
          <p:nvGrpSpPr>
            <p:cNvPr id="2" name="组合 1"/>
            <p:cNvGrpSpPr/>
            <p:nvPr/>
          </p:nvGrpSpPr>
          <p:grpSpPr>
            <a:xfrm>
              <a:off x="4799893" y="1072786"/>
              <a:ext cx="4261975" cy="984332"/>
              <a:chOff x="3878974" y="1072787"/>
              <a:chExt cx="4261975" cy="984332"/>
            </a:xfrm>
          </p:grpSpPr>
          <p:sp>
            <p:nvSpPr>
              <p:cNvPr id="11" name="Text Box 4"/>
              <p:cNvSpPr txBox="1">
                <a:spLocks noChangeArrowheads="1"/>
              </p:cNvSpPr>
              <p:nvPr/>
            </p:nvSpPr>
            <p:spPr bwMode="auto">
              <a:xfrm>
                <a:off x="6648997" y="1072787"/>
                <a:ext cx="354342" cy="369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1800" dirty="0">
                    <a:cs typeface="Times New Roman" panose="02020603050405020304" pitchFamily="18" charset="0"/>
                  </a:rPr>
                  <a:t>*</a:t>
                </a:r>
              </a:p>
            </p:txBody>
          </p:sp>
          <p:sp>
            <p:nvSpPr>
              <p:cNvPr id="12" name="矩形 11"/>
              <p:cNvSpPr/>
              <p:nvPr/>
            </p:nvSpPr>
            <p:spPr>
              <a:xfrm>
                <a:off x="3878974" y="1163005"/>
                <a:ext cx="4261975" cy="894114"/>
              </a:xfrm>
              <a:prstGeom prst="rect">
                <a:avLst/>
              </a:prstGeom>
            </p:spPr>
            <p:txBody>
              <a:bodyPr wrap="square">
                <a:spAutoFit/>
              </a:bodyPr>
              <a:lstStyle/>
              <a:p>
                <a:pPr algn="just"/>
                <a:r>
                  <a:rPr lang="en-US" altLang="zh-CN" dirty="0">
                    <a:latin typeface="Times New Roman" panose="02020603050405020304" pitchFamily="18" charset="0"/>
                    <a:ea typeface="宋体" panose="02010600030101010101" pitchFamily="2" charset="-122"/>
                    <a:cs typeface="Times New Roman" panose="02020603050405020304" pitchFamily="18" charset="0"/>
                  </a:rPr>
                  <a:t>3.</a:t>
                </a:r>
                <a:r>
                  <a:rPr lang="zh-CN" altLang="en-US" dirty="0">
                    <a:latin typeface="Times New Roman" panose="02020603050405020304" pitchFamily="18" charset="0"/>
                    <a:ea typeface="宋体" panose="02010600030101010101" pitchFamily="2" charset="-122"/>
                    <a:cs typeface="Times New Roman" panose="02020603050405020304" pitchFamily="18" charset="0"/>
                  </a:rPr>
                  <a:t>若</a:t>
                </a:r>
                <a:r>
                  <a:rPr lang="en-US" altLang="zh-CN"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dirty="0">
                    <a:latin typeface="Times New Roman" panose="02020603050405020304" pitchFamily="18" charset="0"/>
                    <a:ea typeface="宋体" panose="02010600030101010101" pitchFamily="2" charset="-122"/>
                    <a:cs typeface="Times New Roman" panose="02020603050405020304" pitchFamily="18" charset="0"/>
                  </a:rPr>
                  <a:t>或  </a:t>
                </a:r>
                <a:r>
                  <a:rPr lang="en-US" altLang="zh-CN" dirty="0">
                    <a:latin typeface="Times New Roman" panose="02020603050405020304" pitchFamily="18" charset="0"/>
                    <a:ea typeface="宋体" panose="02010600030101010101" pitchFamily="2" charset="-122"/>
                    <a:cs typeface="Times New Roman" panose="02020603050405020304" pitchFamily="18" charset="0"/>
                  </a:rPr>
                  <a:t>B</a:t>
                </a:r>
                <a:r>
                  <a:rPr lang="en-US" altLang="zh-CN"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t>
                </a:r>
                <a:r>
                  <a:rPr lang="en-US" altLang="zh-CN" dirty="0">
                    <a:latin typeface="Times New Roman" panose="02020603050405020304" pitchFamily="18" charset="0"/>
                    <a:ea typeface="宋体" panose="02010600030101010101" pitchFamily="2" charset="-122"/>
                    <a:cs typeface="Times New Roman" panose="02020603050405020304" pitchFamily="18" charset="0"/>
                  </a:rPr>
                  <a:t>α</a:t>
                </a:r>
                <a:r>
                  <a:rPr lang="en-US" altLang="zh-CN" b="1"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dirty="0">
                    <a:latin typeface="Times New Roman" panose="02020603050405020304" pitchFamily="18" charset="0"/>
                    <a:ea typeface="宋体" panose="02010600030101010101" pitchFamily="2" charset="-122"/>
                    <a:cs typeface="Times New Roman" panose="02020603050405020304" pitchFamily="18" charset="0"/>
                  </a:rPr>
                  <a:t>β</a:t>
                </a:r>
                <a:r>
                  <a:rPr lang="zh-CN" altLang="en-US" dirty="0">
                    <a:latin typeface="Times New Roman" panose="02020603050405020304" pitchFamily="18" charset="0"/>
                    <a:ea typeface="宋体" panose="02010600030101010101" pitchFamily="2" charset="-122"/>
                    <a:cs typeface="Times New Roman" panose="02020603050405020304" pitchFamily="18" charset="0"/>
                  </a:rPr>
                  <a:t>，</a:t>
                </a:r>
                <a:r>
                  <a:rPr lang="en-US" altLang="zh-CN" dirty="0">
                    <a:latin typeface="Times New Roman" panose="02020603050405020304" pitchFamily="18" charset="0"/>
                    <a:ea typeface="宋体" panose="02010600030101010101" pitchFamily="2" charset="-122"/>
                    <a:cs typeface="Times New Roman" panose="02020603050405020304" pitchFamily="18" charset="0"/>
                  </a:rPr>
                  <a:t>β </a:t>
                </a:r>
                <a:r>
                  <a:rPr lang="en-US" altLang="zh-CN"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dirty="0">
                    <a:latin typeface="Times New Roman" panose="02020603050405020304" pitchFamily="18" charset="0"/>
                    <a:ea typeface="宋体" panose="02010600030101010101" pitchFamily="2" charset="-122"/>
                    <a:cs typeface="Times New Roman" panose="02020603050405020304" pitchFamily="18" charset="0"/>
                  </a:rPr>
                  <a:t>ε</a:t>
                </a:r>
                <a:r>
                  <a:rPr lang="zh-CN" altLang="en-US" dirty="0">
                    <a:latin typeface="Times New Roman" panose="02020603050405020304" pitchFamily="18" charset="0"/>
                    <a:ea typeface="宋体" panose="02010600030101010101" pitchFamily="2" charset="-122"/>
                    <a:cs typeface="Times New Roman" panose="02020603050405020304" pitchFamily="18" charset="0"/>
                  </a:rPr>
                  <a:t>，则</a:t>
                </a:r>
              </a:p>
              <a:p>
                <a:pPr lvl="1" indent="-185738" algn="just"/>
                <a:r>
                  <a:rPr lang="zh-CN" altLang="en-US" dirty="0">
                    <a:latin typeface="Times New Roman" panose="02020603050405020304" pitchFamily="18" charset="0"/>
                    <a:ea typeface="宋体" panose="02010600030101010101" pitchFamily="2" charset="-122"/>
                    <a:cs typeface="Times New Roman" panose="02020603050405020304" pitchFamily="18" charset="0"/>
                  </a:rPr>
                  <a:t>把</a:t>
                </a:r>
                <a:r>
                  <a:rPr lang="en-US" altLang="zh-CN" dirty="0">
                    <a:latin typeface="Times New Roman" panose="02020603050405020304" pitchFamily="18" charset="0"/>
                    <a:ea typeface="宋体" panose="02010600030101010101" pitchFamily="2" charset="-122"/>
                    <a:cs typeface="Times New Roman" panose="02020603050405020304" pitchFamily="18" charset="0"/>
                  </a:rPr>
                  <a:t>Follow(B)</a:t>
                </a:r>
                <a:r>
                  <a:rPr lang="zh-CN" altLang="en-US" dirty="0">
                    <a:latin typeface="Times New Roman" panose="02020603050405020304" pitchFamily="18" charset="0"/>
                    <a:ea typeface="宋体" panose="02010600030101010101" pitchFamily="2" charset="-122"/>
                    <a:cs typeface="Times New Roman" panose="02020603050405020304" pitchFamily="18" charset="0"/>
                  </a:rPr>
                  <a:t>加入到</a:t>
                </a:r>
                <a:r>
                  <a:rPr lang="en-US" altLang="zh-CN" dirty="0">
                    <a:latin typeface="Times New Roman" panose="02020603050405020304" pitchFamily="18" charset="0"/>
                    <a:ea typeface="宋体" panose="02010600030101010101" pitchFamily="2" charset="-122"/>
                    <a:cs typeface="Times New Roman" panose="02020603050405020304" pitchFamily="18" charset="0"/>
                  </a:rPr>
                  <a:t>Follow(A)</a:t>
                </a:r>
                <a:r>
                  <a:rPr lang="zh-CN" altLang="en-US" dirty="0">
                    <a:latin typeface="Times New Roman" panose="02020603050405020304" pitchFamily="18" charset="0"/>
                    <a:ea typeface="宋体" panose="02010600030101010101" pitchFamily="2" charset="-122"/>
                    <a:cs typeface="Times New Roman" panose="02020603050405020304" pitchFamily="18" charset="0"/>
                  </a:rPr>
                  <a:t>中；</a:t>
                </a:r>
              </a:p>
            </p:txBody>
          </p:sp>
        </p:grpSp>
      </p:grpSp>
      <p:sp>
        <p:nvSpPr>
          <p:cNvPr id="3" name="矩形 2"/>
          <p:cNvSpPr/>
          <p:nvPr/>
        </p:nvSpPr>
        <p:spPr>
          <a:xfrm>
            <a:off x="2267744" y="2650720"/>
            <a:ext cx="3888431" cy="430887"/>
          </a:xfrm>
          <a:prstGeom prst="rect">
            <a:avLst/>
          </a:prstGeom>
        </p:spPr>
        <p:txBody>
          <a:bodyPr wrap="square">
            <a:spAutoFit/>
          </a:bodyPr>
          <a:lstStyle/>
          <a:p>
            <a:pPr algn="ctr">
              <a:spcBef>
                <a:spcPct val="0"/>
              </a:spcBef>
            </a:pPr>
            <a:r>
              <a:rPr lang="en-US" altLang="zh-CN" sz="2200" dirty="0">
                <a:solidFill>
                  <a:srgbClr val="0000CC"/>
                </a:solidFill>
                <a:ea typeface="华文行楷" pitchFamily="2" charset="-122"/>
              </a:rPr>
              <a:t>1. </a:t>
            </a:r>
            <a:r>
              <a:rPr lang="zh-CN" altLang="en-US" sz="2200" dirty="0">
                <a:solidFill>
                  <a:srgbClr val="0000CC"/>
                </a:solidFill>
                <a:ea typeface="华文行楷" pitchFamily="2" charset="-122"/>
              </a:rPr>
              <a:t>开始符号是</a:t>
            </a:r>
            <a:r>
              <a:rPr lang="en-US" altLang="zh-CN" sz="2200" dirty="0">
                <a:solidFill>
                  <a:srgbClr val="0000CC"/>
                </a:solidFill>
                <a:ea typeface="华文行楷" pitchFamily="2" charset="-122"/>
              </a:rPr>
              <a:t>S</a:t>
            </a:r>
            <a:r>
              <a:rPr lang="zh-CN" altLang="en-US" sz="2200" dirty="0">
                <a:solidFill>
                  <a:srgbClr val="0000CC"/>
                </a:solidFill>
                <a:ea typeface="华文行楷" pitchFamily="2" charset="-122"/>
              </a:rPr>
              <a:t>，根据规则</a:t>
            </a:r>
            <a:r>
              <a:rPr lang="en-US" altLang="zh-CN" sz="2200" dirty="0">
                <a:solidFill>
                  <a:srgbClr val="0000CC"/>
                </a:solidFill>
                <a:ea typeface="华文行楷" pitchFamily="2" charset="-122"/>
              </a:rPr>
              <a:t>1</a:t>
            </a:r>
          </a:p>
        </p:txBody>
      </p:sp>
      <p:sp>
        <p:nvSpPr>
          <p:cNvPr id="4" name="矩形 3"/>
          <p:cNvSpPr/>
          <p:nvPr/>
        </p:nvSpPr>
        <p:spPr>
          <a:xfrm>
            <a:off x="6647516" y="3291830"/>
            <a:ext cx="2316972" cy="461665"/>
          </a:xfrm>
          <a:prstGeom prst="rect">
            <a:avLst/>
          </a:prstGeom>
        </p:spPr>
        <p:txBody>
          <a:bodyPr wrap="square">
            <a:spAutoFit/>
          </a:bodyPr>
          <a:lstStyle/>
          <a:p>
            <a:pPr lvl="0" algn="just">
              <a:spcBef>
                <a:spcPct val="50000"/>
              </a:spcBef>
            </a:pPr>
            <a:r>
              <a:rPr lang="en-US" altLang="zh-CN" sz="2400" dirty="0"/>
              <a:t>Follow(A)={p}</a:t>
            </a:r>
          </a:p>
        </p:txBody>
      </p:sp>
      <p:sp>
        <p:nvSpPr>
          <p:cNvPr id="5" name="矩形 4"/>
          <p:cNvSpPr/>
          <p:nvPr/>
        </p:nvSpPr>
        <p:spPr>
          <a:xfrm>
            <a:off x="6647516" y="4083918"/>
            <a:ext cx="2317497" cy="461665"/>
          </a:xfrm>
          <a:prstGeom prst="rect">
            <a:avLst/>
          </a:prstGeom>
        </p:spPr>
        <p:txBody>
          <a:bodyPr wrap="square">
            <a:spAutoFit/>
          </a:bodyPr>
          <a:lstStyle/>
          <a:p>
            <a:pPr lvl="0" algn="just">
              <a:spcBef>
                <a:spcPct val="50000"/>
              </a:spcBef>
            </a:pPr>
            <a:r>
              <a:rPr lang="en-US" altLang="zh-CN" sz="2400" dirty="0">
                <a:solidFill>
                  <a:srgbClr val="FF0000"/>
                </a:solidFill>
              </a:rPr>
              <a:t>Follow(B)={q}</a:t>
            </a:r>
          </a:p>
        </p:txBody>
      </p:sp>
      <p:sp>
        <p:nvSpPr>
          <p:cNvPr id="6" name="矩形 5"/>
          <p:cNvSpPr/>
          <p:nvPr/>
        </p:nvSpPr>
        <p:spPr>
          <a:xfrm>
            <a:off x="6647516" y="2635330"/>
            <a:ext cx="2316972" cy="461665"/>
          </a:xfrm>
          <a:prstGeom prst="rect">
            <a:avLst/>
          </a:prstGeom>
        </p:spPr>
        <p:txBody>
          <a:bodyPr wrap="square">
            <a:spAutoFit/>
          </a:bodyPr>
          <a:lstStyle/>
          <a:p>
            <a:pPr lvl="0" algn="just">
              <a:spcBef>
                <a:spcPct val="50000"/>
              </a:spcBef>
            </a:pPr>
            <a:r>
              <a:rPr lang="en-US" altLang="zh-CN" sz="2400" dirty="0">
                <a:solidFill>
                  <a:srgbClr val="0000CC"/>
                </a:solidFill>
              </a:rPr>
              <a:t>Follow(S)={#}</a:t>
            </a:r>
          </a:p>
        </p:txBody>
      </p:sp>
      <p:sp>
        <p:nvSpPr>
          <p:cNvPr id="18" name="矩形 17"/>
          <p:cNvSpPr/>
          <p:nvPr/>
        </p:nvSpPr>
        <p:spPr>
          <a:xfrm>
            <a:off x="2361470" y="3177986"/>
            <a:ext cx="2930610" cy="430887"/>
          </a:xfrm>
          <a:prstGeom prst="rect">
            <a:avLst/>
          </a:prstGeom>
        </p:spPr>
        <p:txBody>
          <a:bodyPr wrap="none">
            <a:spAutoFit/>
          </a:bodyPr>
          <a:lstStyle/>
          <a:p>
            <a:pPr algn="ctr">
              <a:spcBef>
                <a:spcPct val="0"/>
              </a:spcBef>
            </a:pPr>
            <a:r>
              <a:rPr lang="en-US" altLang="zh-CN" sz="2200" dirty="0">
                <a:ea typeface="华文行楷" pitchFamily="2" charset="-122"/>
              </a:rPr>
              <a:t>2. </a:t>
            </a:r>
            <a:r>
              <a:rPr lang="en-US" altLang="zh-CN" sz="2200" dirty="0" err="1">
                <a:ea typeface="华文行楷" pitchFamily="2" charset="-122"/>
              </a:rPr>
              <a:t>S</a:t>
            </a:r>
            <a:r>
              <a:rPr lang="en-US" altLang="zh-CN" sz="2200" dirty="0" err="1">
                <a:ea typeface="华文行楷" pitchFamily="2" charset="-122"/>
                <a:sym typeface="Wingdings" pitchFamily="2" charset="2"/>
              </a:rPr>
              <a:t></a:t>
            </a:r>
            <a:r>
              <a:rPr lang="en-US" altLang="zh-CN" sz="2200" dirty="0" err="1">
                <a:ea typeface="华文行楷" pitchFamily="2" charset="-122"/>
              </a:rPr>
              <a:t>Ap</a:t>
            </a:r>
            <a:r>
              <a:rPr lang="zh-CN" altLang="en-US" sz="2200" dirty="0">
                <a:ea typeface="华文行楷" pitchFamily="2" charset="-122"/>
              </a:rPr>
              <a:t>，根据规则</a:t>
            </a:r>
            <a:r>
              <a:rPr lang="en-US" altLang="zh-CN" sz="2200" dirty="0">
                <a:ea typeface="华文行楷" pitchFamily="2" charset="-122"/>
              </a:rPr>
              <a:t>2</a:t>
            </a:r>
          </a:p>
        </p:txBody>
      </p:sp>
      <p:sp>
        <p:nvSpPr>
          <p:cNvPr id="20" name="矩形 19"/>
          <p:cNvSpPr/>
          <p:nvPr/>
        </p:nvSpPr>
        <p:spPr>
          <a:xfrm>
            <a:off x="2339752" y="4026718"/>
            <a:ext cx="2898550" cy="430887"/>
          </a:xfrm>
          <a:prstGeom prst="rect">
            <a:avLst/>
          </a:prstGeom>
        </p:spPr>
        <p:txBody>
          <a:bodyPr wrap="none">
            <a:spAutoFit/>
          </a:bodyPr>
          <a:lstStyle/>
          <a:p>
            <a:pPr algn="ctr">
              <a:spcBef>
                <a:spcPct val="0"/>
              </a:spcBef>
            </a:pPr>
            <a:r>
              <a:rPr lang="en-US" altLang="zh-CN" sz="2200" dirty="0">
                <a:solidFill>
                  <a:srgbClr val="FF0000"/>
                </a:solidFill>
                <a:ea typeface="华文行楷" pitchFamily="2" charset="-122"/>
              </a:rPr>
              <a:t>3. </a:t>
            </a:r>
            <a:r>
              <a:rPr lang="en-US" altLang="zh-CN" sz="2200" dirty="0" err="1">
                <a:solidFill>
                  <a:srgbClr val="FF0000"/>
                </a:solidFill>
                <a:ea typeface="华文行楷" pitchFamily="2" charset="-122"/>
              </a:rPr>
              <a:t>S</a:t>
            </a:r>
            <a:r>
              <a:rPr lang="en-US" altLang="zh-CN" sz="2200" dirty="0" err="1">
                <a:solidFill>
                  <a:srgbClr val="FF0000"/>
                </a:solidFill>
                <a:ea typeface="华文行楷" pitchFamily="2" charset="-122"/>
                <a:sym typeface="Wingdings" pitchFamily="2" charset="2"/>
              </a:rPr>
              <a:t></a:t>
            </a:r>
            <a:r>
              <a:rPr lang="en-US" altLang="zh-CN" sz="2200" dirty="0" err="1">
                <a:solidFill>
                  <a:srgbClr val="FF0000"/>
                </a:solidFill>
                <a:ea typeface="华文行楷" pitchFamily="2" charset="-122"/>
              </a:rPr>
              <a:t>Bq</a:t>
            </a:r>
            <a:r>
              <a:rPr lang="zh-CN" altLang="en-US" sz="2200" dirty="0">
                <a:solidFill>
                  <a:srgbClr val="FF0000"/>
                </a:solidFill>
                <a:ea typeface="华文行楷" pitchFamily="2" charset="-122"/>
              </a:rPr>
              <a:t>，根据规则</a:t>
            </a:r>
            <a:r>
              <a:rPr lang="en-US" altLang="zh-CN" sz="2200" dirty="0">
                <a:solidFill>
                  <a:srgbClr val="FF0000"/>
                </a:solidFill>
                <a:ea typeface="华文行楷" pitchFamily="2" charset="-122"/>
              </a:rPr>
              <a:t>2</a:t>
            </a:r>
          </a:p>
        </p:txBody>
      </p:sp>
      <p:sp>
        <p:nvSpPr>
          <p:cNvPr id="22" name="矩形 21"/>
          <p:cNvSpPr/>
          <p:nvPr/>
        </p:nvSpPr>
        <p:spPr>
          <a:xfrm>
            <a:off x="2724245" y="3538051"/>
            <a:ext cx="2581155" cy="430887"/>
          </a:xfrm>
          <a:prstGeom prst="rect">
            <a:avLst/>
          </a:prstGeom>
        </p:spPr>
        <p:txBody>
          <a:bodyPr wrap="none">
            <a:spAutoFit/>
          </a:bodyPr>
          <a:lstStyle/>
          <a:p>
            <a:pPr algn="ctr">
              <a:spcBef>
                <a:spcPct val="0"/>
              </a:spcBef>
            </a:pPr>
            <a:r>
              <a:rPr lang="en-US" altLang="zh-CN" sz="2200" dirty="0" err="1">
                <a:ea typeface="华文行楷" pitchFamily="2" charset="-122"/>
              </a:rPr>
              <a:t>A</a:t>
            </a:r>
            <a:r>
              <a:rPr lang="en-US" altLang="zh-CN" sz="2200" dirty="0" err="1">
                <a:ea typeface="华文行楷" pitchFamily="2" charset="-122"/>
                <a:sym typeface="Wingdings" pitchFamily="2" charset="2"/>
              </a:rPr>
              <a:t></a:t>
            </a:r>
            <a:r>
              <a:rPr lang="en-US" altLang="zh-CN" sz="2200" dirty="0" err="1">
                <a:ea typeface="华文行楷" pitchFamily="2" charset="-122"/>
              </a:rPr>
              <a:t>cA</a:t>
            </a:r>
            <a:r>
              <a:rPr lang="zh-CN" altLang="en-US" sz="2200" dirty="0">
                <a:ea typeface="华文行楷" pitchFamily="2" charset="-122"/>
              </a:rPr>
              <a:t>，根据规则</a:t>
            </a:r>
            <a:r>
              <a:rPr lang="en-US" altLang="zh-CN" sz="2200" dirty="0">
                <a:ea typeface="华文行楷" pitchFamily="2" charset="-122"/>
              </a:rPr>
              <a:t>3</a:t>
            </a:r>
          </a:p>
        </p:txBody>
      </p:sp>
      <p:sp>
        <p:nvSpPr>
          <p:cNvPr id="23" name="矩形 22"/>
          <p:cNvSpPr/>
          <p:nvPr/>
        </p:nvSpPr>
        <p:spPr>
          <a:xfrm>
            <a:off x="2687604" y="4443958"/>
            <a:ext cx="2550698" cy="430887"/>
          </a:xfrm>
          <a:prstGeom prst="rect">
            <a:avLst/>
          </a:prstGeom>
        </p:spPr>
        <p:txBody>
          <a:bodyPr wrap="none">
            <a:spAutoFit/>
          </a:bodyPr>
          <a:lstStyle/>
          <a:p>
            <a:pPr algn="ctr">
              <a:spcBef>
                <a:spcPct val="0"/>
              </a:spcBef>
            </a:pPr>
            <a:r>
              <a:rPr lang="en-US" altLang="zh-CN" sz="2200" dirty="0" err="1">
                <a:solidFill>
                  <a:srgbClr val="FF0000"/>
                </a:solidFill>
                <a:ea typeface="华文行楷" pitchFamily="2" charset="-122"/>
              </a:rPr>
              <a:t>B</a:t>
            </a:r>
            <a:r>
              <a:rPr lang="en-US" altLang="zh-CN" sz="2200" dirty="0" err="1">
                <a:solidFill>
                  <a:srgbClr val="FF0000"/>
                </a:solidFill>
                <a:ea typeface="华文行楷" pitchFamily="2" charset="-122"/>
                <a:sym typeface="Wingdings" pitchFamily="2" charset="2"/>
              </a:rPr>
              <a:t>dB</a:t>
            </a:r>
            <a:r>
              <a:rPr lang="zh-CN" altLang="en-US" sz="2200" dirty="0">
                <a:solidFill>
                  <a:srgbClr val="FF0000"/>
                </a:solidFill>
                <a:ea typeface="华文行楷" pitchFamily="2" charset="-122"/>
                <a:sym typeface="Wingdings" pitchFamily="2" charset="2"/>
              </a:rPr>
              <a:t>，</a:t>
            </a:r>
            <a:r>
              <a:rPr lang="zh-CN" altLang="en-US" sz="2200" dirty="0">
                <a:solidFill>
                  <a:srgbClr val="FF0000"/>
                </a:solidFill>
                <a:ea typeface="华文行楷" pitchFamily="2" charset="-122"/>
              </a:rPr>
              <a:t>根据规则</a:t>
            </a:r>
            <a:r>
              <a:rPr lang="en-US" altLang="zh-CN" sz="2200" dirty="0">
                <a:solidFill>
                  <a:srgbClr val="FF0000"/>
                </a:solidFill>
                <a:ea typeface="华文行楷" pitchFamily="2" charset="-122"/>
              </a:rPr>
              <a:t>3</a:t>
            </a:r>
          </a:p>
        </p:txBody>
      </p:sp>
    </p:spTree>
    <p:extLst>
      <p:ext uri="{BB962C8B-B14F-4D97-AF65-F5344CB8AC3E}">
        <p14:creationId xmlns:p14="http://schemas.microsoft.com/office/powerpoint/2010/main" val="889191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8090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900" grpId="0" animBg="1" autoUpdateAnimBg="0"/>
      <p:bldP spid="3" grpId="0"/>
      <p:bldP spid="4" grpId="0"/>
      <p:bldP spid="5" grpId="0"/>
      <p:bldP spid="6" grpId="0"/>
      <p:bldP spid="18" grpId="0"/>
      <p:bldP spid="20" grpId="0"/>
      <p:bldP spid="22" grpId="0"/>
      <p:bldP spid="23"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a:xfrm>
            <a:off x="742950" y="0"/>
            <a:ext cx="7772400" cy="617538"/>
          </a:xfrm>
          <a:noFill/>
        </p:spPr>
        <p:txBody>
          <a:bodyPr>
            <a:normAutofit fontScale="90000"/>
          </a:bodyPr>
          <a:lstStyle/>
          <a:p>
            <a:pPr eaLnBrk="1" hangingPunct="1"/>
            <a:r>
              <a:rPr lang="zh-CN" altLang="en-US" sz="4000" b="1">
                <a:solidFill>
                  <a:schemeClr val="tx1"/>
                </a:solidFill>
                <a:latin typeface="楷体_GB2312" pitchFamily="49" charset="-122"/>
                <a:ea typeface="楷体_GB2312" pitchFamily="49" charset="-122"/>
              </a:rPr>
              <a:t>练   习</a:t>
            </a:r>
          </a:p>
        </p:txBody>
      </p:sp>
      <p:sp>
        <p:nvSpPr>
          <p:cNvPr id="73731" name="Rectangle 3"/>
          <p:cNvSpPr>
            <a:spLocks noChangeArrowheads="1"/>
          </p:cNvSpPr>
          <p:nvPr/>
        </p:nvSpPr>
        <p:spPr bwMode="auto">
          <a:xfrm>
            <a:off x="0" y="1090613"/>
            <a:ext cx="1792288" cy="3046412"/>
          </a:xfrm>
          <a:prstGeom prst="rect">
            <a:avLst/>
          </a:prstGeom>
          <a:solidFill>
            <a:schemeClr val="bg1"/>
          </a:solidFill>
          <a:ln w="28575">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a:t>1.E </a:t>
            </a:r>
            <a:r>
              <a:rPr lang="en-US" altLang="zh-CN" sz="2400">
                <a:sym typeface="Wingdings" pitchFamily="2" charset="2"/>
              </a:rPr>
              <a:t></a:t>
            </a:r>
            <a:r>
              <a:rPr lang="en-US" altLang="zh-CN" sz="2400"/>
              <a:t>TE'</a:t>
            </a:r>
            <a:br>
              <a:rPr lang="en-US" altLang="zh-CN" sz="2400"/>
            </a:br>
            <a:r>
              <a:rPr lang="en-US" altLang="zh-CN" sz="2400"/>
              <a:t>2.E' </a:t>
            </a:r>
            <a:r>
              <a:rPr lang="en-US" altLang="zh-CN" sz="2400">
                <a:sym typeface="Wingdings" pitchFamily="2" charset="2"/>
              </a:rPr>
              <a:t></a:t>
            </a:r>
            <a:r>
              <a:rPr lang="en-US" altLang="zh-CN" sz="2400"/>
              <a:t> +TE'</a:t>
            </a:r>
            <a:br>
              <a:rPr lang="en-US" altLang="zh-CN" sz="2400"/>
            </a:br>
            <a:r>
              <a:rPr lang="en-US" altLang="zh-CN" sz="2400"/>
              <a:t>3.E' </a:t>
            </a:r>
            <a:r>
              <a:rPr lang="en-US" altLang="zh-CN" sz="2400">
                <a:sym typeface="Wingdings" pitchFamily="2" charset="2"/>
              </a:rPr>
              <a:t></a:t>
            </a:r>
            <a:r>
              <a:rPr lang="en-US" altLang="zh-CN" sz="2400"/>
              <a:t> ε</a:t>
            </a:r>
            <a:br>
              <a:rPr lang="en-US" altLang="zh-CN" sz="2400"/>
            </a:br>
            <a:r>
              <a:rPr lang="en-US" altLang="zh-CN" sz="2400"/>
              <a:t>4.T </a:t>
            </a:r>
            <a:r>
              <a:rPr lang="en-US" altLang="zh-CN" sz="2400">
                <a:sym typeface="Wingdings" pitchFamily="2" charset="2"/>
              </a:rPr>
              <a:t></a:t>
            </a:r>
            <a:r>
              <a:rPr lang="en-US" altLang="zh-CN" sz="2400"/>
              <a:t> FT'</a:t>
            </a:r>
            <a:br>
              <a:rPr lang="en-US" altLang="zh-CN" sz="2400"/>
            </a:br>
            <a:r>
              <a:rPr lang="en-US" altLang="zh-CN" sz="2400"/>
              <a:t>5.T' </a:t>
            </a:r>
            <a:r>
              <a:rPr lang="en-US" altLang="zh-CN" sz="2400">
                <a:sym typeface="Wingdings" pitchFamily="2" charset="2"/>
              </a:rPr>
              <a:t></a:t>
            </a:r>
            <a:r>
              <a:rPr lang="en-US" altLang="zh-CN" sz="2400"/>
              <a:t> *FT'</a:t>
            </a:r>
            <a:br>
              <a:rPr lang="en-US" altLang="zh-CN" sz="2400"/>
            </a:br>
            <a:r>
              <a:rPr lang="en-US" altLang="zh-CN" sz="2400"/>
              <a:t>6.T' </a:t>
            </a:r>
            <a:r>
              <a:rPr lang="en-US" altLang="zh-CN" sz="2400">
                <a:sym typeface="Wingdings" pitchFamily="2" charset="2"/>
              </a:rPr>
              <a:t></a:t>
            </a:r>
            <a:r>
              <a:rPr lang="en-US" altLang="zh-CN" sz="2400"/>
              <a:t> ε</a:t>
            </a:r>
            <a:br>
              <a:rPr lang="en-US" altLang="zh-CN" sz="2400"/>
            </a:br>
            <a:r>
              <a:rPr lang="en-US" altLang="zh-CN" sz="2400"/>
              <a:t>7.F </a:t>
            </a:r>
            <a:r>
              <a:rPr lang="en-US" altLang="zh-CN" sz="2400">
                <a:sym typeface="Wingdings" pitchFamily="2" charset="2"/>
              </a:rPr>
              <a:t></a:t>
            </a:r>
            <a:r>
              <a:rPr lang="en-US" altLang="zh-CN" sz="2400"/>
              <a:t>(E)</a:t>
            </a:r>
            <a:br>
              <a:rPr lang="en-US" altLang="zh-CN" sz="2400"/>
            </a:br>
            <a:r>
              <a:rPr lang="en-US" altLang="zh-CN" sz="2400"/>
              <a:t>8.F </a:t>
            </a:r>
            <a:r>
              <a:rPr lang="en-US" altLang="zh-CN" sz="2400">
                <a:sym typeface="Wingdings" pitchFamily="2" charset="2"/>
              </a:rPr>
              <a:t></a:t>
            </a:r>
            <a:r>
              <a:rPr lang="en-US" altLang="zh-CN" sz="2400"/>
              <a:t> i </a:t>
            </a:r>
          </a:p>
        </p:txBody>
      </p:sp>
      <p:sp>
        <p:nvSpPr>
          <p:cNvPr id="285700" name="Rectangle 4"/>
          <p:cNvSpPr>
            <a:spLocks noChangeArrowheads="1"/>
          </p:cNvSpPr>
          <p:nvPr/>
        </p:nvSpPr>
        <p:spPr bwMode="auto">
          <a:xfrm>
            <a:off x="1981200" y="1825625"/>
            <a:ext cx="7162800" cy="2246313"/>
          </a:xfrm>
          <a:prstGeom prst="rect">
            <a:avLst/>
          </a:prstGeom>
          <a:solidFill>
            <a:schemeClr val="bg1"/>
          </a:solidFill>
          <a:ln w="28575">
            <a:solidFill>
              <a:schemeClr val="accent2"/>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dirty="0">
                <a:solidFill>
                  <a:schemeClr val="accent2"/>
                </a:solidFill>
              </a:rPr>
              <a:t>follow(E) ={#</a:t>
            </a:r>
            <a:r>
              <a:rPr lang="zh-CN" altLang="en-US" sz="2800" dirty="0">
                <a:solidFill>
                  <a:schemeClr val="accent2"/>
                </a:solidFill>
                <a:latin typeface="宋体" pitchFamily="2" charset="-122"/>
              </a:rPr>
              <a:t>，</a:t>
            </a:r>
            <a:r>
              <a:rPr lang="en-US" altLang="zh-CN" sz="2800" dirty="0">
                <a:solidFill>
                  <a:schemeClr val="accent2"/>
                </a:solidFill>
              </a:rPr>
              <a:t>)} </a:t>
            </a:r>
            <a:br>
              <a:rPr lang="en-US" altLang="zh-CN" sz="2800" dirty="0">
                <a:solidFill>
                  <a:schemeClr val="accent2"/>
                </a:solidFill>
              </a:rPr>
            </a:br>
            <a:r>
              <a:rPr lang="en-US" altLang="zh-CN" sz="2800" dirty="0">
                <a:solidFill>
                  <a:schemeClr val="accent2"/>
                </a:solidFill>
              </a:rPr>
              <a:t>follow(E') = follow(E) = {#</a:t>
            </a:r>
            <a:r>
              <a:rPr lang="zh-CN" altLang="en-US" sz="2800" dirty="0">
                <a:solidFill>
                  <a:schemeClr val="accent2"/>
                </a:solidFill>
                <a:latin typeface="宋体" pitchFamily="2" charset="-122"/>
              </a:rPr>
              <a:t>，</a:t>
            </a:r>
            <a:r>
              <a:rPr lang="en-US" altLang="zh-CN" sz="2800" dirty="0">
                <a:solidFill>
                  <a:schemeClr val="accent2"/>
                </a:solidFill>
              </a:rPr>
              <a:t>)} </a:t>
            </a:r>
            <a:br>
              <a:rPr lang="en-US" altLang="zh-CN" sz="2800" dirty="0">
                <a:solidFill>
                  <a:schemeClr val="accent2"/>
                </a:solidFill>
              </a:rPr>
            </a:br>
            <a:r>
              <a:rPr lang="en-US" altLang="zh-CN" sz="2800" dirty="0">
                <a:solidFill>
                  <a:schemeClr val="accent2"/>
                </a:solidFill>
              </a:rPr>
              <a:t>follow(T) = </a:t>
            </a:r>
            <a:r>
              <a:rPr lang="en-US" altLang="zh-CN" sz="2400" dirty="0">
                <a:solidFill>
                  <a:schemeClr val="accent2"/>
                </a:solidFill>
                <a:ea typeface="华文行楷" pitchFamily="2" charset="-122"/>
              </a:rPr>
              <a:t>(first(E')-{</a:t>
            </a:r>
            <a:r>
              <a:rPr lang="en-US" altLang="zh-CN" sz="2400" dirty="0">
                <a:ea typeface="华文行楷" pitchFamily="2" charset="-122"/>
              </a:rPr>
              <a:t>ε</a:t>
            </a:r>
            <a:r>
              <a:rPr lang="en-US" altLang="zh-CN" sz="2400" dirty="0">
                <a:solidFill>
                  <a:schemeClr val="accent2"/>
                </a:solidFill>
                <a:ea typeface="华文行楷" pitchFamily="2" charset="-122"/>
              </a:rPr>
              <a:t>})</a:t>
            </a:r>
            <a:r>
              <a:rPr lang="en-US" altLang="zh-CN" sz="2400" dirty="0">
                <a:ea typeface="华文行楷" pitchFamily="2" charset="-122"/>
              </a:rPr>
              <a:t> </a:t>
            </a:r>
            <a:r>
              <a:rPr lang="en-US" altLang="zh-CN" sz="2800" dirty="0">
                <a:solidFill>
                  <a:schemeClr val="accent2"/>
                </a:solidFill>
              </a:rPr>
              <a:t>∪</a:t>
            </a:r>
            <a:r>
              <a:rPr lang="en-US" altLang="zh-CN" sz="2400" dirty="0">
                <a:ea typeface="华文行楷" pitchFamily="2" charset="-122"/>
              </a:rPr>
              <a:t> </a:t>
            </a:r>
            <a:r>
              <a:rPr lang="en-US" altLang="zh-CN" sz="2800" dirty="0">
                <a:solidFill>
                  <a:schemeClr val="accent2"/>
                </a:solidFill>
              </a:rPr>
              <a:t>follow(E') ={#</a:t>
            </a:r>
            <a:r>
              <a:rPr lang="en-US" altLang="zh-CN" sz="2800" dirty="0">
                <a:solidFill>
                  <a:schemeClr val="accent2"/>
                </a:solidFill>
                <a:latin typeface="宋体" pitchFamily="2" charset="-122"/>
              </a:rPr>
              <a:t>,</a:t>
            </a:r>
            <a:r>
              <a:rPr lang="en-US" altLang="zh-CN" sz="2800" dirty="0">
                <a:solidFill>
                  <a:schemeClr val="accent2"/>
                </a:solidFill>
              </a:rPr>
              <a:t>),+} </a:t>
            </a:r>
            <a:br>
              <a:rPr lang="en-US" altLang="zh-CN" sz="2800" dirty="0">
                <a:solidFill>
                  <a:schemeClr val="accent2"/>
                </a:solidFill>
              </a:rPr>
            </a:br>
            <a:r>
              <a:rPr lang="en-US" altLang="zh-CN" sz="2800" dirty="0">
                <a:solidFill>
                  <a:schemeClr val="accent2"/>
                </a:solidFill>
              </a:rPr>
              <a:t>follow(T') =follow(T) ={#</a:t>
            </a:r>
            <a:r>
              <a:rPr lang="zh-CN" altLang="en-US" sz="2800" dirty="0">
                <a:solidFill>
                  <a:schemeClr val="accent2"/>
                </a:solidFill>
                <a:latin typeface="宋体" pitchFamily="2" charset="-122"/>
              </a:rPr>
              <a:t>，</a:t>
            </a:r>
            <a:r>
              <a:rPr lang="en-US" altLang="zh-CN" sz="2800" dirty="0">
                <a:solidFill>
                  <a:schemeClr val="accent2"/>
                </a:solidFill>
              </a:rPr>
              <a:t>)</a:t>
            </a:r>
            <a:r>
              <a:rPr lang="zh-CN" altLang="en-US" sz="2800" dirty="0">
                <a:solidFill>
                  <a:schemeClr val="accent2"/>
                </a:solidFill>
                <a:latin typeface="宋体" pitchFamily="2" charset="-122"/>
              </a:rPr>
              <a:t>，</a:t>
            </a:r>
            <a:r>
              <a:rPr lang="en-US" altLang="zh-CN" sz="2800" dirty="0">
                <a:solidFill>
                  <a:schemeClr val="accent2"/>
                </a:solidFill>
              </a:rPr>
              <a:t>+} </a:t>
            </a:r>
            <a:br>
              <a:rPr lang="en-US" altLang="zh-CN" sz="2800" dirty="0">
                <a:solidFill>
                  <a:schemeClr val="accent2"/>
                </a:solidFill>
              </a:rPr>
            </a:br>
            <a:r>
              <a:rPr lang="en-US" altLang="zh-CN" sz="2800" dirty="0">
                <a:solidFill>
                  <a:schemeClr val="accent2"/>
                </a:solidFill>
              </a:rPr>
              <a:t>follow(F) =(first(T')-{</a:t>
            </a:r>
            <a:r>
              <a:rPr lang="en-US" altLang="zh-CN" sz="2800" dirty="0"/>
              <a:t>ε</a:t>
            </a:r>
            <a:r>
              <a:rPr lang="en-US" altLang="zh-CN" sz="2800" dirty="0">
                <a:solidFill>
                  <a:schemeClr val="accent2"/>
                </a:solidFill>
              </a:rPr>
              <a:t>})∪follow(T) ={*,#,),+} </a:t>
            </a:r>
          </a:p>
        </p:txBody>
      </p:sp>
      <p:sp>
        <p:nvSpPr>
          <p:cNvPr id="285701" name="AutoShape 5"/>
          <p:cNvSpPr>
            <a:spLocks noChangeArrowheads="1"/>
          </p:cNvSpPr>
          <p:nvPr/>
        </p:nvSpPr>
        <p:spPr bwMode="auto">
          <a:xfrm>
            <a:off x="4111625" y="655638"/>
            <a:ext cx="4194175" cy="827087"/>
          </a:xfrm>
          <a:prstGeom prst="wedgeRoundRectCallout">
            <a:avLst>
              <a:gd name="adj1" fmla="val -36523"/>
              <a:gd name="adj2" fmla="val 123106"/>
              <a:gd name="adj3" fmla="val 16667"/>
            </a:avLst>
          </a:prstGeom>
          <a:solidFill>
            <a:schemeClr val="accent1"/>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chemeClr val="tx2"/>
                </a:solidFill>
                <a:ea typeface="华文行楷" pitchFamily="2" charset="-122"/>
              </a:rPr>
              <a:t>E</a:t>
            </a:r>
            <a:r>
              <a:rPr lang="zh-CN" altLang="en-US" sz="2400" dirty="0">
                <a:solidFill>
                  <a:schemeClr val="tx2"/>
                </a:solidFill>
                <a:ea typeface="华文行楷" pitchFamily="2" charset="-122"/>
              </a:rPr>
              <a:t>是开始符号，应用规则</a:t>
            </a:r>
            <a:r>
              <a:rPr lang="en-US" altLang="zh-CN" sz="2400" dirty="0">
                <a:solidFill>
                  <a:schemeClr val="tx2"/>
                </a:solidFill>
                <a:ea typeface="华文行楷" pitchFamily="2" charset="-122"/>
              </a:rPr>
              <a:t>1</a:t>
            </a:r>
            <a:r>
              <a:rPr lang="zh-CN" altLang="en-US" sz="2400" dirty="0">
                <a:solidFill>
                  <a:schemeClr val="tx2"/>
                </a:solidFill>
                <a:ea typeface="华文行楷" pitchFamily="2" charset="-122"/>
              </a:rPr>
              <a:t>，</a:t>
            </a:r>
          </a:p>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7</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2</a:t>
            </a:r>
          </a:p>
        </p:txBody>
      </p:sp>
      <p:sp>
        <p:nvSpPr>
          <p:cNvPr id="285702" name="AutoShape 6"/>
          <p:cNvSpPr>
            <a:spLocks noChangeArrowheads="1"/>
          </p:cNvSpPr>
          <p:nvPr/>
        </p:nvSpPr>
        <p:spPr bwMode="auto">
          <a:xfrm>
            <a:off x="5029200" y="1625600"/>
            <a:ext cx="4114800" cy="400050"/>
          </a:xfrm>
          <a:prstGeom prst="wedgeRoundRectCallout">
            <a:avLst>
              <a:gd name="adj1" fmla="val -52546"/>
              <a:gd name="adj2" fmla="val 111310"/>
              <a:gd name="adj3" fmla="val 16667"/>
            </a:avLst>
          </a:prstGeom>
          <a:solidFill>
            <a:schemeClr val="accent1"/>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1</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3</a:t>
            </a:r>
          </a:p>
        </p:txBody>
      </p:sp>
      <p:sp>
        <p:nvSpPr>
          <p:cNvPr id="285703" name="AutoShape 7"/>
          <p:cNvSpPr>
            <a:spLocks noChangeArrowheads="1"/>
          </p:cNvSpPr>
          <p:nvPr/>
        </p:nvSpPr>
        <p:spPr bwMode="auto">
          <a:xfrm>
            <a:off x="4922316" y="2025650"/>
            <a:ext cx="4114800" cy="750888"/>
          </a:xfrm>
          <a:prstGeom prst="wedgeRoundRectCallout">
            <a:avLst>
              <a:gd name="adj1" fmla="val -50647"/>
              <a:gd name="adj2" fmla="val 82191"/>
              <a:gd name="adj3" fmla="val 16667"/>
            </a:avLst>
          </a:prstGeom>
          <a:solidFill>
            <a:schemeClr val="accent1"/>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1</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2</a:t>
            </a:r>
            <a:r>
              <a:rPr lang="zh-CN" altLang="en-US" sz="2400" dirty="0">
                <a:solidFill>
                  <a:schemeClr val="tx2"/>
                </a:solidFill>
                <a:ea typeface="华文行楷" pitchFamily="2" charset="-122"/>
              </a:rPr>
              <a:t>，</a:t>
            </a:r>
          </a:p>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1</a:t>
            </a:r>
            <a:r>
              <a:rPr lang="zh-CN" altLang="en-US" sz="2400" dirty="0">
                <a:solidFill>
                  <a:schemeClr val="tx2"/>
                </a:solidFill>
                <a:ea typeface="华文行楷" pitchFamily="2" charset="-122"/>
              </a:rPr>
              <a:t>，</a:t>
            </a:r>
            <a:r>
              <a:rPr lang="en-US" altLang="zh-CN" sz="2400" dirty="0">
                <a:solidFill>
                  <a:schemeClr val="tx2"/>
                </a:solidFill>
                <a:ea typeface="华文行楷" pitchFamily="2" charset="-122"/>
              </a:rPr>
              <a:t>3</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3</a:t>
            </a:r>
          </a:p>
        </p:txBody>
      </p:sp>
      <p:sp>
        <p:nvSpPr>
          <p:cNvPr id="285704" name="AutoShape 8"/>
          <p:cNvSpPr>
            <a:spLocks noChangeArrowheads="1"/>
          </p:cNvSpPr>
          <p:nvPr/>
        </p:nvSpPr>
        <p:spPr bwMode="auto">
          <a:xfrm>
            <a:off x="5146576" y="4021138"/>
            <a:ext cx="3880048" cy="501650"/>
          </a:xfrm>
          <a:prstGeom prst="wedgeRoundRectCallout">
            <a:avLst>
              <a:gd name="adj1" fmla="val -58083"/>
              <a:gd name="adj2" fmla="val -167264"/>
              <a:gd name="adj3" fmla="val 16667"/>
            </a:avLst>
          </a:prstGeom>
          <a:solidFill>
            <a:schemeClr val="accent1"/>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4</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3</a:t>
            </a:r>
          </a:p>
        </p:txBody>
      </p:sp>
      <p:sp>
        <p:nvSpPr>
          <p:cNvPr id="285705" name="AutoShape 9"/>
          <p:cNvSpPr>
            <a:spLocks noChangeArrowheads="1"/>
          </p:cNvSpPr>
          <p:nvPr/>
        </p:nvSpPr>
        <p:spPr bwMode="auto">
          <a:xfrm>
            <a:off x="3154288" y="4124906"/>
            <a:ext cx="4419600" cy="765274"/>
          </a:xfrm>
          <a:prstGeom prst="wedgeRoundRectCallout">
            <a:avLst>
              <a:gd name="adj1" fmla="val -60667"/>
              <a:gd name="adj2" fmla="val -121968"/>
              <a:gd name="adj3" fmla="val 16667"/>
            </a:avLst>
          </a:prstGeom>
          <a:solidFill>
            <a:schemeClr val="accent1"/>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4</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2</a:t>
            </a:r>
          </a:p>
          <a:p>
            <a:pPr eaLnBrk="1" hangingPunct="1">
              <a:spcBef>
                <a:spcPct val="0"/>
              </a:spcBef>
              <a:buFontTx/>
              <a:buNone/>
            </a:pPr>
            <a:r>
              <a:rPr lang="zh-CN" altLang="en-US" sz="2400" dirty="0">
                <a:solidFill>
                  <a:schemeClr val="tx2"/>
                </a:solidFill>
                <a:ea typeface="华文行楷" pitchFamily="2" charset="-122"/>
              </a:rPr>
              <a:t>根据产生式</a:t>
            </a:r>
            <a:r>
              <a:rPr lang="en-US" altLang="zh-CN" sz="2400" dirty="0">
                <a:solidFill>
                  <a:schemeClr val="tx2"/>
                </a:solidFill>
                <a:ea typeface="华文行楷" pitchFamily="2" charset="-122"/>
              </a:rPr>
              <a:t>4</a:t>
            </a:r>
            <a:r>
              <a:rPr lang="zh-CN" altLang="en-US" sz="2400" dirty="0">
                <a:solidFill>
                  <a:schemeClr val="tx2"/>
                </a:solidFill>
                <a:ea typeface="华文行楷" pitchFamily="2" charset="-122"/>
              </a:rPr>
              <a:t>，</a:t>
            </a:r>
            <a:r>
              <a:rPr lang="en-US" altLang="zh-CN" sz="2400" dirty="0">
                <a:solidFill>
                  <a:schemeClr val="tx2"/>
                </a:solidFill>
                <a:ea typeface="华文行楷" pitchFamily="2" charset="-122"/>
              </a:rPr>
              <a:t>6</a:t>
            </a:r>
            <a:r>
              <a:rPr lang="zh-CN" altLang="en-US" sz="2400" dirty="0">
                <a:solidFill>
                  <a:schemeClr val="tx2"/>
                </a:solidFill>
                <a:ea typeface="华文行楷" pitchFamily="2" charset="-122"/>
              </a:rPr>
              <a:t>，应用规则</a:t>
            </a:r>
            <a:r>
              <a:rPr lang="en-US" altLang="zh-CN" sz="2400" dirty="0">
                <a:solidFill>
                  <a:schemeClr val="tx2"/>
                </a:solidFill>
                <a:ea typeface="华文行楷" pitchFamily="2" charset="-122"/>
              </a:rPr>
              <a:t>3</a:t>
            </a:r>
          </a:p>
        </p:txBody>
      </p:sp>
      <p:sp>
        <p:nvSpPr>
          <p:cNvPr id="73738" name="Rectangle 10"/>
          <p:cNvSpPr>
            <a:spLocks noChangeArrowheads="1"/>
          </p:cNvSpPr>
          <p:nvPr/>
        </p:nvSpPr>
        <p:spPr bwMode="auto">
          <a:xfrm>
            <a:off x="0" y="566738"/>
            <a:ext cx="3589338"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a:solidFill>
                  <a:schemeClr val="accent2"/>
                </a:solidFill>
                <a:latin typeface="华文行楷" pitchFamily="2" charset="-122"/>
                <a:ea typeface="华文行楷" pitchFamily="2" charset="-122"/>
              </a:rPr>
              <a:t>求下题的</a:t>
            </a:r>
            <a:r>
              <a:rPr lang="en-US" altLang="zh-CN">
                <a:solidFill>
                  <a:schemeClr val="accent2"/>
                </a:solidFill>
                <a:ea typeface="华文行楷" pitchFamily="2" charset="-122"/>
              </a:rPr>
              <a:t>Follow</a:t>
            </a:r>
            <a:r>
              <a:rPr lang="zh-CN" altLang="en-US">
                <a:solidFill>
                  <a:schemeClr val="accent2"/>
                </a:solidFill>
                <a:latin typeface="华文行楷" pitchFamily="2" charset="-122"/>
                <a:ea typeface="华文行楷" pitchFamily="2" charset="-122"/>
              </a:rPr>
              <a:t>集</a:t>
            </a:r>
          </a:p>
        </p:txBody>
      </p:sp>
    </p:spTree>
    <p:extLst>
      <p:ext uri="{BB962C8B-B14F-4D97-AF65-F5344CB8AC3E}">
        <p14:creationId xmlns:p14="http://schemas.microsoft.com/office/powerpoint/2010/main" val="25051083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8570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85701"/>
                                        </p:tgtEl>
                                        <p:attrNameLst>
                                          <p:attrName>style.visibility</p:attrName>
                                        </p:attrNameLst>
                                      </p:cBhvr>
                                      <p:to>
                                        <p:strVal val="visible"/>
                                      </p:to>
                                    </p:set>
                                  </p:childTnLst>
                                  <p:subTnLst>
                                    <p:set>
                                      <p:cBhvr override="childStyle">
                                        <p:cTn dur="1" fill="hold" display="0" masterRel="nextClick" afterEffect="1"/>
                                        <p:tgtEl>
                                          <p:spTgt spid="285701"/>
                                        </p:tgtEl>
                                        <p:attrNameLst>
                                          <p:attrName>style.visibility</p:attrName>
                                        </p:attrNameLst>
                                      </p:cBhvr>
                                      <p:to>
                                        <p:strVal val="hidden"/>
                                      </p:to>
                                    </p:set>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85702"/>
                                        </p:tgtEl>
                                        <p:attrNameLst>
                                          <p:attrName>style.visibility</p:attrName>
                                        </p:attrNameLst>
                                      </p:cBhvr>
                                      <p:to>
                                        <p:strVal val="visible"/>
                                      </p:to>
                                    </p:set>
                                  </p:childTnLst>
                                  <p:subTnLst>
                                    <p:set>
                                      <p:cBhvr override="childStyle">
                                        <p:cTn dur="1" fill="hold" display="0" masterRel="nextClick" afterEffect="1"/>
                                        <p:tgtEl>
                                          <p:spTgt spid="285702"/>
                                        </p:tgtEl>
                                        <p:attrNameLst>
                                          <p:attrName>style.visibility</p:attrName>
                                        </p:attrNameLst>
                                      </p:cBhvr>
                                      <p:to>
                                        <p:strVal val="hidden"/>
                                      </p:to>
                                    </p:set>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85703"/>
                                        </p:tgtEl>
                                        <p:attrNameLst>
                                          <p:attrName>style.visibility</p:attrName>
                                        </p:attrNameLst>
                                      </p:cBhvr>
                                      <p:to>
                                        <p:strVal val="visible"/>
                                      </p:to>
                                    </p:set>
                                  </p:childTnLst>
                                  <p:subTnLst>
                                    <p:set>
                                      <p:cBhvr override="childStyle">
                                        <p:cTn dur="1" fill="hold" display="0" masterRel="nextClick" afterEffect="1"/>
                                        <p:tgtEl>
                                          <p:spTgt spid="285703"/>
                                        </p:tgtEl>
                                        <p:attrNameLst>
                                          <p:attrName>style.visibility</p:attrName>
                                        </p:attrNameLst>
                                      </p:cBhvr>
                                      <p:to>
                                        <p:strVal val="hidden"/>
                                      </p:to>
                                    </p:set>
                                  </p:sub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285704"/>
                                        </p:tgtEl>
                                        <p:attrNameLst>
                                          <p:attrName>style.visibility</p:attrName>
                                        </p:attrNameLst>
                                      </p:cBhvr>
                                      <p:to>
                                        <p:strVal val="visible"/>
                                      </p:to>
                                    </p:set>
                                    <p:animEffect transition="in" filter="slide(fromBottom)">
                                      <p:cBhvr>
                                        <p:cTn id="23" dur="500"/>
                                        <p:tgtEl>
                                          <p:spTgt spid="285704"/>
                                        </p:tgtEl>
                                      </p:cBhvr>
                                    </p:animEffect>
                                  </p:childTnLst>
                                  <p:subTnLst>
                                    <p:set>
                                      <p:cBhvr override="childStyle">
                                        <p:cTn dur="1" fill="hold" display="0" masterRel="nextClick" afterEffect="1"/>
                                        <p:tgtEl>
                                          <p:spTgt spid="285704"/>
                                        </p:tgtEl>
                                        <p:attrNameLst>
                                          <p:attrName>style.visibility</p:attrName>
                                        </p:attrNameLst>
                                      </p:cBhvr>
                                      <p:to>
                                        <p:strVal val="hidden"/>
                                      </p:to>
                                    </p:set>
                                  </p:sub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499"/>
                                          </p:stCondLst>
                                        </p:cTn>
                                        <p:tgtEl>
                                          <p:spTgt spid="285705"/>
                                        </p:tgtEl>
                                        <p:attrNameLst>
                                          <p:attrName>style.visibility</p:attrName>
                                        </p:attrNameLst>
                                      </p:cBhvr>
                                      <p:to>
                                        <p:strVal val="visible"/>
                                      </p:to>
                                    </p:set>
                                  </p:childTnLst>
                                  <p:subTnLst>
                                    <p:set>
                                      <p:cBhvr override="childStyle">
                                        <p:cTn dur="1" fill="hold" display="0" masterRel="nextClick" afterEffect="1"/>
                                        <p:tgtEl>
                                          <p:spTgt spid="28570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700" grpId="0" animBg="1" autoUpdateAnimBg="0"/>
      <p:bldP spid="285701" grpId="0" animBg="1" autoUpdateAnimBg="0"/>
      <p:bldP spid="285702" grpId="0" animBg="1" autoUpdateAnimBg="0"/>
      <p:bldP spid="285703" grpId="0" animBg="1" autoUpdateAnimBg="0"/>
      <p:bldP spid="285704" grpId="0" animBg="1" autoUpdateAnimBg="0"/>
      <p:bldP spid="285705" grpId="0" animBg="1" autoUpdateAnimBg="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4653838" cy="1446550"/>
          </a:xfrm>
          <a:prstGeom prst="rect">
            <a:avLst/>
          </a:prstGeom>
        </p:spPr>
        <p:txBody>
          <a:bodyPr wrap="none">
            <a:spAutoFit/>
          </a:bodyPr>
          <a:lstStyle/>
          <a:p>
            <a:r>
              <a:rPr lang="en-US" altLang="zh-CN" sz="4400" b="1" dirty="0">
                <a:solidFill>
                  <a:srgbClr val="CC0099"/>
                </a:solidFill>
                <a:ea typeface="隶书" pitchFamily="49" charset="-122"/>
              </a:rPr>
              <a:t>2</a:t>
            </a:r>
            <a:r>
              <a:rPr lang="zh-CN" altLang="en-US" sz="4400" b="1" dirty="0">
                <a:solidFill>
                  <a:srgbClr val="CC0099"/>
                </a:solidFill>
                <a:ea typeface="隶书" pitchFamily="49" charset="-122"/>
              </a:rPr>
              <a:t>、</a:t>
            </a:r>
            <a:r>
              <a:rPr lang="en-US" altLang="zh-CN" sz="4400" b="1" dirty="0">
                <a:solidFill>
                  <a:srgbClr val="CC0099"/>
                </a:solidFill>
                <a:ea typeface="隶书" pitchFamily="49" charset="-122"/>
              </a:rPr>
              <a:t>LL(1)</a:t>
            </a:r>
            <a:r>
              <a:rPr lang="zh-CN" altLang="en-US" sz="4400" b="1" dirty="0">
                <a:solidFill>
                  <a:srgbClr val="CC0099"/>
                </a:solidFill>
                <a:ea typeface="隶书" pitchFamily="49" charset="-122"/>
              </a:rPr>
              <a:t>文法</a:t>
            </a:r>
            <a:endParaRPr lang="en-US" altLang="zh-CN" sz="4400" b="1" dirty="0">
              <a:solidFill>
                <a:srgbClr val="CC0099"/>
              </a:solidFill>
              <a:ea typeface="隶书" pitchFamily="49" charset="-122"/>
            </a:endParaRPr>
          </a:p>
          <a:p>
            <a:r>
              <a:rPr lang="en-US" altLang="zh-CN" sz="4400" b="1" dirty="0">
                <a:solidFill>
                  <a:srgbClr val="CC0099"/>
                </a:solidFill>
                <a:ea typeface="隶书" pitchFamily="49" charset="-122"/>
              </a:rPr>
              <a:t>      ——</a:t>
            </a:r>
            <a:r>
              <a:rPr lang="zh-CN" altLang="en-US" sz="4400" b="1" dirty="0">
                <a:solidFill>
                  <a:srgbClr val="CC0099"/>
                </a:solidFill>
                <a:ea typeface="隶书" pitchFamily="49" charset="-122"/>
              </a:rPr>
              <a:t>分析过程</a:t>
            </a:r>
            <a:endParaRPr lang="zh-CN" altLang="en-US" sz="4400" dirty="0"/>
          </a:p>
        </p:txBody>
      </p:sp>
    </p:spTree>
    <p:extLst>
      <p:ext uri="{BB962C8B-B14F-4D97-AF65-F5344CB8AC3E}">
        <p14:creationId xmlns:p14="http://schemas.microsoft.com/office/powerpoint/2010/main" val="278548712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3"/>
          <p:cNvSpPr>
            <a:spLocks noGrp="1" noChangeArrowheads="1"/>
          </p:cNvSpPr>
          <p:nvPr>
            <p:ph type="body" idx="1"/>
          </p:nvPr>
        </p:nvSpPr>
        <p:spPr>
          <a:xfrm>
            <a:off x="3658228" y="257528"/>
            <a:ext cx="4224213" cy="690563"/>
          </a:xfrm>
        </p:spPr>
        <p:txBody>
          <a:bodyPr>
            <a:normAutofit fontScale="70000" lnSpcReduction="20000"/>
          </a:bodyPr>
          <a:lstStyle/>
          <a:p>
            <a:pPr marL="109728" indent="0" eaLnBrk="1" hangingPunct="1">
              <a:buNone/>
            </a:pPr>
            <a:r>
              <a:rPr lang="zh-CN" altLang="en-US" sz="2800" dirty="0"/>
              <a:t>例</a:t>
            </a:r>
            <a:r>
              <a:rPr lang="en-US" altLang="zh-CN" sz="2800" dirty="0"/>
              <a:t>3</a:t>
            </a:r>
            <a:r>
              <a:rPr lang="zh-CN" altLang="en-US" sz="2800" dirty="0"/>
              <a:t>：使用左边的文法对</a:t>
            </a:r>
            <a:r>
              <a:rPr lang="zh-CN" altLang="en-US" dirty="0">
                <a:solidFill>
                  <a:srgbClr val="FF3300"/>
                </a:solidFill>
              </a:rPr>
              <a:t> </a:t>
            </a:r>
            <a:endParaRPr lang="en-US" altLang="zh-CN" dirty="0">
              <a:solidFill>
                <a:srgbClr val="FF3300"/>
              </a:solidFill>
            </a:endParaRPr>
          </a:p>
          <a:p>
            <a:pPr marL="109728" indent="0" eaLnBrk="1" hangingPunct="1">
              <a:buNone/>
            </a:pPr>
            <a:r>
              <a:rPr lang="en-US" altLang="zh-CN" dirty="0" err="1">
                <a:solidFill>
                  <a:srgbClr val="FF3300"/>
                </a:solidFill>
              </a:rPr>
              <a:t>i</a:t>
            </a:r>
            <a:r>
              <a:rPr lang="en-US" altLang="zh-CN" dirty="0">
                <a:solidFill>
                  <a:srgbClr val="FF3300"/>
                </a:solidFill>
              </a:rPr>
              <a:t> + </a:t>
            </a:r>
            <a:r>
              <a:rPr lang="en-US" altLang="zh-CN" dirty="0" err="1">
                <a:solidFill>
                  <a:srgbClr val="FF3300"/>
                </a:solidFill>
              </a:rPr>
              <a:t>i</a:t>
            </a:r>
            <a:r>
              <a:rPr lang="en-US" altLang="zh-CN" sz="2800" dirty="0"/>
              <a:t> </a:t>
            </a:r>
            <a:r>
              <a:rPr lang="zh-CN" altLang="en-US" sz="2800" dirty="0"/>
              <a:t>进行自上而下的分析。</a:t>
            </a:r>
          </a:p>
        </p:txBody>
      </p:sp>
      <p:sp>
        <p:nvSpPr>
          <p:cNvPr id="178180" name="Text Box 4"/>
          <p:cNvSpPr txBox="1">
            <a:spLocks noChangeArrowheads="1"/>
          </p:cNvSpPr>
          <p:nvPr/>
        </p:nvSpPr>
        <p:spPr bwMode="auto">
          <a:xfrm>
            <a:off x="640507" y="267494"/>
            <a:ext cx="2419325" cy="1988237"/>
          </a:xfrm>
          <a:prstGeom prst="rect">
            <a:avLst/>
          </a:prstGeom>
          <a:ln>
            <a:headEnd/>
            <a:tailEnd/>
          </a:ln>
        </p:spPr>
        <p:style>
          <a:lnRef idx="2">
            <a:schemeClr val="accent4"/>
          </a:lnRef>
          <a:fillRef idx="1">
            <a:schemeClr val="lt1"/>
          </a:fillRef>
          <a:effectRef idx="0">
            <a:schemeClr val="accent4"/>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15000"/>
              </a:spcBef>
              <a:buFontTx/>
              <a:buNone/>
            </a:pPr>
            <a:r>
              <a:rPr lang="en-US" altLang="zh-CN" sz="2200" b="1" dirty="0"/>
              <a:t>     E </a:t>
            </a:r>
            <a:r>
              <a:rPr lang="en-US" altLang="zh-CN" sz="2200" b="1" dirty="0">
                <a:sym typeface="Wingdings" pitchFamily="2" charset="2"/>
              </a:rPr>
              <a:t></a:t>
            </a:r>
            <a:r>
              <a:rPr lang="en-US" altLang="zh-CN" sz="2200" b="1" dirty="0"/>
              <a:t> TE'</a:t>
            </a:r>
          </a:p>
          <a:p>
            <a:pPr eaLnBrk="1" hangingPunct="1">
              <a:spcBef>
                <a:spcPct val="15000"/>
              </a:spcBef>
              <a:buFontTx/>
              <a:buNone/>
            </a:pPr>
            <a:r>
              <a:rPr lang="en-US" altLang="zh-CN" sz="2200" b="1" dirty="0"/>
              <a:t>     E'</a:t>
            </a:r>
            <a:r>
              <a:rPr lang="en-US" altLang="zh-CN" sz="2200" b="1" dirty="0">
                <a:sym typeface="Wingdings" pitchFamily="2" charset="2"/>
              </a:rPr>
              <a:t></a:t>
            </a:r>
            <a:r>
              <a:rPr lang="en-US" altLang="zh-CN" sz="2200" b="1" dirty="0"/>
              <a:t> </a:t>
            </a:r>
            <a:r>
              <a:rPr lang="en-US" altLang="zh-CN" sz="2200" b="1" dirty="0">
                <a:ea typeface="华文行楷" pitchFamily="2" charset="-122"/>
              </a:rPr>
              <a:t>+TE</a:t>
            </a:r>
            <a:r>
              <a:rPr lang="en-US" altLang="zh-CN" sz="2200" b="1" dirty="0"/>
              <a:t>'</a:t>
            </a:r>
            <a:r>
              <a:rPr lang="en-US" altLang="zh-CN" sz="2200" b="1" dirty="0">
                <a:ea typeface="华文行楷" pitchFamily="2" charset="-122"/>
              </a:rPr>
              <a:t>| ε</a:t>
            </a:r>
            <a:endParaRPr lang="en-US" altLang="zh-CN" sz="2200" b="1" dirty="0"/>
          </a:p>
          <a:p>
            <a:pPr eaLnBrk="1" hangingPunct="1">
              <a:spcBef>
                <a:spcPct val="15000"/>
              </a:spcBef>
              <a:buFontTx/>
              <a:buNone/>
            </a:pPr>
            <a:r>
              <a:rPr lang="en-US" altLang="zh-CN" sz="2200" b="1" dirty="0"/>
              <a:t>     T </a:t>
            </a:r>
            <a:r>
              <a:rPr lang="en-US" altLang="zh-CN" sz="2200" b="1" dirty="0">
                <a:sym typeface="Wingdings" pitchFamily="2" charset="2"/>
              </a:rPr>
              <a:t></a:t>
            </a:r>
            <a:r>
              <a:rPr lang="en-US" altLang="zh-CN" sz="2200" b="1" dirty="0"/>
              <a:t> FT'</a:t>
            </a:r>
          </a:p>
          <a:p>
            <a:pPr eaLnBrk="1" hangingPunct="1">
              <a:spcBef>
                <a:spcPct val="15000"/>
              </a:spcBef>
              <a:buFontTx/>
              <a:buNone/>
            </a:pPr>
            <a:r>
              <a:rPr lang="en-US" altLang="zh-CN" sz="2200" b="1" dirty="0"/>
              <a:t>     T' </a:t>
            </a:r>
            <a:r>
              <a:rPr lang="en-US" altLang="zh-CN" sz="2200" b="1" dirty="0">
                <a:sym typeface="Wingdings" pitchFamily="2" charset="2"/>
              </a:rPr>
              <a:t></a:t>
            </a:r>
            <a:r>
              <a:rPr lang="en-US" altLang="zh-CN" sz="2200" b="1" dirty="0"/>
              <a:t> *FT '| </a:t>
            </a:r>
            <a:r>
              <a:rPr lang="en-US" altLang="zh-CN" sz="2200" b="1" dirty="0">
                <a:ea typeface="华文行楷" pitchFamily="2" charset="-122"/>
              </a:rPr>
              <a:t>ε</a:t>
            </a:r>
            <a:endParaRPr lang="en-US" altLang="zh-CN" sz="2200" b="1" dirty="0"/>
          </a:p>
          <a:p>
            <a:pPr eaLnBrk="1" hangingPunct="1">
              <a:spcBef>
                <a:spcPct val="15000"/>
              </a:spcBef>
              <a:buFontTx/>
              <a:buNone/>
            </a:pPr>
            <a:r>
              <a:rPr lang="en-US" altLang="zh-CN" sz="2200" b="1" dirty="0"/>
              <a:t>     F </a:t>
            </a:r>
            <a:r>
              <a:rPr lang="en-US" altLang="zh-CN" sz="2200" b="1" dirty="0">
                <a:sym typeface="Wingdings" pitchFamily="2" charset="2"/>
              </a:rPr>
              <a:t></a:t>
            </a:r>
            <a:r>
              <a:rPr lang="en-US" altLang="zh-CN" sz="2200" b="1" dirty="0"/>
              <a:t>(E)|</a:t>
            </a:r>
            <a:r>
              <a:rPr lang="en-US" altLang="zh-CN" sz="2200" b="1" dirty="0" err="1"/>
              <a:t>i</a:t>
            </a:r>
            <a:endParaRPr lang="en-US" altLang="zh-CN" sz="2200" b="1" dirty="0"/>
          </a:p>
        </p:txBody>
      </p:sp>
      <p:sp>
        <p:nvSpPr>
          <p:cNvPr id="178182" name="Text Box 6"/>
          <p:cNvSpPr txBox="1">
            <a:spLocks noChangeArrowheads="1"/>
          </p:cNvSpPr>
          <p:nvPr/>
        </p:nvSpPr>
        <p:spPr bwMode="auto">
          <a:xfrm>
            <a:off x="334016" y="2355726"/>
            <a:ext cx="38417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ea typeface="华文行楷" pitchFamily="2" charset="-122"/>
              </a:rPr>
              <a:t>第一步：</a:t>
            </a:r>
            <a:r>
              <a:rPr lang="en-US" altLang="zh-CN" sz="2400" dirty="0" err="1">
                <a:ea typeface="华文行楷" pitchFamily="2" charset="-122"/>
              </a:rPr>
              <a:t>i∈First</a:t>
            </a:r>
            <a:r>
              <a:rPr lang="en-US" altLang="zh-CN" sz="2400" dirty="0">
                <a:ea typeface="华文行楷" pitchFamily="2" charset="-122"/>
              </a:rPr>
              <a:t>(TE</a:t>
            </a:r>
            <a:r>
              <a:rPr lang="en-US" altLang="zh-CN" sz="2400" dirty="0"/>
              <a:t>'</a:t>
            </a:r>
            <a:r>
              <a:rPr lang="en-US" altLang="zh-CN" sz="2400" dirty="0">
                <a:ea typeface="华文行楷" pitchFamily="2" charset="-122"/>
              </a:rPr>
              <a:t>)</a:t>
            </a:r>
          </a:p>
        </p:txBody>
      </p:sp>
      <p:grpSp>
        <p:nvGrpSpPr>
          <p:cNvPr id="2" name="Group 25"/>
          <p:cNvGrpSpPr>
            <a:grpSpLocks/>
          </p:cNvGrpSpPr>
          <p:nvPr/>
        </p:nvGrpSpPr>
        <p:grpSpPr bwMode="auto">
          <a:xfrm>
            <a:off x="5221188" y="948091"/>
            <a:ext cx="1943100" cy="991594"/>
            <a:chOff x="3334" y="1434"/>
            <a:chExt cx="1224" cy="833"/>
          </a:xfrm>
        </p:grpSpPr>
        <p:sp>
          <p:nvSpPr>
            <p:cNvPr id="68638" name="Text Box 11"/>
            <p:cNvSpPr txBox="1">
              <a:spLocks noChangeArrowheads="1"/>
            </p:cNvSpPr>
            <p:nvPr/>
          </p:nvSpPr>
          <p:spPr bwMode="auto">
            <a:xfrm>
              <a:off x="3696" y="1434"/>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E</a:t>
              </a:r>
            </a:p>
          </p:txBody>
        </p:sp>
        <p:sp>
          <p:nvSpPr>
            <p:cNvPr id="68639" name="Text Box 12"/>
            <p:cNvSpPr txBox="1">
              <a:spLocks noChangeArrowheads="1"/>
            </p:cNvSpPr>
            <p:nvPr/>
          </p:nvSpPr>
          <p:spPr bwMode="auto">
            <a:xfrm>
              <a:off x="3334" y="1828"/>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p>
          </p:txBody>
        </p:sp>
        <p:sp>
          <p:nvSpPr>
            <p:cNvPr id="68640" name="Text Box 13"/>
            <p:cNvSpPr txBox="1">
              <a:spLocks noChangeArrowheads="1"/>
            </p:cNvSpPr>
            <p:nvPr/>
          </p:nvSpPr>
          <p:spPr bwMode="auto">
            <a:xfrm>
              <a:off x="4059" y="1797"/>
              <a:ext cx="49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E</a:t>
              </a:r>
              <a:r>
                <a:rPr lang="en-US" altLang="zh-CN" sz="2800" b="1"/>
                <a:t>'</a:t>
              </a:r>
              <a:endParaRPr lang="en-US" altLang="zh-CN" sz="2800">
                <a:ea typeface="华文行楷" pitchFamily="2" charset="-122"/>
              </a:endParaRPr>
            </a:p>
          </p:txBody>
        </p:sp>
        <p:sp>
          <p:nvSpPr>
            <p:cNvPr id="68644" name="Line 20"/>
            <p:cNvSpPr>
              <a:spLocks noChangeShapeType="1"/>
            </p:cNvSpPr>
            <p:nvPr/>
          </p:nvSpPr>
          <p:spPr bwMode="auto">
            <a:xfrm flipH="1">
              <a:off x="3606" y="1661"/>
              <a:ext cx="227"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5" name="Line 21"/>
            <p:cNvSpPr>
              <a:spLocks noChangeShapeType="1"/>
            </p:cNvSpPr>
            <p:nvPr/>
          </p:nvSpPr>
          <p:spPr bwMode="auto">
            <a:xfrm>
              <a:off x="4014" y="1661"/>
              <a:ext cx="181" cy="1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78209" name="Rectangle 33"/>
          <p:cNvSpPr>
            <a:spLocks noChangeArrowheads="1"/>
          </p:cNvSpPr>
          <p:nvPr/>
        </p:nvSpPr>
        <p:spPr bwMode="auto">
          <a:xfrm>
            <a:off x="4740275" y="3878263"/>
            <a:ext cx="3529013"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dirty="0">
                <a:ea typeface="华文行楷" pitchFamily="2" charset="-122"/>
              </a:rPr>
              <a:t>第三</a:t>
            </a:r>
            <a:r>
              <a:rPr lang="zh-CN" altLang="en-US" sz="2800">
                <a:ea typeface="华文行楷" pitchFamily="2" charset="-122"/>
              </a:rPr>
              <a:t>步：</a:t>
            </a:r>
            <a:r>
              <a:rPr lang="en-US" altLang="zh-CN" sz="2800">
                <a:ea typeface="华文行楷" pitchFamily="2" charset="-122"/>
              </a:rPr>
              <a:t>+</a:t>
            </a:r>
            <a:r>
              <a:rPr lang="en-US" altLang="zh-CN" sz="2800" b="1">
                <a:solidFill>
                  <a:schemeClr val="accent2"/>
                </a:solidFill>
                <a:ea typeface="华文行楷" pitchFamily="2" charset="-122"/>
              </a:rPr>
              <a:t>∈First(E</a:t>
            </a:r>
            <a:r>
              <a:rPr lang="en-US" altLang="zh-CN" sz="3600" b="1">
                <a:solidFill>
                  <a:srgbClr val="0066FF"/>
                </a:solidFill>
              </a:rPr>
              <a:t>'</a:t>
            </a:r>
            <a:r>
              <a:rPr lang="en-US" altLang="zh-CN" sz="2800" b="1">
                <a:solidFill>
                  <a:srgbClr val="0066FF"/>
                </a:solidFill>
                <a:ea typeface="华文行楷" pitchFamily="2" charset="-122"/>
              </a:rPr>
              <a:t>)</a:t>
            </a:r>
          </a:p>
          <a:p>
            <a:pPr eaLnBrk="1" hangingPunct="1">
              <a:spcBef>
                <a:spcPct val="0"/>
              </a:spcBef>
              <a:buFontTx/>
              <a:buNone/>
            </a:pPr>
            <a:r>
              <a:rPr lang="en-US" altLang="zh-CN" sz="2800" b="1">
                <a:solidFill>
                  <a:schemeClr val="accent2"/>
                </a:solidFill>
                <a:ea typeface="华文行楷" pitchFamily="2" charset="-122"/>
              </a:rPr>
              <a:t>……</a:t>
            </a:r>
            <a:endParaRPr lang="en-US" altLang="zh-CN" sz="2800" b="1" dirty="0">
              <a:solidFill>
                <a:schemeClr val="accent2"/>
              </a:solidFill>
              <a:ea typeface="华文行楷" pitchFamily="2" charset="-122"/>
            </a:endParaRPr>
          </a:p>
        </p:txBody>
      </p:sp>
      <p:sp>
        <p:nvSpPr>
          <p:cNvPr id="178210" name="Rectangle 34"/>
          <p:cNvSpPr>
            <a:spLocks noChangeArrowheads="1"/>
          </p:cNvSpPr>
          <p:nvPr/>
        </p:nvSpPr>
        <p:spPr bwMode="auto">
          <a:xfrm>
            <a:off x="251520" y="3687163"/>
            <a:ext cx="2871299" cy="830997"/>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ea typeface="华文行楷" pitchFamily="2" charset="-122"/>
              </a:rPr>
              <a:t>第二步：</a:t>
            </a:r>
            <a:r>
              <a:rPr lang="en-US" altLang="zh-CN" sz="2400" dirty="0">
                <a:ea typeface="华文行楷" pitchFamily="2" charset="-122"/>
              </a:rPr>
              <a:t>+</a:t>
            </a:r>
            <a:r>
              <a:rPr lang="en-US" altLang="zh-CN" sz="2400" dirty="0">
                <a:solidFill>
                  <a:schemeClr val="accent2"/>
                </a:solidFill>
                <a:ea typeface="华文行楷" pitchFamily="2" charset="-122"/>
                <a:sym typeface="Symbol" pitchFamily="18" charset="2"/>
              </a:rPr>
              <a:t>F</a:t>
            </a:r>
            <a:r>
              <a:rPr lang="en-US" altLang="zh-CN" sz="2400" dirty="0">
                <a:solidFill>
                  <a:schemeClr val="accent2"/>
                </a:solidFill>
                <a:ea typeface="华文行楷" pitchFamily="2" charset="-122"/>
              </a:rPr>
              <a:t>irst(T</a:t>
            </a:r>
            <a:r>
              <a:rPr lang="en-US" altLang="zh-CN" sz="2400" dirty="0">
                <a:solidFill>
                  <a:srgbClr val="0066FF"/>
                </a:solidFill>
              </a:rPr>
              <a:t>'</a:t>
            </a:r>
            <a:r>
              <a:rPr lang="en-US" altLang="zh-CN" sz="2400" dirty="0">
                <a:solidFill>
                  <a:schemeClr val="accent2"/>
                </a:solidFill>
                <a:ea typeface="华文行楷" pitchFamily="2" charset="-122"/>
              </a:rPr>
              <a:t>)</a:t>
            </a:r>
          </a:p>
          <a:p>
            <a:pPr>
              <a:spcBef>
                <a:spcPct val="0"/>
              </a:spcBef>
              <a:buNone/>
            </a:pPr>
            <a:r>
              <a:rPr lang="en-US" altLang="zh-CN" sz="2400" dirty="0">
                <a:solidFill>
                  <a:schemeClr val="accent2"/>
                </a:solidFill>
                <a:ea typeface="华文行楷" pitchFamily="2" charset="-122"/>
              </a:rPr>
              <a:t>               </a:t>
            </a:r>
            <a:endParaRPr lang="en-US" altLang="zh-CN" sz="2400" dirty="0">
              <a:ea typeface="华文行楷" pitchFamily="2" charset="-122"/>
            </a:endParaRPr>
          </a:p>
        </p:txBody>
      </p:sp>
      <p:grpSp>
        <p:nvGrpSpPr>
          <p:cNvPr id="3" name="Group 45"/>
          <p:cNvGrpSpPr>
            <a:grpSpLocks/>
          </p:cNvGrpSpPr>
          <p:nvPr/>
        </p:nvGrpSpPr>
        <p:grpSpPr bwMode="auto">
          <a:xfrm>
            <a:off x="6372745" y="1851670"/>
            <a:ext cx="1871663" cy="900112"/>
            <a:chOff x="4332" y="1752"/>
            <a:chExt cx="1179" cy="756"/>
          </a:xfrm>
        </p:grpSpPr>
        <p:sp>
          <p:nvSpPr>
            <p:cNvPr id="68632" name="Text Box 37"/>
            <p:cNvSpPr txBox="1">
              <a:spLocks noChangeArrowheads="1"/>
            </p:cNvSpPr>
            <p:nvPr/>
          </p:nvSpPr>
          <p:spPr bwMode="auto">
            <a:xfrm>
              <a:off x="4332" y="2069"/>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a:t>
              </a:r>
            </a:p>
          </p:txBody>
        </p:sp>
        <p:sp>
          <p:nvSpPr>
            <p:cNvPr id="68633" name="Text Box 38"/>
            <p:cNvSpPr txBox="1">
              <a:spLocks noChangeArrowheads="1"/>
            </p:cNvSpPr>
            <p:nvPr/>
          </p:nvSpPr>
          <p:spPr bwMode="auto">
            <a:xfrm>
              <a:off x="4649" y="2039"/>
              <a:ext cx="31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p>
          </p:txBody>
        </p:sp>
        <p:sp>
          <p:nvSpPr>
            <p:cNvPr id="68634" name="Text Box 39"/>
            <p:cNvSpPr txBox="1">
              <a:spLocks noChangeArrowheads="1"/>
            </p:cNvSpPr>
            <p:nvPr/>
          </p:nvSpPr>
          <p:spPr bwMode="auto">
            <a:xfrm>
              <a:off x="5103" y="2054"/>
              <a:ext cx="40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E</a:t>
              </a:r>
              <a:r>
                <a:rPr lang="en-US" altLang="zh-CN" sz="2800" b="1" dirty="0"/>
                <a:t>'</a:t>
              </a:r>
            </a:p>
          </p:txBody>
        </p:sp>
        <p:sp>
          <p:nvSpPr>
            <p:cNvPr id="68635" name="Line 40"/>
            <p:cNvSpPr>
              <a:spLocks noChangeShapeType="1"/>
            </p:cNvSpPr>
            <p:nvPr/>
          </p:nvSpPr>
          <p:spPr bwMode="auto">
            <a:xfrm flipH="1">
              <a:off x="4422" y="1797"/>
              <a:ext cx="91"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6" name="Line 41"/>
            <p:cNvSpPr>
              <a:spLocks noChangeShapeType="1"/>
            </p:cNvSpPr>
            <p:nvPr/>
          </p:nvSpPr>
          <p:spPr bwMode="auto">
            <a:xfrm>
              <a:off x="4604" y="1797"/>
              <a:ext cx="181"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7" name="Line 42"/>
            <p:cNvSpPr>
              <a:spLocks noChangeShapeType="1"/>
            </p:cNvSpPr>
            <p:nvPr/>
          </p:nvSpPr>
          <p:spPr bwMode="auto">
            <a:xfrm>
              <a:off x="4649" y="1752"/>
              <a:ext cx="590" cy="31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 name="Group 52"/>
          <p:cNvGrpSpPr>
            <a:grpSpLocks/>
          </p:cNvGrpSpPr>
          <p:nvPr/>
        </p:nvGrpSpPr>
        <p:grpSpPr bwMode="auto">
          <a:xfrm>
            <a:off x="6587207" y="2643759"/>
            <a:ext cx="1227138" cy="1458903"/>
            <a:chOff x="4512" y="2296"/>
            <a:chExt cx="773" cy="1226"/>
          </a:xfrm>
        </p:grpSpPr>
        <p:sp>
          <p:nvSpPr>
            <p:cNvPr id="68626" name="Text Box 46"/>
            <p:cNvSpPr txBox="1">
              <a:spLocks noChangeArrowheads="1"/>
            </p:cNvSpPr>
            <p:nvPr/>
          </p:nvSpPr>
          <p:spPr bwMode="auto">
            <a:xfrm>
              <a:off x="4513" y="2538"/>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F</a:t>
              </a:r>
            </a:p>
          </p:txBody>
        </p:sp>
        <p:sp>
          <p:nvSpPr>
            <p:cNvPr id="68627" name="Text Box 47"/>
            <p:cNvSpPr txBox="1">
              <a:spLocks noChangeArrowheads="1"/>
            </p:cNvSpPr>
            <p:nvPr/>
          </p:nvSpPr>
          <p:spPr bwMode="auto">
            <a:xfrm>
              <a:off x="4967" y="2478"/>
              <a:ext cx="31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r>
                <a:rPr lang="en-US" altLang="zh-CN" sz="2800" b="1" dirty="0"/>
                <a:t>'</a:t>
              </a:r>
              <a:endParaRPr lang="en-US" altLang="zh-CN" sz="2800" dirty="0">
                <a:ea typeface="华文行楷" pitchFamily="2" charset="-122"/>
              </a:endParaRPr>
            </a:p>
          </p:txBody>
        </p:sp>
        <p:sp>
          <p:nvSpPr>
            <p:cNvPr id="68628" name="Line 48"/>
            <p:cNvSpPr>
              <a:spLocks noChangeShapeType="1"/>
            </p:cNvSpPr>
            <p:nvPr/>
          </p:nvSpPr>
          <p:spPr bwMode="auto">
            <a:xfrm flipH="1">
              <a:off x="4649" y="2296"/>
              <a:ext cx="136" cy="29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29" name="Line 49"/>
            <p:cNvSpPr>
              <a:spLocks noChangeShapeType="1"/>
            </p:cNvSpPr>
            <p:nvPr/>
          </p:nvSpPr>
          <p:spPr bwMode="auto">
            <a:xfrm>
              <a:off x="4876" y="2296"/>
              <a:ext cx="227" cy="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0" name="Text Box 50"/>
            <p:cNvSpPr txBox="1">
              <a:spLocks noChangeArrowheads="1"/>
            </p:cNvSpPr>
            <p:nvPr/>
          </p:nvSpPr>
          <p:spPr bwMode="auto">
            <a:xfrm>
              <a:off x="4512" y="3083"/>
              <a:ext cx="22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i</a:t>
              </a:r>
            </a:p>
          </p:txBody>
        </p:sp>
        <p:sp>
          <p:nvSpPr>
            <p:cNvPr id="68631" name="Line 51"/>
            <p:cNvSpPr>
              <a:spLocks noChangeShapeType="1"/>
            </p:cNvSpPr>
            <p:nvPr/>
          </p:nvSpPr>
          <p:spPr bwMode="auto">
            <a:xfrm>
              <a:off x="4603" y="2916"/>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 name="Group 59"/>
          <p:cNvGrpSpPr>
            <a:grpSpLocks/>
          </p:cNvGrpSpPr>
          <p:nvPr/>
        </p:nvGrpSpPr>
        <p:grpSpPr bwMode="auto">
          <a:xfrm>
            <a:off x="7402016" y="2762821"/>
            <a:ext cx="914400" cy="1298575"/>
            <a:chOff x="4968" y="2341"/>
            <a:chExt cx="576" cy="1091"/>
          </a:xfrm>
        </p:grpSpPr>
        <p:sp>
          <p:nvSpPr>
            <p:cNvPr id="68622" name="Rectangle 26"/>
            <p:cNvSpPr>
              <a:spLocks noChangeArrowheads="1"/>
            </p:cNvSpPr>
            <p:nvPr/>
          </p:nvSpPr>
          <p:spPr bwMode="auto">
            <a:xfrm>
              <a:off x="4968" y="2993"/>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dirty="0">
                  <a:ea typeface="华文行楷" pitchFamily="2" charset="-122"/>
                </a:rPr>
                <a:t>ε</a:t>
              </a:r>
            </a:p>
          </p:txBody>
        </p:sp>
        <p:sp>
          <p:nvSpPr>
            <p:cNvPr id="68623" name="Line 27"/>
            <p:cNvSpPr>
              <a:spLocks noChangeShapeType="1"/>
            </p:cNvSpPr>
            <p:nvPr/>
          </p:nvSpPr>
          <p:spPr bwMode="auto">
            <a:xfrm>
              <a:off x="5045" y="2815"/>
              <a:ext cx="0" cy="2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24" name="Rectangle 54"/>
            <p:cNvSpPr>
              <a:spLocks noChangeArrowheads="1"/>
            </p:cNvSpPr>
            <p:nvPr/>
          </p:nvSpPr>
          <p:spPr bwMode="auto">
            <a:xfrm>
              <a:off x="5331" y="2630"/>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a:ea typeface="华文行楷" pitchFamily="2" charset="-122"/>
                </a:rPr>
                <a:t>ε</a:t>
              </a:r>
            </a:p>
          </p:txBody>
        </p:sp>
        <p:sp>
          <p:nvSpPr>
            <p:cNvPr id="68625" name="Line 55"/>
            <p:cNvSpPr>
              <a:spLocks noChangeShapeType="1"/>
            </p:cNvSpPr>
            <p:nvPr/>
          </p:nvSpPr>
          <p:spPr bwMode="auto">
            <a:xfrm>
              <a:off x="5317" y="2341"/>
              <a:ext cx="91" cy="3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 name="Group 56"/>
          <p:cNvGrpSpPr>
            <a:grpSpLocks/>
          </p:cNvGrpSpPr>
          <p:nvPr/>
        </p:nvGrpSpPr>
        <p:grpSpPr bwMode="auto">
          <a:xfrm>
            <a:off x="5767593" y="2474437"/>
            <a:ext cx="338138" cy="758825"/>
            <a:chOff x="3970" y="2205"/>
            <a:chExt cx="213" cy="637"/>
          </a:xfrm>
        </p:grpSpPr>
        <p:sp>
          <p:nvSpPr>
            <p:cNvPr id="68620" name="Rectangle 57"/>
            <p:cNvSpPr>
              <a:spLocks noChangeArrowheads="1"/>
            </p:cNvSpPr>
            <p:nvPr/>
          </p:nvSpPr>
          <p:spPr bwMode="auto">
            <a:xfrm>
              <a:off x="3970" y="2403"/>
              <a:ext cx="21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a:ea typeface="华文行楷" pitchFamily="2" charset="-122"/>
                </a:rPr>
                <a:t>ε</a:t>
              </a:r>
            </a:p>
          </p:txBody>
        </p:sp>
        <p:sp>
          <p:nvSpPr>
            <p:cNvPr id="68621" name="Line 58"/>
            <p:cNvSpPr>
              <a:spLocks noChangeShapeType="1"/>
            </p:cNvSpPr>
            <p:nvPr/>
          </p:nvSpPr>
          <p:spPr bwMode="auto">
            <a:xfrm>
              <a:off x="4059" y="2205"/>
              <a:ext cx="0" cy="2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1" name="Text Box 6"/>
          <p:cNvSpPr txBox="1">
            <a:spLocks noChangeArrowheads="1"/>
          </p:cNvSpPr>
          <p:nvPr/>
        </p:nvSpPr>
        <p:spPr bwMode="auto">
          <a:xfrm>
            <a:off x="1579608" y="2767328"/>
            <a:ext cx="203120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err="1">
                <a:ea typeface="华文行楷" pitchFamily="2" charset="-122"/>
              </a:rPr>
              <a:t>i∈First</a:t>
            </a:r>
            <a:r>
              <a:rPr lang="en-US" altLang="zh-CN" sz="2400" dirty="0">
                <a:ea typeface="华文行楷" pitchFamily="2" charset="-122"/>
              </a:rPr>
              <a:t>(FT</a:t>
            </a:r>
            <a:r>
              <a:rPr lang="en-US" altLang="zh-CN" sz="2400" dirty="0"/>
              <a:t>'</a:t>
            </a:r>
            <a:r>
              <a:rPr lang="en-US" altLang="zh-CN" sz="2400" dirty="0">
                <a:ea typeface="华文行楷" pitchFamily="2" charset="-122"/>
              </a:rPr>
              <a:t>)</a:t>
            </a:r>
          </a:p>
        </p:txBody>
      </p:sp>
      <p:sp>
        <p:nvSpPr>
          <p:cNvPr id="42" name="Text Box 6"/>
          <p:cNvSpPr txBox="1">
            <a:spLocks noChangeArrowheads="1"/>
          </p:cNvSpPr>
          <p:nvPr/>
        </p:nvSpPr>
        <p:spPr bwMode="auto">
          <a:xfrm>
            <a:off x="1563871" y="3157733"/>
            <a:ext cx="17165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err="1">
                <a:ea typeface="华文行楷" pitchFamily="2" charset="-122"/>
              </a:rPr>
              <a:t>i∈First</a:t>
            </a:r>
            <a:r>
              <a:rPr lang="en-US" altLang="zh-CN" sz="2400" dirty="0">
                <a:ea typeface="华文行楷" pitchFamily="2" charset="-122"/>
              </a:rPr>
              <a:t>(F)</a:t>
            </a:r>
          </a:p>
        </p:txBody>
      </p:sp>
      <p:grpSp>
        <p:nvGrpSpPr>
          <p:cNvPr id="43" name="Group 25"/>
          <p:cNvGrpSpPr>
            <a:grpSpLocks/>
          </p:cNvGrpSpPr>
          <p:nvPr/>
        </p:nvGrpSpPr>
        <p:grpSpPr bwMode="auto">
          <a:xfrm>
            <a:off x="4971936" y="1831328"/>
            <a:ext cx="1257300" cy="740422"/>
            <a:chOff x="3167" y="2024"/>
            <a:chExt cx="792" cy="622"/>
          </a:xfrm>
        </p:grpSpPr>
        <p:sp>
          <p:nvSpPr>
            <p:cNvPr id="47" name="Text Box 15"/>
            <p:cNvSpPr txBox="1">
              <a:spLocks noChangeArrowheads="1"/>
            </p:cNvSpPr>
            <p:nvPr/>
          </p:nvSpPr>
          <p:spPr bwMode="auto">
            <a:xfrm>
              <a:off x="3167" y="2200"/>
              <a:ext cx="243"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ea typeface="华文行楷" pitchFamily="2" charset="-122"/>
                </a:rPr>
                <a:t>F</a:t>
              </a:r>
            </a:p>
          </p:txBody>
        </p:sp>
        <p:sp>
          <p:nvSpPr>
            <p:cNvPr id="48" name="Text Box 17"/>
            <p:cNvSpPr txBox="1">
              <a:spLocks noChangeArrowheads="1"/>
            </p:cNvSpPr>
            <p:nvPr/>
          </p:nvSpPr>
          <p:spPr bwMode="auto">
            <a:xfrm>
              <a:off x="3642" y="2207"/>
              <a:ext cx="31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T</a:t>
              </a:r>
              <a:r>
                <a:rPr lang="en-US" altLang="zh-CN" sz="2800" b="1"/>
                <a:t>'</a:t>
              </a:r>
            </a:p>
          </p:txBody>
        </p:sp>
        <p:sp>
          <p:nvSpPr>
            <p:cNvPr id="52" name="Line 22"/>
            <p:cNvSpPr>
              <a:spLocks noChangeShapeType="1"/>
            </p:cNvSpPr>
            <p:nvPr/>
          </p:nvSpPr>
          <p:spPr bwMode="auto">
            <a:xfrm flipH="1">
              <a:off x="3334" y="2024"/>
              <a:ext cx="181"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 name="Line 23"/>
            <p:cNvSpPr>
              <a:spLocks noChangeShapeType="1"/>
            </p:cNvSpPr>
            <p:nvPr/>
          </p:nvSpPr>
          <p:spPr bwMode="auto">
            <a:xfrm>
              <a:off x="3606" y="2024"/>
              <a:ext cx="181"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5" name="Group 25"/>
          <p:cNvGrpSpPr>
            <a:grpSpLocks/>
          </p:cNvGrpSpPr>
          <p:nvPr/>
        </p:nvGrpSpPr>
        <p:grpSpPr bwMode="auto">
          <a:xfrm>
            <a:off x="4932040" y="2463925"/>
            <a:ext cx="349782" cy="755897"/>
            <a:chOff x="3194" y="2478"/>
            <a:chExt cx="179" cy="635"/>
          </a:xfrm>
        </p:grpSpPr>
        <p:sp>
          <p:nvSpPr>
            <p:cNvPr id="61" name="Text Box 19"/>
            <p:cNvSpPr txBox="1">
              <a:spLocks noChangeArrowheads="1"/>
            </p:cNvSpPr>
            <p:nvPr/>
          </p:nvSpPr>
          <p:spPr bwMode="auto">
            <a:xfrm>
              <a:off x="3194" y="2674"/>
              <a:ext cx="17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i</a:t>
              </a:r>
            </a:p>
          </p:txBody>
        </p:sp>
        <p:sp>
          <p:nvSpPr>
            <p:cNvPr id="66" name="Line 24"/>
            <p:cNvSpPr>
              <a:spLocks noChangeShapeType="1"/>
            </p:cNvSpPr>
            <p:nvPr/>
          </p:nvSpPr>
          <p:spPr bwMode="auto">
            <a:xfrm>
              <a:off x="3288" y="2478"/>
              <a:ext cx="0" cy="2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 name="矩形 6"/>
          <p:cNvSpPr/>
          <p:nvPr/>
        </p:nvSpPr>
        <p:spPr>
          <a:xfrm>
            <a:off x="7978279" y="571895"/>
            <a:ext cx="1019831" cy="523220"/>
          </a:xfrm>
          <a:prstGeom prst="rect">
            <a:avLst/>
          </a:prstGeom>
        </p:spPr>
        <p:txBody>
          <a:bodyPr wrap="none">
            <a:spAutoFit/>
          </a:bodyPr>
          <a:lstStyle/>
          <a:p>
            <a:r>
              <a:rPr lang="en-US" altLang="zh-CN" sz="2800" dirty="0" err="1">
                <a:solidFill>
                  <a:srgbClr val="FF3300"/>
                </a:solidFill>
              </a:rPr>
              <a:t>i</a:t>
            </a:r>
            <a:r>
              <a:rPr lang="en-US" altLang="zh-CN" sz="2800" dirty="0">
                <a:solidFill>
                  <a:srgbClr val="FF3300"/>
                </a:solidFill>
              </a:rPr>
              <a:t> + </a:t>
            </a:r>
            <a:r>
              <a:rPr lang="en-US" altLang="zh-CN" sz="2800" dirty="0" err="1">
                <a:solidFill>
                  <a:srgbClr val="FF3300"/>
                </a:solidFill>
              </a:rPr>
              <a:t>i</a:t>
            </a:r>
            <a:r>
              <a:rPr lang="en-US" altLang="zh-CN" sz="2800" dirty="0"/>
              <a:t> </a:t>
            </a:r>
            <a:endParaRPr lang="zh-CN" altLang="en-US" sz="2800" dirty="0"/>
          </a:p>
        </p:txBody>
      </p:sp>
      <p:cxnSp>
        <p:nvCxnSpPr>
          <p:cNvPr id="68" name="直接箭头连接符 67"/>
          <p:cNvCxnSpPr/>
          <p:nvPr/>
        </p:nvCxnSpPr>
        <p:spPr>
          <a:xfrm flipV="1">
            <a:off x="8137614" y="1056166"/>
            <a:ext cx="0" cy="648072"/>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flipV="1">
            <a:off x="8460432" y="1078224"/>
            <a:ext cx="0" cy="648072"/>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70" name="Rectangle 34"/>
          <p:cNvSpPr>
            <a:spLocks noChangeArrowheads="1"/>
          </p:cNvSpPr>
          <p:nvPr/>
        </p:nvSpPr>
        <p:spPr bwMode="auto">
          <a:xfrm>
            <a:off x="79823" y="4548726"/>
            <a:ext cx="4007828" cy="461665"/>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solidFill>
                  <a:schemeClr val="accent2"/>
                </a:solidFill>
                <a:ea typeface="华文行楷" pitchFamily="2" charset="-122"/>
              </a:rPr>
              <a:t>用</a:t>
            </a:r>
            <a:r>
              <a:rPr lang="en-US" altLang="zh-CN" sz="2400" dirty="0">
                <a:ea typeface="华文行楷" pitchFamily="2" charset="-122"/>
              </a:rPr>
              <a:t>ε</a:t>
            </a:r>
            <a:r>
              <a:rPr lang="zh-CN" altLang="en-US" sz="2400" dirty="0">
                <a:ea typeface="华文行楷" pitchFamily="2" charset="-122"/>
              </a:rPr>
              <a:t>自动匹配，不读输入符号</a:t>
            </a:r>
          </a:p>
        </p:txBody>
      </p:sp>
      <p:sp>
        <p:nvSpPr>
          <p:cNvPr id="71" name="Rectangle 34"/>
          <p:cNvSpPr>
            <a:spLocks noChangeArrowheads="1"/>
          </p:cNvSpPr>
          <p:nvPr/>
        </p:nvSpPr>
        <p:spPr bwMode="auto">
          <a:xfrm>
            <a:off x="1491647" y="4083918"/>
            <a:ext cx="1635384" cy="461665"/>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400" dirty="0" err="1">
                <a:ea typeface="华文行楷" pitchFamily="2" charset="-122"/>
              </a:rPr>
              <a:t>ε∈First</a:t>
            </a:r>
            <a:r>
              <a:rPr lang="en-US" altLang="zh-CN" sz="2400" dirty="0">
                <a:ea typeface="华文行楷" pitchFamily="2" charset="-122"/>
              </a:rPr>
              <a:t>(</a:t>
            </a:r>
            <a:r>
              <a:rPr lang="en-US" altLang="zh-CN" sz="2400" dirty="0">
                <a:solidFill>
                  <a:schemeClr val="accent2"/>
                </a:solidFill>
                <a:ea typeface="华文行楷" pitchFamily="2" charset="-122"/>
              </a:rPr>
              <a:t>T</a:t>
            </a:r>
            <a:r>
              <a:rPr lang="en-US" altLang="zh-CN" sz="2400" dirty="0">
                <a:solidFill>
                  <a:srgbClr val="0066FF"/>
                </a:solidFill>
              </a:rPr>
              <a:t>'</a:t>
            </a:r>
            <a:r>
              <a:rPr lang="en-US" altLang="zh-CN" sz="2400" dirty="0">
                <a:ea typeface="华文行楷" pitchFamily="2" charset="-122"/>
              </a:rPr>
              <a:t>)</a:t>
            </a:r>
          </a:p>
        </p:txBody>
      </p:sp>
      <p:sp>
        <p:nvSpPr>
          <p:cNvPr id="8" name="矩形 7"/>
          <p:cNvSpPr/>
          <p:nvPr/>
        </p:nvSpPr>
        <p:spPr>
          <a:xfrm>
            <a:off x="3142258" y="3934932"/>
            <a:ext cx="1816523" cy="523220"/>
          </a:xfrm>
          <a:prstGeom prst="rect">
            <a:avLst/>
          </a:prstGeom>
        </p:spPr>
        <p:style>
          <a:lnRef idx="1">
            <a:schemeClr val="accent1"/>
          </a:lnRef>
          <a:fillRef idx="2">
            <a:schemeClr val="accent1"/>
          </a:fillRef>
          <a:effectRef idx="1">
            <a:schemeClr val="accent1"/>
          </a:effectRef>
          <a:fontRef idx="minor">
            <a:schemeClr val="dk1"/>
          </a:fontRef>
        </p:style>
        <p:txBody>
          <a:bodyPr wrap="none">
            <a:spAutoFit/>
          </a:bodyPr>
          <a:lstStyle/>
          <a:p>
            <a:pPr lvl="0">
              <a:spcBef>
                <a:spcPct val="0"/>
              </a:spcBef>
            </a:pPr>
            <a:r>
              <a:rPr lang="en-US" altLang="zh-CN" sz="2000" dirty="0">
                <a:solidFill>
                  <a:prstClr val="black"/>
                </a:solidFill>
                <a:ea typeface="华文行楷" pitchFamily="2" charset="-122"/>
              </a:rPr>
              <a:t>+</a:t>
            </a:r>
            <a:r>
              <a:rPr lang="en-US" altLang="zh-CN" sz="2000" b="1" dirty="0">
                <a:solidFill>
                  <a:srgbClr val="DA1F28"/>
                </a:solidFill>
                <a:ea typeface="华文行楷" pitchFamily="2" charset="-122"/>
              </a:rPr>
              <a:t>∈Follow(T</a:t>
            </a:r>
            <a:r>
              <a:rPr lang="en-US" altLang="zh-CN" sz="2800" b="1" dirty="0">
                <a:solidFill>
                  <a:srgbClr val="0066FF"/>
                </a:solidFill>
              </a:rPr>
              <a:t>'</a:t>
            </a:r>
            <a:r>
              <a:rPr lang="en-US" altLang="zh-CN" sz="2000" b="1" dirty="0">
                <a:solidFill>
                  <a:srgbClr val="0066FF"/>
                </a:solidFill>
                <a:ea typeface="华文行楷" pitchFamily="2" charset="-122"/>
              </a:rPr>
              <a:t>)</a:t>
            </a:r>
          </a:p>
        </p:txBody>
      </p:sp>
    </p:spTree>
    <p:extLst>
      <p:ext uri="{BB962C8B-B14F-4D97-AF65-F5344CB8AC3E}">
        <p14:creationId xmlns:p14="http://schemas.microsoft.com/office/powerpoint/2010/main" val="2100215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5" name="Rectangle 3"/>
          <p:cNvSpPr>
            <a:spLocks noGrp="1" noChangeArrowheads="1"/>
          </p:cNvSpPr>
          <p:nvPr>
            <p:ph type="body" idx="1"/>
          </p:nvPr>
        </p:nvSpPr>
        <p:spPr>
          <a:xfrm>
            <a:off x="179388" y="712788"/>
            <a:ext cx="8713787" cy="3889375"/>
          </a:xfrm>
          <a:solidFill>
            <a:schemeClr val="bg1"/>
          </a:solidFill>
          <a:ln w="28575">
            <a:solidFill>
              <a:schemeClr val="accent2"/>
            </a:solidFill>
          </a:ln>
        </p:spPr>
        <p:txBody>
          <a:bodyPr>
            <a:normAutofit/>
          </a:bodyPr>
          <a:lstStyle/>
          <a:p>
            <a:pPr eaLnBrk="1" hangingPunct="1">
              <a:defRPr/>
            </a:pP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不带回溯的确定的自上而下分析的条件</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200" dirty="0">
                <a:solidFill>
                  <a:srgbClr val="008080"/>
                </a:solidFill>
                <a:latin typeface="Times New Roman" panose="02020603050405020304" pitchFamily="18" charset="0"/>
                <a:ea typeface="宋体" panose="02010600030101010101" pitchFamily="2" charset="-122"/>
                <a:cs typeface="Times New Roman" panose="02020603050405020304" pitchFamily="18" charset="0"/>
              </a:rPr>
              <a:t>据此判别是否为</a:t>
            </a:r>
            <a:r>
              <a:rPr lang="en-US" altLang="zh-CN" sz="2200" dirty="0">
                <a:solidFill>
                  <a:srgbClr val="008080"/>
                </a:solidFill>
                <a:latin typeface="Times New Roman" panose="02020603050405020304" pitchFamily="18" charset="0"/>
                <a:ea typeface="宋体" panose="02010600030101010101" pitchFamily="2" charset="-122"/>
                <a:cs typeface="Times New Roman" panose="02020603050405020304" pitchFamily="18" charset="0"/>
              </a:rPr>
              <a:t>LL(1)</a:t>
            </a:r>
            <a:r>
              <a:rPr lang="zh-CN" altLang="en-US" sz="2200" dirty="0">
                <a:solidFill>
                  <a:srgbClr val="008080"/>
                </a:solidFill>
                <a:latin typeface="Times New Roman" panose="02020603050405020304" pitchFamily="18" charset="0"/>
                <a:ea typeface="宋体" panose="02010600030101010101" pitchFamily="2" charset="-122"/>
                <a:cs typeface="Times New Roman" panose="02020603050405020304" pitchFamily="18" charset="0"/>
              </a:rPr>
              <a:t>文法</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a:t>
            </a:r>
          </a:p>
          <a:p>
            <a:pPr lvl="1" eaLnBrk="1" hangingPunct="1">
              <a:defRPr/>
            </a:pP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(1)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文法不含左递归</a:t>
            </a:r>
          </a:p>
          <a:p>
            <a:pPr lvl="1" eaLnBrk="1" hangingPunct="1">
              <a:defRPr/>
            </a:pP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(2)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对文法中的任一个非终结符</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的各个候选式的首终结符集两两不相交，即：若</a:t>
            </a:r>
          </a:p>
          <a:p>
            <a:pPr lvl="2" eaLnBrk="1" hangingPunct="1">
              <a:buFontTx/>
              <a:buNone/>
              <a:defRPr/>
            </a:pPr>
            <a:r>
              <a:rPr lang="zh-CN" altLang="en-US"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		</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1" baseline="-30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1</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1" baseline="-30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2</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1" baseline="-30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n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，则  </a:t>
            </a:r>
          </a:p>
          <a:p>
            <a:pPr lvl="2">
              <a:buNone/>
              <a:defRPr/>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200" b="1" dirty="0">
                <a:latin typeface="Times New Roman" panose="02020603050405020304" pitchFamily="18" charset="0"/>
                <a:ea typeface="宋体" panose="02010600030101010101" pitchFamily="2" charset="-122"/>
                <a:cs typeface="Times New Roman" panose="02020603050405020304" pitchFamily="18" charset="0"/>
              </a:rPr>
              <a:t>First(</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1" baseline="-25000" dirty="0" err="1">
                <a:latin typeface="Times New Roman" panose="02020603050405020304" pitchFamily="18" charset="0"/>
                <a:ea typeface="宋体" panose="02010600030101010101" pitchFamily="2" charset="-122"/>
                <a:cs typeface="Times New Roman" panose="02020603050405020304" pitchFamily="18" charset="0"/>
              </a:rPr>
              <a:t>i</a:t>
            </a:r>
            <a:r>
              <a:rPr lang="en-US" altLang="zh-CN" sz="2200" b="1"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200" b="1" dirty="0">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 First(</a:t>
            </a:r>
            <a:r>
              <a:rPr lang="en-US" altLang="zh-CN" sz="22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α</a:t>
            </a:r>
            <a:r>
              <a:rPr lang="en-US" altLang="zh-CN" sz="2200" baseline="-25000" dirty="0">
                <a:latin typeface="Times New Roman" panose="02020603050405020304" pitchFamily="18" charset="0"/>
                <a:ea typeface="宋体" panose="02010600030101010101" pitchFamily="2" charset="-122"/>
                <a:cs typeface="Times New Roman" panose="02020603050405020304" pitchFamily="18" charset="0"/>
              </a:rPr>
              <a:t>j</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 = </a:t>
            </a:r>
            <a:r>
              <a:rPr lang="en-US" altLang="zh-CN" sz="2200" b="1" dirty="0">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φ   (  </a:t>
            </a:r>
            <a:r>
              <a:rPr lang="en-US" altLang="zh-CN" sz="2200" b="1" dirty="0" err="1">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i</a:t>
            </a:r>
            <a:r>
              <a:rPr lang="en-US" altLang="zh-CN" sz="2200" b="1" dirty="0">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  ≠  j  )</a:t>
            </a:r>
          </a:p>
          <a:p>
            <a:pPr lvl="1" eaLnBrk="1" hangingPunct="1">
              <a:defRPr/>
            </a:pP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(3)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对文法中的每个非终结符</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，若它的首终结符集含有</a:t>
            </a:r>
            <a:r>
              <a:rPr lang="en-US" altLang="zh-CN" sz="2200" b="1" dirty="0">
                <a:latin typeface="Times New Roman" panose="02020603050405020304" pitchFamily="18" charset="0"/>
                <a:ea typeface="宋体" panose="02010600030101010101" pitchFamily="2" charset="-122"/>
                <a:cs typeface="Times New Roman" panose="02020603050405020304" pitchFamily="18" charset="0"/>
              </a:rPr>
              <a:t>ε</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，则</a:t>
            </a:r>
          </a:p>
          <a:p>
            <a:pPr lvl="2" eaLnBrk="1" hangingPunct="1">
              <a:buFontTx/>
              <a:buNone/>
              <a:defRPr/>
            </a:pP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200" b="1" dirty="0">
                <a:latin typeface="Times New Roman" panose="02020603050405020304" pitchFamily="18" charset="0"/>
                <a:ea typeface="宋体" panose="02010600030101010101" pitchFamily="2" charset="-122"/>
                <a:cs typeface="Times New Roman" panose="02020603050405020304" pitchFamily="18" charset="0"/>
              </a:rPr>
              <a:t>First(A)</a:t>
            </a:r>
            <a:r>
              <a:rPr lang="en-US" altLang="zh-CN" sz="2200" b="1" dirty="0">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 Follow(</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A) = </a:t>
            </a:r>
            <a:r>
              <a:rPr lang="en-US" altLang="zh-CN" sz="2200" b="1" dirty="0">
                <a:effectLst>
                  <a:outerShdw blurRad="38100" dist="38100" dir="2700000" algn="tl">
                    <a:srgbClr val="C0C0C0"/>
                  </a:outerShdw>
                </a:effectLst>
                <a:latin typeface="Times New Roman" panose="02020603050405020304" pitchFamily="18" charset="0"/>
                <a:ea typeface="宋体" panose="02010600030101010101" pitchFamily="2" charset="-122"/>
                <a:cs typeface="Times New Roman" panose="02020603050405020304" pitchFamily="18" charset="0"/>
              </a:rPr>
              <a:t>φ</a:t>
            </a:r>
          </a:p>
        </p:txBody>
      </p:sp>
      <p:sp>
        <p:nvSpPr>
          <p:cNvPr id="74755" name="Rectangle 4"/>
          <p:cNvSpPr>
            <a:spLocks noChangeArrowheads="1"/>
          </p:cNvSpPr>
          <p:nvPr/>
        </p:nvSpPr>
        <p:spPr bwMode="auto">
          <a:xfrm>
            <a:off x="0" y="11113"/>
            <a:ext cx="5013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i="1">
                <a:solidFill>
                  <a:srgbClr val="008000"/>
                </a:solidFill>
              </a:rPr>
              <a:t>LL(1) </a:t>
            </a:r>
            <a:r>
              <a:rPr lang="zh-CN" altLang="en-US" sz="3600" b="1" i="1">
                <a:solidFill>
                  <a:srgbClr val="008000"/>
                </a:solidFill>
              </a:rPr>
              <a:t>文法的定义</a:t>
            </a:r>
          </a:p>
        </p:txBody>
      </p:sp>
    </p:spTree>
    <p:extLst>
      <p:ext uri="{BB962C8B-B14F-4D97-AF65-F5344CB8AC3E}">
        <p14:creationId xmlns:p14="http://schemas.microsoft.com/office/powerpoint/2010/main" val="33078101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82275">
                                            <p:bg/>
                                          </p:spTgt>
                                        </p:tgtEl>
                                        <p:attrNameLst>
                                          <p:attrName>style.visibility</p:attrName>
                                        </p:attrNameLst>
                                      </p:cBhvr>
                                      <p:to>
                                        <p:strVal val="visible"/>
                                      </p:to>
                                    </p:set>
                                    <p:animEffect transition="in" filter="strips(downLeft)">
                                      <p:cBhvr>
                                        <p:cTn id="7" dur="500"/>
                                        <p:tgtEl>
                                          <p:spTgt spid="182275">
                                            <p:bg/>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182275">
                                            <p:txEl>
                                              <p:pRg st="1" end="1"/>
                                            </p:txEl>
                                          </p:spTgt>
                                        </p:tgtEl>
                                        <p:attrNameLst>
                                          <p:attrName>style.visibility</p:attrName>
                                        </p:attrNameLst>
                                      </p:cBhvr>
                                      <p:to>
                                        <p:strVal val="visible"/>
                                      </p:to>
                                    </p:set>
                                    <p:animEffect transition="in" filter="strips(downLeft)">
                                      <p:cBhvr>
                                        <p:cTn id="12" dur="500"/>
                                        <p:tgtEl>
                                          <p:spTgt spid="182275">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grpId="0" nodeType="clickEffect">
                                  <p:stCondLst>
                                    <p:cond delay="0"/>
                                  </p:stCondLst>
                                  <p:childTnLst>
                                    <p:set>
                                      <p:cBhvr>
                                        <p:cTn id="16" dur="1" fill="hold">
                                          <p:stCondLst>
                                            <p:cond delay="0"/>
                                          </p:stCondLst>
                                        </p:cTn>
                                        <p:tgtEl>
                                          <p:spTgt spid="182275">
                                            <p:txEl>
                                              <p:pRg st="2" end="2"/>
                                            </p:txEl>
                                          </p:spTgt>
                                        </p:tgtEl>
                                        <p:attrNameLst>
                                          <p:attrName>style.visibility</p:attrName>
                                        </p:attrNameLst>
                                      </p:cBhvr>
                                      <p:to>
                                        <p:strVal val="visible"/>
                                      </p:to>
                                    </p:set>
                                    <p:animEffect transition="in" filter="strips(downLeft)">
                                      <p:cBhvr>
                                        <p:cTn id="17" dur="500"/>
                                        <p:tgtEl>
                                          <p:spTgt spid="182275">
                                            <p:txEl>
                                              <p:pRg st="2" end="2"/>
                                            </p:txEl>
                                          </p:spTgt>
                                        </p:tgtEl>
                                      </p:cBhvr>
                                    </p:animEffect>
                                  </p:childTnLst>
                                </p:cTn>
                              </p:par>
                              <p:par>
                                <p:cTn id="18" presetID="18" presetClass="entr" presetSubtype="12" fill="hold" grpId="0" nodeType="withEffect">
                                  <p:stCondLst>
                                    <p:cond delay="0"/>
                                  </p:stCondLst>
                                  <p:childTnLst>
                                    <p:set>
                                      <p:cBhvr>
                                        <p:cTn id="19" dur="1" fill="hold">
                                          <p:stCondLst>
                                            <p:cond delay="0"/>
                                          </p:stCondLst>
                                        </p:cTn>
                                        <p:tgtEl>
                                          <p:spTgt spid="182275">
                                            <p:txEl>
                                              <p:pRg st="3" end="3"/>
                                            </p:txEl>
                                          </p:spTgt>
                                        </p:tgtEl>
                                        <p:attrNameLst>
                                          <p:attrName>style.visibility</p:attrName>
                                        </p:attrNameLst>
                                      </p:cBhvr>
                                      <p:to>
                                        <p:strVal val="visible"/>
                                      </p:to>
                                    </p:set>
                                    <p:animEffect transition="in" filter="strips(downLeft)">
                                      <p:cBhvr>
                                        <p:cTn id="20" dur="500"/>
                                        <p:tgtEl>
                                          <p:spTgt spid="182275">
                                            <p:txEl>
                                              <p:pRg st="3" end="3"/>
                                            </p:txEl>
                                          </p:spTgt>
                                        </p:tgtEl>
                                      </p:cBhvr>
                                    </p:animEffect>
                                  </p:childTnLst>
                                </p:cTn>
                              </p:par>
                              <p:par>
                                <p:cTn id="21" presetID="18" presetClass="entr" presetSubtype="12" fill="hold" grpId="0" nodeType="withEffect">
                                  <p:stCondLst>
                                    <p:cond delay="0"/>
                                  </p:stCondLst>
                                  <p:childTnLst>
                                    <p:set>
                                      <p:cBhvr>
                                        <p:cTn id="22" dur="1" fill="hold">
                                          <p:stCondLst>
                                            <p:cond delay="0"/>
                                          </p:stCondLst>
                                        </p:cTn>
                                        <p:tgtEl>
                                          <p:spTgt spid="182275">
                                            <p:txEl>
                                              <p:pRg st="4" end="4"/>
                                            </p:txEl>
                                          </p:spTgt>
                                        </p:tgtEl>
                                        <p:attrNameLst>
                                          <p:attrName>style.visibility</p:attrName>
                                        </p:attrNameLst>
                                      </p:cBhvr>
                                      <p:to>
                                        <p:strVal val="visible"/>
                                      </p:to>
                                    </p:set>
                                    <p:animEffect transition="in" filter="strips(downLeft)">
                                      <p:cBhvr>
                                        <p:cTn id="23" dur="500"/>
                                        <p:tgtEl>
                                          <p:spTgt spid="182275">
                                            <p:txEl>
                                              <p:pRg st="4" end="4"/>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8" presetClass="entr" presetSubtype="12" fill="hold" grpId="0" nodeType="clickEffect">
                                  <p:stCondLst>
                                    <p:cond delay="0"/>
                                  </p:stCondLst>
                                  <p:childTnLst>
                                    <p:set>
                                      <p:cBhvr>
                                        <p:cTn id="27" dur="1" fill="hold">
                                          <p:stCondLst>
                                            <p:cond delay="0"/>
                                          </p:stCondLst>
                                        </p:cTn>
                                        <p:tgtEl>
                                          <p:spTgt spid="182275">
                                            <p:txEl>
                                              <p:pRg st="5" end="5"/>
                                            </p:txEl>
                                          </p:spTgt>
                                        </p:tgtEl>
                                        <p:attrNameLst>
                                          <p:attrName>style.visibility</p:attrName>
                                        </p:attrNameLst>
                                      </p:cBhvr>
                                      <p:to>
                                        <p:strVal val="visible"/>
                                      </p:to>
                                    </p:set>
                                    <p:animEffect transition="in" filter="strips(downLeft)">
                                      <p:cBhvr>
                                        <p:cTn id="28" dur="500"/>
                                        <p:tgtEl>
                                          <p:spTgt spid="182275">
                                            <p:txEl>
                                              <p:pRg st="5" end="5"/>
                                            </p:txEl>
                                          </p:spTgt>
                                        </p:tgtEl>
                                      </p:cBhvr>
                                    </p:animEffect>
                                  </p:childTnLst>
                                </p:cTn>
                              </p:par>
                              <p:par>
                                <p:cTn id="29" presetID="18" presetClass="entr" presetSubtype="12" fill="hold" grpId="0" nodeType="withEffect">
                                  <p:stCondLst>
                                    <p:cond delay="0"/>
                                  </p:stCondLst>
                                  <p:childTnLst>
                                    <p:set>
                                      <p:cBhvr>
                                        <p:cTn id="30" dur="1" fill="hold">
                                          <p:stCondLst>
                                            <p:cond delay="0"/>
                                          </p:stCondLst>
                                        </p:cTn>
                                        <p:tgtEl>
                                          <p:spTgt spid="182275">
                                            <p:txEl>
                                              <p:pRg st="6" end="6"/>
                                            </p:txEl>
                                          </p:spTgt>
                                        </p:tgtEl>
                                        <p:attrNameLst>
                                          <p:attrName>style.visibility</p:attrName>
                                        </p:attrNameLst>
                                      </p:cBhvr>
                                      <p:to>
                                        <p:strVal val="visible"/>
                                      </p:to>
                                    </p:set>
                                    <p:animEffect transition="in" filter="strips(downLeft)">
                                      <p:cBhvr>
                                        <p:cTn id="31" dur="500"/>
                                        <p:tgtEl>
                                          <p:spTgt spid="18227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275" grpId="0" build="p" bldLvl="2"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a:xfrm>
            <a:off x="671513" y="185738"/>
            <a:ext cx="7772400" cy="857250"/>
          </a:xfrm>
        </p:spPr>
        <p:txBody>
          <a:bodyPr/>
          <a:lstStyle/>
          <a:p>
            <a:pPr eaLnBrk="1" hangingPunct="1"/>
            <a:r>
              <a:rPr lang="en-US" altLang="zh-CN" b="1">
                <a:solidFill>
                  <a:schemeClr val="accent2"/>
                </a:solidFill>
                <a:ea typeface="华文行楷" pitchFamily="2" charset="-122"/>
              </a:rPr>
              <a:t>LL(1)</a:t>
            </a:r>
            <a:r>
              <a:rPr lang="zh-CN" altLang="en-US" b="1">
                <a:solidFill>
                  <a:schemeClr val="accent2"/>
                </a:solidFill>
                <a:ea typeface="华文行楷" pitchFamily="2" charset="-122"/>
              </a:rPr>
              <a:t>文法的判别</a:t>
            </a:r>
            <a:r>
              <a:rPr lang="zh-CN" altLang="en-US"/>
              <a:t> </a:t>
            </a:r>
          </a:p>
        </p:txBody>
      </p:sp>
      <p:sp>
        <p:nvSpPr>
          <p:cNvPr id="215043" name="Rectangle 3"/>
          <p:cNvSpPr>
            <a:spLocks noChangeArrowheads="1"/>
          </p:cNvSpPr>
          <p:nvPr/>
        </p:nvSpPr>
        <p:spPr bwMode="auto">
          <a:xfrm>
            <a:off x="584200" y="1204287"/>
            <a:ext cx="7974013" cy="34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7188" indent="-357188">
              <a:spcBef>
                <a:spcPct val="20000"/>
              </a:spcBef>
              <a:buChar char="•"/>
              <a:defRPr kumimoji="1" sz="3200">
                <a:solidFill>
                  <a:schemeClr val="tx1"/>
                </a:solidFill>
                <a:latin typeface="Times New Roman" pitchFamily="18" charset="0"/>
                <a:ea typeface="宋体" pitchFamily="2" charset="-122"/>
              </a:defRPr>
            </a:lvl1pPr>
            <a:lvl2pPr marL="898525" indent="-3619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400" dirty="0">
                <a:latin typeface="宋体" pitchFamily="2" charset="-122"/>
              </a:rPr>
              <a:t>根据 </a:t>
            </a:r>
            <a:r>
              <a:rPr lang="en-US" altLang="zh-CN" sz="2400" dirty="0">
                <a:latin typeface="宋体" pitchFamily="2" charset="-122"/>
              </a:rPr>
              <a:t>LL(1)</a:t>
            </a:r>
            <a:r>
              <a:rPr lang="zh-CN" altLang="en-US" sz="2400" dirty="0">
                <a:latin typeface="宋体" pitchFamily="2" charset="-122"/>
              </a:rPr>
              <a:t>的三个条件来判断</a:t>
            </a:r>
            <a:r>
              <a:rPr lang="en-US" altLang="zh-CN" sz="2400" dirty="0">
                <a:latin typeface="宋体" pitchFamily="2" charset="-122"/>
              </a:rPr>
              <a:t>.</a:t>
            </a:r>
          </a:p>
          <a:p>
            <a:pPr eaLnBrk="1" hangingPunct="1">
              <a:spcBef>
                <a:spcPct val="0"/>
              </a:spcBef>
            </a:pPr>
            <a:r>
              <a:rPr lang="zh-CN" altLang="en-US" sz="2400" dirty="0">
                <a:latin typeface="宋体" pitchFamily="2" charset="-122"/>
              </a:rPr>
              <a:t>判别步骤</a:t>
            </a:r>
            <a:r>
              <a:rPr lang="en-US" altLang="zh-CN" sz="2400" dirty="0">
                <a:latin typeface="宋体" pitchFamily="2" charset="-122"/>
              </a:rPr>
              <a:t>:</a:t>
            </a:r>
          </a:p>
          <a:p>
            <a:pPr lvl="1">
              <a:spcBef>
                <a:spcPct val="0"/>
              </a:spcBef>
              <a:buFontTx/>
              <a:buChar char="•"/>
            </a:pPr>
            <a:r>
              <a:rPr lang="en-US" altLang="zh-CN" dirty="0">
                <a:ea typeface="华文行楷" pitchFamily="2" charset="-122"/>
              </a:rPr>
              <a:t>1. </a:t>
            </a:r>
            <a:r>
              <a:rPr lang="zh-CN" altLang="en-US" dirty="0">
                <a:ea typeface="华文行楷" pitchFamily="2" charset="-122"/>
              </a:rPr>
              <a:t>首先检查是否含有左递归</a:t>
            </a:r>
          </a:p>
          <a:p>
            <a:pPr lvl="1">
              <a:spcBef>
                <a:spcPct val="0"/>
              </a:spcBef>
              <a:buFontTx/>
              <a:buChar char="•"/>
            </a:pPr>
            <a:r>
              <a:rPr lang="en-US" altLang="zh-CN" dirty="0">
                <a:ea typeface="华文行楷" pitchFamily="2" charset="-122"/>
              </a:rPr>
              <a:t>2. </a:t>
            </a:r>
            <a:r>
              <a:rPr lang="zh-CN" altLang="en-US" dirty="0">
                <a:ea typeface="华文行楷" pitchFamily="2" charset="-122"/>
              </a:rPr>
              <a:t>若无，计算</a:t>
            </a:r>
            <a:r>
              <a:rPr lang="en-US" altLang="zh-CN" dirty="0">
                <a:ea typeface="华文行楷" pitchFamily="2" charset="-122"/>
              </a:rPr>
              <a:t>First</a:t>
            </a:r>
            <a:r>
              <a:rPr lang="zh-CN" altLang="en-US" dirty="0">
                <a:ea typeface="华文行楷" pitchFamily="2" charset="-122"/>
              </a:rPr>
              <a:t>集</a:t>
            </a:r>
            <a:r>
              <a:rPr lang="en-US" altLang="zh-CN" dirty="0">
                <a:ea typeface="华文行楷" pitchFamily="2" charset="-122"/>
              </a:rPr>
              <a:t>, </a:t>
            </a:r>
            <a:r>
              <a:rPr lang="zh-CN" altLang="en-US" dirty="0">
                <a:ea typeface="华文行楷" pitchFamily="2" charset="-122"/>
              </a:rPr>
              <a:t>判别是否满足条件</a:t>
            </a:r>
            <a:r>
              <a:rPr lang="en-US" altLang="zh-CN" dirty="0">
                <a:ea typeface="华文行楷" pitchFamily="2" charset="-122"/>
              </a:rPr>
              <a:t>2(</a:t>
            </a:r>
            <a:r>
              <a:rPr lang="zh-CN" altLang="en-US" dirty="0">
                <a:ea typeface="华文行楷" pitchFamily="2" charset="-122"/>
              </a:rPr>
              <a:t>即是否有回溯</a:t>
            </a:r>
            <a:r>
              <a:rPr lang="en-US" altLang="zh-CN" dirty="0">
                <a:ea typeface="华文行楷" pitchFamily="2" charset="-122"/>
              </a:rPr>
              <a:t>)</a:t>
            </a:r>
          </a:p>
          <a:p>
            <a:pPr lvl="1">
              <a:spcBef>
                <a:spcPct val="0"/>
              </a:spcBef>
              <a:buFontTx/>
              <a:buChar char="•"/>
            </a:pPr>
            <a:r>
              <a:rPr lang="en-US" altLang="zh-CN" dirty="0">
                <a:ea typeface="华文行楷" pitchFamily="2" charset="-122"/>
              </a:rPr>
              <a:t>3. </a:t>
            </a:r>
            <a:r>
              <a:rPr lang="zh-CN" altLang="en-US" dirty="0">
                <a:ea typeface="华文行楷" pitchFamily="2" charset="-122"/>
              </a:rPr>
              <a:t>若存在某个</a:t>
            </a:r>
            <a:r>
              <a:rPr lang="en-US" altLang="zh-CN" dirty="0">
                <a:ea typeface="华文行楷" pitchFamily="2" charset="-122"/>
              </a:rPr>
              <a:t>A</a:t>
            </a:r>
            <a:r>
              <a:rPr lang="en-US" altLang="zh-CN" dirty="0">
                <a:ea typeface="华文行楷" pitchFamily="2" charset="-122"/>
                <a:sym typeface="Wingdings" pitchFamily="2" charset="2"/>
              </a:rPr>
              <a:t>=&gt;</a:t>
            </a:r>
            <a:r>
              <a:rPr lang="en-US" altLang="zh-CN" dirty="0"/>
              <a:t>ε</a:t>
            </a:r>
            <a:r>
              <a:rPr lang="en-US" altLang="zh-CN" dirty="0">
                <a:ea typeface="华文行楷" pitchFamily="2" charset="-122"/>
              </a:rPr>
              <a:t>,</a:t>
            </a:r>
            <a:r>
              <a:rPr lang="zh-CN" altLang="en-US" dirty="0">
                <a:ea typeface="华文行楷" pitchFamily="2" charset="-122"/>
              </a:rPr>
              <a:t>求</a:t>
            </a:r>
            <a:r>
              <a:rPr lang="en-US" altLang="zh-CN" dirty="0">
                <a:ea typeface="华文行楷" pitchFamily="2" charset="-122"/>
              </a:rPr>
              <a:t>A</a:t>
            </a:r>
            <a:r>
              <a:rPr lang="zh-CN" altLang="en-US" dirty="0">
                <a:ea typeface="华文行楷" pitchFamily="2" charset="-122"/>
              </a:rPr>
              <a:t>的</a:t>
            </a:r>
            <a:r>
              <a:rPr lang="zh-CN" altLang="en-US" dirty="0">
                <a:ea typeface="华文行楷" pitchFamily="2" charset="-122"/>
                <a:sym typeface="Wingdings" pitchFamily="2" charset="2"/>
              </a:rPr>
              <a:t> </a:t>
            </a:r>
            <a:r>
              <a:rPr lang="en-US" altLang="zh-CN" dirty="0">
                <a:ea typeface="华文行楷" pitchFamily="2" charset="-122"/>
              </a:rPr>
              <a:t>Follow</a:t>
            </a:r>
            <a:r>
              <a:rPr lang="zh-CN" altLang="en-US" dirty="0">
                <a:ea typeface="华文行楷" pitchFamily="2" charset="-122"/>
              </a:rPr>
              <a:t>集</a:t>
            </a:r>
            <a:r>
              <a:rPr lang="zh-CN" altLang="en-US" sz="3200" dirty="0">
                <a:latin typeface="宋体" pitchFamily="2" charset="-122"/>
              </a:rPr>
              <a:t>，</a:t>
            </a:r>
            <a:r>
              <a:rPr lang="zh-CN" altLang="en-US" dirty="0">
                <a:ea typeface="华文行楷" pitchFamily="2" charset="-122"/>
              </a:rPr>
              <a:t>并判别条件 </a:t>
            </a:r>
            <a:r>
              <a:rPr lang="en-US" altLang="zh-CN" dirty="0">
                <a:ea typeface="华文行楷" pitchFamily="2" charset="-122"/>
              </a:rPr>
              <a:t>(3) </a:t>
            </a:r>
            <a:r>
              <a:rPr lang="zh-CN" altLang="en-US" dirty="0">
                <a:ea typeface="华文行楷" pitchFamily="2" charset="-122"/>
              </a:rPr>
              <a:t>是否满足</a:t>
            </a:r>
            <a:r>
              <a:rPr lang="en-US" altLang="zh-CN" dirty="0">
                <a:ea typeface="华文行楷" pitchFamily="2" charset="-122"/>
              </a:rPr>
              <a:t>(</a:t>
            </a:r>
            <a:r>
              <a:rPr lang="zh-CN" altLang="en-US" dirty="0">
                <a:ea typeface="华文行楷" pitchFamily="2" charset="-122"/>
              </a:rPr>
              <a:t>是否可以使用</a:t>
            </a:r>
            <a:r>
              <a:rPr lang="en-US" altLang="zh-CN" dirty="0">
                <a:ea typeface="华文行楷" pitchFamily="2" charset="-122"/>
              </a:rPr>
              <a:t>ε</a:t>
            </a:r>
            <a:r>
              <a:rPr lang="en-US" altLang="zh-CN" sz="2000" dirty="0">
                <a:ea typeface="华文行楷" pitchFamily="2" charset="-122"/>
              </a:rPr>
              <a:t>-</a:t>
            </a:r>
            <a:r>
              <a:rPr lang="zh-CN" altLang="en-US" dirty="0">
                <a:ea typeface="华文行楷" pitchFamily="2" charset="-122"/>
              </a:rPr>
              <a:t>产生式进行匹配</a:t>
            </a:r>
            <a:r>
              <a:rPr lang="en-US" altLang="zh-CN" dirty="0">
                <a:ea typeface="华文行楷" pitchFamily="2" charset="-122"/>
              </a:rPr>
              <a:t>)</a:t>
            </a:r>
          </a:p>
        </p:txBody>
      </p:sp>
      <p:sp>
        <p:nvSpPr>
          <p:cNvPr id="75780" name="Text Box 4"/>
          <p:cNvSpPr txBox="1">
            <a:spLocks noChangeArrowheads="1"/>
          </p:cNvSpPr>
          <p:nvPr/>
        </p:nvSpPr>
        <p:spPr bwMode="auto">
          <a:xfrm>
            <a:off x="3867150" y="3154098"/>
            <a:ext cx="533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Tree>
    <p:extLst>
      <p:ext uri="{BB962C8B-B14F-4D97-AF65-F5344CB8AC3E}">
        <p14:creationId xmlns:p14="http://schemas.microsoft.com/office/powerpoint/2010/main" val="27116408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504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15043">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499"/>
                                          </p:stCondLst>
                                        </p:cTn>
                                        <p:tgtEl>
                                          <p:spTgt spid="215043">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21504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21504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43" grpId="0" build="p" autoUpdateAnimBg="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8" name="Rectangle 4"/>
          <p:cNvSpPr>
            <a:spLocks noChangeArrowheads="1"/>
          </p:cNvSpPr>
          <p:nvPr/>
        </p:nvSpPr>
        <p:spPr bwMode="auto">
          <a:xfrm>
            <a:off x="539552" y="1059582"/>
            <a:ext cx="8335963" cy="3681008"/>
          </a:xfrm>
          <a:prstGeom prst="rect">
            <a:avLst/>
          </a:prstGeom>
          <a:solidFill>
            <a:schemeClr val="bg1"/>
          </a:solidFill>
          <a:ln w="9525">
            <a:noFill/>
            <a:miter lim="800000"/>
            <a:headEnd/>
            <a:tailEnd/>
          </a:ln>
          <a:effectLst/>
        </p:spPr>
        <p:txBody>
          <a:bodyPr>
            <a:spAutoFit/>
          </a:bodyPr>
          <a:lstStyle>
            <a:lvl1pPr>
              <a:defRPr kumimoji="1" sz="2400">
                <a:solidFill>
                  <a:schemeClr val="tx1"/>
                </a:solidFill>
                <a:latin typeface="Times New Roman" pitchFamily="18" charset="0"/>
                <a:ea typeface="华文行楷" pitchFamily="2" charset="-122"/>
              </a:defRPr>
            </a:lvl1pPr>
            <a:lvl2pPr marL="742950" indent="-285750">
              <a:defRPr kumimoji="1" sz="2400">
                <a:solidFill>
                  <a:schemeClr val="tx1"/>
                </a:solidFill>
                <a:latin typeface="Times New Roman" pitchFamily="18" charset="0"/>
                <a:ea typeface="华文行楷" pitchFamily="2" charset="-122"/>
              </a:defRPr>
            </a:lvl2pPr>
            <a:lvl3pPr marL="1143000" indent="-228600">
              <a:defRPr kumimoji="1" sz="2400">
                <a:solidFill>
                  <a:schemeClr val="tx1"/>
                </a:solidFill>
                <a:latin typeface="Times New Roman" pitchFamily="18" charset="0"/>
                <a:ea typeface="华文行楷" pitchFamily="2" charset="-122"/>
              </a:defRPr>
            </a:lvl3pPr>
            <a:lvl4pPr marL="1600200" indent="-228600">
              <a:defRPr kumimoji="1" sz="2400">
                <a:solidFill>
                  <a:schemeClr val="tx1"/>
                </a:solidFill>
                <a:latin typeface="Times New Roman" pitchFamily="18" charset="0"/>
                <a:ea typeface="华文行楷" pitchFamily="2" charset="-122"/>
              </a:defRPr>
            </a:lvl4pPr>
            <a:lvl5pPr marL="2057400" indent="-228600">
              <a:defRPr kumimoji="1" sz="2400">
                <a:solidFill>
                  <a:schemeClr val="tx1"/>
                </a:solidFill>
                <a:latin typeface="Times New Roman" pitchFamily="18" charset="0"/>
                <a:ea typeface="华文行楷" pitchFamily="2"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华文行楷" pitchFamily="2"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华文行楷" pitchFamily="2"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华文行楷" pitchFamily="2"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华文行楷" pitchFamily="2" charset="-122"/>
              </a:defRPr>
            </a:lvl9pPr>
          </a:lstStyle>
          <a:p>
            <a:pPr eaLnBrk="1" hangingPunct="1">
              <a:spcBef>
                <a:spcPct val="20000"/>
              </a:spcBef>
              <a:defRPr/>
            </a:pPr>
            <a:r>
              <a:rPr lang="zh-CN" altLang="en-US" sz="2200" dirty="0">
                <a:latin typeface="宋体" pitchFamily="2" charset="-122"/>
                <a:ea typeface="宋体" pitchFamily="2" charset="-122"/>
              </a:rPr>
              <a:t>   </a:t>
            </a:r>
            <a:r>
              <a:rPr lang="en-US" altLang="zh-CN" sz="2200" dirty="0">
                <a:latin typeface="宋体" pitchFamily="2" charset="-122"/>
                <a:ea typeface="宋体" pitchFamily="2" charset="-122"/>
              </a:rPr>
              <a:t>(1) </a:t>
            </a:r>
            <a:r>
              <a:rPr lang="zh-CN" altLang="en-US" sz="2200" dirty="0">
                <a:latin typeface="宋体" pitchFamily="2" charset="-122"/>
                <a:ea typeface="宋体" pitchFamily="2" charset="-122"/>
              </a:rPr>
              <a:t>该文法不含左递归</a:t>
            </a:r>
          </a:p>
          <a:p>
            <a:pPr eaLnBrk="1" hangingPunct="1">
              <a:spcBef>
                <a:spcPct val="20000"/>
              </a:spcBef>
              <a:defRPr/>
            </a:pPr>
            <a:r>
              <a:rPr lang="zh-CN" altLang="en-US" sz="2200" dirty="0">
                <a:latin typeface="宋体" pitchFamily="2" charset="-122"/>
                <a:ea typeface="宋体" pitchFamily="2" charset="-122"/>
              </a:rPr>
              <a:t>   </a:t>
            </a:r>
            <a:r>
              <a:rPr lang="en-US" altLang="zh-CN" sz="2200" dirty="0">
                <a:latin typeface="宋体" pitchFamily="2" charset="-122"/>
                <a:ea typeface="宋体" pitchFamily="2" charset="-122"/>
              </a:rPr>
              <a:t>(2) First</a:t>
            </a:r>
            <a:r>
              <a:rPr lang="en-US" altLang="zh-CN" sz="2200" dirty="0">
                <a:solidFill>
                  <a:srgbClr val="000000"/>
                </a:solidFill>
                <a:latin typeface="宋体" pitchFamily="2" charset="-122"/>
                <a:ea typeface="宋体" pitchFamily="2" charset="-122"/>
              </a:rPr>
              <a:t>(</a:t>
            </a:r>
            <a:r>
              <a:rPr lang="en-US" altLang="zh-CN" sz="2200" dirty="0" err="1">
                <a:solidFill>
                  <a:srgbClr val="000000"/>
                </a:solidFill>
                <a:latin typeface="宋体" pitchFamily="2" charset="-122"/>
                <a:ea typeface="宋体" pitchFamily="2" charset="-122"/>
              </a:rPr>
              <a:t>S</a:t>
            </a:r>
            <a:r>
              <a:rPr lang="en-US" altLang="zh-CN" sz="2200" dirty="0" err="1">
                <a:latin typeface="宋体" pitchFamily="2" charset="-122"/>
                <a:ea typeface="宋体" pitchFamily="2" charset="-122"/>
                <a:sym typeface="Wingdings" pitchFamily="2" charset="2"/>
              </a:rPr>
              <a:t></a:t>
            </a:r>
            <a:r>
              <a:rPr lang="en-US" altLang="zh-CN" sz="2200" dirty="0" err="1">
                <a:solidFill>
                  <a:srgbClr val="000000"/>
                </a:solidFill>
                <a:latin typeface="宋体" pitchFamily="2" charset="-122"/>
                <a:ea typeface="宋体" pitchFamily="2" charset="-122"/>
              </a:rPr>
              <a:t>aAS</a:t>
            </a:r>
            <a:r>
              <a:rPr lang="en-US" altLang="zh-CN" sz="2200" dirty="0">
                <a:solidFill>
                  <a:srgbClr val="000000"/>
                </a:solidFill>
                <a:latin typeface="宋体" pitchFamily="2" charset="-122"/>
                <a:ea typeface="宋体" pitchFamily="2" charset="-122"/>
              </a:rPr>
              <a:t>)={a}</a:t>
            </a:r>
            <a:r>
              <a:rPr lang="en-US" altLang="zh-CN" sz="2200" dirty="0">
                <a:latin typeface="宋体" pitchFamily="2" charset="-122"/>
                <a:ea typeface="宋体" pitchFamily="2" charset="-122"/>
              </a:rPr>
              <a:t>  First</a:t>
            </a:r>
            <a:r>
              <a:rPr lang="en-US" altLang="zh-CN" sz="2200" dirty="0">
                <a:solidFill>
                  <a:srgbClr val="000000"/>
                </a:solidFill>
                <a:latin typeface="宋体" pitchFamily="2" charset="-122"/>
                <a:ea typeface="宋体" pitchFamily="2" charset="-122"/>
              </a:rPr>
              <a:t>(</a:t>
            </a:r>
            <a:r>
              <a:rPr lang="en-US" altLang="zh-CN" sz="2200" dirty="0" err="1">
                <a:solidFill>
                  <a:srgbClr val="000000"/>
                </a:solidFill>
                <a:latin typeface="宋体" pitchFamily="2" charset="-122"/>
                <a:ea typeface="宋体" pitchFamily="2" charset="-122"/>
              </a:rPr>
              <a:t>S</a:t>
            </a:r>
            <a:r>
              <a:rPr lang="en-US" altLang="zh-CN" sz="2200" dirty="0" err="1">
                <a:solidFill>
                  <a:srgbClr val="000000"/>
                </a:solidFill>
                <a:latin typeface="宋体" pitchFamily="2" charset="-122"/>
                <a:ea typeface="宋体" pitchFamily="2" charset="-122"/>
                <a:sym typeface="Wingdings" pitchFamily="2" charset="2"/>
              </a:rPr>
              <a:t></a:t>
            </a:r>
            <a:r>
              <a:rPr lang="en-US" altLang="zh-CN" sz="2200" dirty="0" err="1">
                <a:solidFill>
                  <a:srgbClr val="000000"/>
                </a:solidFill>
                <a:latin typeface="宋体" pitchFamily="2" charset="-122"/>
                <a:ea typeface="宋体" pitchFamily="2" charset="-122"/>
              </a:rPr>
              <a:t>b</a:t>
            </a:r>
            <a:r>
              <a:rPr lang="en-US" altLang="zh-CN" sz="2200" dirty="0">
                <a:solidFill>
                  <a:srgbClr val="000000"/>
                </a:solidFill>
                <a:latin typeface="宋体" pitchFamily="2" charset="-122"/>
                <a:ea typeface="宋体" pitchFamily="2" charset="-122"/>
              </a:rPr>
              <a:t>)={b}</a:t>
            </a:r>
            <a:endParaRPr lang="en-US" altLang="zh-CN" sz="2200" dirty="0">
              <a:latin typeface="宋体" pitchFamily="2" charset="-122"/>
              <a:ea typeface="宋体" pitchFamily="2" charset="-122"/>
            </a:endParaRPr>
          </a:p>
          <a:p>
            <a:pPr eaLnBrk="1" hangingPunct="1">
              <a:spcBef>
                <a:spcPct val="20000"/>
              </a:spcBef>
              <a:defRPr/>
            </a:pPr>
            <a:r>
              <a:rPr lang="en-US" altLang="zh-CN" sz="2200" dirty="0">
                <a:latin typeface="宋体" pitchFamily="2" charset="-122"/>
                <a:ea typeface="宋体" pitchFamily="2" charset="-122"/>
              </a:rPr>
              <a:t>	First(</a:t>
            </a:r>
            <a:r>
              <a:rPr lang="en-US" altLang="zh-CN" sz="2200" dirty="0" err="1">
                <a:latin typeface="宋体" pitchFamily="2" charset="-122"/>
                <a:ea typeface="宋体" pitchFamily="2" charset="-122"/>
              </a:rPr>
              <a:t>A</a:t>
            </a:r>
            <a:r>
              <a:rPr lang="en-US" altLang="zh-CN" sz="2200" dirty="0" err="1">
                <a:latin typeface="宋体" pitchFamily="2" charset="-122"/>
                <a:ea typeface="宋体" pitchFamily="2" charset="-122"/>
                <a:sym typeface="Wingdings" pitchFamily="2" charset="2"/>
              </a:rPr>
              <a:t></a:t>
            </a:r>
            <a:r>
              <a:rPr lang="en-US" altLang="zh-CN" sz="2200" dirty="0" err="1">
                <a:latin typeface="宋体" pitchFamily="2" charset="-122"/>
                <a:ea typeface="宋体" pitchFamily="2" charset="-122"/>
              </a:rPr>
              <a:t>bA</a:t>
            </a:r>
            <a:r>
              <a:rPr lang="en-US" altLang="zh-CN" sz="2200" dirty="0">
                <a:latin typeface="宋体" pitchFamily="2" charset="-122"/>
                <a:ea typeface="宋体" pitchFamily="2" charset="-122"/>
              </a:rPr>
              <a:t>)={b}    First(</a:t>
            </a:r>
            <a:r>
              <a:rPr lang="en-US" altLang="zh-CN" sz="2200" dirty="0" err="1">
                <a:latin typeface="宋体" pitchFamily="2" charset="-122"/>
                <a:ea typeface="宋体" pitchFamily="2" charset="-122"/>
              </a:rPr>
              <a:t>A</a:t>
            </a:r>
            <a:r>
              <a:rPr lang="en-US" altLang="zh-CN" sz="2200" dirty="0" err="1">
                <a:latin typeface="宋体" pitchFamily="2" charset="-122"/>
                <a:ea typeface="宋体" pitchFamily="2" charset="-122"/>
                <a:sym typeface="Wingdings" pitchFamily="2" charset="2"/>
              </a:rPr>
              <a:t></a:t>
            </a:r>
            <a:r>
              <a:rPr lang="en-US" altLang="zh-CN" sz="2200" dirty="0" err="1">
                <a:latin typeface="宋体" pitchFamily="2" charset="-122"/>
                <a:ea typeface="宋体" pitchFamily="2" charset="-122"/>
              </a:rPr>
              <a:t>ε</a:t>
            </a:r>
            <a:r>
              <a:rPr lang="en-US" altLang="zh-CN" sz="2200" dirty="0">
                <a:latin typeface="宋体" pitchFamily="2" charset="-122"/>
                <a:ea typeface="宋体" pitchFamily="2" charset="-122"/>
              </a:rPr>
              <a:t>)={ε} </a:t>
            </a:r>
          </a:p>
          <a:p>
            <a:pPr eaLnBrk="1" hangingPunct="1">
              <a:spcBef>
                <a:spcPct val="20000"/>
              </a:spcBef>
              <a:defRPr/>
            </a:pPr>
            <a:r>
              <a:rPr lang="en-US" altLang="zh-CN" sz="2200" dirty="0">
                <a:latin typeface="宋体" pitchFamily="2" charset="-122"/>
                <a:ea typeface="宋体" pitchFamily="2" charset="-122"/>
              </a:rPr>
              <a:t>       S</a:t>
            </a:r>
            <a:r>
              <a:rPr lang="zh-CN" altLang="en-US" sz="2200" dirty="0">
                <a:latin typeface="宋体" pitchFamily="2" charset="-122"/>
                <a:ea typeface="宋体" pitchFamily="2" charset="-122"/>
              </a:rPr>
              <a:t>和</a:t>
            </a:r>
            <a:r>
              <a:rPr lang="en-US" altLang="zh-CN" sz="2200" dirty="0">
                <a:latin typeface="宋体" pitchFamily="2" charset="-122"/>
                <a:ea typeface="宋体" pitchFamily="2" charset="-122"/>
              </a:rPr>
              <a:t>A</a:t>
            </a:r>
            <a:r>
              <a:rPr lang="zh-CN" altLang="en-US" sz="2200" dirty="0">
                <a:latin typeface="宋体" pitchFamily="2" charset="-122"/>
                <a:ea typeface="宋体" pitchFamily="2" charset="-122"/>
              </a:rPr>
              <a:t>的侯选式的</a:t>
            </a:r>
            <a:r>
              <a:rPr lang="en-US" altLang="zh-CN" sz="2200" dirty="0">
                <a:latin typeface="宋体" pitchFamily="2" charset="-122"/>
                <a:ea typeface="宋体" pitchFamily="2" charset="-122"/>
              </a:rPr>
              <a:t>first</a:t>
            </a:r>
            <a:r>
              <a:rPr lang="zh-CN" altLang="en-US" sz="2200" dirty="0">
                <a:latin typeface="宋体" pitchFamily="2" charset="-122"/>
                <a:ea typeface="宋体" pitchFamily="2" charset="-122"/>
              </a:rPr>
              <a:t>集都不相交，满足条件</a:t>
            </a:r>
            <a:r>
              <a:rPr lang="en-US" altLang="zh-CN" sz="2200" dirty="0">
                <a:latin typeface="宋体" pitchFamily="2" charset="-122"/>
                <a:ea typeface="宋体" pitchFamily="2" charset="-122"/>
              </a:rPr>
              <a:t>2</a:t>
            </a:r>
          </a:p>
          <a:p>
            <a:pPr eaLnBrk="1" hangingPunct="1">
              <a:spcBef>
                <a:spcPct val="20000"/>
              </a:spcBef>
              <a:defRPr/>
            </a:pPr>
            <a:r>
              <a:rPr lang="en-US" altLang="zh-CN" sz="2200" dirty="0">
                <a:latin typeface="宋体" pitchFamily="2" charset="-122"/>
                <a:ea typeface="宋体" pitchFamily="2" charset="-122"/>
              </a:rPr>
              <a:t>   (3) </a:t>
            </a:r>
            <a:r>
              <a:rPr lang="zh-CN" altLang="en-US" sz="2200" dirty="0">
                <a:latin typeface="宋体" pitchFamily="2" charset="-122"/>
                <a:ea typeface="宋体" pitchFamily="2" charset="-122"/>
              </a:rPr>
              <a:t>由于 </a:t>
            </a:r>
            <a:r>
              <a:rPr lang="en-US" altLang="zh-CN" sz="2200" dirty="0" err="1"/>
              <a:t>ε∈First</a:t>
            </a:r>
            <a:r>
              <a:rPr lang="en-US" altLang="zh-CN" sz="2200" dirty="0"/>
              <a:t>(</a:t>
            </a:r>
            <a:r>
              <a:rPr lang="en-US" altLang="zh-CN" sz="2200" dirty="0" err="1"/>
              <a:t>A</a:t>
            </a:r>
            <a:r>
              <a:rPr lang="en-US" altLang="zh-CN" sz="2200" dirty="0" err="1">
                <a:sym typeface="Wingdings" pitchFamily="2" charset="2"/>
              </a:rPr>
              <a:t></a:t>
            </a:r>
            <a:r>
              <a:rPr lang="en-US" altLang="zh-CN" sz="2200" dirty="0" err="1"/>
              <a:t>ε</a:t>
            </a:r>
            <a:r>
              <a:rPr lang="en-US" altLang="zh-CN" sz="2200" dirty="0"/>
              <a:t>)</a:t>
            </a:r>
            <a:endParaRPr lang="en-US" altLang="zh-CN" sz="2200" dirty="0">
              <a:latin typeface="宋体" pitchFamily="2" charset="-122"/>
              <a:ea typeface="宋体" pitchFamily="2" charset="-122"/>
            </a:endParaRPr>
          </a:p>
          <a:p>
            <a:pPr eaLnBrk="1" hangingPunct="1">
              <a:spcBef>
                <a:spcPct val="20000"/>
              </a:spcBef>
              <a:defRPr/>
            </a:pPr>
            <a:r>
              <a:rPr lang="en-US" altLang="zh-CN" sz="2200" dirty="0">
                <a:latin typeface="宋体" pitchFamily="2" charset="-122"/>
                <a:ea typeface="宋体" pitchFamily="2" charset="-122"/>
              </a:rPr>
              <a:t>	  Follow(A)= First(S)={</a:t>
            </a:r>
            <a:r>
              <a:rPr lang="en-US" altLang="zh-CN" sz="2200" dirty="0" err="1">
                <a:latin typeface="宋体" pitchFamily="2" charset="-122"/>
                <a:ea typeface="宋体" pitchFamily="2" charset="-122"/>
              </a:rPr>
              <a:t>a,b</a:t>
            </a:r>
            <a:r>
              <a:rPr lang="en-US" altLang="zh-CN" sz="2200" dirty="0">
                <a:latin typeface="宋体" pitchFamily="2" charset="-122"/>
                <a:ea typeface="宋体" pitchFamily="2" charset="-122"/>
              </a:rPr>
              <a:t>} </a:t>
            </a:r>
          </a:p>
          <a:p>
            <a:pPr eaLnBrk="1" hangingPunct="1">
              <a:spcBef>
                <a:spcPct val="20000"/>
              </a:spcBef>
              <a:defRPr/>
            </a:pPr>
            <a:r>
              <a:rPr lang="en-US" altLang="zh-CN" sz="2200" dirty="0">
                <a:latin typeface="宋体" pitchFamily="2" charset="-122"/>
                <a:ea typeface="宋体" pitchFamily="2" charset="-122"/>
              </a:rPr>
              <a:t>        </a:t>
            </a:r>
            <a:r>
              <a:rPr lang="en-US" altLang="zh-CN" sz="2200" dirty="0"/>
              <a:t>First(A) = {b, ε}</a:t>
            </a:r>
            <a:r>
              <a:rPr lang="en-US" altLang="zh-CN" sz="2200" dirty="0">
                <a:latin typeface="宋体" pitchFamily="2" charset="-122"/>
                <a:ea typeface="宋体" pitchFamily="2" charset="-122"/>
              </a:rPr>
              <a:t> </a:t>
            </a:r>
          </a:p>
          <a:p>
            <a:pPr eaLnBrk="1" hangingPunct="1">
              <a:spcBef>
                <a:spcPct val="20000"/>
              </a:spcBef>
              <a:defRPr/>
            </a:pPr>
            <a:r>
              <a:rPr lang="en-US" altLang="zh-CN" sz="2200" dirty="0">
                <a:latin typeface="宋体" pitchFamily="2" charset="-122"/>
                <a:ea typeface="宋体" pitchFamily="2" charset="-122"/>
              </a:rPr>
              <a:t>        Follow(A) </a:t>
            </a:r>
            <a:r>
              <a:rPr lang="en-US" altLang="zh-CN" sz="2200" b="1" dirty="0">
                <a:effectLst>
                  <a:outerShdw blurRad="38100" dist="38100" dir="2700000" algn="tl">
                    <a:srgbClr val="C0C0C0"/>
                  </a:outerShdw>
                </a:effectLst>
                <a:ea typeface="宋体" pitchFamily="2" charset="-122"/>
              </a:rPr>
              <a:t>∩</a:t>
            </a:r>
            <a:r>
              <a:rPr lang="en-US" altLang="zh-CN" sz="2200" dirty="0">
                <a:latin typeface="宋体" pitchFamily="2" charset="-122"/>
                <a:ea typeface="宋体" pitchFamily="2" charset="-122"/>
              </a:rPr>
              <a:t> First(A) </a:t>
            </a:r>
            <a:r>
              <a:rPr lang="en-US" altLang="zh-CN" sz="2200" b="1" dirty="0">
                <a:ea typeface="宋体" pitchFamily="2" charset="-122"/>
              </a:rPr>
              <a:t>)</a:t>
            </a:r>
            <a:r>
              <a:rPr lang="en-US" altLang="zh-CN" sz="2200" b="1" dirty="0">
                <a:effectLst>
                  <a:outerShdw blurRad="38100" dist="38100" dir="2700000" algn="tl">
                    <a:srgbClr val="C0C0C0"/>
                  </a:outerShdw>
                </a:effectLst>
                <a:ea typeface="宋体" pitchFamily="2" charset="-122"/>
              </a:rPr>
              <a:t> </a:t>
            </a:r>
            <a:r>
              <a:rPr lang="en-US" altLang="zh-CN" sz="2200" dirty="0">
                <a:latin typeface="宋体" pitchFamily="2" charset="-122"/>
                <a:ea typeface="宋体" pitchFamily="2" charset="-122"/>
                <a:cs typeface="Times New Roman" pitchFamily="18" charset="0"/>
              </a:rPr>
              <a:t>≠</a:t>
            </a:r>
            <a:r>
              <a:rPr lang="en-US" altLang="zh-CN" sz="2200" dirty="0">
                <a:latin typeface="宋体" pitchFamily="2" charset="-122"/>
                <a:ea typeface="宋体" pitchFamily="2" charset="-122"/>
              </a:rPr>
              <a:t> φ</a:t>
            </a:r>
          </a:p>
          <a:p>
            <a:pPr eaLnBrk="1" hangingPunct="1">
              <a:spcBef>
                <a:spcPct val="20000"/>
              </a:spcBef>
              <a:defRPr/>
            </a:pPr>
            <a:r>
              <a:rPr lang="en-US" altLang="zh-CN" sz="2200" dirty="0">
                <a:latin typeface="宋体" pitchFamily="2" charset="-122"/>
                <a:ea typeface="宋体" pitchFamily="2" charset="-122"/>
              </a:rPr>
              <a:t>    </a:t>
            </a:r>
            <a:r>
              <a:rPr lang="zh-CN" altLang="en-US" sz="2200" dirty="0">
                <a:latin typeface="宋体" pitchFamily="2" charset="-122"/>
                <a:ea typeface="宋体" pitchFamily="2" charset="-122"/>
              </a:rPr>
              <a:t>不满足条件</a:t>
            </a:r>
            <a:r>
              <a:rPr lang="en-US" altLang="zh-CN" sz="2200" dirty="0">
                <a:latin typeface="宋体" pitchFamily="2" charset="-122"/>
                <a:ea typeface="宋体" pitchFamily="2" charset="-122"/>
              </a:rPr>
              <a:t>3</a:t>
            </a:r>
            <a:r>
              <a:rPr lang="zh-CN" altLang="en-US" sz="2200" dirty="0">
                <a:latin typeface="宋体" pitchFamily="2" charset="-122"/>
                <a:ea typeface="宋体" pitchFamily="2" charset="-122"/>
              </a:rPr>
              <a:t>，则不是</a:t>
            </a:r>
            <a:r>
              <a:rPr lang="en-US" altLang="zh-CN" sz="2200" dirty="0">
                <a:latin typeface="宋体" pitchFamily="2" charset="-122"/>
                <a:ea typeface="宋体" pitchFamily="2" charset="-122"/>
              </a:rPr>
              <a:t>LL(1)</a:t>
            </a:r>
            <a:r>
              <a:rPr lang="zh-CN" altLang="en-US" sz="2200" dirty="0">
                <a:latin typeface="宋体" pitchFamily="2" charset="-122"/>
                <a:ea typeface="宋体" pitchFamily="2" charset="-122"/>
              </a:rPr>
              <a:t>文法</a:t>
            </a:r>
          </a:p>
        </p:txBody>
      </p:sp>
      <p:sp>
        <p:nvSpPr>
          <p:cNvPr id="76802" name="Rectangle 3"/>
          <p:cNvSpPr>
            <a:spLocks noGrp="1" noChangeArrowheads="1"/>
          </p:cNvSpPr>
          <p:nvPr>
            <p:ph type="body" idx="1"/>
          </p:nvPr>
        </p:nvSpPr>
        <p:spPr>
          <a:xfrm>
            <a:off x="6084168" y="136627"/>
            <a:ext cx="1584176" cy="1296144"/>
          </a:xfrm>
        </p:spPr>
        <p:style>
          <a:lnRef idx="2">
            <a:schemeClr val="accent4"/>
          </a:lnRef>
          <a:fillRef idx="1">
            <a:schemeClr val="lt1"/>
          </a:fillRef>
          <a:effectRef idx="0">
            <a:schemeClr val="accent4"/>
          </a:effectRef>
          <a:fontRef idx="minor">
            <a:schemeClr val="dk1"/>
          </a:fontRef>
        </p:style>
        <p:txBody>
          <a:bodyPr>
            <a:noAutofit/>
          </a:bodyPr>
          <a:lstStyle/>
          <a:p>
            <a:pPr marL="84138" lvl="4" indent="0" eaLnBrk="1" hangingPunct="1">
              <a:lnSpc>
                <a:spcPct val="90000"/>
              </a:lnSpc>
              <a:spcBef>
                <a:spcPct val="0"/>
              </a:spcBef>
              <a:buFontTx/>
              <a:buNone/>
            </a:pPr>
            <a:r>
              <a:rPr lang="en-US" altLang="zh-CN" sz="2200" dirty="0">
                <a:solidFill>
                  <a:schemeClr val="accent2"/>
                </a:solidFill>
              </a:rPr>
              <a:t>S </a:t>
            </a:r>
            <a:r>
              <a:rPr lang="en-US" altLang="zh-CN" sz="2200" dirty="0">
                <a:solidFill>
                  <a:schemeClr val="accent2"/>
                </a:solidFill>
                <a:sym typeface="Wingdings" pitchFamily="2" charset="2"/>
              </a:rPr>
              <a:t> </a:t>
            </a:r>
            <a:r>
              <a:rPr lang="en-US" altLang="zh-CN" sz="2200" dirty="0" err="1">
                <a:solidFill>
                  <a:schemeClr val="accent2"/>
                </a:solidFill>
              </a:rPr>
              <a:t>aAS</a:t>
            </a:r>
            <a:br>
              <a:rPr lang="en-US" altLang="zh-CN" sz="2200" dirty="0">
                <a:solidFill>
                  <a:schemeClr val="accent2"/>
                </a:solidFill>
              </a:rPr>
            </a:br>
            <a:r>
              <a:rPr lang="en-US" altLang="zh-CN" sz="2200" dirty="0">
                <a:solidFill>
                  <a:schemeClr val="accent2"/>
                </a:solidFill>
              </a:rPr>
              <a:t>S </a:t>
            </a:r>
            <a:r>
              <a:rPr lang="en-US" altLang="zh-CN" sz="2200" dirty="0">
                <a:solidFill>
                  <a:schemeClr val="accent2"/>
                </a:solidFill>
                <a:sym typeface="Wingdings" pitchFamily="2" charset="2"/>
              </a:rPr>
              <a:t> </a:t>
            </a:r>
            <a:r>
              <a:rPr lang="en-US" altLang="zh-CN" sz="2200" dirty="0">
                <a:solidFill>
                  <a:schemeClr val="accent2"/>
                </a:solidFill>
              </a:rPr>
              <a:t>b</a:t>
            </a:r>
            <a:br>
              <a:rPr lang="en-US" altLang="zh-CN" sz="2200" dirty="0">
                <a:solidFill>
                  <a:schemeClr val="accent2"/>
                </a:solidFill>
              </a:rPr>
            </a:br>
            <a:r>
              <a:rPr lang="en-US" altLang="zh-CN" sz="2200" dirty="0">
                <a:solidFill>
                  <a:schemeClr val="accent2"/>
                </a:solidFill>
              </a:rPr>
              <a:t>A </a:t>
            </a:r>
            <a:r>
              <a:rPr lang="en-US" altLang="zh-CN" sz="2200" dirty="0">
                <a:solidFill>
                  <a:schemeClr val="accent2"/>
                </a:solidFill>
                <a:sym typeface="Wingdings" pitchFamily="2" charset="2"/>
              </a:rPr>
              <a:t> </a:t>
            </a:r>
            <a:r>
              <a:rPr lang="en-US" altLang="zh-CN" sz="2200" dirty="0" err="1">
                <a:solidFill>
                  <a:schemeClr val="accent2"/>
                </a:solidFill>
              </a:rPr>
              <a:t>bA</a:t>
            </a:r>
            <a:br>
              <a:rPr lang="en-US" altLang="zh-CN" sz="2200" dirty="0">
                <a:solidFill>
                  <a:schemeClr val="accent2"/>
                </a:solidFill>
              </a:rPr>
            </a:br>
            <a:r>
              <a:rPr lang="en-US" altLang="zh-CN" sz="2200" dirty="0">
                <a:solidFill>
                  <a:schemeClr val="accent2"/>
                </a:solidFill>
              </a:rPr>
              <a:t>A </a:t>
            </a:r>
            <a:r>
              <a:rPr lang="en-US" altLang="zh-CN" sz="2200" dirty="0">
                <a:solidFill>
                  <a:schemeClr val="accent2"/>
                </a:solidFill>
                <a:sym typeface="Wingdings" pitchFamily="2" charset="2"/>
              </a:rPr>
              <a:t></a:t>
            </a:r>
            <a:r>
              <a:rPr lang="en-US" altLang="zh-CN" sz="2200" dirty="0">
                <a:solidFill>
                  <a:schemeClr val="accent2"/>
                </a:solidFill>
              </a:rPr>
              <a:t>ε</a:t>
            </a:r>
            <a:endParaRPr lang="en-US" altLang="zh-CN" sz="2200" dirty="0">
              <a:ea typeface="华文行楷" pitchFamily="2" charset="-122"/>
            </a:endParaRPr>
          </a:p>
        </p:txBody>
      </p:sp>
      <p:sp>
        <p:nvSpPr>
          <p:cNvPr id="2" name="矩形 1"/>
          <p:cNvSpPr/>
          <p:nvPr/>
        </p:nvSpPr>
        <p:spPr>
          <a:xfrm>
            <a:off x="347192" y="361320"/>
            <a:ext cx="5688632" cy="397032"/>
          </a:xfrm>
          <a:prstGeom prst="rect">
            <a:avLst/>
          </a:prstGeom>
        </p:spPr>
        <p:txBody>
          <a:bodyPr wrap="square">
            <a:spAutoFit/>
          </a:bodyPr>
          <a:lstStyle/>
          <a:p>
            <a:pPr marL="365760" lvl="0" indent="-256032">
              <a:lnSpc>
                <a:spcPct val="90000"/>
              </a:lnSpc>
              <a:spcBef>
                <a:spcPts val="400"/>
              </a:spcBef>
              <a:buClr>
                <a:srgbClr val="2DA2BF"/>
              </a:buClr>
              <a:buSzPct val="68000"/>
              <a:buFont typeface="Wingdings 3"/>
              <a:buChar char=""/>
            </a:pPr>
            <a:r>
              <a:rPr lang="zh-CN" altLang="en-US" sz="2200" dirty="0">
                <a:solidFill>
                  <a:prstClr val="black"/>
                </a:solidFill>
                <a:ea typeface="华文行楷" pitchFamily="2" charset="-122"/>
              </a:rPr>
              <a:t>例：判断下述文法是否是</a:t>
            </a:r>
            <a:r>
              <a:rPr lang="en-US" altLang="zh-CN" sz="2200" dirty="0">
                <a:solidFill>
                  <a:prstClr val="black"/>
                </a:solidFill>
                <a:ea typeface="华文行楷" pitchFamily="2" charset="-122"/>
              </a:rPr>
              <a:t>LL(1)</a:t>
            </a:r>
            <a:r>
              <a:rPr lang="zh-CN" altLang="en-US" sz="2200" dirty="0">
                <a:solidFill>
                  <a:prstClr val="black"/>
                </a:solidFill>
                <a:ea typeface="华文行楷" pitchFamily="2" charset="-122"/>
              </a:rPr>
              <a:t>文法：</a:t>
            </a:r>
          </a:p>
        </p:txBody>
      </p:sp>
    </p:spTree>
    <p:extLst>
      <p:ext uri="{BB962C8B-B14F-4D97-AF65-F5344CB8AC3E}">
        <p14:creationId xmlns:p14="http://schemas.microsoft.com/office/powerpoint/2010/main" val="3508838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606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16068">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16068">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16068">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16068">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16068">
                                            <p:txEl>
                                              <p:pRg st="5" end="5"/>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216068">
                                            <p:txEl>
                                              <p:pRg st="6" end="6"/>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216068">
                                            <p:txEl>
                                              <p:pRg st="7" end="7"/>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216068">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068" grpId="0" uiExpand="1" build="p" autoUpdateAnimBg="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a:xfrm>
            <a:off x="685800" y="0"/>
            <a:ext cx="7772400" cy="693738"/>
          </a:xfrm>
        </p:spPr>
        <p:txBody>
          <a:bodyPr>
            <a:normAutofit fontScale="90000"/>
          </a:bodyPr>
          <a:lstStyle/>
          <a:p>
            <a:pPr eaLnBrk="1" hangingPunct="1"/>
            <a:r>
              <a:rPr lang="zh-CN" altLang="en-US" sz="5400">
                <a:solidFill>
                  <a:schemeClr val="tx1"/>
                </a:solidFill>
                <a:ea typeface="隶书" pitchFamily="49" charset="-122"/>
              </a:rPr>
              <a:t>练   习</a:t>
            </a:r>
          </a:p>
        </p:txBody>
      </p:sp>
      <p:sp>
        <p:nvSpPr>
          <p:cNvPr id="77827" name="Rectangle 4"/>
          <p:cNvSpPr>
            <a:spLocks noChangeArrowheads="1"/>
          </p:cNvSpPr>
          <p:nvPr/>
        </p:nvSpPr>
        <p:spPr bwMode="auto">
          <a:xfrm>
            <a:off x="339725" y="979488"/>
            <a:ext cx="5913438" cy="773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buFontTx/>
              <a:buNone/>
            </a:pPr>
            <a:r>
              <a:rPr lang="zh-CN" altLang="en-US">
                <a:solidFill>
                  <a:schemeClr val="accent2"/>
                </a:solidFill>
                <a:latin typeface="华文行楷" pitchFamily="2" charset="-122"/>
                <a:ea typeface="华文行楷" pitchFamily="2" charset="-122"/>
              </a:rPr>
              <a:t>判断给定的文法是否为</a:t>
            </a:r>
            <a:r>
              <a:rPr lang="en-US" altLang="zh-CN">
                <a:solidFill>
                  <a:schemeClr val="accent2"/>
                </a:solidFill>
                <a:latin typeface="华文行楷" pitchFamily="2" charset="-122"/>
                <a:ea typeface="华文行楷" pitchFamily="2" charset="-122"/>
              </a:rPr>
              <a:t>LL(1)</a:t>
            </a:r>
            <a:r>
              <a:rPr lang="zh-CN" altLang="en-US">
                <a:solidFill>
                  <a:schemeClr val="accent2"/>
                </a:solidFill>
                <a:latin typeface="华文行楷" pitchFamily="2" charset="-122"/>
                <a:ea typeface="华文行楷" pitchFamily="2" charset="-122"/>
              </a:rPr>
              <a:t>文法，若不是进行改造</a:t>
            </a:r>
          </a:p>
        </p:txBody>
      </p:sp>
      <p:sp>
        <p:nvSpPr>
          <p:cNvPr id="217093" name="Rectangle 5"/>
          <p:cNvSpPr>
            <a:spLocks noChangeArrowheads="1"/>
          </p:cNvSpPr>
          <p:nvPr/>
        </p:nvSpPr>
        <p:spPr bwMode="auto">
          <a:xfrm>
            <a:off x="496888" y="2022475"/>
            <a:ext cx="7916862" cy="1189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pPr>
            <a:r>
              <a:rPr lang="zh-CN" altLang="en-US" sz="2800">
                <a:latin typeface="宋体" pitchFamily="2" charset="-122"/>
              </a:rPr>
              <a:t>解答：</a:t>
            </a:r>
            <a:r>
              <a:rPr lang="en-US" altLang="zh-CN" sz="2800">
                <a:latin typeface="宋体" pitchFamily="2" charset="-122"/>
              </a:rPr>
              <a:t>First(A</a:t>
            </a:r>
            <a:r>
              <a:rPr lang="en-US" altLang="zh-CN" sz="2800">
                <a:latin typeface="宋体" pitchFamily="2" charset="-122"/>
                <a:sym typeface="Wingdings" pitchFamily="2" charset="2"/>
              </a:rPr>
              <a:t></a:t>
            </a:r>
            <a:r>
              <a:rPr lang="en-US" altLang="zh-CN" sz="2800">
                <a:latin typeface="宋体" pitchFamily="2" charset="-122"/>
              </a:rPr>
              <a:t>ab)={a} ;</a:t>
            </a:r>
          </a:p>
          <a:p>
            <a:pPr eaLnBrk="1" hangingPunct="1">
              <a:lnSpc>
                <a:spcPct val="90000"/>
              </a:lnSpc>
              <a:buFontTx/>
              <a:buNone/>
            </a:pPr>
            <a:r>
              <a:rPr lang="en-US" altLang="zh-CN" sz="2800">
                <a:latin typeface="宋体" pitchFamily="2" charset="-122"/>
              </a:rPr>
              <a:t>        First(A</a:t>
            </a:r>
            <a:r>
              <a:rPr lang="en-US" altLang="zh-CN" sz="2800">
                <a:latin typeface="宋体" pitchFamily="2" charset="-122"/>
                <a:sym typeface="Wingdings" pitchFamily="2" charset="2"/>
              </a:rPr>
              <a:t></a:t>
            </a:r>
            <a:r>
              <a:rPr lang="en-US" altLang="zh-CN" sz="2800">
                <a:latin typeface="宋体" pitchFamily="2" charset="-122"/>
              </a:rPr>
              <a:t>a)={a} ;</a:t>
            </a:r>
          </a:p>
          <a:p>
            <a:pPr eaLnBrk="1" hangingPunct="1">
              <a:lnSpc>
                <a:spcPct val="90000"/>
              </a:lnSpc>
              <a:buFontTx/>
              <a:buNone/>
            </a:pPr>
            <a:r>
              <a:rPr lang="en-US" altLang="zh-CN" sz="2800">
                <a:latin typeface="宋体" pitchFamily="2" charset="-122"/>
              </a:rPr>
              <a:t>        </a:t>
            </a:r>
            <a:r>
              <a:rPr lang="zh-CN" altLang="en-US" sz="2800">
                <a:latin typeface="宋体" pitchFamily="2" charset="-122"/>
              </a:rPr>
              <a:t>不满足条件</a:t>
            </a:r>
            <a:r>
              <a:rPr lang="en-US" altLang="zh-CN" sz="2800">
                <a:latin typeface="宋体" pitchFamily="2" charset="-122"/>
              </a:rPr>
              <a:t>2</a:t>
            </a:r>
            <a:r>
              <a:rPr lang="zh-CN" altLang="en-US" sz="2800">
                <a:latin typeface="宋体" pitchFamily="2" charset="-122"/>
              </a:rPr>
              <a:t>，故不是</a:t>
            </a:r>
            <a:r>
              <a:rPr lang="en-US" altLang="zh-CN" sz="2800">
                <a:latin typeface="宋体" pitchFamily="2" charset="-122"/>
              </a:rPr>
              <a:t>LL(1)</a:t>
            </a:r>
            <a:r>
              <a:rPr lang="zh-CN" altLang="en-US" sz="2800">
                <a:latin typeface="宋体" pitchFamily="2" charset="-122"/>
              </a:rPr>
              <a:t>文法</a:t>
            </a:r>
          </a:p>
        </p:txBody>
      </p:sp>
      <p:sp>
        <p:nvSpPr>
          <p:cNvPr id="217094" name="Rectangle 6"/>
          <p:cNvSpPr>
            <a:spLocks noChangeArrowheads="1"/>
          </p:cNvSpPr>
          <p:nvPr/>
        </p:nvSpPr>
        <p:spPr bwMode="auto">
          <a:xfrm>
            <a:off x="527050" y="3405188"/>
            <a:ext cx="7916863"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800">
                <a:latin typeface="宋体" pitchFamily="2" charset="-122"/>
              </a:rPr>
              <a:t>改造方法：</a:t>
            </a:r>
            <a:r>
              <a:rPr lang="en-US" altLang="zh-CN" sz="2800">
                <a:latin typeface="宋体" pitchFamily="2" charset="-122"/>
              </a:rPr>
              <a:t>(</a:t>
            </a:r>
            <a:r>
              <a:rPr lang="zh-CN" altLang="en-US" sz="2800">
                <a:latin typeface="宋体" pitchFamily="2" charset="-122"/>
              </a:rPr>
              <a:t>消除回溯</a:t>
            </a:r>
            <a:r>
              <a:rPr lang="en-US" altLang="zh-CN" sz="2800"/>
              <a:t>——</a:t>
            </a:r>
            <a:r>
              <a:rPr lang="zh-CN" altLang="en-US" sz="2800">
                <a:latin typeface="宋体" pitchFamily="2" charset="-122"/>
              </a:rPr>
              <a:t>提取公因子</a:t>
            </a:r>
            <a:r>
              <a:rPr lang="en-US" altLang="zh-CN" sz="2800">
                <a:latin typeface="宋体" pitchFamily="2" charset="-122"/>
              </a:rPr>
              <a:t>)</a:t>
            </a:r>
          </a:p>
          <a:p>
            <a:pPr eaLnBrk="1" hangingPunct="1">
              <a:spcBef>
                <a:spcPct val="0"/>
              </a:spcBef>
              <a:buFontTx/>
              <a:buNone/>
            </a:pPr>
            <a:r>
              <a:rPr lang="en-US" altLang="zh-CN" b="1">
                <a:latin typeface="宋体" pitchFamily="2" charset="-122"/>
              </a:rPr>
              <a:t>	S</a:t>
            </a:r>
            <a:r>
              <a:rPr lang="en-US" altLang="zh-CN" b="1">
                <a:latin typeface="宋体" pitchFamily="2" charset="-122"/>
                <a:sym typeface="Wingdings" pitchFamily="2" charset="2"/>
              </a:rPr>
              <a:t></a:t>
            </a:r>
            <a:r>
              <a:rPr lang="en-US" altLang="zh-CN" b="1">
                <a:latin typeface="宋体" pitchFamily="2" charset="-122"/>
              </a:rPr>
              <a:t>xAy ; A</a:t>
            </a:r>
            <a:r>
              <a:rPr lang="en-US" altLang="zh-CN" b="1">
                <a:latin typeface="宋体" pitchFamily="2" charset="-122"/>
                <a:sym typeface="Wingdings" pitchFamily="2" charset="2"/>
              </a:rPr>
              <a:t></a:t>
            </a:r>
            <a:r>
              <a:rPr lang="en-US" altLang="zh-CN" b="1">
                <a:latin typeface="宋体" pitchFamily="2" charset="-122"/>
              </a:rPr>
              <a:t>a(b|</a:t>
            </a:r>
            <a:r>
              <a:rPr lang="en-US" altLang="zh-CN" b="1"/>
              <a:t>ε</a:t>
            </a:r>
            <a:r>
              <a:rPr lang="en-US" altLang="zh-CN" b="1">
                <a:latin typeface="宋体" pitchFamily="2" charset="-122"/>
              </a:rPr>
              <a:t>)</a:t>
            </a:r>
          </a:p>
          <a:p>
            <a:pPr eaLnBrk="1" hangingPunct="1">
              <a:lnSpc>
                <a:spcPct val="90000"/>
              </a:lnSpc>
              <a:buFontTx/>
              <a:buNone/>
            </a:pPr>
            <a:r>
              <a:rPr lang="zh-CN" altLang="en-US" sz="2800" b="1">
                <a:latin typeface="宋体" pitchFamily="2" charset="-122"/>
              </a:rPr>
              <a:t>　　  </a:t>
            </a:r>
            <a:r>
              <a:rPr lang="en-US" altLang="zh-CN" sz="2800" b="1"/>
              <a:t>=&gt;   S</a:t>
            </a:r>
            <a:r>
              <a:rPr lang="en-US" altLang="zh-CN" sz="2800" b="1">
                <a:sym typeface="Wingdings" pitchFamily="2" charset="2"/>
              </a:rPr>
              <a:t></a:t>
            </a:r>
            <a:r>
              <a:rPr lang="en-US" altLang="zh-CN" sz="2800" b="1"/>
              <a:t>xAy ; A</a:t>
            </a:r>
            <a:r>
              <a:rPr lang="en-US" altLang="zh-CN" sz="2800" b="1">
                <a:sym typeface="Wingdings" pitchFamily="2" charset="2"/>
              </a:rPr>
              <a:t></a:t>
            </a:r>
            <a:r>
              <a:rPr lang="en-US" altLang="zh-CN" sz="2800" b="1"/>
              <a:t>aA' ; A' </a:t>
            </a:r>
            <a:r>
              <a:rPr lang="en-US" altLang="zh-CN" sz="2800" b="1">
                <a:sym typeface="Wingdings" pitchFamily="2" charset="2"/>
              </a:rPr>
              <a:t></a:t>
            </a:r>
            <a:r>
              <a:rPr lang="en-US" altLang="zh-CN" sz="2800" b="1"/>
              <a:t>b|ε </a:t>
            </a:r>
          </a:p>
        </p:txBody>
      </p:sp>
      <p:sp>
        <p:nvSpPr>
          <p:cNvPr id="77830" name="Rectangle 7"/>
          <p:cNvSpPr>
            <a:spLocks noChangeArrowheads="1"/>
          </p:cNvSpPr>
          <p:nvPr/>
        </p:nvSpPr>
        <p:spPr bwMode="auto">
          <a:xfrm>
            <a:off x="6405563" y="998538"/>
            <a:ext cx="2058987" cy="1076325"/>
          </a:xfrm>
          <a:prstGeom prst="rect">
            <a:avLst/>
          </a:prstGeom>
          <a:solidFill>
            <a:schemeClr val="bg1"/>
          </a:solidFill>
          <a:ln w="28575" algn="ctr">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a:ea typeface="华文行楷" pitchFamily="2" charset="-122"/>
              </a:rPr>
              <a:t>S </a:t>
            </a:r>
            <a:r>
              <a:rPr lang="en-US" altLang="zh-CN">
                <a:ea typeface="华文行楷" pitchFamily="2" charset="-122"/>
                <a:sym typeface="Wingdings" pitchFamily="2" charset="2"/>
              </a:rPr>
              <a:t> </a:t>
            </a:r>
            <a:r>
              <a:rPr lang="en-US" altLang="zh-CN">
                <a:ea typeface="华文行楷" pitchFamily="2" charset="-122"/>
              </a:rPr>
              <a:t>xAy</a:t>
            </a:r>
            <a:br>
              <a:rPr lang="en-US" altLang="zh-CN">
                <a:ea typeface="华文行楷" pitchFamily="2" charset="-122"/>
              </a:rPr>
            </a:br>
            <a:r>
              <a:rPr lang="en-US" altLang="zh-CN">
                <a:ea typeface="华文行楷" pitchFamily="2" charset="-122"/>
              </a:rPr>
              <a:t>A </a:t>
            </a:r>
            <a:r>
              <a:rPr lang="en-US" altLang="zh-CN">
                <a:ea typeface="华文行楷" pitchFamily="2" charset="-122"/>
                <a:sym typeface="Wingdings" pitchFamily="2" charset="2"/>
              </a:rPr>
              <a:t> </a:t>
            </a:r>
            <a:r>
              <a:rPr lang="en-US" altLang="zh-CN">
                <a:ea typeface="华文行楷" pitchFamily="2" charset="-122"/>
              </a:rPr>
              <a:t>ab|a</a:t>
            </a:r>
          </a:p>
        </p:txBody>
      </p:sp>
    </p:spTree>
    <p:extLst>
      <p:ext uri="{BB962C8B-B14F-4D97-AF65-F5344CB8AC3E}">
        <p14:creationId xmlns:p14="http://schemas.microsoft.com/office/powerpoint/2010/main" val="38760977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217093"/>
                                        </p:tgtEl>
                                        <p:attrNameLst>
                                          <p:attrName>style.visibility</p:attrName>
                                        </p:attrNameLst>
                                      </p:cBhvr>
                                      <p:to>
                                        <p:strVal val="visible"/>
                                      </p:to>
                                    </p:set>
                                    <p:animEffect transition="in" filter="strips(downLeft)">
                                      <p:cBhvr>
                                        <p:cTn id="7" dur="500"/>
                                        <p:tgtEl>
                                          <p:spTgt spid="21709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217094"/>
                                        </p:tgtEl>
                                        <p:attrNameLst>
                                          <p:attrName>style.visibility</p:attrName>
                                        </p:attrNameLst>
                                      </p:cBhvr>
                                      <p:to>
                                        <p:strVal val="visible"/>
                                      </p:to>
                                    </p:set>
                                    <p:animEffect transition="in" filter="slide(fromBottom)">
                                      <p:cBhvr>
                                        <p:cTn id="12" dur="500"/>
                                        <p:tgtEl>
                                          <p:spTgt spid="2170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093" grpId="0" autoUpdateAnimBg="0"/>
      <p:bldP spid="217094" grpId="0"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874" name="Rectangle 2"/>
          <p:cNvSpPr>
            <a:spLocks noGrp="1" noChangeArrowheads="1"/>
          </p:cNvSpPr>
          <p:nvPr>
            <p:ph type="title"/>
          </p:nvPr>
        </p:nvSpPr>
        <p:spPr>
          <a:xfrm>
            <a:off x="0" y="0"/>
            <a:ext cx="7772400" cy="788988"/>
          </a:xfrm>
        </p:spPr>
        <p:txBody>
          <a:bodyPr/>
          <a:lstStyle/>
          <a:p>
            <a:pPr algn="l" eaLnBrk="1" hangingPunct="1"/>
            <a:r>
              <a:rPr lang="en-US" altLang="zh-CN" sz="3600" b="1" i="1" dirty="0">
                <a:solidFill>
                  <a:srgbClr val="008000"/>
                </a:solidFill>
              </a:rPr>
              <a:t>LL(1)</a:t>
            </a:r>
            <a:r>
              <a:rPr lang="zh-CN" altLang="en-US" sz="3600" b="1" i="1" dirty="0">
                <a:solidFill>
                  <a:srgbClr val="008000"/>
                </a:solidFill>
              </a:rPr>
              <a:t>文法的分析过程（总结）</a:t>
            </a:r>
          </a:p>
        </p:txBody>
      </p:sp>
      <p:sp>
        <p:nvSpPr>
          <p:cNvPr id="183299" name="Rectangle 3"/>
          <p:cNvSpPr>
            <a:spLocks noGrp="1" noChangeArrowheads="1"/>
          </p:cNvSpPr>
          <p:nvPr>
            <p:ph type="body" idx="1"/>
          </p:nvPr>
        </p:nvSpPr>
        <p:spPr>
          <a:xfrm>
            <a:off x="787400" y="941388"/>
            <a:ext cx="7786688" cy="3142530"/>
          </a:xfrm>
          <a:solidFill>
            <a:schemeClr val="bg1"/>
          </a:solidFill>
          <a:ln w="28575">
            <a:solidFill>
              <a:schemeClr val="accent2"/>
            </a:solidFill>
            <a:miter lim="800000"/>
            <a:headEnd/>
            <a:tailEnd/>
          </a:ln>
        </p:spPr>
        <p:txBody>
          <a:bodyPr>
            <a:normAutofit/>
          </a:bodyPr>
          <a:lstStyle/>
          <a:p>
            <a:pPr eaLnBrk="1" hangingPunct="1"/>
            <a:r>
              <a:rPr lang="zh-CN" altLang="en-US" sz="2200" dirty="0">
                <a:latin typeface="宋体" panose="02010600030101010101" pitchFamily="2" charset="-122"/>
                <a:ea typeface="宋体" panose="02010600030101010101" pitchFamily="2" charset="-122"/>
              </a:rPr>
              <a:t>假设要用非终结符</a:t>
            </a:r>
            <a:r>
              <a:rPr lang="en-US" altLang="zh-CN" sz="22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进行匹配，面临输入符号</a:t>
            </a:r>
            <a:r>
              <a:rPr lang="en-US" altLang="zh-CN" sz="22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的所有侯选式为： </a:t>
            </a:r>
            <a:r>
              <a:rPr lang="en-US" altLang="zh-CN" sz="2200" b="1" dirty="0">
                <a:solidFill>
                  <a:schemeClr val="accent2"/>
                </a:solidFill>
                <a:latin typeface="宋体" panose="02010600030101010101" pitchFamily="2" charset="-122"/>
                <a:ea typeface="宋体" panose="02010600030101010101" pitchFamily="2" charset="-122"/>
              </a:rPr>
              <a:t>A</a:t>
            </a:r>
            <a:r>
              <a:rPr lang="en-US" altLang="zh-CN" sz="2200" b="1" dirty="0">
                <a:solidFill>
                  <a:schemeClr val="accent2"/>
                </a:solidFill>
                <a:latin typeface="宋体" panose="02010600030101010101" pitchFamily="2" charset="-122"/>
                <a:ea typeface="宋体" panose="02010600030101010101" pitchFamily="2" charset="-122"/>
                <a:sym typeface="Symbol" pitchFamily="18" charset="2"/>
              </a:rPr>
              <a:t></a:t>
            </a:r>
            <a:r>
              <a:rPr lang="en-US" altLang="zh-CN" sz="2200" b="1" dirty="0">
                <a:solidFill>
                  <a:schemeClr val="accent2"/>
                </a:solidFill>
                <a:latin typeface="宋体" panose="02010600030101010101" pitchFamily="2" charset="-122"/>
                <a:ea typeface="宋体" panose="02010600030101010101" pitchFamily="2" charset="-122"/>
              </a:rPr>
              <a:t>α</a:t>
            </a:r>
            <a:r>
              <a:rPr lang="en-US" altLang="zh-CN" sz="2200" b="1" baseline="-30000" dirty="0">
                <a:solidFill>
                  <a:schemeClr val="accent2"/>
                </a:solidFill>
                <a:latin typeface="宋体" panose="02010600030101010101" pitchFamily="2" charset="-122"/>
                <a:ea typeface="宋体" panose="02010600030101010101" pitchFamily="2" charset="-122"/>
              </a:rPr>
              <a:t>1</a:t>
            </a:r>
            <a:r>
              <a:rPr lang="en-US" altLang="zh-CN" sz="2200" b="1" dirty="0">
                <a:solidFill>
                  <a:schemeClr val="accent2"/>
                </a:solidFill>
                <a:latin typeface="宋体" panose="02010600030101010101" pitchFamily="2" charset="-122"/>
                <a:ea typeface="宋体" panose="02010600030101010101" pitchFamily="2" charset="-122"/>
              </a:rPr>
              <a:t>|α</a:t>
            </a:r>
            <a:r>
              <a:rPr lang="en-US" altLang="zh-CN" sz="2200" b="1" baseline="-30000" dirty="0">
                <a:solidFill>
                  <a:schemeClr val="accent2"/>
                </a:solidFill>
                <a:latin typeface="宋体" panose="02010600030101010101" pitchFamily="2" charset="-122"/>
                <a:ea typeface="宋体" panose="02010600030101010101" pitchFamily="2" charset="-122"/>
              </a:rPr>
              <a:t>2</a:t>
            </a:r>
            <a:r>
              <a:rPr lang="en-US" altLang="zh-CN" sz="2200" b="1" dirty="0">
                <a:solidFill>
                  <a:schemeClr val="accent2"/>
                </a:solidFill>
                <a:latin typeface="宋体" panose="02010600030101010101" pitchFamily="2" charset="-122"/>
                <a:ea typeface="宋体" panose="02010600030101010101" pitchFamily="2" charset="-122"/>
              </a:rPr>
              <a:t>|…|α</a:t>
            </a:r>
            <a:r>
              <a:rPr lang="en-US" altLang="zh-CN" sz="2200" b="1" baseline="-30000" dirty="0">
                <a:solidFill>
                  <a:schemeClr val="accent2"/>
                </a:solidFill>
                <a:latin typeface="宋体" panose="02010600030101010101" pitchFamily="2" charset="-122"/>
                <a:ea typeface="宋体" panose="02010600030101010101" pitchFamily="2" charset="-122"/>
              </a:rPr>
              <a:t>n</a:t>
            </a:r>
          </a:p>
          <a:p>
            <a:pPr eaLnBrk="1" hangingPunct="1"/>
            <a:r>
              <a:rPr lang="zh-CN" altLang="en-US" sz="2200" b="1" dirty="0">
                <a:latin typeface="宋体" panose="02010600030101010101" pitchFamily="2" charset="-122"/>
                <a:ea typeface="宋体" panose="02010600030101010101" pitchFamily="2" charset="-122"/>
              </a:rPr>
              <a:t>分析过程为</a:t>
            </a:r>
            <a:r>
              <a:rPr lang="zh-CN" altLang="en-US" sz="2200" dirty="0">
                <a:latin typeface="宋体" panose="02010600030101010101" pitchFamily="2" charset="-122"/>
                <a:ea typeface="宋体" panose="02010600030101010101" pitchFamily="2" charset="-122"/>
              </a:rPr>
              <a:t>：</a:t>
            </a:r>
            <a:endParaRPr lang="en-US" altLang="zh-CN" sz="2200" dirty="0">
              <a:latin typeface="宋体" panose="02010600030101010101" pitchFamily="2" charset="-122"/>
              <a:ea typeface="宋体" panose="02010600030101010101" pitchFamily="2" charset="-122"/>
            </a:endParaRPr>
          </a:p>
          <a:p>
            <a:pPr lvl="1" eaLnBrk="1" hangingPunct="1"/>
            <a:r>
              <a:rPr lang="zh-CN" altLang="en-US" sz="2200" dirty="0">
                <a:latin typeface="宋体" panose="02010600030101010101" pitchFamily="2" charset="-122"/>
                <a:ea typeface="宋体" panose="02010600030101010101" pitchFamily="2" charset="-122"/>
              </a:rPr>
              <a:t>若</a:t>
            </a:r>
            <a:r>
              <a:rPr lang="en-US" altLang="zh-CN" sz="2200" dirty="0">
                <a:latin typeface="宋体" pitchFamily="2" charset="-122"/>
                <a:ea typeface="宋体" panose="02010600030101010101" pitchFamily="2" charset="-122"/>
              </a:rPr>
              <a:t>a ∈First(</a:t>
            </a:r>
            <a:r>
              <a:rPr lang="en-US" altLang="zh-CN" sz="2200" b="1" dirty="0">
                <a:solidFill>
                  <a:schemeClr val="accent2"/>
                </a:solidFill>
                <a:latin typeface="宋体" panose="02010600030101010101" pitchFamily="2" charset="-122"/>
                <a:ea typeface="宋体" panose="02010600030101010101" pitchFamily="2" charset="-122"/>
              </a:rPr>
              <a:t>A</a:t>
            </a:r>
            <a:r>
              <a:rPr lang="en-US" altLang="zh-CN" sz="2200" b="1" dirty="0">
                <a:solidFill>
                  <a:schemeClr val="accent2"/>
                </a:solidFill>
                <a:latin typeface="宋体" panose="02010600030101010101" pitchFamily="2" charset="-122"/>
                <a:ea typeface="宋体" panose="02010600030101010101" pitchFamily="2" charset="-122"/>
                <a:sym typeface="Symbol" pitchFamily="18" charset="2"/>
              </a:rPr>
              <a:t></a:t>
            </a:r>
            <a:r>
              <a:rPr lang="en-US" altLang="zh-CN" sz="2200" dirty="0">
                <a:solidFill>
                  <a:schemeClr val="accent2"/>
                </a:solidFill>
                <a:latin typeface="宋体" panose="02010600030101010101" pitchFamily="2" charset="-122"/>
                <a:ea typeface="宋体" panose="02010600030101010101" pitchFamily="2" charset="-122"/>
              </a:rPr>
              <a:t>α</a:t>
            </a:r>
            <a:r>
              <a:rPr lang="en-US" altLang="zh-CN" sz="2200" baseline="-30000" dirty="0" err="1">
                <a:solidFill>
                  <a:schemeClr val="accent2"/>
                </a:solidFill>
                <a:latin typeface="宋体" panose="02010600030101010101" pitchFamily="2" charset="-122"/>
                <a:ea typeface="宋体" panose="02010600030101010101" pitchFamily="2" charset="-122"/>
              </a:rPr>
              <a:t>i</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使用</a:t>
            </a:r>
            <a:r>
              <a:rPr lang="en-US" altLang="zh-CN" sz="2200" dirty="0">
                <a:solidFill>
                  <a:schemeClr val="accent2"/>
                </a:solidFill>
                <a:latin typeface="宋体" panose="02010600030101010101" pitchFamily="2" charset="-122"/>
                <a:ea typeface="宋体" panose="02010600030101010101" pitchFamily="2" charset="-122"/>
              </a:rPr>
              <a:t>α</a:t>
            </a:r>
            <a:r>
              <a:rPr lang="en-US" altLang="zh-CN" sz="2200" baseline="-30000" dirty="0" err="1">
                <a:solidFill>
                  <a:schemeClr val="accent2"/>
                </a:solidFill>
                <a:latin typeface="宋体" panose="02010600030101010101" pitchFamily="2" charset="-122"/>
                <a:ea typeface="宋体" panose="02010600030101010101" pitchFamily="2" charset="-122"/>
              </a:rPr>
              <a:t>i</a:t>
            </a:r>
            <a:r>
              <a:rPr lang="zh-CN" altLang="en-US" sz="2200" dirty="0">
                <a:latin typeface="宋体" pitchFamily="2" charset="-122"/>
                <a:ea typeface="宋体" panose="02010600030101010101" pitchFamily="2" charset="-122"/>
              </a:rPr>
              <a:t>去匹配。</a:t>
            </a:r>
          </a:p>
          <a:p>
            <a:pPr lvl="1" eaLnBrk="1" hangingPunct="1"/>
            <a:r>
              <a:rPr lang="zh-CN" altLang="en-US" sz="2200" dirty="0">
                <a:latin typeface="宋体" pitchFamily="2" charset="-122"/>
                <a:ea typeface="宋体" panose="02010600030101010101" pitchFamily="2" charset="-122"/>
              </a:rPr>
              <a:t>若</a:t>
            </a:r>
            <a:r>
              <a:rPr lang="en-US" altLang="zh-CN" sz="2200" dirty="0">
                <a:latin typeface="宋体" pitchFamily="2" charset="-122"/>
                <a:ea typeface="宋体" panose="02010600030101010101" pitchFamily="2" charset="-122"/>
              </a:rPr>
              <a:t>a</a:t>
            </a:r>
            <a:r>
              <a:rPr lang="zh-CN" altLang="en-US" sz="2200" dirty="0">
                <a:latin typeface="宋体" pitchFamily="2" charset="-122"/>
                <a:ea typeface="宋体" panose="02010600030101010101" pitchFamily="2" charset="-122"/>
              </a:rPr>
              <a:t>不属于任何一个产生式的首终结符集，</a:t>
            </a:r>
          </a:p>
          <a:p>
            <a:pPr lvl="2" eaLnBrk="1" hangingPunct="1"/>
            <a:r>
              <a:rPr lang="en-US" altLang="zh-CN" sz="2200" dirty="0">
                <a:latin typeface="宋体" pitchFamily="2" charset="-122"/>
                <a:ea typeface="宋体" panose="02010600030101010101" pitchFamily="2" charset="-122"/>
              </a:rPr>
              <a:t>(1)</a:t>
            </a:r>
            <a:r>
              <a:rPr lang="zh-CN" altLang="en-US" sz="2200" dirty="0">
                <a:latin typeface="宋体" pitchFamily="2" charset="-122"/>
                <a:ea typeface="宋体" panose="02010600030101010101" pitchFamily="2" charset="-122"/>
              </a:rPr>
              <a:t>若</a:t>
            </a:r>
            <a:r>
              <a:rPr lang="en-US" altLang="zh-CN" sz="2200" dirty="0">
                <a:latin typeface="宋体" panose="02010600030101010101" pitchFamily="2" charset="-122"/>
                <a:ea typeface="宋体" panose="02010600030101010101" pitchFamily="2" charset="-122"/>
              </a:rPr>
              <a:t>ε</a:t>
            </a:r>
            <a:r>
              <a:rPr lang="zh-CN" altLang="en-US" sz="2200" dirty="0">
                <a:latin typeface="宋体" pitchFamily="2" charset="-122"/>
                <a:ea typeface="宋体" panose="02010600030101010101" pitchFamily="2" charset="-122"/>
              </a:rPr>
              <a:t>不属于任何一个 </a:t>
            </a:r>
            <a:r>
              <a:rPr lang="en-US" altLang="zh-CN" sz="2200" dirty="0">
                <a:latin typeface="宋体" pitchFamily="2" charset="-122"/>
                <a:ea typeface="宋体" panose="02010600030101010101" pitchFamily="2" charset="-122"/>
              </a:rPr>
              <a:t>First(</a:t>
            </a:r>
            <a:r>
              <a:rPr lang="en-US" altLang="zh-CN" sz="2200" b="1" dirty="0">
                <a:solidFill>
                  <a:schemeClr val="accent2"/>
                </a:solidFill>
                <a:latin typeface="宋体" panose="02010600030101010101" pitchFamily="2" charset="-122"/>
                <a:ea typeface="宋体" panose="02010600030101010101" pitchFamily="2" charset="-122"/>
              </a:rPr>
              <a:t>A</a:t>
            </a:r>
            <a:r>
              <a:rPr lang="en-US" altLang="zh-CN" sz="2200" b="1" dirty="0">
                <a:solidFill>
                  <a:schemeClr val="accent2"/>
                </a:solidFill>
                <a:latin typeface="宋体" panose="02010600030101010101" pitchFamily="2" charset="-122"/>
                <a:ea typeface="宋体" panose="02010600030101010101" pitchFamily="2" charset="-122"/>
                <a:sym typeface="Symbol" pitchFamily="18" charset="2"/>
              </a:rPr>
              <a:t></a:t>
            </a:r>
            <a:r>
              <a:rPr lang="en-US" altLang="zh-CN" sz="2200" dirty="0">
                <a:solidFill>
                  <a:schemeClr val="accent2"/>
                </a:solidFill>
                <a:latin typeface="宋体" panose="02010600030101010101" pitchFamily="2" charset="-122"/>
                <a:ea typeface="宋体" panose="02010600030101010101" pitchFamily="2" charset="-122"/>
              </a:rPr>
              <a:t>α</a:t>
            </a:r>
            <a:r>
              <a:rPr lang="en-US" altLang="zh-CN" sz="2200" baseline="-30000" dirty="0" err="1">
                <a:solidFill>
                  <a:schemeClr val="accent2"/>
                </a:solidFill>
                <a:latin typeface="宋体" panose="02010600030101010101" pitchFamily="2" charset="-122"/>
                <a:ea typeface="宋体" panose="02010600030101010101" pitchFamily="2" charset="-122"/>
              </a:rPr>
              <a:t>i</a:t>
            </a:r>
            <a:r>
              <a:rPr lang="en-US" altLang="zh-CN" sz="2200" dirty="0">
                <a:latin typeface="宋体"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，则出错。</a:t>
            </a:r>
          </a:p>
          <a:p>
            <a:pPr lvl="2" eaLnBrk="1" hangingPunct="1"/>
            <a:r>
              <a:rPr lang="en-US" altLang="zh-CN" sz="2200" dirty="0">
                <a:latin typeface="宋体" pitchFamily="2" charset="-122"/>
                <a:ea typeface="宋体" panose="02010600030101010101" pitchFamily="2" charset="-122"/>
              </a:rPr>
              <a:t>(2)</a:t>
            </a:r>
            <a:r>
              <a:rPr lang="zh-CN" altLang="en-US" sz="2200" dirty="0">
                <a:latin typeface="宋体" pitchFamily="2" charset="-122"/>
                <a:ea typeface="宋体" panose="02010600030101010101" pitchFamily="2" charset="-122"/>
              </a:rPr>
              <a:t>若</a:t>
            </a:r>
            <a:r>
              <a:rPr lang="en-US" altLang="zh-CN" sz="2200" dirty="0">
                <a:latin typeface="宋体" panose="02010600030101010101" pitchFamily="2" charset="-122"/>
                <a:ea typeface="宋体" panose="02010600030101010101" pitchFamily="2" charset="-122"/>
              </a:rPr>
              <a:t>ε</a:t>
            </a:r>
            <a:r>
              <a:rPr lang="zh-CN" altLang="en-US" sz="2200" dirty="0">
                <a:latin typeface="宋体" pitchFamily="2" charset="-122"/>
                <a:ea typeface="宋体" panose="02010600030101010101" pitchFamily="2" charset="-122"/>
              </a:rPr>
              <a:t>属于某个</a:t>
            </a:r>
            <a:r>
              <a:rPr lang="en-US" altLang="zh-CN" sz="2200" dirty="0">
                <a:latin typeface="宋体" pitchFamily="2" charset="-122"/>
                <a:ea typeface="宋体" panose="02010600030101010101" pitchFamily="2" charset="-122"/>
              </a:rPr>
              <a:t>First(</a:t>
            </a:r>
            <a:r>
              <a:rPr lang="en-US" altLang="zh-CN" sz="2200" b="1" dirty="0">
                <a:solidFill>
                  <a:schemeClr val="accent2"/>
                </a:solidFill>
                <a:latin typeface="宋体" panose="02010600030101010101" pitchFamily="2" charset="-122"/>
                <a:ea typeface="宋体" panose="02010600030101010101" pitchFamily="2" charset="-122"/>
              </a:rPr>
              <a:t>A</a:t>
            </a:r>
            <a:r>
              <a:rPr lang="en-US" altLang="zh-CN" sz="2200" b="1" dirty="0">
                <a:solidFill>
                  <a:schemeClr val="accent2"/>
                </a:solidFill>
                <a:latin typeface="宋体" panose="02010600030101010101" pitchFamily="2" charset="-122"/>
                <a:ea typeface="宋体" panose="02010600030101010101" pitchFamily="2" charset="-122"/>
                <a:sym typeface="Symbol" pitchFamily="18" charset="2"/>
              </a:rPr>
              <a:t></a:t>
            </a:r>
            <a:r>
              <a:rPr lang="en-US" altLang="zh-CN" sz="2200" dirty="0">
                <a:solidFill>
                  <a:schemeClr val="accent2"/>
                </a:solidFill>
                <a:latin typeface="宋体" panose="02010600030101010101" pitchFamily="2" charset="-122"/>
                <a:ea typeface="宋体" panose="02010600030101010101" pitchFamily="2" charset="-122"/>
              </a:rPr>
              <a:t>α</a:t>
            </a:r>
            <a:r>
              <a:rPr lang="en-US" altLang="zh-CN" sz="2200" baseline="-30000" dirty="0" err="1">
                <a:solidFill>
                  <a:schemeClr val="accent2"/>
                </a:solidFill>
                <a:latin typeface="宋体" panose="02010600030101010101" pitchFamily="2" charset="-122"/>
                <a:ea typeface="宋体" panose="02010600030101010101" pitchFamily="2" charset="-122"/>
              </a:rPr>
              <a:t>i</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同时</a:t>
            </a:r>
            <a:r>
              <a:rPr lang="en-US" altLang="zh-CN" sz="2200" dirty="0">
                <a:latin typeface="宋体" pitchFamily="2" charset="-122"/>
                <a:ea typeface="宋体" panose="02010600030101010101" pitchFamily="2" charset="-122"/>
              </a:rPr>
              <a:t>a ∈Follow(</a:t>
            </a:r>
            <a:r>
              <a:rPr lang="en-US" altLang="zh-CN" sz="2200" dirty="0">
                <a:solidFill>
                  <a:schemeClr val="accent2"/>
                </a:solidFill>
                <a:latin typeface="宋体" panose="02010600030101010101" pitchFamily="2" charset="-122"/>
                <a:ea typeface="宋体" panose="02010600030101010101" pitchFamily="2" charset="-122"/>
              </a:rPr>
              <a:t>A</a:t>
            </a: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则让</a:t>
            </a:r>
            <a:r>
              <a:rPr lang="en-US" altLang="zh-CN" sz="2200" dirty="0">
                <a:latin typeface="宋体" pitchFamily="2" charset="-122"/>
                <a:ea typeface="宋体" panose="02010600030101010101" pitchFamily="2" charset="-122"/>
              </a:rPr>
              <a:t>A </a:t>
            </a:r>
            <a:r>
              <a:rPr lang="zh-CN" altLang="en-US" sz="2200" dirty="0">
                <a:latin typeface="宋体" pitchFamily="2" charset="-122"/>
                <a:ea typeface="宋体" panose="02010600030101010101" pitchFamily="2" charset="-122"/>
              </a:rPr>
              <a:t>与</a:t>
            </a:r>
            <a:r>
              <a:rPr lang="en-US" altLang="zh-CN" sz="2200" dirty="0">
                <a:latin typeface="宋体" panose="02010600030101010101" pitchFamily="2" charset="-122"/>
                <a:ea typeface="宋体" panose="02010600030101010101" pitchFamily="2" charset="-122"/>
              </a:rPr>
              <a:t>ε</a:t>
            </a:r>
            <a:r>
              <a:rPr lang="zh-CN" altLang="en-US" sz="2200" dirty="0">
                <a:latin typeface="宋体" pitchFamily="2" charset="-122"/>
                <a:ea typeface="宋体" panose="02010600030101010101" pitchFamily="2" charset="-122"/>
              </a:rPr>
              <a:t>自动匹配；否则，</a:t>
            </a:r>
            <a:r>
              <a:rPr lang="en-US" altLang="zh-CN" sz="2200" dirty="0">
                <a:latin typeface="宋体" pitchFamily="2" charset="-122"/>
                <a:ea typeface="宋体" panose="02010600030101010101" pitchFamily="2" charset="-122"/>
              </a:rPr>
              <a:t>a</a:t>
            </a:r>
            <a:r>
              <a:rPr lang="zh-CN" altLang="en-US" sz="2200" dirty="0">
                <a:latin typeface="宋体" pitchFamily="2" charset="-122"/>
                <a:ea typeface="宋体" panose="02010600030101010101" pitchFamily="2" charset="-122"/>
              </a:rPr>
              <a:t>的出现是一种语法错误。</a:t>
            </a:r>
          </a:p>
        </p:txBody>
      </p:sp>
    </p:spTree>
    <p:extLst>
      <p:ext uri="{BB962C8B-B14F-4D97-AF65-F5344CB8AC3E}">
        <p14:creationId xmlns:p14="http://schemas.microsoft.com/office/powerpoint/2010/main" val="17733932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8329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83299">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83299">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83299">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83299">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8329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299" grpId="0" build="p" bldLvl="3"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5634876" cy="769441"/>
          </a:xfrm>
          <a:prstGeom prst="rect">
            <a:avLst/>
          </a:prstGeom>
        </p:spPr>
        <p:txBody>
          <a:bodyPr wrap="none">
            <a:spAutoFit/>
          </a:bodyPr>
          <a:lstStyle/>
          <a:p>
            <a:r>
              <a:rPr lang="en-US" altLang="zh-CN" sz="4400" b="1" dirty="0">
                <a:solidFill>
                  <a:srgbClr val="CC0099"/>
                </a:solidFill>
                <a:ea typeface="隶书" pitchFamily="49" charset="-122"/>
              </a:rPr>
              <a:t>3</a:t>
            </a:r>
            <a:r>
              <a:rPr lang="zh-CN" altLang="en-US" sz="4400" b="1" dirty="0">
                <a:solidFill>
                  <a:srgbClr val="CC0099"/>
                </a:solidFill>
                <a:ea typeface="隶书" pitchFamily="49" charset="-122"/>
              </a:rPr>
              <a:t>、递归下降分析方法</a:t>
            </a:r>
            <a:endParaRPr lang="zh-CN" altLang="en-US" sz="4400" dirty="0"/>
          </a:p>
        </p:txBody>
      </p:sp>
    </p:spTree>
    <p:extLst>
      <p:ext uri="{BB962C8B-B14F-4D97-AF65-F5344CB8AC3E}">
        <p14:creationId xmlns:p14="http://schemas.microsoft.com/office/powerpoint/2010/main" val="275610575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8" name="Rectangle 2"/>
          <p:cNvSpPr>
            <a:spLocks noGrp="1" noChangeArrowheads="1"/>
          </p:cNvSpPr>
          <p:nvPr>
            <p:ph type="title"/>
          </p:nvPr>
        </p:nvSpPr>
        <p:spPr>
          <a:xfrm>
            <a:off x="539750" y="141288"/>
            <a:ext cx="7772400" cy="774278"/>
          </a:xfrm>
        </p:spPr>
        <p:txBody>
          <a:bodyPr>
            <a:normAutofit fontScale="90000"/>
          </a:bodyPr>
          <a:lstStyle/>
          <a:p>
            <a:r>
              <a:rPr lang="zh-CN" altLang="zh-CN" sz="4800" b="1" dirty="0">
                <a:solidFill>
                  <a:srgbClr val="CC0099"/>
                </a:solidFill>
                <a:ea typeface="隶书" pitchFamily="49" charset="-122"/>
              </a:rPr>
              <a:t>递归下降分析方法</a:t>
            </a:r>
          </a:p>
        </p:txBody>
      </p:sp>
      <p:sp>
        <p:nvSpPr>
          <p:cNvPr id="120835" name="Rectangle 3"/>
          <p:cNvSpPr>
            <a:spLocks noGrp="1" noChangeArrowheads="1"/>
          </p:cNvSpPr>
          <p:nvPr>
            <p:ph type="body" idx="1"/>
          </p:nvPr>
        </p:nvSpPr>
        <p:spPr>
          <a:xfrm>
            <a:off x="611188" y="950913"/>
            <a:ext cx="7772400" cy="3997325"/>
          </a:xfrm>
        </p:spPr>
        <p:txBody>
          <a:bodyPr>
            <a:normAutofit/>
          </a:bodyPr>
          <a:lstStyle/>
          <a:p>
            <a:pPr eaLnBrk="1" hangingPunct="1">
              <a:lnSpc>
                <a:spcPct val="90000"/>
              </a:lnSpc>
            </a:pPr>
            <a:r>
              <a:rPr lang="zh-CN" altLang="en-US" sz="2200" dirty="0">
                <a:latin typeface="宋体" panose="02010600030101010101" pitchFamily="2" charset="-122"/>
                <a:ea typeface="宋体" panose="02010600030101010101" pitchFamily="2" charset="-122"/>
              </a:rPr>
              <a:t>是进行语法分析的一种方法</a:t>
            </a:r>
          </a:p>
          <a:p>
            <a:pPr eaLnBrk="1" hangingPunct="1">
              <a:lnSpc>
                <a:spcPct val="90000"/>
              </a:lnSpc>
            </a:pPr>
            <a:r>
              <a:rPr lang="zh-CN" altLang="en-US" sz="2200" dirty="0">
                <a:latin typeface="宋体" panose="02010600030101010101" pitchFamily="2" charset="-122"/>
                <a:ea typeface="宋体" panose="02010600030101010101" pitchFamily="2" charset="-122"/>
              </a:rPr>
              <a:t>要求文法是</a:t>
            </a:r>
            <a:r>
              <a:rPr lang="en-US" altLang="zh-CN" sz="2200" dirty="0">
                <a:latin typeface="宋体" panose="02010600030101010101" pitchFamily="2" charset="-122"/>
                <a:ea typeface="宋体" panose="02010600030101010101" pitchFamily="2" charset="-122"/>
              </a:rPr>
              <a:t>LL(1)</a:t>
            </a:r>
            <a:r>
              <a:rPr lang="zh-CN" altLang="en-US" sz="2200" dirty="0">
                <a:latin typeface="宋体" panose="02010600030101010101" pitchFamily="2" charset="-122"/>
                <a:ea typeface="宋体" panose="02010600030101010101" pitchFamily="2" charset="-122"/>
              </a:rPr>
              <a:t>文法</a:t>
            </a:r>
          </a:p>
          <a:p>
            <a:pPr eaLnBrk="1" hangingPunct="1">
              <a:lnSpc>
                <a:spcPct val="90000"/>
              </a:lnSpc>
            </a:pPr>
            <a:r>
              <a:rPr lang="zh-CN" altLang="en-US" sz="2200" dirty="0">
                <a:latin typeface="宋体" panose="02010600030101010101" pitchFamily="2" charset="-122"/>
                <a:ea typeface="宋体" panose="02010600030101010101" pitchFamily="2" charset="-122"/>
              </a:rPr>
              <a:t>实现思想：</a:t>
            </a:r>
          </a:p>
          <a:p>
            <a:pPr lvl="1" eaLnBrk="1" hangingPunct="1">
              <a:lnSpc>
                <a:spcPct val="90000"/>
              </a:lnSpc>
            </a:pPr>
            <a:r>
              <a:rPr lang="zh-CN" altLang="en-US" sz="2200" dirty="0">
                <a:latin typeface="宋体" panose="02010600030101010101" pitchFamily="2" charset="-122"/>
                <a:ea typeface="宋体" panose="02010600030101010101" pitchFamily="2" charset="-122"/>
              </a:rPr>
              <a:t>分析程序由一组函数组成。每个函数对应于文法的一个非终结符号。</a:t>
            </a:r>
          </a:p>
          <a:p>
            <a:pPr lvl="1" eaLnBrk="1" hangingPunct="1">
              <a:lnSpc>
                <a:spcPct val="90000"/>
              </a:lnSpc>
            </a:pPr>
            <a:r>
              <a:rPr lang="zh-CN" altLang="en-US" sz="2200" dirty="0">
                <a:latin typeface="宋体" panose="02010600030101010101" pitchFamily="2" charset="-122"/>
                <a:ea typeface="宋体" panose="02010600030101010101" pitchFamily="2" charset="-122"/>
              </a:rPr>
              <a:t>每一个函数的功能是：判断当该非终结符面临某个输入符号时，应该</a:t>
            </a:r>
            <a:r>
              <a:rPr lang="zh-CN" altLang="en-US" sz="2200" b="1" dirty="0">
                <a:solidFill>
                  <a:srgbClr val="FF0000"/>
                </a:solidFill>
                <a:latin typeface="宋体" panose="02010600030101010101" pitchFamily="2" charset="-122"/>
                <a:ea typeface="宋体" panose="02010600030101010101" pitchFamily="2" charset="-122"/>
              </a:rPr>
              <a:t>选择</a:t>
            </a:r>
            <a:r>
              <a:rPr lang="zh-CN" altLang="en-US" sz="2200" dirty="0">
                <a:latin typeface="宋体" panose="02010600030101010101" pitchFamily="2" charset="-122"/>
                <a:ea typeface="宋体" panose="02010600030101010101" pitchFamily="2" charset="-122"/>
              </a:rPr>
              <a:t>该非终结符的哪个候选式；并顺序处理该候选式右部的每个符号。</a:t>
            </a:r>
            <a:endParaRPr lang="en-US" altLang="zh-CN" sz="2200" dirty="0">
              <a:latin typeface="宋体" panose="02010600030101010101" pitchFamily="2" charset="-122"/>
              <a:ea typeface="宋体" panose="02010600030101010101" pitchFamily="2" charset="-122"/>
            </a:endParaRPr>
          </a:p>
          <a:p>
            <a:pPr lvl="1" eaLnBrk="1" hangingPunct="1">
              <a:lnSpc>
                <a:spcPct val="90000"/>
              </a:lnSpc>
            </a:pPr>
            <a:r>
              <a:rPr lang="zh-CN" altLang="en-US" sz="2200" dirty="0">
                <a:latin typeface="宋体" panose="02010600030101010101" pitchFamily="2" charset="-122"/>
                <a:ea typeface="宋体" panose="02010600030101010101" pitchFamily="2" charset="-122"/>
              </a:rPr>
              <a:t>候选式右部每个符号的处理方法是；若是非终结符，调用该非终结符号对应的函数；若为终结符，判断它是否和面临的输入符号相同。</a:t>
            </a:r>
          </a:p>
        </p:txBody>
      </p:sp>
    </p:spTree>
    <p:extLst>
      <p:ext uri="{BB962C8B-B14F-4D97-AF65-F5344CB8AC3E}">
        <p14:creationId xmlns:p14="http://schemas.microsoft.com/office/powerpoint/2010/main" val="26751535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20835">
                                            <p:txEl>
                                              <p:pRg st="0" end="0"/>
                                            </p:txEl>
                                          </p:spTgt>
                                        </p:tgtEl>
                                        <p:attrNameLst>
                                          <p:attrName>style.visibility</p:attrName>
                                        </p:attrNameLst>
                                      </p:cBhvr>
                                      <p:to>
                                        <p:strVal val="visible"/>
                                      </p:to>
                                    </p:set>
                                    <p:animEffect transition="in" filter="strips(downLeft)">
                                      <p:cBhvr>
                                        <p:cTn id="7" dur="500"/>
                                        <p:tgtEl>
                                          <p:spTgt spid="120835">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120835">
                                            <p:txEl>
                                              <p:pRg st="1" end="1"/>
                                            </p:txEl>
                                          </p:spTgt>
                                        </p:tgtEl>
                                        <p:attrNameLst>
                                          <p:attrName>style.visibility</p:attrName>
                                        </p:attrNameLst>
                                      </p:cBhvr>
                                      <p:to>
                                        <p:strVal val="visible"/>
                                      </p:to>
                                    </p:set>
                                    <p:animEffect transition="in" filter="strips(downLeft)">
                                      <p:cBhvr>
                                        <p:cTn id="12" dur="500"/>
                                        <p:tgtEl>
                                          <p:spTgt spid="120835">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grpId="0" nodeType="clickEffect">
                                  <p:stCondLst>
                                    <p:cond delay="0"/>
                                  </p:stCondLst>
                                  <p:childTnLst>
                                    <p:set>
                                      <p:cBhvr>
                                        <p:cTn id="16" dur="1" fill="hold">
                                          <p:stCondLst>
                                            <p:cond delay="0"/>
                                          </p:stCondLst>
                                        </p:cTn>
                                        <p:tgtEl>
                                          <p:spTgt spid="120835">
                                            <p:txEl>
                                              <p:pRg st="2" end="2"/>
                                            </p:txEl>
                                          </p:spTgt>
                                        </p:tgtEl>
                                        <p:attrNameLst>
                                          <p:attrName>style.visibility</p:attrName>
                                        </p:attrNameLst>
                                      </p:cBhvr>
                                      <p:to>
                                        <p:strVal val="visible"/>
                                      </p:to>
                                    </p:set>
                                    <p:animEffect transition="in" filter="strips(downLeft)">
                                      <p:cBhvr>
                                        <p:cTn id="17" dur="500"/>
                                        <p:tgtEl>
                                          <p:spTgt spid="120835">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12" fill="hold" grpId="0" nodeType="clickEffect">
                                  <p:stCondLst>
                                    <p:cond delay="0"/>
                                  </p:stCondLst>
                                  <p:childTnLst>
                                    <p:set>
                                      <p:cBhvr>
                                        <p:cTn id="21" dur="1" fill="hold">
                                          <p:stCondLst>
                                            <p:cond delay="0"/>
                                          </p:stCondLst>
                                        </p:cTn>
                                        <p:tgtEl>
                                          <p:spTgt spid="120835">
                                            <p:txEl>
                                              <p:pRg st="3" end="3"/>
                                            </p:txEl>
                                          </p:spTgt>
                                        </p:tgtEl>
                                        <p:attrNameLst>
                                          <p:attrName>style.visibility</p:attrName>
                                        </p:attrNameLst>
                                      </p:cBhvr>
                                      <p:to>
                                        <p:strVal val="visible"/>
                                      </p:to>
                                    </p:set>
                                    <p:animEffect transition="in" filter="strips(downLeft)">
                                      <p:cBhvr>
                                        <p:cTn id="22" dur="500"/>
                                        <p:tgtEl>
                                          <p:spTgt spid="120835">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grpId="0" nodeType="clickEffect">
                                  <p:stCondLst>
                                    <p:cond delay="0"/>
                                  </p:stCondLst>
                                  <p:childTnLst>
                                    <p:set>
                                      <p:cBhvr>
                                        <p:cTn id="26" dur="1" fill="hold">
                                          <p:stCondLst>
                                            <p:cond delay="0"/>
                                          </p:stCondLst>
                                        </p:cTn>
                                        <p:tgtEl>
                                          <p:spTgt spid="120835">
                                            <p:txEl>
                                              <p:pRg st="4" end="4"/>
                                            </p:txEl>
                                          </p:spTgt>
                                        </p:tgtEl>
                                        <p:attrNameLst>
                                          <p:attrName>style.visibility</p:attrName>
                                        </p:attrNameLst>
                                      </p:cBhvr>
                                      <p:to>
                                        <p:strVal val="visible"/>
                                      </p:to>
                                    </p:set>
                                    <p:animEffect transition="in" filter="strips(downLeft)">
                                      <p:cBhvr>
                                        <p:cTn id="27" dur="500"/>
                                        <p:tgtEl>
                                          <p:spTgt spid="120835">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8" presetClass="entr" presetSubtype="12" fill="hold" grpId="0" nodeType="clickEffect">
                                  <p:stCondLst>
                                    <p:cond delay="0"/>
                                  </p:stCondLst>
                                  <p:childTnLst>
                                    <p:set>
                                      <p:cBhvr>
                                        <p:cTn id="31" dur="1" fill="hold">
                                          <p:stCondLst>
                                            <p:cond delay="0"/>
                                          </p:stCondLst>
                                        </p:cTn>
                                        <p:tgtEl>
                                          <p:spTgt spid="120835">
                                            <p:txEl>
                                              <p:pRg st="5" end="5"/>
                                            </p:txEl>
                                          </p:spTgt>
                                        </p:tgtEl>
                                        <p:attrNameLst>
                                          <p:attrName>style.visibility</p:attrName>
                                        </p:attrNameLst>
                                      </p:cBhvr>
                                      <p:to>
                                        <p:strVal val="visible"/>
                                      </p:to>
                                    </p:set>
                                    <p:animEffect transition="in" filter="strips(downLeft)">
                                      <p:cBhvr>
                                        <p:cTn id="32" dur="500"/>
                                        <p:tgtEl>
                                          <p:spTgt spid="12083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5" grpId="0" build="p" bldLvl="2"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ChangeArrowheads="1"/>
          </p:cNvSpPr>
          <p:nvPr>
            <p:ph type="title"/>
          </p:nvPr>
        </p:nvSpPr>
        <p:spPr>
          <a:xfrm>
            <a:off x="684213" y="0"/>
            <a:ext cx="7772400" cy="514350"/>
          </a:xfrm>
        </p:spPr>
        <p:txBody>
          <a:bodyPr>
            <a:noAutofit/>
          </a:bodyPr>
          <a:lstStyle/>
          <a:p>
            <a:pPr eaLnBrk="1" hangingPunct="1"/>
            <a:r>
              <a:rPr lang="zh-CN" altLang="en-US" sz="3600" dirty="0">
                <a:solidFill>
                  <a:schemeClr val="tx1"/>
                </a:solidFill>
                <a:ea typeface="隶书" pitchFamily="49" charset="-122"/>
              </a:rPr>
              <a:t>递归分析程序的基本架构</a:t>
            </a:r>
            <a:r>
              <a:rPr lang="en-US" altLang="zh-CN" sz="3600" dirty="0">
                <a:solidFill>
                  <a:schemeClr val="tx1"/>
                </a:solidFill>
                <a:ea typeface="隶书" pitchFamily="49" charset="-122"/>
              </a:rPr>
              <a:t>(1)</a:t>
            </a:r>
          </a:p>
        </p:txBody>
      </p:sp>
      <p:sp>
        <p:nvSpPr>
          <p:cNvPr id="81923" name="Rectangle 3"/>
          <p:cNvSpPr>
            <a:spLocks noGrp="1" noChangeArrowheads="1"/>
          </p:cNvSpPr>
          <p:nvPr>
            <p:ph type="body" idx="1"/>
          </p:nvPr>
        </p:nvSpPr>
        <p:spPr>
          <a:xfrm>
            <a:off x="107950" y="699542"/>
            <a:ext cx="8936038" cy="379413"/>
          </a:xfrm>
        </p:spPr>
        <p:txBody>
          <a:bodyPr>
            <a:normAutofit/>
          </a:bodyPr>
          <a:lstStyle/>
          <a:p>
            <a:pPr eaLnBrk="1" hangingPunct="1">
              <a:lnSpc>
                <a:spcPct val="90000"/>
              </a:lnSpc>
            </a:pPr>
            <a:r>
              <a:rPr lang="zh-CN" altLang="en-US" sz="2000" dirty="0"/>
              <a:t>对某个非终结符号的产生式</a:t>
            </a:r>
            <a:r>
              <a:rPr lang="en-US" altLang="zh-CN" sz="2000" dirty="0"/>
              <a:t>U</a:t>
            </a:r>
            <a:r>
              <a:rPr lang="en-US" altLang="zh-CN" sz="2000" dirty="0">
                <a:cs typeface="Times New Roman" pitchFamily="18" charset="0"/>
              </a:rPr>
              <a:t>→</a:t>
            </a:r>
            <a:r>
              <a:rPr lang="en-US" altLang="zh-CN" sz="2000" dirty="0"/>
              <a:t>U</a:t>
            </a:r>
            <a:r>
              <a:rPr lang="en-US" altLang="zh-CN" sz="2000" baseline="-25000" dirty="0"/>
              <a:t>1</a:t>
            </a:r>
            <a:r>
              <a:rPr lang="en-US" altLang="zh-CN" sz="2000" dirty="0"/>
              <a:t>|U</a:t>
            </a:r>
            <a:r>
              <a:rPr lang="en-US" altLang="zh-CN" sz="2000" baseline="-25000" dirty="0"/>
              <a:t>2</a:t>
            </a:r>
            <a:r>
              <a:rPr lang="en-US" altLang="zh-CN" sz="2000" dirty="0"/>
              <a:t>|…|U</a:t>
            </a:r>
            <a:r>
              <a:rPr lang="en-US" altLang="zh-CN" sz="2000" baseline="-25000" dirty="0"/>
              <a:t>n</a:t>
            </a:r>
            <a:r>
              <a:rPr lang="zh-CN" altLang="en-US" sz="2000" dirty="0"/>
              <a:t>，</a:t>
            </a:r>
            <a:r>
              <a:rPr lang="en-US" altLang="zh-CN" sz="2000" dirty="0"/>
              <a:t>U</a:t>
            </a:r>
            <a:r>
              <a:rPr lang="zh-CN" altLang="en-US" sz="2000" dirty="0"/>
              <a:t>的递归分析函数如下：</a:t>
            </a:r>
          </a:p>
        </p:txBody>
      </p:sp>
      <p:sp>
        <p:nvSpPr>
          <p:cNvPr id="188420" name="Rectangle 4"/>
          <p:cNvSpPr>
            <a:spLocks noChangeArrowheads="1"/>
          </p:cNvSpPr>
          <p:nvPr/>
        </p:nvSpPr>
        <p:spPr bwMode="auto">
          <a:xfrm>
            <a:off x="323528" y="3832816"/>
            <a:ext cx="8675687" cy="1323439"/>
          </a:xfrm>
          <a:prstGeom prst="rect">
            <a:avLst/>
          </a:prstGeom>
          <a:solidFill>
            <a:schemeClr val="bg1"/>
          </a:solidFill>
          <a:ln>
            <a:noFill/>
          </a:ln>
        </p:spPr>
        <p:txBody>
          <a:bodyPr>
            <a:spAutoFit/>
          </a:bodyPr>
          <a:lstStyle>
            <a:lvl1pPr marL="361950" indent="-36195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000" dirty="0">
                <a:latin typeface="楷体_GB2312" pitchFamily="49" charset="-122"/>
                <a:ea typeface="楷体_GB2312" pitchFamily="49" charset="-122"/>
              </a:rPr>
              <a:t>由于无回溯的文法保证选择是唯一的。</a:t>
            </a:r>
          </a:p>
          <a:p>
            <a:pPr eaLnBrk="1" hangingPunct="1">
              <a:spcBef>
                <a:spcPct val="0"/>
              </a:spcBef>
            </a:pPr>
            <a:r>
              <a:rPr lang="zh-CN" altLang="en-US" sz="2000" dirty="0">
                <a:latin typeface="楷体_GB2312" pitchFamily="49" charset="-122"/>
                <a:ea typeface="楷体_GB2312" pitchFamily="49" charset="-122"/>
              </a:rPr>
              <a:t>当存在</a:t>
            </a:r>
            <a:r>
              <a:rPr lang="el-GR" altLang="zh-CN" sz="2000" dirty="0">
                <a:latin typeface="楷体_GB2312" pitchFamily="49" charset="-122"/>
                <a:ea typeface="楷体_GB2312" pitchFamily="49" charset="-122"/>
              </a:rPr>
              <a:t>ε</a:t>
            </a:r>
            <a:r>
              <a:rPr lang="zh-CN" altLang="en-US" sz="2000" dirty="0">
                <a:latin typeface="楷体_GB2312" pitchFamily="49" charset="-122"/>
                <a:ea typeface="楷体_GB2312" pitchFamily="49" charset="-122"/>
              </a:rPr>
              <a:t>时，可以用</a:t>
            </a:r>
            <a:r>
              <a:rPr lang="en-US" altLang="zh-CN" sz="2000" dirty="0">
                <a:latin typeface="楷体_GB2312" pitchFamily="49" charset="-122"/>
                <a:ea typeface="楷体_GB2312" pitchFamily="49" charset="-122"/>
              </a:rPr>
              <a:t>error()</a:t>
            </a:r>
            <a:r>
              <a:rPr lang="zh-CN" altLang="en-US" sz="2000" dirty="0">
                <a:latin typeface="楷体_GB2312" pitchFamily="49" charset="-122"/>
                <a:ea typeface="楷体_GB2312" pitchFamily="49" charset="-122"/>
              </a:rPr>
              <a:t>替代为</a:t>
            </a:r>
            <a:r>
              <a:rPr lang="en-US" altLang="zh-CN" sz="2000" dirty="0">
                <a:latin typeface="楷体_GB2312" pitchFamily="49" charset="-122"/>
                <a:ea typeface="楷体_GB2312" pitchFamily="49" charset="-122"/>
              </a:rPr>
              <a:t>{return;}</a:t>
            </a:r>
            <a:r>
              <a:rPr lang="zh-CN" altLang="en-US" sz="2000" dirty="0">
                <a:latin typeface="楷体_GB2312" pitchFamily="49" charset="-122"/>
                <a:ea typeface="楷体_GB2312" pitchFamily="49" charset="-122"/>
              </a:rPr>
              <a:t>这样可以较晚发现错误。</a:t>
            </a:r>
          </a:p>
          <a:p>
            <a:pPr eaLnBrk="1" hangingPunct="1">
              <a:spcBef>
                <a:spcPct val="0"/>
              </a:spcBef>
            </a:pPr>
            <a:r>
              <a:rPr lang="zh-CN" altLang="en-US" sz="2000" dirty="0">
                <a:latin typeface="楷体_GB2312" pitchFamily="49" charset="-122"/>
                <a:ea typeface="楷体_GB2312" pitchFamily="49" charset="-122"/>
              </a:rPr>
              <a:t>约定：进入这个过程时，已读入</a:t>
            </a:r>
            <a:r>
              <a:rPr lang="en-US" altLang="zh-CN" sz="2000" dirty="0">
                <a:latin typeface="楷体_GB2312" pitchFamily="49" charset="-122"/>
                <a:ea typeface="楷体_GB2312" pitchFamily="49" charset="-122"/>
              </a:rPr>
              <a:t>U</a:t>
            </a:r>
            <a:r>
              <a:rPr lang="zh-CN" altLang="en-US" sz="2000" dirty="0">
                <a:latin typeface="楷体_GB2312" pitchFamily="49" charset="-122"/>
                <a:ea typeface="楷体_GB2312" pitchFamily="49" charset="-122"/>
              </a:rPr>
              <a:t>的第一个符号到当前符号。离开这个过程时，下一个符号已经被读到当前符号。</a:t>
            </a:r>
          </a:p>
        </p:txBody>
      </p:sp>
      <p:sp>
        <p:nvSpPr>
          <p:cNvPr id="2" name="矩形 1"/>
          <p:cNvSpPr/>
          <p:nvPr/>
        </p:nvSpPr>
        <p:spPr>
          <a:xfrm>
            <a:off x="804863" y="1138555"/>
            <a:ext cx="8078787" cy="2585323"/>
          </a:xfrm>
          <a:prstGeom prst="rect">
            <a:avLst/>
          </a:prstGeom>
        </p:spPr>
        <p:style>
          <a:lnRef idx="2">
            <a:schemeClr val="accent4"/>
          </a:lnRef>
          <a:fillRef idx="1">
            <a:schemeClr val="lt1"/>
          </a:fillRef>
          <a:effectRef idx="0">
            <a:schemeClr val="accent4"/>
          </a:effectRef>
          <a:fontRef idx="minor">
            <a:schemeClr val="dk1"/>
          </a:fontRef>
        </p:style>
        <p:txBody>
          <a:bodyPr>
            <a:spAutoFit/>
          </a:bodyPr>
          <a:lstStyle/>
          <a:p>
            <a:pPr algn="just">
              <a:spcAft>
                <a:spcPts val="0"/>
              </a:spcAft>
              <a:defRPr/>
            </a:pPr>
            <a:r>
              <a:rPr lang="en-US" altLang="zh-CN" kern="100" dirty="0"/>
              <a:t>void U( ){</a:t>
            </a:r>
            <a:endParaRPr lang="zh-CN" altLang="zh-CN" kern="100" dirty="0"/>
          </a:p>
          <a:p>
            <a:pPr marL="266700" algn="just">
              <a:spcAft>
                <a:spcPts val="0"/>
              </a:spcAft>
              <a:defRPr/>
            </a:pPr>
            <a:r>
              <a:rPr lang="en-US" altLang="zh-CN" kern="100" dirty="0"/>
              <a:t>token = </a:t>
            </a:r>
            <a:r>
              <a:rPr lang="en-US" altLang="zh-CN" kern="100" dirty="0" err="1"/>
              <a:t>GetNextToken</a:t>
            </a:r>
            <a:r>
              <a:rPr lang="en-US" altLang="zh-CN" kern="100" dirty="0"/>
              <a:t>();  //</a:t>
            </a:r>
            <a:r>
              <a:rPr lang="zh-CN" altLang="zh-CN" kern="100" dirty="0"/>
              <a:t>从</a:t>
            </a:r>
            <a:r>
              <a:rPr lang="en-US" altLang="zh-CN" kern="100" dirty="0"/>
              <a:t>token</a:t>
            </a:r>
            <a:r>
              <a:rPr lang="zh-CN" altLang="zh-CN" kern="100" dirty="0"/>
              <a:t>串中读</a:t>
            </a:r>
            <a:r>
              <a:rPr lang="zh-CN" altLang="en-US" kern="100" dirty="0"/>
              <a:t>入</a:t>
            </a:r>
            <a:r>
              <a:rPr lang="zh-CN" altLang="zh-CN" kern="100" dirty="0"/>
              <a:t>一个符号，输入指针下移</a:t>
            </a:r>
          </a:p>
          <a:p>
            <a:pPr indent="285750" algn="just">
              <a:spcAft>
                <a:spcPts val="0"/>
              </a:spcAft>
              <a:defRPr/>
            </a:pPr>
            <a:r>
              <a:rPr lang="en-US" altLang="zh-CN" kern="100" dirty="0"/>
              <a:t>if  (token</a:t>
            </a:r>
            <a:r>
              <a:rPr lang="zh-CN" altLang="zh-CN" kern="100" dirty="0"/>
              <a:t>∈</a:t>
            </a:r>
            <a:r>
              <a:rPr lang="en-US" altLang="zh-CN" kern="100" dirty="0"/>
              <a:t>First (</a:t>
            </a:r>
            <a:r>
              <a:rPr lang="en-US" altLang="zh-CN" kern="100" dirty="0">
                <a:solidFill>
                  <a:srgbClr val="FF0000"/>
                </a:solidFill>
              </a:rPr>
              <a:t>U</a:t>
            </a:r>
            <a:r>
              <a:rPr lang="en-US" altLang="zh-CN" kern="100" baseline="-25000" dirty="0">
                <a:solidFill>
                  <a:srgbClr val="FF0000"/>
                </a:solidFill>
              </a:rPr>
              <a:t>1</a:t>
            </a:r>
            <a:r>
              <a:rPr lang="en-US" altLang="zh-CN" kern="100" dirty="0"/>
              <a:t>) )  </a:t>
            </a:r>
            <a:r>
              <a:rPr lang="en-US" altLang="zh-CN" kern="100" dirty="0">
                <a:solidFill>
                  <a:srgbClr val="FF0000"/>
                </a:solidFill>
              </a:rPr>
              <a:t>U</a:t>
            </a:r>
            <a:r>
              <a:rPr lang="en-US" altLang="zh-CN" kern="100" baseline="-25000" dirty="0">
                <a:solidFill>
                  <a:srgbClr val="FF0000"/>
                </a:solidFill>
              </a:rPr>
              <a:t>1</a:t>
            </a:r>
            <a:r>
              <a:rPr lang="en-US" altLang="zh-CN" kern="100" dirty="0"/>
              <a:t>();</a:t>
            </a:r>
            <a:endParaRPr lang="zh-CN" altLang="zh-CN" kern="100" dirty="0"/>
          </a:p>
          <a:p>
            <a:pPr indent="285750" algn="just">
              <a:spcAft>
                <a:spcPts val="0"/>
              </a:spcAft>
              <a:defRPr/>
            </a:pPr>
            <a:r>
              <a:rPr lang="en-US" altLang="zh-CN" kern="100" dirty="0"/>
              <a:t>else if  (token</a:t>
            </a:r>
            <a:r>
              <a:rPr lang="zh-CN" altLang="zh-CN" kern="100" dirty="0"/>
              <a:t>∈</a:t>
            </a:r>
            <a:r>
              <a:rPr lang="en-US" altLang="zh-CN" kern="100" dirty="0"/>
              <a:t>First (</a:t>
            </a:r>
            <a:r>
              <a:rPr lang="en-US" altLang="zh-CN" kern="100" dirty="0">
                <a:solidFill>
                  <a:srgbClr val="0000CC"/>
                </a:solidFill>
              </a:rPr>
              <a:t>U</a:t>
            </a:r>
            <a:r>
              <a:rPr lang="en-US" altLang="zh-CN" kern="100" baseline="-25000" dirty="0">
                <a:solidFill>
                  <a:srgbClr val="0000CC"/>
                </a:solidFill>
              </a:rPr>
              <a:t>2</a:t>
            </a:r>
            <a:r>
              <a:rPr lang="en-US" altLang="zh-CN" kern="100" dirty="0"/>
              <a:t>) )  </a:t>
            </a:r>
            <a:r>
              <a:rPr lang="en-US" altLang="zh-CN" kern="100" dirty="0">
                <a:solidFill>
                  <a:srgbClr val="0000CC"/>
                </a:solidFill>
              </a:rPr>
              <a:t>U</a:t>
            </a:r>
            <a:r>
              <a:rPr lang="en-US" altLang="zh-CN" kern="100" baseline="-25000" dirty="0">
                <a:solidFill>
                  <a:srgbClr val="0000CC"/>
                </a:solidFill>
              </a:rPr>
              <a:t>2</a:t>
            </a:r>
            <a:r>
              <a:rPr lang="en-US" altLang="zh-CN" kern="100" dirty="0"/>
              <a:t>();</a:t>
            </a:r>
            <a:endParaRPr lang="zh-CN" altLang="zh-CN" kern="100" dirty="0"/>
          </a:p>
          <a:p>
            <a:pPr marL="266700" indent="195580" algn="just">
              <a:spcAft>
                <a:spcPts val="0"/>
              </a:spcAft>
              <a:defRPr/>
            </a:pPr>
            <a:r>
              <a:rPr lang="en-US" altLang="zh-CN" kern="100" dirty="0"/>
              <a:t>……</a:t>
            </a:r>
            <a:endParaRPr lang="zh-CN" altLang="zh-CN" kern="100" dirty="0"/>
          </a:p>
          <a:p>
            <a:pPr indent="285750" algn="just">
              <a:spcAft>
                <a:spcPts val="0"/>
              </a:spcAft>
              <a:defRPr/>
            </a:pPr>
            <a:r>
              <a:rPr lang="en-US" altLang="zh-CN" kern="100" dirty="0"/>
              <a:t>else  if  ( (</a:t>
            </a:r>
            <a:r>
              <a:rPr lang="en-US" altLang="zh-CN" kern="100" dirty="0">
                <a:solidFill>
                  <a:srgbClr val="CC00FF"/>
                </a:solidFill>
                <a:sym typeface="Symbol" panose="05050102010706020507" pitchFamily="18" charset="2"/>
              </a:rPr>
              <a:t></a:t>
            </a:r>
            <a:r>
              <a:rPr lang="zh-CN" altLang="zh-CN" kern="100" dirty="0">
                <a:solidFill>
                  <a:srgbClr val="CC00FF"/>
                </a:solidFill>
              </a:rPr>
              <a:t>∈</a:t>
            </a:r>
            <a:r>
              <a:rPr lang="en-US" altLang="zh-CN" kern="100" dirty="0">
                <a:solidFill>
                  <a:srgbClr val="CC00FF"/>
                </a:solidFill>
              </a:rPr>
              <a:t>First(U)) &amp;&amp; (token</a:t>
            </a:r>
            <a:r>
              <a:rPr lang="zh-CN" altLang="zh-CN" kern="100" dirty="0">
                <a:solidFill>
                  <a:srgbClr val="CC00FF"/>
                </a:solidFill>
              </a:rPr>
              <a:t>∈</a:t>
            </a:r>
            <a:r>
              <a:rPr lang="en-US" altLang="zh-CN" kern="100" dirty="0">
                <a:solidFill>
                  <a:srgbClr val="CC00FF"/>
                </a:solidFill>
              </a:rPr>
              <a:t>Follow(U)</a:t>
            </a:r>
            <a:r>
              <a:rPr lang="en-US" altLang="zh-CN" kern="100" dirty="0"/>
              <a:t>)  ) </a:t>
            </a:r>
            <a:endParaRPr lang="zh-CN" altLang="zh-CN" kern="100" dirty="0"/>
          </a:p>
          <a:p>
            <a:pPr indent="457200" algn="just">
              <a:spcAft>
                <a:spcPts val="0"/>
              </a:spcAft>
              <a:defRPr/>
            </a:pPr>
            <a:r>
              <a:rPr lang="en-US" altLang="zh-CN" kern="100" dirty="0"/>
              <a:t>……;</a:t>
            </a:r>
            <a:endParaRPr lang="zh-CN" altLang="zh-CN" kern="100" dirty="0"/>
          </a:p>
          <a:p>
            <a:pPr indent="285750" algn="just">
              <a:spcAft>
                <a:spcPts val="0"/>
              </a:spcAft>
              <a:defRPr/>
            </a:pPr>
            <a:r>
              <a:rPr lang="en-US" altLang="zh-CN" kern="100" dirty="0"/>
              <a:t>else error();  // </a:t>
            </a:r>
            <a:r>
              <a:rPr lang="zh-CN" altLang="zh-CN" kern="100" dirty="0"/>
              <a:t>没有找到匹配项，出错处理</a:t>
            </a:r>
          </a:p>
          <a:p>
            <a:pPr algn="just">
              <a:spcAft>
                <a:spcPts val="0"/>
              </a:spcAft>
              <a:defRPr/>
            </a:pPr>
            <a:r>
              <a:rPr lang="en-US" altLang="zh-CN" kern="100" dirty="0"/>
              <a:t>}</a:t>
            </a:r>
            <a:endParaRPr lang="zh-CN" altLang="zh-CN" kern="100" dirty="0"/>
          </a:p>
        </p:txBody>
      </p:sp>
      <p:sp>
        <p:nvSpPr>
          <p:cNvPr id="3" name="左大括号 2"/>
          <p:cNvSpPr/>
          <p:nvPr/>
        </p:nvSpPr>
        <p:spPr>
          <a:xfrm>
            <a:off x="899592" y="1779662"/>
            <a:ext cx="144016" cy="936104"/>
          </a:xfrm>
          <a:prstGeom prst="leftBrace">
            <a:avLst/>
          </a:prstGeom>
          <a:ln w="28575">
            <a:solidFill>
              <a:srgbClr val="CC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221737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2" presetClass="entr" presetSubtype="4" fill="hold" grpId="0" nodeType="clickEffect">
                                  <p:stCondLst>
                                    <p:cond delay="0"/>
                                  </p:stCondLst>
                                  <p:childTnLst>
                                    <p:set>
                                      <p:cBhvr>
                                        <p:cTn id="14" dur="1" fill="hold">
                                          <p:stCondLst>
                                            <p:cond delay="0"/>
                                          </p:stCondLst>
                                        </p:cTn>
                                        <p:tgtEl>
                                          <p:spTgt spid="188420">
                                            <p:bg/>
                                          </p:spTgt>
                                        </p:tgtEl>
                                        <p:attrNameLst>
                                          <p:attrName>style.visibility</p:attrName>
                                        </p:attrNameLst>
                                      </p:cBhvr>
                                      <p:to>
                                        <p:strVal val="visible"/>
                                      </p:to>
                                    </p:set>
                                    <p:animEffect transition="in" filter="slide(fromBottom)">
                                      <p:cBhvr>
                                        <p:cTn id="15" dur="500"/>
                                        <p:tgtEl>
                                          <p:spTgt spid="188420">
                                            <p:bg/>
                                          </p:spTgt>
                                        </p:tgtEl>
                                      </p:cBhvr>
                                    </p:animEffect>
                                  </p:childTnLst>
                                </p:cTn>
                              </p:par>
                              <p:par>
                                <p:cTn id="16" presetID="12" presetClass="entr" presetSubtype="4" fill="hold" grpId="0" nodeType="withEffect">
                                  <p:stCondLst>
                                    <p:cond delay="0"/>
                                  </p:stCondLst>
                                  <p:childTnLst>
                                    <p:set>
                                      <p:cBhvr>
                                        <p:cTn id="17" dur="1" fill="hold">
                                          <p:stCondLst>
                                            <p:cond delay="0"/>
                                          </p:stCondLst>
                                        </p:cTn>
                                        <p:tgtEl>
                                          <p:spTgt spid="188420">
                                            <p:txEl>
                                              <p:pRg st="0" end="0"/>
                                            </p:txEl>
                                          </p:spTgt>
                                        </p:tgtEl>
                                        <p:attrNameLst>
                                          <p:attrName>style.visibility</p:attrName>
                                        </p:attrNameLst>
                                      </p:cBhvr>
                                      <p:to>
                                        <p:strVal val="visible"/>
                                      </p:to>
                                    </p:set>
                                    <p:animEffect transition="in" filter="slide(fromBottom)">
                                      <p:cBhvr>
                                        <p:cTn id="18" dur="500"/>
                                        <p:tgtEl>
                                          <p:spTgt spid="188420">
                                            <p:txEl>
                                              <p:pRg st="0" end="0"/>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188420">
                                            <p:txEl>
                                              <p:pRg st="1" end="1"/>
                                            </p:txEl>
                                          </p:spTgt>
                                        </p:tgtEl>
                                        <p:attrNameLst>
                                          <p:attrName>style.visibility</p:attrName>
                                        </p:attrNameLst>
                                      </p:cBhvr>
                                      <p:to>
                                        <p:strVal val="visible"/>
                                      </p:to>
                                    </p:set>
                                    <p:animEffect transition="in" filter="slide(fromBottom)">
                                      <p:cBhvr>
                                        <p:cTn id="23" dur="500"/>
                                        <p:tgtEl>
                                          <p:spTgt spid="188420">
                                            <p:txEl>
                                              <p:pRg st="1" end="1"/>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2" presetClass="entr" presetSubtype="4" fill="hold" grpId="0" nodeType="clickEffect">
                                  <p:stCondLst>
                                    <p:cond delay="0"/>
                                  </p:stCondLst>
                                  <p:childTnLst>
                                    <p:set>
                                      <p:cBhvr>
                                        <p:cTn id="27" dur="1" fill="hold">
                                          <p:stCondLst>
                                            <p:cond delay="0"/>
                                          </p:stCondLst>
                                        </p:cTn>
                                        <p:tgtEl>
                                          <p:spTgt spid="188420">
                                            <p:txEl>
                                              <p:pRg st="2" end="2"/>
                                            </p:txEl>
                                          </p:spTgt>
                                        </p:tgtEl>
                                        <p:attrNameLst>
                                          <p:attrName>style.visibility</p:attrName>
                                        </p:attrNameLst>
                                      </p:cBhvr>
                                      <p:to>
                                        <p:strVal val="visible"/>
                                      </p:to>
                                    </p:set>
                                    <p:animEffect transition="in" filter="slide(fromBottom)">
                                      <p:cBhvr>
                                        <p:cTn id="28" dur="500"/>
                                        <p:tgtEl>
                                          <p:spTgt spid="18842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420" grpId="0" uiExpand="1" build="p" animBg="1"/>
      <p:bldP spid="2" grpId="0" animBg="1"/>
      <p:bldP spid="3"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ChangeArrowheads="1"/>
          </p:cNvSpPr>
          <p:nvPr>
            <p:ph type="title"/>
          </p:nvPr>
        </p:nvSpPr>
        <p:spPr>
          <a:xfrm>
            <a:off x="484188" y="0"/>
            <a:ext cx="3722687" cy="627534"/>
          </a:xfrm>
        </p:spPr>
        <p:txBody>
          <a:bodyPr>
            <a:normAutofit fontScale="90000"/>
          </a:bodyPr>
          <a:lstStyle/>
          <a:p>
            <a:pPr eaLnBrk="1" hangingPunct="1"/>
            <a:r>
              <a:rPr lang="zh-CN" altLang="en-US" sz="4000" dirty="0">
                <a:solidFill>
                  <a:schemeClr val="tx1"/>
                </a:solidFill>
                <a:ea typeface="隶书" pitchFamily="49" charset="-122"/>
              </a:rPr>
              <a:t>基本架构</a:t>
            </a:r>
            <a:r>
              <a:rPr lang="en-US" altLang="zh-CN" sz="4000" dirty="0">
                <a:solidFill>
                  <a:schemeClr val="tx1"/>
                </a:solidFill>
                <a:ea typeface="隶书" pitchFamily="49" charset="-122"/>
              </a:rPr>
              <a:t>(2)</a:t>
            </a:r>
          </a:p>
        </p:txBody>
      </p:sp>
      <p:sp>
        <p:nvSpPr>
          <p:cNvPr id="82947" name="Rectangle 3"/>
          <p:cNvSpPr>
            <a:spLocks noGrp="1" noChangeArrowheads="1"/>
          </p:cNvSpPr>
          <p:nvPr>
            <p:ph type="body" idx="1"/>
          </p:nvPr>
        </p:nvSpPr>
        <p:spPr>
          <a:xfrm>
            <a:off x="-36512" y="627534"/>
            <a:ext cx="5070475" cy="2147495"/>
          </a:xfrm>
        </p:spPr>
        <p:txBody>
          <a:bodyPr>
            <a:noAutofit/>
          </a:bodyPr>
          <a:lstStyle/>
          <a:p>
            <a:r>
              <a:rPr lang="zh-CN" altLang="en-US" sz="2000" dirty="0"/>
              <a:t>对于</a:t>
            </a:r>
            <a:r>
              <a:rPr lang="en-US" altLang="zh-CN" sz="2000" dirty="0"/>
              <a:t>U</a:t>
            </a:r>
            <a:r>
              <a:rPr lang="zh-CN" altLang="en-US" sz="2000" dirty="0"/>
              <a:t>的每个候选式</a:t>
            </a:r>
            <a:endParaRPr lang="en-US" altLang="zh-CN" sz="2000" dirty="0"/>
          </a:p>
          <a:p>
            <a:pPr marL="109728" indent="0">
              <a:buNone/>
            </a:pPr>
            <a:r>
              <a:rPr lang="en-US" altLang="zh-CN" sz="2000" dirty="0">
                <a:solidFill>
                  <a:srgbClr val="CC00FF"/>
                </a:solidFill>
              </a:rPr>
              <a:t>          </a:t>
            </a:r>
            <a:r>
              <a:rPr lang="en-US" altLang="zh-CN" sz="2800" dirty="0">
                <a:solidFill>
                  <a:srgbClr val="CC00FF"/>
                </a:solidFill>
              </a:rPr>
              <a:t>Ui=X</a:t>
            </a:r>
            <a:r>
              <a:rPr lang="en-US" altLang="zh-CN" sz="2800" baseline="-25000" dirty="0">
                <a:solidFill>
                  <a:srgbClr val="CC00FF"/>
                </a:solidFill>
              </a:rPr>
              <a:t>1</a:t>
            </a:r>
            <a:r>
              <a:rPr lang="en-US" altLang="zh-CN" sz="2800" dirty="0">
                <a:solidFill>
                  <a:srgbClr val="CC00FF"/>
                </a:solidFill>
              </a:rPr>
              <a:t>X</a:t>
            </a:r>
            <a:r>
              <a:rPr lang="en-US" altLang="zh-CN" sz="2800" baseline="-25000" dirty="0">
                <a:solidFill>
                  <a:srgbClr val="CC00FF"/>
                </a:solidFill>
              </a:rPr>
              <a:t>2</a:t>
            </a:r>
            <a:r>
              <a:rPr lang="en-US" altLang="zh-CN" sz="2800" dirty="0">
                <a:solidFill>
                  <a:srgbClr val="CC00FF"/>
                </a:solidFill>
              </a:rPr>
              <a:t>…</a:t>
            </a:r>
            <a:r>
              <a:rPr lang="en-US" altLang="zh-CN" sz="2800" dirty="0" err="1">
                <a:solidFill>
                  <a:srgbClr val="CC00FF"/>
                </a:solidFill>
              </a:rPr>
              <a:t>X</a:t>
            </a:r>
            <a:r>
              <a:rPr lang="en-US" altLang="zh-CN" sz="2800" baseline="-25000" dirty="0" err="1">
                <a:solidFill>
                  <a:srgbClr val="CC00FF"/>
                </a:solidFill>
              </a:rPr>
              <a:t>m</a:t>
            </a:r>
            <a:endParaRPr lang="en-US" altLang="zh-CN" sz="2000" baseline="-25000" dirty="0">
              <a:solidFill>
                <a:srgbClr val="CC00FF"/>
              </a:solidFill>
            </a:endParaRPr>
          </a:p>
          <a:p>
            <a:r>
              <a:rPr lang="zh-CN" altLang="en-US" sz="2000" dirty="0"/>
              <a:t>右部的处理架构为：顺序处理每个符号</a:t>
            </a:r>
            <a:r>
              <a:rPr lang="en-US" altLang="zh-CN" sz="2000" dirty="0" err="1"/>
              <a:t>X</a:t>
            </a:r>
            <a:r>
              <a:rPr lang="en-US" altLang="zh-CN" sz="2000" baseline="-25000" dirty="0" err="1"/>
              <a:t>j</a:t>
            </a:r>
            <a:r>
              <a:rPr lang="zh-CN" altLang="en-US" sz="2000" dirty="0"/>
              <a:t>，</a:t>
            </a:r>
            <a:r>
              <a:rPr lang="zh-CN" altLang="en-US" sz="2000" dirty="0">
                <a:latin typeface="宋体" panose="02010600030101010101" pitchFamily="2" charset="-122"/>
                <a:ea typeface="宋体" panose="02010600030101010101" pitchFamily="2" charset="-122"/>
              </a:rPr>
              <a:t>若是非终结符，调用该非终结符号对应的函数；若为终结符，判断它是否和当前读入的输入符号相同</a:t>
            </a:r>
            <a:endParaRPr lang="zh-CN" altLang="en-US" sz="2000" dirty="0"/>
          </a:p>
        </p:txBody>
      </p:sp>
      <p:sp>
        <p:nvSpPr>
          <p:cNvPr id="3" name="矩形 2"/>
          <p:cNvSpPr/>
          <p:nvPr/>
        </p:nvSpPr>
        <p:spPr>
          <a:xfrm>
            <a:off x="2058755" y="2706474"/>
            <a:ext cx="2873285"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zh-CN" altLang="en-US" dirty="0"/>
              <a:t>如果右部为空</a:t>
            </a:r>
            <a:r>
              <a:rPr lang="en-US" altLang="zh-CN" dirty="0"/>
              <a:t>ε</a:t>
            </a:r>
            <a:r>
              <a:rPr lang="zh-CN" altLang="en-US" dirty="0"/>
              <a:t>，则不处理</a:t>
            </a:r>
          </a:p>
        </p:txBody>
      </p:sp>
      <p:sp>
        <p:nvSpPr>
          <p:cNvPr id="4" name="矩形 3"/>
          <p:cNvSpPr/>
          <p:nvPr/>
        </p:nvSpPr>
        <p:spPr>
          <a:xfrm>
            <a:off x="1" y="3075806"/>
            <a:ext cx="6444208" cy="2093650"/>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195580" indent="-195580" algn="just">
              <a:lnSpc>
                <a:spcPct val="90000"/>
              </a:lnSpc>
              <a:spcAft>
                <a:spcPts val="0"/>
              </a:spcAft>
              <a:defRPr/>
            </a:pPr>
            <a:r>
              <a:rPr lang="en-US" altLang="zh-CN" kern="100" dirty="0"/>
              <a:t>void match (char *token)</a:t>
            </a:r>
            <a:endParaRPr lang="zh-CN" altLang="zh-CN" kern="100" dirty="0"/>
          </a:p>
          <a:p>
            <a:pPr marL="195580" indent="-195580" algn="just">
              <a:lnSpc>
                <a:spcPct val="90000"/>
              </a:lnSpc>
              <a:spcAft>
                <a:spcPts val="0"/>
              </a:spcAft>
              <a:defRPr/>
            </a:pPr>
            <a:r>
              <a:rPr lang="en-US" altLang="zh-CN" kern="100" dirty="0"/>
              <a:t>  {</a:t>
            </a:r>
            <a:endParaRPr lang="zh-CN" altLang="zh-CN" kern="100" dirty="0"/>
          </a:p>
          <a:p>
            <a:pPr marL="195580" indent="-195580" algn="just">
              <a:lnSpc>
                <a:spcPct val="90000"/>
              </a:lnSpc>
              <a:spcAft>
                <a:spcPts val="0"/>
              </a:spcAft>
              <a:defRPr/>
            </a:pPr>
            <a:r>
              <a:rPr lang="en-US" altLang="zh-CN" kern="100" dirty="0"/>
              <a:t>    if (</a:t>
            </a:r>
            <a:r>
              <a:rPr lang="en-US" altLang="zh-CN" kern="100" dirty="0" err="1"/>
              <a:t>X</a:t>
            </a:r>
            <a:r>
              <a:rPr lang="en-US" altLang="zh-CN" kern="100" baseline="-25000" dirty="0" err="1"/>
              <a:t>j</a:t>
            </a:r>
            <a:r>
              <a:rPr lang="en-US" altLang="zh-CN" kern="100" dirty="0"/>
              <a:t> == token)  {    //</a:t>
            </a:r>
            <a:r>
              <a:rPr lang="zh-CN" altLang="zh-CN" kern="100" dirty="0"/>
              <a:t>与当前输入符号相同，即匹配</a:t>
            </a:r>
          </a:p>
          <a:p>
            <a:pPr marL="266700" indent="225425" algn="just">
              <a:lnSpc>
                <a:spcPct val="90000"/>
              </a:lnSpc>
              <a:spcAft>
                <a:spcPts val="0"/>
              </a:spcAft>
              <a:defRPr/>
            </a:pPr>
            <a:r>
              <a:rPr lang="en-US" altLang="zh-CN" kern="100" dirty="0"/>
              <a:t>token = </a:t>
            </a:r>
            <a:r>
              <a:rPr lang="en-US" altLang="zh-CN" kern="100" dirty="0" err="1"/>
              <a:t>GetNextToken</a:t>
            </a:r>
            <a:r>
              <a:rPr lang="en-US" altLang="zh-CN" kern="100" dirty="0"/>
              <a:t>( ); // </a:t>
            </a:r>
            <a:r>
              <a:rPr lang="zh-CN" altLang="zh-CN" kern="100" dirty="0"/>
              <a:t>取下一个符号到</a:t>
            </a:r>
            <a:r>
              <a:rPr lang="en-US" altLang="zh-CN" kern="100" dirty="0"/>
              <a:t>token</a:t>
            </a:r>
            <a:r>
              <a:rPr lang="zh-CN" altLang="zh-CN" kern="100" dirty="0"/>
              <a:t>中</a:t>
            </a:r>
          </a:p>
          <a:p>
            <a:pPr marL="266700" indent="225425" algn="just">
              <a:lnSpc>
                <a:spcPct val="90000"/>
              </a:lnSpc>
              <a:spcAft>
                <a:spcPts val="0"/>
              </a:spcAft>
              <a:defRPr/>
            </a:pPr>
            <a:r>
              <a:rPr lang="en-US" altLang="zh-CN" kern="100" dirty="0"/>
              <a:t>return;                  //</a:t>
            </a:r>
            <a:r>
              <a:rPr lang="zh-CN" altLang="zh-CN" kern="100" dirty="0"/>
              <a:t>匹配时直接返回</a:t>
            </a:r>
          </a:p>
          <a:p>
            <a:pPr marL="266700" indent="75565" algn="just">
              <a:lnSpc>
                <a:spcPct val="90000"/>
              </a:lnSpc>
              <a:spcAft>
                <a:spcPts val="0"/>
              </a:spcAft>
              <a:defRPr/>
            </a:pPr>
            <a:r>
              <a:rPr lang="en-US" altLang="zh-CN" kern="100" dirty="0"/>
              <a:t>}</a:t>
            </a:r>
            <a:endParaRPr lang="zh-CN" altLang="zh-CN" kern="100" dirty="0"/>
          </a:p>
          <a:p>
            <a:pPr marL="195580" indent="-195580" algn="just">
              <a:lnSpc>
                <a:spcPct val="90000"/>
              </a:lnSpc>
              <a:spcAft>
                <a:spcPts val="0"/>
              </a:spcAft>
              <a:defRPr/>
            </a:pPr>
            <a:r>
              <a:rPr lang="en-US" altLang="zh-CN" kern="100" dirty="0"/>
              <a:t>    else error ( );  // </a:t>
            </a:r>
            <a:r>
              <a:rPr lang="zh-CN" altLang="zh-CN" kern="100" dirty="0"/>
              <a:t>不匹配，进行出错处理</a:t>
            </a:r>
          </a:p>
          <a:p>
            <a:pPr algn="just">
              <a:lnSpc>
                <a:spcPct val="90000"/>
              </a:lnSpc>
              <a:spcAft>
                <a:spcPts val="0"/>
              </a:spcAft>
              <a:defRPr/>
            </a:pPr>
            <a:r>
              <a:rPr lang="en-US" altLang="zh-CN" kern="100" dirty="0"/>
              <a:t>  }</a:t>
            </a:r>
            <a:endParaRPr lang="zh-CN" altLang="zh-CN" kern="100" dirty="0"/>
          </a:p>
        </p:txBody>
      </p:sp>
      <p:sp>
        <p:nvSpPr>
          <p:cNvPr id="2" name="矩形 1"/>
          <p:cNvSpPr/>
          <p:nvPr/>
        </p:nvSpPr>
        <p:spPr>
          <a:xfrm>
            <a:off x="5070475" y="0"/>
            <a:ext cx="4073525" cy="3340145"/>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lnSpc>
                <a:spcPct val="90000"/>
              </a:lnSpc>
              <a:defRPr/>
            </a:pPr>
            <a:r>
              <a:rPr lang="en-US" altLang="zh-CN" dirty="0"/>
              <a:t>void </a:t>
            </a:r>
            <a:r>
              <a:rPr lang="en-US" altLang="zh-CN" dirty="0" err="1"/>
              <a:t>U</a:t>
            </a:r>
            <a:r>
              <a:rPr lang="en-US" altLang="zh-CN" baseline="-25000" dirty="0" err="1"/>
              <a:t>i</a:t>
            </a:r>
            <a:r>
              <a:rPr lang="en-US" altLang="zh-CN" dirty="0"/>
              <a:t>( )</a:t>
            </a:r>
            <a:endParaRPr lang="zh-CN" altLang="zh-CN" dirty="0"/>
          </a:p>
          <a:p>
            <a:pPr>
              <a:lnSpc>
                <a:spcPct val="90000"/>
              </a:lnSpc>
              <a:defRPr/>
            </a:pPr>
            <a:r>
              <a:rPr lang="en-US" altLang="zh-CN" dirty="0"/>
              <a:t>{</a:t>
            </a:r>
            <a:endParaRPr lang="zh-CN" altLang="zh-CN" dirty="0"/>
          </a:p>
          <a:p>
            <a:pPr indent="442913">
              <a:lnSpc>
                <a:spcPct val="90000"/>
              </a:lnSpc>
              <a:defRPr/>
            </a:pPr>
            <a:r>
              <a:rPr lang="en-US" altLang="zh-CN" dirty="0"/>
              <a:t>if (X</a:t>
            </a:r>
            <a:r>
              <a:rPr lang="en-US" altLang="zh-CN" baseline="-25000" dirty="0"/>
              <a:t>1</a:t>
            </a:r>
            <a:r>
              <a:rPr lang="zh-CN" altLang="zh-CN" dirty="0"/>
              <a:t>∈</a:t>
            </a:r>
            <a:r>
              <a:rPr lang="en-US" altLang="zh-CN" dirty="0"/>
              <a:t>V</a:t>
            </a:r>
            <a:r>
              <a:rPr lang="en-US" altLang="zh-CN" baseline="-25000" dirty="0"/>
              <a:t>N</a:t>
            </a:r>
            <a:r>
              <a:rPr lang="en-US" altLang="zh-CN" dirty="0"/>
              <a:t>)         //</a:t>
            </a:r>
            <a:r>
              <a:rPr lang="zh-CN" altLang="zh-CN" dirty="0"/>
              <a:t>处理</a:t>
            </a:r>
            <a:r>
              <a:rPr lang="en-US" altLang="zh-CN" dirty="0"/>
              <a:t>X</a:t>
            </a:r>
            <a:r>
              <a:rPr lang="en-US" altLang="zh-CN" baseline="-25000" dirty="0"/>
              <a:t>1</a:t>
            </a:r>
            <a:endParaRPr lang="zh-CN" altLang="zh-CN" dirty="0"/>
          </a:p>
          <a:p>
            <a:pPr indent="442913">
              <a:lnSpc>
                <a:spcPct val="90000"/>
              </a:lnSpc>
              <a:defRPr/>
            </a:pPr>
            <a:r>
              <a:rPr lang="en-US" altLang="zh-CN" dirty="0"/>
              <a:t>    X</a:t>
            </a:r>
            <a:r>
              <a:rPr lang="en-US" altLang="zh-CN" baseline="-25000" dirty="0"/>
              <a:t>1</a:t>
            </a:r>
            <a:r>
              <a:rPr lang="en-US" altLang="zh-CN" dirty="0"/>
              <a:t>( );    </a:t>
            </a:r>
            <a:endParaRPr lang="zh-CN" altLang="zh-CN" dirty="0"/>
          </a:p>
          <a:p>
            <a:pPr indent="442913">
              <a:lnSpc>
                <a:spcPct val="90000"/>
              </a:lnSpc>
              <a:defRPr/>
            </a:pPr>
            <a:r>
              <a:rPr lang="en-US" altLang="zh-CN" dirty="0"/>
              <a:t>else  match(token ); </a:t>
            </a:r>
            <a:endParaRPr lang="zh-CN" altLang="zh-CN" dirty="0"/>
          </a:p>
          <a:p>
            <a:pPr indent="442913">
              <a:lnSpc>
                <a:spcPct val="90000"/>
              </a:lnSpc>
              <a:defRPr/>
            </a:pPr>
            <a:r>
              <a:rPr lang="en-US" altLang="zh-CN" dirty="0">
                <a:solidFill>
                  <a:srgbClr val="FF0000"/>
                </a:solidFill>
              </a:rPr>
              <a:t>if (X</a:t>
            </a:r>
            <a:r>
              <a:rPr lang="en-US" altLang="zh-CN" baseline="-25000" dirty="0">
                <a:solidFill>
                  <a:srgbClr val="FF0000"/>
                </a:solidFill>
              </a:rPr>
              <a:t>2</a:t>
            </a:r>
            <a:r>
              <a:rPr lang="zh-CN" altLang="zh-CN" dirty="0">
                <a:solidFill>
                  <a:srgbClr val="FF0000"/>
                </a:solidFill>
              </a:rPr>
              <a:t>∈</a:t>
            </a:r>
            <a:r>
              <a:rPr lang="en-US" altLang="zh-CN" dirty="0">
                <a:solidFill>
                  <a:srgbClr val="FF0000"/>
                </a:solidFill>
              </a:rPr>
              <a:t>V</a:t>
            </a:r>
            <a:r>
              <a:rPr lang="en-US" altLang="zh-CN" baseline="-25000" dirty="0">
                <a:solidFill>
                  <a:srgbClr val="FF0000"/>
                </a:solidFill>
              </a:rPr>
              <a:t>N</a:t>
            </a:r>
            <a:r>
              <a:rPr lang="en-US" altLang="zh-CN" dirty="0">
                <a:solidFill>
                  <a:srgbClr val="FF0000"/>
                </a:solidFill>
              </a:rPr>
              <a:t>)         //</a:t>
            </a:r>
            <a:r>
              <a:rPr lang="zh-CN" altLang="zh-CN" dirty="0">
                <a:solidFill>
                  <a:srgbClr val="FF0000"/>
                </a:solidFill>
              </a:rPr>
              <a:t>处理</a:t>
            </a:r>
            <a:r>
              <a:rPr lang="en-US" altLang="zh-CN" dirty="0">
                <a:solidFill>
                  <a:srgbClr val="FF0000"/>
                </a:solidFill>
              </a:rPr>
              <a:t>X</a:t>
            </a:r>
            <a:r>
              <a:rPr lang="en-US" altLang="zh-CN" baseline="-25000" dirty="0">
                <a:solidFill>
                  <a:srgbClr val="FF0000"/>
                </a:solidFill>
              </a:rPr>
              <a:t>2</a:t>
            </a:r>
            <a:endParaRPr lang="zh-CN" altLang="zh-CN" dirty="0">
              <a:solidFill>
                <a:srgbClr val="FF0000"/>
              </a:solidFill>
            </a:endParaRPr>
          </a:p>
          <a:p>
            <a:pPr indent="442913">
              <a:lnSpc>
                <a:spcPct val="90000"/>
              </a:lnSpc>
              <a:defRPr/>
            </a:pPr>
            <a:r>
              <a:rPr lang="en-US" altLang="zh-CN" dirty="0">
                <a:solidFill>
                  <a:srgbClr val="FF0000"/>
                </a:solidFill>
              </a:rPr>
              <a:t>    X</a:t>
            </a:r>
            <a:r>
              <a:rPr lang="en-US" altLang="zh-CN" baseline="-25000" dirty="0">
                <a:solidFill>
                  <a:srgbClr val="FF0000"/>
                </a:solidFill>
              </a:rPr>
              <a:t>2</a:t>
            </a:r>
            <a:r>
              <a:rPr lang="en-US" altLang="zh-CN" dirty="0">
                <a:solidFill>
                  <a:srgbClr val="FF0000"/>
                </a:solidFill>
              </a:rPr>
              <a:t>( );  </a:t>
            </a:r>
            <a:endParaRPr lang="zh-CN" altLang="zh-CN" dirty="0">
              <a:solidFill>
                <a:srgbClr val="FF0000"/>
              </a:solidFill>
            </a:endParaRPr>
          </a:p>
          <a:p>
            <a:pPr indent="442913">
              <a:lnSpc>
                <a:spcPct val="90000"/>
              </a:lnSpc>
              <a:defRPr/>
            </a:pPr>
            <a:r>
              <a:rPr lang="en-US" altLang="zh-CN" dirty="0">
                <a:solidFill>
                  <a:srgbClr val="FF0000"/>
                </a:solidFill>
              </a:rPr>
              <a:t>else match(token ); </a:t>
            </a:r>
            <a:endParaRPr lang="zh-CN" altLang="zh-CN" dirty="0">
              <a:solidFill>
                <a:srgbClr val="FF0000"/>
              </a:solidFill>
            </a:endParaRPr>
          </a:p>
          <a:p>
            <a:pPr indent="442913">
              <a:lnSpc>
                <a:spcPct val="90000"/>
              </a:lnSpc>
              <a:defRPr/>
            </a:pPr>
            <a:r>
              <a:rPr lang="en-US" altLang="zh-CN" dirty="0"/>
              <a:t>…</a:t>
            </a:r>
            <a:endParaRPr lang="zh-CN" altLang="zh-CN" dirty="0"/>
          </a:p>
          <a:p>
            <a:pPr indent="442913">
              <a:lnSpc>
                <a:spcPct val="90000"/>
              </a:lnSpc>
              <a:defRPr/>
            </a:pPr>
            <a:r>
              <a:rPr lang="en-US" altLang="zh-CN" dirty="0">
                <a:solidFill>
                  <a:srgbClr val="0000CC"/>
                </a:solidFill>
              </a:rPr>
              <a:t>if (</a:t>
            </a:r>
            <a:r>
              <a:rPr lang="en-US" altLang="zh-CN" dirty="0" err="1">
                <a:solidFill>
                  <a:srgbClr val="0000CC"/>
                </a:solidFill>
              </a:rPr>
              <a:t>X</a:t>
            </a:r>
            <a:r>
              <a:rPr lang="en-US" altLang="zh-CN" baseline="-25000" dirty="0" err="1">
                <a:solidFill>
                  <a:srgbClr val="0000CC"/>
                </a:solidFill>
              </a:rPr>
              <a:t>m</a:t>
            </a:r>
            <a:r>
              <a:rPr lang="zh-CN" altLang="zh-CN" dirty="0">
                <a:solidFill>
                  <a:srgbClr val="0000CC"/>
                </a:solidFill>
              </a:rPr>
              <a:t>∈</a:t>
            </a:r>
            <a:r>
              <a:rPr lang="en-US" altLang="zh-CN" dirty="0">
                <a:solidFill>
                  <a:srgbClr val="0000CC"/>
                </a:solidFill>
              </a:rPr>
              <a:t>V</a:t>
            </a:r>
            <a:r>
              <a:rPr lang="en-US" altLang="zh-CN" baseline="-25000" dirty="0">
                <a:solidFill>
                  <a:srgbClr val="0000CC"/>
                </a:solidFill>
              </a:rPr>
              <a:t>N</a:t>
            </a:r>
            <a:r>
              <a:rPr lang="en-US" altLang="zh-CN" dirty="0">
                <a:solidFill>
                  <a:srgbClr val="0000CC"/>
                </a:solidFill>
              </a:rPr>
              <a:t>)         //</a:t>
            </a:r>
            <a:r>
              <a:rPr lang="zh-CN" altLang="zh-CN" dirty="0">
                <a:solidFill>
                  <a:srgbClr val="0000CC"/>
                </a:solidFill>
              </a:rPr>
              <a:t>处理</a:t>
            </a:r>
            <a:r>
              <a:rPr lang="en-US" altLang="zh-CN" dirty="0" err="1">
                <a:solidFill>
                  <a:srgbClr val="0000CC"/>
                </a:solidFill>
              </a:rPr>
              <a:t>X</a:t>
            </a:r>
            <a:r>
              <a:rPr lang="en-US" altLang="zh-CN" baseline="-25000" dirty="0" err="1">
                <a:solidFill>
                  <a:srgbClr val="0000CC"/>
                </a:solidFill>
              </a:rPr>
              <a:t>m</a:t>
            </a:r>
            <a:endParaRPr lang="zh-CN" altLang="zh-CN" dirty="0">
              <a:solidFill>
                <a:srgbClr val="0000CC"/>
              </a:solidFill>
            </a:endParaRPr>
          </a:p>
          <a:p>
            <a:pPr indent="442913">
              <a:lnSpc>
                <a:spcPct val="90000"/>
              </a:lnSpc>
              <a:defRPr/>
            </a:pPr>
            <a:r>
              <a:rPr lang="en-US" altLang="zh-CN" dirty="0">
                <a:solidFill>
                  <a:srgbClr val="0000CC"/>
                </a:solidFill>
              </a:rPr>
              <a:t>   </a:t>
            </a:r>
            <a:r>
              <a:rPr lang="en-US" altLang="zh-CN" dirty="0" err="1">
                <a:solidFill>
                  <a:srgbClr val="0000CC"/>
                </a:solidFill>
              </a:rPr>
              <a:t>X</a:t>
            </a:r>
            <a:r>
              <a:rPr lang="en-US" altLang="zh-CN" baseline="-25000" dirty="0" err="1">
                <a:solidFill>
                  <a:srgbClr val="0000CC"/>
                </a:solidFill>
              </a:rPr>
              <a:t>m</a:t>
            </a:r>
            <a:r>
              <a:rPr lang="en-US" altLang="zh-CN" dirty="0">
                <a:solidFill>
                  <a:srgbClr val="0000CC"/>
                </a:solidFill>
              </a:rPr>
              <a:t>( );  </a:t>
            </a:r>
            <a:endParaRPr lang="zh-CN" altLang="zh-CN" dirty="0">
              <a:solidFill>
                <a:srgbClr val="0000CC"/>
              </a:solidFill>
            </a:endParaRPr>
          </a:p>
          <a:p>
            <a:pPr indent="442913">
              <a:lnSpc>
                <a:spcPct val="90000"/>
              </a:lnSpc>
              <a:defRPr/>
            </a:pPr>
            <a:r>
              <a:rPr lang="en-US" altLang="zh-CN" dirty="0">
                <a:solidFill>
                  <a:srgbClr val="0000CC"/>
                </a:solidFill>
              </a:rPr>
              <a:t>else  match(token ); </a:t>
            </a:r>
            <a:endParaRPr lang="zh-CN" altLang="zh-CN" dirty="0">
              <a:solidFill>
                <a:srgbClr val="0000CC"/>
              </a:solidFill>
            </a:endParaRPr>
          </a:p>
          <a:p>
            <a:pPr>
              <a:lnSpc>
                <a:spcPct val="90000"/>
              </a:lnSpc>
              <a:defRPr/>
            </a:pPr>
            <a:r>
              <a:rPr lang="en-US" altLang="zh-CN" dirty="0"/>
              <a:t>}</a:t>
            </a:r>
            <a:endParaRPr lang="zh-CN" altLang="en-US" dirty="0"/>
          </a:p>
        </p:txBody>
      </p:sp>
    </p:spTree>
    <p:extLst>
      <p:ext uri="{BB962C8B-B14F-4D97-AF65-F5344CB8AC3E}">
        <p14:creationId xmlns:p14="http://schemas.microsoft.com/office/powerpoint/2010/main" val="39995169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3"/>
          <p:cNvSpPr>
            <a:spLocks noGrp="1" noChangeArrowheads="1"/>
          </p:cNvSpPr>
          <p:nvPr>
            <p:ph type="body" idx="1"/>
          </p:nvPr>
        </p:nvSpPr>
        <p:spPr>
          <a:xfrm>
            <a:off x="58738" y="71438"/>
            <a:ext cx="1744662" cy="1108075"/>
          </a:xfrm>
        </p:spPr>
        <p:txBody>
          <a:bodyPr>
            <a:normAutofit fontScale="77500" lnSpcReduction="20000"/>
          </a:bodyPr>
          <a:lstStyle/>
          <a:p>
            <a:pPr marL="0" indent="0" eaLnBrk="1" hangingPunct="1">
              <a:buFontTx/>
              <a:buNone/>
            </a:pPr>
            <a:r>
              <a:rPr lang="zh-CN" altLang="en-US" sz="2500" dirty="0">
                <a:latin typeface="宋体" panose="02010600030101010101" pitchFamily="2" charset="-122"/>
                <a:ea typeface="宋体" panose="02010600030101010101" pitchFamily="2" charset="-122"/>
              </a:rPr>
              <a:t>例：简单算术表达式的递归下降分析</a:t>
            </a:r>
            <a:endParaRPr lang="en-US" altLang="zh-CN" sz="2500" dirty="0">
              <a:latin typeface="宋体" panose="02010600030101010101" pitchFamily="2" charset="-122"/>
              <a:ea typeface="宋体" panose="02010600030101010101" pitchFamily="2" charset="-122"/>
            </a:endParaRPr>
          </a:p>
        </p:txBody>
      </p:sp>
      <p:sp>
        <p:nvSpPr>
          <p:cNvPr id="191492" name="Rectangle 4"/>
          <p:cNvSpPr>
            <a:spLocks noChangeArrowheads="1"/>
          </p:cNvSpPr>
          <p:nvPr/>
        </p:nvSpPr>
        <p:spPr bwMode="auto">
          <a:xfrm>
            <a:off x="38422" y="2371031"/>
            <a:ext cx="1951996" cy="1338828"/>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1800" dirty="0"/>
              <a:t>E </a:t>
            </a:r>
            <a:r>
              <a:rPr lang="en-US" altLang="zh-CN" sz="1800" dirty="0">
                <a:sym typeface="Wingdings" pitchFamily="2" charset="2"/>
              </a:rPr>
              <a:t></a:t>
            </a:r>
            <a:r>
              <a:rPr lang="en-US" altLang="zh-CN" sz="1800" dirty="0"/>
              <a:t>TE'</a:t>
            </a:r>
            <a:br>
              <a:rPr lang="en-US" altLang="zh-CN" sz="1800" dirty="0"/>
            </a:br>
            <a:r>
              <a:rPr lang="en-US" altLang="zh-CN" sz="1800" dirty="0"/>
              <a:t>E' </a:t>
            </a:r>
            <a:r>
              <a:rPr lang="en-US" altLang="zh-CN" sz="1800" dirty="0">
                <a:sym typeface="Wingdings" pitchFamily="2" charset="2"/>
              </a:rPr>
              <a:t></a:t>
            </a:r>
            <a:r>
              <a:rPr lang="en-US" altLang="zh-CN" sz="1800" dirty="0"/>
              <a:t> +TE' |ε</a:t>
            </a:r>
            <a:br>
              <a:rPr lang="en-US" altLang="zh-CN" sz="1800" dirty="0"/>
            </a:br>
            <a:r>
              <a:rPr lang="en-US" altLang="zh-CN" sz="1800" dirty="0"/>
              <a:t>T </a:t>
            </a:r>
            <a:r>
              <a:rPr lang="en-US" altLang="zh-CN" sz="1800" dirty="0">
                <a:sym typeface="Wingdings" pitchFamily="2" charset="2"/>
              </a:rPr>
              <a:t></a:t>
            </a:r>
            <a:r>
              <a:rPr lang="en-US" altLang="zh-CN" sz="1800" dirty="0"/>
              <a:t> FT'</a:t>
            </a:r>
            <a:br>
              <a:rPr lang="en-US" altLang="zh-CN" sz="1800" dirty="0"/>
            </a:br>
            <a:r>
              <a:rPr lang="en-US" altLang="zh-CN" sz="1800" dirty="0"/>
              <a:t>T' </a:t>
            </a:r>
            <a:r>
              <a:rPr lang="en-US" altLang="zh-CN" sz="1800" dirty="0">
                <a:sym typeface="Wingdings" pitchFamily="2" charset="2"/>
              </a:rPr>
              <a:t></a:t>
            </a:r>
            <a:r>
              <a:rPr lang="en-US" altLang="zh-CN" sz="1800" dirty="0"/>
              <a:t> *FT' |ε</a:t>
            </a:r>
            <a:br>
              <a:rPr lang="en-US" altLang="zh-CN" sz="1800" dirty="0"/>
            </a:br>
            <a:r>
              <a:rPr lang="en-US" altLang="zh-CN" sz="1800" dirty="0"/>
              <a:t>F </a:t>
            </a:r>
            <a:r>
              <a:rPr lang="en-US" altLang="zh-CN" sz="1800" dirty="0">
                <a:sym typeface="Wingdings" pitchFamily="2" charset="2"/>
              </a:rPr>
              <a:t></a:t>
            </a:r>
            <a:r>
              <a:rPr lang="en-US" altLang="zh-CN" sz="1800" dirty="0"/>
              <a:t>(E) |</a:t>
            </a:r>
            <a:r>
              <a:rPr lang="en-US" altLang="zh-CN" sz="1800" dirty="0" err="1"/>
              <a:t>i</a:t>
            </a:r>
            <a:r>
              <a:rPr lang="en-US" altLang="zh-CN" sz="1800" dirty="0"/>
              <a:t> </a:t>
            </a:r>
          </a:p>
        </p:txBody>
      </p:sp>
      <p:graphicFrame>
        <p:nvGraphicFramePr>
          <p:cNvPr id="5" name="表格 4"/>
          <p:cNvGraphicFramePr>
            <a:graphicFrameLocks noGrp="1"/>
          </p:cNvGraphicFramePr>
          <p:nvPr>
            <p:extLst>
              <p:ext uri="{D42A27DB-BD31-4B8C-83A1-F6EECF244321}">
                <p14:modId xmlns:p14="http://schemas.microsoft.com/office/powerpoint/2010/main" val="1020099275"/>
              </p:ext>
            </p:extLst>
          </p:nvPr>
        </p:nvGraphicFramePr>
        <p:xfrm>
          <a:off x="2290663" y="43398"/>
          <a:ext cx="6853337" cy="5120640"/>
        </p:xfrm>
        <a:graphic>
          <a:graphicData uri="http://schemas.openxmlformats.org/drawingml/2006/table">
            <a:tbl>
              <a:tblPr/>
              <a:tblGrid>
                <a:gridCol w="3452694">
                  <a:extLst>
                    <a:ext uri="{9D8B030D-6E8A-4147-A177-3AD203B41FA5}">
                      <a16:colId xmlns:a16="http://schemas.microsoft.com/office/drawing/2014/main" val="20000"/>
                    </a:ext>
                  </a:extLst>
                </a:gridCol>
                <a:gridCol w="3400643">
                  <a:extLst>
                    <a:ext uri="{9D8B030D-6E8A-4147-A177-3AD203B41FA5}">
                      <a16:colId xmlns:a16="http://schemas.microsoft.com/office/drawing/2014/main" val="20001"/>
                    </a:ext>
                  </a:extLst>
                </a:gridCol>
              </a:tblGrid>
              <a:tr h="1263951">
                <a:tc>
                  <a:txBody>
                    <a:bodyPr/>
                    <a:lstStyle/>
                    <a:p>
                      <a:pPr algn="just">
                        <a:lnSpc>
                          <a:spcPct val="100000"/>
                        </a:lnSpc>
                        <a:spcAft>
                          <a:spcPts val="0"/>
                        </a:spcAft>
                      </a:pPr>
                      <a:r>
                        <a:rPr lang="en-US" altLang="zh-CN" sz="1400" kern="100" dirty="0">
                          <a:latin typeface="Times New Roman"/>
                          <a:ea typeface="宋体"/>
                          <a:cs typeface="Times New Roman"/>
                        </a:rPr>
                        <a:t>//</a:t>
                      </a:r>
                      <a:r>
                        <a:rPr lang="zh-CN" sz="1400" kern="100" dirty="0">
                          <a:latin typeface="Times New Roman"/>
                          <a:ea typeface="宋体"/>
                          <a:cs typeface="Times New Roman"/>
                        </a:rPr>
                        <a:t>对非终结符</a:t>
                      </a:r>
                      <a:r>
                        <a:rPr lang="fr-FR" sz="1400" kern="100" dirty="0">
                          <a:latin typeface="Times New Roman"/>
                          <a:ea typeface="宋体"/>
                          <a:cs typeface="Times New Roman"/>
                        </a:rPr>
                        <a:t>E</a:t>
                      </a:r>
                      <a:r>
                        <a:rPr lang="zh-CN" sz="1400" kern="100" dirty="0">
                          <a:latin typeface="Times New Roman"/>
                          <a:ea typeface="宋体"/>
                          <a:cs typeface="Times New Roman"/>
                        </a:rPr>
                        <a:t>，候选式为</a:t>
                      </a:r>
                      <a:r>
                        <a:rPr lang="fr-FR" sz="1400" kern="100" dirty="0">
                          <a:latin typeface="Times New Roman"/>
                          <a:ea typeface="宋体"/>
                          <a:cs typeface="Times New Roman"/>
                        </a:rPr>
                        <a:t>E→TE'</a:t>
                      </a:r>
                      <a:endParaRPr lang="zh-CN" sz="1400" kern="100" dirty="0">
                        <a:latin typeface="Times New Roman"/>
                        <a:ea typeface="宋体"/>
                        <a:cs typeface="Times New Roman"/>
                      </a:endParaRPr>
                    </a:p>
                    <a:p>
                      <a:pPr marL="266700" indent="-266700" algn="just">
                        <a:lnSpc>
                          <a:spcPct val="100000"/>
                        </a:lnSpc>
                        <a:spcAft>
                          <a:spcPts val="0"/>
                        </a:spcAft>
                      </a:pPr>
                      <a:r>
                        <a:rPr lang="en-US" sz="1400" kern="100" dirty="0">
                          <a:latin typeface="Times New Roman"/>
                          <a:ea typeface="宋体"/>
                          <a:cs typeface="Times New Roman"/>
                        </a:rPr>
                        <a:t>void E( )</a:t>
                      </a:r>
                      <a:endParaRPr lang="zh-CN" sz="1400" kern="100" dirty="0">
                        <a:latin typeface="Times New Roman"/>
                        <a:ea typeface="宋体"/>
                        <a:cs typeface="Times New Roman"/>
                      </a:endParaRPr>
                    </a:p>
                    <a:p>
                      <a:pPr marL="266700" algn="just">
                        <a:lnSpc>
                          <a:spcPct val="100000"/>
                        </a:lnSpc>
                        <a:spcAft>
                          <a:spcPts val="0"/>
                        </a:spcAft>
                      </a:pPr>
                      <a:r>
                        <a:rPr lang="en-US" sz="1400" kern="100" dirty="0">
                          <a:latin typeface="Times New Roman"/>
                          <a:ea typeface="宋体"/>
                          <a:cs typeface="Times New Roman"/>
                        </a:rPr>
                        <a:t>{</a:t>
                      </a:r>
                      <a:endParaRPr lang="zh-CN" sz="1400" kern="100" dirty="0">
                        <a:latin typeface="Times New Roman"/>
                        <a:ea typeface="宋体"/>
                        <a:cs typeface="Times New Roman"/>
                      </a:endParaRPr>
                    </a:p>
                    <a:p>
                      <a:pPr marL="266700" algn="just">
                        <a:lnSpc>
                          <a:spcPct val="100000"/>
                        </a:lnSpc>
                        <a:spcAft>
                          <a:spcPts val="0"/>
                        </a:spcAft>
                      </a:pPr>
                      <a:r>
                        <a:rPr lang="en-US" sz="1400" kern="100" dirty="0">
                          <a:latin typeface="Times New Roman"/>
                          <a:ea typeface="宋体"/>
                          <a:cs typeface="Times New Roman"/>
                        </a:rPr>
                        <a:t>    T( );</a:t>
                      </a:r>
                      <a:endParaRPr lang="zh-CN" sz="1400" kern="100" dirty="0">
                        <a:latin typeface="Times New Roman"/>
                        <a:ea typeface="宋体"/>
                        <a:cs typeface="Times New Roman"/>
                      </a:endParaRPr>
                    </a:p>
                    <a:p>
                      <a:pPr marL="266700" algn="just">
                        <a:lnSpc>
                          <a:spcPct val="100000"/>
                        </a:lnSpc>
                        <a:spcAft>
                          <a:spcPts val="0"/>
                        </a:spcAft>
                      </a:pPr>
                      <a:r>
                        <a:rPr lang="en-US" sz="1400" kern="100" dirty="0">
                          <a:latin typeface="Times New Roman"/>
                          <a:ea typeface="宋体"/>
                          <a:cs typeface="Times New Roman"/>
                        </a:rPr>
                        <a:t>    E'( );</a:t>
                      </a:r>
                      <a:endParaRPr lang="zh-CN" sz="1400" kern="100" dirty="0">
                        <a:latin typeface="Times New Roman"/>
                        <a:ea typeface="宋体"/>
                        <a:cs typeface="Times New Roman"/>
                      </a:endParaRPr>
                    </a:p>
                    <a:p>
                      <a:pPr algn="just">
                        <a:lnSpc>
                          <a:spcPct val="100000"/>
                        </a:lnSpc>
                        <a:spcAft>
                          <a:spcPts val="0"/>
                        </a:spcAft>
                      </a:pPr>
                      <a:r>
                        <a:rPr lang="en-US" altLang="zh-CN" sz="1400" kern="100" dirty="0">
                          <a:latin typeface="Times New Roman"/>
                          <a:ea typeface="宋体"/>
                          <a:cs typeface="Times New Roman"/>
                        </a:rPr>
                        <a:t>     }</a:t>
                      </a:r>
                      <a:endParaRPr lang="zh-CN" sz="1400" kern="100" dirty="0">
                        <a:latin typeface="Times New Roman"/>
                        <a:ea typeface="宋体"/>
                        <a:cs typeface="Times New Roman"/>
                      </a:endParaRPr>
                    </a:p>
                  </a:txBody>
                  <a:tcPr marL="68576" marR="6857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ct val="100000"/>
                        </a:lnSpc>
                        <a:spcAft>
                          <a:spcPts val="0"/>
                        </a:spcAft>
                      </a:pPr>
                      <a:r>
                        <a:rPr lang="en-US" altLang="zh-CN" sz="1400" kern="100" dirty="0">
                          <a:latin typeface="Times New Roman"/>
                          <a:ea typeface="宋体"/>
                          <a:cs typeface="Times New Roman"/>
                        </a:rPr>
                        <a:t>//</a:t>
                      </a:r>
                      <a:r>
                        <a:rPr lang="zh-CN" sz="1400" kern="100" dirty="0">
                          <a:latin typeface="Times New Roman"/>
                          <a:ea typeface="宋体"/>
                          <a:cs typeface="Times New Roman"/>
                        </a:rPr>
                        <a:t>对非终结符</a:t>
                      </a:r>
                      <a:r>
                        <a:rPr lang="fr-FR" sz="1400" kern="100" dirty="0">
                          <a:latin typeface="Times New Roman"/>
                          <a:ea typeface="宋体"/>
                          <a:cs typeface="Times New Roman"/>
                        </a:rPr>
                        <a:t>F</a:t>
                      </a:r>
                      <a:r>
                        <a:rPr lang="zh-CN" sz="1400" kern="100" dirty="0">
                          <a:latin typeface="Times New Roman"/>
                          <a:ea typeface="宋体"/>
                          <a:cs typeface="Times New Roman"/>
                        </a:rPr>
                        <a:t>，候选式为</a:t>
                      </a:r>
                      <a:r>
                        <a:rPr lang="en-US" sz="1400" kern="100" dirty="0" err="1">
                          <a:latin typeface="Times New Roman"/>
                          <a:ea typeface="宋体"/>
                          <a:cs typeface="Times New Roman"/>
                        </a:rPr>
                        <a:t>F→i</a:t>
                      </a:r>
                      <a:r>
                        <a:rPr lang="en-US" sz="1400" kern="100" dirty="0">
                          <a:latin typeface="Times New Roman"/>
                          <a:ea typeface="宋体"/>
                          <a:cs typeface="Times New Roman"/>
                        </a:rPr>
                        <a:t>|(E)</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void F(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if (token=='(')</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match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E( );</a:t>
                      </a:r>
                      <a:endParaRPr lang="zh-CN" sz="1400" kern="100" dirty="0">
                        <a:latin typeface="Times New Roman"/>
                        <a:ea typeface="宋体"/>
                        <a:cs typeface="Times New Roman"/>
                      </a:endParaRPr>
                    </a:p>
                    <a:p>
                      <a:pPr indent="514350" algn="just">
                        <a:lnSpc>
                          <a:spcPct val="100000"/>
                        </a:lnSpc>
                        <a:spcAft>
                          <a:spcPts val="0"/>
                        </a:spcAft>
                      </a:pPr>
                      <a:r>
                        <a:rPr lang="en-US" sz="1400" kern="100" dirty="0">
                          <a:latin typeface="Times New Roman"/>
                          <a:ea typeface="宋体"/>
                          <a:cs typeface="Times New Roman"/>
                        </a:rPr>
                        <a:t>if (</a:t>
                      </a:r>
                      <a:r>
                        <a:rPr lang="en-US" altLang="zh-CN" sz="1400" kern="100" dirty="0">
                          <a:latin typeface="+mn-lt"/>
                          <a:ea typeface="+mn-ea"/>
                          <a:cs typeface="Times New Roman"/>
                        </a:rPr>
                        <a:t>token</a:t>
                      </a:r>
                      <a:r>
                        <a:rPr lang="en-US" sz="1400" kern="100" dirty="0">
                          <a:latin typeface="Times New Roman"/>
                          <a:ea typeface="宋体"/>
                          <a:cs typeface="Times New Roman"/>
                        </a:rPr>
                        <a:t>==')')  match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else error (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else if (</a:t>
                      </a:r>
                      <a:r>
                        <a:rPr lang="en-US" altLang="zh-CN" sz="1400" kern="100" dirty="0">
                          <a:latin typeface="+mn-lt"/>
                          <a:ea typeface="+mn-ea"/>
                          <a:cs typeface="Times New Roman"/>
                        </a:rPr>
                        <a:t>token</a:t>
                      </a:r>
                      <a:r>
                        <a:rPr lang="en-US" sz="1400" kern="100" dirty="0">
                          <a:latin typeface="Times New Roman"/>
                          <a:ea typeface="宋体"/>
                          <a:cs typeface="Times New Roman"/>
                        </a:rPr>
                        <a:t>== '</a:t>
                      </a:r>
                      <a:r>
                        <a:rPr lang="en-US" sz="1400" kern="100" dirty="0" err="1">
                          <a:latin typeface="Times New Roman"/>
                          <a:ea typeface="宋体"/>
                          <a:cs typeface="Times New Roman"/>
                        </a:rPr>
                        <a:t>i</a:t>
                      </a:r>
                      <a:r>
                        <a:rPr lang="en-US" sz="1400" kern="100" dirty="0">
                          <a:latin typeface="Times New Roman"/>
                          <a:ea typeface="宋体"/>
                          <a:cs typeface="Times New Roman"/>
                        </a:rPr>
                        <a:t>')  match ('</a:t>
                      </a:r>
                      <a:r>
                        <a:rPr lang="en-US" sz="1400" kern="100" dirty="0" err="1">
                          <a:latin typeface="Times New Roman"/>
                          <a:ea typeface="宋体"/>
                          <a:cs typeface="Times New Roman"/>
                        </a:rPr>
                        <a:t>i</a:t>
                      </a:r>
                      <a:r>
                        <a:rPr lang="en-US" sz="1400" kern="100" dirty="0">
                          <a:latin typeface="Times New Roman"/>
                          <a:ea typeface="宋体"/>
                          <a:cs typeface="Times New Roman"/>
                        </a:rPr>
                        <a:t>');</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else error (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txBody>
                  <a:tcPr marL="68576" marR="6857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74610">
                <a:tc>
                  <a:txBody>
                    <a:bodyPr/>
                    <a:lstStyle/>
                    <a:p>
                      <a:pPr algn="just">
                        <a:lnSpc>
                          <a:spcPct val="100000"/>
                        </a:lnSpc>
                        <a:spcAft>
                          <a:spcPts val="0"/>
                        </a:spcAft>
                      </a:pPr>
                      <a:r>
                        <a:rPr lang="en-US" altLang="zh-CN" sz="1400" kern="100" dirty="0">
                          <a:latin typeface="Times New Roman"/>
                          <a:ea typeface="宋体"/>
                          <a:cs typeface="Times New Roman"/>
                        </a:rPr>
                        <a:t>//</a:t>
                      </a:r>
                      <a:r>
                        <a:rPr lang="zh-CN" sz="1400" kern="100" dirty="0">
                          <a:latin typeface="Times New Roman"/>
                          <a:ea typeface="宋体"/>
                          <a:cs typeface="Times New Roman"/>
                        </a:rPr>
                        <a:t>对非终结符</a:t>
                      </a:r>
                      <a:r>
                        <a:rPr lang="fr-FR" sz="1400" kern="100" dirty="0">
                          <a:latin typeface="Times New Roman"/>
                          <a:ea typeface="宋体"/>
                          <a:cs typeface="Times New Roman"/>
                        </a:rPr>
                        <a:t>T</a:t>
                      </a:r>
                      <a:r>
                        <a:rPr lang="zh-CN" sz="1400" kern="100" dirty="0">
                          <a:latin typeface="Times New Roman"/>
                          <a:ea typeface="宋体"/>
                          <a:cs typeface="Times New Roman"/>
                        </a:rPr>
                        <a:t>，候选式为</a:t>
                      </a:r>
                      <a:r>
                        <a:rPr lang="fr-FR" sz="1400" kern="100" dirty="0">
                          <a:latin typeface="Times New Roman"/>
                          <a:ea typeface="宋体"/>
                          <a:cs typeface="Times New Roman"/>
                        </a:rPr>
                        <a:t>T→FT'</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void 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F(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txBody>
                  <a:tcPr marL="68576" marR="6857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val="10001"/>
                  </a:ext>
                </a:extLst>
              </a:tr>
              <a:tr h="2263651">
                <a:tc>
                  <a:txBody>
                    <a:bodyPr/>
                    <a:lstStyle/>
                    <a:p>
                      <a:pPr algn="just">
                        <a:lnSpc>
                          <a:spcPct val="100000"/>
                        </a:lnSpc>
                        <a:spcAft>
                          <a:spcPts val="0"/>
                        </a:spcAft>
                      </a:pPr>
                      <a:r>
                        <a:rPr lang="en-US" altLang="zh-CN" sz="1400" kern="100" dirty="0">
                          <a:latin typeface="Times New Roman"/>
                          <a:ea typeface="宋体"/>
                          <a:cs typeface="Times New Roman"/>
                        </a:rPr>
                        <a:t>//</a:t>
                      </a:r>
                      <a:r>
                        <a:rPr lang="zh-CN" sz="1400" kern="100" dirty="0">
                          <a:latin typeface="Times New Roman"/>
                          <a:ea typeface="宋体"/>
                          <a:cs typeface="Times New Roman"/>
                        </a:rPr>
                        <a:t>对非终结符</a:t>
                      </a:r>
                      <a:r>
                        <a:rPr lang="fr-FR" sz="1400" kern="100" dirty="0">
                          <a:latin typeface="Times New Roman"/>
                          <a:ea typeface="宋体"/>
                          <a:cs typeface="Times New Roman"/>
                        </a:rPr>
                        <a:t>E'</a:t>
                      </a:r>
                      <a:r>
                        <a:rPr lang="zh-CN" sz="1400" kern="100" dirty="0">
                          <a:latin typeface="Times New Roman"/>
                          <a:ea typeface="宋体"/>
                          <a:cs typeface="Times New Roman"/>
                        </a:rPr>
                        <a:t>，候选式为</a:t>
                      </a:r>
                      <a:r>
                        <a:rPr lang="fr-FR" sz="1400" kern="100" dirty="0">
                          <a:latin typeface="Times New Roman"/>
                          <a:ea typeface="宋体"/>
                          <a:cs typeface="Times New Roman"/>
                        </a:rPr>
                        <a:t>E'→+TE'|</a:t>
                      </a:r>
                      <a:r>
                        <a:rPr lang="en-US" sz="1400" kern="100" dirty="0">
                          <a:latin typeface="Times New Roman"/>
                          <a:ea typeface="宋体"/>
                          <a:cs typeface="Times New Roman"/>
                          <a:sym typeface="Symbol"/>
                        </a:rPr>
                        <a:t></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void E'(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if (</a:t>
                      </a:r>
                      <a:r>
                        <a:rPr lang="en-US" altLang="zh-CN" sz="1400" kern="100" dirty="0">
                          <a:latin typeface="+mn-lt"/>
                          <a:ea typeface="+mn-ea"/>
                          <a:cs typeface="Times New Roman"/>
                        </a:rPr>
                        <a:t>token</a:t>
                      </a: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match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T(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E'( );</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      }</a:t>
                      </a:r>
                    </a:p>
                    <a:p>
                      <a:pPr algn="just">
                        <a:lnSpc>
                          <a:spcPct val="100000"/>
                        </a:lnSpc>
                        <a:spcAft>
                          <a:spcPts val="0"/>
                        </a:spcAft>
                      </a:pPr>
                      <a:r>
                        <a:rPr lang="en-US" altLang="zh-CN" sz="1400" kern="100" dirty="0">
                          <a:latin typeface="Times New Roman"/>
                          <a:ea typeface="宋体"/>
                          <a:cs typeface="Times New Roman"/>
                        </a:rPr>
                        <a:t>   else if  (token ∉ Follow(E')) error();</a:t>
                      </a:r>
                      <a:endParaRPr lang="zh-CN" sz="1400" kern="100" dirty="0">
                        <a:latin typeface="Times New Roman"/>
                        <a:ea typeface="宋体"/>
                        <a:cs typeface="Times New Roman"/>
                      </a:endParaRPr>
                    </a:p>
                    <a:p>
                      <a:pPr algn="just">
                        <a:lnSpc>
                          <a:spcPct val="100000"/>
                        </a:lnSpc>
                        <a:spcAft>
                          <a:spcPts val="0"/>
                        </a:spcAft>
                      </a:pPr>
                      <a:r>
                        <a:rPr lang="en-US" sz="1400" kern="100" dirty="0">
                          <a:latin typeface="Times New Roman"/>
                          <a:ea typeface="宋体"/>
                          <a:cs typeface="Times New Roman"/>
                        </a:rPr>
                        <a:t>}</a:t>
                      </a:r>
                      <a:endParaRPr lang="zh-CN" sz="1400" kern="100" dirty="0">
                        <a:latin typeface="Times New Roman"/>
                        <a:ea typeface="宋体"/>
                        <a:cs typeface="Times New Roman"/>
                      </a:endParaRPr>
                    </a:p>
                  </a:txBody>
                  <a:tcPr marL="68576" marR="6857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just">
                        <a:lnSpc>
                          <a:spcPct val="100000"/>
                        </a:lnSpc>
                        <a:spcAft>
                          <a:spcPts val="0"/>
                        </a:spcAft>
                      </a:pPr>
                      <a:r>
                        <a:rPr lang="en-US" altLang="zh-CN" sz="1400" kern="100" dirty="0">
                          <a:solidFill>
                            <a:schemeClr val="tx1"/>
                          </a:solidFill>
                          <a:latin typeface="Times New Roman"/>
                          <a:ea typeface="宋体"/>
                          <a:cs typeface="Times New Roman"/>
                        </a:rPr>
                        <a:t>//</a:t>
                      </a:r>
                      <a:r>
                        <a:rPr lang="zh-CN" sz="1400" kern="100" dirty="0">
                          <a:solidFill>
                            <a:schemeClr val="tx1"/>
                          </a:solidFill>
                          <a:latin typeface="Times New Roman"/>
                          <a:ea typeface="宋体"/>
                          <a:cs typeface="Times New Roman"/>
                        </a:rPr>
                        <a:t>对非终结符</a:t>
                      </a:r>
                      <a:r>
                        <a:rPr lang="fr-FR" sz="1400" kern="100" dirty="0">
                          <a:solidFill>
                            <a:schemeClr val="tx1"/>
                          </a:solidFill>
                          <a:latin typeface="Times New Roman"/>
                          <a:ea typeface="宋体"/>
                          <a:cs typeface="Times New Roman"/>
                        </a:rPr>
                        <a:t>T</a:t>
                      </a:r>
                      <a:r>
                        <a:rPr lang="en-US" sz="1400" kern="100" dirty="0">
                          <a:solidFill>
                            <a:schemeClr val="tx1"/>
                          </a:solidFill>
                          <a:latin typeface="Times New Roman"/>
                          <a:ea typeface="宋体"/>
                          <a:cs typeface="Times New Roman"/>
                        </a:rPr>
                        <a:t>'</a:t>
                      </a:r>
                      <a:r>
                        <a:rPr lang="zh-CN" sz="1400" kern="100" dirty="0">
                          <a:solidFill>
                            <a:schemeClr val="tx1"/>
                          </a:solidFill>
                          <a:latin typeface="Times New Roman"/>
                          <a:ea typeface="宋体"/>
                          <a:cs typeface="Times New Roman"/>
                        </a:rPr>
                        <a:t>，候选式为</a:t>
                      </a:r>
                      <a:r>
                        <a:rPr lang="fr-FR" sz="1400" kern="100" dirty="0">
                          <a:solidFill>
                            <a:schemeClr val="tx1"/>
                          </a:solidFill>
                          <a:latin typeface="Times New Roman"/>
                          <a:ea typeface="宋体"/>
                          <a:cs typeface="Times New Roman"/>
                        </a:rPr>
                        <a:t>T'→*FT'|</a:t>
                      </a:r>
                      <a:r>
                        <a:rPr lang="en-US" sz="1400" kern="100" dirty="0">
                          <a:solidFill>
                            <a:schemeClr val="tx1"/>
                          </a:solidFill>
                          <a:latin typeface="Times New Roman"/>
                          <a:ea typeface="宋体"/>
                          <a:cs typeface="Times New Roman"/>
                          <a:sym typeface="Symbol"/>
                        </a:rPr>
                        <a:t></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void T'(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if (</a:t>
                      </a:r>
                      <a:r>
                        <a:rPr lang="en-US" altLang="zh-CN" sz="1400" kern="100" dirty="0">
                          <a:latin typeface="+mn-lt"/>
                          <a:ea typeface="+mn-ea"/>
                          <a:cs typeface="Times New Roman"/>
                        </a:rPr>
                        <a:t>token</a:t>
                      </a:r>
                      <a:r>
                        <a:rPr lang="en-US" sz="1400" kern="100" dirty="0">
                          <a:solidFill>
                            <a:schemeClr val="tx1"/>
                          </a:solidFill>
                          <a:latin typeface="Times New Roman"/>
                          <a:ea typeface="宋体"/>
                          <a:cs typeface="Times New Roman"/>
                        </a:rPr>
                        <a:t>=='*')</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match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F( );</a:t>
                      </a:r>
                    </a:p>
                    <a:p>
                      <a:pPr algn="just">
                        <a:lnSpc>
                          <a:spcPct val="100000"/>
                        </a:lnSpc>
                        <a:spcAft>
                          <a:spcPts val="0"/>
                        </a:spcAft>
                      </a:pPr>
                      <a:r>
                        <a:rPr lang="en-US" sz="1400" kern="100" baseline="0" dirty="0">
                          <a:solidFill>
                            <a:schemeClr val="tx1"/>
                          </a:solidFill>
                          <a:latin typeface="Times New Roman"/>
                          <a:ea typeface="宋体"/>
                          <a:cs typeface="Times New Roman"/>
                        </a:rPr>
                        <a:t>       </a:t>
                      </a:r>
                      <a:r>
                        <a:rPr lang="en-US" sz="1400" kern="100" dirty="0">
                          <a:solidFill>
                            <a:schemeClr val="tx1"/>
                          </a:solidFill>
                          <a:latin typeface="Times New Roman"/>
                          <a:ea typeface="宋体"/>
                          <a:cs typeface="Times New Roman"/>
                        </a:rPr>
                        <a:t>T'(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a:t>
                      </a:r>
                      <a:endParaRPr lang="zh-CN" sz="1400" kern="100" dirty="0">
                        <a:solidFill>
                          <a:schemeClr val="tx1"/>
                        </a:solidFill>
                        <a:latin typeface="Times New Roman"/>
                        <a:ea typeface="宋体"/>
                        <a:cs typeface="Times New Roman"/>
                      </a:endParaRPr>
                    </a:p>
                    <a:p>
                      <a:pPr algn="just">
                        <a:lnSpc>
                          <a:spcPct val="100000"/>
                        </a:lnSpc>
                        <a:spcAft>
                          <a:spcPts val="0"/>
                        </a:spcAft>
                      </a:pPr>
                      <a:r>
                        <a:rPr lang="en-US" sz="1400" kern="100" dirty="0">
                          <a:solidFill>
                            <a:schemeClr val="tx1"/>
                          </a:solidFill>
                          <a:latin typeface="Times New Roman"/>
                          <a:ea typeface="宋体"/>
                          <a:cs typeface="Times New Roman"/>
                        </a:rPr>
                        <a:t>  }</a:t>
                      </a:r>
                      <a:endParaRPr lang="zh-CN" sz="1400" kern="100" dirty="0">
                        <a:solidFill>
                          <a:schemeClr val="tx1"/>
                        </a:solidFill>
                        <a:latin typeface="Times New Roman"/>
                        <a:ea typeface="宋体"/>
                        <a:cs typeface="Times New Roman"/>
                      </a:endParaRPr>
                    </a:p>
                  </a:txBody>
                  <a:tcPr marL="68576" marR="6857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Rectangle 2"/>
          <p:cNvSpPr>
            <a:spLocks noChangeArrowheads="1"/>
          </p:cNvSpPr>
          <p:nvPr/>
        </p:nvSpPr>
        <p:spPr bwMode="auto">
          <a:xfrm>
            <a:off x="34924" y="843558"/>
            <a:ext cx="1947863" cy="936104"/>
          </a:xfrm>
          <a:prstGeom prst="rect">
            <a:avLst/>
          </a:prstGeom>
          <a:solidFill>
            <a:schemeClr val="bg1"/>
          </a:solidFill>
          <a:ln w="38100">
            <a:solidFill>
              <a:srgbClr val="FF00FF"/>
            </a:solidFill>
            <a:miter lim="800000"/>
            <a:headEnd/>
            <a:tailEnd/>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nSpc>
                <a:spcPct val="90000"/>
              </a:lnSpc>
              <a:spcBef>
                <a:spcPts val="0"/>
              </a:spcBef>
              <a:buFontTx/>
              <a:buNone/>
            </a:pPr>
            <a:r>
              <a:rPr lang="en-US" altLang="zh-CN" sz="1800" dirty="0"/>
              <a:t>E→E+T | T</a:t>
            </a:r>
          </a:p>
          <a:p>
            <a:pPr>
              <a:lnSpc>
                <a:spcPct val="90000"/>
              </a:lnSpc>
              <a:spcBef>
                <a:spcPts val="0"/>
              </a:spcBef>
              <a:buFontTx/>
              <a:buNone/>
            </a:pPr>
            <a:r>
              <a:rPr lang="en-US" altLang="zh-CN" sz="1800" dirty="0"/>
              <a:t>T→T*F | F</a:t>
            </a:r>
          </a:p>
          <a:p>
            <a:pPr>
              <a:lnSpc>
                <a:spcPct val="90000"/>
              </a:lnSpc>
              <a:spcBef>
                <a:spcPts val="0"/>
              </a:spcBef>
              <a:buFontTx/>
              <a:buNone/>
            </a:pPr>
            <a:r>
              <a:rPr lang="en-US" altLang="zh-CN" sz="1800" dirty="0"/>
              <a:t>F→(E) | </a:t>
            </a:r>
            <a:r>
              <a:rPr lang="en-US" altLang="zh-CN" sz="1800" dirty="0" err="1"/>
              <a:t>i</a:t>
            </a:r>
            <a:endParaRPr lang="en-US" altLang="zh-CN" sz="1800" dirty="0"/>
          </a:p>
        </p:txBody>
      </p:sp>
      <p:sp>
        <p:nvSpPr>
          <p:cNvPr id="2" name="矩形 1"/>
          <p:cNvSpPr>
            <a:spLocks noChangeArrowheads="1"/>
          </p:cNvSpPr>
          <p:nvPr/>
        </p:nvSpPr>
        <p:spPr bwMode="auto">
          <a:xfrm>
            <a:off x="34924" y="3975594"/>
            <a:ext cx="1947863" cy="1200329"/>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None/>
            </a:pPr>
            <a:r>
              <a:rPr lang="zh-CN" altLang="en-US" sz="1800" dirty="0">
                <a:ea typeface="华文行楷" pitchFamily="2" charset="-122"/>
              </a:rPr>
              <a:t>针对文法的每个非终结符写一个函数，函数的功能对应于候选式</a:t>
            </a:r>
            <a:endParaRPr lang="en-US" altLang="zh-CN" sz="1800" dirty="0">
              <a:ea typeface="华文行楷" pitchFamily="2" charset="-122"/>
            </a:endParaRPr>
          </a:p>
        </p:txBody>
      </p:sp>
      <p:sp>
        <p:nvSpPr>
          <p:cNvPr id="3" name="下箭头 2"/>
          <p:cNvSpPr/>
          <p:nvPr/>
        </p:nvSpPr>
        <p:spPr bwMode="auto">
          <a:xfrm>
            <a:off x="467544" y="1851670"/>
            <a:ext cx="265113" cy="474662"/>
          </a:xfrm>
          <a:prstGeom prst="downArrow">
            <a:avLst/>
          </a:prstGeom>
          <a:ln>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lgn="ctr" eaLnBrk="1" hangingPunct="1">
              <a:defRPr/>
            </a:pPr>
            <a:endParaRPr lang="zh-CN" altLang="en-US">
              <a:solidFill>
                <a:schemeClr val="tx1"/>
              </a:solidFill>
              <a:ea typeface="华文行楷" pitchFamily="2" charset="-122"/>
            </a:endParaRPr>
          </a:p>
        </p:txBody>
      </p:sp>
      <p:sp>
        <p:nvSpPr>
          <p:cNvPr id="4" name="TextBox 3"/>
          <p:cNvSpPr txBox="1"/>
          <p:nvPr/>
        </p:nvSpPr>
        <p:spPr>
          <a:xfrm>
            <a:off x="611560" y="1851670"/>
            <a:ext cx="1679103" cy="369332"/>
          </a:xfrm>
          <a:prstGeom prst="rect">
            <a:avLst/>
          </a:prstGeom>
          <a:noFill/>
        </p:spPr>
        <p:txBody>
          <a:bodyPr wrap="square" rtlCol="0">
            <a:spAutoFit/>
          </a:bodyPr>
          <a:lstStyle/>
          <a:p>
            <a:r>
              <a:rPr lang="zh-CN" altLang="en-US" dirty="0"/>
              <a:t>改造为</a:t>
            </a:r>
            <a:r>
              <a:rPr lang="en-US" altLang="zh-CN" dirty="0"/>
              <a:t>LL(1)</a:t>
            </a:r>
            <a:endParaRPr lang="zh-CN" altLang="en-US" dirty="0"/>
          </a:p>
        </p:txBody>
      </p:sp>
    </p:spTree>
    <p:extLst>
      <p:ext uri="{BB962C8B-B14F-4D97-AF65-F5344CB8AC3E}">
        <p14:creationId xmlns:p14="http://schemas.microsoft.com/office/powerpoint/2010/main" val="37604400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91492"/>
                                        </p:tgtEl>
                                        <p:attrNameLst>
                                          <p:attrName>style.visibility</p:attrName>
                                        </p:attrNameLst>
                                      </p:cBhvr>
                                      <p:to>
                                        <p:strVal val="visible"/>
                                      </p:to>
                                    </p:set>
                                    <p:animEffect transition="in" filter="wipe(down)">
                                      <p:cBhvr>
                                        <p:cTn id="16" dur="500"/>
                                        <p:tgtEl>
                                          <p:spTgt spid="19149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4"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492" grpId="0" animBg="1"/>
      <p:bldP spid="6" grpId="0" animBg="1"/>
      <p:bldP spid="2" grpId="0" animBg="1"/>
      <p:bldP spid="3"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7083151" y="291912"/>
            <a:ext cx="1728192" cy="1631216"/>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dirty="0"/>
              <a:t>E </a:t>
            </a:r>
            <a:r>
              <a:rPr lang="en-US" altLang="zh-CN" sz="2000" dirty="0">
                <a:sym typeface="Wingdings" pitchFamily="2" charset="2"/>
              </a:rPr>
              <a:t></a:t>
            </a:r>
            <a:r>
              <a:rPr lang="en-US" altLang="zh-CN" sz="2000" dirty="0"/>
              <a:t>TE'</a:t>
            </a:r>
            <a:br>
              <a:rPr lang="en-US" altLang="zh-CN" sz="2000" dirty="0"/>
            </a:br>
            <a:r>
              <a:rPr lang="en-US" altLang="zh-CN" sz="2000" dirty="0"/>
              <a:t>E' </a:t>
            </a:r>
            <a:r>
              <a:rPr lang="en-US" altLang="zh-CN" sz="2000" dirty="0">
                <a:sym typeface="Wingdings" pitchFamily="2" charset="2"/>
              </a:rPr>
              <a:t></a:t>
            </a:r>
            <a:r>
              <a:rPr lang="en-US" altLang="zh-CN" sz="2000" dirty="0"/>
              <a:t> +TE' |ε</a:t>
            </a:r>
            <a:br>
              <a:rPr lang="en-US" altLang="zh-CN" sz="2000" dirty="0"/>
            </a:br>
            <a:r>
              <a:rPr lang="en-US" altLang="zh-CN" sz="2000" dirty="0"/>
              <a:t>T </a:t>
            </a:r>
            <a:r>
              <a:rPr lang="en-US" altLang="zh-CN" sz="2000" dirty="0">
                <a:sym typeface="Wingdings" pitchFamily="2" charset="2"/>
              </a:rPr>
              <a:t></a:t>
            </a:r>
            <a:r>
              <a:rPr lang="en-US" altLang="zh-CN" sz="2000" dirty="0"/>
              <a:t> FT'</a:t>
            </a:r>
            <a:br>
              <a:rPr lang="en-US" altLang="zh-CN" sz="2000" dirty="0"/>
            </a:br>
            <a:r>
              <a:rPr lang="en-US" altLang="zh-CN" sz="2000" dirty="0"/>
              <a:t>T' </a:t>
            </a:r>
            <a:r>
              <a:rPr lang="en-US" altLang="zh-CN" sz="2000" dirty="0">
                <a:sym typeface="Wingdings" pitchFamily="2" charset="2"/>
              </a:rPr>
              <a:t></a:t>
            </a:r>
            <a:r>
              <a:rPr lang="en-US" altLang="zh-CN" sz="2000" dirty="0"/>
              <a:t> *FT' |ε</a:t>
            </a:r>
            <a:br>
              <a:rPr lang="en-US" altLang="zh-CN" sz="2000" dirty="0"/>
            </a:br>
            <a:r>
              <a:rPr lang="en-US" altLang="zh-CN" sz="2000" dirty="0"/>
              <a:t>F </a:t>
            </a:r>
            <a:r>
              <a:rPr lang="en-US" altLang="zh-CN" sz="2000" dirty="0">
                <a:sym typeface="Wingdings" pitchFamily="2" charset="2"/>
              </a:rPr>
              <a:t></a:t>
            </a:r>
            <a:r>
              <a:rPr lang="en-US" altLang="zh-CN" sz="2000" dirty="0"/>
              <a:t>(E) |</a:t>
            </a:r>
            <a:r>
              <a:rPr lang="en-US" altLang="zh-CN" sz="2000" dirty="0" err="1"/>
              <a:t>i</a:t>
            </a:r>
            <a:r>
              <a:rPr lang="en-US" altLang="zh-CN" sz="2000" dirty="0"/>
              <a:t> </a:t>
            </a:r>
          </a:p>
        </p:txBody>
      </p:sp>
      <p:sp>
        <p:nvSpPr>
          <p:cNvPr id="5" name="内容占位符 4"/>
          <p:cNvSpPr txBox="1">
            <a:spLocks/>
          </p:cNvSpPr>
          <p:nvPr/>
        </p:nvSpPr>
        <p:spPr>
          <a:xfrm>
            <a:off x="39688" y="267494"/>
            <a:ext cx="6146464" cy="720080"/>
          </a:xfrm>
          <a:prstGeom prst="rect">
            <a:avLst/>
          </a:prstGeom>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a:defRPr/>
            </a:pPr>
            <a:r>
              <a:rPr lang="zh-CN" altLang="zh-CN" sz="2000" kern="0" dirty="0">
                <a:latin typeface="宋体" panose="02010600030101010101" pitchFamily="2" charset="-122"/>
                <a:ea typeface="宋体" panose="02010600030101010101" pitchFamily="2" charset="-122"/>
              </a:rPr>
              <a:t>递归下降分析器也可以用</a:t>
            </a:r>
            <a:r>
              <a:rPr lang="zh-CN" altLang="zh-CN" sz="2000" kern="0" dirty="0">
                <a:solidFill>
                  <a:srgbClr val="FF0000"/>
                </a:solidFill>
                <a:latin typeface="宋体" panose="02010600030101010101" pitchFamily="2" charset="-122"/>
                <a:ea typeface="宋体" panose="02010600030101010101" pitchFamily="2" charset="-122"/>
              </a:rPr>
              <a:t>语法图</a:t>
            </a:r>
            <a:r>
              <a:rPr lang="zh-CN" altLang="zh-CN" sz="2000" kern="0" dirty="0">
                <a:latin typeface="宋体" panose="02010600030101010101" pitchFamily="2" charset="-122"/>
                <a:ea typeface="宋体" panose="02010600030101010101" pitchFamily="2" charset="-122"/>
              </a:rPr>
              <a:t>来设计</a:t>
            </a:r>
            <a:r>
              <a:rPr lang="zh-CN" altLang="en-US" sz="2000" kern="0" dirty="0">
                <a:latin typeface="宋体" panose="02010600030101010101" pitchFamily="2" charset="-122"/>
                <a:ea typeface="宋体" panose="02010600030101010101" pitchFamily="2" charset="-122"/>
              </a:rPr>
              <a:t>。</a:t>
            </a:r>
            <a:r>
              <a:rPr lang="zh-CN" altLang="zh-CN" sz="2000" kern="0" dirty="0">
                <a:latin typeface="宋体" panose="02010600030101010101" pitchFamily="2" charset="-122"/>
                <a:ea typeface="宋体" panose="02010600030101010101" pitchFamily="2" charset="-122"/>
              </a:rPr>
              <a:t>每个非终结符都对应一个</a:t>
            </a:r>
            <a:r>
              <a:rPr lang="zh-CN" altLang="en-US" sz="2000" kern="0" dirty="0">
                <a:latin typeface="宋体" panose="02010600030101010101" pitchFamily="2" charset="-122"/>
                <a:ea typeface="宋体" panose="02010600030101010101" pitchFamily="2" charset="-122"/>
              </a:rPr>
              <a:t>语法</a:t>
            </a:r>
            <a:r>
              <a:rPr lang="zh-CN" altLang="zh-CN" sz="2000" kern="0" dirty="0">
                <a:latin typeface="宋体" panose="02010600030101010101" pitchFamily="2" charset="-122"/>
                <a:ea typeface="宋体" panose="02010600030101010101" pitchFamily="2" charset="-122"/>
              </a:rPr>
              <a:t>图</a:t>
            </a:r>
            <a:r>
              <a:rPr lang="zh-CN" altLang="en-US" sz="2000" kern="0" dirty="0">
                <a:latin typeface="宋体" panose="02010600030101010101" pitchFamily="2" charset="-122"/>
                <a:ea typeface="宋体" panose="02010600030101010101" pitchFamily="2" charset="-122"/>
              </a:rPr>
              <a:t>。</a:t>
            </a:r>
          </a:p>
        </p:txBody>
      </p:sp>
      <p:sp>
        <p:nvSpPr>
          <p:cNvPr id="3" name="文本框 2">
            <a:extLst>
              <a:ext uri="{FF2B5EF4-FFF2-40B4-BE49-F238E27FC236}">
                <a16:creationId xmlns:a16="http://schemas.microsoft.com/office/drawing/2014/main" id="{ED8B943D-8A24-AEDE-7065-4EA79210C3BE}"/>
              </a:ext>
            </a:extLst>
          </p:cNvPr>
          <p:cNvSpPr txBox="1"/>
          <p:nvPr/>
        </p:nvSpPr>
        <p:spPr>
          <a:xfrm>
            <a:off x="331251" y="1115192"/>
            <a:ext cx="4824537" cy="3139321"/>
          </a:xfrm>
          <a:prstGeom prst="rect">
            <a:avLst/>
          </a:prstGeom>
          <a:noFill/>
        </p:spPr>
        <p:txBody>
          <a:bodyPr wrap="square">
            <a:spAutoFit/>
          </a:bodyPr>
          <a:lstStyle/>
          <a:p>
            <a:pPr indent="266700" algn="just"/>
            <a:r>
              <a:rPr lang="zh-CN" altLang="zh-CN" sz="1800" kern="100" dirty="0">
                <a:effectLst/>
                <a:latin typeface="Times New Roman" panose="02020603050405020304" pitchFamily="18" charset="0"/>
                <a:ea typeface="宋体" panose="02010600030101010101" pitchFamily="2" charset="-122"/>
              </a:rPr>
              <a:t>对每个非终结符</a:t>
            </a:r>
            <a:r>
              <a:rPr lang="en-US" altLang="zh-CN" sz="1800" kern="100" dirty="0">
                <a:effectLst/>
                <a:latin typeface="Times New Roman" panose="02020603050405020304" pitchFamily="18" charset="0"/>
                <a:ea typeface="宋体" panose="02010600030101010101" pitchFamily="2" charset="-122"/>
              </a:rPr>
              <a:t>A</a:t>
            </a:r>
            <a:r>
              <a:rPr lang="zh-CN" altLang="en-US" sz="1800" kern="100" dirty="0">
                <a:effectLst/>
                <a:latin typeface="Times New Roman" panose="02020603050405020304" pitchFamily="18" charset="0"/>
                <a:ea typeface="宋体" panose="02010600030101010101" pitchFamily="2" charset="-122"/>
              </a:rPr>
              <a:t>，</a:t>
            </a:r>
            <a:r>
              <a:rPr lang="zh-CN" altLang="en-US" sz="1800" kern="0" dirty="0">
                <a:latin typeface="宋体" panose="02010600030101010101" pitchFamily="2" charset="-122"/>
                <a:ea typeface="宋体" panose="02010600030101010101" pitchFamily="2" charset="-122"/>
              </a:rPr>
              <a:t>画</a:t>
            </a:r>
            <a:r>
              <a:rPr lang="zh-CN" altLang="en-US" kern="0" dirty="0">
                <a:latin typeface="宋体" panose="02010600030101010101" pitchFamily="2" charset="-122"/>
                <a:ea typeface="宋体" panose="02010600030101010101" pitchFamily="2" charset="-122"/>
              </a:rPr>
              <a:t>语法</a:t>
            </a:r>
            <a:r>
              <a:rPr lang="zh-CN" altLang="zh-CN" sz="1800" kern="0" dirty="0">
                <a:latin typeface="宋体" panose="02010600030101010101" pitchFamily="2" charset="-122"/>
                <a:ea typeface="宋体" panose="02010600030101010101" pitchFamily="2" charset="-122"/>
              </a:rPr>
              <a:t>图</a:t>
            </a:r>
            <a:r>
              <a:rPr lang="zh-CN" altLang="en-US" sz="1800" kern="0" dirty="0">
                <a:latin typeface="宋体" panose="02010600030101010101" pitchFamily="2" charset="-122"/>
                <a:ea typeface="宋体" panose="02010600030101010101" pitchFamily="2" charset="-122"/>
              </a:rPr>
              <a:t>的方法是</a:t>
            </a:r>
            <a:r>
              <a:rPr lang="zh-CN" altLang="zh-CN" sz="1800" kern="100" dirty="0">
                <a:effectLst/>
                <a:latin typeface="Times New Roman" panose="02020603050405020304" pitchFamily="18" charset="0"/>
                <a:ea typeface="宋体" panose="02010600030101010101" pitchFamily="2" charset="-122"/>
              </a:rPr>
              <a:t>：</a:t>
            </a:r>
          </a:p>
          <a:p>
            <a:pPr indent="266700" algn="just"/>
            <a:r>
              <a:rPr lang="zh-CN" altLang="zh-CN" sz="1800" kern="100" dirty="0">
                <a:effectLst/>
                <a:latin typeface="Times New Roman" panose="02020603050405020304" pitchFamily="18" charset="0"/>
                <a:ea typeface="宋体" panose="02010600030101010101" pitchFamily="2" charset="-122"/>
              </a:rPr>
              <a:t>（</a:t>
            </a:r>
            <a:r>
              <a:rPr lang="en-US" altLang="zh-CN" sz="1800" kern="100" dirty="0">
                <a:effectLst/>
                <a:latin typeface="Times New Roman" panose="02020603050405020304" pitchFamily="18" charset="0"/>
                <a:ea typeface="宋体" panose="02010600030101010101" pitchFamily="2" charset="-122"/>
              </a:rPr>
              <a:t>1</a:t>
            </a:r>
            <a:r>
              <a:rPr lang="zh-CN" altLang="zh-CN" sz="1800" kern="100" dirty="0">
                <a:effectLst/>
                <a:latin typeface="Times New Roman" panose="02020603050405020304" pitchFamily="18" charset="0"/>
                <a:ea typeface="宋体" panose="02010600030101010101" pitchFamily="2" charset="-122"/>
              </a:rPr>
              <a:t>）</a:t>
            </a:r>
            <a:r>
              <a:rPr lang="zh-CN" altLang="en-US" sz="1800" kern="100" dirty="0">
                <a:effectLst/>
                <a:latin typeface="Times New Roman" panose="02020603050405020304" pitchFamily="18" charset="0"/>
                <a:ea typeface="宋体" panose="02010600030101010101" pitchFamily="2" charset="-122"/>
              </a:rPr>
              <a:t>针对每个非终结符画一个图，每个产生式在图中画一条通路，从左边开始，沿箭头标明的某条路径前进，直至从右边出来</a:t>
            </a:r>
            <a:r>
              <a:rPr lang="zh-CN" altLang="zh-CN" sz="1800" kern="100" dirty="0">
                <a:effectLst/>
                <a:latin typeface="Times New Roman" panose="02020603050405020304" pitchFamily="18" charset="0"/>
                <a:ea typeface="宋体" panose="02010600030101010101" pitchFamily="2" charset="-122"/>
              </a:rPr>
              <a:t>。</a:t>
            </a:r>
          </a:p>
          <a:p>
            <a:pPr indent="266700" algn="just"/>
            <a:r>
              <a:rPr lang="zh-CN" altLang="zh-CN" sz="1800" kern="100" dirty="0">
                <a:effectLst/>
                <a:latin typeface="Times New Roman" panose="02020603050405020304" pitchFamily="18" charset="0"/>
                <a:ea typeface="宋体" panose="02010600030101010101" pitchFamily="2" charset="-122"/>
              </a:rPr>
              <a:t>（</a:t>
            </a:r>
            <a:r>
              <a:rPr lang="en-US" altLang="zh-CN" sz="1800" kern="100" dirty="0">
                <a:effectLst/>
                <a:latin typeface="Times New Roman" panose="02020603050405020304" pitchFamily="18" charset="0"/>
                <a:ea typeface="宋体" panose="02010600030101010101" pitchFamily="2" charset="-122"/>
              </a:rPr>
              <a:t>2</a:t>
            </a:r>
            <a:r>
              <a:rPr lang="zh-CN" altLang="zh-CN" sz="1800" kern="100" dirty="0">
                <a:effectLst/>
                <a:latin typeface="Times New Roman" panose="02020603050405020304" pitchFamily="18" charset="0"/>
                <a:ea typeface="宋体" panose="02010600030101010101" pitchFamily="2" charset="-122"/>
              </a:rPr>
              <a:t>）对每个产生式</a:t>
            </a:r>
            <a:r>
              <a:rPr lang="en-US" altLang="zh-CN" sz="1800" kern="100" dirty="0">
                <a:effectLst/>
                <a:latin typeface="Times New Roman" panose="02020603050405020304" pitchFamily="18" charset="0"/>
                <a:ea typeface="宋体" panose="02010600030101010101" pitchFamily="2" charset="-122"/>
              </a:rPr>
              <a:t>A→X</a:t>
            </a:r>
            <a:r>
              <a:rPr lang="en-US" altLang="zh-CN" sz="1800" kern="100" baseline="-25000" dirty="0">
                <a:effectLst/>
                <a:latin typeface="Times New Roman" panose="02020603050405020304" pitchFamily="18" charset="0"/>
                <a:ea typeface="宋体" panose="02010600030101010101" pitchFamily="2" charset="-122"/>
              </a:rPr>
              <a:t>1</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2</a:t>
            </a:r>
            <a:r>
              <a:rPr lang="en-US" altLang="zh-CN" sz="1800" kern="100" dirty="0">
                <a:effectLst/>
                <a:latin typeface="Times New Roman" panose="02020603050405020304" pitchFamily="18" charset="0"/>
                <a:ea typeface="宋体" panose="02010600030101010101" pitchFamily="2" charset="-122"/>
              </a:rPr>
              <a:t>……</a:t>
            </a:r>
            <a:r>
              <a:rPr lang="en-US" altLang="zh-CN" sz="1800" kern="100" dirty="0" err="1">
                <a:effectLst/>
                <a:latin typeface="Times New Roman" panose="02020603050405020304" pitchFamily="18" charset="0"/>
                <a:ea typeface="宋体" panose="02010600030101010101" pitchFamily="2" charset="-122"/>
              </a:rPr>
              <a:t>X</a:t>
            </a:r>
            <a:r>
              <a:rPr lang="en-US" altLang="zh-CN" sz="1800" kern="100" baseline="-25000" dirty="0" err="1">
                <a:effectLst/>
                <a:latin typeface="Times New Roman" panose="02020603050405020304" pitchFamily="18" charset="0"/>
                <a:ea typeface="宋体" panose="02010600030101010101" pitchFamily="2" charset="-122"/>
              </a:rPr>
              <a:t>n</a:t>
            </a:r>
            <a:r>
              <a:rPr lang="zh-CN" altLang="zh-CN" sz="1800" kern="100" dirty="0">
                <a:effectLst/>
                <a:latin typeface="Times New Roman" panose="02020603050405020304" pitchFamily="18" charset="0"/>
                <a:ea typeface="宋体" panose="02010600030101010101" pitchFamily="2" charset="-122"/>
              </a:rPr>
              <a:t>，创建一</a:t>
            </a:r>
            <a:r>
              <a:rPr lang="zh-CN" altLang="en-US" kern="100" dirty="0">
                <a:latin typeface="Times New Roman" panose="02020603050405020304" pitchFamily="18" charset="0"/>
                <a:ea typeface="宋体" panose="02010600030101010101" pitchFamily="2" charset="-122"/>
              </a:rPr>
              <a:t>个新的语法图，</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标记为</a:t>
            </a:r>
            <a:r>
              <a:rPr lang="en-US" altLang="zh-CN" sz="1800" kern="100" dirty="0">
                <a:effectLst/>
                <a:latin typeface="Times New Roman" panose="02020603050405020304" pitchFamily="18" charset="0"/>
                <a:ea typeface="宋体" panose="02010600030101010101" pitchFamily="2" charset="-122"/>
              </a:rPr>
              <a:t>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，针对每个文法符号</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i</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，根据其是终结符或非终结符，创建一个圆框或方框，然后用带箭头的连线将</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i</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i+1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连接起来，最终从左边开始到右边出来的某条路径中的圆框或方框中的标记顺序排列为</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rPr>
              <a:t>X</a:t>
            </a:r>
            <a:r>
              <a:rPr lang="en-US" altLang="zh-CN" sz="1800" kern="100" baseline="-25000" dirty="0">
                <a:effectLst/>
                <a:latin typeface="Times New Roman" panose="02020603050405020304" pitchFamily="18" charset="0"/>
                <a:ea typeface="宋体" panose="02010600030101010101" pitchFamily="2" charset="-122"/>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err="1">
                <a:effectLst/>
                <a:latin typeface="Times New Roman" panose="02020603050405020304" pitchFamily="18" charset="0"/>
                <a:ea typeface="宋体" panose="02010600030101010101" pitchFamily="2" charset="-122"/>
              </a:rPr>
              <a:t>X</a:t>
            </a:r>
            <a:r>
              <a:rPr lang="en-US" altLang="zh-CN" sz="1800" kern="100" baseline="-25000" dirty="0" err="1">
                <a:effectLst/>
                <a:latin typeface="Times New Roman" panose="02020603050405020304" pitchFamily="18" charset="0"/>
                <a:ea typeface="宋体" panose="02010600030101010101" pitchFamily="2" charset="-122"/>
              </a:rPr>
              <a:t>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Times New Roman" panose="02020603050405020304" pitchFamily="18" charset="0"/>
              <a:ea typeface="宋体" panose="02010600030101010101" pitchFamily="2" charset="-122"/>
            </a:endParaRPr>
          </a:p>
        </p:txBody>
      </p:sp>
      <p:graphicFrame>
        <p:nvGraphicFramePr>
          <p:cNvPr id="8" name="对象 7">
            <a:extLst>
              <a:ext uri="{FF2B5EF4-FFF2-40B4-BE49-F238E27FC236}">
                <a16:creationId xmlns:a16="http://schemas.microsoft.com/office/drawing/2014/main" id="{67A29EFD-3191-0B27-A62F-A0BE2BE2A41D}"/>
              </a:ext>
            </a:extLst>
          </p:cNvPr>
          <p:cNvGraphicFramePr>
            <a:graphicFrameLocks noChangeAspect="1"/>
          </p:cNvGraphicFramePr>
          <p:nvPr>
            <p:extLst>
              <p:ext uri="{D42A27DB-BD31-4B8C-83A1-F6EECF244321}">
                <p14:modId xmlns:p14="http://schemas.microsoft.com/office/powerpoint/2010/main" val="3773567601"/>
              </p:ext>
            </p:extLst>
          </p:nvPr>
        </p:nvGraphicFramePr>
        <p:xfrm>
          <a:off x="5436240" y="1923128"/>
          <a:ext cx="3293821" cy="3032120"/>
        </p:xfrm>
        <a:graphic>
          <a:graphicData uri="http://schemas.openxmlformats.org/presentationml/2006/ole">
            <mc:AlternateContent xmlns:mc="http://schemas.openxmlformats.org/markup-compatibility/2006">
              <mc:Choice xmlns:v="urn:schemas-microsoft-com:vml" Requires="v">
                <p:oleObj spid="_x0000_s14343" name="Visio" r:id="rId3" imgW="2190893" imgH="1943134" progId="Visio.Drawing.15">
                  <p:embed/>
                </p:oleObj>
              </mc:Choice>
              <mc:Fallback>
                <p:oleObj name="Visio" r:id="rId3" imgW="2190893" imgH="1943134" progId="Visio.Drawing.15">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6240" y="1923128"/>
                        <a:ext cx="3293821" cy="3032120"/>
                      </a:xfrm>
                      <a:prstGeom prst="rect">
                        <a:avLst/>
                      </a:prstGeom>
                      <a:noFill/>
                    </p:spPr>
                  </p:pic>
                </p:oleObj>
              </mc:Fallback>
            </mc:AlternateContent>
          </a:graphicData>
        </a:graphic>
      </p:graphicFrame>
    </p:spTree>
    <p:extLst>
      <p:ext uri="{BB962C8B-B14F-4D97-AF65-F5344CB8AC3E}">
        <p14:creationId xmlns:p14="http://schemas.microsoft.com/office/powerpoint/2010/main" val="3561953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6882763" y="132357"/>
            <a:ext cx="1776809" cy="1785104"/>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t>E </a:t>
            </a:r>
            <a:r>
              <a:rPr lang="en-US" altLang="zh-CN" sz="2200" dirty="0">
                <a:sym typeface="Wingdings" pitchFamily="2" charset="2"/>
              </a:rPr>
              <a:t></a:t>
            </a:r>
            <a:r>
              <a:rPr lang="en-US" altLang="zh-CN" sz="2200" dirty="0"/>
              <a:t>TE'</a:t>
            </a:r>
            <a:br>
              <a:rPr lang="en-US" altLang="zh-CN" sz="2200" dirty="0"/>
            </a:br>
            <a:r>
              <a:rPr lang="en-US" altLang="zh-CN" sz="2200" dirty="0"/>
              <a:t>E' </a:t>
            </a:r>
            <a:r>
              <a:rPr lang="en-US" altLang="zh-CN" sz="2200" dirty="0">
                <a:sym typeface="Wingdings" pitchFamily="2" charset="2"/>
              </a:rPr>
              <a:t></a:t>
            </a:r>
            <a:r>
              <a:rPr lang="en-US" altLang="zh-CN" sz="2200" dirty="0"/>
              <a:t> +TE' |ε</a:t>
            </a:r>
            <a:br>
              <a:rPr lang="en-US" altLang="zh-CN" sz="2200" dirty="0"/>
            </a:br>
            <a:r>
              <a:rPr lang="en-US" altLang="zh-CN" sz="2200" dirty="0"/>
              <a:t>T </a:t>
            </a:r>
            <a:r>
              <a:rPr lang="en-US" altLang="zh-CN" sz="2200" dirty="0">
                <a:sym typeface="Wingdings" pitchFamily="2" charset="2"/>
              </a:rPr>
              <a:t></a:t>
            </a:r>
            <a:r>
              <a:rPr lang="en-US" altLang="zh-CN" sz="2200" dirty="0"/>
              <a:t> FT'</a:t>
            </a:r>
            <a:br>
              <a:rPr lang="en-US" altLang="zh-CN" sz="2200" dirty="0"/>
            </a:br>
            <a:r>
              <a:rPr lang="en-US" altLang="zh-CN" sz="2200" dirty="0"/>
              <a:t>T' </a:t>
            </a:r>
            <a:r>
              <a:rPr lang="en-US" altLang="zh-CN" sz="2200" dirty="0">
                <a:sym typeface="Wingdings" pitchFamily="2" charset="2"/>
              </a:rPr>
              <a:t></a:t>
            </a:r>
            <a:r>
              <a:rPr lang="en-US" altLang="zh-CN" sz="2200" dirty="0"/>
              <a:t> *FT' |ε</a:t>
            </a:r>
            <a:br>
              <a:rPr lang="en-US" altLang="zh-CN" sz="2200" dirty="0"/>
            </a:br>
            <a:r>
              <a:rPr lang="en-US" altLang="zh-CN" sz="2200" dirty="0"/>
              <a:t>F </a:t>
            </a:r>
            <a:r>
              <a:rPr lang="en-US" altLang="zh-CN" sz="2200" dirty="0">
                <a:sym typeface="Wingdings" pitchFamily="2" charset="2"/>
              </a:rPr>
              <a:t></a:t>
            </a:r>
            <a:r>
              <a:rPr lang="en-US" altLang="zh-CN" sz="2200" dirty="0"/>
              <a:t>(E) |</a:t>
            </a:r>
            <a:r>
              <a:rPr lang="en-US" altLang="zh-CN" sz="2200" dirty="0" err="1"/>
              <a:t>i</a:t>
            </a:r>
            <a:r>
              <a:rPr lang="en-US" altLang="zh-CN" sz="2200" dirty="0"/>
              <a:t> </a:t>
            </a:r>
          </a:p>
        </p:txBody>
      </p:sp>
      <p:sp>
        <p:nvSpPr>
          <p:cNvPr id="5" name="内容占位符 4"/>
          <p:cNvSpPr txBox="1">
            <a:spLocks/>
          </p:cNvSpPr>
          <p:nvPr/>
        </p:nvSpPr>
        <p:spPr>
          <a:xfrm>
            <a:off x="39688" y="36513"/>
            <a:ext cx="5878512" cy="1371600"/>
          </a:xfrm>
          <a:prstGeom prst="rect">
            <a:avLst/>
          </a:prstGeom>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a:defRPr/>
            </a:pPr>
            <a:r>
              <a:rPr lang="zh-CN" altLang="zh-CN" sz="2200" kern="0" dirty="0">
                <a:latin typeface="宋体" panose="02010600030101010101" pitchFamily="2" charset="-122"/>
                <a:ea typeface="宋体" panose="02010600030101010101" pitchFamily="2" charset="-122"/>
              </a:rPr>
              <a:t>递归下降分析器也可以用</a:t>
            </a:r>
            <a:r>
              <a:rPr lang="zh-CN" altLang="zh-CN" sz="2200" kern="0" dirty="0">
                <a:solidFill>
                  <a:srgbClr val="FF0000"/>
                </a:solidFill>
                <a:latin typeface="宋体" panose="02010600030101010101" pitchFamily="2" charset="-122"/>
                <a:ea typeface="宋体" panose="02010600030101010101" pitchFamily="2" charset="-122"/>
              </a:rPr>
              <a:t>语法图</a:t>
            </a:r>
            <a:r>
              <a:rPr lang="zh-CN" altLang="zh-CN" sz="2200" kern="0" dirty="0">
                <a:latin typeface="宋体" panose="02010600030101010101" pitchFamily="2" charset="-122"/>
                <a:ea typeface="宋体" panose="02010600030101010101" pitchFamily="2" charset="-122"/>
              </a:rPr>
              <a:t>来设计</a:t>
            </a:r>
            <a:r>
              <a:rPr lang="zh-CN" altLang="en-US" sz="2200" kern="0" dirty="0">
                <a:latin typeface="宋体" panose="02010600030101010101" pitchFamily="2" charset="-122"/>
                <a:ea typeface="宋体" panose="02010600030101010101" pitchFamily="2" charset="-122"/>
              </a:rPr>
              <a:t>：</a:t>
            </a:r>
            <a:r>
              <a:rPr lang="zh-CN" altLang="zh-CN" sz="2200" kern="0" dirty="0">
                <a:latin typeface="宋体" panose="02010600030101010101" pitchFamily="2" charset="-122"/>
                <a:ea typeface="宋体" panose="02010600030101010101" pitchFamily="2" charset="-122"/>
              </a:rPr>
              <a:t>每个非终结符都对应一个</a:t>
            </a:r>
            <a:r>
              <a:rPr lang="zh-CN" altLang="en-US" sz="2200" kern="0" dirty="0">
                <a:latin typeface="宋体" panose="02010600030101010101" pitchFamily="2" charset="-122"/>
                <a:ea typeface="宋体" panose="02010600030101010101" pitchFamily="2" charset="-122"/>
              </a:rPr>
              <a:t>语法</a:t>
            </a:r>
            <a:r>
              <a:rPr lang="zh-CN" altLang="zh-CN" sz="2200" kern="0" dirty="0">
                <a:latin typeface="宋体" panose="02010600030101010101" pitchFamily="2" charset="-122"/>
                <a:ea typeface="宋体" panose="02010600030101010101" pitchFamily="2" charset="-122"/>
              </a:rPr>
              <a:t>图。</a:t>
            </a:r>
            <a:endParaRPr lang="en-US" altLang="zh-CN" sz="2200" kern="0" dirty="0">
              <a:latin typeface="宋体" panose="02010600030101010101" pitchFamily="2" charset="-122"/>
              <a:ea typeface="宋体" panose="02010600030101010101" pitchFamily="2" charset="-122"/>
            </a:endParaRPr>
          </a:p>
          <a:p>
            <a:pPr>
              <a:defRPr/>
            </a:pPr>
            <a:r>
              <a:rPr lang="zh-CN" altLang="en-US" sz="2200" kern="0" dirty="0">
                <a:latin typeface="宋体" panose="02010600030101010101" pitchFamily="2" charset="-122"/>
                <a:ea typeface="宋体" panose="02010600030101010101" pitchFamily="2" charset="-122"/>
              </a:rPr>
              <a:t>化简方法：</a:t>
            </a:r>
            <a:endParaRPr lang="zh-CN" altLang="zh-CN" sz="2200" kern="0" dirty="0">
              <a:latin typeface="宋体" panose="02010600030101010101" pitchFamily="2" charset="-122"/>
              <a:ea typeface="宋体" panose="02010600030101010101" pitchFamily="2" charset="-122"/>
            </a:endParaRPr>
          </a:p>
          <a:p>
            <a:pPr>
              <a:defRPr/>
            </a:pPr>
            <a:endParaRPr lang="zh-CN" altLang="en-US" sz="2200" kern="0" dirty="0">
              <a:latin typeface="宋体" panose="02010600030101010101" pitchFamily="2" charset="-122"/>
              <a:ea typeface="宋体" panose="02010600030101010101" pitchFamily="2" charset="-122"/>
            </a:endParaRPr>
          </a:p>
        </p:txBody>
      </p:sp>
      <p:graphicFrame>
        <p:nvGraphicFramePr>
          <p:cNvPr id="8" name="对象 7">
            <a:extLst>
              <a:ext uri="{FF2B5EF4-FFF2-40B4-BE49-F238E27FC236}">
                <a16:creationId xmlns:a16="http://schemas.microsoft.com/office/drawing/2014/main" id="{102FA08C-B959-9F92-9941-1A49EB09F23B}"/>
              </a:ext>
            </a:extLst>
          </p:cNvPr>
          <p:cNvGraphicFramePr>
            <a:graphicFrameLocks noChangeAspect="1"/>
          </p:cNvGraphicFramePr>
          <p:nvPr>
            <p:extLst>
              <p:ext uri="{D42A27DB-BD31-4B8C-83A1-F6EECF244321}">
                <p14:modId xmlns:p14="http://schemas.microsoft.com/office/powerpoint/2010/main" val="3791987350"/>
              </p:ext>
            </p:extLst>
          </p:nvPr>
        </p:nvGraphicFramePr>
        <p:xfrm>
          <a:off x="69133" y="1408113"/>
          <a:ext cx="6196338" cy="1018697"/>
        </p:xfrm>
        <a:graphic>
          <a:graphicData uri="http://schemas.openxmlformats.org/presentationml/2006/ole">
            <mc:AlternateContent xmlns:mc="http://schemas.openxmlformats.org/markup-compatibility/2006">
              <mc:Choice xmlns:v="urn:schemas-microsoft-com:vml" Requires="v">
                <p:oleObj spid="_x0000_s15387" name="Visio" r:id="rId3" imgW="4743574" imgH="562089" progId="Visio.Drawing.15">
                  <p:embed/>
                </p:oleObj>
              </mc:Choice>
              <mc:Fallback>
                <p:oleObj name="Visio" r:id="rId3" imgW="4743574" imgH="562089" progId="Visio.Drawing.15">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133" y="1408113"/>
                        <a:ext cx="6196338" cy="1018697"/>
                      </a:xfrm>
                      <a:prstGeom prst="rect">
                        <a:avLst/>
                      </a:prstGeom>
                      <a:noFill/>
                    </p:spPr>
                  </p:pic>
                </p:oleObj>
              </mc:Fallback>
            </mc:AlternateContent>
          </a:graphicData>
        </a:graphic>
      </p:graphicFrame>
      <p:graphicFrame>
        <p:nvGraphicFramePr>
          <p:cNvPr id="10" name="对象 9">
            <a:extLst>
              <a:ext uri="{FF2B5EF4-FFF2-40B4-BE49-F238E27FC236}">
                <a16:creationId xmlns:a16="http://schemas.microsoft.com/office/drawing/2014/main" id="{B7D6D73E-4BDE-1AF2-BB7B-A36A37F6A3C8}"/>
              </a:ext>
            </a:extLst>
          </p:cNvPr>
          <p:cNvGraphicFramePr>
            <a:graphicFrameLocks noChangeAspect="1"/>
          </p:cNvGraphicFramePr>
          <p:nvPr>
            <p:extLst>
              <p:ext uri="{D42A27DB-BD31-4B8C-83A1-F6EECF244321}">
                <p14:modId xmlns:p14="http://schemas.microsoft.com/office/powerpoint/2010/main" val="1060610277"/>
              </p:ext>
            </p:extLst>
          </p:nvPr>
        </p:nvGraphicFramePr>
        <p:xfrm>
          <a:off x="6398337" y="2356650"/>
          <a:ext cx="2745663" cy="2527514"/>
        </p:xfrm>
        <a:graphic>
          <a:graphicData uri="http://schemas.openxmlformats.org/presentationml/2006/ole">
            <mc:AlternateContent xmlns:mc="http://schemas.openxmlformats.org/markup-compatibility/2006">
              <mc:Choice xmlns:v="urn:schemas-microsoft-com:vml" Requires="v">
                <p:oleObj spid="_x0000_s15388" name="Visio" r:id="rId5" imgW="2190893" imgH="1943134" progId="Visio.Drawing.15">
                  <p:embed/>
                </p:oleObj>
              </mc:Choice>
              <mc:Fallback>
                <p:oleObj name="Visio" r:id="rId5" imgW="2190893" imgH="1943134" progId="Visio.Drawing.15">
                  <p:embed/>
                  <p:pic>
                    <p:nvPicPr>
                      <p:cNvPr id="8" name="对象 7">
                        <a:extLst>
                          <a:ext uri="{FF2B5EF4-FFF2-40B4-BE49-F238E27FC236}">
                            <a16:creationId xmlns:a16="http://schemas.microsoft.com/office/drawing/2014/main" id="{67A29EFD-3191-0B27-A62F-A0BE2BE2A41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98337" y="2356650"/>
                        <a:ext cx="2745663" cy="2527514"/>
                      </a:xfrm>
                      <a:prstGeom prst="rect">
                        <a:avLst/>
                      </a:prstGeom>
                      <a:noFill/>
                    </p:spPr>
                  </p:pic>
                </p:oleObj>
              </mc:Fallback>
            </mc:AlternateContent>
          </a:graphicData>
        </a:graphic>
      </p:graphicFrame>
      <p:graphicFrame>
        <p:nvGraphicFramePr>
          <p:cNvPr id="12" name="对象 11">
            <a:extLst>
              <a:ext uri="{FF2B5EF4-FFF2-40B4-BE49-F238E27FC236}">
                <a16:creationId xmlns:a16="http://schemas.microsoft.com/office/drawing/2014/main" id="{2CDBC55F-BE87-170B-F3B4-F2B0F7227D29}"/>
              </a:ext>
            </a:extLst>
          </p:cNvPr>
          <p:cNvGraphicFramePr>
            <a:graphicFrameLocks noChangeAspect="1"/>
          </p:cNvGraphicFramePr>
          <p:nvPr>
            <p:extLst>
              <p:ext uri="{D42A27DB-BD31-4B8C-83A1-F6EECF244321}">
                <p14:modId xmlns:p14="http://schemas.microsoft.com/office/powerpoint/2010/main" val="57232401"/>
              </p:ext>
            </p:extLst>
          </p:nvPr>
        </p:nvGraphicFramePr>
        <p:xfrm>
          <a:off x="69133" y="2571750"/>
          <a:ext cx="5943027" cy="864096"/>
        </p:xfrm>
        <a:graphic>
          <a:graphicData uri="http://schemas.openxmlformats.org/presentationml/2006/ole">
            <mc:AlternateContent xmlns:mc="http://schemas.openxmlformats.org/markup-compatibility/2006">
              <mc:Choice xmlns:v="urn:schemas-microsoft-com:vml" Requires="v">
                <p:oleObj spid="_x0000_s15389" name="Visio" r:id="rId7" imgW="4581625" imgH="562089" progId="Visio.Drawing.15">
                  <p:embed/>
                </p:oleObj>
              </mc:Choice>
              <mc:Fallback>
                <p:oleObj name="Visio" r:id="rId7" imgW="4581625" imgH="562089" progId="Visio.Drawing.15">
                  <p:embed/>
                  <p:pic>
                    <p:nvPicPr>
                      <p:cNvPr id="0" name="Object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9133" y="2571750"/>
                        <a:ext cx="5943027" cy="864096"/>
                      </a:xfrm>
                      <a:prstGeom prst="rect">
                        <a:avLst/>
                      </a:prstGeom>
                      <a:noFill/>
                    </p:spPr>
                  </p:pic>
                </p:oleObj>
              </mc:Fallback>
            </mc:AlternateContent>
          </a:graphicData>
        </a:graphic>
      </p:graphicFrame>
      <p:graphicFrame>
        <p:nvGraphicFramePr>
          <p:cNvPr id="15" name="对象 14">
            <a:extLst>
              <a:ext uri="{FF2B5EF4-FFF2-40B4-BE49-F238E27FC236}">
                <a16:creationId xmlns:a16="http://schemas.microsoft.com/office/drawing/2014/main" id="{057F323A-6F24-1242-187C-235AEF60CF3E}"/>
              </a:ext>
            </a:extLst>
          </p:cNvPr>
          <p:cNvGraphicFramePr>
            <a:graphicFrameLocks noChangeAspect="1"/>
          </p:cNvGraphicFramePr>
          <p:nvPr>
            <p:extLst>
              <p:ext uri="{D42A27DB-BD31-4B8C-83A1-F6EECF244321}">
                <p14:modId xmlns:p14="http://schemas.microsoft.com/office/powerpoint/2010/main" val="68004143"/>
              </p:ext>
            </p:extLst>
          </p:nvPr>
        </p:nvGraphicFramePr>
        <p:xfrm>
          <a:off x="39688" y="4011910"/>
          <a:ext cx="2813336" cy="864096"/>
        </p:xfrm>
        <a:graphic>
          <a:graphicData uri="http://schemas.openxmlformats.org/presentationml/2006/ole">
            <mc:AlternateContent xmlns:mc="http://schemas.openxmlformats.org/markup-compatibility/2006">
              <mc:Choice xmlns:v="urn:schemas-microsoft-com:vml" Requires="v">
                <p:oleObj spid="_x0000_s15390" name="Visio" r:id="rId9" imgW="1342953" imgH="419180" progId="Visio.Drawing.15">
                  <p:embed/>
                </p:oleObj>
              </mc:Choice>
              <mc:Fallback>
                <p:oleObj name="Visio" r:id="rId9" imgW="1342953" imgH="419180" progId="Visio.Drawing.15">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688" y="4011910"/>
                        <a:ext cx="2813336" cy="864096"/>
                      </a:xfrm>
                      <a:prstGeom prst="rect">
                        <a:avLst/>
                      </a:prstGeom>
                      <a:solidFill>
                        <a:schemeClr val="bg1"/>
                      </a:solidFill>
                    </p:spPr>
                  </p:pic>
                </p:oleObj>
              </mc:Fallback>
            </mc:AlternateContent>
          </a:graphicData>
        </a:graphic>
      </p:graphicFrame>
      <p:graphicFrame>
        <p:nvGraphicFramePr>
          <p:cNvPr id="18" name="对象 17">
            <a:extLst>
              <a:ext uri="{FF2B5EF4-FFF2-40B4-BE49-F238E27FC236}">
                <a16:creationId xmlns:a16="http://schemas.microsoft.com/office/drawing/2014/main" id="{C54F2487-024F-DCCE-FBC0-FBFA23BC6275}"/>
              </a:ext>
            </a:extLst>
          </p:cNvPr>
          <p:cNvGraphicFramePr>
            <a:graphicFrameLocks noChangeAspect="1"/>
          </p:cNvGraphicFramePr>
          <p:nvPr>
            <p:extLst>
              <p:ext uri="{D42A27DB-BD31-4B8C-83A1-F6EECF244321}">
                <p14:modId xmlns:p14="http://schemas.microsoft.com/office/powerpoint/2010/main" val="232171506"/>
              </p:ext>
            </p:extLst>
          </p:nvPr>
        </p:nvGraphicFramePr>
        <p:xfrm>
          <a:off x="3260554" y="4011910"/>
          <a:ext cx="2813337" cy="864096"/>
        </p:xfrm>
        <a:graphic>
          <a:graphicData uri="http://schemas.openxmlformats.org/presentationml/2006/ole">
            <mc:AlternateContent xmlns:mc="http://schemas.openxmlformats.org/markup-compatibility/2006">
              <mc:Choice xmlns:v="urn:schemas-microsoft-com:vml" Requires="v">
                <p:oleObj spid="_x0000_s15391" name="Visio" r:id="rId11" imgW="1342953" imgH="419180" progId="Visio.Drawing.15">
                  <p:embed/>
                </p:oleObj>
              </mc:Choice>
              <mc:Fallback>
                <p:oleObj name="Visio" r:id="rId11" imgW="1342953" imgH="419180" progId="Visio.Drawing.15">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60554" y="4011910"/>
                        <a:ext cx="2813337" cy="864096"/>
                      </a:xfrm>
                      <a:prstGeom prst="rect">
                        <a:avLst/>
                      </a:prstGeom>
                      <a:solidFill>
                        <a:schemeClr val="bg1"/>
                      </a:solidFill>
                    </p:spPr>
                  </p:pic>
                </p:oleObj>
              </mc:Fallback>
            </mc:AlternateContent>
          </a:graphicData>
        </a:graphic>
      </p:graphicFrame>
    </p:spTree>
    <p:extLst>
      <p:ext uri="{BB962C8B-B14F-4D97-AF65-F5344CB8AC3E}">
        <p14:creationId xmlns:p14="http://schemas.microsoft.com/office/powerpoint/2010/main" val="18872883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6882763" y="132357"/>
            <a:ext cx="1776809" cy="1785104"/>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t>E </a:t>
            </a:r>
            <a:r>
              <a:rPr lang="en-US" altLang="zh-CN" sz="2200" dirty="0">
                <a:sym typeface="Wingdings" pitchFamily="2" charset="2"/>
              </a:rPr>
              <a:t></a:t>
            </a:r>
            <a:r>
              <a:rPr lang="en-US" altLang="zh-CN" sz="2200" dirty="0"/>
              <a:t>TE'</a:t>
            </a:r>
            <a:br>
              <a:rPr lang="en-US" altLang="zh-CN" sz="2200" dirty="0"/>
            </a:br>
            <a:r>
              <a:rPr lang="en-US" altLang="zh-CN" sz="2200" dirty="0"/>
              <a:t>E' </a:t>
            </a:r>
            <a:r>
              <a:rPr lang="en-US" altLang="zh-CN" sz="2200" dirty="0">
                <a:sym typeface="Wingdings" pitchFamily="2" charset="2"/>
              </a:rPr>
              <a:t></a:t>
            </a:r>
            <a:r>
              <a:rPr lang="en-US" altLang="zh-CN" sz="2200" dirty="0"/>
              <a:t> +TE' |ε</a:t>
            </a:r>
            <a:br>
              <a:rPr lang="en-US" altLang="zh-CN" sz="2200" dirty="0"/>
            </a:br>
            <a:r>
              <a:rPr lang="en-US" altLang="zh-CN" sz="2200" dirty="0"/>
              <a:t>T </a:t>
            </a:r>
            <a:r>
              <a:rPr lang="en-US" altLang="zh-CN" sz="2200" dirty="0">
                <a:sym typeface="Wingdings" pitchFamily="2" charset="2"/>
              </a:rPr>
              <a:t></a:t>
            </a:r>
            <a:r>
              <a:rPr lang="en-US" altLang="zh-CN" sz="2200" dirty="0"/>
              <a:t> FT'</a:t>
            </a:r>
            <a:br>
              <a:rPr lang="en-US" altLang="zh-CN" sz="2200" dirty="0"/>
            </a:br>
            <a:r>
              <a:rPr lang="en-US" altLang="zh-CN" sz="2200" dirty="0"/>
              <a:t>T' </a:t>
            </a:r>
            <a:r>
              <a:rPr lang="en-US" altLang="zh-CN" sz="2200" dirty="0">
                <a:sym typeface="Wingdings" pitchFamily="2" charset="2"/>
              </a:rPr>
              <a:t></a:t>
            </a:r>
            <a:r>
              <a:rPr lang="en-US" altLang="zh-CN" sz="2200" dirty="0"/>
              <a:t> *FT' |ε</a:t>
            </a:r>
            <a:br>
              <a:rPr lang="en-US" altLang="zh-CN" sz="2200" dirty="0"/>
            </a:br>
            <a:r>
              <a:rPr lang="en-US" altLang="zh-CN" sz="2200" dirty="0"/>
              <a:t>F </a:t>
            </a:r>
            <a:r>
              <a:rPr lang="en-US" altLang="zh-CN" sz="2200" dirty="0">
                <a:sym typeface="Wingdings" pitchFamily="2" charset="2"/>
              </a:rPr>
              <a:t></a:t>
            </a:r>
            <a:r>
              <a:rPr lang="en-US" altLang="zh-CN" sz="2200" dirty="0"/>
              <a:t>(E) |</a:t>
            </a:r>
            <a:r>
              <a:rPr lang="en-US" altLang="zh-CN" sz="2200" dirty="0" err="1"/>
              <a:t>i</a:t>
            </a:r>
            <a:r>
              <a:rPr lang="en-US" altLang="zh-CN" sz="2200" dirty="0"/>
              <a:t> </a:t>
            </a:r>
          </a:p>
        </p:txBody>
      </p:sp>
      <p:sp>
        <p:nvSpPr>
          <p:cNvPr id="5" name="内容占位符 4"/>
          <p:cNvSpPr txBox="1">
            <a:spLocks/>
          </p:cNvSpPr>
          <p:nvPr/>
        </p:nvSpPr>
        <p:spPr>
          <a:xfrm>
            <a:off x="39688" y="411509"/>
            <a:ext cx="5878512" cy="576065"/>
          </a:xfrm>
          <a:prstGeom prst="rect">
            <a:avLst/>
          </a:prstGeom>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a:defRPr/>
            </a:pPr>
            <a:r>
              <a:rPr lang="zh-CN" altLang="en-US" sz="2200" kern="0" dirty="0">
                <a:latin typeface="宋体" panose="02010600030101010101" pitchFamily="2" charset="-122"/>
                <a:ea typeface="宋体" panose="02010600030101010101" pitchFamily="2" charset="-122"/>
              </a:rPr>
              <a:t>根据</a:t>
            </a:r>
            <a:r>
              <a:rPr lang="zh-CN" altLang="zh-CN" sz="2200" kern="0" dirty="0">
                <a:solidFill>
                  <a:srgbClr val="FF0000"/>
                </a:solidFill>
                <a:latin typeface="宋体" panose="02010600030101010101" pitchFamily="2" charset="-122"/>
                <a:ea typeface="宋体" panose="02010600030101010101" pitchFamily="2" charset="-122"/>
              </a:rPr>
              <a:t>语法图</a:t>
            </a:r>
            <a:r>
              <a:rPr lang="zh-CN" altLang="zh-CN" sz="2200" kern="0" dirty="0">
                <a:latin typeface="宋体" panose="02010600030101010101" pitchFamily="2" charset="-122"/>
                <a:ea typeface="宋体" panose="02010600030101010101" pitchFamily="2" charset="-122"/>
              </a:rPr>
              <a:t>来</a:t>
            </a:r>
            <a:r>
              <a:rPr lang="zh-CN" altLang="en-US" sz="2200" kern="0" dirty="0">
                <a:latin typeface="宋体" panose="02010600030101010101" pitchFamily="2" charset="-122"/>
                <a:ea typeface="宋体" panose="02010600030101010101" pitchFamily="2" charset="-122"/>
              </a:rPr>
              <a:t>写递归下降的分析程序</a:t>
            </a:r>
          </a:p>
        </p:txBody>
      </p:sp>
      <p:graphicFrame>
        <p:nvGraphicFramePr>
          <p:cNvPr id="10" name="对象 9">
            <a:extLst>
              <a:ext uri="{FF2B5EF4-FFF2-40B4-BE49-F238E27FC236}">
                <a16:creationId xmlns:a16="http://schemas.microsoft.com/office/drawing/2014/main" id="{B7D6D73E-4BDE-1AF2-BB7B-A36A37F6A3C8}"/>
              </a:ext>
            </a:extLst>
          </p:cNvPr>
          <p:cNvGraphicFramePr>
            <a:graphicFrameLocks noChangeAspect="1"/>
          </p:cNvGraphicFramePr>
          <p:nvPr>
            <p:extLst>
              <p:ext uri="{D42A27DB-BD31-4B8C-83A1-F6EECF244321}">
                <p14:modId xmlns:p14="http://schemas.microsoft.com/office/powerpoint/2010/main" val="845725442"/>
              </p:ext>
            </p:extLst>
          </p:nvPr>
        </p:nvGraphicFramePr>
        <p:xfrm>
          <a:off x="6398337" y="2356650"/>
          <a:ext cx="2745663" cy="2527514"/>
        </p:xfrm>
        <a:graphic>
          <a:graphicData uri="http://schemas.openxmlformats.org/presentationml/2006/ole">
            <mc:AlternateContent xmlns:mc="http://schemas.openxmlformats.org/markup-compatibility/2006">
              <mc:Choice xmlns:v="urn:schemas-microsoft-com:vml" Requires="v">
                <p:oleObj spid="_x0000_s16406" name="Visio" r:id="rId3" imgW="2190893" imgH="1943134" progId="Visio.Drawing.15">
                  <p:embed/>
                </p:oleObj>
              </mc:Choice>
              <mc:Fallback>
                <p:oleObj name="Visio" r:id="rId3" imgW="2190893" imgH="1943134" progId="Visio.Drawing.15">
                  <p:embed/>
                  <p:pic>
                    <p:nvPicPr>
                      <p:cNvPr id="10" name="对象 9">
                        <a:extLst>
                          <a:ext uri="{FF2B5EF4-FFF2-40B4-BE49-F238E27FC236}">
                            <a16:creationId xmlns:a16="http://schemas.microsoft.com/office/drawing/2014/main" id="{B7D6D73E-4BDE-1AF2-BB7B-A36A37F6A3C8}"/>
                          </a:ext>
                        </a:extLst>
                      </p:cNvPr>
                      <p:cNvPicPr>
                        <a:picLocks noChangeAspect="1" noChangeArrowheads="1"/>
                      </p:cNvPicPr>
                      <p:nvPr/>
                    </p:nvPicPr>
                    <p:blipFill>
                      <a:blip r:embed="rId4"/>
                      <a:srcRect/>
                      <a:stretch>
                        <a:fillRect/>
                      </a:stretch>
                    </p:blipFill>
                    <p:spPr bwMode="auto">
                      <a:xfrm>
                        <a:off x="6398337" y="2356650"/>
                        <a:ext cx="2745663" cy="2527514"/>
                      </a:xfrm>
                      <a:prstGeom prst="rect">
                        <a:avLst/>
                      </a:prstGeom>
                      <a:noFill/>
                    </p:spPr>
                  </p:pic>
                </p:oleObj>
              </mc:Fallback>
            </mc:AlternateContent>
          </a:graphicData>
        </a:graphic>
      </p:graphicFrame>
      <p:graphicFrame>
        <p:nvGraphicFramePr>
          <p:cNvPr id="15" name="对象 14">
            <a:extLst>
              <a:ext uri="{FF2B5EF4-FFF2-40B4-BE49-F238E27FC236}">
                <a16:creationId xmlns:a16="http://schemas.microsoft.com/office/drawing/2014/main" id="{057F323A-6F24-1242-187C-235AEF60CF3E}"/>
              </a:ext>
            </a:extLst>
          </p:cNvPr>
          <p:cNvGraphicFramePr>
            <a:graphicFrameLocks noChangeAspect="1"/>
          </p:cNvGraphicFramePr>
          <p:nvPr>
            <p:extLst>
              <p:ext uri="{D42A27DB-BD31-4B8C-83A1-F6EECF244321}">
                <p14:modId xmlns:p14="http://schemas.microsoft.com/office/powerpoint/2010/main" val="1445637896"/>
              </p:ext>
            </p:extLst>
          </p:nvPr>
        </p:nvGraphicFramePr>
        <p:xfrm>
          <a:off x="39688" y="1053273"/>
          <a:ext cx="2372072" cy="728565"/>
        </p:xfrm>
        <a:graphic>
          <a:graphicData uri="http://schemas.openxmlformats.org/presentationml/2006/ole">
            <mc:AlternateContent xmlns:mc="http://schemas.openxmlformats.org/markup-compatibility/2006">
              <mc:Choice xmlns:v="urn:schemas-microsoft-com:vml" Requires="v">
                <p:oleObj spid="_x0000_s16407" name="Visio" r:id="rId5" imgW="1342953" imgH="419180" progId="Visio.Drawing.15">
                  <p:embed/>
                </p:oleObj>
              </mc:Choice>
              <mc:Fallback>
                <p:oleObj name="Visio" r:id="rId5" imgW="1342953" imgH="419180" progId="Visio.Drawing.15">
                  <p:embed/>
                  <p:pic>
                    <p:nvPicPr>
                      <p:cNvPr id="15" name="对象 14">
                        <a:extLst>
                          <a:ext uri="{FF2B5EF4-FFF2-40B4-BE49-F238E27FC236}">
                            <a16:creationId xmlns:a16="http://schemas.microsoft.com/office/drawing/2014/main" id="{057F323A-6F24-1242-187C-235AEF60CF3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88" y="1053273"/>
                        <a:ext cx="2372072" cy="728565"/>
                      </a:xfrm>
                      <a:prstGeom prst="rect">
                        <a:avLst/>
                      </a:prstGeom>
                      <a:solidFill>
                        <a:schemeClr val="bg1"/>
                      </a:solidFill>
                    </p:spPr>
                  </p:pic>
                </p:oleObj>
              </mc:Fallback>
            </mc:AlternateContent>
          </a:graphicData>
        </a:graphic>
      </p:graphicFrame>
      <p:graphicFrame>
        <p:nvGraphicFramePr>
          <p:cNvPr id="18" name="对象 17">
            <a:extLst>
              <a:ext uri="{FF2B5EF4-FFF2-40B4-BE49-F238E27FC236}">
                <a16:creationId xmlns:a16="http://schemas.microsoft.com/office/drawing/2014/main" id="{C54F2487-024F-DCCE-FBC0-FBFA23BC6275}"/>
              </a:ext>
            </a:extLst>
          </p:cNvPr>
          <p:cNvGraphicFramePr>
            <a:graphicFrameLocks noChangeAspect="1"/>
          </p:cNvGraphicFramePr>
          <p:nvPr>
            <p:extLst>
              <p:ext uri="{D42A27DB-BD31-4B8C-83A1-F6EECF244321}">
                <p14:modId xmlns:p14="http://schemas.microsoft.com/office/powerpoint/2010/main" val="2780490963"/>
              </p:ext>
            </p:extLst>
          </p:nvPr>
        </p:nvGraphicFramePr>
        <p:xfrm>
          <a:off x="2411760" y="987574"/>
          <a:ext cx="2372073" cy="728565"/>
        </p:xfrm>
        <a:graphic>
          <a:graphicData uri="http://schemas.openxmlformats.org/presentationml/2006/ole">
            <mc:AlternateContent xmlns:mc="http://schemas.openxmlformats.org/markup-compatibility/2006">
              <mc:Choice xmlns:v="urn:schemas-microsoft-com:vml" Requires="v">
                <p:oleObj spid="_x0000_s16408" name="Visio" r:id="rId7" imgW="1342953" imgH="419180" progId="Visio.Drawing.15">
                  <p:embed/>
                </p:oleObj>
              </mc:Choice>
              <mc:Fallback>
                <p:oleObj name="Visio" r:id="rId7" imgW="1342953" imgH="419180" progId="Visio.Drawing.15">
                  <p:embed/>
                  <p:pic>
                    <p:nvPicPr>
                      <p:cNvPr id="18" name="对象 17">
                        <a:extLst>
                          <a:ext uri="{FF2B5EF4-FFF2-40B4-BE49-F238E27FC236}">
                            <a16:creationId xmlns:a16="http://schemas.microsoft.com/office/drawing/2014/main" id="{C54F2487-024F-DCCE-FBC0-FBFA23BC62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11760" y="987574"/>
                        <a:ext cx="2372073" cy="728565"/>
                      </a:xfrm>
                      <a:prstGeom prst="rect">
                        <a:avLst/>
                      </a:prstGeom>
                      <a:solidFill>
                        <a:schemeClr val="bg1"/>
                      </a:solidFill>
                    </p:spPr>
                  </p:pic>
                </p:oleObj>
              </mc:Fallback>
            </mc:AlternateContent>
          </a:graphicData>
        </a:graphic>
      </p:graphicFrame>
      <p:graphicFrame>
        <p:nvGraphicFramePr>
          <p:cNvPr id="4" name="对象 3">
            <a:extLst>
              <a:ext uri="{FF2B5EF4-FFF2-40B4-BE49-F238E27FC236}">
                <a16:creationId xmlns:a16="http://schemas.microsoft.com/office/drawing/2014/main" id="{A9F2BBC8-FA3D-A994-0D19-C045539F9226}"/>
              </a:ext>
            </a:extLst>
          </p:cNvPr>
          <p:cNvGraphicFramePr>
            <a:graphicFrameLocks noChangeAspect="1"/>
          </p:cNvGraphicFramePr>
          <p:nvPr>
            <p:extLst>
              <p:ext uri="{D42A27DB-BD31-4B8C-83A1-F6EECF244321}">
                <p14:modId xmlns:p14="http://schemas.microsoft.com/office/powerpoint/2010/main" val="2484242276"/>
              </p:ext>
            </p:extLst>
          </p:nvPr>
        </p:nvGraphicFramePr>
        <p:xfrm>
          <a:off x="35496" y="1937919"/>
          <a:ext cx="4249562" cy="902562"/>
        </p:xfrm>
        <a:graphic>
          <a:graphicData uri="http://schemas.openxmlformats.org/presentationml/2006/ole">
            <mc:AlternateContent xmlns:mc="http://schemas.openxmlformats.org/markup-compatibility/2006">
              <mc:Choice xmlns:v="urn:schemas-microsoft-com:vml" Requires="v">
                <p:oleObj spid="_x0000_s16409" name="Visio" r:id="rId9" imgW="2152698" imgH="457063" progId="Visio.Drawing.15">
                  <p:embed/>
                </p:oleObj>
              </mc:Choice>
              <mc:Fallback>
                <p:oleObj name="Visio" r:id="rId9" imgW="2152698" imgH="457063" progId="Visio.Drawing.15">
                  <p:embed/>
                  <p:pic>
                    <p:nvPicPr>
                      <p:cNvPr id="0" name="Object 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496" y="1937919"/>
                        <a:ext cx="4249562" cy="902562"/>
                      </a:xfrm>
                      <a:prstGeom prst="rect">
                        <a:avLst/>
                      </a:prstGeom>
                      <a:noFill/>
                    </p:spPr>
                  </p:pic>
                </p:oleObj>
              </mc:Fallback>
            </mc:AlternateContent>
          </a:graphicData>
        </a:graphic>
      </p:graphicFrame>
      <p:graphicFrame>
        <p:nvGraphicFramePr>
          <p:cNvPr id="6" name="表格 5">
            <a:extLst>
              <a:ext uri="{FF2B5EF4-FFF2-40B4-BE49-F238E27FC236}">
                <a16:creationId xmlns:a16="http://schemas.microsoft.com/office/drawing/2014/main" id="{892CEBF1-3A0C-1E81-8DA5-3D402DCE0801}"/>
              </a:ext>
            </a:extLst>
          </p:cNvPr>
          <p:cNvGraphicFramePr>
            <a:graphicFrameLocks noGrp="1"/>
          </p:cNvGraphicFramePr>
          <p:nvPr>
            <p:extLst>
              <p:ext uri="{D42A27DB-BD31-4B8C-83A1-F6EECF244321}">
                <p14:modId xmlns:p14="http://schemas.microsoft.com/office/powerpoint/2010/main" val="3972195241"/>
              </p:ext>
            </p:extLst>
          </p:nvPr>
        </p:nvGraphicFramePr>
        <p:xfrm>
          <a:off x="215673" y="3003798"/>
          <a:ext cx="5004399" cy="1809884"/>
        </p:xfrm>
        <a:graphic>
          <a:graphicData uri="http://schemas.openxmlformats.org/drawingml/2006/table">
            <a:tbl>
              <a:tblPr>
                <a:tableStyleId>{5C22544A-7EE6-4342-B048-85BDC9FD1C3A}</a:tableStyleId>
              </a:tblPr>
              <a:tblGrid>
                <a:gridCol w="2559569">
                  <a:extLst>
                    <a:ext uri="{9D8B030D-6E8A-4147-A177-3AD203B41FA5}">
                      <a16:colId xmlns:a16="http://schemas.microsoft.com/office/drawing/2014/main" val="1436178917"/>
                    </a:ext>
                  </a:extLst>
                </a:gridCol>
                <a:gridCol w="2444830">
                  <a:extLst>
                    <a:ext uri="{9D8B030D-6E8A-4147-A177-3AD203B41FA5}">
                      <a16:colId xmlns:a16="http://schemas.microsoft.com/office/drawing/2014/main" val="3075299233"/>
                    </a:ext>
                  </a:extLst>
                </a:gridCol>
              </a:tblGrid>
              <a:tr h="1809884">
                <a:tc>
                  <a:txBody>
                    <a:bodyPr/>
                    <a:lstStyle/>
                    <a:p>
                      <a:pPr algn="just">
                        <a:lnSpc>
                          <a:spcPts val="1300"/>
                        </a:lnSpc>
                      </a:pPr>
                      <a:r>
                        <a:rPr lang="zh-CN" sz="2000" kern="0" dirty="0">
                          <a:effectLst/>
                        </a:rPr>
                        <a:t> </a:t>
                      </a:r>
                      <a:endParaRPr lang="en-US" altLang="zh-CN" sz="2000" kern="0" dirty="0">
                        <a:effectLst/>
                      </a:endParaRPr>
                    </a:p>
                    <a:p>
                      <a:pPr algn="just">
                        <a:lnSpc>
                          <a:spcPts val="1300"/>
                        </a:lnSpc>
                      </a:pPr>
                      <a:r>
                        <a:rPr lang="en-US" sz="1600" kern="100" dirty="0">
                          <a:effectLst/>
                        </a:rPr>
                        <a:t>void E( ) </a:t>
                      </a:r>
                      <a:endParaRPr lang="zh-CN" sz="2000" kern="100" dirty="0">
                        <a:effectLst/>
                      </a:endParaRPr>
                    </a:p>
                    <a:p>
                      <a:pPr algn="just">
                        <a:lnSpc>
                          <a:spcPts val="1300"/>
                        </a:lnSpc>
                      </a:pPr>
                      <a:r>
                        <a:rPr lang="en-US" sz="1600" kern="100" dirty="0">
                          <a:effectLst/>
                        </a:rPr>
                        <a:t>{</a:t>
                      </a:r>
                      <a:endParaRPr lang="zh-CN" sz="2000" kern="100" dirty="0">
                        <a:effectLst/>
                      </a:endParaRPr>
                    </a:p>
                    <a:p>
                      <a:pPr indent="114300" algn="just">
                        <a:lnSpc>
                          <a:spcPts val="1300"/>
                        </a:lnSpc>
                      </a:pPr>
                      <a:r>
                        <a:rPr lang="en-US" sz="1600" kern="100" dirty="0">
                          <a:effectLst/>
                        </a:rPr>
                        <a:t>T( );</a:t>
                      </a:r>
                      <a:endParaRPr lang="zh-CN" sz="2000" kern="100" dirty="0">
                        <a:effectLst/>
                      </a:endParaRPr>
                    </a:p>
                    <a:p>
                      <a:pPr indent="114300" algn="just">
                        <a:lnSpc>
                          <a:spcPts val="1300"/>
                        </a:lnSpc>
                      </a:pPr>
                      <a:r>
                        <a:rPr lang="en-US" sz="1600" kern="100" dirty="0">
                          <a:effectLst/>
                        </a:rPr>
                        <a:t>while (token == '+')</a:t>
                      </a:r>
                      <a:endParaRPr lang="zh-CN" sz="2000" kern="100" dirty="0">
                        <a:effectLst/>
                      </a:endParaRPr>
                    </a:p>
                    <a:p>
                      <a:pPr indent="228600" algn="just">
                        <a:lnSpc>
                          <a:spcPts val="1300"/>
                        </a:lnSpc>
                      </a:pPr>
                      <a:r>
                        <a:rPr lang="en-US" sz="1600" kern="100" dirty="0">
                          <a:effectLst/>
                        </a:rPr>
                        <a:t>{</a:t>
                      </a:r>
                      <a:endParaRPr lang="zh-CN" sz="2000" kern="100" dirty="0">
                        <a:effectLst/>
                      </a:endParaRPr>
                    </a:p>
                    <a:p>
                      <a:pPr indent="342900" algn="just">
                        <a:lnSpc>
                          <a:spcPts val="1300"/>
                        </a:lnSpc>
                      </a:pPr>
                      <a:r>
                        <a:rPr lang="en-US" sz="1600" kern="100" dirty="0">
                          <a:effectLst/>
                        </a:rPr>
                        <a:t>match ('+');</a:t>
                      </a:r>
                      <a:endParaRPr lang="zh-CN" sz="2000" kern="100" dirty="0">
                        <a:effectLst/>
                      </a:endParaRPr>
                    </a:p>
                    <a:p>
                      <a:pPr indent="342900" algn="just">
                        <a:lnSpc>
                          <a:spcPts val="1300"/>
                        </a:lnSpc>
                      </a:pPr>
                      <a:r>
                        <a:rPr lang="en-US" sz="1600" kern="100" dirty="0">
                          <a:effectLst/>
                        </a:rPr>
                        <a:t>T();</a:t>
                      </a:r>
                      <a:endParaRPr lang="zh-CN" sz="2000" kern="100" dirty="0">
                        <a:effectLst/>
                      </a:endParaRPr>
                    </a:p>
                    <a:p>
                      <a:pPr indent="228600" algn="just">
                        <a:lnSpc>
                          <a:spcPts val="1300"/>
                        </a:lnSpc>
                      </a:pPr>
                      <a:r>
                        <a:rPr lang="en-US" sz="1600" kern="100" dirty="0">
                          <a:effectLst/>
                        </a:rPr>
                        <a:t>}</a:t>
                      </a:r>
                      <a:endParaRPr lang="zh-CN" sz="2000" kern="100" dirty="0">
                        <a:effectLst/>
                      </a:endParaRPr>
                    </a:p>
                    <a:p>
                      <a:pPr algn="just">
                        <a:lnSpc>
                          <a:spcPts val="1300"/>
                        </a:lnSpc>
                      </a:pPr>
                      <a:r>
                        <a:rPr lang="en-US" sz="1600" kern="100" dirty="0">
                          <a:effectLst/>
                        </a:rPr>
                        <a:t>}</a:t>
                      </a:r>
                      <a:endParaRPr lang="zh-CN" sz="2000" kern="100" dirty="0">
                        <a:effectLst/>
                        <a:latin typeface="Times New Roman" panose="02020603050405020304" pitchFamily="18" charset="0"/>
                        <a:ea typeface="宋体" panose="02010600030101010101" pitchFamily="2" charset="-122"/>
                      </a:endParaRPr>
                    </a:p>
                  </a:txBody>
                  <a:tcPr marL="68580" marR="68580" marT="0" marB="0"/>
                </a:tc>
                <a:tc>
                  <a:txBody>
                    <a:bodyPr/>
                    <a:lstStyle/>
                    <a:p>
                      <a:pPr algn="just">
                        <a:lnSpc>
                          <a:spcPts val="1300"/>
                        </a:lnSpc>
                      </a:pPr>
                      <a:endParaRPr lang="en-US" sz="1600" kern="100" dirty="0">
                        <a:effectLst/>
                      </a:endParaRPr>
                    </a:p>
                    <a:p>
                      <a:pPr algn="just">
                        <a:lnSpc>
                          <a:spcPts val="1300"/>
                        </a:lnSpc>
                      </a:pPr>
                      <a:r>
                        <a:rPr lang="en-US" sz="1600" kern="100" dirty="0">
                          <a:effectLst/>
                        </a:rPr>
                        <a:t>void T()</a:t>
                      </a:r>
                      <a:endParaRPr lang="zh-CN" sz="2000" kern="100" dirty="0">
                        <a:effectLst/>
                      </a:endParaRPr>
                    </a:p>
                    <a:p>
                      <a:pPr algn="just">
                        <a:lnSpc>
                          <a:spcPts val="1300"/>
                        </a:lnSpc>
                      </a:pPr>
                      <a:r>
                        <a:rPr lang="en-US" sz="1600" kern="100" dirty="0">
                          <a:effectLst/>
                        </a:rPr>
                        <a:t>{</a:t>
                      </a:r>
                      <a:endParaRPr lang="zh-CN" sz="2000" kern="100" dirty="0">
                        <a:effectLst/>
                      </a:endParaRPr>
                    </a:p>
                    <a:p>
                      <a:pPr algn="just">
                        <a:lnSpc>
                          <a:spcPts val="1300"/>
                        </a:lnSpc>
                      </a:pPr>
                      <a:r>
                        <a:rPr lang="en-US" sz="1600" kern="100" dirty="0">
                          <a:effectLst/>
                        </a:rPr>
                        <a:t>  F();</a:t>
                      </a:r>
                      <a:endParaRPr lang="zh-CN" sz="2000" kern="100" dirty="0">
                        <a:effectLst/>
                      </a:endParaRPr>
                    </a:p>
                    <a:p>
                      <a:pPr indent="114300" algn="just">
                        <a:lnSpc>
                          <a:spcPts val="1300"/>
                        </a:lnSpc>
                      </a:pPr>
                      <a:r>
                        <a:rPr lang="en-US" sz="1600" kern="100" dirty="0">
                          <a:effectLst/>
                        </a:rPr>
                        <a:t>while (token == '*')</a:t>
                      </a:r>
                      <a:endParaRPr lang="zh-CN" sz="2000" kern="100" dirty="0">
                        <a:effectLst/>
                      </a:endParaRPr>
                    </a:p>
                    <a:p>
                      <a:pPr indent="228600" algn="just">
                        <a:lnSpc>
                          <a:spcPts val="1300"/>
                        </a:lnSpc>
                      </a:pPr>
                      <a:r>
                        <a:rPr lang="en-US" sz="1600" kern="100" dirty="0">
                          <a:effectLst/>
                        </a:rPr>
                        <a:t>{</a:t>
                      </a:r>
                      <a:endParaRPr lang="zh-CN" sz="2000" kern="100" dirty="0">
                        <a:effectLst/>
                      </a:endParaRPr>
                    </a:p>
                    <a:p>
                      <a:pPr algn="just">
                        <a:lnSpc>
                          <a:spcPts val="1300"/>
                        </a:lnSpc>
                      </a:pPr>
                      <a:r>
                        <a:rPr lang="en-US" sz="1600" kern="100" dirty="0">
                          <a:effectLst/>
                        </a:rPr>
                        <a:t>      match ('*');</a:t>
                      </a:r>
                      <a:endParaRPr lang="zh-CN" sz="2000" kern="100" dirty="0">
                        <a:effectLst/>
                      </a:endParaRPr>
                    </a:p>
                    <a:p>
                      <a:pPr algn="just">
                        <a:lnSpc>
                          <a:spcPts val="1300"/>
                        </a:lnSpc>
                      </a:pPr>
                      <a:r>
                        <a:rPr lang="en-US" sz="1600" kern="100" dirty="0">
                          <a:effectLst/>
                        </a:rPr>
                        <a:t>      F();</a:t>
                      </a:r>
                      <a:endParaRPr lang="zh-CN" sz="2000" kern="100" dirty="0">
                        <a:effectLst/>
                      </a:endParaRPr>
                    </a:p>
                    <a:p>
                      <a:pPr algn="just">
                        <a:lnSpc>
                          <a:spcPts val="1300"/>
                        </a:lnSpc>
                      </a:pPr>
                      <a:r>
                        <a:rPr lang="en-US" sz="1600" kern="100" dirty="0">
                          <a:effectLst/>
                        </a:rPr>
                        <a:t>   }</a:t>
                      </a:r>
                      <a:endParaRPr lang="zh-CN" sz="2000" kern="100" dirty="0">
                        <a:effectLst/>
                      </a:endParaRPr>
                    </a:p>
                    <a:p>
                      <a:pPr algn="just">
                        <a:lnSpc>
                          <a:spcPts val="1300"/>
                        </a:lnSpc>
                      </a:pPr>
                      <a:r>
                        <a:rPr lang="en-US" sz="1600" kern="100" dirty="0">
                          <a:effectLst/>
                        </a:rPr>
                        <a:t>}</a:t>
                      </a:r>
                      <a:endParaRPr lang="zh-CN" sz="2000" kern="100" dirty="0">
                        <a:effectLst/>
                        <a:latin typeface="Times New Roman" panose="02020603050405020304" pitchFamily="18" charset="0"/>
                        <a:ea typeface="宋体" panose="02010600030101010101" pitchFamily="2" charset="-122"/>
                      </a:endParaRPr>
                    </a:p>
                  </a:txBody>
                  <a:tcPr marL="68580" marR="68580" marT="0" marB="0"/>
                </a:tc>
                <a:extLst>
                  <a:ext uri="{0D108BD9-81ED-4DB2-BD59-A6C34878D82A}">
                    <a16:rowId xmlns:a16="http://schemas.microsoft.com/office/drawing/2014/main" val="265138419"/>
                  </a:ext>
                </a:extLst>
              </a:tr>
            </a:tbl>
          </a:graphicData>
        </a:graphic>
      </p:graphicFrame>
      <p:graphicFrame>
        <p:nvGraphicFramePr>
          <p:cNvPr id="11" name="表格 10">
            <a:extLst>
              <a:ext uri="{FF2B5EF4-FFF2-40B4-BE49-F238E27FC236}">
                <a16:creationId xmlns:a16="http://schemas.microsoft.com/office/drawing/2014/main" id="{491AA152-7D63-8758-2D7A-A3C3CDDF0999}"/>
              </a:ext>
            </a:extLst>
          </p:cNvPr>
          <p:cNvGraphicFramePr>
            <a:graphicFrameLocks noGrp="1"/>
          </p:cNvGraphicFramePr>
          <p:nvPr>
            <p:extLst>
              <p:ext uri="{D42A27DB-BD31-4B8C-83A1-F6EECF244321}">
                <p14:modId xmlns:p14="http://schemas.microsoft.com/office/powerpoint/2010/main" val="3961301286"/>
              </p:ext>
            </p:extLst>
          </p:nvPr>
        </p:nvGraphicFramePr>
        <p:xfrm>
          <a:off x="5580112" y="2357354"/>
          <a:ext cx="3457474" cy="2526810"/>
        </p:xfrm>
        <a:graphic>
          <a:graphicData uri="http://schemas.openxmlformats.org/drawingml/2006/table">
            <a:tbl>
              <a:tblPr>
                <a:tableStyleId>{5C22544A-7EE6-4342-B048-85BDC9FD1C3A}</a:tableStyleId>
              </a:tblPr>
              <a:tblGrid>
                <a:gridCol w="3457474">
                  <a:extLst>
                    <a:ext uri="{9D8B030D-6E8A-4147-A177-3AD203B41FA5}">
                      <a16:colId xmlns:a16="http://schemas.microsoft.com/office/drawing/2014/main" val="2508035135"/>
                    </a:ext>
                  </a:extLst>
                </a:gridCol>
              </a:tblGrid>
              <a:tr h="2526810">
                <a:tc>
                  <a:txBody>
                    <a:bodyPr/>
                    <a:lstStyle/>
                    <a:p>
                      <a:pPr algn="just">
                        <a:lnSpc>
                          <a:spcPts val="1300"/>
                        </a:lnSpc>
                      </a:pPr>
                      <a:endParaRPr lang="fr-FR" sz="1400" kern="100" dirty="0">
                        <a:effectLst/>
                      </a:endParaRPr>
                    </a:p>
                    <a:p>
                      <a:pPr algn="just">
                        <a:lnSpc>
                          <a:spcPts val="1300"/>
                        </a:lnSpc>
                      </a:pPr>
                      <a:r>
                        <a:rPr lang="fr-FR" sz="1400" kern="100" dirty="0">
                          <a:effectLst/>
                        </a:rPr>
                        <a:t>//</a:t>
                      </a:r>
                      <a:r>
                        <a:rPr lang="zh-CN" sz="1400" kern="100" dirty="0">
                          <a:effectLst/>
                        </a:rPr>
                        <a:t>对非终结符</a:t>
                      </a:r>
                      <a:r>
                        <a:rPr lang="fr-FR" sz="1400" kern="100" dirty="0">
                          <a:effectLst/>
                        </a:rPr>
                        <a:t>F</a:t>
                      </a:r>
                      <a:r>
                        <a:rPr lang="zh-CN" sz="1400" kern="100" dirty="0">
                          <a:effectLst/>
                        </a:rPr>
                        <a:t>，候选式为</a:t>
                      </a:r>
                      <a:r>
                        <a:rPr lang="en-US" sz="1400" kern="100" dirty="0" err="1">
                          <a:effectLst/>
                        </a:rPr>
                        <a:t>F→i</a:t>
                      </a:r>
                      <a:r>
                        <a:rPr lang="en-US" sz="1400" kern="100" dirty="0">
                          <a:effectLst/>
                        </a:rPr>
                        <a:t>|(E)</a:t>
                      </a:r>
                      <a:endParaRPr lang="zh-CN" sz="1800" kern="100" dirty="0">
                        <a:effectLst/>
                      </a:endParaRPr>
                    </a:p>
                    <a:p>
                      <a:pPr algn="just">
                        <a:lnSpc>
                          <a:spcPts val="1300"/>
                        </a:lnSpc>
                      </a:pPr>
                      <a:r>
                        <a:rPr lang="en-US" sz="1400" kern="100" dirty="0">
                          <a:effectLst/>
                        </a:rPr>
                        <a:t>void F( )</a:t>
                      </a:r>
                      <a:endParaRPr lang="zh-CN" sz="1800" kern="100" dirty="0">
                        <a:effectLst/>
                      </a:endParaRPr>
                    </a:p>
                    <a:p>
                      <a:pPr algn="just">
                        <a:lnSpc>
                          <a:spcPts val="1300"/>
                        </a:lnSpc>
                      </a:pPr>
                      <a:r>
                        <a:rPr lang="en-US" sz="1400" kern="100" dirty="0">
                          <a:effectLst/>
                        </a:rPr>
                        <a:t>  {</a:t>
                      </a:r>
                      <a:endParaRPr lang="zh-CN" sz="1800" kern="100" dirty="0">
                        <a:effectLst/>
                      </a:endParaRPr>
                    </a:p>
                    <a:p>
                      <a:pPr algn="just">
                        <a:lnSpc>
                          <a:spcPts val="1300"/>
                        </a:lnSpc>
                      </a:pPr>
                      <a:r>
                        <a:rPr lang="en-US" sz="1400" kern="100" dirty="0">
                          <a:effectLst/>
                        </a:rPr>
                        <a:t>    if (token =='(')</a:t>
                      </a:r>
                      <a:endParaRPr lang="zh-CN" sz="1800" kern="100" dirty="0">
                        <a:effectLst/>
                      </a:endParaRPr>
                    </a:p>
                    <a:p>
                      <a:pPr algn="just">
                        <a:lnSpc>
                          <a:spcPts val="1300"/>
                        </a:lnSpc>
                      </a:pPr>
                      <a:r>
                        <a:rPr lang="en-US" sz="1400" kern="100" dirty="0">
                          <a:effectLst/>
                        </a:rPr>
                        <a:t>      {</a:t>
                      </a:r>
                      <a:endParaRPr lang="zh-CN" sz="1800" kern="100" dirty="0">
                        <a:effectLst/>
                      </a:endParaRPr>
                    </a:p>
                    <a:p>
                      <a:pPr algn="just">
                        <a:lnSpc>
                          <a:spcPts val="1300"/>
                        </a:lnSpc>
                      </a:pPr>
                      <a:r>
                        <a:rPr lang="en-US" sz="1400" kern="100" dirty="0">
                          <a:effectLst/>
                        </a:rPr>
                        <a:t>         match ('(');</a:t>
                      </a:r>
                      <a:endParaRPr lang="zh-CN" sz="1800" kern="100" dirty="0">
                        <a:effectLst/>
                      </a:endParaRPr>
                    </a:p>
                    <a:p>
                      <a:pPr algn="just">
                        <a:lnSpc>
                          <a:spcPts val="1300"/>
                        </a:lnSpc>
                      </a:pPr>
                      <a:r>
                        <a:rPr lang="en-US" sz="1400" kern="100" dirty="0">
                          <a:effectLst/>
                        </a:rPr>
                        <a:t>         E( );</a:t>
                      </a:r>
                      <a:endParaRPr lang="zh-CN" sz="1800" kern="100" dirty="0">
                        <a:effectLst/>
                      </a:endParaRPr>
                    </a:p>
                    <a:p>
                      <a:pPr indent="228600" algn="just">
                        <a:lnSpc>
                          <a:spcPts val="1300"/>
                        </a:lnSpc>
                      </a:pPr>
                      <a:r>
                        <a:rPr lang="en-US" sz="1400" kern="100" dirty="0">
                          <a:effectLst/>
                        </a:rPr>
                        <a:t>if (token ==')')  match (')'); </a:t>
                      </a:r>
                      <a:endParaRPr lang="zh-CN" sz="1800" kern="100" dirty="0">
                        <a:effectLst/>
                      </a:endParaRPr>
                    </a:p>
                    <a:p>
                      <a:pPr indent="228600" algn="just">
                        <a:lnSpc>
                          <a:spcPts val="1300"/>
                        </a:lnSpc>
                      </a:pPr>
                      <a:r>
                        <a:rPr lang="en-US" sz="1400" kern="100" dirty="0">
                          <a:effectLst/>
                        </a:rPr>
                        <a:t>else error ( );</a:t>
                      </a:r>
                      <a:endParaRPr lang="zh-CN" sz="1800" kern="100" dirty="0">
                        <a:effectLst/>
                      </a:endParaRPr>
                    </a:p>
                    <a:p>
                      <a:pPr algn="just">
                        <a:lnSpc>
                          <a:spcPts val="1300"/>
                        </a:lnSpc>
                      </a:pPr>
                      <a:r>
                        <a:rPr lang="en-US" sz="1400" kern="100" dirty="0">
                          <a:effectLst/>
                        </a:rPr>
                        <a:t>      }</a:t>
                      </a:r>
                      <a:endParaRPr lang="zh-CN" sz="1800" kern="100" dirty="0">
                        <a:effectLst/>
                      </a:endParaRPr>
                    </a:p>
                    <a:p>
                      <a:pPr indent="114300" algn="just">
                        <a:lnSpc>
                          <a:spcPts val="1300"/>
                        </a:lnSpc>
                      </a:pPr>
                      <a:r>
                        <a:rPr lang="en-US" sz="1400" kern="100" dirty="0">
                          <a:effectLst/>
                        </a:rPr>
                        <a:t>else if (token == '</a:t>
                      </a:r>
                      <a:r>
                        <a:rPr lang="en-US" sz="1400" kern="100" dirty="0" err="1">
                          <a:effectLst/>
                        </a:rPr>
                        <a:t>i</a:t>
                      </a:r>
                      <a:r>
                        <a:rPr lang="en-US" sz="1400" kern="100" dirty="0">
                          <a:effectLst/>
                        </a:rPr>
                        <a:t>')  match ('</a:t>
                      </a:r>
                      <a:r>
                        <a:rPr lang="en-US" sz="1400" kern="100" dirty="0" err="1">
                          <a:effectLst/>
                        </a:rPr>
                        <a:t>i</a:t>
                      </a:r>
                      <a:r>
                        <a:rPr lang="en-US" sz="1400" kern="100" dirty="0">
                          <a:effectLst/>
                        </a:rPr>
                        <a:t>');  </a:t>
                      </a:r>
                      <a:endParaRPr lang="zh-CN" sz="1800" kern="100" dirty="0">
                        <a:effectLst/>
                      </a:endParaRPr>
                    </a:p>
                    <a:p>
                      <a:pPr indent="342900" algn="just">
                        <a:lnSpc>
                          <a:spcPts val="1300"/>
                        </a:lnSpc>
                      </a:pPr>
                      <a:r>
                        <a:rPr lang="en-US" sz="1400" kern="100" dirty="0">
                          <a:effectLst/>
                        </a:rPr>
                        <a:t>else error ( );</a:t>
                      </a:r>
                      <a:endParaRPr lang="zh-CN" sz="1800" kern="100" dirty="0">
                        <a:effectLst/>
                      </a:endParaRPr>
                    </a:p>
                    <a:p>
                      <a:pPr algn="just">
                        <a:lnSpc>
                          <a:spcPts val="1300"/>
                        </a:lnSpc>
                      </a:pPr>
                      <a:r>
                        <a:rPr lang="en-US" sz="1400" kern="100" dirty="0">
                          <a:effectLst/>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tc>
                <a:extLst>
                  <a:ext uri="{0D108BD9-81ED-4DB2-BD59-A6C34878D82A}">
                    <a16:rowId xmlns:a16="http://schemas.microsoft.com/office/drawing/2014/main" val="3498862505"/>
                  </a:ext>
                </a:extLst>
              </a:tr>
            </a:tbl>
          </a:graphicData>
        </a:graphic>
      </p:graphicFrame>
    </p:spTree>
    <p:extLst>
      <p:ext uri="{BB962C8B-B14F-4D97-AF65-F5344CB8AC3E}">
        <p14:creationId xmlns:p14="http://schemas.microsoft.com/office/powerpoint/2010/main" val="16893442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normAutofit fontScale="90000"/>
          </a:bodyPr>
          <a:lstStyle/>
          <a:p>
            <a:pPr eaLnBrk="1" hangingPunct="1"/>
            <a:r>
              <a:rPr lang="zh-CN" altLang="en-US" sz="5400">
                <a:solidFill>
                  <a:schemeClr val="tx1"/>
                </a:solidFill>
                <a:ea typeface="隶书" pitchFamily="49" charset="-122"/>
              </a:rPr>
              <a:t>递归分析程序的优点</a:t>
            </a:r>
          </a:p>
        </p:txBody>
      </p:sp>
      <p:sp>
        <p:nvSpPr>
          <p:cNvPr id="91139" name="Rectangle 3"/>
          <p:cNvSpPr>
            <a:spLocks noGrp="1" noChangeArrowheads="1"/>
          </p:cNvSpPr>
          <p:nvPr>
            <p:ph type="body" idx="1"/>
          </p:nvPr>
        </p:nvSpPr>
        <p:spPr>
          <a:xfrm>
            <a:off x="457200" y="1563637"/>
            <a:ext cx="8229600" cy="2941831"/>
          </a:xfrm>
        </p:spPr>
        <p:txBody>
          <a:bodyPr>
            <a:normAutofit/>
          </a:bodyPr>
          <a:lstStyle/>
          <a:p>
            <a:pPr eaLnBrk="1" hangingPunct="1">
              <a:spcBef>
                <a:spcPct val="50000"/>
              </a:spcBef>
            </a:pPr>
            <a:r>
              <a:rPr lang="zh-CN" altLang="en-US" sz="2200" dirty="0">
                <a:latin typeface="宋体" panose="02010600030101010101" pitchFamily="2" charset="-122"/>
                <a:ea typeface="宋体" panose="02010600030101010101" pitchFamily="2" charset="-122"/>
              </a:rPr>
              <a:t>实现思想简单明了。程序结构和语法规则直接对应。</a:t>
            </a:r>
          </a:p>
          <a:p>
            <a:pPr eaLnBrk="1" hangingPunct="1">
              <a:spcBef>
                <a:spcPct val="50000"/>
              </a:spcBef>
            </a:pPr>
            <a:r>
              <a:rPr lang="zh-CN" altLang="en-US" sz="2200" dirty="0">
                <a:latin typeface="宋体" panose="02010600030101010101" pitchFamily="2" charset="-122"/>
                <a:ea typeface="宋体" panose="02010600030101010101" pitchFamily="2" charset="-122"/>
              </a:rPr>
              <a:t>因为每个函数表示一个非终结符号的处理，添加语义加工工作比较方便。</a:t>
            </a:r>
          </a:p>
          <a:p>
            <a:pPr eaLnBrk="1" hangingPunct="1">
              <a:spcBef>
                <a:spcPct val="50000"/>
              </a:spcBef>
            </a:pPr>
            <a:r>
              <a:rPr lang="zh-CN" altLang="en-US" sz="2200" dirty="0">
                <a:latin typeface="宋体" panose="02010600030101010101" pitchFamily="2" charset="-122"/>
                <a:ea typeface="宋体" panose="02010600030101010101" pitchFamily="2" charset="-122"/>
              </a:rPr>
              <a:t>需要书写程序的语言支持递归调用。如果递归调用机制是高效的，那么分析程序也是高效的。</a:t>
            </a:r>
          </a:p>
        </p:txBody>
      </p:sp>
    </p:spTree>
    <p:extLst>
      <p:ext uri="{BB962C8B-B14F-4D97-AF65-F5344CB8AC3E}">
        <p14:creationId xmlns:p14="http://schemas.microsoft.com/office/powerpoint/2010/main" val="18894134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583432" y="1192014"/>
            <a:ext cx="7877000" cy="1667768"/>
          </a:xfrm>
        </p:spPr>
        <p:txBody>
          <a:bodyPr>
            <a:normAutofit/>
          </a:bodyPr>
          <a:lstStyle/>
          <a:p>
            <a:r>
              <a:rPr lang="en-US" altLang="zh-CN" sz="2400" dirty="0"/>
              <a:t> (4) </a:t>
            </a:r>
            <a:r>
              <a:rPr lang="zh-CN" altLang="zh-CN" sz="2400" dirty="0"/>
              <a:t>进行</a:t>
            </a:r>
            <a:r>
              <a:rPr lang="en-US" altLang="zh-CN" sz="2400" dirty="0"/>
              <a:t>LL(1)</a:t>
            </a:r>
            <a:r>
              <a:rPr lang="zh-CN" altLang="zh-CN" sz="2400" dirty="0"/>
              <a:t>分析的文法首先应该消除</a:t>
            </a:r>
            <a:r>
              <a:rPr lang="en-US" altLang="zh-CN" sz="2400" u="sng" dirty="0"/>
              <a:t>           </a:t>
            </a:r>
            <a:r>
              <a:rPr lang="zh-CN" altLang="zh-CN" sz="2400" dirty="0"/>
              <a:t>。</a:t>
            </a:r>
          </a:p>
          <a:p>
            <a:r>
              <a:rPr lang="en-US" altLang="zh-CN" sz="2400" dirty="0"/>
              <a:t>        A</a:t>
            </a:r>
            <a:r>
              <a:rPr lang="zh-CN" altLang="zh-CN" sz="2400" dirty="0"/>
              <a:t>．左递归</a:t>
            </a:r>
            <a:r>
              <a:rPr lang="en-US" altLang="zh-CN" sz="2400" dirty="0"/>
              <a:t>            B</a:t>
            </a:r>
            <a:r>
              <a:rPr lang="zh-CN" altLang="zh-CN" sz="2400" dirty="0"/>
              <a:t>．右递归</a:t>
            </a:r>
            <a:r>
              <a:rPr lang="en-US" altLang="zh-CN" sz="2400" dirty="0"/>
              <a:t>          C</a:t>
            </a:r>
            <a:r>
              <a:rPr lang="zh-CN" altLang="zh-CN" sz="2400" dirty="0"/>
              <a:t>．回溯</a:t>
            </a:r>
          </a:p>
          <a:p>
            <a:r>
              <a:rPr lang="en-US" altLang="zh-CN" sz="2400" dirty="0"/>
              <a:t>        D</a:t>
            </a:r>
            <a:r>
              <a:rPr lang="zh-CN" altLang="zh-CN" sz="2400" dirty="0"/>
              <a:t>．</a:t>
            </a:r>
            <a:r>
              <a:rPr lang="en-US" altLang="zh-CN" sz="2400" dirty="0"/>
              <a:t>ε</a:t>
            </a:r>
            <a:r>
              <a:rPr lang="zh-CN" altLang="zh-CN" sz="2400" dirty="0"/>
              <a:t>空串</a:t>
            </a:r>
            <a:r>
              <a:rPr lang="en-US" altLang="zh-CN" sz="2400" dirty="0"/>
              <a:t>             E</a:t>
            </a:r>
            <a:r>
              <a:rPr lang="zh-CN" altLang="zh-CN" sz="2400" dirty="0"/>
              <a:t>．递归</a:t>
            </a:r>
          </a:p>
          <a:p>
            <a:endParaRPr lang="zh-CN" altLang="en-US" sz="2400" dirty="0"/>
          </a:p>
        </p:txBody>
      </p:sp>
      <p:sp>
        <p:nvSpPr>
          <p:cNvPr id="3" name="标题 2"/>
          <p:cNvSpPr>
            <a:spLocks noGrp="1"/>
          </p:cNvSpPr>
          <p:nvPr>
            <p:ph type="title"/>
          </p:nvPr>
        </p:nvSpPr>
        <p:spPr/>
        <p:txBody>
          <a:bodyPr/>
          <a:lstStyle/>
          <a:p>
            <a:r>
              <a:rPr lang="zh-CN" altLang="en-US" dirty="0"/>
              <a:t>练习</a:t>
            </a:r>
          </a:p>
        </p:txBody>
      </p:sp>
    </p:spTree>
    <p:extLst>
      <p:ext uri="{BB962C8B-B14F-4D97-AF65-F5344CB8AC3E}">
        <p14:creationId xmlns:p14="http://schemas.microsoft.com/office/powerpoint/2010/main" val="4739567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6136616" cy="1323439"/>
          </a:xfrm>
          <a:prstGeom prst="rect">
            <a:avLst/>
          </a:prstGeom>
        </p:spPr>
        <p:txBody>
          <a:bodyPr wrap="none">
            <a:spAutoFit/>
          </a:bodyPr>
          <a:lstStyle/>
          <a:p>
            <a:r>
              <a:rPr lang="en-US" altLang="zh-CN" sz="4000" b="1" dirty="0">
                <a:solidFill>
                  <a:srgbClr val="CC0099"/>
                </a:solidFill>
                <a:ea typeface="隶书" pitchFamily="49" charset="-122"/>
              </a:rPr>
              <a:t>4</a:t>
            </a:r>
            <a:r>
              <a:rPr lang="zh-CN" altLang="en-US" sz="4000" b="1" dirty="0">
                <a:solidFill>
                  <a:srgbClr val="CC0099"/>
                </a:solidFill>
                <a:ea typeface="隶书" pitchFamily="49" charset="-122"/>
              </a:rPr>
              <a:t>、递归下降分析方法</a:t>
            </a:r>
            <a:endParaRPr lang="en-US" altLang="zh-CN" sz="4000" b="1" dirty="0">
              <a:solidFill>
                <a:srgbClr val="CC0099"/>
              </a:solidFill>
              <a:ea typeface="隶书" pitchFamily="49" charset="-122"/>
            </a:endParaRPr>
          </a:p>
          <a:p>
            <a:r>
              <a:rPr lang="en-US" altLang="zh-CN" sz="4000" b="1" dirty="0">
                <a:solidFill>
                  <a:srgbClr val="CC0099"/>
                </a:solidFill>
                <a:ea typeface="隶书" pitchFamily="49" charset="-122"/>
              </a:rPr>
              <a:t>     ——</a:t>
            </a:r>
            <a:r>
              <a:rPr lang="zh-CN" altLang="en-US" sz="4000" b="1" dirty="0">
                <a:solidFill>
                  <a:srgbClr val="CC0099"/>
                </a:solidFill>
                <a:ea typeface="隶书" pitchFamily="49" charset="-122"/>
              </a:rPr>
              <a:t>递归分析器的设计</a:t>
            </a:r>
            <a:endParaRPr lang="zh-CN" altLang="en-US" sz="4000" dirty="0"/>
          </a:p>
        </p:txBody>
      </p:sp>
    </p:spTree>
    <p:extLst>
      <p:ext uri="{BB962C8B-B14F-4D97-AF65-F5344CB8AC3E}">
        <p14:creationId xmlns:p14="http://schemas.microsoft.com/office/powerpoint/2010/main" val="20067427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a:xfrm>
            <a:off x="0" y="0"/>
            <a:ext cx="8950325" cy="654050"/>
          </a:xfrm>
        </p:spPr>
        <p:txBody>
          <a:bodyPr>
            <a:normAutofit fontScale="90000"/>
          </a:bodyPr>
          <a:lstStyle/>
          <a:p>
            <a:pPr eaLnBrk="1" hangingPunct="1"/>
            <a:r>
              <a:rPr lang="zh-CN" altLang="en-US" sz="4800" b="1">
                <a:solidFill>
                  <a:srgbClr val="CC0099"/>
                </a:solidFill>
                <a:ea typeface="隶书" pitchFamily="49" charset="-122"/>
              </a:rPr>
              <a:t>递归下降的语法分析程序的设计</a:t>
            </a:r>
            <a:r>
              <a:rPr lang="zh-CN" altLang="en-US" sz="4000">
                <a:latin typeface="隶书" pitchFamily="49" charset="-122"/>
                <a:ea typeface="隶书" pitchFamily="49" charset="-122"/>
              </a:rPr>
              <a:t> </a:t>
            </a:r>
          </a:p>
        </p:txBody>
      </p:sp>
      <p:sp>
        <p:nvSpPr>
          <p:cNvPr id="92163" name="Rectangle 5"/>
          <p:cNvSpPr>
            <a:spLocks noChangeArrowheads="1"/>
          </p:cNvSpPr>
          <p:nvPr/>
        </p:nvSpPr>
        <p:spPr bwMode="auto">
          <a:xfrm>
            <a:off x="0" y="2055813"/>
            <a:ext cx="184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800">
              <a:ea typeface="华文行楷" pitchFamily="2" charset="-122"/>
            </a:endParaRPr>
          </a:p>
        </p:txBody>
      </p:sp>
      <p:sp>
        <p:nvSpPr>
          <p:cNvPr id="92164" name="Rectangle 6"/>
          <p:cNvSpPr>
            <a:spLocks noChangeArrowheads="1"/>
          </p:cNvSpPr>
          <p:nvPr/>
        </p:nvSpPr>
        <p:spPr bwMode="auto">
          <a:xfrm>
            <a:off x="92075" y="2163554"/>
            <a:ext cx="7907934" cy="2800767"/>
          </a:xfrm>
          <a:prstGeom prst="rect">
            <a:avLst/>
          </a:prstGeom>
          <a:solidFill>
            <a:schemeClr val="bg1"/>
          </a:solidFill>
          <a:ln>
            <a:noFill/>
          </a:ln>
        </p:spPr>
        <p:txBody>
          <a:bodyPr wrap="none" anchor="ctr">
            <a:spAutoFit/>
          </a:bodyPr>
          <a:lstStyle>
            <a:lvl1pPr indent="2667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dirty="0">
                <a:solidFill>
                  <a:srgbClr val="FF0000"/>
                </a:solidFill>
                <a:ea typeface="华文行楷" pitchFamily="2" charset="-122"/>
              </a:rPr>
              <a:t>实现的语法成分包括</a:t>
            </a:r>
            <a:r>
              <a:rPr lang="zh-CN" altLang="en-US" sz="2200" dirty="0">
                <a:ea typeface="华文行楷" pitchFamily="2" charset="-122"/>
              </a:rPr>
              <a:t>：</a:t>
            </a:r>
          </a:p>
          <a:p>
            <a:pPr eaLnBrk="1" hangingPunct="1">
              <a:spcBef>
                <a:spcPct val="0"/>
              </a:spcBef>
              <a:buFontTx/>
              <a:buNone/>
            </a:pPr>
            <a:r>
              <a:rPr lang="zh-CN" altLang="en-US" sz="2200" dirty="0">
                <a:ea typeface="华文行楷" pitchFamily="2" charset="-122"/>
              </a:rPr>
              <a:t>    </a:t>
            </a:r>
            <a:r>
              <a:rPr lang="en-US" altLang="zh-CN" sz="2200" dirty="0">
                <a:ea typeface="华文行楷" pitchFamily="2" charset="-122"/>
              </a:rPr>
              <a:t>(1) </a:t>
            </a:r>
            <a:r>
              <a:rPr lang="zh-CN" altLang="en-US" sz="2200" dirty="0">
                <a:ea typeface="华文行楷" pitchFamily="2" charset="-122"/>
              </a:rPr>
              <a:t>带类型的简单变量声明、常量声明；</a:t>
            </a:r>
            <a:endParaRPr lang="en-US" altLang="zh-CN" sz="2200" dirty="0">
              <a:ea typeface="华文行楷" pitchFamily="2" charset="-122"/>
            </a:endParaRPr>
          </a:p>
          <a:p>
            <a:pPr eaLnBrk="1" hangingPunct="1">
              <a:spcBef>
                <a:spcPct val="0"/>
              </a:spcBef>
              <a:buFontTx/>
              <a:buNone/>
            </a:pPr>
            <a:r>
              <a:rPr lang="zh-CN" altLang="en-US" sz="2200" dirty="0">
                <a:ea typeface="华文行楷" pitchFamily="2" charset="-122"/>
              </a:rPr>
              <a:t>    </a:t>
            </a:r>
            <a:r>
              <a:rPr lang="en-US" altLang="zh-CN" sz="2200" dirty="0">
                <a:ea typeface="华文行楷" pitchFamily="2" charset="-122"/>
              </a:rPr>
              <a:t>(2)</a:t>
            </a:r>
            <a:r>
              <a:rPr lang="zh-CN" altLang="en-US" sz="2200" dirty="0">
                <a:ea typeface="华文行楷" pitchFamily="2" charset="-122"/>
              </a:rPr>
              <a:t>四种类型的表达式：算术、布尔、关系和赋值表达式； </a:t>
            </a:r>
          </a:p>
          <a:p>
            <a:pPr eaLnBrk="1" hangingPunct="1">
              <a:spcBef>
                <a:spcPct val="0"/>
              </a:spcBef>
              <a:buFontTx/>
              <a:buNone/>
            </a:pPr>
            <a:r>
              <a:rPr lang="zh-CN" altLang="en-US" sz="2200" dirty="0">
                <a:ea typeface="华文行楷" pitchFamily="2" charset="-122"/>
              </a:rPr>
              <a:t>    </a:t>
            </a:r>
            <a:r>
              <a:rPr lang="en-US" altLang="zh-CN" sz="2200" dirty="0">
                <a:ea typeface="华文行楷" pitchFamily="2" charset="-122"/>
              </a:rPr>
              <a:t>(3)</a:t>
            </a:r>
            <a:r>
              <a:rPr lang="zh-CN" altLang="en-US" sz="2200" dirty="0">
                <a:ea typeface="华文行楷" pitchFamily="2" charset="-122"/>
              </a:rPr>
              <a:t> 函数声明、函数定义和函数调用；</a:t>
            </a:r>
            <a:endParaRPr lang="en-US" altLang="zh-CN" sz="2200" dirty="0">
              <a:ea typeface="华文行楷" pitchFamily="2" charset="-122"/>
            </a:endParaRPr>
          </a:p>
          <a:p>
            <a:pPr eaLnBrk="1" hangingPunct="1">
              <a:spcBef>
                <a:spcPct val="0"/>
              </a:spcBef>
              <a:buFontTx/>
              <a:buNone/>
            </a:pPr>
            <a:r>
              <a:rPr lang="en-US" altLang="zh-CN" sz="2200" dirty="0">
                <a:ea typeface="华文行楷" pitchFamily="2" charset="-122"/>
              </a:rPr>
              <a:t>   </a:t>
            </a:r>
            <a:r>
              <a:rPr lang="zh-CN" altLang="en-US" sz="2200" dirty="0">
                <a:ea typeface="华文行楷" pitchFamily="2" charset="-122"/>
              </a:rPr>
              <a:t> </a:t>
            </a:r>
            <a:r>
              <a:rPr lang="en-US" altLang="zh-CN" sz="2200" dirty="0">
                <a:ea typeface="华文行楷" pitchFamily="2" charset="-122"/>
              </a:rPr>
              <a:t>(4)</a:t>
            </a:r>
            <a:r>
              <a:rPr lang="zh-CN" altLang="en-US" sz="2200" dirty="0">
                <a:ea typeface="华文行楷" pitchFamily="2" charset="-122"/>
              </a:rPr>
              <a:t>表达式语句；</a:t>
            </a:r>
          </a:p>
          <a:p>
            <a:pPr eaLnBrk="1" hangingPunct="1">
              <a:spcBef>
                <a:spcPct val="0"/>
              </a:spcBef>
              <a:buFontTx/>
              <a:buNone/>
            </a:pPr>
            <a:r>
              <a:rPr lang="zh-CN" altLang="en-US" sz="2200" dirty="0">
                <a:ea typeface="华文行楷" pitchFamily="2" charset="-122"/>
              </a:rPr>
              <a:t>    </a:t>
            </a:r>
            <a:r>
              <a:rPr lang="en-US" altLang="zh-CN" sz="2200" dirty="0">
                <a:ea typeface="华文行楷" pitchFamily="2" charset="-122"/>
              </a:rPr>
              <a:t>(5)</a:t>
            </a:r>
            <a:r>
              <a:rPr lang="zh-CN" altLang="en-US" sz="2200" dirty="0">
                <a:ea typeface="华文行楷" pitchFamily="2" charset="-122"/>
              </a:rPr>
              <a:t>分支控制语句：</a:t>
            </a:r>
            <a:r>
              <a:rPr lang="en-US" altLang="zh-CN" sz="2200" dirty="0">
                <a:ea typeface="华文行楷" pitchFamily="2" charset="-122"/>
              </a:rPr>
              <a:t>if</a:t>
            </a:r>
            <a:r>
              <a:rPr lang="zh-CN" altLang="en-US" sz="2200" dirty="0">
                <a:ea typeface="华文行楷" pitchFamily="2" charset="-122"/>
              </a:rPr>
              <a:t>语句；</a:t>
            </a:r>
            <a:endParaRPr lang="en-US" altLang="zh-CN" sz="2200" dirty="0">
              <a:ea typeface="华文行楷" pitchFamily="2" charset="-122"/>
            </a:endParaRPr>
          </a:p>
          <a:p>
            <a:pPr eaLnBrk="1" hangingPunct="1">
              <a:spcBef>
                <a:spcPct val="0"/>
              </a:spcBef>
              <a:buFontTx/>
              <a:buNone/>
            </a:pPr>
            <a:r>
              <a:rPr lang="en-US" altLang="zh-CN" sz="2200" dirty="0">
                <a:ea typeface="华文行楷" pitchFamily="2" charset="-122"/>
              </a:rPr>
              <a:t>   </a:t>
            </a:r>
            <a:r>
              <a:rPr lang="zh-CN" altLang="en-US" sz="2200" dirty="0">
                <a:ea typeface="华文行楷" pitchFamily="2" charset="-122"/>
              </a:rPr>
              <a:t> </a:t>
            </a:r>
            <a:r>
              <a:rPr lang="en-US" altLang="zh-CN" sz="2200" dirty="0">
                <a:ea typeface="华文行楷" pitchFamily="2" charset="-122"/>
              </a:rPr>
              <a:t>(6)</a:t>
            </a:r>
            <a:r>
              <a:rPr lang="zh-CN" altLang="en-US" sz="2200" dirty="0">
                <a:ea typeface="华文行楷" pitchFamily="2" charset="-122"/>
              </a:rPr>
              <a:t>循环控制语句：</a:t>
            </a:r>
            <a:r>
              <a:rPr lang="en-US" altLang="zh-CN" sz="2200" dirty="0">
                <a:ea typeface="华文行楷" pitchFamily="2" charset="-122"/>
              </a:rPr>
              <a:t>while</a:t>
            </a:r>
            <a:r>
              <a:rPr lang="zh-CN" altLang="en-US" sz="2200" dirty="0">
                <a:ea typeface="华文行楷" pitchFamily="2" charset="-122"/>
              </a:rPr>
              <a:t>语句、</a:t>
            </a:r>
            <a:r>
              <a:rPr lang="en-US" altLang="zh-CN" sz="2200" dirty="0">
                <a:ea typeface="华文行楷" pitchFamily="2" charset="-122"/>
              </a:rPr>
              <a:t>do while</a:t>
            </a:r>
            <a:r>
              <a:rPr lang="zh-CN" altLang="en-US" sz="2200" dirty="0">
                <a:ea typeface="华文行楷" pitchFamily="2" charset="-122"/>
              </a:rPr>
              <a:t>语句、</a:t>
            </a:r>
            <a:r>
              <a:rPr lang="en-US" altLang="zh-CN" sz="2200" dirty="0">
                <a:ea typeface="华文行楷" pitchFamily="2" charset="-122"/>
              </a:rPr>
              <a:t>for</a:t>
            </a:r>
            <a:r>
              <a:rPr lang="zh-CN" altLang="en-US" sz="2200" dirty="0">
                <a:ea typeface="华文行楷" pitchFamily="2" charset="-122"/>
              </a:rPr>
              <a:t>语句</a:t>
            </a:r>
            <a:endParaRPr lang="en-US" altLang="zh-CN" sz="2200" dirty="0">
              <a:ea typeface="华文行楷" pitchFamily="2" charset="-122"/>
            </a:endParaRPr>
          </a:p>
          <a:p>
            <a:pPr>
              <a:spcBef>
                <a:spcPct val="0"/>
              </a:spcBef>
              <a:buNone/>
            </a:pPr>
            <a:r>
              <a:rPr lang="zh-CN" altLang="en-US" sz="2200" dirty="0">
                <a:ea typeface="华文行楷" pitchFamily="2" charset="-122"/>
              </a:rPr>
              <a:t>    </a:t>
            </a:r>
            <a:r>
              <a:rPr lang="en-US" altLang="zh-CN" sz="2200" dirty="0">
                <a:ea typeface="华文行楷" pitchFamily="2" charset="-122"/>
              </a:rPr>
              <a:t>(7)</a:t>
            </a:r>
            <a:r>
              <a:rPr lang="zh-CN" altLang="en-US" sz="2200" dirty="0">
                <a:ea typeface="华文行楷" pitchFamily="2" charset="-122"/>
              </a:rPr>
              <a:t>其他控制语句：</a:t>
            </a:r>
            <a:r>
              <a:rPr lang="en-US" altLang="zh-CN" sz="2200" dirty="0">
                <a:ea typeface="华文行楷" pitchFamily="2" charset="-122"/>
              </a:rPr>
              <a:t>return</a:t>
            </a:r>
            <a:r>
              <a:rPr lang="zh-CN" altLang="en-US" sz="2200" dirty="0">
                <a:ea typeface="华文行楷" pitchFamily="2" charset="-122"/>
              </a:rPr>
              <a:t>、</a:t>
            </a:r>
            <a:r>
              <a:rPr lang="en-US" altLang="zh-CN" sz="2200" dirty="0">
                <a:ea typeface="华文行楷" pitchFamily="2" charset="-122"/>
              </a:rPr>
              <a:t>continue</a:t>
            </a:r>
            <a:r>
              <a:rPr lang="zh-CN" altLang="en-US" sz="2200" dirty="0">
                <a:ea typeface="华文行楷" pitchFamily="2" charset="-122"/>
              </a:rPr>
              <a:t>、</a:t>
            </a:r>
            <a:r>
              <a:rPr lang="en-US" altLang="zh-CN" sz="2200" dirty="0">
                <a:ea typeface="华文行楷" pitchFamily="2" charset="-122"/>
              </a:rPr>
              <a:t>break</a:t>
            </a:r>
            <a:r>
              <a:rPr lang="zh-CN" altLang="en-US" sz="2200" dirty="0">
                <a:ea typeface="华文行楷" pitchFamily="2" charset="-122"/>
              </a:rPr>
              <a:t>语句等</a:t>
            </a:r>
          </a:p>
        </p:txBody>
      </p:sp>
      <p:sp>
        <p:nvSpPr>
          <p:cNvPr id="92165" name="Rectangle 2"/>
          <p:cNvSpPr>
            <a:spLocks noChangeArrowheads="1"/>
          </p:cNvSpPr>
          <p:nvPr/>
        </p:nvSpPr>
        <p:spPr bwMode="auto">
          <a:xfrm>
            <a:off x="0" y="-230188"/>
            <a:ext cx="184150" cy="4603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endParaRPr lang="zh-CN" altLang="en-US" sz="2400">
              <a:ea typeface="华文行楷" pitchFamily="2" charset="-122"/>
            </a:endParaRPr>
          </a:p>
        </p:txBody>
      </p:sp>
      <p:graphicFrame>
        <p:nvGraphicFramePr>
          <p:cNvPr id="92166" name="对象 2"/>
          <p:cNvGraphicFramePr>
            <a:graphicFrameLocks noChangeAspect="1"/>
          </p:cNvGraphicFramePr>
          <p:nvPr>
            <p:extLst>
              <p:ext uri="{D42A27DB-BD31-4B8C-83A1-F6EECF244321}">
                <p14:modId xmlns:p14="http://schemas.microsoft.com/office/powerpoint/2010/main" val="2709371294"/>
              </p:ext>
            </p:extLst>
          </p:nvPr>
        </p:nvGraphicFramePr>
        <p:xfrm>
          <a:off x="2123728" y="962641"/>
          <a:ext cx="6414988" cy="1370645"/>
        </p:xfrm>
        <a:graphic>
          <a:graphicData uri="http://schemas.openxmlformats.org/presentationml/2006/ole">
            <mc:AlternateContent xmlns:mc="http://schemas.openxmlformats.org/markup-compatibility/2006">
              <mc:Choice xmlns:v="urn:schemas-microsoft-com:vml" Requires="v">
                <p:oleObj spid="_x0000_s17415" name="Visio" r:id="rId4" imgW="2701911" imgH="766673" progId="Visio.Drawing.11">
                  <p:embed/>
                </p:oleObj>
              </mc:Choice>
              <mc:Fallback>
                <p:oleObj name="Visio" r:id="rId4" imgW="2701911" imgH="766673" progId="Visio.Drawing.11">
                  <p:embed/>
                  <p:pic>
                    <p:nvPicPr>
                      <p:cNvPr id="92166"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3728" y="962641"/>
                        <a:ext cx="6414988" cy="1370645"/>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4004530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21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64"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对象 2">
            <a:extLst>
              <a:ext uri="{FF2B5EF4-FFF2-40B4-BE49-F238E27FC236}">
                <a16:creationId xmlns:a16="http://schemas.microsoft.com/office/drawing/2014/main" id="{3E421239-6AD6-63C7-3F5D-A3082939E20B}"/>
              </a:ext>
            </a:extLst>
          </p:cNvPr>
          <p:cNvGraphicFramePr>
            <a:graphicFrameLocks noChangeAspect="1"/>
          </p:cNvGraphicFramePr>
          <p:nvPr>
            <p:extLst>
              <p:ext uri="{D42A27DB-BD31-4B8C-83A1-F6EECF244321}">
                <p14:modId xmlns:p14="http://schemas.microsoft.com/office/powerpoint/2010/main" val="1601764678"/>
              </p:ext>
            </p:extLst>
          </p:nvPr>
        </p:nvGraphicFramePr>
        <p:xfrm>
          <a:off x="2915816" y="2285892"/>
          <a:ext cx="6071523" cy="2950154"/>
        </p:xfrm>
        <a:graphic>
          <a:graphicData uri="http://schemas.openxmlformats.org/presentationml/2006/ole">
            <mc:AlternateContent xmlns:mc="http://schemas.openxmlformats.org/markup-compatibility/2006">
              <mc:Choice xmlns:v="urn:schemas-microsoft-com:vml" Requires="v">
                <p:oleObj spid="_x0000_s18439" name="Visio" r:id="rId4" imgW="4895745" imgH="1933586" progId="Visio.Drawing.15">
                  <p:embed/>
                </p:oleObj>
              </mc:Choice>
              <mc:Fallback>
                <p:oleObj name="Visio" r:id="rId4" imgW="4895745" imgH="1933586" progId="Visio.Drawing.15">
                  <p:embed/>
                  <p:pic>
                    <p:nvPicPr>
                      <p:cNvPr id="0"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15816" y="2285892"/>
                        <a:ext cx="6071523" cy="2950154"/>
                      </a:xfrm>
                      <a:prstGeom prst="rect">
                        <a:avLst/>
                      </a:prstGeom>
                      <a:noFill/>
                    </p:spPr>
                  </p:pic>
                </p:oleObj>
              </mc:Fallback>
            </mc:AlternateContent>
          </a:graphicData>
        </a:graphic>
      </p:graphicFrame>
      <p:sp>
        <p:nvSpPr>
          <p:cNvPr id="5" name="矩形 4">
            <a:extLst>
              <a:ext uri="{FF2B5EF4-FFF2-40B4-BE49-F238E27FC236}">
                <a16:creationId xmlns:a16="http://schemas.microsoft.com/office/drawing/2014/main" id="{6913FCA0-DFD1-BB4F-87EB-89EC963AD13F}"/>
              </a:ext>
            </a:extLst>
          </p:cNvPr>
          <p:cNvSpPr/>
          <p:nvPr/>
        </p:nvSpPr>
        <p:spPr>
          <a:xfrm>
            <a:off x="156662" y="1276968"/>
            <a:ext cx="2759154" cy="3754874"/>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defRPr/>
            </a:pPr>
            <a:r>
              <a:rPr lang="en-US" altLang="zh-CN" sz="1400" dirty="0"/>
              <a:t>int b;</a:t>
            </a:r>
          </a:p>
          <a:p>
            <a:pPr>
              <a:defRPr/>
            </a:pPr>
            <a:r>
              <a:rPr lang="en-US" altLang="zh-CN" sz="1400" dirty="0"/>
              <a:t>int </a:t>
            </a:r>
            <a:r>
              <a:rPr lang="en-US" altLang="zh-CN" sz="1400" dirty="0" err="1"/>
              <a:t>c,d</a:t>
            </a:r>
            <a:r>
              <a:rPr lang="en-US" altLang="zh-CN" sz="1400" dirty="0"/>
              <a:t>=3;</a:t>
            </a:r>
          </a:p>
          <a:p>
            <a:pPr>
              <a:defRPr/>
            </a:pPr>
            <a:r>
              <a:rPr lang="en-US" altLang="zh-CN" sz="1400" dirty="0"/>
              <a:t>int a = 1 ;</a:t>
            </a:r>
          </a:p>
          <a:p>
            <a:pPr>
              <a:defRPr/>
            </a:pPr>
            <a:r>
              <a:rPr lang="en-US" altLang="zh-CN" sz="1400" dirty="0" err="1"/>
              <a:t>int</a:t>
            </a:r>
            <a:r>
              <a:rPr lang="en-US" altLang="zh-CN" sz="1400" dirty="0"/>
              <a:t> sum(</a:t>
            </a:r>
            <a:r>
              <a:rPr lang="en-US" altLang="zh-CN" sz="1400" dirty="0" err="1"/>
              <a:t>int,int</a:t>
            </a:r>
            <a:r>
              <a:rPr lang="en-US" altLang="zh-CN" sz="1400" dirty="0"/>
              <a:t>);</a:t>
            </a:r>
          </a:p>
          <a:p>
            <a:pPr>
              <a:defRPr/>
            </a:pPr>
            <a:r>
              <a:rPr lang="en-US" altLang="zh-CN" sz="1400" dirty="0"/>
              <a:t>const PI=3.14;</a:t>
            </a:r>
          </a:p>
          <a:p>
            <a:pPr>
              <a:defRPr/>
            </a:pPr>
            <a:endParaRPr lang="en-US" altLang="zh-CN" sz="1400" dirty="0"/>
          </a:p>
          <a:p>
            <a:pPr>
              <a:defRPr/>
            </a:pPr>
            <a:r>
              <a:rPr lang="en-US" altLang="zh-CN" sz="1400" dirty="0"/>
              <a:t>main(){</a:t>
            </a:r>
          </a:p>
          <a:p>
            <a:pPr>
              <a:defRPr/>
            </a:pPr>
            <a:r>
              <a:rPr lang="en-US" altLang="zh-CN" sz="1400" dirty="0"/>
              <a:t>    </a:t>
            </a:r>
            <a:r>
              <a:rPr lang="en-US" altLang="zh-CN" sz="1400" dirty="0" err="1"/>
              <a:t>int</a:t>
            </a:r>
            <a:r>
              <a:rPr lang="en-US" altLang="zh-CN" sz="1400" dirty="0"/>
              <a:t> N = read() ;</a:t>
            </a:r>
          </a:p>
          <a:p>
            <a:pPr>
              <a:defRPr/>
            </a:pPr>
            <a:r>
              <a:rPr lang="en-US" altLang="zh-CN" sz="1400" dirty="0"/>
              <a:t>    a = sum(sum(3,4),N) ;</a:t>
            </a:r>
          </a:p>
          <a:p>
            <a:pPr>
              <a:defRPr/>
            </a:pPr>
            <a:r>
              <a:rPr lang="en-US" altLang="zh-CN" sz="1400" dirty="0"/>
              <a:t>    write(a);</a:t>
            </a:r>
          </a:p>
          <a:p>
            <a:pPr>
              <a:defRPr/>
            </a:pPr>
            <a:r>
              <a:rPr lang="en-US" altLang="zh-CN" sz="1400" dirty="0"/>
              <a:t>}</a:t>
            </a:r>
          </a:p>
          <a:p>
            <a:pPr>
              <a:defRPr/>
            </a:pPr>
            <a:endParaRPr lang="en-US" altLang="zh-CN" sz="1400" dirty="0"/>
          </a:p>
          <a:p>
            <a:pPr>
              <a:defRPr/>
            </a:pPr>
            <a:r>
              <a:rPr lang="en-US" altLang="zh-CN" sz="1400" dirty="0" err="1"/>
              <a:t>int</a:t>
            </a:r>
            <a:r>
              <a:rPr lang="en-US" altLang="zh-CN" sz="1400" dirty="0"/>
              <a:t> sum(</a:t>
            </a:r>
            <a:r>
              <a:rPr lang="en-US" altLang="zh-CN" sz="1400" dirty="0" err="1"/>
              <a:t>int</a:t>
            </a:r>
            <a:r>
              <a:rPr lang="en-US" altLang="zh-CN" sz="1400" dirty="0"/>
              <a:t> </a:t>
            </a:r>
            <a:r>
              <a:rPr lang="en-US" altLang="zh-CN" sz="1400" dirty="0" err="1"/>
              <a:t>sum_x,int</a:t>
            </a:r>
            <a:r>
              <a:rPr lang="en-US" altLang="zh-CN" sz="1400" dirty="0"/>
              <a:t> </a:t>
            </a:r>
            <a:r>
              <a:rPr lang="en-US" altLang="zh-CN" sz="1400" dirty="0" err="1"/>
              <a:t>sum_y</a:t>
            </a:r>
            <a:r>
              <a:rPr lang="en-US" altLang="zh-CN" sz="1400" dirty="0"/>
              <a:t>){</a:t>
            </a:r>
          </a:p>
          <a:p>
            <a:pPr>
              <a:defRPr/>
            </a:pPr>
            <a:r>
              <a:rPr lang="en-US" altLang="zh-CN" sz="1400" dirty="0"/>
              <a:t>    </a:t>
            </a:r>
            <a:r>
              <a:rPr lang="en-US" altLang="zh-CN" sz="1400" dirty="0" err="1"/>
              <a:t>int</a:t>
            </a:r>
            <a:r>
              <a:rPr lang="en-US" altLang="zh-CN" sz="1400" dirty="0"/>
              <a:t> result ;</a:t>
            </a:r>
          </a:p>
          <a:p>
            <a:pPr>
              <a:defRPr/>
            </a:pPr>
            <a:r>
              <a:rPr lang="en-US" altLang="zh-CN" sz="1400" dirty="0"/>
              <a:t>    result = </a:t>
            </a:r>
            <a:r>
              <a:rPr lang="en-US" altLang="zh-CN" sz="1400" dirty="0" err="1"/>
              <a:t>sum_x</a:t>
            </a:r>
            <a:r>
              <a:rPr lang="en-US" altLang="zh-CN" sz="1400" dirty="0"/>
              <a:t> + </a:t>
            </a:r>
            <a:r>
              <a:rPr lang="en-US" altLang="zh-CN" sz="1400" dirty="0" err="1"/>
              <a:t>sum_y</a:t>
            </a:r>
            <a:r>
              <a:rPr lang="en-US" altLang="zh-CN" sz="1400" dirty="0"/>
              <a:t> ;</a:t>
            </a:r>
          </a:p>
          <a:p>
            <a:pPr>
              <a:defRPr/>
            </a:pPr>
            <a:r>
              <a:rPr lang="en-US" altLang="zh-CN" sz="1400" dirty="0"/>
              <a:t>    return result ;</a:t>
            </a:r>
          </a:p>
          <a:p>
            <a:pPr>
              <a:defRPr/>
            </a:pPr>
            <a:r>
              <a:rPr lang="en-US" altLang="zh-CN" sz="1400" dirty="0"/>
              <a:t>}</a:t>
            </a:r>
            <a:endParaRPr lang="zh-CN" altLang="en-US" sz="1400" dirty="0"/>
          </a:p>
        </p:txBody>
      </p:sp>
      <p:sp>
        <p:nvSpPr>
          <p:cNvPr id="7" name="文本框 6">
            <a:extLst>
              <a:ext uri="{FF2B5EF4-FFF2-40B4-BE49-F238E27FC236}">
                <a16:creationId xmlns:a16="http://schemas.microsoft.com/office/drawing/2014/main" id="{F75C9C1C-57AB-D8CE-E36C-2E10C72C9850}"/>
              </a:ext>
            </a:extLst>
          </p:cNvPr>
          <p:cNvSpPr txBox="1"/>
          <p:nvPr/>
        </p:nvSpPr>
        <p:spPr>
          <a:xfrm>
            <a:off x="3572410" y="47402"/>
            <a:ext cx="5842852" cy="2308324"/>
          </a:xfrm>
          <a:prstGeom prst="rect">
            <a:avLst/>
          </a:prstGeom>
          <a:solidFill>
            <a:srgbClr val="FDECE3"/>
          </a:solidFill>
        </p:spPr>
        <p:txBody>
          <a:bodyPr wrap="square">
            <a:spAutoFit/>
          </a:bodyPr>
          <a:lstStyle/>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程序</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全局声明列表</a:t>
            </a:r>
            <a:r>
              <a:rPr lang="en-US" altLang="zh-CN" sz="1600" kern="100" dirty="0">
                <a:solidFill>
                  <a:srgbClr val="000000"/>
                </a:solidFill>
                <a:effectLst/>
                <a:latin typeface="Times New Roman" panose="02020603050405020304" pitchFamily="18" charset="0"/>
                <a:ea typeface="宋体" panose="02010600030101010101" pitchFamily="2" charset="-122"/>
              </a:rPr>
              <a:t>&gt; &lt;MAIN</a:t>
            </a:r>
            <a:r>
              <a:rPr lang="zh-CN" altLang="zh-CN" sz="1600" kern="100" dirty="0">
                <a:solidFill>
                  <a:srgbClr val="000000"/>
                </a:solidFill>
                <a:effectLst/>
                <a:latin typeface="Times New Roman" panose="02020603050405020304" pitchFamily="18" charset="0"/>
                <a:ea typeface="宋体" panose="02010600030101010101" pitchFamily="2" charset="-122"/>
              </a:rPr>
              <a:t>函数定义</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函数定义列表</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全局声明列表</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全局声明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全局声明列表</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函数定义列表</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函数定义</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函数定义列表</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全局声明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常量声明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变量声明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函数声明</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常量声明</a:t>
            </a:r>
            <a:r>
              <a:rPr lang="en-US" altLang="zh-CN" sz="1600" kern="100" dirty="0">
                <a:solidFill>
                  <a:srgbClr val="000000"/>
                </a:solidFill>
                <a:effectLst/>
                <a:latin typeface="Times New Roman" panose="02020603050405020304" pitchFamily="18" charset="0"/>
                <a:ea typeface="宋体" panose="02010600030101010101" pitchFamily="2" charset="-122"/>
              </a:rPr>
              <a:t>&gt;→const &lt;</a:t>
            </a:r>
            <a:r>
              <a:rPr lang="zh-CN" altLang="zh-CN" sz="1600" kern="100" dirty="0">
                <a:solidFill>
                  <a:srgbClr val="000000"/>
                </a:solidFill>
                <a:effectLst/>
                <a:latin typeface="Times New Roman" panose="02020603050405020304" pitchFamily="18" charset="0"/>
                <a:ea typeface="宋体" panose="02010600030101010101" pitchFamily="2" charset="-122"/>
              </a:rPr>
              <a:t>数据类型</a:t>
            </a:r>
            <a:r>
              <a:rPr lang="en-US" altLang="zh-CN" sz="1600" kern="100" dirty="0">
                <a:solidFill>
                  <a:srgbClr val="000000"/>
                </a:solidFill>
                <a:effectLst/>
                <a:latin typeface="Times New Roman" panose="02020603050405020304" pitchFamily="18" charset="0"/>
                <a:ea typeface="宋体" panose="02010600030101010101" pitchFamily="2" charset="-122"/>
              </a:rPr>
              <a:t>&gt; &lt;</a:t>
            </a:r>
            <a:r>
              <a:rPr lang="zh-CN" altLang="zh-CN" sz="1600" kern="100" dirty="0">
                <a:solidFill>
                  <a:srgbClr val="000000"/>
                </a:solidFill>
                <a:effectLst/>
                <a:latin typeface="Times New Roman" panose="02020603050405020304" pitchFamily="18" charset="0"/>
                <a:ea typeface="宋体" panose="02010600030101010101" pitchFamily="2" charset="-122"/>
              </a:rPr>
              <a:t>常量声明表</a:t>
            </a:r>
            <a:r>
              <a:rPr lang="en-US" altLang="zh-CN" sz="1600" kern="100" dirty="0">
                <a:solidFill>
                  <a:srgbClr val="000000"/>
                </a:solidFill>
                <a:effectLst/>
                <a:latin typeface="Times New Roman" panose="02020603050405020304" pitchFamily="18" charset="0"/>
                <a:ea typeface="宋体" panose="02010600030101010101" pitchFamily="2" charset="-122"/>
              </a:rPr>
              <a:t>&gt;</a:t>
            </a: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变量声明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数据类型</a:t>
            </a:r>
            <a:r>
              <a:rPr lang="en-US" altLang="zh-CN" sz="1600" kern="100" dirty="0">
                <a:solidFill>
                  <a:srgbClr val="000000"/>
                </a:solidFill>
                <a:effectLst/>
                <a:latin typeface="Times New Roman" panose="02020603050405020304" pitchFamily="18" charset="0"/>
                <a:ea typeface="宋体" panose="02010600030101010101" pitchFamily="2" charset="-122"/>
              </a:rPr>
              <a:t>&gt; &lt;</a:t>
            </a:r>
            <a:r>
              <a:rPr lang="zh-CN" altLang="zh-CN" sz="1600" kern="100" dirty="0">
                <a:solidFill>
                  <a:srgbClr val="000000"/>
                </a:solidFill>
                <a:effectLst/>
                <a:latin typeface="Times New Roman" panose="02020603050405020304" pitchFamily="18" charset="0"/>
                <a:ea typeface="宋体" panose="02010600030101010101" pitchFamily="2" charset="-122"/>
              </a:rPr>
              <a:t>变量声明表</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函数声明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函数类型</a:t>
            </a:r>
            <a:r>
              <a:rPr lang="en-US" altLang="zh-CN" sz="1600" kern="100" dirty="0">
                <a:solidFill>
                  <a:srgbClr val="000000"/>
                </a:solidFill>
                <a:effectLst/>
                <a:latin typeface="Times New Roman" panose="02020603050405020304" pitchFamily="18" charset="0"/>
                <a:ea typeface="宋体" panose="02010600030101010101" pitchFamily="2" charset="-122"/>
              </a:rPr>
              <a:t>&gt; &lt;</a:t>
            </a:r>
            <a:r>
              <a:rPr lang="zh-CN" altLang="zh-CN" sz="1600" kern="100" dirty="0">
                <a:solidFill>
                  <a:srgbClr val="000000"/>
                </a:solidFill>
                <a:effectLst/>
                <a:latin typeface="Times New Roman" panose="02020603050405020304" pitchFamily="18" charset="0"/>
                <a:ea typeface="宋体" panose="02010600030101010101" pitchFamily="2" charset="-122"/>
              </a:rPr>
              <a:t>函数名</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函数声明形参列表</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effectLst/>
                <a:latin typeface="Times New Roman" panose="02020603050405020304" pitchFamily="18" charset="0"/>
                <a:ea typeface="宋体" panose="02010600030101010101" pitchFamily="2" charset="-122"/>
              </a:rPr>
              <a:t>&lt;MAIN</a:t>
            </a:r>
            <a:r>
              <a:rPr lang="zh-CN" altLang="zh-CN" sz="1600" kern="100" dirty="0">
                <a:solidFill>
                  <a:srgbClr val="000000"/>
                </a:solidFill>
                <a:effectLst/>
                <a:latin typeface="Times New Roman" panose="02020603050405020304" pitchFamily="18" charset="0"/>
                <a:ea typeface="宋体" panose="02010600030101010101" pitchFamily="2" charset="-122"/>
              </a:rPr>
              <a:t>函数定义</a:t>
            </a:r>
            <a:r>
              <a:rPr lang="en-US" altLang="zh-CN" sz="1600" kern="100" dirty="0">
                <a:solidFill>
                  <a:srgbClr val="000000"/>
                </a:solidFill>
                <a:effectLst/>
                <a:latin typeface="Times New Roman" panose="02020603050405020304" pitchFamily="18" charset="0"/>
                <a:ea typeface="宋体" panose="02010600030101010101" pitchFamily="2" charset="-122"/>
              </a:rPr>
              <a:t>&gt;→main()&lt;</a:t>
            </a:r>
            <a:r>
              <a:rPr lang="zh-CN" altLang="zh-CN" sz="1600" kern="100" dirty="0">
                <a:solidFill>
                  <a:srgbClr val="000000"/>
                </a:solidFill>
                <a:effectLst/>
                <a:latin typeface="Times New Roman" panose="02020603050405020304" pitchFamily="18" charset="0"/>
                <a:ea typeface="宋体" panose="02010600030101010101" pitchFamily="2" charset="-122"/>
              </a:rPr>
              <a:t>复合语句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r>
              <a:rPr lang="en-US" altLang="zh-CN" sz="1600" kern="100" dirty="0">
                <a:solidFill>
                  <a:srgbClr val="000000"/>
                </a:solidFill>
                <a:latin typeface="Times New Roman" panose="02020603050405020304" pitchFamily="18" charset="0"/>
                <a:ea typeface="宋体" panose="02010600030101010101" pitchFamily="2" charset="-122"/>
              </a:rPr>
              <a:t>……</a:t>
            </a:r>
            <a:endParaRPr lang="zh-CN" altLang="zh-CN" sz="1600" kern="100" dirty="0">
              <a:effectLst/>
              <a:latin typeface="Times New Roman" panose="02020603050405020304" pitchFamily="18" charset="0"/>
              <a:ea typeface="宋体" panose="02010600030101010101" pitchFamily="2" charset="-122"/>
            </a:endParaRPr>
          </a:p>
        </p:txBody>
      </p:sp>
      <p:sp>
        <p:nvSpPr>
          <p:cNvPr id="8" name="Rectangle 2">
            <a:extLst>
              <a:ext uri="{FF2B5EF4-FFF2-40B4-BE49-F238E27FC236}">
                <a16:creationId xmlns:a16="http://schemas.microsoft.com/office/drawing/2014/main" id="{4C787B7A-71E8-F988-E073-6A2646A568E4}"/>
              </a:ext>
            </a:extLst>
          </p:cNvPr>
          <p:cNvSpPr txBox="1">
            <a:spLocks noChangeArrowheads="1"/>
          </p:cNvSpPr>
          <p:nvPr/>
        </p:nvSpPr>
        <p:spPr>
          <a:xfrm>
            <a:off x="0" y="282575"/>
            <a:ext cx="3491880" cy="763940"/>
          </a:xfrm>
          <a:prstGeom prst="rect">
            <a:avLst/>
          </a:prstGeom>
        </p:spPr>
        <p:txBody>
          <a:bodyPr>
            <a:normAutofit/>
          </a:bodyPr>
          <a:lstStyle>
            <a:lvl1pPr algn="l" rtl="0" eaLnBrk="1" latinLnBrk="0" hangingPunct="1">
              <a:spcBef>
                <a:spcPct val="0"/>
              </a:spcBef>
              <a:buNone/>
              <a:defRPr kumimoji="0" sz="4100" b="1" kern="1200">
                <a:solidFill>
                  <a:schemeClr val="tx2"/>
                </a:solidFill>
                <a:effectLst>
                  <a:outerShdw blurRad="31750" dist="25400" dir="5400000" algn="tl" rotWithShape="0">
                    <a:srgbClr val="000000">
                      <a:alpha val="25000"/>
                    </a:srgbClr>
                  </a:outerShdw>
                </a:effectLst>
                <a:latin typeface="+mj-lt"/>
                <a:ea typeface="+mj-ea"/>
                <a:cs typeface="+mj-cs"/>
              </a:defRPr>
            </a:lvl1pPr>
            <a:extLst/>
          </a:lstStyle>
          <a:p>
            <a:r>
              <a:rPr lang="zh-CN" altLang="en-US" sz="3600"/>
              <a:t>语法分析主程序</a:t>
            </a:r>
            <a:endParaRPr lang="zh-CN" altLang="zh-CN" sz="3600" dirty="0"/>
          </a:p>
        </p:txBody>
      </p:sp>
      <p:sp>
        <p:nvSpPr>
          <p:cNvPr id="2" name="矩形 1">
            <a:extLst>
              <a:ext uri="{FF2B5EF4-FFF2-40B4-BE49-F238E27FC236}">
                <a16:creationId xmlns:a16="http://schemas.microsoft.com/office/drawing/2014/main" id="{B9DCFA12-F951-6E96-D2BB-486E57B7BC55}"/>
              </a:ext>
            </a:extLst>
          </p:cNvPr>
          <p:cNvSpPr/>
          <p:nvPr/>
        </p:nvSpPr>
        <p:spPr>
          <a:xfrm>
            <a:off x="156662" y="1276968"/>
            <a:ext cx="2759154" cy="1150766"/>
          </a:xfrm>
          <a:prstGeom prst="rect">
            <a:avLst/>
          </a:prstGeom>
          <a:noFill/>
          <a:ln>
            <a:solidFill>
              <a:srgbClr val="3333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a:extLst>
              <a:ext uri="{FF2B5EF4-FFF2-40B4-BE49-F238E27FC236}">
                <a16:creationId xmlns:a16="http://schemas.microsoft.com/office/drawing/2014/main" id="{90763792-6C96-4E89-E334-F62090610C40}"/>
              </a:ext>
            </a:extLst>
          </p:cNvPr>
          <p:cNvSpPr/>
          <p:nvPr/>
        </p:nvSpPr>
        <p:spPr>
          <a:xfrm>
            <a:off x="158994" y="2427734"/>
            <a:ext cx="2759154" cy="1150766"/>
          </a:xfrm>
          <a:prstGeom prst="rect">
            <a:avLst/>
          </a:prstGeom>
          <a:noFill/>
          <a:ln>
            <a:solidFill>
              <a:srgbClr val="3333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D4A46540-FA61-3C2E-21EF-1BFCE6C8E14F}"/>
              </a:ext>
            </a:extLst>
          </p:cNvPr>
          <p:cNvSpPr/>
          <p:nvPr/>
        </p:nvSpPr>
        <p:spPr>
          <a:xfrm>
            <a:off x="156662" y="3667111"/>
            <a:ext cx="2759154" cy="1316455"/>
          </a:xfrm>
          <a:prstGeom prst="rect">
            <a:avLst/>
          </a:prstGeom>
          <a:noFill/>
          <a:ln>
            <a:solidFill>
              <a:srgbClr val="3333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76F07EA2-BA27-E305-788F-8B3A761E4D65}"/>
              </a:ext>
            </a:extLst>
          </p:cNvPr>
          <p:cNvSpPr/>
          <p:nvPr/>
        </p:nvSpPr>
        <p:spPr>
          <a:xfrm>
            <a:off x="4716016" y="2715766"/>
            <a:ext cx="2664296" cy="576064"/>
          </a:xfrm>
          <a:prstGeom prst="ellipse">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22366785-C966-2B02-2523-90A351A37653}"/>
              </a:ext>
            </a:extLst>
          </p:cNvPr>
          <p:cNvSpPr/>
          <p:nvPr/>
        </p:nvSpPr>
        <p:spPr>
          <a:xfrm>
            <a:off x="4582797" y="3184905"/>
            <a:ext cx="2664296" cy="576064"/>
          </a:xfrm>
          <a:prstGeom prst="ellipse">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5EA3E89C-DAB5-C30B-8B0A-622C08DD768C}"/>
              </a:ext>
            </a:extLst>
          </p:cNvPr>
          <p:cNvSpPr/>
          <p:nvPr/>
        </p:nvSpPr>
        <p:spPr>
          <a:xfrm>
            <a:off x="4340490" y="3832977"/>
            <a:ext cx="2664296" cy="576064"/>
          </a:xfrm>
          <a:prstGeom prst="ellipse">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5C004F3D-D11F-0FC4-AE63-944907BA2759}"/>
              </a:ext>
            </a:extLst>
          </p:cNvPr>
          <p:cNvSpPr/>
          <p:nvPr/>
        </p:nvSpPr>
        <p:spPr>
          <a:xfrm>
            <a:off x="7038315" y="3443191"/>
            <a:ext cx="2015633" cy="1316455"/>
          </a:xfrm>
          <a:prstGeom prst="ellipse">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7DE80CF3-A751-AA09-D547-4462DAD03B19}"/>
              </a:ext>
            </a:extLst>
          </p:cNvPr>
          <p:cNvSpPr/>
          <p:nvPr/>
        </p:nvSpPr>
        <p:spPr>
          <a:xfrm>
            <a:off x="4644008" y="4481049"/>
            <a:ext cx="2936010" cy="662451"/>
          </a:xfrm>
          <a:prstGeom prst="ellipse">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15641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9"/>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1" nodeType="clickEffect">
                                  <p:stCondLst>
                                    <p:cond delay="0"/>
                                  </p:stCondLst>
                                  <p:childTnLst>
                                    <p:set>
                                      <p:cBhvr>
                                        <p:cTn id="32" dur="1" fill="hold">
                                          <p:stCondLst>
                                            <p:cond delay="0"/>
                                          </p:stCondLst>
                                        </p:cTn>
                                        <p:tgtEl>
                                          <p:spTgt spid="2"/>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12"/>
                                        </p:tgtEl>
                                        <p:attrNameLst>
                                          <p:attrName>style.visibility</p:attrName>
                                        </p:attrNameLst>
                                      </p:cBhvr>
                                      <p:to>
                                        <p:strVal val="hidden"/>
                                      </p:to>
                                    </p:set>
                                  </p:childTnLst>
                                </p:cTn>
                              </p:par>
                              <p:par>
                                <p:cTn id="35" presetID="1" presetClass="entr" presetSubtype="0"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xit" presetSubtype="0" fill="hold" grpId="1" nodeType="withEffect">
                                  <p:stCondLst>
                                    <p:cond delay="0"/>
                                  </p:stCondLst>
                                  <p:childTnLst>
                                    <p:set>
                                      <p:cBhvr>
                                        <p:cTn id="46" dur="1" fill="hold">
                                          <p:stCondLst>
                                            <p:cond delay="0"/>
                                          </p:stCondLst>
                                        </p:cTn>
                                        <p:tgtEl>
                                          <p:spTgt spid="4"/>
                                        </p:tgtEl>
                                        <p:attrNameLst>
                                          <p:attrName>style.visibility</p:attrName>
                                        </p:attrNameLst>
                                      </p:cBhvr>
                                      <p:to>
                                        <p:strVal val="hidden"/>
                                      </p:to>
                                    </p:set>
                                  </p:childTnLst>
                                </p:cTn>
                              </p:par>
                              <p:par>
                                <p:cTn id="47" presetID="1" presetClass="entr" presetSubtype="0" fill="hold" grpId="0" nodeType="withEffect">
                                  <p:stCondLst>
                                    <p:cond delay="0"/>
                                  </p:stCondLst>
                                  <p:childTnLst>
                                    <p:set>
                                      <p:cBhvr>
                                        <p:cTn id="48" dur="1" fill="hold">
                                          <p:stCondLst>
                                            <p:cond delay="0"/>
                                          </p:stCondLst>
                                        </p:cTn>
                                        <p:tgtEl>
                                          <p:spTgt spid="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1" nodeType="clickEffect">
                                  <p:stCondLst>
                                    <p:cond delay="0"/>
                                  </p:stCondLst>
                                  <p:childTnLst>
                                    <p:set>
                                      <p:cBhvr>
                                        <p:cTn id="56" dur="1" fill="hold">
                                          <p:stCondLst>
                                            <p:cond delay="0"/>
                                          </p:stCondLst>
                                        </p:cTn>
                                        <p:tgtEl>
                                          <p:spTgt spid="16"/>
                                        </p:tgtEl>
                                        <p:attrNameLst>
                                          <p:attrName>style.visibility</p:attrName>
                                        </p:attrNameLst>
                                      </p:cBhvr>
                                      <p:to>
                                        <p:strVal val="hidden"/>
                                      </p:to>
                                    </p:set>
                                  </p:childTnLst>
                                </p:cTn>
                              </p:par>
                              <p:par>
                                <p:cTn id="57" presetID="1" presetClass="entr" presetSubtype="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2" grpId="0" animBg="1"/>
      <p:bldP spid="2" grpId="1" animBg="1"/>
      <p:bldP spid="4" grpId="0" animBg="1"/>
      <p:bldP spid="4" grpId="1" animBg="1"/>
      <p:bldP spid="6" grpId="0" animBg="1"/>
      <p:bldP spid="9" grpId="0" animBg="1"/>
      <p:bldP spid="9" grpId="1" animBg="1"/>
      <p:bldP spid="12" grpId="0" animBg="1"/>
      <p:bldP spid="12" grpId="1" animBg="1"/>
      <p:bldP spid="13" grpId="0" animBg="1"/>
      <p:bldP spid="13" grpId="1" animBg="1"/>
      <p:bldP spid="16" grpId="0" animBg="1"/>
      <p:bldP spid="16" grpId="1" animBg="1"/>
      <p:bldP spid="19"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a:xfrm>
            <a:off x="251520" y="123478"/>
            <a:ext cx="850900" cy="4514850"/>
          </a:xfrm>
        </p:spPr>
        <p:txBody>
          <a:bodyPr/>
          <a:lstStyle/>
          <a:p>
            <a:pPr eaLnBrk="1" hangingPunct="1"/>
            <a:r>
              <a:rPr lang="zh-CN" altLang="en-US" dirty="0">
                <a:latin typeface="隶书" pitchFamily="49" charset="-122"/>
                <a:ea typeface="隶书" pitchFamily="49" charset="-122"/>
              </a:rPr>
              <a:t>总控程序的框架 </a:t>
            </a:r>
          </a:p>
        </p:txBody>
      </p:sp>
      <p:graphicFrame>
        <p:nvGraphicFramePr>
          <p:cNvPr id="3" name="表格 2">
            <a:extLst>
              <a:ext uri="{FF2B5EF4-FFF2-40B4-BE49-F238E27FC236}">
                <a16:creationId xmlns:a16="http://schemas.microsoft.com/office/drawing/2014/main" id="{6ECE021A-BFC6-5674-43F5-6A61B40AE5FE}"/>
              </a:ext>
            </a:extLst>
          </p:cNvPr>
          <p:cNvGraphicFramePr>
            <a:graphicFrameLocks noGrp="1"/>
          </p:cNvGraphicFramePr>
          <p:nvPr>
            <p:extLst>
              <p:ext uri="{D42A27DB-BD31-4B8C-83A1-F6EECF244321}">
                <p14:modId xmlns:p14="http://schemas.microsoft.com/office/powerpoint/2010/main" val="4134969865"/>
              </p:ext>
            </p:extLst>
          </p:nvPr>
        </p:nvGraphicFramePr>
        <p:xfrm>
          <a:off x="1080120" y="212455"/>
          <a:ext cx="7920880" cy="4756785"/>
        </p:xfrm>
        <a:graphic>
          <a:graphicData uri="http://schemas.openxmlformats.org/drawingml/2006/table">
            <a:tbl>
              <a:tblPr>
                <a:tableStyleId>{5C22544A-7EE6-4342-B048-85BDC9FD1C3A}</a:tableStyleId>
              </a:tblPr>
              <a:tblGrid>
                <a:gridCol w="7920880">
                  <a:extLst>
                    <a:ext uri="{9D8B030D-6E8A-4147-A177-3AD203B41FA5}">
                      <a16:colId xmlns:a16="http://schemas.microsoft.com/office/drawing/2014/main" val="2381259582"/>
                    </a:ext>
                  </a:extLst>
                </a:gridCol>
              </a:tblGrid>
              <a:tr h="4718590">
                <a:tc>
                  <a:txBody>
                    <a:bodyPr/>
                    <a:lstStyle/>
                    <a:p>
                      <a:pPr algn="just">
                        <a:lnSpc>
                          <a:spcPts val="1700"/>
                        </a:lnSpc>
                      </a:pPr>
                      <a:r>
                        <a:rPr lang="en-US" sz="1600" kern="100" dirty="0">
                          <a:effectLst/>
                        </a:rPr>
                        <a:t>void </a:t>
                      </a:r>
                      <a:r>
                        <a:rPr lang="en-US" sz="1600" kern="100" dirty="0">
                          <a:solidFill>
                            <a:srgbClr val="FF0000"/>
                          </a:solidFill>
                          <a:effectLst/>
                        </a:rPr>
                        <a:t>parser</a:t>
                      </a:r>
                      <a:r>
                        <a:rPr lang="en-US" sz="1600" kern="100" dirty="0">
                          <a:effectLst/>
                        </a:rPr>
                        <a:t>( )  /*</a:t>
                      </a:r>
                      <a:r>
                        <a:rPr lang="zh-CN" sz="1600" kern="100" dirty="0">
                          <a:effectLst/>
                        </a:rPr>
                        <a:t>语法分析器总控程序</a:t>
                      </a:r>
                      <a:r>
                        <a:rPr lang="en-US" sz="1600" kern="100" dirty="0">
                          <a:effectLst/>
                        </a:rPr>
                        <a:t>*/</a:t>
                      </a:r>
                      <a:endParaRPr lang="zh-CN" sz="1600" kern="100" dirty="0">
                        <a:effectLst/>
                      </a:endParaRPr>
                    </a:p>
                    <a:p>
                      <a:pPr algn="just">
                        <a:lnSpc>
                          <a:spcPts val="1700"/>
                        </a:lnSpc>
                      </a:pPr>
                      <a:r>
                        <a:rPr lang="en-US" sz="1600" kern="100" dirty="0">
                          <a:effectLst/>
                        </a:rPr>
                        <a:t>{</a:t>
                      </a:r>
                      <a:endParaRPr lang="zh-CN" sz="1600" kern="100" dirty="0">
                        <a:effectLst/>
                      </a:endParaRPr>
                    </a:p>
                    <a:p>
                      <a:pPr algn="just">
                        <a:lnSpc>
                          <a:spcPts val="1700"/>
                        </a:lnSpc>
                      </a:pPr>
                      <a:r>
                        <a:rPr lang="en-US" sz="1600" kern="100" dirty="0">
                          <a:effectLst/>
                        </a:rPr>
                        <a:t>    token = </a:t>
                      </a:r>
                      <a:r>
                        <a:rPr lang="en-US" sz="1600" kern="100" dirty="0" err="1">
                          <a:effectLst/>
                        </a:rPr>
                        <a:t>GetNextToken</a:t>
                      </a:r>
                      <a:r>
                        <a:rPr lang="en-US" sz="1600" kern="100" dirty="0">
                          <a:effectLst/>
                        </a:rPr>
                        <a:t>();  //</a:t>
                      </a:r>
                      <a:r>
                        <a:rPr lang="zh-CN" sz="1600" kern="100" dirty="0">
                          <a:effectLst/>
                        </a:rPr>
                        <a:t>从输入串中读一个符号到</a:t>
                      </a:r>
                      <a:r>
                        <a:rPr lang="en-US" sz="1600" kern="100" dirty="0">
                          <a:effectLst/>
                        </a:rPr>
                        <a:t>token</a:t>
                      </a:r>
                      <a:r>
                        <a:rPr lang="zh-CN" sz="1600" kern="100" dirty="0">
                          <a:effectLst/>
                        </a:rPr>
                        <a:t>中，指针后移</a:t>
                      </a:r>
                    </a:p>
                    <a:p>
                      <a:pPr algn="just">
                        <a:lnSpc>
                          <a:spcPts val="1700"/>
                        </a:lnSpc>
                      </a:pPr>
                      <a:r>
                        <a:rPr lang="en-US" sz="1600" kern="100" dirty="0">
                          <a:effectLst/>
                        </a:rPr>
                        <a:t>    while(token!= EOF){ </a:t>
                      </a:r>
                      <a:endParaRPr lang="zh-CN" sz="1600" kern="100" dirty="0">
                        <a:effectLst/>
                      </a:endParaRPr>
                    </a:p>
                    <a:p>
                      <a:pPr algn="just">
                        <a:lnSpc>
                          <a:spcPts val="1700"/>
                        </a:lnSpc>
                      </a:pPr>
                      <a:r>
                        <a:rPr lang="en-US" sz="1600" kern="100" dirty="0">
                          <a:effectLst/>
                        </a:rPr>
                        <a:t>        if (token </a:t>
                      </a:r>
                      <a:r>
                        <a:rPr lang="zh-CN" sz="1600" kern="100" dirty="0">
                          <a:effectLst/>
                        </a:rPr>
                        <a:t>是</a:t>
                      </a:r>
                      <a:r>
                        <a:rPr lang="en-US" sz="1600" kern="100" dirty="0">
                          <a:effectLst/>
                        </a:rPr>
                        <a:t> ''const'')  {</a:t>
                      </a:r>
                      <a:endParaRPr lang="zh-CN" sz="1600" kern="100" dirty="0">
                        <a:effectLst/>
                      </a:endParaRPr>
                    </a:p>
                    <a:p>
                      <a:pPr algn="just">
                        <a:lnSpc>
                          <a:spcPts val="1700"/>
                        </a:lnSpc>
                      </a:pPr>
                      <a:r>
                        <a:rPr lang="en-US" sz="1600" kern="100" dirty="0">
                          <a:effectLst/>
                        </a:rPr>
                        <a:t>              </a:t>
                      </a:r>
                      <a:r>
                        <a:rPr lang="en-US" sz="1600" b="1" kern="100" dirty="0" err="1">
                          <a:solidFill>
                            <a:srgbClr val="3333FF"/>
                          </a:solidFill>
                          <a:effectLst/>
                        </a:rPr>
                        <a:t>ConstDeclareAnalyzer</a:t>
                      </a:r>
                      <a:r>
                        <a:rPr lang="en-US" sz="1600" b="1" kern="100" dirty="0">
                          <a:solidFill>
                            <a:srgbClr val="3333FF"/>
                          </a:solidFill>
                          <a:effectLst/>
                        </a:rPr>
                        <a:t>()</a:t>
                      </a:r>
                      <a:r>
                        <a:rPr lang="zh-CN" sz="1600" kern="100" dirty="0">
                          <a:effectLst/>
                        </a:rPr>
                        <a:t>；</a:t>
                      </a:r>
                      <a:r>
                        <a:rPr lang="en-US" sz="1600" kern="100" dirty="0">
                          <a:effectLst/>
                        </a:rPr>
                        <a:t>//</a:t>
                      </a:r>
                      <a:r>
                        <a:rPr lang="zh-CN" sz="1600" kern="100" dirty="0">
                          <a:effectLst/>
                        </a:rPr>
                        <a:t>处理常量声明</a:t>
                      </a:r>
                    </a:p>
                    <a:p>
                      <a:pPr indent="379730" algn="just">
                        <a:lnSpc>
                          <a:spcPts val="1700"/>
                        </a:lnSpc>
                      </a:pPr>
                      <a:r>
                        <a:rPr lang="en-US" sz="1600" kern="100" dirty="0">
                          <a:effectLst/>
                        </a:rPr>
                        <a:t>       token = </a:t>
                      </a:r>
                      <a:r>
                        <a:rPr lang="en-US" sz="1600" kern="100" dirty="0" err="1">
                          <a:effectLst/>
                        </a:rPr>
                        <a:t>GetNextToken</a:t>
                      </a:r>
                      <a:r>
                        <a:rPr lang="en-US" sz="1600" kern="100" dirty="0">
                          <a:effectLst/>
                        </a:rPr>
                        <a:t>(); </a:t>
                      </a:r>
                      <a:endParaRPr lang="zh-CN" sz="1600" kern="100" dirty="0">
                        <a:effectLst/>
                      </a:endParaRPr>
                    </a:p>
                    <a:p>
                      <a:pPr algn="just">
                        <a:lnSpc>
                          <a:spcPts val="1700"/>
                        </a:lnSpc>
                      </a:pPr>
                      <a:r>
                        <a:rPr lang="en-US" sz="1600" kern="100" dirty="0">
                          <a:effectLst/>
                        </a:rPr>
                        <a:t>             }</a:t>
                      </a:r>
                      <a:endParaRPr lang="zh-CN" sz="1600" kern="100" dirty="0">
                        <a:effectLst/>
                      </a:endParaRPr>
                    </a:p>
                    <a:p>
                      <a:pPr indent="228600" algn="just">
                        <a:lnSpc>
                          <a:spcPts val="1700"/>
                        </a:lnSpc>
                      </a:pPr>
                      <a:r>
                        <a:rPr lang="en-US" sz="1600" kern="100" dirty="0">
                          <a:effectLst/>
                        </a:rPr>
                        <a:t>else if (token </a:t>
                      </a:r>
                      <a:r>
                        <a:rPr lang="zh-CN" sz="1600" kern="100" dirty="0">
                          <a:effectLst/>
                        </a:rPr>
                        <a:t>是 </a:t>
                      </a:r>
                      <a:r>
                        <a:rPr lang="en-US" sz="1600" kern="100" dirty="0">
                          <a:effectLst/>
                        </a:rPr>
                        <a:t>''int''</a:t>
                      </a:r>
                      <a:r>
                        <a:rPr lang="zh-CN" sz="1600" kern="100" dirty="0">
                          <a:effectLst/>
                        </a:rPr>
                        <a:t>、</a:t>
                      </a:r>
                      <a:r>
                        <a:rPr lang="en-US" sz="1600" kern="100" dirty="0">
                          <a:effectLst/>
                        </a:rPr>
                        <a:t>''char''</a:t>
                      </a:r>
                      <a:r>
                        <a:rPr lang="zh-CN" sz="1600" kern="100" dirty="0">
                          <a:effectLst/>
                        </a:rPr>
                        <a:t>、</a:t>
                      </a:r>
                      <a:r>
                        <a:rPr lang="en-US" sz="1600" kern="100" dirty="0">
                          <a:effectLst/>
                        </a:rPr>
                        <a:t>''float''</a:t>
                      </a:r>
                      <a:r>
                        <a:rPr lang="zh-CN" sz="1600" kern="100" dirty="0">
                          <a:effectLst/>
                        </a:rPr>
                        <a:t>、</a:t>
                      </a:r>
                      <a:r>
                        <a:rPr lang="en-US" sz="1600" kern="100" dirty="0">
                          <a:effectLst/>
                        </a:rPr>
                        <a:t>''void''</a:t>
                      </a:r>
                      <a:r>
                        <a:rPr lang="zh-CN" sz="1600" kern="100" dirty="0">
                          <a:effectLst/>
                        </a:rPr>
                        <a:t>中的一个</a:t>
                      </a:r>
                      <a:r>
                        <a:rPr lang="en-US" sz="1600" kern="100" dirty="0">
                          <a:effectLst/>
                        </a:rPr>
                        <a:t>)  {</a:t>
                      </a:r>
                      <a:endParaRPr lang="zh-CN" sz="1600" kern="100" dirty="0">
                        <a:effectLst/>
                      </a:endParaRPr>
                    </a:p>
                    <a:p>
                      <a:pPr algn="just">
                        <a:lnSpc>
                          <a:spcPts val="1700"/>
                        </a:lnSpc>
                      </a:pPr>
                      <a:r>
                        <a:rPr lang="en-US" sz="1600" kern="100" dirty="0">
                          <a:effectLst/>
                        </a:rPr>
                        <a:t>              </a:t>
                      </a:r>
                      <a:r>
                        <a:rPr lang="en-US" sz="1600" b="1" kern="100" dirty="0" err="1">
                          <a:solidFill>
                            <a:srgbClr val="3333FF"/>
                          </a:solidFill>
                          <a:effectLst/>
                        </a:rPr>
                        <a:t>VarFuncDeclareAnalyzer</a:t>
                      </a:r>
                      <a:r>
                        <a:rPr lang="en-US" sz="1600" b="1" kern="100" dirty="0">
                          <a:solidFill>
                            <a:srgbClr val="3333FF"/>
                          </a:solidFill>
                          <a:effectLst/>
                        </a:rPr>
                        <a:t>()</a:t>
                      </a:r>
                      <a:r>
                        <a:rPr lang="en-US" sz="1600" kern="100" dirty="0">
                          <a:effectLst/>
                        </a:rPr>
                        <a:t>; //</a:t>
                      </a:r>
                      <a:r>
                        <a:rPr lang="zh-CN" sz="1600" kern="100" dirty="0">
                          <a:effectLst/>
                        </a:rPr>
                        <a:t>处理函数声明和变量声明，具体再细分</a:t>
                      </a:r>
                    </a:p>
                    <a:p>
                      <a:pPr indent="228600" algn="just">
                        <a:lnSpc>
                          <a:spcPts val="1700"/>
                        </a:lnSpc>
                      </a:pPr>
                      <a:r>
                        <a:rPr lang="en-US" sz="1600" kern="100" dirty="0">
                          <a:effectLst/>
                        </a:rPr>
                        <a:t>else if (token </a:t>
                      </a:r>
                      <a:r>
                        <a:rPr lang="zh-CN" sz="1600" kern="100" dirty="0">
                          <a:effectLst/>
                        </a:rPr>
                        <a:t>是</a:t>
                      </a:r>
                      <a:r>
                        <a:rPr lang="en-US" sz="1600" kern="100" dirty="0">
                          <a:effectLst/>
                        </a:rPr>
                        <a:t> ''main''){</a:t>
                      </a:r>
                      <a:endParaRPr lang="zh-CN" sz="1600" kern="100" dirty="0">
                        <a:effectLst/>
                      </a:endParaRPr>
                    </a:p>
                    <a:p>
                      <a:pPr indent="457200" algn="just">
                        <a:lnSpc>
                          <a:spcPts val="1700"/>
                        </a:lnSpc>
                      </a:pPr>
                      <a:r>
                        <a:rPr lang="en-US" sz="1600" b="1" kern="100" dirty="0" err="1">
                          <a:solidFill>
                            <a:srgbClr val="FF0000"/>
                          </a:solidFill>
                          <a:effectLst/>
                        </a:rPr>
                        <a:t>MainFunctionAnalyzer</a:t>
                      </a:r>
                      <a:r>
                        <a:rPr lang="en-US" sz="1600" b="1" kern="100" dirty="0">
                          <a:solidFill>
                            <a:srgbClr val="FF0000"/>
                          </a:solidFill>
                          <a:effectLst/>
                        </a:rPr>
                        <a:t>()</a:t>
                      </a:r>
                      <a:r>
                        <a:rPr lang="en-US" sz="1600" kern="100" dirty="0">
                          <a:effectLst/>
                        </a:rPr>
                        <a:t>; //</a:t>
                      </a:r>
                      <a:r>
                        <a:rPr lang="zh-CN" sz="1600" kern="100" dirty="0">
                          <a:effectLst/>
                        </a:rPr>
                        <a:t>处理</a:t>
                      </a:r>
                      <a:r>
                        <a:rPr lang="en-US" sz="1600" kern="100" dirty="0">
                          <a:effectLst/>
                        </a:rPr>
                        <a:t>main</a:t>
                      </a:r>
                      <a:r>
                        <a:rPr lang="zh-CN" sz="1600" kern="100" dirty="0">
                          <a:effectLst/>
                        </a:rPr>
                        <a:t>函数</a:t>
                      </a:r>
                    </a:p>
                    <a:p>
                      <a:pPr indent="457200" algn="just">
                        <a:lnSpc>
                          <a:spcPts val="1700"/>
                        </a:lnSpc>
                      </a:pPr>
                      <a:r>
                        <a:rPr lang="en-US" sz="1600" kern="100" dirty="0">
                          <a:effectLst/>
                        </a:rPr>
                        <a:t>token = </a:t>
                      </a:r>
                      <a:r>
                        <a:rPr lang="en-US" sz="1600" kern="100" dirty="0" err="1">
                          <a:effectLst/>
                        </a:rPr>
                        <a:t>GetNextToken</a:t>
                      </a:r>
                      <a:r>
                        <a:rPr lang="en-US" sz="1600" kern="100" dirty="0">
                          <a:effectLst/>
                        </a:rPr>
                        <a:t>(); </a:t>
                      </a:r>
                      <a:endParaRPr lang="zh-CN" sz="1600" kern="100" dirty="0">
                        <a:effectLst/>
                      </a:endParaRPr>
                    </a:p>
                    <a:p>
                      <a:pPr indent="342900" algn="just">
                        <a:lnSpc>
                          <a:spcPts val="1700"/>
                        </a:lnSpc>
                      </a:pPr>
                      <a:r>
                        <a:rPr lang="en-US" sz="1600" kern="100" dirty="0">
                          <a:effectLst/>
                        </a:rPr>
                        <a:t>    while (token </a:t>
                      </a:r>
                      <a:r>
                        <a:rPr lang="zh-CN" sz="1600" kern="100" dirty="0">
                          <a:effectLst/>
                        </a:rPr>
                        <a:t>是</a:t>
                      </a:r>
                      <a:r>
                        <a:rPr lang="en-US" sz="1600" kern="100" dirty="0">
                          <a:effectLst/>
                        </a:rPr>
                        <a:t>  ''int''</a:t>
                      </a:r>
                      <a:r>
                        <a:rPr lang="zh-CN" sz="1600" kern="100" dirty="0">
                          <a:effectLst/>
                        </a:rPr>
                        <a:t>、</a:t>
                      </a:r>
                      <a:r>
                        <a:rPr lang="en-US" sz="1600" kern="100" dirty="0">
                          <a:effectLst/>
                        </a:rPr>
                        <a:t>''char''</a:t>
                      </a:r>
                      <a:r>
                        <a:rPr lang="zh-CN" sz="1600" kern="100" dirty="0">
                          <a:effectLst/>
                        </a:rPr>
                        <a:t>、</a:t>
                      </a:r>
                      <a:r>
                        <a:rPr lang="en-US" sz="1600" kern="100" dirty="0">
                          <a:effectLst/>
                        </a:rPr>
                        <a:t>''float'' </a:t>
                      </a:r>
                      <a:r>
                        <a:rPr lang="zh-CN" sz="1600" kern="100" dirty="0">
                          <a:effectLst/>
                        </a:rPr>
                        <a:t>、</a:t>
                      </a:r>
                      <a:r>
                        <a:rPr lang="en-US" sz="1600" kern="100" dirty="0">
                          <a:effectLst/>
                        </a:rPr>
                        <a:t>''void''</a:t>
                      </a:r>
                      <a:r>
                        <a:rPr lang="zh-CN" sz="1600" kern="100" dirty="0">
                          <a:effectLst/>
                        </a:rPr>
                        <a:t>中的一个</a:t>
                      </a:r>
                      <a:r>
                        <a:rPr lang="en-US" sz="1600" kern="100" dirty="0">
                          <a:effectLst/>
                        </a:rPr>
                        <a:t>){  //</a:t>
                      </a:r>
                      <a:r>
                        <a:rPr lang="zh-CN" sz="1600" kern="100" dirty="0">
                          <a:effectLst/>
                        </a:rPr>
                        <a:t>处理函数定义</a:t>
                      </a:r>
                    </a:p>
                    <a:p>
                      <a:pPr indent="342900" algn="just">
                        <a:lnSpc>
                          <a:spcPts val="1700"/>
                        </a:lnSpc>
                      </a:pPr>
                      <a:r>
                        <a:rPr lang="en-US" sz="1600" kern="100" dirty="0">
                          <a:effectLst/>
                        </a:rPr>
                        <a:t>         </a:t>
                      </a:r>
                      <a:r>
                        <a:rPr lang="en-US" sz="1600" b="1" kern="100" dirty="0" err="1">
                          <a:solidFill>
                            <a:srgbClr val="3333FF"/>
                          </a:solidFill>
                          <a:effectLst/>
                        </a:rPr>
                        <a:t>FunctionDefinitionAnalyzer</a:t>
                      </a:r>
                      <a:r>
                        <a:rPr lang="en-US" sz="1600" b="1" kern="100" dirty="0">
                          <a:solidFill>
                            <a:srgbClr val="3333FF"/>
                          </a:solidFill>
                          <a:effectLst/>
                        </a:rPr>
                        <a:t>()</a:t>
                      </a:r>
                      <a:r>
                        <a:rPr lang="en-US" sz="1600" kern="100" dirty="0">
                          <a:effectLst/>
                        </a:rPr>
                        <a:t>;</a:t>
                      </a:r>
                      <a:endParaRPr lang="zh-CN" sz="1600" kern="100" dirty="0">
                        <a:effectLst/>
                      </a:endParaRPr>
                    </a:p>
                    <a:p>
                      <a:pPr indent="342900" algn="just">
                        <a:lnSpc>
                          <a:spcPts val="1700"/>
                        </a:lnSpc>
                      </a:pPr>
                      <a:r>
                        <a:rPr lang="en-US" sz="1600" kern="100" dirty="0">
                          <a:effectLst/>
                        </a:rPr>
                        <a:t>         token = </a:t>
                      </a:r>
                      <a:r>
                        <a:rPr lang="en-US" sz="1600" kern="100" dirty="0" err="1">
                          <a:effectLst/>
                        </a:rPr>
                        <a:t>GetNextToken</a:t>
                      </a:r>
                      <a:r>
                        <a:rPr lang="en-US" sz="1600" kern="100" dirty="0">
                          <a:effectLst/>
                        </a:rPr>
                        <a:t>();</a:t>
                      </a:r>
                      <a:endParaRPr lang="zh-CN" sz="1600" kern="100" dirty="0">
                        <a:effectLst/>
                      </a:endParaRPr>
                    </a:p>
                    <a:p>
                      <a:pPr algn="just">
                        <a:lnSpc>
                          <a:spcPts val="1700"/>
                        </a:lnSpc>
                      </a:pPr>
                      <a:r>
                        <a:rPr lang="en-US" sz="1600" kern="100" dirty="0">
                          <a:effectLst/>
                        </a:rPr>
                        <a:t>                   }</a:t>
                      </a:r>
                      <a:endParaRPr lang="zh-CN" sz="1600" kern="100" dirty="0">
                        <a:effectLst/>
                      </a:endParaRPr>
                    </a:p>
                    <a:p>
                      <a:pPr algn="just">
                        <a:lnSpc>
                          <a:spcPts val="1700"/>
                        </a:lnSpc>
                      </a:pPr>
                      <a:r>
                        <a:rPr lang="en-US" sz="1600" kern="100" dirty="0">
                          <a:effectLst/>
                        </a:rPr>
                        <a:t>             }</a:t>
                      </a:r>
                      <a:endParaRPr lang="zh-CN" sz="1600" kern="100" dirty="0">
                        <a:effectLst/>
                      </a:endParaRPr>
                    </a:p>
                    <a:p>
                      <a:pPr algn="just">
                        <a:lnSpc>
                          <a:spcPts val="1700"/>
                        </a:lnSpc>
                      </a:pPr>
                      <a:r>
                        <a:rPr lang="en-US" sz="1600" kern="100" dirty="0">
                          <a:effectLst/>
                        </a:rPr>
                        <a:t>       else </a:t>
                      </a:r>
                      <a:r>
                        <a:rPr lang="en-US" sz="1600" kern="100" dirty="0" err="1">
                          <a:effectLst/>
                        </a:rPr>
                        <a:t>SyntaxError</a:t>
                      </a:r>
                      <a:r>
                        <a:rPr lang="en-US" sz="1600" kern="100" dirty="0">
                          <a:effectLst/>
                        </a:rPr>
                        <a:t>(); //  </a:t>
                      </a:r>
                      <a:r>
                        <a:rPr lang="zh-CN" sz="1600" kern="100" dirty="0">
                          <a:effectLst/>
                        </a:rPr>
                        <a:t>语法分析错误处理</a:t>
                      </a:r>
                    </a:p>
                    <a:p>
                      <a:pPr algn="just">
                        <a:lnSpc>
                          <a:spcPts val="1700"/>
                        </a:lnSpc>
                      </a:pPr>
                      <a:r>
                        <a:rPr lang="en-US" sz="1600" kern="100" dirty="0">
                          <a:effectLst/>
                        </a:rPr>
                        <a:t>       }</a:t>
                      </a:r>
                      <a:endParaRPr lang="zh-CN" sz="1600" kern="100" dirty="0">
                        <a:effectLst/>
                      </a:endParaRPr>
                    </a:p>
                    <a:p>
                      <a:pPr algn="just">
                        <a:lnSpc>
                          <a:spcPts val="1700"/>
                        </a:lnSpc>
                      </a:pPr>
                      <a:r>
                        <a:rPr lang="en-US" sz="1600" kern="100" dirty="0">
                          <a:effectLst/>
                        </a:rPr>
                        <a:t>       //……</a:t>
                      </a:r>
                      <a:r>
                        <a:rPr lang="zh-CN" sz="1600" kern="100" dirty="0">
                          <a:effectLst/>
                        </a:rPr>
                        <a:t>进行语法分析相应的结束处理工作</a:t>
                      </a:r>
                    </a:p>
                    <a:p>
                      <a:pPr algn="just">
                        <a:lnSpc>
                          <a:spcPts val="1700"/>
                        </a:lnSpc>
                      </a:pPr>
                      <a:r>
                        <a:rPr lang="en-US" sz="1600" kern="100" dirty="0">
                          <a:effectLst/>
                        </a:rPr>
                        <a:t>   } //</a:t>
                      </a:r>
                      <a:r>
                        <a:rPr lang="zh-CN" sz="1600" kern="100" dirty="0">
                          <a:effectLst/>
                        </a:rPr>
                        <a:t>整个程序结束</a:t>
                      </a:r>
                      <a:endParaRPr lang="zh-CN" sz="1600" kern="100" dirty="0">
                        <a:effectLst/>
                        <a:latin typeface="Times New Roman" panose="02020603050405020304" pitchFamily="18" charset="0"/>
                        <a:ea typeface="宋体" panose="02010600030101010101" pitchFamily="2" charset="-122"/>
                      </a:endParaRPr>
                    </a:p>
                  </a:txBody>
                  <a:tcPr marL="64365" marR="64365" marT="0" marB="0">
                    <a:solidFill>
                      <a:schemeClr val="bg1"/>
                    </a:solidFill>
                  </a:tcPr>
                </a:tc>
                <a:extLst>
                  <a:ext uri="{0D108BD9-81ED-4DB2-BD59-A6C34878D82A}">
                    <a16:rowId xmlns:a16="http://schemas.microsoft.com/office/drawing/2014/main" val="2439065242"/>
                  </a:ext>
                </a:extLst>
              </a:tr>
            </a:tbl>
          </a:graphicData>
        </a:graphic>
      </p:graphicFrame>
      <p:graphicFrame>
        <p:nvGraphicFramePr>
          <p:cNvPr id="6" name="对象 5">
            <a:extLst>
              <a:ext uri="{FF2B5EF4-FFF2-40B4-BE49-F238E27FC236}">
                <a16:creationId xmlns:a16="http://schemas.microsoft.com/office/drawing/2014/main" id="{F08A998C-3441-B1F3-0788-71A883C16E39}"/>
              </a:ext>
            </a:extLst>
          </p:cNvPr>
          <p:cNvGraphicFramePr>
            <a:graphicFrameLocks noChangeAspect="1"/>
          </p:cNvGraphicFramePr>
          <p:nvPr>
            <p:extLst>
              <p:ext uri="{D42A27DB-BD31-4B8C-83A1-F6EECF244321}">
                <p14:modId xmlns:p14="http://schemas.microsoft.com/office/powerpoint/2010/main" val="3043751474"/>
              </p:ext>
            </p:extLst>
          </p:nvPr>
        </p:nvGraphicFramePr>
        <p:xfrm>
          <a:off x="5364088" y="3260722"/>
          <a:ext cx="3636912" cy="1767176"/>
        </p:xfrm>
        <a:graphic>
          <a:graphicData uri="http://schemas.openxmlformats.org/presentationml/2006/ole">
            <mc:AlternateContent xmlns:mc="http://schemas.openxmlformats.org/markup-compatibility/2006">
              <mc:Choice xmlns:v="urn:schemas-microsoft-com:vml" Requires="v">
                <p:oleObj spid="_x0000_s19463" name="Visio" r:id="rId4" imgW="4900612" imgH="1943043" progId="Visio.Drawing.15">
                  <p:embed/>
                </p:oleObj>
              </mc:Choice>
              <mc:Fallback>
                <p:oleObj name="Visio" r:id="rId4" imgW="4900612" imgH="1943043" progId="Visio.Drawing.15">
                  <p:embed/>
                  <p:pic>
                    <p:nvPicPr>
                      <p:cNvPr id="3" name="对象 2">
                        <a:extLst>
                          <a:ext uri="{FF2B5EF4-FFF2-40B4-BE49-F238E27FC236}">
                            <a16:creationId xmlns:a16="http://schemas.microsoft.com/office/drawing/2014/main" id="{3E421239-6AD6-63C7-3F5D-A3082939E20B}"/>
                          </a:ext>
                        </a:extLst>
                      </p:cNvPr>
                      <p:cNvPicPr>
                        <a:picLocks noChangeAspect="1" noChangeArrowheads="1"/>
                      </p:cNvPicPr>
                      <p:nvPr/>
                    </p:nvPicPr>
                    <p:blipFill>
                      <a:blip r:embed="rId5"/>
                      <a:srcRect/>
                      <a:stretch>
                        <a:fillRect/>
                      </a:stretch>
                    </p:blipFill>
                    <p:spPr bwMode="auto">
                      <a:xfrm>
                        <a:off x="5364088" y="3260722"/>
                        <a:ext cx="3636912" cy="1767176"/>
                      </a:xfrm>
                      <a:prstGeom prst="rect">
                        <a:avLst/>
                      </a:prstGeom>
                      <a:noFill/>
                    </p:spPr>
                  </p:pic>
                </p:oleObj>
              </mc:Fallback>
            </mc:AlternateContent>
          </a:graphicData>
        </a:graphic>
      </p:graphicFrame>
    </p:spTree>
    <p:extLst>
      <p:ext uri="{BB962C8B-B14F-4D97-AF65-F5344CB8AC3E}">
        <p14:creationId xmlns:p14="http://schemas.microsoft.com/office/powerpoint/2010/main" val="87046486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内容占位符 3">
            <a:extLst>
              <a:ext uri="{FF2B5EF4-FFF2-40B4-BE49-F238E27FC236}">
                <a16:creationId xmlns:a16="http://schemas.microsoft.com/office/drawing/2014/main" id="{F1498C0A-E80F-FA76-45FB-7B7AAC1CDF72}"/>
              </a:ext>
            </a:extLst>
          </p:cNvPr>
          <p:cNvGraphicFramePr>
            <a:graphicFrameLocks noGrp="1"/>
          </p:cNvGraphicFramePr>
          <p:nvPr>
            <p:ph idx="1"/>
            <p:extLst>
              <p:ext uri="{D42A27DB-BD31-4B8C-83A1-F6EECF244321}">
                <p14:modId xmlns:p14="http://schemas.microsoft.com/office/powerpoint/2010/main" val="959706830"/>
              </p:ext>
            </p:extLst>
          </p:nvPr>
        </p:nvGraphicFramePr>
        <p:xfrm>
          <a:off x="1043608" y="1635646"/>
          <a:ext cx="6795710" cy="2988135"/>
        </p:xfrm>
        <a:graphic>
          <a:graphicData uri="http://schemas.openxmlformats.org/drawingml/2006/table">
            <a:tbl>
              <a:tblPr firstRow="1" firstCol="1" bandRow="1">
                <a:tableStyleId>{5C22544A-7EE6-4342-B048-85BDC9FD1C3A}</a:tableStyleId>
              </a:tblPr>
              <a:tblGrid>
                <a:gridCol w="6795710">
                  <a:extLst>
                    <a:ext uri="{9D8B030D-6E8A-4147-A177-3AD203B41FA5}">
                      <a16:colId xmlns:a16="http://schemas.microsoft.com/office/drawing/2014/main" val="1138304586"/>
                    </a:ext>
                  </a:extLst>
                </a:gridCol>
              </a:tblGrid>
              <a:tr h="2988135">
                <a:tc>
                  <a:txBody>
                    <a:bodyPr/>
                    <a:lstStyle/>
                    <a:p>
                      <a:pPr algn="just">
                        <a:lnSpc>
                          <a:spcPct val="100000"/>
                        </a:lnSpc>
                      </a:pPr>
                      <a:r>
                        <a:rPr lang="en-US" sz="1600" b="0" kern="100" dirty="0">
                          <a:solidFill>
                            <a:schemeClr val="tx1"/>
                          </a:solidFill>
                          <a:effectLst/>
                        </a:rPr>
                        <a:t>void </a:t>
                      </a:r>
                      <a:r>
                        <a:rPr lang="en-US" sz="1600" b="0" kern="100" dirty="0" err="1">
                          <a:solidFill>
                            <a:schemeClr val="tx1"/>
                          </a:solidFill>
                          <a:effectLst/>
                        </a:rPr>
                        <a:t>MainFunctionAnalyzer</a:t>
                      </a:r>
                      <a:r>
                        <a:rPr lang="en-US" sz="1600" b="0" kern="100" dirty="0">
                          <a:solidFill>
                            <a:schemeClr val="tx1"/>
                          </a:solidFill>
                          <a:effectLst/>
                        </a:rPr>
                        <a:t>( )  /*</a:t>
                      </a:r>
                      <a:r>
                        <a:rPr lang="zh-CN" sz="1600" b="0" kern="100" dirty="0">
                          <a:solidFill>
                            <a:schemeClr val="tx1"/>
                          </a:solidFill>
                          <a:effectLst/>
                        </a:rPr>
                        <a:t>语法分析器的</a:t>
                      </a:r>
                      <a:r>
                        <a:rPr lang="en-US" sz="1600" b="0" kern="100" dirty="0">
                          <a:solidFill>
                            <a:schemeClr val="tx1"/>
                          </a:solidFill>
                          <a:effectLst/>
                        </a:rPr>
                        <a:t>main</a:t>
                      </a:r>
                      <a:r>
                        <a:rPr lang="zh-CN" sz="1600" b="0" kern="100" dirty="0">
                          <a:solidFill>
                            <a:schemeClr val="tx1"/>
                          </a:solidFill>
                          <a:effectLst/>
                        </a:rPr>
                        <a:t>函数的结构分析</a:t>
                      </a:r>
                      <a:r>
                        <a:rPr lang="en-US" sz="1600" b="0" kern="100" dirty="0">
                          <a:solidFill>
                            <a:schemeClr val="tx1"/>
                          </a:solidFill>
                          <a:effectLst/>
                        </a:rPr>
                        <a:t>*/</a:t>
                      </a:r>
                      <a:endParaRPr lang="zh-CN" sz="2000" b="0" kern="100" dirty="0">
                        <a:solidFill>
                          <a:schemeClr val="tx1"/>
                        </a:solidFill>
                        <a:effectLst/>
                      </a:endParaRPr>
                    </a:p>
                    <a:p>
                      <a:pPr algn="just">
                        <a:lnSpc>
                          <a:spcPct val="100000"/>
                        </a:lnSpc>
                      </a:pPr>
                      <a:r>
                        <a:rPr lang="en-US" sz="1600" b="0" kern="100" dirty="0">
                          <a:solidFill>
                            <a:schemeClr val="tx1"/>
                          </a:solidFill>
                          <a:effectLst/>
                        </a:rPr>
                        <a:t>{</a:t>
                      </a:r>
                      <a:endParaRPr lang="zh-CN" sz="2000" b="0" kern="100" dirty="0">
                        <a:solidFill>
                          <a:schemeClr val="tx1"/>
                        </a:solidFill>
                        <a:effectLst/>
                      </a:endParaRPr>
                    </a:p>
                    <a:p>
                      <a:pPr indent="228600" algn="just">
                        <a:lnSpc>
                          <a:spcPct val="100000"/>
                        </a:lnSpc>
                      </a:pPr>
                      <a:r>
                        <a:rPr lang="en-US" sz="1600" b="0" kern="100" dirty="0">
                          <a:solidFill>
                            <a:schemeClr val="tx1"/>
                          </a:solidFill>
                          <a:effectLst/>
                        </a:rPr>
                        <a:t>……</a:t>
                      </a:r>
                      <a:endParaRPr lang="zh-CN" sz="2000" b="0" kern="100" dirty="0">
                        <a:solidFill>
                          <a:schemeClr val="tx1"/>
                        </a:solidFill>
                        <a:effectLst/>
                      </a:endParaRPr>
                    </a:p>
                    <a:p>
                      <a:pPr algn="just">
                        <a:lnSpc>
                          <a:spcPct val="100000"/>
                        </a:lnSpc>
                      </a:pPr>
                      <a:r>
                        <a:rPr lang="en-US" sz="1600" b="0" kern="100" dirty="0">
                          <a:solidFill>
                            <a:schemeClr val="tx1"/>
                          </a:solidFill>
                          <a:effectLst/>
                        </a:rPr>
                        <a:t>      if (token == “main” ) {    //</a:t>
                      </a:r>
                      <a:r>
                        <a:rPr lang="zh-CN" sz="1600" b="0" kern="100" dirty="0">
                          <a:solidFill>
                            <a:schemeClr val="tx1"/>
                          </a:solidFill>
                          <a:effectLst/>
                        </a:rPr>
                        <a:t>分析器读入词法输出的</a:t>
                      </a:r>
                      <a:r>
                        <a:rPr lang="en-US" sz="1600" b="0" kern="100" dirty="0">
                          <a:solidFill>
                            <a:schemeClr val="tx1"/>
                          </a:solidFill>
                          <a:effectLst/>
                        </a:rPr>
                        <a:t>token</a:t>
                      </a:r>
                      <a:r>
                        <a:rPr lang="zh-CN" sz="1600" b="0" kern="100" dirty="0">
                          <a:solidFill>
                            <a:schemeClr val="tx1"/>
                          </a:solidFill>
                          <a:effectLst/>
                        </a:rPr>
                        <a:t>符号</a:t>
                      </a:r>
                      <a:r>
                        <a:rPr lang="en-US" sz="1600" b="0" kern="100" dirty="0">
                          <a:solidFill>
                            <a:schemeClr val="tx1"/>
                          </a:solidFill>
                          <a:effectLst/>
                        </a:rPr>
                        <a:t>main</a:t>
                      </a:r>
                      <a:r>
                        <a:rPr lang="zh-CN" sz="1600" b="0" kern="100" dirty="0">
                          <a:solidFill>
                            <a:schemeClr val="tx1"/>
                          </a:solidFill>
                          <a:effectLst/>
                        </a:rPr>
                        <a:t>，主程序开始</a:t>
                      </a:r>
                      <a:endParaRPr lang="zh-CN" sz="2000" b="0" kern="100" dirty="0">
                        <a:solidFill>
                          <a:schemeClr val="tx1"/>
                        </a:solidFill>
                        <a:effectLst/>
                      </a:endParaRPr>
                    </a:p>
                    <a:p>
                      <a:pPr indent="470535" algn="just">
                        <a:lnSpc>
                          <a:spcPct val="100000"/>
                        </a:lnSpc>
                      </a:pPr>
                      <a:r>
                        <a:rPr lang="en-US" sz="1600" b="0" kern="100" dirty="0">
                          <a:solidFill>
                            <a:schemeClr val="tx1"/>
                          </a:solidFill>
                          <a:effectLst/>
                        </a:rPr>
                        <a:t>token = </a:t>
                      </a:r>
                      <a:r>
                        <a:rPr lang="en-US" sz="1600" b="0" kern="100" dirty="0" err="1">
                          <a:solidFill>
                            <a:schemeClr val="tx1"/>
                          </a:solidFill>
                          <a:effectLst/>
                        </a:rPr>
                        <a:t>GetNextToken</a:t>
                      </a:r>
                      <a:r>
                        <a:rPr lang="en-US" sz="1600" b="0" kern="100" dirty="0">
                          <a:solidFill>
                            <a:schemeClr val="tx1"/>
                          </a:solidFill>
                          <a:effectLst/>
                        </a:rPr>
                        <a:t>();</a:t>
                      </a:r>
                      <a:endParaRPr lang="zh-CN" sz="2000" b="0" kern="100" dirty="0">
                        <a:solidFill>
                          <a:schemeClr val="tx1"/>
                        </a:solidFill>
                        <a:effectLst/>
                      </a:endParaRPr>
                    </a:p>
                    <a:p>
                      <a:pPr indent="469900" algn="just">
                        <a:lnSpc>
                          <a:spcPct val="100000"/>
                        </a:lnSpc>
                      </a:pPr>
                      <a:r>
                        <a:rPr lang="en-US" sz="1600" b="0" kern="100" dirty="0">
                          <a:solidFill>
                            <a:schemeClr val="tx1"/>
                          </a:solidFill>
                          <a:effectLst/>
                        </a:rPr>
                        <a:t>if (token </a:t>
                      </a:r>
                      <a:r>
                        <a:rPr lang="zh-CN" sz="1600" b="0" kern="100" dirty="0">
                          <a:solidFill>
                            <a:schemeClr val="tx1"/>
                          </a:solidFill>
                          <a:effectLst/>
                        </a:rPr>
                        <a:t>不是</a:t>
                      </a:r>
                      <a:r>
                        <a:rPr lang="en-US" sz="1600" b="0" kern="100" dirty="0">
                          <a:solidFill>
                            <a:schemeClr val="tx1"/>
                          </a:solidFill>
                          <a:effectLst/>
                        </a:rPr>
                        <a:t>  ''('' ) </a:t>
                      </a:r>
                      <a:r>
                        <a:rPr lang="en-US" sz="1600" b="0" kern="100" dirty="0" err="1">
                          <a:solidFill>
                            <a:schemeClr val="tx1"/>
                          </a:solidFill>
                          <a:effectLst/>
                        </a:rPr>
                        <a:t>SyntaxError</a:t>
                      </a:r>
                      <a:r>
                        <a:rPr lang="en-US" sz="1600" b="0" kern="100" dirty="0">
                          <a:solidFill>
                            <a:schemeClr val="tx1"/>
                          </a:solidFill>
                          <a:effectLst/>
                        </a:rPr>
                        <a:t>();  //</a:t>
                      </a:r>
                      <a:r>
                        <a:rPr lang="zh-CN" sz="1600" b="0" kern="100" dirty="0">
                          <a:solidFill>
                            <a:schemeClr val="tx1"/>
                          </a:solidFill>
                          <a:effectLst/>
                        </a:rPr>
                        <a:t>调用错误处理</a:t>
                      </a:r>
                      <a:endParaRPr lang="zh-CN" sz="2000" b="0" kern="100" dirty="0">
                        <a:solidFill>
                          <a:schemeClr val="tx1"/>
                        </a:solidFill>
                        <a:effectLst/>
                      </a:endParaRPr>
                    </a:p>
                    <a:p>
                      <a:pPr indent="469900" algn="just">
                        <a:lnSpc>
                          <a:spcPct val="100000"/>
                        </a:lnSpc>
                      </a:pPr>
                      <a:r>
                        <a:rPr lang="en-US" sz="1600" b="0" kern="100" dirty="0">
                          <a:solidFill>
                            <a:schemeClr val="tx1"/>
                          </a:solidFill>
                          <a:effectLst/>
                        </a:rPr>
                        <a:t>token = </a:t>
                      </a:r>
                      <a:r>
                        <a:rPr lang="en-US" sz="1600" b="0" kern="100" dirty="0" err="1">
                          <a:solidFill>
                            <a:schemeClr val="tx1"/>
                          </a:solidFill>
                          <a:effectLst/>
                        </a:rPr>
                        <a:t>GetNextToken</a:t>
                      </a:r>
                      <a:r>
                        <a:rPr lang="en-US" sz="1600" b="0" kern="100" dirty="0">
                          <a:solidFill>
                            <a:schemeClr val="tx1"/>
                          </a:solidFill>
                          <a:effectLst/>
                        </a:rPr>
                        <a:t>();</a:t>
                      </a:r>
                      <a:endParaRPr lang="zh-CN" sz="2000" b="0" kern="100" dirty="0">
                        <a:solidFill>
                          <a:schemeClr val="tx1"/>
                        </a:solidFill>
                        <a:effectLst/>
                      </a:endParaRPr>
                    </a:p>
                    <a:p>
                      <a:pPr indent="469900" algn="just">
                        <a:lnSpc>
                          <a:spcPct val="100000"/>
                        </a:lnSpc>
                      </a:pPr>
                      <a:r>
                        <a:rPr lang="en-US" sz="1600" b="0" kern="100" dirty="0">
                          <a:solidFill>
                            <a:schemeClr val="tx1"/>
                          </a:solidFill>
                          <a:effectLst/>
                        </a:rPr>
                        <a:t>if (token </a:t>
                      </a:r>
                      <a:r>
                        <a:rPr lang="zh-CN" sz="1600" b="0" kern="100" dirty="0">
                          <a:solidFill>
                            <a:schemeClr val="tx1"/>
                          </a:solidFill>
                          <a:effectLst/>
                        </a:rPr>
                        <a:t>不是</a:t>
                      </a:r>
                      <a:r>
                        <a:rPr lang="en-US" sz="1600" b="0" kern="100" dirty="0">
                          <a:solidFill>
                            <a:schemeClr val="tx1"/>
                          </a:solidFill>
                          <a:effectLst/>
                        </a:rPr>
                        <a:t>  '')'' ) </a:t>
                      </a:r>
                      <a:r>
                        <a:rPr lang="en-US" sz="1600" b="0" kern="100" dirty="0" err="1">
                          <a:solidFill>
                            <a:schemeClr val="tx1"/>
                          </a:solidFill>
                          <a:effectLst/>
                        </a:rPr>
                        <a:t>SyntaxError</a:t>
                      </a:r>
                      <a:r>
                        <a:rPr lang="en-US" sz="1600" b="0" kern="100" dirty="0">
                          <a:solidFill>
                            <a:schemeClr val="tx1"/>
                          </a:solidFill>
                          <a:effectLst/>
                        </a:rPr>
                        <a:t>();  //</a:t>
                      </a:r>
                      <a:r>
                        <a:rPr lang="zh-CN" sz="1600" b="0" kern="100" dirty="0">
                          <a:solidFill>
                            <a:schemeClr val="tx1"/>
                          </a:solidFill>
                          <a:effectLst/>
                        </a:rPr>
                        <a:t>调用错误处理</a:t>
                      </a:r>
                      <a:endParaRPr lang="en-US" altLang="zh-CN" sz="1600" b="0" kern="100" dirty="0">
                        <a:solidFill>
                          <a:schemeClr val="tx1"/>
                        </a:solidFill>
                        <a:effectLst/>
                      </a:endParaRPr>
                    </a:p>
                    <a:p>
                      <a:pPr indent="469900" algn="just">
                        <a:lnSpc>
                          <a:spcPct val="100000"/>
                        </a:lnSpc>
                      </a:pPr>
                      <a:r>
                        <a:rPr lang="en-US" sz="1600" b="0" kern="100" dirty="0" err="1">
                          <a:solidFill>
                            <a:srgbClr val="FF0000"/>
                          </a:solidFill>
                          <a:effectLst/>
                        </a:rPr>
                        <a:t>CSTAnalyzer</a:t>
                      </a:r>
                      <a:r>
                        <a:rPr lang="en-US" sz="1600" b="0" kern="100" dirty="0">
                          <a:solidFill>
                            <a:srgbClr val="FF0000"/>
                          </a:solidFill>
                          <a:effectLst/>
                        </a:rPr>
                        <a:t>()</a:t>
                      </a:r>
                      <a:r>
                        <a:rPr lang="en-US" sz="1600" b="0" kern="100" dirty="0">
                          <a:solidFill>
                            <a:schemeClr val="tx1"/>
                          </a:solidFill>
                          <a:effectLst/>
                        </a:rPr>
                        <a:t>;//</a:t>
                      </a:r>
                      <a:r>
                        <a:rPr lang="zh-CN" sz="1600" b="0" kern="100" dirty="0">
                          <a:solidFill>
                            <a:schemeClr val="tx1"/>
                          </a:solidFill>
                          <a:effectLst/>
                        </a:rPr>
                        <a:t>处理复合语句</a:t>
                      </a:r>
                      <a:endParaRPr lang="zh-CN" sz="2000" b="0" kern="100" dirty="0">
                        <a:solidFill>
                          <a:schemeClr val="tx1"/>
                        </a:solidFill>
                        <a:effectLst/>
                      </a:endParaRPr>
                    </a:p>
                    <a:p>
                      <a:pPr indent="469900" algn="just">
                        <a:lnSpc>
                          <a:spcPct val="100000"/>
                        </a:lnSpc>
                      </a:pPr>
                      <a:r>
                        <a:rPr lang="en-US" sz="1600" b="0" kern="100" dirty="0">
                          <a:solidFill>
                            <a:schemeClr val="tx1"/>
                          </a:solidFill>
                          <a:effectLst/>
                        </a:rPr>
                        <a:t>} </a:t>
                      </a:r>
                      <a:endParaRPr lang="zh-CN" sz="2000" b="0" kern="100" dirty="0">
                        <a:solidFill>
                          <a:schemeClr val="tx1"/>
                        </a:solidFill>
                        <a:effectLst/>
                      </a:endParaRPr>
                    </a:p>
                    <a:p>
                      <a:pPr algn="just">
                        <a:lnSpc>
                          <a:spcPct val="100000"/>
                        </a:lnSpc>
                      </a:pPr>
                      <a:r>
                        <a:rPr lang="en-US" sz="1600" b="0" kern="100" dirty="0">
                          <a:solidFill>
                            <a:schemeClr val="tx1"/>
                          </a:solidFill>
                          <a:effectLst/>
                        </a:rPr>
                        <a:t>   }</a:t>
                      </a:r>
                      <a:endParaRPr lang="zh-CN" sz="2000" b="0" kern="100" dirty="0">
                        <a:solidFill>
                          <a:schemeClr val="tx1"/>
                        </a:solidFill>
                        <a:effectLst/>
                        <a:latin typeface="Times New Roman" panose="02020603050405020304" pitchFamily="18" charset="0"/>
                        <a:ea typeface="宋体" panose="02010600030101010101" pitchFamily="2" charset="-122"/>
                      </a:endParaRPr>
                    </a:p>
                  </a:txBody>
                  <a:tcPr marL="68580" marR="68580" marT="0" marB="0">
                    <a:solidFill>
                      <a:schemeClr val="bg1"/>
                    </a:solidFill>
                  </a:tcPr>
                </a:tc>
                <a:extLst>
                  <a:ext uri="{0D108BD9-81ED-4DB2-BD59-A6C34878D82A}">
                    <a16:rowId xmlns:a16="http://schemas.microsoft.com/office/drawing/2014/main" val="2656315028"/>
                  </a:ext>
                </a:extLst>
              </a:tr>
            </a:tbl>
          </a:graphicData>
        </a:graphic>
      </p:graphicFrame>
      <p:sp>
        <p:nvSpPr>
          <p:cNvPr id="3" name="标题 2">
            <a:extLst>
              <a:ext uri="{FF2B5EF4-FFF2-40B4-BE49-F238E27FC236}">
                <a16:creationId xmlns:a16="http://schemas.microsoft.com/office/drawing/2014/main" id="{BF78DF2B-87E5-9B95-07A8-FBB5A5202C81}"/>
              </a:ext>
            </a:extLst>
          </p:cNvPr>
          <p:cNvSpPr>
            <a:spLocks noGrp="1"/>
          </p:cNvSpPr>
          <p:nvPr>
            <p:ph type="title"/>
          </p:nvPr>
        </p:nvSpPr>
        <p:spPr/>
        <p:txBody>
          <a:bodyPr/>
          <a:lstStyle/>
          <a:p>
            <a:r>
              <a:rPr lang="en-US" altLang="zh-CN" dirty="0"/>
              <a:t>MAIN</a:t>
            </a:r>
            <a:r>
              <a:rPr lang="zh-CN" altLang="en-US" dirty="0"/>
              <a:t>函数处理</a:t>
            </a:r>
          </a:p>
        </p:txBody>
      </p:sp>
      <p:sp>
        <p:nvSpPr>
          <p:cNvPr id="6" name="文本框 5">
            <a:extLst>
              <a:ext uri="{FF2B5EF4-FFF2-40B4-BE49-F238E27FC236}">
                <a16:creationId xmlns:a16="http://schemas.microsoft.com/office/drawing/2014/main" id="{F5545D2E-D533-5FEC-0E66-D46508A83269}"/>
              </a:ext>
            </a:extLst>
          </p:cNvPr>
          <p:cNvSpPr txBox="1"/>
          <p:nvPr/>
        </p:nvSpPr>
        <p:spPr>
          <a:xfrm>
            <a:off x="4355976" y="980105"/>
            <a:ext cx="4577574" cy="369332"/>
          </a:xfrm>
          <a:prstGeom prst="rect">
            <a:avLst/>
          </a:prstGeom>
          <a:solidFill>
            <a:srgbClr val="FDECE3"/>
          </a:solidFill>
        </p:spPr>
        <p:txBody>
          <a:bodyPr wrap="square">
            <a:spAutoFit/>
          </a:bodyPr>
          <a:lstStyle/>
          <a:p>
            <a:pPr indent="266700" algn="just"/>
            <a:r>
              <a:rPr lang="en-US" altLang="zh-CN" sz="1800" kern="100" dirty="0">
                <a:solidFill>
                  <a:srgbClr val="000000"/>
                </a:solidFill>
                <a:effectLst/>
                <a:latin typeface="Times New Roman" panose="02020603050405020304" pitchFamily="18" charset="0"/>
                <a:ea typeface="宋体" panose="02010600030101010101" pitchFamily="2" charset="-122"/>
              </a:rPr>
              <a:t>&lt;MAIN</a:t>
            </a:r>
            <a:r>
              <a:rPr lang="zh-CN" altLang="zh-CN" sz="1800" kern="100" dirty="0">
                <a:solidFill>
                  <a:srgbClr val="000000"/>
                </a:solidFill>
                <a:effectLst/>
                <a:latin typeface="Times New Roman" panose="02020603050405020304" pitchFamily="18" charset="0"/>
                <a:ea typeface="宋体" panose="02010600030101010101" pitchFamily="2" charset="-122"/>
              </a:rPr>
              <a:t>函数定义</a:t>
            </a:r>
            <a:r>
              <a:rPr lang="en-US" altLang="zh-CN" sz="1800" kern="100" dirty="0">
                <a:solidFill>
                  <a:srgbClr val="000000"/>
                </a:solidFill>
                <a:effectLst/>
                <a:latin typeface="Times New Roman" panose="02020603050405020304" pitchFamily="18" charset="0"/>
                <a:ea typeface="宋体" panose="02010600030101010101" pitchFamily="2" charset="-122"/>
              </a:rPr>
              <a:t>&gt;→main()&lt;</a:t>
            </a:r>
            <a:r>
              <a:rPr lang="zh-CN" altLang="zh-CN" sz="1800" kern="100" dirty="0">
                <a:solidFill>
                  <a:srgbClr val="000000"/>
                </a:solidFill>
                <a:effectLst/>
                <a:latin typeface="Times New Roman" panose="02020603050405020304" pitchFamily="18" charset="0"/>
                <a:ea typeface="宋体" panose="02010600030101010101" pitchFamily="2" charset="-122"/>
              </a:rPr>
              <a:t>复合语句</a:t>
            </a:r>
            <a:r>
              <a:rPr lang="en-US" altLang="zh-CN" sz="1800" kern="100" dirty="0">
                <a:solidFill>
                  <a:srgbClr val="000000"/>
                </a:solidFill>
                <a:effectLst/>
                <a:latin typeface="Times New Roman" panose="02020603050405020304" pitchFamily="18" charset="0"/>
                <a:ea typeface="宋体" panose="02010600030101010101" pitchFamily="2" charset="-122"/>
              </a:rPr>
              <a:t>&gt;</a:t>
            </a:r>
            <a:endParaRPr lang="zh-CN" altLang="zh-CN" sz="1800" kern="100" dirty="0">
              <a:effectLst/>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40016136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标题 1"/>
          <p:cNvSpPr>
            <a:spLocks noGrp="1"/>
          </p:cNvSpPr>
          <p:nvPr>
            <p:ph type="title"/>
          </p:nvPr>
        </p:nvSpPr>
        <p:spPr>
          <a:xfrm>
            <a:off x="76200" y="-20637"/>
            <a:ext cx="5387975" cy="576164"/>
          </a:xfrm>
        </p:spPr>
        <p:txBody>
          <a:bodyPr>
            <a:noAutofit/>
          </a:bodyPr>
          <a:lstStyle/>
          <a:p>
            <a:r>
              <a:rPr lang="zh-CN" altLang="en-US" sz="3200" dirty="0"/>
              <a:t>复合语句处理：分类</a:t>
            </a:r>
          </a:p>
        </p:txBody>
      </p:sp>
      <p:sp>
        <p:nvSpPr>
          <p:cNvPr id="95235" name="Rectangle 2"/>
          <p:cNvSpPr>
            <a:spLocks noChangeArrowheads="1"/>
          </p:cNvSpPr>
          <p:nvPr/>
        </p:nvSpPr>
        <p:spPr bwMode="auto">
          <a:xfrm>
            <a:off x="0" y="-230188"/>
            <a:ext cx="184150" cy="4603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endParaRPr lang="zh-CN" altLang="en-US" sz="2400">
              <a:ea typeface="华文行楷" pitchFamily="2" charset="-122"/>
            </a:endParaRPr>
          </a:p>
        </p:txBody>
      </p:sp>
      <p:sp>
        <p:nvSpPr>
          <p:cNvPr id="6" name="矩形 5"/>
          <p:cNvSpPr/>
          <p:nvPr/>
        </p:nvSpPr>
        <p:spPr>
          <a:xfrm>
            <a:off x="5780088" y="20638"/>
            <a:ext cx="3363912" cy="1477328"/>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defRPr/>
            </a:pPr>
            <a:r>
              <a:rPr lang="en-US" altLang="zh-CN" dirty="0"/>
              <a:t>main(){</a:t>
            </a:r>
          </a:p>
          <a:p>
            <a:pPr>
              <a:defRPr/>
            </a:pPr>
            <a:r>
              <a:rPr lang="en-US" altLang="zh-CN" dirty="0"/>
              <a:t>    </a:t>
            </a:r>
            <a:r>
              <a:rPr lang="en-US" altLang="zh-CN" dirty="0" err="1"/>
              <a:t>int</a:t>
            </a:r>
            <a:r>
              <a:rPr lang="en-US" altLang="zh-CN" dirty="0"/>
              <a:t> N = read() ;</a:t>
            </a:r>
          </a:p>
          <a:p>
            <a:pPr>
              <a:defRPr/>
            </a:pPr>
            <a:r>
              <a:rPr lang="en-US" altLang="zh-CN" dirty="0"/>
              <a:t>    a = sum(sum(3,4),N) ;</a:t>
            </a:r>
          </a:p>
          <a:p>
            <a:pPr>
              <a:defRPr/>
            </a:pPr>
            <a:r>
              <a:rPr lang="en-US" altLang="zh-CN" dirty="0"/>
              <a:t>    write(a);</a:t>
            </a:r>
          </a:p>
          <a:p>
            <a:pPr>
              <a:defRPr/>
            </a:pPr>
            <a:r>
              <a:rPr lang="en-US" altLang="zh-CN" dirty="0"/>
              <a:t>}</a:t>
            </a:r>
          </a:p>
        </p:txBody>
      </p:sp>
      <p:sp>
        <p:nvSpPr>
          <p:cNvPr id="2" name="矩形 1"/>
          <p:cNvSpPr/>
          <p:nvPr/>
        </p:nvSpPr>
        <p:spPr>
          <a:xfrm>
            <a:off x="161596" y="537517"/>
            <a:ext cx="5409639" cy="4539704"/>
          </a:xfrm>
          <a:prstGeom prst="rect">
            <a:avLst/>
          </a:prstGeom>
          <a:solidFill>
            <a:srgbClr val="FDECE3"/>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复合语句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局部声明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语句表</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局部声明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变量声明</a:t>
            </a:r>
            <a:r>
              <a:rPr lang="en-US" altLang="zh-CN" sz="1600" kern="100" dirty="0">
                <a:solidFill>
                  <a:srgbClr val="000000"/>
                </a:solidFill>
                <a:effectLst/>
                <a:latin typeface="Times New Roman" panose="02020603050405020304" pitchFamily="18" charset="0"/>
                <a:ea typeface="宋体" panose="02010600030101010101" pitchFamily="2" charset="-122"/>
              </a:rPr>
              <a:t>&gt; | &lt;</a:t>
            </a:r>
            <a:r>
              <a:rPr lang="zh-CN" altLang="zh-CN" sz="1600" kern="100" dirty="0">
                <a:solidFill>
                  <a:srgbClr val="000000"/>
                </a:solidFill>
                <a:effectLst/>
                <a:latin typeface="Times New Roman" panose="02020603050405020304" pitchFamily="18" charset="0"/>
                <a:ea typeface="宋体" panose="02010600030101010101" pitchFamily="2" charset="-122"/>
              </a:rPr>
              <a:t>变量声明</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局部声明</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语句表</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 | &lt;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语句表</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数据处理语句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控制语句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复合语句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数据处理语句</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marL="623888" indent="-623888"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控制语句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500" kern="100" dirty="0">
                <a:solidFill>
                  <a:srgbClr val="000000"/>
                </a:solidFill>
                <a:effectLst/>
                <a:latin typeface="Times New Roman" panose="02020603050405020304" pitchFamily="18" charset="0"/>
                <a:ea typeface="宋体" panose="02010600030101010101" pitchFamily="2" charset="-122"/>
              </a:rPr>
              <a:t>&lt;if</a:t>
            </a:r>
            <a:r>
              <a:rPr lang="zh-CN" altLang="zh-CN" sz="1500" kern="100" dirty="0">
                <a:solidFill>
                  <a:srgbClr val="000000"/>
                </a:solidFill>
                <a:effectLst/>
                <a:latin typeface="Times New Roman" panose="02020603050405020304" pitchFamily="18" charset="0"/>
                <a:ea typeface="宋体" panose="02010600030101010101" pitchFamily="2" charset="-122"/>
              </a:rPr>
              <a:t>语句</a:t>
            </a:r>
            <a:r>
              <a:rPr lang="en-US" altLang="zh-CN" sz="1500" kern="100" dirty="0">
                <a:solidFill>
                  <a:srgbClr val="000000"/>
                </a:solidFill>
                <a:effectLst/>
                <a:latin typeface="Times New Roman" panose="02020603050405020304" pitchFamily="18" charset="0"/>
                <a:ea typeface="宋体" panose="02010600030101010101" pitchFamily="2" charset="-122"/>
              </a:rPr>
              <a:t>&gt;|&lt;while</a:t>
            </a:r>
            <a:r>
              <a:rPr lang="zh-CN" altLang="zh-CN" sz="1500" kern="100" dirty="0">
                <a:solidFill>
                  <a:srgbClr val="000000"/>
                </a:solidFill>
                <a:effectLst/>
                <a:latin typeface="Times New Roman" panose="02020603050405020304" pitchFamily="18" charset="0"/>
                <a:ea typeface="宋体" panose="02010600030101010101" pitchFamily="2" charset="-122"/>
              </a:rPr>
              <a:t>语句</a:t>
            </a:r>
            <a:r>
              <a:rPr lang="en-US" altLang="zh-CN" sz="1500" kern="100" dirty="0">
                <a:solidFill>
                  <a:srgbClr val="000000"/>
                </a:solidFill>
                <a:effectLst/>
                <a:latin typeface="Times New Roman" panose="02020603050405020304" pitchFamily="18" charset="0"/>
                <a:ea typeface="宋体" panose="02010600030101010101" pitchFamily="2" charset="-122"/>
              </a:rPr>
              <a:t>&gt;|&lt;do while</a:t>
            </a:r>
            <a:r>
              <a:rPr lang="zh-CN" altLang="zh-CN" sz="1500" kern="100" dirty="0">
                <a:solidFill>
                  <a:srgbClr val="000000"/>
                </a:solidFill>
                <a:effectLst/>
                <a:latin typeface="Times New Roman" panose="02020603050405020304" pitchFamily="18" charset="0"/>
                <a:ea typeface="宋体" panose="02010600030101010101" pitchFamily="2" charset="-122"/>
              </a:rPr>
              <a:t>语句</a:t>
            </a:r>
            <a:r>
              <a:rPr lang="en-US" altLang="zh-CN" sz="1500" kern="100" dirty="0">
                <a:solidFill>
                  <a:srgbClr val="000000"/>
                </a:solidFill>
                <a:effectLst/>
                <a:latin typeface="Times New Roman" panose="02020603050405020304" pitchFamily="18" charset="0"/>
                <a:ea typeface="宋体" panose="02010600030101010101" pitchFamily="2" charset="-122"/>
              </a:rPr>
              <a:t>&gt;</a:t>
            </a:r>
            <a:r>
              <a:rPr lang="en-US" altLang="zh-CN" sz="1500" kern="100" dirty="0">
                <a:solidFill>
                  <a:srgbClr val="000000"/>
                </a:solidFill>
                <a:latin typeface="Times New Roman" panose="02020603050405020304" pitchFamily="18" charset="0"/>
                <a:ea typeface="宋体" panose="02010600030101010101" pitchFamily="2" charset="-122"/>
              </a:rPr>
              <a:t> </a:t>
            </a:r>
            <a:r>
              <a:rPr lang="en-US" altLang="zh-CN" sz="1500" kern="100" dirty="0">
                <a:solidFill>
                  <a:srgbClr val="000000"/>
                </a:solidFill>
                <a:effectLst/>
                <a:latin typeface="Times New Roman" panose="02020603050405020304" pitchFamily="18" charset="0"/>
                <a:ea typeface="宋体" panose="02010600030101010101" pitchFamily="2" charset="-122"/>
              </a:rPr>
              <a:t>|&lt;for</a:t>
            </a:r>
            <a:r>
              <a:rPr lang="zh-CN" altLang="zh-CN" sz="1500" kern="100" dirty="0">
                <a:solidFill>
                  <a:srgbClr val="000000"/>
                </a:solidFill>
                <a:effectLst/>
                <a:latin typeface="Times New Roman" panose="02020603050405020304" pitchFamily="18" charset="0"/>
                <a:ea typeface="宋体" panose="02010600030101010101" pitchFamily="2" charset="-122"/>
              </a:rPr>
              <a:t>语句</a:t>
            </a:r>
            <a:r>
              <a:rPr lang="en-US" altLang="zh-CN" sz="1500" kern="100" dirty="0">
                <a:solidFill>
                  <a:srgbClr val="000000"/>
                </a:solidFill>
                <a:effectLst/>
                <a:latin typeface="Times New Roman" panose="02020603050405020304" pitchFamily="18" charset="0"/>
                <a:ea typeface="宋体" panose="02010600030101010101" pitchFamily="2" charset="-122"/>
              </a:rPr>
              <a:t>&gt;</a:t>
            </a:r>
          </a:p>
          <a:p>
            <a:pPr marL="623888" indent="-623888"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                       |&lt;return</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&gt;|&lt; break</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&gt;|&lt; continue</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marL="714375" indent="-714375"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&lt;if</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&gt;→if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p>
          <a:p>
            <a:pPr marL="714375" indent="-714375" algn="just">
              <a:lnSpc>
                <a:spcPct val="95000"/>
              </a:lnSpc>
            </a:pPr>
            <a:r>
              <a:rPr lang="en-US" altLang="zh-CN" sz="1600" kern="100" dirty="0">
                <a:solidFill>
                  <a:srgbClr val="000000"/>
                </a:solidFill>
                <a:latin typeface="Times New Roman" panose="02020603050405020304" pitchFamily="18" charset="0"/>
                <a:ea typeface="宋体" panose="02010600030101010101" pitchFamily="2" charset="-122"/>
              </a:rPr>
              <a:t>                </a:t>
            </a:r>
            <a:r>
              <a:rPr lang="en-US" altLang="zh-CN" sz="1600" kern="100" dirty="0">
                <a:solidFill>
                  <a:srgbClr val="000000"/>
                </a:solidFill>
                <a:effectLst/>
                <a:latin typeface="Times New Roman" panose="02020603050405020304" pitchFamily="18" charset="0"/>
                <a:ea typeface="宋体" panose="02010600030101010101" pitchFamily="2" charset="-122"/>
              </a:rPr>
              <a:t> | if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 &lt;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 else &lt;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&lt;for</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&gt;→for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1&gt;;&lt;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2&gt;;&lt;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3&gt;)&lt;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1&gt;→&lt;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2&gt;→&lt;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3&gt;→&lt;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r>
              <a:rPr lang="en-US" altLang="zh-CN" sz="16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&lt;while</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&gt;→while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&lt;do while</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&gt;→do &lt;</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 while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&lt;return</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&gt;→return; |return &lt;</a:t>
            </a:r>
            <a:r>
              <a:rPr lang="zh-CN" altLang="zh-CN" sz="1600" kern="100" dirty="0">
                <a:solidFill>
                  <a:srgbClr val="000000"/>
                </a:solidFill>
                <a:effectLst/>
                <a:latin typeface="Times New Roman" panose="02020603050405020304" pitchFamily="18" charset="0"/>
                <a:ea typeface="宋体" panose="02010600030101010101" pitchFamily="2" charset="-122"/>
              </a:rPr>
              <a:t>表达式</a:t>
            </a:r>
            <a:r>
              <a:rPr lang="en-US" altLang="zh-CN" sz="1600" kern="100" dirty="0">
                <a:solidFill>
                  <a:srgbClr val="000000"/>
                </a:solidFill>
                <a:effectLst/>
                <a:latin typeface="Times New Roman" panose="02020603050405020304" pitchFamily="18" charset="0"/>
                <a:ea typeface="宋体" panose="02010600030101010101" pitchFamily="2" charset="-122"/>
              </a:rPr>
              <a:t>&gt;;</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&lt;break</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&gt;→break;</a:t>
            </a:r>
            <a:endParaRPr lang="zh-CN" altLang="zh-CN" sz="1600" kern="100" dirty="0">
              <a:effectLst/>
              <a:latin typeface="Times New Roman" panose="02020603050405020304" pitchFamily="18" charset="0"/>
              <a:ea typeface="宋体" panose="02010600030101010101" pitchFamily="2" charset="-122"/>
            </a:endParaRPr>
          </a:p>
          <a:p>
            <a:pPr algn="just">
              <a:lnSpc>
                <a:spcPct val="95000"/>
              </a:lnSpc>
            </a:pPr>
            <a:r>
              <a:rPr lang="en-US" altLang="zh-CN" sz="1600" kern="100" dirty="0">
                <a:solidFill>
                  <a:srgbClr val="000000"/>
                </a:solidFill>
                <a:effectLst/>
                <a:latin typeface="Times New Roman" panose="02020603050405020304" pitchFamily="18" charset="0"/>
                <a:ea typeface="宋体" panose="02010600030101010101" pitchFamily="2" charset="-122"/>
              </a:rPr>
              <a:t>&lt;continue</a:t>
            </a:r>
            <a:r>
              <a:rPr lang="zh-CN" altLang="zh-CN" sz="1600" kern="100" dirty="0">
                <a:solidFill>
                  <a:srgbClr val="000000"/>
                </a:solidFill>
                <a:effectLst/>
                <a:latin typeface="Times New Roman" panose="02020603050405020304" pitchFamily="18" charset="0"/>
                <a:ea typeface="宋体" panose="02010600030101010101" pitchFamily="2" charset="-122"/>
              </a:rPr>
              <a:t>语句</a:t>
            </a:r>
            <a:r>
              <a:rPr lang="en-US" altLang="zh-CN" sz="1600" kern="100" dirty="0">
                <a:solidFill>
                  <a:srgbClr val="000000"/>
                </a:solidFill>
                <a:effectLst/>
                <a:latin typeface="Times New Roman" panose="02020603050405020304" pitchFamily="18" charset="0"/>
                <a:ea typeface="宋体" panose="02010600030101010101" pitchFamily="2" charset="-122"/>
              </a:rPr>
              <a:t>&gt;→continue;</a:t>
            </a:r>
            <a:endParaRPr lang="zh-CN" altLang="zh-CN" sz="1600" kern="100" dirty="0">
              <a:effectLst/>
              <a:latin typeface="Times New Roman" panose="02020603050405020304" pitchFamily="18" charset="0"/>
              <a:ea typeface="宋体" panose="02010600030101010101" pitchFamily="2" charset="-122"/>
            </a:endParaRPr>
          </a:p>
          <a:p>
            <a:pPr>
              <a:lnSpc>
                <a:spcPct val="95000"/>
              </a:lnSpc>
            </a:pPr>
            <a:r>
              <a:rPr lang="en-US" altLang="zh-CN" sz="1600" i="1" kern="100" dirty="0"/>
              <a:t>…… </a:t>
            </a:r>
            <a:endParaRPr lang="zh-CN" altLang="en-US" sz="1600" dirty="0"/>
          </a:p>
        </p:txBody>
      </p:sp>
      <p:graphicFrame>
        <p:nvGraphicFramePr>
          <p:cNvPr id="7" name="对象 6">
            <a:extLst>
              <a:ext uri="{FF2B5EF4-FFF2-40B4-BE49-F238E27FC236}">
                <a16:creationId xmlns:a16="http://schemas.microsoft.com/office/drawing/2014/main" id="{A6170C58-C1C3-F618-CD3F-3333C1FB9F83}"/>
              </a:ext>
            </a:extLst>
          </p:cNvPr>
          <p:cNvGraphicFramePr>
            <a:graphicFrameLocks noChangeAspect="1"/>
          </p:cNvGraphicFramePr>
          <p:nvPr>
            <p:extLst>
              <p:ext uri="{D42A27DB-BD31-4B8C-83A1-F6EECF244321}">
                <p14:modId xmlns:p14="http://schemas.microsoft.com/office/powerpoint/2010/main" val="874385316"/>
              </p:ext>
            </p:extLst>
          </p:nvPr>
        </p:nvGraphicFramePr>
        <p:xfrm>
          <a:off x="4575097" y="1635646"/>
          <a:ext cx="4686300" cy="3371850"/>
        </p:xfrm>
        <a:graphic>
          <a:graphicData uri="http://schemas.openxmlformats.org/presentationml/2006/ole">
            <mc:AlternateContent xmlns:mc="http://schemas.openxmlformats.org/markup-compatibility/2006">
              <mc:Choice xmlns:v="urn:schemas-microsoft-com:vml" Requires="v">
                <p:oleObj spid="_x0000_s20487" name="Visio" r:id="rId3" imgW="4686434" imgH="3371918" progId="Visio.Drawing.15">
                  <p:embed/>
                </p:oleObj>
              </mc:Choice>
              <mc:Fallback>
                <p:oleObj name="Visio" r:id="rId3" imgW="4686434" imgH="3371918" progId="Visio.Drawing.15">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5097" y="1635646"/>
                        <a:ext cx="4686300" cy="3371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矩形 2">
            <a:extLst>
              <a:ext uri="{FF2B5EF4-FFF2-40B4-BE49-F238E27FC236}">
                <a16:creationId xmlns:a16="http://schemas.microsoft.com/office/drawing/2014/main" id="{08DB4797-50FC-974A-7C9A-32CBBB6E0958}"/>
              </a:ext>
            </a:extLst>
          </p:cNvPr>
          <p:cNvSpPr/>
          <p:nvPr/>
        </p:nvSpPr>
        <p:spPr>
          <a:xfrm>
            <a:off x="6804248" y="2715766"/>
            <a:ext cx="1224136" cy="288032"/>
          </a:xfrm>
          <a:prstGeom prst="rect">
            <a:avLst/>
          </a:prstGeom>
          <a:noFill/>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zh-CN" altLang="en-US"/>
          </a:p>
        </p:txBody>
      </p:sp>
      <p:sp>
        <p:nvSpPr>
          <p:cNvPr id="4" name="矩形 3">
            <a:extLst>
              <a:ext uri="{FF2B5EF4-FFF2-40B4-BE49-F238E27FC236}">
                <a16:creationId xmlns:a16="http://schemas.microsoft.com/office/drawing/2014/main" id="{E4584FD8-F50B-0734-6167-F13DB4ADC020}"/>
              </a:ext>
            </a:extLst>
          </p:cNvPr>
          <p:cNvSpPr/>
          <p:nvPr/>
        </p:nvSpPr>
        <p:spPr>
          <a:xfrm>
            <a:off x="161596" y="2168712"/>
            <a:ext cx="5130484" cy="512763"/>
          </a:xfrm>
          <a:prstGeom prst="rect">
            <a:avLst/>
          </a:prstGeom>
          <a:noFill/>
          <a:ln>
            <a:solidFill>
              <a:srgbClr val="3333FF"/>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zh-CN" altLang="en-US"/>
          </a:p>
        </p:txBody>
      </p:sp>
    </p:spTree>
    <p:extLst>
      <p:ext uri="{BB962C8B-B14F-4D97-AF65-F5344CB8AC3E}">
        <p14:creationId xmlns:p14="http://schemas.microsoft.com/office/powerpoint/2010/main" val="1295055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ChangeArrowheads="1"/>
          </p:cNvSpPr>
          <p:nvPr>
            <p:ph type="title"/>
          </p:nvPr>
        </p:nvSpPr>
        <p:spPr>
          <a:xfrm>
            <a:off x="366713" y="0"/>
            <a:ext cx="8381751" cy="509588"/>
          </a:xfrm>
        </p:spPr>
        <p:txBody>
          <a:bodyPr>
            <a:normAutofit fontScale="90000"/>
          </a:bodyPr>
          <a:lstStyle/>
          <a:p>
            <a:pPr eaLnBrk="1" hangingPunct="1"/>
            <a:r>
              <a:rPr lang="zh-CN" altLang="en-US" sz="4000" dirty="0">
                <a:latin typeface="隶书" pitchFamily="49" charset="-122"/>
                <a:ea typeface="隶书" pitchFamily="49" charset="-122"/>
              </a:rPr>
              <a:t>语句分类函数</a:t>
            </a:r>
            <a:r>
              <a:rPr lang="en-US" altLang="zh-CN" sz="3100" dirty="0" err="1">
                <a:latin typeface="隶书" pitchFamily="49" charset="-122"/>
                <a:ea typeface="隶书" pitchFamily="49" charset="-122"/>
              </a:rPr>
              <a:t>FirstWordClasify</a:t>
            </a:r>
            <a:r>
              <a:rPr lang="en-US" altLang="zh-CN" sz="3100" dirty="0">
                <a:latin typeface="隶书" pitchFamily="49" charset="-122"/>
                <a:ea typeface="隶书" pitchFamily="49" charset="-122"/>
              </a:rPr>
              <a:t>(token)</a:t>
            </a:r>
            <a:endParaRPr lang="en-US" altLang="zh-CN" sz="4000" dirty="0">
              <a:latin typeface="隶书" pitchFamily="49" charset="-122"/>
              <a:ea typeface="隶书" pitchFamily="49" charset="-122"/>
            </a:endParaRPr>
          </a:p>
        </p:txBody>
      </p:sp>
      <p:sp>
        <p:nvSpPr>
          <p:cNvPr id="96259" name="Rectangle 3"/>
          <p:cNvSpPr>
            <a:spLocks noGrp="1" noChangeArrowheads="1"/>
          </p:cNvSpPr>
          <p:nvPr>
            <p:ph type="body" idx="1"/>
          </p:nvPr>
        </p:nvSpPr>
        <p:spPr>
          <a:xfrm>
            <a:off x="251520" y="511311"/>
            <a:ext cx="8274050" cy="495573"/>
          </a:xfrm>
        </p:spPr>
        <p:txBody>
          <a:bodyPr>
            <a:normAutofit/>
          </a:bodyPr>
          <a:lstStyle/>
          <a:p>
            <a:pPr eaLnBrk="1" hangingPunct="1">
              <a:lnSpc>
                <a:spcPct val="90000"/>
              </a:lnSpc>
            </a:pPr>
            <a:r>
              <a:rPr lang="zh-CN" altLang="en-US" sz="2400" dirty="0"/>
              <a:t>功能：根据传递的单词判断应该调用哪个语句的处理函数。</a:t>
            </a:r>
          </a:p>
          <a:p>
            <a:pPr eaLnBrk="1" hangingPunct="1">
              <a:lnSpc>
                <a:spcPct val="90000"/>
              </a:lnSpc>
            </a:pPr>
            <a:endParaRPr lang="en-US" altLang="zh-CN" sz="2400" dirty="0"/>
          </a:p>
        </p:txBody>
      </p:sp>
      <p:sp>
        <p:nvSpPr>
          <p:cNvPr id="96260" name="Rectangle 5"/>
          <p:cNvSpPr>
            <a:spLocks noChangeArrowheads="1"/>
          </p:cNvSpPr>
          <p:nvPr/>
        </p:nvSpPr>
        <p:spPr bwMode="auto">
          <a:xfrm>
            <a:off x="885825" y="1006884"/>
            <a:ext cx="7754938" cy="3859518"/>
          </a:xfrm>
          <a:prstGeom prst="rect">
            <a:avLst/>
          </a:prstGeom>
          <a:solidFill>
            <a:schemeClr val="bg1"/>
          </a:solidFill>
          <a:ln w="38100" algn="ctr">
            <a:solidFill>
              <a:srgbClr val="0066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nSpc>
                <a:spcPct val="90000"/>
              </a:lnSpc>
              <a:spcBef>
                <a:spcPct val="0"/>
              </a:spcBef>
              <a:buNone/>
            </a:pPr>
            <a:r>
              <a:rPr lang="en-US" altLang="zh-CN" sz="2400" kern="100" dirty="0"/>
              <a:t>void </a:t>
            </a:r>
            <a:r>
              <a:rPr lang="en-US" altLang="zh-CN" sz="2400" kern="100" dirty="0" err="1"/>
              <a:t>FirstWordClasify</a:t>
            </a:r>
            <a:r>
              <a:rPr lang="en-US" altLang="zh-CN" sz="2400" kern="100" dirty="0"/>
              <a:t>(token) </a:t>
            </a:r>
            <a:r>
              <a:rPr lang="en-US" altLang="zh-CN" sz="2400" dirty="0">
                <a:latin typeface="宋体" pitchFamily="2" charset="-122"/>
              </a:rPr>
              <a:t>//</a:t>
            </a:r>
            <a:r>
              <a:rPr lang="zh-CN" altLang="en-US" sz="2400" dirty="0">
                <a:latin typeface="宋体" pitchFamily="2" charset="-122"/>
              </a:rPr>
              <a:t>根据读入的单词分类处理，</a:t>
            </a:r>
            <a:endParaRPr lang="en-US" altLang="zh-CN" sz="2400" dirty="0">
              <a:latin typeface="宋体" pitchFamily="2" charset="-122"/>
            </a:endParaRPr>
          </a:p>
          <a:p>
            <a:pPr>
              <a:lnSpc>
                <a:spcPct val="90000"/>
              </a:lnSpc>
              <a:spcBef>
                <a:spcPct val="0"/>
              </a:spcBef>
              <a:buNone/>
            </a:pPr>
            <a:r>
              <a:rPr lang="en-US" altLang="zh-CN" sz="2400" dirty="0">
                <a:latin typeface="宋体" pitchFamily="2" charset="-122"/>
              </a:rPr>
              <a:t>                    </a:t>
            </a:r>
            <a:r>
              <a:rPr lang="zh-CN" altLang="en-US" sz="2400" dirty="0">
                <a:latin typeface="宋体" pitchFamily="2" charset="-122"/>
              </a:rPr>
              <a:t>   </a:t>
            </a:r>
            <a:r>
              <a:rPr lang="en-US" altLang="zh-CN" sz="2400" dirty="0">
                <a:latin typeface="宋体" pitchFamily="2" charset="-122"/>
              </a:rPr>
              <a:t>//</a:t>
            </a:r>
            <a:r>
              <a:rPr lang="zh-CN" altLang="en-US" sz="2400" dirty="0">
                <a:latin typeface="宋体" pitchFamily="2" charset="-122"/>
              </a:rPr>
              <a:t>不同语句的第一个单词不同</a:t>
            </a:r>
            <a:endParaRPr lang="en-US" altLang="zh-CN" sz="2400" dirty="0">
              <a:latin typeface="宋体" pitchFamily="2" charset="-122"/>
            </a:endParaRPr>
          </a:p>
          <a:p>
            <a:pPr>
              <a:lnSpc>
                <a:spcPct val="90000"/>
              </a:lnSpc>
              <a:spcBef>
                <a:spcPct val="0"/>
              </a:spcBef>
              <a:buNone/>
            </a:pPr>
            <a:r>
              <a:rPr lang="en-US" altLang="zh-CN" sz="2400" dirty="0">
                <a:latin typeface="宋体" pitchFamily="2" charset="-122"/>
              </a:rPr>
              <a:t>{</a:t>
            </a:r>
          </a:p>
          <a:p>
            <a:pPr>
              <a:lnSpc>
                <a:spcPct val="90000"/>
              </a:lnSpc>
              <a:spcBef>
                <a:spcPct val="0"/>
              </a:spcBef>
              <a:buNone/>
            </a:pPr>
            <a:r>
              <a:rPr lang="en-US" altLang="zh-CN" sz="2400" dirty="0">
                <a:latin typeface="宋体" pitchFamily="2" charset="-122"/>
              </a:rPr>
              <a:t>    if (token </a:t>
            </a:r>
            <a:r>
              <a:rPr lang="zh-CN" altLang="en-US" sz="2400" dirty="0">
                <a:latin typeface="宋体" pitchFamily="2" charset="-122"/>
              </a:rPr>
              <a:t>是 ‘</a:t>
            </a:r>
            <a:r>
              <a:rPr lang="en-US" altLang="zh-CN" sz="2400" dirty="0">
                <a:latin typeface="宋体" pitchFamily="2" charset="-122"/>
              </a:rPr>
              <a:t>int</a:t>
            </a:r>
            <a:r>
              <a:rPr lang="zh-CN" altLang="en-US" sz="2400" dirty="0">
                <a:latin typeface="宋体" pitchFamily="2" charset="-122"/>
              </a:rPr>
              <a:t>等类型</a:t>
            </a:r>
            <a:r>
              <a:rPr lang="en-US" altLang="zh-CN" sz="2400" dirty="0">
                <a:latin typeface="宋体" pitchFamily="2" charset="-122"/>
              </a:rPr>
              <a:t>’)</a:t>
            </a:r>
            <a:r>
              <a:rPr lang="zh-CN" altLang="en-US" sz="2400" dirty="0">
                <a:latin typeface="宋体" pitchFamily="2" charset="-122"/>
              </a:rPr>
              <a:t> </a:t>
            </a:r>
            <a:r>
              <a:rPr lang="en-US" altLang="zh-CN" sz="2400" dirty="0" err="1">
                <a:solidFill>
                  <a:srgbClr val="3333FF"/>
                </a:solidFill>
              </a:rPr>
              <a:t>VarDeclareAnalyzer</a:t>
            </a:r>
            <a:r>
              <a:rPr lang="en-US" altLang="zh-CN" sz="2400" dirty="0"/>
              <a:t>();</a:t>
            </a:r>
            <a:endParaRPr lang="en-US" altLang="zh-CN" sz="2400" dirty="0">
              <a:latin typeface="宋体" pitchFamily="2" charset="-122"/>
            </a:endParaRPr>
          </a:p>
          <a:p>
            <a:pPr eaLnBrk="1" hangingPunct="1">
              <a:lnSpc>
                <a:spcPct val="90000"/>
              </a:lnSpc>
              <a:spcBef>
                <a:spcPct val="0"/>
              </a:spcBef>
              <a:buFontTx/>
              <a:buNone/>
            </a:pPr>
            <a:r>
              <a:rPr lang="en-US" altLang="zh-CN" sz="2200" dirty="0">
                <a:latin typeface="宋体" pitchFamily="2" charset="-122"/>
              </a:rPr>
              <a:t>    if (token </a:t>
            </a:r>
            <a:r>
              <a:rPr lang="zh-CN" altLang="en-US" sz="2200" dirty="0">
                <a:latin typeface="宋体" pitchFamily="2" charset="-122"/>
              </a:rPr>
              <a:t>是 ‘</a:t>
            </a:r>
            <a:r>
              <a:rPr lang="en-US" altLang="zh-CN" sz="2200" dirty="0">
                <a:latin typeface="宋体" pitchFamily="2" charset="-122"/>
              </a:rPr>
              <a:t>if’</a:t>
            </a:r>
            <a:r>
              <a:rPr lang="zh-CN" altLang="en-US" sz="2200" dirty="0">
                <a:latin typeface="宋体" pitchFamily="2" charset="-122"/>
              </a:rPr>
              <a:t>） </a:t>
            </a:r>
            <a:r>
              <a:rPr lang="en-US" altLang="zh-CN" sz="2200" dirty="0">
                <a:solidFill>
                  <a:srgbClr val="FF0000"/>
                </a:solidFill>
                <a:latin typeface="宋体" pitchFamily="2" charset="-122"/>
              </a:rPr>
              <a:t>ifs()</a:t>
            </a:r>
            <a:r>
              <a:rPr lang="zh-CN" altLang="en-US" sz="2200" dirty="0">
                <a:latin typeface="宋体" pitchFamily="2" charset="-122"/>
              </a:rPr>
              <a:t>；</a:t>
            </a:r>
          </a:p>
          <a:p>
            <a:pPr eaLnBrk="1" hangingPunct="1">
              <a:lnSpc>
                <a:spcPct val="90000"/>
              </a:lnSpc>
              <a:spcBef>
                <a:spcPct val="0"/>
              </a:spcBef>
              <a:buFontTx/>
              <a:buNone/>
            </a:pPr>
            <a:r>
              <a:rPr lang="zh-CN" altLang="en-US" sz="2200" dirty="0">
                <a:latin typeface="宋体" pitchFamily="2" charset="-122"/>
              </a:rPr>
              <a:t>    </a:t>
            </a:r>
            <a:r>
              <a:rPr lang="en-US" altLang="zh-CN" sz="2200" dirty="0">
                <a:latin typeface="宋体" pitchFamily="2" charset="-122"/>
              </a:rPr>
              <a:t>if (token </a:t>
            </a:r>
            <a:r>
              <a:rPr lang="zh-CN" altLang="en-US" sz="2200" dirty="0">
                <a:latin typeface="宋体" pitchFamily="2" charset="-122"/>
              </a:rPr>
              <a:t>是 ‘</a:t>
            </a:r>
            <a:r>
              <a:rPr lang="en-US" altLang="zh-CN" sz="2200" dirty="0">
                <a:latin typeface="宋体" pitchFamily="2" charset="-122"/>
              </a:rPr>
              <a:t>for’</a:t>
            </a:r>
            <a:r>
              <a:rPr lang="zh-CN" altLang="en-US" sz="2200" dirty="0">
                <a:latin typeface="宋体" pitchFamily="2" charset="-122"/>
              </a:rPr>
              <a:t>） </a:t>
            </a:r>
            <a:r>
              <a:rPr lang="en-US" altLang="zh-CN" sz="2200" dirty="0" err="1">
                <a:solidFill>
                  <a:srgbClr val="FF0000"/>
                </a:solidFill>
                <a:latin typeface="宋体" pitchFamily="2" charset="-122"/>
              </a:rPr>
              <a:t>fors</a:t>
            </a:r>
            <a:r>
              <a:rPr lang="en-US" altLang="zh-CN" sz="2200" dirty="0">
                <a:solidFill>
                  <a:srgbClr val="FF0000"/>
                </a:solidFill>
                <a:latin typeface="宋体" pitchFamily="2" charset="-122"/>
              </a:rPr>
              <a:t>()</a:t>
            </a:r>
            <a:r>
              <a:rPr lang="zh-CN" altLang="en-US" sz="2200" dirty="0">
                <a:latin typeface="宋体" pitchFamily="2" charset="-122"/>
              </a:rPr>
              <a:t>；</a:t>
            </a:r>
          </a:p>
          <a:p>
            <a:pPr eaLnBrk="1" hangingPunct="1">
              <a:lnSpc>
                <a:spcPct val="90000"/>
              </a:lnSpc>
              <a:spcBef>
                <a:spcPct val="0"/>
              </a:spcBef>
              <a:buFontTx/>
              <a:buNone/>
            </a:pPr>
            <a:r>
              <a:rPr lang="zh-CN" altLang="en-US" sz="2200" dirty="0">
                <a:latin typeface="宋体" pitchFamily="2" charset="-122"/>
              </a:rPr>
              <a:t>    </a:t>
            </a:r>
            <a:r>
              <a:rPr lang="en-US" altLang="zh-CN" sz="2200" dirty="0">
                <a:latin typeface="宋体" pitchFamily="2" charset="-122"/>
              </a:rPr>
              <a:t>if (token </a:t>
            </a:r>
            <a:r>
              <a:rPr lang="zh-CN" altLang="en-US" sz="2200" dirty="0">
                <a:latin typeface="宋体" pitchFamily="2" charset="-122"/>
              </a:rPr>
              <a:t>是 ‘</a:t>
            </a:r>
            <a:r>
              <a:rPr lang="en-US" altLang="zh-CN" sz="2200" dirty="0">
                <a:latin typeface="宋体" pitchFamily="2" charset="-122"/>
              </a:rPr>
              <a:t>while’</a:t>
            </a:r>
            <a:r>
              <a:rPr lang="zh-CN" altLang="en-US" sz="2200" dirty="0">
                <a:latin typeface="宋体" pitchFamily="2" charset="-122"/>
              </a:rPr>
              <a:t>） </a:t>
            </a:r>
            <a:r>
              <a:rPr lang="en-US" altLang="zh-CN" sz="2200" dirty="0">
                <a:solidFill>
                  <a:srgbClr val="FF0000"/>
                </a:solidFill>
                <a:latin typeface="宋体" pitchFamily="2" charset="-122"/>
              </a:rPr>
              <a:t>whiles()</a:t>
            </a:r>
            <a:r>
              <a:rPr lang="zh-CN" altLang="en-US" sz="2200" dirty="0">
                <a:latin typeface="宋体" pitchFamily="2" charset="-122"/>
              </a:rPr>
              <a:t>；</a:t>
            </a:r>
          </a:p>
          <a:p>
            <a:pPr eaLnBrk="1" hangingPunct="1">
              <a:lnSpc>
                <a:spcPct val="90000"/>
              </a:lnSpc>
              <a:spcBef>
                <a:spcPct val="0"/>
              </a:spcBef>
              <a:buFontTx/>
              <a:buNone/>
            </a:pPr>
            <a:r>
              <a:rPr lang="zh-CN" altLang="en-US" sz="2200" dirty="0">
                <a:latin typeface="宋体" pitchFamily="2" charset="-122"/>
              </a:rPr>
              <a:t>    </a:t>
            </a:r>
            <a:r>
              <a:rPr lang="en-US" altLang="zh-CN" sz="2200" dirty="0">
                <a:latin typeface="宋体" pitchFamily="2" charset="-122"/>
              </a:rPr>
              <a:t>if (token </a:t>
            </a:r>
            <a:r>
              <a:rPr lang="zh-CN" altLang="en-US" sz="2200" dirty="0">
                <a:latin typeface="宋体" pitchFamily="2" charset="-122"/>
              </a:rPr>
              <a:t>是 ‘</a:t>
            </a:r>
            <a:r>
              <a:rPr lang="en-US" altLang="zh-CN" sz="2200" dirty="0">
                <a:latin typeface="宋体" pitchFamily="2" charset="-122"/>
              </a:rPr>
              <a:t>do’</a:t>
            </a:r>
            <a:r>
              <a:rPr lang="zh-CN" altLang="en-US" sz="2200" dirty="0">
                <a:latin typeface="宋体" pitchFamily="2" charset="-122"/>
              </a:rPr>
              <a:t>） </a:t>
            </a:r>
            <a:r>
              <a:rPr lang="en-US" altLang="zh-CN" sz="2200" dirty="0" err="1">
                <a:solidFill>
                  <a:srgbClr val="FF0000"/>
                </a:solidFill>
                <a:latin typeface="宋体" pitchFamily="2" charset="-122"/>
              </a:rPr>
              <a:t>dowhile</a:t>
            </a:r>
            <a:r>
              <a:rPr lang="en-US" altLang="zh-CN" sz="2200" dirty="0">
                <a:solidFill>
                  <a:srgbClr val="FF0000"/>
                </a:solidFill>
                <a:latin typeface="宋体" pitchFamily="2" charset="-122"/>
              </a:rPr>
              <a:t>()</a:t>
            </a:r>
            <a:r>
              <a:rPr lang="zh-CN" altLang="en-US" sz="2200" dirty="0">
                <a:latin typeface="宋体" pitchFamily="2" charset="-122"/>
              </a:rPr>
              <a:t>；</a:t>
            </a:r>
          </a:p>
          <a:p>
            <a:pPr eaLnBrk="1" hangingPunct="1">
              <a:lnSpc>
                <a:spcPct val="90000"/>
              </a:lnSpc>
              <a:spcBef>
                <a:spcPct val="0"/>
              </a:spcBef>
              <a:buFontTx/>
              <a:buNone/>
            </a:pPr>
            <a:r>
              <a:rPr lang="zh-CN" altLang="en-US" sz="2200" dirty="0">
                <a:latin typeface="宋体" pitchFamily="2" charset="-122"/>
              </a:rPr>
              <a:t>    </a:t>
            </a:r>
            <a:r>
              <a:rPr lang="en-US" altLang="zh-CN" sz="2200" dirty="0">
                <a:latin typeface="宋体" pitchFamily="2" charset="-122"/>
              </a:rPr>
              <a:t>if (token </a:t>
            </a:r>
            <a:r>
              <a:rPr lang="zh-CN" altLang="en-US" sz="2200" dirty="0">
                <a:latin typeface="宋体" pitchFamily="2" charset="-122"/>
              </a:rPr>
              <a:t>是 标识符） </a:t>
            </a:r>
            <a:r>
              <a:rPr lang="en-US" altLang="zh-CN" sz="2200" dirty="0">
                <a:solidFill>
                  <a:srgbClr val="FF0000"/>
                </a:solidFill>
                <a:latin typeface="宋体" pitchFamily="2" charset="-122"/>
              </a:rPr>
              <a:t>assigns()</a:t>
            </a:r>
            <a:r>
              <a:rPr lang="zh-CN" altLang="en-US" sz="2200" dirty="0">
                <a:latin typeface="宋体" pitchFamily="2" charset="-122"/>
              </a:rPr>
              <a:t>；</a:t>
            </a:r>
            <a:endParaRPr lang="en-US" altLang="zh-CN" sz="2200" dirty="0">
              <a:latin typeface="宋体" pitchFamily="2" charset="-122"/>
            </a:endParaRPr>
          </a:p>
          <a:p>
            <a:pPr eaLnBrk="1" hangingPunct="1">
              <a:lnSpc>
                <a:spcPct val="90000"/>
              </a:lnSpc>
              <a:spcBef>
                <a:spcPct val="0"/>
              </a:spcBef>
              <a:buFontTx/>
              <a:buNone/>
            </a:pPr>
            <a:r>
              <a:rPr lang="en-US" altLang="zh-CN" sz="2200" dirty="0">
                <a:latin typeface="宋体" pitchFamily="2" charset="-122"/>
              </a:rPr>
              <a:t>    else ……</a:t>
            </a:r>
          </a:p>
          <a:p>
            <a:pPr eaLnBrk="1" hangingPunct="1">
              <a:lnSpc>
                <a:spcPct val="90000"/>
              </a:lnSpc>
              <a:spcBef>
                <a:spcPct val="0"/>
              </a:spcBef>
              <a:buFontTx/>
              <a:buNone/>
            </a:pPr>
            <a:r>
              <a:rPr lang="en-US" altLang="zh-CN" sz="2200" dirty="0">
                <a:latin typeface="宋体" pitchFamily="2" charset="-122"/>
              </a:rPr>
              <a:t>    else </a:t>
            </a:r>
            <a:r>
              <a:rPr lang="en-US" altLang="zh-CN" sz="2200" dirty="0">
                <a:solidFill>
                  <a:srgbClr val="FF0000"/>
                </a:solidFill>
                <a:latin typeface="宋体" pitchFamily="2" charset="-122"/>
              </a:rPr>
              <a:t>error()</a:t>
            </a:r>
            <a:r>
              <a:rPr lang="en-US" altLang="zh-CN" sz="2200" dirty="0">
                <a:latin typeface="宋体" pitchFamily="2" charset="-122"/>
              </a:rPr>
              <a:t>;</a:t>
            </a:r>
          </a:p>
          <a:p>
            <a:pPr eaLnBrk="1" hangingPunct="1">
              <a:lnSpc>
                <a:spcPct val="90000"/>
              </a:lnSpc>
              <a:spcBef>
                <a:spcPct val="0"/>
              </a:spcBef>
              <a:buFontTx/>
              <a:buNone/>
            </a:pPr>
            <a:r>
              <a:rPr lang="en-US" altLang="zh-CN" sz="2200" dirty="0">
                <a:latin typeface="宋体" pitchFamily="2" charset="-122"/>
              </a:rPr>
              <a:t>}</a:t>
            </a:r>
          </a:p>
        </p:txBody>
      </p:sp>
    </p:spTree>
    <p:extLst>
      <p:ext uri="{BB962C8B-B14F-4D97-AF65-F5344CB8AC3E}">
        <p14:creationId xmlns:p14="http://schemas.microsoft.com/office/powerpoint/2010/main" val="107127022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3"/>
          <p:cNvSpPr>
            <a:spLocks noGrp="1" noChangeArrowheads="1"/>
          </p:cNvSpPr>
          <p:nvPr>
            <p:ph type="body" idx="1"/>
          </p:nvPr>
        </p:nvSpPr>
        <p:spPr>
          <a:xfrm>
            <a:off x="251520" y="267494"/>
            <a:ext cx="8183562" cy="548481"/>
          </a:xfrm>
        </p:spPr>
        <p:txBody>
          <a:bodyPr>
            <a:normAutofit/>
          </a:bodyPr>
          <a:lstStyle/>
          <a:p>
            <a:pPr algn="just" eaLnBrk="1" hangingPunct="1">
              <a:buFontTx/>
              <a:buNone/>
            </a:pPr>
            <a:r>
              <a:rPr lang="zh-CN" altLang="en-US" sz="2200" b="1" i="1" dirty="0">
                <a:solidFill>
                  <a:srgbClr val="008000"/>
                </a:solidFill>
              </a:rPr>
              <a:t>实例：写出</a:t>
            </a:r>
            <a:r>
              <a:rPr lang="en-US" altLang="zh-CN" sz="2200" b="1" i="1" dirty="0">
                <a:solidFill>
                  <a:srgbClr val="008000"/>
                </a:solidFill>
              </a:rPr>
              <a:t>sample</a:t>
            </a:r>
            <a:r>
              <a:rPr lang="zh-CN" altLang="en-US" sz="2200" b="1" i="1" dirty="0">
                <a:solidFill>
                  <a:srgbClr val="008000"/>
                </a:solidFill>
              </a:rPr>
              <a:t>语言中</a:t>
            </a:r>
            <a:r>
              <a:rPr lang="en-US" altLang="zh-CN" sz="2200" b="1" i="1" dirty="0">
                <a:solidFill>
                  <a:srgbClr val="008000"/>
                </a:solidFill>
              </a:rPr>
              <a:t>IF</a:t>
            </a:r>
            <a:r>
              <a:rPr lang="zh-CN" altLang="en-US" sz="2200" b="1" i="1" dirty="0">
                <a:solidFill>
                  <a:srgbClr val="008000"/>
                </a:solidFill>
              </a:rPr>
              <a:t>语句的递归下降分析程序</a:t>
            </a:r>
            <a:endParaRPr lang="en-US" altLang="zh-CN" sz="2200" dirty="0">
              <a:solidFill>
                <a:srgbClr val="3333CC"/>
              </a:solidFill>
            </a:endParaRPr>
          </a:p>
        </p:txBody>
      </p:sp>
      <p:sp>
        <p:nvSpPr>
          <p:cNvPr id="86019" name="Text Box 4"/>
          <p:cNvSpPr txBox="1">
            <a:spLocks noChangeArrowheads="1"/>
          </p:cNvSpPr>
          <p:nvPr/>
        </p:nvSpPr>
        <p:spPr bwMode="auto">
          <a:xfrm>
            <a:off x="866775" y="4073525"/>
            <a:ext cx="7747000" cy="769441"/>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i="1" dirty="0"/>
              <a:t>&lt;if</a:t>
            </a:r>
            <a:r>
              <a:rPr lang="zh-CN" altLang="zh-CN" sz="2200" i="1" dirty="0"/>
              <a:t>语句</a:t>
            </a:r>
            <a:r>
              <a:rPr lang="en-US" altLang="zh-CN" sz="2200" i="1" dirty="0"/>
              <a:t>&gt;</a:t>
            </a:r>
            <a:r>
              <a:rPr lang="zh-CN" altLang="zh-CN" sz="2200" i="1" dirty="0"/>
              <a:t>→</a:t>
            </a:r>
            <a:r>
              <a:rPr lang="en-US" altLang="zh-CN" sz="2200" i="1" dirty="0"/>
              <a:t>if (&lt;</a:t>
            </a:r>
            <a:r>
              <a:rPr lang="zh-CN" altLang="zh-CN" sz="2200" i="1" dirty="0"/>
              <a:t>表达式</a:t>
            </a:r>
            <a:r>
              <a:rPr lang="en-US" altLang="zh-CN" sz="2200" i="1" dirty="0"/>
              <a:t>&gt;)&lt;</a:t>
            </a:r>
            <a:r>
              <a:rPr lang="zh-CN" altLang="zh-CN" sz="2200" i="1" dirty="0"/>
              <a:t>复合语句</a:t>
            </a:r>
            <a:r>
              <a:rPr lang="en-US" altLang="zh-CN" sz="2200" i="1" dirty="0"/>
              <a:t>&gt; &lt;if Tail&gt;</a:t>
            </a:r>
            <a:br>
              <a:rPr lang="zh-CN" altLang="zh-CN" sz="2200" dirty="0"/>
            </a:br>
            <a:r>
              <a:rPr lang="en-US" altLang="zh-CN" sz="2200" i="1" dirty="0"/>
              <a:t>&lt;if Tail&gt;</a:t>
            </a:r>
            <a:r>
              <a:rPr lang="zh-CN" altLang="zh-CN" sz="2200" i="1" dirty="0"/>
              <a:t>→</a:t>
            </a:r>
            <a:r>
              <a:rPr lang="en-US" altLang="zh-CN" sz="2200" i="1" dirty="0"/>
              <a:t>else &lt;</a:t>
            </a:r>
            <a:r>
              <a:rPr lang="zh-CN" altLang="zh-CN" sz="2200" i="1" dirty="0"/>
              <a:t>复合语句</a:t>
            </a:r>
            <a:r>
              <a:rPr lang="en-US" altLang="zh-CN" sz="2200" i="1" dirty="0"/>
              <a:t>&gt; | </a:t>
            </a:r>
            <a:r>
              <a:rPr lang="en-US" altLang="zh-CN" sz="2200" i="1" dirty="0">
                <a:sym typeface="Symbol" pitchFamily="18" charset="2"/>
              </a:rPr>
              <a:t></a:t>
            </a:r>
            <a:r>
              <a:rPr lang="en-US" altLang="zh-CN" sz="2200" dirty="0">
                <a:ea typeface="华文行楷" pitchFamily="2" charset="-122"/>
              </a:rPr>
              <a:t> </a:t>
            </a:r>
          </a:p>
        </p:txBody>
      </p:sp>
      <p:sp>
        <p:nvSpPr>
          <p:cNvPr id="3" name="矩形 2"/>
          <p:cNvSpPr/>
          <p:nvPr/>
        </p:nvSpPr>
        <p:spPr>
          <a:xfrm>
            <a:off x="866775" y="2403895"/>
            <a:ext cx="7747000" cy="887935"/>
          </a:xfrm>
          <a:prstGeom prst="rect">
            <a:avLst/>
          </a:prstGeom>
        </p:spPr>
        <p:style>
          <a:lnRef idx="2">
            <a:schemeClr val="accent6"/>
          </a:lnRef>
          <a:fillRef idx="1">
            <a:schemeClr val="lt1"/>
          </a:fillRef>
          <a:effectRef idx="0">
            <a:schemeClr val="accent6"/>
          </a:effectRef>
          <a:fontRef idx="minor">
            <a:schemeClr val="dk1"/>
          </a:fontRef>
        </p:style>
        <p:txBody>
          <a:bodyPr>
            <a:spAutoFit/>
          </a:bodyPr>
          <a:lstStyle/>
          <a:p>
            <a:pPr marL="266700" eaLnBrk="1" hangingPunct="1">
              <a:lnSpc>
                <a:spcPct val="120000"/>
              </a:lnSpc>
              <a:spcAft>
                <a:spcPts val="0"/>
              </a:spcAft>
              <a:defRPr/>
            </a:pPr>
            <a:r>
              <a:rPr lang="en-US" altLang="zh-CN" sz="2200" i="1" kern="0" dirty="0">
                <a:latin typeface="Calibri" panose="020F0502020204030204" pitchFamily="34" charset="0"/>
              </a:rPr>
              <a:t>&lt;if</a:t>
            </a:r>
            <a:r>
              <a:rPr lang="zh-CN" altLang="zh-CN" sz="2200" i="1" kern="0" dirty="0">
                <a:cs typeface="宋体" panose="02010600030101010101" pitchFamily="2" charset="-122"/>
              </a:rPr>
              <a:t>语句</a:t>
            </a:r>
            <a:r>
              <a:rPr lang="en-US" altLang="zh-CN" sz="2200" i="1" kern="0" dirty="0">
                <a:latin typeface="Calibri" panose="020F0502020204030204" pitchFamily="34" charset="0"/>
              </a:rPr>
              <a:t>&gt;</a:t>
            </a:r>
            <a:r>
              <a:rPr lang="zh-CN" altLang="zh-CN" sz="2200" i="1" kern="0" dirty="0">
                <a:cs typeface="宋体" panose="02010600030101010101" pitchFamily="2" charset="-122"/>
              </a:rPr>
              <a:t>→</a:t>
            </a:r>
            <a:r>
              <a:rPr lang="en-US" altLang="zh-CN" sz="2200" i="1" kern="0" dirty="0">
                <a:latin typeface="Calibri" panose="020F0502020204030204" pitchFamily="34" charset="0"/>
              </a:rPr>
              <a:t>if (&lt;</a:t>
            </a:r>
            <a:r>
              <a:rPr lang="zh-CN" altLang="zh-CN" sz="2200" i="1" kern="0" dirty="0">
                <a:cs typeface="宋体" panose="02010600030101010101" pitchFamily="2" charset="-122"/>
              </a:rPr>
              <a:t>表达式</a:t>
            </a:r>
            <a:r>
              <a:rPr lang="en-US" altLang="zh-CN" sz="2200" i="1" kern="0" dirty="0">
                <a:latin typeface="Calibri" panose="020F0502020204030204" pitchFamily="34" charset="0"/>
              </a:rPr>
              <a:t>&gt;)&lt;</a:t>
            </a:r>
            <a:r>
              <a:rPr lang="zh-CN" altLang="zh-CN" sz="2200" i="1" kern="0" dirty="0">
                <a:cs typeface="宋体" panose="02010600030101010101" pitchFamily="2" charset="-122"/>
              </a:rPr>
              <a:t>复合语句</a:t>
            </a:r>
            <a:r>
              <a:rPr lang="en-US" altLang="zh-CN" sz="2200" i="1" kern="0" dirty="0">
                <a:latin typeface="Calibri" panose="020F0502020204030204" pitchFamily="34" charset="0"/>
              </a:rPr>
              <a:t>&gt; </a:t>
            </a:r>
          </a:p>
          <a:p>
            <a:pPr marL="266700" eaLnBrk="1" hangingPunct="1">
              <a:lnSpc>
                <a:spcPct val="120000"/>
              </a:lnSpc>
              <a:spcAft>
                <a:spcPts val="0"/>
              </a:spcAft>
              <a:defRPr/>
            </a:pPr>
            <a:r>
              <a:rPr lang="en-US" altLang="zh-CN" sz="2200" i="1" kern="0" dirty="0">
                <a:latin typeface="Calibri" panose="020F0502020204030204" pitchFamily="34" charset="0"/>
              </a:rPr>
              <a:t> &lt;if</a:t>
            </a:r>
            <a:r>
              <a:rPr lang="zh-CN" altLang="zh-CN" sz="2200" i="1" kern="0" dirty="0">
                <a:cs typeface="宋体" panose="02010600030101010101" pitchFamily="2" charset="-122"/>
              </a:rPr>
              <a:t>语句</a:t>
            </a:r>
            <a:r>
              <a:rPr lang="en-US" altLang="zh-CN" sz="2200" i="1" kern="0" dirty="0">
                <a:latin typeface="Calibri" panose="020F0502020204030204" pitchFamily="34" charset="0"/>
              </a:rPr>
              <a:t>&gt;</a:t>
            </a:r>
            <a:r>
              <a:rPr lang="zh-CN" altLang="zh-CN" sz="2200" i="1" kern="0" dirty="0">
                <a:cs typeface="宋体" panose="02010600030101010101" pitchFamily="2" charset="-122"/>
              </a:rPr>
              <a:t>→ </a:t>
            </a:r>
            <a:r>
              <a:rPr lang="en-US" altLang="zh-CN" sz="2200" i="1" kern="0" dirty="0">
                <a:latin typeface="Calibri" panose="020F0502020204030204" pitchFamily="34" charset="0"/>
              </a:rPr>
              <a:t>if (&lt;</a:t>
            </a:r>
            <a:r>
              <a:rPr lang="zh-CN" altLang="zh-CN" sz="2200" i="1" kern="0" dirty="0">
                <a:cs typeface="宋体" panose="02010600030101010101" pitchFamily="2" charset="-122"/>
              </a:rPr>
              <a:t>表达式</a:t>
            </a:r>
            <a:r>
              <a:rPr lang="en-US" altLang="zh-CN" sz="2200" i="1" kern="0" dirty="0">
                <a:latin typeface="Calibri" panose="020F0502020204030204" pitchFamily="34" charset="0"/>
              </a:rPr>
              <a:t>&gt;) &lt;</a:t>
            </a:r>
            <a:r>
              <a:rPr lang="zh-CN" altLang="zh-CN" sz="2200" i="1" kern="0" dirty="0">
                <a:cs typeface="宋体" panose="02010600030101010101" pitchFamily="2" charset="-122"/>
              </a:rPr>
              <a:t>复合语句</a:t>
            </a:r>
            <a:r>
              <a:rPr lang="en-US" altLang="zh-CN" sz="2200" i="1" kern="0" dirty="0">
                <a:latin typeface="Calibri" panose="020F0502020204030204" pitchFamily="34" charset="0"/>
              </a:rPr>
              <a:t>&gt; else &lt;</a:t>
            </a:r>
            <a:r>
              <a:rPr lang="zh-CN" altLang="zh-CN" sz="2200" i="1" kern="0" dirty="0">
                <a:cs typeface="宋体" panose="02010600030101010101" pitchFamily="2" charset="-122"/>
              </a:rPr>
              <a:t>复合语句</a:t>
            </a:r>
            <a:r>
              <a:rPr lang="en-US" altLang="zh-CN" sz="2200" i="1" kern="0" dirty="0">
                <a:latin typeface="Calibri" panose="020F0502020204030204" pitchFamily="34" charset="0"/>
              </a:rPr>
              <a:t>&gt;</a:t>
            </a:r>
            <a:endParaRPr lang="zh-CN" altLang="zh-CN" sz="2200" kern="100" dirty="0"/>
          </a:p>
        </p:txBody>
      </p:sp>
      <p:sp>
        <p:nvSpPr>
          <p:cNvPr id="4" name="矩形 3"/>
          <p:cNvSpPr/>
          <p:nvPr/>
        </p:nvSpPr>
        <p:spPr>
          <a:xfrm>
            <a:off x="5328593" y="725658"/>
            <a:ext cx="3285182" cy="1477328"/>
          </a:xfrm>
          <a:prstGeom prst="rect">
            <a:avLst/>
          </a:prstGeom>
        </p:spPr>
        <p:style>
          <a:lnRef idx="2">
            <a:schemeClr val="accent3"/>
          </a:lnRef>
          <a:fillRef idx="1">
            <a:schemeClr val="lt1"/>
          </a:fillRef>
          <a:effectRef idx="0">
            <a:schemeClr val="accent3"/>
          </a:effectRef>
          <a:fontRef idx="minor">
            <a:schemeClr val="dk1"/>
          </a:fontRef>
        </p:style>
        <p:txBody>
          <a:bodyPr wrap="square">
            <a:spAutoFit/>
          </a:bodyPr>
          <a:lstStyle/>
          <a:p>
            <a:pPr eaLnBrk="1" hangingPunct="1">
              <a:defRPr/>
            </a:pPr>
            <a:r>
              <a:rPr lang="zh-CN" altLang="en-US" dirty="0">
                <a:solidFill>
                  <a:srgbClr val="3333CC"/>
                </a:solidFill>
              </a:rPr>
              <a:t>方法：</a:t>
            </a:r>
            <a:endParaRPr lang="en-US" altLang="zh-CN" dirty="0">
              <a:solidFill>
                <a:srgbClr val="3333CC"/>
              </a:solidFill>
            </a:endParaRPr>
          </a:p>
          <a:p>
            <a:pPr eaLnBrk="1" hangingPunct="1">
              <a:defRPr/>
            </a:pPr>
            <a:r>
              <a:rPr lang="en-US" altLang="zh-CN" dirty="0">
                <a:solidFill>
                  <a:srgbClr val="3333CC"/>
                </a:solidFill>
              </a:rPr>
              <a:t>(1)</a:t>
            </a:r>
            <a:r>
              <a:rPr lang="zh-CN" altLang="en-US" dirty="0">
                <a:solidFill>
                  <a:srgbClr val="3333CC"/>
                </a:solidFill>
              </a:rPr>
              <a:t>找出</a:t>
            </a:r>
            <a:r>
              <a:rPr lang="en-US" altLang="zh-CN" dirty="0">
                <a:solidFill>
                  <a:srgbClr val="3333CC"/>
                </a:solidFill>
              </a:rPr>
              <a:t>IF</a:t>
            </a:r>
            <a:r>
              <a:rPr lang="zh-CN" altLang="en-US" dirty="0">
                <a:solidFill>
                  <a:srgbClr val="3333CC"/>
                </a:solidFill>
              </a:rPr>
              <a:t>语句的产生式</a:t>
            </a:r>
            <a:r>
              <a:rPr lang="en-US" altLang="zh-CN" dirty="0">
                <a:solidFill>
                  <a:srgbClr val="3333CC"/>
                </a:solidFill>
              </a:rPr>
              <a:t>;</a:t>
            </a:r>
          </a:p>
          <a:p>
            <a:pPr eaLnBrk="1" hangingPunct="1">
              <a:defRPr/>
            </a:pPr>
            <a:r>
              <a:rPr lang="en-US" altLang="zh-CN" dirty="0">
                <a:solidFill>
                  <a:srgbClr val="3333CC"/>
                </a:solidFill>
              </a:rPr>
              <a:t>(2)</a:t>
            </a:r>
            <a:r>
              <a:rPr lang="zh-CN" altLang="en-US" dirty="0">
                <a:solidFill>
                  <a:srgbClr val="3333CC"/>
                </a:solidFill>
              </a:rPr>
              <a:t>判断是不是</a:t>
            </a:r>
            <a:r>
              <a:rPr lang="en-US" altLang="zh-CN" dirty="0">
                <a:solidFill>
                  <a:srgbClr val="3333CC"/>
                </a:solidFill>
              </a:rPr>
              <a:t>LL(1)</a:t>
            </a:r>
            <a:r>
              <a:rPr lang="zh-CN" altLang="en-US" dirty="0">
                <a:solidFill>
                  <a:srgbClr val="3333CC"/>
                </a:solidFill>
              </a:rPr>
              <a:t>文法</a:t>
            </a:r>
            <a:r>
              <a:rPr lang="en-US" altLang="zh-CN" dirty="0">
                <a:solidFill>
                  <a:srgbClr val="3333CC"/>
                </a:solidFill>
              </a:rPr>
              <a:t>;</a:t>
            </a:r>
          </a:p>
          <a:p>
            <a:pPr eaLnBrk="1" hangingPunct="1">
              <a:defRPr/>
            </a:pPr>
            <a:r>
              <a:rPr lang="en-US" altLang="zh-CN" dirty="0">
                <a:solidFill>
                  <a:srgbClr val="3333CC"/>
                </a:solidFill>
              </a:rPr>
              <a:t>(3)</a:t>
            </a:r>
            <a:r>
              <a:rPr lang="zh-CN" altLang="en-US" dirty="0">
                <a:solidFill>
                  <a:srgbClr val="3333CC"/>
                </a:solidFill>
              </a:rPr>
              <a:t>改造</a:t>
            </a:r>
            <a:endParaRPr lang="en-US" altLang="zh-CN" dirty="0">
              <a:solidFill>
                <a:srgbClr val="3333CC"/>
              </a:solidFill>
            </a:endParaRPr>
          </a:p>
          <a:p>
            <a:pPr eaLnBrk="1" hangingPunct="1">
              <a:defRPr/>
            </a:pPr>
            <a:r>
              <a:rPr lang="en-US" altLang="zh-CN" dirty="0">
                <a:solidFill>
                  <a:srgbClr val="3333CC"/>
                </a:solidFill>
              </a:rPr>
              <a:t>(4)</a:t>
            </a:r>
            <a:r>
              <a:rPr lang="zh-CN" altLang="en-US" dirty="0">
                <a:solidFill>
                  <a:srgbClr val="3333CC"/>
                </a:solidFill>
              </a:rPr>
              <a:t>针对每个非终结符写函数</a:t>
            </a:r>
            <a:endParaRPr lang="zh-CN" altLang="en-US" dirty="0"/>
          </a:p>
        </p:txBody>
      </p:sp>
      <p:sp>
        <p:nvSpPr>
          <p:cNvPr id="6" name="下箭头 5"/>
          <p:cNvSpPr/>
          <p:nvPr/>
        </p:nvSpPr>
        <p:spPr bwMode="auto">
          <a:xfrm flipH="1">
            <a:off x="4087813" y="3340100"/>
            <a:ext cx="968375" cy="703263"/>
          </a:xfrm>
          <a:prstGeom prst="downArrow">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zh-CN" altLang="en-US" dirty="0"/>
              <a:t>改造</a:t>
            </a:r>
          </a:p>
        </p:txBody>
      </p:sp>
    </p:spTree>
    <p:extLst>
      <p:ext uri="{BB962C8B-B14F-4D97-AF65-F5344CB8AC3E}">
        <p14:creationId xmlns:p14="http://schemas.microsoft.com/office/powerpoint/2010/main" val="24175395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6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animBg="1"/>
      <p:bldP spid="3" grpId="0" animBg="1"/>
      <p:bldP spid="4" grpId="0" animBg="1"/>
      <p:bldP spid="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4"/>
          <p:cNvSpPr txBox="1">
            <a:spLocks noChangeArrowheads="1"/>
          </p:cNvSpPr>
          <p:nvPr/>
        </p:nvSpPr>
        <p:spPr bwMode="auto">
          <a:xfrm>
            <a:off x="179512" y="96758"/>
            <a:ext cx="5472608" cy="707886"/>
          </a:xfrm>
          <a:prstGeom prst="rect">
            <a:avLst/>
          </a:prstGeom>
          <a:solidFill>
            <a:srgbClr val="FDECE3"/>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i="1" dirty="0"/>
              <a:t>&lt;if</a:t>
            </a:r>
            <a:r>
              <a:rPr lang="zh-CN" altLang="zh-CN" sz="2000" i="1" dirty="0"/>
              <a:t>语句</a:t>
            </a:r>
            <a:r>
              <a:rPr lang="en-US" altLang="zh-CN" sz="2000" i="1" dirty="0"/>
              <a:t>&gt;</a:t>
            </a:r>
            <a:r>
              <a:rPr lang="zh-CN" altLang="zh-CN" sz="2000" i="1" dirty="0"/>
              <a:t>→</a:t>
            </a:r>
            <a:r>
              <a:rPr lang="en-US" altLang="zh-CN" sz="2000" i="1" dirty="0"/>
              <a:t>if (&lt;</a:t>
            </a:r>
            <a:r>
              <a:rPr lang="zh-CN" altLang="zh-CN" sz="2000" i="1" dirty="0"/>
              <a:t>表达式</a:t>
            </a:r>
            <a:r>
              <a:rPr lang="en-US" altLang="zh-CN" sz="2000" i="1" dirty="0"/>
              <a:t>&gt;)&lt;</a:t>
            </a:r>
            <a:r>
              <a:rPr lang="zh-CN" altLang="zh-CN" sz="2000" i="1" dirty="0"/>
              <a:t>复合语句</a:t>
            </a:r>
            <a:r>
              <a:rPr lang="en-US" altLang="zh-CN" sz="2000" i="1" dirty="0"/>
              <a:t>&gt; &lt;if Tail&gt;</a:t>
            </a:r>
          </a:p>
          <a:p>
            <a:pPr eaLnBrk="1" hangingPunct="1">
              <a:spcBef>
                <a:spcPct val="0"/>
              </a:spcBef>
              <a:buFontTx/>
              <a:buNone/>
            </a:pPr>
            <a:r>
              <a:rPr lang="en-US" altLang="zh-CN" sz="2000" i="1" dirty="0"/>
              <a:t>&lt;if Tail&gt;</a:t>
            </a:r>
            <a:r>
              <a:rPr lang="zh-CN" altLang="zh-CN" sz="2000" i="1" dirty="0"/>
              <a:t>→</a:t>
            </a:r>
            <a:r>
              <a:rPr lang="en-US" altLang="zh-CN" sz="2000" i="1" dirty="0"/>
              <a:t>else &lt;</a:t>
            </a:r>
            <a:r>
              <a:rPr lang="zh-CN" altLang="zh-CN" sz="2000" i="1" dirty="0"/>
              <a:t>复合语句</a:t>
            </a:r>
            <a:r>
              <a:rPr lang="en-US" altLang="zh-CN" sz="2000" i="1" dirty="0"/>
              <a:t>&gt; | </a:t>
            </a:r>
            <a:r>
              <a:rPr lang="en-US" altLang="zh-CN" sz="2000" i="1" dirty="0">
                <a:sym typeface="Symbol" pitchFamily="18" charset="2"/>
              </a:rPr>
              <a:t></a:t>
            </a:r>
            <a:endParaRPr lang="en-US" altLang="zh-CN" sz="2000" dirty="0">
              <a:ea typeface="华文行楷" pitchFamily="2" charset="-122"/>
            </a:endParaRPr>
          </a:p>
        </p:txBody>
      </p:sp>
      <p:graphicFrame>
        <p:nvGraphicFramePr>
          <p:cNvPr id="4" name="对象 3">
            <a:extLst>
              <a:ext uri="{FF2B5EF4-FFF2-40B4-BE49-F238E27FC236}">
                <a16:creationId xmlns:a16="http://schemas.microsoft.com/office/drawing/2014/main" id="{1965658B-0105-88DD-2338-C49D59A40722}"/>
              </a:ext>
            </a:extLst>
          </p:cNvPr>
          <p:cNvGraphicFramePr>
            <a:graphicFrameLocks noChangeAspect="1"/>
          </p:cNvGraphicFramePr>
          <p:nvPr/>
        </p:nvGraphicFramePr>
        <p:xfrm>
          <a:off x="1115616" y="804644"/>
          <a:ext cx="7430198" cy="661799"/>
        </p:xfrm>
        <a:graphic>
          <a:graphicData uri="http://schemas.openxmlformats.org/presentationml/2006/ole">
            <mc:AlternateContent xmlns:mc="http://schemas.openxmlformats.org/markup-compatibility/2006">
              <mc:Choice xmlns:v="urn:schemas-microsoft-com:vml" Requires="v">
                <p:oleObj spid="_x0000_s21511" name="Visio" r:id="rId3" imgW="4705379" imgH="428728" progId="Visio.Drawing.15">
                  <p:embed/>
                </p:oleObj>
              </mc:Choice>
              <mc:Fallback>
                <p:oleObj name="Visio" r:id="rId3" imgW="4705379" imgH="428728" progId="Visio.Drawing.15">
                  <p:embed/>
                  <p:pic>
                    <p:nvPicPr>
                      <p:cNvPr id="4" name="对象 3">
                        <a:extLst>
                          <a:ext uri="{FF2B5EF4-FFF2-40B4-BE49-F238E27FC236}">
                            <a16:creationId xmlns:a16="http://schemas.microsoft.com/office/drawing/2014/main" id="{1965658B-0105-88DD-2338-C49D59A407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804644"/>
                        <a:ext cx="7430198" cy="661799"/>
                      </a:xfrm>
                      <a:prstGeom prst="rect">
                        <a:avLst/>
                      </a:prstGeom>
                      <a:noFill/>
                    </p:spPr>
                  </p:pic>
                </p:oleObj>
              </mc:Fallback>
            </mc:AlternateContent>
          </a:graphicData>
        </a:graphic>
      </p:graphicFrame>
      <p:sp>
        <p:nvSpPr>
          <p:cNvPr id="2" name="TextBox 1">
            <a:extLst>
              <a:ext uri="{FF2B5EF4-FFF2-40B4-BE49-F238E27FC236}">
                <a16:creationId xmlns:a16="http://schemas.microsoft.com/office/drawing/2014/main" id="{41C59B27-A9AE-56E5-5029-B4E69E14D63F}"/>
              </a:ext>
            </a:extLst>
          </p:cNvPr>
          <p:cNvSpPr txBox="1"/>
          <p:nvPr/>
        </p:nvSpPr>
        <p:spPr>
          <a:xfrm>
            <a:off x="495360" y="1409164"/>
            <a:ext cx="8136904" cy="3754874"/>
          </a:xfrm>
          <a:prstGeom prst="rect">
            <a:avLst/>
          </a:prstGeom>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en-US" altLang="zh-CN" sz="1400" kern="100" dirty="0">
                <a:effectLst/>
                <a:latin typeface="Times New Roman" panose="02020603050405020304" pitchFamily="18" charset="0"/>
                <a:ea typeface="宋体" panose="02010600030101010101" pitchFamily="2" charset="-122"/>
              </a:rPr>
              <a:t>ifs( )  {  //</a:t>
            </a:r>
            <a:r>
              <a:rPr lang="zh-CN" altLang="zh-CN" sz="1400" kern="100" dirty="0">
                <a:effectLst/>
                <a:latin typeface="Times New Roman" panose="02020603050405020304" pitchFamily="18" charset="0"/>
                <a:ea typeface="宋体" panose="02010600030101010101" pitchFamily="2" charset="-122"/>
              </a:rPr>
              <a:t>语法图中遇到圆框进行比较，方框调用函数</a:t>
            </a:r>
          </a:p>
          <a:p>
            <a:pPr indent="2286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从输入串中读取一个单词符号，指针后移一个单词</a:t>
            </a:r>
          </a:p>
          <a:p>
            <a:pPr indent="228600" algn="just"/>
            <a:r>
              <a:rPr lang="en-US" altLang="zh-CN" sz="1400" kern="100" dirty="0">
                <a:effectLst/>
                <a:latin typeface="Times New Roman" panose="02020603050405020304" pitchFamily="18" charset="0"/>
                <a:ea typeface="宋体" panose="02010600030101010101" pitchFamily="2" charset="-122"/>
              </a:rPr>
              <a:t>if (token </a:t>
            </a:r>
            <a:r>
              <a:rPr lang="zh-CN" altLang="zh-CN" sz="1400" kern="100" dirty="0">
                <a:effectLst/>
                <a:latin typeface="Times New Roman" panose="02020603050405020304" pitchFamily="18" charset="0"/>
                <a:ea typeface="宋体" panose="02010600030101010101" pitchFamily="2" charset="-122"/>
              </a:rPr>
              <a:t>不是</a:t>
            </a:r>
            <a:r>
              <a:rPr lang="en-US" altLang="zh-CN" sz="1400" kern="100" dirty="0">
                <a:effectLst/>
                <a:latin typeface="Times New Roman" panose="02020603050405020304" pitchFamily="18" charset="0"/>
                <a:ea typeface="宋体" panose="02010600030101010101" pitchFamily="2" charset="-122"/>
              </a:rPr>
              <a:t>  ''if'' )   // </a:t>
            </a:r>
            <a:r>
              <a:rPr lang="zh-CN" altLang="zh-CN" sz="1400" kern="100" dirty="0">
                <a:effectLst/>
                <a:latin typeface="Times New Roman" panose="02020603050405020304" pitchFamily="18" charset="0"/>
                <a:ea typeface="宋体" panose="02010600030101010101" pitchFamily="2" charset="-122"/>
              </a:rPr>
              <a:t>如果调用函数已经读取了</a:t>
            </a:r>
            <a:r>
              <a:rPr lang="en-US" altLang="zh-CN" sz="1400" kern="100" dirty="0">
                <a:effectLst/>
                <a:latin typeface="Times New Roman" panose="02020603050405020304" pitchFamily="18" charset="0"/>
                <a:ea typeface="宋体" panose="02010600030101010101" pitchFamily="2" charset="-122"/>
              </a:rPr>
              <a:t>if</a:t>
            </a:r>
            <a:r>
              <a:rPr lang="zh-CN" altLang="zh-CN" sz="1400" kern="100" dirty="0">
                <a:effectLst/>
                <a:latin typeface="Times New Roman" panose="02020603050405020304" pitchFamily="18" charset="0"/>
                <a:ea typeface="宋体" panose="02010600030101010101" pitchFamily="2" charset="-122"/>
              </a:rPr>
              <a:t>，此处不再读入和判断</a:t>
            </a:r>
          </a:p>
          <a:p>
            <a:pPr indent="514350" algn="just"/>
            <a:r>
              <a:rPr lang="en-US" altLang="zh-CN" sz="1400" kern="100" dirty="0" err="1">
                <a:effectLst/>
                <a:latin typeface="Times New Roman" panose="02020603050405020304" pitchFamily="18" charset="0"/>
                <a:ea typeface="宋体" panose="02010600030101010101" pitchFamily="2" charset="-122"/>
              </a:rPr>
              <a:t>SyntaxError</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调用错误处理</a:t>
            </a:r>
          </a:p>
          <a:p>
            <a:pPr indent="2286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  </a:t>
            </a:r>
            <a:endParaRPr lang="zh-CN" altLang="zh-CN" sz="1400" kern="100" dirty="0">
              <a:effectLst/>
              <a:latin typeface="Times New Roman" panose="02020603050405020304" pitchFamily="18" charset="0"/>
              <a:ea typeface="宋体" panose="02010600030101010101" pitchFamily="2" charset="-122"/>
            </a:endParaRPr>
          </a:p>
          <a:p>
            <a:pPr indent="228600" algn="just"/>
            <a:r>
              <a:rPr lang="en-US" altLang="zh-CN" sz="1400" kern="100" dirty="0">
                <a:effectLst/>
                <a:latin typeface="Times New Roman" panose="02020603050405020304" pitchFamily="18" charset="0"/>
                <a:ea typeface="宋体" panose="02010600030101010101" pitchFamily="2" charset="-122"/>
              </a:rPr>
              <a:t>if (token </a:t>
            </a:r>
            <a:r>
              <a:rPr lang="zh-CN" altLang="zh-CN" sz="1400" kern="100" dirty="0">
                <a:effectLst/>
                <a:latin typeface="Times New Roman" panose="02020603050405020304" pitchFamily="18" charset="0"/>
                <a:ea typeface="宋体" panose="02010600030101010101" pitchFamily="2" charset="-122"/>
              </a:rPr>
              <a:t>不是</a:t>
            </a:r>
            <a:r>
              <a:rPr lang="en-US" altLang="zh-CN" sz="1400" kern="100" dirty="0">
                <a:effectLst/>
                <a:latin typeface="Times New Roman" panose="02020603050405020304" pitchFamily="18" charset="0"/>
                <a:ea typeface="宋体" panose="02010600030101010101" pitchFamily="2" charset="-122"/>
              </a:rPr>
              <a:t>  ''('' ) </a:t>
            </a:r>
            <a:r>
              <a:rPr lang="en-US" altLang="zh-CN" sz="1400" kern="100" dirty="0" err="1">
                <a:effectLst/>
                <a:latin typeface="Times New Roman" panose="02020603050405020304" pitchFamily="18" charset="0"/>
                <a:ea typeface="宋体" panose="02010600030101010101" pitchFamily="2" charset="-122"/>
              </a:rPr>
              <a:t>SyntaxError</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调用错误处理</a:t>
            </a:r>
          </a:p>
          <a:p>
            <a:pPr indent="2286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pPr indent="228600" algn="just"/>
            <a:r>
              <a:rPr lang="en-US" altLang="zh-CN" sz="1400" b="1" kern="100" dirty="0" err="1">
                <a:solidFill>
                  <a:srgbClr val="FF0000"/>
                </a:solidFill>
                <a:effectLst/>
                <a:latin typeface="Times New Roman" panose="02020603050405020304" pitchFamily="18" charset="0"/>
                <a:ea typeface="宋体" panose="02010600030101010101" pitchFamily="2" charset="-122"/>
              </a:rPr>
              <a:t>ExpressionAnalyzer</a:t>
            </a:r>
            <a:r>
              <a:rPr lang="en-US" altLang="zh-CN" sz="1400" b="1" kern="100" dirty="0">
                <a:solidFill>
                  <a:srgbClr val="FF0000"/>
                </a:solidFill>
                <a:effectLst/>
                <a:latin typeface="Times New Roman" panose="02020603050405020304" pitchFamily="18" charset="0"/>
                <a:ea typeface="宋体" panose="02010600030101010101" pitchFamily="2" charset="-122"/>
              </a:rPr>
              <a:t>()</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调用分析表达式的函数</a:t>
            </a:r>
          </a:p>
          <a:p>
            <a:pPr indent="2286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pPr indent="228600" algn="just"/>
            <a:r>
              <a:rPr lang="en-US" altLang="zh-CN" sz="1400" kern="100" dirty="0">
                <a:effectLst/>
                <a:latin typeface="Times New Roman" panose="02020603050405020304" pitchFamily="18" charset="0"/>
                <a:ea typeface="宋体" panose="02010600030101010101" pitchFamily="2" charset="-122"/>
              </a:rPr>
              <a:t>if (token </a:t>
            </a:r>
            <a:r>
              <a:rPr lang="zh-CN" altLang="zh-CN" sz="1400" kern="100" dirty="0">
                <a:effectLst/>
                <a:latin typeface="Times New Roman" panose="02020603050405020304" pitchFamily="18" charset="0"/>
                <a:ea typeface="宋体" panose="02010600030101010101" pitchFamily="2" charset="-122"/>
              </a:rPr>
              <a:t>不是</a:t>
            </a:r>
            <a:r>
              <a:rPr lang="en-US" altLang="zh-CN" sz="1400" kern="100" dirty="0">
                <a:effectLst/>
                <a:latin typeface="Times New Roman" panose="02020603050405020304" pitchFamily="18" charset="0"/>
                <a:ea typeface="宋体" panose="02010600030101010101" pitchFamily="2" charset="-122"/>
              </a:rPr>
              <a:t>  '')'' ) </a:t>
            </a:r>
            <a:r>
              <a:rPr lang="en-US" altLang="zh-CN" sz="1400" kern="100" dirty="0" err="1">
                <a:effectLst/>
                <a:latin typeface="Times New Roman" panose="02020603050405020304" pitchFamily="18" charset="0"/>
                <a:ea typeface="宋体" panose="02010600030101010101" pitchFamily="2" charset="-122"/>
              </a:rPr>
              <a:t>SyntaxError</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调用错误处理</a:t>
            </a:r>
          </a:p>
          <a:p>
            <a:pPr indent="228600" algn="just"/>
            <a:r>
              <a:rPr lang="en-US" altLang="zh-CN" sz="1400" b="1" kern="100" dirty="0" err="1">
                <a:solidFill>
                  <a:srgbClr val="FF0000"/>
                </a:solidFill>
                <a:effectLst/>
                <a:latin typeface="Times New Roman" panose="02020603050405020304" pitchFamily="18" charset="0"/>
                <a:ea typeface="宋体" panose="02010600030101010101" pitchFamily="2" charset="-122"/>
              </a:rPr>
              <a:t>StatementAnalyzer</a:t>
            </a:r>
            <a:r>
              <a:rPr lang="en-US" altLang="zh-CN" sz="1400" b="1" kern="100" dirty="0">
                <a:solidFill>
                  <a:srgbClr val="FF0000"/>
                </a:solidFill>
                <a:effectLst/>
                <a:latin typeface="Times New Roman" panose="02020603050405020304" pitchFamily="18" charset="0"/>
                <a:ea typeface="宋体" panose="02010600030101010101" pitchFamily="2" charset="-122"/>
              </a:rPr>
              <a:t>()</a:t>
            </a:r>
            <a:r>
              <a:rPr lang="en-US" altLang="zh-CN" sz="1400" kern="100" dirty="0">
                <a:effectLst/>
                <a:latin typeface="Times New Roman" panose="02020603050405020304" pitchFamily="18" charset="0"/>
                <a:ea typeface="宋体" panose="02010600030101010101" pitchFamily="2" charset="-122"/>
              </a:rPr>
              <a:t>;//</a:t>
            </a:r>
            <a:r>
              <a:rPr lang="zh-CN" altLang="zh-CN" sz="1400" kern="100" dirty="0">
                <a:effectLst/>
                <a:latin typeface="Times New Roman" panose="02020603050405020304" pitchFamily="18" charset="0"/>
                <a:ea typeface="宋体" panose="02010600030101010101" pitchFamily="2" charset="-122"/>
              </a:rPr>
              <a:t>处理语句</a:t>
            </a:r>
          </a:p>
          <a:p>
            <a:pPr indent="2286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pPr indent="228600" algn="just"/>
            <a:r>
              <a:rPr lang="en-US" altLang="zh-CN" sz="1400" kern="100" dirty="0">
                <a:effectLst/>
                <a:latin typeface="Times New Roman" panose="02020603050405020304" pitchFamily="18" charset="0"/>
                <a:ea typeface="宋体" panose="02010600030101010101" pitchFamily="2" charset="-122"/>
              </a:rPr>
              <a:t>if(token </a:t>
            </a:r>
            <a:r>
              <a:rPr lang="zh-CN" altLang="zh-CN" sz="1400" kern="100" dirty="0">
                <a:effectLst/>
                <a:latin typeface="Times New Roman" panose="02020603050405020304" pitchFamily="18" charset="0"/>
                <a:ea typeface="宋体" panose="02010600030101010101" pitchFamily="2" charset="-122"/>
              </a:rPr>
              <a:t>是</a:t>
            </a:r>
            <a:r>
              <a:rPr lang="en-US" altLang="zh-CN" sz="1400" kern="100" dirty="0">
                <a:effectLst/>
                <a:latin typeface="Times New Roman" panose="02020603050405020304" pitchFamily="18" charset="0"/>
                <a:ea typeface="宋体" panose="02010600030101010101" pitchFamily="2" charset="-122"/>
              </a:rPr>
              <a:t> "else") {  /* </a:t>
            </a:r>
            <a:r>
              <a:rPr lang="zh-CN" altLang="zh-CN" sz="1400" kern="100" dirty="0">
                <a:effectLst/>
                <a:latin typeface="Times New Roman" panose="02020603050405020304" pitchFamily="18" charset="0"/>
                <a:ea typeface="宋体" panose="02010600030101010101" pitchFamily="2" charset="-122"/>
              </a:rPr>
              <a:t>带有</a:t>
            </a:r>
            <a:r>
              <a:rPr lang="en-US" altLang="zh-CN" sz="1400" kern="100" dirty="0">
                <a:effectLst/>
                <a:latin typeface="Times New Roman" panose="02020603050405020304" pitchFamily="18" charset="0"/>
                <a:ea typeface="宋体" panose="02010600030101010101" pitchFamily="2" charset="-122"/>
              </a:rPr>
              <a:t>else</a:t>
            </a:r>
            <a:r>
              <a:rPr lang="zh-CN" altLang="zh-CN" sz="1400" kern="100" dirty="0">
                <a:effectLst/>
                <a:latin typeface="Times New Roman" panose="02020603050405020304" pitchFamily="18" charset="0"/>
                <a:ea typeface="宋体" panose="02010600030101010101" pitchFamily="2" charset="-122"/>
              </a:rPr>
              <a:t>部分时处理</a:t>
            </a:r>
            <a:r>
              <a:rPr lang="en-US" altLang="zh-CN" sz="1400" kern="100" dirty="0">
                <a:effectLst/>
                <a:latin typeface="Times New Roman" panose="02020603050405020304" pitchFamily="18" charset="0"/>
                <a:ea typeface="宋体" panose="02010600030101010101" pitchFamily="2" charset="-122"/>
              </a:rPr>
              <a:t>else</a:t>
            </a:r>
            <a:r>
              <a:rPr lang="zh-CN" altLang="zh-CN" sz="1400" kern="100" dirty="0">
                <a:effectLst/>
                <a:latin typeface="Times New Roman" panose="02020603050405020304" pitchFamily="18" charset="0"/>
                <a:ea typeface="宋体" panose="02010600030101010101" pitchFamily="2" charset="-122"/>
              </a:rPr>
              <a:t>部分</a:t>
            </a:r>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pPr indent="457200" algn="just"/>
            <a:r>
              <a:rPr lang="en-US" altLang="zh-CN" sz="1400" kern="100" dirty="0">
                <a:effectLst/>
                <a:latin typeface="Times New Roman" panose="02020603050405020304" pitchFamily="18" charset="0"/>
                <a:ea typeface="宋体" panose="02010600030101010101" pitchFamily="2" charset="-122"/>
              </a:rPr>
              <a:t>token = </a:t>
            </a:r>
            <a:r>
              <a:rPr lang="en-US" altLang="zh-CN" sz="1400" kern="100" dirty="0" err="1">
                <a:effectLst/>
                <a:latin typeface="Times New Roman" panose="02020603050405020304" pitchFamily="18" charset="0"/>
                <a:ea typeface="宋体" panose="02010600030101010101" pitchFamily="2" charset="-122"/>
              </a:rPr>
              <a:t>GetNextToken</a:t>
            </a:r>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pPr indent="457200" algn="just"/>
            <a:r>
              <a:rPr lang="en-US" altLang="zh-CN" sz="1400" b="1" kern="100" dirty="0" err="1">
                <a:solidFill>
                  <a:srgbClr val="FF0000"/>
                </a:solidFill>
                <a:effectLst/>
                <a:latin typeface="Times New Roman" panose="02020603050405020304" pitchFamily="18" charset="0"/>
                <a:ea typeface="宋体" panose="02010600030101010101" pitchFamily="2" charset="-122"/>
              </a:rPr>
              <a:t>StatementAnalyzer</a:t>
            </a:r>
            <a:r>
              <a:rPr lang="en-US" altLang="zh-CN" sz="1400" b="1" kern="100" dirty="0">
                <a:solidFill>
                  <a:srgbClr val="FF0000"/>
                </a:solidFill>
                <a:effectLst/>
                <a:latin typeface="Times New Roman" panose="02020603050405020304" pitchFamily="18" charset="0"/>
                <a:ea typeface="宋体" panose="02010600030101010101" pitchFamily="2" charset="-122"/>
              </a:rPr>
              <a:t>()</a:t>
            </a:r>
            <a:r>
              <a:rPr lang="en-US" altLang="zh-CN" sz="1400" kern="100" dirty="0">
                <a:effectLst/>
                <a:latin typeface="Times New Roman" panose="02020603050405020304" pitchFamily="18" charset="0"/>
                <a:ea typeface="宋体" panose="02010600030101010101" pitchFamily="2" charset="-122"/>
              </a:rPr>
              <a:t>;  //</a:t>
            </a:r>
            <a:r>
              <a:rPr lang="zh-CN" altLang="zh-CN" sz="1400" kern="100" dirty="0">
                <a:effectLst/>
                <a:latin typeface="Times New Roman" panose="02020603050405020304" pitchFamily="18" charset="0"/>
                <a:ea typeface="宋体" panose="02010600030101010101" pitchFamily="2" charset="-122"/>
              </a:rPr>
              <a:t>处理</a:t>
            </a:r>
            <a:r>
              <a:rPr lang="en-US" altLang="zh-CN" sz="1400" kern="100" dirty="0">
                <a:effectLst/>
                <a:latin typeface="Times New Roman" panose="02020603050405020304" pitchFamily="18" charset="0"/>
                <a:ea typeface="宋体" panose="02010600030101010101" pitchFamily="2" charset="-122"/>
              </a:rPr>
              <a:t>else</a:t>
            </a:r>
            <a:r>
              <a:rPr lang="zh-CN" altLang="zh-CN" sz="1400" kern="100" dirty="0">
                <a:effectLst/>
                <a:latin typeface="Times New Roman" panose="02020603050405020304" pitchFamily="18" charset="0"/>
                <a:ea typeface="宋体" panose="02010600030101010101" pitchFamily="2" charset="-122"/>
              </a:rPr>
              <a:t>后的语句</a:t>
            </a:r>
          </a:p>
          <a:p>
            <a:pPr indent="228600" algn="just"/>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effectLst/>
              <a:latin typeface="Times New Roman" panose="02020603050405020304" pitchFamily="18" charset="0"/>
              <a:ea typeface="宋体" panose="02010600030101010101" pitchFamily="2" charset="-122"/>
            </a:endParaRPr>
          </a:p>
          <a:p>
            <a:r>
              <a:rPr lang="en-US" altLang="zh-CN" sz="1400" kern="100" dirty="0">
                <a:effectLst/>
                <a:latin typeface="Times New Roman" panose="02020603050405020304" pitchFamily="18" charset="0"/>
                <a:ea typeface="宋体" panose="02010600030101010101" pitchFamily="2" charset="-122"/>
              </a:rPr>
              <a:t>}</a:t>
            </a:r>
            <a:endParaRPr lang="zh-CN" altLang="zh-CN" sz="1400" kern="100" dirty="0">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52118158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a:xfrm>
            <a:off x="384175" y="265113"/>
            <a:ext cx="8448675" cy="1443037"/>
          </a:xfrm>
        </p:spPr>
        <p:txBody>
          <a:bodyPr>
            <a:normAutofit/>
          </a:bodyPr>
          <a:lstStyle/>
          <a:p>
            <a:pPr algn="l" eaLnBrk="1" hangingPunct="1"/>
            <a:r>
              <a:rPr lang="zh-CN" altLang="en-US" sz="2000" dirty="0">
                <a:solidFill>
                  <a:srgbClr val="FF0000"/>
                </a:solidFill>
              </a:rPr>
              <a:t>假定</a:t>
            </a:r>
            <a:r>
              <a:rPr lang="zh-CN" altLang="en-US" sz="2000" dirty="0"/>
              <a:t>找到的相应于非终结符</a:t>
            </a:r>
            <a:r>
              <a:rPr lang="en-US" altLang="zh-CN" sz="2000" b="1" dirty="0">
                <a:solidFill>
                  <a:schemeClr val="accent1"/>
                </a:solidFill>
              </a:rPr>
              <a:t>&lt;</a:t>
            </a:r>
            <a:r>
              <a:rPr lang="zh-CN" altLang="en-US" sz="2000" b="1" dirty="0">
                <a:solidFill>
                  <a:schemeClr val="accent1"/>
                </a:solidFill>
              </a:rPr>
              <a:t>表达式</a:t>
            </a:r>
            <a:r>
              <a:rPr lang="en-US" altLang="zh-CN" sz="2000" b="1" dirty="0">
                <a:solidFill>
                  <a:schemeClr val="accent1"/>
                </a:solidFill>
              </a:rPr>
              <a:t>&gt;</a:t>
            </a:r>
            <a:r>
              <a:rPr lang="zh-CN" altLang="en-US" sz="2000" dirty="0"/>
              <a:t>，有产生式：</a:t>
            </a:r>
            <a:br>
              <a:rPr lang="zh-CN" altLang="en-US" sz="2000" dirty="0"/>
            </a:br>
            <a:r>
              <a:rPr lang="zh-CN" altLang="en-US" sz="2000" dirty="0"/>
              <a:t>          </a:t>
            </a:r>
            <a:r>
              <a:rPr lang="en-US" altLang="zh-CN" sz="2000" b="1" dirty="0">
                <a:solidFill>
                  <a:schemeClr val="accent1"/>
                </a:solidFill>
              </a:rPr>
              <a:t>&lt;</a:t>
            </a:r>
            <a:r>
              <a:rPr lang="zh-CN" altLang="en-US" sz="2000" b="1" dirty="0">
                <a:solidFill>
                  <a:schemeClr val="accent1"/>
                </a:solidFill>
              </a:rPr>
              <a:t>表达式</a:t>
            </a:r>
            <a:r>
              <a:rPr lang="en-US" altLang="zh-CN" sz="2000" b="1" dirty="0">
                <a:solidFill>
                  <a:schemeClr val="accent1"/>
                </a:solidFill>
              </a:rPr>
              <a:t>&gt; </a:t>
            </a:r>
            <a:r>
              <a:rPr lang="zh-CN" altLang="en-US" sz="2000" b="1" dirty="0">
                <a:solidFill>
                  <a:schemeClr val="accent1"/>
                </a:solidFill>
              </a:rPr>
              <a:t>→</a:t>
            </a:r>
            <a:r>
              <a:rPr lang="en-US" altLang="zh-CN" sz="2000" b="1" dirty="0">
                <a:solidFill>
                  <a:schemeClr val="accent1"/>
                </a:solidFill>
              </a:rPr>
              <a:t> &lt;</a:t>
            </a:r>
            <a:r>
              <a:rPr lang="zh-CN" altLang="en-US" sz="2000" b="1" dirty="0">
                <a:solidFill>
                  <a:schemeClr val="accent1"/>
                </a:solidFill>
              </a:rPr>
              <a:t>变量</a:t>
            </a:r>
            <a:r>
              <a:rPr lang="en-US" altLang="zh-CN" sz="2000" b="1" dirty="0">
                <a:solidFill>
                  <a:schemeClr val="accent1"/>
                </a:solidFill>
              </a:rPr>
              <a:t>&gt;&lt;</a:t>
            </a:r>
            <a:r>
              <a:rPr lang="zh-CN" altLang="en-US" sz="2000" b="1" dirty="0">
                <a:solidFill>
                  <a:schemeClr val="accent1"/>
                </a:solidFill>
              </a:rPr>
              <a:t>关系符</a:t>
            </a:r>
            <a:r>
              <a:rPr lang="en-US" altLang="zh-CN" sz="2000" b="1" dirty="0">
                <a:solidFill>
                  <a:schemeClr val="accent1"/>
                </a:solidFill>
              </a:rPr>
              <a:t>&gt;&lt;</a:t>
            </a:r>
            <a:r>
              <a:rPr lang="zh-CN" altLang="en-US" sz="2000" b="1" dirty="0">
                <a:solidFill>
                  <a:schemeClr val="accent1"/>
                </a:solidFill>
              </a:rPr>
              <a:t>变量</a:t>
            </a:r>
            <a:r>
              <a:rPr lang="en-US" altLang="zh-CN" sz="2000" b="1" dirty="0">
                <a:solidFill>
                  <a:schemeClr val="accent1"/>
                </a:solidFill>
              </a:rPr>
              <a:t>&gt;</a:t>
            </a:r>
            <a:br>
              <a:rPr lang="en-US" altLang="zh-CN" sz="2000" b="1" dirty="0">
                <a:solidFill>
                  <a:schemeClr val="accent1"/>
                </a:solidFill>
              </a:rPr>
            </a:br>
            <a:r>
              <a:rPr lang="en-US" altLang="zh-CN" sz="2000" b="1" dirty="0">
                <a:solidFill>
                  <a:schemeClr val="accent1"/>
                </a:solidFill>
              </a:rPr>
              <a:t>          &lt;</a:t>
            </a:r>
            <a:r>
              <a:rPr lang="zh-CN" altLang="en-US" sz="2000" b="1" dirty="0">
                <a:solidFill>
                  <a:schemeClr val="accent1"/>
                </a:solidFill>
              </a:rPr>
              <a:t>关系符</a:t>
            </a:r>
            <a:r>
              <a:rPr lang="en-US" altLang="zh-CN" sz="2000" b="1" dirty="0">
                <a:solidFill>
                  <a:schemeClr val="accent1"/>
                </a:solidFill>
              </a:rPr>
              <a:t>&gt; </a:t>
            </a:r>
            <a:r>
              <a:rPr lang="zh-CN" altLang="en-US" sz="2000" b="1" dirty="0">
                <a:solidFill>
                  <a:schemeClr val="accent1"/>
                </a:solidFill>
              </a:rPr>
              <a:t>→</a:t>
            </a:r>
            <a:r>
              <a:rPr lang="en-US" altLang="zh-CN" sz="2000" b="1" dirty="0">
                <a:solidFill>
                  <a:schemeClr val="accent1"/>
                </a:solidFill>
              </a:rPr>
              <a:t> &lt; | &gt; | &lt;&gt; | &lt;= |  &gt;= | = </a:t>
            </a:r>
            <a:br>
              <a:rPr lang="en-US" altLang="zh-CN" sz="2000" b="1" dirty="0">
                <a:solidFill>
                  <a:schemeClr val="accent1"/>
                </a:solidFill>
              </a:rPr>
            </a:br>
            <a:r>
              <a:rPr lang="en-US" altLang="zh-CN" sz="2000" dirty="0"/>
              <a:t>&lt;</a:t>
            </a:r>
            <a:r>
              <a:rPr lang="zh-CN" altLang="en-US" sz="2000" dirty="0"/>
              <a:t>表达式</a:t>
            </a:r>
            <a:r>
              <a:rPr lang="en-US" altLang="zh-CN" sz="2000" dirty="0"/>
              <a:t>&gt;</a:t>
            </a:r>
            <a:r>
              <a:rPr lang="zh-CN" altLang="en-US" sz="2000" dirty="0"/>
              <a:t>的函数可描述为：</a:t>
            </a:r>
          </a:p>
        </p:txBody>
      </p:sp>
      <p:sp>
        <p:nvSpPr>
          <p:cNvPr id="283651" name="Rectangle 3"/>
          <p:cNvSpPr>
            <a:spLocks noGrp="1" noChangeArrowheads="1"/>
          </p:cNvSpPr>
          <p:nvPr>
            <p:ph type="body" idx="1"/>
          </p:nvPr>
        </p:nvSpPr>
        <p:spPr>
          <a:xfrm>
            <a:off x="384175" y="1846263"/>
            <a:ext cx="8220273" cy="2381671"/>
          </a:xfrm>
        </p:spPr>
        <p:style>
          <a:lnRef idx="2">
            <a:schemeClr val="accent1"/>
          </a:lnRef>
          <a:fillRef idx="1">
            <a:schemeClr val="lt1"/>
          </a:fillRef>
          <a:effectRef idx="0">
            <a:schemeClr val="accent1"/>
          </a:effectRef>
          <a:fontRef idx="minor">
            <a:schemeClr val="dk1"/>
          </a:fontRef>
        </p:style>
        <p:txBody>
          <a:bodyPr>
            <a:normAutofit/>
          </a:bodyPr>
          <a:lstStyle/>
          <a:p>
            <a:pPr eaLnBrk="1" hangingPunct="1">
              <a:lnSpc>
                <a:spcPct val="90000"/>
              </a:lnSpc>
              <a:spcBef>
                <a:spcPct val="0"/>
              </a:spcBef>
              <a:buFontTx/>
              <a:buNone/>
              <a:defRPr/>
            </a:pPr>
            <a:r>
              <a:rPr lang="en-US" altLang="zh-CN" sz="2000" kern="100" dirty="0" err="1">
                <a:solidFill>
                  <a:srgbClr val="FF0000"/>
                </a:solidFill>
              </a:rPr>
              <a:t>ExpressionAnalyzer</a:t>
            </a:r>
            <a:r>
              <a:rPr lang="en-US" altLang="zh-CN" sz="2000" kern="100" dirty="0">
                <a:solidFill>
                  <a:srgbClr val="FF0000"/>
                </a:solidFill>
              </a:rPr>
              <a:t>()</a:t>
            </a:r>
            <a:r>
              <a:rPr lang="en-US" altLang="zh-CN" sz="2000" b="1" dirty="0">
                <a:solidFill>
                  <a:schemeClr val="accent2"/>
                </a:solidFill>
                <a:ea typeface="华文行楷" pitchFamily="2" charset="-122"/>
              </a:rPr>
              <a:t>{</a:t>
            </a:r>
          </a:p>
          <a:p>
            <a:pPr eaLnBrk="1" hangingPunct="1">
              <a:lnSpc>
                <a:spcPct val="90000"/>
              </a:lnSpc>
              <a:spcBef>
                <a:spcPct val="0"/>
              </a:spcBef>
              <a:buFontTx/>
              <a:buNone/>
              <a:defRPr/>
            </a:pPr>
            <a:r>
              <a:rPr lang="en-US" altLang="zh-CN" sz="2000" b="1" dirty="0">
                <a:solidFill>
                  <a:schemeClr val="accent2"/>
                </a:solidFill>
                <a:ea typeface="华文行楷" pitchFamily="2" charset="-122"/>
              </a:rPr>
              <a:t>	</a:t>
            </a:r>
            <a:r>
              <a:rPr lang="en-US" altLang="zh-CN" sz="2000" dirty="0">
                <a:solidFill>
                  <a:schemeClr val="accent2"/>
                </a:solidFill>
                <a:ea typeface="华文行楷" pitchFamily="2" charset="-122"/>
              </a:rPr>
              <a:t>token = </a:t>
            </a:r>
            <a:r>
              <a:rPr lang="en-US" altLang="zh-CN" sz="2000" kern="100" dirty="0" err="1"/>
              <a:t>GetNextToken</a:t>
            </a:r>
            <a:r>
              <a:rPr lang="en-US" altLang="zh-CN" sz="2000" kern="100" dirty="0"/>
              <a:t> </a:t>
            </a:r>
            <a:r>
              <a:rPr lang="en-US" altLang="zh-CN" sz="2000" dirty="0">
                <a:solidFill>
                  <a:schemeClr val="accent2"/>
                </a:solidFill>
                <a:ea typeface="华文行楷" pitchFamily="2" charset="-122"/>
              </a:rPr>
              <a:t>();</a:t>
            </a:r>
          </a:p>
          <a:p>
            <a:pPr eaLnBrk="1" hangingPunct="1">
              <a:lnSpc>
                <a:spcPct val="90000"/>
              </a:lnSpc>
              <a:spcBef>
                <a:spcPct val="0"/>
              </a:spcBef>
              <a:buFontTx/>
              <a:buNone/>
              <a:defRPr/>
            </a:pPr>
            <a:r>
              <a:rPr lang="en-US" altLang="zh-CN" sz="2000" dirty="0">
                <a:solidFill>
                  <a:schemeClr val="accent2"/>
                </a:solidFill>
                <a:ea typeface="华文行楷" pitchFamily="2" charset="-122"/>
              </a:rPr>
              <a:t>	</a:t>
            </a:r>
            <a:r>
              <a:rPr lang="en-US" altLang="zh-CN" sz="2000" dirty="0" err="1">
                <a:solidFill>
                  <a:srgbClr val="FF3300"/>
                </a:solidFill>
                <a:effectLst>
                  <a:outerShdw blurRad="38100" dist="38100" dir="2700000" algn="tl">
                    <a:srgbClr val="C0C0C0"/>
                  </a:outerShdw>
                </a:effectLst>
                <a:ea typeface="华文行楷" pitchFamily="2" charset="-122"/>
              </a:rPr>
              <a:t>isVarible</a:t>
            </a:r>
            <a:r>
              <a:rPr lang="en-US" altLang="zh-CN" sz="2000" dirty="0">
                <a:solidFill>
                  <a:srgbClr val="FF3300"/>
                </a:solidFill>
                <a:effectLst>
                  <a:outerShdw blurRad="38100" dist="38100" dir="2700000" algn="tl">
                    <a:srgbClr val="C0C0C0"/>
                  </a:outerShdw>
                </a:effectLst>
                <a:ea typeface="华文行楷" pitchFamily="2" charset="-122"/>
              </a:rPr>
              <a:t>(token);</a:t>
            </a:r>
          </a:p>
          <a:p>
            <a:pPr eaLnBrk="1" hangingPunct="1">
              <a:lnSpc>
                <a:spcPct val="90000"/>
              </a:lnSpc>
              <a:spcBef>
                <a:spcPct val="0"/>
              </a:spcBef>
              <a:buFontTx/>
              <a:buNone/>
              <a:defRPr/>
            </a:pPr>
            <a:r>
              <a:rPr lang="en-US" altLang="zh-CN" sz="2000" dirty="0">
                <a:solidFill>
                  <a:schemeClr val="accent2"/>
                </a:solidFill>
                <a:ea typeface="华文行楷" pitchFamily="2" charset="-122"/>
              </a:rPr>
              <a:t>	token = </a:t>
            </a:r>
            <a:r>
              <a:rPr lang="en-US" altLang="zh-CN" sz="2000" kern="100" dirty="0" err="1"/>
              <a:t>GetNextToken</a:t>
            </a:r>
            <a:r>
              <a:rPr lang="en-US" altLang="zh-CN" sz="2000" kern="100" dirty="0"/>
              <a:t> </a:t>
            </a:r>
            <a:r>
              <a:rPr lang="en-US" altLang="zh-CN" sz="2000" dirty="0">
                <a:solidFill>
                  <a:schemeClr val="accent2"/>
                </a:solidFill>
                <a:ea typeface="华文行楷" pitchFamily="2" charset="-122"/>
              </a:rPr>
              <a:t>();</a:t>
            </a:r>
          </a:p>
          <a:p>
            <a:pPr eaLnBrk="1" hangingPunct="1">
              <a:lnSpc>
                <a:spcPct val="90000"/>
              </a:lnSpc>
              <a:spcBef>
                <a:spcPct val="0"/>
              </a:spcBef>
              <a:buFontTx/>
              <a:buNone/>
              <a:defRPr/>
            </a:pPr>
            <a:r>
              <a:rPr lang="en-US" altLang="zh-CN" sz="2000" dirty="0">
                <a:solidFill>
                  <a:schemeClr val="accent2"/>
                </a:solidFill>
                <a:ea typeface="华文行楷" pitchFamily="2" charset="-122"/>
              </a:rPr>
              <a:t>	if  (token  not in {</a:t>
            </a:r>
            <a:r>
              <a:rPr lang="en-US" altLang="zh-CN" sz="2000" dirty="0"/>
              <a:t>&lt; | &gt; | &lt;&gt; | &lt;= |  &gt;= | = </a:t>
            </a:r>
            <a:r>
              <a:rPr lang="en-US" altLang="zh-CN" sz="2000" dirty="0">
                <a:solidFill>
                  <a:schemeClr val="accent2"/>
                </a:solidFill>
                <a:ea typeface="华文行楷" pitchFamily="2" charset="-122"/>
              </a:rPr>
              <a:t>})  </a:t>
            </a:r>
            <a:r>
              <a:rPr lang="en-US" altLang="zh-CN" sz="2000" kern="100" dirty="0" err="1"/>
              <a:t>SyntaxError</a:t>
            </a:r>
            <a:r>
              <a:rPr lang="en-US" altLang="zh-CN" sz="2000" kern="100" dirty="0"/>
              <a:t>()</a:t>
            </a:r>
            <a:r>
              <a:rPr lang="en-US" altLang="zh-CN" sz="2000" dirty="0">
                <a:solidFill>
                  <a:schemeClr val="accent2"/>
                </a:solidFill>
                <a:ea typeface="华文行楷" pitchFamily="2" charset="-122"/>
              </a:rPr>
              <a:t>;</a:t>
            </a:r>
          </a:p>
          <a:p>
            <a:pPr eaLnBrk="1" hangingPunct="1">
              <a:lnSpc>
                <a:spcPct val="90000"/>
              </a:lnSpc>
              <a:spcBef>
                <a:spcPct val="0"/>
              </a:spcBef>
              <a:buFontTx/>
              <a:buNone/>
              <a:defRPr/>
            </a:pPr>
            <a:r>
              <a:rPr lang="en-US" altLang="zh-CN" sz="2000" dirty="0">
                <a:solidFill>
                  <a:schemeClr val="accent2"/>
                </a:solidFill>
                <a:ea typeface="华文行楷" pitchFamily="2" charset="-122"/>
              </a:rPr>
              <a:t>	token = </a:t>
            </a:r>
            <a:r>
              <a:rPr lang="en-US" altLang="zh-CN" sz="2000" kern="100" dirty="0" err="1"/>
              <a:t>GetNextToken</a:t>
            </a:r>
            <a:r>
              <a:rPr lang="en-US" altLang="zh-CN" sz="2000" kern="100" dirty="0"/>
              <a:t> </a:t>
            </a:r>
            <a:r>
              <a:rPr lang="en-US" altLang="zh-CN" sz="2000" dirty="0">
                <a:solidFill>
                  <a:schemeClr val="accent2"/>
                </a:solidFill>
                <a:ea typeface="华文行楷" pitchFamily="2" charset="-122"/>
              </a:rPr>
              <a:t>();</a:t>
            </a:r>
          </a:p>
          <a:p>
            <a:pPr eaLnBrk="1" hangingPunct="1">
              <a:lnSpc>
                <a:spcPct val="90000"/>
              </a:lnSpc>
              <a:spcBef>
                <a:spcPct val="0"/>
              </a:spcBef>
              <a:buFontTx/>
              <a:buNone/>
              <a:defRPr/>
            </a:pPr>
            <a:r>
              <a:rPr lang="en-US" altLang="zh-CN" sz="2000" dirty="0">
                <a:solidFill>
                  <a:schemeClr val="accent2"/>
                </a:solidFill>
                <a:ea typeface="华文行楷" pitchFamily="2" charset="-122"/>
              </a:rPr>
              <a:t>	</a:t>
            </a:r>
            <a:r>
              <a:rPr lang="en-US" altLang="zh-CN" sz="2000" dirty="0" err="1">
                <a:solidFill>
                  <a:srgbClr val="FF3300"/>
                </a:solidFill>
                <a:effectLst>
                  <a:outerShdw blurRad="38100" dist="38100" dir="2700000" algn="tl">
                    <a:srgbClr val="C0C0C0"/>
                  </a:outerShdw>
                </a:effectLst>
                <a:ea typeface="华文行楷" pitchFamily="2" charset="-122"/>
              </a:rPr>
              <a:t>isVarible</a:t>
            </a:r>
            <a:r>
              <a:rPr lang="en-US" altLang="zh-CN" sz="2000" dirty="0">
                <a:solidFill>
                  <a:srgbClr val="FF3300"/>
                </a:solidFill>
                <a:effectLst>
                  <a:outerShdw blurRad="38100" dist="38100" dir="2700000" algn="tl">
                    <a:srgbClr val="C0C0C0"/>
                  </a:outerShdw>
                </a:effectLst>
                <a:ea typeface="华文行楷" pitchFamily="2" charset="-122"/>
              </a:rPr>
              <a:t>(token);</a:t>
            </a:r>
          </a:p>
          <a:p>
            <a:pPr eaLnBrk="1" hangingPunct="1">
              <a:lnSpc>
                <a:spcPct val="90000"/>
              </a:lnSpc>
              <a:spcBef>
                <a:spcPct val="0"/>
              </a:spcBef>
              <a:buFontTx/>
              <a:buNone/>
              <a:defRPr/>
            </a:pPr>
            <a:r>
              <a:rPr lang="en-US" altLang="zh-CN" sz="2000" dirty="0">
                <a:solidFill>
                  <a:schemeClr val="accent2"/>
                </a:solidFill>
                <a:ea typeface="华文行楷" pitchFamily="2" charset="-122"/>
              </a:rPr>
              <a:t>   }</a:t>
            </a:r>
            <a:endParaRPr lang="en-US" altLang="zh-CN" sz="2000" dirty="0"/>
          </a:p>
        </p:txBody>
      </p:sp>
    </p:spTree>
    <p:extLst>
      <p:ext uri="{BB962C8B-B14F-4D97-AF65-F5344CB8AC3E}">
        <p14:creationId xmlns:p14="http://schemas.microsoft.com/office/powerpoint/2010/main" val="5375712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3"/>
          <p:cNvSpPr>
            <a:spLocks noGrp="1" noChangeArrowheads="1"/>
          </p:cNvSpPr>
          <p:nvPr>
            <p:ph type="body" idx="1"/>
          </p:nvPr>
        </p:nvSpPr>
        <p:spPr>
          <a:xfrm>
            <a:off x="250825" y="171450"/>
            <a:ext cx="8207375" cy="749300"/>
          </a:xfrm>
        </p:spPr>
        <p:txBody>
          <a:bodyPr/>
          <a:lstStyle/>
          <a:p>
            <a:pPr eaLnBrk="1" hangingPunct="1">
              <a:buFontTx/>
              <a:buNone/>
            </a:pPr>
            <a:r>
              <a:rPr lang="zh-CN" altLang="en-US"/>
              <a:t>练习：请写出</a:t>
            </a:r>
            <a:r>
              <a:rPr lang="en-US" altLang="zh-CN"/>
              <a:t>for</a:t>
            </a:r>
            <a:r>
              <a:rPr lang="zh-CN" altLang="en-US"/>
              <a:t>语句的递归下降的分析程序：</a:t>
            </a:r>
          </a:p>
        </p:txBody>
      </p:sp>
      <p:sp>
        <p:nvSpPr>
          <p:cNvPr id="90115" name="Rectangle 4"/>
          <p:cNvSpPr>
            <a:spLocks noChangeArrowheads="1"/>
          </p:cNvSpPr>
          <p:nvPr/>
        </p:nvSpPr>
        <p:spPr bwMode="auto">
          <a:xfrm>
            <a:off x="481013" y="850900"/>
            <a:ext cx="6539259" cy="1674305"/>
          </a:xfrm>
          <a:prstGeom prst="rect">
            <a:avLst/>
          </a:prstGeom>
          <a:solidFill>
            <a:srgbClr val="FDECE3"/>
          </a:solidFill>
          <a:ln>
            <a:noFill/>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266700" indent="-266700" algn="just">
              <a:buNone/>
            </a:pPr>
            <a:r>
              <a:rPr lang="en-US" altLang="zh-CN" sz="1800" b="1" kern="100" dirty="0">
                <a:solidFill>
                  <a:srgbClr val="FF0000"/>
                </a:solidFill>
                <a:effectLst/>
                <a:latin typeface="Times New Roman" panose="02020603050405020304" pitchFamily="18" charset="0"/>
                <a:ea typeface="宋体" panose="02010600030101010101" pitchFamily="2" charset="-122"/>
              </a:rPr>
              <a:t>&lt;for</a:t>
            </a:r>
            <a:r>
              <a:rPr lang="zh-CN" altLang="zh-CN" sz="1800" b="1" kern="100" dirty="0">
                <a:solidFill>
                  <a:srgbClr val="FF0000"/>
                </a:solidFill>
                <a:effectLst/>
                <a:latin typeface="Times New Roman" panose="02020603050405020304" pitchFamily="18" charset="0"/>
                <a:ea typeface="宋体" panose="02010600030101010101" pitchFamily="2" charset="-122"/>
              </a:rPr>
              <a:t>语句</a:t>
            </a:r>
            <a:r>
              <a:rPr lang="en-US" altLang="zh-CN" sz="1800" b="1" kern="100" dirty="0">
                <a:solidFill>
                  <a:srgbClr val="FF0000"/>
                </a:solidFill>
                <a:effectLst/>
                <a:latin typeface="Times New Roman" panose="02020603050405020304" pitchFamily="18" charset="0"/>
                <a:ea typeface="宋体" panose="02010600030101010101" pitchFamily="2" charset="-122"/>
              </a:rPr>
              <a:t>&gt;→for (&lt;</a:t>
            </a:r>
            <a:r>
              <a:rPr lang="zh-CN" altLang="zh-CN" sz="1800" b="1" kern="100" dirty="0">
                <a:solidFill>
                  <a:srgbClr val="FF0000"/>
                </a:solidFill>
                <a:effectLst/>
                <a:latin typeface="Times New Roman" panose="02020603050405020304" pitchFamily="18" charset="0"/>
                <a:ea typeface="宋体" panose="02010600030101010101" pitchFamily="2" charset="-122"/>
              </a:rPr>
              <a:t>表达式</a:t>
            </a:r>
            <a:r>
              <a:rPr lang="en-US" altLang="zh-CN" sz="1800" b="1" kern="100" dirty="0">
                <a:solidFill>
                  <a:srgbClr val="FF0000"/>
                </a:solidFill>
                <a:effectLst/>
                <a:latin typeface="Times New Roman" panose="02020603050405020304" pitchFamily="18" charset="0"/>
                <a:ea typeface="宋体" panose="02010600030101010101" pitchFamily="2" charset="-122"/>
              </a:rPr>
              <a:t>1&gt;;&lt;</a:t>
            </a:r>
            <a:r>
              <a:rPr lang="zh-CN" altLang="zh-CN" sz="1800" b="1" kern="100" dirty="0">
                <a:solidFill>
                  <a:srgbClr val="FF0000"/>
                </a:solidFill>
                <a:effectLst/>
                <a:latin typeface="Times New Roman" panose="02020603050405020304" pitchFamily="18" charset="0"/>
                <a:ea typeface="宋体" panose="02010600030101010101" pitchFamily="2" charset="-122"/>
              </a:rPr>
              <a:t>表达式</a:t>
            </a:r>
            <a:r>
              <a:rPr lang="en-US" altLang="zh-CN" sz="1800" b="1" kern="100" dirty="0">
                <a:solidFill>
                  <a:srgbClr val="FF0000"/>
                </a:solidFill>
                <a:effectLst/>
                <a:latin typeface="Times New Roman" panose="02020603050405020304" pitchFamily="18" charset="0"/>
                <a:ea typeface="宋体" panose="02010600030101010101" pitchFamily="2" charset="-122"/>
              </a:rPr>
              <a:t>2&gt;;&lt;</a:t>
            </a:r>
            <a:r>
              <a:rPr lang="zh-CN" altLang="zh-CN" sz="1800" b="1" kern="100" dirty="0">
                <a:solidFill>
                  <a:srgbClr val="FF0000"/>
                </a:solidFill>
                <a:effectLst/>
                <a:latin typeface="Times New Roman" panose="02020603050405020304" pitchFamily="18" charset="0"/>
                <a:ea typeface="宋体" panose="02010600030101010101" pitchFamily="2" charset="-122"/>
              </a:rPr>
              <a:t>表达式</a:t>
            </a:r>
            <a:r>
              <a:rPr lang="en-US" altLang="zh-CN" sz="1800" b="1" kern="100" dirty="0">
                <a:solidFill>
                  <a:srgbClr val="FF0000"/>
                </a:solidFill>
                <a:effectLst/>
                <a:latin typeface="Times New Roman" panose="02020603050405020304" pitchFamily="18" charset="0"/>
                <a:ea typeface="宋体" panose="02010600030101010101" pitchFamily="2" charset="-122"/>
              </a:rPr>
              <a:t>3&gt;)&lt;</a:t>
            </a:r>
            <a:r>
              <a:rPr lang="zh-CN" altLang="zh-CN" sz="1800" b="1" kern="100" dirty="0">
                <a:solidFill>
                  <a:srgbClr val="FF0000"/>
                </a:solidFill>
                <a:effectLst/>
                <a:latin typeface="Times New Roman" panose="02020603050405020304" pitchFamily="18" charset="0"/>
                <a:ea typeface="宋体" panose="02010600030101010101" pitchFamily="2" charset="-122"/>
              </a:rPr>
              <a:t>语句</a:t>
            </a:r>
            <a:r>
              <a:rPr lang="en-US" altLang="zh-CN" sz="1800" b="1" kern="100" dirty="0">
                <a:solidFill>
                  <a:srgbClr val="FF0000"/>
                </a:solidFill>
                <a:effectLst/>
                <a:latin typeface="Times New Roman" panose="02020603050405020304" pitchFamily="18" charset="0"/>
                <a:ea typeface="宋体" panose="02010600030101010101" pitchFamily="2" charset="-122"/>
              </a:rPr>
              <a:t>&gt;</a:t>
            </a:r>
            <a:endParaRPr lang="zh-CN" altLang="zh-CN" sz="1800" b="1" kern="100" dirty="0">
              <a:solidFill>
                <a:srgbClr val="FF0000"/>
              </a:solidFill>
              <a:effectLst/>
              <a:latin typeface="Times New Roman" panose="02020603050405020304" pitchFamily="18" charset="0"/>
              <a:ea typeface="宋体" panose="02010600030101010101" pitchFamily="2" charset="-122"/>
            </a:endParaRPr>
          </a:p>
          <a:p>
            <a:pPr marL="266700" indent="-266700" algn="just">
              <a:buNone/>
            </a:pPr>
            <a:r>
              <a:rPr lang="en-US" altLang="zh-CN" sz="1800" kern="100" dirty="0">
                <a:solidFill>
                  <a:srgbClr val="000000"/>
                </a:solidFill>
                <a:effectLst/>
                <a:latin typeface="Times New Roman" panose="02020603050405020304" pitchFamily="18" charset="0"/>
                <a:ea typeface="宋体" panose="02010600030101010101" pitchFamily="2" charset="-122"/>
              </a:rPr>
              <a: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1&gt;→&lt;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&gt;|</a:t>
            </a:r>
            <a:r>
              <a:rPr lang="en-US" altLang="zh-CN" sz="18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800" kern="100" dirty="0">
              <a:effectLst/>
              <a:latin typeface="Times New Roman" panose="02020603050405020304" pitchFamily="18" charset="0"/>
              <a:ea typeface="宋体" panose="02010600030101010101" pitchFamily="2" charset="-122"/>
            </a:endParaRPr>
          </a:p>
          <a:p>
            <a:pPr marL="266700" indent="-266700" algn="just">
              <a:buNone/>
            </a:pPr>
            <a:r>
              <a:rPr lang="en-US" altLang="zh-CN" sz="1800" kern="100" dirty="0">
                <a:solidFill>
                  <a:srgbClr val="000000"/>
                </a:solidFill>
                <a:effectLst/>
                <a:latin typeface="Times New Roman" panose="02020603050405020304" pitchFamily="18" charset="0"/>
                <a:ea typeface="宋体" panose="02010600030101010101" pitchFamily="2" charset="-122"/>
              </a:rPr>
              <a: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2&gt;→&lt;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&gt;|</a:t>
            </a:r>
            <a:r>
              <a:rPr lang="en-US" altLang="zh-CN" sz="18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800" kern="100" dirty="0">
              <a:effectLst/>
              <a:latin typeface="Times New Roman" panose="02020603050405020304" pitchFamily="18" charset="0"/>
              <a:ea typeface="宋体" panose="02010600030101010101" pitchFamily="2" charset="-122"/>
            </a:endParaRPr>
          </a:p>
          <a:p>
            <a:pPr marL="266700" indent="-266700" algn="just">
              <a:buNone/>
            </a:pPr>
            <a:r>
              <a:rPr lang="en-US" altLang="zh-CN" sz="1800" kern="100" dirty="0">
                <a:solidFill>
                  <a:srgbClr val="000000"/>
                </a:solidFill>
                <a:effectLst/>
                <a:latin typeface="Times New Roman" panose="02020603050405020304" pitchFamily="18" charset="0"/>
                <a:ea typeface="宋体" panose="02010600030101010101" pitchFamily="2" charset="-122"/>
              </a:rPr>
              <a: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3&gt;→&lt;</a:t>
            </a:r>
            <a:r>
              <a:rPr lang="zh-CN" altLang="zh-CN" sz="1800" kern="100" dirty="0">
                <a:solidFill>
                  <a:srgbClr val="000000"/>
                </a:solidFill>
                <a:effectLst/>
                <a:latin typeface="Times New Roman" panose="02020603050405020304" pitchFamily="18" charset="0"/>
                <a:ea typeface="宋体" panose="02010600030101010101" pitchFamily="2" charset="-122"/>
              </a:rPr>
              <a:t>表达式</a:t>
            </a:r>
            <a:r>
              <a:rPr lang="en-US" altLang="zh-CN" sz="1800" kern="100" dirty="0">
                <a:solidFill>
                  <a:srgbClr val="000000"/>
                </a:solidFill>
                <a:effectLst/>
                <a:latin typeface="Times New Roman" panose="02020603050405020304" pitchFamily="18" charset="0"/>
                <a:ea typeface="宋体" panose="02010600030101010101" pitchFamily="2" charset="-122"/>
              </a:rPr>
              <a:t>&gt;|</a:t>
            </a:r>
            <a:r>
              <a:rPr lang="en-US" altLang="zh-CN" sz="1800" kern="0" dirty="0">
                <a:solidFill>
                  <a:srgbClr val="000000"/>
                </a:solidFill>
                <a:effectLst/>
                <a:latin typeface="Times New Roman" panose="02020603050405020304" pitchFamily="18" charset="0"/>
                <a:ea typeface="宋体" panose="02010600030101010101" pitchFamily="2" charset="-122"/>
                <a:sym typeface="Symbol" panose="05050102010706020507" pitchFamily="18" charset="2"/>
              </a:rPr>
              <a:t></a:t>
            </a:r>
            <a:endParaRPr lang="zh-CN" altLang="zh-CN" sz="1800" kern="100" dirty="0">
              <a:effectLst/>
              <a:latin typeface="Times New Roman" panose="02020603050405020304" pitchFamily="18" charset="0"/>
              <a:ea typeface="宋体" panose="02010600030101010101" pitchFamily="2" charset="-122"/>
            </a:endParaRPr>
          </a:p>
          <a:p>
            <a:pPr>
              <a:spcBef>
                <a:spcPts val="0"/>
              </a:spcBef>
              <a:buNone/>
            </a:pPr>
            <a:r>
              <a:rPr lang="en-US" altLang="zh-CN" sz="2000" dirty="0"/>
              <a:t>………….</a:t>
            </a:r>
          </a:p>
        </p:txBody>
      </p:sp>
    </p:spTree>
    <p:extLst>
      <p:ext uri="{BB962C8B-B14F-4D97-AF65-F5344CB8AC3E}">
        <p14:creationId xmlns:p14="http://schemas.microsoft.com/office/powerpoint/2010/main" val="51017146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4112023" cy="707886"/>
          </a:xfrm>
          <a:prstGeom prst="rect">
            <a:avLst/>
          </a:prstGeom>
        </p:spPr>
        <p:txBody>
          <a:bodyPr wrap="none">
            <a:spAutoFit/>
          </a:bodyPr>
          <a:lstStyle/>
          <a:p>
            <a:r>
              <a:rPr lang="en-US" altLang="zh-CN" sz="4000" b="1" dirty="0">
                <a:solidFill>
                  <a:srgbClr val="CC0099"/>
                </a:solidFill>
                <a:ea typeface="隶书" pitchFamily="49" charset="-122"/>
              </a:rPr>
              <a:t>5</a:t>
            </a:r>
            <a:r>
              <a:rPr lang="zh-CN" altLang="en-US" sz="4000" b="1" dirty="0">
                <a:solidFill>
                  <a:srgbClr val="CC0099"/>
                </a:solidFill>
                <a:ea typeface="隶书" pitchFamily="49" charset="-122"/>
              </a:rPr>
              <a:t>、预测分析方法</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422808091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a:xfrm>
            <a:off x="467544" y="195486"/>
            <a:ext cx="3960440" cy="857250"/>
          </a:xfrm>
        </p:spPr>
        <p:txBody>
          <a:bodyPr>
            <a:normAutofit/>
          </a:bodyPr>
          <a:lstStyle/>
          <a:p>
            <a:pPr eaLnBrk="1" hangingPunct="1"/>
            <a:r>
              <a:rPr lang="zh-CN" altLang="en-US" sz="3600" dirty="0">
                <a:solidFill>
                  <a:srgbClr val="D60093"/>
                </a:solidFill>
                <a:ea typeface="隶书" pitchFamily="49" charset="-122"/>
              </a:rPr>
              <a:t>递归下降分析</a:t>
            </a:r>
          </a:p>
        </p:txBody>
      </p:sp>
      <p:sp>
        <p:nvSpPr>
          <p:cNvPr id="91139" name="Rectangle 3"/>
          <p:cNvSpPr>
            <a:spLocks noGrp="1" noChangeArrowheads="1"/>
          </p:cNvSpPr>
          <p:nvPr>
            <p:ph type="body" idx="1"/>
          </p:nvPr>
        </p:nvSpPr>
        <p:spPr>
          <a:xfrm>
            <a:off x="755576" y="1275606"/>
            <a:ext cx="7427168" cy="2448271"/>
          </a:xfrm>
        </p:spPr>
        <p:style>
          <a:lnRef idx="2">
            <a:schemeClr val="accent1"/>
          </a:lnRef>
          <a:fillRef idx="1">
            <a:schemeClr val="lt1"/>
          </a:fillRef>
          <a:effectRef idx="0">
            <a:schemeClr val="accent1"/>
          </a:effectRef>
          <a:fontRef idx="minor">
            <a:schemeClr val="dk1"/>
          </a:fontRef>
        </p:style>
        <p:txBody>
          <a:bodyPr>
            <a:noAutofit/>
          </a:bodyPr>
          <a:lstStyle/>
          <a:p>
            <a:pPr eaLnBrk="1" hangingPunct="1">
              <a:spcBef>
                <a:spcPts val="0"/>
              </a:spcBef>
            </a:pPr>
            <a:r>
              <a:rPr lang="zh-CN" altLang="en-US" sz="2200" dirty="0">
                <a:latin typeface="宋体" panose="02010600030101010101" pitchFamily="2" charset="-122"/>
                <a:ea typeface="宋体" panose="02010600030101010101" pitchFamily="2" charset="-122"/>
              </a:rPr>
              <a:t>实现思想简单明了。程序结构和语法规则直接对应。</a:t>
            </a:r>
          </a:p>
          <a:p>
            <a:pPr eaLnBrk="1" hangingPunct="1">
              <a:spcBef>
                <a:spcPts val="0"/>
              </a:spcBef>
            </a:pPr>
            <a:r>
              <a:rPr lang="zh-CN" altLang="en-US" sz="2200" dirty="0">
                <a:latin typeface="宋体" panose="02010600030101010101" pitchFamily="2" charset="-122"/>
                <a:ea typeface="宋体" panose="02010600030101010101" pitchFamily="2" charset="-122"/>
              </a:rPr>
              <a:t>因为每个函数表示一个非终结符号的处理，添加语义加工工作比较方便。</a:t>
            </a:r>
          </a:p>
          <a:p>
            <a:pPr>
              <a:spcBef>
                <a:spcPts val="0"/>
              </a:spcBef>
            </a:pPr>
            <a:r>
              <a:rPr lang="zh-CN" altLang="en-US" sz="2200" dirty="0">
                <a:solidFill>
                  <a:srgbClr val="FF0000"/>
                </a:solidFill>
                <a:latin typeface="宋体" panose="02010600030101010101" pitchFamily="2" charset="-122"/>
                <a:ea typeface="宋体" panose="02010600030101010101" pitchFamily="2" charset="-122"/>
              </a:rPr>
              <a:t>采用递归过程</a:t>
            </a:r>
            <a:r>
              <a:rPr lang="zh-CN" altLang="en-US" sz="2200" dirty="0">
                <a:latin typeface="宋体" panose="02010600030101010101" pitchFamily="2" charset="-122"/>
                <a:ea typeface="宋体" panose="02010600030101010101" pitchFamily="2" charset="-122"/>
              </a:rPr>
              <a:t>。因此实现分析程序所使用的语言必须支持递归调用才行，当然如果递归调用机制是高效的，那么分析程序也是高效的。</a:t>
            </a:r>
            <a:endParaRPr lang="en-US" altLang="zh-CN" sz="2200" dirty="0">
              <a:latin typeface="宋体" panose="02010600030101010101" pitchFamily="2" charset="-122"/>
              <a:ea typeface="宋体" panose="02010600030101010101" pitchFamily="2" charset="-122"/>
            </a:endParaRPr>
          </a:p>
          <a:p>
            <a:pPr eaLnBrk="1" hangingPunct="1">
              <a:spcBef>
                <a:spcPts val="0"/>
              </a:spcBef>
            </a:pPr>
            <a:endParaRPr lang="zh-CN" altLang="en-US" sz="2200" dirty="0">
              <a:latin typeface="宋体" panose="02010600030101010101" pitchFamily="2" charset="-122"/>
              <a:ea typeface="宋体" panose="02010600030101010101" pitchFamily="2" charset="-122"/>
            </a:endParaRPr>
          </a:p>
        </p:txBody>
      </p:sp>
    </p:spTree>
    <p:extLst>
      <p:ext uri="{BB962C8B-B14F-4D97-AF65-F5344CB8AC3E}">
        <p14:creationId xmlns:p14="http://schemas.microsoft.com/office/powerpoint/2010/main" val="181088689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p:cNvSpPr>
            <a:spLocks noGrp="1" noChangeArrowheads="1"/>
          </p:cNvSpPr>
          <p:nvPr>
            <p:ph type="title"/>
          </p:nvPr>
        </p:nvSpPr>
        <p:spPr>
          <a:xfrm>
            <a:off x="323528" y="195486"/>
            <a:ext cx="7772400" cy="857250"/>
          </a:xfrm>
        </p:spPr>
        <p:txBody>
          <a:bodyPr>
            <a:normAutofit/>
          </a:bodyPr>
          <a:lstStyle/>
          <a:p>
            <a:pPr eaLnBrk="1" hangingPunct="1"/>
            <a:r>
              <a:rPr lang="zh-CN" altLang="en-US" sz="4400" dirty="0">
                <a:solidFill>
                  <a:srgbClr val="D60093"/>
                </a:solidFill>
                <a:ea typeface="隶书" pitchFamily="49" charset="-122"/>
              </a:rPr>
              <a:t>预测分析方法</a:t>
            </a:r>
            <a:endParaRPr lang="en-US" altLang="zh-CN" sz="4400" dirty="0">
              <a:solidFill>
                <a:srgbClr val="D60093"/>
              </a:solidFill>
              <a:ea typeface="隶书" pitchFamily="49" charset="-122"/>
            </a:endParaRPr>
          </a:p>
        </p:txBody>
      </p:sp>
      <p:sp>
        <p:nvSpPr>
          <p:cNvPr id="119811" name="Rectangle 3"/>
          <p:cNvSpPr>
            <a:spLocks noGrp="1" noChangeArrowheads="1"/>
          </p:cNvSpPr>
          <p:nvPr>
            <p:ph type="body" idx="1"/>
          </p:nvPr>
        </p:nvSpPr>
        <p:spPr>
          <a:xfrm>
            <a:off x="468313" y="1382713"/>
            <a:ext cx="8351837" cy="2809875"/>
          </a:xfrm>
        </p:spPr>
        <p:txBody>
          <a:bodyPr>
            <a:normAutofit/>
          </a:bodyPr>
          <a:lstStyle/>
          <a:p>
            <a:pPr eaLnBrk="1" hangingPunct="1">
              <a:spcBef>
                <a:spcPct val="55000"/>
              </a:spcBef>
            </a:pPr>
            <a:r>
              <a:rPr lang="zh-CN" altLang="en-US" sz="2200" dirty="0">
                <a:latin typeface="宋体" panose="02010600030101010101" pitchFamily="2" charset="-122"/>
                <a:ea typeface="宋体" panose="02010600030101010101" pitchFamily="2" charset="-122"/>
              </a:rPr>
              <a:t>预测分析法是</a:t>
            </a:r>
            <a:r>
              <a:rPr lang="zh-CN" altLang="en-US" sz="2200" dirty="0">
                <a:latin typeface="宋体" panose="02010600030101010101" pitchFamily="2" charset="-122"/>
                <a:ea typeface="宋体" panose="02010600030101010101" pitchFamily="2" charset="-122"/>
                <a:sym typeface="Wingdings" pitchFamily="2" charset="2"/>
              </a:rPr>
              <a:t>自上而下分析的另一种方法</a:t>
            </a:r>
          </a:p>
          <a:p>
            <a:pPr eaLnBrk="1" hangingPunct="1">
              <a:spcBef>
                <a:spcPct val="55000"/>
              </a:spcBef>
            </a:pPr>
            <a:r>
              <a:rPr lang="zh-CN" altLang="en-US" sz="2200" dirty="0">
                <a:latin typeface="宋体" panose="02010600030101010101" pitchFamily="2" charset="-122"/>
                <a:ea typeface="宋体" panose="02010600030101010101" pitchFamily="2" charset="-122"/>
              </a:rPr>
              <a:t>要求文法是</a:t>
            </a:r>
            <a:r>
              <a:rPr lang="en-US" altLang="zh-CN" sz="2200" dirty="0">
                <a:latin typeface="宋体" panose="02010600030101010101" pitchFamily="2" charset="-122"/>
                <a:ea typeface="宋体" panose="02010600030101010101" pitchFamily="2" charset="-122"/>
              </a:rPr>
              <a:t>LL(1)</a:t>
            </a:r>
            <a:r>
              <a:rPr lang="zh-CN" altLang="en-US" sz="2200" dirty="0">
                <a:latin typeface="宋体" panose="02010600030101010101" pitchFamily="2" charset="-122"/>
                <a:ea typeface="宋体" panose="02010600030101010101" pitchFamily="2" charset="-122"/>
              </a:rPr>
              <a:t>文法</a:t>
            </a:r>
            <a:endParaRPr lang="en-US" altLang="zh-CN" sz="2200" dirty="0">
              <a:latin typeface="宋体" panose="02010600030101010101" pitchFamily="2" charset="-122"/>
              <a:ea typeface="宋体" panose="02010600030101010101" pitchFamily="2" charset="-122"/>
            </a:endParaRPr>
          </a:p>
          <a:p>
            <a:pPr eaLnBrk="1" hangingPunct="1">
              <a:spcBef>
                <a:spcPct val="55000"/>
              </a:spcBef>
            </a:pPr>
            <a:r>
              <a:rPr lang="zh-CN" altLang="en-US" sz="2200" dirty="0">
                <a:latin typeface="宋体" panose="02010600030101010101" pitchFamily="2" charset="-122"/>
                <a:ea typeface="宋体" panose="02010600030101010101" pitchFamily="2" charset="-122"/>
              </a:rPr>
              <a:t>使用下推自动机的方式实现</a:t>
            </a:r>
          </a:p>
          <a:p>
            <a:pPr eaLnBrk="1" hangingPunct="1">
              <a:spcBef>
                <a:spcPct val="55000"/>
              </a:spcBef>
            </a:pPr>
            <a:r>
              <a:rPr lang="zh-CN" altLang="en-US" sz="2200" dirty="0">
                <a:latin typeface="宋体" panose="02010600030101010101" pitchFamily="2" charset="-122"/>
                <a:ea typeface="宋体" panose="02010600030101010101" pitchFamily="2" charset="-122"/>
              </a:rPr>
              <a:t>使用一个二维分析表和栈联合进行控制来实现分析</a:t>
            </a:r>
            <a:endParaRPr lang="zh-CN" altLang="en-US" sz="2200" dirty="0">
              <a:latin typeface="宋体" panose="02010600030101010101" pitchFamily="2" charset="-122"/>
              <a:ea typeface="宋体" panose="02010600030101010101" pitchFamily="2" charset="-122"/>
              <a:sym typeface="Wingdings" pitchFamily="2" charset="2"/>
            </a:endParaRPr>
          </a:p>
        </p:txBody>
      </p:sp>
    </p:spTree>
    <p:extLst>
      <p:ext uri="{BB962C8B-B14F-4D97-AF65-F5344CB8AC3E}">
        <p14:creationId xmlns:p14="http://schemas.microsoft.com/office/powerpoint/2010/main" val="209365085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Text Box 7"/>
          <p:cNvSpPr txBox="1">
            <a:spLocks noChangeArrowheads="1"/>
          </p:cNvSpPr>
          <p:nvPr/>
        </p:nvSpPr>
        <p:spPr bwMode="auto">
          <a:xfrm>
            <a:off x="179512" y="123478"/>
            <a:ext cx="504825"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dirty="0">
                <a:latin typeface="宋体" panose="02010600030101010101" pitchFamily="2" charset="-122"/>
              </a:rPr>
              <a:t>预测分析器</a:t>
            </a:r>
          </a:p>
        </p:txBody>
      </p:sp>
      <p:graphicFrame>
        <p:nvGraphicFramePr>
          <p:cNvPr id="98307" name="Object 8"/>
          <p:cNvGraphicFramePr>
            <a:graphicFrameLocks noGrp="1"/>
          </p:cNvGraphicFramePr>
          <p:nvPr>
            <p:ph idx="1"/>
            <p:extLst>
              <p:ext uri="{D42A27DB-BD31-4B8C-83A1-F6EECF244321}">
                <p14:modId xmlns:p14="http://schemas.microsoft.com/office/powerpoint/2010/main" val="2106194285"/>
              </p:ext>
            </p:extLst>
          </p:nvPr>
        </p:nvGraphicFramePr>
        <p:xfrm>
          <a:off x="1043608" y="123478"/>
          <a:ext cx="3795714" cy="2545978"/>
        </p:xfrm>
        <a:graphic>
          <a:graphicData uri="http://schemas.openxmlformats.org/presentationml/2006/ole">
            <mc:AlternateContent xmlns:mc="http://schemas.openxmlformats.org/markup-compatibility/2006">
              <mc:Choice xmlns:v="urn:schemas-microsoft-com:vml" Requires="v">
                <p:oleObj spid="_x0000_s22535" name="位图图像" r:id="rId4" imgW="2962689" imgH="1961905" progId="PBrush">
                  <p:embed/>
                </p:oleObj>
              </mc:Choice>
              <mc:Fallback>
                <p:oleObj name="位图图像" r:id="rId4" imgW="2962689" imgH="1961905" progId="PBrush">
                  <p:embed/>
                  <p:pic>
                    <p:nvPicPr>
                      <p:cNvPr id="98307" name="Object 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3608" y="123478"/>
                        <a:ext cx="3795714" cy="2545978"/>
                      </a:xfrm>
                      <a:prstGeom prst="rect">
                        <a:avLst/>
                      </a:prstGeom>
                      <a:noFill/>
                      <a:ln>
                        <a:noFill/>
                      </a:ln>
                    </p:spPr>
                  </p:pic>
                </p:oleObj>
              </mc:Fallback>
            </mc:AlternateContent>
          </a:graphicData>
        </a:graphic>
      </p:graphicFrame>
      <p:grpSp>
        <p:nvGrpSpPr>
          <p:cNvPr id="2" name="Group 19"/>
          <p:cNvGrpSpPr>
            <a:grpSpLocks/>
          </p:cNvGrpSpPr>
          <p:nvPr/>
        </p:nvGrpSpPr>
        <p:grpSpPr bwMode="auto">
          <a:xfrm>
            <a:off x="5308808" y="485921"/>
            <a:ext cx="3787775" cy="1510903"/>
            <a:chOff x="1174" y="2762"/>
            <a:chExt cx="2386" cy="1269"/>
          </a:xfrm>
        </p:grpSpPr>
        <p:sp>
          <p:nvSpPr>
            <p:cNvPr id="98310" name="Rectangle 11"/>
            <p:cNvSpPr>
              <a:spLocks noChangeArrowheads="1"/>
            </p:cNvSpPr>
            <p:nvPr/>
          </p:nvSpPr>
          <p:spPr bwMode="auto">
            <a:xfrm>
              <a:off x="1174" y="2762"/>
              <a:ext cx="1955"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361950" indent="-36195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r>
                <a:rPr lang="zh-CN" altLang="en-US" sz="2200" b="1" dirty="0">
                  <a:sym typeface="Wingdings" pitchFamily="2" charset="2"/>
                </a:rPr>
                <a:t>预测分析器的组成：</a:t>
              </a:r>
            </a:p>
          </p:txBody>
        </p:sp>
        <p:sp>
          <p:nvSpPr>
            <p:cNvPr id="98311" name="AutoShape 13"/>
            <p:cNvSpPr>
              <a:spLocks/>
            </p:cNvSpPr>
            <p:nvPr/>
          </p:nvSpPr>
          <p:spPr bwMode="auto">
            <a:xfrm>
              <a:off x="1369" y="3308"/>
              <a:ext cx="209" cy="662"/>
            </a:xfrm>
            <a:prstGeom prst="leftBrace">
              <a:avLst>
                <a:gd name="adj1" fmla="val 3587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200">
                <a:ea typeface="华文行楷" pitchFamily="2" charset="-122"/>
              </a:endParaRPr>
            </a:p>
          </p:txBody>
        </p:sp>
        <p:sp>
          <p:nvSpPr>
            <p:cNvPr id="98312" name="Text Box 14"/>
            <p:cNvSpPr txBox="1">
              <a:spLocks noChangeArrowheads="1"/>
            </p:cNvSpPr>
            <p:nvPr/>
          </p:nvSpPr>
          <p:spPr bwMode="auto">
            <a:xfrm>
              <a:off x="1578" y="3156"/>
              <a:ext cx="1982" cy="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200"/>
                </a:spcBef>
                <a:buNone/>
              </a:pPr>
              <a:r>
                <a:rPr lang="zh-CN" altLang="en-US" sz="2000" dirty="0">
                  <a:latin typeface="宋体" panose="02010600030101010101" pitchFamily="2" charset="-122"/>
                </a:rPr>
                <a:t>栈</a:t>
              </a:r>
              <a:r>
                <a:rPr lang="en-US" altLang="zh-CN" sz="2000" dirty="0">
                  <a:latin typeface="宋体" panose="02010600030101010101" pitchFamily="2" charset="-122"/>
                </a:rPr>
                <a:t>——</a:t>
              </a:r>
              <a:r>
                <a:rPr lang="zh-CN" altLang="en-US" sz="2000" dirty="0">
                  <a:latin typeface="宋体" panose="02010600030101010101" pitchFamily="2" charset="-122"/>
                </a:rPr>
                <a:t>下推存储器</a:t>
              </a:r>
            </a:p>
            <a:p>
              <a:pPr>
                <a:spcBef>
                  <a:spcPts val="200"/>
                </a:spcBef>
                <a:buNone/>
              </a:pPr>
              <a:r>
                <a:rPr lang="zh-CN" altLang="en-US" sz="2000" dirty="0">
                  <a:latin typeface="宋体" panose="02010600030101010101" pitchFamily="2" charset="-122"/>
                </a:rPr>
                <a:t>预测分析表</a:t>
              </a:r>
              <a:r>
                <a:rPr lang="en-US" altLang="zh-CN" sz="2000" dirty="0">
                  <a:latin typeface="宋体" panose="02010600030101010101" pitchFamily="2" charset="-122"/>
                </a:rPr>
                <a:t>(</a:t>
              </a:r>
              <a:r>
                <a:rPr lang="zh-CN" altLang="en-US" sz="2000" dirty="0">
                  <a:latin typeface="宋体" panose="02010600030101010101" pitchFamily="2" charset="-122"/>
                </a:rPr>
                <a:t>与文法有关</a:t>
              </a:r>
              <a:r>
                <a:rPr lang="en-US" altLang="zh-CN" sz="2000" dirty="0">
                  <a:latin typeface="宋体" panose="02010600030101010101" pitchFamily="2" charset="-122"/>
                </a:rPr>
                <a:t>)</a:t>
              </a:r>
              <a:r>
                <a:rPr lang="zh-CN" altLang="en-US" sz="2000" dirty="0">
                  <a:latin typeface="宋体" panose="02010600030101010101" pitchFamily="2" charset="-122"/>
                </a:rPr>
                <a:t>预测分析程序</a:t>
              </a:r>
              <a:r>
                <a:rPr lang="en-US" altLang="zh-CN" sz="2000" dirty="0">
                  <a:latin typeface="宋体" panose="02010600030101010101" pitchFamily="2" charset="-122"/>
                </a:rPr>
                <a:t>(</a:t>
              </a:r>
              <a:r>
                <a:rPr lang="zh-CN" altLang="en-US" sz="2000" dirty="0">
                  <a:latin typeface="宋体" panose="02010600030101010101" pitchFamily="2" charset="-122"/>
                </a:rPr>
                <a:t>与文法无关</a:t>
              </a:r>
              <a:r>
                <a:rPr lang="en-US" altLang="zh-CN" sz="2000" dirty="0">
                  <a:latin typeface="宋体" panose="02010600030101010101" pitchFamily="2" charset="-122"/>
                </a:rPr>
                <a:t>)</a:t>
              </a:r>
              <a:endParaRPr lang="zh-CN" altLang="en-US" sz="2000" dirty="0">
                <a:latin typeface="宋体" panose="02010600030101010101" pitchFamily="2" charset="-122"/>
              </a:endParaRPr>
            </a:p>
          </p:txBody>
        </p:sp>
      </p:grpSp>
      <p:sp>
        <p:nvSpPr>
          <p:cNvPr id="98309" name="Rectangle 18"/>
          <p:cNvSpPr>
            <a:spLocks noChangeArrowheads="1"/>
          </p:cNvSpPr>
          <p:nvPr/>
        </p:nvSpPr>
        <p:spPr bwMode="auto">
          <a:xfrm>
            <a:off x="3276600" y="3381375"/>
            <a:ext cx="48593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zh-CN" sz="2400">
              <a:latin typeface="宋体" pitchFamily="2" charset="-122"/>
              <a:sym typeface="Symbol" pitchFamily="18" charset="2"/>
            </a:endParaRPr>
          </a:p>
        </p:txBody>
      </p:sp>
      <p:sp>
        <p:nvSpPr>
          <p:cNvPr id="10" name="Rectangle 185"/>
          <p:cNvSpPr>
            <a:spLocks noChangeArrowheads="1"/>
          </p:cNvSpPr>
          <p:nvPr/>
        </p:nvSpPr>
        <p:spPr bwMode="auto">
          <a:xfrm>
            <a:off x="231775" y="3048000"/>
            <a:ext cx="1891953" cy="1785104"/>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a:t>E </a:t>
            </a:r>
            <a:r>
              <a:rPr lang="en-US" altLang="zh-CN" sz="2200">
                <a:sym typeface="Wingdings" pitchFamily="2" charset="2"/>
              </a:rPr>
              <a:t></a:t>
            </a:r>
            <a:r>
              <a:rPr lang="en-US" altLang="zh-CN" sz="2200"/>
              <a:t>TE'</a:t>
            </a:r>
            <a:br>
              <a:rPr lang="en-US" altLang="zh-CN" sz="2200"/>
            </a:br>
            <a:r>
              <a:rPr lang="en-US" altLang="zh-CN" sz="2200"/>
              <a:t>E' </a:t>
            </a:r>
            <a:r>
              <a:rPr lang="en-US" altLang="zh-CN" sz="2200">
                <a:sym typeface="Wingdings" pitchFamily="2" charset="2"/>
              </a:rPr>
              <a:t></a:t>
            </a:r>
            <a:r>
              <a:rPr lang="en-US" altLang="zh-CN" sz="2200"/>
              <a:t> +TE' |ε</a:t>
            </a:r>
            <a:br>
              <a:rPr lang="en-US" altLang="zh-CN" sz="2200"/>
            </a:br>
            <a:r>
              <a:rPr lang="en-US" altLang="zh-CN" sz="2200"/>
              <a:t>T </a:t>
            </a:r>
            <a:r>
              <a:rPr lang="en-US" altLang="zh-CN" sz="2200">
                <a:sym typeface="Wingdings" pitchFamily="2" charset="2"/>
              </a:rPr>
              <a:t></a:t>
            </a:r>
            <a:r>
              <a:rPr lang="en-US" altLang="zh-CN" sz="2200"/>
              <a:t> FT'</a:t>
            </a:r>
            <a:br>
              <a:rPr lang="en-US" altLang="zh-CN" sz="2200"/>
            </a:br>
            <a:r>
              <a:rPr lang="en-US" altLang="zh-CN" sz="2200"/>
              <a:t>T' </a:t>
            </a:r>
            <a:r>
              <a:rPr lang="en-US" altLang="zh-CN" sz="2200">
                <a:sym typeface="Wingdings" pitchFamily="2" charset="2"/>
              </a:rPr>
              <a:t></a:t>
            </a:r>
            <a:r>
              <a:rPr lang="en-US" altLang="zh-CN" sz="2200"/>
              <a:t> *FT' |ε</a:t>
            </a:r>
            <a:br>
              <a:rPr lang="en-US" altLang="zh-CN" sz="2200"/>
            </a:br>
            <a:r>
              <a:rPr lang="en-US" altLang="zh-CN" sz="2200"/>
              <a:t>F </a:t>
            </a:r>
            <a:r>
              <a:rPr lang="en-US" altLang="zh-CN" sz="2200">
                <a:sym typeface="Wingdings" pitchFamily="2" charset="2"/>
              </a:rPr>
              <a:t></a:t>
            </a:r>
            <a:r>
              <a:rPr lang="en-US" altLang="zh-CN" sz="2200"/>
              <a:t>(E) |i </a:t>
            </a:r>
          </a:p>
        </p:txBody>
      </p:sp>
      <p:graphicFrame>
        <p:nvGraphicFramePr>
          <p:cNvPr id="11" name="Group 181"/>
          <p:cNvGraphicFramePr>
            <a:graphicFrameLocks/>
          </p:cNvGraphicFramePr>
          <p:nvPr>
            <p:extLst>
              <p:ext uri="{D42A27DB-BD31-4B8C-83A1-F6EECF244321}">
                <p14:modId xmlns:p14="http://schemas.microsoft.com/office/powerpoint/2010/main" val="392966010"/>
              </p:ext>
            </p:extLst>
          </p:nvPr>
        </p:nvGraphicFramePr>
        <p:xfrm>
          <a:off x="2517665" y="2906231"/>
          <a:ext cx="6374815" cy="2149474"/>
        </p:xfrm>
        <a:graphic>
          <a:graphicData uri="http://schemas.openxmlformats.org/drawingml/2006/table">
            <a:tbl>
              <a:tblPr/>
              <a:tblGrid>
                <a:gridCol w="647700">
                  <a:extLst>
                    <a:ext uri="{9D8B030D-6E8A-4147-A177-3AD203B41FA5}">
                      <a16:colId xmlns:a16="http://schemas.microsoft.com/office/drawing/2014/main" val="20000"/>
                    </a:ext>
                  </a:extLst>
                </a:gridCol>
                <a:gridCol w="936625">
                  <a:extLst>
                    <a:ext uri="{9D8B030D-6E8A-4147-A177-3AD203B41FA5}">
                      <a16:colId xmlns:a16="http://schemas.microsoft.com/office/drawing/2014/main" val="20001"/>
                    </a:ext>
                  </a:extLst>
                </a:gridCol>
                <a:gridCol w="1114425">
                  <a:extLst>
                    <a:ext uri="{9D8B030D-6E8A-4147-A177-3AD203B41FA5}">
                      <a16:colId xmlns:a16="http://schemas.microsoft.com/office/drawing/2014/main" val="20002"/>
                    </a:ext>
                  </a:extLst>
                </a:gridCol>
                <a:gridCol w="1011769">
                  <a:extLst>
                    <a:ext uri="{9D8B030D-6E8A-4147-A177-3AD203B41FA5}">
                      <a16:colId xmlns:a16="http://schemas.microsoft.com/office/drawing/2014/main" val="20003"/>
                    </a:ext>
                  </a:extLst>
                </a:gridCol>
                <a:gridCol w="936104">
                  <a:extLst>
                    <a:ext uri="{9D8B030D-6E8A-4147-A177-3AD203B41FA5}">
                      <a16:colId xmlns:a16="http://schemas.microsoft.com/office/drawing/2014/main" val="20004"/>
                    </a:ext>
                  </a:extLst>
                </a:gridCol>
                <a:gridCol w="896927">
                  <a:extLst>
                    <a:ext uri="{9D8B030D-6E8A-4147-A177-3AD203B41FA5}">
                      <a16:colId xmlns:a16="http://schemas.microsoft.com/office/drawing/2014/main" val="20005"/>
                    </a:ext>
                  </a:extLst>
                </a:gridCol>
                <a:gridCol w="831265">
                  <a:extLst>
                    <a:ext uri="{9D8B030D-6E8A-4147-A177-3AD203B41FA5}">
                      <a16:colId xmlns:a16="http://schemas.microsoft.com/office/drawing/2014/main" val="20006"/>
                    </a:ext>
                  </a:extLst>
                </a:gridCol>
              </a:tblGrid>
              <a:tr h="34753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lumMod val="20000"/>
                        <a:lumOff val="80000"/>
                      </a:schemeClr>
                    </a:solidFill>
                  </a:tcPr>
                </a:tc>
                <a:extLst>
                  <a:ext uri="{0D108BD9-81ED-4DB2-BD59-A6C34878D82A}">
                    <a16:rowId xmlns:a16="http://schemas.microsoft.com/office/drawing/2014/main" val="10000"/>
                  </a:ext>
                </a:extLst>
              </a:tr>
              <a:tr h="354675">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6062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6657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7252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4753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Fi</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F(E)</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sp>
        <p:nvSpPr>
          <p:cNvPr id="4" name="矩形 3"/>
          <p:cNvSpPr/>
          <p:nvPr/>
        </p:nvSpPr>
        <p:spPr>
          <a:xfrm>
            <a:off x="899592" y="627534"/>
            <a:ext cx="576064" cy="1995291"/>
          </a:xfrm>
          <a:prstGeom prst="rect">
            <a:avLst/>
          </a:prstGeom>
          <a:noFill/>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a:p>
        </p:txBody>
      </p:sp>
      <p:sp>
        <p:nvSpPr>
          <p:cNvPr id="13" name="矩形 12"/>
          <p:cNvSpPr/>
          <p:nvPr/>
        </p:nvSpPr>
        <p:spPr>
          <a:xfrm>
            <a:off x="2051720" y="997645"/>
            <a:ext cx="1944216" cy="997646"/>
          </a:xfrm>
          <a:prstGeom prst="rect">
            <a:avLst/>
          </a:prstGeom>
          <a:noFill/>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a:p>
        </p:txBody>
      </p:sp>
      <p:sp>
        <p:nvSpPr>
          <p:cNvPr id="14" name="矩形 13"/>
          <p:cNvSpPr/>
          <p:nvPr/>
        </p:nvSpPr>
        <p:spPr>
          <a:xfrm>
            <a:off x="1979712" y="2261874"/>
            <a:ext cx="2304256" cy="498823"/>
          </a:xfrm>
          <a:prstGeom prst="rect">
            <a:avLst/>
          </a:prstGeom>
          <a:noFill/>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a:p>
        </p:txBody>
      </p:sp>
      <p:sp>
        <p:nvSpPr>
          <p:cNvPr id="15" name="AutoShape 182"/>
          <p:cNvSpPr>
            <a:spLocks noChangeArrowheads="1"/>
          </p:cNvSpPr>
          <p:nvPr/>
        </p:nvSpPr>
        <p:spPr bwMode="auto">
          <a:xfrm>
            <a:off x="4007058" y="1857373"/>
            <a:ext cx="1943100" cy="970157"/>
          </a:xfrm>
          <a:prstGeom prst="wedgeEllipseCallout">
            <a:avLst>
              <a:gd name="adj1" fmla="val -100692"/>
              <a:gd name="adj2" fmla="val 104224"/>
            </a:avLst>
          </a:prstGeom>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ea typeface="华文行楷" pitchFamily="2" charset="-122"/>
              </a:rPr>
              <a:t>第</a:t>
            </a:r>
            <a:r>
              <a:rPr lang="en-US" altLang="zh-CN" sz="2200" dirty="0">
                <a:ea typeface="华文行楷" pitchFamily="2" charset="-122"/>
              </a:rPr>
              <a:t>1</a:t>
            </a:r>
            <a:r>
              <a:rPr lang="zh-CN" altLang="en-US" sz="2200" dirty="0">
                <a:ea typeface="华文行楷" pitchFamily="2" charset="-122"/>
              </a:rPr>
              <a:t>列为非终结符</a:t>
            </a:r>
          </a:p>
        </p:txBody>
      </p:sp>
      <p:sp>
        <p:nvSpPr>
          <p:cNvPr id="16" name="AutoShape 183"/>
          <p:cNvSpPr>
            <a:spLocks noChangeArrowheads="1"/>
          </p:cNvSpPr>
          <p:nvPr/>
        </p:nvSpPr>
        <p:spPr bwMode="auto">
          <a:xfrm>
            <a:off x="6444208" y="1896703"/>
            <a:ext cx="2519363" cy="809625"/>
          </a:xfrm>
          <a:prstGeom prst="wedgeEllipseCallout">
            <a:avLst>
              <a:gd name="adj1" fmla="val -48881"/>
              <a:gd name="adj2" fmla="val 100623"/>
            </a:avLst>
          </a:prstGeom>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ea typeface="华文行楷" pitchFamily="2" charset="-122"/>
              </a:rPr>
              <a:t>第</a:t>
            </a:r>
            <a:r>
              <a:rPr lang="en-US" altLang="zh-CN" sz="2200" dirty="0">
                <a:ea typeface="华文行楷" pitchFamily="2" charset="-122"/>
              </a:rPr>
              <a:t>1</a:t>
            </a:r>
            <a:r>
              <a:rPr lang="zh-CN" altLang="en-US" sz="2200" dirty="0">
                <a:ea typeface="华文行楷" pitchFamily="2" charset="-122"/>
              </a:rPr>
              <a:t>行为终结符</a:t>
            </a:r>
            <a:r>
              <a:rPr lang="en-US" altLang="zh-CN" sz="2200" dirty="0">
                <a:ea typeface="华文行楷" pitchFamily="2" charset="-122"/>
              </a:rPr>
              <a:t>+’#’</a:t>
            </a:r>
          </a:p>
        </p:txBody>
      </p:sp>
      <p:sp>
        <p:nvSpPr>
          <p:cNvPr id="17" name="AutoShape 184"/>
          <p:cNvSpPr>
            <a:spLocks noChangeArrowheads="1"/>
          </p:cNvSpPr>
          <p:nvPr/>
        </p:nvSpPr>
        <p:spPr bwMode="auto">
          <a:xfrm>
            <a:off x="5353280" y="1635646"/>
            <a:ext cx="2519362" cy="809625"/>
          </a:xfrm>
          <a:prstGeom prst="wedgeEllipseCallout">
            <a:avLst>
              <a:gd name="adj1" fmla="val -30415"/>
              <a:gd name="adj2" fmla="val 177547"/>
            </a:avLst>
          </a:prstGeom>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solidFill>
                  <a:srgbClr val="0000CC"/>
                </a:solidFill>
                <a:ea typeface="华文行楷" pitchFamily="2" charset="-122"/>
              </a:rPr>
              <a:t>每个元素为产生式或空</a:t>
            </a:r>
          </a:p>
        </p:txBody>
      </p:sp>
    </p:spTree>
    <p:extLst>
      <p:ext uri="{BB962C8B-B14F-4D97-AF65-F5344CB8AC3E}">
        <p14:creationId xmlns:p14="http://schemas.microsoft.com/office/powerpoint/2010/main" val="5066431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1" nodeType="clickEffect">
                                  <p:stCondLst>
                                    <p:cond delay="0"/>
                                  </p:stCondLst>
                                  <p:childTnLst>
                                    <p:set>
                                      <p:cBhvr>
                                        <p:cTn id="14" dur="1" fill="hold">
                                          <p:stCondLst>
                                            <p:cond delay="0"/>
                                          </p:stCondLst>
                                        </p:cTn>
                                        <p:tgtEl>
                                          <p:spTgt spid="4"/>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1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2" presetClass="entr" presetSubtype="4"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slide(fromBottom)">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8" presetClass="entr" presetSubtype="12" fill="hold"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strips(downLeft)">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grpId="1" nodeType="clickEffect">
                                  <p:stCondLst>
                                    <p:cond delay="0"/>
                                  </p:stCondLst>
                                  <p:childTnLst>
                                    <p:set>
                                      <p:cBhvr>
                                        <p:cTn id="30" dur="1" fill="hold">
                                          <p:stCondLst>
                                            <p:cond delay="0"/>
                                          </p:stCondLst>
                                        </p:cTn>
                                        <p:tgtEl>
                                          <p:spTgt spid="14"/>
                                        </p:tgtEl>
                                        <p:attrNameLst>
                                          <p:attrName>style.visibility</p:attrName>
                                        </p:attrNameLst>
                                      </p:cBhvr>
                                      <p:to>
                                        <p:strVal val="hidden"/>
                                      </p:to>
                                    </p:set>
                                  </p:childTnLst>
                                </p:cTn>
                              </p:par>
                              <p:par>
                                <p:cTn id="31" presetID="12" presetClass="entr" presetSubtype="1"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slide(fromTop)">
                                      <p:cBhvr>
                                        <p:cTn id="33" dur="500"/>
                                        <p:tgtEl>
                                          <p:spTgt spid="15"/>
                                        </p:tgtEl>
                                      </p:cBhvr>
                                    </p:animEffect>
                                  </p:childTnLst>
                                  <p:subTnLst>
                                    <p:set>
                                      <p:cBhvr override="childStyle">
                                        <p:cTn dur="1" fill="hold" display="0" masterRel="nextClick" afterEffect="1"/>
                                        <p:tgtEl>
                                          <p:spTgt spid="15"/>
                                        </p:tgtEl>
                                        <p:attrNameLst>
                                          <p:attrName>style.visibility</p:attrName>
                                        </p:attrNameLst>
                                      </p:cBhvr>
                                      <p:to>
                                        <p:strVal val="hidden"/>
                                      </p:to>
                                    </p:set>
                                  </p:subTnLst>
                                </p:cTn>
                              </p:par>
                            </p:childTnLst>
                          </p:cTn>
                        </p:par>
                      </p:childTnLst>
                    </p:cTn>
                  </p:par>
                  <p:par>
                    <p:cTn id="34" fill="hold">
                      <p:stCondLst>
                        <p:cond delay="indefinite"/>
                      </p:stCondLst>
                      <p:childTnLst>
                        <p:par>
                          <p:cTn id="35" fill="hold">
                            <p:stCondLst>
                              <p:cond delay="0"/>
                            </p:stCondLst>
                            <p:childTnLst>
                              <p:par>
                                <p:cTn id="36" presetID="1" presetClass="exit" presetSubtype="0" fill="hold" grpId="1" nodeType="clickEffect">
                                  <p:stCondLst>
                                    <p:cond delay="0"/>
                                  </p:stCondLst>
                                  <p:childTnLst>
                                    <p:set>
                                      <p:cBhvr>
                                        <p:cTn id="37" dur="1" fill="hold">
                                          <p:stCondLst>
                                            <p:cond delay="0"/>
                                          </p:stCondLst>
                                        </p:cTn>
                                        <p:tgtEl>
                                          <p:spTgt spid="15"/>
                                        </p:tgtEl>
                                        <p:attrNameLst>
                                          <p:attrName>style.visibility</p:attrName>
                                        </p:attrNameLst>
                                      </p:cBhvr>
                                      <p:to>
                                        <p:strVal val="hidden"/>
                                      </p:to>
                                    </p:set>
                                  </p:childTnLst>
                                </p:cTn>
                              </p:par>
                              <p:par>
                                <p:cTn id="38" presetID="12" presetClass="entr" presetSubtype="1" fill="hold" grpId="0"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slide(fromTop)">
                                      <p:cBhvr>
                                        <p:cTn id="40" dur="500"/>
                                        <p:tgtEl>
                                          <p:spTgt spid="16"/>
                                        </p:tgtEl>
                                      </p:cBhvr>
                                    </p:animEffect>
                                  </p:childTnLst>
                                  <p:subTnLst>
                                    <p:set>
                                      <p:cBhvr override="childStyle">
                                        <p:cTn dur="1" fill="hold" display="0" masterRel="nextClick" afterEffect="1"/>
                                        <p:tgtEl>
                                          <p:spTgt spid="16"/>
                                        </p:tgtEl>
                                        <p:attrNameLst>
                                          <p:attrName>style.visibility</p:attrName>
                                        </p:attrNameLst>
                                      </p:cBhvr>
                                      <p:to>
                                        <p:strVal val="hidden"/>
                                      </p:to>
                                    </p:set>
                                  </p:sub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16"/>
                                        </p:tgtEl>
                                        <p:attrNameLst>
                                          <p:attrName>style.visibility</p:attrName>
                                        </p:attrNameLst>
                                      </p:cBhvr>
                                      <p:to>
                                        <p:strVal val="hidden"/>
                                      </p:to>
                                    </p:set>
                                  </p:childTnLst>
                                </p:cTn>
                              </p:par>
                              <p:par>
                                <p:cTn id="45" presetID="12" presetClass="entr" presetSubtype="1"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slide(fromTop)">
                                      <p:cBhvr>
                                        <p:cTn id="47" dur="500"/>
                                        <p:tgtEl>
                                          <p:spTgt spid="17"/>
                                        </p:tgtEl>
                                      </p:cBhvr>
                                    </p:animEffect>
                                  </p:childTnLst>
                                  <p:subTnLst>
                                    <p:set>
                                      <p:cBhvr override="childStyle">
                                        <p:cTn dur="1" fill="hold" display="0" masterRel="nextClick" afterEffect="1"/>
                                        <p:tgtEl>
                                          <p:spTgt spid="17"/>
                                        </p:tgtEl>
                                        <p:attrNameLst>
                                          <p:attrName>style.visibility</p:attrName>
                                        </p:attrNameLst>
                                      </p:cBhvr>
                                      <p:to>
                                        <p:strVal val="hidden"/>
                                      </p:to>
                                    </p:set>
                                  </p:subTnLst>
                                </p:cTn>
                              </p:par>
                            </p:childTnLst>
                          </p:cTn>
                        </p:par>
                      </p:childTnLst>
                    </p:cTn>
                  </p:par>
                  <p:par>
                    <p:cTn id="48" fill="hold">
                      <p:stCondLst>
                        <p:cond delay="indefinite"/>
                      </p:stCondLst>
                      <p:childTnLst>
                        <p:par>
                          <p:cTn id="49" fill="hold">
                            <p:stCondLst>
                              <p:cond delay="0"/>
                            </p:stCondLst>
                            <p:childTnLst>
                              <p:par>
                                <p:cTn id="50" presetID="1" presetClass="exit" presetSubtype="0" fill="hold" grpId="1" nodeType="clickEffect">
                                  <p:stCondLst>
                                    <p:cond delay="0"/>
                                  </p:stCondLst>
                                  <p:childTnLst>
                                    <p:set>
                                      <p:cBhvr>
                                        <p:cTn id="51" dur="1" fill="hold">
                                          <p:stCondLst>
                                            <p:cond delay="0"/>
                                          </p:stCondLst>
                                        </p:cTn>
                                        <p:tgtEl>
                                          <p:spTgt spid="17"/>
                                        </p:tgtEl>
                                        <p:attrNameLst>
                                          <p:attrName>style.visibility</p:attrName>
                                        </p:attrNameLst>
                                      </p:cBhvr>
                                      <p:to>
                                        <p:strVal val="hidden"/>
                                      </p:to>
                                    </p:set>
                                  </p:childTnLst>
                                </p:cTn>
                              </p:par>
                            </p:childTnLst>
                          </p:cTn>
                        </p:par>
                        <p:par>
                          <p:cTn id="52" fill="hold">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autoUpdateAnimBg="0"/>
      <p:bldP spid="4" grpId="0" animBg="1"/>
      <p:bldP spid="4" grpId="1" animBg="1"/>
      <p:bldP spid="13" grpId="0" animBg="1"/>
      <p:bldP spid="14" grpId="0" animBg="1"/>
      <p:bldP spid="14" grpId="1" animBg="1"/>
      <p:bldP spid="15" grpId="0" animBg="1" autoUpdateAnimBg="0"/>
      <p:bldP spid="15" grpId="1" animBg="1"/>
      <p:bldP spid="16" grpId="0" animBg="1" autoUpdateAnimBg="0"/>
      <p:bldP spid="16" grpId="1" animBg="1"/>
      <p:bldP spid="17" grpId="0" animBg="1" autoUpdateAnimBg="0"/>
      <p:bldP spid="17" grpId="1"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p:nvPr>
        </p:nvSpPr>
        <p:spPr>
          <a:xfrm>
            <a:off x="0" y="574675"/>
            <a:ext cx="684213" cy="2517775"/>
          </a:xfrm>
        </p:spPr>
        <p:txBody>
          <a:bodyPr>
            <a:normAutofit fontScale="90000"/>
          </a:bodyPr>
          <a:lstStyle/>
          <a:p>
            <a:pPr eaLnBrk="1" hangingPunct="1"/>
            <a:r>
              <a:rPr lang="zh-CN" altLang="en-US" sz="4800">
                <a:solidFill>
                  <a:schemeClr val="tx1"/>
                </a:solidFill>
                <a:ea typeface="隶书" pitchFamily="49" charset="-122"/>
              </a:rPr>
              <a:t>总控程序</a:t>
            </a:r>
            <a:r>
              <a:rPr lang="en-US" altLang="zh-CN" sz="4800">
                <a:solidFill>
                  <a:schemeClr val="tx1"/>
                </a:solidFill>
                <a:ea typeface="隶书" pitchFamily="49" charset="-122"/>
              </a:rPr>
              <a:t>:</a:t>
            </a:r>
          </a:p>
        </p:txBody>
      </p:sp>
      <p:sp>
        <p:nvSpPr>
          <p:cNvPr id="100355" name="Rectangle 3"/>
          <p:cNvSpPr>
            <a:spLocks noGrp="1" noChangeArrowheads="1"/>
          </p:cNvSpPr>
          <p:nvPr>
            <p:ph type="body" idx="1"/>
          </p:nvPr>
        </p:nvSpPr>
        <p:spPr>
          <a:xfrm>
            <a:off x="1187450" y="411287"/>
            <a:ext cx="7489006" cy="4464719"/>
          </a:xfrm>
          <a:solidFill>
            <a:schemeClr val="bg1"/>
          </a:solidFill>
          <a:ln w="28575">
            <a:solidFill>
              <a:schemeClr val="accent2"/>
            </a:solidFill>
            <a:miter lim="800000"/>
            <a:headEnd/>
            <a:tailEnd/>
          </a:ln>
        </p:spPr>
        <p:txBody>
          <a:bodyPr>
            <a:noAutofit/>
          </a:bodyPr>
          <a:lstStyle/>
          <a:p>
            <a:pPr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将’</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压入堆栈中，将开始符号</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S</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压入堆栈中</a:t>
            </a:r>
          </a:p>
          <a:p>
            <a:pPr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读取第一个输入符号到</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a:t>
            </a:r>
          </a:p>
          <a:p>
            <a:pPr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循环执行下述操作：</a:t>
            </a:r>
          </a:p>
          <a:p>
            <a:pPr lvl="1"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栈顶符号</a:t>
            </a:r>
            <a:r>
              <a:rPr lang="zh-CN" altLang="en-US" sz="2000" dirty="0">
                <a:solidFill>
                  <a:srgbClr val="FF0066"/>
                </a:solidFill>
                <a:latin typeface="Times New Roman" panose="02020603050405020304" pitchFamily="18" charset="0"/>
                <a:ea typeface="宋体" panose="02010600030101010101" pitchFamily="2" charset="-122"/>
                <a:cs typeface="Times New Roman" panose="02020603050405020304" pitchFamily="18" charset="0"/>
              </a:rPr>
              <a:t>弹出</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放入</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中；</a:t>
            </a:r>
          </a:p>
          <a:p>
            <a:pPr lvl="1" eaLnBrk="1" hangingPunct="1">
              <a:lnSpc>
                <a:spcPct val="90000"/>
              </a:lnSpc>
              <a:spcBef>
                <a:spcPts val="0"/>
              </a:spcBef>
            </a:pPr>
            <a:r>
              <a:rPr lang="zh-CN" altLang="en-US"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为终结符号</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a:t>
            </a:r>
          </a:p>
          <a:p>
            <a:pPr lvl="2"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，表明成功匹配</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符号</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读取下一个符号到</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，否则有语法错误，</a:t>
            </a:r>
            <a:r>
              <a:rPr lang="zh-CN" altLang="en-US" sz="20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处理；</a:t>
            </a:r>
          </a:p>
          <a:p>
            <a:pPr lvl="1" eaLnBrk="1" hangingPunct="1">
              <a:lnSpc>
                <a:spcPct val="90000"/>
              </a:lnSpc>
              <a:spcBef>
                <a:spcPts val="0"/>
              </a:spcBef>
            </a:pPr>
            <a:r>
              <a:rPr lang="zh-CN" altLang="en-US"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p>
          <a:p>
            <a:pPr lvl="2">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，分析结束，分析成功。</a:t>
            </a:r>
          </a:p>
          <a:p>
            <a:pPr lvl="2">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 </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，有语法错，出错处理。</a:t>
            </a:r>
          </a:p>
          <a:p>
            <a:pPr lvl="1" eaLnBrk="1" hangingPunct="1">
              <a:lnSpc>
                <a:spcPct val="90000"/>
              </a:lnSpc>
              <a:spcBef>
                <a:spcPts val="0"/>
              </a:spcBef>
            </a:pPr>
            <a:r>
              <a:rPr lang="zh-CN" altLang="en-US"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2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为非终结符号</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则查分析表</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M:</a:t>
            </a:r>
          </a:p>
          <a:p>
            <a:pPr lvl="2">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20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为空，有语法错，</a:t>
            </a:r>
            <a:r>
              <a:rPr lang="zh-CN" altLang="en-US" sz="20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处理。</a:t>
            </a:r>
          </a:p>
          <a:p>
            <a:pPr lvl="2" eaLnBrk="1" hangingPunct="1">
              <a:lnSpc>
                <a:spcPct val="90000"/>
              </a:lnSpc>
              <a:spcBef>
                <a:spcPts val="0"/>
              </a:spcBef>
            </a:pP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20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1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2</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0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则</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 </a:t>
            </a:r>
          </a:p>
          <a:p>
            <a:pPr lvl="3" eaLnBrk="1" hangingPunct="1">
              <a:lnSpc>
                <a:spcPct val="90000"/>
              </a:lnSpc>
              <a:spcBef>
                <a:spcPts val="0"/>
              </a:spcBef>
              <a:buFontTx/>
              <a:buNone/>
            </a:pP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将右部</a:t>
            </a:r>
            <a:r>
              <a:rPr lang="en-US" altLang="zh-CN" sz="20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2 </a:t>
            </a:r>
            <a:r>
              <a:rPr lang="en-US" altLang="zh-CN" sz="20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2000" baseline="-25000" dirty="0">
                <a:latin typeface="Times New Roman" panose="02020603050405020304" pitchFamily="18" charset="0"/>
                <a:ea typeface="宋体" panose="02010600030101010101" pitchFamily="2" charset="-122"/>
                <a:cs typeface="Times New Roman" panose="02020603050405020304" pitchFamily="18" charset="0"/>
              </a:rPr>
              <a:t>1</a:t>
            </a:r>
            <a:r>
              <a:rPr lang="zh-CN" altLang="en-US" sz="2000" dirty="0">
                <a:solidFill>
                  <a:srgbClr val="CC00FF"/>
                </a:solidFill>
                <a:latin typeface="Times New Roman" panose="02020603050405020304" pitchFamily="18" charset="0"/>
                <a:ea typeface="宋体" panose="02010600030101010101" pitchFamily="2" charset="-122"/>
                <a:cs typeface="Times New Roman" panose="02020603050405020304" pitchFamily="18" charset="0"/>
              </a:rPr>
              <a:t>反序</a:t>
            </a:r>
            <a:r>
              <a:rPr lang="zh-CN" altLang="en-US" sz="2000" dirty="0">
                <a:latin typeface="Times New Roman" panose="02020603050405020304" pitchFamily="18" charset="0"/>
                <a:ea typeface="宋体" panose="02010600030101010101" pitchFamily="2" charset="-122"/>
                <a:cs typeface="Times New Roman" panose="02020603050405020304" pitchFamily="18" charset="0"/>
              </a:rPr>
              <a:t>压入堆栈中。  </a:t>
            </a:r>
          </a:p>
        </p:txBody>
      </p:sp>
    </p:spTree>
    <p:extLst>
      <p:ext uri="{BB962C8B-B14F-4D97-AF65-F5344CB8AC3E}">
        <p14:creationId xmlns:p14="http://schemas.microsoft.com/office/powerpoint/2010/main" val="375527580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5"/>
          <p:cNvSpPr>
            <a:spLocks noChangeArrowheads="1"/>
          </p:cNvSpPr>
          <p:nvPr/>
        </p:nvSpPr>
        <p:spPr bwMode="auto">
          <a:xfrm>
            <a:off x="5252549" y="195486"/>
            <a:ext cx="1891953" cy="1785104"/>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a:t>E </a:t>
            </a:r>
            <a:r>
              <a:rPr lang="en-US" altLang="zh-CN" sz="2200">
                <a:sym typeface="Wingdings" pitchFamily="2" charset="2"/>
              </a:rPr>
              <a:t></a:t>
            </a:r>
            <a:r>
              <a:rPr lang="en-US" altLang="zh-CN" sz="2200"/>
              <a:t>TE'</a:t>
            </a:r>
            <a:br>
              <a:rPr lang="en-US" altLang="zh-CN" sz="2200"/>
            </a:br>
            <a:r>
              <a:rPr lang="en-US" altLang="zh-CN" sz="2200"/>
              <a:t>E' </a:t>
            </a:r>
            <a:r>
              <a:rPr lang="en-US" altLang="zh-CN" sz="2200">
                <a:sym typeface="Wingdings" pitchFamily="2" charset="2"/>
              </a:rPr>
              <a:t></a:t>
            </a:r>
            <a:r>
              <a:rPr lang="en-US" altLang="zh-CN" sz="2200"/>
              <a:t> +TE' |ε</a:t>
            </a:r>
            <a:br>
              <a:rPr lang="en-US" altLang="zh-CN" sz="2200"/>
            </a:br>
            <a:r>
              <a:rPr lang="en-US" altLang="zh-CN" sz="2200"/>
              <a:t>T </a:t>
            </a:r>
            <a:r>
              <a:rPr lang="en-US" altLang="zh-CN" sz="2200">
                <a:sym typeface="Wingdings" pitchFamily="2" charset="2"/>
              </a:rPr>
              <a:t></a:t>
            </a:r>
            <a:r>
              <a:rPr lang="en-US" altLang="zh-CN" sz="2200"/>
              <a:t> FT'</a:t>
            </a:r>
            <a:br>
              <a:rPr lang="en-US" altLang="zh-CN" sz="2200"/>
            </a:br>
            <a:r>
              <a:rPr lang="en-US" altLang="zh-CN" sz="2200"/>
              <a:t>T' </a:t>
            </a:r>
            <a:r>
              <a:rPr lang="en-US" altLang="zh-CN" sz="2200">
                <a:sym typeface="Wingdings" pitchFamily="2" charset="2"/>
              </a:rPr>
              <a:t></a:t>
            </a:r>
            <a:r>
              <a:rPr lang="en-US" altLang="zh-CN" sz="2200"/>
              <a:t> *FT' |ε</a:t>
            </a:r>
            <a:br>
              <a:rPr lang="en-US" altLang="zh-CN" sz="2200"/>
            </a:br>
            <a:r>
              <a:rPr lang="en-US" altLang="zh-CN" sz="2200"/>
              <a:t>F </a:t>
            </a:r>
            <a:r>
              <a:rPr lang="en-US" altLang="zh-CN" sz="2200">
                <a:sym typeface="Wingdings" pitchFamily="2" charset="2"/>
              </a:rPr>
              <a:t></a:t>
            </a:r>
            <a:r>
              <a:rPr lang="en-US" altLang="zh-CN" sz="2200"/>
              <a:t>(E) |i </a:t>
            </a:r>
          </a:p>
        </p:txBody>
      </p:sp>
      <p:sp>
        <p:nvSpPr>
          <p:cNvPr id="18" name="Rectangle 3"/>
          <p:cNvSpPr txBox="1">
            <a:spLocks noChangeArrowheads="1"/>
          </p:cNvSpPr>
          <p:nvPr/>
        </p:nvSpPr>
        <p:spPr>
          <a:xfrm>
            <a:off x="4859858" y="2139702"/>
            <a:ext cx="4284142" cy="2931790"/>
          </a:xfrm>
          <a:prstGeom prst="rect">
            <a:avLst/>
          </a:prstGeom>
          <a:solidFill>
            <a:schemeClr val="bg1"/>
          </a:solidFill>
          <a:ln w="28575">
            <a:solidFill>
              <a:schemeClr val="accent2"/>
            </a:solid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90000"/>
              </a:lnSpc>
              <a:spcBef>
                <a:spcPts val="0"/>
              </a:spcBef>
            </a:pP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存放当前输入符号</a:t>
            </a:r>
            <a:endParaRPr lang="en-US" altLang="zh-CN" sz="1800" dirty="0">
              <a:latin typeface="Times New Roman" panose="02020603050405020304" pitchFamily="18" charset="0"/>
              <a:ea typeface="宋体" panose="02010600030101010101" pitchFamily="2" charset="-122"/>
              <a:cs typeface="Times New Roman" panose="02020603050405020304" pitchFamily="18" charset="0"/>
            </a:endParaRPr>
          </a:p>
          <a:p>
            <a:pPr>
              <a:lnSpc>
                <a:spcPct val="90000"/>
              </a:lnSpc>
              <a:spcBef>
                <a:spcPts val="0"/>
              </a:spcBef>
            </a:pP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栈顶符号弹出存放在</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中</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a:t>
            </a:r>
            <a:r>
              <a:rPr lang="zh-CN" altLang="en-US"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终结符</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，表明成功</a:t>
            </a:r>
            <a:r>
              <a:rPr lang="zh-CN" altLang="en-US" sz="1600" b="1" dirty="0">
                <a:solidFill>
                  <a:srgbClr val="008000"/>
                </a:solidFill>
                <a:latin typeface="Times New Roman" panose="02020603050405020304" pitchFamily="18" charset="0"/>
                <a:ea typeface="宋体" panose="02010600030101010101" pitchFamily="2" charset="-122"/>
                <a:cs typeface="Times New Roman" panose="02020603050405020304" pitchFamily="18" charset="0"/>
              </a:rPr>
              <a:t>匹配</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符号</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读下一个符号到</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，否则有语法错，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是</a:t>
            </a:r>
            <a:r>
              <a:rPr lang="en-US" altLang="zh-CN"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en-US" altLang="zh-CN" sz="16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，分析结束，分析成功。</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en-US" altLang="zh-CN" sz="16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a:t>
            </a:r>
            <a:r>
              <a:rPr lang="zh-CN" altLang="en-US"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非终结符</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则</a:t>
            </a:r>
            <a:r>
              <a:rPr lang="zh-CN" altLang="en-US" sz="1800" b="1" dirty="0">
                <a:solidFill>
                  <a:srgbClr val="008000"/>
                </a:solidFill>
                <a:latin typeface="Times New Roman" panose="02020603050405020304" pitchFamily="18" charset="0"/>
                <a:ea typeface="宋体" panose="02010600030101010101" pitchFamily="2" charset="-122"/>
                <a:cs typeface="Times New Roman" panose="02020603050405020304" pitchFamily="18" charset="0"/>
              </a:rPr>
              <a:t>查分析表</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M:</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为空，有语法错，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1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2</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则</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p>
          <a:p>
            <a:pPr lvl="2">
              <a:lnSpc>
                <a:spcPct val="90000"/>
              </a:lnSpc>
              <a:spcBef>
                <a:spcPts val="0"/>
              </a:spcBef>
              <a:buFontTx/>
              <a:buNone/>
            </a:pP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将右部</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2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1</a:t>
            </a:r>
            <a:r>
              <a:rPr lang="zh-CN" altLang="en-US" sz="1600" b="1" dirty="0">
                <a:solidFill>
                  <a:srgbClr val="CC00FF"/>
                </a:solidFill>
                <a:latin typeface="Times New Roman" panose="02020603050405020304" pitchFamily="18" charset="0"/>
                <a:ea typeface="宋体" panose="02010600030101010101" pitchFamily="2" charset="-122"/>
                <a:cs typeface="Times New Roman" panose="02020603050405020304" pitchFamily="18" charset="0"/>
              </a:rPr>
              <a:t>反序</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压入堆栈中。  </a:t>
            </a:r>
          </a:p>
        </p:txBody>
      </p:sp>
      <p:sp>
        <p:nvSpPr>
          <p:cNvPr id="101378" name="Rectangle 2"/>
          <p:cNvSpPr>
            <a:spLocks noGrp="1" noChangeArrowheads="1"/>
          </p:cNvSpPr>
          <p:nvPr>
            <p:ph type="title"/>
          </p:nvPr>
        </p:nvSpPr>
        <p:spPr>
          <a:xfrm>
            <a:off x="179512" y="51470"/>
            <a:ext cx="3744342" cy="857250"/>
          </a:xfrm>
        </p:spPr>
        <p:txBody>
          <a:bodyPr>
            <a:normAutofit/>
          </a:bodyPr>
          <a:lstStyle/>
          <a:p>
            <a:pPr eaLnBrk="1" hangingPunct="1"/>
            <a:r>
              <a:rPr lang="zh-CN" altLang="en-US" sz="4400" dirty="0">
                <a:solidFill>
                  <a:srgbClr val="D60093"/>
                </a:solidFill>
                <a:ea typeface="隶书" pitchFamily="49" charset="-122"/>
              </a:rPr>
              <a:t>预测分析过程</a:t>
            </a:r>
          </a:p>
        </p:txBody>
      </p:sp>
      <p:sp>
        <p:nvSpPr>
          <p:cNvPr id="101379" name="Rectangle 3"/>
          <p:cNvSpPr>
            <a:spLocks noGrp="1" noChangeArrowheads="1"/>
          </p:cNvSpPr>
          <p:nvPr>
            <p:ph type="body" sz="half" idx="1"/>
          </p:nvPr>
        </p:nvSpPr>
        <p:spPr>
          <a:xfrm>
            <a:off x="251520" y="752474"/>
            <a:ext cx="3453804" cy="1008112"/>
          </a:xfrm>
        </p:spPr>
        <p:txBody>
          <a:bodyPr>
            <a:noAutofit/>
          </a:bodyPr>
          <a:lstStyle/>
          <a:p>
            <a:pPr eaLnBrk="1" hangingPunct="1"/>
            <a:r>
              <a:rPr lang="zh-CN" altLang="en-US" sz="2000" dirty="0">
                <a:latin typeface="宋体" panose="02010600030101010101" pitchFamily="2" charset="-122"/>
                <a:ea typeface="宋体" panose="02010600030101010101" pitchFamily="2" charset="-122"/>
              </a:rPr>
              <a:t>下面用预测分析方法对输入串</a:t>
            </a:r>
            <a:r>
              <a:rPr lang="en-US" altLang="zh-CN" sz="2800" b="1" dirty="0" err="1">
                <a:solidFill>
                  <a:srgbClr val="FF0000"/>
                </a:solidFill>
                <a:latin typeface="宋体" panose="02010600030101010101" pitchFamily="2" charset="-122"/>
                <a:ea typeface="宋体" panose="02010600030101010101" pitchFamily="2" charset="-122"/>
              </a:rPr>
              <a:t>i+i</a:t>
            </a:r>
            <a:r>
              <a:rPr lang="en-US" altLang="zh-CN" sz="2800" b="1" dirty="0">
                <a:solidFill>
                  <a:srgbClr val="FF0000"/>
                </a:solidFill>
                <a:latin typeface="宋体" panose="02010600030101010101" pitchFamily="2" charset="-122"/>
                <a:ea typeface="宋体" panose="02010600030101010101" pitchFamily="2" charset="-122"/>
              </a:rPr>
              <a:t>*</a:t>
            </a:r>
            <a:r>
              <a:rPr lang="en-US" altLang="zh-CN" sz="2800" b="1" dirty="0" err="1">
                <a:solidFill>
                  <a:srgbClr val="FF0000"/>
                </a:solidFill>
                <a:latin typeface="宋体" panose="02010600030101010101" pitchFamily="2" charset="-122"/>
                <a:ea typeface="宋体" panose="02010600030101010101" pitchFamily="2" charset="-122"/>
              </a:rPr>
              <a:t>i</a:t>
            </a:r>
            <a:r>
              <a:rPr lang="en-US" altLang="zh-CN" sz="2000" dirty="0">
                <a:latin typeface="宋体" panose="02010600030101010101" pitchFamily="2" charset="-122"/>
                <a:ea typeface="宋体" panose="02010600030101010101" pitchFamily="2" charset="-122"/>
              </a:rPr>
              <a:t> </a:t>
            </a:r>
            <a:r>
              <a:rPr lang="zh-CN" altLang="en-US" sz="2000" dirty="0">
                <a:latin typeface="宋体" panose="02010600030101010101" pitchFamily="2" charset="-122"/>
                <a:ea typeface="宋体" panose="02010600030101010101" pitchFamily="2" charset="-122"/>
              </a:rPr>
              <a:t>进行分析，给出栈的变化过程如下：</a:t>
            </a:r>
          </a:p>
        </p:txBody>
      </p:sp>
      <p:graphicFrame>
        <p:nvGraphicFramePr>
          <p:cNvPr id="122944" name="Group 64"/>
          <p:cNvGraphicFramePr>
            <a:graphicFrameLocks noGrp="1"/>
          </p:cNvGraphicFramePr>
          <p:nvPr>
            <p:ph sz="half" idx="2"/>
            <p:extLst>
              <p:ext uri="{D42A27DB-BD31-4B8C-83A1-F6EECF244321}">
                <p14:modId xmlns:p14="http://schemas.microsoft.com/office/powerpoint/2010/main" val="1927863772"/>
              </p:ext>
            </p:extLst>
          </p:nvPr>
        </p:nvGraphicFramePr>
        <p:xfrm>
          <a:off x="92845" y="2083021"/>
          <a:ext cx="4703117" cy="2720977"/>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90">
                  <a:extLst>
                    <a:ext uri="{9D8B030D-6E8A-4147-A177-3AD203B41FA5}">
                      <a16:colId xmlns:a16="http://schemas.microsoft.com/office/drawing/2014/main" val="20002"/>
                    </a:ext>
                  </a:extLst>
                </a:gridCol>
                <a:gridCol w="1478178">
                  <a:extLst>
                    <a:ext uri="{9D8B030D-6E8A-4147-A177-3AD203B41FA5}">
                      <a16:colId xmlns:a16="http://schemas.microsoft.com/office/drawing/2014/main" val="20003"/>
                    </a:ext>
                  </a:extLst>
                </a:gridCol>
              </a:tblGrid>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Times New Roman" pitchFamily="18" charset="0"/>
                          <a:ea typeface="宋体" pitchFamily="2" charset="-122"/>
                        </a:rPr>
                        <a:t>步骤</a:t>
                      </a: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a:ln>
                            <a:noFill/>
                          </a:ln>
                          <a:solidFill>
                            <a:schemeClr val="tx1"/>
                          </a:solidFill>
                          <a:effectLst/>
                          <a:latin typeface="Times New Roman" pitchFamily="18" charset="0"/>
                          <a:ea typeface="宋体" pitchFamily="2" charset="-122"/>
                        </a:rPr>
                        <a:t>分析栈</a:t>
                      </a: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a:ln>
                            <a:noFill/>
                          </a:ln>
                          <a:solidFill>
                            <a:schemeClr val="tx1"/>
                          </a:solidFill>
                          <a:effectLst/>
                          <a:latin typeface="Times New Roman" pitchFamily="18" charset="0"/>
                          <a:ea typeface="宋体" pitchFamily="2" charset="-122"/>
                        </a:rPr>
                        <a:t>剩余输入串</a:t>
                      </a: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Times New Roman" pitchFamily="18" charset="0"/>
                          <a:ea typeface="宋体" pitchFamily="2" charset="-122"/>
                        </a:rPr>
                        <a:t>所用产生式</a:t>
                      </a: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accent2"/>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388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98" marB="342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98" marB="342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endParaRPr>
                    </a:p>
                  </a:txBody>
                  <a:tcPr marT="34298" marB="342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bl>
          </a:graphicData>
        </a:graphic>
      </p:graphicFrame>
      <p:sp>
        <p:nvSpPr>
          <p:cNvPr id="101422" name="Line 172"/>
          <p:cNvSpPr>
            <a:spLocks noChangeShapeType="1"/>
          </p:cNvSpPr>
          <p:nvPr/>
        </p:nvSpPr>
        <p:spPr bwMode="auto">
          <a:xfrm>
            <a:off x="6315329" y="5641973"/>
            <a:ext cx="165834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01423" name="Group 174"/>
          <p:cNvGrpSpPr>
            <a:grpSpLocks/>
          </p:cNvGrpSpPr>
          <p:nvPr/>
        </p:nvGrpSpPr>
        <p:grpSpPr bwMode="auto">
          <a:xfrm>
            <a:off x="759474" y="2441077"/>
            <a:ext cx="1238543" cy="452761"/>
            <a:chOff x="2021" y="3988"/>
            <a:chExt cx="1000" cy="321"/>
          </a:xfrm>
        </p:grpSpPr>
        <p:sp>
          <p:nvSpPr>
            <p:cNvPr id="101496" name="Line 170"/>
            <p:cNvSpPr>
              <a:spLocks noChangeShapeType="1"/>
            </p:cNvSpPr>
            <p:nvPr/>
          </p:nvSpPr>
          <p:spPr bwMode="auto">
            <a:xfrm>
              <a:off x="2032" y="3988"/>
              <a:ext cx="989"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7" name="Line 171"/>
            <p:cNvSpPr>
              <a:spLocks noChangeShapeType="1"/>
            </p:cNvSpPr>
            <p:nvPr/>
          </p:nvSpPr>
          <p:spPr bwMode="auto">
            <a:xfrm>
              <a:off x="2021" y="3988"/>
              <a:ext cx="11" cy="321"/>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8" name="Line 173"/>
            <p:cNvSpPr>
              <a:spLocks noChangeShapeType="1"/>
            </p:cNvSpPr>
            <p:nvPr/>
          </p:nvSpPr>
          <p:spPr bwMode="auto">
            <a:xfrm>
              <a:off x="2022" y="4298"/>
              <a:ext cx="978"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123068" name="Group 188"/>
          <p:cNvGraphicFramePr>
            <a:graphicFrameLocks noGrp="1"/>
          </p:cNvGraphicFramePr>
          <p:nvPr>
            <p:extLst>
              <p:ext uri="{D42A27DB-BD31-4B8C-83A1-F6EECF244321}">
                <p14:modId xmlns:p14="http://schemas.microsoft.com/office/powerpoint/2010/main" val="1060795381"/>
              </p:ext>
            </p:extLst>
          </p:nvPr>
        </p:nvGraphicFramePr>
        <p:xfrm>
          <a:off x="84907" y="2485020"/>
          <a:ext cx="4703117" cy="388106"/>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90">
                  <a:extLst>
                    <a:ext uri="{9D8B030D-6E8A-4147-A177-3AD203B41FA5}">
                      <a16:colId xmlns:a16="http://schemas.microsoft.com/office/drawing/2014/main" val="20002"/>
                    </a:ext>
                  </a:extLst>
                </a:gridCol>
                <a:gridCol w="1478178">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123081" name="Group 201"/>
          <p:cNvGraphicFramePr>
            <a:graphicFrameLocks noGrp="1"/>
          </p:cNvGraphicFramePr>
          <p:nvPr>
            <p:extLst>
              <p:ext uri="{D42A27DB-BD31-4B8C-83A1-F6EECF244321}">
                <p14:modId xmlns:p14="http://schemas.microsoft.com/office/powerpoint/2010/main" val="485933643"/>
              </p:ext>
            </p:extLst>
          </p:nvPr>
        </p:nvGraphicFramePr>
        <p:xfrm>
          <a:off x="84907" y="2858913"/>
          <a:ext cx="4703117" cy="388106"/>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89">
                  <a:extLst>
                    <a:ext uri="{9D8B030D-6E8A-4147-A177-3AD203B41FA5}">
                      <a16:colId xmlns:a16="http://schemas.microsoft.com/office/drawing/2014/main" val="20002"/>
                    </a:ext>
                  </a:extLst>
                </a:gridCol>
                <a:gridCol w="1478179">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2</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i+i*i#</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FT </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3103" name="Group 223"/>
          <p:cNvGraphicFramePr>
            <a:graphicFrameLocks noGrp="1"/>
          </p:cNvGraphicFramePr>
          <p:nvPr>
            <p:extLst>
              <p:ext uri="{D42A27DB-BD31-4B8C-83A1-F6EECF244321}">
                <p14:modId xmlns:p14="http://schemas.microsoft.com/office/powerpoint/2010/main" val="615854072"/>
              </p:ext>
            </p:extLst>
          </p:nvPr>
        </p:nvGraphicFramePr>
        <p:xfrm>
          <a:off x="84907" y="3246263"/>
          <a:ext cx="4703117" cy="388938"/>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89">
                  <a:extLst>
                    <a:ext uri="{9D8B030D-6E8A-4147-A177-3AD203B41FA5}">
                      <a16:colId xmlns:a16="http://schemas.microsoft.com/office/drawing/2014/main" val="20002"/>
                    </a:ext>
                  </a:extLst>
                </a:gridCol>
                <a:gridCol w="1478179">
                  <a:extLst>
                    <a:ext uri="{9D8B030D-6E8A-4147-A177-3AD203B41FA5}">
                      <a16:colId xmlns:a16="http://schemas.microsoft.com/office/drawing/2014/main" val="20003"/>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3</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i+i*i#</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F</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3116" name="Group 236"/>
          <p:cNvGraphicFramePr>
            <a:graphicFrameLocks noGrp="1"/>
          </p:cNvGraphicFramePr>
          <p:nvPr>
            <p:extLst>
              <p:ext uri="{D42A27DB-BD31-4B8C-83A1-F6EECF244321}">
                <p14:modId xmlns:p14="http://schemas.microsoft.com/office/powerpoint/2010/main" val="3807970264"/>
              </p:ext>
            </p:extLst>
          </p:nvPr>
        </p:nvGraphicFramePr>
        <p:xfrm>
          <a:off x="83320" y="3635201"/>
          <a:ext cx="4703117" cy="388106"/>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90">
                  <a:extLst>
                    <a:ext uri="{9D8B030D-6E8A-4147-A177-3AD203B41FA5}">
                      <a16:colId xmlns:a16="http://schemas.microsoft.com/office/drawing/2014/main" val="20002"/>
                    </a:ext>
                  </a:extLst>
                </a:gridCol>
                <a:gridCol w="1478178">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4</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accent2"/>
                          </a:solidFill>
                          <a:effectLst/>
                          <a:latin typeface="Times New Roman" panose="02020603050405020304" pitchFamily="18" charset="0"/>
                          <a:ea typeface="宋体" panose="02010600030101010101" pitchFamily="2" charset="-122"/>
                        </a:rPr>
                        <a:t>i</a:t>
                      </a:r>
                      <a:r>
                        <a:rPr kumimoji="1" lang="zh-CN" altLang="en-US" sz="2100" b="0"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匹配</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3129" name="Group 249"/>
          <p:cNvGraphicFramePr>
            <a:graphicFrameLocks noGrp="1"/>
          </p:cNvGraphicFramePr>
          <p:nvPr>
            <p:extLst>
              <p:ext uri="{D42A27DB-BD31-4B8C-83A1-F6EECF244321}">
                <p14:modId xmlns:p14="http://schemas.microsoft.com/office/powerpoint/2010/main" val="2811636303"/>
              </p:ext>
            </p:extLst>
          </p:nvPr>
        </p:nvGraphicFramePr>
        <p:xfrm>
          <a:off x="83320" y="4022551"/>
          <a:ext cx="4703117" cy="388937"/>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90">
                  <a:extLst>
                    <a:ext uri="{9D8B030D-6E8A-4147-A177-3AD203B41FA5}">
                      <a16:colId xmlns:a16="http://schemas.microsoft.com/office/drawing/2014/main" val="20002"/>
                    </a:ext>
                  </a:extLst>
                </a:gridCol>
                <a:gridCol w="1478178">
                  <a:extLst>
                    <a:ext uri="{9D8B030D-6E8A-4147-A177-3AD203B41FA5}">
                      <a16:colId xmlns:a16="http://schemas.microsoft.com/office/drawing/2014/main" val="20003"/>
                    </a:ext>
                  </a:extLst>
                </a:gridCol>
              </a:tblGrid>
              <a:tr h="38893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ε</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3142" name="Group 262"/>
          <p:cNvGraphicFramePr>
            <a:graphicFrameLocks noGrp="1"/>
          </p:cNvGraphicFramePr>
          <p:nvPr>
            <p:extLst>
              <p:ext uri="{D42A27DB-BD31-4B8C-83A1-F6EECF244321}">
                <p14:modId xmlns:p14="http://schemas.microsoft.com/office/powerpoint/2010/main" val="1179446861"/>
              </p:ext>
            </p:extLst>
          </p:nvPr>
        </p:nvGraphicFramePr>
        <p:xfrm>
          <a:off x="84907" y="4411488"/>
          <a:ext cx="4703117" cy="388106"/>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89">
                  <a:extLst>
                    <a:ext uri="{9D8B030D-6E8A-4147-A177-3AD203B41FA5}">
                      <a16:colId xmlns:a16="http://schemas.microsoft.com/office/drawing/2014/main" val="20002"/>
                    </a:ext>
                  </a:extLst>
                </a:gridCol>
                <a:gridCol w="1478179">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6</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7" name="Group 181"/>
          <p:cNvGraphicFramePr>
            <a:graphicFrameLocks/>
          </p:cNvGraphicFramePr>
          <p:nvPr>
            <p:extLst>
              <p:ext uri="{D42A27DB-BD31-4B8C-83A1-F6EECF244321}">
                <p14:modId xmlns:p14="http://schemas.microsoft.com/office/powerpoint/2010/main" val="2456728619"/>
              </p:ext>
            </p:extLst>
          </p:nvPr>
        </p:nvGraphicFramePr>
        <p:xfrm>
          <a:off x="4788024" y="123477"/>
          <a:ext cx="4320481" cy="1944217"/>
        </p:xfrm>
        <a:graphic>
          <a:graphicData uri="http://schemas.openxmlformats.org/drawingml/2006/table">
            <a:tbl>
              <a:tblPr/>
              <a:tblGrid>
                <a:gridCol w="324559">
                  <a:extLst>
                    <a:ext uri="{9D8B030D-6E8A-4147-A177-3AD203B41FA5}">
                      <a16:colId xmlns:a16="http://schemas.microsoft.com/office/drawing/2014/main" val="20000"/>
                    </a:ext>
                  </a:extLst>
                </a:gridCol>
                <a:gridCol w="644504">
                  <a:extLst>
                    <a:ext uri="{9D8B030D-6E8A-4147-A177-3AD203B41FA5}">
                      <a16:colId xmlns:a16="http://schemas.microsoft.com/office/drawing/2014/main" val="20001"/>
                    </a:ext>
                  </a:extLst>
                </a:gridCol>
                <a:gridCol w="773404">
                  <a:extLst>
                    <a:ext uri="{9D8B030D-6E8A-4147-A177-3AD203B41FA5}">
                      <a16:colId xmlns:a16="http://schemas.microsoft.com/office/drawing/2014/main" val="20002"/>
                    </a:ext>
                  </a:extLst>
                </a:gridCol>
                <a:gridCol w="773404">
                  <a:extLst>
                    <a:ext uri="{9D8B030D-6E8A-4147-A177-3AD203B41FA5}">
                      <a16:colId xmlns:a16="http://schemas.microsoft.com/office/drawing/2014/main" val="20003"/>
                    </a:ext>
                  </a:extLst>
                </a:gridCol>
                <a:gridCol w="644504">
                  <a:extLst>
                    <a:ext uri="{9D8B030D-6E8A-4147-A177-3AD203B41FA5}">
                      <a16:colId xmlns:a16="http://schemas.microsoft.com/office/drawing/2014/main" val="20004"/>
                    </a:ext>
                  </a:extLst>
                </a:gridCol>
                <a:gridCol w="580053">
                  <a:extLst>
                    <a:ext uri="{9D8B030D-6E8A-4147-A177-3AD203B41FA5}">
                      <a16:colId xmlns:a16="http://schemas.microsoft.com/office/drawing/2014/main" val="20005"/>
                    </a:ext>
                  </a:extLst>
                </a:gridCol>
                <a:gridCol w="580053">
                  <a:extLst>
                    <a:ext uri="{9D8B030D-6E8A-4147-A177-3AD203B41FA5}">
                      <a16:colId xmlns:a16="http://schemas.microsoft.com/office/drawing/2014/main" val="20006"/>
                    </a:ext>
                  </a:extLst>
                </a:gridCol>
              </a:tblGrid>
              <a:tr h="29587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2444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2988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3533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4077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1791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Fi</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F(E)</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graphicFrame>
        <p:nvGraphicFramePr>
          <p:cNvPr id="20" name="Group 188"/>
          <p:cNvGraphicFramePr>
            <a:graphicFrameLocks noGrp="1"/>
          </p:cNvGraphicFramePr>
          <p:nvPr>
            <p:extLst>
              <p:ext uri="{D42A27DB-BD31-4B8C-83A1-F6EECF244321}">
                <p14:modId xmlns:p14="http://schemas.microsoft.com/office/powerpoint/2010/main" val="2581212663"/>
              </p:ext>
            </p:extLst>
          </p:nvPr>
        </p:nvGraphicFramePr>
        <p:xfrm>
          <a:off x="84907" y="2485020"/>
          <a:ext cx="4703117" cy="388106"/>
        </p:xfrm>
        <a:graphic>
          <a:graphicData uri="http://schemas.openxmlformats.org/drawingml/2006/table">
            <a:tbl>
              <a:tblPr/>
              <a:tblGrid>
                <a:gridCol w="672438">
                  <a:extLst>
                    <a:ext uri="{9D8B030D-6E8A-4147-A177-3AD203B41FA5}">
                      <a16:colId xmlns:a16="http://schemas.microsoft.com/office/drawing/2014/main" val="20000"/>
                    </a:ext>
                  </a:extLst>
                </a:gridCol>
                <a:gridCol w="1208611">
                  <a:extLst>
                    <a:ext uri="{9D8B030D-6E8A-4147-A177-3AD203B41FA5}">
                      <a16:colId xmlns:a16="http://schemas.microsoft.com/office/drawing/2014/main" val="20001"/>
                    </a:ext>
                  </a:extLst>
                </a:gridCol>
                <a:gridCol w="1343890">
                  <a:extLst>
                    <a:ext uri="{9D8B030D-6E8A-4147-A177-3AD203B41FA5}">
                      <a16:colId xmlns:a16="http://schemas.microsoft.com/office/drawing/2014/main" val="20002"/>
                    </a:ext>
                  </a:extLst>
                </a:gridCol>
                <a:gridCol w="1478178">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endParaRP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41181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29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14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8" presetClass="entr" presetSubtype="12"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strips(downLeft)">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499"/>
                                          </p:stCondLst>
                                        </p:cTn>
                                        <p:tgtEl>
                                          <p:spTgt spid="20"/>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499"/>
                                          </p:stCondLst>
                                        </p:cTn>
                                        <p:tgtEl>
                                          <p:spTgt spid="123068"/>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499"/>
                                          </p:stCondLst>
                                        </p:cTn>
                                        <p:tgtEl>
                                          <p:spTgt spid="123081"/>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499"/>
                                          </p:stCondLst>
                                        </p:cTn>
                                        <p:tgtEl>
                                          <p:spTgt spid="123103"/>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499"/>
                                          </p:stCondLst>
                                        </p:cTn>
                                        <p:tgtEl>
                                          <p:spTgt spid="12311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499"/>
                                          </p:stCondLst>
                                        </p:cTn>
                                        <p:tgtEl>
                                          <p:spTgt spid="123129"/>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499"/>
                                          </p:stCondLst>
                                        </p:cTn>
                                        <p:tgtEl>
                                          <p:spTgt spid="1231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936" name="Group 80"/>
          <p:cNvGraphicFramePr>
            <a:graphicFrameLocks noGrp="1"/>
          </p:cNvGraphicFramePr>
          <p:nvPr>
            <p:ph idx="1"/>
            <p:extLst>
              <p:ext uri="{D42A27DB-BD31-4B8C-83A1-F6EECF244321}">
                <p14:modId xmlns:p14="http://schemas.microsoft.com/office/powerpoint/2010/main" val="2966969252"/>
              </p:ext>
            </p:extLst>
          </p:nvPr>
        </p:nvGraphicFramePr>
        <p:xfrm>
          <a:off x="179512" y="267494"/>
          <a:ext cx="4531742" cy="4680516"/>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9004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Times New Roman" pitchFamily="18" charset="0"/>
                          <a:ea typeface="宋体" pitchFamily="2" charset="-122"/>
                        </a:rPr>
                        <a:t>步骤</a:t>
                      </a: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a:ln>
                            <a:noFill/>
                          </a:ln>
                          <a:solidFill>
                            <a:schemeClr val="tx1"/>
                          </a:solidFill>
                          <a:effectLst/>
                          <a:latin typeface="Times New Roman" pitchFamily="18" charset="0"/>
                          <a:ea typeface="宋体" pitchFamily="2" charset="-122"/>
                        </a:rPr>
                        <a:t>分析栈</a:t>
                      </a: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a:ln>
                            <a:noFill/>
                          </a:ln>
                          <a:solidFill>
                            <a:schemeClr val="tx1"/>
                          </a:solidFill>
                          <a:effectLst/>
                          <a:latin typeface="Times New Roman" pitchFamily="18" charset="0"/>
                          <a:ea typeface="宋体" pitchFamily="2" charset="-122"/>
                        </a:rPr>
                        <a:t>剩余输入串</a:t>
                      </a: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Times New Roman" pitchFamily="18" charset="0"/>
                          <a:ea typeface="宋体" pitchFamily="2" charset="-122"/>
                        </a:rPr>
                        <a:t>所用产生式</a:t>
                      </a: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accent2"/>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accent2"/>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accent2"/>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accent2"/>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宋体" pitchFamily="2" charset="-122"/>
                        <a:ea typeface="宋体" pitchFamily="2" charset="-122"/>
                        <a:sym typeface="Symbol" pitchFamily="18" charset="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9004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5" marB="3429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bl>
          </a:graphicData>
        </a:graphic>
      </p:graphicFrame>
      <p:graphicFrame>
        <p:nvGraphicFramePr>
          <p:cNvPr id="121949" name="Group 93"/>
          <p:cNvGraphicFramePr>
            <a:graphicFrameLocks noGrp="1"/>
          </p:cNvGraphicFramePr>
          <p:nvPr>
            <p:extLst>
              <p:ext uri="{D42A27DB-BD31-4B8C-83A1-F6EECF244321}">
                <p14:modId xmlns:p14="http://schemas.microsoft.com/office/powerpoint/2010/main" val="857667692"/>
              </p:ext>
            </p:extLst>
          </p:nvPr>
        </p:nvGraphicFramePr>
        <p:xfrm>
          <a:off x="185862" y="656431"/>
          <a:ext cx="4531742" cy="38893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7</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r>
                        <a:rPr kumimoji="1" lang="zh-CN" altLang="en-US" sz="21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匹配</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962" name="Group 106"/>
          <p:cNvGraphicFramePr>
            <a:graphicFrameLocks noGrp="1"/>
          </p:cNvGraphicFramePr>
          <p:nvPr>
            <p:extLst>
              <p:ext uri="{D42A27DB-BD31-4B8C-83A1-F6EECF244321}">
                <p14:modId xmlns:p14="http://schemas.microsoft.com/office/powerpoint/2010/main" val="2832504309"/>
              </p:ext>
            </p:extLst>
          </p:nvPr>
        </p:nvGraphicFramePr>
        <p:xfrm>
          <a:off x="187449" y="1046956"/>
          <a:ext cx="4531742" cy="388106"/>
        </p:xfrm>
        <a:graphic>
          <a:graphicData uri="http://schemas.openxmlformats.org/drawingml/2006/table">
            <a:tbl>
              <a:tblPr/>
              <a:tblGrid>
                <a:gridCol w="678631">
                  <a:extLst>
                    <a:ext uri="{9D8B030D-6E8A-4147-A177-3AD203B41FA5}">
                      <a16:colId xmlns:a16="http://schemas.microsoft.com/office/drawing/2014/main" val="20000"/>
                    </a:ext>
                  </a:extLst>
                </a:gridCol>
                <a:gridCol w="988727">
                  <a:extLst>
                    <a:ext uri="{9D8B030D-6E8A-4147-A177-3AD203B41FA5}">
                      <a16:colId xmlns:a16="http://schemas.microsoft.com/office/drawing/2014/main" val="20001"/>
                    </a:ext>
                  </a:extLst>
                </a:gridCol>
                <a:gridCol w="1277144">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8</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975" name="Group 119"/>
          <p:cNvGraphicFramePr>
            <a:graphicFrameLocks noGrp="1"/>
          </p:cNvGraphicFramePr>
          <p:nvPr>
            <p:extLst>
              <p:ext uri="{D42A27DB-BD31-4B8C-83A1-F6EECF244321}">
                <p14:modId xmlns:p14="http://schemas.microsoft.com/office/powerpoint/2010/main" val="1701014758"/>
              </p:ext>
            </p:extLst>
          </p:nvPr>
        </p:nvGraphicFramePr>
        <p:xfrm>
          <a:off x="185862" y="1434306"/>
          <a:ext cx="4531742" cy="38893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9</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a:t>
                      </a: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997" name="Group 141"/>
          <p:cNvGraphicFramePr>
            <a:graphicFrameLocks noGrp="1"/>
          </p:cNvGraphicFramePr>
          <p:nvPr>
            <p:extLst>
              <p:ext uri="{D42A27DB-BD31-4B8C-83A1-F6EECF244321}">
                <p14:modId xmlns:p14="http://schemas.microsoft.com/office/powerpoint/2010/main" val="3290234752"/>
              </p:ext>
            </p:extLst>
          </p:nvPr>
        </p:nvGraphicFramePr>
        <p:xfrm>
          <a:off x="185862" y="1823244"/>
          <a:ext cx="4531742" cy="38808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7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10</a:t>
                      </a:r>
                    </a:p>
                  </a:txBody>
                  <a:tcPr marT="34024" marB="3402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#E</a:t>
                      </a:r>
                      <a:r>
                        <a:rPr kumimoji="1" lang="en-US" altLang="zh-CN" sz="2100" b="0" i="0" u="none" strike="noStrike" cap="none" normalizeH="0" baseline="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a:ln>
                            <a:noFill/>
                          </a:ln>
                          <a:solidFill>
                            <a:schemeClr val="tx1"/>
                          </a:solidFill>
                          <a:effectLst/>
                          <a:latin typeface="Times New Roman" pitchFamily="18" charset="0"/>
                          <a:ea typeface="宋体" pitchFamily="2" charset="-122"/>
                        </a:rPr>
                        <a:t>i</a:t>
                      </a:r>
                    </a:p>
                  </a:txBody>
                  <a:tcPr marT="34024" marB="3402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i*i#</a:t>
                      </a:r>
                    </a:p>
                  </a:txBody>
                  <a:tcPr marT="34024" marB="3402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accent2"/>
                          </a:solidFill>
                          <a:effectLst/>
                          <a:latin typeface="Times New Roman" pitchFamily="18" charset="0"/>
                          <a:ea typeface="宋体" pitchFamily="2" charset="-122"/>
                        </a:rPr>
                        <a:t>i</a:t>
                      </a:r>
                      <a:r>
                        <a:rPr kumimoji="1" lang="zh-CN" altLang="en-US" sz="2100" b="0" i="0" u="none" strike="noStrike" cap="none" normalizeH="0" baseline="0">
                          <a:ln>
                            <a:noFill/>
                          </a:ln>
                          <a:solidFill>
                            <a:schemeClr val="accent2"/>
                          </a:solidFill>
                          <a:effectLst/>
                          <a:latin typeface="Times New Roman" pitchFamily="18" charset="0"/>
                          <a:ea typeface="宋体" pitchFamily="2" charset="-122"/>
                        </a:rPr>
                        <a:t>匹配</a:t>
                      </a:r>
                    </a:p>
                  </a:txBody>
                  <a:tcPr marT="34024" marB="3402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10" name="Group 154"/>
          <p:cNvGraphicFramePr>
            <a:graphicFrameLocks noGrp="1"/>
          </p:cNvGraphicFramePr>
          <p:nvPr>
            <p:extLst>
              <p:ext uri="{D42A27DB-BD31-4B8C-83A1-F6EECF244321}">
                <p14:modId xmlns:p14="http://schemas.microsoft.com/office/powerpoint/2010/main" val="1837662956"/>
              </p:ext>
            </p:extLst>
          </p:nvPr>
        </p:nvGraphicFramePr>
        <p:xfrm>
          <a:off x="184274" y="2209006"/>
          <a:ext cx="4531742" cy="388938"/>
        </p:xfrm>
        <a:graphic>
          <a:graphicData uri="http://schemas.openxmlformats.org/drawingml/2006/table">
            <a:tbl>
              <a:tblPr/>
              <a:tblGrid>
                <a:gridCol w="678631">
                  <a:extLst>
                    <a:ext uri="{9D8B030D-6E8A-4147-A177-3AD203B41FA5}">
                      <a16:colId xmlns:a16="http://schemas.microsoft.com/office/drawing/2014/main" val="20000"/>
                    </a:ext>
                  </a:extLst>
                </a:gridCol>
                <a:gridCol w="988727">
                  <a:extLst>
                    <a:ext uri="{9D8B030D-6E8A-4147-A177-3AD203B41FA5}">
                      <a16:colId xmlns:a16="http://schemas.microsoft.com/office/drawing/2014/main" val="20001"/>
                    </a:ext>
                  </a:extLst>
                </a:gridCol>
                <a:gridCol w="1277144">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89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11</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#E</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*i#</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*FT</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23" name="Group 167"/>
          <p:cNvGraphicFramePr>
            <a:graphicFrameLocks noGrp="1"/>
          </p:cNvGraphicFramePr>
          <p:nvPr>
            <p:extLst>
              <p:ext uri="{D42A27DB-BD31-4B8C-83A1-F6EECF244321}">
                <p14:modId xmlns:p14="http://schemas.microsoft.com/office/powerpoint/2010/main" val="2295645040"/>
              </p:ext>
            </p:extLst>
          </p:nvPr>
        </p:nvGraphicFramePr>
        <p:xfrm>
          <a:off x="179512" y="2571750"/>
          <a:ext cx="4531742" cy="388088"/>
        </p:xfrm>
        <a:graphic>
          <a:graphicData uri="http://schemas.openxmlformats.org/drawingml/2006/table">
            <a:tbl>
              <a:tblPr/>
              <a:tblGrid>
                <a:gridCol w="678631">
                  <a:extLst>
                    <a:ext uri="{9D8B030D-6E8A-4147-A177-3AD203B41FA5}">
                      <a16:colId xmlns:a16="http://schemas.microsoft.com/office/drawing/2014/main" val="20000"/>
                    </a:ext>
                  </a:extLst>
                </a:gridCol>
                <a:gridCol w="1121569">
                  <a:extLst>
                    <a:ext uri="{9D8B030D-6E8A-4147-A177-3AD203B41FA5}">
                      <a16:colId xmlns:a16="http://schemas.microsoft.com/office/drawing/2014/main" val="20001"/>
                    </a:ext>
                  </a:extLst>
                </a:gridCol>
                <a:gridCol w="1144302">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7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12</a:t>
                      </a:r>
                    </a:p>
                  </a:txBody>
                  <a:tcPr marT="34024" marB="34024"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#E</a:t>
                      </a:r>
                      <a:r>
                        <a:rPr kumimoji="1" lang="en-US" altLang="zh-CN" sz="2100" b="0" i="0" u="none" strike="noStrike" cap="none" normalizeH="0" baseline="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a:ln>
                            <a:noFill/>
                          </a:ln>
                          <a:solidFill>
                            <a:schemeClr val="tx1"/>
                          </a:solidFill>
                          <a:effectLst/>
                          <a:latin typeface="Times New Roman" pitchFamily="18" charset="0"/>
                          <a:ea typeface="宋体" pitchFamily="2" charset="-122"/>
                        </a:rPr>
                        <a:t>F*</a:t>
                      </a:r>
                    </a:p>
                  </a:txBody>
                  <a:tcPr marT="34024" marB="34024"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itchFamily="18" charset="0"/>
                          <a:ea typeface="宋体" pitchFamily="2" charset="-122"/>
                        </a:rPr>
                        <a:t>*i#</a:t>
                      </a:r>
                    </a:p>
                  </a:txBody>
                  <a:tcPr marT="34024" marB="34024"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accent2"/>
                          </a:solidFill>
                          <a:effectLst/>
                          <a:latin typeface="Times New Roman" pitchFamily="18" charset="0"/>
                          <a:ea typeface="宋体" pitchFamily="2" charset="-122"/>
                        </a:rPr>
                        <a:t>*</a:t>
                      </a:r>
                      <a:r>
                        <a:rPr kumimoji="1" lang="zh-CN" altLang="en-US" sz="2100" b="0" i="0" u="none" strike="noStrike" cap="none" normalizeH="0" baseline="0" dirty="0">
                          <a:ln>
                            <a:noFill/>
                          </a:ln>
                          <a:solidFill>
                            <a:schemeClr val="accent2"/>
                          </a:solidFill>
                          <a:effectLst/>
                          <a:latin typeface="Times New Roman" pitchFamily="18" charset="0"/>
                          <a:ea typeface="宋体" pitchFamily="2" charset="-122"/>
                        </a:rPr>
                        <a:t>匹配</a:t>
                      </a:r>
                    </a:p>
                  </a:txBody>
                  <a:tcPr marT="34024" marB="34024"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36" name="Group 180"/>
          <p:cNvGraphicFramePr>
            <a:graphicFrameLocks noGrp="1"/>
          </p:cNvGraphicFramePr>
          <p:nvPr>
            <p:extLst>
              <p:ext uri="{D42A27DB-BD31-4B8C-83A1-F6EECF244321}">
                <p14:modId xmlns:p14="http://schemas.microsoft.com/office/powerpoint/2010/main" val="4005835452"/>
              </p:ext>
            </p:extLst>
          </p:nvPr>
        </p:nvGraphicFramePr>
        <p:xfrm>
          <a:off x="185862" y="2975470"/>
          <a:ext cx="4531742" cy="38836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2443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13</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#E</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dirty="0">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F</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i</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F</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sym typeface="Symbol" pitchFamily="18" charset="2"/>
                        </a:rPr>
                        <a:t></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 </a:t>
                      </a: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i</a:t>
                      </a:r>
                      <a:endParaRPr kumimoji="1" lang="en-US"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122049" name="Group 193"/>
          <p:cNvGraphicFramePr>
            <a:graphicFrameLocks noGrp="1"/>
          </p:cNvGraphicFramePr>
          <p:nvPr>
            <p:extLst>
              <p:ext uri="{D42A27DB-BD31-4B8C-83A1-F6EECF244321}">
                <p14:modId xmlns:p14="http://schemas.microsoft.com/office/powerpoint/2010/main" val="2421644713"/>
              </p:ext>
            </p:extLst>
          </p:nvPr>
        </p:nvGraphicFramePr>
        <p:xfrm>
          <a:off x="179512" y="3363838"/>
          <a:ext cx="4531742" cy="38808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600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14</a:t>
                      </a:r>
                    </a:p>
                  </a:txBody>
                  <a:tcPr marT="34024" marB="3402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a:t>
                      </a: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E</a:t>
                      </a:r>
                      <a:r>
                        <a:rPr kumimoji="1" lang="en-US" altLang="zh-CN" sz="2100" b="0" i="0" u="none" strike="noStrike" cap="none" normalizeH="0" baseline="0" dirty="0" err="1">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T</a:t>
                      </a:r>
                      <a:r>
                        <a:rPr kumimoji="1" lang="en-US" altLang="zh-CN" sz="2100" b="0" i="0" u="none" strike="noStrike" cap="none" normalizeH="0" baseline="0" dirty="0" err="1">
                          <a:ln>
                            <a:noFill/>
                          </a:ln>
                          <a:solidFill>
                            <a:schemeClr val="tx1"/>
                          </a:solidFill>
                          <a:effectLst/>
                          <a:latin typeface="宋体" pitchFamily="2" charset="-122"/>
                          <a:ea typeface="宋体" pitchFamily="2" charset="-122"/>
                          <a:sym typeface="Symbol" pitchFamily="18" charset="2"/>
                        </a:rPr>
                        <a:t></a:t>
                      </a: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i</a:t>
                      </a:r>
                      <a:endParaRPr kumimoji="1" lang="en-US"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024" marB="3402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itchFamily="18" charset="0"/>
                          <a:ea typeface="宋体" pitchFamily="2" charset="-122"/>
                        </a:rPr>
                        <a:t>i</a:t>
                      </a:r>
                      <a:r>
                        <a:rPr kumimoji="1" lang="en-US" altLang="zh-CN" sz="2100" b="0" i="0" u="none" strike="noStrike" cap="none" normalizeH="0" baseline="0" dirty="0">
                          <a:ln>
                            <a:noFill/>
                          </a:ln>
                          <a:solidFill>
                            <a:schemeClr val="tx1"/>
                          </a:solidFill>
                          <a:effectLst/>
                          <a:latin typeface="Times New Roman" pitchFamily="18" charset="0"/>
                          <a:ea typeface="宋体" pitchFamily="2" charset="-122"/>
                        </a:rPr>
                        <a:t>#</a:t>
                      </a:r>
                    </a:p>
                  </a:txBody>
                  <a:tcPr marT="34024" marB="3402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accent2"/>
                          </a:solidFill>
                          <a:effectLst/>
                          <a:latin typeface="Times New Roman" pitchFamily="18" charset="0"/>
                          <a:ea typeface="宋体" pitchFamily="2" charset="-122"/>
                        </a:rPr>
                        <a:t>i</a:t>
                      </a:r>
                      <a:r>
                        <a:rPr kumimoji="1" lang="zh-CN" altLang="en-US" sz="2100" b="0" i="0" u="none" strike="noStrike" cap="none" normalizeH="0" baseline="0" dirty="0">
                          <a:ln>
                            <a:noFill/>
                          </a:ln>
                          <a:solidFill>
                            <a:schemeClr val="accent2"/>
                          </a:solidFill>
                          <a:effectLst/>
                          <a:latin typeface="Times New Roman" pitchFamily="18" charset="0"/>
                          <a:ea typeface="宋体" pitchFamily="2" charset="-122"/>
                        </a:rPr>
                        <a:t>匹配</a:t>
                      </a:r>
                    </a:p>
                  </a:txBody>
                  <a:tcPr marT="34024" marB="3402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62" name="Group 206"/>
          <p:cNvGraphicFramePr>
            <a:graphicFrameLocks noGrp="1"/>
          </p:cNvGraphicFramePr>
          <p:nvPr>
            <p:extLst>
              <p:ext uri="{D42A27DB-BD31-4B8C-83A1-F6EECF244321}">
                <p14:modId xmlns:p14="http://schemas.microsoft.com/office/powerpoint/2010/main" val="1190685314"/>
              </p:ext>
            </p:extLst>
          </p:nvPr>
        </p:nvGraphicFramePr>
        <p:xfrm>
          <a:off x="185862" y="3763169"/>
          <a:ext cx="4531742" cy="388937"/>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893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15</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ε</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75" name="Group 219"/>
          <p:cNvGraphicFramePr>
            <a:graphicFrameLocks noGrp="1"/>
          </p:cNvGraphicFramePr>
          <p:nvPr>
            <p:extLst>
              <p:ext uri="{D42A27DB-BD31-4B8C-83A1-F6EECF244321}">
                <p14:modId xmlns:p14="http://schemas.microsoft.com/office/powerpoint/2010/main" val="2172354282"/>
              </p:ext>
            </p:extLst>
          </p:nvPr>
        </p:nvGraphicFramePr>
        <p:xfrm>
          <a:off x="185862" y="4152106"/>
          <a:ext cx="4531742" cy="388106"/>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16</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ε</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2088" name="Group 232"/>
          <p:cNvGraphicFramePr>
            <a:graphicFrameLocks noGrp="1"/>
          </p:cNvGraphicFramePr>
          <p:nvPr>
            <p:extLst>
              <p:ext uri="{D42A27DB-BD31-4B8C-83A1-F6EECF244321}">
                <p14:modId xmlns:p14="http://schemas.microsoft.com/office/powerpoint/2010/main" val="811748686"/>
              </p:ext>
            </p:extLst>
          </p:nvPr>
        </p:nvGraphicFramePr>
        <p:xfrm>
          <a:off x="185862" y="4539456"/>
          <a:ext cx="4531742" cy="388938"/>
        </p:xfrm>
        <a:graphic>
          <a:graphicData uri="http://schemas.openxmlformats.org/drawingml/2006/table">
            <a:tbl>
              <a:tblPr/>
              <a:tblGrid>
                <a:gridCol w="678631">
                  <a:extLst>
                    <a:ext uri="{9D8B030D-6E8A-4147-A177-3AD203B41FA5}">
                      <a16:colId xmlns:a16="http://schemas.microsoft.com/office/drawing/2014/main" val="20000"/>
                    </a:ext>
                  </a:extLst>
                </a:gridCol>
                <a:gridCol w="988726">
                  <a:extLst>
                    <a:ext uri="{9D8B030D-6E8A-4147-A177-3AD203B41FA5}">
                      <a16:colId xmlns:a16="http://schemas.microsoft.com/office/drawing/2014/main" val="20001"/>
                    </a:ext>
                  </a:extLst>
                </a:gridCol>
                <a:gridCol w="1277145">
                  <a:extLst>
                    <a:ext uri="{9D8B030D-6E8A-4147-A177-3AD203B41FA5}">
                      <a16:colId xmlns:a16="http://schemas.microsoft.com/office/drawing/2014/main" val="20002"/>
                    </a:ext>
                  </a:extLst>
                </a:gridCol>
                <a:gridCol w="1587240">
                  <a:extLst>
                    <a:ext uri="{9D8B030D-6E8A-4147-A177-3AD203B41FA5}">
                      <a16:colId xmlns:a16="http://schemas.microsoft.com/office/drawing/2014/main" val="20003"/>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17</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zh-CN" altLang="en-US"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接受 </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4" name="Group 181"/>
          <p:cNvGraphicFramePr>
            <a:graphicFrameLocks/>
          </p:cNvGraphicFramePr>
          <p:nvPr>
            <p:extLst>
              <p:ext uri="{D42A27DB-BD31-4B8C-83A1-F6EECF244321}">
                <p14:modId xmlns:p14="http://schemas.microsoft.com/office/powerpoint/2010/main" val="3814546149"/>
              </p:ext>
            </p:extLst>
          </p:nvPr>
        </p:nvGraphicFramePr>
        <p:xfrm>
          <a:off x="4788023" y="195487"/>
          <a:ext cx="4320481" cy="1944215"/>
        </p:xfrm>
        <a:graphic>
          <a:graphicData uri="http://schemas.openxmlformats.org/drawingml/2006/table">
            <a:tbl>
              <a:tblPr/>
              <a:tblGrid>
                <a:gridCol w="324559">
                  <a:extLst>
                    <a:ext uri="{9D8B030D-6E8A-4147-A177-3AD203B41FA5}">
                      <a16:colId xmlns:a16="http://schemas.microsoft.com/office/drawing/2014/main" val="20000"/>
                    </a:ext>
                  </a:extLst>
                </a:gridCol>
                <a:gridCol w="644504">
                  <a:extLst>
                    <a:ext uri="{9D8B030D-6E8A-4147-A177-3AD203B41FA5}">
                      <a16:colId xmlns:a16="http://schemas.microsoft.com/office/drawing/2014/main" val="20001"/>
                    </a:ext>
                  </a:extLst>
                </a:gridCol>
                <a:gridCol w="773404">
                  <a:extLst>
                    <a:ext uri="{9D8B030D-6E8A-4147-A177-3AD203B41FA5}">
                      <a16:colId xmlns:a16="http://schemas.microsoft.com/office/drawing/2014/main" val="20002"/>
                    </a:ext>
                  </a:extLst>
                </a:gridCol>
                <a:gridCol w="773404">
                  <a:extLst>
                    <a:ext uri="{9D8B030D-6E8A-4147-A177-3AD203B41FA5}">
                      <a16:colId xmlns:a16="http://schemas.microsoft.com/office/drawing/2014/main" val="20003"/>
                    </a:ext>
                  </a:extLst>
                </a:gridCol>
                <a:gridCol w="644504">
                  <a:extLst>
                    <a:ext uri="{9D8B030D-6E8A-4147-A177-3AD203B41FA5}">
                      <a16:colId xmlns:a16="http://schemas.microsoft.com/office/drawing/2014/main" val="20004"/>
                    </a:ext>
                  </a:extLst>
                </a:gridCol>
                <a:gridCol w="580053">
                  <a:extLst>
                    <a:ext uri="{9D8B030D-6E8A-4147-A177-3AD203B41FA5}">
                      <a16:colId xmlns:a16="http://schemas.microsoft.com/office/drawing/2014/main" val="20005"/>
                    </a:ext>
                  </a:extLst>
                </a:gridCol>
                <a:gridCol w="580053">
                  <a:extLst>
                    <a:ext uri="{9D8B030D-6E8A-4147-A177-3AD203B41FA5}">
                      <a16:colId xmlns:a16="http://schemas.microsoft.com/office/drawing/2014/main" val="20006"/>
                    </a:ext>
                  </a:extLst>
                </a:gridCol>
              </a:tblGrid>
              <a:tr h="29587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2444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2988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3533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4077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1791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Fi</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F(E)</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sp>
        <p:nvSpPr>
          <p:cNvPr id="16" name="Rectangle 3"/>
          <p:cNvSpPr txBox="1">
            <a:spLocks noChangeArrowheads="1"/>
          </p:cNvSpPr>
          <p:nvPr/>
        </p:nvSpPr>
        <p:spPr>
          <a:xfrm>
            <a:off x="4859858" y="2160240"/>
            <a:ext cx="4284142" cy="2931790"/>
          </a:xfrm>
          <a:prstGeom prst="rect">
            <a:avLst/>
          </a:prstGeom>
          <a:solidFill>
            <a:schemeClr val="bg1"/>
          </a:solidFill>
          <a:ln w="28575">
            <a:solidFill>
              <a:schemeClr val="accent2"/>
            </a:solid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90000"/>
              </a:lnSpc>
              <a:spcBef>
                <a:spcPts val="0"/>
              </a:spcBef>
            </a:pP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存放当前输入符号</a:t>
            </a:r>
            <a:endParaRPr lang="en-US" altLang="zh-CN" sz="1800" dirty="0">
              <a:latin typeface="Times New Roman" panose="02020603050405020304" pitchFamily="18" charset="0"/>
              <a:ea typeface="宋体" panose="02010600030101010101" pitchFamily="2" charset="-122"/>
              <a:cs typeface="Times New Roman" panose="02020603050405020304" pitchFamily="18" charset="0"/>
            </a:endParaRPr>
          </a:p>
          <a:p>
            <a:pPr>
              <a:lnSpc>
                <a:spcPct val="90000"/>
              </a:lnSpc>
              <a:spcBef>
                <a:spcPts val="0"/>
              </a:spcBef>
            </a:pP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栈顶符号弹出存放在</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中</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a:t>
            </a:r>
            <a:r>
              <a:rPr lang="zh-CN" altLang="en-US"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终结符</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，表明成功</a:t>
            </a:r>
            <a:r>
              <a:rPr lang="zh-CN" altLang="en-US" sz="1600" b="1" dirty="0">
                <a:solidFill>
                  <a:srgbClr val="008000"/>
                </a:solidFill>
                <a:latin typeface="Times New Roman" panose="02020603050405020304" pitchFamily="18" charset="0"/>
                <a:ea typeface="宋体" panose="02010600030101010101" pitchFamily="2" charset="-122"/>
                <a:cs typeface="Times New Roman" panose="02020603050405020304" pitchFamily="18" charset="0"/>
              </a:rPr>
              <a:t>匹配</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符号</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读下一个符号到</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，否则有语法错，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是</a:t>
            </a:r>
            <a:r>
              <a:rPr lang="en-US" altLang="zh-CN"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en-US" altLang="zh-CN" sz="16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，分析结束，分析成功。</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a:t>
            </a:r>
            <a:r>
              <a:rPr lang="en-US" altLang="zh-CN" sz="16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a:lnSpc>
                <a:spcPct val="90000"/>
              </a:lnSpc>
              <a:spcBef>
                <a:spcPts val="0"/>
              </a:spcBef>
            </a:pP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X</a:t>
            </a:r>
            <a:r>
              <a:rPr lang="zh-CN" altLang="en-US" sz="18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为</a:t>
            </a:r>
            <a:r>
              <a:rPr lang="zh-CN" altLang="en-US" sz="18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非终结符</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800" dirty="0">
                <a:latin typeface="Times New Roman" panose="02020603050405020304" pitchFamily="18" charset="0"/>
                <a:ea typeface="宋体" panose="02010600030101010101" pitchFamily="2" charset="-122"/>
                <a:cs typeface="Times New Roman" panose="02020603050405020304" pitchFamily="18" charset="0"/>
              </a:rPr>
              <a:t>则</a:t>
            </a:r>
            <a:r>
              <a:rPr lang="zh-CN" altLang="en-US" sz="1800" b="1" dirty="0">
                <a:solidFill>
                  <a:srgbClr val="008000"/>
                </a:solidFill>
                <a:latin typeface="Times New Roman" panose="02020603050405020304" pitchFamily="18" charset="0"/>
                <a:ea typeface="宋体" panose="02010600030101010101" pitchFamily="2" charset="-122"/>
                <a:cs typeface="Times New Roman" panose="02020603050405020304" pitchFamily="18" charset="0"/>
              </a:rPr>
              <a:t>查分析表</a:t>
            </a:r>
            <a:r>
              <a:rPr lang="en-US" altLang="zh-CN" sz="1800" dirty="0">
                <a:latin typeface="Times New Roman" panose="02020603050405020304" pitchFamily="18" charset="0"/>
                <a:ea typeface="宋体" panose="02010600030101010101" pitchFamily="2" charset="-122"/>
                <a:cs typeface="Times New Roman" panose="02020603050405020304" pitchFamily="18" charset="0"/>
              </a:rPr>
              <a:t>M:</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为空，有语法错，</a:t>
            </a:r>
            <a:r>
              <a:rPr lang="zh-CN" altLang="en-US" sz="1600" dirty="0">
                <a:solidFill>
                  <a:srgbClr val="0000CC"/>
                </a:solidFill>
                <a:latin typeface="Times New Roman" panose="02020603050405020304" pitchFamily="18" charset="0"/>
                <a:ea typeface="宋体" panose="02010600030101010101" pitchFamily="2" charset="-122"/>
                <a:cs typeface="Times New Roman" panose="02020603050405020304" pitchFamily="18" charset="0"/>
              </a:rPr>
              <a:t>出错</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处理。</a:t>
            </a:r>
          </a:p>
          <a:p>
            <a:pPr lvl="1">
              <a:lnSpc>
                <a:spcPct val="90000"/>
              </a:lnSpc>
              <a:spcBef>
                <a:spcPts val="0"/>
              </a:spcBef>
            </a:pP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如果</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M[</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1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2</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则</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p>
          <a:p>
            <a:pPr lvl="2">
              <a:lnSpc>
                <a:spcPct val="90000"/>
              </a:lnSpc>
              <a:spcBef>
                <a:spcPts val="0"/>
              </a:spcBef>
              <a:buFontTx/>
              <a:buNone/>
            </a:pP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  </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将右部</a:t>
            </a:r>
            <a:r>
              <a:rPr lang="en-US" altLang="zh-CN" sz="1600" dirty="0" err="1">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err="1">
                <a:latin typeface="Times New Roman" panose="02020603050405020304" pitchFamily="18" charset="0"/>
                <a:ea typeface="宋体" panose="02010600030101010101" pitchFamily="2" charset="-122"/>
                <a:cs typeface="Times New Roman" panose="02020603050405020304" pitchFamily="18" charset="0"/>
              </a:rPr>
              <a:t>n</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2 </a:t>
            </a:r>
            <a:r>
              <a:rPr lang="en-US" altLang="zh-CN" sz="1600" dirty="0">
                <a:latin typeface="Times New Roman" panose="02020603050405020304" pitchFamily="18" charset="0"/>
                <a:ea typeface="宋体" panose="02010600030101010101" pitchFamily="2" charset="-122"/>
                <a:cs typeface="Times New Roman" panose="02020603050405020304" pitchFamily="18" charset="0"/>
              </a:rPr>
              <a:t>X</a:t>
            </a:r>
            <a:r>
              <a:rPr lang="en-US" altLang="zh-CN" sz="1600" baseline="-25000" dirty="0">
                <a:latin typeface="Times New Roman" panose="02020603050405020304" pitchFamily="18" charset="0"/>
                <a:ea typeface="宋体" panose="02010600030101010101" pitchFamily="2" charset="-122"/>
                <a:cs typeface="Times New Roman" panose="02020603050405020304" pitchFamily="18" charset="0"/>
              </a:rPr>
              <a:t>1</a:t>
            </a:r>
            <a:r>
              <a:rPr lang="zh-CN" altLang="en-US" sz="1600" b="1" dirty="0">
                <a:solidFill>
                  <a:srgbClr val="CC00FF"/>
                </a:solidFill>
                <a:latin typeface="Times New Roman" panose="02020603050405020304" pitchFamily="18" charset="0"/>
                <a:ea typeface="宋体" panose="02010600030101010101" pitchFamily="2" charset="-122"/>
                <a:cs typeface="Times New Roman" panose="02020603050405020304" pitchFamily="18" charset="0"/>
              </a:rPr>
              <a:t>反序</a:t>
            </a:r>
            <a:r>
              <a:rPr lang="zh-CN" altLang="en-US" sz="1600" dirty="0">
                <a:latin typeface="Times New Roman" panose="02020603050405020304" pitchFamily="18" charset="0"/>
                <a:ea typeface="宋体" panose="02010600030101010101" pitchFamily="2" charset="-122"/>
                <a:cs typeface="Times New Roman" panose="02020603050405020304" pitchFamily="18" charset="0"/>
              </a:rPr>
              <a:t>压入堆栈中。  </a:t>
            </a:r>
          </a:p>
        </p:txBody>
      </p:sp>
    </p:spTree>
    <p:extLst>
      <p:ext uri="{BB962C8B-B14F-4D97-AF65-F5344CB8AC3E}">
        <p14:creationId xmlns:p14="http://schemas.microsoft.com/office/powerpoint/2010/main" val="12112737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2194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12196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12197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12199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122010"/>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122023"/>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499"/>
                                          </p:stCondLst>
                                        </p:cTn>
                                        <p:tgtEl>
                                          <p:spTgt spid="12203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499"/>
                                          </p:stCondLst>
                                        </p:cTn>
                                        <p:tgtEl>
                                          <p:spTgt spid="122049"/>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499"/>
                                          </p:stCondLst>
                                        </p:cTn>
                                        <p:tgtEl>
                                          <p:spTgt spid="122062"/>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499"/>
                                          </p:stCondLst>
                                        </p:cTn>
                                        <p:tgtEl>
                                          <p:spTgt spid="122075"/>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499"/>
                                          </p:stCondLst>
                                        </p:cTn>
                                        <p:tgtEl>
                                          <p:spTgt spid="1220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标题 1"/>
          <p:cNvSpPr>
            <a:spLocks noGrp="1"/>
          </p:cNvSpPr>
          <p:nvPr>
            <p:ph type="title"/>
          </p:nvPr>
        </p:nvSpPr>
        <p:spPr>
          <a:xfrm>
            <a:off x="700088" y="0"/>
            <a:ext cx="7772400" cy="730250"/>
          </a:xfrm>
        </p:spPr>
        <p:txBody>
          <a:bodyPr>
            <a:noAutofit/>
          </a:bodyPr>
          <a:lstStyle/>
          <a:p>
            <a:r>
              <a:rPr lang="en-US" altLang="zh-CN" sz="4400" dirty="0">
                <a:solidFill>
                  <a:srgbClr val="D60093"/>
                </a:solidFill>
                <a:ea typeface="隶书" pitchFamily="49" charset="-122"/>
              </a:rPr>
              <a:t>LL(1)</a:t>
            </a:r>
            <a:r>
              <a:rPr lang="zh-CN" altLang="en-US" sz="4400" dirty="0">
                <a:solidFill>
                  <a:srgbClr val="D60093"/>
                </a:solidFill>
                <a:ea typeface="隶书" pitchFamily="49" charset="-122"/>
              </a:rPr>
              <a:t>预测分析程序设计</a:t>
            </a:r>
          </a:p>
        </p:txBody>
      </p:sp>
      <p:sp>
        <p:nvSpPr>
          <p:cNvPr id="103427" name="内容占位符 2"/>
          <p:cNvSpPr>
            <a:spLocks noGrp="1"/>
          </p:cNvSpPr>
          <p:nvPr>
            <p:ph idx="1"/>
          </p:nvPr>
        </p:nvSpPr>
        <p:spPr>
          <a:xfrm>
            <a:off x="395536" y="705990"/>
            <a:ext cx="8280920" cy="4419600"/>
          </a:xfrm>
          <a:solidFill>
            <a:schemeClr val="bg1"/>
          </a:solidFill>
        </p:spPr>
        <p:txBody>
          <a:bodyPr>
            <a:noAutofit/>
          </a:bodyPr>
          <a:lstStyle/>
          <a:p>
            <a:r>
              <a:rPr lang="zh-CN" altLang="en-US" sz="2200" dirty="0">
                <a:latin typeface="宋体" panose="02010600030101010101" pitchFamily="2" charset="-122"/>
                <a:ea typeface="宋体" panose="02010600030101010101" pitchFamily="2" charset="-122"/>
              </a:rPr>
              <a:t>非递归的预测分析就是利用预测分析总控程序根据</a:t>
            </a:r>
            <a:r>
              <a:rPr lang="zh-CN" altLang="en-US" sz="2200" dirty="0">
                <a:solidFill>
                  <a:srgbClr val="FF0000"/>
                </a:solidFill>
                <a:latin typeface="宋体" panose="02010600030101010101" pitchFamily="2" charset="-122"/>
                <a:ea typeface="宋体" panose="02010600030101010101" pitchFamily="2" charset="-122"/>
              </a:rPr>
              <a:t>栈顶内容、输入符号串中的当前符号、预测分析表</a:t>
            </a:r>
            <a:r>
              <a:rPr lang="zh-CN" altLang="en-US" sz="2200" dirty="0">
                <a:latin typeface="宋体" panose="02010600030101010101" pitchFamily="2" charset="-122"/>
                <a:ea typeface="宋体" panose="02010600030101010101" pitchFamily="2" charset="-122"/>
              </a:rPr>
              <a:t>，对输入符号串自上而下的分析过程。</a:t>
            </a:r>
            <a:endParaRPr lang="en-US" altLang="zh-CN" sz="2200" dirty="0">
              <a:latin typeface="宋体" panose="02010600030101010101" pitchFamily="2" charset="-122"/>
              <a:ea typeface="宋体" panose="02010600030101010101" pitchFamily="2" charset="-122"/>
            </a:endParaRPr>
          </a:p>
          <a:p>
            <a:r>
              <a:rPr lang="zh-CN" altLang="en-US" sz="2200" dirty="0">
                <a:latin typeface="宋体" panose="02010600030101010101" pitchFamily="2" charset="-122"/>
                <a:ea typeface="宋体" panose="02010600030101010101" pitchFamily="2" charset="-122"/>
              </a:rPr>
              <a:t>程序设计中最重要的两个问题是预测分析表的构造和相关数据结构的设计。</a:t>
            </a:r>
            <a:endParaRPr lang="en-US" altLang="zh-CN" sz="2200" dirty="0">
              <a:latin typeface="宋体" panose="02010600030101010101" pitchFamily="2" charset="-122"/>
              <a:ea typeface="宋体" panose="02010600030101010101" pitchFamily="2" charset="-122"/>
            </a:endParaRPr>
          </a:p>
          <a:p>
            <a:r>
              <a:rPr lang="zh-CN" altLang="en-US" sz="2200" dirty="0">
                <a:latin typeface="宋体" panose="02010600030101010101" pitchFamily="2" charset="-122"/>
                <a:ea typeface="宋体" panose="02010600030101010101" pitchFamily="2" charset="-122"/>
              </a:rPr>
              <a:t>对文法要进行先消除左递归、提取左因子等操作，把非</a:t>
            </a:r>
            <a:r>
              <a:rPr lang="en-US" altLang="zh-CN" sz="2200" dirty="0">
                <a:latin typeface="宋体" panose="02010600030101010101" pitchFamily="2" charset="-122"/>
                <a:ea typeface="宋体" panose="02010600030101010101" pitchFamily="2" charset="-122"/>
              </a:rPr>
              <a:t>LL(1)</a:t>
            </a:r>
            <a:r>
              <a:rPr lang="zh-CN" altLang="en-US" sz="2200" dirty="0">
                <a:latin typeface="宋体" panose="02010600030101010101" pitchFamily="2" charset="-122"/>
                <a:ea typeface="宋体" panose="02010600030101010101" pitchFamily="2" charset="-122"/>
              </a:rPr>
              <a:t>文法改造成</a:t>
            </a:r>
            <a:r>
              <a:rPr lang="en-US" altLang="zh-CN" sz="2200" dirty="0">
                <a:latin typeface="宋体" panose="02010600030101010101" pitchFamily="2" charset="-122"/>
                <a:ea typeface="宋体" panose="02010600030101010101" pitchFamily="2" charset="-122"/>
              </a:rPr>
              <a:t>LL(1)</a:t>
            </a:r>
            <a:r>
              <a:rPr lang="zh-CN" altLang="en-US" sz="2200" dirty="0">
                <a:latin typeface="宋体" panose="02010600030101010101" pitchFamily="2" charset="-122"/>
                <a:ea typeface="宋体" panose="02010600030101010101" pitchFamily="2" charset="-122"/>
              </a:rPr>
              <a:t>文法。</a:t>
            </a:r>
            <a:endParaRPr lang="en-US" altLang="zh-CN" sz="2200" dirty="0">
              <a:latin typeface="宋体" panose="02010600030101010101" pitchFamily="2" charset="-122"/>
              <a:ea typeface="宋体" panose="02010600030101010101" pitchFamily="2" charset="-122"/>
            </a:endParaRPr>
          </a:p>
          <a:p>
            <a:r>
              <a:rPr lang="zh-CN" altLang="en-US" sz="2200" dirty="0">
                <a:latin typeface="宋体" panose="02010600030101010101" pitchFamily="2" charset="-122"/>
                <a:ea typeface="宋体" panose="02010600030101010101" pitchFamily="2" charset="-122"/>
              </a:rPr>
              <a:t>预测分析表的构造首先必须计算文法每个非终结符的</a:t>
            </a:r>
            <a:r>
              <a:rPr lang="en-US" altLang="zh-CN" sz="2200" dirty="0">
                <a:latin typeface="宋体" panose="02010600030101010101" pitchFamily="2" charset="-122"/>
                <a:ea typeface="宋体" panose="02010600030101010101" pitchFamily="2" charset="-122"/>
              </a:rPr>
              <a:t>First</a:t>
            </a:r>
            <a:r>
              <a:rPr lang="zh-CN" altLang="en-US" sz="2200" dirty="0">
                <a:latin typeface="宋体" panose="02010600030101010101" pitchFamily="2" charset="-122"/>
                <a:ea typeface="宋体" panose="02010600030101010101" pitchFamily="2" charset="-122"/>
              </a:rPr>
              <a:t>集和</a:t>
            </a:r>
            <a:r>
              <a:rPr lang="en-US" altLang="zh-CN" sz="2200" dirty="0">
                <a:latin typeface="宋体" panose="02010600030101010101" pitchFamily="2" charset="-122"/>
                <a:ea typeface="宋体" panose="02010600030101010101" pitchFamily="2" charset="-122"/>
              </a:rPr>
              <a:t>Follow</a:t>
            </a:r>
            <a:r>
              <a:rPr lang="zh-CN" altLang="en-US" sz="2200" dirty="0">
                <a:latin typeface="宋体" panose="02010600030101010101" pitchFamily="2" charset="-122"/>
                <a:ea typeface="宋体" panose="02010600030101010101" pitchFamily="2" charset="-122"/>
              </a:rPr>
              <a:t>集。</a:t>
            </a:r>
            <a:endParaRPr lang="en-US" altLang="zh-CN" sz="2200" dirty="0">
              <a:latin typeface="宋体" panose="02010600030101010101" pitchFamily="2" charset="-122"/>
              <a:ea typeface="宋体" panose="02010600030101010101" pitchFamily="2" charset="-122"/>
            </a:endParaRPr>
          </a:p>
          <a:p>
            <a:r>
              <a:rPr lang="zh-CN" altLang="en-US" sz="2200" dirty="0">
                <a:latin typeface="宋体" panose="02010600030101010101" pitchFamily="2" charset="-122"/>
                <a:ea typeface="宋体" panose="02010600030101010101" pitchFamily="2" charset="-122"/>
              </a:rPr>
              <a:t>主要涉及到的数据结构：</a:t>
            </a:r>
            <a:r>
              <a:rPr lang="zh-CN" altLang="en-US" sz="2200" dirty="0">
                <a:solidFill>
                  <a:srgbClr val="FF0000"/>
                </a:solidFill>
                <a:latin typeface="宋体" panose="02010600030101010101" pitchFamily="2" charset="-122"/>
                <a:ea typeface="宋体" panose="02010600030101010101" pitchFamily="2" charset="-122"/>
              </a:rPr>
              <a:t>栈；输入串</a:t>
            </a:r>
            <a:r>
              <a:rPr lang="zh-CN" altLang="en-US" sz="2200" dirty="0">
                <a:latin typeface="宋体" panose="02010600030101010101" pitchFamily="2" charset="-122"/>
                <a:ea typeface="宋体" panose="02010600030101010101" pitchFamily="2" charset="-122"/>
              </a:rPr>
              <a:t>；文法</a:t>
            </a:r>
            <a:r>
              <a:rPr lang="en-US" altLang="zh-CN" sz="2200" dirty="0">
                <a:latin typeface="宋体" panose="02010600030101010101" pitchFamily="2" charset="-122"/>
                <a:ea typeface="宋体" panose="02010600030101010101" pitchFamily="2" charset="-122"/>
              </a:rPr>
              <a:t>:</a:t>
            </a:r>
            <a:r>
              <a:rPr lang="zh-CN" altLang="en-US" sz="2200" dirty="0">
                <a:solidFill>
                  <a:srgbClr val="FF0000"/>
                </a:solidFill>
                <a:latin typeface="宋体" panose="02010600030101010101" pitchFamily="2" charset="-122"/>
                <a:ea typeface="宋体" panose="02010600030101010101" pitchFamily="2" charset="-122"/>
              </a:rPr>
              <a:t>终结符</a:t>
            </a:r>
            <a:r>
              <a:rPr lang="zh-CN" altLang="en-US" sz="2200" dirty="0">
                <a:latin typeface="宋体" panose="02010600030101010101" pitchFamily="2" charset="-122"/>
                <a:ea typeface="宋体" panose="02010600030101010101" pitchFamily="2" charset="-122"/>
              </a:rPr>
              <a:t>，</a:t>
            </a:r>
            <a:r>
              <a:rPr lang="zh-CN" altLang="en-US" sz="2200" dirty="0">
                <a:solidFill>
                  <a:srgbClr val="FF0000"/>
                </a:solidFill>
                <a:latin typeface="宋体" panose="02010600030101010101" pitchFamily="2" charset="-122"/>
                <a:ea typeface="宋体" panose="02010600030101010101" pitchFamily="2" charset="-122"/>
              </a:rPr>
              <a:t>非终结符</a:t>
            </a:r>
            <a:r>
              <a:rPr lang="en-US" altLang="zh-CN" sz="2200" dirty="0">
                <a:solidFill>
                  <a:srgbClr val="FF0000"/>
                </a:solidFill>
                <a:latin typeface="宋体" panose="02010600030101010101" pitchFamily="2" charset="-122"/>
                <a:ea typeface="宋体" panose="02010600030101010101" pitchFamily="2" charset="-122"/>
              </a:rPr>
              <a:t>,</a:t>
            </a:r>
            <a:r>
              <a:rPr lang="zh-CN" altLang="en-US" sz="2200" dirty="0">
                <a:solidFill>
                  <a:srgbClr val="FF0000"/>
                </a:solidFill>
                <a:latin typeface="宋体" panose="02010600030101010101" pitchFamily="2" charset="-122"/>
                <a:ea typeface="宋体" panose="02010600030101010101" pitchFamily="2" charset="-122"/>
              </a:rPr>
              <a:t>产生式；分析表</a:t>
            </a:r>
            <a:r>
              <a:rPr lang="zh-CN" altLang="en-US" sz="2200" dirty="0">
                <a:latin typeface="宋体" panose="02010600030101010101" pitchFamily="2" charset="-122"/>
                <a:ea typeface="宋体" panose="02010600030101010101" pitchFamily="2" charset="-122"/>
              </a:rPr>
              <a:t>。</a:t>
            </a:r>
          </a:p>
        </p:txBody>
      </p:sp>
    </p:spTree>
    <p:extLst>
      <p:ext uri="{BB962C8B-B14F-4D97-AF65-F5344CB8AC3E}">
        <p14:creationId xmlns:p14="http://schemas.microsoft.com/office/powerpoint/2010/main" val="287861630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49985" y="1971358"/>
            <a:ext cx="5327099" cy="1323439"/>
          </a:xfrm>
          <a:prstGeom prst="rect">
            <a:avLst/>
          </a:prstGeom>
        </p:spPr>
        <p:txBody>
          <a:bodyPr wrap="none">
            <a:spAutoFit/>
          </a:bodyPr>
          <a:lstStyle/>
          <a:p>
            <a:r>
              <a:rPr lang="en-US" altLang="zh-CN" sz="4000" b="1" dirty="0">
                <a:solidFill>
                  <a:srgbClr val="CC0099"/>
                </a:solidFill>
                <a:ea typeface="隶书" pitchFamily="49" charset="-122"/>
              </a:rPr>
              <a:t>5</a:t>
            </a:r>
            <a:r>
              <a:rPr lang="zh-CN" altLang="en-US" sz="4000" b="1" dirty="0">
                <a:solidFill>
                  <a:srgbClr val="CC0099"/>
                </a:solidFill>
                <a:ea typeface="隶书" pitchFamily="49" charset="-122"/>
              </a:rPr>
              <a:t>、预测分析方法</a:t>
            </a:r>
            <a:endParaRPr lang="en-US" altLang="zh-CN" sz="4000" b="1" dirty="0">
              <a:solidFill>
                <a:srgbClr val="CC0099"/>
              </a:solidFill>
              <a:ea typeface="隶书" pitchFamily="49" charset="-122"/>
            </a:endParaRPr>
          </a:p>
          <a:p>
            <a:r>
              <a:rPr lang="en-US" altLang="zh-CN" sz="4000" b="1" dirty="0">
                <a:solidFill>
                  <a:srgbClr val="CC0099"/>
                </a:solidFill>
                <a:ea typeface="隶书" pitchFamily="49" charset="-122"/>
              </a:rPr>
              <a:t>——</a:t>
            </a:r>
            <a:r>
              <a:rPr lang="zh-CN" altLang="en-US" sz="4000" b="1" dirty="0">
                <a:solidFill>
                  <a:srgbClr val="CC0099"/>
                </a:solidFill>
                <a:ea typeface="隶书" pitchFamily="49" charset="-122"/>
              </a:rPr>
              <a:t>预测分析表的构造</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250594263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a:xfrm>
            <a:off x="251520" y="0"/>
            <a:ext cx="4464496" cy="720080"/>
          </a:xfrm>
        </p:spPr>
        <p:txBody>
          <a:bodyPr>
            <a:noAutofit/>
          </a:bodyPr>
          <a:lstStyle/>
          <a:p>
            <a:pPr eaLnBrk="1" hangingPunct="1"/>
            <a:r>
              <a:rPr lang="zh-CN" altLang="en-US" sz="4400" dirty="0">
                <a:solidFill>
                  <a:srgbClr val="D60093"/>
                </a:solidFill>
                <a:ea typeface="隶书" pitchFamily="49" charset="-122"/>
              </a:rPr>
              <a:t>构造预测分析表</a:t>
            </a:r>
          </a:p>
        </p:txBody>
      </p:sp>
      <p:sp>
        <p:nvSpPr>
          <p:cNvPr id="104451" name="Rectangle 3"/>
          <p:cNvSpPr>
            <a:spLocks noGrp="1" noChangeArrowheads="1"/>
          </p:cNvSpPr>
          <p:nvPr>
            <p:ph type="body" idx="1"/>
          </p:nvPr>
        </p:nvSpPr>
        <p:spPr>
          <a:xfrm>
            <a:off x="143607" y="699542"/>
            <a:ext cx="4824536" cy="4443958"/>
          </a:xfrm>
          <a:solidFill>
            <a:schemeClr val="bg1"/>
          </a:solidFill>
        </p:spPr>
        <p:txBody>
          <a:bodyPr>
            <a:noAutofit/>
          </a:bodyPr>
          <a:lstStyle/>
          <a:p>
            <a:r>
              <a:rPr lang="zh-CN" altLang="en-US" sz="2100" dirty="0">
                <a:latin typeface="宋体" panose="02010600030101010101" pitchFamily="2" charset="-122"/>
                <a:ea typeface="宋体" panose="02010600030101010101" pitchFamily="2" charset="-122"/>
              </a:rPr>
              <a:t>非递归的预测分析就是利用预测分析的总控程序根据</a:t>
            </a:r>
            <a:r>
              <a:rPr lang="zh-CN" altLang="en-US" sz="2100" dirty="0">
                <a:solidFill>
                  <a:srgbClr val="FF0000"/>
                </a:solidFill>
                <a:latin typeface="宋体" panose="02010600030101010101" pitchFamily="2" charset="-122"/>
                <a:ea typeface="宋体" panose="02010600030101010101" pitchFamily="2" charset="-122"/>
              </a:rPr>
              <a:t>栈顶内容、预测分析表和当前读入的输入符号</a:t>
            </a:r>
            <a:r>
              <a:rPr lang="zh-CN" altLang="en-US" sz="2100" dirty="0">
                <a:latin typeface="宋体" panose="02010600030101010101" pitchFamily="2" charset="-122"/>
                <a:ea typeface="宋体" panose="02010600030101010101" pitchFamily="2" charset="-122"/>
              </a:rPr>
              <a:t>，对输入符号串自左至右的分析过程。</a:t>
            </a:r>
            <a:endParaRPr lang="en-US" altLang="zh-CN" sz="2100" dirty="0">
              <a:latin typeface="宋体" panose="02010600030101010101" pitchFamily="2" charset="-122"/>
              <a:ea typeface="宋体" panose="02010600030101010101" pitchFamily="2" charset="-122"/>
            </a:endParaRPr>
          </a:p>
          <a:p>
            <a:pPr eaLnBrk="1" hangingPunct="1"/>
            <a:r>
              <a:rPr lang="zh-CN" altLang="en-US" sz="2100" dirty="0">
                <a:latin typeface="宋体" panose="02010600030101010101" pitchFamily="2" charset="-122"/>
                <a:ea typeface="宋体" panose="02010600030101010101" pitchFamily="2" charset="-122"/>
              </a:rPr>
              <a:t>预测分析器的总控程序是固定的。分析表是和文法有关的，不同文法的分析表不同，分析表是分析过程的核心。</a:t>
            </a:r>
          </a:p>
        </p:txBody>
      </p:sp>
      <p:graphicFrame>
        <p:nvGraphicFramePr>
          <p:cNvPr id="2" name="对象 1"/>
          <p:cNvGraphicFramePr>
            <a:graphicFrameLocks noGrp="1"/>
          </p:cNvGraphicFramePr>
          <p:nvPr>
            <p:extLst>
              <p:ext uri="{D42A27DB-BD31-4B8C-83A1-F6EECF244321}">
                <p14:modId xmlns:p14="http://schemas.microsoft.com/office/powerpoint/2010/main" val="659968646"/>
              </p:ext>
            </p:extLst>
          </p:nvPr>
        </p:nvGraphicFramePr>
        <p:xfrm>
          <a:off x="5436096" y="601315"/>
          <a:ext cx="3363664" cy="2114451"/>
        </p:xfrm>
        <a:graphic>
          <a:graphicData uri="http://schemas.openxmlformats.org/presentationml/2006/ole">
            <mc:AlternateContent xmlns:mc="http://schemas.openxmlformats.org/markup-compatibility/2006">
              <mc:Choice xmlns:v="urn:schemas-microsoft-com:vml" Requires="v">
                <p:oleObj spid="_x0000_s23559" name="位图图像" r:id="rId3" imgW="2962689" imgH="1961905" progId="PBrush">
                  <p:embed/>
                </p:oleObj>
              </mc:Choice>
              <mc:Fallback>
                <p:oleObj name="位图图像" r:id="rId3" imgW="2962689" imgH="1961905" progId="PBrush">
                  <p:embed/>
                  <p:pic>
                    <p:nvPicPr>
                      <p:cNvPr id="2" name="对象 1"/>
                      <p:cNvPicPr>
                        <a:picLocks noGrp="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6096" y="601315"/>
                        <a:ext cx="3363664" cy="2114451"/>
                      </a:xfrm>
                      <a:prstGeom prst="rect">
                        <a:avLst/>
                      </a:prstGeom>
                      <a:noFill/>
                      <a:ln>
                        <a:noFill/>
                      </a:ln>
                    </p:spPr>
                  </p:pic>
                </p:oleObj>
              </mc:Fallback>
            </mc:AlternateContent>
          </a:graphicData>
        </a:graphic>
      </p:graphicFrame>
      <p:grpSp>
        <p:nvGrpSpPr>
          <p:cNvPr id="5" name="组合 4"/>
          <p:cNvGrpSpPr/>
          <p:nvPr/>
        </p:nvGrpSpPr>
        <p:grpSpPr>
          <a:xfrm>
            <a:off x="107504" y="3033898"/>
            <a:ext cx="4680520" cy="2130140"/>
            <a:chOff x="5148064" y="3367087"/>
            <a:chExt cx="4680520" cy="2130140"/>
          </a:xfrm>
        </p:grpSpPr>
        <p:sp>
          <p:nvSpPr>
            <p:cNvPr id="8" name="Rectangle 3"/>
            <p:cNvSpPr txBox="1">
              <a:spLocks noChangeArrowheads="1"/>
            </p:cNvSpPr>
            <p:nvPr/>
          </p:nvSpPr>
          <p:spPr>
            <a:xfrm>
              <a:off x="5148064" y="3367087"/>
              <a:ext cx="4680520" cy="2130140"/>
            </a:xfrm>
            <a:prstGeom prst="rect">
              <a:avLst/>
            </a:prstGeom>
            <a:solidFill>
              <a:schemeClr val="bg1"/>
            </a:solidFill>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zh-CN" altLang="en-US" sz="2100" dirty="0">
                  <a:latin typeface="宋体" panose="02010600030101010101" pitchFamily="2" charset="-122"/>
                  <a:ea typeface="宋体" panose="02010600030101010101" pitchFamily="2" charset="-122"/>
                </a:rPr>
                <a:t>表中的产生式</a:t>
              </a:r>
              <a:r>
                <a:rPr lang="en-US" altLang="zh-CN" sz="2100" dirty="0">
                  <a:latin typeface="宋体" panose="02010600030101010101" pitchFamily="2" charset="-122"/>
                  <a:ea typeface="宋体" panose="02010600030101010101" pitchFamily="2" charset="-122"/>
                </a:rPr>
                <a:t>M[</a:t>
              </a:r>
              <a:r>
                <a:rPr lang="en-US" altLang="zh-CN" sz="2100" dirty="0" err="1">
                  <a:latin typeface="宋体" panose="02010600030101010101" pitchFamily="2" charset="-122"/>
                  <a:ea typeface="宋体" panose="02010600030101010101" pitchFamily="2" charset="-122"/>
                </a:rPr>
                <a:t>A,a</a:t>
              </a:r>
              <a:r>
                <a:rPr lang="en-US" altLang="zh-CN" sz="2100" dirty="0">
                  <a:latin typeface="宋体" panose="02010600030101010101" pitchFamily="2" charset="-122"/>
                  <a:ea typeface="宋体" panose="02010600030101010101" pitchFamily="2" charset="-122"/>
                </a:rPr>
                <a:t>]= </a:t>
              </a:r>
              <a:r>
                <a:rPr lang="en-US" altLang="zh-CN" sz="2100" dirty="0">
                  <a:latin typeface="宋体" pitchFamily="2" charset="-122"/>
                  <a:ea typeface="宋体" panose="02010600030101010101" pitchFamily="2" charset="-122"/>
                  <a:sym typeface="Symbol" pitchFamily="18" charset="2"/>
                </a:rPr>
                <a:t></a:t>
              </a:r>
              <a:r>
                <a:rPr lang="en-US" altLang="zh-CN" sz="2100" dirty="0">
                  <a:solidFill>
                    <a:srgbClr val="FF0000"/>
                  </a:solidFill>
                  <a:latin typeface="宋体" panose="02010600030101010101" pitchFamily="2" charset="-122"/>
                  <a:ea typeface="宋体" panose="02010600030101010101" pitchFamily="2" charset="-122"/>
                </a:rPr>
                <a:t>A</a:t>
              </a:r>
              <a:r>
                <a:rPr lang="en-US" altLang="zh-CN" sz="2100" dirty="0">
                  <a:solidFill>
                    <a:srgbClr val="FF0000"/>
                  </a:solidFill>
                  <a:latin typeface="宋体" panose="02010600030101010101" pitchFamily="2" charset="-122"/>
                  <a:ea typeface="宋体" panose="02010600030101010101" pitchFamily="2" charset="-122"/>
                  <a:cs typeface="Times New Roman" pitchFamily="18" charset="0"/>
                </a:rPr>
                <a:t>→</a:t>
              </a:r>
              <a:r>
                <a:rPr lang="en-US" altLang="zh-CN" sz="2100" dirty="0">
                  <a:solidFill>
                    <a:srgbClr val="FF0000"/>
                  </a:solidFill>
                  <a:latin typeface="宋体" panose="02010600030101010101" pitchFamily="2" charset="-122"/>
                  <a:ea typeface="宋体" panose="02010600030101010101" pitchFamily="2" charset="-122"/>
                </a:rPr>
                <a:t>X</a:t>
              </a:r>
              <a:r>
                <a:rPr lang="en-US" altLang="zh-CN" sz="2100" baseline="-25000" dirty="0">
                  <a:solidFill>
                    <a:srgbClr val="FF0000"/>
                  </a:solidFill>
                  <a:latin typeface="宋体" panose="02010600030101010101" pitchFamily="2" charset="-122"/>
                  <a:ea typeface="宋体" panose="02010600030101010101" pitchFamily="2" charset="-122"/>
                </a:rPr>
                <a:t>1</a:t>
              </a:r>
              <a:r>
                <a:rPr lang="en-US" altLang="zh-CN" sz="2100" dirty="0">
                  <a:solidFill>
                    <a:srgbClr val="FF0000"/>
                  </a:solidFill>
                  <a:latin typeface="宋体" panose="02010600030101010101" pitchFamily="2" charset="-122"/>
                  <a:ea typeface="宋体" panose="02010600030101010101" pitchFamily="2" charset="-122"/>
                </a:rPr>
                <a:t>X</a:t>
              </a:r>
              <a:r>
                <a:rPr lang="en-US" altLang="zh-CN" sz="2100" baseline="-25000" dirty="0">
                  <a:solidFill>
                    <a:srgbClr val="FF0000"/>
                  </a:solidFill>
                  <a:latin typeface="宋体" panose="02010600030101010101" pitchFamily="2" charset="-122"/>
                  <a:ea typeface="宋体" panose="02010600030101010101" pitchFamily="2" charset="-122"/>
                </a:rPr>
                <a:t>2</a:t>
              </a:r>
              <a:r>
                <a:rPr lang="en-US" altLang="zh-CN" sz="2100" dirty="0">
                  <a:solidFill>
                    <a:srgbClr val="FF0000"/>
                  </a:solidFill>
                  <a:latin typeface="宋体" panose="02010600030101010101" pitchFamily="2" charset="-122"/>
                  <a:ea typeface="宋体" panose="02010600030101010101" pitchFamily="2" charset="-122"/>
                </a:rPr>
                <a:t>…</a:t>
              </a:r>
              <a:r>
                <a:rPr lang="en-US" altLang="zh-CN" sz="2100" dirty="0" err="1">
                  <a:solidFill>
                    <a:srgbClr val="FF0000"/>
                  </a:solidFill>
                  <a:latin typeface="宋体" panose="02010600030101010101" pitchFamily="2" charset="-122"/>
                  <a:ea typeface="宋体" panose="02010600030101010101" pitchFamily="2" charset="-122"/>
                </a:rPr>
                <a:t>X</a:t>
              </a:r>
              <a:r>
                <a:rPr lang="en-US" altLang="zh-CN" sz="2100" baseline="-25000" dirty="0" err="1">
                  <a:solidFill>
                    <a:srgbClr val="FF0000"/>
                  </a:solidFill>
                  <a:latin typeface="宋体" panose="02010600030101010101" pitchFamily="2" charset="-122"/>
                  <a:ea typeface="宋体" panose="02010600030101010101" pitchFamily="2" charset="-122"/>
                </a:rPr>
                <a:t>n</a:t>
              </a:r>
              <a:r>
                <a:rPr lang="en-US" altLang="zh-CN" sz="2100" baseline="-25000" dirty="0">
                  <a:solidFill>
                    <a:srgbClr val="FF0000"/>
                  </a:solidFill>
                  <a:latin typeface="宋体" panose="02010600030101010101" pitchFamily="2" charset="-122"/>
                  <a:ea typeface="宋体" panose="02010600030101010101" pitchFamily="2" charset="-122"/>
                </a:rPr>
                <a:t> </a:t>
              </a:r>
              <a:r>
                <a:rPr lang="en-US" altLang="zh-CN" sz="2100" dirty="0">
                  <a:latin typeface="宋体" pitchFamily="2" charset="-122"/>
                  <a:ea typeface="宋体" panose="02010600030101010101" pitchFamily="2" charset="-122"/>
                  <a:sym typeface="Symbol" pitchFamily="18" charset="2"/>
                </a:rPr>
                <a:t></a:t>
              </a:r>
              <a:r>
                <a:rPr lang="zh-CN" altLang="en-US" sz="2100" dirty="0">
                  <a:latin typeface="宋体" panose="02010600030101010101" pitchFamily="2" charset="-122"/>
                  <a:ea typeface="宋体" panose="02010600030101010101" pitchFamily="2" charset="-122"/>
                </a:rPr>
                <a:t>表示对应于</a:t>
              </a:r>
              <a:r>
                <a:rPr lang="en-US" altLang="zh-CN" sz="2100" dirty="0">
                  <a:latin typeface="宋体" panose="02010600030101010101" pitchFamily="2" charset="-122"/>
                  <a:ea typeface="宋体" panose="02010600030101010101" pitchFamily="2" charset="-122"/>
                </a:rPr>
                <a:t>X</a:t>
              </a:r>
              <a:r>
                <a:rPr lang="en-US" altLang="zh-CN" sz="2100" baseline="-25000" dirty="0">
                  <a:latin typeface="宋体" panose="02010600030101010101" pitchFamily="2" charset="-122"/>
                  <a:ea typeface="宋体" panose="02010600030101010101" pitchFamily="2" charset="-122"/>
                </a:rPr>
                <a:t>1</a:t>
              </a:r>
              <a:r>
                <a:rPr lang="en-US" altLang="zh-CN" sz="2100" dirty="0">
                  <a:latin typeface="宋体" panose="02010600030101010101" pitchFamily="2" charset="-122"/>
                  <a:ea typeface="宋体" panose="02010600030101010101" pitchFamily="2" charset="-122"/>
                </a:rPr>
                <a:t>X</a:t>
              </a:r>
              <a:r>
                <a:rPr lang="en-US" altLang="zh-CN" sz="2100" baseline="-25000" dirty="0">
                  <a:latin typeface="宋体" panose="02010600030101010101" pitchFamily="2" charset="-122"/>
                  <a:ea typeface="宋体" panose="02010600030101010101" pitchFamily="2" charset="-122"/>
                </a:rPr>
                <a:t>2</a:t>
              </a:r>
              <a:r>
                <a:rPr lang="en-US" altLang="zh-CN" sz="2100" dirty="0">
                  <a:latin typeface="宋体" panose="02010600030101010101" pitchFamily="2" charset="-122"/>
                  <a:ea typeface="宋体" panose="02010600030101010101" pitchFamily="2" charset="-122"/>
                </a:rPr>
                <a:t>…</a:t>
              </a:r>
              <a:r>
                <a:rPr lang="en-US" altLang="zh-CN" sz="2100" dirty="0" err="1">
                  <a:latin typeface="宋体" panose="02010600030101010101" pitchFamily="2" charset="-122"/>
                  <a:ea typeface="宋体" panose="02010600030101010101" pitchFamily="2" charset="-122"/>
                </a:rPr>
                <a:t>X</a:t>
              </a:r>
              <a:r>
                <a:rPr lang="en-US" altLang="zh-CN" sz="2100" baseline="-25000" dirty="0" err="1">
                  <a:latin typeface="宋体" panose="02010600030101010101" pitchFamily="2" charset="-122"/>
                  <a:ea typeface="宋体" panose="02010600030101010101" pitchFamily="2" charset="-122"/>
                </a:rPr>
                <a:t>n</a:t>
              </a:r>
              <a:r>
                <a:rPr lang="zh-CN" altLang="en-US" sz="2100" dirty="0">
                  <a:latin typeface="宋体" panose="02010600030101010101" pitchFamily="2" charset="-122"/>
                  <a:ea typeface="宋体" panose="02010600030101010101" pitchFamily="2" charset="-122"/>
                </a:rPr>
                <a:t>字的首终结符可以是</a:t>
              </a:r>
              <a:r>
                <a:rPr lang="en-US" altLang="zh-CN" sz="2100" dirty="0">
                  <a:latin typeface="宋体" panose="02010600030101010101" pitchFamily="2" charset="-122"/>
                  <a:ea typeface="宋体" panose="02010600030101010101" pitchFamily="2" charset="-122"/>
                </a:rPr>
                <a:t>a</a:t>
              </a:r>
              <a:r>
                <a:rPr lang="zh-CN" altLang="en-US" sz="2100" dirty="0">
                  <a:latin typeface="宋体" panose="02010600030101010101" pitchFamily="2" charset="-122"/>
                  <a:ea typeface="宋体" panose="02010600030101010101" pitchFamily="2" charset="-122"/>
                </a:rPr>
                <a:t>。就是说</a:t>
              </a:r>
              <a:r>
                <a:rPr lang="en-US" altLang="zh-CN" sz="2100" dirty="0">
                  <a:solidFill>
                    <a:srgbClr val="FF0000"/>
                  </a:solidFill>
                  <a:latin typeface="宋体" panose="02010600030101010101" pitchFamily="2" charset="-122"/>
                  <a:ea typeface="宋体" panose="02010600030101010101" pitchFamily="2" charset="-122"/>
                </a:rPr>
                <a:t>X</a:t>
              </a:r>
              <a:r>
                <a:rPr lang="en-US" altLang="zh-CN" sz="2100" baseline="-25000" dirty="0">
                  <a:solidFill>
                    <a:srgbClr val="FF0000"/>
                  </a:solidFill>
                  <a:latin typeface="宋体" panose="02010600030101010101" pitchFamily="2" charset="-122"/>
                  <a:ea typeface="宋体" panose="02010600030101010101" pitchFamily="2" charset="-122"/>
                </a:rPr>
                <a:t>1</a:t>
              </a:r>
              <a:r>
                <a:rPr lang="en-US" altLang="zh-CN" sz="2100" dirty="0">
                  <a:solidFill>
                    <a:srgbClr val="FF0000"/>
                  </a:solidFill>
                  <a:latin typeface="宋体" panose="02010600030101010101" pitchFamily="2" charset="-122"/>
                  <a:ea typeface="宋体" panose="02010600030101010101" pitchFamily="2" charset="-122"/>
                </a:rPr>
                <a:t>X</a:t>
              </a:r>
              <a:r>
                <a:rPr lang="en-US" altLang="zh-CN" sz="2100" baseline="-25000" dirty="0">
                  <a:solidFill>
                    <a:srgbClr val="FF0000"/>
                  </a:solidFill>
                  <a:latin typeface="宋体" panose="02010600030101010101" pitchFamily="2" charset="-122"/>
                  <a:ea typeface="宋体" panose="02010600030101010101" pitchFamily="2" charset="-122"/>
                </a:rPr>
                <a:t>2</a:t>
              </a:r>
              <a:r>
                <a:rPr lang="en-US" altLang="zh-CN" sz="2100" dirty="0">
                  <a:solidFill>
                    <a:srgbClr val="FF0000"/>
                  </a:solidFill>
                  <a:latin typeface="宋体" panose="02010600030101010101" pitchFamily="2" charset="-122"/>
                  <a:ea typeface="宋体" panose="02010600030101010101" pitchFamily="2" charset="-122"/>
                </a:rPr>
                <a:t>…</a:t>
              </a:r>
              <a:r>
                <a:rPr lang="en-US" altLang="zh-CN" sz="2100" dirty="0" err="1">
                  <a:solidFill>
                    <a:srgbClr val="FF0000"/>
                  </a:solidFill>
                  <a:latin typeface="宋体" panose="02010600030101010101" pitchFamily="2" charset="-122"/>
                  <a:ea typeface="宋体" panose="02010600030101010101" pitchFamily="2" charset="-122"/>
                </a:rPr>
                <a:t>X</a:t>
              </a:r>
              <a:r>
                <a:rPr lang="en-US" altLang="zh-CN" sz="2100" baseline="-25000" dirty="0" err="1">
                  <a:solidFill>
                    <a:srgbClr val="FF0000"/>
                  </a:solidFill>
                  <a:latin typeface="宋体" panose="02010600030101010101" pitchFamily="2" charset="-122"/>
                  <a:ea typeface="宋体" panose="02010600030101010101" pitchFamily="2" charset="-122"/>
                </a:rPr>
                <a:t>n</a:t>
              </a:r>
              <a:r>
                <a:rPr lang="en-US" altLang="zh-CN" sz="2100" dirty="0">
                  <a:solidFill>
                    <a:srgbClr val="FF0000"/>
                  </a:solidFill>
                  <a:latin typeface="宋体" panose="02010600030101010101" pitchFamily="2" charset="-122"/>
                  <a:ea typeface="宋体" panose="02010600030101010101" pitchFamily="2" charset="-122"/>
                </a:rPr>
                <a:t>=&gt;aw</a:t>
              </a:r>
              <a:r>
                <a:rPr lang="en-US" altLang="zh-CN" sz="2100" dirty="0">
                  <a:latin typeface="宋体" panose="02010600030101010101" pitchFamily="2" charset="-122"/>
                  <a:ea typeface="宋体" panose="02010600030101010101" pitchFamily="2" charset="-122"/>
                </a:rPr>
                <a:t>(</a:t>
              </a:r>
              <a:r>
                <a:rPr lang="zh-CN" altLang="en-US" sz="2100" dirty="0">
                  <a:latin typeface="宋体" panose="02010600030101010101" pitchFamily="2" charset="-122"/>
                  <a:ea typeface="宋体" panose="02010600030101010101" pitchFamily="2" charset="-122"/>
                </a:rPr>
                <a:t>即：</a:t>
              </a:r>
              <a:r>
                <a:rPr lang="en-US" altLang="zh-CN" sz="2100" dirty="0">
                  <a:latin typeface="宋体" panose="02010600030101010101" pitchFamily="2" charset="-122"/>
                  <a:ea typeface="宋体" panose="02010600030101010101" pitchFamily="2" charset="-122"/>
                </a:rPr>
                <a:t>first</a:t>
              </a:r>
              <a:r>
                <a:rPr lang="zh-CN" altLang="en-US" sz="2100" dirty="0">
                  <a:latin typeface="宋体" panose="02010600030101010101" pitchFamily="2" charset="-122"/>
                  <a:ea typeface="宋体" panose="02010600030101010101" pitchFamily="2" charset="-122"/>
                </a:rPr>
                <a:t>集、如果候选式可以推出</a:t>
              </a:r>
              <a:r>
                <a:rPr kumimoji="1" lang="en-US" altLang="zh-CN" sz="2100" dirty="0">
                  <a:latin typeface="宋体" panose="02010600030101010101" pitchFamily="2" charset="-122"/>
                  <a:ea typeface="宋体" panose="02010600030101010101" pitchFamily="2" charset="-122"/>
                  <a:sym typeface="Symbol" panose="05050102010706020507" pitchFamily="18" charset="2"/>
                </a:rPr>
                <a:t></a:t>
              </a:r>
              <a:r>
                <a:rPr lang="zh-CN" altLang="en-US" sz="2100" dirty="0">
                  <a:latin typeface="宋体" panose="02010600030101010101" pitchFamily="2" charset="-122"/>
                  <a:ea typeface="宋体" panose="02010600030101010101" pitchFamily="2" charset="-122"/>
                </a:rPr>
                <a:t>，</a:t>
              </a:r>
              <a:r>
                <a:rPr lang="en-US" altLang="zh-CN" sz="2100" dirty="0">
                  <a:latin typeface="宋体" panose="02010600030101010101" pitchFamily="2" charset="-122"/>
                  <a:ea typeface="宋体" panose="02010600030101010101" pitchFamily="2" charset="-122"/>
                </a:rPr>
                <a:t>follow</a:t>
              </a:r>
              <a:r>
                <a:rPr lang="zh-CN" altLang="en-US" sz="2100" dirty="0">
                  <a:latin typeface="宋体" panose="02010600030101010101" pitchFamily="2" charset="-122"/>
                  <a:ea typeface="宋体" panose="02010600030101010101" pitchFamily="2" charset="-122"/>
                </a:rPr>
                <a:t>集中的元素</a:t>
              </a:r>
              <a:r>
                <a:rPr lang="en-US" altLang="zh-CN" sz="2100" dirty="0">
                  <a:latin typeface="宋体" panose="02010600030101010101" pitchFamily="2" charset="-122"/>
                  <a:ea typeface="宋体" panose="02010600030101010101" pitchFamily="2" charset="-122"/>
                </a:rPr>
                <a:t>)</a:t>
              </a:r>
              <a:r>
                <a:rPr lang="zh-CN" altLang="en-US" sz="2100" dirty="0">
                  <a:latin typeface="宋体" panose="02010600030101010101" pitchFamily="2" charset="-122"/>
                  <a:ea typeface="宋体" panose="02010600030101010101" pitchFamily="2" charset="-122"/>
                </a:rPr>
                <a:t>。可以通过这个方式来确定分析表中的值。</a:t>
              </a:r>
              <a:endParaRPr lang="en-US" altLang="zh-CN" sz="2100" dirty="0">
                <a:latin typeface="宋体" panose="02010600030101010101" pitchFamily="2" charset="-122"/>
                <a:ea typeface="宋体" panose="02010600030101010101" pitchFamily="2" charset="-122"/>
              </a:endParaRPr>
            </a:p>
          </p:txBody>
        </p:sp>
        <p:sp>
          <p:nvSpPr>
            <p:cNvPr id="104452" name="Rectangle 4"/>
            <p:cNvSpPr>
              <a:spLocks noChangeArrowheads="1"/>
            </p:cNvSpPr>
            <p:nvPr/>
          </p:nvSpPr>
          <p:spPr bwMode="auto">
            <a:xfrm>
              <a:off x="8480747" y="3909987"/>
              <a:ext cx="33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a:solidFill>
                    <a:srgbClr val="FF0000"/>
                  </a:solidFill>
                  <a:ea typeface="华文行楷" pitchFamily="2" charset="-122"/>
                </a:rPr>
                <a:t>*</a:t>
              </a:r>
            </a:p>
          </p:txBody>
        </p:sp>
      </p:grpSp>
      <p:graphicFrame>
        <p:nvGraphicFramePr>
          <p:cNvPr id="10" name="Group 181"/>
          <p:cNvGraphicFramePr>
            <a:graphicFrameLocks/>
          </p:cNvGraphicFramePr>
          <p:nvPr>
            <p:extLst>
              <p:ext uri="{D42A27DB-BD31-4B8C-83A1-F6EECF244321}">
                <p14:modId xmlns:p14="http://schemas.microsoft.com/office/powerpoint/2010/main" val="3337670825"/>
              </p:ext>
            </p:extLst>
          </p:nvPr>
        </p:nvGraphicFramePr>
        <p:xfrm>
          <a:off x="4788025" y="3033898"/>
          <a:ext cx="4355977" cy="1944215"/>
        </p:xfrm>
        <a:graphic>
          <a:graphicData uri="http://schemas.openxmlformats.org/drawingml/2006/table">
            <a:tbl>
              <a:tblPr/>
              <a:tblGrid>
                <a:gridCol w="360040">
                  <a:extLst>
                    <a:ext uri="{9D8B030D-6E8A-4147-A177-3AD203B41FA5}">
                      <a16:colId xmlns:a16="http://schemas.microsoft.com/office/drawing/2014/main" val="20000"/>
                    </a:ext>
                  </a:extLst>
                </a:gridCol>
                <a:gridCol w="672842">
                  <a:extLst>
                    <a:ext uri="{9D8B030D-6E8A-4147-A177-3AD203B41FA5}">
                      <a16:colId xmlns:a16="http://schemas.microsoft.com/office/drawing/2014/main" val="20001"/>
                    </a:ext>
                  </a:extLst>
                </a:gridCol>
                <a:gridCol w="767317">
                  <a:extLst>
                    <a:ext uri="{9D8B030D-6E8A-4147-A177-3AD203B41FA5}">
                      <a16:colId xmlns:a16="http://schemas.microsoft.com/office/drawing/2014/main" val="20002"/>
                    </a:ext>
                  </a:extLst>
                </a:gridCol>
                <a:gridCol w="792088">
                  <a:extLst>
                    <a:ext uri="{9D8B030D-6E8A-4147-A177-3AD203B41FA5}">
                      <a16:colId xmlns:a16="http://schemas.microsoft.com/office/drawing/2014/main" val="20003"/>
                    </a:ext>
                  </a:extLst>
                </a:gridCol>
                <a:gridCol w="648072">
                  <a:extLst>
                    <a:ext uri="{9D8B030D-6E8A-4147-A177-3AD203B41FA5}">
                      <a16:colId xmlns:a16="http://schemas.microsoft.com/office/drawing/2014/main" val="20004"/>
                    </a:ext>
                  </a:extLst>
                </a:gridCol>
                <a:gridCol w="576064">
                  <a:extLst>
                    <a:ext uri="{9D8B030D-6E8A-4147-A177-3AD203B41FA5}">
                      <a16:colId xmlns:a16="http://schemas.microsoft.com/office/drawing/2014/main" val="20005"/>
                    </a:ext>
                  </a:extLst>
                </a:gridCol>
                <a:gridCol w="539554">
                  <a:extLst>
                    <a:ext uri="{9D8B030D-6E8A-4147-A177-3AD203B41FA5}">
                      <a16:colId xmlns:a16="http://schemas.microsoft.com/office/drawing/2014/main" val="20006"/>
                    </a:ext>
                  </a:extLst>
                </a:gridCol>
              </a:tblGrid>
              <a:tr h="29587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2444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2988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3533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4077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1791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Fi</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F(E)</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grpSp>
        <p:nvGrpSpPr>
          <p:cNvPr id="20" name="组合 19"/>
          <p:cNvGrpSpPr/>
          <p:nvPr/>
        </p:nvGrpSpPr>
        <p:grpSpPr>
          <a:xfrm>
            <a:off x="4788024" y="3019830"/>
            <a:ext cx="2880320" cy="1289404"/>
            <a:chOff x="4788024" y="3019830"/>
            <a:chExt cx="2880320" cy="1289404"/>
          </a:xfrm>
        </p:grpSpPr>
        <p:sp>
          <p:nvSpPr>
            <p:cNvPr id="6" name="TextBox 5"/>
            <p:cNvSpPr txBox="1"/>
            <p:nvPr/>
          </p:nvSpPr>
          <p:spPr>
            <a:xfrm>
              <a:off x="4788024" y="3939902"/>
              <a:ext cx="360040" cy="369332"/>
            </a:xfrm>
            <a:prstGeom prst="rect">
              <a:avLst/>
            </a:prstGeom>
            <a:noFill/>
          </p:spPr>
          <p:txBody>
            <a:bodyPr wrap="square" rtlCol="0">
              <a:spAutoFit/>
            </a:bodyPr>
            <a:lstStyle/>
            <a:p>
              <a:r>
                <a:rPr lang="en-US" altLang="zh-CN" dirty="0">
                  <a:solidFill>
                    <a:srgbClr val="FF0000"/>
                  </a:solidFill>
                </a:rPr>
                <a:t>A</a:t>
              </a:r>
              <a:endParaRPr lang="zh-CN" altLang="en-US" dirty="0">
                <a:solidFill>
                  <a:srgbClr val="FF0000"/>
                </a:solidFill>
              </a:endParaRPr>
            </a:p>
          </p:txBody>
        </p:sp>
        <p:sp>
          <p:nvSpPr>
            <p:cNvPr id="12" name="TextBox 11"/>
            <p:cNvSpPr txBox="1"/>
            <p:nvPr/>
          </p:nvSpPr>
          <p:spPr>
            <a:xfrm>
              <a:off x="6594438" y="3019830"/>
              <a:ext cx="504056" cy="369332"/>
            </a:xfrm>
            <a:prstGeom prst="rect">
              <a:avLst/>
            </a:prstGeom>
            <a:noFill/>
          </p:spPr>
          <p:txBody>
            <a:bodyPr wrap="square" rtlCol="0">
              <a:spAutoFit/>
            </a:bodyPr>
            <a:lstStyle/>
            <a:p>
              <a:r>
                <a:rPr lang="en-US" altLang="zh-CN" dirty="0">
                  <a:solidFill>
                    <a:srgbClr val="FF0000"/>
                  </a:solidFill>
                </a:rPr>
                <a:t>a</a:t>
              </a:r>
              <a:endParaRPr lang="zh-CN" altLang="en-US" dirty="0">
                <a:solidFill>
                  <a:srgbClr val="FF0000"/>
                </a:solidFill>
              </a:endParaRPr>
            </a:p>
          </p:txBody>
        </p:sp>
        <p:sp>
          <p:nvSpPr>
            <p:cNvPr id="13" name="TextBox 12"/>
            <p:cNvSpPr txBox="1"/>
            <p:nvPr/>
          </p:nvSpPr>
          <p:spPr>
            <a:xfrm>
              <a:off x="6516216" y="3939902"/>
              <a:ext cx="1152128" cy="369332"/>
            </a:xfrm>
            <a:prstGeom prst="rect">
              <a:avLst/>
            </a:prstGeom>
            <a:noFill/>
          </p:spPr>
          <p:txBody>
            <a:bodyPr wrap="square" rtlCol="0">
              <a:spAutoFit/>
            </a:bodyPr>
            <a:lstStyle/>
            <a:p>
              <a:r>
                <a:rPr lang="en-US" altLang="zh-CN" dirty="0">
                  <a:solidFill>
                    <a:srgbClr val="FF0000"/>
                  </a:solidFill>
                  <a:latin typeface="宋体" panose="02010600030101010101" pitchFamily="2" charset="-122"/>
                  <a:ea typeface="宋体" panose="02010600030101010101" pitchFamily="2" charset="-122"/>
                </a:rPr>
                <a:t>X</a:t>
              </a:r>
              <a:r>
                <a:rPr lang="en-US" altLang="zh-CN" baseline="-25000" dirty="0">
                  <a:solidFill>
                    <a:srgbClr val="FF0000"/>
                  </a:solidFill>
                  <a:latin typeface="宋体" panose="02010600030101010101" pitchFamily="2" charset="-122"/>
                  <a:ea typeface="宋体" panose="02010600030101010101" pitchFamily="2" charset="-122"/>
                </a:rPr>
                <a:t>1</a:t>
              </a:r>
              <a:r>
                <a:rPr lang="en-US" altLang="zh-CN" dirty="0">
                  <a:solidFill>
                    <a:srgbClr val="FF0000"/>
                  </a:solidFill>
                  <a:latin typeface="宋体" panose="02010600030101010101" pitchFamily="2" charset="-122"/>
                  <a:ea typeface="宋体" panose="02010600030101010101" pitchFamily="2" charset="-122"/>
                </a:rPr>
                <a:t>X</a:t>
              </a:r>
              <a:r>
                <a:rPr lang="en-US" altLang="zh-CN" baseline="-25000" dirty="0">
                  <a:solidFill>
                    <a:srgbClr val="FF0000"/>
                  </a:solidFill>
                  <a:latin typeface="宋体" panose="02010600030101010101" pitchFamily="2" charset="-122"/>
                  <a:ea typeface="宋体" panose="02010600030101010101" pitchFamily="2" charset="-122"/>
                </a:rPr>
                <a:t>2</a:t>
              </a:r>
              <a:r>
                <a:rPr lang="en-US" altLang="zh-CN" dirty="0">
                  <a:solidFill>
                    <a:srgbClr val="FF0000"/>
                  </a:solidFill>
                  <a:latin typeface="宋体" panose="02010600030101010101" pitchFamily="2" charset="-122"/>
                  <a:ea typeface="宋体" panose="02010600030101010101" pitchFamily="2" charset="-122"/>
                </a:rPr>
                <a:t>…</a:t>
              </a:r>
              <a:r>
                <a:rPr lang="en-US" altLang="zh-CN" dirty="0" err="1">
                  <a:solidFill>
                    <a:srgbClr val="FF0000"/>
                  </a:solidFill>
                  <a:latin typeface="宋体" panose="02010600030101010101" pitchFamily="2" charset="-122"/>
                  <a:ea typeface="宋体" panose="02010600030101010101" pitchFamily="2" charset="-122"/>
                </a:rPr>
                <a:t>X</a:t>
              </a:r>
              <a:r>
                <a:rPr lang="en-US" altLang="zh-CN" baseline="-25000" dirty="0" err="1">
                  <a:solidFill>
                    <a:srgbClr val="FF0000"/>
                  </a:solidFill>
                  <a:latin typeface="宋体" panose="02010600030101010101" pitchFamily="2" charset="-122"/>
                  <a:ea typeface="宋体" panose="02010600030101010101" pitchFamily="2" charset="-122"/>
                </a:rPr>
                <a:t>n</a:t>
              </a:r>
              <a:endParaRPr lang="zh-CN" altLang="en-US" dirty="0"/>
            </a:p>
          </p:txBody>
        </p:sp>
        <p:cxnSp>
          <p:nvCxnSpPr>
            <p:cNvPr id="9" name="直接箭头连接符 8"/>
            <p:cNvCxnSpPr>
              <a:stCxn id="6" idx="3"/>
              <a:endCxn id="13" idx="1"/>
            </p:cNvCxnSpPr>
            <p:nvPr/>
          </p:nvCxnSpPr>
          <p:spPr>
            <a:xfrm>
              <a:off x="5148064" y="4124568"/>
              <a:ext cx="1368152" cy="0"/>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14" name="直接箭头连接符 13"/>
            <p:cNvCxnSpPr/>
            <p:nvPr/>
          </p:nvCxnSpPr>
          <p:spPr>
            <a:xfrm>
              <a:off x="6732240" y="3389162"/>
              <a:ext cx="0" cy="550740"/>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90028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4451">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445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4451">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51" grpId="0" uiExpand="1" build="p" animBg="1"/>
    </p:bldLst>
  </p:timing>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475" name="Rectangle 3"/>
          <p:cNvSpPr>
            <a:spLocks noGrp="1" noChangeArrowheads="1"/>
          </p:cNvSpPr>
          <p:nvPr>
            <p:ph idx="1"/>
          </p:nvPr>
        </p:nvSpPr>
        <p:spPr>
          <a:xfrm>
            <a:off x="395536" y="843558"/>
            <a:ext cx="8208912" cy="2016224"/>
          </a:xfrm>
          <a:ln>
            <a:headEnd/>
            <a:tailEnd/>
          </a:ln>
        </p:spPr>
        <p:style>
          <a:lnRef idx="2">
            <a:schemeClr val="accent1"/>
          </a:lnRef>
          <a:fillRef idx="1">
            <a:schemeClr val="lt1"/>
          </a:fillRef>
          <a:effectRef idx="0">
            <a:schemeClr val="accent1"/>
          </a:effectRef>
          <a:fontRef idx="minor">
            <a:schemeClr val="dk1"/>
          </a:fontRef>
        </p:style>
        <p:txBody>
          <a:bodyPr>
            <a:noAutofit/>
          </a:bodyPr>
          <a:lstStyle/>
          <a:p>
            <a:pPr>
              <a:spcBef>
                <a:spcPts val="0"/>
              </a:spcBef>
            </a:pPr>
            <a:r>
              <a:rPr lang="zh-CN" altLang="en-US" sz="2000" dirty="0">
                <a:latin typeface="宋体" pitchFamily="2" charset="-122"/>
              </a:rPr>
              <a:t>计算每个产生式的首终结符集</a:t>
            </a:r>
            <a:r>
              <a:rPr lang="en-US" altLang="zh-CN" sz="2000" dirty="0">
                <a:latin typeface="宋体" pitchFamily="2" charset="-122"/>
              </a:rPr>
              <a:t>First(α)</a:t>
            </a:r>
          </a:p>
          <a:p>
            <a:pPr eaLnBrk="1" hangingPunct="1">
              <a:spcBef>
                <a:spcPts val="0"/>
              </a:spcBef>
            </a:pPr>
            <a:r>
              <a:rPr lang="zh-CN" altLang="en-US" sz="2000" dirty="0">
                <a:latin typeface="宋体" pitchFamily="2" charset="-122"/>
              </a:rPr>
              <a:t>对于每一产生</a:t>
            </a:r>
            <a:r>
              <a:rPr lang="zh-CN" altLang="en-US" sz="2000" dirty="0">
                <a:solidFill>
                  <a:srgbClr val="FF0000"/>
                </a:solidFill>
                <a:latin typeface="宋体" pitchFamily="2" charset="-122"/>
              </a:rPr>
              <a:t>式 </a:t>
            </a:r>
            <a:r>
              <a:rPr lang="en-US" altLang="zh-CN" sz="2000" dirty="0">
                <a:solidFill>
                  <a:srgbClr val="FF0000"/>
                </a:solidFill>
                <a:latin typeface="宋体" pitchFamily="2" charset="-122"/>
              </a:rPr>
              <a:t>A→α</a:t>
            </a:r>
            <a:r>
              <a:rPr lang="en-US" altLang="zh-CN" sz="2000" dirty="0">
                <a:latin typeface="宋体" pitchFamily="2" charset="-122"/>
              </a:rPr>
              <a:t>,</a:t>
            </a:r>
          </a:p>
          <a:p>
            <a:pPr lvl="1" eaLnBrk="1" hangingPunct="1">
              <a:spcBef>
                <a:spcPts val="0"/>
              </a:spcBef>
            </a:pPr>
            <a:r>
              <a:rPr lang="zh-CN" altLang="en-US" sz="2000" dirty="0">
                <a:latin typeface="宋体" pitchFamily="2" charset="-122"/>
              </a:rPr>
              <a:t>对于终结符</a:t>
            </a:r>
            <a:r>
              <a:rPr lang="en-US" altLang="zh-CN" sz="2000" b="1" dirty="0" err="1">
                <a:solidFill>
                  <a:srgbClr val="0000CC"/>
                </a:solidFill>
                <a:latin typeface="宋体" pitchFamily="2" charset="-122"/>
              </a:rPr>
              <a:t>a∈First</a:t>
            </a:r>
            <a:r>
              <a:rPr lang="en-US" altLang="zh-CN" sz="2000" b="1" dirty="0">
                <a:solidFill>
                  <a:srgbClr val="0000CC"/>
                </a:solidFill>
                <a:latin typeface="宋体" pitchFamily="2" charset="-122"/>
              </a:rPr>
              <a:t>(α)</a:t>
            </a:r>
            <a:r>
              <a:rPr lang="en-US" altLang="zh-CN" sz="2000" dirty="0">
                <a:latin typeface="宋体" pitchFamily="2" charset="-122"/>
              </a:rPr>
              <a:t>,</a:t>
            </a:r>
            <a:r>
              <a:rPr lang="zh-CN" altLang="en-US" sz="2000" dirty="0">
                <a:latin typeface="宋体" pitchFamily="2" charset="-122"/>
              </a:rPr>
              <a:t>将</a:t>
            </a:r>
            <a:r>
              <a:rPr lang="en-US" altLang="zh-CN" sz="2000" dirty="0">
                <a:latin typeface="宋体" pitchFamily="2" charset="-122"/>
              </a:rPr>
              <a:t>A→α</a:t>
            </a:r>
            <a:r>
              <a:rPr lang="zh-CN" altLang="en-US" sz="2000" dirty="0">
                <a:latin typeface="宋体" pitchFamily="2" charset="-122"/>
              </a:rPr>
              <a:t>填入 </a:t>
            </a:r>
            <a:r>
              <a:rPr lang="en-US" altLang="zh-CN" sz="2000" dirty="0">
                <a:latin typeface="宋体" pitchFamily="2" charset="-122"/>
              </a:rPr>
              <a:t>M[</a:t>
            </a:r>
            <a:r>
              <a:rPr lang="en-US" altLang="zh-CN" sz="2000" dirty="0" err="1">
                <a:latin typeface="宋体" pitchFamily="2" charset="-122"/>
              </a:rPr>
              <a:t>A,a</a:t>
            </a:r>
            <a:r>
              <a:rPr lang="en-US" altLang="zh-CN" sz="2000" dirty="0">
                <a:latin typeface="宋体" pitchFamily="2" charset="-122"/>
              </a:rPr>
              <a:t>]</a:t>
            </a:r>
            <a:r>
              <a:rPr lang="zh-CN" altLang="en-US" sz="2000" dirty="0">
                <a:latin typeface="宋体" pitchFamily="2" charset="-122"/>
              </a:rPr>
              <a:t>；</a:t>
            </a:r>
          </a:p>
          <a:p>
            <a:pPr lvl="1" eaLnBrk="1" hangingPunct="1">
              <a:spcBef>
                <a:spcPts val="0"/>
              </a:spcBef>
            </a:pPr>
            <a:r>
              <a:rPr lang="zh-CN" altLang="en-US" sz="2000" dirty="0">
                <a:latin typeface="宋体" pitchFamily="2" charset="-122"/>
              </a:rPr>
              <a:t>如果</a:t>
            </a:r>
            <a:r>
              <a:rPr lang="en-US" altLang="zh-CN" sz="2000" b="1" dirty="0" err="1">
                <a:solidFill>
                  <a:srgbClr val="0000CC"/>
                </a:solidFill>
                <a:latin typeface="宋体" pitchFamily="2" charset="-122"/>
              </a:rPr>
              <a:t>ε∈First</a:t>
            </a:r>
            <a:r>
              <a:rPr lang="en-US" altLang="zh-CN" sz="2000" b="1" dirty="0">
                <a:solidFill>
                  <a:srgbClr val="0000CC"/>
                </a:solidFill>
                <a:latin typeface="宋体" pitchFamily="2" charset="-122"/>
              </a:rPr>
              <a:t>(A→α)</a:t>
            </a:r>
            <a:r>
              <a:rPr lang="zh-CN" altLang="en-US" sz="2000" dirty="0">
                <a:latin typeface="宋体" pitchFamily="2" charset="-122"/>
              </a:rPr>
              <a:t>，则构造</a:t>
            </a:r>
            <a:r>
              <a:rPr lang="en-US" altLang="zh-CN" sz="2000" dirty="0">
                <a:latin typeface="宋体" pitchFamily="2" charset="-122"/>
              </a:rPr>
              <a:t>Follow(A)</a:t>
            </a:r>
            <a:r>
              <a:rPr lang="zh-CN" altLang="en-US" sz="2000" dirty="0">
                <a:latin typeface="宋体" pitchFamily="2" charset="-122"/>
              </a:rPr>
              <a:t>，对任何元素 </a:t>
            </a:r>
            <a:r>
              <a:rPr lang="en-US" altLang="zh-CN" sz="2000" dirty="0" err="1">
                <a:latin typeface="宋体" pitchFamily="2" charset="-122"/>
              </a:rPr>
              <a:t>b∈Follow</a:t>
            </a:r>
            <a:r>
              <a:rPr lang="en-US" altLang="zh-CN" sz="2000" dirty="0">
                <a:latin typeface="宋体" pitchFamily="2" charset="-122"/>
              </a:rPr>
              <a:t>(A)</a:t>
            </a:r>
            <a:r>
              <a:rPr lang="zh-CN" altLang="en-US" sz="2000" dirty="0">
                <a:latin typeface="宋体" pitchFamily="2" charset="-122"/>
              </a:rPr>
              <a:t>，将</a:t>
            </a:r>
            <a:r>
              <a:rPr lang="en-US" altLang="zh-CN" sz="2000" dirty="0">
                <a:latin typeface="宋体" pitchFamily="2" charset="-122"/>
              </a:rPr>
              <a:t>A→α</a:t>
            </a:r>
            <a:r>
              <a:rPr lang="zh-CN" altLang="en-US" sz="2000" dirty="0">
                <a:latin typeface="宋体" pitchFamily="2" charset="-122"/>
              </a:rPr>
              <a:t>填入</a:t>
            </a:r>
            <a:r>
              <a:rPr lang="en-US" altLang="zh-CN" sz="2000" dirty="0">
                <a:latin typeface="宋体" pitchFamily="2" charset="-122"/>
              </a:rPr>
              <a:t>M[</a:t>
            </a:r>
            <a:r>
              <a:rPr lang="en-US" altLang="zh-CN" sz="2000" dirty="0" err="1">
                <a:latin typeface="宋体" pitchFamily="2" charset="-122"/>
              </a:rPr>
              <a:t>A,b</a:t>
            </a:r>
            <a:r>
              <a:rPr lang="en-US" altLang="zh-CN" sz="2000" dirty="0">
                <a:latin typeface="宋体" pitchFamily="2" charset="-122"/>
              </a:rPr>
              <a:t>]</a:t>
            </a:r>
            <a:r>
              <a:rPr lang="zh-CN" altLang="en-US" sz="2000" dirty="0">
                <a:latin typeface="宋体" pitchFamily="2" charset="-122"/>
              </a:rPr>
              <a:t>；</a:t>
            </a:r>
          </a:p>
          <a:p>
            <a:pPr eaLnBrk="1" hangingPunct="1">
              <a:spcBef>
                <a:spcPts val="0"/>
              </a:spcBef>
            </a:pPr>
            <a:r>
              <a:rPr lang="zh-CN" altLang="en-US" sz="2000" dirty="0">
                <a:latin typeface="宋体" pitchFamily="2" charset="-122"/>
              </a:rPr>
              <a:t>将所有无定义的 </a:t>
            </a:r>
            <a:r>
              <a:rPr lang="en-US" altLang="zh-CN" sz="2000" dirty="0">
                <a:latin typeface="宋体" pitchFamily="2" charset="-122"/>
              </a:rPr>
              <a:t>M[</a:t>
            </a:r>
            <a:r>
              <a:rPr lang="en-US" altLang="zh-CN" sz="2000" dirty="0" err="1">
                <a:latin typeface="宋体" pitchFamily="2" charset="-122"/>
              </a:rPr>
              <a:t>A,a</a:t>
            </a:r>
            <a:r>
              <a:rPr lang="en-US" altLang="zh-CN" sz="2000" dirty="0">
                <a:latin typeface="宋体" pitchFamily="2" charset="-122"/>
              </a:rPr>
              <a:t>] </a:t>
            </a:r>
            <a:r>
              <a:rPr lang="zh-CN" altLang="zh-CN" sz="2000" dirty="0">
                <a:latin typeface="宋体" pitchFamily="2" charset="-122"/>
              </a:rPr>
              <a:t>标上错误标志。</a:t>
            </a:r>
            <a:endParaRPr lang="zh-CN" altLang="en-US" sz="2000" dirty="0">
              <a:latin typeface="宋体" pitchFamily="2" charset="-122"/>
            </a:endParaRPr>
          </a:p>
        </p:txBody>
      </p:sp>
      <p:sp>
        <p:nvSpPr>
          <p:cNvPr id="105474" name="Rectangle 2"/>
          <p:cNvSpPr>
            <a:spLocks noGrp="1" noChangeArrowheads="1"/>
          </p:cNvSpPr>
          <p:nvPr>
            <p:ph type="title"/>
          </p:nvPr>
        </p:nvSpPr>
        <p:spPr>
          <a:xfrm>
            <a:off x="323528" y="51470"/>
            <a:ext cx="7772400" cy="701675"/>
          </a:xfrm>
        </p:spPr>
        <p:txBody>
          <a:bodyPr>
            <a:noAutofit/>
          </a:bodyPr>
          <a:lstStyle/>
          <a:p>
            <a:pPr eaLnBrk="1" hangingPunct="1"/>
            <a:r>
              <a:rPr lang="zh-CN" altLang="en-US" sz="4400" dirty="0">
                <a:solidFill>
                  <a:srgbClr val="D60093"/>
                </a:solidFill>
                <a:ea typeface="隶书" pitchFamily="49" charset="-122"/>
              </a:rPr>
              <a:t>预测分析表的构造算法</a:t>
            </a:r>
          </a:p>
        </p:txBody>
      </p:sp>
      <p:sp>
        <p:nvSpPr>
          <p:cNvPr id="124932" name="Rectangle 4"/>
          <p:cNvSpPr>
            <a:spLocks noChangeArrowheads="1"/>
          </p:cNvSpPr>
          <p:nvPr/>
        </p:nvSpPr>
        <p:spPr bwMode="auto">
          <a:xfrm>
            <a:off x="395535" y="3351513"/>
            <a:ext cx="4073911" cy="1569660"/>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marL="360363" indent="-360363">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400" dirty="0">
                <a:ea typeface="华文行楷" pitchFamily="2" charset="-122"/>
              </a:rPr>
              <a:t>如果文法是</a:t>
            </a:r>
            <a:r>
              <a:rPr lang="en-US" altLang="zh-CN" sz="2400" dirty="0">
                <a:ea typeface="华文行楷" pitchFamily="2" charset="-122"/>
              </a:rPr>
              <a:t>LL(1)</a:t>
            </a:r>
            <a:r>
              <a:rPr lang="zh-CN" altLang="en-US" sz="2400" dirty="0">
                <a:ea typeface="华文行楷" pitchFamily="2" charset="-122"/>
              </a:rPr>
              <a:t>文法，其预测分析表中没有多重定义的元素，可以进行确定的分析。</a:t>
            </a:r>
          </a:p>
        </p:txBody>
      </p:sp>
      <p:graphicFrame>
        <p:nvGraphicFramePr>
          <p:cNvPr id="5" name="Group 181"/>
          <p:cNvGraphicFramePr>
            <a:graphicFrameLocks/>
          </p:cNvGraphicFramePr>
          <p:nvPr>
            <p:extLst>
              <p:ext uri="{D42A27DB-BD31-4B8C-83A1-F6EECF244321}">
                <p14:modId xmlns:p14="http://schemas.microsoft.com/office/powerpoint/2010/main" val="1795927072"/>
              </p:ext>
            </p:extLst>
          </p:nvPr>
        </p:nvGraphicFramePr>
        <p:xfrm>
          <a:off x="4644009" y="3017866"/>
          <a:ext cx="4355977" cy="1944215"/>
        </p:xfrm>
        <a:graphic>
          <a:graphicData uri="http://schemas.openxmlformats.org/drawingml/2006/table">
            <a:tbl>
              <a:tblPr/>
              <a:tblGrid>
                <a:gridCol w="360040">
                  <a:extLst>
                    <a:ext uri="{9D8B030D-6E8A-4147-A177-3AD203B41FA5}">
                      <a16:colId xmlns:a16="http://schemas.microsoft.com/office/drawing/2014/main" val="20000"/>
                    </a:ext>
                  </a:extLst>
                </a:gridCol>
                <a:gridCol w="672842">
                  <a:extLst>
                    <a:ext uri="{9D8B030D-6E8A-4147-A177-3AD203B41FA5}">
                      <a16:colId xmlns:a16="http://schemas.microsoft.com/office/drawing/2014/main" val="20001"/>
                    </a:ext>
                  </a:extLst>
                </a:gridCol>
                <a:gridCol w="767317">
                  <a:extLst>
                    <a:ext uri="{9D8B030D-6E8A-4147-A177-3AD203B41FA5}">
                      <a16:colId xmlns:a16="http://schemas.microsoft.com/office/drawing/2014/main" val="20002"/>
                    </a:ext>
                  </a:extLst>
                </a:gridCol>
                <a:gridCol w="720081">
                  <a:extLst>
                    <a:ext uri="{9D8B030D-6E8A-4147-A177-3AD203B41FA5}">
                      <a16:colId xmlns:a16="http://schemas.microsoft.com/office/drawing/2014/main" val="20003"/>
                    </a:ext>
                  </a:extLst>
                </a:gridCol>
                <a:gridCol w="685395">
                  <a:extLst>
                    <a:ext uri="{9D8B030D-6E8A-4147-A177-3AD203B41FA5}">
                      <a16:colId xmlns:a16="http://schemas.microsoft.com/office/drawing/2014/main" val="20004"/>
                    </a:ext>
                  </a:extLst>
                </a:gridCol>
                <a:gridCol w="575151">
                  <a:extLst>
                    <a:ext uri="{9D8B030D-6E8A-4147-A177-3AD203B41FA5}">
                      <a16:colId xmlns:a16="http://schemas.microsoft.com/office/drawing/2014/main" val="20005"/>
                    </a:ext>
                  </a:extLst>
                </a:gridCol>
                <a:gridCol w="575151">
                  <a:extLst>
                    <a:ext uri="{9D8B030D-6E8A-4147-A177-3AD203B41FA5}">
                      <a16:colId xmlns:a16="http://schemas.microsoft.com/office/drawing/2014/main" val="20006"/>
                    </a:ext>
                  </a:extLst>
                </a:gridCol>
              </a:tblGrid>
              <a:tr h="29587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2444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2988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3533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4077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1791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77" marB="3427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2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7" marB="3427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grpSp>
        <p:nvGrpSpPr>
          <p:cNvPr id="6" name="组合 5"/>
          <p:cNvGrpSpPr/>
          <p:nvPr/>
        </p:nvGrpSpPr>
        <p:grpSpPr>
          <a:xfrm>
            <a:off x="4644008" y="3003798"/>
            <a:ext cx="2880320" cy="1289404"/>
            <a:chOff x="4788024" y="3019830"/>
            <a:chExt cx="2880320" cy="1289404"/>
          </a:xfrm>
        </p:grpSpPr>
        <p:sp>
          <p:nvSpPr>
            <p:cNvPr id="7" name="TextBox 6"/>
            <p:cNvSpPr txBox="1"/>
            <p:nvPr/>
          </p:nvSpPr>
          <p:spPr>
            <a:xfrm>
              <a:off x="4788024" y="3939902"/>
              <a:ext cx="360040" cy="369332"/>
            </a:xfrm>
            <a:prstGeom prst="rect">
              <a:avLst/>
            </a:prstGeom>
            <a:noFill/>
          </p:spPr>
          <p:txBody>
            <a:bodyPr wrap="square" rtlCol="0">
              <a:spAutoFit/>
            </a:bodyPr>
            <a:lstStyle/>
            <a:p>
              <a:r>
                <a:rPr lang="en-US" altLang="zh-CN" dirty="0">
                  <a:solidFill>
                    <a:srgbClr val="FF0000"/>
                  </a:solidFill>
                </a:rPr>
                <a:t>A</a:t>
              </a:r>
              <a:endParaRPr lang="zh-CN" altLang="en-US" dirty="0">
                <a:solidFill>
                  <a:srgbClr val="FF0000"/>
                </a:solidFill>
              </a:endParaRPr>
            </a:p>
          </p:txBody>
        </p:sp>
        <p:sp>
          <p:nvSpPr>
            <p:cNvPr id="8" name="TextBox 7"/>
            <p:cNvSpPr txBox="1"/>
            <p:nvPr/>
          </p:nvSpPr>
          <p:spPr>
            <a:xfrm>
              <a:off x="6732240" y="3019830"/>
              <a:ext cx="504056" cy="369332"/>
            </a:xfrm>
            <a:prstGeom prst="rect">
              <a:avLst/>
            </a:prstGeom>
            <a:noFill/>
          </p:spPr>
          <p:txBody>
            <a:bodyPr wrap="square" rtlCol="0">
              <a:spAutoFit/>
            </a:bodyPr>
            <a:lstStyle/>
            <a:p>
              <a:r>
                <a:rPr lang="en-US" altLang="zh-CN" dirty="0">
                  <a:solidFill>
                    <a:srgbClr val="FF0000"/>
                  </a:solidFill>
                </a:rPr>
                <a:t>a</a:t>
              </a:r>
              <a:endParaRPr lang="zh-CN" altLang="en-US" dirty="0">
                <a:solidFill>
                  <a:srgbClr val="FF0000"/>
                </a:solidFill>
              </a:endParaRPr>
            </a:p>
          </p:txBody>
        </p:sp>
        <p:sp>
          <p:nvSpPr>
            <p:cNvPr id="9" name="TextBox 8"/>
            <p:cNvSpPr txBox="1"/>
            <p:nvPr/>
          </p:nvSpPr>
          <p:spPr>
            <a:xfrm>
              <a:off x="6516216" y="3939902"/>
              <a:ext cx="1152128" cy="369332"/>
            </a:xfrm>
            <a:prstGeom prst="rect">
              <a:avLst/>
            </a:prstGeom>
            <a:noFill/>
          </p:spPr>
          <p:txBody>
            <a:bodyPr wrap="square" rtlCol="0">
              <a:spAutoFit/>
            </a:bodyPr>
            <a:lstStyle/>
            <a:p>
              <a:r>
                <a:rPr lang="en-US" altLang="zh-CN" b="1" dirty="0">
                  <a:solidFill>
                    <a:srgbClr val="FF0000"/>
                  </a:solidFill>
                  <a:latin typeface="宋体" pitchFamily="2" charset="-122"/>
                </a:rPr>
                <a:t>A</a:t>
              </a:r>
              <a:r>
                <a:rPr lang="zh-CN" altLang="en-US" b="1" dirty="0">
                  <a:solidFill>
                    <a:srgbClr val="FF0000"/>
                  </a:solidFill>
                  <a:latin typeface="宋体" pitchFamily="2" charset="-122"/>
                </a:rPr>
                <a:t>→</a:t>
              </a:r>
              <a:r>
                <a:rPr lang="en-US" altLang="zh-CN" b="1" dirty="0">
                  <a:solidFill>
                    <a:srgbClr val="FF0000"/>
                  </a:solidFill>
                  <a:latin typeface="宋体" pitchFamily="2" charset="-122"/>
                </a:rPr>
                <a:t>α</a:t>
              </a:r>
              <a:endParaRPr lang="zh-CN" altLang="en-US" b="1" dirty="0">
                <a:solidFill>
                  <a:srgbClr val="FF0000"/>
                </a:solidFill>
              </a:endParaRPr>
            </a:p>
          </p:txBody>
        </p:sp>
        <p:cxnSp>
          <p:nvCxnSpPr>
            <p:cNvPr id="10" name="直接箭头连接符 9"/>
            <p:cNvCxnSpPr>
              <a:stCxn id="7" idx="3"/>
              <a:endCxn id="9" idx="1"/>
            </p:cNvCxnSpPr>
            <p:nvPr/>
          </p:nvCxnSpPr>
          <p:spPr>
            <a:xfrm>
              <a:off x="5148064" y="4124568"/>
              <a:ext cx="1368152" cy="0"/>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11" name="直接箭头连接符 10"/>
            <p:cNvCxnSpPr/>
            <p:nvPr/>
          </p:nvCxnSpPr>
          <p:spPr>
            <a:xfrm>
              <a:off x="6870042" y="3389162"/>
              <a:ext cx="0" cy="550740"/>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grpSp>
      <p:grpSp>
        <p:nvGrpSpPr>
          <p:cNvPr id="13" name="组合 12"/>
          <p:cNvGrpSpPr/>
          <p:nvPr/>
        </p:nvGrpSpPr>
        <p:grpSpPr>
          <a:xfrm>
            <a:off x="4644008" y="3003798"/>
            <a:ext cx="3312368" cy="1305436"/>
            <a:chOff x="4788024" y="2550390"/>
            <a:chExt cx="3312368" cy="1305436"/>
          </a:xfrm>
        </p:grpSpPr>
        <p:sp>
          <p:nvSpPr>
            <p:cNvPr id="14" name="TextBox 13"/>
            <p:cNvSpPr txBox="1"/>
            <p:nvPr/>
          </p:nvSpPr>
          <p:spPr>
            <a:xfrm>
              <a:off x="4788024" y="3472701"/>
              <a:ext cx="360040" cy="369332"/>
            </a:xfrm>
            <a:prstGeom prst="rect">
              <a:avLst/>
            </a:prstGeom>
            <a:noFill/>
          </p:spPr>
          <p:txBody>
            <a:bodyPr wrap="square" rtlCol="0">
              <a:spAutoFit/>
            </a:bodyPr>
            <a:lstStyle/>
            <a:p>
              <a:r>
                <a:rPr lang="en-US" altLang="zh-CN" dirty="0">
                  <a:solidFill>
                    <a:srgbClr val="FF0000"/>
                  </a:solidFill>
                </a:rPr>
                <a:t>A</a:t>
              </a:r>
              <a:endParaRPr lang="zh-CN" altLang="en-US" dirty="0">
                <a:solidFill>
                  <a:srgbClr val="FF0000"/>
                </a:solidFill>
              </a:endParaRPr>
            </a:p>
          </p:txBody>
        </p:sp>
        <p:sp>
          <p:nvSpPr>
            <p:cNvPr id="15" name="TextBox 14"/>
            <p:cNvSpPr txBox="1"/>
            <p:nvPr/>
          </p:nvSpPr>
          <p:spPr>
            <a:xfrm>
              <a:off x="7452320" y="2550390"/>
              <a:ext cx="504056" cy="369332"/>
            </a:xfrm>
            <a:prstGeom prst="rect">
              <a:avLst/>
            </a:prstGeom>
            <a:noFill/>
          </p:spPr>
          <p:txBody>
            <a:bodyPr wrap="square" rtlCol="0">
              <a:spAutoFit/>
            </a:bodyPr>
            <a:lstStyle/>
            <a:p>
              <a:r>
                <a:rPr lang="en-US" altLang="zh-CN" dirty="0">
                  <a:solidFill>
                    <a:srgbClr val="FF0000"/>
                  </a:solidFill>
                </a:rPr>
                <a:t>b</a:t>
              </a:r>
              <a:endParaRPr lang="zh-CN" altLang="en-US" dirty="0">
                <a:solidFill>
                  <a:srgbClr val="FF0000"/>
                </a:solidFill>
              </a:endParaRPr>
            </a:p>
          </p:txBody>
        </p:sp>
        <p:sp>
          <p:nvSpPr>
            <p:cNvPr id="16" name="TextBox 15"/>
            <p:cNvSpPr txBox="1"/>
            <p:nvPr/>
          </p:nvSpPr>
          <p:spPr>
            <a:xfrm>
              <a:off x="7308304" y="3486494"/>
              <a:ext cx="792088" cy="369332"/>
            </a:xfrm>
            <a:prstGeom prst="rect">
              <a:avLst/>
            </a:prstGeom>
            <a:noFill/>
          </p:spPr>
          <p:txBody>
            <a:bodyPr wrap="square" rtlCol="0">
              <a:spAutoFit/>
            </a:bodyPr>
            <a:lstStyle/>
            <a:p>
              <a:r>
                <a:rPr lang="en-US" altLang="zh-CN" b="1" dirty="0">
                  <a:solidFill>
                    <a:srgbClr val="FF0000"/>
                  </a:solidFill>
                  <a:latin typeface="宋体" pitchFamily="2" charset="-122"/>
                </a:rPr>
                <a:t>A</a:t>
              </a:r>
              <a:r>
                <a:rPr lang="zh-CN" altLang="en-US" b="1" dirty="0">
                  <a:solidFill>
                    <a:srgbClr val="FF0000"/>
                  </a:solidFill>
                  <a:latin typeface="宋体" pitchFamily="2" charset="-122"/>
                </a:rPr>
                <a:t>→</a:t>
              </a:r>
              <a:r>
                <a:rPr lang="en-US" altLang="zh-CN" b="1" dirty="0">
                  <a:solidFill>
                    <a:srgbClr val="FF0000"/>
                  </a:solidFill>
                  <a:latin typeface="宋体" pitchFamily="2" charset="-122"/>
                </a:rPr>
                <a:t>α</a:t>
              </a:r>
              <a:endParaRPr lang="zh-CN" altLang="en-US" b="1" dirty="0">
                <a:solidFill>
                  <a:srgbClr val="FF0000"/>
                </a:solidFill>
              </a:endParaRPr>
            </a:p>
          </p:txBody>
        </p:sp>
        <p:cxnSp>
          <p:nvCxnSpPr>
            <p:cNvPr id="17" name="直接箭头连接符 16"/>
            <p:cNvCxnSpPr/>
            <p:nvPr/>
          </p:nvCxnSpPr>
          <p:spPr>
            <a:xfrm flipV="1">
              <a:off x="5148064" y="3630510"/>
              <a:ext cx="2160240" cy="53715"/>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7658820" y="2838422"/>
              <a:ext cx="0" cy="632040"/>
            </a:xfrm>
            <a:prstGeom prst="straightConnector1">
              <a:avLst/>
            </a:prstGeom>
            <a:ln w="38100">
              <a:solidFill>
                <a:srgbClr val="0070C0"/>
              </a:solidFill>
              <a:tailEnd type="arrow"/>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58378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124932"/>
                                        </p:tgtEl>
                                        <p:attrNameLst>
                                          <p:attrName>style.visibility</p:attrName>
                                        </p:attrNameLst>
                                      </p:cBhvr>
                                      <p:to>
                                        <p:strVal val="visible"/>
                                      </p:to>
                                    </p:set>
                                    <p:animEffect transition="in" filter="slide(fromBottom)">
                                      <p:cBhvr>
                                        <p:cTn id="19" dur="500"/>
                                        <p:tgtEl>
                                          <p:spTgt spid="1249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2" grpId="0" animBg="1"/>
    </p:bldLst>
  </p:timing>
</p:sld>
</file>

<file path=ppt/slides/slide1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6498" name="Rectangle 2"/>
          <p:cNvSpPr>
            <a:spLocks noGrp="1" noChangeArrowheads="1"/>
          </p:cNvSpPr>
          <p:nvPr>
            <p:ph type="title"/>
          </p:nvPr>
        </p:nvSpPr>
        <p:spPr>
          <a:xfrm>
            <a:off x="0" y="100930"/>
            <a:ext cx="7086600" cy="382588"/>
          </a:xfrm>
        </p:spPr>
        <p:txBody>
          <a:bodyPr>
            <a:noAutofit/>
          </a:bodyPr>
          <a:lstStyle/>
          <a:p>
            <a:pPr eaLnBrk="1" hangingPunct="1"/>
            <a:r>
              <a:rPr lang="zh-CN" altLang="en-US" sz="3200" dirty="0">
                <a:solidFill>
                  <a:schemeClr val="tx1"/>
                </a:solidFill>
                <a:ea typeface="隶书" pitchFamily="49" charset="-122"/>
              </a:rPr>
              <a:t>例：求对应于下述文法的预测分析表。</a:t>
            </a:r>
          </a:p>
        </p:txBody>
      </p:sp>
      <p:sp>
        <p:nvSpPr>
          <p:cNvPr id="220163" name="Rectangle 3"/>
          <p:cNvSpPr>
            <a:spLocks noGrp="1" noChangeArrowheads="1"/>
          </p:cNvSpPr>
          <p:nvPr>
            <p:ph type="body" idx="1"/>
          </p:nvPr>
        </p:nvSpPr>
        <p:spPr>
          <a:xfrm>
            <a:off x="107504" y="627534"/>
            <a:ext cx="3312368" cy="807912"/>
          </a:xfrm>
        </p:spPr>
        <p:txBody>
          <a:bodyPr>
            <a:noAutofit/>
          </a:bodyPr>
          <a:lstStyle/>
          <a:p>
            <a:pPr eaLnBrk="1" hangingPunct="1">
              <a:buFontTx/>
              <a:buNone/>
            </a:pPr>
            <a:r>
              <a:rPr lang="en-US" altLang="zh-CN" sz="2200" dirty="0">
                <a:latin typeface="宋体" panose="02010600030101010101" pitchFamily="2" charset="-122"/>
                <a:ea typeface="宋体" panose="02010600030101010101" pitchFamily="2" charset="-122"/>
              </a:rPr>
              <a:t>1.</a:t>
            </a:r>
            <a:r>
              <a:rPr lang="zh-CN" altLang="en-US" sz="2200" dirty="0">
                <a:latin typeface="宋体" panose="02010600030101010101" pitchFamily="2" charset="-122"/>
                <a:ea typeface="宋体" panose="02010600030101010101" pitchFamily="2" charset="-122"/>
              </a:rPr>
              <a:t>首先求文法中各个候选式的</a:t>
            </a:r>
            <a:r>
              <a:rPr lang="en-US" altLang="zh-CN" sz="2200" dirty="0">
                <a:latin typeface="宋体" panose="02010600030101010101" pitchFamily="2" charset="-122"/>
                <a:ea typeface="宋体" panose="02010600030101010101" pitchFamily="2" charset="-122"/>
              </a:rPr>
              <a:t>first</a:t>
            </a:r>
            <a:r>
              <a:rPr lang="zh-CN" altLang="en-US" sz="2200" dirty="0">
                <a:latin typeface="宋体" panose="02010600030101010101" pitchFamily="2" charset="-122"/>
                <a:ea typeface="宋体" panose="02010600030101010101" pitchFamily="2" charset="-122"/>
              </a:rPr>
              <a:t>集</a:t>
            </a:r>
          </a:p>
        </p:txBody>
      </p:sp>
      <p:sp>
        <p:nvSpPr>
          <p:cNvPr id="106500" name="Rectangle 4"/>
          <p:cNvSpPr>
            <a:spLocks noChangeArrowheads="1"/>
          </p:cNvSpPr>
          <p:nvPr/>
        </p:nvSpPr>
        <p:spPr bwMode="auto">
          <a:xfrm>
            <a:off x="7158608" y="195486"/>
            <a:ext cx="1733872" cy="1615827"/>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200" dirty="0">
                <a:solidFill>
                  <a:srgbClr val="0000CC"/>
                </a:solidFill>
              </a:rPr>
              <a:t>E </a:t>
            </a:r>
            <a:r>
              <a:rPr lang="en-US" altLang="zh-CN" sz="2200" dirty="0">
                <a:solidFill>
                  <a:srgbClr val="0000CC"/>
                </a:solidFill>
                <a:sym typeface="Wingdings" pitchFamily="2" charset="2"/>
              </a:rPr>
              <a:t></a:t>
            </a:r>
            <a:r>
              <a:rPr lang="en-US" altLang="zh-CN" sz="2200" dirty="0">
                <a:solidFill>
                  <a:srgbClr val="0000CC"/>
                </a:solidFill>
              </a:rPr>
              <a:t>TE'</a:t>
            </a:r>
            <a:br>
              <a:rPr lang="en-US" altLang="zh-CN" sz="2200" dirty="0">
                <a:solidFill>
                  <a:srgbClr val="0000CC"/>
                </a:solidFill>
              </a:rPr>
            </a:br>
            <a:r>
              <a:rPr lang="en-US" altLang="zh-CN" sz="2200" dirty="0">
                <a:solidFill>
                  <a:srgbClr val="0000CC"/>
                </a:solidFill>
              </a:rPr>
              <a:t>E' </a:t>
            </a:r>
            <a:r>
              <a:rPr lang="en-US" altLang="zh-CN" sz="2200" dirty="0">
                <a:solidFill>
                  <a:srgbClr val="0000CC"/>
                </a:solidFill>
                <a:sym typeface="Wingdings" pitchFamily="2" charset="2"/>
              </a:rPr>
              <a:t></a:t>
            </a:r>
            <a:r>
              <a:rPr lang="en-US" altLang="zh-CN" sz="2200" dirty="0">
                <a:solidFill>
                  <a:srgbClr val="0000CC"/>
                </a:solidFill>
              </a:rPr>
              <a:t> +TE' |ε</a:t>
            </a:r>
            <a:br>
              <a:rPr lang="en-US" altLang="zh-CN" sz="2200" dirty="0">
                <a:solidFill>
                  <a:srgbClr val="0000CC"/>
                </a:solidFill>
              </a:rPr>
            </a:br>
            <a:r>
              <a:rPr lang="en-US" altLang="zh-CN" sz="2200" dirty="0">
                <a:solidFill>
                  <a:srgbClr val="0000CC"/>
                </a:solidFill>
              </a:rPr>
              <a:t>T </a:t>
            </a:r>
            <a:r>
              <a:rPr lang="en-US" altLang="zh-CN" sz="2200" dirty="0">
                <a:solidFill>
                  <a:srgbClr val="0000CC"/>
                </a:solidFill>
                <a:sym typeface="Wingdings" pitchFamily="2" charset="2"/>
              </a:rPr>
              <a:t></a:t>
            </a:r>
            <a:r>
              <a:rPr lang="en-US" altLang="zh-CN" sz="2200" dirty="0">
                <a:solidFill>
                  <a:srgbClr val="0000CC"/>
                </a:solidFill>
              </a:rPr>
              <a:t> FT'</a:t>
            </a:r>
            <a:br>
              <a:rPr lang="en-US" altLang="zh-CN" sz="2200" dirty="0">
                <a:solidFill>
                  <a:srgbClr val="0000CC"/>
                </a:solidFill>
              </a:rPr>
            </a:br>
            <a:r>
              <a:rPr lang="en-US" altLang="zh-CN" sz="2200" dirty="0">
                <a:solidFill>
                  <a:srgbClr val="0000CC"/>
                </a:solidFill>
              </a:rPr>
              <a:t>T' </a:t>
            </a:r>
            <a:r>
              <a:rPr lang="en-US" altLang="zh-CN" sz="2200" dirty="0">
                <a:solidFill>
                  <a:srgbClr val="0000CC"/>
                </a:solidFill>
                <a:sym typeface="Wingdings" pitchFamily="2" charset="2"/>
              </a:rPr>
              <a:t></a:t>
            </a:r>
            <a:r>
              <a:rPr lang="en-US" altLang="zh-CN" sz="2200" dirty="0">
                <a:solidFill>
                  <a:srgbClr val="0000CC"/>
                </a:solidFill>
              </a:rPr>
              <a:t> *FT' |ε</a:t>
            </a:r>
            <a:br>
              <a:rPr lang="en-US" altLang="zh-CN" sz="2200" dirty="0">
                <a:solidFill>
                  <a:srgbClr val="0000CC"/>
                </a:solidFill>
              </a:rPr>
            </a:br>
            <a:r>
              <a:rPr lang="en-US" altLang="zh-CN" sz="2200" dirty="0">
                <a:solidFill>
                  <a:srgbClr val="0000CC"/>
                </a:solidFill>
              </a:rPr>
              <a:t> F </a:t>
            </a:r>
            <a:r>
              <a:rPr lang="en-US" altLang="zh-CN" sz="2200" dirty="0">
                <a:solidFill>
                  <a:srgbClr val="0000CC"/>
                </a:solidFill>
                <a:sym typeface="Wingdings" pitchFamily="2" charset="2"/>
              </a:rPr>
              <a:t></a:t>
            </a:r>
            <a:r>
              <a:rPr lang="en-US" altLang="zh-CN" sz="2200" dirty="0">
                <a:solidFill>
                  <a:srgbClr val="0000CC"/>
                </a:solidFill>
              </a:rPr>
              <a:t>(E) |</a:t>
            </a:r>
            <a:r>
              <a:rPr lang="en-US" altLang="zh-CN" sz="2200" dirty="0" err="1">
                <a:solidFill>
                  <a:srgbClr val="0000CC"/>
                </a:solidFill>
              </a:rPr>
              <a:t>i</a:t>
            </a:r>
            <a:r>
              <a:rPr lang="en-US" altLang="zh-CN" sz="2200" dirty="0">
                <a:solidFill>
                  <a:srgbClr val="0000CC"/>
                </a:solidFill>
              </a:rPr>
              <a:t> </a:t>
            </a:r>
          </a:p>
        </p:txBody>
      </p:sp>
      <p:sp>
        <p:nvSpPr>
          <p:cNvPr id="220165" name="Rectangle 5"/>
          <p:cNvSpPr>
            <a:spLocks noChangeArrowheads="1"/>
          </p:cNvSpPr>
          <p:nvPr/>
        </p:nvSpPr>
        <p:spPr bwMode="auto">
          <a:xfrm>
            <a:off x="288032" y="1553995"/>
            <a:ext cx="3131840" cy="2529923"/>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200" dirty="0"/>
              <a:t>First(E</a:t>
            </a:r>
            <a:r>
              <a:rPr lang="en-US" altLang="zh-CN" sz="2200" dirty="0">
                <a:sym typeface="Symbol" pitchFamily="18" charset="2"/>
              </a:rPr>
              <a:t>TE</a:t>
            </a:r>
            <a:r>
              <a:rPr lang="en-US" altLang="zh-CN" sz="2200" dirty="0">
                <a:cs typeface="Times New Roman" pitchFamily="18" charset="0"/>
                <a:sym typeface="Symbol" pitchFamily="18" charset="2"/>
              </a:rPr>
              <a:t>'</a:t>
            </a:r>
            <a:r>
              <a:rPr lang="en-US" altLang="zh-CN" sz="2200" dirty="0"/>
              <a:t>) = { ( </a:t>
            </a:r>
            <a:r>
              <a:rPr lang="zh-CN" altLang="en-US" sz="2200" dirty="0">
                <a:latin typeface="宋体" pitchFamily="2" charset="-122"/>
              </a:rPr>
              <a:t>，</a:t>
            </a:r>
            <a:r>
              <a:rPr lang="en-US" altLang="zh-CN" sz="2200" dirty="0" err="1"/>
              <a:t>i</a:t>
            </a:r>
            <a:r>
              <a:rPr lang="en-US" altLang="zh-CN" sz="2200" dirty="0"/>
              <a:t> } </a:t>
            </a:r>
            <a:br>
              <a:rPr lang="en-US" altLang="zh-CN" sz="2200" dirty="0"/>
            </a:br>
            <a:r>
              <a:rPr lang="en-US" altLang="zh-CN" sz="2200" dirty="0"/>
              <a:t>First(E'</a:t>
            </a:r>
            <a:r>
              <a:rPr lang="en-US" altLang="zh-CN" sz="2200" dirty="0">
                <a:sym typeface="Symbol" pitchFamily="18" charset="2"/>
              </a:rPr>
              <a:t>+TE’</a:t>
            </a:r>
            <a:r>
              <a:rPr lang="en-US" altLang="zh-CN" sz="2200" dirty="0"/>
              <a:t>) = {+}</a:t>
            </a:r>
          </a:p>
          <a:p>
            <a:pPr eaLnBrk="1" hangingPunct="1">
              <a:lnSpc>
                <a:spcPct val="90000"/>
              </a:lnSpc>
              <a:spcBef>
                <a:spcPct val="0"/>
              </a:spcBef>
              <a:buFontTx/>
              <a:buNone/>
            </a:pPr>
            <a:r>
              <a:rPr lang="en-US" altLang="zh-CN" sz="2200" dirty="0">
                <a:solidFill>
                  <a:srgbClr val="FF0000"/>
                </a:solidFill>
              </a:rPr>
              <a:t>First(E'</a:t>
            </a:r>
            <a:r>
              <a:rPr lang="en-US" altLang="zh-CN" sz="2200" dirty="0">
                <a:solidFill>
                  <a:srgbClr val="FF0000"/>
                </a:solidFill>
                <a:sym typeface="Symbol" pitchFamily="18" charset="2"/>
              </a:rPr>
              <a:t>  )</a:t>
            </a:r>
            <a:r>
              <a:rPr lang="en-US" altLang="zh-CN" sz="2200" dirty="0">
                <a:solidFill>
                  <a:srgbClr val="FF0000"/>
                </a:solidFill>
              </a:rPr>
              <a:t>= {ε} </a:t>
            </a:r>
            <a:br>
              <a:rPr lang="en-US" altLang="zh-CN" sz="2200" dirty="0"/>
            </a:br>
            <a:r>
              <a:rPr lang="en-US" altLang="zh-CN" sz="2200" dirty="0"/>
              <a:t>First(T</a:t>
            </a:r>
            <a:r>
              <a:rPr lang="en-US" altLang="zh-CN" sz="2200" dirty="0">
                <a:sym typeface="Symbol" pitchFamily="18" charset="2"/>
              </a:rPr>
              <a:t> FT</a:t>
            </a:r>
            <a:r>
              <a:rPr lang="en-US" altLang="zh-CN" sz="2200" dirty="0"/>
              <a:t>') = { ( </a:t>
            </a:r>
            <a:r>
              <a:rPr lang="zh-CN" altLang="en-US" sz="2200" dirty="0">
                <a:latin typeface="宋体" pitchFamily="2" charset="-122"/>
              </a:rPr>
              <a:t>，</a:t>
            </a:r>
            <a:r>
              <a:rPr lang="en-US" altLang="zh-CN" sz="2200" dirty="0" err="1"/>
              <a:t>i</a:t>
            </a:r>
            <a:r>
              <a:rPr lang="en-US" altLang="zh-CN" sz="2200" dirty="0"/>
              <a:t> }</a:t>
            </a:r>
            <a:br>
              <a:rPr lang="en-US" altLang="zh-CN" sz="2200" dirty="0"/>
            </a:br>
            <a:r>
              <a:rPr lang="en-US" altLang="zh-CN" sz="2200" dirty="0"/>
              <a:t>First(T'</a:t>
            </a:r>
            <a:r>
              <a:rPr lang="en-US" altLang="zh-CN" sz="2200" dirty="0">
                <a:sym typeface="Symbol" pitchFamily="18" charset="2"/>
              </a:rPr>
              <a:t> *FT</a:t>
            </a:r>
            <a:r>
              <a:rPr lang="en-US" altLang="zh-CN" sz="2200" dirty="0"/>
              <a:t>') = {*} </a:t>
            </a:r>
          </a:p>
          <a:p>
            <a:pPr eaLnBrk="1" hangingPunct="1">
              <a:lnSpc>
                <a:spcPct val="90000"/>
              </a:lnSpc>
              <a:spcBef>
                <a:spcPct val="0"/>
              </a:spcBef>
              <a:buFontTx/>
              <a:buNone/>
            </a:pPr>
            <a:r>
              <a:rPr lang="en-US" altLang="zh-CN" sz="2200" dirty="0">
                <a:solidFill>
                  <a:srgbClr val="CC00FF"/>
                </a:solidFill>
              </a:rPr>
              <a:t>First(T'</a:t>
            </a:r>
            <a:r>
              <a:rPr lang="en-US" altLang="zh-CN" sz="2200" dirty="0">
                <a:solidFill>
                  <a:srgbClr val="CC00FF"/>
                </a:solidFill>
                <a:sym typeface="Symbol" pitchFamily="18" charset="2"/>
              </a:rPr>
              <a:t> </a:t>
            </a:r>
            <a:r>
              <a:rPr lang="en-US" altLang="zh-CN" sz="2200" dirty="0">
                <a:solidFill>
                  <a:srgbClr val="CC00FF"/>
                </a:solidFill>
              </a:rPr>
              <a:t> ε) = {ε} </a:t>
            </a:r>
          </a:p>
          <a:p>
            <a:pPr eaLnBrk="1" hangingPunct="1">
              <a:lnSpc>
                <a:spcPct val="90000"/>
              </a:lnSpc>
              <a:spcBef>
                <a:spcPct val="0"/>
              </a:spcBef>
              <a:buFontTx/>
              <a:buNone/>
            </a:pPr>
            <a:r>
              <a:rPr lang="en-US" altLang="zh-CN" sz="2200" dirty="0"/>
              <a:t>First(F</a:t>
            </a:r>
            <a:r>
              <a:rPr lang="en-US" altLang="zh-CN" sz="2200" dirty="0">
                <a:sym typeface="Symbol" pitchFamily="18" charset="2"/>
              </a:rPr>
              <a:t> (E)</a:t>
            </a:r>
            <a:r>
              <a:rPr lang="en-US" altLang="zh-CN" sz="2200" dirty="0"/>
              <a:t>) = { ( }</a:t>
            </a:r>
          </a:p>
          <a:p>
            <a:pPr eaLnBrk="1" hangingPunct="1">
              <a:lnSpc>
                <a:spcPct val="90000"/>
              </a:lnSpc>
              <a:spcBef>
                <a:spcPct val="0"/>
              </a:spcBef>
              <a:buFontTx/>
              <a:buNone/>
            </a:pPr>
            <a:r>
              <a:rPr lang="en-US" altLang="zh-CN" sz="2200" dirty="0"/>
              <a:t>First(F</a:t>
            </a:r>
            <a:r>
              <a:rPr lang="en-US" altLang="zh-CN" sz="2200" dirty="0">
                <a:sym typeface="Symbol" pitchFamily="18" charset="2"/>
              </a:rPr>
              <a:t> </a:t>
            </a:r>
            <a:r>
              <a:rPr lang="en-US" altLang="zh-CN" sz="2200" dirty="0" err="1">
                <a:sym typeface="Symbol" pitchFamily="18" charset="2"/>
              </a:rPr>
              <a:t>i</a:t>
            </a:r>
            <a:r>
              <a:rPr lang="en-US" altLang="zh-CN" sz="2200" dirty="0"/>
              <a:t>) = { </a:t>
            </a:r>
            <a:r>
              <a:rPr lang="en-US" altLang="zh-CN" sz="2200" dirty="0" err="1"/>
              <a:t>i</a:t>
            </a:r>
            <a:r>
              <a:rPr lang="en-US" altLang="zh-CN" sz="2200" dirty="0"/>
              <a:t> }  </a:t>
            </a:r>
          </a:p>
        </p:txBody>
      </p:sp>
      <p:sp>
        <p:nvSpPr>
          <p:cNvPr id="220167" name="Rectangle 7"/>
          <p:cNvSpPr>
            <a:spLocks noChangeArrowheads="1"/>
          </p:cNvSpPr>
          <p:nvPr/>
        </p:nvSpPr>
        <p:spPr bwMode="auto">
          <a:xfrm>
            <a:off x="3563888" y="781050"/>
            <a:ext cx="3576142"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182563" indent="-182563" eaLnBrk="1" hangingPunct="1">
              <a:buFontTx/>
              <a:buNone/>
            </a:pPr>
            <a:r>
              <a:rPr lang="en-US" altLang="zh-CN" sz="2200" dirty="0"/>
              <a:t>2.</a:t>
            </a:r>
            <a:r>
              <a:rPr lang="zh-CN" altLang="en-US" sz="2200" dirty="0"/>
              <a:t>对</a:t>
            </a:r>
            <a:r>
              <a:rPr lang="en-US" altLang="zh-CN" sz="2200" dirty="0"/>
              <a:t>First</a:t>
            </a:r>
            <a:r>
              <a:rPr lang="zh-CN" altLang="en-US" sz="2200" dirty="0"/>
              <a:t>集含有</a:t>
            </a:r>
            <a:r>
              <a:rPr lang="en-US" altLang="zh-CN" sz="2200" dirty="0"/>
              <a:t>ε</a:t>
            </a:r>
            <a:r>
              <a:rPr lang="zh-CN" altLang="en-US" sz="2200" dirty="0"/>
              <a:t>的候选式，求对应非终结符的</a:t>
            </a:r>
            <a:r>
              <a:rPr lang="en-US" altLang="zh-CN" sz="2200" dirty="0"/>
              <a:t>Follow</a:t>
            </a:r>
            <a:r>
              <a:rPr lang="zh-CN" altLang="en-US" sz="2200" dirty="0"/>
              <a:t>集，即求</a:t>
            </a:r>
            <a:r>
              <a:rPr lang="en-US" altLang="zh-CN" sz="2200" dirty="0"/>
              <a:t>E'</a:t>
            </a:r>
            <a:r>
              <a:rPr lang="zh-CN" altLang="en-US" sz="2200" dirty="0"/>
              <a:t>和</a:t>
            </a:r>
            <a:r>
              <a:rPr lang="en-US" altLang="zh-CN" sz="2200" dirty="0"/>
              <a:t>T'</a:t>
            </a:r>
            <a:r>
              <a:rPr lang="zh-CN" altLang="en-US" sz="2200" dirty="0"/>
              <a:t>的</a:t>
            </a:r>
            <a:r>
              <a:rPr lang="en-US" altLang="zh-CN" sz="2200" dirty="0"/>
              <a:t>Follow</a:t>
            </a:r>
            <a:r>
              <a:rPr lang="zh-CN" altLang="en-US" sz="2200" dirty="0"/>
              <a:t>集</a:t>
            </a:r>
          </a:p>
        </p:txBody>
      </p:sp>
      <p:sp>
        <p:nvSpPr>
          <p:cNvPr id="220168" name="Rectangle 8"/>
          <p:cNvSpPr>
            <a:spLocks noChangeArrowheads="1"/>
          </p:cNvSpPr>
          <p:nvPr/>
        </p:nvSpPr>
        <p:spPr bwMode="auto">
          <a:xfrm>
            <a:off x="4036115" y="1923678"/>
            <a:ext cx="3022600" cy="701731"/>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200" dirty="0">
                <a:solidFill>
                  <a:srgbClr val="FF0000"/>
                </a:solidFill>
              </a:rPr>
              <a:t>Follow(E') = {#</a:t>
            </a:r>
            <a:r>
              <a:rPr lang="zh-CN" altLang="en-US" sz="2200" dirty="0">
                <a:solidFill>
                  <a:srgbClr val="FF0000"/>
                </a:solidFill>
                <a:latin typeface="宋体" pitchFamily="2" charset="-122"/>
              </a:rPr>
              <a:t>，</a:t>
            </a:r>
            <a:r>
              <a:rPr lang="en-US" altLang="zh-CN" sz="2200" dirty="0">
                <a:solidFill>
                  <a:srgbClr val="FF0000"/>
                </a:solidFill>
              </a:rPr>
              <a:t>)} </a:t>
            </a:r>
            <a:br>
              <a:rPr lang="en-US" altLang="zh-CN" sz="2200" dirty="0"/>
            </a:br>
            <a:r>
              <a:rPr lang="en-US" altLang="zh-CN" sz="2200" dirty="0">
                <a:solidFill>
                  <a:srgbClr val="CC00FF"/>
                </a:solidFill>
              </a:rPr>
              <a:t>Follow(T') ={#</a:t>
            </a:r>
            <a:r>
              <a:rPr lang="zh-CN" altLang="en-US" sz="2200" dirty="0">
                <a:solidFill>
                  <a:srgbClr val="CC00FF"/>
                </a:solidFill>
                <a:latin typeface="宋体" pitchFamily="2" charset="-122"/>
              </a:rPr>
              <a:t>，</a:t>
            </a:r>
            <a:r>
              <a:rPr lang="en-US" altLang="zh-CN" sz="2200" dirty="0">
                <a:solidFill>
                  <a:srgbClr val="CC00FF"/>
                </a:solidFill>
              </a:rPr>
              <a:t>)</a:t>
            </a:r>
            <a:r>
              <a:rPr lang="zh-CN" altLang="en-US" sz="2200" dirty="0">
                <a:solidFill>
                  <a:srgbClr val="CC00FF"/>
                </a:solidFill>
                <a:latin typeface="宋体" pitchFamily="2" charset="-122"/>
              </a:rPr>
              <a:t>，</a:t>
            </a:r>
            <a:r>
              <a:rPr lang="en-US" altLang="zh-CN" sz="2200" dirty="0">
                <a:solidFill>
                  <a:srgbClr val="CC00FF"/>
                </a:solidFill>
              </a:rPr>
              <a:t>+} </a:t>
            </a:r>
          </a:p>
        </p:txBody>
      </p:sp>
      <p:sp>
        <p:nvSpPr>
          <p:cNvPr id="220169" name="Rectangle 9"/>
          <p:cNvSpPr>
            <a:spLocks noChangeArrowheads="1"/>
          </p:cNvSpPr>
          <p:nvPr/>
        </p:nvSpPr>
        <p:spPr bwMode="auto">
          <a:xfrm>
            <a:off x="212998" y="4220493"/>
            <a:ext cx="2990850" cy="871537"/>
          </a:xfrm>
          <a:prstGeom prst="rect">
            <a:avLst/>
          </a:prstGeom>
          <a:solidFill>
            <a:schemeClr val="bg1"/>
          </a:solidFill>
          <a:ln>
            <a:noFill/>
          </a:ln>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2200" dirty="0"/>
              <a:t>3.</a:t>
            </a:r>
            <a:r>
              <a:rPr lang="zh-CN" altLang="en-US" sz="2200" dirty="0"/>
              <a:t>根据集合的值填表，得到</a:t>
            </a:r>
          </a:p>
        </p:txBody>
      </p:sp>
      <p:graphicFrame>
        <p:nvGraphicFramePr>
          <p:cNvPr id="220235" name="Group 75"/>
          <p:cNvGraphicFramePr>
            <a:graphicFrameLocks noGrp="1"/>
          </p:cNvGraphicFramePr>
          <p:nvPr>
            <p:extLst>
              <p:ext uri="{D42A27DB-BD31-4B8C-83A1-F6EECF244321}">
                <p14:modId xmlns:p14="http://schemas.microsoft.com/office/powerpoint/2010/main" val="116710978"/>
              </p:ext>
            </p:extLst>
          </p:nvPr>
        </p:nvGraphicFramePr>
        <p:xfrm>
          <a:off x="3419871" y="2931790"/>
          <a:ext cx="5724129" cy="2144801"/>
        </p:xfrm>
        <a:graphic>
          <a:graphicData uri="http://schemas.openxmlformats.org/drawingml/2006/table">
            <a:tbl>
              <a:tblPr/>
              <a:tblGrid>
                <a:gridCol w="596652">
                  <a:extLst>
                    <a:ext uri="{9D8B030D-6E8A-4147-A177-3AD203B41FA5}">
                      <a16:colId xmlns:a16="http://schemas.microsoft.com/office/drawing/2014/main" val="20000"/>
                    </a:ext>
                  </a:extLst>
                </a:gridCol>
                <a:gridCol w="839042">
                  <a:extLst>
                    <a:ext uri="{9D8B030D-6E8A-4147-A177-3AD203B41FA5}">
                      <a16:colId xmlns:a16="http://schemas.microsoft.com/office/drawing/2014/main" val="20001"/>
                    </a:ext>
                  </a:extLst>
                </a:gridCol>
                <a:gridCol w="1012579">
                  <a:extLst>
                    <a:ext uri="{9D8B030D-6E8A-4147-A177-3AD203B41FA5}">
                      <a16:colId xmlns:a16="http://schemas.microsoft.com/office/drawing/2014/main" val="20002"/>
                    </a:ext>
                  </a:extLst>
                </a:gridCol>
                <a:gridCol w="915323">
                  <a:extLst>
                    <a:ext uri="{9D8B030D-6E8A-4147-A177-3AD203B41FA5}">
                      <a16:colId xmlns:a16="http://schemas.microsoft.com/office/drawing/2014/main" val="20003"/>
                    </a:ext>
                  </a:extLst>
                </a:gridCol>
                <a:gridCol w="775264">
                  <a:extLst>
                    <a:ext uri="{9D8B030D-6E8A-4147-A177-3AD203B41FA5}">
                      <a16:colId xmlns:a16="http://schemas.microsoft.com/office/drawing/2014/main" val="20004"/>
                    </a:ext>
                  </a:extLst>
                </a:gridCol>
                <a:gridCol w="845742">
                  <a:extLst>
                    <a:ext uri="{9D8B030D-6E8A-4147-A177-3AD203B41FA5}">
                      <a16:colId xmlns:a16="http://schemas.microsoft.com/office/drawing/2014/main" val="20005"/>
                    </a:ext>
                  </a:extLst>
                </a:gridCol>
                <a:gridCol w="739527">
                  <a:extLst>
                    <a:ext uri="{9D8B030D-6E8A-4147-A177-3AD203B41FA5}">
                      <a16:colId xmlns:a16="http://schemas.microsoft.com/office/drawing/2014/main" val="20006"/>
                    </a:ext>
                  </a:extLst>
                </a:gridCol>
              </a:tblGrid>
              <a:tr h="304685">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err="1">
                          <a:ln>
                            <a:noFill/>
                          </a:ln>
                          <a:solidFill>
                            <a:schemeClr val="tx1"/>
                          </a:solidFill>
                          <a:effectLst/>
                          <a:latin typeface="Times New Roman" pitchFamily="18" charset="0"/>
                          <a:ea typeface="宋体" pitchFamily="2" charset="-122"/>
                        </a:rPr>
                        <a:t>i</a:t>
                      </a: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a:t>
                      </a: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a:t>
                      </a: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54672">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0624">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t>
                      </a: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574">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72525">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t>
                      </a: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47532">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F</a:t>
                      </a:r>
                    </a:p>
                  </a:txBody>
                  <a:tcPr marT="34277" marB="3427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500" b="0" i="0" u="none" strike="noStrike" cap="none" normalizeH="0" baseline="0" dirty="0">
                        <a:ln>
                          <a:noFill/>
                        </a:ln>
                        <a:solidFill>
                          <a:schemeClr val="tx1"/>
                        </a:solidFill>
                        <a:effectLst/>
                        <a:latin typeface="Times New Roman" pitchFamily="18" charset="0"/>
                        <a:ea typeface="宋体" pitchFamily="2" charset="-122"/>
                        <a:sym typeface="Symbol" pitchFamily="18" charset="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itchFamily="18" charset="0"/>
                          <a:ea typeface="宋体" pitchFamily="2" charset="-122"/>
                        </a:defRPr>
                      </a:lvl1pPr>
                      <a:lvl2pPr marL="742950" indent="-285750" algn="l" eaLnBrk="0" hangingPunct="0">
                        <a:spcBef>
                          <a:spcPct val="20000"/>
                        </a:spcBef>
                        <a:defRPr kumimoji="1" sz="2400">
                          <a:solidFill>
                            <a:schemeClr val="tx1"/>
                          </a:solidFill>
                          <a:latin typeface="Times New Roman" pitchFamily="18" charset="0"/>
                          <a:ea typeface="宋体" pitchFamily="2" charset="-122"/>
                        </a:defRPr>
                      </a:lvl2pPr>
                      <a:lvl3pPr marL="1143000" indent="-228600" algn="l" eaLnBrk="0" hangingPunct="0">
                        <a:spcBef>
                          <a:spcPct val="20000"/>
                        </a:spcBef>
                        <a:defRPr kumimoji="1" sz="2000">
                          <a:solidFill>
                            <a:schemeClr val="tx1"/>
                          </a:solidFill>
                          <a:latin typeface="Times New Roman" pitchFamily="18" charset="0"/>
                          <a:ea typeface="宋体" pitchFamily="2" charset="-122"/>
                        </a:defRPr>
                      </a:lvl3pPr>
                      <a:lvl4pPr marL="1600200" indent="-228600" algn="l" eaLnBrk="0" hangingPunct="0">
                        <a:spcBef>
                          <a:spcPct val="20000"/>
                        </a:spcBef>
                        <a:defRPr kumimoji="1">
                          <a:solidFill>
                            <a:schemeClr val="tx1"/>
                          </a:solidFill>
                          <a:latin typeface="Times New Roman" pitchFamily="18" charset="0"/>
                          <a:ea typeface="宋体" pitchFamily="2" charset="-122"/>
                        </a:defRPr>
                      </a:lvl4pPr>
                      <a:lvl5pPr marL="2057400" indent="-228600" algn="l" eaLnBrk="0" hangingPunct="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T="34277" marB="3427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 name="矩形 1"/>
          <p:cNvSpPr/>
          <p:nvPr/>
        </p:nvSpPr>
        <p:spPr>
          <a:xfrm>
            <a:off x="4000683" y="3245082"/>
            <a:ext cx="931357" cy="353943"/>
          </a:xfrm>
          <a:prstGeom prst="rect">
            <a:avLst/>
          </a:prstGeom>
        </p:spPr>
        <p:txBody>
          <a:bodyPr wrap="square">
            <a:spAutoFit/>
          </a:bodyPr>
          <a:lstStyle/>
          <a:p>
            <a:r>
              <a:rPr kumimoji="1" lang="en-US" altLang="zh-CN" sz="1700" dirty="0">
                <a:latin typeface="Times New Roman" pitchFamily="18" charset="0"/>
                <a:ea typeface="宋体" pitchFamily="2" charset="-122"/>
                <a:sym typeface="Symbol" pitchFamily="18" charset="2"/>
              </a:rPr>
              <a:t>ETE</a:t>
            </a:r>
            <a:r>
              <a:rPr kumimoji="1" lang="en-US" altLang="zh-CN" sz="1700" dirty="0">
                <a:latin typeface="Times New Roman" pitchFamily="18" charset="0"/>
                <a:ea typeface="宋体" pitchFamily="2" charset="-122"/>
                <a:cs typeface="Times New Roman" pitchFamily="18" charset="0"/>
                <a:sym typeface="Symbol" pitchFamily="18" charset="2"/>
              </a:rPr>
              <a:t>'</a:t>
            </a:r>
            <a:endParaRPr lang="zh-CN" altLang="en-US" sz="1700" dirty="0"/>
          </a:p>
        </p:txBody>
      </p:sp>
      <p:sp>
        <p:nvSpPr>
          <p:cNvPr id="11" name="矩形 10"/>
          <p:cNvSpPr/>
          <p:nvPr/>
        </p:nvSpPr>
        <p:spPr>
          <a:xfrm>
            <a:off x="6775460" y="3249448"/>
            <a:ext cx="892884" cy="353943"/>
          </a:xfrm>
          <a:prstGeom prst="rect">
            <a:avLst/>
          </a:prstGeom>
        </p:spPr>
        <p:txBody>
          <a:bodyPr wrap="square">
            <a:spAutoFit/>
          </a:bodyPr>
          <a:lstStyle/>
          <a:p>
            <a:r>
              <a:rPr kumimoji="1" lang="en-US" altLang="zh-CN" sz="1700" dirty="0">
                <a:latin typeface="Times New Roman" pitchFamily="18" charset="0"/>
                <a:ea typeface="宋体" pitchFamily="2" charset="-122"/>
                <a:sym typeface="Symbol" pitchFamily="18" charset="2"/>
              </a:rPr>
              <a:t>ETE</a:t>
            </a:r>
            <a:r>
              <a:rPr kumimoji="1" lang="en-US" altLang="zh-CN" sz="1700" dirty="0">
                <a:latin typeface="Times New Roman" pitchFamily="18" charset="0"/>
                <a:ea typeface="宋体" pitchFamily="2" charset="-122"/>
                <a:cs typeface="Times New Roman" pitchFamily="18" charset="0"/>
                <a:sym typeface="Symbol" pitchFamily="18" charset="2"/>
              </a:rPr>
              <a:t>'</a:t>
            </a:r>
            <a:endParaRPr lang="zh-CN" altLang="en-US" sz="1700" dirty="0"/>
          </a:p>
        </p:txBody>
      </p:sp>
      <p:sp>
        <p:nvSpPr>
          <p:cNvPr id="3" name="矩形 2"/>
          <p:cNvSpPr/>
          <p:nvPr/>
        </p:nvSpPr>
        <p:spPr>
          <a:xfrm>
            <a:off x="4860577" y="3609990"/>
            <a:ext cx="1007567" cy="353943"/>
          </a:xfrm>
          <a:prstGeom prst="rect">
            <a:avLst/>
          </a:prstGeom>
        </p:spPr>
        <p:txBody>
          <a:bodyPr wrap="square">
            <a:spAutoFit/>
          </a:bodyPr>
          <a:lstStyle/>
          <a:p>
            <a:pPr lvl="0" fontAlgn="base">
              <a:spcBef>
                <a:spcPct val="20000"/>
              </a:spcBef>
              <a:spcAft>
                <a:spcPct val="0"/>
              </a:spcAft>
            </a:pPr>
            <a:r>
              <a:rPr kumimoji="1" lang="en-US" altLang="zh-CN" sz="1700" dirty="0">
                <a:latin typeface="Times New Roman" pitchFamily="18" charset="0"/>
                <a:ea typeface="宋体" pitchFamily="2" charset="-122"/>
                <a:sym typeface="Symbol" pitchFamily="18" charset="2"/>
              </a:rPr>
              <a:t>E</a:t>
            </a:r>
            <a:r>
              <a:rPr kumimoji="1" lang="en-US" altLang="zh-CN" sz="1700" dirty="0">
                <a:latin typeface="Times New Roman" pitchFamily="18" charset="0"/>
                <a:ea typeface="宋体" pitchFamily="2" charset="-122"/>
                <a:cs typeface="Times New Roman" pitchFamily="18" charset="0"/>
                <a:sym typeface="Symbol" pitchFamily="18" charset="2"/>
              </a:rPr>
              <a:t>'</a:t>
            </a:r>
            <a:r>
              <a:rPr kumimoji="1" lang="en-US" altLang="zh-CN" sz="1700" dirty="0">
                <a:latin typeface="Times New Roman" pitchFamily="18" charset="0"/>
                <a:ea typeface="宋体" pitchFamily="2" charset="-122"/>
                <a:sym typeface="Symbol" pitchFamily="18" charset="2"/>
              </a:rPr>
              <a:t>+TE</a:t>
            </a:r>
            <a:r>
              <a:rPr kumimoji="1" lang="en-US" altLang="zh-CN" sz="1700" dirty="0">
                <a:latin typeface="Times New Roman" pitchFamily="18" charset="0"/>
                <a:ea typeface="宋体" pitchFamily="2" charset="-122"/>
                <a:cs typeface="Times New Roman" pitchFamily="18" charset="0"/>
                <a:sym typeface="Symbol" pitchFamily="18" charset="2"/>
              </a:rPr>
              <a:t>'</a:t>
            </a:r>
            <a:endParaRPr kumimoji="1" lang="en-US" altLang="zh-CN" sz="1700" dirty="0">
              <a:latin typeface="Times New Roman" pitchFamily="18" charset="0"/>
              <a:ea typeface="宋体" pitchFamily="2" charset="-122"/>
              <a:sym typeface="Symbol" pitchFamily="18" charset="2"/>
            </a:endParaRPr>
          </a:p>
        </p:txBody>
      </p:sp>
      <p:sp>
        <p:nvSpPr>
          <p:cNvPr id="4" name="矩形 3"/>
          <p:cNvSpPr/>
          <p:nvPr/>
        </p:nvSpPr>
        <p:spPr>
          <a:xfrm>
            <a:off x="7539691" y="3609488"/>
            <a:ext cx="853448" cy="353943"/>
          </a:xfrm>
          <a:prstGeom prst="rect">
            <a:avLst/>
          </a:prstGeom>
        </p:spPr>
        <p:txBody>
          <a:bodyPr wrap="square">
            <a:spAutoFit/>
          </a:bodyPr>
          <a:lstStyle/>
          <a:p>
            <a:r>
              <a:rPr kumimoji="1" lang="en-US" altLang="zh-CN" sz="1700" dirty="0">
                <a:solidFill>
                  <a:srgbClr val="FF0000"/>
                </a:solidFill>
                <a:latin typeface="Times New Roman" pitchFamily="18" charset="0"/>
                <a:ea typeface="宋体" pitchFamily="2" charset="-122"/>
                <a:sym typeface="Symbol" pitchFamily="18" charset="2"/>
              </a:rPr>
              <a:t>E</a:t>
            </a:r>
            <a:r>
              <a:rPr kumimoji="1" lang="en-US" altLang="zh-CN" sz="1700" dirty="0">
                <a:latin typeface="Times New Roman" pitchFamily="18" charset="0"/>
                <a:ea typeface="宋体" pitchFamily="2" charset="-122"/>
                <a:cs typeface="Times New Roman" pitchFamily="18" charset="0"/>
                <a:sym typeface="Symbol" pitchFamily="18" charset="2"/>
              </a:rPr>
              <a:t>'</a:t>
            </a:r>
            <a:r>
              <a:rPr kumimoji="1" lang="en-US" altLang="zh-CN" sz="1700" dirty="0">
                <a:solidFill>
                  <a:srgbClr val="FF0000"/>
                </a:solidFill>
                <a:latin typeface="Times New Roman" pitchFamily="18" charset="0"/>
                <a:ea typeface="宋体" pitchFamily="2" charset="-122"/>
                <a:sym typeface="Symbol" pitchFamily="18" charset="2"/>
              </a:rPr>
              <a:t> </a:t>
            </a:r>
            <a:endParaRPr lang="zh-CN" altLang="en-US" sz="1700" dirty="0">
              <a:solidFill>
                <a:srgbClr val="FF0000"/>
              </a:solidFill>
            </a:endParaRPr>
          </a:p>
        </p:txBody>
      </p:sp>
      <p:sp>
        <p:nvSpPr>
          <p:cNvPr id="5" name="矩形 4"/>
          <p:cNvSpPr/>
          <p:nvPr/>
        </p:nvSpPr>
        <p:spPr>
          <a:xfrm>
            <a:off x="8393138" y="3609488"/>
            <a:ext cx="750862" cy="353943"/>
          </a:xfrm>
          <a:prstGeom prst="rect">
            <a:avLst/>
          </a:prstGeom>
        </p:spPr>
        <p:txBody>
          <a:bodyPr wrap="square">
            <a:spAutoFit/>
          </a:bodyPr>
          <a:lstStyle/>
          <a:p>
            <a:pPr lvl="0" algn="r" fontAlgn="base">
              <a:spcBef>
                <a:spcPct val="20000"/>
              </a:spcBef>
              <a:spcAft>
                <a:spcPct val="0"/>
              </a:spcAft>
            </a:pPr>
            <a:r>
              <a:rPr kumimoji="1" lang="en-US" altLang="zh-CN" sz="1700" dirty="0">
                <a:solidFill>
                  <a:srgbClr val="FF0000"/>
                </a:solidFill>
                <a:latin typeface="Times New Roman" pitchFamily="18" charset="0"/>
                <a:ea typeface="宋体" pitchFamily="2" charset="-122"/>
                <a:sym typeface="Symbol" pitchFamily="18" charset="2"/>
              </a:rPr>
              <a:t>E</a:t>
            </a:r>
            <a:r>
              <a:rPr kumimoji="1" lang="en-US" altLang="zh-CN" sz="1700" dirty="0">
                <a:latin typeface="Times New Roman" pitchFamily="18" charset="0"/>
                <a:ea typeface="宋体" pitchFamily="2" charset="-122"/>
                <a:cs typeface="Times New Roman" pitchFamily="18" charset="0"/>
                <a:sym typeface="Symbol" pitchFamily="18" charset="2"/>
              </a:rPr>
              <a:t>'</a:t>
            </a:r>
            <a:r>
              <a:rPr kumimoji="1" lang="en-US" altLang="zh-CN" sz="1700" dirty="0">
                <a:solidFill>
                  <a:srgbClr val="FF0000"/>
                </a:solidFill>
                <a:latin typeface="Times New Roman" pitchFamily="18" charset="0"/>
                <a:ea typeface="宋体" pitchFamily="2" charset="-122"/>
                <a:sym typeface="Symbol" pitchFamily="18" charset="2"/>
              </a:rPr>
              <a:t></a:t>
            </a:r>
          </a:p>
        </p:txBody>
      </p:sp>
      <p:sp>
        <p:nvSpPr>
          <p:cNvPr id="6" name="矩形 5"/>
          <p:cNvSpPr/>
          <p:nvPr/>
        </p:nvSpPr>
        <p:spPr>
          <a:xfrm>
            <a:off x="4013512" y="3969528"/>
            <a:ext cx="918528" cy="353943"/>
          </a:xfrm>
          <a:prstGeom prst="rect">
            <a:avLst/>
          </a:prstGeom>
        </p:spPr>
        <p:txBody>
          <a:bodyPr wrap="square">
            <a:spAutoFit/>
          </a:bodyPr>
          <a:lstStyle/>
          <a:p>
            <a:r>
              <a:rPr kumimoji="1" lang="en-US" altLang="zh-CN" sz="1700" dirty="0">
                <a:latin typeface="Times New Roman" pitchFamily="18" charset="0"/>
                <a:ea typeface="宋体" pitchFamily="2" charset="-122"/>
                <a:sym typeface="Symbol" pitchFamily="18" charset="2"/>
              </a:rPr>
              <a:t>TFT</a:t>
            </a:r>
            <a:r>
              <a:rPr kumimoji="1" lang="en-US" altLang="zh-CN" sz="1700" dirty="0">
                <a:latin typeface="Times New Roman" pitchFamily="18" charset="0"/>
                <a:ea typeface="宋体" pitchFamily="2" charset="-122"/>
                <a:cs typeface="Times New Roman" pitchFamily="18" charset="0"/>
                <a:sym typeface="Symbol" pitchFamily="18" charset="2"/>
              </a:rPr>
              <a:t>'</a:t>
            </a:r>
            <a:endParaRPr lang="zh-CN" altLang="en-US" sz="1700" dirty="0"/>
          </a:p>
        </p:txBody>
      </p:sp>
      <p:sp>
        <p:nvSpPr>
          <p:cNvPr id="7" name="矩形 6"/>
          <p:cNvSpPr/>
          <p:nvPr/>
        </p:nvSpPr>
        <p:spPr>
          <a:xfrm>
            <a:off x="6734453" y="3969528"/>
            <a:ext cx="861883" cy="353943"/>
          </a:xfrm>
          <a:prstGeom prst="rect">
            <a:avLst/>
          </a:prstGeom>
        </p:spPr>
        <p:txBody>
          <a:bodyPr wrap="square">
            <a:spAutoFit/>
          </a:bodyPr>
          <a:lstStyle/>
          <a:p>
            <a:pPr fontAlgn="base">
              <a:spcBef>
                <a:spcPct val="20000"/>
              </a:spcBef>
              <a:spcAft>
                <a:spcPct val="0"/>
              </a:spcAft>
            </a:pPr>
            <a:r>
              <a:rPr kumimoji="1" lang="en-US" altLang="zh-CN" sz="1700" dirty="0">
                <a:latin typeface="Times New Roman" pitchFamily="18" charset="0"/>
                <a:ea typeface="宋体" pitchFamily="2" charset="-122"/>
                <a:sym typeface="Symbol" pitchFamily="18" charset="2"/>
              </a:rPr>
              <a:t>TFT</a:t>
            </a:r>
            <a:r>
              <a:rPr kumimoji="1" lang="en-US" altLang="zh-CN" sz="1700" dirty="0">
                <a:latin typeface="Times New Roman" pitchFamily="18" charset="0"/>
                <a:ea typeface="宋体" pitchFamily="2" charset="-122"/>
                <a:cs typeface="Times New Roman" pitchFamily="18" charset="0"/>
                <a:sym typeface="Symbol" pitchFamily="18" charset="2"/>
              </a:rPr>
              <a:t>'</a:t>
            </a:r>
            <a:endParaRPr lang="zh-CN" altLang="en-US" sz="1700" dirty="0"/>
          </a:p>
        </p:txBody>
      </p:sp>
      <p:sp>
        <p:nvSpPr>
          <p:cNvPr id="8" name="矩形 7"/>
          <p:cNvSpPr/>
          <p:nvPr/>
        </p:nvSpPr>
        <p:spPr>
          <a:xfrm>
            <a:off x="5845666" y="4301285"/>
            <a:ext cx="1030590" cy="353943"/>
          </a:xfrm>
          <a:prstGeom prst="rect">
            <a:avLst/>
          </a:prstGeom>
        </p:spPr>
        <p:txBody>
          <a:bodyPr wrap="square">
            <a:spAutoFit/>
          </a:bodyPr>
          <a:lstStyle/>
          <a:p>
            <a:pPr lvl="0" fontAlgn="base">
              <a:spcBef>
                <a:spcPct val="20000"/>
              </a:spcBef>
              <a:spcAft>
                <a:spcPct val="0"/>
              </a:spcAft>
            </a:pPr>
            <a:r>
              <a:rPr kumimoji="1" lang="en-US" altLang="zh-CN" sz="1700" dirty="0">
                <a:latin typeface="Times New Roman" pitchFamily="18" charset="0"/>
                <a:ea typeface="宋体" pitchFamily="2" charset="-122"/>
                <a:sym typeface="Symbol" pitchFamily="18" charset="2"/>
              </a:rPr>
              <a:t>T</a:t>
            </a:r>
            <a:r>
              <a:rPr kumimoji="1" lang="en-US" altLang="zh-CN" sz="1700" dirty="0">
                <a:latin typeface="Times New Roman" pitchFamily="18" charset="0"/>
                <a:ea typeface="宋体" pitchFamily="2" charset="-122"/>
                <a:cs typeface="Times New Roman" pitchFamily="18" charset="0"/>
                <a:sym typeface="Symbol" pitchFamily="18" charset="2"/>
              </a:rPr>
              <a:t>'</a:t>
            </a:r>
            <a:r>
              <a:rPr kumimoji="1" lang="en-US" altLang="zh-CN" sz="1700" dirty="0">
                <a:latin typeface="Times New Roman" pitchFamily="18" charset="0"/>
                <a:ea typeface="宋体" pitchFamily="2" charset="-122"/>
                <a:sym typeface="Symbol" pitchFamily="18" charset="2"/>
              </a:rPr>
              <a:t>*FT</a:t>
            </a:r>
            <a:r>
              <a:rPr kumimoji="1" lang="en-US" altLang="zh-CN" sz="1700" dirty="0">
                <a:latin typeface="Times New Roman" pitchFamily="18" charset="0"/>
                <a:ea typeface="宋体" pitchFamily="2" charset="-122"/>
                <a:cs typeface="Times New Roman" pitchFamily="18" charset="0"/>
                <a:sym typeface="Symbol" pitchFamily="18" charset="2"/>
              </a:rPr>
              <a:t>'</a:t>
            </a:r>
            <a:endParaRPr kumimoji="1" lang="en-US" altLang="zh-CN" sz="1700" dirty="0">
              <a:latin typeface="Times New Roman" pitchFamily="18" charset="0"/>
              <a:ea typeface="宋体" pitchFamily="2" charset="-122"/>
              <a:sym typeface="Symbol" pitchFamily="18" charset="2"/>
            </a:endParaRPr>
          </a:p>
        </p:txBody>
      </p:sp>
      <p:sp>
        <p:nvSpPr>
          <p:cNvPr id="9" name="矩形 8"/>
          <p:cNvSpPr/>
          <p:nvPr/>
        </p:nvSpPr>
        <p:spPr>
          <a:xfrm>
            <a:off x="4876263" y="4378047"/>
            <a:ext cx="775857" cy="353943"/>
          </a:xfrm>
          <a:prstGeom prst="rect">
            <a:avLst/>
          </a:prstGeom>
        </p:spPr>
        <p:txBody>
          <a:bodyPr wrap="square">
            <a:spAutoFit/>
          </a:bodyPr>
          <a:lstStyle/>
          <a:p>
            <a:pPr lvl="0" fontAlgn="base">
              <a:spcBef>
                <a:spcPct val="20000"/>
              </a:spcBef>
              <a:spcAft>
                <a:spcPct val="0"/>
              </a:spcAft>
            </a:pPr>
            <a:r>
              <a:rPr kumimoji="1" lang="en-US" altLang="zh-CN" sz="1700" dirty="0">
                <a:solidFill>
                  <a:srgbClr val="CC00FF"/>
                </a:solidFill>
                <a:latin typeface="Times New Roman" pitchFamily="18" charset="0"/>
                <a:ea typeface="宋体" pitchFamily="2" charset="-122"/>
                <a:sym typeface="Symbol" pitchFamily="18" charset="2"/>
              </a:rPr>
              <a:t>T</a:t>
            </a:r>
            <a:r>
              <a:rPr kumimoji="1" lang="en-US" altLang="zh-CN" sz="1700" dirty="0">
                <a:solidFill>
                  <a:srgbClr val="CC00FF"/>
                </a:solidFill>
                <a:latin typeface="Times New Roman" pitchFamily="18" charset="0"/>
                <a:ea typeface="宋体" pitchFamily="2" charset="-122"/>
                <a:cs typeface="Times New Roman" pitchFamily="18" charset="0"/>
                <a:sym typeface="Symbol" pitchFamily="18" charset="2"/>
              </a:rPr>
              <a:t>'</a:t>
            </a:r>
            <a:r>
              <a:rPr kumimoji="1" lang="en-US" altLang="zh-CN" sz="1700" dirty="0">
                <a:solidFill>
                  <a:srgbClr val="CC00FF"/>
                </a:solidFill>
                <a:latin typeface="Times New Roman" pitchFamily="18" charset="0"/>
                <a:ea typeface="宋体" pitchFamily="2" charset="-122"/>
                <a:sym typeface="Symbol" pitchFamily="18" charset="2"/>
              </a:rPr>
              <a:t> </a:t>
            </a:r>
          </a:p>
        </p:txBody>
      </p:sp>
      <p:sp>
        <p:nvSpPr>
          <p:cNvPr id="10" name="矩形 9"/>
          <p:cNvSpPr/>
          <p:nvPr/>
        </p:nvSpPr>
        <p:spPr>
          <a:xfrm>
            <a:off x="8440299" y="4378047"/>
            <a:ext cx="812221" cy="353943"/>
          </a:xfrm>
          <a:prstGeom prst="rect">
            <a:avLst/>
          </a:prstGeom>
        </p:spPr>
        <p:txBody>
          <a:bodyPr wrap="square">
            <a:spAutoFit/>
          </a:bodyPr>
          <a:lstStyle/>
          <a:p>
            <a:pPr fontAlgn="base">
              <a:spcBef>
                <a:spcPct val="20000"/>
              </a:spcBef>
              <a:spcAft>
                <a:spcPct val="0"/>
              </a:spcAft>
            </a:pPr>
            <a:r>
              <a:rPr kumimoji="1" lang="en-US" altLang="zh-CN" sz="1700" dirty="0">
                <a:solidFill>
                  <a:srgbClr val="CC00FF"/>
                </a:solidFill>
                <a:latin typeface="Times New Roman" pitchFamily="18" charset="0"/>
                <a:ea typeface="宋体" pitchFamily="2" charset="-122"/>
                <a:sym typeface="Symbol" pitchFamily="18" charset="2"/>
              </a:rPr>
              <a:t>T</a:t>
            </a:r>
            <a:r>
              <a:rPr kumimoji="1" lang="en-US" altLang="zh-CN" sz="1700" dirty="0">
                <a:solidFill>
                  <a:srgbClr val="CC00FF"/>
                </a:solidFill>
                <a:latin typeface="Times New Roman" pitchFamily="18" charset="0"/>
                <a:ea typeface="宋体" pitchFamily="2" charset="-122"/>
                <a:cs typeface="Times New Roman" pitchFamily="18" charset="0"/>
                <a:sym typeface="Symbol" pitchFamily="18" charset="2"/>
              </a:rPr>
              <a:t>'</a:t>
            </a:r>
            <a:r>
              <a:rPr kumimoji="1" lang="en-US" altLang="zh-CN" sz="1700" dirty="0">
                <a:solidFill>
                  <a:srgbClr val="CC00FF"/>
                </a:solidFill>
                <a:latin typeface="Times New Roman" pitchFamily="18" charset="0"/>
                <a:ea typeface="宋体" pitchFamily="2" charset="-122"/>
                <a:sym typeface="Symbol" pitchFamily="18" charset="2"/>
              </a:rPr>
              <a:t> </a:t>
            </a:r>
          </a:p>
        </p:txBody>
      </p:sp>
      <p:sp>
        <p:nvSpPr>
          <p:cNvPr id="12" name="矩形 11"/>
          <p:cNvSpPr/>
          <p:nvPr/>
        </p:nvSpPr>
        <p:spPr>
          <a:xfrm>
            <a:off x="7539691" y="4363556"/>
            <a:ext cx="920741" cy="353943"/>
          </a:xfrm>
          <a:prstGeom prst="rect">
            <a:avLst/>
          </a:prstGeom>
        </p:spPr>
        <p:txBody>
          <a:bodyPr wrap="square">
            <a:spAutoFit/>
          </a:bodyPr>
          <a:lstStyle/>
          <a:p>
            <a:pPr fontAlgn="base">
              <a:spcBef>
                <a:spcPct val="20000"/>
              </a:spcBef>
              <a:spcAft>
                <a:spcPct val="0"/>
              </a:spcAft>
            </a:pPr>
            <a:r>
              <a:rPr kumimoji="1" lang="en-US" altLang="zh-CN" sz="1700" dirty="0">
                <a:solidFill>
                  <a:srgbClr val="CC00FF"/>
                </a:solidFill>
                <a:latin typeface="Times New Roman" pitchFamily="18" charset="0"/>
                <a:ea typeface="宋体" pitchFamily="2" charset="-122"/>
                <a:sym typeface="Symbol" pitchFamily="18" charset="2"/>
              </a:rPr>
              <a:t>T</a:t>
            </a:r>
            <a:r>
              <a:rPr kumimoji="1" lang="en-US" altLang="zh-CN" sz="1700" dirty="0">
                <a:solidFill>
                  <a:srgbClr val="CC00FF"/>
                </a:solidFill>
                <a:latin typeface="Times New Roman" pitchFamily="18" charset="0"/>
                <a:ea typeface="宋体" pitchFamily="2" charset="-122"/>
                <a:cs typeface="Times New Roman" pitchFamily="18" charset="0"/>
                <a:sym typeface="Symbol" pitchFamily="18" charset="2"/>
              </a:rPr>
              <a:t>'</a:t>
            </a:r>
            <a:r>
              <a:rPr kumimoji="1" lang="en-US" altLang="zh-CN" sz="1700" dirty="0">
                <a:solidFill>
                  <a:srgbClr val="CC00FF"/>
                </a:solidFill>
                <a:latin typeface="Times New Roman" pitchFamily="18" charset="0"/>
                <a:ea typeface="宋体" pitchFamily="2" charset="-122"/>
                <a:sym typeface="Symbol" pitchFamily="18" charset="2"/>
              </a:rPr>
              <a:t> </a:t>
            </a:r>
          </a:p>
        </p:txBody>
      </p:sp>
      <p:sp>
        <p:nvSpPr>
          <p:cNvPr id="13" name="矩形 12"/>
          <p:cNvSpPr/>
          <p:nvPr/>
        </p:nvSpPr>
        <p:spPr>
          <a:xfrm>
            <a:off x="4044927" y="4670617"/>
            <a:ext cx="815105" cy="353943"/>
          </a:xfrm>
          <a:prstGeom prst="rect">
            <a:avLst/>
          </a:prstGeom>
        </p:spPr>
        <p:txBody>
          <a:bodyPr wrap="square">
            <a:spAutoFit/>
          </a:bodyPr>
          <a:lstStyle/>
          <a:p>
            <a:pPr lvl="0" fontAlgn="base">
              <a:spcBef>
                <a:spcPct val="20000"/>
              </a:spcBef>
              <a:spcAft>
                <a:spcPct val="0"/>
              </a:spcAft>
            </a:pPr>
            <a:r>
              <a:rPr kumimoji="1" lang="en-US" altLang="zh-CN" sz="1700" dirty="0" err="1">
                <a:latin typeface="Times New Roman" pitchFamily="18" charset="0"/>
                <a:ea typeface="宋体" pitchFamily="2" charset="-122"/>
                <a:sym typeface="Symbol" pitchFamily="18" charset="2"/>
              </a:rPr>
              <a:t>Fi</a:t>
            </a:r>
            <a:endParaRPr kumimoji="1" lang="en-US" altLang="zh-CN" sz="1700" dirty="0">
              <a:latin typeface="Times New Roman" pitchFamily="18" charset="0"/>
              <a:ea typeface="宋体" pitchFamily="2" charset="-122"/>
              <a:sym typeface="Symbol" pitchFamily="18" charset="2"/>
            </a:endParaRPr>
          </a:p>
        </p:txBody>
      </p:sp>
      <p:sp>
        <p:nvSpPr>
          <p:cNvPr id="14" name="矩形 13"/>
          <p:cNvSpPr/>
          <p:nvPr/>
        </p:nvSpPr>
        <p:spPr>
          <a:xfrm>
            <a:off x="6749203" y="4698900"/>
            <a:ext cx="781654" cy="353943"/>
          </a:xfrm>
          <a:prstGeom prst="rect">
            <a:avLst/>
          </a:prstGeom>
        </p:spPr>
        <p:txBody>
          <a:bodyPr wrap="square">
            <a:spAutoFit/>
          </a:bodyPr>
          <a:lstStyle/>
          <a:p>
            <a:pPr lvl="0" fontAlgn="base">
              <a:spcBef>
                <a:spcPct val="20000"/>
              </a:spcBef>
              <a:spcAft>
                <a:spcPct val="0"/>
              </a:spcAft>
            </a:pPr>
            <a:r>
              <a:rPr kumimoji="1" lang="en-US" altLang="zh-CN" sz="1700" dirty="0">
                <a:latin typeface="Times New Roman" pitchFamily="18" charset="0"/>
                <a:ea typeface="宋体" pitchFamily="2" charset="-122"/>
                <a:sym typeface="Symbol" pitchFamily="18" charset="2"/>
              </a:rPr>
              <a:t>F(E)</a:t>
            </a:r>
          </a:p>
        </p:txBody>
      </p:sp>
    </p:spTree>
    <p:extLst>
      <p:ext uri="{BB962C8B-B14F-4D97-AF65-F5344CB8AC3E}">
        <p14:creationId xmlns:p14="http://schemas.microsoft.com/office/powerpoint/2010/main" val="29524808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2016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2016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2016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2016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20169"/>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22023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2"/>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0"/>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14"/>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3" grpId="0" build="p" autoUpdateAnimBg="0"/>
      <p:bldP spid="220165" grpId="0" animBg="1" autoUpdateAnimBg="0"/>
      <p:bldP spid="220167" grpId="0" autoUpdateAnimBg="0"/>
      <p:bldP spid="220168" grpId="0" animBg="1" autoUpdateAnimBg="0"/>
      <p:bldP spid="220169" grpId="0" animBg="1" autoUpdateAnimBg="0"/>
      <p:bldP spid="2" grpId="0"/>
      <p:bldP spid="11" grpId="0"/>
      <p:bldP spid="3" grpId="0"/>
      <p:bldP spid="4" grpId="0"/>
      <p:bldP spid="5" grpId="0"/>
      <p:bldP spid="6" grpId="0"/>
      <p:bldP spid="7" grpId="0"/>
      <p:bldP spid="8" grpId="0"/>
      <p:bldP spid="9" grpId="0"/>
      <p:bldP spid="10" grpId="0"/>
      <p:bldP spid="12" grpId="0"/>
      <p:bldP spid="13" grpId="0"/>
      <p:bldP spid="14"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zh-CN" altLang="en-US" dirty="0"/>
              <a:t>选择</a:t>
            </a:r>
          </a:p>
        </p:txBody>
      </p:sp>
      <p:sp>
        <p:nvSpPr>
          <p:cNvPr id="4" name="内容占位符 1"/>
          <p:cNvSpPr>
            <a:spLocks noGrp="1"/>
          </p:cNvSpPr>
          <p:nvPr>
            <p:ph idx="1"/>
          </p:nvPr>
        </p:nvSpPr>
        <p:spPr/>
        <p:txBody>
          <a:bodyPr>
            <a:normAutofit/>
          </a:bodyPr>
          <a:lstStyle/>
          <a:p>
            <a:r>
              <a:rPr lang="en-US" altLang="zh-CN" sz="2400" dirty="0"/>
              <a:t> (1) </a:t>
            </a:r>
            <a:r>
              <a:rPr lang="zh-CN" altLang="en-US" sz="2400" dirty="0"/>
              <a:t>预测分析方法中，对所有非终结符计算</a:t>
            </a:r>
            <a:r>
              <a:rPr lang="en-US" altLang="zh-CN" sz="2400" dirty="0"/>
              <a:t>follow</a:t>
            </a:r>
            <a:r>
              <a:rPr lang="zh-CN" altLang="en-US" sz="2400" dirty="0"/>
              <a:t>集有必要的</a:t>
            </a:r>
            <a:r>
              <a:rPr lang="zh-CN" altLang="zh-CN" sz="2400" dirty="0"/>
              <a:t>。</a:t>
            </a:r>
          </a:p>
          <a:p>
            <a:r>
              <a:rPr lang="en-US" altLang="zh-CN" sz="2400" dirty="0"/>
              <a:t>        A</a:t>
            </a:r>
            <a:r>
              <a:rPr lang="zh-CN" altLang="zh-CN" sz="2400" dirty="0"/>
              <a:t>．</a:t>
            </a:r>
            <a:r>
              <a:rPr lang="zh-CN" altLang="en-US" sz="2400" dirty="0"/>
              <a:t>有必要</a:t>
            </a:r>
            <a:r>
              <a:rPr lang="en-US" altLang="zh-CN" sz="2400" dirty="0"/>
              <a:t>            B</a:t>
            </a:r>
            <a:r>
              <a:rPr lang="zh-CN" altLang="zh-CN" sz="2400" dirty="0"/>
              <a:t>．</a:t>
            </a:r>
            <a:r>
              <a:rPr lang="zh-CN" altLang="en-US" sz="2400" dirty="0"/>
              <a:t>没必要</a:t>
            </a:r>
            <a:endParaRPr lang="en-US" altLang="zh-CN" sz="2400" dirty="0"/>
          </a:p>
          <a:p>
            <a:endParaRPr lang="en-US" altLang="zh-CN" sz="2400" dirty="0"/>
          </a:p>
          <a:p>
            <a:r>
              <a:rPr lang="en-US" altLang="zh-CN" sz="2400" dirty="0"/>
              <a:t>(2) </a:t>
            </a:r>
            <a:r>
              <a:rPr lang="zh-CN" altLang="en-US" sz="2400" dirty="0"/>
              <a:t>如果一个文法</a:t>
            </a:r>
            <a:r>
              <a:rPr lang="en-US" altLang="zh-CN" sz="2400" dirty="0"/>
              <a:t>G</a:t>
            </a:r>
            <a:r>
              <a:rPr lang="zh-CN" altLang="en-US" sz="2400" dirty="0"/>
              <a:t>是二义文法，是否可以使用预测分析方法</a:t>
            </a:r>
            <a:r>
              <a:rPr lang="zh-CN" altLang="zh-CN" sz="2400" dirty="0"/>
              <a:t>。</a:t>
            </a:r>
          </a:p>
          <a:p>
            <a:r>
              <a:rPr lang="en-US" altLang="zh-CN" sz="2400" dirty="0"/>
              <a:t>        A</a:t>
            </a:r>
            <a:r>
              <a:rPr lang="zh-CN" altLang="zh-CN" sz="2400" dirty="0"/>
              <a:t>．</a:t>
            </a:r>
            <a:r>
              <a:rPr lang="zh-CN" altLang="en-US" sz="2400" dirty="0"/>
              <a:t>可以</a:t>
            </a:r>
            <a:r>
              <a:rPr lang="en-US" altLang="zh-CN" sz="2400" dirty="0"/>
              <a:t>            B</a:t>
            </a:r>
            <a:r>
              <a:rPr lang="zh-CN" altLang="zh-CN" sz="2400" dirty="0"/>
              <a:t>．</a:t>
            </a:r>
            <a:r>
              <a:rPr lang="zh-CN" altLang="en-US" sz="2400" dirty="0"/>
              <a:t>不可以</a:t>
            </a:r>
          </a:p>
          <a:p>
            <a:endParaRPr lang="zh-CN" altLang="en-US" sz="2400" dirty="0"/>
          </a:p>
        </p:txBody>
      </p:sp>
    </p:spTree>
    <p:extLst>
      <p:ext uri="{BB962C8B-B14F-4D97-AF65-F5344CB8AC3E}">
        <p14:creationId xmlns:p14="http://schemas.microsoft.com/office/powerpoint/2010/main" val="338173723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323528" y="699542"/>
            <a:ext cx="8229600" cy="1269901"/>
          </a:xfrm>
        </p:spPr>
        <p:style>
          <a:lnRef idx="2">
            <a:schemeClr val="accent1"/>
          </a:lnRef>
          <a:fillRef idx="1">
            <a:schemeClr val="lt1"/>
          </a:fillRef>
          <a:effectRef idx="0">
            <a:schemeClr val="accent1"/>
          </a:effectRef>
          <a:fontRef idx="minor">
            <a:schemeClr val="dk1"/>
          </a:fontRef>
        </p:style>
        <p:txBody>
          <a:bodyPr>
            <a:normAutofit/>
          </a:bodyPr>
          <a:lstStyle/>
          <a:p>
            <a:pPr>
              <a:spcBef>
                <a:spcPts val="0"/>
              </a:spcBef>
            </a:pPr>
            <a:r>
              <a:rPr lang="zh-CN" altLang="en-US" sz="2200" dirty="0"/>
              <a:t>如果一个文法是二义文法或含有左递归，分析表一定含有多重定义的入口。</a:t>
            </a:r>
            <a:endParaRPr lang="en-US" altLang="zh-CN" sz="2200" dirty="0"/>
          </a:p>
          <a:p>
            <a:pPr>
              <a:spcBef>
                <a:spcPts val="0"/>
              </a:spcBef>
            </a:pPr>
            <a:r>
              <a:rPr lang="zh-CN" altLang="en-US" sz="2200" dirty="0"/>
              <a:t>如果是</a:t>
            </a:r>
            <a:r>
              <a:rPr lang="en-US" altLang="zh-CN" sz="2200" dirty="0"/>
              <a:t>LL(1)</a:t>
            </a:r>
            <a:r>
              <a:rPr lang="zh-CN" altLang="en-US" sz="2200" dirty="0"/>
              <a:t>文法，一定不含多重定义的入口</a:t>
            </a:r>
          </a:p>
        </p:txBody>
      </p:sp>
      <p:sp>
        <p:nvSpPr>
          <p:cNvPr id="3" name="标题 2"/>
          <p:cNvSpPr>
            <a:spLocks noGrp="1"/>
          </p:cNvSpPr>
          <p:nvPr>
            <p:ph type="title"/>
          </p:nvPr>
        </p:nvSpPr>
        <p:spPr>
          <a:xfrm>
            <a:off x="251520" y="0"/>
            <a:ext cx="8229600" cy="627534"/>
          </a:xfrm>
        </p:spPr>
        <p:txBody>
          <a:bodyPr>
            <a:normAutofit fontScale="90000"/>
          </a:bodyPr>
          <a:lstStyle/>
          <a:p>
            <a:r>
              <a:rPr lang="zh-CN" altLang="en-US" dirty="0"/>
              <a:t>二义文法和左递归</a:t>
            </a:r>
          </a:p>
        </p:txBody>
      </p:sp>
      <p:pic>
        <p:nvPicPr>
          <p:cNvPr id="5017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16016" y="2139701"/>
            <a:ext cx="4322917" cy="2954905"/>
          </a:xfrm>
          <a:prstGeom prst="rect">
            <a:avLst/>
          </a:prstGeom>
          <a:noFill/>
          <a:ln w="28575">
            <a:solidFill>
              <a:srgbClr val="008000"/>
            </a:solidFill>
            <a:miter lim="800000"/>
            <a:headEnd/>
            <a:tailEnd/>
          </a:ln>
          <a:extLst>
            <a:ext uri="{909E8E84-426E-40DD-AFC4-6F175D3DCCD1}">
              <a14:hiddenFill xmlns:a14="http://schemas.microsoft.com/office/drawing/2010/main">
                <a:solidFill>
                  <a:schemeClr val="accent1"/>
                </a:solidFill>
              </a14:hiddenFill>
            </a:ext>
          </a:extLst>
        </p:spPr>
      </p:pic>
      <p:sp>
        <p:nvSpPr>
          <p:cNvPr id="5" name="内容占位符 1"/>
          <p:cNvSpPr txBox="1">
            <a:spLocks/>
          </p:cNvSpPr>
          <p:nvPr/>
        </p:nvSpPr>
        <p:spPr>
          <a:xfrm>
            <a:off x="457200" y="3363838"/>
            <a:ext cx="4114800" cy="1730768"/>
          </a:xfrm>
          <a:prstGeom prst="rect">
            <a:avLst/>
          </a:prstGeom>
        </p:spPr>
        <p:style>
          <a:lnRef idx="2">
            <a:schemeClr val="accent3"/>
          </a:lnRef>
          <a:fillRef idx="1">
            <a:schemeClr val="lt1"/>
          </a:fillRef>
          <a:effectRef idx="0">
            <a:schemeClr val="accent3"/>
          </a:effectRef>
          <a:fontRef idx="minor">
            <a:schemeClr val="dk1"/>
          </a:fontRef>
        </p:style>
        <p:txBody>
          <a:bodyPr vert="horz">
            <a:normAutofit fontScale="85000" lnSpcReduction="1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110000"/>
              </a:lnSpc>
              <a:spcBef>
                <a:spcPts val="0"/>
              </a:spcBef>
            </a:pPr>
            <a:r>
              <a:rPr lang="en-US" altLang="zh-CN" sz="2200" dirty="0">
                <a:solidFill>
                  <a:srgbClr val="FF0000"/>
                </a:solidFill>
              </a:rPr>
              <a:t>S'</a:t>
            </a:r>
            <a:r>
              <a:rPr lang="en-US" altLang="zh-CN" sz="2200" dirty="0">
                <a:solidFill>
                  <a:srgbClr val="FF0000"/>
                </a:solidFill>
                <a:sym typeface="Symbol" pitchFamily="18" charset="2"/>
              </a:rPr>
              <a:t></a:t>
            </a:r>
            <a:r>
              <a:rPr lang="zh-CN" altLang="en-US" sz="2200" dirty="0">
                <a:solidFill>
                  <a:srgbClr val="FF0000"/>
                </a:solidFill>
                <a:sym typeface="Symbol" pitchFamily="18" charset="2"/>
              </a:rPr>
              <a:t>表示最远匹配</a:t>
            </a:r>
            <a:endParaRPr lang="en-US" altLang="zh-CN" sz="2200" dirty="0">
              <a:solidFill>
                <a:srgbClr val="FF0000"/>
              </a:solidFill>
              <a:sym typeface="Symbol" pitchFamily="18" charset="2"/>
            </a:endParaRPr>
          </a:p>
          <a:p>
            <a:pPr>
              <a:lnSpc>
                <a:spcPct val="110000"/>
              </a:lnSpc>
              <a:spcBef>
                <a:spcPts val="0"/>
              </a:spcBef>
            </a:pPr>
            <a:r>
              <a:rPr lang="en-US" altLang="zh-CN" sz="2200" dirty="0">
                <a:solidFill>
                  <a:srgbClr val="FF0000"/>
                </a:solidFill>
              </a:rPr>
              <a:t>S'</a:t>
            </a:r>
            <a:r>
              <a:rPr lang="en-US" altLang="zh-CN" sz="2200" dirty="0">
                <a:solidFill>
                  <a:srgbClr val="FF0000"/>
                </a:solidFill>
                <a:sym typeface="Symbol" pitchFamily="18" charset="2"/>
              </a:rPr>
              <a:t></a:t>
            </a:r>
            <a:r>
              <a:rPr lang="en-US" altLang="zh-CN" sz="2200" dirty="0" err="1">
                <a:solidFill>
                  <a:srgbClr val="FF0000"/>
                </a:solidFill>
                <a:sym typeface="Symbol" pitchFamily="18" charset="2"/>
              </a:rPr>
              <a:t>eS</a:t>
            </a:r>
            <a:r>
              <a:rPr lang="en-US" altLang="zh-CN" sz="2200" dirty="0">
                <a:solidFill>
                  <a:srgbClr val="FF0000"/>
                </a:solidFill>
                <a:sym typeface="Symbol" pitchFamily="18" charset="2"/>
              </a:rPr>
              <a:t> </a:t>
            </a:r>
            <a:r>
              <a:rPr lang="zh-CN" altLang="en-US" sz="2200" dirty="0">
                <a:solidFill>
                  <a:srgbClr val="FF0000"/>
                </a:solidFill>
                <a:sym typeface="Symbol" pitchFamily="18" charset="2"/>
              </a:rPr>
              <a:t>表示就近匹配</a:t>
            </a:r>
            <a:endParaRPr lang="en-US" altLang="zh-CN" sz="2200" dirty="0">
              <a:solidFill>
                <a:srgbClr val="FF0000"/>
              </a:solidFill>
              <a:sym typeface="Symbol" pitchFamily="18" charset="2"/>
            </a:endParaRPr>
          </a:p>
          <a:p>
            <a:pPr>
              <a:lnSpc>
                <a:spcPct val="110000"/>
              </a:lnSpc>
              <a:spcBef>
                <a:spcPts val="0"/>
              </a:spcBef>
            </a:pPr>
            <a:r>
              <a:rPr lang="zh-CN" altLang="en-US" sz="2200" dirty="0"/>
              <a:t>可以在程序中强制规定，取消其中一个，如果要求</a:t>
            </a:r>
            <a:r>
              <a:rPr lang="en-US" altLang="zh-CN" sz="2200" dirty="0"/>
              <a:t>else</a:t>
            </a:r>
            <a:r>
              <a:rPr lang="zh-CN" altLang="en-US" sz="2200" dirty="0"/>
              <a:t>和最近的</a:t>
            </a:r>
            <a:r>
              <a:rPr lang="en-US" altLang="zh-CN" sz="2200" dirty="0"/>
              <a:t>if</a:t>
            </a:r>
            <a:r>
              <a:rPr lang="zh-CN" altLang="en-US" sz="2200" dirty="0"/>
              <a:t>匹配，则从表格中去掉</a:t>
            </a:r>
            <a:r>
              <a:rPr lang="en-US" altLang="zh-CN" sz="2200">
                <a:solidFill>
                  <a:srgbClr val="FF0000"/>
                </a:solidFill>
              </a:rPr>
              <a:t>S'</a:t>
            </a:r>
            <a:r>
              <a:rPr lang="en-US" altLang="zh-CN" sz="2200">
                <a:solidFill>
                  <a:srgbClr val="FF0000"/>
                </a:solidFill>
                <a:sym typeface="Symbol" pitchFamily="18" charset="2"/>
              </a:rPr>
              <a:t></a:t>
            </a:r>
            <a:r>
              <a:rPr lang="zh-CN" altLang="en-US" sz="2200" dirty="0">
                <a:solidFill>
                  <a:srgbClr val="FF0000"/>
                </a:solidFill>
                <a:sym typeface="Symbol" pitchFamily="18" charset="2"/>
              </a:rPr>
              <a:t>即可</a:t>
            </a:r>
            <a:endParaRPr lang="zh-CN" altLang="en-US" sz="2200" dirty="0"/>
          </a:p>
        </p:txBody>
      </p:sp>
      <p:sp>
        <p:nvSpPr>
          <p:cNvPr id="6" name="内容占位符 1"/>
          <p:cNvSpPr txBox="1">
            <a:spLocks/>
          </p:cNvSpPr>
          <p:nvPr/>
        </p:nvSpPr>
        <p:spPr>
          <a:xfrm>
            <a:off x="434052" y="2139702"/>
            <a:ext cx="4114800" cy="1054814"/>
          </a:xfrm>
          <a:prstGeom prst="rect">
            <a:avLst/>
          </a:prstGeom>
        </p:spPr>
        <p:style>
          <a:lnRef idx="2">
            <a:schemeClr val="dk1"/>
          </a:lnRef>
          <a:fillRef idx="1">
            <a:schemeClr val="lt1"/>
          </a:fillRef>
          <a:effectRef idx="0">
            <a:schemeClr val="dk1"/>
          </a:effectRef>
          <a:fontRef idx="minor">
            <a:schemeClr val="dk1"/>
          </a:fontRef>
        </p:style>
        <p:txBody>
          <a:bodyPr vert="horz">
            <a:normAutofit fontScale="925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zh-CN" altLang="en-US" sz="2200" dirty="0"/>
              <a:t>右边文法是在二义文法时证明过的，</a:t>
            </a:r>
            <a:r>
              <a:rPr lang="en-US" altLang="zh-CN" sz="2200" dirty="0"/>
              <a:t>if </a:t>
            </a:r>
            <a:r>
              <a:rPr lang="zh-CN" altLang="en-US" sz="2200" dirty="0"/>
              <a:t>。。。</a:t>
            </a:r>
            <a:r>
              <a:rPr lang="en-US" altLang="zh-CN" sz="2200" dirty="0"/>
              <a:t>Else</a:t>
            </a:r>
            <a:r>
              <a:rPr lang="zh-CN" altLang="en-US" sz="2200" dirty="0"/>
              <a:t>。。。，预测分析表有多重定义的入口</a:t>
            </a:r>
          </a:p>
        </p:txBody>
      </p:sp>
    </p:spTree>
    <p:extLst>
      <p:ext uri="{BB962C8B-B14F-4D97-AF65-F5344CB8AC3E}">
        <p14:creationId xmlns:p14="http://schemas.microsoft.com/office/powerpoint/2010/main" val="384518415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内容占位符 3"/>
          <p:cNvGraphicFramePr>
            <a:graphicFrameLocks noGrp="1"/>
          </p:cNvGraphicFramePr>
          <p:nvPr>
            <p:ph idx="1"/>
            <p:extLst>
              <p:ext uri="{D42A27DB-BD31-4B8C-83A1-F6EECF244321}">
                <p14:modId xmlns:p14="http://schemas.microsoft.com/office/powerpoint/2010/main" val="3567569052"/>
              </p:ext>
            </p:extLst>
          </p:nvPr>
        </p:nvGraphicFramePr>
        <p:xfrm>
          <a:off x="457200" y="1111250"/>
          <a:ext cx="8229600" cy="3032760"/>
        </p:xfrm>
        <a:graphic>
          <a:graphicData uri="http://schemas.openxmlformats.org/drawingml/2006/table">
            <a:tbl>
              <a:tblPr firstRow="1" bandRow="1">
                <a:tableStyleId>{5C22544A-7EE6-4342-B048-85BDC9FD1C3A}</a:tableStyleId>
              </a:tblPr>
              <a:tblGrid>
                <a:gridCol w="1306488">
                  <a:extLst>
                    <a:ext uri="{9D8B030D-6E8A-4147-A177-3AD203B41FA5}">
                      <a16:colId xmlns:a16="http://schemas.microsoft.com/office/drawing/2014/main" val="20000"/>
                    </a:ext>
                  </a:extLst>
                </a:gridCol>
                <a:gridCol w="3600400">
                  <a:extLst>
                    <a:ext uri="{9D8B030D-6E8A-4147-A177-3AD203B41FA5}">
                      <a16:colId xmlns:a16="http://schemas.microsoft.com/office/drawing/2014/main" val="20001"/>
                    </a:ext>
                  </a:extLst>
                </a:gridCol>
                <a:gridCol w="3322712">
                  <a:extLst>
                    <a:ext uri="{9D8B030D-6E8A-4147-A177-3AD203B41FA5}">
                      <a16:colId xmlns:a16="http://schemas.microsoft.com/office/drawing/2014/main" val="20002"/>
                    </a:ext>
                  </a:extLst>
                </a:gridCol>
              </a:tblGrid>
              <a:tr h="370840">
                <a:tc>
                  <a:txBody>
                    <a:bodyPr/>
                    <a:lstStyle/>
                    <a:p>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800" dirty="0">
                          <a:solidFill>
                            <a:schemeClr val="tx1"/>
                          </a:solidFill>
                          <a:latin typeface="宋体" panose="02010600030101010101" pitchFamily="2" charset="-122"/>
                          <a:ea typeface="宋体" panose="02010600030101010101" pitchFamily="2" charset="-122"/>
                        </a:rPr>
                        <a:t>递归下降分析</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800" dirty="0">
                          <a:solidFill>
                            <a:schemeClr val="tx1"/>
                          </a:solidFill>
                          <a:latin typeface="宋体" panose="02010600030101010101" pitchFamily="2" charset="-122"/>
                          <a:ea typeface="宋体" panose="02010600030101010101" pitchFamily="2" charset="-122"/>
                        </a:rPr>
                        <a:t>预测分析</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370840">
                <a:tc>
                  <a:txBody>
                    <a:bodyPr/>
                    <a:lstStyle/>
                    <a:p>
                      <a:r>
                        <a:rPr lang="zh-CN" altLang="en-US" dirty="0">
                          <a:solidFill>
                            <a:schemeClr val="tx1"/>
                          </a:solidFill>
                          <a:latin typeface="宋体" panose="02010600030101010101" pitchFamily="2" charset="-122"/>
                          <a:ea typeface="宋体" panose="02010600030101010101" pitchFamily="2" charset="-122"/>
                        </a:rPr>
                        <a:t>方法</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为每一个非终结符编写一个函数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实现表驱动的预测分析算法，难度在构建预测分析表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r>
                        <a:rPr lang="zh-CN" altLang="en-US" dirty="0">
                          <a:solidFill>
                            <a:schemeClr val="tx1"/>
                          </a:solidFill>
                          <a:latin typeface="宋体" panose="02010600030101010101" pitchFamily="2" charset="-122"/>
                          <a:ea typeface="宋体" panose="02010600030101010101" pitchFamily="2" charset="-122"/>
                        </a:rPr>
                        <a:t>程序规模</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程序规模较大，不需要载入分析表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总控程序规模较小，需要载入分析表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p>
                      <a:r>
                        <a:rPr lang="zh-CN" altLang="en-US" dirty="0">
                          <a:solidFill>
                            <a:schemeClr val="tx1"/>
                          </a:solidFill>
                          <a:latin typeface="宋体" panose="02010600030101010101" pitchFamily="2" charset="-122"/>
                          <a:ea typeface="宋体" panose="02010600030101010101" pitchFamily="2" charset="-122"/>
                        </a:rPr>
                        <a:t>直观性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较好</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较差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70840">
                <a:tc>
                  <a:txBody>
                    <a:bodyPr/>
                    <a:lstStyle/>
                    <a:p>
                      <a:r>
                        <a:rPr lang="zh-CN" altLang="en-US" dirty="0">
                          <a:solidFill>
                            <a:schemeClr val="tx1"/>
                          </a:solidFill>
                          <a:latin typeface="宋体" panose="02010600030101010101" pitchFamily="2" charset="-122"/>
                          <a:ea typeface="宋体" panose="02010600030101010101" pitchFamily="2" charset="-122"/>
                        </a:rPr>
                        <a:t>效率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较低</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分析时间大约正比于待分析程序的长度</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370840">
                <a:tc>
                  <a:txBody>
                    <a:bodyPr/>
                    <a:lstStyle/>
                    <a:p>
                      <a:r>
                        <a:rPr lang="zh-CN" altLang="en-US" dirty="0">
                          <a:solidFill>
                            <a:schemeClr val="tx1"/>
                          </a:solidFill>
                          <a:latin typeface="宋体" panose="02010600030101010101" pitchFamily="2" charset="-122"/>
                          <a:ea typeface="宋体" panose="02010600030101010101" pitchFamily="2" charset="-122"/>
                        </a:rPr>
                        <a:t>自动生成</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较难，有工具，</a:t>
                      </a:r>
                      <a:r>
                        <a:rPr lang="en-US" altLang="zh-CN" dirty="0" err="1">
                          <a:solidFill>
                            <a:schemeClr val="tx1"/>
                          </a:solidFill>
                          <a:latin typeface="宋体" panose="02010600030101010101" pitchFamily="2" charset="-122"/>
                          <a:ea typeface="宋体" panose="02010600030101010101" pitchFamily="2" charset="-122"/>
                        </a:rPr>
                        <a:t>JavaCC</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dirty="0">
                          <a:solidFill>
                            <a:schemeClr val="tx1"/>
                          </a:solidFill>
                          <a:latin typeface="宋体" panose="02010600030101010101" pitchFamily="2" charset="-122"/>
                          <a:ea typeface="宋体" panose="02010600030101010101" pitchFamily="2" charset="-122"/>
                        </a:rPr>
                        <a:t>较容易，可以自己写</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
        <p:nvSpPr>
          <p:cNvPr id="3" name="标题 2"/>
          <p:cNvSpPr>
            <a:spLocks noGrp="1"/>
          </p:cNvSpPr>
          <p:nvPr>
            <p:ph type="title"/>
          </p:nvPr>
        </p:nvSpPr>
        <p:spPr>
          <a:xfrm>
            <a:off x="202000" y="23654"/>
            <a:ext cx="8229600" cy="747896"/>
          </a:xfrm>
        </p:spPr>
        <p:txBody>
          <a:bodyPr>
            <a:normAutofit/>
          </a:bodyPr>
          <a:lstStyle/>
          <a:p>
            <a:r>
              <a:rPr lang="zh-CN" altLang="en-US" sz="3600" dirty="0">
                <a:latin typeface="隶书" panose="02010509060101010101" pitchFamily="49" charset="-122"/>
                <a:ea typeface="隶书" panose="02010509060101010101" pitchFamily="49" charset="-122"/>
              </a:rPr>
              <a:t>递归下降分析</a:t>
            </a:r>
            <a:r>
              <a:rPr lang="en-US" altLang="zh-CN" sz="3600" dirty="0">
                <a:latin typeface="隶书" panose="02010509060101010101" pitchFamily="49" charset="-122"/>
                <a:ea typeface="隶书" panose="02010509060101010101" pitchFamily="49" charset="-122"/>
              </a:rPr>
              <a:t>VS.</a:t>
            </a:r>
            <a:r>
              <a:rPr lang="zh-CN" altLang="en-US" sz="3600" dirty="0">
                <a:latin typeface="隶书" panose="02010509060101010101" pitchFamily="49" charset="-122"/>
                <a:ea typeface="隶书" panose="02010509060101010101" pitchFamily="49" charset="-122"/>
              </a:rPr>
              <a:t>非递归的预测分析</a:t>
            </a:r>
          </a:p>
        </p:txBody>
      </p:sp>
    </p:spTree>
    <p:extLst>
      <p:ext uri="{BB962C8B-B14F-4D97-AF65-F5344CB8AC3E}">
        <p14:creationId xmlns:p14="http://schemas.microsoft.com/office/powerpoint/2010/main" val="140848359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内容占位符 2"/>
          <p:cNvSpPr>
            <a:spLocks noGrp="1"/>
          </p:cNvSpPr>
          <p:nvPr>
            <p:ph idx="1"/>
          </p:nvPr>
        </p:nvSpPr>
        <p:spPr>
          <a:xfrm>
            <a:off x="611560" y="339502"/>
            <a:ext cx="7772400" cy="4343400"/>
          </a:xfrm>
        </p:spPr>
        <p:txBody>
          <a:bodyPr>
            <a:noAutofit/>
          </a:bodyPr>
          <a:lstStyle/>
          <a:p>
            <a:pPr marL="0" indent="0">
              <a:buFontTx/>
              <a:buNone/>
            </a:pPr>
            <a:r>
              <a:rPr lang="zh-CN" altLang="zh-CN" sz="2200" dirty="0"/>
              <a:t>例 3.21 综合题。已知某语言中程序的文法 G 为：</a:t>
            </a:r>
          </a:p>
          <a:p>
            <a:pPr lvl="2">
              <a:spcBef>
                <a:spcPts val="0"/>
              </a:spcBef>
              <a:buFontTx/>
              <a:buNone/>
            </a:pPr>
            <a:r>
              <a:rPr lang="en-US" altLang="zh-CN" sz="2000" dirty="0">
                <a:solidFill>
                  <a:srgbClr val="D60093"/>
                </a:solidFill>
              </a:rPr>
              <a:t>&lt;PROGRAM&gt;→begin &lt;STL&gt; end</a:t>
            </a:r>
            <a:endParaRPr lang="zh-CN" altLang="zh-CN" sz="2000" dirty="0">
              <a:solidFill>
                <a:srgbClr val="D60093"/>
              </a:solidFill>
            </a:endParaRPr>
          </a:p>
          <a:p>
            <a:pPr lvl="2">
              <a:spcBef>
                <a:spcPts val="0"/>
              </a:spcBef>
              <a:buFontTx/>
              <a:buNone/>
            </a:pPr>
            <a:r>
              <a:rPr lang="en-US" altLang="zh-CN" sz="2000" dirty="0">
                <a:solidFill>
                  <a:srgbClr val="D60093"/>
                </a:solidFill>
              </a:rPr>
              <a:t>&lt;STL&gt;→&lt;STMT&gt;|&lt;STL&gt;;&lt;STMT&gt;</a:t>
            </a:r>
            <a:endParaRPr lang="zh-CN" altLang="zh-CN" sz="2000" dirty="0">
              <a:solidFill>
                <a:srgbClr val="D60093"/>
              </a:solidFill>
            </a:endParaRPr>
          </a:p>
          <a:p>
            <a:pPr lvl="2">
              <a:spcBef>
                <a:spcPts val="0"/>
              </a:spcBef>
              <a:buFontTx/>
              <a:buNone/>
            </a:pPr>
            <a:r>
              <a:rPr lang="en-US" altLang="zh-CN" sz="2000" dirty="0">
                <a:solidFill>
                  <a:srgbClr val="D60093"/>
                </a:solidFill>
              </a:rPr>
              <a:t>&lt;STMT&gt;→&lt;NCONDITION&gt;|&lt;CONDITION&gt;</a:t>
            </a:r>
            <a:endParaRPr lang="zh-CN" altLang="zh-CN" sz="2000" dirty="0">
              <a:solidFill>
                <a:srgbClr val="D60093"/>
              </a:solidFill>
            </a:endParaRPr>
          </a:p>
          <a:p>
            <a:pPr lvl="2">
              <a:spcBef>
                <a:spcPts val="0"/>
              </a:spcBef>
              <a:buFontTx/>
              <a:buNone/>
            </a:pPr>
            <a:r>
              <a:rPr lang="en-US" altLang="zh-CN" sz="2000" dirty="0">
                <a:solidFill>
                  <a:srgbClr val="D60093"/>
                </a:solidFill>
              </a:rPr>
              <a:t>&lt;NCONDITION&gt;→a</a:t>
            </a:r>
            <a:endParaRPr lang="zh-CN" altLang="zh-CN" sz="2000" dirty="0">
              <a:solidFill>
                <a:srgbClr val="D60093"/>
              </a:solidFill>
            </a:endParaRPr>
          </a:p>
          <a:p>
            <a:pPr lvl="2">
              <a:spcBef>
                <a:spcPts val="0"/>
              </a:spcBef>
              <a:buFontTx/>
              <a:buNone/>
            </a:pPr>
            <a:r>
              <a:rPr lang="en-US" altLang="zh-CN" sz="2000" dirty="0">
                <a:solidFill>
                  <a:srgbClr val="D60093"/>
                </a:solidFill>
              </a:rPr>
              <a:t>&lt;CONDITION&gt;→&lt;IFS&gt;|&lt;IFS&gt; else &lt;STMT&gt;</a:t>
            </a:r>
            <a:endParaRPr lang="zh-CN" altLang="zh-CN" sz="2000" dirty="0">
              <a:solidFill>
                <a:srgbClr val="D60093"/>
              </a:solidFill>
            </a:endParaRPr>
          </a:p>
          <a:p>
            <a:pPr lvl="2">
              <a:spcBef>
                <a:spcPts val="0"/>
              </a:spcBef>
              <a:buFontTx/>
              <a:buNone/>
            </a:pPr>
            <a:r>
              <a:rPr lang="en-US" altLang="zh-CN" sz="2000" dirty="0">
                <a:solidFill>
                  <a:srgbClr val="D60093"/>
                </a:solidFill>
              </a:rPr>
              <a:t>&lt;IFS&gt;→&lt;IFCLAUSE&gt;&lt;NCONDITION&gt;</a:t>
            </a:r>
            <a:endParaRPr lang="zh-CN" altLang="zh-CN" sz="2000" dirty="0">
              <a:solidFill>
                <a:srgbClr val="D60093"/>
              </a:solidFill>
            </a:endParaRPr>
          </a:p>
          <a:p>
            <a:pPr lvl="2">
              <a:spcBef>
                <a:spcPts val="0"/>
              </a:spcBef>
              <a:buFontTx/>
              <a:buNone/>
            </a:pPr>
            <a:r>
              <a:rPr lang="en-US" altLang="zh-CN" sz="2000" dirty="0">
                <a:solidFill>
                  <a:srgbClr val="D60093"/>
                </a:solidFill>
              </a:rPr>
              <a:t>&lt;IFCLAUSE&gt;→if c then</a:t>
            </a:r>
            <a:endParaRPr lang="zh-CN" altLang="zh-CN" sz="2000" dirty="0">
              <a:solidFill>
                <a:srgbClr val="D60093"/>
              </a:solidFill>
            </a:endParaRPr>
          </a:p>
          <a:p>
            <a:pPr marL="0" indent="0">
              <a:buFont typeface="宋体" pitchFamily="2" charset="-122"/>
              <a:buAutoNum type="circleNumDbPlain"/>
            </a:pPr>
            <a:r>
              <a:rPr lang="zh-CN" altLang="zh-CN" sz="2200" dirty="0"/>
              <a:t>将 G 改写为等价的 LL(1)文法，并给以证明；</a:t>
            </a:r>
          </a:p>
          <a:p>
            <a:pPr marL="0" indent="0">
              <a:buFont typeface="宋体" pitchFamily="2" charset="-122"/>
              <a:buAutoNum type="circleNumDbPlain"/>
            </a:pPr>
            <a:r>
              <a:rPr lang="zh-CN" altLang="zh-CN" sz="2200" dirty="0"/>
              <a:t>构造改写后的文法的预测分析表；</a:t>
            </a:r>
          </a:p>
          <a:p>
            <a:pPr marL="0" indent="0">
              <a:buFont typeface="宋体" pitchFamily="2" charset="-122"/>
              <a:buAutoNum type="circleNumDbPlain"/>
            </a:pPr>
            <a:r>
              <a:rPr lang="zh-CN" altLang="zh-CN" sz="2200" dirty="0"/>
              <a:t>判断输入串 begin if c then a else a end 是否为文法 G 的句子。</a:t>
            </a:r>
            <a:endParaRPr lang="zh-CN" altLang="en-US" sz="2200" dirty="0"/>
          </a:p>
        </p:txBody>
      </p:sp>
    </p:spTree>
    <p:extLst>
      <p:ext uri="{BB962C8B-B14F-4D97-AF65-F5344CB8AC3E}">
        <p14:creationId xmlns:p14="http://schemas.microsoft.com/office/powerpoint/2010/main" val="30252247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07963" y="90488"/>
            <a:ext cx="4436045" cy="2031325"/>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defRPr/>
            </a:pPr>
            <a:r>
              <a:rPr lang="en-US" altLang="zh-CN" dirty="0">
                <a:latin typeface="宋体" panose="02010600030101010101" pitchFamily="2" charset="-122"/>
                <a:ea typeface="宋体" panose="02010600030101010101" pitchFamily="2" charset="-122"/>
              </a:rPr>
              <a:t>&lt;PROGRAM&gt;→begin &lt;STL&gt; end</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&lt;STL&gt;→&lt;STMT&gt;|&lt;STL&gt;;&lt;STMT&gt;</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&lt;STMT&gt;→&lt;NCONDITION&gt;|&lt;CONDITION&gt;</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&lt;NCONDITION&gt;→a</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&lt;CONDITION&gt;→&lt;IFS&gt;|&lt;IFS&gt; else &lt;STMT&gt;</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&lt;IFS&gt;→&lt;IFCLAUSE&gt;&lt;NCONDITION&gt;</a:t>
            </a:r>
            <a:endParaRPr lang="zh-CN" altLang="zh-CN" dirty="0">
              <a:latin typeface="宋体" panose="02010600030101010101" pitchFamily="2" charset="-122"/>
              <a:ea typeface="宋体" panose="02010600030101010101" pitchFamily="2" charset="-122"/>
            </a:endParaRPr>
          </a:p>
          <a:p>
            <a:pPr>
              <a:defRPr/>
            </a:pPr>
            <a:r>
              <a:rPr lang="en-US" altLang="zh-CN" dirty="0">
                <a:latin typeface="宋体" panose="02010600030101010101" pitchFamily="2" charset="-122"/>
                <a:ea typeface="宋体" panose="02010600030101010101" pitchFamily="2" charset="-122"/>
              </a:rPr>
              <a:t>&lt;IFCLAUSE&gt;→if c then</a:t>
            </a:r>
            <a:endParaRPr lang="zh-CN" altLang="zh-CN" dirty="0">
              <a:latin typeface="宋体" panose="02010600030101010101" pitchFamily="2" charset="-122"/>
              <a:ea typeface="宋体" panose="02010600030101010101" pitchFamily="2" charset="-122"/>
            </a:endParaRPr>
          </a:p>
        </p:txBody>
      </p:sp>
      <p:sp>
        <p:nvSpPr>
          <p:cNvPr id="3" name="矩形 2"/>
          <p:cNvSpPr/>
          <p:nvPr/>
        </p:nvSpPr>
        <p:spPr>
          <a:xfrm>
            <a:off x="7415213" y="41275"/>
            <a:ext cx="1703387" cy="2031325"/>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defRPr/>
            </a:pPr>
            <a:r>
              <a:rPr lang="zh-CN" altLang="zh-CN" dirty="0">
                <a:latin typeface="宋体" panose="02010600030101010101" pitchFamily="2" charset="-122"/>
                <a:ea typeface="宋体" panose="02010600030101010101" pitchFamily="2" charset="-122"/>
              </a:rPr>
              <a:t>P→bTd </a:t>
            </a:r>
            <a:endParaRPr lang="en-US" altLang="zh-CN" dirty="0">
              <a:latin typeface="宋体" panose="02010600030101010101" pitchFamily="2" charset="-122"/>
              <a:ea typeface="宋体" panose="02010600030101010101" pitchFamily="2" charset="-122"/>
            </a:endParaRPr>
          </a:p>
          <a:p>
            <a:pPr>
              <a:defRPr/>
            </a:pPr>
            <a:r>
              <a:rPr lang="zh-CN" altLang="zh-CN" dirty="0">
                <a:latin typeface="宋体" panose="02010600030101010101" pitchFamily="2" charset="-122"/>
                <a:ea typeface="宋体" panose="02010600030101010101" pitchFamily="2" charset="-122"/>
              </a:rPr>
              <a:t>T→S|T ;S</a:t>
            </a:r>
          </a:p>
          <a:p>
            <a:pPr>
              <a:defRPr/>
            </a:pPr>
            <a:r>
              <a:rPr lang="zh-CN" altLang="zh-CN" dirty="0">
                <a:latin typeface="宋体" panose="02010600030101010101" pitchFamily="2" charset="-122"/>
                <a:ea typeface="宋体" panose="02010600030101010101" pitchFamily="2" charset="-122"/>
              </a:rPr>
              <a:t>S→N|C </a:t>
            </a:r>
            <a:endParaRPr lang="en-US" altLang="zh-CN" dirty="0">
              <a:latin typeface="宋体" panose="02010600030101010101" pitchFamily="2" charset="-122"/>
              <a:ea typeface="宋体" panose="02010600030101010101" pitchFamily="2" charset="-122"/>
            </a:endParaRPr>
          </a:p>
          <a:p>
            <a:pPr>
              <a:defRPr/>
            </a:pPr>
            <a:r>
              <a:rPr lang="zh-CN" altLang="zh-CN" dirty="0">
                <a:latin typeface="宋体" panose="02010600030101010101" pitchFamily="2" charset="-122"/>
                <a:ea typeface="宋体" panose="02010600030101010101" pitchFamily="2" charset="-122"/>
              </a:rPr>
              <a:t>N→a</a:t>
            </a:r>
            <a:br>
              <a:rPr lang="zh-CN" altLang="zh-CN" dirty="0">
                <a:latin typeface="宋体" panose="02010600030101010101" pitchFamily="2" charset="-122"/>
                <a:ea typeface="宋体" panose="02010600030101010101" pitchFamily="2" charset="-122"/>
              </a:rPr>
            </a:br>
            <a:r>
              <a:rPr lang="zh-CN" altLang="zh-CN" dirty="0">
                <a:latin typeface="宋体" panose="02010600030101010101" pitchFamily="2" charset="-122"/>
                <a:ea typeface="宋体" panose="02010600030101010101" pitchFamily="2" charset="-122"/>
              </a:rPr>
              <a:t>C→I|IeS </a:t>
            </a:r>
            <a:endParaRPr lang="en-US" altLang="zh-CN" dirty="0">
              <a:latin typeface="宋体" panose="02010600030101010101" pitchFamily="2" charset="-122"/>
              <a:ea typeface="宋体" panose="02010600030101010101" pitchFamily="2" charset="-122"/>
            </a:endParaRPr>
          </a:p>
          <a:p>
            <a:pPr>
              <a:defRPr/>
            </a:pPr>
            <a:r>
              <a:rPr lang="zh-CN" altLang="zh-CN" dirty="0">
                <a:latin typeface="宋体" panose="02010600030101010101" pitchFamily="2" charset="-122"/>
                <a:ea typeface="宋体" panose="02010600030101010101" pitchFamily="2" charset="-122"/>
              </a:rPr>
              <a:t>I→ZN</a:t>
            </a:r>
          </a:p>
          <a:p>
            <a:pPr>
              <a:defRPr/>
            </a:pPr>
            <a:r>
              <a:rPr lang="zh-CN" altLang="zh-CN" dirty="0">
                <a:latin typeface="宋体" panose="02010600030101010101" pitchFamily="2" charset="-122"/>
                <a:ea typeface="宋体" panose="02010600030101010101" pitchFamily="2" charset="-122"/>
              </a:rPr>
              <a:t>Z→ict</a:t>
            </a:r>
          </a:p>
        </p:txBody>
      </p:sp>
      <p:sp>
        <p:nvSpPr>
          <p:cNvPr id="5" name="右箭头 4"/>
          <p:cNvSpPr/>
          <p:nvPr/>
        </p:nvSpPr>
        <p:spPr bwMode="auto">
          <a:xfrm>
            <a:off x="4644008" y="660400"/>
            <a:ext cx="2771205" cy="549275"/>
          </a:xfrm>
          <a:prstGeom prst="rightArrow">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eaLnBrk="1" hangingPunct="1">
              <a:defRPr/>
            </a:pPr>
            <a:r>
              <a:rPr lang="zh-CN" altLang="zh-CN" sz="2000" dirty="0"/>
              <a:t>化简</a:t>
            </a:r>
            <a:endParaRPr lang="zh-CN" altLang="en-US" sz="2000" dirty="0">
              <a:solidFill>
                <a:schemeClr val="tx1"/>
              </a:solidFill>
              <a:ea typeface="华文行楷" pitchFamily="2" charset="-122"/>
            </a:endParaRPr>
          </a:p>
        </p:txBody>
      </p:sp>
      <p:grpSp>
        <p:nvGrpSpPr>
          <p:cNvPr id="14" name="组合 13"/>
          <p:cNvGrpSpPr>
            <a:grpSpLocks/>
          </p:cNvGrpSpPr>
          <p:nvPr/>
        </p:nvGrpSpPr>
        <p:grpSpPr bwMode="auto">
          <a:xfrm>
            <a:off x="207963" y="3695697"/>
            <a:ext cx="6039995" cy="549275"/>
            <a:chOff x="0" y="5972694"/>
            <a:chExt cx="6040052" cy="732214"/>
          </a:xfrm>
        </p:grpSpPr>
        <p:sp>
          <p:nvSpPr>
            <p:cNvPr id="7" name="矩形 6"/>
            <p:cNvSpPr/>
            <p:nvPr/>
          </p:nvSpPr>
          <p:spPr>
            <a:xfrm>
              <a:off x="0" y="6108132"/>
              <a:ext cx="3627950" cy="533369"/>
            </a:xfrm>
            <a:prstGeom prst="rect">
              <a:avLst/>
            </a:prstGeom>
          </p:spPr>
          <p:style>
            <a:lnRef idx="2">
              <a:schemeClr val="accent3"/>
            </a:lnRef>
            <a:fillRef idx="1">
              <a:schemeClr val="lt1"/>
            </a:fillRef>
            <a:effectRef idx="0">
              <a:schemeClr val="accent3"/>
            </a:effectRef>
            <a:fontRef idx="minor">
              <a:schemeClr val="dk1"/>
            </a:fontRef>
          </p:style>
          <p:txBody>
            <a:bodyPr wrap="none">
              <a:spAutoFit/>
            </a:bodyPr>
            <a:lstStyle/>
            <a:p>
              <a:pPr>
                <a:defRPr/>
              </a:pPr>
              <a:r>
                <a:rPr lang="zh-CN" altLang="zh-CN" sz="2000" dirty="0"/>
                <a:t>begin if c then a else a end </a:t>
              </a:r>
              <a:endParaRPr lang="zh-CN" altLang="en-US" sz="2000" dirty="0"/>
            </a:p>
          </p:txBody>
        </p:sp>
        <p:sp>
          <p:nvSpPr>
            <p:cNvPr id="8" name="矩形 7"/>
            <p:cNvSpPr/>
            <p:nvPr/>
          </p:nvSpPr>
          <p:spPr>
            <a:xfrm>
              <a:off x="4805407" y="6089087"/>
              <a:ext cx="1234645" cy="533369"/>
            </a:xfrm>
            <a:prstGeom prst="rect">
              <a:avLst/>
            </a:prstGeom>
          </p:spPr>
          <p:style>
            <a:lnRef idx="2">
              <a:schemeClr val="accent3"/>
            </a:lnRef>
            <a:fillRef idx="1">
              <a:schemeClr val="lt1"/>
            </a:fillRef>
            <a:effectRef idx="0">
              <a:schemeClr val="accent3"/>
            </a:effectRef>
            <a:fontRef idx="minor">
              <a:schemeClr val="dk1"/>
            </a:fontRef>
          </p:style>
          <p:txBody>
            <a:bodyPr wrap="none">
              <a:spAutoFit/>
            </a:bodyPr>
            <a:lstStyle/>
            <a:p>
              <a:pPr>
                <a:defRPr/>
              </a:pPr>
              <a:r>
                <a:rPr lang="zh-CN" altLang="zh-CN" sz="2000" kern="0" dirty="0">
                  <a:solidFill>
                    <a:srgbClr val="000000"/>
                  </a:solidFill>
                </a:rPr>
                <a:t>bictaead</a:t>
              </a:r>
              <a:endParaRPr lang="zh-CN" altLang="en-US" sz="2000" dirty="0"/>
            </a:p>
          </p:txBody>
        </p:sp>
        <p:sp>
          <p:nvSpPr>
            <p:cNvPr id="10" name="右箭头 9"/>
            <p:cNvSpPr/>
            <p:nvPr/>
          </p:nvSpPr>
          <p:spPr bwMode="auto">
            <a:xfrm>
              <a:off x="3775110" y="5972694"/>
              <a:ext cx="914409" cy="732214"/>
            </a:xfrm>
            <a:prstGeom prst="rightArrow">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eaLnBrk="1" hangingPunct="1">
                <a:defRPr/>
              </a:pPr>
              <a:r>
                <a:rPr lang="zh-CN" altLang="zh-CN" sz="2000" dirty="0"/>
                <a:t>化简</a:t>
              </a:r>
              <a:endParaRPr lang="zh-CN" altLang="en-US" sz="2000" dirty="0">
                <a:solidFill>
                  <a:schemeClr val="tx1"/>
                </a:solidFill>
                <a:ea typeface="华文行楷" pitchFamily="2" charset="-122"/>
              </a:endParaRPr>
            </a:p>
          </p:txBody>
        </p:sp>
      </p:grpSp>
      <p:sp>
        <p:nvSpPr>
          <p:cNvPr id="11" name="矩形 10"/>
          <p:cNvSpPr/>
          <p:nvPr/>
        </p:nvSpPr>
        <p:spPr>
          <a:xfrm>
            <a:off x="7415213" y="2813050"/>
            <a:ext cx="1703387" cy="2336024"/>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lnSpc>
                <a:spcPct val="90000"/>
              </a:lnSpc>
              <a:defRPr/>
            </a:pPr>
            <a:r>
              <a:rPr lang="zh-CN" altLang="zh-CN" dirty="0">
                <a:latin typeface="宋体" panose="02010600030101010101" pitchFamily="2" charset="-122"/>
                <a:ea typeface="宋体" panose="02010600030101010101" pitchFamily="2" charset="-122"/>
              </a:rPr>
              <a:t>P→bTd </a:t>
            </a:r>
            <a:endParaRPr lang="en-US" altLang="zh-CN" dirty="0">
              <a:latin typeface="宋体" panose="02010600030101010101" pitchFamily="2" charset="-122"/>
              <a:ea typeface="宋体" panose="02010600030101010101" pitchFamily="2" charset="-122"/>
            </a:endParaRPr>
          </a:p>
          <a:p>
            <a:pPr>
              <a:lnSpc>
                <a:spcPct val="90000"/>
              </a:lnSpc>
              <a:defRPr/>
            </a:pPr>
            <a:r>
              <a:rPr lang="zh-CN" altLang="zh-CN" dirty="0">
                <a:latin typeface="宋体" panose="02010600030101010101" pitchFamily="2" charset="-122"/>
                <a:ea typeface="宋体" panose="02010600030101010101" pitchFamily="2" charset="-122"/>
              </a:rPr>
              <a:t>T→SF</a:t>
            </a:r>
          </a:p>
          <a:p>
            <a:pPr>
              <a:lnSpc>
                <a:spcPct val="90000"/>
              </a:lnSpc>
              <a:defRPr/>
            </a:pPr>
            <a:r>
              <a:rPr lang="zh-CN" altLang="zh-CN" dirty="0">
                <a:latin typeface="宋体" panose="02010600030101010101" pitchFamily="2" charset="-122"/>
                <a:ea typeface="宋体" panose="02010600030101010101" pitchFamily="2" charset="-122"/>
              </a:rPr>
              <a:t>F→;SF|</a:t>
            </a:r>
            <a:r>
              <a:rPr lang="en-US" altLang="zh-CN" b="1" dirty="0">
                <a:latin typeface="宋体" panose="02010600030101010101" pitchFamily="2" charset="-122"/>
                <a:ea typeface="宋体" panose="02010600030101010101" pitchFamily="2" charset="-122"/>
              </a:rPr>
              <a:t> ε</a:t>
            </a:r>
          </a:p>
          <a:p>
            <a:pPr>
              <a:lnSpc>
                <a:spcPct val="90000"/>
              </a:lnSpc>
              <a:defRPr/>
            </a:pPr>
            <a:r>
              <a:rPr lang="zh-CN" altLang="zh-CN" dirty="0">
                <a:latin typeface="宋体" panose="02010600030101010101" pitchFamily="2" charset="-122"/>
                <a:ea typeface="宋体" panose="02010600030101010101" pitchFamily="2" charset="-122"/>
              </a:rPr>
              <a:t>S→N|C </a:t>
            </a:r>
            <a:endParaRPr lang="en-US" altLang="zh-CN" dirty="0">
              <a:latin typeface="宋体" panose="02010600030101010101" pitchFamily="2" charset="-122"/>
              <a:ea typeface="宋体" panose="02010600030101010101" pitchFamily="2" charset="-122"/>
            </a:endParaRPr>
          </a:p>
          <a:p>
            <a:pPr>
              <a:lnSpc>
                <a:spcPct val="90000"/>
              </a:lnSpc>
              <a:defRPr/>
            </a:pPr>
            <a:r>
              <a:rPr lang="zh-CN" altLang="zh-CN" dirty="0">
                <a:latin typeface="宋体" panose="02010600030101010101" pitchFamily="2" charset="-122"/>
                <a:ea typeface="宋体" panose="02010600030101010101" pitchFamily="2" charset="-122"/>
              </a:rPr>
              <a:t>N→a </a:t>
            </a:r>
            <a:endParaRPr lang="en-US" altLang="zh-CN" dirty="0">
              <a:latin typeface="宋体" panose="02010600030101010101" pitchFamily="2" charset="-122"/>
              <a:ea typeface="宋体" panose="02010600030101010101" pitchFamily="2" charset="-122"/>
            </a:endParaRPr>
          </a:p>
          <a:p>
            <a:pPr>
              <a:lnSpc>
                <a:spcPct val="90000"/>
              </a:lnSpc>
              <a:defRPr/>
            </a:pPr>
            <a:r>
              <a:rPr lang="zh-CN" altLang="zh-CN" dirty="0">
                <a:latin typeface="宋体" panose="02010600030101010101" pitchFamily="2" charset="-122"/>
                <a:ea typeface="宋体" panose="02010600030101010101" pitchFamily="2" charset="-122"/>
              </a:rPr>
              <a:t>C→ID</a:t>
            </a:r>
          </a:p>
          <a:p>
            <a:pPr>
              <a:lnSpc>
                <a:spcPct val="90000"/>
              </a:lnSpc>
              <a:defRPr/>
            </a:pPr>
            <a:r>
              <a:rPr lang="zh-CN" altLang="zh-CN" dirty="0">
                <a:latin typeface="宋体" panose="02010600030101010101" pitchFamily="2" charset="-122"/>
                <a:ea typeface="宋体" panose="02010600030101010101" pitchFamily="2" charset="-122"/>
              </a:rPr>
              <a:t>D→eS |</a:t>
            </a:r>
            <a:r>
              <a:rPr lang="en-US" altLang="zh-CN" b="1" dirty="0">
                <a:latin typeface="宋体" panose="02010600030101010101" pitchFamily="2" charset="-122"/>
                <a:ea typeface="宋体" panose="02010600030101010101" pitchFamily="2" charset="-122"/>
              </a:rPr>
              <a:t> ε</a:t>
            </a:r>
            <a:r>
              <a:rPr lang="zh-CN" altLang="zh-CN" dirty="0">
                <a:latin typeface="宋体" panose="02010600030101010101" pitchFamily="2" charset="-122"/>
                <a:ea typeface="宋体" panose="02010600030101010101" pitchFamily="2" charset="-122"/>
              </a:rPr>
              <a:t> </a:t>
            </a:r>
            <a:endParaRPr lang="en-US" altLang="zh-CN" dirty="0">
              <a:latin typeface="宋体" panose="02010600030101010101" pitchFamily="2" charset="-122"/>
              <a:ea typeface="宋体" panose="02010600030101010101" pitchFamily="2" charset="-122"/>
            </a:endParaRPr>
          </a:p>
          <a:p>
            <a:pPr>
              <a:lnSpc>
                <a:spcPct val="90000"/>
              </a:lnSpc>
              <a:defRPr/>
            </a:pPr>
            <a:r>
              <a:rPr lang="zh-CN" altLang="zh-CN" dirty="0">
                <a:latin typeface="宋体" panose="02010600030101010101" pitchFamily="2" charset="-122"/>
                <a:ea typeface="宋体" panose="02010600030101010101" pitchFamily="2" charset="-122"/>
              </a:rPr>
              <a:t>I→ZN</a:t>
            </a:r>
          </a:p>
          <a:p>
            <a:pPr>
              <a:lnSpc>
                <a:spcPct val="90000"/>
              </a:lnSpc>
              <a:defRPr/>
            </a:pPr>
            <a:r>
              <a:rPr lang="zh-CN" altLang="zh-CN" dirty="0">
                <a:latin typeface="宋体" panose="02010600030101010101" pitchFamily="2" charset="-122"/>
                <a:ea typeface="宋体" panose="02010600030101010101" pitchFamily="2" charset="-122"/>
              </a:rPr>
              <a:t>Z→ict</a:t>
            </a:r>
          </a:p>
        </p:txBody>
      </p:sp>
      <p:grpSp>
        <p:nvGrpSpPr>
          <p:cNvPr id="15" name="组合 14"/>
          <p:cNvGrpSpPr>
            <a:grpSpLocks/>
          </p:cNvGrpSpPr>
          <p:nvPr/>
        </p:nvGrpSpPr>
        <p:grpSpPr bwMode="auto">
          <a:xfrm>
            <a:off x="4904581" y="2072600"/>
            <a:ext cx="3465513" cy="925513"/>
            <a:chOff x="5270259" y="2798885"/>
            <a:chExt cx="3466417" cy="1232931"/>
          </a:xfrm>
        </p:grpSpPr>
        <p:sp>
          <p:nvSpPr>
            <p:cNvPr id="12" name="右箭头 11"/>
            <p:cNvSpPr/>
            <p:nvPr/>
          </p:nvSpPr>
          <p:spPr bwMode="auto">
            <a:xfrm rot="5400000">
              <a:off x="7913864" y="2889668"/>
              <a:ext cx="913595" cy="732029"/>
            </a:xfrm>
            <a:prstGeom prst="rightArrow">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eaLnBrk="1" hangingPunct="1">
                <a:defRPr/>
              </a:pPr>
              <a:endParaRPr lang="zh-CN" altLang="en-US" sz="2000" dirty="0">
                <a:solidFill>
                  <a:schemeClr val="tx1"/>
                </a:solidFill>
                <a:ea typeface="华文行楷" pitchFamily="2" charset="-122"/>
              </a:endParaRPr>
            </a:p>
          </p:txBody>
        </p:sp>
        <p:sp>
          <p:nvSpPr>
            <p:cNvPr id="108553" name="矩形 12"/>
            <p:cNvSpPr>
              <a:spLocks noChangeArrowheads="1"/>
            </p:cNvSpPr>
            <p:nvPr/>
          </p:nvSpPr>
          <p:spPr bwMode="auto">
            <a:xfrm>
              <a:off x="5270259" y="2924535"/>
              <a:ext cx="2842563" cy="1107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zh-CN" sz="2400" dirty="0">
                  <a:ea typeface="华文行楷" pitchFamily="2" charset="-122"/>
                </a:rPr>
                <a:t>消去 G[P]中的左递归 T 和公共左因子I</a:t>
              </a:r>
              <a:endParaRPr lang="zh-CN" altLang="en-US" sz="2400" dirty="0">
                <a:ea typeface="华文行楷" pitchFamily="2" charset="-122"/>
              </a:endParaRPr>
            </a:p>
          </p:txBody>
        </p:sp>
      </p:grpSp>
    </p:spTree>
    <p:extLst>
      <p:ext uri="{BB962C8B-B14F-4D97-AF65-F5344CB8AC3E}">
        <p14:creationId xmlns:p14="http://schemas.microsoft.com/office/powerpoint/2010/main" val="4362500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11"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内容占位符 2"/>
          <p:cNvSpPr>
            <a:spLocks noGrp="1"/>
          </p:cNvSpPr>
          <p:nvPr>
            <p:ph idx="1"/>
          </p:nvPr>
        </p:nvSpPr>
        <p:spPr>
          <a:xfrm>
            <a:off x="346075" y="166688"/>
            <a:ext cx="3370263" cy="4689475"/>
          </a:xfrm>
          <a:ln>
            <a:headEnd/>
            <a:tailEnd/>
          </a:ln>
        </p:spPr>
        <p:style>
          <a:lnRef idx="2">
            <a:schemeClr val="accent1"/>
          </a:lnRef>
          <a:fillRef idx="1">
            <a:schemeClr val="lt1"/>
          </a:fillRef>
          <a:effectRef idx="0">
            <a:schemeClr val="accent1"/>
          </a:effectRef>
          <a:fontRef idx="minor">
            <a:schemeClr val="dk1"/>
          </a:fontRef>
        </p:style>
        <p:txBody>
          <a:bodyPr>
            <a:noAutofit/>
          </a:bodyPr>
          <a:lstStyle/>
          <a:p>
            <a:pPr marL="0" indent="0">
              <a:buFontTx/>
              <a:buNone/>
            </a:pPr>
            <a:r>
              <a:rPr lang="zh-CN" altLang="zh-CN" sz="2200" dirty="0">
                <a:latin typeface="宋体" panose="02010600030101010101" pitchFamily="2" charset="-122"/>
                <a:ea typeface="宋体" panose="02010600030101010101" pitchFamily="2" charset="-122"/>
              </a:rPr>
              <a:t>First(P→bTd)={b}</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First(T→SF)={a,i}</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First(S→N)={a}</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First(S→C)={i}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First(F→;SF)={; }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solidFill>
                  <a:srgbClr val="D60093"/>
                </a:solidFill>
                <a:latin typeface="宋体" panose="02010600030101010101" pitchFamily="2" charset="-122"/>
                <a:ea typeface="宋体" panose="02010600030101010101" pitchFamily="2" charset="-122"/>
              </a:rPr>
              <a:t>First(F→</a:t>
            </a:r>
            <a:r>
              <a:rPr lang="en-US" altLang="zh-CN" sz="2200" b="1" dirty="0">
                <a:solidFill>
                  <a:srgbClr val="D60093"/>
                </a:solidFill>
                <a:latin typeface="宋体" panose="02010600030101010101" pitchFamily="2" charset="-122"/>
                <a:ea typeface="宋体" panose="02010600030101010101" pitchFamily="2" charset="-122"/>
              </a:rPr>
              <a:t> ε</a:t>
            </a:r>
            <a:r>
              <a:rPr lang="zh-CN" altLang="zh-CN" sz="2200" dirty="0">
                <a:solidFill>
                  <a:srgbClr val="D60093"/>
                </a:solidFill>
                <a:latin typeface="宋体" panose="02010600030101010101" pitchFamily="2" charset="-122"/>
                <a:ea typeface="宋体" panose="02010600030101010101" pitchFamily="2" charset="-122"/>
              </a:rPr>
              <a:t>)={</a:t>
            </a:r>
            <a:r>
              <a:rPr lang="en-US" altLang="zh-CN" sz="2200" b="1" dirty="0">
                <a:solidFill>
                  <a:srgbClr val="D60093"/>
                </a:solidFill>
                <a:latin typeface="宋体" panose="02010600030101010101" pitchFamily="2" charset="-122"/>
                <a:ea typeface="宋体" panose="02010600030101010101" pitchFamily="2" charset="-122"/>
              </a:rPr>
              <a:t>ε</a:t>
            </a:r>
            <a:r>
              <a:rPr lang="zh-CN" altLang="zh-CN" sz="2200" dirty="0">
                <a:solidFill>
                  <a:srgbClr val="D60093"/>
                </a:solidFill>
                <a:latin typeface="宋体" panose="02010600030101010101" pitchFamily="2" charset="-122"/>
                <a:ea typeface="宋体" panose="02010600030101010101" pitchFamily="2" charset="-122"/>
              </a:rPr>
              <a:t>}</a:t>
            </a:r>
            <a:r>
              <a:rPr lang="zh-CN" altLang="zh-CN" sz="2200" dirty="0">
                <a:latin typeface="宋体" panose="02010600030101010101" pitchFamily="2" charset="-122"/>
                <a:ea typeface="宋体" panose="02010600030101010101" pitchFamily="2" charset="-122"/>
              </a:rPr>
              <a:t>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First(N→a)={a}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First(C→ID)={i}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First(I→ZN)={i}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First(D→eS)={ e } </a:t>
            </a:r>
            <a:endParaRPr lang="en-US" altLang="zh-CN" sz="2200" dirty="0">
              <a:latin typeface="宋体" panose="02010600030101010101" pitchFamily="2" charset="-122"/>
              <a:ea typeface="宋体" panose="02010600030101010101" pitchFamily="2" charset="-122"/>
            </a:endParaRPr>
          </a:p>
          <a:p>
            <a:pPr marL="0" indent="0">
              <a:buFontTx/>
              <a:buNone/>
            </a:pPr>
            <a:r>
              <a:rPr lang="zh-CN" altLang="zh-CN" sz="2200" dirty="0">
                <a:solidFill>
                  <a:srgbClr val="D60093"/>
                </a:solidFill>
                <a:latin typeface="宋体" panose="02010600030101010101" pitchFamily="2" charset="-122"/>
                <a:ea typeface="宋体" panose="02010600030101010101" pitchFamily="2" charset="-122"/>
              </a:rPr>
              <a:t>First(D→</a:t>
            </a:r>
            <a:r>
              <a:rPr lang="en-US" altLang="zh-CN" sz="2200" b="1" dirty="0">
                <a:solidFill>
                  <a:srgbClr val="D60093"/>
                </a:solidFill>
                <a:latin typeface="宋体" panose="02010600030101010101" pitchFamily="2" charset="-122"/>
                <a:ea typeface="宋体" panose="02010600030101010101" pitchFamily="2" charset="-122"/>
              </a:rPr>
              <a:t> ε</a:t>
            </a:r>
            <a:r>
              <a:rPr lang="zh-CN" altLang="zh-CN" sz="2200" dirty="0">
                <a:solidFill>
                  <a:srgbClr val="D60093"/>
                </a:solidFill>
                <a:latin typeface="宋体" panose="02010600030101010101" pitchFamily="2" charset="-122"/>
                <a:ea typeface="宋体" panose="02010600030101010101" pitchFamily="2" charset="-122"/>
              </a:rPr>
              <a:t>)={</a:t>
            </a:r>
            <a:r>
              <a:rPr lang="en-US" altLang="zh-CN" sz="2200" b="1" dirty="0">
                <a:solidFill>
                  <a:srgbClr val="D60093"/>
                </a:solidFill>
                <a:latin typeface="宋体" panose="02010600030101010101" pitchFamily="2" charset="-122"/>
                <a:ea typeface="宋体" panose="02010600030101010101" pitchFamily="2" charset="-122"/>
              </a:rPr>
              <a:t>ε</a:t>
            </a:r>
            <a:r>
              <a:rPr lang="zh-CN" altLang="zh-CN" sz="2200" dirty="0">
                <a:solidFill>
                  <a:srgbClr val="D60093"/>
                </a:solidFill>
                <a:latin typeface="宋体" panose="02010600030101010101" pitchFamily="2" charset="-122"/>
                <a:ea typeface="宋体" panose="02010600030101010101" pitchFamily="2" charset="-122"/>
              </a:rPr>
              <a:t>} </a:t>
            </a:r>
            <a:endParaRPr lang="en-US" altLang="zh-CN" sz="2200" dirty="0">
              <a:solidFill>
                <a:srgbClr val="D60093"/>
              </a:solidFill>
              <a:latin typeface="宋体" panose="02010600030101010101" pitchFamily="2" charset="-122"/>
              <a:ea typeface="宋体" panose="02010600030101010101" pitchFamily="2" charset="-122"/>
            </a:endParaRPr>
          </a:p>
          <a:p>
            <a:pPr marL="0" indent="0">
              <a:buFontTx/>
              <a:buNone/>
            </a:pPr>
            <a:r>
              <a:rPr lang="zh-CN" altLang="zh-CN" sz="2200" dirty="0">
                <a:latin typeface="宋体" panose="02010600030101010101" pitchFamily="2" charset="-122"/>
                <a:ea typeface="宋体" panose="02010600030101010101" pitchFamily="2" charset="-122"/>
              </a:rPr>
              <a:t>First(Z→ict)={i}</a:t>
            </a:r>
            <a:endParaRPr lang="zh-CN" altLang="en-US" sz="2200" dirty="0">
              <a:latin typeface="宋体" panose="02010600030101010101" pitchFamily="2" charset="-122"/>
              <a:ea typeface="宋体" panose="02010600030101010101" pitchFamily="2" charset="-122"/>
            </a:endParaRPr>
          </a:p>
        </p:txBody>
      </p:sp>
      <p:sp>
        <p:nvSpPr>
          <p:cNvPr id="109571" name="内容占位符 2"/>
          <p:cNvSpPr txBox="1">
            <a:spLocks/>
          </p:cNvSpPr>
          <p:nvPr/>
        </p:nvSpPr>
        <p:spPr bwMode="auto">
          <a:xfrm>
            <a:off x="4319588" y="276225"/>
            <a:ext cx="4618037" cy="197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FontTx/>
              <a:buNone/>
            </a:pPr>
            <a:r>
              <a:rPr lang="zh-CN" altLang="zh-CN" sz="2800"/>
              <a:t>由于只有 F 和 D 含有</a:t>
            </a:r>
            <a:r>
              <a:rPr lang="en-US" altLang="zh-CN" sz="2800" b="1">
                <a:solidFill>
                  <a:srgbClr val="D60093"/>
                </a:solidFill>
              </a:rPr>
              <a:t>ε</a:t>
            </a:r>
            <a:r>
              <a:rPr lang="zh-CN" altLang="zh-CN" sz="2800"/>
              <a:t>产生式，因此只需计算 Follow(F)和 Follow(D)。</a:t>
            </a:r>
          </a:p>
          <a:p>
            <a:pPr>
              <a:buFontTx/>
              <a:buNone/>
            </a:pPr>
            <a:r>
              <a:rPr lang="zh-CN" altLang="zh-CN" sz="2800"/>
              <a:t>Follow(F)={d} Follow(D)={;,d}</a:t>
            </a:r>
            <a:endParaRPr lang="zh-CN" altLang="en-US" sz="2800"/>
          </a:p>
        </p:txBody>
      </p:sp>
      <p:sp>
        <p:nvSpPr>
          <p:cNvPr id="109572" name="内容占位符 2"/>
          <p:cNvSpPr txBox="1">
            <a:spLocks/>
          </p:cNvSpPr>
          <p:nvPr/>
        </p:nvSpPr>
        <p:spPr bwMode="auto">
          <a:xfrm>
            <a:off x="4187825" y="2689225"/>
            <a:ext cx="4881563" cy="196691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FontTx/>
              <a:buNone/>
            </a:pPr>
            <a:r>
              <a:rPr lang="zh-CN" altLang="zh-CN" sz="2000" dirty="0"/>
              <a:t>由于该文法已不含左递归， S 的候选式有两个，其中：</a:t>
            </a:r>
          </a:p>
          <a:p>
            <a:pPr>
              <a:buFontTx/>
              <a:buNone/>
            </a:pPr>
            <a:r>
              <a:rPr lang="zh-CN" altLang="zh-CN" sz="2000" dirty="0"/>
              <a:t>First(S→N)∩ First(S→C)={a}∩{i} = </a:t>
            </a:r>
            <a:r>
              <a:rPr lang="el-GR" altLang="zh-CN" sz="2000" dirty="0">
                <a:cs typeface="Times New Roman" pitchFamily="18" charset="0"/>
              </a:rPr>
              <a:t>Φ</a:t>
            </a:r>
          </a:p>
          <a:p>
            <a:pPr>
              <a:buFontTx/>
              <a:buNone/>
            </a:pPr>
            <a:r>
              <a:rPr lang="zh-CN" altLang="zh-CN" sz="2000" dirty="0"/>
              <a:t>F 和 D 均含有为e产生式，根据条件 3： First(F)∩Follow(F)={;}∩{d}= </a:t>
            </a:r>
            <a:r>
              <a:rPr lang="el-GR" altLang="zh-CN" sz="2000" dirty="0">
                <a:cs typeface="Times New Roman" pitchFamily="18" charset="0"/>
              </a:rPr>
              <a:t>Φ</a:t>
            </a:r>
            <a:r>
              <a:rPr lang="zh-CN" altLang="zh-CN" sz="2000" dirty="0"/>
              <a:t> First(D)∩Follow(D)={e}∩{</a:t>
            </a:r>
            <a:r>
              <a:rPr lang="en-US" altLang="zh-CN" sz="2000" dirty="0"/>
              <a:t> ;, d</a:t>
            </a:r>
            <a:r>
              <a:rPr lang="zh-CN" altLang="zh-CN" sz="2000" dirty="0"/>
              <a:t>}= </a:t>
            </a:r>
            <a:r>
              <a:rPr lang="el-GR" altLang="zh-CN" sz="2000" dirty="0">
                <a:cs typeface="Times New Roman" pitchFamily="18" charset="0"/>
              </a:rPr>
              <a:t>Φ</a:t>
            </a:r>
            <a:endParaRPr lang="zh-CN" altLang="zh-CN" sz="2000" dirty="0"/>
          </a:p>
          <a:p>
            <a:pPr>
              <a:buFontTx/>
              <a:buNone/>
            </a:pPr>
            <a:r>
              <a:rPr lang="zh-CN" altLang="zh-CN" sz="2000" dirty="0"/>
              <a:t>所以文法G'[P]是 LL(1)的文法。</a:t>
            </a:r>
            <a:endParaRPr lang="zh-CN" altLang="en-US" sz="2000" dirty="0"/>
          </a:p>
        </p:txBody>
      </p:sp>
    </p:spTree>
    <p:extLst>
      <p:ext uri="{BB962C8B-B14F-4D97-AF65-F5344CB8AC3E}">
        <p14:creationId xmlns:p14="http://schemas.microsoft.com/office/powerpoint/2010/main" val="4746904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837" name="Group 245"/>
          <p:cNvGraphicFramePr>
            <a:graphicFrameLocks noGrp="1"/>
          </p:cNvGraphicFramePr>
          <p:nvPr/>
        </p:nvGraphicFramePr>
        <p:xfrm>
          <a:off x="546100" y="908050"/>
          <a:ext cx="8104188" cy="3352800"/>
        </p:xfrm>
        <a:graphic>
          <a:graphicData uri="http://schemas.openxmlformats.org/drawingml/2006/table">
            <a:tbl>
              <a:tblPr/>
              <a:tblGrid>
                <a:gridCol w="511175">
                  <a:extLst>
                    <a:ext uri="{9D8B030D-6E8A-4147-A177-3AD203B41FA5}">
                      <a16:colId xmlns:a16="http://schemas.microsoft.com/office/drawing/2014/main" val="20000"/>
                    </a:ext>
                  </a:extLst>
                </a:gridCol>
                <a:gridCol w="1223963">
                  <a:extLst>
                    <a:ext uri="{9D8B030D-6E8A-4147-A177-3AD203B41FA5}">
                      <a16:colId xmlns:a16="http://schemas.microsoft.com/office/drawing/2014/main" val="20001"/>
                    </a:ext>
                  </a:extLst>
                </a:gridCol>
                <a:gridCol w="896937">
                  <a:extLst>
                    <a:ext uri="{9D8B030D-6E8A-4147-A177-3AD203B41FA5}">
                      <a16:colId xmlns:a16="http://schemas.microsoft.com/office/drawing/2014/main" val="20002"/>
                    </a:ext>
                  </a:extLst>
                </a:gridCol>
                <a:gridCol w="1162050">
                  <a:extLst>
                    <a:ext uri="{9D8B030D-6E8A-4147-A177-3AD203B41FA5}">
                      <a16:colId xmlns:a16="http://schemas.microsoft.com/office/drawing/2014/main" val="20003"/>
                    </a:ext>
                  </a:extLst>
                </a:gridCol>
                <a:gridCol w="979488">
                  <a:extLst>
                    <a:ext uri="{9D8B030D-6E8A-4147-A177-3AD203B41FA5}">
                      <a16:colId xmlns:a16="http://schemas.microsoft.com/office/drawing/2014/main" val="20004"/>
                    </a:ext>
                  </a:extLst>
                </a:gridCol>
                <a:gridCol w="982662">
                  <a:extLst>
                    <a:ext uri="{9D8B030D-6E8A-4147-A177-3AD203B41FA5}">
                      <a16:colId xmlns:a16="http://schemas.microsoft.com/office/drawing/2014/main" val="20005"/>
                    </a:ext>
                  </a:extLst>
                </a:gridCol>
                <a:gridCol w="1049338">
                  <a:extLst>
                    <a:ext uri="{9D8B030D-6E8A-4147-A177-3AD203B41FA5}">
                      <a16:colId xmlns:a16="http://schemas.microsoft.com/office/drawing/2014/main" val="20006"/>
                    </a:ext>
                  </a:extLst>
                </a:gridCol>
                <a:gridCol w="455612">
                  <a:extLst>
                    <a:ext uri="{9D8B030D-6E8A-4147-A177-3AD203B41FA5}">
                      <a16:colId xmlns:a16="http://schemas.microsoft.com/office/drawing/2014/main" val="20007"/>
                    </a:ext>
                  </a:extLst>
                </a:gridCol>
                <a:gridCol w="395288">
                  <a:extLst>
                    <a:ext uri="{9D8B030D-6E8A-4147-A177-3AD203B41FA5}">
                      <a16:colId xmlns:a16="http://schemas.microsoft.com/office/drawing/2014/main" val="20008"/>
                    </a:ext>
                  </a:extLst>
                </a:gridCol>
                <a:gridCol w="447675">
                  <a:extLst>
                    <a:ext uri="{9D8B030D-6E8A-4147-A177-3AD203B41FA5}">
                      <a16:colId xmlns:a16="http://schemas.microsoft.com/office/drawing/2014/main" val="20009"/>
                    </a:ext>
                  </a:extLst>
                </a:gridCol>
              </a:tblGrid>
              <a:tr h="335756">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b</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e</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i</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ctr"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1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3175" marR="0" lvl="0" indent="0" algn="ctr"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456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P</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P→bTd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3575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T→SF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T→SF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3456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138"/>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F→</a:t>
                      </a:r>
                      <a:r>
                        <a:rPr kumimoji="0" lang="zh-CN" altLang="zh-CN" sz="1800" b="0" i="0" u="none" strike="noStrike" cap="none" normalizeH="0" baseline="0">
                          <a:ln>
                            <a:noFill/>
                          </a:ln>
                          <a:solidFill>
                            <a:schemeClr val="tx1"/>
                          </a:solidFill>
                          <a:effectLst/>
                          <a:latin typeface="Times New Roman" pitchFamily="18" charset="0"/>
                          <a:ea typeface="Symbol" pitchFamily="18" charset="2"/>
                          <a:cs typeface="Times New Roman" pitchFamily="18" charset="0"/>
                        </a:rPr>
                        <a:t>e</a:t>
                      </a:r>
                      <a:endPar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F→;SF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575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S</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S→N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63"/>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S→C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3575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N→a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3456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C→ID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3575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I</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I→ZN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3456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ts val="1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D→</a:t>
                      </a:r>
                      <a:r>
                        <a:rPr kumimoji="0" lang="zh-CN" altLang="zh-CN" sz="1800" b="0" i="0" u="none" strike="noStrike" cap="none" normalizeH="0" baseline="0">
                          <a:ln>
                            <a:noFill/>
                          </a:ln>
                          <a:solidFill>
                            <a:schemeClr val="tx1"/>
                          </a:solidFill>
                          <a:effectLst/>
                          <a:latin typeface="Times New Roman" pitchFamily="18" charset="0"/>
                          <a:ea typeface="Symbol" pitchFamily="18" charset="2"/>
                          <a:cs typeface="Times New Roman" pitchFamily="18" charset="0"/>
                        </a:rPr>
                        <a:t>e</a:t>
                      </a:r>
                      <a:endPar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ts val="1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D→</a:t>
                      </a:r>
                      <a:r>
                        <a:rPr kumimoji="0" lang="zh-CN" altLang="zh-CN" sz="1800" b="0" i="0" u="none" strike="noStrike" cap="none" normalizeH="0" baseline="0">
                          <a:ln>
                            <a:noFill/>
                          </a:ln>
                          <a:solidFill>
                            <a:schemeClr val="tx1"/>
                          </a:solidFill>
                          <a:effectLst/>
                          <a:latin typeface="Times New Roman" pitchFamily="18" charset="0"/>
                          <a:ea typeface="Symbol" pitchFamily="18" charset="2"/>
                          <a:cs typeface="Times New Roman" pitchFamily="18" charset="0"/>
                        </a:rPr>
                        <a:t>e</a:t>
                      </a:r>
                      <a:endPar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ts val="263"/>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D→eS</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35756">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Z</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6675"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8263">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68263" marR="0" lvl="0" indent="0" algn="l" defTabSz="914400" rtl="0" eaLnBrk="1" fontAlgn="base" latinLnBrk="0" hangingPunct="1">
                        <a:lnSpc>
                          <a:spcPct val="100000"/>
                        </a:lnSpc>
                        <a:spcBef>
                          <a:spcPts val="250"/>
                        </a:spcBef>
                        <a:spcAft>
                          <a:spcPct val="0"/>
                        </a:spcAft>
                        <a:buClrTx/>
                        <a:buSzTx/>
                        <a:buFontTx/>
                        <a:buNone/>
                        <a:tabLst/>
                      </a:pPr>
                      <a:r>
                        <a:rPr kumimoji="0" lang="zh-CN" altLang="zh-CN" sz="18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Z→ict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itchFamily="18" charset="0"/>
                          <a:ea typeface="宋体" pitchFamily="2" charset="-122"/>
                        </a:defRPr>
                      </a:lvl1pPr>
                      <a:lvl2pPr marL="742950" indent="-285750">
                        <a:spcBef>
                          <a:spcPct val="20000"/>
                        </a:spcBef>
                        <a:defRPr kumimoji="1" sz="2400">
                          <a:solidFill>
                            <a:schemeClr val="tx1"/>
                          </a:solidFill>
                          <a:latin typeface="Times New Roman" pitchFamily="18" charset="0"/>
                          <a:ea typeface="宋体" pitchFamily="2" charset="-122"/>
                        </a:defRPr>
                      </a:lvl2pPr>
                      <a:lvl3pPr marL="1143000" indent="-228600">
                        <a:spcBef>
                          <a:spcPct val="20000"/>
                        </a:spcBef>
                        <a:defRPr kumimoji="1" sz="2000">
                          <a:solidFill>
                            <a:schemeClr val="tx1"/>
                          </a:solidFill>
                          <a:latin typeface="Times New Roman" pitchFamily="18" charset="0"/>
                          <a:ea typeface="宋体" pitchFamily="2" charset="-122"/>
                        </a:defRPr>
                      </a:lvl3pPr>
                      <a:lvl4pPr marL="1600200" indent="-228600">
                        <a:spcBef>
                          <a:spcPct val="20000"/>
                        </a:spcBef>
                        <a:defRPr kumimoji="1">
                          <a:solidFill>
                            <a:schemeClr val="tx1"/>
                          </a:solidFill>
                          <a:latin typeface="Times New Roman" pitchFamily="18" charset="0"/>
                          <a:ea typeface="宋体" pitchFamily="2" charset="-122"/>
                        </a:defRPr>
                      </a:lvl4pPr>
                      <a:lvl5pPr marL="2057400" indent="-228600">
                        <a:spcBef>
                          <a:spcPct val="20000"/>
                        </a:spcBef>
                        <a:defRPr kumimoji="1">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defRPr kumimoji="1">
                          <a:solidFill>
                            <a:schemeClr val="tx1"/>
                          </a:solidFill>
                          <a:latin typeface="Times New Roman" pitchFamily="18"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zh-CN" sz="9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rPr>
                        <a:t> </a:t>
                      </a:r>
                      <a:endParaRPr kumimoji="0" lang="zh-CN" altLang="zh-CN" sz="1000" b="0" i="0" u="none" strike="noStrike" cap="none" normalizeH="0" baseline="0">
                        <a:ln>
                          <a:noFill/>
                        </a:ln>
                        <a:solidFill>
                          <a:schemeClr val="tx1"/>
                        </a:solidFill>
                        <a:effectLst/>
                        <a:latin typeface="Times New Roman" pitchFamily="18" charset="0"/>
                        <a:ea typeface="华文行楷" pitchFamily="2" charset="-122"/>
                        <a:cs typeface="Times New Roman"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10656248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515938" y="188913"/>
          <a:ext cx="5781675" cy="4800600"/>
        </p:xfrm>
        <a:graphic>
          <a:graphicData uri="http://schemas.openxmlformats.org/drawingml/2006/table">
            <a:tbl>
              <a:tblPr/>
              <a:tblGrid>
                <a:gridCol w="681037">
                  <a:extLst>
                    <a:ext uri="{9D8B030D-6E8A-4147-A177-3AD203B41FA5}">
                      <a16:colId xmlns:a16="http://schemas.microsoft.com/office/drawing/2014/main" val="20000"/>
                    </a:ext>
                  </a:extLst>
                </a:gridCol>
                <a:gridCol w="1190625">
                  <a:extLst>
                    <a:ext uri="{9D8B030D-6E8A-4147-A177-3AD203B41FA5}">
                      <a16:colId xmlns:a16="http://schemas.microsoft.com/office/drawing/2014/main" val="20001"/>
                    </a:ext>
                  </a:extLst>
                </a:gridCol>
                <a:gridCol w="1712913">
                  <a:extLst>
                    <a:ext uri="{9D8B030D-6E8A-4147-A177-3AD203B41FA5}">
                      <a16:colId xmlns:a16="http://schemas.microsoft.com/office/drawing/2014/main" val="20002"/>
                    </a:ext>
                  </a:extLst>
                </a:gridCol>
                <a:gridCol w="2197100">
                  <a:extLst>
                    <a:ext uri="{9D8B030D-6E8A-4147-A177-3AD203B41FA5}">
                      <a16:colId xmlns:a16="http://schemas.microsoft.com/office/drawing/2014/main" val="20003"/>
                    </a:ext>
                  </a:extLst>
                </a:gridCol>
              </a:tblGrid>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步骤</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符号栈</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20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20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剩余输入串</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规则</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#P</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bictaead#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P→bTd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2</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#dTb</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bictaead#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3</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T→SF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4</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#dFS</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S→C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5</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C→ID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6</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#dFDI</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I→ZN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7</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#dFDNZ</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Z→ict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8</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dirty="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#dFDNtci</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ictaead#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9</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#dFDNtc</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ctaead#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00"/>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10</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#dFDNt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11</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N→a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12</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13</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D→eS</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14</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#dFSe</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ead#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15</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#dFS</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63"/>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S→N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5"/>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16</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#dFN</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N→a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6"/>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17</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#dFa</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7"/>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18</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#dF</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38"/>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F→</a:t>
                      </a:r>
                      <a:r>
                        <a:rPr kumimoji="0" lang="zh-CN" altLang="zh-CN" sz="1500" b="0" i="0" u="none" strike="noStrike" cap="none" normalizeH="0" baseline="0">
                          <a:ln>
                            <a:noFill/>
                          </a:ln>
                          <a:solidFill>
                            <a:schemeClr val="tx1"/>
                          </a:solidFill>
                          <a:effectLst/>
                          <a:latin typeface="Times New Roman" panose="02020603050405020304" pitchFamily="18" charset="0"/>
                          <a:ea typeface="Symbol" panose="05050102010706020507" pitchFamily="18" charset="2"/>
                          <a:cs typeface="Times New Roman" panose="02020603050405020304" pitchFamily="18" charset="0"/>
                        </a:rPr>
                        <a:t>e</a:t>
                      </a:r>
                      <a:endPar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endParaRP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8"/>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19</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d#</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匹配</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9"/>
                  </a:ext>
                </a:extLst>
              </a:tr>
              <a:tr h="228600">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20</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ts val="250"/>
                        </a:spcBef>
                        <a:spcAft>
                          <a:spcPct val="0"/>
                        </a:spcAft>
                        <a:buClrTx/>
                        <a:buSzTx/>
                        <a:buFontTx/>
                        <a:buNone/>
                        <a:tabLst/>
                      </a:pPr>
                      <a:r>
                        <a:rPr kumimoji="0" lang="zh-CN" altLang="zh-CN" sz="1500" b="0" i="0" u="none" strike="noStrike" cap="none" normalizeH="0" baseline="0">
                          <a:ln>
                            <a:noFill/>
                          </a:ln>
                          <a:solidFill>
                            <a:schemeClr val="tx1"/>
                          </a:solidFill>
                          <a:effectLst/>
                          <a:latin typeface="Times New Roman" panose="02020603050405020304" pitchFamily="18" charset="0"/>
                          <a:ea typeface="华文行楷" panose="02010800040101010101" pitchFamily="2" charset="-122"/>
                          <a:cs typeface="Times New Roman" panose="02020603050405020304" pitchFamily="18" charset="0"/>
                        </a:rPr>
                        <a:t>#</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66675">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66675" marR="0" lvl="0" indent="0" algn="l" defTabSz="914400" rtl="0" eaLnBrk="1" fontAlgn="base" latinLnBrk="0" hangingPunct="1">
                        <a:lnSpc>
                          <a:spcPct val="100000"/>
                        </a:lnSpc>
                        <a:spcBef>
                          <a:spcPts val="188"/>
                        </a:spcBef>
                        <a:spcAft>
                          <a:spcPct val="0"/>
                        </a:spcAft>
                        <a:buClrTx/>
                        <a:buSzTx/>
                        <a:buFontTx/>
                        <a:buNone/>
                        <a:tabLst/>
                      </a:pPr>
                      <a:r>
                        <a:rPr kumimoji="0" 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接受</a:t>
                      </a:r>
                    </a:p>
                  </a:txBody>
                  <a:tcPr marL="0" marR="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0"/>
                  </a:ext>
                </a:extLst>
              </a:tr>
            </a:tbl>
          </a:graphicData>
        </a:graphic>
      </p:graphicFrame>
      <p:sp>
        <p:nvSpPr>
          <p:cNvPr id="5" name="矩形 4"/>
          <p:cNvSpPr/>
          <p:nvPr/>
        </p:nvSpPr>
        <p:spPr>
          <a:xfrm>
            <a:off x="6415088" y="900113"/>
            <a:ext cx="2728912" cy="830262"/>
          </a:xfrm>
          <a:prstGeom prst="rect">
            <a:avLst/>
          </a:prstGeom>
        </p:spPr>
        <p:txBody>
          <a:bodyPr>
            <a:spAutoFit/>
          </a:bodyPr>
          <a:lstStyle/>
          <a:p>
            <a:pPr>
              <a:defRPr/>
            </a:pPr>
            <a:r>
              <a:rPr lang="zh-CN" altLang="zh-CN" spc="-65" dirty="0">
                <a:ea typeface="宋体" panose="02010600030101010101" pitchFamily="2" charset="-122"/>
                <a:cs typeface="宋体" panose="02010600030101010101" pitchFamily="2" charset="-122"/>
              </a:rPr>
              <a:t>对输入串 </a:t>
            </a:r>
            <a:r>
              <a:rPr lang="zh-CN" altLang="zh-CN" dirty="0">
                <a:ea typeface="Times New Roman" panose="02020603050405020304" pitchFamily="18" charset="0"/>
                <a:cs typeface="宋体" panose="02010600030101010101" pitchFamily="2" charset="-122"/>
              </a:rPr>
              <a:t>bictaead </a:t>
            </a:r>
            <a:r>
              <a:rPr lang="zh-CN" altLang="zh-CN" spc="-15" dirty="0">
                <a:ea typeface="宋体" panose="02010600030101010101" pitchFamily="2" charset="-122"/>
                <a:cs typeface="宋体" panose="02010600030101010101" pitchFamily="2" charset="-122"/>
              </a:rPr>
              <a:t>进行分析的步骤</a:t>
            </a:r>
            <a:endParaRPr lang="zh-CN" altLang="en-US" dirty="0"/>
          </a:p>
        </p:txBody>
      </p:sp>
    </p:spTree>
    <p:extLst>
      <p:ext uri="{BB962C8B-B14F-4D97-AF65-F5344CB8AC3E}">
        <p14:creationId xmlns:p14="http://schemas.microsoft.com/office/powerpoint/2010/main" val="31655577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p:cNvSpPr>
            <a:spLocks noGrp="1" noChangeArrowheads="1"/>
          </p:cNvSpPr>
          <p:nvPr>
            <p:ph type="title"/>
          </p:nvPr>
        </p:nvSpPr>
        <p:spPr>
          <a:xfrm>
            <a:off x="669925" y="207963"/>
            <a:ext cx="7772400" cy="693737"/>
          </a:xfrm>
        </p:spPr>
        <p:txBody>
          <a:bodyPr>
            <a:normAutofit fontScale="90000"/>
          </a:bodyPr>
          <a:lstStyle/>
          <a:p>
            <a:pPr eaLnBrk="1" hangingPunct="1"/>
            <a:r>
              <a:rPr lang="zh-CN" altLang="en-US" sz="4800" dirty="0">
                <a:solidFill>
                  <a:schemeClr val="tx1"/>
                </a:solidFill>
                <a:ea typeface="隶书" pitchFamily="49" charset="-122"/>
              </a:rPr>
              <a:t>综合练习</a:t>
            </a:r>
          </a:p>
        </p:txBody>
      </p:sp>
      <p:sp>
        <p:nvSpPr>
          <p:cNvPr id="112643" name="Rectangle 3"/>
          <p:cNvSpPr>
            <a:spLocks noGrp="1" noChangeArrowheads="1"/>
          </p:cNvSpPr>
          <p:nvPr>
            <p:ph type="body" idx="1"/>
          </p:nvPr>
        </p:nvSpPr>
        <p:spPr>
          <a:xfrm>
            <a:off x="811213" y="1179513"/>
            <a:ext cx="7700962" cy="2500312"/>
          </a:xfrm>
        </p:spPr>
        <p:txBody>
          <a:bodyPr>
            <a:normAutofit/>
          </a:bodyPr>
          <a:lstStyle/>
          <a:p>
            <a:pPr marL="0" indent="0" algn="just" eaLnBrk="1" hangingPunct="1">
              <a:lnSpc>
                <a:spcPct val="90000"/>
              </a:lnSpc>
              <a:buFontTx/>
              <a:buNone/>
            </a:pPr>
            <a:r>
              <a:rPr lang="zh-CN" altLang="en-US" sz="2200" dirty="0"/>
              <a:t>设文法</a:t>
            </a:r>
            <a:r>
              <a:rPr lang="en-US" altLang="zh-CN" sz="2200" dirty="0"/>
              <a:t>G(S)</a:t>
            </a:r>
            <a:r>
              <a:rPr lang="zh-CN" altLang="en-US" sz="2200" dirty="0"/>
              <a:t>： 　</a:t>
            </a:r>
          </a:p>
          <a:p>
            <a:pPr marL="1162050" lvl="2" algn="just" eaLnBrk="1" hangingPunct="1">
              <a:lnSpc>
                <a:spcPct val="90000"/>
              </a:lnSpc>
              <a:buFontTx/>
              <a:buNone/>
            </a:pPr>
            <a:r>
              <a:rPr lang="en-US" altLang="zh-CN" sz="2200" dirty="0"/>
              <a:t>S→(L) | </a:t>
            </a:r>
            <a:r>
              <a:rPr lang="en-US" altLang="zh-CN" sz="2200" dirty="0" err="1"/>
              <a:t>aS</a:t>
            </a:r>
            <a:r>
              <a:rPr lang="en-US" altLang="zh-CN" sz="2200" dirty="0"/>
              <a:t> | a</a:t>
            </a:r>
          </a:p>
          <a:p>
            <a:pPr marL="1162050" lvl="2" algn="just" eaLnBrk="1" hangingPunct="1">
              <a:lnSpc>
                <a:spcPct val="90000"/>
              </a:lnSpc>
              <a:buFontTx/>
              <a:buNone/>
            </a:pPr>
            <a:r>
              <a:rPr lang="en-US" altLang="zh-CN" sz="2200" dirty="0"/>
              <a:t>L→L</a:t>
            </a:r>
            <a:r>
              <a:rPr lang="zh-CN" altLang="en-US" sz="2200" dirty="0"/>
              <a:t>，</a:t>
            </a:r>
            <a:r>
              <a:rPr lang="en-US" altLang="zh-CN" sz="2200" dirty="0"/>
              <a:t>S | S</a:t>
            </a:r>
          </a:p>
          <a:p>
            <a:pPr marL="0" indent="0" algn="just" eaLnBrk="1" hangingPunct="1">
              <a:lnSpc>
                <a:spcPct val="90000"/>
              </a:lnSpc>
              <a:buFontTx/>
              <a:buNone/>
            </a:pPr>
            <a:r>
              <a:rPr lang="en-US" altLang="zh-CN" sz="2200" dirty="0"/>
              <a:t>(1) </a:t>
            </a:r>
            <a:r>
              <a:rPr lang="zh-CN" altLang="en-US" sz="2200" dirty="0"/>
              <a:t>消除左递归和回溯；</a:t>
            </a:r>
          </a:p>
          <a:p>
            <a:pPr marL="0" indent="0" algn="just" eaLnBrk="1" hangingPunct="1">
              <a:lnSpc>
                <a:spcPct val="90000"/>
              </a:lnSpc>
              <a:buFontTx/>
              <a:buNone/>
            </a:pPr>
            <a:r>
              <a:rPr lang="en-US" altLang="zh-CN" sz="2200" dirty="0"/>
              <a:t>(2)</a:t>
            </a:r>
            <a:r>
              <a:rPr lang="zh-CN" altLang="en-US" sz="2200" dirty="0"/>
              <a:t>计算每个非终结符的</a:t>
            </a:r>
            <a:r>
              <a:rPr lang="en-US" altLang="zh-CN" sz="2200" dirty="0"/>
              <a:t>First</a:t>
            </a:r>
            <a:r>
              <a:rPr lang="zh-CN" altLang="en-US" sz="2200" dirty="0"/>
              <a:t>和</a:t>
            </a:r>
            <a:r>
              <a:rPr lang="en-US" altLang="zh-CN" sz="2200" dirty="0"/>
              <a:t>Follow</a:t>
            </a:r>
            <a:r>
              <a:rPr lang="zh-CN" altLang="en-US" sz="2200" dirty="0"/>
              <a:t>集；</a:t>
            </a:r>
          </a:p>
          <a:p>
            <a:pPr marL="0" indent="0" algn="just" eaLnBrk="1" hangingPunct="1">
              <a:lnSpc>
                <a:spcPct val="90000"/>
              </a:lnSpc>
              <a:buFontTx/>
              <a:buNone/>
            </a:pPr>
            <a:r>
              <a:rPr lang="en-US" altLang="zh-CN" sz="2200" dirty="0"/>
              <a:t>(3) </a:t>
            </a:r>
            <a:r>
              <a:rPr lang="zh-CN" altLang="en-US" sz="2200" dirty="0"/>
              <a:t>构造预测分析表。</a:t>
            </a:r>
          </a:p>
        </p:txBody>
      </p:sp>
    </p:spTree>
    <p:extLst>
      <p:ext uri="{BB962C8B-B14F-4D97-AF65-F5344CB8AC3E}">
        <p14:creationId xmlns:p14="http://schemas.microsoft.com/office/powerpoint/2010/main" val="2586875175"/>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Grp="1" noChangeArrowheads="1"/>
          </p:cNvSpPr>
          <p:nvPr>
            <p:ph type="title"/>
          </p:nvPr>
        </p:nvSpPr>
        <p:spPr>
          <a:xfrm>
            <a:off x="581025" y="0"/>
            <a:ext cx="3558927" cy="654050"/>
          </a:xfrm>
        </p:spPr>
        <p:txBody>
          <a:bodyPr>
            <a:normAutofit fontScale="90000"/>
          </a:bodyPr>
          <a:lstStyle/>
          <a:p>
            <a:pPr eaLnBrk="1" hangingPunct="1"/>
            <a:r>
              <a:rPr lang="zh-CN" altLang="en-US" sz="5400">
                <a:solidFill>
                  <a:schemeClr val="tx1"/>
                </a:solidFill>
                <a:ea typeface="隶书" pitchFamily="49" charset="-122"/>
              </a:rPr>
              <a:t>预测分析表</a:t>
            </a:r>
          </a:p>
        </p:txBody>
      </p:sp>
      <p:grpSp>
        <p:nvGrpSpPr>
          <p:cNvPr id="113667" name="Group 96"/>
          <p:cNvGrpSpPr>
            <a:grpSpLocks/>
          </p:cNvGrpSpPr>
          <p:nvPr/>
        </p:nvGrpSpPr>
        <p:grpSpPr bwMode="auto">
          <a:xfrm>
            <a:off x="477838" y="2566988"/>
            <a:ext cx="8666162" cy="2305647"/>
            <a:chOff x="-3" y="-3"/>
            <a:chExt cx="3920" cy="1914"/>
          </a:xfrm>
        </p:grpSpPr>
        <p:grpSp>
          <p:nvGrpSpPr>
            <p:cNvPr id="113670" name="Group 94"/>
            <p:cNvGrpSpPr>
              <a:grpSpLocks/>
            </p:cNvGrpSpPr>
            <p:nvPr/>
          </p:nvGrpSpPr>
          <p:grpSpPr bwMode="auto">
            <a:xfrm>
              <a:off x="0" y="0"/>
              <a:ext cx="3914" cy="1908"/>
              <a:chOff x="0" y="0"/>
              <a:chExt cx="3914" cy="1908"/>
            </a:xfrm>
          </p:grpSpPr>
          <p:sp>
            <p:nvSpPr>
              <p:cNvPr id="113761" name="Rectangle 34"/>
              <p:cNvSpPr>
                <a:spLocks noChangeArrowheads="1"/>
              </p:cNvSpPr>
              <p:nvPr/>
            </p:nvSpPr>
            <p:spPr bwMode="auto">
              <a:xfrm>
                <a:off x="0" y="0"/>
                <a:ext cx="575"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73" name="Group 37"/>
              <p:cNvGrpSpPr>
                <a:grpSpLocks/>
              </p:cNvGrpSpPr>
              <p:nvPr/>
            </p:nvGrpSpPr>
            <p:grpSpPr bwMode="auto">
              <a:xfrm>
                <a:off x="575" y="0"/>
                <a:ext cx="670" cy="372"/>
                <a:chOff x="575" y="0"/>
                <a:chExt cx="670" cy="372"/>
              </a:xfrm>
            </p:grpSpPr>
            <p:sp>
              <p:nvSpPr>
                <p:cNvPr id="113758" name="Rectangle 5"/>
                <p:cNvSpPr>
                  <a:spLocks noChangeArrowheads="1"/>
                </p:cNvSpPr>
                <p:nvPr/>
              </p:nvSpPr>
              <p:spPr bwMode="auto">
                <a:xfrm>
                  <a:off x="581" y="6"/>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a</a:t>
                  </a:r>
                  <a:endParaRPr lang="en-US" altLang="zh-CN" sz="2400"/>
                </a:p>
              </p:txBody>
            </p:sp>
            <p:sp>
              <p:nvSpPr>
                <p:cNvPr id="113759" name="Rectangle 36"/>
                <p:cNvSpPr>
                  <a:spLocks noChangeArrowheads="1"/>
                </p:cNvSpPr>
                <p:nvPr/>
              </p:nvSpPr>
              <p:spPr bwMode="auto">
                <a:xfrm>
                  <a:off x="575" y="0"/>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4" name="Group 39"/>
              <p:cNvGrpSpPr>
                <a:grpSpLocks/>
              </p:cNvGrpSpPr>
              <p:nvPr/>
            </p:nvGrpSpPr>
            <p:grpSpPr bwMode="auto">
              <a:xfrm>
                <a:off x="1245" y="0"/>
                <a:ext cx="670" cy="372"/>
                <a:chOff x="1245" y="0"/>
                <a:chExt cx="670" cy="372"/>
              </a:xfrm>
            </p:grpSpPr>
            <p:sp>
              <p:nvSpPr>
                <p:cNvPr id="113756" name="Rectangle 6"/>
                <p:cNvSpPr>
                  <a:spLocks noChangeArrowheads="1"/>
                </p:cNvSpPr>
                <p:nvPr/>
              </p:nvSpPr>
              <p:spPr bwMode="auto">
                <a:xfrm>
                  <a:off x="1251" y="6"/>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a:solidFill>
                        <a:srgbClr val="0000FF"/>
                      </a:solidFill>
                      <a:latin typeface="宋体" pitchFamily="2" charset="-122"/>
                    </a:rPr>
                    <a:t>，</a:t>
                  </a:r>
                  <a:endParaRPr lang="zh-CN" altLang="en-US" sz="2400"/>
                </a:p>
              </p:txBody>
            </p:sp>
            <p:sp>
              <p:nvSpPr>
                <p:cNvPr id="113757" name="Rectangle 38"/>
                <p:cNvSpPr>
                  <a:spLocks noChangeArrowheads="1"/>
                </p:cNvSpPr>
                <p:nvPr/>
              </p:nvSpPr>
              <p:spPr bwMode="auto">
                <a:xfrm>
                  <a:off x="1245" y="0"/>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5" name="Group 41"/>
              <p:cNvGrpSpPr>
                <a:grpSpLocks/>
              </p:cNvGrpSpPr>
              <p:nvPr/>
            </p:nvGrpSpPr>
            <p:grpSpPr bwMode="auto">
              <a:xfrm>
                <a:off x="1915" y="0"/>
                <a:ext cx="670" cy="372"/>
                <a:chOff x="1915" y="0"/>
                <a:chExt cx="670" cy="372"/>
              </a:xfrm>
            </p:grpSpPr>
            <p:sp>
              <p:nvSpPr>
                <p:cNvPr id="113754" name="Rectangle 7"/>
                <p:cNvSpPr>
                  <a:spLocks noChangeArrowheads="1"/>
                </p:cNvSpPr>
                <p:nvPr/>
              </p:nvSpPr>
              <p:spPr bwMode="auto">
                <a:xfrm>
                  <a:off x="1921" y="6"/>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a:t>
                  </a:r>
                  <a:endParaRPr lang="en-US" altLang="zh-CN" sz="2400"/>
                </a:p>
              </p:txBody>
            </p:sp>
            <p:sp>
              <p:nvSpPr>
                <p:cNvPr id="113755" name="Rectangle 40"/>
                <p:cNvSpPr>
                  <a:spLocks noChangeArrowheads="1"/>
                </p:cNvSpPr>
                <p:nvPr/>
              </p:nvSpPr>
              <p:spPr bwMode="auto">
                <a:xfrm>
                  <a:off x="1915" y="0"/>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6" name="Group 43"/>
              <p:cNvGrpSpPr>
                <a:grpSpLocks/>
              </p:cNvGrpSpPr>
              <p:nvPr/>
            </p:nvGrpSpPr>
            <p:grpSpPr bwMode="auto">
              <a:xfrm>
                <a:off x="2585" y="0"/>
                <a:ext cx="670" cy="372"/>
                <a:chOff x="2585" y="0"/>
                <a:chExt cx="670" cy="372"/>
              </a:xfrm>
            </p:grpSpPr>
            <p:sp>
              <p:nvSpPr>
                <p:cNvPr id="113752" name="Rectangle 8"/>
                <p:cNvSpPr>
                  <a:spLocks noChangeArrowheads="1"/>
                </p:cNvSpPr>
                <p:nvPr/>
              </p:nvSpPr>
              <p:spPr bwMode="auto">
                <a:xfrm>
                  <a:off x="2591" y="6"/>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a:t>
                  </a:r>
                  <a:endParaRPr lang="en-US" altLang="zh-CN" sz="2400"/>
                </a:p>
              </p:txBody>
            </p:sp>
            <p:sp>
              <p:nvSpPr>
                <p:cNvPr id="113753" name="Rectangle 42"/>
                <p:cNvSpPr>
                  <a:spLocks noChangeArrowheads="1"/>
                </p:cNvSpPr>
                <p:nvPr/>
              </p:nvSpPr>
              <p:spPr bwMode="auto">
                <a:xfrm>
                  <a:off x="2585" y="0"/>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7" name="Group 45"/>
              <p:cNvGrpSpPr>
                <a:grpSpLocks/>
              </p:cNvGrpSpPr>
              <p:nvPr/>
            </p:nvGrpSpPr>
            <p:grpSpPr bwMode="auto">
              <a:xfrm>
                <a:off x="3255" y="0"/>
                <a:ext cx="659" cy="372"/>
                <a:chOff x="3255" y="0"/>
                <a:chExt cx="659" cy="372"/>
              </a:xfrm>
            </p:grpSpPr>
            <p:sp>
              <p:nvSpPr>
                <p:cNvPr id="113750" name="Rectangle 9"/>
                <p:cNvSpPr>
                  <a:spLocks noChangeArrowheads="1"/>
                </p:cNvSpPr>
                <p:nvPr/>
              </p:nvSpPr>
              <p:spPr bwMode="auto">
                <a:xfrm>
                  <a:off x="3261" y="6"/>
                  <a:ext cx="647"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a:solidFill>
                        <a:srgbClr val="0000FF"/>
                      </a:solidFill>
                      <a:latin typeface="宋体" pitchFamily="2" charset="-122"/>
                    </a:rPr>
                    <a:t>＃</a:t>
                  </a:r>
                  <a:endParaRPr lang="zh-CN" altLang="en-US" sz="2400"/>
                </a:p>
              </p:txBody>
            </p:sp>
            <p:sp>
              <p:nvSpPr>
                <p:cNvPr id="113751" name="Rectangle 44"/>
                <p:cNvSpPr>
                  <a:spLocks noChangeArrowheads="1"/>
                </p:cNvSpPr>
                <p:nvPr/>
              </p:nvSpPr>
              <p:spPr bwMode="auto">
                <a:xfrm>
                  <a:off x="3255" y="0"/>
                  <a:ext cx="659"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8" name="Group 47"/>
              <p:cNvGrpSpPr>
                <a:grpSpLocks/>
              </p:cNvGrpSpPr>
              <p:nvPr/>
            </p:nvGrpSpPr>
            <p:grpSpPr bwMode="auto">
              <a:xfrm>
                <a:off x="0" y="384"/>
                <a:ext cx="575" cy="372"/>
                <a:chOff x="0" y="384"/>
                <a:chExt cx="575" cy="372"/>
              </a:xfrm>
            </p:grpSpPr>
            <p:sp>
              <p:nvSpPr>
                <p:cNvPr id="113748" name="Rectangle 10"/>
                <p:cNvSpPr>
                  <a:spLocks noChangeArrowheads="1"/>
                </p:cNvSpPr>
                <p:nvPr/>
              </p:nvSpPr>
              <p:spPr bwMode="auto">
                <a:xfrm>
                  <a:off x="6" y="390"/>
                  <a:ext cx="563"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S</a:t>
                  </a:r>
                  <a:endParaRPr lang="en-US" altLang="zh-CN" sz="2400"/>
                </a:p>
              </p:txBody>
            </p:sp>
            <p:sp>
              <p:nvSpPr>
                <p:cNvPr id="113749" name="Rectangle 46"/>
                <p:cNvSpPr>
                  <a:spLocks noChangeArrowheads="1"/>
                </p:cNvSpPr>
                <p:nvPr/>
              </p:nvSpPr>
              <p:spPr bwMode="auto">
                <a:xfrm>
                  <a:off x="0" y="384"/>
                  <a:ext cx="575"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79" name="Group 49"/>
              <p:cNvGrpSpPr>
                <a:grpSpLocks/>
              </p:cNvGrpSpPr>
              <p:nvPr/>
            </p:nvGrpSpPr>
            <p:grpSpPr bwMode="auto">
              <a:xfrm>
                <a:off x="575" y="384"/>
                <a:ext cx="670" cy="372"/>
                <a:chOff x="575" y="384"/>
                <a:chExt cx="670" cy="372"/>
              </a:xfrm>
            </p:grpSpPr>
            <p:sp>
              <p:nvSpPr>
                <p:cNvPr id="113746" name="Rectangle 11"/>
                <p:cNvSpPr>
                  <a:spLocks noChangeArrowheads="1"/>
                </p:cNvSpPr>
                <p:nvPr/>
              </p:nvSpPr>
              <p:spPr bwMode="auto">
                <a:xfrm>
                  <a:off x="581" y="390"/>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solidFill>
                        <a:srgbClr val="0000FF"/>
                      </a:solidFill>
                      <a:latin typeface="宋体" pitchFamily="2" charset="-122"/>
                    </a:rPr>
                    <a:t>S→aS</a:t>
                  </a:r>
                  <a:r>
                    <a:rPr lang="en-US" altLang="zh-CN" sz="2400" dirty="0">
                      <a:solidFill>
                        <a:schemeClr val="accent2"/>
                      </a:solidFill>
                    </a:rPr>
                    <a:t>'</a:t>
                  </a:r>
                </a:p>
              </p:txBody>
            </p:sp>
            <p:sp>
              <p:nvSpPr>
                <p:cNvPr id="113747" name="Rectangle 48"/>
                <p:cNvSpPr>
                  <a:spLocks noChangeArrowheads="1"/>
                </p:cNvSpPr>
                <p:nvPr/>
              </p:nvSpPr>
              <p:spPr bwMode="auto">
                <a:xfrm>
                  <a:off x="575" y="384"/>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45" name="Rectangle 50"/>
              <p:cNvSpPr>
                <a:spLocks noChangeArrowheads="1"/>
              </p:cNvSpPr>
              <p:nvPr/>
            </p:nvSpPr>
            <p:spPr bwMode="auto">
              <a:xfrm>
                <a:off x="1245" y="384"/>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81" name="Group 53"/>
              <p:cNvGrpSpPr>
                <a:grpSpLocks/>
              </p:cNvGrpSpPr>
              <p:nvPr/>
            </p:nvGrpSpPr>
            <p:grpSpPr bwMode="auto">
              <a:xfrm>
                <a:off x="1915" y="384"/>
                <a:ext cx="670" cy="372"/>
                <a:chOff x="1915" y="384"/>
                <a:chExt cx="670" cy="372"/>
              </a:xfrm>
            </p:grpSpPr>
            <p:sp>
              <p:nvSpPr>
                <p:cNvPr id="113742" name="Rectangle 13"/>
                <p:cNvSpPr>
                  <a:spLocks noChangeArrowheads="1"/>
                </p:cNvSpPr>
                <p:nvPr/>
              </p:nvSpPr>
              <p:spPr bwMode="auto">
                <a:xfrm>
                  <a:off x="1921" y="390"/>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S→(L)</a:t>
                  </a:r>
                  <a:endParaRPr lang="en-US" altLang="zh-CN" sz="2400"/>
                </a:p>
              </p:txBody>
            </p:sp>
            <p:sp>
              <p:nvSpPr>
                <p:cNvPr id="113743" name="Rectangle 52"/>
                <p:cNvSpPr>
                  <a:spLocks noChangeArrowheads="1"/>
                </p:cNvSpPr>
                <p:nvPr/>
              </p:nvSpPr>
              <p:spPr bwMode="auto">
                <a:xfrm>
                  <a:off x="1915" y="384"/>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41" name="Rectangle 54"/>
              <p:cNvSpPr>
                <a:spLocks noChangeArrowheads="1"/>
              </p:cNvSpPr>
              <p:nvPr/>
            </p:nvSpPr>
            <p:spPr bwMode="auto">
              <a:xfrm>
                <a:off x="2585" y="384"/>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sp>
            <p:nvSpPr>
              <p:cNvPr id="113739" name="Rectangle 56"/>
              <p:cNvSpPr>
                <a:spLocks noChangeArrowheads="1"/>
              </p:cNvSpPr>
              <p:nvPr/>
            </p:nvSpPr>
            <p:spPr bwMode="auto">
              <a:xfrm>
                <a:off x="3255" y="384"/>
                <a:ext cx="659"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84" name="Group 59"/>
              <p:cNvGrpSpPr>
                <a:grpSpLocks/>
              </p:cNvGrpSpPr>
              <p:nvPr/>
            </p:nvGrpSpPr>
            <p:grpSpPr bwMode="auto">
              <a:xfrm>
                <a:off x="0" y="768"/>
                <a:ext cx="575" cy="372"/>
                <a:chOff x="0" y="768"/>
                <a:chExt cx="575" cy="372"/>
              </a:xfrm>
            </p:grpSpPr>
            <p:sp>
              <p:nvSpPr>
                <p:cNvPr id="113736" name="Rectangle 16"/>
                <p:cNvSpPr>
                  <a:spLocks noChangeArrowheads="1"/>
                </p:cNvSpPr>
                <p:nvPr/>
              </p:nvSpPr>
              <p:spPr bwMode="auto">
                <a:xfrm>
                  <a:off x="6" y="774"/>
                  <a:ext cx="563"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S</a:t>
                  </a:r>
                  <a:r>
                    <a:rPr lang="en-US" altLang="zh-CN" sz="2400">
                      <a:solidFill>
                        <a:schemeClr val="accent2"/>
                      </a:solidFill>
                    </a:rPr>
                    <a:t>'</a:t>
                  </a:r>
                  <a:endParaRPr lang="en-US" altLang="zh-CN" sz="2400">
                    <a:solidFill>
                      <a:srgbClr val="0000FF"/>
                    </a:solidFill>
                    <a:latin typeface="宋体" pitchFamily="2" charset="-122"/>
                  </a:endParaRPr>
                </a:p>
              </p:txBody>
            </p:sp>
            <p:sp>
              <p:nvSpPr>
                <p:cNvPr id="113737" name="Rectangle 58"/>
                <p:cNvSpPr>
                  <a:spLocks noChangeArrowheads="1"/>
                </p:cNvSpPr>
                <p:nvPr/>
              </p:nvSpPr>
              <p:spPr bwMode="auto">
                <a:xfrm>
                  <a:off x="0" y="768"/>
                  <a:ext cx="575"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85" name="Group 61"/>
              <p:cNvGrpSpPr>
                <a:grpSpLocks/>
              </p:cNvGrpSpPr>
              <p:nvPr/>
            </p:nvGrpSpPr>
            <p:grpSpPr bwMode="auto">
              <a:xfrm>
                <a:off x="575" y="768"/>
                <a:ext cx="670" cy="372"/>
                <a:chOff x="575" y="768"/>
                <a:chExt cx="670" cy="372"/>
              </a:xfrm>
            </p:grpSpPr>
            <p:sp>
              <p:nvSpPr>
                <p:cNvPr id="113734" name="Rectangle 17"/>
                <p:cNvSpPr>
                  <a:spLocks noChangeArrowheads="1"/>
                </p:cNvSpPr>
                <p:nvPr/>
              </p:nvSpPr>
              <p:spPr bwMode="auto">
                <a:xfrm>
                  <a:off x="581" y="774"/>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S</a:t>
                  </a:r>
                  <a:r>
                    <a:rPr lang="en-US" altLang="zh-CN" sz="2400">
                      <a:solidFill>
                        <a:schemeClr val="accent2"/>
                      </a:solidFill>
                    </a:rPr>
                    <a:t>'</a:t>
                  </a:r>
                  <a:r>
                    <a:rPr lang="en-US" altLang="zh-CN" sz="2400">
                      <a:solidFill>
                        <a:srgbClr val="0000FF"/>
                      </a:solidFill>
                      <a:latin typeface="宋体" pitchFamily="2" charset="-122"/>
                    </a:rPr>
                    <a:t>→S</a:t>
                  </a:r>
                </a:p>
              </p:txBody>
            </p:sp>
            <p:sp>
              <p:nvSpPr>
                <p:cNvPr id="113735" name="Rectangle 60"/>
                <p:cNvSpPr>
                  <a:spLocks noChangeArrowheads="1"/>
                </p:cNvSpPr>
                <p:nvPr/>
              </p:nvSpPr>
              <p:spPr bwMode="auto">
                <a:xfrm>
                  <a:off x="575" y="768"/>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86" name="Group 63"/>
              <p:cNvGrpSpPr>
                <a:grpSpLocks/>
              </p:cNvGrpSpPr>
              <p:nvPr/>
            </p:nvGrpSpPr>
            <p:grpSpPr bwMode="auto">
              <a:xfrm>
                <a:off x="1245" y="768"/>
                <a:ext cx="670" cy="372"/>
                <a:chOff x="1245" y="768"/>
                <a:chExt cx="670" cy="372"/>
              </a:xfrm>
            </p:grpSpPr>
            <p:sp>
              <p:nvSpPr>
                <p:cNvPr id="113732" name="Rectangle 18"/>
                <p:cNvSpPr>
                  <a:spLocks noChangeArrowheads="1"/>
                </p:cNvSpPr>
                <p:nvPr/>
              </p:nvSpPr>
              <p:spPr bwMode="auto">
                <a:xfrm>
                  <a:off x="1251" y="774"/>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solidFill>
                        <a:srgbClr val="0000FF"/>
                      </a:solidFill>
                      <a:latin typeface="宋体" pitchFamily="2" charset="-122"/>
                    </a:rPr>
                    <a:t>S</a:t>
                  </a:r>
                  <a:r>
                    <a:rPr lang="en-US" altLang="zh-CN" sz="2400" dirty="0" err="1">
                      <a:solidFill>
                        <a:schemeClr val="accent2"/>
                      </a:solidFill>
                    </a:rPr>
                    <a:t>'</a:t>
                  </a:r>
                  <a:r>
                    <a:rPr lang="en-US" altLang="zh-CN" sz="2400" dirty="0" err="1">
                      <a:solidFill>
                        <a:srgbClr val="0000FF"/>
                      </a:solidFill>
                      <a:latin typeface="宋体" pitchFamily="2" charset="-122"/>
                    </a:rPr>
                    <a:t>→ε</a:t>
                  </a:r>
                  <a:endParaRPr lang="en-US" altLang="zh-CN" sz="2400" dirty="0">
                    <a:solidFill>
                      <a:srgbClr val="0000FF"/>
                    </a:solidFill>
                    <a:latin typeface="宋体" pitchFamily="2" charset="-122"/>
                  </a:endParaRPr>
                </a:p>
              </p:txBody>
            </p:sp>
            <p:sp>
              <p:nvSpPr>
                <p:cNvPr id="113733" name="Rectangle 62"/>
                <p:cNvSpPr>
                  <a:spLocks noChangeArrowheads="1"/>
                </p:cNvSpPr>
                <p:nvPr/>
              </p:nvSpPr>
              <p:spPr bwMode="auto">
                <a:xfrm>
                  <a:off x="1245" y="768"/>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87" name="Group 65"/>
              <p:cNvGrpSpPr>
                <a:grpSpLocks/>
              </p:cNvGrpSpPr>
              <p:nvPr/>
            </p:nvGrpSpPr>
            <p:grpSpPr bwMode="auto">
              <a:xfrm>
                <a:off x="1915" y="768"/>
                <a:ext cx="670" cy="372"/>
                <a:chOff x="1915" y="768"/>
                <a:chExt cx="670" cy="372"/>
              </a:xfrm>
            </p:grpSpPr>
            <p:sp>
              <p:nvSpPr>
                <p:cNvPr id="113730" name="Rectangle 19"/>
                <p:cNvSpPr>
                  <a:spLocks noChangeArrowheads="1"/>
                </p:cNvSpPr>
                <p:nvPr/>
              </p:nvSpPr>
              <p:spPr bwMode="auto">
                <a:xfrm>
                  <a:off x="1921" y="774"/>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S</a:t>
                  </a:r>
                  <a:r>
                    <a:rPr lang="en-US" altLang="zh-CN" sz="2400">
                      <a:solidFill>
                        <a:schemeClr val="accent2"/>
                      </a:solidFill>
                    </a:rPr>
                    <a:t>'</a:t>
                  </a:r>
                  <a:r>
                    <a:rPr lang="en-US" altLang="zh-CN" sz="2400">
                      <a:solidFill>
                        <a:srgbClr val="0000FF"/>
                      </a:solidFill>
                      <a:latin typeface="宋体" pitchFamily="2" charset="-122"/>
                    </a:rPr>
                    <a:t>→S</a:t>
                  </a:r>
                </a:p>
              </p:txBody>
            </p:sp>
            <p:sp>
              <p:nvSpPr>
                <p:cNvPr id="113731" name="Rectangle 64"/>
                <p:cNvSpPr>
                  <a:spLocks noChangeArrowheads="1"/>
                </p:cNvSpPr>
                <p:nvPr/>
              </p:nvSpPr>
              <p:spPr bwMode="auto">
                <a:xfrm>
                  <a:off x="1915" y="768"/>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88" name="Group 67"/>
              <p:cNvGrpSpPr>
                <a:grpSpLocks/>
              </p:cNvGrpSpPr>
              <p:nvPr/>
            </p:nvGrpSpPr>
            <p:grpSpPr bwMode="auto">
              <a:xfrm>
                <a:off x="2585" y="768"/>
                <a:ext cx="670" cy="372"/>
                <a:chOff x="2585" y="768"/>
                <a:chExt cx="670" cy="372"/>
              </a:xfrm>
            </p:grpSpPr>
            <p:sp>
              <p:nvSpPr>
                <p:cNvPr id="113728" name="Rectangle 20"/>
                <p:cNvSpPr>
                  <a:spLocks noChangeArrowheads="1"/>
                </p:cNvSpPr>
                <p:nvPr/>
              </p:nvSpPr>
              <p:spPr bwMode="auto">
                <a:xfrm>
                  <a:off x="2591" y="774"/>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solidFill>
                        <a:srgbClr val="0000FF"/>
                      </a:solidFill>
                      <a:latin typeface="宋体" pitchFamily="2" charset="-122"/>
                    </a:rPr>
                    <a:t>S</a:t>
                  </a:r>
                  <a:r>
                    <a:rPr lang="en-US" altLang="zh-CN" sz="2400" dirty="0" err="1">
                      <a:solidFill>
                        <a:schemeClr val="accent2"/>
                      </a:solidFill>
                    </a:rPr>
                    <a:t>'</a:t>
                  </a:r>
                  <a:r>
                    <a:rPr lang="en-US" altLang="zh-CN" sz="2400" dirty="0" err="1">
                      <a:solidFill>
                        <a:srgbClr val="0000FF"/>
                      </a:solidFill>
                      <a:latin typeface="宋体" pitchFamily="2" charset="-122"/>
                    </a:rPr>
                    <a:t>→ε</a:t>
                  </a:r>
                  <a:endParaRPr lang="en-US" altLang="zh-CN" sz="2400" dirty="0">
                    <a:solidFill>
                      <a:srgbClr val="0000FF"/>
                    </a:solidFill>
                    <a:latin typeface="宋体" pitchFamily="2" charset="-122"/>
                  </a:endParaRPr>
                </a:p>
              </p:txBody>
            </p:sp>
            <p:sp>
              <p:nvSpPr>
                <p:cNvPr id="113729" name="Rectangle 66"/>
                <p:cNvSpPr>
                  <a:spLocks noChangeArrowheads="1"/>
                </p:cNvSpPr>
                <p:nvPr/>
              </p:nvSpPr>
              <p:spPr bwMode="auto">
                <a:xfrm>
                  <a:off x="2585" y="768"/>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89" name="Group 69"/>
              <p:cNvGrpSpPr>
                <a:grpSpLocks/>
              </p:cNvGrpSpPr>
              <p:nvPr/>
            </p:nvGrpSpPr>
            <p:grpSpPr bwMode="auto">
              <a:xfrm>
                <a:off x="3255" y="768"/>
                <a:ext cx="659" cy="372"/>
                <a:chOff x="3255" y="768"/>
                <a:chExt cx="659" cy="372"/>
              </a:xfrm>
            </p:grpSpPr>
            <p:sp>
              <p:nvSpPr>
                <p:cNvPr id="113726" name="Rectangle 21"/>
                <p:cNvSpPr>
                  <a:spLocks noChangeArrowheads="1"/>
                </p:cNvSpPr>
                <p:nvPr/>
              </p:nvSpPr>
              <p:spPr bwMode="auto">
                <a:xfrm>
                  <a:off x="3261" y="774"/>
                  <a:ext cx="647"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solidFill>
                        <a:srgbClr val="0000FF"/>
                      </a:solidFill>
                      <a:latin typeface="宋体" pitchFamily="2" charset="-122"/>
                    </a:rPr>
                    <a:t>S</a:t>
                  </a:r>
                  <a:r>
                    <a:rPr lang="en-US" altLang="zh-CN" sz="2400" dirty="0" err="1">
                      <a:solidFill>
                        <a:schemeClr val="accent2"/>
                      </a:solidFill>
                    </a:rPr>
                    <a:t>'</a:t>
                  </a:r>
                  <a:r>
                    <a:rPr lang="en-US" altLang="zh-CN" sz="2400" dirty="0" err="1">
                      <a:solidFill>
                        <a:srgbClr val="0000FF"/>
                      </a:solidFill>
                      <a:latin typeface="宋体" pitchFamily="2" charset="-122"/>
                    </a:rPr>
                    <a:t>→ε</a:t>
                  </a:r>
                  <a:endParaRPr lang="en-US" altLang="zh-CN" sz="2400" dirty="0">
                    <a:solidFill>
                      <a:srgbClr val="0000FF"/>
                    </a:solidFill>
                    <a:latin typeface="宋体" pitchFamily="2" charset="-122"/>
                  </a:endParaRPr>
                </a:p>
              </p:txBody>
            </p:sp>
            <p:sp>
              <p:nvSpPr>
                <p:cNvPr id="113727" name="Rectangle 68"/>
                <p:cNvSpPr>
                  <a:spLocks noChangeArrowheads="1"/>
                </p:cNvSpPr>
                <p:nvPr/>
              </p:nvSpPr>
              <p:spPr bwMode="auto">
                <a:xfrm>
                  <a:off x="3255" y="768"/>
                  <a:ext cx="659"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90" name="Group 71"/>
              <p:cNvGrpSpPr>
                <a:grpSpLocks/>
              </p:cNvGrpSpPr>
              <p:nvPr/>
            </p:nvGrpSpPr>
            <p:grpSpPr bwMode="auto">
              <a:xfrm>
                <a:off x="0" y="1152"/>
                <a:ext cx="575" cy="372"/>
                <a:chOff x="0" y="1152"/>
                <a:chExt cx="575" cy="372"/>
              </a:xfrm>
            </p:grpSpPr>
            <p:sp>
              <p:nvSpPr>
                <p:cNvPr id="113724" name="Rectangle 22"/>
                <p:cNvSpPr>
                  <a:spLocks noChangeArrowheads="1"/>
                </p:cNvSpPr>
                <p:nvPr/>
              </p:nvSpPr>
              <p:spPr bwMode="auto">
                <a:xfrm>
                  <a:off x="6" y="1158"/>
                  <a:ext cx="563"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L</a:t>
                  </a:r>
                  <a:endParaRPr lang="en-US" altLang="zh-CN" sz="2400"/>
                </a:p>
              </p:txBody>
            </p:sp>
            <p:sp>
              <p:nvSpPr>
                <p:cNvPr id="113725" name="Rectangle 70"/>
                <p:cNvSpPr>
                  <a:spLocks noChangeArrowheads="1"/>
                </p:cNvSpPr>
                <p:nvPr/>
              </p:nvSpPr>
              <p:spPr bwMode="auto">
                <a:xfrm>
                  <a:off x="0" y="1152"/>
                  <a:ext cx="575"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grpSp>
            <p:nvGrpSpPr>
              <p:cNvPr id="113691" name="Group 73"/>
              <p:cNvGrpSpPr>
                <a:grpSpLocks/>
              </p:cNvGrpSpPr>
              <p:nvPr/>
            </p:nvGrpSpPr>
            <p:grpSpPr bwMode="auto">
              <a:xfrm>
                <a:off x="575" y="1152"/>
                <a:ext cx="670" cy="372"/>
                <a:chOff x="575" y="1152"/>
                <a:chExt cx="670" cy="372"/>
              </a:xfrm>
            </p:grpSpPr>
            <p:sp>
              <p:nvSpPr>
                <p:cNvPr id="113722" name="Rectangle 23"/>
                <p:cNvSpPr>
                  <a:spLocks noChangeArrowheads="1"/>
                </p:cNvSpPr>
                <p:nvPr/>
              </p:nvSpPr>
              <p:spPr bwMode="auto">
                <a:xfrm>
                  <a:off x="581" y="1158"/>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L→SL</a:t>
                  </a:r>
                  <a:r>
                    <a:rPr lang="en-US" altLang="zh-CN" sz="2400">
                      <a:solidFill>
                        <a:schemeClr val="accent2"/>
                      </a:solidFill>
                    </a:rPr>
                    <a:t>'</a:t>
                  </a:r>
                </a:p>
              </p:txBody>
            </p:sp>
            <p:sp>
              <p:nvSpPr>
                <p:cNvPr id="113723" name="Rectangle 72"/>
                <p:cNvSpPr>
                  <a:spLocks noChangeArrowheads="1"/>
                </p:cNvSpPr>
                <p:nvPr/>
              </p:nvSpPr>
              <p:spPr bwMode="auto">
                <a:xfrm>
                  <a:off x="575" y="1152"/>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21" name="Rectangle 74"/>
              <p:cNvSpPr>
                <a:spLocks noChangeArrowheads="1"/>
              </p:cNvSpPr>
              <p:nvPr/>
            </p:nvSpPr>
            <p:spPr bwMode="auto">
              <a:xfrm>
                <a:off x="1245" y="1152"/>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93" name="Group 77"/>
              <p:cNvGrpSpPr>
                <a:grpSpLocks/>
              </p:cNvGrpSpPr>
              <p:nvPr/>
            </p:nvGrpSpPr>
            <p:grpSpPr bwMode="auto">
              <a:xfrm>
                <a:off x="1915" y="1152"/>
                <a:ext cx="670" cy="372"/>
                <a:chOff x="1915" y="1152"/>
                <a:chExt cx="670" cy="372"/>
              </a:xfrm>
            </p:grpSpPr>
            <p:sp>
              <p:nvSpPr>
                <p:cNvPr id="113718" name="Rectangle 25"/>
                <p:cNvSpPr>
                  <a:spLocks noChangeArrowheads="1"/>
                </p:cNvSpPr>
                <p:nvPr/>
              </p:nvSpPr>
              <p:spPr bwMode="auto">
                <a:xfrm>
                  <a:off x="1921" y="1158"/>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L→SL</a:t>
                  </a:r>
                  <a:r>
                    <a:rPr lang="en-US" altLang="zh-CN" sz="2400">
                      <a:solidFill>
                        <a:schemeClr val="accent2"/>
                      </a:solidFill>
                    </a:rPr>
                    <a:t>'</a:t>
                  </a:r>
                  <a:endParaRPr lang="en-US" altLang="zh-CN" sz="2400">
                    <a:solidFill>
                      <a:srgbClr val="0000FF"/>
                    </a:solidFill>
                    <a:latin typeface="宋体" pitchFamily="2" charset="-122"/>
                  </a:endParaRPr>
                </a:p>
              </p:txBody>
            </p:sp>
            <p:sp>
              <p:nvSpPr>
                <p:cNvPr id="113719" name="Rectangle 76"/>
                <p:cNvSpPr>
                  <a:spLocks noChangeArrowheads="1"/>
                </p:cNvSpPr>
                <p:nvPr/>
              </p:nvSpPr>
              <p:spPr bwMode="auto">
                <a:xfrm>
                  <a:off x="1915" y="1152"/>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17" name="Rectangle 78"/>
              <p:cNvSpPr>
                <a:spLocks noChangeArrowheads="1"/>
              </p:cNvSpPr>
              <p:nvPr/>
            </p:nvSpPr>
            <p:spPr bwMode="auto">
              <a:xfrm>
                <a:off x="2585" y="1152"/>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sp>
            <p:nvSpPr>
              <p:cNvPr id="113715" name="Rectangle 80"/>
              <p:cNvSpPr>
                <a:spLocks noChangeArrowheads="1"/>
              </p:cNvSpPr>
              <p:nvPr/>
            </p:nvSpPr>
            <p:spPr bwMode="auto">
              <a:xfrm>
                <a:off x="3255" y="1152"/>
                <a:ext cx="659"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96" name="Group 83"/>
              <p:cNvGrpSpPr>
                <a:grpSpLocks/>
              </p:cNvGrpSpPr>
              <p:nvPr/>
            </p:nvGrpSpPr>
            <p:grpSpPr bwMode="auto">
              <a:xfrm>
                <a:off x="0" y="1536"/>
                <a:ext cx="575" cy="372"/>
                <a:chOff x="0" y="1536"/>
                <a:chExt cx="575" cy="372"/>
              </a:xfrm>
            </p:grpSpPr>
            <p:sp>
              <p:nvSpPr>
                <p:cNvPr id="113712" name="Rectangle 28"/>
                <p:cNvSpPr>
                  <a:spLocks noChangeArrowheads="1"/>
                </p:cNvSpPr>
                <p:nvPr/>
              </p:nvSpPr>
              <p:spPr bwMode="auto">
                <a:xfrm>
                  <a:off x="6" y="1542"/>
                  <a:ext cx="563"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L</a:t>
                  </a:r>
                  <a:r>
                    <a:rPr lang="en-US" altLang="zh-CN" sz="2400">
                      <a:solidFill>
                        <a:schemeClr val="accent2"/>
                      </a:solidFill>
                    </a:rPr>
                    <a:t>'</a:t>
                  </a:r>
                  <a:endParaRPr lang="en-US" altLang="zh-CN" sz="2400">
                    <a:solidFill>
                      <a:srgbClr val="0000FF"/>
                    </a:solidFill>
                    <a:latin typeface="宋体" pitchFamily="2" charset="-122"/>
                  </a:endParaRPr>
                </a:p>
              </p:txBody>
            </p:sp>
            <p:sp>
              <p:nvSpPr>
                <p:cNvPr id="113713" name="Rectangle 82"/>
                <p:cNvSpPr>
                  <a:spLocks noChangeArrowheads="1"/>
                </p:cNvSpPr>
                <p:nvPr/>
              </p:nvSpPr>
              <p:spPr bwMode="auto">
                <a:xfrm>
                  <a:off x="0" y="1536"/>
                  <a:ext cx="575"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11" name="Rectangle 84"/>
              <p:cNvSpPr>
                <a:spLocks noChangeArrowheads="1"/>
              </p:cNvSpPr>
              <p:nvPr/>
            </p:nvSpPr>
            <p:spPr bwMode="auto">
              <a:xfrm>
                <a:off x="575" y="1536"/>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698" name="Group 87"/>
              <p:cNvGrpSpPr>
                <a:grpSpLocks/>
              </p:cNvGrpSpPr>
              <p:nvPr/>
            </p:nvGrpSpPr>
            <p:grpSpPr bwMode="auto">
              <a:xfrm>
                <a:off x="1245" y="1536"/>
                <a:ext cx="670" cy="372"/>
                <a:chOff x="1245" y="1536"/>
                <a:chExt cx="670" cy="372"/>
              </a:xfrm>
            </p:grpSpPr>
            <p:sp>
              <p:nvSpPr>
                <p:cNvPr id="113708" name="Rectangle 30"/>
                <p:cNvSpPr>
                  <a:spLocks noChangeArrowheads="1"/>
                </p:cNvSpPr>
                <p:nvPr/>
              </p:nvSpPr>
              <p:spPr bwMode="auto">
                <a:xfrm>
                  <a:off x="1251" y="1542"/>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a:solidFill>
                        <a:srgbClr val="0000FF"/>
                      </a:solidFill>
                      <a:latin typeface="宋体" pitchFamily="2" charset="-122"/>
                    </a:rPr>
                    <a:t>L</a:t>
                  </a:r>
                  <a:r>
                    <a:rPr lang="en-US" altLang="zh-CN" sz="2400">
                      <a:solidFill>
                        <a:schemeClr val="accent2"/>
                      </a:solidFill>
                    </a:rPr>
                    <a:t>'</a:t>
                  </a:r>
                  <a:r>
                    <a:rPr lang="en-US" altLang="zh-CN" sz="2400">
                      <a:solidFill>
                        <a:srgbClr val="0000FF"/>
                      </a:solidFill>
                      <a:latin typeface="宋体" pitchFamily="2" charset="-122"/>
                    </a:rPr>
                    <a:t>→,SL</a:t>
                  </a:r>
                  <a:r>
                    <a:rPr lang="en-US" altLang="zh-CN" sz="2400">
                      <a:solidFill>
                        <a:schemeClr val="accent2"/>
                      </a:solidFill>
                    </a:rPr>
                    <a:t>'</a:t>
                  </a:r>
                </a:p>
              </p:txBody>
            </p:sp>
            <p:sp>
              <p:nvSpPr>
                <p:cNvPr id="113709" name="Rectangle 86"/>
                <p:cNvSpPr>
                  <a:spLocks noChangeArrowheads="1"/>
                </p:cNvSpPr>
                <p:nvPr/>
              </p:nvSpPr>
              <p:spPr bwMode="auto">
                <a:xfrm>
                  <a:off x="1245" y="1536"/>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07" name="Rectangle 88"/>
              <p:cNvSpPr>
                <a:spLocks noChangeArrowheads="1"/>
              </p:cNvSpPr>
              <p:nvPr/>
            </p:nvSpPr>
            <p:spPr bwMode="auto">
              <a:xfrm>
                <a:off x="1915" y="1536"/>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nvGrpSpPr>
              <p:cNvPr id="113700" name="Group 91"/>
              <p:cNvGrpSpPr>
                <a:grpSpLocks/>
              </p:cNvGrpSpPr>
              <p:nvPr/>
            </p:nvGrpSpPr>
            <p:grpSpPr bwMode="auto">
              <a:xfrm>
                <a:off x="2585" y="1536"/>
                <a:ext cx="670" cy="372"/>
                <a:chOff x="2585" y="1536"/>
                <a:chExt cx="670" cy="372"/>
              </a:xfrm>
            </p:grpSpPr>
            <p:sp>
              <p:nvSpPr>
                <p:cNvPr id="113704" name="Rectangle 32"/>
                <p:cNvSpPr>
                  <a:spLocks noChangeArrowheads="1"/>
                </p:cNvSpPr>
                <p:nvPr/>
              </p:nvSpPr>
              <p:spPr bwMode="auto">
                <a:xfrm>
                  <a:off x="2591" y="1542"/>
                  <a:ext cx="658" cy="3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solidFill>
                        <a:srgbClr val="0000FF"/>
                      </a:solidFill>
                      <a:latin typeface="宋体" pitchFamily="2" charset="-122"/>
                    </a:rPr>
                    <a:t>L</a:t>
                  </a:r>
                  <a:r>
                    <a:rPr lang="en-US" altLang="zh-CN" sz="2400" dirty="0" err="1">
                      <a:solidFill>
                        <a:schemeClr val="accent2"/>
                      </a:solidFill>
                    </a:rPr>
                    <a:t>'</a:t>
                  </a:r>
                  <a:r>
                    <a:rPr lang="en-US" altLang="zh-CN" sz="2400" dirty="0" err="1">
                      <a:solidFill>
                        <a:srgbClr val="0000FF"/>
                      </a:solidFill>
                      <a:latin typeface="宋体" pitchFamily="2" charset="-122"/>
                    </a:rPr>
                    <a:t>→ε</a:t>
                  </a:r>
                  <a:endParaRPr lang="en-US" altLang="zh-CN" sz="2400" dirty="0">
                    <a:solidFill>
                      <a:srgbClr val="0000FF"/>
                    </a:solidFill>
                    <a:latin typeface="宋体" pitchFamily="2" charset="-122"/>
                  </a:endParaRPr>
                </a:p>
              </p:txBody>
            </p:sp>
            <p:sp>
              <p:nvSpPr>
                <p:cNvPr id="113705" name="Rectangle 90"/>
                <p:cNvSpPr>
                  <a:spLocks noChangeArrowheads="1"/>
                </p:cNvSpPr>
                <p:nvPr/>
              </p:nvSpPr>
              <p:spPr bwMode="auto">
                <a:xfrm>
                  <a:off x="2585" y="1536"/>
                  <a:ext cx="670"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703" name="Rectangle 92"/>
              <p:cNvSpPr>
                <a:spLocks noChangeArrowheads="1"/>
              </p:cNvSpPr>
              <p:nvPr/>
            </p:nvSpPr>
            <p:spPr bwMode="auto">
              <a:xfrm>
                <a:off x="3255" y="1536"/>
                <a:ext cx="659" cy="372"/>
              </a:xfrm>
              <a:prstGeom prst="rect">
                <a:avLst/>
              </a:prstGeom>
              <a:noFill/>
              <a:ln w="7">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671" name="Rectangle 95"/>
            <p:cNvSpPr>
              <a:spLocks noChangeArrowheads="1"/>
            </p:cNvSpPr>
            <p:nvPr/>
          </p:nvSpPr>
          <p:spPr bwMode="auto">
            <a:xfrm>
              <a:off x="-3" y="-3"/>
              <a:ext cx="3920" cy="191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13668" name="Rectangle 97"/>
          <p:cNvSpPr>
            <a:spLocks noChangeArrowheads="1"/>
          </p:cNvSpPr>
          <p:nvPr/>
        </p:nvSpPr>
        <p:spPr bwMode="auto">
          <a:xfrm>
            <a:off x="2699792" y="968375"/>
            <a:ext cx="6387058" cy="1569660"/>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0"/>
              </a:spcBef>
              <a:buFontTx/>
              <a:buNone/>
            </a:pPr>
            <a:r>
              <a:rPr lang="en-US" altLang="zh-CN" sz="2400" dirty="0">
                <a:solidFill>
                  <a:srgbClr val="0000FF"/>
                </a:solidFill>
              </a:rPr>
              <a:t>First(S)</a:t>
            </a:r>
            <a:r>
              <a:rPr lang="zh-CN" altLang="en-US" sz="2400" dirty="0">
                <a:solidFill>
                  <a:srgbClr val="0000FF"/>
                </a:solidFill>
              </a:rPr>
              <a:t>＝</a:t>
            </a:r>
            <a:r>
              <a:rPr lang="en-US" altLang="zh-CN" sz="2400" dirty="0">
                <a:solidFill>
                  <a:srgbClr val="0000FF"/>
                </a:solidFill>
              </a:rPr>
              <a:t>{ (</a:t>
            </a:r>
            <a:r>
              <a:rPr lang="en-US" altLang="zh-CN" sz="2400" dirty="0">
                <a:solidFill>
                  <a:srgbClr val="FF3300"/>
                </a:solidFill>
              </a:rPr>
              <a:t>, </a:t>
            </a:r>
            <a:r>
              <a:rPr lang="en-US" altLang="zh-CN" sz="2400" dirty="0">
                <a:solidFill>
                  <a:srgbClr val="0000FF"/>
                </a:solidFill>
              </a:rPr>
              <a:t>a}          Follow(S)</a:t>
            </a:r>
            <a:r>
              <a:rPr lang="zh-CN" altLang="en-US" sz="2400" dirty="0">
                <a:solidFill>
                  <a:srgbClr val="0000FF"/>
                </a:solidFill>
              </a:rPr>
              <a:t>＝</a:t>
            </a:r>
            <a:r>
              <a:rPr lang="en-US" altLang="zh-CN" sz="2400" dirty="0">
                <a:solidFill>
                  <a:srgbClr val="0000FF"/>
                </a:solidFill>
              </a:rPr>
              <a:t>{# </a:t>
            </a:r>
            <a:r>
              <a:rPr lang="en-US" altLang="zh-CN" sz="2400" dirty="0">
                <a:solidFill>
                  <a:srgbClr val="FF3300"/>
                </a:solidFill>
              </a:rPr>
              <a:t>, </a:t>
            </a:r>
            <a:r>
              <a:rPr lang="zh-CN" altLang="en-US" sz="2400" dirty="0">
                <a:solidFill>
                  <a:srgbClr val="0000FF"/>
                </a:solidFill>
              </a:rPr>
              <a:t>， </a:t>
            </a:r>
            <a:r>
              <a:rPr lang="en-US" altLang="zh-CN" sz="2400" dirty="0">
                <a:solidFill>
                  <a:srgbClr val="FF3300"/>
                </a:solidFill>
              </a:rPr>
              <a:t>, </a:t>
            </a:r>
            <a:r>
              <a:rPr lang="en-US" altLang="zh-CN" sz="2400" dirty="0">
                <a:solidFill>
                  <a:srgbClr val="0000FF"/>
                </a:solidFill>
              </a:rPr>
              <a:t>)}</a:t>
            </a:r>
            <a:endParaRPr lang="en-US" altLang="zh-CN" sz="2400" dirty="0"/>
          </a:p>
          <a:p>
            <a:pPr algn="just">
              <a:spcBef>
                <a:spcPct val="0"/>
              </a:spcBef>
              <a:buFontTx/>
              <a:buNone/>
            </a:pPr>
            <a:r>
              <a:rPr lang="en-US" altLang="zh-CN" sz="2400" dirty="0">
                <a:solidFill>
                  <a:srgbClr val="0000FF"/>
                </a:solidFill>
              </a:rPr>
              <a:t>First(S</a:t>
            </a:r>
            <a:r>
              <a:rPr lang="en-US" altLang="zh-CN" sz="2400" dirty="0">
                <a:solidFill>
                  <a:schemeClr val="accent2"/>
                </a:solidFill>
              </a:rPr>
              <a:t>'</a:t>
            </a:r>
            <a:r>
              <a:rPr lang="en-US" altLang="zh-CN" sz="2400" dirty="0">
                <a:solidFill>
                  <a:srgbClr val="0000FF"/>
                </a:solidFill>
              </a:rPr>
              <a:t>)</a:t>
            </a:r>
            <a:r>
              <a:rPr lang="zh-CN" altLang="en-US" sz="2400" dirty="0">
                <a:solidFill>
                  <a:srgbClr val="0000FF"/>
                </a:solidFill>
              </a:rPr>
              <a:t>＝</a:t>
            </a:r>
            <a:r>
              <a:rPr lang="en-US" altLang="zh-CN" sz="2400" dirty="0">
                <a:solidFill>
                  <a:srgbClr val="0000FF"/>
                </a:solidFill>
              </a:rPr>
              <a:t>{(</a:t>
            </a:r>
            <a:r>
              <a:rPr lang="en-US" altLang="zh-CN" sz="2400" dirty="0">
                <a:solidFill>
                  <a:srgbClr val="FF3300"/>
                </a:solidFill>
              </a:rPr>
              <a:t>,</a:t>
            </a:r>
            <a:r>
              <a:rPr lang="en-US" altLang="zh-CN" sz="2400" dirty="0">
                <a:solidFill>
                  <a:srgbClr val="0000FF"/>
                </a:solidFill>
              </a:rPr>
              <a:t> a </a:t>
            </a:r>
            <a:r>
              <a:rPr lang="en-US" altLang="zh-CN" sz="2400" dirty="0">
                <a:solidFill>
                  <a:srgbClr val="FF3300"/>
                </a:solidFill>
              </a:rPr>
              <a:t>,</a:t>
            </a:r>
            <a:r>
              <a:rPr lang="en-US" altLang="zh-CN" sz="2400" dirty="0">
                <a:solidFill>
                  <a:srgbClr val="0000FF"/>
                </a:solidFill>
              </a:rPr>
              <a:t>ε}       Follow(S</a:t>
            </a:r>
            <a:r>
              <a:rPr lang="en-US" altLang="zh-CN" sz="2400" dirty="0">
                <a:solidFill>
                  <a:schemeClr val="accent2"/>
                </a:solidFill>
              </a:rPr>
              <a:t>'</a:t>
            </a:r>
            <a:r>
              <a:rPr lang="en-US" altLang="zh-CN" sz="2400" dirty="0">
                <a:solidFill>
                  <a:srgbClr val="0000FF"/>
                </a:solidFill>
              </a:rPr>
              <a:t>)</a:t>
            </a:r>
            <a:r>
              <a:rPr lang="zh-CN" altLang="en-US" sz="2400" dirty="0">
                <a:solidFill>
                  <a:srgbClr val="0000FF"/>
                </a:solidFill>
              </a:rPr>
              <a:t>＝</a:t>
            </a:r>
            <a:r>
              <a:rPr lang="en-US" altLang="zh-CN" sz="2400" dirty="0">
                <a:solidFill>
                  <a:srgbClr val="0000FF"/>
                </a:solidFill>
              </a:rPr>
              <a:t>{# </a:t>
            </a:r>
            <a:r>
              <a:rPr lang="en-US" altLang="zh-CN" sz="2400" dirty="0">
                <a:solidFill>
                  <a:srgbClr val="FF3300"/>
                </a:solidFill>
              </a:rPr>
              <a:t>, </a:t>
            </a:r>
            <a:r>
              <a:rPr lang="zh-CN" altLang="en-US" sz="2400" dirty="0">
                <a:solidFill>
                  <a:srgbClr val="0000FF"/>
                </a:solidFill>
              </a:rPr>
              <a:t>，</a:t>
            </a:r>
            <a:r>
              <a:rPr lang="en-US" altLang="zh-CN" sz="2400" dirty="0">
                <a:solidFill>
                  <a:srgbClr val="FF3300"/>
                </a:solidFill>
              </a:rPr>
              <a:t>, </a:t>
            </a:r>
            <a:r>
              <a:rPr lang="en-US" altLang="zh-CN" sz="2400" dirty="0">
                <a:solidFill>
                  <a:srgbClr val="0000FF"/>
                </a:solidFill>
              </a:rPr>
              <a:t>)}</a:t>
            </a:r>
            <a:endParaRPr lang="en-US" altLang="zh-CN" sz="2400" dirty="0"/>
          </a:p>
          <a:p>
            <a:pPr algn="just">
              <a:spcBef>
                <a:spcPct val="0"/>
              </a:spcBef>
              <a:buFontTx/>
              <a:buNone/>
            </a:pPr>
            <a:r>
              <a:rPr lang="en-US" altLang="zh-CN" sz="2400" dirty="0">
                <a:solidFill>
                  <a:srgbClr val="0000FF"/>
                </a:solidFill>
              </a:rPr>
              <a:t>First(L)</a:t>
            </a:r>
            <a:r>
              <a:rPr lang="zh-CN" altLang="en-US" sz="2400" dirty="0">
                <a:solidFill>
                  <a:srgbClr val="0000FF"/>
                </a:solidFill>
              </a:rPr>
              <a:t>＝</a:t>
            </a:r>
            <a:r>
              <a:rPr lang="en-US" altLang="zh-CN" sz="2400" dirty="0">
                <a:solidFill>
                  <a:srgbClr val="0000FF"/>
                </a:solidFill>
              </a:rPr>
              <a:t>{(</a:t>
            </a:r>
            <a:r>
              <a:rPr lang="en-US" altLang="zh-CN" sz="2400" dirty="0">
                <a:solidFill>
                  <a:srgbClr val="FF3300"/>
                </a:solidFill>
              </a:rPr>
              <a:t>, </a:t>
            </a:r>
            <a:r>
              <a:rPr lang="en-US" altLang="zh-CN" sz="2400" dirty="0">
                <a:solidFill>
                  <a:srgbClr val="0000FF"/>
                </a:solidFill>
              </a:rPr>
              <a:t>a}</a:t>
            </a:r>
            <a:r>
              <a:rPr lang="zh-CN" altLang="en-US" sz="2400" dirty="0">
                <a:solidFill>
                  <a:srgbClr val="0000FF"/>
                </a:solidFill>
              </a:rPr>
              <a:t>　　   </a:t>
            </a:r>
            <a:r>
              <a:rPr lang="en-US" altLang="zh-CN" sz="2400" dirty="0">
                <a:solidFill>
                  <a:srgbClr val="0000FF"/>
                </a:solidFill>
              </a:rPr>
              <a:t>Follow(L)</a:t>
            </a:r>
            <a:r>
              <a:rPr lang="zh-CN" altLang="en-US" sz="2400" dirty="0">
                <a:solidFill>
                  <a:srgbClr val="0000FF"/>
                </a:solidFill>
              </a:rPr>
              <a:t>＝</a:t>
            </a:r>
            <a:r>
              <a:rPr lang="en-US" altLang="zh-CN" sz="2400" dirty="0">
                <a:solidFill>
                  <a:srgbClr val="0000FF"/>
                </a:solidFill>
              </a:rPr>
              <a:t>{ )}</a:t>
            </a:r>
            <a:endParaRPr lang="en-US" altLang="zh-CN" sz="2400" dirty="0"/>
          </a:p>
          <a:p>
            <a:pPr>
              <a:spcBef>
                <a:spcPct val="0"/>
              </a:spcBef>
              <a:buFontTx/>
              <a:buNone/>
            </a:pPr>
            <a:r>
              <a:rPr lang="en-US" altLang="zh-CN" sz="2400" dirty="0">
                <a:solidFill>
                  <a:srgbClr val="0000FF"/>
                </a:solidFill>
              </a:rPr>
              <a:t>First(L</a:t>
            </a:r>
            <a:r>
              <a:rPr lang="en-US" altLang="zh-CN" sz="2400" dirty="0">
                <a:solidFill>
                  <a:schemeClr val="accent2"/>
                </a:solidFill>
              </a:rPr>
              <a:t>‘</a:t>
            </a:r>
            <a:r>
              <a:rPr lang="en-US" altLang="zh-CN" sz="2400" dirty="0">
                <a:solidFill>
                  <a:srgbClr val="0000FF"/>
                </a:solidFill>
              </a:rPr>
              <a:t>)</a:t>
            </a:r>
            <a:r>
              <a:rPr lang="zh-CN" altLang="en-US" sz="2400" dirty="0">
                <a:solidFill>
                  <a:srgbClr val="0000FF"/>
                </a:solidFill>
                <a:latin typeface="宋体" pitchFamily="2" charset="-122"/>
              </a:rPr>
              <a:t>＝</a:t>
            </a:r>
            <a:r>
              <a:rPr lang="en-US" altLang="zh-CN" sz="2400" dirty="0">
                <a:solidFill>
                  <a:srgbClr val="0000FF"/>
                </a:solidFill>
              </a:rPr>
              <a:t>{</a:t>
            </a:r>
            <a:r>
              <a:rPr lang="zh-CN" altLang="en-US" sz="2400" dirty="0">
                <a:solidFill>
                  <a:srgbClr val="0000FF"/>
                </a:solidFill>
                <a:latin typeface="宋体" pitchFamily="2" charset="-122"/>
              </a:rPr>
              <a:t>，</a:t>
            </a:r>
            <a:r>
              <a:rPr lang="en-US" altLang="zh-CN" sz="2400" dirty="0">
                <a:solidFill>
                  <a:srgbClr val="FF3300"/>
                </a:solidFill>
              </a:rPr>
              <a:t>,</a:t>
            </a:r>
            <a:r>
              <a:rPr lang="en-US" altLang="zh-CN" sz="2400" dirty="0">
                <a:solidFill>
                  <a:srgbClr val="0000FF"/>
                </a:solidFill>
              </a:rPr>
              <a:t>ε}</a:t>
            </a:r>
            <a:r>
              <a:rPr lang="zh-CN" altLang="en-US" sz="2400" dirty="0">
                <a:solidFill>
                  <a:srgbClr val="0000FF"/>
                </a:solidFill>
                <a:latin typeface="宋体" pitchFamily="2" charset="-122"/>
              </a:rPr>
              <a:t>　  </a:t>
            </a:r>
            <a:r>
              <a:rPr lang="en-US" altLang="zh-CN" sz="2400" dirty="0">
                <a:solidFill>
                  <a:srgbClr val="0000FF"/>
                </a:solidFill>
              </a:rPr>
              <a:t>Follow(L</a:t>
            </a:r>
            <a:r>
              <a:rPr lang="en-US" altLang="zh-CN" sz="2400" dirty="0">
                <a:solidFill>
                  <a:schemeClr val="accent2"/>
                </a:solidFill>
              </a:rPr>
              <a:t>'</a:t>
            </a:r>
            <a:r>
              <a:rPr lang="en-US" altLang="zh-CN" sz="2400" dirty="0">
                <a:solidFill>
                  <a:srgbClr val="0000FF"/>
                </a:solidFill>
              </a:rPr>
              <a:t>)</a:t>
            </a:r>
            <a:r>
              <a:rPr lang="zh-CN" altLang="en-US" sz="2400" dirty="0">
                <a:solidFill>
                  <a:srgbClr val="0000FF"/>
                </a:solidFill>
                <a:latin typeface="宋体" pitchFamily="2" charset="-122"/>
              </a:rPr>
              <a:t>＝</a:t>
            </a:r>
            <a:r>
              <a:rPr lang="en-US" altLang="zh-CN" sz="2400" dirty="0">
                <a:solidFill>
                  <a:srgbClr val="0000FF"/>
                </a:solidFill>
              </a:rPr>
              <a:t>{ )}</a:t>
            </a:r>
            <a:r>
              <a:rPr lang="en-US" altLang="zh-CN" sz="2400" dirty="0">
                <a:ea typeface="华文行楷" pitchFamily="2" charset="-122"/>
              </a:rPr>
              <a:t> </a:t>
            </a:r>
          </a:p>
        </p:txBody>
      </p:sp>
      <p:sp>
        <p:nvSpPr>
          <p:cNvPr id="113669" name="Rectangle 98"/>
          <p:cNvSpPr>
            <a:spLocks noChangeArrowheads="1"/>
          </p:cNvSpPr>
          <p:nvPr/>
        </p:nvSpPr>
        <p:spPr bwMode="auto">
          <a:xfrm>
            <a:off x="146050" y="966788"/>
            <a:ext cx="2195513" cy="1569660"/>
          </a:xfrm>
          <a:prstGeom prst="rect">
            <a:avLst/>
          </a:prstGeom>
          <a:solidFill>
            <a:schemeClr val="bg1"/>
          </a:solidFill>
          <a:ln w="28575">
            <a:solidFill>
              <a:srgbClr val="0066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0"/>
              </a:spcBef>
              <a:buFontTx/>
              <a:buNone/>
            </a:pPr>
            <a:r>
              <a:rPr lang="en-US" altLang="zh-CN" sz="2400" dirty="0">
                <a:solidFill>
                  <a:srgbClr val="0000FF"/>
                </a:solidFill>
              </a:rPr>
              <a:t>S→(L) | </a:t>
            </a:r>
            <a:r>
              <a:rPr lang="en-US" altLang="zh-CN" sz="2400" dirty="0" err="1">
                <a:solidFill>
                  <a:srgbClr val="0000FF"/>
                </a:solidFill>
              </a:rPr>
              <a:t>aS</a:t>
            </a:r>
            <a:r>
              <a:rPr lang="en-US" altLang="zh-CN" sz="2400" dirty="0" err="1">
                <a:solidFill>
                  <a:schemeClr val="accent2"/>
                </a:solidFill>
              </a:rPr>
              <a:t>'</a:t>
            </a:r>
            <a:endParaRPr lang="en-US" altLang="zh-CN" sz="2400" dirty="0">
              <a:solidFill>
                <a:schemeClr val="accent2"/>
              </a:solidFill>
            </a:endParaRPr>
          </a:p>
          <a:p>
            <a:pPr algn="just">
              <a:spcBef>
                <a:spcPct val="0"/>
              </a:spcBef>
              <a:buFontTx/>
              <a:buNone/>
            </a:pPr>
            <a:r>
              <a:rPr lang="en-US" altLang="zh-CN" sz="2400" dirty="0">
                <a:solidFill>
                  <a:srgbClr val="0000FF"/>
                </a:solidFill>
              </a:rPr>
              <a:t>S</a:t>
            </a:r>
            <a:r>
              <a:rPr lang="en-US" altLang="zh-CN" sz="2400" dirty="0">
                <a:solidFill>
                  <a:schemeClr val="accent2"/>
                </a:solidFill>
              </a:rPr>
              <a:t>'</a:t>
            </a:r>
            <a:r>
              <a:rPr lang="en-US" altLang="zh-CN" sz="2400" dirty="0">
                <a:solidFill>
                  <a:srgbClr val="0000FF"/>
                </a:solidFill>
              </a:rPr>
              <a:t> →S | ε</a:t>
            </a:r>
            <a:endParaRPr lang="en-US" altLang="zh-CN" sz="2400" dirty="0"/>
          </a:p>
          <a:p>
            <a:pPr algn="just">
              <a:spcBef>
                <a:spcPct val="0"/>
              </a:spcBef>
              <a:buFontTx/>
              <a:buNone/>
            </a:pPr>
            <a:r>
              <a:rPr lang="en-US" altLang="zh-CN" sz="2400" dirty="0">
                <a:solidFill>
                  <a:srgbClr val="0000FF"/>
                </a:solidFill>
              </a:rPr>
              <a:t>L→SL</a:t>
            </a:r>
            <a:r>
              <a:rPr lang="en-US" altLang="zh-CN" sz="2400" dirty="0">
                <a:solidFill>
                  <a:schemeClr val="accent2"/>
                </a:solidFill>
              </a:rPr>
              <a:t>'</a:t>
            </a:r>
            <a:endParaRPr lang="en-US" altLang="zh-CN" sz="2400" dirty="0"/>
          </a:p>
          <a:p>
            <a:pPr>
              <a:spcBef>
                <a:spcPct val="0"/>
              </a:spcBef>
              <a:buFontTx/>
              <a:buNone/>
            </a:pPr>
            <a:r>
              <a:rPr lang="en-US" altLang="zh-CN" sz="2400" dirty="0">
                <a:solidFill>
                  <a:srgbClr val="0000FF"/>
                </a:solidFill>
              </a:rPr>
              <a:t>L</a:t>
            </a:r>
            <a:r>
              <a:rPr lang="en-US" altLang="zh-CN" sz="2400" dirty="0">
                <a:solidFill>
                  <a:schemeClr val="accent2"/>
                </a:solidFill>
              </a:rPr>
              <a:t>'</a:t>
            </a:r>
            <a:r>
              <a:rPr lang="en-US" altLang="zh-CN" sz="2400" dirty="0">
                <a:solidFill>
                  <a:srgbClr val="0000FF"/>
                </a:solidFill>
              </a:rPr>
              <a:t> →,SL</a:t>
            </a:r>
            <a:r>
              <a:rPr lang="en-US" altLang="zh-CN" sz="2400" dirty="0">
                <a:solidFill>
                  <a:schemeClr val="accent2"/>
                </a:solidFill>
              </a:rPr>
              <a:t>'</a:t>
            </a:r>
            <a:r>
              <a:rPr lang="en-US" altLang="zh-CN" sz="2400" dirty="0">
                <a:solidFill>
                  <a:srgbClr val="0000FF"/>
                </a:solidFill>
              </a:rPr>
              <a:t> |ε</a:t>
            </a:r>
            <a:r>
              <a:rPr lang="en-US" altLang="zh-CN" sz="2400" dirty="0">
                <a:ea typeface="华文行楷" pitchFamily="2" charset="-122"/>
              </a:rPr>
              <a:t> </a:t>
            </a:r>
          </a:p>
        </p:txBody>
      </p:sp>
      <p:sp>
        <p:nvSpPr>
          <p:cNvPr id="3" name="文本框 2">
            <a:extLst>
              <a:ext uri="{FF2B5EF4-FFF2-40B4-BE49-F238E27FC236}">
                <a16:creationId xmlns:a16="http://schemas.microsoft.com/office/drawing/2014/main" id="{2AD9B8C6-63ED-DD59-B1CA-FB33A14F9173}"/>
              </a:ext>
            </a:extLst>
          </p:cNvPr>
          <p:cNvSpPr txBox="1"/>
          <p:nvPr/>
        </p:nvSpPr>
        <p:spPr>
          <a:xfrm>
            <a:off x="5364088" y="148818"/>
            <a:ext cx="2160240" cy="766300"/>
          </a:xfrm>
          <a:prstGeom prst="rect">
            <a:avLst/>
          </a:prstGeom>
          <a:noFill/>
        </p:spPr>
        <p:txBody>
          <a:bodyPr wrap="square">
            <a:spAutoFit/>
          </a:bodyPr>
          <a:lstStyle/>
          <a:p>
            <a:pPr marL="1162050" lvl="2" indent="-1162050" algn="just" eaLnBrk="1" hangingPunct="1">
              <a:lnSpc>
                <a:spcPct val="90000"/>
              </a:lnSpc>
              <a:buFontTx/>
              <a:buNone/>
            </a:pPr>
            <a:r>
              <a:rPr lang="en-US" altLang="zh-CN" sz="2400" dirty="0"/>
              <a:t>S→(L) | </a:t>
            </a:r>
            <a:r>
              <a:rPr lang="en-US" altLang="zh-CN" sz="2400" dirty="0" err="1"/>
              <a:t>aS</a:t>
            </a:r>
            <a:r>
              <a:rPr lang="en-US" altLang="zh-CN" sz="2400" dirty="0"/>
              <a:t> | a</a:t>
            </a:r>
          </a:p>
          <a:p>
            <a:pPr marL="1162050" lvl="2" indent="-1162050" algn="just" eaLnBrk="1" hangingPunct="1">
              <a:lnSpc>
                <a:spcPct val="90000"/>
              </a:lnSpc>
              <a:buFontTx/>
              <a:buNone/>
            </a:pPr>
            <a:r>
              <a:rPr lang="en-US" altLang="zh-CN" sz="2400" dirty="0"/>
              <a:t>L→L</a:t>
            </a:r>
            <a:r>
              <a:rPr lang="zh-CN" altLang="en-US" sz="2400" dirty="0"/>
              <a:t>，</a:t>
            </a:r>
            <a:r>
              <a:rPr lang="en-US" altLang="zh-CN" sz="2400" dirty="0"/>
              <a:t>S | S</a:t>
            </a:r>
          </a:p>
        </p:txBody>
      </p:sp>
    </p:spTree>
    <p:extLst>
      <p:ext uri="{BB962C8B-B14F-4D97-AF65-F5344CB8AC3E}">
        <p14:creationId xmlns:p14="http://schemas.microsoft.com/office/powerpoint/2010/main" val="288404087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325096" y="734440"/>
            <a:ext cx="8424936" cy="973214"/>
          </a:xfrm>
        </p:spPr>
        <p:txBody>
          <a:bodyPr>
            <a:normAutofit fontScale="92500" lnSpcReduction="10000"/>
          </a:bodyPr>
          <a:lstStyle/>
          <a:p>
            <a:r>
              <a:rPr lang="zh-CN" altLang="en-US" sz="2200" dirty="0">
                <a:latin typeface="宋体" panose="02010600030101010101" pitchFamily="2" charset="-122"/>
                <a:ea typeface="宋体" panose="02010600030101010101" pitchFamily="2" charset="-122"/>
              </a:rPr>
              <a:t>全称为</a:t>
            </a:r>
            <a:r>
              <a:rPr lang="en-US" altLang="zh-CN" sz="2200" dirty="0">
                <a:latin typeface="宋体" panose="02010600030101010101" pitchFamily="2" charset="-122"/>
                <a:ea typeface="宋体" panose="02010600030101010101" pitchFamily="2" charset="-122"/>
              </a:rPr>
              <a:t>Java Compiler Compiler</a:t>
            </a:r>
            <a:r>
              <a:rPr lang="zh-CN" altLang="en-US" sz="2200" dirty="0">
                <a:latin typeface="宋体" panose="02010600030101010101" pitchFamily="2" charset="-122"/>
                <a:ea typeface="宋体" panose="02010600030101010101" pitchFamily="2" charset="-122"/>
              </a:rPr>
              <a:t>，它是一个生成器，用于生成词法分析器（</a:t>
            </a:r>
            <a:r>
              <a:rPr lang="en-US" altLang="zh-CN" sz="2200" dirty="0">
                <a:latin typeface="宋体" panose="02010600030101010101" pitchFamily="2" charset="-122"/>
                <a:ea typeface="宋体" panose="02010600030101010101" pitchFamily="2" charset="-122"/>
              </a:rPr>
              <a:t>lexical </a:t>
            </a:r>
            <a:r>
              <a:rPr lang="en-US" altLang="zh-CN" sz="2200" dirty="0" err="1">
                <a:latin typeface="宋体" panose="02010600030101010101" pitchFamily="2" charset="-122"/>
                <a:ea typeface="宋体" panose="02010600030101010101" pitchFamily="2" charset="-122"/>
              </a:rPr>
              <a:t>analysers</a:t>
            </a:r>
            <a:r>
              <a:rPr lang="zh-CN" altLang="en-US" sz="2200" dirty="0">
                <a:latin typeface="宋体" panose="02010600030101010101" pitchFamily="2" charset="-122"/>
                <a:ea typeface="宋体" panose="02010600030101010101" pitchFamily="2" charset="-122"/>
              </a:rPr>
              <a:t>）和语法分析器（</a:t>
            </a:r>
            <a:r>
              <a:rPr lang="en-US" altLang="zh-CN" sz="2200" dirty="0">
                <a:latin typeface="宋体" panose="02010600030101010101" pitchFamily="2" charset="-122"/>
                <a:ea typeface="宋体" panose="02010600030101010101" pitchFamily="2" charset="-122"/>
              </a:rPr>
              <a:t>parsers</a:t>
            </a:r>
            <a:r>
              <a:rPr lang="zh-CN" altLang="en-US" sz="2200" dirty="0">
                <a:latin typeface="宋体" panose="02010600030101010101" pitchFamily="2" charset="-122"/>
                <a:ea typeface="宋体" panose="02010600030101010101" pitchFamily="2" charset="-122"/>
              </a:rPr>
              <a:t>）</a:t>
            </a:r>
            <a:endParaRPr lang="en-US" altLang="zh-CN" sz="2200" dirty="0">
              <a:latin typeface="宋体" panose="02010600030101010101" pitchFamily="2" charset="-122"/>
              <a:ea typeface="宋体" panose="02010600030101010101" pitchFamily="2" charset="-122"/>
            </a:endParaRPr>
          </a:p>
          <a:p>
            <a:r>
              <a:rPr lang="zh-CN" altLang="en-US" sz="2200" dirty="0">
                <a:latin typeface="宋体" panose="02010600030101010101" pitchFamily="2" charset="-122"/>
                <a:ea typeface="宋体" panose="02010600030101010101" pitchFamily="2" charset="-122"/>
              </a:rPr>
              <a:t>利用</a:t>
            </a:r>
            <a:r>
              <a:rPr lang="en-US" altLang="zh-CN" sz="2200" dirty="0">
                <a:latin typeface="宋体" panose="02010600030101010101" pitchFamily="2" charset="-122"/>
                <a:ea typeface="宋体" panose="02010600030101010101" pitchFamily="2" charset="-122"/>
              </a:rPr>
              <a:t>LL(k)</a:t>
            </a:r>
            <a:r>
              <a:rPr lang="zh-CN" altLang="en-US" sz="2200" dirty="0">
                <a:latin typeface="宋体" panose="02010600030101010101" pitchFamily="2" charset="-122"/>
                <a:ea typeface="宋体" panose="02010600030101010101" pitchFamily="2" charset="-122"/>
              </a:rPr>
              <a:t>预测分析的原理</a:t>
            </a:r>
            <a:endParaRPr lang="en-US" altLang="zh-CN" sz="2200" dirty="0">
              <a:latin typeface="宋体" panose="02010600030101010101" pitchFamily="2" charset="-122"/>
              <a:ea typeface="宋体" panose="02010600030101010101" pitchFamily="2" charset="-122"/>
            </a:endParaRPr>
          </a:p>
        </p:txBody>
      </p:sp>
      <p:sp>
        <p:nvSpPr>
          <p:cNvPr id="3" name="标题 2"/>
          <p:cNvSpPr>
            <a:spLocks noGrp="1"/>
          </p:cNvSpPr>
          <p:nvPr>
            <p:ph type="title"/>
          </p:nvPr>
        </p:nvSpPr>
        <p:spPr>
          <a:xfrm>
            <a:off x="179512" y="35019"/>
            <a:ext cx="8229600" cy="857250"/>
          </a:xfrm>
        </p:spPr>
        <p:txBody>
          <a:bodyPr>
            <a:normAutofit/>
          </a:bodyPr>
          <a:lstStyle/>
          <a:p>
            <a:r>
              <a:rPr lang="en-US" altLang="zh-CN" sz="3600" dirty="0" err="1"/>
              <a:t>JavaCC</a:t>
            </a:r>
            <a:endParaRPr lang="zh-CN" altLang="en-US" sz="3600" dirty="0"/>
          </a:p>
        </p:txBody>
      </p:sp>
      <p:sp>
        <p:nvSpPr>
          <p:cNvPr id="5" name="Rectangle 5"/>
          <p:cNvSpPr>
            <a:spLocks noChangeArrowheads="1"/>
          </p:cNvSpPr>
          <p:nvPr/>
        </p:nvSpPr>
        <p:spPr bwMode="auto">
          <a:xfrm>
            <a:off x="3726016" y="2188916"/>
            <a:ext cx="2205043" cy="494199"/>
          </a:xfrm>
          <a:prstGeom prst="rect">
            <a:avLst/>
          </a:prstGeom>
          <a:ln>
            <a:solidFill>
              <a:schemeClr val="tx1"/>
            </a:solidFill>
            <a:headEnd/>
            <a:tailEnd/>
          </a:ln>
        </p:spPr>
        <p:style>
          <a:lnRef idx="2">
            <a:schemeClr val="accent2">
              <a:shade val="50000"/>
            </a:schemeClr>
          </a:lnRef>
          <a:fillRef idx="1">
            <a:schemeClr val="accent2"/>
          </a:fillRef>
          <a:effectRef idx="0">
            <a:schemeClr val="accent2"/>
          </a:effectRef>
          <a:fontRef idx="minor">
            <a:schemeClr val="lt1"/>
          </a:fontRef>
        </p:style>
        <p:txBody>
          <a:bodyPr lIns="79200" tIns="7200" rIns="90000" bIns="10800"/>
          <a:lstStyle/>
          <a:p>
            <a:pPr algn="ctr">
              <a:defRPr/>
            </a:pPr>
            <a:r>
              <a:rPr lang="en-US" altLang="zh-CN" sz="2000" b="1" dirty="0" err="1">
                <a:solidFill>
                  <a:schemeClr val="bg1"/>
                </a:solidFill>
                <a:latin typeface="Times New Roman" pitchFamily="18" charset="0"/>
              </a:rPr>
              <a:t>JavaCC</a:t>
            </a:r>
            <a:r>
              <a:rPr lang="zh-CN" altLang="en-US" sz="2000" b="1" dirty="0">
                <a:solidFill>
                  <a:schemeClr val="bg1"/>
                </a:solidFill>
                <a:latin typeface="Times New Roman" pitchFamily="18" charset="0"/>
              </a:rPr>
              <a:t>编译器</a:t>
            </a:r>
          </a:p>
        </p:txBody>
      </p:sp>
      <p:sp>
        <p:nvSpPr>
          <p:cNvPr id="6" name="Line 6"/>
          <p:cNvSpPr>
            <a:spLocks noChangeShapeType="1"/>
          </p:cNvSpPr>
          <p:nvPr/>
        </p:nvSpPr>
        <p:spPr bwMode="auto">
          <a:xfrm flipV="1">
            <a:off x="5917824" y="2404940"/>
            <a:ext cx="939023" cy="0"/>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8" name="Rectangle 8"/>
          <p:cNvSpPr>
            <a:spLocks noChangeArrowheads="1"/>
          </p:cNvSpPr>
          <p:nvPr/>
        </p:nvSpPr>
        <p:spPr bwMode="auto">
          <a:xfrm>
            <a:off x="1115617" y="2023082"/>
            <a:ext cx="1735498" cy="692685"/>
          </a:xfrm>
          <a:prstGeom prst="rect">
            <a:avLst/>
          </a:prstGeom>
          <a:gradFill flip="none" rotWithShape="1">
            <a:gsLst>
              <a:gs pos="0">
                <a:srgbClr val="FBEAC7"/>
              </a:gs>
              <a:gs pos="17999">
                <a:srgbClr val="FEE7F2"/>
              </a:gs>
              <a:gs pos="36000">
                <a:srgbClr val="FAC77D"/>
              </a:gs>
              <a:gs pos="61000">
                <a:srgbClr val="FBA97D"/>
              </a:gs>
              <a:gs pos="82001">
                <a:srgbClr val="FBD49C"/>
              </a:gs>
              <a:gs pos="100000">
                <a:srgbClr val="FEE7F2"/>
              </a:gs>
            </a:gsLst>
            <a:lin ang="0" scaled="0"/>
            <a:tileRect/>
          </a:gradFill>
          <a:ln w="25400">
            <a:noFill/>
            <a:miter lim="800000"/>
            <a:headEnd/>
            <a:tailEnd/>
          </a:ln>
        </p:spPr>
        <p:txBody>
          <a:bodyPr lIns="79200" tIns="28800" rIns="90000" bIns="46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just">
              <a:spcBef>
                <a:spcPct val="0"/>
              </a:spcBef>
              <a:buFontTx/>
              <a:buNone/>
            </a:pPr>
            <a:r>
              <a:rPr lang="en-US" altLang="zh-CN" sz="2000" dirty="0" err="1">
                <a:solidFill>
                  <a:srgbClr val="000000"/>
                </a:solidFill>
                <a:latin typeface="Times New Roman" pitchFamily="18" charset="0"/>
              </a:rPr>
              <a:t>JavaCC</a:t>
            </a:r>
            <a:r>
              <a:rPr lang="zh-CN" altLang="en-US" sz="2000" dirty="0">
                <a:solidFill>
                  <a:srgbClr val="000000"/>
                </a:solidFill>
                <a:latin typeface="Times New Roman" pitchFamily="18" charset="0"/>
              </a:rPr>
              <a:t>源程序</a:t>
            </a:r>
            <a:endParaRPr lang="en-US" altLang="zh-CN" sz="2000" dirty="0">
              <a:solidFill>
                <a:srgbClr val="000000"/>
              </a:solidFill>
              <a:latin typeface="Times New Roman" pitchFamily="18" charset="0"/>
            </a:endParaRPr>
          </a:p>
          <a:p>
            <a:pPr algn="ctr">
              <a:spcBef>
                <a:spcPct val="0"/>
              </a:spcBef>
              <a:buFontTx/>
              <a:buNone/>
            </a:pPr>
            <a:r>
              <a:rPr lang="en-US" altLang="zh-CN" sz="2000" dirty="0" err="1">
                <a:solidFill>
                  <a:srgbClr val="000000"/>
                </a:solidFill>
                <a:latin typeface="Times New Roman" pitchFamily="18" charset="0"/>
              </a:rPr>
              <a:t>Parser.jj</a:t>
            </a:r>
            <a:endParaRPr lang="en-US" altLang="zh-CN" sz="2000" dirty="0">
              <a:solidFill>
                <a:srgbClr val="000000"/>
              </a:solidFill>
              <a:latin typeface="Times New Roman" pitchFamily="18" charset="0"/>
            </a:endParaRPr>
          </a:p>
        </p:txBody>
      </p:sp>
      <p:sp>
        <p:nvSpPr>
          <p:cNvPr id="10" name="Rectangle 10"/>
          <p:cNvSpPr>
            <a:spLocks noChangeArrowheads="1"/>
          </p:cNvSpPr>
          <p:nvPr/>
        </p:nvSpPr>
        <p:spPr bwMode="auto">
          <a:xfrm>
            <a:off x="5759219" y="3304100"/>
            <a:ext cx="2269165" cy="414885"/>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79200" tIns="7200" rIns="90000" bIns="10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ctr">
              <a:spcBef>
                <a:spcPct val="0"/>
              </a:spcBef>
              <a:buFontTx/>
              <a:buNone/>
            </a:pPr>
            <a:r>
              <a:rPr lang="en-US" altLang="zh-CN" sz="2000" b="1" dirty="0">
                <a:solidFill>
                  <a:srgbClr val="000000"/>
                </a:solidFill>
                <a:latin typeface="Times New Roman" pitchFamily="18" charset="0"/>
              </a:rPr>
              <a:t>Java</a:t>
            </a:r>
            <a:r>
              <a:rPr lang="zh-CN" altLang="en-US" sz="2000" b="1" dirty="0">
                <a:solidFill>
                  <a:srgbClr val="000000"/>
                </a:solidFill>
                <a:latin typeface="Times New Roman" pitchFamily="18" charset="0"/>
              </a:rPr>
              <a:t>编译器</a:t>
            </a:r>
            <a:r>
              <a:rPr lang="en-US" altLang="zh-CN" sz="2000" b="1" dirty="0" err="1">
                <a:solidFill>
                  <a:srgbClr val="000000"/>
                </a:solidFill>
                <a:latin typeface="Times New Roman" pitchFamily="18" charset="0"/>
              </a:rPr>
              <a:t>javac</a:t>
            </a:r>
            <a:endParaRPr lang="zh-CN" altLang="en-US" sz="2000" b="1" dirty="0">
              <a:solidFill>
                <a:srgbClr val="000000"/>
              </a:solidFill>
              <a:latin typeface="Times New Roman" pitchFamily="18" charset="0"/>
            </a:endParaRPr>
          </a:p>
        </p:txBody>
      </p:sp>
      <p:sp>
        <p:nvSpPr>
          <p:cNvPr id="11" name="Line 11"/>
          <p:cNvSpPr>
            <a:spLocks noChangeShapeType="1"/>
          </p:cNvSpPr>
          <p:nvPr/>
        </p:nvSpPr>
        <p:spPr bwMode="auto">
          <a:xfrm>
            <a:off x="3563888" y="3718984"/>
            <a:ext cx="1600182" cy="508951"/>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12" name="Line 12"/>
          <p:cNvSpPr>
            <a:spLocks noChangeShapeType="1"/>
          </p:cNvSpPr>
          <p:nvPr/>
        </p:nvSpPr>
        <p:spPr bwMode="auto">
          <a:xfrm flipH="1">
            <a:off x="7524327" y="2715767"/>
            <a:ext cx="0" cy="562771"/>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13" name="Rectangle 14"/>
          <p:cNvSpPr>
            <a:spLocks noChangeArrowheads="1"/>
          </p:cNvSpPr>
          <p:nvPr/>
        </p:nvSpPr>
        <p:spPr bwMode="auto">
          <a:xfrm>
            <a:off x="3855194" y="4227935"/>
            <a:ext cx="2372991" cy="675274"/>
          </a:xfrm>
          <a:prstGeom prst="rect">
            <a:avLst/>
          </a:prstGeom>
          <a:noFill/>
          <a:ln w="25400">
            <a:solidFill>
              <a:schemeClr val="tx1"/>
            </a:solidFill>
            <a:miter lim="800000"/>
            <a:headEnd/>
            <a:tailEnd/>
          </a:ln>
        </p:spPr>
        <p:txBody>
          <a:bodyPr lIns="79200" tIns="28800" rIns="90000" bIns="46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ctr">
              <a:spcBef>
                <a:spcPct val="0"/>
              </a:spcBef>
              <a:buFontTx/>
              <a:buNone/>
            </a:pPr>
            <a:r>
              <a:rPr lang="zh-CN" altLang="en-US" sz="1800" b="1" dirty="0">
                <a:solidFill>
                  <a:srgbClr val="000000"/>
                </a:solidFill>
                <a:latin typeface="Times New Roman" pitchFamily="18" charset="0"/>
              </a:rPr>
              <a:t>运行</a:t>
            </a:r>
            <a:r>
              <a:rPr lang="en-US" altLang="zh-CN" sz="1800" b="1" dirty="0">
                <a:solidFill>
                  <a:srgbClr val="000000"/>
                </a:solidFill>
                <a:latin typeface="Times New Roman" pitchFamily="18" charset="0"/>
              </a:rPr>
              <a:t>LL(K)</a:t>
            </a:r>
            <a:r>
              <a:rPr lang="zh-CN" altLang="en-US" sz="1800" b="1" dirty="0">
                <a:solidFill>
                  <a:srgbClr val="000000"/>
                </a:solidFill>
                <a:latin typeface="Times New Roman" pitchFamily="18" charset="0"/>
              </a:rPr>
              <a:t>语法分析</a:t>
            </a:r>
            <a:endParaRPr lang="en-US" altLang="zh-CN" sz="1800" b="1" dirty="0">
              <a:solidFill>
                <a:srgbClr val="000000"/>
              </a:solidFill>
              <a:latin typeface="Times New Roman" pitchFamily="18" charset="0"/>
            </a:endParaRPr>
          </a:p>
          <a:p>
            <a:pPr algn="ctr">
              <a:spcBef>
                <a:spcPct val="0"/>
              </a:spcBef>
              <a:buFontTx/>
              <a:buNone/>
            </a:pPr>
            <a:r>
              <a:rPr lang="zh-CN" altLang="en-US" sz="1800" b="1" dirty="0">
                <a:solidFill>
                  <a:srgbClr val="000000"/>
                </a:solidFill>
                <a:latin typeface="Times New Roman" pitchFamily="18" charset="0"/>
              </a:rPr>
              <a:t>程序</a:t>
            </a:r>
            <a:r>
              <a:rPr lang="en-US" altLang="zh-CN" sz="1800" b="1" dirty="0">
                <a:solidFill>
                  <a:srgbClr val="000000"/>
                </a:solidFill>
                <a:latin typeface="Times New Roman" pitchFamily="18" charset="0"/>
              </a:rPr>
              <a:t>(</a:t>
            </a:r>
            <a:r>
              <a:rPr lang="zh-CN" altLang="en-US" sz="1800" b="1" dirty="0">
                <a:solidFill>
                  <a:srgbClr val="000000"/>
                </a:solidFill>
                <a:latin typeface="Times New Roman" pitchFamily="18" charset="0"/>
              </a:rPr>
              <a:t>含词法分析</a:t>
            </a:r>
            <a:r>
              <a:rPr lang="en-US" altLang="zh-CN" sz="1800" b="1" dirty="0">
                <a:solidFill>
                  <a:srgbClr val="000000"/>
                </a:solidFill>
                <a:latin typeface="Times New Roman" pitchFamily="18" charset="0"/>
              </a:rPr>
              <a:t>)</a:t>
            </a:r>
          </a:p>
        </p:txBody>
      </p:sp>
      <p:sp>
        <p:nvSpPr>
          <p:cNvPr id="14" name="Line 16"/>
          <p:cNvSpPr>
            <a:spLocks noChangeShapeType="1"/>
          </p:cNvSpPr>
          <p:nvPr/>
        </p:nvSpPr>
        <p:spPr bwMode="auto">
          <a:xfrm flipV="1">
            <a:off x="2359978" y="4527968"/>
            <a:ext cx="1419934" cy="0"/>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15" name="Line 17"/>
          <p:cNvSpPr>
            <a:spLocks noChangeShapeType="1"/>
          </p:cNvSpPr>
          <p:nvPr/>
        </p:nvSpPr>
        <p:spPr bwMode="auto">
          <a:xfrm>
            <a:off x="6300192" y="4515966"/>
            <a:ext cx="1020718" cy="0"/>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16" name="Rectangle 18"/>
          <p:cNvSpPr>
            <a:spLocks noChangeArrowheads="1"/>
          </p:cNvSpPr>
          <p:nvPr/>
        </p:nvSpPr>
        <p:spPr bwMode="auto">
          <a:xfrm>
            <a:off x="1691680" y="4263153"/>
            <a:ext cx="1015419" cy="505625"/>
          </a:xfrm>
          <a:prstGeom prst="rect">
            <a:avLst/>
          </a:prstGeom>
          <a:solidFill>
            <a:srgbClr val="FFFFFF"/>
          </a:solidFill>
          <a:ln w="25400">
            <a:noFill/>
            <a:prstDash val="dash"/>
            <a:miter lim="800000"/>
            <a:headEnd/>
            <a:tailEnd/>
          </a:ln>
        </p:spPr>
        <p:txBody>
          <a:bodyPr lIns="79200" tIns="28800" rIns="90000" bIns="46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just">
              <a:spcBef>
                <a:spcPct val="0"/>
              </a:spcBef>
              <a:buFontTx/>
              <a:buNone/>
            </a:pPr>
            <a:r>
              <a:rPr lang="zh-CN" altLang="en-US" sz="2000" dirty="0">
                <a:solidFill>
                  <a:srgbClr val="000000"/>
                </a:solidFill>
                <a:latin typeface="Times New Roman" pitchFamily="18" charset="0"/>
              </a:rPr>
              <a:t>输入流</a:t>
            </a:r>
          </a:p>
        </p:txBody>
      </p:sp>
      <p:sp>
        <p:nvSpPr>
          <p:cNvPr id="18" name="椭圆 17"/>
          <p:cNvSpPr/>
          <p:nvPr/>
        </p:nvSpPr>
        <p:spPr bwMode="auto">
          <a:xfrm>
            <a:off x="3563888" y="1707654"/>
            <a:ext cx="582612" cy="541166"/>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solidFill>
                  <a:srgbClr val="FF0000"/>
                </a:solidFill>
              </a:rPr>
              <a:t>2</a:t>
            </a:r>
            <a:endParaRPr lang="zh-CN" altLang="en-US" sz="2800" b="1" dirty="0">
              <a:solidFill>
                <a:srgbClr val="FF0000"/>
              </a:solidFill>
            </a:endParaRPr>
          </a:p>
        </p:txBody>
      </p:sp>
      <p:sp>
        <p:nvSpPr>
          <p:cNvPr id="20" name="椭圆 19"/>
          <p:cNvSpPr/>
          <p:nvPr/>
        </p:nvSpPr>
        <p:spPr bwMode="auto">
          <a:xfrm>
            <a:off x="7956376" y="2912814"/>
            <a:ext cx="582612" cy="562771"/>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solidFill>
                  <a:srgbClr val="FF0000"/>
                </a:solidFill>
              </a:rPr>
              <a:t>3</a:t>
            </a:r>
            <a:endParaRPr lang="zh-CN" altLang="en-US" sz="2800" b="1" dirty="0">
              <a:solidFill>
                <a:srgbClr val="FF0000"/>
              </a:solidFill>
            </a:endParaRPr>
          </a:p>
        </p:txBody>
      </p:sp>
      <p:sp>
        <p:nvSpPr>
          <p:cNvPr id="21" name="TextBox 20"/>
          <p:cNvSpPr txBox="1"/>
          <p:nvPr/>
        </p:nvSpPr>
        <p:spPr>
          <a:xfrm>
            <a:off x="6876256" y="1936452"/>
            <a:ext cx="1872208" cy="861774"/>
          </a:xfrm>
          <a:prstGeom prst="rect">
            <a:avLst/>
          </a:prstGeom>
          <a:noFill/>
          <a:ln>
            <a:noFill/>
          </a:ln>
        </p:spPr>
        <p:txBody>
          <a:bodyPr wrap="square" rtlCol="0">
            <a:spAutoFit/>
          </a:bodyPr>
          <a:lstStyle/>
          <a:p>
            <a:r>
              <a:rPr lang="en-US" altLang="zh-CN" sz="1600" dirty="0"/>
              <a:t>LL(K)</a:t>
            </a:r>
            <a:r>
              <a:rPr lang="zh-CN" altLang="en-US" sz="1600" dirty="0"/>
              <a:t>语法分析源程序</a:t>
            </a:r>
            <a:r>
              <a:rPr lang="en-US" altLang="zh-CN" sz="1600" dirty="0"/>
              <a:t>(</a:t>
            </a:r>
            <a:r>
              <a:rPr lang="zh-CN" altLang="en-US" sz="1600" dirty="0"/>
              <a:t>含词法分析</a:t>
            </a:r>
            <a:r>
              <a:rPr lang="en-US" altLang="zh-CN" sz="1600" dirty="0"/>
              <a:t>)</a:t>
            </a:r>
          </a:p>
          <a:p>
            <a:r>
              <a:rPr lang="en-US" altLang="zh-CN" sz="1600" dirty="0"/>
              <a:t>Parser.java</a:t>
            </a:r>
            <a:endParaRPr lang="zh-CN" altLang="en-US" sz="1600" dirty="0"/>
          </a:p>
        </p:txBody>
      </p:sp>
      <p:sp>
        <p:nvSpPr>
          <p:cNvPr id="22" name="Line 16"/>
          <p:cNvSpPr>
            <a:spLocks noChangeShapeType="1"/>
          </p:cNvSpPr>
          <p:nvPr/>
        </p:nvSpPr>
        <p:spPr bwMode="auto">
          <a:xfrm flipV="1">
            <a:off x="2851115" y="2436015"/>
            <a:ext cx="874901" cy="0"/>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23" name="Rectangle 14"/>
          <p:cNvSpPr>
            <a:spLocks noChangeArrowheads="1"/>
          </p:cNvSpPr>
          <p:nvPr/>
        </p:nvSpPr>
        <p:spPr bwMode="auto">
          <a:xfrm>
            <a:off x="2627783" y="2930495"/>
            <a:ext cx="1991253" cy="968712"/>
          </a:xfrm>
          <a:prstGeom prst="rect">
            <a:avLst/>
          </a:prstGeom>
          <a:noFill/>
          <a:ln w="25400">
            <a:noFill/>
            <a:miter lim="800000"/>
            <a:headEnd/>
            <a:tailEnd/>
          </a:ln>
        </p:spPr>
        <p:txBody>
          <a:bodyPr lIns="79200" tIns="28800" rIns="90000" bIns="46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ctr">
              <a:spcBef>
                <a:spcPct val="0"/>
              </a:spcBef>
              <a:buFontTx/>
              <a:buNone/>
            </a:pPr>
            <a:r>
              <a:rPr lang="en-US" altLang="zh-CN" sz="1600" dirty="0">
                <a:solidFill>
                  <a:srgbClr val="000000"/>
                </a:solidFill>
                <a:latin typeface="+mn-lt"/>
              </a:rPr>
              <a:t>LL(K)</a:t>
            </a:r>
            <a:r>
              <a:rPr lang="zh-CN" altLang="en-US" sz="1600" dirty="0">
                <a:solidFill>
                  <a:srgbClr val="000000"/>
                </a:solidFill>
                <a:latin typeface="+mn-lt"/>
              </a:rPr>
              <a:t>语法分析</a:t>
            </a:r>
            <a:endParaRPr lang="en-US" altLang="zh-CN" sz="1600" dirty="0">
              <a:solidFill>
                <a:srgbClr val="000000"/>
              </a:solidFill>
              <a:latin typeface="+mn-lt"/>
            </a:endParaRPr>
          </a:p>
          <a:p>
            <a:pPr algn="ctr">
              <a:spcBef>
                <a:spcPct val="0"/>
              </a:spcBef>
              <a:buFontTx/>
              <a:buNone/>
            </a:pPr>
            <a:r>
              <a:rPr lang="zh-CN" altLang="en-US" sz="1600" dirty="0">
                <a:solidFill>
                  <a:srgbClr val="000000"/>
                </a:solidFill>
                <a:latin typeface="+mn-lt"/>
              </a:rPr>
              <a:t>程序</a:t>
            </a:r>
            <a:r>
              <a:rPr lang="en-US" altLang="zh-CN" sz="1600" dirty="0">
                <a:solidFill>
                  <a:srgbClr val="000000"/>
                </a:solidFill>
                <a:latin typeface="+mn-lt"/>
              </a:rPr>
              <a:t>(</a:t>
            </a:r>
            <a:r>
              <a:rPr lang="zh-CN" altLang="en-US" sz="1600" dirty="0">
                <a:solidFill>
                  <a:srgbClr val="000000"/>
                </a:solidFill>
                <a:latin typeface="+mn-lt"/>
              </a:rPr>
              <a:t>含词法分析</a:t>
            </a:r>
            <a:r>
              <a:rPr lang="en-US" altLang="zh-CN" sz="1600" dirty="0">
                <a:solidFill>
                  <a:srgbClr val="000000"/>
                </a:solidFill>
                <a:latin typeface="+mn-lt"/>
              </a:rPr>
              <a:t>)</a:t>
            </a:r>
          </a:p>
          <a:p>
            <a:pPr algn="ctr">
              <a:spcBef>
                <a:spcPct val="0"/>
              </a:spcBef>
              <a:buFontTx/>
              <a:buNone/>
            </a:pPr>
            <a:r>
              <a:rPr lang="en-US" altLang="zh-CN" sz="1600" dirty="0" err="1">
                <a:solidFill>
                  <a:srgbClr val="000000"/>
                </a:solidFill>
                <a:latin typeface="+mn-lt"/>
              </a:rPr>
              <a:t>Parser.class</a:t>
            </a:r>
            <a:endParaRPr lang="en-US" altLang="zh-CN" sz="1600" dirty="0">
              <a:solidFill>
                <a:srgbClr val="000000"/>
              </a:solidFill>
              <a:latin typeface="+mn-lt"/>
            </a:endParaRPr>
          </a:p>
        </p:txBody>
      </p:sp>
      <p:sp>
        <p:nvSpPr>
          <p:cNvPr id="24" name="Line 12"/>
          <p:cNvSpPr>
            <a:spLocks noChangeShapeType="1"/>
          </p:cNvSpPr>
          <p:nvPr/>
        </p:nvSpPr>
        <p:spPr bwMode="auto">
          <a:xfrm flipH="1" flipV="1">
            <a:off x="4499992" y="3511542"/>
            <a:ext cx="1263175" cy="19128"/>
          </a:xfrm>
          <a:prstGeom prst="line">
            <a:avLst/>
          </a:prstGeom>
          <a:noFill/>
          <a:ln w="381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1600"/>
          </a:p>
        </p:txBody>
      </p:sp>
      <p:sp>
        <p:nvSpPr>
          <p:cNvPr id="25" name="矩形 24"/>
          <p:cNvSpPr/>
          <p:nvPr/>
        </p:nvSpPr>
        <p:spPr>
          <a:xfrm>
            <a:off x="4241045" y="4825484"/>
            <a:ext cx="1638975" cy="338554"/>
          </a:xfrm>
          <a:prstGeom prst="rect">
            <a:avLst/>
          </a:prstGeom>
        </p:spPr>
        <p:txBody>
          <a:bodyPr wrap="none">
            <a:spAutoFit/>
          </a:bodyPr>
          <a:lstStyle/>
          <a:p>
            <a:pPr algn="ctr">
              <a:spcBef>
                <a:spcPct val="0"/>
              </a:spcBef>
              <a:buFontTx/>
              <a:buNone/>
            </a:pPr>
            <a:r>
              <a:rPr lang="en-US" altLang="zh-CN" sz="1600" b="1" dirty="0">
                <a:solidFill>
                  <a:srgbClr val="000000"/>
                </a:solidFill>
                <a:latin typeface="Times New Roman" pitchFamily="18" charset="0"/>
              </a:rPr>
              <a:t>java </a:t>
            </a:r>
            <a:r>
              <a:rPr lang="en-US" altLang="zh-CN" sz="1600" b="1" dirty="0" err="1">
                <a:solidFill>
                  <a:srgbClr val="000000"/>
                </a:solidFill>
                <a:latin typeface="Times New Roman" pitchFamily="18" charset="0"/>
              </a:rPr>
              <a:t>Parser.class</a:t>
            </a:r>
            <a:endParaRPr lang="en-US" altLang="zh-CN" sz="1600" b="1" dirty="0">
              <a:solidFill>
                <a:srgbClr val="000000"/>
              </a:solidFill>
              <a:latin typeface="Times New Roman" pitchFamily="18" charset="0"/>
            </a:endParaRPr>
          </a:p>
        </p:txBody>
      </p:sp>
      <p:sp>
        <p:nvSpPr>
          <p:cNvPr id="26" name="Rectangle 18"/>
          <p:cNvSpPr>
            <a:spLocks noChangeArrowheads="1"/>
          </p:cNvSpPr>
          <p:nvPr/>
        </p:nvSpPr>
        <p:spPr bwMode="auto">
          <a:xfrm>
            <a:off x="7320910" y="4155926"/>
            <a:ext cx="1462960" cy="505625"/>
          </a:xfrm>
          <a:prstGeom prst="rect">
            <a:avLst/>
          </a:prstGeom>
          <a:solidFill>
            <a:srgbClr val="FFFFFF"/>
          </a:solidFill>
          <a:ln w="25400">
            <a:noFill/>
            <a:prstDash val="dash"/>
            <a:miter lim="800000"/>
            <a:headEnd/>
            <a:tailEnd/>
          </a:ln>
        </p:spPr>
        <p:txBody>
          <a:bodyPr lIns="79200" tIns="28800" rIns="90000" bIns="46800"/>
          <a:lstStyle>
            <a:lvl1pPr>
              <a:spcBef>
                <a:spcPct val="20000"/>
              </a:spcBef>
              <a:buChar char="•"/>
              <a:defRPr sz="3200">
                <a:solidFill>
                  <a:schemeClr val="tx1"/>
                </a:solidFill>
                <a:latin typeface="Arial" charset="0"/>
                <a:ea typeface="宋体" pitchFamily="2" charset="-122"/>
              </a:defRPr>
            </a:lvl1pPr>
            <a:lvl2pPr marL="742950" indent="-285750">
              <a:spcBef>
                <a:spcPct val="20000"/>
              </a:spcBef>
              <a:buChar char="–"/>
              <a:defRPr sz="2800">
                <a:solidFill>
                  <a:schemeClr val="tx1"/>
                </a:solidFill>
                <a:latin typeface="Arial" charset="0"/>
                <a:ea typeface="宋体" pitchFamily="2" charset="-122"/>
              </a:defRPr>
            </a:lvl2pPr>
            <a:lvl3pPr marL="1143000" indent="-228600">
              <a:spcBef>
                <a:spcPct val="20000"/>
              </a:spcBef>
              <a:buChar char="•"/>
              <a:defRPr sz="2400">
                <a:solidFill>
                  <a:schemeClr val="tx1"/>
                </a:solidFill>
                <a:latin typeface="Arial" charset="0"/>
                <a:ea typeface="宋体" pitchFamily="2" charset="-122"/>
              </a:defRPr>
            </a:lvl3pPr>
            <a:lvl4pPr marL="1600200" indent="-228600">
              <a:spcBef>
                <a:spcPct val="20000"/>
              </a:spcBef>
              <a:buChar char="–"/>
              <a:defRPr sz="2000">
                <a:solidFill>
                  <a:schemeClr val="tx1"/>
                </a:solidFill>
                <a:latin typeface="Arial" charset="0"/>
                <a:ea typeface="宋体" pitchFamily="2" charset="-122"/>
              </a:defRPr>
            </a:lvl4pPr>
            <a:lvl5pPr marL="2057400" indent="-228600">
              <a:spcBef>
                <a:spcPct val="20000"/>
              </a:spcBef>
              <a:buChar char="»"/>
              <a:defRPr sz="2000">
                <a:solidFill>
                  <a:schemeClr val="tx1"/>
                </a:solidFill>
                <a:latin typeface="Arial" charset="0"/>
                <a:ea typeface="宋体" pitchFamily="2" charset="-122"/>
              </a:defRPr>
            </a:lvl5pPr>
            <a:lvl6pPr marL="2514600" indent="-228600" eaLnBrk="0" fontAlgn="base" hangingPunct="0">
              <a:spcBef>
                <a:spcPct val="20000"/>
              </a:spcBef>
              <a:spcAft>
                <a:spcPct val="0"/>
              </a:spcAft>
              <a:buChar char="»"/>
              <a:defRPr sz="2000">
                <a:solidFill>
                  <a:schemeClr val="tx1"/>
                </a:solidFill>
                <a:latin typeface="Arial" charset="0"/>
                <a:ea typeface="宋体" pitchFamily="2" charset="-122"/>
              </a:defRPr>
            </a:lvl6pPr>
            <a:lvl7pPr marL="2971800" indent="-228600" eaLnBrk="0" fontAlgn="base" hangingPunct="0">
              <a:spcBef>
                <a:spcPct val="20000"/>
              </a:spcBef>
              <a:spcAft>
                <a:spcPct val="0"/>
              </a:spcAft>
              <a:buChar char="»"/>
              <a:defRPr sz="2000">
                <a:solidFill>
                  <a:schemeClr val="tx1"/>
                </a:solidFill>
                <a:latin typeface="Arial" charset="0"/>
                <a:ea typeface="宋体" pitchFamily="2" charset="-122"/>
              </a:defRPr>
            </a:lvl7pPr>
            <a:lvl8pPr marL="3429000" indent="-228600" eaLnBrk="0" fontAlgn="base" hangingPunct="0">
              <a:spcBef>
                <a:spcPct val="20000"/>
              </a:spcBef>
              <a:spcAft>
                <a:spcPct val="0"/>
              </a:spcAft>
              <a:buChar char="»"/>
              <a:defRPr sz="2000">
                <a:solidFill>
                  <a:schemeClr val="tx1"/>
                </a:solidFill>
                <a:latin typeface="Arial" charset="0"/>
                <a:ea typeface="宋体" pitchFamily="2" charset="-122"/>
              </a:defRPr>
            </a:lvl8pPr>
            <a:lvl9pPr marL="3886200" indent="-228600" eaLnBrk="0" fontAlgn="base" hangingPunct="0">
              <a:spcBef>
                <a:spcPct val="20000"/>
              </a:spcBef>
              <a:spcAft>
                <a:spcPct val="0"/>
              </a:spcAft>
              <a:buChar char="»"/>
              <a:defRPr sz="2000">
                <a:solidFill>
                  <a:schemeClr val="tx1"/>
                </a:solidFill>
                <a:latin typeface="Arial" charset="0"/>
                <a:ea typeface="宋体" pitchFamily="2" charset="-122"/>
              </a:defRPr>
            </a:lvl9pPr>
          </a:lstStyle>
          <a:p>
            <a:pPr algn="just">
              <a:spcBef>
                <a:spcPct val="0"/>
              </a:spcBef>
              <a:buFontTx/>
              <a:buNone/>
            </a:pPr>
            <a:r>
              <a:rPr lang="zh-CN" altLang="en-US" sz="2000" dirty="0">
                <a:solidFill>
                  <a:srgbClr val="000000"/>
                </a:solidFill>
                <a:latin typeface="Times New Roman" pitchFamily="18" charset="0"/>
              </a:rPr>
              <a:t>分析结果</a:t>
            </a:r>
            <a:endParaRPr lang="en-US" altLang="zh-CN" sz="2000" dirty="0">
              <a:solidFill>
                <a:srgbClr val="000000"/>
              </a:solidFill>
              <a:latin typeface="Times New Roman" pitchFamily="18" charset="0"/>
            </a:endParaRPr>
          </a:p>
          <a:p>
            <a:pPr algn="just">
              <a:spcBef>
                <a:spcPct val="0"/>
              </a:spcBef>
              <a:buFontTx/>
              <a:buNone/>
            </a:pPr>
            <a:r>
              <a:rPr lang="zh-CN" altLang="en-US" sz="2000" dirty="0">
                <a:solidFill>
                  <a:srgbClr val="000000"/>
                </a:solidFill>
                <a:latin typeface="Times New Roman" pitchFamily="18" charset="0"/>
              </a:rPr>
              <a:t>语法树</a:t>
            </a:r>
          </a:p>
        </p:txBody>
      </p:sp>
      <p:sp>
        <p:nvSpPr>
          <p:cNvPr id="27" name="椭圆 26"/>
          <p:cNvSpPr/>
          <p:nvPr/>
        </p:nvSpPr>
        <p:spPr bwMode="auto">
          <a:xfrm>
            <a:off x="533004" y="1707654"/>
            <a:ext cx="582612" cy="562771"/>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solidFill>
                  <a:srgbClr val="FF0000"/>
                </a:solidFill>
              </a:rPr>
              <a:t>1</a:t>
            </a:r>
            <a:endParaRPr lang="zh-CN" altLang="en-US" sz="2800" b="1" dirty="0">
              <a:solidFill>
                <a:srgbClr val="FF0000"/>
              </a:solidFill>
            </a:endParaRPr>
          </a:p>
        </p:txBody>
      </p:sp>
      <p:sp>
        <p:nvSpPr>
          <p:cNvPr id="28" name="椭圆 27"/>
          <p:cNvSpPr/>
          <p:nvPr/>
        </p:nvSpPr>
        <p:spPr bwMode="auto">
          <a:xfrm>
            <a:off x="6118725" y="3809179"/>
            <a:ext cx="582612" cy="562771"/>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solidFill>
                  <a:srgbClr val="FF0000"/>
                </a:solidFill>
              </a:rPr>
              <a:t>4</a:t>
            </a:r>
            <a:endParaRPr lang="zh-CN" altLang="en-US" sz="2800" b="1" dirty="0">
              <a:solidFill>
                <a:srgbClr val="FF0000"/>
              </a:solidFill>
            </a:endParaRPr>
          </a:p>
        </p:txBody>
      </p:sp>
    </p:spTree>
    <p:extLst>
      <p:ext uri="{BB962C8B-B14F-4D97-AF65-F5344CB8AC3E}">
        <p14:creationId xmlns:p14="http://schemas.microsoft.com/office/powerpoint/2010/main" val="1406569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Effect transition="in" filter="wipe(left)">
                                      <p:cBhvr>
                                        <p:cTn id="64" dur="500"/>
                                        <p:tgtEl>
                                          <p:spTgt spid="14"/>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wipe(left)">
                                      <p:cBhvr>
                                        <p:cTn id="69" dur="500"/>
                                        <p:tgtEl>
                                          <p:spTgt spid="15"/>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wipe(left)">
                                      <p:cBhvr>
                                        <p:cTn id="7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1" grpId="0" animBg="1"/>
      <p:bldP spid="12" grpId="0" animBg="1"/>
      <p:bldP spid="13" grpId="0" animBg="1"/>
      <p:bldP spid="14" grpId="0" animBg="1"/>
      <p:bldP spid="15" grpId="0" animBg="1"/>
      <p:bldP spid="16" grpId="0" animBg="1"/>
      <p:bldP spid="18" grpId="0" animBg="1"/>
      <p:bldP spid="20" grpId="0" animBg="1"/>
      <p:bldP spid="21" grpId="0"/>
      <p:bldP spid="22" grpId="0" animBg="1"/>
      <p:bldP spid="23" grpId="0"/>
      <p:bldP spid="24" grpId="0" animBg="1"/>
      <p:bldP spid="25" grpId="0"/>
      <p:bldP spid="26" grpId="0" animBg="1"/>
      <p:bldP spid="27" grpId="0" animBg="1"/>
      <p:bldP spid="28"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467544" y="699542"/>
            <a:ext cx="8229600" cy="4176464"/>
          </a:xfrm>
        </p:spPr>
        <p:txBody>
          <a:bodyPr>
            <a:normAutofit lnSpcReduction="10000"/>
          </a:bodyPr>
          <a:lstStyle/>
          <a:p>
            <a:r>
              <a:rPr lang="zh-CN" altLang="en-US" sz="2400" dirty="0"/>
              <a:t>入门教程：</a:t>
            </a:r>
            <a:r>
              <a:rPr lang="en-US" altLang="zh-CN" sz="2400" dirty="0">
                <a:hlinkClick r:id="rId2"/>
              </a:rPr>
              <a:t>https://www.cnblogs.com/suhaha/p/11733487.html</a:t>
            </a:r>
            <a:endParaRPr lang="en-US" altLang="zh-CN" sz="2400" dirty="0"/>
          </a:p>
          <a:p>
            <a:r>
              <a:rPr lang="en-US" altLang="zh-CN" sz="2400" dirty="0">
                <a:hlinkClick r:id="rId3"/>
              </a:rPr>
              <a:t>https://blog.csdn.net/lusic01/article/details/80735850</a:t>
            </a:r>
            <a:endParaRPr lang="en-US" altLang="zh-CN" sz="2400" dirty="0"/>
          </a:p>
          <a:p>
            <a:r>
              <a:rPr lang="zh-CN" altLang="en-US" sz="2400" dirty="0"/>
              <a:t>使用详见</a:t>
            </a:r>
            <a:r>
              <a:rPr lang="en-US" altLang="zh-CN" sz="2400" dirty="0"/>
              <a:t>javacc-tutorial.pdf</a:t>
            </a:r>
            <a:endParaRPr lang="zh-CN" altLang="en-US" sz="2400" dirty="0"/>
          </a:p>
          <a:p>
            <a:r>
              <a:rPr lang="zh-CN" altLang="en-US" sz="2200" dirty="0"/>
              <a:t>使用</a:t>
            </a:r>
            <a:r>
              <a:rPr lang="en-US" altLang="zh-CN" sz="2200" dirty="0" err="1"/>
              <a:t>JavaCC</a:t>
            </a:r>
            <a:r>
              <a:rPr lang="zh-CN" altLang="en-US" sz="2200" dirty="0"/>
              <a:t>构建</a:t>
            </a:r>
            <a:r>
              <a:rPr lang="en-US" altLang="zh-CN" sz="2200" dirty="0"/>
              <a:t>sample</a:t>
            </a:r>
            <a:r>
              <a:rPr lang="zh-CN" altLang="en-US" sz="2200" dirty="0"/>
              <a:t>语言的语法分析程序</a:t>
            </a:r>
            <a:endParaRPr lang="en-US" altLang="zh-CN" sz="2200" dirty="0"/>
          </a:p>
          <a:p>
            <a:pPr lvl="1"/>
            <a:r>
              <a:rPr lang="zh-CN" altLang="en-US" sz="1800" dirty="0"/>
              <a:t>写</a:t>
            </a:r>
            <a:r>
              <a:rPr lang="en-US" altLang="zh-CN" sz="1800" dirty="0" err="1"/>
              <a:t>sample.jj</a:t>
            </a:r>
            <a:endParaRPr lang="en-US" altLang="zh-CN" sz="1800" dirty="0"/>
          </a:p>
          <a:p>
            <a:pPr lvl="1"/>
            <a:r>
              <a:rPr lang="zh-CN" altLang="en-US" sz="1800" dirty="0"/>
              <a:t>用</a:t>
            </a:r>
            <a:r>
              <a:rPr lang="en-US" altLang="zh-CN" sz="1800" dirty="0" err="1"/>
              <a:t>JavaCC</a:t>
            </a:r>
            <a:r>
              <a:rPr lang="en-US" altLang="zh-CN" sz="1800" dirty="0"/>
              <a:t> </a:t>
            </a:r>
            <a:r>
              <a:rPr lang="zh-CN" altLang="en-US" sz="1800" dirty="0"/>
              <a:t>编译</a:t>
            </a:r>
            <a:r>
              <a:rPr lang="en-US" altLang="zh-CN" sz="1800" dirty="0" err="1"/>
              <a:t>sample.jj</a:t>
            </a:r>
            <a:r>
              <a:rPr lang="zh-CN" altLang="en-US" sz="1800" dirty="0"/>
              <a:t>，产生</a:t>
            </a:r>
            <a:r>
              <a:rPr lang="en-US" altLang="zh-CN" sz="1800" dirty="0"/>
              <a:t>sample</a:t>
            </a:r>
            <a:r>
              <a:rPr lang="zh-CN" altLang="en-US" sz="1800" dirty="0"/>
              <a:t>语言的语法分析程序</a:t>
            </a:r>
            <a:r>
              <a:rPr lang="en-US" altLang="zh-CN" sz="1800" dirty="0"/>
              <a:t>sample.java</a:t>
            </a:r>
          </a:p>
          <a:p>
            <a:pPr lvl="1"/>
            <a:r>
              <a:rPr lang="zh-CN" altLang="en-US" sz="1800" dirty="0"/>
              <a:t>用</a:t>
            </a:r>
            <a:r>
              <a:rPr lang="en-US" altLang="zh-CN" sz="1800" dirty="0"/>
              <a:t>java</a:t>
            </a:r>
            <a:r>
              <a:rPr lang="zh-CN" altLang="en-US" sz="1800" dirty="0"/>
              <a:t>编译器编译</a:t>
            </a:r>
            <a:r>
              <a:rPr lang="en-US" altLang="zh-CN" sz="1800" dirty="0"/>
              <a:t>sample.java</a:t>
            </a:r>
          </a:p>
          <a:p>
            <a:pPr lvl="1"/>
            <a:r>
              <a:rPr lang="zh-CN" altLang="en-US" sz="1800" dirty="0"/>
              <a:t>运行</a:t>
            </a:r>
            <a:r>
              <a:rPr lang="en-US" altLang="zh-CN" sz="1800" dirty="0" err="1"/>
              <a:t>sample.class</a:t>
            </a:r>
            <a:endParaRPr lang="en-US" altLang="zh-CN" sz="1800" dirty="0"/>
          </a:p>
          <a:p>
            <a:pPr lvl="1"/>
            <a:r>
              <a:rPr lang="zh-CN" altLang="en-US" sz="1800" dirty="0"/>
              <a:t>可选：利用</a:t>
            </a:r>
            <a:r>
              <a:rPr lang="en-US" altLang="zh-CN" sz="1800" dirty="0" err="1"/>
              <a:t>jtree</a:t>
            </a:r>
            <a:r>
              <a:rPr lang="zh-CN" altLang="en-US" sz="1800" dirty="0"/>
              <a:t>生成语法树</a:t>
            </a:r>
          </a:p>
        </p:txBody>
      </p:sp>
      <p:sp>
        <p:nvSpPr>
          <p:cNvPr id="3" name="标题 2"/>
          <p:cNvSpPr>
            <a:spLocks noGrp="1"/>
          </p:cNvSpPr>
          <p:nvPr>
            <p:ph type="title"/>
          </p:nvPr>
        </p:nvSpPr>
        <p:spPr>
          <a:xfrm>
            <a:off x="179512" y="0"/>
            <a:ext cx="8229600" cy="699542"/>
          </a:xfrm>
        </p:spPr>
        <p:txBody>
          <a:bodyPr>
            <a:normAutofit/>
          </a:bodyPr>
          <a:lstStyle/>
          <a:p>
            <a:r>
              <a:rPr lang="en-US" altLang="zh-CN" sz="3600" dirty="0" err="1"/>
              <a:t>javaCC</a:t>
            </a:r>
            <a:endParaRPr lang="zh-CN" altLang="en-US" sz="3600" dirty="0"/>
          </a:p>
        </p:txBody>
      </p:sp>
    </p:spTree>
    <p:extLst>
      <p:ext uri="{BB962C8B-B14F-4D97-AF65-F5344CB8AC3E}">
        <p14:creationId xmlns:p14="http://schemas.microsoft.com/office/powerpoint/2010/main" val="201100945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5034281" cy="688340"/>
          </a:xfrm>
          <a:prstGeom prst="rect">
            <a:avLst/>
          </a:prstGeom>
        </p:spPr>
        <p:txBody>
          <a:bodyPr wrap="none">
            <a:spAutoFit/>
          </a:bodyPr>
          <a:lstStyle/>
          <a:p>
            <a:r>
              <a:rPr lang="en-US" altLang="zh-CN" sz="4000" b="1" dirty="0">
                <a:solidFill>
                  <a:srgbClr val="CC0099"/>
                </a:solidFill>
                <a:ea typeface="隶书" pitchFamily="49" charset="-122"/>
              </a:rPr>
              <a:t>6</a:t>
            </a:r>
            <a:r>
              <a:rPr lang="zh-CN" altLang="en-US" sz="4000" b="1" dirty="0">
                <a:solidFill>
                  <a:srgbClr val="CC0099"/>
                </a:solidFill>
                <a:ea typeface="隶书" pitchFamily="49" charset="-122"/>
              </a:rPr>
              <a:t>、自下而上语法分析</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303903172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52" name="Picture 2" descr="https://ss2.bdstatic.com/70cFvnSh_Q1YnxGkpoWK1HF6hhy/it/u=361757917,2927435161&amp;fm=26&amp;gp=0.jpg"/>
          <p:cNvPicPr>
            <a:picLocks noChangeAspect="1" noChangeArrowheads="1"/>
          </p:cNvPicPr>
          <p:nvPr/>
        </p:nvPicPr>
        <p:blipFill>
          <a:blip r:embed="rId3"/>
          <a:srcRect/>
          <a:stretch>
            <a:fillRect/>
          </a:stretch>
        </p:blipFill>
        <p:spPr bwMode="auto">
          <a:xfrm>
            <a:off x="7684087" y="32738"/>
            <a:ext cx="1488162" cy="1563637"/>
          </a:xfrm>
          <a:prstGeom prst="rect">
            <a:avLst/>
          </a:prstGeom>
          <a:noFill/>
          <a:ln w="28575">
            <a:solidFill>
              <a:srgbClr val="00B050"/>
            </a:solidFill>
          </a:ln>
        </p:spPr>
      </p:pic>
      <p:sp>
        <p:nvSpPr>
          <p:cNvPr id="1048612" name="Rectangle 2"/>
          <p:cNvSpPr>
            <a:spLocks noGrp="1" noChangeArrowheads="1"/>
          </p:cNvSpPr>
          <p:nvPr>
            <p:ph type="title"/>
          </p:nvPr>
        </p:nvSpPr>
        <p:spPr>
          <a:xfrm>
            <a:off x="395536" y="1"/>
            <a:ext cx="5335718" cy="483518"/>
          </a:xfrm>
        </p:spPr>
        <p:txBody>
          <a:bodyPr>
            <a:noAutofit/>
          </a:bodyPr>
          <a:lstStyle/>
          <a:p>
            <a:pPr eaLnBrk="1" hangingPunct="1"/>
            <a:r>
              <a:rPr lang="zh-CN" altLang="en-US" sz="4400" b="1"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rPr>
              <a:t>自下而上的语法分析</a:t>
            </a:r>
          </a:p>
        </p:txBody>
      </p:sp>
      <p:sp>
        <p:nvSpPr>
          <p:cNvPr id="1048613" name="Rectangle 3"/>
          <p:cNvSpPr>
            <a:spLocks noGrp="1" noChangeArrowheads="1"/>
          </p:cNvSpPr>
          <p:nvPr>
            <p:ph type="body" idx="1"/>
          </p:nvPr>
        </p:nvSpPr>
        <p:spPr>
          <a:xfrm>
            <a:off x="247192" y="595120"/>
            <a:ext cx="7733104" cy="712423"/>
          </a:xfrm>
        </p:spPr>
        <p:txBody>
          <a:bodyPr>
            <a:noAutofit/>
          </a:bodyPr>
          <a:lstStyle/>
          <a:p>
            <a:pPr>
              <a:lnSpc>
                <a:spcPct val="105000"/>
              </a:lnSpc>
              <a:spcBef>
                <a:spcPct val="0"/>
              </a:spcBef>
            </a:pPr>
            <a:r>
              <a:rPr lang="zh-CN" altLang="en-US" sz="2000" kern="500" spc="-90" dirty="0">
                <a:latin typeface="宋体" pitchFamily="2" charset="-122"/>
                <a:ea typeface="宋体" panose="02010600030101010101" pitchFamily="2" charset="-122"/>
              </a:rPr>
              <a:t>语法分析的任务是</a:t>
            </a:r>
            <a:r>
              <a:rPr lang="zh-CN" altLang="en-US" sz="2000" dirty="0">
                <a:ea typeface="华文行楷" pitchFamily="2" charset="-122"/>
              </a:rPr>
              <a:t>判断读入的</a:t>
            </a:r>
            <a:r>
              <a:rPr lang="zh-CN" altLang="en-US" sz="2000" b="1" dirty="0">
                <a:solidFill>
                  <a:srgbClr val="FF3300"/>
                </a:solidFill>
                <a:ea typeface="华文行楷" pitchFamily="2" charset="-122"/>
              </a:rPr>
              <a:t>单词符号串</a:t>
            </a:r>
            <a:r>
              <a:rPr lang="zh-CN" altLang="en-US" sz="2000" dirty="0">
                <a:ea typeface="华文行楷" pitchFamily="2" charset="-122"/>
              </a:rPr>
              <a:t>能否构成一个语法正确的程序</a:t>
            </a:r>
            <a:r>
              <a:rPr lang="en-US" altLang="zh-CN" sz="2000" dirty="0">
                <a:ea typeface="华文行楷" pitchFamily="2" charset="-122"/>
              </a:rPr>
              <a:t>,</a:t>
            </a:r>
            <a:r>
              <a:rPr lang="zh-CN" altLang="en-US" sz="2000" dirty="0">
                <a:latin typeface="宋体" panose="02010600030101010101" pitchFamily="2" charset="-122"/>
                <a:ea typeface="宋体" panose="02010600030101010101" pitchFamily="2" charset="-122"/>
              </a:rPr>
              <a:t>方法是</a:t>
            </a:r>
            <a:r>
              <a:rPr lang="zh-CN" altLang="en-US" sz="2000" kern="500" spc="-90" dirty="0">
                <a:latin typeface="华文行楷" panose="02010800040101010101" pitchFamily="2" charset="-122"/>
                <a:ea typeface="华文行楷" panose="02010800040101010101" pitchFamily="2" charset="-122"/>
              </a:rPr>
              <a:t>建立语法树</a:t>
            </a:r>
            <a:r>
              <a:rPr lang="en-US" altLang="zh-CN" sz="2000" kern="500" spc="-90" dirty="0">
                <a:latin typeface="华文行楷" panose="02010800040101010101" pitchFamily="2" charset="-122"/>
                <a:ea typeface="华文行楷" panose="02010800040101010101" pitchFamily="2" charset="-122"/>
              </a:rPr>
              <a:t>,</a:t>
            </a:r>
            <a:r>
              <a:rPr lang="zh-CN" altLang="en-US" sz="2000" kern="500" spc="-90" dirty="0">
                <a:latin typeface="华文行楷" panose="02010800040101010101" pitchFamily="2" charset="-122"/>
                <a:ea typeface="华文行楷" panose="02010800040101010101" pitchFamily="2" charset="-122"/>
              </a:rPr>
              <a:t> 试图使叶子结点和输入符号串匹配</a:t>
            </a:r>
            <a:endParaRPr lang="en-US" altLang="zh-CN" sz="2000" kern="500" spc="-90" dirty="0">
              <a:latin typeface="华文行楷" panose="02010800040101010101" pitchFamily="2" charset="-122"/>
              <a:ea typeface="华文行楷" panose="02010800040101010101" pitchFamily="2" charset="-122"/>
            </a:endParaRPr>
          </a:p>
        </p:txBody>
      </p:sp>
      <p:cxnSp>
        <p:nvCxnSpPr>
          <p:cNvPr id="3145729" name="直接箭头连接符 4"/>
          <p:cNvCxnSpPr>
            <a:cxnSpLocks/>
          </p:cNvCxnSpPr>
          <p:nvPr/>
        </p:nvCxnSpPr>
        <p:spPr>
          <a:xfrm flipV="1">
            <a:off x="9052239" y="32738"/>
            <a:ext cx="0" cy="1563638"/>
          </a:xfrm>
          <a:prstGeom prst="straightConnector1">
            <a:avLst/>
          </a:prstGeom>
          <a:ln w="38100">
            <a:solidFill>
              <a:srgbClr val="CC00FF"/>
            </a:solidFill>
            <a:tailEnd type="arrow"/>
          </a:ln>
        </p:spPr>
        <p:style>
          <a:lnRef idx="1">
            <a:schemeClr val="accent1"/>
          </a:lnRef>
          <a:fillRef idx="0">
            <a:schemeClr val="accent1"/>
          </a:fillRef>
          <a:effectRef idx="0">
            <a:schemeClr val="accent1"/>
          </a:effectRef>
          <a:fontRef idx="minor">
            <a:schemeClr val="tx1"/>
          </a:fontRef>
        </p:style>
      </p:cxnSp>
      <p:sp>
        <p:nvSpPr>
          <p:cNvPr id="1048614" name="Rectangle 4"/>
          <p:cNvSpPr txBox="1">
            <a:spLocks noChangeArrowheads="1"/>
          </p:cNvSpPr>
          <p:nvPr/>
        </p:nvSpPr>
        <p:spPr>
          <a:xfrm>
            <a:off x="467544" y="3579862"/>
            <a:ext cx="3816424" cy="72008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ts val="0"/>
              </a:spcBef>
            </a:pPr>
            <a:r>
              <a:rPr lang="zh-CN" altLang="en-US" sz="2000" b="1" dirty="0">
                <a:solidFill>
                  <a:schemeClr val="accent2"/>
                </a:solidFill>
                <a:latin typeface="宋体" panose="02010600030101010101" pitchFamily="2" charset="-122"/>
                <a:ea typeface="宋体" panose="02010600030101010101" pitchFamily="2" charset="-122"/>
              </a:rPr>
              <a:t>最左推导：</a:t>
            </a:r>
            <a:r>
              <a:rPr lang="zh-CN" altLang="en-US" sz="1800" dirty="0">
                <a:latin typeface="宋体" panose="02010600030101010101" pitchFamily="2" charset="-122"/>
                <a:ea typeface="宋体" panose="02010600030101010101" pitchFamily="2" charset="-122"/>
              </a:rPr>
              <a:t>每一步推导都替换当前句型中最左边的非终结符</a:t>
            </a:r>
          </a:p>
        </p:txBody>
      </p:sp>
      <p:sp>
        <p:nvSpPr>
          <p:cNvPr id="1048616" name="Rectangle 3"/>
          <p:cNvSpPr txBox="1">
            <a:spLocks noChangeArrowheads="1"/>
          </p:cNvSpPr>
          <p:nvPr/>
        </p:nvSpPr>
        <p:spPr>
          <a:xfrm>
            <a:off x="4283967" y="2859782"/>
            <a:ext cx="4144201" cy="720080"/>
          </a:xfrm>
          <a:prstGeom prst="rect">
            <a:avLst/>
          </a:prstGeom>
          <a:ln/>
        </p:spPr>
        <p:style>
          <a:lnRef idx="2">
            <a:schemeClr val="accent1"/>
          </a:lnRef>
          <a:fillRef idx="1">
            <a:schemeClr val="lt1"/>
          </a:fillRef>
          <a:effectRef idx="0">
            <a:schemeClr val="accent1"/>
          </a:effectRef>
          <a:fontRef idx="minor">
            <a:schemeClr val="dk1"/>
          </a:fontRef>
        </p:style>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lnSpc>
                <a:spcPct val="105000"/>
              </a:lnSpc>
              <a:spcBef>
                <a:spcPct val="0"/>
              </a:spcBef>
            </a:pPr>
            <a:r>
              <a:rPr lang="zh-CN" altLang="en-US" sz="1800" b="1" dirty="0">
                <a:solidFill>
                  <a:srgbClr val="0000FF"/>
                </a:solidFill>
                <a:latin typeface="宋体" pitchFamily="2" charset="-122"/>
                <a:ea typeface="宋体" panose="02010600030101010101" pitchFamily="2" charset="-122"/>
              </a:rPr>
              <a:t>归约：</a:t>
            </a:r>
            <a:r>
              <a:rPr lang="zh-CN" altLang="en-US" sz="1800" dirty="0">
                <a:latin typeface="宋体" pitchFamily="2" charset="-122"/>
                <a:ea typeface="宋体" panose="02010600030101010101" pitchFamily="2" charset="-122"/>
              </a:rPr>
              <a:t>推导的逆过程，用产生式的左部去替换右部的过程</a:t>
            </a:r>
          </a:p>
        </p:txBody>
      </p:sp>
      <p:cxnSp>
        <p:nvCxnSpPr>
          <p:cNvPr id="12" name="直接箭头连接符 4"/>
          <p:cNvCxnSpPr>
            <a:cxnSpLocks/>
          </p:cNvCxnSpPr>
          <p:nvPr/>
        </p:nvCxnSpPr>
        <p:spPr>
          <a:xfrm>
            <a:off x="7912617" y="32738"/>
            <a:ext cx="0" cy="1563637"/>
          </a:xfrm>
          <a:prstGeom prst="straightConnector1">
            <a:avLst/>
          </a:prstGeom>
          <a:ln w="38100">
            <a:solidFill>
              <a:srgbClr val="CC00FF"/>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4" name="表格 3"/>
          <p:cNvGraphicFramePr>
            <a:graphicFrameLocks noGrp="1"/>
          </p:cNvGraphicFramePr>
          <p:nvPr>
            <p:extLst>
              <p:ext uri="{D42A27DB-BD31-4B8C-83A1-F6EECF244321}">
                <p14:modId xmlns:p14="http://schemas.microsoft.com/office/powerpoint/2010/main" val="680245721"/>
              </p:ext>
            </p:extLst>
          </p:nvPr>
        </p:nvGraphicFramePr>
        <p:xfrm>
          <a:off x="714005" y="1275606"/>
          <a:ext cx="6951726" cy="1450960"/>
        </p:xfrm>
        <a:graphic>
          <a:graphicData uri="http://schemas.openxmlformats.org/drawingml/2006/table">
            <a:tbl>
              <a:tblPr firstRow="1" bandRow="1">
                <a:tableStyleId>{5C22544A-7EE6-4342-B048-85BDC9FD1C3A}</a:tableStyleId>
              </a:tblPr>
              <a:tblGrid>
                <a:gridCol w="3475863">
                  <a:extLst>
                    <a:ext uri="{9D8B030D-6E8A-4147-A177-3AD203B41FA5}">
                      <a16:colId xmlns:a16="http://schemas.microsoft.com/office/drawing/2014/main" val="20000"/>
                    </a:ext>
                  </a:extLst>
                </a:gridCol>
                <a:gridCol w="3475863">
                  <a:extLst>
                    <a:ext uri="{9D8B030D-6E8A-4147-A177-3AD203B41FA5}">
                      <a16:colId xmlns:a16="http://schemas.microsoft.com/office/drawing/2014/main" val="20001"/>
                    </a:ext>
                  </a:extLst>
                </a:gridCol>
              </a:tblGrid>
              <a:tr h="139040">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714360">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
        <p:nvSpPr>
          <p:cNvPr id="5" name="矩形 4"/>
          <p:cNvSpPr/>
          <p:nvPr/>
        </p:nvSpPr>
        <p:spPr>
          <a:xfrm>
            <a:off x="762472" y="1596375"/>
            <a:ext cx="3233464" cy="738664"/>
          </a:xfrm>
          <a:prstGeom prst="rect">
            <a:avLst/>
          </a:prstGeom>
        </p:spPr>
        <p:txBody>
          <a:bodyPr wrap="square">
            <a:spAutoFit/>
          </a:bodyPr>
          <a:lstStyle/>
          <a:p>
            <a:pPr marL="109728" lvl="0">
              <a:lnSpc>
                <a:spcPct val="105000"/>
              </a:lnSpc>
              <a:spcBef>
                <a:spcPct val="0"/>
              </a:spcBef>
              <a:buClr>
                <a:srgbClr val="2DA2BF"/>
              </a:buClr>
              <a:buSzPct val="68000"/>
            </a:pPr>
            <a:r>
              <a:rPr lang="zh-CN" altLang="en-US" sz="2000" dirty="0">
                <a:solidFill>
                  <a:prstClr val="black"/>
                </a:solidFill>
                <a:latin typeface="宋体" pitchFamily="2" charset="-122"/>
                <a:ea typeface="宋体" panose="02010600030101010101" pitchFamily="2" charset="-122"/>
              </a:rPr>
              <a:t>从根节点开始自上而下构建语法树</a:t>
            </a:r>
            <a:endParaRPr lang="en-US" altLang="zh-CN" sz="2000" dirty="0">
              <a:solidFill>
                <a:prstClr val="black"/>
              </a:solidFill>
              <a:latin typeface="宋体" pitchFamily="2" charset="-122"/>
              <a:ea typeface="宋体" panose="02010600030101010101" pitchFamily="2" charset="-122"/>
            </a:endParaRPr>
          </a:p>
        </p:txBody>
      </p:sp>
      <p:sp>
        <p:nvSpPr>
          <p:cNvPr id="6" name="矩形 5"/>
          <p:cNvSpPr/>
          <p:nvPr/>
        </p:nvSpPr>
        <p:spPr>
          <a:xfrm>
            <a:off x="762472" y="2355726"/>
            <a:ext cx="808555" cy="377989"/>
          </a:xfrm>
          <a:prstGeom prst="rect">
            <a:avLst/>
          </a:prstGeom>
        </p:spPr>
        <p:txBody>
          <a:bodyPr wrap="none">
            <a:spAutoFit/>
          </a:bodyPr>
          <a:lstStyle/>
          <a:p>
            <a:pPr marL="109728" lvl="0">
              <a:lnSpc>
                <a:spcPct val="105000"/>
              </a:lnSpc>
              <a:spcBef>
                <a:spcPct val="0"/>
              </a:spcBef>
              <a:buClr>
                <a:srgbClr val="2DA2BF"/>
              </a:buClr>
              <a:buSzPct val="68000"/>
            </a:pPr>
            <a:r>
              <a:rPr lang="zh-CN" altLang="en-US" sz="2000" dirty="0">
                <a:solidFill>
                  <a:prstClr val="black"/>
                </a:solidFill>
                <a:latin typeface="宋体" pitchFamily="2" charset="-122"/>
                <a:ea typeface="宋体" panose="02010600030101010101" pitchFamily="2" charset="-122"/>
              </a:rPr>
              <a:t>推导</a:t>
            </a:r>
            <a:endParaRPr lang="en-US" altLang="zh-CN" sz="2000" dirty="0">
              <a:solidFill>
                <a:prstClr val="black"/>
              </a:solidFill>
              <a:latin typeface="宋体" pitchFamily="2" charset="-122"/>
              <a:ea typeface="宋体" panose="02010600030101010101" pitchFamily="2" charset="-122"/>
            </a:endParaRPr>
          </a:p>
        </p:txBody>
      </p:sp>
      <p:sp>
        <p:nvSpPr>
          <p:cNvPr id="1048619" name="Rectangle 3"/>
          <p:cNvSpPr>
            <a:spLocks noGrp="1" noChangeArrowheads="1"/>
          </p:cNvSpPr>
          <p:nvPr>
            <p:ph type="body" idx="1"/>
          </p:nvPr>
        </p:nvSpPr>
        <p:spPr>
          <a:xfrm>
            <a:off x="1087845" y="1275606"/>
            <a:ext cx="2202720" cy="376122"/>
          </a:xfrm>
          <a:prstGeom prst="rect">
            <a:avLst/>
          </a:prstGeom>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marL="109728" indent="0">
              <a:lnSpc>
                <a:spcPct val="105000"/>
              </a:lnSpc>
              <a:spcBef>
                <a:spcPct val="0"/>
              </a:spcBef>
              <a:buNone/>
            </a:pPr>
            <a:r>
              <a:rPr lang="zh-CN" altLang="en-US" sz="2000" dirty="0">
                <a:latin typeface="宋体" pitchFamily="2" charset="-122"/>
                <a:ea typeface="宋体" panose="02010600030101010101" pitchFamily="2" charset="-122"/>
              </a:rPr>
              <a:t>自上而下分析</a:t>
            </a:r>
            <a:endParaRPr lang="en-US" altLang="zh-CN" sz="2000" dirty="0">
              <a:latin typeface="宋体" pitchFamily="2" charset="-122"/>
              <a:ea typeface="宋体" panose="02010600030101010101" pitchFamily="2" charset="-122"/>
            </a:endParaRPr>
          </a:p>
        </p:txBody>
      </p:sp>
      <p:sp>
        <p:nvSpPr>
          <p:cNvPr id="7" name="矩形 6"/>
          <p:cNvSpPr/>
          <p:nvPr/>
        </p:nvSpPr>
        <p:spPr>
          <a:xfrm>
            <a:off x="4211960" y="2335039"/>
            <a:ext cx="808555" cy="377989"/>
          </a:xfrm>
          <a:prstGeom prst="rect">
            <a:avLst/>
          </a:prstGeom>
        </p:spPr>
        <p:txBody>
          <a:bodyPr wrap="none">
            <a:spAutoFit/>
          </a:bodyPr>
          <a:lstStyle/>
          <a:p>
            <a:pPr marL="109728" lvl="0">
              <a:lnSpc>
                <a:spcPct val="105000"/>
              </a:lnSpc>
              <a:spcBef>
                <a:spcPct val="0"/>
              </a:spcBef>
              <a:buClr>
                <a:srgbClr val="2DA2BF"/>
              </a:buClr>
              <a:buSzPct val="68000"/>
            </a:pPr>
            <a:r>
              <a:rPr lang="zh-CN" altLang="en-US" sz="2000" dirty="0">
                <a:solidFill>
                  <a:prstClr val="black"/>
                </a:solidFill>
                <a:latin typeface="宋体" pitchFamily="2" charset="-122"/>
                <a:ea typeface="宋体" panose="02010600030101010101" pitchFamily="2" charset="-122"/>
              </a:rPr>
              <a:t>归约</a:t>
            </a:r>
            <a:endParaRPr lang="en-US" altLang="zh-CN" sz="2000" dirty="0">
              <a:solidFill>
                <a:prstClr val="black"/>
              </a:solidFill>
              <a:latin typeface="宋体" pitchFamily="2" charset="-122"/>
              <a:ea typeface="宋体" panose="02010600030101010101" pitchFamily="2" charset="-122"/>
            </a:endParaRPr>
          </a:p>
        </p:txBody>
      </p:sp>
      <p:sp>
        <p:nvSpPr>
          <p:cNvPr id="8" name="矩形 7"/>
          <p:cNvSpPr/>
          <p:nvPr/>
        </p:nvSpPr>
        <p:spPr>
          <a:xfrm>
            <a:off x="4283967" y="1611764"/>
            <a:ext cx="3400119" cy="707886"/>
          </a:xfrm>
          <a:prstGeom prst="rect">
            <a:avLst/>
          </a:prstGeom>
        </p:spPr>
        <p:txBody>
          <a:bodyPr wrap="square">
            <a:spAutoFit/>
          </a:bodyPr>
          <a:lstStyle/>
          <a:p>
            <a:r>
              <a:rPr lang="zh-CN" altLang="en-US" sz="2000" dirty="0">
                <a:solidFill>
                  <a:prstClr val="black"/>
                </a:solidFill>
                <a:latin typeface="宋体" pitchFamily="2" charset="-122"/>
                <a:ea typeface="宋体" panose="02010600030101010101" pitchFamily="2" charset="-122"/>
              </a:rPr>
              <a:t>从输入符号串开始，自下而上建立语法树</a:t>
            </a:r>
            <a:endParaRPr lang="zh-CN" altLang="en-US" dirty="0"/>
          </a:p>
        </p:txBody>
      </p:sp>
      <p:sp>
        <p:nvSpPr>
          <p:cNvPr id="9" name="矩形 8"/>
          <p:cNvSpPr/>
          <p:nvPr/>
        </p:nvSpPr>
        <p:spPr>
          <a:xfrm>
            <a:off x="4609981" y="1307544"/>
            <a:ext cx="1723549" cy="400110"/>
          </a:xfrm>
          <a:prstGeom prst="rect">
            <a:avLst/>
          </a:prstGeom>
        </p:spPr>
        <p:txBody>
          <a:bodyPr wrap="none">
            <a:spAutoFit/>
          </a:bodyPr>
          <a:lstStyle/>
          <a:p>
            <a:r>
              <a:rPr lang="zh-CN" altLang="en-US" sz="2000" dirty="0">
                <a:solidFill>
                  <a:prstClr val="black"/>
                </a:solidFill>
                <a:latin typeface="宋体" pitchFamily="2" charset="-122"/>
                <a:ea typeface="宋体" panose="02010600030101010101" pitchFamily="2" charset="-122"/>
              </a:rPr>
              <a:t>自下而上分析</a:t>
            </a:r>
            <a:endParaRPr lang="zh-CN" altLang="en-US" dirty="0"/>
          </a:p>
        </p:txBody>
      </p:sp>
      <p:sp>
        <p:nvSpPr>
          <p:cNvPr id="23" name="Rectangle 3"/>
          <p:cNvSpPr txBox="1">
            <a:spLocks noChangeArrowheads="1"/>
          </p:cNvSpPr>
          <p:nvPr/>
        </p:nvSpPr>
        <p:spPr>
          <a:xfrm>
            <a:off x="467544" y="2859782"/>
            <a:ext cx="3816424" cy="720080"/>
          </a:xfrm>
          <a:prstGeom prst="rect">
            <a:avLst/>
          </a:prstGeom>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lnSpc>
                <a:spcPct val="105000"/>
              </a:lnSpc>
              <a:spcBef>
                <a:spcPct val="0"/>
              </a:spcBef>
            </a:pPr>
            <a:r>
              <a:rPr lang="zh-CN" altLang="en-US" sz="1800" b="1" dirty="0">
                <a:solidFill>
                  <a:srgbClr val="FF0000"/>
                </a:solidFill>
                <a:latin typeface="宋体" pitchFamily="2" charset="-122"/>
                <a:ea typeface="宋体" panose="02010600030101010101" pitchFamily="2" charset="-122"/>
              </a:rPr>
              <a:t>推导：</a:t>
            </a:r>
            <a:r>
              <a:rPr lang="zh-CN" altLang="en-US" sz="1800" dirty="0">
                <a:latin typeface="宋体" pitchFamily="2" charset="-122"/>
                <a:ea typeface="宋体" panose="02010600030101010101" pitchFamily="2" charset="-122"/>
              </a:rPr>
              <a:t>在句型中用产生式的右部替换左部符号的过程</a:t>
            </a:r>
            <a:endParaRPr lang="en-US" altLang="zh-CN" sz="1800" dirty="0">
              <a:latin typeface="宋体" pitchFamily="2" charset="-122"/>
              <a:ea typeface="宋体" panose="02010600030101010101" pitchFamily="2" charset="-122"/>
            </a:endParaRPr>
          </a:p>
        </p:txBody>
      </p:sp>
      <p:sp>
        <p:nvSpPr>
          <p:cNvPr id="24" name="Rectangle 4"/>
          <p:cNvSpPr txBox="1">
            <a:spLocks noChangeArrowheads="1"/>
          </p:cNvSpPr>
          <p:nvPr/>
        </p:nvSpPr>
        <p:spPr>
          <a:xfrm>
            <a:off x="4283967" y="3579862"/>
            <a:ext cx="4144201" cy="757045"/>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ts val="0"/>
              </a:spcBef>
            </a:pPr>
            <a:r>
              <a:rPr lang="zh-CN" altLang="en-US" sz="1800" dirty="0">
                <a:latin typeface="宋体" panose="02010600030101010101" pitchFamily="2" charset="-122"/>
                <a:ea typeface="宋体" panose="02010600030101010101" pitchFamily="2" charset="-122"/>
              </a:rPr>
              <a:t>最左推导的逆过程称为</a:t>
            </a:r>
            <a:r>
              <a:rPr lang="zh-CN" altLang="en-US" sz="1800" b="1" dirty="0">
                <a:solidFill>
                  <a:srgbClr val="0000FF"/>
                </a:solidFill>
                <a:latin typeface="宋体" panose="02010600030101010101" pitchFamily="2" charset="-122"/>
                <a:ea typeface="宋体" panose="02010600030101010101" pitchFamily="2" charset="-122"/>
              </a:rPr>
              <a:t>最右归约</a:t>
            </a:r>
          </a:p>
        </p:txBody>
      </p:sp>
      <p:sp>
        <p:nvSpPr>
          <p:cNvPr id="25" name="Rectangle 4"/>
          <p:cNvSpPr txBox="1">
            <a:spLocks noChangeArrowheads="1"/>
          </p:cNvSpPr>
          <p:nvPr/>
        </p:nvSpPr>
        <p:spPr>
          <a:xfrm>
            <a:off x="467544" y="4351876"/>
            <a:ext cx="3816424" cy="740154"/>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ts val="0"/>
              </a:spcBef>
            </a:pPr>
            <a:r>
              <a:rPr lang="zh-CN" altLang="en-US" sz="2000" b="1" dirty="0">
                <a:solidFill>
                  <a:schemeClr val="accent2"/>
                </a:solidFill>
                <a:latin typeface="宋体" panose="02010600030101010101" pitchFamily="2" charset="-122"/>
                <a:ea typeface="宋体" panose="02010600030101010101" pitchFamily="2" charset="-122"/>
              </a:rPr>
              <a:t>最右推导：</a:t>
            </a:r>
            <a:r>
              <a:rPr lang="zh-CN" altLang="en-US" sz="1800" dirty="0">
                <a:latin typeface="宋体" panose="02010600030101010101" pitchFamily="2" charset="-122"/>
                <a:ea typeface="宋体" panose="02010600030101010101" pitchFamily="2" charset="-122"/>
              </a:rPr>
              <a:t>每一步推导都替换当前句型的最右边的非终结符</a:t>
            </a:r>
          </a:p>
        </p:txBody>
      </p:sp>
      <p:sp>
        <p:nvSpPr>
          <p:cNvPr id="26" name="Rectangle 4"/>
          <p:cNvSpPr txBox="1">
            <a:spLocks noChangeArrowheads="1"/>
          </p:cNvSpPr>
          <p:nvPr/>
        </p:nvSpPr>
        <p:spPr>
          <a:xfrm>
            <a:off x="4283967" y="4351876"/>
            <a:ext cx="4144201" cy="72008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ts val="0"/>
              </a:spcBef>
            </a:pPr>
            <a:r>
              <a:rPr lang="zh-CN" altLang="en-US" sz="1800" dirty="0">
                <a:latin typeface="宋体" panose="02010600030101010101" pitchFamily="2" charset="-122"/>
                <a:ea typeface="宋体" panose="02010600030101010101" pitchFamily="2" charset="-122"/>
              </a:rPr>
              <a:t>最右推导的逆过程称为</a:t>
            </a:r>
            <a:r>
              <a:rPr lang="zh-CN" altLang="en-US" sz="1800" b="1" dirty="0">
                <a:solidFill>
                  <a:srgbClr val="0000FF"/>
                </a:solidFill>
                <a:latin typeface="宋体" panose="02010600030101010101" pitchFamily="2" charset="-122"/>
                <a:ea typeface="宋体" panose="02010600030101010101" pitchFamily="2" charset="-122"/>
              </a:rPr>
              <a:t>最左归约</a:t>
            </a:r>
            <a:r>
              <a:rPr lang="zh-CN" altLang="en-US" sz="1800" dirty="0">
                <a:latin typeface="宋体" panose="02010600030101010101" pitchFamily="2" charset="-122"/>
                <a:ea typeface="宋体" panose="02010600030101010101" pitchFamily="2" charset="-122"/>
              </a:rPr>
              <a:t>，得到</a:t>
            </a:r>
            <a:r>
              <a:rPr lang="zh-CN" altLang="en-US" sz="1800" b="1" dirty="0">
                <a:solidFill>
                  <a:srgbClr val="0000FF"/>
                </a:solidFill>
                <a:latin typeface="宋体" panose="02010600030101010101" pitchFamily="2" charset="-122"/>
                <a:ea typeface="宋体" panose="02010600030101010101" pitchFamily="2" charset="-122"/>
              </a:rPr>
              <a:t>规范句型</a:t>
            </a:r>
          </a:p>
        </p:txBody>
      </p:sp>
      <p:sp>
        <p:nvSpPr>
          <p:cNvPr id="27" name="矩形 26"/>
          <p:cNvSpPr/>
          <p:nvPr/>
        </p:nvSpPr>
        <p:spPr>
          <a:xfrm>
            <a:off x="1571027" y="2360846"/>
            <a:ext cx="1834477" cy="377989"/>
          </a:xfrm>
          <a:prstGeom prst="rect">
            <a:avLst/>
          </a:prstGeom>
        </p:spPr>
        <p:style>
          <a:lnRef idx="2">
            <a:schemeClr val="accent4"/>
          </a:lnRef>
          <a:fillRef idx="1">
            <a:schemeClr val="lt1"/>
          </a:fillRef>
          <a:effectRef idx="0">
            <a:schemeClr val="accent4"/>
          </a:effectRef>
          <a:fontRef idx="minor">
            <a:schemeClr val="dk1"/>
          </a:fontRef>
        </p:style>
        <p:txBody>
          <a:bodyPr wrap="none">
            <a:spAutoFit/>
          </a:bodyPr>
          <a:lstStyle/>
          <a:p>
            <a:pPr marL="109728" lvl="0">
              <a:lnSpc>
                <a:spcPct val="105000"/>
              </a:lnSpc>
              <a:spcBef>
                <a:spcPct val="0"/>
              </a:spcBef>
              <a:buClr>
                <a:srgbClr val="2DA2BF"/>
              </a:buClr>
              <a:buSzPct val="68000"/>
            </a:pPr>
            <a:r>
              <a:rPr lang="en-US" altLang="zh-CN" sz="2000" dirty="0">
                <a:solidFill>
                  <a:srgbClr val="FF0000"/>
                </a:solidFill>
                <a:latin typeface="宋体" pitchFamily="2" charset="-122"/>
                <a:ea typeface="宋体" panose="02010600030101010101" pitchFamily="2" charset="-122"/>
              </a:rPr>
              <a:t>——</a:t>
            </a:r>
            <a:r>
              <a:rPr lang="zh-CN" altLang="en-US" sz="2000" dirty="0">
                <a:solidFill>
                  <a:srgbClr val="FF0000"/>
                </a:solidFill>
                <a:latin typeface="宋体" pitchFamily="2" charset="-122"/>
                <a:ea typeface="宋体" panose="02010600030101010101" pitchFamily="2" charset="-122"/>
              </a:rPr>
              <a:t>最左推导</a:t>
            </a:r>
            <a:endParaRPr lang="en-US" altLang="zh-CN" sz="2000" dirty="0">
              <a:solidFill>
                <a:srgbClr val="FF0000"/>
              </a:solidFill>
              <a:latin typeface="宋体" pitchFamily="2" charset="-122"/>
              <a:ea typeface="宋体" panose="02010600030101010101" pitchFamily="2" charset="-122"/>
            </a:endParaRPr>
          </a:p>
        </p:txBody>
      </p:sp>
      <p:sp>
        <p:nvSpPr>
          <p:cNvPr id="28" name="矩形 27"/>
          <p:cNvSpPr/>
          <p:nvPr/>
        </p:nvSpPr>
        <p:spPr>
          <a:xfrm>
            <a:off x="4932040" y="2355726"/>
            <a:ext cx="1834477" cy="377989"/>
          </a:xfrm>
          <a:prstGeom prst="rect">
            <a:avLst/>
          </a:prstGeom>
        </p:spPr>
        <p:style>
          <a:lnRef idx="2">
            <a:schemeClr val="accent4"/>
          </a:lnRef>
          <a:fillRef idx="1">
            <a:schemeClr val="lt1"/>
          </a:fillRef>
          <a:effectRef idx="0">
            <a:schemeClr val="accent4"/>
          </a:effectRef>
          <a:fontRef idx="minor">
            <a:schemeClr val="dk1"/>
          </a:fontRef>
        </p:style>
        <p:txBody>
          <a:bodyPr wrap="none">
            <a:spAutoFit/>
          </a:bodyPr>
          <a:lstStyle/>
          <a:p>
            <a:pPr marL="109728" lvl="0">
              <a:lnSpc>
                <a:spcPct val="105000"/>
              </a:lnSpc>
              <a:spcBef>
                <a:spcPct val="0"/>
              </a:spcBef>
              <a:buClr>
                <a:srgbClr val="2DA2BF"/>
              </a:buClr>
              <a:buSzPct val="68000"/>
            </a:pPr>
            <a:r>
              <a:rPr lang="en-US" altLang="zh-CN" sz="2000" dirty="0">
                <a:solidFill>
                  <a:srgbClr val="FF0000"/>
                </a:solidFill>
                <a:latin typeface="宋体" pitchFamily="2" charset="-122"/>
                <a:ea typeface="宋体" panose="02010600030101010101" pitchFamily="2" charset="-122"/>
              </a:rPr>
              <a:t>——</a:t>
            </a:r>
            <a:r>
              <a:rPr lang="zh-CN" altLang="en-US" sz="2000" dirty="0">
                <a:solidFill>
                  <a:srgbClr val="FF0000"/>
                </a:solidFill>
                <a:latin typeface="宋体" pitchFamily="2" charset="-122"/>
                <a:ea typeface="宋体" panose="02010600030101010101" pitchFamily="2" charset="-122"/>
              </a:rPr>
              <a:t>最左归约</a:t>
            </a:r>
            <a:endParaRPr lang="en-US" altLang="zh-CN" sz="2000" dirty="0">
              <a:solidFill>
                <a:srgbClr val="FF0000"/>
              </a:solidFill>
              <a:latin typeface="宋体" pitchFamily="2" charset="-122"/>
              <a:ea typeface="宋体" panose="02010600030101010101" pitchFamily="2" charset="-122"/>
            </a:endParaRPr>
          </a:p>
        </p:txBody>
      </p:sp>
    </p:spTree>
    <p:extLst>
      <p:ext uri="{BB962C8B-B14F-4D97-AF65-F5344CB8AC3E}">
        <p14:creationId xmlns:p14="http://schemas.microsoft.com/office/powerpoint/2010/main" val="171255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09715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48619">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22" presetClass="entr" presetSubtype="1"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up)">
                                      <p:cBhvr>
                                        <p:cTn id="21" dur="10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6"/>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8"/>
                                        </p:tgtEl>
                                        <p:attrNameLst>
                                          <p:attrName>style.visibility</p:attrName>
                                        </p:attrNameLst>
                                      </p:cBhvr>
                                      <p:to>
                                        <p:strVal val="visible"/>
                                      </p:to>
                                    </p:set>
                                  </p:childTnLst>
                                </p:cTn>
                              </p:par>
                              <p:par>
                                <p:cTn id="34" presetID="22" presetClass="entr" presetSubtype="4" fill="hold" nodeType="withEffect">
                                  <p:stCondLst>
                                    <p:cond delay="0"/>
                                  </p:stCondLst>
                                  <p:childTnLst>
                                    <p:set>
                                      <p:cBhvr>
                                        <p:cTn id="35" dur="1" fill="hold">
                                          <p:stCondLst>
                                            <p:cond delay="0"/>
                                          </p:stCondLst>
                                        </p:cTn>
                                        <p:tgtEl>
                                          <p:spTgt spid="3145729"/>
                                        </p:tgtEl>
                                        <p:attrNameLst>
                                          <p:attrName>style.visibility</p:attrName>
                                        </p:attrNameLst>
                                      </p:cBhvr>
                                      <p:to>
                                        <p:strVal val="visible"/>
                                      </p:to>
                                    </p:set>
                                    <p:animEffect transition="in" filter="wipe(down)">
                                      <p:cBhvr>
                                        <p:cTn id="36" dur="1000"/>
                                        <p:tgtEl>
                                          <p:spTgt spid="3145729"/>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3">
                                            <p:bg/>
                                          </p:spTgt>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3">
                                            <p:txEl>
                                              <p:pRg st="0" end="0"/>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048616">
                                            <p:bg/>
                                          </p:spTgt>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048616">
                                            <p:txEl>
                                              <p:pRg st="0" end="0"/>
                                            </p:txEl>
                                          </p:spTgt>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048614"/>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24"/>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27"/>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 calcmode="lin" valueType="num">
                                      <p:cBhvr additive="base">
                                        <p:cTn id="77" dur="500" fill="hold"/>
                                        <p:tgtEl>
                                          <p:spTgt spid="28"/>
                                        </p:tgtEl>
                                        <p:attrNameLst>
                                          <p:attrName>ppt_x</p:attrName>
                                        </p:attrNameLst>
                                      </p:cBhvr>
                                      <p:tavLst>
                                        <p:tav tm="0">
                                          <p:val>
                                            <p:strVal val="1+#ppt_w/2"/>
                                          </p:val>
                                        </p:tav>
                                        <p:tav tm="100000">
                                          <p:val>
                                            <p:strVal val="#ppt_x"/>
                                          </p:val>
                                        </p:tav>
                                      </p:tavLst>
                                    </p:anim>
                                    <p:anim calcmode="lin" valueType="num">
                                      <p:cBhvr additive="base">
                                        <p:cTn id="78"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614" grpId="0" animBg="1"/>
      <p:bldP spid="1048616" grpId="0" build="p" animBg="1"/>
      <p:bldP spid="5" grpId="0"/>
      <p:bldP spid="6" grpId="0"/>
      <p:bldP spid="1048619" grpId="0" build="p"/>
      <p:bldP spid="7" grpId="0"/>
      <p:bldP spid="8" grpId="0"/>
      <p:bldP spid="9" grpId="0"/>
      <p:bldP spid="23" grpId="0" build="p" animBg="1"/>
      <p:bldP spid="24" grpId="0" animBg="1"/>
      <p:bldP spid="25" grpId="0" animBg="1"/>
      <p:bldP spid="26" grpId="0" animBg="1"/>
      <p:bldP spid="27" grpId="0" animBg="1"/>
      <p:bldP spid="28"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3" name="Rectangle 5"/>
          <p:cNvSpPr>
            <a:spLocks noChangeArrowheads="1"/>
          </p:cNvSpPr>
          <p:nvPr/>
        </p:nvSpPr>
        <p:spPr bwMode="auto">
          <a:xfrm>
            <a:off x="323528" y="285734"/>
            <a:ext cx="6264696" cy="83099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zh-CN" altLang="en-US" sz="2400" b="1" i="1" dirty="0">
                <a:solidFill>
                  <a:srgbClr val="000000"/>
                </a:solidFill>
              </a:rPr>
              <a:t>例：</a:t>
            </a:r>
            <a:r>
              <a:rPr lang="zh-CN" altLang="en-US" sz="2400" dirty="0">
                <a:solidFill>
                  <a:srgbClr val="000000"/>
                </a:solidFill>
              </a:rPr>
              <a:t>设有文法</a:t>
            </a:r>
            <a:r>
              <a:rPr lang="en-US" altLang="zh-CN" sz="2400" dirty="0">
                <a:solidFill>
                  <a:srgbClr val="000000"/>
                </a:solidFill>
              </a:rPr>
              <a:t>G[S]</a:t>
            </a:r>
            <a:r>
              <a:rPr lang="zh-CN" altLang="en-US" sz="2400" dirty="0">
                <a:solidFill>
                  <a:srgbClr val="000000"/>
                </a:solidFill>
              </a:rPr>
              <a:t>：</a:t>
            </a:r>
            <a:br>
              <a:rPr lang="zh-CN" altLang="en-US" sz="2400" dirty="0">
                <a:solidFill>
                  <a:srgbClr val="000000"/>
                </a:solidFill>
              </a:rPr>
            </a:br>
            <a:r>
              <a:rPr lang="zh-CN" altLang="en-US" sz="2400" dirty="0">
                <a:solidFill>
                  <a:srgbClr val="000000"/>
                </a:solidFill>
              </a:rPr>
              <a:t>        </a:t>
            </a:r>
            <a:r>
              <a:rPr lang="zh-CN" altLang="en-US" sz="2400" dirty="0">
                <a:solidFill>
                  <a:srgbClr val="000000"/>
                </a:solidFill>
                <a:sym typeface="Symbol" pitchFamily="18" charset="2"/>
              </a:rPr>
              <a:t>使用</a:t>
            </a:r>
            <a:r>
              <a:rPr lang="zh-CN" altLang="en-US" sz="2400" dirty="0">
                <a:solidFill>
                  <a:srgbClr val="0000FF"/>
                </a:solidFill>
                <a:sym typeface="Symbol" pitchFamily="18" charset="2"/>
              </a:rPr>
              <a:t>最右推导</a:t>
            </a:r>
            <a:r>
              <a:rPr lang="zh-CN" altLang="en-US" sz="2400" dirty="0">
                <a:solidFill>
                  <a:srgbClr val="000000"/>
                </a:solidFill>
                <a:sym typeface="Symbol" pitchFamily="18" charset="2"/>
              </a:rPr>
              <a:t>对符号串</a:t>
            </a:r>
            <a:r>
              <a:rPr lang="en-US" altLang="zh-CN" sz="2400" dirty="0">
                <a:solidFill>
                  <a:srgbClr val="000000"/>
                </a:solidFill>
                <a:sym typeface="Symbol" pitchFamily="18" charset="2"/>
              </a:rPr>
              <a:t> </a:t>
            </a:r>
            <a:r>
              <a:rPr lang="en-US" altLang="zh-CN" sz="2400" b="1" dirty="0" err="1">
                <a:solidFill>
                  <a:srgbClr val="FF0000"/>
                </a:solidFill>
                <a:sym typeface="Symbol" pitchFamily="18" charset="2"/>
              </a:rPr>
              <a:t>abbcde</a:t>
            </a:r>
            <a:r>
              <a:rPr lang="zh-CN" altLang="en-US" sz="2400" dirty="0">
                <a:sym typeface="Symbol" pitchFamily="18" charset="2"/>
              </a:rPr>
              <a:t> </a:t>
            </a:r>
            <a:r>
              <a:rPr lang="zh-CN" altLang="en-US" sz="2400" dirty="0">
                <a:solidFill>
                  <a:srgbClr val="000000"/>
                </a:solidFill>
                <a:sym typeface="Symbol" pitchFamily="18" charset="2"/>
              </a:rPr>
              <a:t>进行分析。</a:t>
            </a:r>
          </a:p>
        </p:txBody>
      </p:sp>
      <p:sp>
        <p:nvSpPr>
          <p:cNvPr id="1048624" name="矩形 2"/>
          <p:cNvSpPr/>
          <p:nvPr/>
        </p:nvSpPr>
        <p:spPr>
          <a:xfrm>
            <a:off x="6804248" y="80026"/>
            <a:ext cx="1872208" cy="1200329"/>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r>
              <a:rPr lang="en-US" altLang="zh-CN" dirty="0">
                <a:solidFill>
                  <a:srgbClr val="0000FF"/>
                </a:solidFill>
              </a:rPr>
              <a:t>(1) S </a:t>
            </a:r>
            <a:r>
              <a:rPr lang="en-US" altLang="zh-CN" dirty="0">
                <a:solidFill>
                  <a:srgbClr val="0000FF"/>
                </a:solidFill>
                <a:sym typeface="Symbol" pitchFamily="18" charset="2"/>
              </a:rPr>
              <a:t> </a:t>
            </a:r>
            <a:r>
              <a:rPr lang="en-US" altLang="zh-CN" dirty="0" err="1">
                <a:solidFill>
                  <a:srgbClr val="0000FF"/>
                </a:solidFill>
                <a:sym typeface="Symbol" pitchFamily="18" charset="2"/>
              </a:rPr>
              <a:t>aAcBe</a:t>
            </a:r>
            <a:br>
              <a:rPr lang="en-US" altLang="zh-CN" dirty="0">
                <a:solidFill>
                  <a:srgbClr val="0000FF"/>
                </a:solidFill>
                <a:sym typeface="Symbol" pitchFamily="18" charset="2"/>
              </a:rPr>
            </a:br>
            <a:r>
              <a:rPr lang="en-US" altLang="zh-CN" dirty="0">
                <a:solidFill>
                  <a:srgbClr val="0000FF"/>
                </a:solidFill>
                <a:sym typeface="Symbol" pitchFamily="18" charset="2"/>
              </a:rPr>
              <a:t>(2) A  b </a:t>
            </a:r>
            <a:br>
              <a:rPr lang="en-US" altLang="zh-CN" dirty="0">
                <a:solidFill>
                  <a:srgbClr val="0000FF"/>
                </a:solidFill>
                <a:sym typeface="Symbol" pitchFamily="18" charset="2"/>
              </a:rPr>
            </a:br>
            <a:r>
              <a:rPr lang="en-US" altLang="zh-CN" dirty="0">
                <a:solidFill>
                  <a:srgbClr val="0000FF"/>
                </a:solidFill>
                <a:sym typeface="Symbol" pitchFamily="18" charset="2"/>
              </a:rPr>
              <a:t>(3) A  Ab</a:t>
            </a:r>
            <a:br>
              <a:rPr lang="en-US" altLang="zh-CN" dirty="0">
                <a:solidFill>
                  <a:srgbClr val="0000FF"/>
                </a:solidFill>
                <a:sym typeface="Symbol" pitchFamily="18" charset="2"/>
              </a:rPr>
            </a:br>
            <a:r>
              <a:rPr lang="en-US" altLang="zh-CN" dirty="0">
                <a:solidFill>
                  <a:srgbClr val="0000FF"/>
                </a:solidFill>
                <a:sym typeface="Symbol" pitchFamily="18" charset="2"/>
              </a:rPr>
              <a:t>(4) B  d</a:t>
            </a:r>
            <a:endParaRPr lang="zh-CN" altLang="en-US" dirty="0"/>
          </a:p>
        </p:txBody>
      </p:sp>
      <p:sp>
        <p:nvSpPr>
          <p:cNvPr id="1048625" name="矩形 3"/>
          <p:cNvSpPr/>
          <p:nvPr/>
        </p:nvSpPr>
        <p:spPr>
          <a:xfrm>
            <a:off x="795723" y="2693601"/>
            <a:ext cx="4968552" cy="400110"/>
          </a:xfrm>
          <a:prstGeom prst="rect">
            <a:avLst/>
          </a:prstGeom>
          <a:solidFill>
            <a:schemeClr val="bg1"/>
          </a:solidFill>
        </p:spPr>
        <p:txBody>
          <a:bodyPr wrap="square">
            <a:spAutoFit/>
          </a:bodyPr>
          <a:lstStyle/>
          <a:p>
            <a:pPr>
              <a:spcBef>
                <a:spcPct val="0"/>
              </a:spcBef>
            </a:pPr>
            <a:r>
              <a:rPr lang="zh-CN" altLang="en-US" sz="2000" dirty="0">
                <a:solidFill>
                  <a:srgbClr val="000000"/>
                </a:solidFill>
                <a:latin typeface="宋体" panose="02010600030101010101" pitchFamily="2" charset="-122"/>
                <a:ea typeface="宋体" panose="02010600030101010101" pitchFamily="2" charset="-122"/>
                <a:sym typeface="Symbol" pitchFamily="18" charset="2"/>
              </a:rPr>
              <a:t>所以   </a:t>
            </a:r>
            <a:r>
              <a:rPr lang="en-US" altLang="zh-CN" sz="2000" dirty="0" err="1">
                <a:solidFill>
                  <a:srgbClr val="FF0000"/>
                </a:solidFill>
                <a:latin typeface="宋体" panose="02010600030101010101" pitchFamily="2" charset="-122"/>
                <a:ea typeface="宋体" panose="02010600030101010101" pitchFamily="2" charset="-122"/>
                <a:sym typeface="Symbol" pitchFamily="18" charset="2"/>
              </a:rPr>
              <a:t>abbcde</a:t>
            </a:r>
            <a:r>
              <a:rPr lang="zh-CN" altLang="en-US" sz="2000" dirty="0">
                <a:solidFill>
                  <a:srgbClr val="000000"/>
                </a:solidFill>
                <a:latin typeface="宋体" panose="02010600030101010101" pitchFamily="2" charset="-122"/>
                <a:ea typeface="宋体" panose="02010600030101010101" pitchFamily="2" charset="-122"/>
                <a:sym typeface="Symbol" pitchFamily="18" charset="2"/>
              </a:rPr>
              <a:t>是文法</a:t>
            </a:r>
            <a:r>
              <a:rPr lang="en-US" altLang="zh-CN" sz="2000" dirty="0">
                <a:solidFill>
                  <a:srgbClr val="000000"/>
                </a:solidFill>
                <a:latin typeface="宋体" panose="02010600030101010101" pitchFamily="2" charset="-122"/>
                <a:ea typeface="宋体" panose="02010600030101010101" pitchFamily="2" charset="-122"/>
                <a:sym typeface="Symbol" pitchFamily="18" charset="2"/>
              </a:rPr>
              <a:t>G</a:t>
            </a:r>
            <a:r>
              <a:rPr lang="zh-CN" altLang="en-US" sz="2000" dirty="0">
                <a:solidFill>
                  <a:srgbClr val="000000"/>
                </a:solidFill>
                <a:latin typeface="宋体" panose="02010600030101010101" pitchFamily="2" charset="-122"/>
                <a:ea typeface="宋体" panose="02010600030101010101" pitchFamily="2" charset="-122"/>
                <a:sym typeface="Symbol" pitchFamily="18" charset="2"/>
              </a:rPr>
              <a:t>的句子。</a:t>
            </a:r>
          </a:p>
        </p:txBody>
      </p:sp>
      <p:cxnSp>
        <p:nvCxnSpPr>
          <p:cNvPr id="3145730" name="直接箭头连接符 6"/>
          <p:cNvCxnSpPr>
            <a:cxnSpLocks/>
          </p:cNvCxnSpPr>
          <p:nvPr/>
        </p:nvCxnSpPr>
        <p:spPr>
          <a:xfrm>
            <a:off x="827584" y="2427734"/>
            <a:ext cx="6462820" cy="0"/>
          </a:xfrm>
          <a:prstGeom prst="straightConnector1">
            <a:avLst/>
          </a:prstGeom>
          <a:ln w="38100">
            <a:solidFill>
              <a:srgbClr val="0000CC"/>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4194304" name="对象 7"/>
          <p:cNvGraphicFramePr>
            <a:graphicFrameLocks noChangeAspect="1"/>
          </p:cNvGraphicFramePr>
          <p:nvPr>
            <p:extLst>
              <p:ext uri="{D42A27DB-BD31-4B8C-83A1-F6EECF244321}">
                <p14:modId xmlns:p14="http://schemas.microsoft.com/office/powerpoint/2010/main" val="3278133881"/>
              </p:ext>
            </p:extLst>
          </p:nvPr>
        </p:nvGraphicFramePr>
        <p:xfrm>
          <a:off x="6012160" y="3131294"/>
          <a:ext cx="465137" cy="736600"/>
        </p:xfrm>
        <a:graphic>
          <a:graphicData uri="http://schemas.openxmlformats.org/presentationml/2006/ole">
            <mc:AlternateContent xmlns:mc="http://schemas.openxmlformats.org/markup-compatibility/2006">
              <mc:Choice xmlns:v="urn:schemas-microsoft-com:vml" Requires="v">
                <p:oleObj spid="_x0000_s24618" name="Equation" r:id="rId4" imgW="190440" imgH="304560" progId="Equation.DSMT4">
                  <p:embed/>
                </p:oleObj>
              </mc:Choice>
              <mc:Fallback>
                <p:oleObj name="Equation" r:id="rId4" imgW="190440" imgH="304560" progId="Equation.DSMT4">
                  <p:embed/>
                  <p:pic>
                    <p:nvPicPr>
                      <p:cNvPr id="4194304" name="对象 7"/>
                      <p:cNvPicPr>
                        <a:picLocks/>
                      </p:cNvPicPr>
                      <p:nvPr/>
                    </p:nvPicPr>
                    <p:blipFill>
                      <a:blip r:embed="rId5"/>
                      <a:stretch>
                        <a:fillRect/>
                      </a:stretch>
                    </p:blipFill>
                    <p:spPr>
                      <a:xfrm>
                        <a:off x="6012160" y="3131294"/>
                        <a:ext cx="465137" cy="736600"/>
                      </a:xfrm>
                      <a:prstGeom prst="rect">
                        <a:avLst/>
                      </a:prstGeom>
                    </p:spPr>
                  </p:pic>
                </p:oleObj>
              </mc:Fallback>
            </mc:AlternateContent>
          </a:graphicData>
        </a:graphic>
      </p:graphicFrame>
      <p:graphicFrame>
        <p:nvGraphicFramePr>
          <p:cNvPr id="4194305" name="对象 8"/>
          <p:cNvGraphicFramePr>
            <a:graphicFrameLocks noChangeAspect="1"/>
          </p:cNvGraphicFramePr>
          <p:nvPr>
            <p:extLst>
              <p:ext uri="{D42A27DB-BD31-4B8C-83A1-F6EECF244321}">
                <p14:modId xmlns:p14="http://schemas.microsoft.com/office/powerpoint/2010/main" val="3164117140"/>
              </p:ext>
            </p:extLst>
          </p:nvPr>
        </p:nvGraphicFramePr>
        <p:xfrm>
          <a:off x="683568" y="1434755"/>
          <a:ext cx="787400" cy="939800"/>
        </p:xfrm>
        <a:graphic>
          <a:graphicData uri="http://schemas.openxmlformats.org/presentationml/2006/ole">
            <mc:AlternateContent xmlns:mc="http://schemas.openxmlformats.org/markup-compatibility/2006">
              <mc:Choice xmlns:v="urn:schemas-microsoft-com:vml" Requires="v">
                <p:oleObj spid="_x0000_s24619" name="Equation" r:id="rId6" imgW="330120" imgH="393480" progId="Equation.DSMT4">
                  <p:embed/>
                </p:oleObj>
              </mc:Choice>
              <mc:Fallback>
                <p:oleObj name="Equation" r:id="rId6" imgW="330120" imgH="393480" progId="Equation.DSMT4">
                  <p:embed/>
                  <p:pic>
                    <p:nvPicPr>
                      <p:cNvPr id="4194305" name="对象 8"/>
                      <p:cNvPicPr>
                        <a:picLocks/>
                      </p:cNvPicPr>
                      <p:nvPr/>
                    </p:nvPicPr>
                    <p:blipFill>
                      <a:blip r:embed="rId7"/>
                      <a:stretch>
                        <a:fillRect/>
                      </a:stretch>
                    </p:blipFill>
                    <p:spPr>
                      <a:xfrm>
                        <a:off x="683568" y="1434755"/>
                        <a:ext cx="787400" cy="939800"/>
                      </a:xfrm>
                      <a:prstGeom prst="rect">
                        <a:avLst/>
                      </a:prstGeom>
                    </p:spPr>
                  </p:pic>
                </p:oleObj>
              </mc:Fallback>
            </mc:AlternateContent>
          </a:graphicData>
        </a:graphic>
      </p:graphicFrame>
      <p:cxnSp>
        <p:nvCxnSpPr>
          <p:cNvPr id="3145731" name="直接箭头连接符 25"/>
          <p:cNvCxnSpPr>
            <a:cxnSpLocks/>
          </p:cNvCxnSpPr>
          <p:nvPr/>
        </p:nvCxnSpPr>
        <p:spPr>
          <a:xfrm flipH="1">
            <a:off x="613297" y="4093210"/>
            <a:ext cx="6592981" cy="0"/>
          </a:xfrm>
          <a:prstGeom prst="straightConnector1">
            <a:avLst/>
          </a:prstGeom>
          <a:ln w="38100">
            <a:solidFill>
              <a:srgbClr val="0000CC"/>
            </a:solidFill>
            <a:tailEnd type="arrow"/>
          </a:ln>
        </p:spPr>
        <p:style>
          <a:lnRef idx="1">
            <a:schemeClr val="accent1"/>
          </a:lnRef>
          <a:fillRef idx="0">
            <a:schemeClr val="accent1"/>
          </a:fillRef>
          <a:effectRef idx="0">
            <a:schemeClr val="accent1"/>
          </a:effectRef>
          <a:fontRef idx="minor">
            <a:schemeClr val="tx1"/>
          </a:fontRef>
        </p:style>
      </p:cxnSp>
      <p:sp>
        <p:nvSpPr>
          <p:cNvPr id="1048626" name="矩形 28"/>
          <p:cNvSpPr/>
          <p:nvPr/>
        </p:nvSpPr>
        <p:spPr>
          <a:xfrm>
            <a:off x="613297" y="4325628"/>
            <a:ext cx="4968552" cy="400110"/>
          </a:xfrm>
          <a:prstGeom prst="rect">
            <a:avLst/>
          </a:prstGeom>
          <a:solidFill>
            <a:schemeClr val="bg1"/>
          </a:solidFill>
        </p:spPr>
        <p:txBody>
          <a:bodyPr wrap="square">
            <a:spAutoFit/>
          </a:bodyPr>
          <a:lstStyle/>
          <a:p>
            <a:pPr>
              <a:spcBef>
                <a:spcPct val="0"/>
              </a:spcBef>
            </a:pPr>
            <a:r>
              <a:rPr lang="zh-CN" altLang="en-US" sz="2000" dirty="0">
                <a:solidFill>
                  <a:srgbClr val="000000"/>
                </a:solidFill>
                <a:latin typeface="宋体" panose="02010600030101010101" pitchFamily="2" charset="-122"/>
                <a:ea typeface="宋体" panose="02010600030101010101" pitchFamily="2" charset="-122"/>
                <a:sym typeface="Symbol" pitchFamily="18" charset="2"/>
              </a:rPr>
              <a:t>同样，</a:t>
            </a:r>
            <a:r>
              <a:rPr lang="en-US" altLang="zh-CN" sz="2000" dirty="0" err="1">
                <a:solidFill>
                  <a:srgbClr val="FF0000"/>
                </a:solidFill>
                <a:latin typeface="宋体" panose="02010600030101010101" pitchFamily="2" charset="-122"/>
                <a:ea typeface="宋体" panose="02010600030101010101" pitchFamily="2" charset="-122"/>
                <a:sym typeface="Symbol" pitchFamily="18" charset="2"/>
              </a:rPr>
              <a:t>abbcde</a:t>
            </a:r>
            <a:r>
              <a:rPr lang="zh-CN" altLang="en-US" sz="2000" dirty="0">
                <a:solidFill>
                  <a:srgbClr val="000000"/>
                </a:solidFill>
                <a:latin typeface="宋体" panose="02010600030101010101" pitchFamily="2" charset="-122"/>
                <a:ea typeface="宋体" panose="02010600030101010101" pitchFamily="2" charset="-122"/>
                <a:sym typeface="Symbol" pitchFamily="18" charset="2"/>
              </a:rPr>
              <a:t>是文法</a:t>
            </a:r>
            <a:r>
              <a:rPr lang="en-US" altLang="zh-CN" sz="2000" dirty="0">
                <a:solidFill>
                  <a:srgbClr val="000000"/>
                </a:solidFill>
                <a:latin typeface="宋体" panose="02010600030101010101" pitchFamily="2" charset="-122"/>
                <a:ea typeface="宋体" panose="02010600030101010101" pitchFamily="2" charset="-122"/>
                <a:sym typeface="Symbol" pitchFamily="18" charset="2"/>
              </a:rPr>
              <a:t>G</a:t>
            </a:r>
            <a:r>
              <a:rPr lang="zh-CN" altLang="en-US" sz="2000" dirty="0">
                <a:solidFill>
                  <a:srgbClr val="000000"/>
                </a:solidFill>
                <a:latin typeface="宋体" panose="02010600030101010101" pitchFamily="2" charset="-122"/>
                <a:ea typeface="宋体" panose="02010600030101010101" pitchFamily="2" charset="-122"/>
                <a:sym typeface="Symbol" pitchFamily="18" charset="2"/>
              </a:rPr>
              <a:t>的句子。</a:t>
            </a:r>
          </a:p>
        </p:txBody>
      </p:sp>
      <p:graphicFrame>
        <p:nvGraphicFramePr>
          <p:cNvPr id="10" name="对象 8"/>
          <p:cNvGraphicFramePr>
            <a:graphicFrameLocks noChangeAspect="1"/>
          </p:cNvGraphicFramePr>
          <p:nvPr>
            <p:extLst>
              <p:ext uri="{D42A27DB-BD31-4B8C-83A1-F6EECF244321}">
                <p14:modId xmlns:p14="http://schemas.microsoft.com/office/powerpoint/2010/main" val="659422464"/>
              </p:ext>
            </p:extLst>
          </p:nvPr>
        </p:nvGraphicFramePr>
        <p:xfrm>
          <a:off x="2598563" y="1487934"/>
          <a:ext cx="454025" cy="939800"/>
        </p:xfrm>
        <a:graphic>
          <a:graphicData uri="http://schemas.openxmlformats.org/presentationml/2006/ole">
            <mc:AlternateContent xmlns:mc="http://schemas.openxmlformats.org/markup-compatibility/2006">
              <mc:Choice xmlns:v="urn:schemas-microsoft-com:vml" Requires="v">
                <p:oleObj spid="_x0000_s24620" name="Equation" r:id="rId8" imgW="190440" imgH="393480" progId="Equation.DSMT4">
                  <p:embed/>
                </p:oleObj>
              </mc:Choice>
              <mc:Fallback>
                <p:oleObj name="Equation" r:id="rId8" imgW="190440" imgH="393480" progId="Equation.DSMT4">
                  <p:embed/>
                  <p:pic>
                    <p:nvPicPr>
                      <p:cNvPr id="10" name="对象 8"/>
                      <p:cNvPicPr>
                        <a:picLocks/>
                      </p:cNvPicPr>
                      <p:nvPr/>
                    </p:nvPicPr>
                    <p:blipFill>
                      <a:blip r:embed="rId9"/>
                      <a:stretch>
                        <a:fillRect/>
                      </a:stretch>
                    </p:blipFill>
                    <p:spPr>
                      <a:xfrm>
                        <a:off x="2598563" y="1487934"/>
                        <a:ext cx="454025" cy="939800"/>
                      </a:xfrm>
                      <a:prstGeom prst="rect">
                        <a:avLst/>
                      </a:prstGeom>
                    </p:spPr>
                  </p:pic>
                </p:oleObj>
              </mc:Fallback>
            </mc:AlternateContent>
          </a:graphicData>
        </a:graphic>
      </p:graphicFrame>
      <p:graphicFrame>
        <p:nvGraphicFramePr>
          <p:cNvPr id="11" name="对象 8"/>
          <p:cNvGraphicFramePr>
            <a:graphicFrameLocks noChangeAspect="1"/>
          </p:cNvGraphicFramePr>
          <p:nvPr>
            <p:extLst>
              <p:ext uri="{D42A27DB-BD31-4B8C-83A1-F6EECF244321}">
                <p14:modId xmlns:p14="http://schemas.microsoft.com/office/powerpoint/2010/main" val="832231449"/>
              </p:ext>
            </p:extLst>
          </p:nvPr>
        </p:nvGraphicFramePr>
        <p:xfrm>
          <a:off x="4243758" y="1429248"/>
          <a:ext cx="454025" cy="939800"/>
        </p:xfrm>
        <a:graphic>
          <a:graphicData uri="http://schemas.openxmlformats.org/presentationml/2006/ole">
            <mc:AlternateContent xmlns:mc="http://schemas.openxmlformats.org/markup-compatibility/2006">
              <mc:Choice xmlns:v="urn:schemas-microsoft-com:vml" Requires="v">
                <p:oleObj spid="_x0000_s24621" name="Equation" r:id="rId10" imgW="190440" imgH="393480" progId="Equation.DSMT4">
                  <p:embed/>
                </p:oleObj>
              </mc:Choice>
              <mc:Fallback>
                <p:oleObj name="Equation" r:id="rId10" imgW="190440" imgH="393480" progId="Equation.DSMT4">
                  <p:embed/>
                  <p:pic>
                    <p:nvPicPr>
                      <p:cNvPr id="11" name="对象 8"/>
                      <p:cNvPicPr>
                        <a:picLocks/>
                      </p:cNvPicPr>
                      <p:nvPr/>
                    </p:nvPicPr>
                    <p:blipFill>
                      <a:blip r:embed="rId11"/>
                      <a:stretch>
                        <a:fillRect/>
                      </a:stretch>
                    </p:blipFill>
                    <p:spPr>
                      <a:xfrm>
                        <a:off x="4243758" y="1429248"/>
                        <a:ext cx="454025" cy="939800"/>
                      </a:xfrm>
                      <a:prstGeom prst="rect">
                        <a:avLst/>
                      </a:prstGeom>
                    </p:spPr>
                  </p:pic>
                </p:oleObj>
              </mc:Fallback>
            </mc:AlternateContent>
          </a:graphicData>
        </a:graphic>
      </p:graphicFrame>
      <p:graphicFrame>
        <p:nvGraphicFramePr>
          <p:cNvPr id="12" name="对象 8"/>
          <p:cNvGraphicFramePr>
            <a:graphicFrameLocks noChangeAspect="1"/>
          </p:cNvGraphicFramePr>
          <p:nvPr>
            <p:extLst>
              <p:ext uri="{D42A27DB-BD31-4B8C-83A1-F6EECF244321}">
                <p14:modId xmlns:p14="http://schemas.microsoft.com/office/powerpoint/2010/main" val="3567204079"/>
              </p:ext>
            </p:extLst>
          </p:nvPr>
        </p:nvGraphicFramePr>
        <p:xfrm>
          <a:off x="6027068" y="1433997"/>
          <a:ext cx="454025" cy="939800"/>
        </p:xfrm>
        <a:graphic>
          <a:graphicData uri="http://schemas.openxmlformats.org/presentationml/2006/ole">
            <mc:AlternateContent xmlns:mc="http://schemas.openxmlformats.org/markup-compatibility/2006">
              <mc:Choice xmlns:v="urn:schemas-microsoft-com:vml" Requires="v">
                <p:oleObj spid="_x0000_s24622" name="Equation" r:id="rId12" imgW="190440" imgH="393480" progId="Equation.DSMT4">
                  <p:embed/>
                </p:oleObj>
              </mc:Choice>
              <mc:Fallback>
                <p:oleObj name="Equation" r:id="rId12" imgW="190440" imgH="393480" progId="Equation.DSMT4">
                  <p:embed/>
                  <p:pic>
                    <p:nvPicPr>
                      <p:cNvPr id="12" name="对象 8"/>
                      <p:cNvPicPr>
                        <a:picLocks/>
                      </p:cNvPicPr>
                      <p:nvPr/>
                    </p:nvPicPr>
                    <p:blipFill>
                      <a:blip r:embed="rId13"/>
                      <a:stretch>
                        <a:fillRect/>
                      </a:stretch>
                    </p:blipFill>
                    <p:spPr>
                      <a:xfrm>
                        <a:off x="6027068" y="1433997"/>
                        <a:ext cx="454025" cy="939800"/>
                      </a:xfrm>
                      <a:prstGeom prst="rect">
                        <a:avLst/>
                      </a:prstGeom>
                    </p:spPr>
                  </p:pic>
                </p:oleObj>
              </mc:Fallback>
            </mc:AlternateContent>
          </a:graphicData>
        </a:graphic>
      </p:graphicFrame>
      <p:sp>
        <p:nvSpPr>
          <p:cNvPr id="3" name="TextBox 2"/>
          <p:cNvSpPr txBox="1"/>
          <p:nvPr/>
        </p:nvSpPr>
        <p:spPr>
          <a:xfrm>
            <a:off x="3102619" y="1763330"/>
            <a:ext cx="1368152" cy="461665"/>
          </a:xfrm>
          <a:prstGeom prst="rect">
            <a:avLst/>
          </a:prstGeom>
          <a:noFill/>
        </p:spPr>
        <p:txBody>
          <a:bodyPr wrap="square" rtlCol="0">
            <a:spAutoFit/>
          </a:bodyPr>
          <a:lstStyle/>
          <a:p>
            <a:r>
              <a:rPr lang="en-US" altLang="zh-CN" sz="2400" dirty="0" err="1"/>
              <a:t>a</a:t>
            </a:r>
            <a:r>
              <a:rPr lang="en-US" altLang="zh-CN" sz="2400" dirty="0" err="1">
                <a:solidFill>
                  <a:srgbClr val="CC00FF"/>
                </a:solidFill>
              </a:rPr>
              <a:t>A</a:t>
            </a:r>
            <a:r>
              <a:rPr lang="en-US" altLang="zh-CN" sz="2400" dirty="0" err="1"/>
              <a:t>cde</a:t>
            </a:r>
            <a:endParaRPr lang="zh-CN" altLang="en-US" sz="2400" dirty="0"/>
          </a:p>
        </p:txBody>
      </p:sp>
      <p:sp>
        <p:nvSpPr>
          <p:cNvPr id="15" name="TextBox 14"/>
          <p:cNvSpPr txBox="1"/>
          <p:nvPr/>
        </p:nvSpPr>
        <p:spPr>
          <a:xfrm>
            <a:off x="1459831" y="1763329"/>
            <a:ext cx="1368152" cy="461665"/>
          </a:xfrm>
          <a:prstGeom prst="rect">
            <a:avLst/>
          </a:prstGeom>
          <a:noFill/>
        </p:spPr>
        <p:txBody>
          <a:bodyPr wrap="square" rtlCol="0">
            <a:spAutoFit/>
          </a:bodyPr>
          <a:lstStyle/>
          <a:p>
            <a:r>
              <a:rPr lang="en-US" altLang="zh-CN" sz="2400" dirty="0" err="1"/>
              <a:t>aAc</a:t>
            </a:r>
            <a:r>
              <a:rPr lang="en-US" altLang="zh-CN" sz="2400" dirty="0" err="1">
                <a:solidFill>
                  <a:srgbClr val="CC00FF"/>
                </a:solidFill>
              </a:rPr>
              <a:t>B</a:t>
            </a:r>
            <a:r>
              <a:rPr lang="en-US" altLang="zh-CN" sz="2400" dirty="0" err="1"/>
              <a:t>e</a:t>
            </a:r>
            <a:endParaRPr lang="zh-CN" altLang="en-US" sz="2400" dirty="0"/>
          </a:p>
        </p:txBody>
      </p:sp>
      <p:sp>
        <p:nvSpPr>
          <p:cNvPr id="16" name="TextBox 15"/>
          <p:cNvSpPr txBox="1"/>
          <p:nvPr/>
        </p:nvSpPr>
        <p:spPr>
          <a:xfrm>
            <a:off x="4772199" y="1768504"/>
            <a:ext cx="1368152" cy="461665"/>
          </a:xfrm>
          <a:prstGeom prst="rect">
            <a:avLst/>
          </a:prstGeom>
          <a:noFill/>
        </p:spPr>
        <p:txBody>
          <a:bodyPr wrap="square" rtlCol="0">
            <a:spAutoFit/>
          </a:bodyPr>
          <a:lstStyle/>
          <a:p>
            <a:r>
              <a:rPr lang="en-US" altLang="zh-CN" sz="2400" dirty="0" err="1"/>
              <a:t>a</a:t>
            </a:r>
            <a:r>
              <a:rPr lang="en-US" altLang="zh-CN" sz="2400" dirty="0" err="1">
                <a:solidFill>
                  <a:srgbClr val="CC00FF"/>
                </a:solidFill>
              </a:rPr>
              <a:t>A</a:t>
            </a:r>
            <a:r>
              <a:rPr lang="en-US" altLang="zh-CN" sz="2400" dirty="0" err="1"/>
              <a:t>bcde</a:t>
            </a:r>
            <a:endParaRPr lang="zh-CN" altLang="en-US" sz="2400" dirty="0"/>
          </a:p>
        </p:txBody>
      </p:sp>
      <p:sp>
        <p:nvSpPr>
          <p:cNvPr id="17" name="TextBox 16"/>
          <p:cNvSpPr txBox="1"/>
          <p:nvPr/>
        </p:nvSpPr>
        <p:spPr>
          <a:xfrm>
            <a:off x="6522202" y="1782147"/>
            <a:ext cx="1368152" cy="461665"/>
          </a:xfrm>
          <a:prstGeom prst="rect">
            <a:avLst/>
          </a:prstGeom>
          <a:noFill/>
        </p:spPr>
        <p:txBody>
          <a:bodyPr wrap="square" rtlCol="0">
            <a:spAutoFit/>
          </a:bodyPr>
          <a:lstStyle/>
          <a:p>
            <a:r>
              <a:rPr lang="en-US" altLang="zh-CN" sz="2400" dirty="0" err="1"/>
              <a:t>abbcde</a:t>
            </a:r>
            <a:endParaRPr lang="zh-CN" altLang="en-US" sz="2400" dirty="0"/>
          </a:p>
        </p:txBody>
      </p:sp>
      <p:sp>
        <p:nvSpPr>
          <p:cNvPr id="4" name="TextBox 3"/>
          <p:cNvSpPr txBox="1"/>
          <p:nvPr/>
        </p:nvSpPr>
        <p:spPr>
          <a:xfrm>
            <a:off x="7890354" y="2243812"/>
            <a:ext cx="1146142" cy="369332"/>
          </a:xfrm>
          <a:prstGeom prst="rect">
            <a:avLst/>
          </a:prstGeom>
          <a:noFill/>
        </p:spPr>
        <p:txBody>
          <a:bodyPr wrap="square" rtlCol="0">
            <a:spAutoFit/>
          </a:bodyPr>
          <a:lstStyle/>
          <a:p>
            <a:r>
              <a:rPr lang="zh-CN" altLang="en-US" dirty="0"/>
              <a:t>最右推导</a:t>
            </a:r>
          </a:p>
        </p:txBody>
      </p:sp>
      <p:sp>
        <p:nvSpPr>
          <p:cNvPr id="19" name="TextBox 18"/>
          <p:cNvSpPr txBox="1"/>
          <p:nvPr/>
        </p:nvSpPr>
        <p:spPr>
          <a:xfrm>
            <a:off x="7740352" y="3795886"/>
            <a:ext cx="1146142" cy="369332"/>
          </a:xfrm>
          <a:prstGeom prst="rect">
            <a:avLst/>
          </a:prstGeom>
          <a:noFill/>
        </p:spPr>
        <p:txBody>
          <a:bodyPr wrap="square" rtlCol="0">
            <a:spAutoFit/>
          </a:bodyPr>
          <a:lstStyle/>
          <a:p>
            <a:r>
              <a:rPr lang="zh-CN" altLang="en-US" dirty="0"/>
              <a:t>最左归约</a:t>
            </a:r>
          </a:p>
        </p:txBody>
      </p:sp>
      <p:sp>
        <p:nvSpPr>
          <p:cNvPr id="24" name="TextBox 23"/>
          <p:cNvSpPr txBox="1"/>
          <p:nvPr/>
        </p:nvSpPr>
        <p:spPr>
          <a:xfrm>
            <a:off x="3226456" y="3363838"/>
            <a:ext cx="533277" cy="461665"/>
          </a:xfrm>
          <a:prstGeom prst="rect">
            <a:avLst/>
          </a:prstGeom>
          <a:noFill/>
        </p:spPr>
        <p:txBody>
          <a:bodyPr wrap="square" rtlCol="0">
            <a:spAutoFit/>
          </a:bodyPr>
          <a:lstStyle/>
          <a:p>
            <a:r>
              <a:rPr lang="en-US" altLang="zh-CN" sz="2400" dirty="0" err="1">
                <a:latin typeface="宋体" panose="02010600030101010101" pitchFamily="2" charset="-122"/>
                <a:ea typeface="宋体" panose="02010600030101010101" pitchFamily="2" charset="-122"/>
              </a:rPr>
              <a:t>aA</a:t>
            </a:r>
            <a:endParaRPr lang="zh-CN" altLang="en-US" sz="2400" dirty="0">
              <a:latin typeface="宋体" panose="02010600030101010101" pitchFamily="2" charset="-122"/>
              <a:ea typeface="宋体" panose="02010600030101010101" pitchFamily="2" charset="-122"/>
            </a:endParaRPr>
          </a:p>
        </p:txBody>
      </p:sp>
      <p:sp>
        <p:nvSpPr>
          <p:cNvPr id="25" name="TextBox 24"/>
          <p:cNvSpPr txBox="1"/>
          <p:nvPr/>
        </p:nvSpPr>
        <p:spPr>
          <a:xfrm>
            <a:off x="1511660" y="3441464"/>
            <a:ext cx="1368152" cy="461665"/>
          </a:xfrm>
          <a:prstGeom prst="rect">
            <a:avLst/>
          </a:prstGeom>
          <a:noFill/>
        </p:spPr>
        <p:txBody>
          <a:bodyPr wrap="square" rtlCol="0">
            <a:spAutoFit/>
          </a:bodyPr>
          <a:lstStyle/>
          <a:p>
            <a:r>
              <a:rPr lang="en-US" altLang="zh-CN" sz="2400" dirty="0" err="1"/>
              <a:t>aAc</a:t>
            </a:r>
            <a:r>
              <a:rPr lang="en-US" altLang="zh-CN" sz="2400" dirty="0" err="1">
                <a:solidFill>
                  <a:srgbClr val="CC00FF"/>
                </a:solidFill>
              </a:rPr>
              <a:t>B</a:t>
            </a:r>
            <a:endParaRPr lang="zh-CN" altLang="en-US" sz="2400" dirty="0"/>
          </a:p>
        </p:txBody>
      </p:sp>
      <p:sp>
        <p:nvSpPr>
          <p:cNvPr id="26" name="TextBox 25"/>
          <p:cNvSpPr txBox="1"/>
          <p:nvPr/>
        </p:nvSpPr>
        <p:spPr>
          <a:xfrm>
            <a:off x="4824028" y="3446639"/>
            <a:ext cx="684076" cy="461665"/>
          </a:xfrm>
          <a:prstGeom prst="rect">
            <a:avLst/>
          </a:prstGeom>
          <a:noFill/>
        </p:spPr>
        <p:txBody>
          <a:bodyPr wrap="square" rtlCol="0">
            <a:spAutoFit/>
          </a:bodyPr>
          <a:lstStyle/>
          <a:p>
            <a:r>
              <a:rPr lang="en-US" altLang="zh-CN" sz="2400" dirty="0" err="1"/>
              <a:t>a</a:t>
            </a:r>
            <a:r>
              <a:rPr lang="en-US" altLang="zh-CN" sz="2400" dirty="0" err="1">
                <a:solidFill>
                  <a:srgbClr val="FF0000"/>
                </a:solidFill>
              </a:rPr>
              <a:t>A</a:t>
            </a:r>
            <a:endParaRPr lang="zh-CN" altLang="en-US" sz="2400" dirty="0"/>
          </a:p>
        </p:txBody>
      </p:sp>
      <p:sp>
        <p:nvSpPr>
          <p:cNvPr id="27" name="TextBox 26"/>
          <p:cNvSpPr txBox="1"/>
          <p:nvPr/>
        </p:nvSpPr>
        <p:spPr>
          <a:xfrm>
            <a:off x="6522202" y="3460282"/>
            <a:ext cx="684076" cy="461665"/>
          </a:xfrm>
          <a:prstGeom prst="rect">
            <a:avLst/>
          </a:prstGeom>
          <a:noFill/>
        </p:spPr>
        <p:txBody>
          <a:bodyPr wrap="square" rtlCol="0">
            <a:spAutoFit/>
          </a:bodyPr>
          <a:lstStyle/>
          <a:p>
            <a:r>
              <a:rPr lang="en-US" altLang="zh-CN" sz="2400" dirty="0"/>
              <a:t>a</a:t>
            </a:r>
            <a:r>
              <a:rPr lang="en-US" altLang="zh-CN" sz="2400" dirty="0">
                <a:solidFill>
                  <a:srgbClr val="FF0000"/>
                </a:solidFill>
              </a:rPr>
              <a:t>b </a:t>
            </a:r>
            <a:endParaRPr lang="zh-CN" altLang="en-US" sz="2400" dirty="0"/>
          </a:p>
        </p:txBody>
      </p:sp>
      <p:graphicFrame>
        <p:nvGraphicFramePr>
          <p:cNvPr id="28" name="对象 7"/>
          <p:cNvGraphicFramePr>
            <a:graphicFrameLocks noChangeAspect="1"/>
          </p:cNvGraphicFramePr>
          <p:nvPr>
            <p:extLst>
              <p:ext uri="{D42A27DB-BD31-4B8C-83A1-F6EECF244321}">
                <p14:modId xmlns:p14="http://schemas.microsoft.com/office/powerpoint/2010/main" val="3180039611"/>
              </p:ext>
            </p:extLst>
          </p:nvPr>
        </p:nvGraphicFramePr>
        <p:xfrm>
          <a:off x="4256135" y="3147814"/>
          <a:ext cx="532929" cy="736600"/>
        </p:xfrm>
        <a:graphic>
          <a:graphicData uri="http://schemas.openxmlformats.org/presentationml/2006/ole">
            <mc:AlternateContent xmlns:mc="http://schemas.openxmlformats.org/markup-compatibility/2006">
              <mc:Choice xmlns:v="urn:schemas-microsoft-com:vml" Requires="v">
                <p:oleObj spid="_x0000_s24623" name="Equation" r:id="rId14" imgW="190440" imgH="304560" progId="Equation.DSMT4">
                  <p:embed/>
                </p:oleObj>
              </mc:Choice>
              <mc:Fallback>
                <p:oleObj name="Equation" r:id="rId14" imgW="190440" imgH="304560" progId="Equation.DSMT4">
                  <p:embed/>
                  <p:pic>
                    <p:nvPicPr>
                      <p:cNvPr id="28" name="对象 7"/>
                      <p:cNvPicPr>
                        <a:picLocks/>
                      </p:cNvPicPr>
                      <p:nvPr/>
                    </p:nvPicPr>
                    <p:blipFill>
                      <a:blip r:embed="rId15"/>
                      <a:stretch>
                        <a:fillRect/>
                      </a:stretch>
                    </p:blipFill>
                    <p:spPr>
                      <a:xfrm>
                        <a:off x="4256135" y="3147814"/>
                        <a:ext cx="532929" cy="736600"/>
                      </a:xfrm>
                      <a:prstGeom prst="rect">
                        <a:avLst/>
                      </a:prstGeom>
                    </p:spPr>
                  </p:pic>
                </p:oleObj>
              </mc:Fallback>
            </mc:AlternateContent>
          </a:graphicData>
        </a:graphic>
      </p:graphicFrame>
      <p:graphicFrame>
        <p:nvGraphicFramePr>
          <p:cNvPr id="29" name="对象 7"/>
          <p:cNvGraphicFramePr>
            <a:graphicFrameLocks noChangeAspect="1"/>
          </p:cNvGraphicFramePr>
          <p:nvPr>
            <p:extLst>
              <p:ext uri="{D42A27DB-BD31-4B8C-83A1-F6EECF244321}">
                <p14:modId xmlns:p14="http://schemas.microsoft.com/office/powerpoint/2010/main" val="2757730962"/>
              </p:ext>
            </p:extLst>
          </p:nvPr>
        </p:nvGraphicFramePr>
        <p:xfrm>
          <a:off x="2621706" y="3129707"/>
          <a:ext cx="463550" cy="738187"/>
        </p:xfrm>
        <a:graphic>
          <a:graphicData uri="http://schemas.openxmlformats.org/presentationml/2006/ole">
            <mc:AlternateContent xmlns:mc="http://schemas.openxmlformats.org/markup-compatibility/2006">
              <mc:Choice xmlns:v="urn:schemas-microsoft-com:vml" Requires="v">
                <p:oleObj spid="_x0000_s24624" name="Equation" r:id="rId16" imgW="190440" imgH="304560" progId="Equation.DSMT4">
                  <p:embed/>
                </p:oleObj>
              </mc:Choice>
              <mc:Fallback>
                <p:oleObj name="Equation" r:id="rId16" imgW="190440" imgH="304560" progId="Equation.DSMT4">
                  <p:embed/>
                  <p:pic>
                    <p:nvPicPr>
                      <p:cNvPr id="29" name="对象 7"/>
                      <p:cNvPicPr>
                        <a:picLocks/>
                      </p:cNvPicPr>
                      <p:nvPr/>
                    </p:nvPicPr>
                    <p:blipFill>
                      <a:blip r:embed="rId17"/>
                      <a:stretch>
                        <a:fillRect/>
                      </a:stretch>
                    </p:blipFill>
                    <p:spPr>
                      <a:xfrm>
                        <a:off x="2621706" y="3129707"/>
                        <a:ext cx="463550" cy="738187"/>
                      </a:xfrm>
                      <a:prstGeom prst="rect">
                        <a:avLst/>
                      </a:prstGeom>
                    </p:spPr>
                  </p:pic>
                </p:oleObj>
              </mc:Fallback>
            </mc:AlternateContent>
          </a:graphicData>
        </a:graphic>
      </p:graphicFrame>
      <p:graphicFrame>
        <p:nvGraphicFramePr>
          <p:cNvPr id="30" name="对象 7"/>
          <p:cNvGraphicFramePr>
            <a:graphicFrameLocks noChangeAspect="1"/>
          </p:cNvGraphicFramePr>
          <p:nvPr>
            <p:extLst>
              <p:ext uri="{D42A27DB-BD31-4B8C-83A1-F6EECF244321}">
                <p14:modId xmlns:p14="http://schemas.microsoft.com/office/powerpoint/2010/main" val="561517483"/>
              </p:ext>
            </p:extLst>
          </p:nvPr>
        </p:nvGraphicFramePr>
        <p:xfrm>
          <a:off x="735768" y="3150050"/>
          <a:ext cx="804862" cy="736600"/>
        </p:xfrm>
        <a:graphic>
          <a:graphicData uri="http://schemas.openxmlformats.org/presentationml/2006/ole">
            <mc:AlternateContent xmlns:mc="http://schemas.openxmlformats.org/markup-compatibility/2006">
              <mc:Choice xmlns:v="urn:schemas-microsoft-com:vml" Requires="v">
                <p:oleObj spid="_x0000_s24625" name="Equation" r:id="rId18" imgW="330120" imgH="304560" progId="Equation.DSMT4">
                  <p:embed/>
                </p:oleObj>
              </mc:Choice>
              <mc:Fallback>
                <p:oleObj name="Equation" r:id="rId18" imgW="330120" imgH="304560" progId="Equation.DSMT4">
                  <p:embed/>
                  <p:pic>
                    <p:nvPicPr>
                      <p:cNvPr id="30" name="对象 7"/>
                      <p:cNvPicPr>
                        <a:picLocks/>
                      </p:cNvPicPr>
                      <p:nvPr/>
                    </p:nvPicPr>
                    <p:blipFill>
                      <a:blip r:embed="rId19"/>
                      <a:stretch>
                        <a:fillRect/>
                      </a:stretch>
                    </p:blipFill>
                    <p:spPr>
                      <a:xfrm>
                        <a:off x="735768" y="3150050"/>
                        <a:ext cx="804862" cy="736600"/>
                      </a:xfrm>
                      <a:prstGeom prst="rect">
                        <a:avLst/>
                      </a:prstGeom>
                    </p:spPr>
                  </p:pic>
                </p:oleObj>
              </mc:Fallback>
            </mc:AlternateContent>
          </a:graphicData>
        </a:graphic>
      </p:graphicFrame>
      <p:sp>
        <p:nvSpPr>
          <p:cNvPr id="31" name="TextBox 30"/>
          <p:cNvSpPr txBox="1"/>
          <p:nvPr/>
        </p:nvSpPr>
        <p:spPr>
          <a:xfrm>
            <a:off x="5222478" y="3435846"/>
            <a:ext cx="501650" cy="461665"/>
          </a:xfrm>
          <a:prstGeom prst="rect">
            <a:avLst/>
          </a:prstGeom>
          <a:noFill/>
        </p:spPr>
        <p:txBody>
          <a:bodyPr wrap="square" rtlCol="0">
            <a:spAutoFit/>
          </a:bodyPr>
          <a:lstStyle/>
          <a:p>
            <a:r>
              <a:rPr lang="en-US" altLang="zh-CN" sz="2400" dirty="0"/>
              <a:t>b</a:t>
            </a:r>
            <a:endParaRPr lang="zh-CN" altLang="en-US" sz="2400" dirty="0"/>
          </a:p>
        </p:txBody>
      </p:sp>
      <p:sp>
        <p:nvSpPr>
          <p:cNvPr id="32" name="TextBox 31"/>
          <p:cNvSpPr txBox="1"/>
          <p:nvPr/>
        </p:nvSpPr>
        <p:spPr>
          <a:xfrm>
            <a:off x="3543709" y="3406229"/>
            <a:ext cx="684076" cy="461665"/>
          </a:xfrm>
          <a:prstGeom prst="rect">
            <a:avLst/>
          </a:prstGeom>
          <a:noFill/>
        </p:spPr>
        <p:txBody>
          <a:bodyPr wrap="square" rtlCol="0">
            <a:spAutoFit/>
          </a:bodyPr>
          <a:lstStyle/>
          <a:p>
            <a:r>
              <a:rPr lang="en-US" altLang="zh-CN" sz="2400" dirty="0"/>
              <a:t>c</a:t>
            </a:r>
            <a:r>
              <a:rPr lang="en-US" altLang="zh-CN" sz="2400" dirty="0">
                <a:solidFill>
                  <a:srgbClr val="FF0000"/>
                </a:solidFill>
              </a:rPr>
              <a:t>d</a:t>
            </a:r>
            <a:endParaRPr lang="zh-CN" altLang="en-US" sz="2400" dirty="0">
              <a:solidFill>
                <a:srgbClr val="FF0000"/>
              </a:solidFill>
            </a:endParaRPr>
          </a:p>
        </p:txBody>
      </p:sp>
      <p:sp>
        <p:nvSpPr>
          <p:cNvPr id="33" name="TextBox 32"/>
          <p:cNvSpPr txBox="1"/>
          <p:nvPr/>
        </p:nvSpPr>
        <p:spPr>
          <a:xfrm>
            <a:off x="2247565" y="3446638"/>
            <a:ext cx="488345" cy="461665"/>
          </a:xfrm>
          <a:prstGeom prst="rect">
            <a:avLst/>
          </a:prstGeom>
          <a:noFill/>
        </p:spPr>
        <p:txBody>
          <a:bodyPr wrap="square" rtlCol="0">
            <a:spAutoFit/>
          </a:bodyPr>
          <a:lstStyle/>
          <a:p>
            <a:r>
              <a:rPr lang="en-US" altLang="zh-CN" sz="2400" dirty="0"/>
              <a:t>e</a:t>
            </a:r>
            <a:endParaRPr lang="zh-CN" altLang="en-US" sz="2400" dirty="0"/>
          </a:p>
        </p:txBody>
      </p:sp>
      <p:sp>
        <p:nvSpPr>
          <p:cNvPr id="5" name="矩形 4"/>
          <p:cNvSpPr/>
          <p:nvPr/>
        </p:nvSpPr>
        <p:spPr>
          <a:xfrm>
            <a:off x="7621404" y="4264073"/>
            <a:ext cx="1265090" cy="461665"/>
          </a:xfrm>
          <a:prstGeom prst="rect">
            <a:avLst/>
          </a:prstGeom>
        </p:spPr>
        <p:txBody>
          <a:bodyPr wrap="none">
            <a:spAutoFit/>
          </a:bodyPr>
          <a:lstStyle/>
          <a:p>
            <a:r>
              <a:rPr lang="en-US" altLang="zh-CN" sz="2400" b="1" dirty="0" err="1">
                <a:solidFill>
                  <a:srgbClr val="FF0000"/>
                </a:solidFill>
                <a:sym typeface="Symbol" pitchFamily="18" charset="2"/>
              </a:rPr>
              <a:t>abbcde</a:t>
            </a:r>
            <a:endParaRPr lang="zh-CN" altLang="en-US" dirty="0"/>
          </a:p>
        </p:txBody>
      </p:sp>
    </p:spTree>
    <p:extLst>
      <p:ext uri="{BB962C8B-B14F-4D97-AF65-F5344CB8AC3E}">
        <p14:creationId xmlns:p14="http://schemas.microsoft.com/office/powerpoint/2010/main" val="1738894536"/>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19430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04862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4194304"/>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26"/>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1"/>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28"/>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32"/>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29"/>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25"/>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3"/>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nodeType="clickEffect">
                                  <p:stCondLst>
                                    <p:cond delay="0"/>
                                  </p:stCondLst>
                                  <p:childTnLst>
                                    <p:set>
                                      <p:cBhvr>
                                        <p:cTn id="86" dur="1" fill="hold">
                                          <p:stCondLst>
                                            <p:cond delay="0"/>
                                          </p:stCondLst>
                                        </p:cTn>
                                        <p:tgtEl>
                                          <p:spTgt spid="30"/>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1048626"/>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nodeType="clickEffect">
                                  <p:stCondLst>
                                    <p:cond delay="0"/>
                                  </p:stCondLst>
                                  <p:childTnLst>
                                    <p:set>
                                      <p:cBhvr>
                                        <p:cTn id="94" dur="1" fill="hold">
                                          <p:stCondLst>
                                            <p:cond delay="0"/>
                                          </p:stCondLst>
                                        </p:cTn>
                                        <p:tgtEl>
                                          <p:spTgt spid="3145730"/>
                                        </p:tgtEl>
                                        <p:attrNameLst>
                                          <p:attrName>style.visibility</p:attrName>
                                        </p:attrNameLst>
                                      </p:cBhvr>
                                      <p:to>
                                        <p:strVal val="visible"/>
                                      </p:to>
                                    </p:set>
                                    <p:animEffect transition="in" filter="wipe(left)">
                                      <p:cBhvr>
                                        <p:cTn id="95" dur="2000"/>
                                        <p:tgtEl>
                                          <p:spTgt spid="3145730"/>
                                        </p:tgtEl>
                                      </p:cBhvr>
                                    </p:animEffect>
                                  </p:childTnLst>
                                </p:cTn>
                              </p:par>
                            </p:childTnLst>
                          </p:cTn>
                        </p:par>
                        <p:par>
                          <p:cTn id="96" fill="hold">
                            <p:stCondLst>
                              <p:cond delay="2000"/>
                            </p:stCondLst>
                            <p:childTnLst>
                              <p:par>
                                <p:cTn id="97" presetID="1" presetClass="entr" presetSubtype="0" fill="hold" grpId="0" nodeType="afterEffect">
                                  <p:stCondLst>
                                    <p:cond delay="0"/>
                                  </p:stCondLst>
                                  <p:childTnLst>
                                    <p:set>
                                      <p:cBhvr>
                                        <p:cTn id="98" dur="1" fill="hold">
                                          <p:stCondLst>
                                            <p:cond delay="0"/>
                                          </p:stCondLst>
                                        </p:cTn>
                                        <p:tgtEl>
                                          <p:spTgt spid="4"/>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22" presetClass="entr" presetSubtype="2" fill="hold" nodeType="clickEffect">
                                  <p:stCondLst>
                                    <p:cond delay="0"/>
                                  </p:stCondLst>
                                  <p:childTnLst>
                                    <p:set>
                                      <p:cBhvr>
                                        <p:cTn id="102" dur="1" fill="hold">
                                          <p:stCondLst>
                                            <p:cond delay="0"/>
                                          </p:stCondLst>
                                        </p:cTn>
                                        <p:tgtEl>
                                          <p:spTgt spid="3145731"/>
                                        </p:tgtEl>
                                        <p:attrNameLst>
                                          <p:attrName>style.visibility</p:attrName>
                                        </p:attrNameLst>
                                      </p:cBhvr>
                                      <p:to>
                                        <p:strVal val="visible"/>
                                      </p:to>
                                    </p:set>
                                    <p:animEffect transition="in" filter="wipe(right)">
                                      <p:cBhvr>
                                        <p:cTn id="103" dur="2000"/>
                                        <p:tgtEl>
                                          <p:spTgt spid="3145731"/>
                                        </p:tgtEl>
                                      </p:cBhvr>
                                    </p:animEffect>
                                  </p:childTnLst>
                                </p:cTn>
                              </p:par>
                            </p:childTnLst>
                          </p:cTn>
                        </p:par>
                        <p:par>
                          <p:cTn id="104" fill="hold">
                            <p:stCondLst>
                              <p:cond delay="2000"/>
                            </p:stCondLst>
                            <p:childTnLst>
                              <p:par>
                                <p:cTn id="105" presetID="1" presetClass="entr" presetSubtype="0" fill="hold" grpId="0" nodeType="afterEffect">
                                  <p:stCondLst>
                                    <p:cond delay="0"/>
                                  </p:stCondLst>
                                  <p:childTnLst>
                                    <p:set>
                                      <p:cBhvr>
                                        <p:cTn id="106"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625" grpId="0" animBg="1"/>
      <p:bldP spid="1048626" grpId="0" animBg="1"/>
      <p:bldP spid="3" grpId="0"/>
      <p:bldP spid="15" grpId="0"/>
      <p:bldP spid="16" grpId="0"/>
      <p:bldP spid="17" grpId="0"/>
      <p:bldP spid="4" grpId="0"/>
      <p:bldP spid="19" grpId="0"/>
      <p:bldP spid="24" grpId="0"/>
      <p:bldP spid="25" grpId="0"/>
      <p:bldP spid="26" grpId="0"/>
      <p:bldP spid="27" grpId="0"/>
      <p:bldP spid="31" grpId="0"/>
      <p:bldP spid="32" grpId="0"/>
      <p:bldP spid="33" grpId="0"/>
      <p:bldP spid="5"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06" name="Group 195"/>
          <p:cNvGraphicFramePr>
            <a:graphicFrameLocks noGrp="1"/>
          </p:cNvGraphicFramePr>
          <p:nvPr>
            <p:extLst>
              <p:ext uri="{D42A27DB-BD31-4B8C-83A1-F6EECF244321}">
                <p14:modId xmlns:p14="http://schemas.microsoft.com/office/powerpoint/2010/main" val="3606031145"/>
              </p:ext>
            </p:extLst>
          </p:nvPr>
        </p:nvGraphicFramePr>
        <p:xfrm>
          <a:off x="719585" y="1249363"/>
          <a:ext cx="4347510" cy="2999054"/>
        </p:xfrm>
        <a:graphic>
          <a:graphicData uri="http://schemas.openxmlformats.org/drawingml/2006/table">
            <a:tbl>
              <a:tblPr/>
              <a:tblGrid>
                <a:gridCol w="434751">
                  <a:extLst>
                    <a:ext uri="{9D8B030D-6E8A-4147-A177-3AD203B41FA5}">
                      <a16:colId xmlns:a16="http://schemas.microsoft.com/office/drawing/2014/main" val="20000"/>
                    </a:ext>
                  </a:extLst>
                </a:gridCol>
                <a:gridCol w="422297">
                  <a:extLst>
                    <a:ext uri="{9D8B030D-6E8A-4147-A177-3AD203B41FA5}">
                      <a16:colId xmlns:a16="http://schemas.microsoft.com/office/drawing/2014/main" val="20001"/>
                    </a:ext>
                  </a:extLst>
                </a:gridCol>
                <a:gridCol w="447205">
                  <a:extLst>
                    <a:ext uri="{9D8B030D-6E8A-4147-A177-3AD203B41FA5}">
                      <a16:colId xmlns:a16="http://schemas.microsoft.com/office/drawing/2014/main" val="20002"/>
                    </a:ext>
                  </a:extLst>
                </a:gridCol>
                <a:gridCol w="434751">
                  <a:extLst>
                    <a:ext uri="{9D8B030D-6E8A-4147-A177-3AD203B41FA5}">
                      <a16:colId xmlns:a16="http://schemas.microsoft.com/office/drawing/2014/main" val="20003"/>
                    </a:ext>
                  </a:extLst>
                </a:gridCol>
                <a:gridCol w="434751">
                  <a:extLst>
                    <a:ext uri="{9D8B030D-6E8A-4147-A177-3AD203B41FA5}">
                      <a16:colId xmlns:a16="http://schemas.microsoft.com/office/drawing/2014/main" val="20004"/>
                    </a:ext>
                  </a:extLst>
                </a:gridCol>
                <a:gridCol w="434751">
                  <a:extLst>
                    <a:ext uri="{9D8B030D-6E8A-4147-A177-3AD203B41FA5}">
                      <a16:colId xmlns:a16="http://schemas.microsoft.com/office/drawing/2014/main" val="20005"/>
                    </a:ext>
                  </a:extLst>
                </a:gridCol>
                <a:gridCol w="434751">
                  <a:extLst>
                    <a:ext uri="{9D8B030D-6E8A-4147-A177-3AD203B41FA5}">
                      <a16:colId xmlns:a16="http://schemas.microsoft.com/office/drawing/2014/main" val="20006"/>
                    </a:ext>
                  </a:extLst>
                </a:gridCol>
                <a:gridCol w="434751">
                  <a:extLst>
                    <a:ext uri="{9D8B030D-6E8A-4147-A177-3AD203B41FA5}">
                      <a16:colId xmlns:a16="http://schemas.microsoft.com/office/drawing/2014/main" val="20007"/>
                    </a:ext>
                  </a:extLst>
                </a:gridCol>
                <a:gridCol w="434751">
                  <a:extLst>
                    <a:ext uri="{9D8B030D-6E8A-4147-A177-3AD203B41FA5}">
                      <a16:colId xmlns:a16="http://schemas.microsoft.com/office/drawing/2014/main" val="20008"/>
                    </a:ext>
                  </a:extLst>
                </a:gridCol>
                <a:gridCol w="434751">
                  <a:extLst>
                    <a:ext uri="{9D8B030D-6E8A-4147-A177-3AD203B41FA5}">
                      <a16:colId xmlns:a16="http://schemas.microsoft.com/office/drawing/2014/main" val="20009"/>
                    </a:ext>
                  </a:extLst>
                </a:gridCol>
              </a:tblGrid>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67562">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cap="flat">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cap="flat">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1"/>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2"/>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3"/>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4"/>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5"/>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6"/>
                  </a:ext>
                </a:extLst>
              </a:tr>
            </a:tbl>
          </a:graphicData>
        </a:graphic>
      </p:graphicFrame>
      <p:sp>
        <p:nvSpPr>
          <p:cNvPr id="1048630" name="Text Box 126"/>
          <p:cNvSpPr txBox="1">
            <a:spLocks noChangeArrowheads="1"/>
          </p:cNvSpPr>
          <p:nvPr/>
        </p:nvSpPr>
        <p:spPr bwMode="auto">
          <a:xfrm>
            <a:off x="71428" y="1027113"/>
            <a:ext cx="612140" cy="83099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600" dirty="0">
                <a:solidFill>
                  <a:srgbClr val="0000FF"/>
                </a:solidFill>
                <a:latin typeface="宋体" panose="02010600030101010101" pitchFamily="2" charset="-122"/>
              </a:rPr>
              <a:t>步骤</a:t>
            </a:r>
          </a:p>
          <a:p>
            <a:pPr algn="ctr" eaLnBrk="1" hangingPunct="1">
              <a:spcBef>
                <a:spcPts val="0"/>
              </a:spcBef>
              <a:buFontTx/>
              <a:buNone/>
            </a:pPr>
            <a:endParaRPr lang="zh-CN" altLang="en-US" sz="1600" dirty="0">
              <a:solidFill>
                <a:srgbClr val="0000FF"/>
              </a:solidFill>
              <a:latin typeface="宋体" panose="02010600030101010101" pitchFamily="2" charset="-122"/>
            </a:endParaRPr>
          </a:p>
          <a:p>
            <a:pPr algn="ctr" eaLnBrk="1" hangingPunct="1">
              <a:spcBef>
                <a:spcPts val="0"/>
              </a:spcBef>
              <a:buFontTx/>
              <a:buNone/>
            </a:pPr>
            <a:r>
              <a:rPr lang="zh-CN" altLang="en-US" sz="1600" dirty="0">
                <a:solidFill>
                  <a:srgbClr val="003399"/>
                </a:solidFill>
                <a:latin typeface="宋体" panose="02010600030101010101" pitchFamily="2" charset="-122"/>
              </a:rPr>
              <a:t>动作</a:t>
            </a:r>
          </a:p>
        </p:txBody>
      </p:sp>
      <p:sp>
        <p:nvSpPr>
          <p:cNvPr id="1048631" name="Rectangle 270"/>
          <p:cNvSpPr>
            <a:spLocks noChangeArrowheads="1"/>
          </p:cNvSpPr>
          <p:nvPr/>
        </p:nvSpPr>
        <p:spPr bwMode="auto">
          <a:xfrm>
            <a:off x="7354141" y="81172"/>
            <a:ext cx="1638301" cy="1361439"/>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dirty="0">
                <a:latin typeface="宋体" panose="02010600030101010101" pitchFamily="2" charset="-122"/>
              </a:rPr>
              <a:t>(1)</a:t>
            </a:r>
            <a:r>
              <a:rPr lang="en-US" altLang="zh-CN" sz="2000" dirty="0" err="1">
                <a:latin typeface="宋体" panose="02010600030101010101" pitchFamily="2" charset="-122"/>
              </a:rPr>
              <a:t>S</a:t>
            </a:r>
            <a:r>
              <a:rPr lang="en-US" altLang="zh-CN" sz="2000" dirty="0" err="1">
                <a:latin typeface="宋体" panose="02010600030101010101" pitchFamily="2" charset="-122"/>
                <a:sym typeface="Symbol" pitchFamily="18" charset="2"/>
              </a:rPr>
              <a:t>aAcBe</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(2)</a:t>
            </a:r>
            <a:r>
              <a:rPr lang="en-US" altLang="zh-CN" sz="2000" dirty="0" err="1">
                <a:latin typeface="宋体" panose="02010600030101010101" pitchFamily="2" charset="-122"/>
                <a:sym typeface="Symbol" pitchFamily="18" charset="2"/>
              </a:rPr>
              <a:t>Ab</a:t>
            </a:r>
            <a:r>
              <a:rPr lang="en-US" altLang="zh-CN" sz="2000" dirty="0">
                <a:latin typeface="宋体" panose="02010600030101010101" pitchFamily="2" charset="-122"/>
                <a:sym typeface="Symbol" pitchFamily="18" charset="2"/>
              </a:rPr>
              <a:t> </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(3)</a:t>
            </a:r>
            <a:r>
              <a:rPr lang="en-US" altLang="zh-CN" sz="2000" dirty="0" err="1">
                <a:latin typeface="宋体" panose="02010600030101010101" pitchFamily="2" charset="-122"/>
                <a:sym typeface="Symbol" pitchFamily="18" charset="2"/>
              </a:rPr>
              <a:t>AAb</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(4)</a:t>
            </a:r>
            <a:r>
              <a:rPr lang="en-US" altLang="zh-CN" sz="2000" dirty="0" err="1">
                <a:latin typeface="宋体" panose="02010600030101010101" pitchFamily="2" charset="-122"/>
                <a:sym typeface="Symbol" pitchFamily="18" charset="2"/>
              </a:rPr>
              <a:t>Bd</a:t>
            </a:r>
            <a:endParaRPr lang="en-US" altLang="zh-CN" sz="2000" dirty="0">
              <a:latin typeface="宋体" panose="02010600030101010101" pitchFamily="2" charset="-122"/>
              <a:sym typeface="Symbol" pitchFamily="18" charset="2"/>
            </a:endParaRPr>
          </a:p>
        </p:txBody>
      </p:sp>
      <p:sp>
        <p:nvSpPr>
          <p:cNvPr id="1048632" name="Rectangle 272"/>
          <p:cNvSpPr>
            <a:spLocks noChangeArrowheads="1"/>
          </p:cNvSpPr>
          <p:nvPr/>
        </p:nvSpPr>
        <p:spPr bwMode="auto">
          <a:xfrm>
            <a:off x="188913" y="51470"/>
            <a:ext cx="6580435" cy="83099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solidFill>
                  <a:srgbClr val="000000"/>
                </a:solidFill>
                <a:latin typeface="宋体" panose="02010600030101010101" pitchFamily="2" charset="-122"/>
                <a:sym typeface="Symbol" pitchFamily="18" charset="2"/>
              </a:rPr>
              <a:t>最左归约过程是最右推导的逆过程， 对输入串</a:t>
            </a:r>
            <a:r>
              <a:rPr lang="en-US" altLang="zh-CN" sz="2800" b="1" dirty="0" err="1">
                <a:solidFill>
                  <a:srgbClr val="FF0000"/>
                </a:solidFill>
                <a:latin typeface="宋体" panose="02010600030101010101" pitchFamily="2" charset="-122"/>
                <a:sym typeface="Symbol" pitchFamily="18" charset="2"/>
              </a:rPr>
              <a:t>abbcde</a:t>
            </a:r>
            <a:r>
              <a:rPr lang="zh-CN" altLang="en-US" sz="2000" dirty="0">
                <a:solidFill>
                  <a:srgbClr val="000000"/>
                </a:solidFill>
                <a:latin typeface="宋体" panose="02010600030101010101" pitchFamily="2" charset="-122"/>
                <a:sym typeface="Symbol" pitchFamily="18" charset="2"/>
              </a:rPr>
              <a:t>的归约过程如下：</a:t>
            </a:r>
          </a:p>
        </p:txBody>
      </p:sp>
      <p:sp>
        <p:nvSpPr>
          <p:cNvPr id="1048634" name="Rectangle 33"/>
          <p:cNvSpPr>
            <a:spLocks noChangeArrowheads="1"/>
          </p:cNvSpPr>
          <p:nvPr/>
        </p:nvSpPr>
        <p:spPr bwMode="auto">
          <a:xfrm>
            <a:off x="841800" y="3867894"/>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35" name="Rectangle 43"/>
          <p:cNvSpPr>
            <a:spLocks noChangeArrowheads="1"/>
          </p:cNvSpPr>
          <p:nvPr/>
        </p:nvSpPr>
        <p:spPr bwMode="auto">
          <a:xfrm>
            <a:off x="1290111" y="3484781"/>
            <a:ext cx="18554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b</a:t>
            </a:r>
          </a:p>
        </p:txBody>
      </p:sp>
      <p:sp>
        <p:nvSpPr>
          <p:cNvPr id="1048636" name="Rectangle 44"/>
          <p:cNvSpPr>
            <a:spLocks noChangeArrowheads="1"/>
          </p:cNvSpPr>
          <p:nvPr/>
        </p:nvSpPr>
        <p:spPr bwMode="auto">
          <a:xfrm>
            <a:off x="1691680" y="3498562"/>
            <a:ext cx="24485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37" name="Rectangle 48"/>
          <p:cNvSpPr>
            <a:spLocks noChangeArrowheads="1"/>
          </p:cNvSpPr>
          <p:nvPr/>
        </p:nvSpPr>
        <p:spPr bwMode="auto">
          <a:xfrm>
            <a:off x="2963138" y="3075806"/>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c</a:t>
            </a:r>
          </a:p>
        </p:txBody>
      </p:sp>
      <p:sp>
        <p:nvSpPr>
          <p:cNvPr id="1048638" name="Rectangle 52"/>
          <p:cNvSpPr>
            <a:spLocks noChangeArrowheads="1"/>
          </p:cNvSpPr>
          <p:nvPr/>
        </p:nvSpPr>
        <p:spPr bwMode="auto">
          <a:xfrm>
            <a:off x="4708675" y="3851696"/>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S</a:t>
            </a:r>
          </a:p>
        </p:txBody>
      </p:sp>
      <p:graphicFrame>
        <p:nvGraphicFramePr>
          <p:cNvPr id="4194307" name="Group 64"/>
          <p:cNvGraphicFramePr>
            <a:graphicFrameLocks noGrp="1"/>
          </p:cNvGraphicFramePr>
          <p:nvPr>
            <p:extLst>
              <p:ext uri="{D42A27DB-BD31-4B8C-83A1-F6EECF244321}">
                <p14:modId xmlns:p14="http://schemas.microsoft.com/office/powerpoint/2010/main" val="1162410207"/>
              </p:ext>
            </p:extLst>
          </p:nvPr>
        </p:nvGraphicFramePr>
        <p:xfrm>
          <a:off x="745555" y="998984"/>
          <a:ext cx="348767" cy="1428750"/>
        </p:xfrm>
        <a:graphic>
          <a:graphicData uri="http://schemas.openxmlformats.org/drawingml/2006/table">
            <a:tbl>
              <a:tblPr/>
              <a:tblGrid>
                <a:gridCol w="348767">
                  <a:extLst>
                    <a:ext uri="{9D8B030D-6E8A-4147-A177-3AD203B41FA5}">
                      <a16:colId xmlns:a16="http://schemas.microsoft.com/office/drawing/2014/main" val="20000"/>
                    </a:ext>
                  </a:extLst>
                </a:gridCol>
              </a:tblGrid>
              <a:tr h="4000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ts val="0"/>
                        </a:spcBef>
                        <a:spcAft>
                          <a:spcPct val="0"/>
                        </a:spcAft>
                        <a:buClrTx/>
                        <a:buSzTx/>
                        <a:buFontTx/>
                        <a:buNone/>
                      </a:pPr>
                      <a:r>
                        <a:rPr kumimoji="1" lang="zh-CN" altLang="en-US"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移进</a:t>
                      </a:r>
                      <a:endParaRPr kumimoji="1" lang="en-US" altLang="zh-CN"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p>
                      <a:pPr marL="0" marR="0" lvl="0" indent="0" algn="ctr" defTabSz="914400" rtl="0" eaLnBrk="1" fontAlgn="base" latinLnBrk="0" hangingPunct="1">
                        <a:lnSpc>
                          <a:spcPct val="100000"/>
                        </a:lnSpc>
                        <a:spcBef>
                          <a:spcPts val="0"/>
                        </a:spcBef>
                        <a:spcAft>
                          <a:spcPct val="0"/>
                        </a:spcAft>
                        <a:buClrTx/>
                        <a:buSzTx/>
                        <a:buFontTx/>
                        <a:buNone/>
                      </a:pPr>
                      <a:r>
                        <a:rPr kumimoji="1" lang="en-US" altLang="zh-CN"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a:t>
                      </a: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grpSp>
        <p:nvGrpSpPr>
          <p:cNvPr id="54" name="Group 186"/>
          <p:cNvGrpSpPr/>
          <p:nvPr/>
        </p:nvGrpSpPr>
        <p:grpSpPr bwMode="auto">
          <a:xfrm>
            <a:off x="1908301" y="932177"/>
            <a:ext cx="575467" cy="3295757"/>
            <a:chOff x="1726" y="887"/>
            <a:chExt cx="468" cy="2769"/>
          </a:xfrm>
        </p:grpSpPr>
        <p:sp>
          <p:nvSpPr>
            <p:cNvPr id="1048639" name="Rectangle 45"/>
            <p:cNvSpPr>
              <a:spLocks noChangeArrowheads="1"/>
            </p:cNvSpPr>
            <p:nvPr/>
          </p:nvSpPr>
          <p:spPr bwMode="auto">
            <a:xfrm>
              <a:off x="1880" y="3027"/>
              <a:ext cx="244" cy="629"/>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800"/>
                </a:spcBef>
                <a:buFontTx/>
                <a:buNone/>
              </a:pPr>
              <a:r>
                <a:rPr lang="en-US" altLang="zh-CN" sz="1800" dirty="0">
                  <a:latin typeface="宋体" panose="02010600030101010101" pitchFamily="2" charset="-122"/>
                </a:rPr>
                <a:t>A</a:t>
              </a:r>
            </a:p>
            <a:p>
              <a:pPr algn="ctr" eaLnBrk="1" hangingPunct="1">
                <a:spcBef>
                  <a:spcPts val="800"/>
                </a:spcBef>
                <a:buFontTx/>
                <a:buNone/>
              </a:pPr>
              <a:r>
                <a:rPr lang="en-US" altLang="zh-CN" sz="1800" dirty="0">
                  <a:latin typeface="宋体" panose="02010600030101010101" pitchFamily="2" charset="-122"/>
                </a:rPr>
                <a:t>a</a:t>
              </a:r>
            </a:p>
          </p:txBody>
        </p:sp>
        <p:sp>
          <p:nvSpPr>
            <p:cNvPr id="1048640" name="Rectangle 92"/>
            <p:cNvSpPr>
              <a:spLocks noChangeArrowheads="1"/>
            </p:cNvSpPr>
            <p:nvPr/>
          </p:nvSpPr>
          <p:spPr bwMode="auto">
            <a:xfrm>
              <a:off x="1855" y="1262"/>
              <a:ext cx="294"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b</a:t>
              </a:r>
            </a:p>
          </p:txBody>
        </p:sp>
        <p:sp>
          <p:nvSpPr>
            <p:cNvPr id="1048641" name="Rectangle 91"/>
            <p:cNvSpPr>
              <a:spLocks noChangeArrowheads="1"/>
            </p:cNvSpPr>
            <p:nvPr/>
          </p:nvSpPr>
          <p:spPr bwMode="auto">
            <a:xfrm>
              <a:off x="1810" y="887"/>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4</a:t>
              </a:r>
            </a:p>
          </p:txBody>
        </p:sp>
        <p:sp>
          <p:nvSpPr>
            <p:cNvPr id="1048642" name="Line 93"/>
            <p:cNvSpPr>
              <a:spLocks noChangeShapeType="1"/>
            </p:cNvSpPr>
            <p:nvPr/>
          </p:nvSpPr>
          <p:spPr bwMode="auto">
            <a:xfrm>
              <a:off x="1726" y="887"/>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3" name="Line 95"/>
            <p:cNvSpPr>
              <a:spLocks noChangeShapeType="1"/>
            </p:cNvSpPr>
            <p:nvPr/>
          </p:nvSpPr>
          <p:spPr bwMode="auto">
            <a:xfrm>
              <a:off x="1726" y="2087"/>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4" name="Line 96"/>
            <p:cNvSpPr>
              <a:spLocks noChangeShapeType="1"/>
            </p:cNvSpPr>
            <p:nvPr/>
          </p:nvSpPr>
          <p:spPr bwMode="auto">
            <a:xfrm>
              <a:off x="1726" y="887"/>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5" name="Line 97"/>
            <p:cNvSpPr>
              <a:spLocks noChangeShapeType="1"/>
            </p:cNvSpPr>
            <p:nvPr/>
          </p:nvSpPr>
          <p:spPr bwMode="auto">
            <a:xfrm>
              <a:off x="2002" y="887"/>
              <a:ext cx="0" cy="336"/>
            </a:xfrm>
            <a:prstGeom prst="line">
              <a:avLst/>
            </a:prstGeom>
            <a:noFill/>
            <a:ln>
              <a:noFill/>
            </a:ln>
          </p:spPr>
          <p:txBody>
            <a:bodyPr/>
            <a:lstStyle/>
            <a:p>
              <a:pPr algn="ctr"/>
              <a:endParaRPr lang="zh-CN" altLang="en-US" sz="1200">
                <a:latin typeface="宋体" panose="02010600030101010101" pitchFamily="2" charset="-122"/>
                <a:ea typeface="宋体" panose="02010600030101010101" pitchFamily="2" charset="-122"/>
              </a:endParaRPr>
            </a:p>
          </p:txBody>
        </p:sp>
        <p:sp>
          <p:nvSpPr>
            <p:cNvPr id="1048646" name="Line 99"/>
            <p:cNvSpPr>
              <a:spLocks noChangeShapeType="1"/>
            </p:cNvSpPr>
            <p:nvPr/>
          </p:nvSpPr>
          <p:spPr bwMode="auto">
            <a:xfrm>
              <a:off x="1726" y="1223"/>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7" name="Line 100"/>
            <p:cNvSpPr>
              <a:spLocks noChangeShapeType="1"/>
            </p:cNvSpPr>
            <p:nvPr/>
          </p:nvSpPr>
          <p:spPr bwMode="auto">
            <a:xfrm>
              <a:off x="2110" y="1223"/>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grpSp>
      <p:grpSp>
        <p:nvGrpSpPr>
          <p:cNvPr id="55" name="Group 194"/>
          <p:cNvGrpSpPr/>
          <p:nvPr/>
        </p:nvGrpSpPr>
        <p:grpSpPr bwMode="auto">
          <a:xfrm>
            <a:off x="2458910" y="970301"/>
            <a:ext cx="447487" cy="3276521"/>
            <a:chOff x="2112" y="888"/>
            <a:chExt cx="384" cy="2751"/>
          </a:xfrm>
        </p:grpSpPr>
        <p:sp>
          <p:nvSpPr>
            <p:cNvPr id="1048648" name="Rectangle 46"/>
            <p:cNvSpPr>
              <a:spLocks noChangeArrowheads="1"/>
            </p:cNvSpPr>
            <p:nvPr/>
          </p:nvSpPr>
          <p:spPr bwMode="auto">
            <a:xfrm>
              <a:off x="2175" y="3329"/>
              <a:ext cx="258"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49" name="Rectangle 104"/>
            <p:cNvSpPr>
              <a:spLocks noChangeArrowheads="1"/>
            </p:cNvSpPr>
            <p:nvPr/>
          </p:nvSpPr>
          <p:spPr bwMode="auto">
            <a:xfrm>
              <a:off x="2154" y="1224"/>
              <a:ext cx="299"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3</a:t>
              </a:r>
            </a:p>
          </p:txBody>
        </p:sp>
        <p:sp>
          <p:nvSpPr>
            <p:cNvPr id="1048650" name="Rectangle 103"/>
            <p:cNvSpPr>
              <a:spLocks noChangeArrowheads="1"/>
            </p:cNvSpPr>
            <p:nvPr/>
          </p:nvSpPr>
          <p:spPr bwMode="auto">
            <a:xfrm>
              <a:off x="2112" y="888"/>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5</a:t>
              </a:r>
            </a:p>
          </p:txBody>
        </p:sp>
      </p:grpSp>
      <p:sp>
        <p:nvSpPr>
          <p:cNvPr id="1048651" name="Line 105"/>
          <p:cNvSpPr>
            <a:spLocks noChangeShapeType="1"/>
          </p:cNvSpPr>
          <p:nvPr/>
        </p:nvSpPr>
        <p:spPr bwMode="auto">
          <a:xfrm>
            <a:off x="3172272" y="960438"/>
            <a:ext cx="44519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2" name="Line 107"/>
          <p:cNvSpPr>
            <a:spLocks noChangeShapeType="1"/>
          </p:cNvSpPr>
          <p:nvPr/>
        </p:nvSpPr>
        <p:spPr bwMode="auto">
          <a:xfrm>
            <a:off x="3172272" y="2389188"/>
            <a:ext cx="44519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3" name="Line 108"/>
          <p:cNvSpPr>
            <a:spLocks noChangeShapeType="1"/>
          </p:cNvSpPr>
          <p:nvPr/>
        </p:nvSpPr>
        <p:spPr bwMode="auto">
          <a:xfrm>
            <a:off x="3172272" y="960438"/>
            <a:ext cx="0" cy="40005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4" name="Line 109"/>
          <p:cNvSpPr>
            <a:spLocks noChangeShapeType="1"/>
          </p:cNvSpPr>
          <p:nvPr/>
        </p:nvSpPr>
        <p:spPr bwMode="auto">
          <a:xfrm>
            <a:off x="3781872" y="960438"/>
            <a:ext cx="0" cy="40005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5" name="Line 111"/>
          <p:cNvSpPr>
            <a:spLocks noChangeShapeType="1"/>
          </p:cNvSpPr>
          <p:nvPr/>
        </p:nvSpPr>
        <p:spPr bwMode="auto">
          <a:xfrm>
            <a:off x="3172272" y="1360488"/>
            <a:ext cx="0" cy="102870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6" name="Line 112"/>
          <p:cNvSpPr>
            <a:spLocks noChangeShapeType="1"/>
          </p:cNvSpPr>
          <p:nvPr/>
        </p:nvSpPr>
        <p:spPr bwMode="auto">
          <a:xfrm>
            <a:off x="3781872" y="1360488"/>
            <a:ext cx="0" cy="102870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grpSp>
        <p:nvGrpSpPr>
          <p:cNvPr id="56" name="Group 189"/>
          <p:cNvGrpSpPr/>
          <p:nvPr/>
        </p:nvGrpSpPr>
        <p:grpSpPr bwMode="auto">
          <a:xfrm>
            <a:off x="3336671" y="993945"/>
            <a:ext cx="445192" cy="3295153"/>
            <a:chOff x="2895" y="888"/>
            <a:chExt cx="384" cy="2767"/>
          </a:xfrm>
        </p:grpSpPr>
        <p:sp>
          <p:nvSpPr>
            <p:cNvPr id="1048657" name="Rectangle 49"/>
            <p:cNvSpPr>
              <a:spLocks noChangeArrowheads="1"/>
            </p:cNvSpPr>
            <p:nvPr/>
          </p:nvSpPr>
          <p:spPr bwMode="auto">
            <a:xfrm>
              <a:off x="2912" y="2664"/>
              <a:ext cx="358" cy="99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1000"/>
                </a:spcBef>
                <a:buFontTx/>
                <a:buNone/>
              </a:pPr>
              <a:r>
                <a:rPr lang="en-US" altLang="zh-CN" sz="1800" dirty="0">
                  <a:latin typeface="宋体" panose="02010600030101010101" pitchFamily="2" charset="-122"/>
                </a:rPr>
                <a:t>c </a:t>
              </a:r>
            </a:p>
            <a:p>
              <a:pPr eaLnBrk="1" hangingPunct="1">
                <a:spcBef>
                  <a:spcPts val="1000"/>
                </a:spcBef>
                <a:buFontTx/>
                <a:buNone/>
              </a:pPr>
              <a:r>
                <a:rPr lang="en-US" altLang="zh-CN" sz="1800" dirty="0">
                  <a:latin typeface="宋体" panose="02010600030101010101" pitchFamily="2" charset="-122"/>
                </a:rPr>
                <a:t>A</a:t>
              </a:r>
            </a:p>
            <a:p>
              <a:pPr eaLnBrk="1" hangingPunct="1">
                <a:spcBef>
                  <a:spcPts val="1000"/>
                </a:spcBef>
                <a:buFontTx/>
                <a:buNone/>
              </a:pPr>
              <a:r>
                <a:rPr lang="en-US" altLang="zh-CN" sz="1800" dirty="0">
                  <a:latin typeface="宋体" panose="02010600030101010101" pitchFamily="2" charset="-122"/>
                </a:rPr>
                <a:t>a</a:t>
              </a:r>
            </a:p>
          </p:txBody>
        </p:sp>
        <p:sp>
          <p:nvSpPr>
            <p:cNvPr id="1048658" name="Rectangle 128"/>
            <p:cNvSpPr>
              <a:spLocks noChangeArrowheads="1"/>
            </p:cNvSpPr>
            <p:nvPr/>
          </p:nvSpPr>
          <p:spPr bwMode="auto">
            <a:xfrm>
              <a:off x="2967" y="1189"/>
              <a:ext cx="24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d</a:t>
              </a:r>
            </a:p>
          </p:txBody>
        </p:sp>
        <p:sp>
          <p:nvSpPr>
            <p:cNvPr id="1048659" name="Rectangle 127"/>
            <p:cNvSpPr>
              <a:spLocks noChangeArrowheads="1"/>
            </p:cNvSpPr>
            <p:nvPr/>
          </p:nvSpPr>
          <p:spPr bwMode="auto">
            <a:xfrm>
              <a:off x="2932" y="888"/>
              <a:ext cx="266"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dirty="0">
                  <a:latin typeface="宋体" panose="02010600030101010101" pitchFamily="2" charset="-122"/>
                </a:rPr>
                <a:t>7</a:t>
              </a:r>
            </a:p>
          </p:txBody>
        </p:sp>
        <p:sp>
          <p:nvSpPr>
            <p:cNvPr id="1048660" name="Line 129"/>
            <p:cNvSpPr>
              <a:spLocks noChangeShapeType="1"/>
            </p:cNvSpPr>
            <p:nvPr/>
          </p:nvSpPr>
          <p:spPr bwMode="auto">
            <a:xfrm>
              <a:off x="2895" y="888"/>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1" name="Line 131"/>
            <p:cNvSpPr>
              <a:spLocks noChangeShapeType="1"/>
            </p:cNvSpPr>
            <p:nvPr/>
          </p:nvSpPr>
          <p:spPr bwMode="auto">
            <a:xfrm>
              <a:off x="2895" y="2088"/>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2" name="Line 132"/>
            <p:cNvSpPr>
              <a:spLocks noChangeShapeType="1"/>
            </p:cNvSpPr>
            <p:nvPr/>
          </p:nvSpPr>
          <p:spPr bwMode="auto">
            <a:xfrm>
              <a:off x="2895" y="888"/>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3" name="Line 133"/>
            <p:cNvSpPr>
              <a:spLocks noChangeShapeType="1"/>
            </p:cNvSpPr>
            <p:nvPr/>
          </p:nvSpPr>
          <p:spPr bwMode="auto">
            <a:xfrm>
              <a:off x="3279" y="888"/>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4" name="Line 135"/>
            <p:cNvSpPr>
              <a:spLocks noChangeShapeType="1"/>
            </p:cNvSpPr>
            <p:nvPr/>
          </p:nvSpPr>
          <p:spPr bwMode="auto">
            <a:xfrm>
              <a:off x="2895" y="1224"/>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5" name="Line 136"/>
            <p:cNvSpPr>
              <a:spLocks noChangeShapeType="1"/>
            </p:cNvSpPr>
            <p:nvPr/>
          </p:nvSpPr>
          <p:spPr bwMode="auto">
            <a:xfrm>
              <a:off x="3279" y="1224"/>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pSp>
        <p:nvGrpSpPr>
          <p:cNvPr id="57" name="Group 190"/>
          <p:cNvGrpSpPr/>
          <p:nvPr/>
        </p:nvGrpSpPr>
        <p:grpSpPr bwMode="auto">
          <a:xfrm>
            <a:off x="3763288" y="987574"/>
            <a:ext cx="448671" cy="3293268"/>
            <a:chOff x="3269" y="880"/>
            <a:chExt cx="387" cy="2766"/>
          </a:xfrm>
        </p:grpSpPr>
        <p:sp>
          <p:nvSpPr>
            <p:cNvPr id="1048666" name="Rectangle 50"/>
            <p:cNvSpPr>
              <a:spLocks noChangeArrowheads="1"/>
            </p:cNvSpPr>
            <p:nvPr/>
          </p:nvSpPr>
          <p:spPr bwMode="auto">
            <a:xfrm>
              <a:off x="3269" y="2655"/>
              <a:ext cx="358" cy="99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1000"/>
                </a:spcBef>
                <a:buFontTx/>
                <a:buNone/>
              </a:pPr>
              <a:r>
                <a:rPr lang="en-US" altLang="zh-CN" sz="1800" dirty="0">
                  <a:latin typeface="宋体" panose="02010600030101010101" pitchFamily="2" charset="-122"/>
                </a:rPr>
                <a:t>c </a:t>
              </a:r>
            </a:p>
            <a:p>
              <a:pPr algn="ctr" eaLnBrk="1" hangingPunct="1">
                <a:spcBef>
                  <a:spcPts val="1000"/>
                </a:spcBef>
                <a:buFontTx/>
                <a:buNone/>
              </a:pPr>
              <a:r>
                <a:rPr lang="en-US" altLang="zh-CN" sz="1800" dirty="0">
                  <a:latin typeface="宋体" panose="02010600030101010101" pitchFamily="2" charset="-122"/>
                </a:rPr>
                <a:t>A </a:t>
              </a:r>
            </a:p>
            <a:p>
              <a:pPr algn="ctr" eaLnBrk="1" hangingPunct="1">
                <a:spcBef>
                  <a:spcPts val="1000"/>
                </a:spcBef>
                <a:buFontTx/>
                <a:buNone/>
              </a:pPr>
              <a:r>
                <a:rPr lang="en-US" altLang="zh-CN" sz="1800" dirty="0">
                  <a:latin typeface="宋体" panose="02010600030101010101" pitchFamily="2" charset="-122"/>
                </a:rPr>
                <a:t>a</a:t>
              </a:r>
            </a:p>
          </p:txBody>
        </p:sp>
        <p:sp>
          <p:nvSpPr>
            <p:cNvPr id="1048667" name="Rectangle 140"/>
            <p:cNvSpPr>
              <a:spLocks noChangeArrowheads="1"/>
            </p:cNvSpPr>
            <p:nvPr/>
          </p:nvSpPr>
          <p:spPr bwMode="auto">
            <a:xfrm>
              <a:off x="3318" y="1187"/>
              <a:ext cx="28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4</a:t>
              </a:r>
            </a:p>
          </p:txBody>
        </p:sp>
        <p:sp>
          <p:nvSpPr>
            <p:cNvPr id="1048668" name="Rectangle 139"/>
            <p:cNvSpPr>
              <a:spLocks noChangeArrowheads="1"/>
            </p:cNvSpPr>
            <p:nvPr/>
          </p:nvSpPr>
          <p:spPr bwMode="auto">
            <a:xfrm>
              <a:off x="3272" y="880"/>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a:latin typeface="宋体" panose="02010600030101010101" pitchFamily="2" charset="-122"/>
                </a:rPr>
                <a:t>8</a:t>
              </a:r>
            </a:p>
          </p:txBody>
        </p:sp>
        <p:sp>
          <p:nvSpPr>
            <p:cNvPr id="1048669" name="Line 141"/>
            <p:cNvSpPr>
              <a:spLocks noChangeShapeType="1"/>
            </p:cNvSpPr>
            <p:nvPr/>
          </p:nvSpPr>
          <p:spPr bwMode="auto">
            <a:xfrm>
              <a:off x="3272" y="880"/>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0" name="Line 143"/>
            <p:cNvSpPr>
              <a:spLocks noChangeShapeType="1"/>
            </p:cNvSpPr>
            <p:nvPr/>
          </p:nvSpPr>
          <p:spPr bwMode="auto">
            <a:xfrm>
              <a:off x="3272" y="2080"/>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1" name="Line 144"/>
            <p:cNvSpPr>
              <a:spLocks noChangeShapeType="1"/>
            </p:cNvSpPr>
            <p:nvPr/>
          </p:nvSpPr>
          <p:spPr bwMode="auto">
            <a:xfrm>
              <a:off x="3272" y="880"/>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2" name="Line 145"/>
            <p:cNvSpPr>
              <a:spLocks noChangeShapeType="1"/>
            </p:cNvSpPr>
            <p:nvPr/>
          </p:nvSpPr>
          <p:spPr bwMode="auto">
            <a:xfrm>
              <a:off x="3656" y="880"/>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3" name="Line 147"/>
            <p:cNvSpPr>
              <a:spLocks noChangeShapeType="1"/>
            </p:cNvSpPr>
            <p:nvPr/>
          </p:nvSpPr>
          <p:spPr bwMode="auto">
            <a:xfrm>
              <a:off x="3272" y="1216"/>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4" name="Line 148"/>
            <p:cNvSpPr>
              <a:spLocks noChangeShapeType="1"/>
            </p:cNvSpPr>
            <p:nvPr/>
          </p:nvSpPr>
          <p:spPr bwMode="auto">
            <a:xfrm>
              <a:off x="3656" y="1216"/>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pSp>
        <p:nvGrpSpPr>
          <p:cNvPr id="58" name="Group 191"/>
          <p:cNvGrpSpPr/>
          <p:nvPr/>
        </p:nvGrpSpPr>
        <p:grpSpPr bwMode="auto">
          <a:xfrm>
            <a:off x="4211960" y="898217"/>
            <a:ext cx="445193" cy="3401269"/>
            <a:chOff x="3633" y="887"/>
            <a:chExt cx="384" cy="2857"/>
          </a:xfrm>
        </p:grpSpPr>
        <p:sp>
          <p:nvSpPr>
            <p:cNvPr id="1048675" name="Rectangle 51"/>
            <p:cNvSpPr>
              <a:spLocks noChangeArrowheads="1"/>
            </p:cNvSpPr>
            <p:nvPr/>
          </p:nvSpPr>
          <p:spPr bwMode="auto">
            <a:xfrm>
              <a:off x="3633" y="2413"/>
              <a:ext cx="358" cy="133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1000"/>
                </a:spcBef>
                <a:buFontTx/>
                <a:buNone/>
              </a:pPr>
              <a:r>
                <a:rPr lang="en-US" altLang="zh-CN" sz="1800" dirty="0">
                  <a:latin typeface="宋体" panose="02010600030101010101" pitchFamily="2" charset="-122"/>
                </a:rPr>
                <a:t>B</a:t>
              </a:r>
            </a:p>
            <a:p>
              <a:pPr eaLnBrk="1" hangingPunct="1">
                <a:spcBef>
                  <a:spcPts val="1000"/>
                </a:spcBef>
                <a:buFontTx/>
                <a:buNone/>
              </a:pPr>
              <a:r>
                <a:rPr lang="en-US" altLang="zh-CN" sz="1800" dirty="0">
                  <a:latin typeface="宋体" panose="02010600030101010101" pitchFamily="2" charset="-122"/>
                </a:rPr>
                <a:t>c </a:t>
              </a:r>
            </a:p>
            <a:p>
              <a:pPr eaLnBrk="1" hangingPunct="1">
                <a:spcBef>
                  <a:spcPts val="1000"/>
                </a:spcBef>
                <a:buFontTx/>
                <a:buNone/>
              </a:pPr>
              <a:r>
                <a:rPr lang="en-US" altLang="zh-CN" sz="1800" dirty="0">
                  <a:latin typeface="宋体" panose="02010600030101010101" pitchFamily="2" charset="-122"/>
                </a:rPr>
                <a:t>A </a:t>
              </a:r>
            </a:p>
            <a:p>
              <a:pPr eaLnBrk="1" hangingPunct="1">
                <a:spcBef>
                  <a:spcPts val="1000"/>
                </a:spcBef>
                <a:buFontTx/>
                <a:buNone/>
              </a:pPr>
              <a:r>
                <a:rPr lang="en-US" altLang="zh-CN" sz="1800" dirty="0">
                  <a:latin typeface="宋体" panose="02010600030101010101" pitchFamily="2" charset="-122"/>
                </a:rPr>
                <a:t>a</a:t>
              </a:r>
            </a:p>
          </p:txBody>
        </p:sp>
        <p:sp>
          <p:nvSpPr>
            <p:cNvPr id="1048676" name="Rectangle 152"/>
            <p:cNvSpPr>
              <a:spLocks noChangeArrowheads="1"/>
            </p:cNvSpPr>
            <p:nvPr/>
          </p:nvSpPr>
          <p:spPr bwMode="auto">
            <a:xfrm>
              <a:off x="3678" y="1247"/>
              <a:ext cx="32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e</a:t>
              </a:r>
            </a:p>
          </p:txBody>
        </p:sp>
        <p:sp>
          <p:nvSpPr>
            <p:cNvPr id="1048677" name="Rectangle 151"/>
            <p:cNvSpPr>
              <a:spLocks noChangeArrowheads="1"/>
            </p:cNvSpPr>
            <p:nvPr/>
          </p:nvSpPr>
          <p:spPr bwMode="auto">
            <a:xfrm>
              <a:off x="3678" y="887"/>
              <a:ext cx="328"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dirty="0">
                  <a:latin typeface="宋体" panose="02010600030101010101" pitchFamily="2" charset="-122"/>
                </a:rPr>
                <a:t>9</a:t>
              </a:r>
            </a:p>
          </p:txBody>
        </p:sp>
        <p:sp>
          <p:nvSpPr>
            <p:cNvPr id="1048678" name="Line 153"/>
            <p:cNvSpPr>
              <a:spLocks noChangeShapeType="1"/>
            </p:cNvSpPr>
            <p:nvPr/>
          </p:nvSpPr>
          <p:spPr bwMode="auto">
            <a:xfrm>
              <a:off x="3633" y="887"/>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9" name="Line 155"/>
            <p:cNvSpPr>
              <a:spLocks noChangeShapeType="1"/>
            </p:cNvSpPr>
            <p:nvPr/>
          </p:nvSpPr>
          <p:spPr bwMode="auto">
            <a:xfrm>
              <a:off x="3633" y="2087"/>
              <a:ext cx="384"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0" name="Line 156"/>
            <p:cNvSpPr>
              <a:spLocks noChangeShapeType="1"/>
            </p:cNvSpPr>
            <p:nvPr/>
          </p:nvSpPr>
          <p:spPr bwMode="auto">
            <a:xfrm>
              <a:off x="3633" y="887"/>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1" name="Line 157"/>
            <p:cNvSpPr>
              <a:spLocks noChangeShapeType="1"/>
            </p:cNvSpPr>
            <p:nvPr/>
          </p:nvSpPr>
          <p:spPr bwMode="auto">
            <a:xfrm>
              <a:off x="4017" y="887"/>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2" name="Line 159"/>
            <p:cNvSpPr>
              <a:spLocks noChangeShapeType="1"/>
            </p:cNvSpPr>
            <p:nvPr/>
          </p:nvSpPr>
          <p:spPr bwMode="auto">
            <a:xfrm>
              <a:off x="3633" y="1223"/>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3" name="Line 160"/>
            <p:cNvSpPr>
              <a:spLocks noChangeShapeType="1"/>
            </p:cNvSpPr>
            <p:nvPr/>
          </p:nvSpPr>
          <p:spPr bwMode="auto">
            <a:xfrm>
              <a:off x="4017" y="1223"/>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aphicFrame>
        <p:nvGraphicFramePr>
          <p:cNvPr id="4194308" name="Group 174"/>
          <p:cNvGraphicFramePr>
            <a:graphicFrameLocks noGrp="1"/>
          </p:cNvGraphicFramePr>
          <p:nvPr>
            <p:extLst>
              <p:ext uri="{D42A27DB-BD31-4B8C-83A1-F6EECF244321}">
                <p14:modId xmlns:p14="http://schemas.microsoft.com/office/powerpoint/2010/main" val="240568752"/>
              </p:ext>
            </p:extLst>
          </p:nvPr>
        </p:nvGraphicFramePr>
        <p:xfrm>
          <a:off x="4657153" y="977506"/>
          <a:ext cx="473868" cy="1428750"/>
        </p:xfrm>
        <a:graphic>
          <a:graphicData uri="http://schemas.openxmlformats.org/drawingml/2006/table">
            <a:tbl>
              <a:tblPr/>
              <a:tblGrid>
                <a:gridCol w="473868">
                  <a:extLst>
                    <a:ext uri="{9D8B030D-6E8A-4147-A177-3AD203B41FA5}">
                      <a16:colId xmlns:a16="http://schemas.microsoft.com/office/drawing/2014/main" val="20000"/>
                    </a:ext>
                  </a:extLst>
                </a:gridCol>
              </a:tblGrid>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10</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ctr"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dirty="0">
                          <a:ln>
                            <a:noFill/>
                          </a:ln>
                          <a:solidFill>
                            <a:schemeClr val="tx1"/>
                          </a:solidFill>
                          <a:effectLst/>
                          <a:latin typeface="Times New Roman" pitchFamily="18" charset="0"/>
                          <a:ea typeface="宋体" pitchFamily="2" charset="-122"/>
                        </a:rPr>
                        <a:t>归约</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1</a:t>
                      </a: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pSp>
        <p:nvGrpSpPr>
          <p:cNvPr id="59" name="Group 183"/>
          <p:cNvGrpSpPr/>
          <p:nvPr/>
        </p:nvGrpSpPr>
        <p:grpSpPr bwMode="auto">
          <a:xfrm>
            <a:off x="1227682" y="969963"/>
            <a:ext cx="319982" cy="3266631"/>
            <a:chOff x="954" y="896"/>
            <a:chExt cx="432" cy="2743"/>
          </a:xfrm>
        </p:grpSpPr>
        <p:sp>
          <p:nvSpPr>
            <p:cNvPr id="1048684" name="Rectangle 67"/>
            <p:cNvSpPr>
              <a:spLocks noChangeArrowheads="1"/>
            </p:cNvSpPr>
            <p:nvPr/>
          </p:nvSpPr>
          <p:spPr bwMode="auto">
            <a:xfrm>
              <a:off x="1066" y="1232"/>
              <a:ext cx="250"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b</a:t>
              </a:r>
            </a:p>
          </p:txBody>
        </p:sp>
        <p:sp>
          <p:nvSpPr>
            <p:cNvPr id="1048685" name="Rectangle 66"/>
            <p:cNvSpPr>
              <a:spLocks noChangeArrowheads="1"/>
            </p:cNvSpPr>
            <p:nvPr/>
          </p:nvSpPr>
          <p:spPr bwMode="auto">
            <a:xfrm>
              <a:off x="954" y="896"/>
              <a:ext cx="432"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a:latin typeface="宋体" panose="02010600030101010101" pitchFamily="2" charset="-122"/>
                </a:rPr>
                <a:t>2</a:t>
              </a:r>
            </a:p>
          </p:txBody>
        </p:sp>
        <p:sp>
          <p:nvSpPr>
            <p:cNvPr id="1048686" name="Line 68"/>
            <p:cNvSpPr>
              <a:spLocks noChangeShapeType="1"/>
            </p:cNvSpPr>
            <p:nvPr/>
          </p:nvSpPr>
          <p:spPr bwMode="auto">
            <a:xfrm>
              <a:off x="954" y="896"/>
              <a:ext cx="432"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7" name="Line 70"/>
            <p:cNvSpPr>
              <a:spLocks noChangeShapeType="1"/>
            </p:cNvSpPr>
            <p:nvPr/>
          </p:nvSpPr>
          <p:spPr bwMode="auto">
            <a:xfrm>
              <a:off x="954" y="2096"/>
              <a:ext cx="432"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8" name="Line 71"/>
            <p:cNvSpPr>
              <a:spLocks noChangeShapeType="1"/>
            </p:cNvSpPr>
            <p:nvPr/>
          </p:nvSpPr>
          <p:spPr bwMode="auto">
            <a:xfrm>
              <a:off x="954" y="896"/>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9" name="Line 72"/>
            <p:cNvSpPr>
              <a:spLocks noChangeShapeType="1"/>
            </p:cNvSpPr>
            <p:nvPr/>
          </p:nvSpPr>
          <p:spPr bwMode="auto">
            <a:xfrm>
              <a:off x="1386" y="896"/>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0" name="Line 74"/>
            <p:cNvSpPr>
              <a:spLocks noChangeShapeType="1"/>
            </p:cNvSpPr>
            <p:nvPr/>
          </p:nvSpPr>
          <p:spPr bwMode="auto">
            <a:xfrm>
              <a:off x="954" y="1232"/>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1" name="Line 75"/>
            <p:cNvSpPr>
              <a:spLocks noChangeShapeType="1"/>
            </p:cNvSpPr>
            <p:nvPr/>
          </p:nvSpPr>
          <p:spPr bwMode="auto">
            <a:xfrm>
              <a:off x="1386" y="1232"/>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2" name="Rectangle 176"/>
            <p:cNvSpPr>
              <a:spLocks noChangeArrowheads="1"/>
            </p:cNvSpPr>
            <p:nvPr/>
          </p:nvSpPr>
          <p:spPr bwMode="auto">
            <a:xfrm>
              <a:off x="1041" y="3329"/>
              <a:ext cx="189"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grpSp>
      <p:grpSp>
        <p:nvGrpSpPr>
          <p:cNvPr id="60" name="Group 185"/>
          <p:cNvGrpSpPr/>
          <p:nvPr/>
        </p:nvGrpSpPr>
        <p:grpSpPr bwMode="auto">
          <a:xfrm>
            <a:off x="1614639" y="960438"/>
            <a:ext cx="365073" cy="3276973"/>
            <a:chOff x="1323" y="888"/>
            <a:chExt cx="373" cy="2752"/>
          </a:xfrm>
        </p:grpSpPr>
        <p:sp>
          <p:nvSpPr>
            <p:cNvPr id="1048693" name="Rectangle 79"/>
            <p:cNvSpPr>
              <a:spLocks noChangeArrowheads="1"/>
            </p:cNvSpPr>
            <p:nvPr/>
          </p:nvSpPr>
          <p:spPr bwMode="auto">
            <a:xfrm>
              <a:off x="1437" y="1224"/>
              <a:ext cx="21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2</a:t>
              </a:r>
            </a:p>
          </p:txBody>
        </p:sp>
        <p:sp>
          <p:nvSpPr>
            <p:cNvPr id="1048694" name="Rectangle 78"/>
            <p:cNvSpPr>
              <a:spLocks noChangeArrowheads="1"/>
            </p:cNvSpPr>
            <p:nvPr/>
          </p:nvSpPr>
          <p:spPr bwMode="auto">
            <a:xfrm>
              <a:off x="1323" y="888"/>
              <a:ext cx="373"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a:latin typeface="宋体" panose="02010600030101010101" pitchFamily="2" charset="-122"/>
                </a:rPr>
                <a:t>3</a:t>
              </a:r>
            </a:p>
          </p:txBody>
        </p:sp>
        <p:sp>
          <p:nvSpPr>
            <p:cNvPr id="1048695" name="Line 80"/>
            <p:cNvSpPr>
              <a:spLocks noChangeShapeType="1"/>
            </p:cNvSpPr>
            <p:nvPr/>
          </p:nvSpPr>
          <p:spPr bwMode="auto">
            <a:xfrm>
              <a:off x="1323" y="888"/>
              <a:ext cx="37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6" name="Line 82"/>
            <p:cNvSpPr>
              <a:spLocks noChangeShapeType="1"/>
            </p:cNvSpPr>
            <p:nvPr/>
          </p:nvSpPr>
          <p:spPr bwMode="auto">
            <a:xfrm>
              <a:off x="1323" y="2088"/>
              <a:ext cx="37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7" name="Line 83"/>
            <p:cNvSpPr>
              <a:spLocks noChangeShapeType="1"/>
            </p:cNvSpPr>
            <p:nvPr/>
          </p:nvSpPr>
          <p:spPr bwMode="auto">
            <a:xfrm>
              <a:off x="1323" y="888"/>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8" name="Line 84"/>
            <p:cNvSpPr>
              <a:spLocks noChangeShapeType="1"/>
            </p:cNvSpPr>
            <p:nvPr/>
          </p:nvSpPr>
          <p:spPr bwMode="auto">
            <a:xfrm>
              <a:off x="1696" y="888"/>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9" name="Line 86"/>
            <p:cNvSpPr>
              <a:spLocks noChangeShapeType="1"/>
            </p:cNvSpPr>
            <p:nvPr/>
          </p:nvSpPr>
          <p:spPr bwMode="auto">
            <a:xfrm>
              <a:off x="1323" y="1224"/>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0" name="Line 87"/>
            <p:cNvSpPr>
              <a:spLocks noChangeShapeType="1"/>
            </p:cNvSpPr>
            <p:nvPr/>
          </p:nvSpPr>
          <p:spPr bwMode="auto">
            <a:xfrm>
              <a:off x="1696" y="1224"/>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1" name="Rectangle 177"/>
            <p:cNvSpPr>
              <a:spLocks noChangeArrowheads="1"/>
            </p:cNvSpPr>
            <p:nvPr/>
          </p:nvSpPr>
          <p:spPr bwMode="auto">
            <a:xfrm>
              <a:off x="1418" y="3330"/>
              <a:ext cx="189"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grpSp>
      <p:sp>
        <p:nvSpPr>
          <p:cNvPr id="1048702" name="Rectangle 178"/>
          <p:cNvSpPr>
            <a:spLocks noChangeArrowheads="1"/>
          </p:cNvSpPr>
          <p:nvPr/>
        </p:nvSpPr>
        <p:spPr bwMode="auto">
          <a:xfrm>
            <a:off x="2123728" y="3075806"/>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b</a:t>
            </a:r>
          </a:p>
        </p:txBody>
      </p:sp>
      <p:grpSp>
        <p:nvGrpSpPr>
          <p:cNvPr id="61" name="Group 188"/>
          <p:cNvGrpSpPr/>
          <p:nvPr/>
        </p:nvGrpSpPr>
        <p:grpSpPr bwMode="auto">
          <a:xfrm>
            <a:off x="2815339" y="951334"/>
            <a:ext cx="460265" cy="3299222"/>
            <a:chOff x="2482" y="879"/>
            <a:chExt cx="397" cy="2771"/>
          </a:xfrm>
        </p:grpSpPr>
        <p:sp>
          <p:nvSpPr>
            <p:cNvPr id="1048703" name="Rectangle 116"/>
            <p:cNvSpPr>
              <a:spLocks noChangeArrowheads="1"/>
            </p:cNvSpPr>
            <p:nvPr/>
          </p:nvSpPr>
          <p:spPr bwMode="auto">
            <a:xfrm>
              <a:off x="2591" y="1215"/>
              <a:ext cx="28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c</a:t>
              </a:r>
            </a:p>
          </p:txBody>
        </p:sp>
        <p:sp>
          <p:nvSpPr>
            <p:cNvPr id="1048704" name="Rectangle 115"/>
            <p:cNvSpPr>
              <a:spLocks noChangeArrowheads="1"/>
            </p:cNvSpPr>
            <p:nvPr/>
          </p:nvSpPr>
          <p:spPr bwMode="auto">
            <a:xfrm>
              <a:off x="2482" y="879"/>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a:latin typeface="宋体" panose="02010600030101010101" pitchFamily="2" charset="-122"/>
                </a:rPr>
                <a:t>6</a:t>
              </a:r>
            </a:p>
          </p:txBody>
        </p:sp>
        <p:sp>
          <p:nvSpPr>
            <p:cNvPr id="1048705" name="Line 117"/>
            <p:cNvSpPr>
              <a:spLocks noChangeShapeType="1"/>
            </p:cNvSpPr>
            <p:nvPr/>
          </p:nvSpPr>
          <p:spPr bwMode="auto">
            <a:xfrm>
              <a:off x="2482" y="879"/>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6" name="Line 119"/>
            <p:cNvSpPr>
              <a:spLocks noChangeShapeType="1"/>
            </p:cNvSpPr>
            <p:nvPr/>
          </p:nvSpPr>
          <p:spPr bwMode="auto">
            <a:xfrm>
              <a:off x="2482" y="2079"/>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7" name="Line 120"/>
            <p:cNvSpPr>
              <a:spLocks noChangeShapeType="1"/>
            </p:cNvSpPr>
            <p:nvPr/>
          </p:nvSpPr>
          <p:spPr bwMode="auto">
            <a:xfrm>
              <a:off x="2482" y="879"/>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8" name="Line 121"/>
            <p:cNvSpPr>
              <a:spLocks noChangeShapeType="1"/>
            </p:cNvSpPr>
            <p:nvPr/>
          </p:nvSpPr>
          <p:spPr bwMode="auto">
            <a:xfrm>
              <a:off x="2866" y="879"/>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9" name="Line 123"/>
            <p:cNvSpPr>
              <a:spLocks noChangeShapeType="1"/>
            </p:cNvSpPr>
            <p:nvPr/>
          </p:nvSpPr>
          <p:spPr bwMode="auto">
            <a:xfrm>
              <a:off x="2482" y="1215"/>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10" name="Line 124"/>
            <p:cNvSpPr>
              <a:spLocks noChangeShapeType="1"/>
            </p:cNvSpPr>
            <p:nvPr/>
          </p:nvSpPr>
          <p:spPr bwMode="auto">
            <a:xfrm>
              <a:off x="2866" y="1215"/>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11" name="Rectangle 179"/>
            <p:cNvSpPr>
              <a:spLocks noChangeArrowheads="1"/>
            </p:cNvSpPr>
            <p:nvPr/>
          </p:nvSpPr>
          <p:spPr bwMode="auto">
            <a:xfrm>
              <a:off x="2575" y="2999"/>
              <a:ext cx="259" cy="65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1000"/>
                </a:spcBef>
                <a:buFontTx/>
                <a:buNone/>
              </a:pPr>
              <a:r>
                <a:rPr lang="en-US" altLang="zh-CN" sz="1800" dirty="0">
                  <a:latin typeface="宋体" panose="02010600030101010101" pitchFamily="2" charset="-122"/>
                </a:rPr>
                <a:t>A</a:t>
              </a:r>
            </a:p>
            <a:p>
              <a:pPr algn="ctr" eaLnBrk="1" hangingPunct="1">
                <a:spcBef>
                  <a:spcPts val="1000"/>
                </a:spcBef>
                <a:buFontTx/>
                <a:buNone/>
              </a:pPr>
              <a:r>
                <a:rPr lang="en-US" altLang="zh-CN" sz="1800" dirty="0">
                  <a:latin typeface="宋体" panose="02010600030101010101" pitchFamily="2" charset="-122"/>
                </a:rPr>
                <a:t>a</a:t>
              </a:r>
            </a:p>
          </p:txBody>
        </p:sp>
      </p:grpSp>
      <p:sp>
        <p:nvSpPr>
          <p:cNvPr id="1048712" name="Rectangle 180"/>
          <p:cNvSpPr>
            <a:spLocks noChangeArrowheads="1"/>
          </p:cNvSpPr>
          <p:nvPr/>
        </p:nvSpPr>
        <p:spPr bwMode="auto">
          <a:xfrm>
            <a:off x="3454313" y="2715241"/>
            <a:ext cx="109575" cy="36985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d</a:t>
            </a:r>
          </a:p>
        </p:txBody>
      </p:sp>
      <p:sp>
        <p:nvSpPr>
          <p:cNvPr id="1048713" name="Rectangle 181"/>
          <p:cNvSpPr>
            <a:spLocks noChangeArrowheads="1"/>
          </p:cNvSpPr>
          <p:nvPr/>
        </p:nvSpPr>
        <p:spPr bwMode="auto">
          <a:xfrm>
            <a:off x="3861238" y="2715766"/>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B</a:t>
            </a:r>
          </a:p>
        </p:txBody>
      </p:sp>
      <p:sp>
        <p:nvSpPr>
          <p:cNvPr id="1048714" name="Rectangle 182"/>
          <p:cNvSpPr>
            <a:spLocks noChangeArrowheads="1"/>
          </p:cNvSpPr>
          <p:nvPr/>
        </p:nvSpPr>
        <p:spPr bwMode="auto">
          <a:xfrm>
            <a:off x="4280841" y="2326821"/>
            <a:ext cx="15371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e</a:t>
            </a:r>
          </a:p>
        </p:txBody>
      </p:sp>
      <p:sp>
        <p:nvSpPr>
          <p:cNvPr id="1048715" name="Rectangle 192"/>
          <p:cNvSpPr>
            <a:spLocks noChangeArrowheads="1"/>
          </p:cNvSpPr>
          <p:nvPr/>
        </p:nvSpPr>
        <p:spPr bwMode="auto">
          <a:xfrm>
            <a:off x="2570482" y="3484781"/>
            <a:ext cx="24485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716" name="Rectangle 273"/>
          <p:cNvSpPr>
            <a:spLocks noChangeArrowheads="1"/>
          </p:cNvSpPr>
          <p:nvPr/>
        </p:nvSpPr>
        <p:spPr bwMode="auto">
          <a:xfrm>
            <a:off x="259909" y="4334057"/>
            <a:ext cx="4672131" cy="730924"/>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ea typeface="华文行楷" pitchFamily="2" charset="-122"/>
              </a:rPr>
              <a:t>移进：将输入符号移进栈中</a:t>
            </a:r>
            <a:endParaRPr lang="en-US" altLang="zh-CN" sz="2000" dirty="0">
              <a:ea typeface="华文行楷" pitchFamily="2" charset="-122"/>
            </a:endParaRPr>
          </a:p>
          <a:p>
            <a:pPr eaLnBrk="1" hangingPunct="1">
              <a:spcBef>
                <a:spcPct val="0"/>
              </a:spcBef>
              <a:buFontTx/>
              <a:buNone/>
            </a:pPr>
            <a:endParaRPr lang="zh-CN" altLang="en-US" sz="2000" dirty="0">
              <a:ea typeface="华文行楷" pitchFamily="2" charset="-122"/>
            </a:endParaRPr>
          </a:p>
        </p:txBody>
      </p:sp>
      <p:sp>
        <p:nvSpPr>
          <p:cNvPr id="1048717" name="Rectangle 273"/>
          <p:cNvSpPr>
            <a:spLocks noChangeArrowheads="1"/>
          </p:cNvSpPr>
          <p:nvPr/>
        </p:nvSpPr>
        <p:spPr bwMode="auto">
          <a:xfrm>
            <a:off x="179512" y="4691920"/>
            <a:ext cx="4896544" cy="400110"/>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ea typeface="华文行楷" pitchFamily="2" charset="-122"/>
              </a:rPr>
              <a:t>归约：将栈顶的符号串用产生式左部替换</a:t>
            </a:r>
            <a:endParaRPr lang="en-US" altLang="zh-CN" sz="2000" dirty="0">
              <a:ea typeface="华文行楷" pitchFamily="2" charset="-122"/>
            </a:endParaRPr>
          </a:p>
        </p:txBody>
      </p:sp>
      <p:sp>
        <p:nvSpPr>
          <p:cNvPr id="120" name="Rectangle 3"/>
          <p:cNvSpPr txBox="1">
            <a:spLocks noChangeArrowheads="1"/>
          </p:cNvSpPr>
          <p:nvPr/>
        </p:nvSpPr>
        <p:spPr>
          <a:xfrm>
            <a:off x="5148064" y="4634830"/>
            <a:ext cx="4032448" cy="457200"/>
          </a:xfrm>
          <a:prstGeom prst="rect">
            <a:avLst/>
          </a:prstGeom>
          <a:noFill/>
        </p:spPr>
        <p:txBody>
          <a:bodyPr vert="horz" lIns="92075" tIns="46038" rIns="92075" bIns="46038">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buFontTx/>
              <a:buNone/>
            </a:pPr>
            <a:r>
              <a:rPr lang="en-US" altLang="zh-CN" sz="2200" b="1" dirty="0">
                <a:latin typeface="宋体" panose="02010600030101010101" pitchFamily="2" charset="-122"/>
                <a:ea typeface="宋体" panose="02010600030101010101" pitchFamily="2" charset="-122"/>
              </a:rPr>
              <a:t>a    b    </a:t>
            </a:r>
            <a:r>
              <a:rPr lang="en-US" altLang="zh-CN" sz="2200" b="1" dirty="0" err="1">
                <a:latin typeface="宋体" panose="02010600030101010101" pitchFamily="2" charset="-122"/>
                <a:ea typeface="宋体" panose="02010600030101010101" pitchFamily="2" charset="-122"/>
              </a:rPr>
              <a:t>b</a:t>
            </a:r>
            <a:r>
              <a:rPr lang="en-US" altLang="zh-CN" sz="2200" b="1" dirty="0">
                <a:latin typeface="宋体" panose="02010600030101010101" pitchFamily="2" charset="-122"/>
                <a:ea typeface="宋体" panose="02010600030101010101" pitchFamily="2" charset="-122"/>
              </a:rPr>
              <a:t>    c  </a:t>
            </a:r>
            <a:r>
              <a:rPr lang="en-US" altLang="zh-CN" sz="1000" b="1" dirty="0">
                <a:latin typeface="宋体" pitchFamily="2" charset="-122"/>
                <a:ea typeface="宋体" panose="02010600030101010101" pitchFamily="2" charset="-122"/>
              </a:rPr>
              <a:t> </a:t>
            </a:r>
            <a:r>
              <a:rPr lang="en-US" altLang="zh-CN" sz="2200" b="1" dirty="0">
                <a:latin typeface="宋体" pitchFamily="2" charset="-122"/>
                <a:ea typeface="宋体" panose="02010600030101010101" pitchFamily="2" charset="-122"/>
              </a:rPr>
              <a:t> d     e</a:t>
            </a:r>
          </a:p>
        </p:txBody>
      </p:sp>
      <p:sp>
        <p:nvSpPr>
          <p:cNvPr id="121" name="Text Box 4"/>
          <p:cNvSpPr txBox="1">
            <a:spLocks noChangeArrowheads="1"/>
          </p:cNvSpPr>
          <p:nvPr/>
        </p:nvSpPr>
        <p:spPr bwMode="auto">
          <a:xfrm>
            <a:off x="6446417" y="3683808"/>
            <a:ext cx="141807"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a:latin typeface="宋体" panose="02010600030101010101" pitchFamily="2" charset="-122"/>
              </a:rPr>
              <a:t>A</a:t>
            </a:r>
          </a:p>
        </p:txBody>
      </p:sp>
      <p:sp>
        <p:nvSpPr>
          <p:cNvPr id="122" name="Text Box 5"/>
          <p:cNvSpPr txBox="1">
            <a:spLocks noChangeArrowheads="1"/>
          </p:cNvSpPr>
          <p:nvPr/>
        </p:nvSpPr>
        <p:spPr bwMode="auto">
          <a:xfrm>
            <a:off x="6950473" y="2875721"/>
            <a:ext cx="141807"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a:latin typeface="宋体" panose="02010600030101010101" pitchFamily="2" charset="-122"/>
              </a:rPr>
              <a:t>A</a:t>
            </a:r>
          </a:p>
        </p:txBody>
      </p:sp>
      <p:sp>
        <p:nvSpPr>
          <p:cNvPr id="123" name="Text Box 6"/>
          <p:cNvSpPr txBox="1">
            <a:spLocks noChangeArrowheads="1"/>
          </p:cNvSpPr>
          <p:nvPr/>
        </p:nvSpPr>
        <p:spPr bwMode="auto">
          <a:xfrm>
            <a:off x="8173292" y="3795886"/>
            <a:ext cx="141807"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a:latin typeface="宋体" panose="02010600030101010101" pitchFamily="2" charset="-122"/>
              </a:rPr>
              <a:t>B</a:t>
            </a:r>
          </a:p>
        </p:txBody>
      </p:sp>
      <p:sp>
        <p:nvSpPr>
          <p:cNvPr id="124" name="Text Box 7"/>
          <p:cNvSpPr txBox="1">
            <a:spLocks noChangeArrowheads="1"/>
          </p:cNvSpPr>
          <p:nvPr/>
        </p:nvSpPr>
        <p:spPr bwMode="auto">
          <a:xfrm>
            <a:off x="7502656" y="1595576"/>
            <a:ext cx="141807"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a:latin typeface="宋体" panose="02010600030101010101" pitchFamily="2" charset="-122"/>
              </a:rPr>
              <a:t>S</a:t>
            </a:r>
          </a:p>
        </p:txBody>
      </p:sp>
      <p:sp>
        <p:nvSpPr>
          <p:cNvPr id="125" name="Line 8"/>
          <p:cNvSpPr>
            <a:spLocks noChangeShapeType="1"/>
          </p:cNvSpPr>
          <p:nvPr/>
        </p:nvSpPr>
        <p:spPr bwMode="auto">
          <a:xfrm flipH="1">
            <a:off x="6158383" y="4083918"/>
            <a:ext cx="288033" cy="595728"/>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26" name="Line 9"/>
          <p:cNvSpPr>
            <a:spLocks noChangeShapeType="1"/>
          </p:cNvSpPr>
          <p:nvPr/>
        </p:nvSpPr>
        <p:spPr bwMode="auto">
          <a:xfrm flipH="1">
            <a:off x="6852110" y="3275830"/>
            <a:ext cx="169266" cy="1403815"/>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27" name="Line 10"/>
          <p:cNvSpPr>
            <a:spLocks noChangeShapeType="1"/>
          </p:cNvSpPr>
          <p:nvPr/>
        </p:nvSpPr>
        <p:spPr bwMode="auto">
          <a:xfrm flipH="1">
            <a:off x="6588224" y="3261547"/>
            <a:ext cx="362248" cy="534339"/>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28" name="Line 11"/>
          <p:cNvSpPr>
            <a:spLocks noChangeShapeType="1"/>
          </p:cNvSpPr>
          <p:nvPr/>
        </p:nvSpPr>
        <p:spPr bwMode="auto">
          <a:xfrm>
            <a:off x="8244408" y="4222446"/>
            <a:ext cx="0" cy="457200"/>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29" name="Line 12"/>
          <p:cNvSpPr>
            <a:spLocks noChangeShapeType="1"/>
          </p:cNvSpPr>
          <p:nvPr/>
        </p:nvSpPr>
        <p:spPr bwMode="auto">
          <a:xfrm flipH="1">
            <a:off x="5553495" y="2024652"/>
            <a:ext cx="1949157" cy="2654994"/>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30" name="Line 13"/>
          <p:cNvSpPr>
            <a:spLocks noChangeShapeType="1"/>
          </p:cNvSpPr>
          <p:nvPr/>
        </p:nvSpPr>
        <p:spPr bwMode="auto">
          <a:xfrm flipH="1">
            <a:off x="7092279" y="2024652"/>
            <a:ext cx="410374" cy="885617"/>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31" name="Line 14"/>
          <p:cNvSpPr>
            <a:spLocks noChangeShapeType="1"/>
          </p:cNvSpPr>
          <p:nvPr/>
        </p:nvSpPr>
        <p:spPr bwMode="auto">
          <a:xfrm>
            <a:off x="7538106" y="2024652"/>
            <a:ext cx="70905" cy="2654993"/>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32" name="Line 15"/>
          <p:cNvSpPr>
            <a:spLocks noChangeShapeType="1"/>
          </p:cNvSpPr>
          <p:nvPr/>
        </p:nvSpPr>
        <p:spPr bwMode="auto">
          <a:xfrm>
            <a:off x="7573560" y="2024652"/>
            <a:ext cx="654652" cy="1771234"/>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33" name="Line 16"/>
          <p:cNvSpPr>
            <a:spLocks noChangeShapeType="1"/>
          </p:cNvSpPr>
          <p:nvPr/>
        </p:nvSpPr>
        <p:spPr bwMode="auto">
          <a:xfrm>
            <a:off x="7573559" y="2024652"/>
            <a:ext cx="1390930" cy="2654994"/>
          </a:xfrm>
          <a:prstGeom prst="line">
            <a:avLst/>
          </a:prstGeom>
          <a:noFill/>
          <a:ln w="38100">
            <a:solidFill>
              <a:srgbClr val="0000FF"/>
            </a:solidFill>
            <a:round/>
            <a:headEnd type="none" w="sm" len="sm"/>
            <a:tailEnd type="none" w="sm" len="sm"/>
          </a:ln>
        </p:spPr>
        <p:txBody>
          <a:bodyPr wrap="none" anchor="ctr"/>
          <a:lstStyle/>
          <a:p>
            <a:endParaRPr lang="zh-CN" altLang="en-US" sz="2000">
              <a:latin typeface="宋体" panose="02010600030101010101" pitchFamily="2" charset="-122"/>
              <a:ea typeface="宋体" panose="02010600030101010101" pitchFamily="2" charset="-122"/>
            </a:endParaRPr>
          </a:p>
        </p:txBody>
      </p:sp>
      <p:sp>
        <p:nvSpPr>
          <p:cNvPr id="134" name="Text Box 17"/>
          <p:cNvSpPr txBox="1">
            <a:spLocks noChangeArrowheads="1"/>
          </p:cNvSpPr>
          <p:nvPr/>
        </p:nvSpPr>
        <p:spPr bwMode="auto">
          <a:xfrm>
            <a:off x="5878642" y="4181727"/>
            <a:ext cx="897816"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err="1">
                <a:solidFill>
                  <a:srgbClr val="FF0000"/>
                </a:solidFill>
                <a:latin typeface="宋体" panose="02010600030101010101" pitchFamily="2" charset="-122"/>
              </a:rPr>
              <a:t>A→b</a:t>
            </a:r>
            <a:endParaRPr lang="en-US" altLang="zh-CN" sz="2000" dirty="0">
              <a:solidFill>
                <a:srgbClr val="FF0000"/>
              </a:solidFill>
              <a:latin typeface="宋体" pitchFamily="2" charset="-122"/>
            </a:endParaRPr>
          </a:p>
        </p:txBody>
      </p:sp>
      <p:sp>
        <p:nvSpPr>
          <p:cNvPr id="135" name="Text Box 18"/>
          <p:cNvSpPr txBox="1">
            <a:spLocks noChangeArrowheads="1"/>
          </p:cNvSpPr>
          <p:nvPr/>
        </p:nvSpPr>
        <p:spPr bwMode="auto">
          <a:xfrm>
            <a:off x="6327551" y="3291830"/>
            <a:ext cx="1175102"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err="1">
                <a:solidFill>
                  <a:srgbClr val="FF0000"/>
                </a:solidFill>
                <a:latin typeface="宋体" panose="02010600030101010101" pitchFamily="2" charset="-122"/>
              </a:rPr>
              <a:t>A→Ab</a:t>
            </a:r>
            <a:endParaRPr lang="en-US" altLang="zh-CN" sz="2000" dirty="0">
              <a:solidFill>
                <a:srgbClr val="FF0000"/>
              </a:solidFill>
              <a:latin typeface="宋体" pitchFamily="2" charset="-122"/>
            </a:endParaRPr>
          </a:p>
        </p:txBody>
      </p:sp>
      <p:sp>
        <p:nvSpPr>
          <p:cNvPr id="136" name="Text Box 19"/>
          <p:cNvSpPr txBox="1">
            <a:spLocks noChangeArrowheads="1"/>
          </p:cNvSpPr>
          <p:nvPr/>
        </p:nvSpPr>
        <p:spPr bwMode="auto">
          <a:xfrm>
            <a:off x="7740352" y="4283959"/>
            <a:ext cx="1015853"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err="1">
                <a:solidFill>
                  <a:srgbClr val="FF0000"/>
                </a:solidFill>
                <a:latin typeface="宋体" panose="02010600030101010101" pitchFamily="2" charset="-122"/>
              </a:rPr>
              <a:t>B→d</a:t>
            </a:r>
            <a:endParaRPr lang="en-US" altLang="zh-CN" sz="2000" dirty="0">
              <a:solidFill>
                <a:srgbClr val="FF0000"/>
              </a:solidFill>
              <a:latin typeface="宋体" pitchFamily="2" charset="-122"/>
            </a:endParaRPr>
          </a:p>
        </p:txBody>
      </p:sp>
      <p:sp>
        <p:nvSpPr>
          <p:cNvPr id="137" name="Text Box 20"/>
          <p:cNvSpPr txBox="1">
            <a:spLocks noChangeArrowheads="1"/>
          </p:cNvSpPr>
          <p:nvPr/>
        </p:nvSpPr>
        <p:spPr bwMode="auto">
          <a:xfrm>
            <a:off x="6919249" y="2418521"/>
            <a:ext cx="1220792" cy="40011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dirty="0" err="1">
                <a:solidFill>
                  <a:srgbClr val="FF0000"/>
                </a:solidFill>
                <a:latin typeface="宋体" panose="02010600030101010101" pitchFamily="2" charset="-122"/>
              </a:rPr>
              <a:t>S→aAcBe</a:t>
            </a:r>
            <a:endParaRPr lang="en-US" altLang="zh-CN" sz="2000" dirty="0">
              <a:solidFill>
                <a:srgbClr val="FF0000"/>
              </a:solidFill>
              <a:latin typeface="宋体" panose="02010600030101010101" pitchFamily="2" charset="-122"/>
            </a:endParaRPr>
          </a:p>
        </p:txBody>
      </p:sp>
    </p:spTree>
    <p:extLst>
      <p:ext uri="{BB962C8B-B14F-4D97-AF65-F5344CB8AC3E}">
        <p14:creationId xmlns:p14="http://schemas.microsoft.com/office/powerpoint/2010/main" val="219213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419430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0486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7" presetClass="entr" presetSubtype="4" fill="hold" grpId="0" nodeType="clickEffect">
                                  <p:stCondLst>
                                    <p:cond delay="0"/>
                                  </p:stCondLst>
                                  <p:childTnLst>
                                    <p:set>
                                      <p:cBhvr>
                                        <p:cTn id="14" dur="1" fill="hold">
                                          <p:stCondLst>
                                            <p:cond delay="0"/>
                                          </p:stCondLst>
                                        </p:cTn>
                                        <p:tgtEl>
                                          <p:spTgt spid="120">
                                            <p:txEl>
                                              <p:pRg st="0" end="0"/>
                                            </p:txEl>
                                          </p:spTgt>
                                        </p:tgtEl>
                                        <p:attrNameLst>
                                          <p:attrName>style.visibility</p:attrName>
                                        </p:attrNameLst>
                                      </p:cBhvr>
                                      <p:to>
                                        <p:strVal val="visible"/>
                                      </p:to>
                                    </p:set>
                                    <p:anim calcmode="lin" valueType="num">
                                      <p:cBhvr>
                                        <p:cTn id="15" dur="500" fill="hold"/>
                                        <p:tgtEl>
                                          <p:spTgt spid="120">
                                            <p:txEl>
                                              <p:pRg st="0" end="0"/>
                                            </p:txEl>
                                          </p:spTgt>
                                        </p:tgtEl>
                                        <p:attrNameLst>
                                          <p:attrName>ppt_x</p:attrName>
                                        </p:attrNameLst>
                                      </p:cBhvr>
                                      <p:tavLst>
                                        <p:tav tm="0">
                                          <p:val>
                                            <p:strVal val="#ppt_x"/>
                                          </p:val>
                                        </p:tav>
                                        <p:tav tm="100000">
                                          <p:val>
                                            <p:strVal val="#ppt_x"/>
                                          </p:val>
                                        </p:tav>
                                      </p:tavLst>
                                    </p:anim>
                                    <p:anim calcmode="lin" valueType="num">
                                      <p:cBhvr>
                                        <p:cTn id="16" dur="500" fill="hold"/>
                                        <p:tgtEl>
                                          <p:spTgt spid="120">
                                            <p:txEl>
                                              <p:pRg st="0" end="0"/>
                                            </p:txEl>
                                          </p:spTgt>
                                        </p:tgtEl>
                                        <p:attrNameLst>
                                          <p:attrName>ppt_y</p:attrName>
                                        </p:attrNameLst>
                                      </p:cBhvr>
                                      <p:tavLst>
                                        <p:tav tm="0">
                                          <p:val>
                                            <p:strVal val="#ppt_y+#ppt_h/2"/>
                                          </p:val>
                                        </p:tav>
                                        <p:tav tm="100000">
                                          <p:val>
                                            <p:strVal val="#ppt_y"/>
                                          </p:val>
                                        </p:tav>
                                      </p:tavLst>
                                    </p:anim>
                                    <p:anim calcmode="lin" valueType="num">
                                      <p:cBhvr>
                                        <p:cTn id="17" dur="500" fill="hold"/>
                                        <p:tgtEl>
                                          <p:spTgt spid="120">
                                            <p:txEl>
                                              <p:pRg st="0" end="0"/>
                                            </p:txEl>
                                          </p:spTgt>
                                        </p:tgtEl>
                                        <p:attrNameLst>
                                          <p:attrName>ppt_w</p:attrName>
                                        </p:attrNameLst>
                                      </p:cBhvr>
                                      <p:tavLst>
                                        <p:tav tm="0">
                                          <p:val>
                                            <p:strVal val="#ppt_w"/>
                                          </p:val>
                                        </p:tav>
                                        <p:tav tm="100000">
                                          <p:val>
                                            <p:strVal val="#ppt_w"/>
                                          </p:val>
                                        </p:tav>
                                      </p:tavLst>
                                    </p:anim>
                                    <p:anim calcmode="lin" valueType="num">
                                      <p:cBhvr>
                                        <p:cTn id="18" dur="500" fill="hold"/>
                                        <p:tgtEl>
                                          <p:spTgt spid="120">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419430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1048716"/>
                                        </p:tgtEl>
                                        <p:attrNameLst>
                                          <p:attrName>style.visibility</p:attrName>
                                        </p:attrNameLst>
                                      </p:cBhvr>
                                      <p:to>
                                        <p:strVal val="visible"/>
                                      </p:to>
                                    </p:set>
                                    <p:animEffect transition="in" filter="slide(fromBottom)">
                                      <p:cBhvr>
                                        <p:cTn id="27" dur="500"/>
                                        <p:tgtEl>
                                          <p:spTgt spid="1048716"/>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499"/>
                                          </p:stCondLst>
                                        </p:cTn>
                                        <p:tgtEl>
                                          <p:spTgt spid="1048634"/>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499"/>
                                          </p:stCondLst>
                                        </p:cTn>
                                        <p:tgtEl>
                                          <p:spTgt spid="59"/>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499"/>
                                          </p:stCondLst>
                                        </p:cTn>
                                        <p:tgtEl>
                                          <p:spTgt spid="104863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499"/>
                                          </p:stCondLst>
                                        </p:cTn>
                                        <p:tgtEl>
                                          <p:spTgt spid="60"/>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2" presetClass="entr" presetSubtype="4" fill="hold" grpId="0" nodeType="clickEffect">
                                  <p:stCondLst>
                                    <p:cond delay="0"/>
                                  </p:stCondLst>
                                  <p:childTnLst>
                                    <p:set>
                                      <p:cBhvr>
                                        <p:cTn id="47" dur="1" fill="hold">
                                          <p:stCondLst>
                                            <p:cond delay="0"/>
                                          </p:stCondLst>
                                        </p:cTn>
                                        <p:tgtEl>
                                          <p:spTgt spid="1048717"/>
                                        </p:tgtEl>
                                        <p:attrNameLst>
                                          <p:attrName>style.visibility</p:attrName>
                                        </p:attrNameLst>
                                      </p:cBhvr>
                                      <p:to>
                                        <p:strVal val="visible"/>
                                      </p:to>
                                    </p:set>
                                    <p:animEffect transition="in" filter="slide(fromBottom)">
                                      <p:cBhvr>
                                        <p:cTn id="48" dur="500"/>
                                        <p:tgtEl>
                                          <p:spTgt spid="104871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499"/>
                                          </p:stCondLst>
                                        </p:cTn>
                                        <p:tgtEl>
                                          <p:spTgt spid="1048636"/>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7" presetClass="entr" presetSubtype="4" fill="hold" grpId="0" nodeType="clickEffect">
                                  <p:stCondLst>
                                    <p:cond delay="0"/>
                                  </p:stCondLst>
                                  <p:childTnLst>
                                    <p:set>
                                      <p:cBhvr>
                                        <p:cTn id="56" dur="1" fill="hold">
                                          <p:stCondLst>
                                            <p:cond delay="0"/>
                                          </p:stCondLst>
                                        </p:cTn>
                                        <p:tgtEl>
                                          <p:spTgt spid="125"/>
                                        </p:tgtEl>
                                        <p:attrNameLst>
                                          <p:attrName>style.visibility</p:attrName>
                                        </p:attrNameLst>
                                      </p:cBhvr>
                                      <p:to>
                                        <p:strVal val="visible"/>
                                      </p:to>
                                    </p:set>
                                    <p:anim calcmode="lin" valueType="num">
                                      <p:cBhvr>
                                        <p:cTn id="57" dur="500" fill="hold"/>
                                        <p:tgtEl>
                                          <p:spTgt spid="125"/>
                                        </p:tgtEl>
                                        <p:attrNameLst>
                                          <p:attrName>ppt_x</p:attrName>
                                        </p:attrNameLst>
                                      </p:cBhvr>
                                      <p:tavLst>
                                        <p:tav tm="0">
                                          <p:val>
                                            <p:strVal val="#ppt_x"/>
                                          </p:val>
                                        </p:tav>
                                        <p:tav tm="100000">
                                          <p:val>
                                            <p:strVal val="#ppt_x"/>
                                          </p:val>
                                        </p:tav>
                                      </p:tavLst>
                                    </p:anim>
                                    <p:anim calcmode="lin" valueType="num">
                                      <p:cBhvr>
                                        <p:cTn id="58" dur="500" fill="hold"/>
                                        <p:tgtEl>
                                          <p:spTgt spid="125"/>
                                        </p:tgtEl>
                                        <p:attrNameLst>
                                          <p:attrName>ppt_y</p:attrName>
                                        </p:attrNameLst>
                                      </p:cBhvr>
                                      <p:tavLst>
                                        <p:tav tm="0">
                                          <p:val>
                                            <p:strVal val="#ppt_y+#ppt_h/2"/>
                                          </p:val>
                                        </p:tav>
                                        <p:tav tm="100000">
                                          <p:val>
                                            <p:strVal val="#ppt_y"/>
                                          </p:val>
                                        </p:tav>
                                      </p:tavLst>
                                    </p:anim>
                                    <p:anim calcmode="lin" valueType="num">
                                      <p:cBhvr>
                                        <p:cTn id="59" dur="500" fill="hold"/>
                                        <p:tgtEl>
                                          <p:spTgt spid="125"/>
                                        </p:tgtEl>
                                        <p:attrNameLst>
                                          <p:attrName>ppt_w</p:attrName>
                                        </p:attrNameLst>
                                      </p:cBhvr>
                                      <p:tavLst>
                                        <p:tav tm="0">
                                          <p:val>
                                            <p:strVal val="#ppt_w"/>
                                          </p:val>
                                        </p:tav>
                                        <p:tav tm="100000">
                                          <p:val>
                                            <p:strVal val="#ppt_w"/>
                                          </p:val>
                                        </p:tav>
                                      </p:tavLst>
                                    </p:anim>
                                    <p:anim calcmode="lin" valueType="num">
                                      <p:cBhvr>
                                        <p:cTn id="60" dur="500" fill="hold"/>
                                        <p:tgtEl>
                                          <p:spTgt spid="125"/>
                                        </p:tgtEl>
                                        <p:attrNameLst>
                                          <p:attrName>ppt_h</p:attrName>
                                        </p:attrNameLst>
                                      </p:cBhvr>
                                      <p:tavLst>
                                        <p:tav tm="0">
                                          <p:val>
                                            <p:fltVal val="0"/>
                                          </p:val>
                                        </p:tav>
                                        <p:tav tm="100000">
                                          <p:val>
                                            <p:strVal val="#ppt_h"/>
                                          </p:val>
                                        </p:tav>
                                      </p:tavLst>
                                    </p:anim>
                                  </p:childTnLst>
                                </p:cTn>
                              </p:par>
                            </p:childTnLst>
                          </p:cTn>
                        </p:par>
                        <p:par>
                          <p:cTn id="61" fill="hold">
                            <p:stCondLst>
                              <p:cond delay="500"/>
                            </p:stCondLst>
                            <p:childTnLst>
                              <p:par>
                                <p:cTn id="62" presetID="17" presetClass="entr" presetSubtype="4" fill="hold" grpId="0" nodeType="afterEffect">
                                  <p:stCondLst>
                                    <p:cond delay="0"/>
                                  </p:stCondLst>
                                  <p:childTnLst>
                                    <p:set>
                                      <p:cBhvr>
                                        <p:cTn id="63" dur="1" fill="hold">
                                          <p:stCondLst>
                                            <p:cond delay="0"/>
                                          </p:stCondLst>
                                        </p:cTn>
                                        <p:tgtEl>
                                          <p:spTgt spid="121"/>
                                        </p:tgtEl>
                                        <p:attrNameLst>
                                          <p:attrName>style.visibility</p:attrName>
                                        </p:attrNameLst>
                                      </p:cBhvr>
                                      <p:to>
                                        <p:strVal val="visible"/>
                                      </p:to>
                                    </p:set>
                                    <p:anim calcmode="lin" valueType="num">
                                      <p:cBhvr>
                                        <p:cTn id="64" dur="500" fill="hold"/>
                                        <p:tgtEl>
                                          <p:spTgt spid="121"/>
                                        </p:tgtEl>
                                        <p:attrNameLst>
                                          <p:attrName>ppt_x</p:attrName>
                                        </p:attrNameLst>
                                      </p:cBhvr>
                                      <p:tavLst>
                                        <p:tav tm="0">
                                          <p:val>
                                            <p:strVal val="#ppt_x"/>
                                          </p:val>
                                        </p:tav>
                                        <p:tav tm="100000">
                                          <p:val>
                                            <p:strVal val="#ppt_x"/>
                                          </p:val>
                                        </p:tav>
                                      </p:tavLst>
                                    </p:anim>
                                    <p:anim calcmode="lin" valueType="num">
                                      <p:cBhvr>
                                        <p:cTn id="65" dur="500" fill="hold"/>
                                        <p:tgtEl>
                                          <p:spTgt spid="121"/>
                                        </p:tgtEl>
                                        <p:attrNameLst>
                                          <p:attrName>ppt_y</p:attrName>
                                        </p:attrNameLst>
                                      </p:cBhvr>
                                      <p:tavLst>
                                        <p:tav tm="0">
                                          <p:val>
                                            <p:strVal val="#ppt_y+#ppt_h/2"/>
                                          </p:val>
                                        </p:tav>
                                        <p:tav tm="100000">
                                          <p:val>
                                            <p:strVal val="#ppt_y"/>
                                          </p:val>
                                        </p:tav>
                                      </p:tavLst>
                                    </p:anim>
                                    <p:anim calcmode="lin" valueType="num">
                                      <p:cBhvr>
                                        <p:cTn id="66" dur="500" fill="hold"/>
                                        <p:tgtEl>
                                          <p:spTgt spid="121"/>
                                        </p:tgtEl>
                                        <p:attrNameLst>
                                          <p:attrName>ppt_w</p:attrName>
                                        </p:attrNameLst>
                                      </p:cBhvr>
                                      <p:tavLst>
                                        <p:tav tm="0">
                                          <p:val>
                                            <p:strVal val="#ppt_w"/>
                                          </p:val>
                                        </p:tav>
                                        <p:tav tm="100000">
                                          <p:val>
                                            <p:strVal val="#ppt_w"/>
                                          </p:val>
                                        </p:tav>
                                      </p:tavLst>
                                    </p:anim>
                                    <p:anim calcmode="lin" valueType="num">
                                      <p:cBhvr>
                                        <p:cTn id="67" dur="500" fill="hold"/>
                                        <p:tgtEl>
                                          <p:spTgt spid="121"/>
                                        </p:tgtEl>
                                        <p:attrNameLst>
                                          <p:attrName>ppt_h</p:attrName>
                                        </p:attrNameLst>
                                      </p:cBhvr>
                                      <p:tavLst>
                                        <p:tav tm="0">
                                          <p:val>
                                            <p:fltVal val="0"/>
                                          </p:val>
                                        </p:tav>
                                        <p:tav tm="100000">
                                          <p:val>
                                            <p:strVal val="#ppt_h"/>
                                          </p:val>
                                        </p:tav>
                                      </p:tavLst>
                                    </p:anim>
                                  </p:childTnLst>
                                </p:cTn>
                              </p:par>
                              <p:par>
                                <p:cTn id="68" presetID="12" presetClass="entr" presetSubtype="8" fill="hold" grpId="0" nodeType="withEffect">
                                  <p:stCondLst>
                                    <p:cond delay="0"/>
                                  </p:stCondLst>
                                  <p:childTnLst>
                                    <p:set>
                                      <p:cBhvr>
                                        <p:cTn id="69" dur="1" fill="hold">
                                          <p:stCondLst>
                                            <p:cond delay="0"/>
                                          </p:stCondLst>
                                        </p:cTn>
                                        <p:tgtEl>
                                          <p:spTgt spid="134"/>
                                        </p:tgtEl>
                                        <p:attrNameLst>
                                          <p:attrName>style.visibility</p:attrName>
                                        </p:attrNameLst>
                                      </p:cBhvr>
                                      <p:to>
                                        <p:strVal val="visible"/>
                                      </p:to>
                                    </p:set>
                                    <p:animEffect transition="in" filter="slide(fromLeft)">
                                      <p:cBhvr>
                                        <p:cTn id="70" dur="500"/>
                                        <p:tgtEl>
                                          <p:spTgt spid="134"/>
                                        </p:tgtEl>
                                      </p:cBhvr>
                                    </p:animEffec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499"/>
                                          </p:stCondLst>
                                        </p:cTn>
                                        <p:tgtEl>
                                          <p:spTgt spid="54"/>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499"/>
                                          </p:stCondLst>
                                        </p:cTn>
                                        <p:tgtEl>
                                          <p:spTgt spid="1048702"/>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nodeType="clickEffect">
                                  <p:stCondLst>
                                    <p:cond delay="0"/>
                                  </p:stCondLst>
                                  <p:childTnLst>
                                    <p:set>
                                      <p:cBhvr>
                                        <p:cTn id="82" dur="1" fill="hold">
                                          <p:stCondLst>
                                            <p:cond delay="499"/>
                                          </p:stCondLst>
                                        </p:cTn>
                                        <p:tgtEl>
                                          <p:spTgt spid="55"/>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childTnLst>
                                    <p:set>
                                      <p:cBhvr>
                                        <p:cTn id="86" dur="1" fill="hold">
                                          <p:stCondLst>
                                            <p:cond delay="499"/>
                                          </p:stCondLst>
                                        </p:cTn>
                                        <p:tgtEl>
                                          <p:spTgt spid="1048715"/>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7" presetClass="entr" presetSubtype="4" fill="hold" grpId="0" nodeType="clickEffect">
                                  <p:stCondLst>
                                    <p:cond delay="0"/>
                                  </p:stCondLst>
                                  <p:childTnLst>
                                    <p:set>
                                      <p:cBhvr>
                                        <p:cTn id="90" dur="1" fill="hold">
                                          <p:stCondLst>
                                            <p:cond delay="0"/>
                                          </p:stCondLst>
                                        </p:cTn>
                                        <p:tgtEl>
                                          <p:spTgt spid="127"/>
                                        </p:tgtEl>
                                        <p:attrNameLst>
                                          <p:attrName>style.visibility</p:attrName>
                                        </p:attrNameLst>
                                      </p:cBhvr>
                                      <p:to>
                                        <p:strVal val="visible"/>
                                      </p:to>
                                    </p:set>
                                    <p:anim calcmode="lin" valueType="num">
                                      <p:cBhvr>
                                        <p:cTn id="91" dur="500" fill="hold"/>
                                        <p:tgtEl>
                                          <p:spTgt spid="127"/>
                                        </p:tgtEl>
                                        <p:attrNameLst>
                                          <p:attrName>ppt_x</p:attrName>
                                        </p:attrNameLst>
                                      </p:cBhvr>
                                      <p:tavLst>
                                        <p:tav tm="0">
                                          <p:val>
                                            <p:strVal val="#ppt_x"/>
                                          </p:val>
                                        </p:tav>
                                        <p:tav tm="100000">
                                          <p:val>
                                            <p:strVal val="#ppt_x"/>
                                          </p:val>
                                        </p:tav>
                                      </p:tavLst>
                                    </p:anim>
                                    <p:anim calcmode="lin" valueType="num">
                                      <p:cBhvr>
                                        <p:cTn id="92" dur="500" fill="hold"/>
                                        <p:tgtEl>
                                          <p:spTgt spid="127"/>
                                        </p:tgtEl>
                                        <p:attrNameLst>
                                          <p:attrName>ppt_y</p:attrName>
                                        </p:attrNameLst>
                                      </p:cBhvr>
                                      <p:tavLst>
                                        <p:tav tm="0">
                                          <p:val>
                                            <p:strVal val="#ppt_y+#ppt_h/2"/>
                                          </p:val>
                                        </p:tav>
                                        <p:tav tm="100000">
                                          <p:val>
                                            <p:strVal val="#ppt_y"/>
                                          </p:val>
                                        </p:tav>
                                      </p:tavLst>
                                    </p:anim>
                                    <p:anim calcmode="lin" valueType="num">
                                      <p:cBhvr>
                                        <p:cTn id="93" dur="500" fill="hold"/>
                                        <p:tgtEl>
                                          <p:spTgt spid="127"/>
                                        </p:tgtEl>
                                        <p:attrNameLst>
                                          <p:attrName>ppt_w</p:attrName>
                                        </p:attrNameLst>
                                      </p:cBhvr>
                                      <p:tavLst>
                                        <p:tav tm="0">
                                          <p:val>
                                            <p:strVal val="#ppt_w"/>
                                          </p:val>
                                        </p:tav>
                                        <p:tav tm="100000">
                                          <p:val>
                                            <p:strVal val="#ppt_w"/>
                                          </p:val>
                                        </p:tav>
                                      </p:tavLst>
                                    </p:anim>
                                    <p:anim calcmode="lin" valueType="num">
                                      <p:cBhvr>
                                        <p:cTn id="94" dur="500" fill="hold"/>
                                        <p:tgtEl>
                                          <p:spTgt spid="127"/>
                                        </p:tgtEl>
                                        <p:attrNameLst>
                                          <p:attrName>ppt_h</p:attrName>
                                        </p:attrNameLst>
                                      </p:cBhvr>
                                      <p:tavLst>
                                        <p:tav tm="0">
                                          <p:val>
                                            <p:fltVal val="0"/>
                                          </p:val>
                                        </p:tav>
                                        <p:tav tm="100000">
                                          <p:val>
                                            <p:strVal val="#ppt_h"/>
                                          </p:val>
                                        </p:tav>
                                      </p:tavLst>
                                    </p:anim>
                                  </p:childTnLst>
                                </p:cTn>
                              </p:par>
                            </p:childTnLst>
                          </p:cTn>
                        </p:par>
                        <p:par>
                          <p:cTn id="95" fill="hold">
                            <p:stCondLst>
                              <p:cond delay="500"/>
                            </p:stCondLst>
                            <p:childTnLst>
                              <p:par>
                                <p:cTn id="96" presetID="17" presetClass="entr" presetSubtype="4" fill="hold" grpId="0" nodeType="afterEffect">
                                  <p:stCondLst>
                                    <p:cond delay="0"/>
                                  </p:stCondLst>
                                  <p:childTnLst>
                                    <p:set>
                                      <p:cBhvr>
                                        <p:cTn id="97" dur="1" fill="hold">
                                          <p:stCondLst>
                                            <p:cond delay="0"/>
                                          </p:stCondLst>
                                        </p:cTn>
                                        <p:tgtEl>
                                          <p:spTgt spid="126"/>
                                        </p:tgtEl>
                                        <p:attrNameLst>
                                          <p:attrName>style.visibility</p:attrName>
                                        </p:attrNameLst>
                                      </p:cBhvr>
                                      <p:to>
                                        <p:strVal val="visible"/>
                                      </p:to>
                                    </p:set>
                                    <p:anim calcmode="lin" valueType="num">
                                      <p:cBhvr>
                                        <p:cTn id="98" dur="500" fill="hold"/>
                                        <p:tgtEl>
                                          <p:spTgt spid="126"/>
                                        </p:tgtEl>
                                        <p:attrNameLst>
                                          <p:attrName>ppt_x</p:attrName>
                                        </p:attrNameLst>
                                      </p:cBhvr>
                                      <p:tavLst>
                                        <p:tav tm="0">
                                          <p:val>
                                            <p:strVal val="#ppt_x"/>
                                          </p:val>
                                        </p:tav>
                                        <p:tav tm="100000">
                                          <p:val>
                                            <p:strVal val="#ppt_x"/>
                                          </p:val>
                                        </p:tav>
                                      </p:tavLst>
                                    </p:anim>
                                    <p:anim calcmode="lin" valueType="num">
                                      <p:cBhvr>
                                        <p:cTn id="99" dur="500" fill="hold"/>
                                        <p:tgtEl>
                                          <p:spTgt spid="126"/>
                                        </p:tgtEl>
                                        <p:attrNameLst>
                                          <p:attrName>ppt_y</p:attrName>
                                        </p:attrNameLst>
                                      </p:cBhvr>
                                      <p:tavLst>
                                        <p:tav tm="0">
                                          <p:val>
                                            <p:strVal val="#ppt_y+#ppt_h/2"/>
                                          </p:val>
                                        </p:tav>
                                        <p:tav tm="100000">
                                          <p:val>
                                            <p:strVal val="#ppt_y"/>
                                          </p:val>
                                        </p:tav>
                                      </p:tavLst>
                                    </p:anim>
                                    <p:anim calcmode="lin" valueType="num">
                                      <p:cBhvr>
                                        <p:cTn id="100" dur="500" fill="hold"/>
                                        <p:tgtEl>
                                          <p:spTgt spid="126"/>
                                        </p:tgtEl>
                                        <p:attrNameLst>
                                          <p:attrName>ppt_w</p:attrName>
                                        </p:attrNameLst>
                                      </p:cBhvr>
                                      <p:tavLst>
                                        <p:tav tm="0">
                                          <p:val>
                                            <p:strVal val="#ppt_w"/>
                                          </p:val>
                                        </p:tav>
                                        <p:tav tm="100000">
                                          <p:val>
                                            <p:strVal val="#ppt_w"/>
                                          </p:val>
                                        </p:tav>
                                      </p:tavLst>
                                    </p:anim>
                                    <p:anim calcmode="lin" valueType="num">
                                      <p:cBhvr>
                                        <p:cTn id="101" dur="500" fill="hold"/>
                                        <p:tgtEl>
                                          <p:spTgt spid="126"/>
                                        </p:tgtEl>
                                        <p:attrNameLst>
                                          <p:attrName>ppt_h</p:attrName>
                                        </p:attrNameLst>
                                      </p:cBhvr>
                                      <p:tavLst>
                                        <p:tav tm="0">
                                          <p:val>
                                            <p:fltVal val="0"/>
                                          </p:val>
                                        </p:tav>
                                        <p:tav tm="100000">
                                          <p:val>
                                            <p:strVal val="#ppt_h"/>
                                          </p:val>
                                        </p:tav>
                                      </p:tavLst>
                                    </p:anim>
                                  </p:childTnLst>
                                </p:cTn>
                              </p:par>
                            </p:childTnLst>
                          </p:cTn>
                        </p:par>
                        <p:par>
                          <p:cTn id="102" fill="hold">
                            <p:stCondLst>
                              <p:cond delay="1000"/>
                            </p:stCondLst>
                            <p:childTnLst>
                              <p:par>
                                <p:cTn id="103" presetID="17" presetClass="entr" presetSubtype="4" fill="hold" grpId="0" nodeType="afterEffect">
                                  <p:stCondLst>
                                    <p:cond delay="0"/>
                                  </p:stCondLst>
                                  <p:childTnLst>
                                    <p:set>
                                      <p:cBhvr>
                                        <p:cTn id="104" dur="1" fill="hold">
                                          <p:stCondLst>
                                            <p:cond delay="0"/>
                                          </p:stCondLst>
                                        </p:cTn>
                                        <p:tgtEl>
                                          <p:spTgt spid="122"/>
                                        </p:tgtEl>
                                        <p:attrNameLst>
                                          <p:attrName>style.visibility</p:attrName>
                                        </p:attrNameLst>
                                      </p:cBhvr>
                                      <p:to>
                                        <p:strVal val="visible"/>
                                      </p:to>
                                    </p:set>
                                    <p:anim calcmode="lin" valueType="num">
                                      <p:cBhvr>
                                        <p:cTn id="105" dur="500" fill="hold"/>
                                        <p:tgtEl>
                                          <p:spTgt spid="122"/>
                                        </p:tgtEl>
                                        <p:attrNameLst>
                                          <p:attrName>ppt_x</p:attrName>
                                        </p:attrNameLst>
                                      </p:cBhvr>
                                      <p:tavLst>
                                        <p:tav tm="0">
                                          <p:val>
                                            <p:strVal val="#ppt_x"/>
                                          </p:val>
                                        </p:tav>
                                        <p:tav tm="100000">
                                          <p:val>
                                            <p:strVal val="#ppt_x"/>
                                          </p:val>
                                        </p:tav>
                                      </p:tavLst>
                                    </p:anim>
                                    <p:anim calcmode="lin" valueType="num">
                                      <p:cBhvr>
                                        <p:cTn id="106" dur="500" fill="hold"/>
                                        <p:tgtEl>
                                          <p:spTgt spid="122"/>
                                        </p:tgtEl>
                                        <p:attrNameLst>
                                          <p:attrName>ppt_y</p:attrName>
                                        </p:attrNameLst>
                                      </p:cBhvr>
                                      <p:tavLst>
                                        <p:tav tm="0">
                                          <p:val>
                                            <p:strVal val="#ppt_y+#ppt_h/2"/>
                                          </p:val>
                                        </p:tav>
                                        <p:tav tm="100000">
                                          <p:val>
                                            <p:strVal val="#ppt_y"/>
                                          </p:val>
                                        </p:tav>
                                      </p:tavLst>
                                    </p:anim>
                                    <p:anim calcmode="lin" valueType="num">
                                      <p:cBhvr>
                                        <p:cTn id="107" dur="500" fill="hold"/>
                                        <p:tgtEl>
                                          <p:spTgt spid="122"/>
                                        </p:tgtEl>
                                        <p:attrNameLst>
                                          <p:attrName>ppt_w</p:attrName>
                                        </p:attrNameLst>
                                      </p:cBhvr>
                                      <p:tavLst>
                                        <p:tav tm="0">
                                          <p:val>
                                            <p:strVal val="#ppt_w"/>
                                          </p:val>
                                        </p:tav>
                                        <p:tav tm="100000">
                                          <p:val>
                                            <p:strVal val="#ppt_w"/>
                                          </p:val>
                                        </p:tav>
                                      </p:tavLst>
                                    </p:anim>
                                    <p:anim calcmode="lin" valueType="num">
                                      <p:cBhvr>
                                        <p:cTn id="108" dur="500" fill="hold"/>
                                        <p:tgtEl>
                                          <p:spTgt spid="122"/>
                                        </p:tgtEl>
                                        <p:attrNameLst>
                                          <p:attrName>ppt_h</p:attrName>
                                        </p:attrNameLst>
                                      </p:cBhvr>
                                      <p:tavLst>
                                        <p:tav tm="0">
                                          <p:val>
                                            <p:fltVal val="0"/>
                                          </p:val>
                                        </p:tav>
                                        <p:tav tm="100000">
                                          <p:val>
                                            <p:strVal val="#ppt_h"/>
                                          </p:val>
                                        </p:tav>
                                      </p:tavLst>
                                    </p:anim>
                                  </p:childTnLst>
                                </p:cTn>
                              </p:par>
                              <p:par>
                                <p:cTn id="109" presetID="12" presetClass="entr" presetSubtype="8" fill="hold" grpId="0" nodeType="withEffect">
                                  <p:stCondLst>
                                    <p:cond delay="0"/>
                                  </p:stCondLst>
                                  <p:childTnLst>
                                    <p:set>
                                      <p:cBhvr>
                                        <p:cTn id="110" dur="1" fill="hold">
                                          <p:stCondLst>
                                            <p:cond delay="0"/>
                                          </p:stCondLst>
                                        </p:cTn>
                                        <p:tgtEl>
                                          <p:spTgt spid="135"/>
                                        </p:tgtEl>
                                        <p:attrNameLst>
                                          <p:attrName>style.visibility</p:attrName>
                                        </p:attrNameLst>
                                      </p:cBhvr>
                                      <p:to>
                                        <p:strVal val="visible"/>
                                      </p:to>
                                    </p:set>
                                    <p:animEffect transition="in" filter="slide(fromLeft)">
                                      <p:cBhvr>
                                        <p:cTn id="111" dur="500"/>
                                        <p:tgtEl>
                                          <p:spTgt spid="135"/>
                                        </p:tgtEl>
                                      </p:cBhvr>
                                    </p:animEffect>
                                  </p:childTnLst>
                                </p:cTn>
                              </p:par>
                            </p:childTnLst>
                          </p:cTn>
                        </p:par>
                      </p:childTnLst>
                    </p:cTn>
                  </p:par>
                  <p:par>
                    <p:cTn id="112" fill="hold">
                      <p:stCondLst>
                        <p:cond delay="indefinite"/>
                      </p:stCondLst>
                      <p:childTnLst>
                        <p:par>
                          <p:cTn id="113" fill="hold">
                            <p:stCondLst>
                              <p:cond delay="0"/>
                            </p:stCondLst>
                            <p:childTnLst>
                              <p:par>
                                <p:cTn id="114" presetID="1" presetClass="entr" presetSubtype="0" fill="hold" nodeType="clickEffect">
                                  <p:stCondLst>
                                    <p:cond delay="0"/>
                                  </p:stCondLst>
                                  <p:childTnLst>
                                    <p:set>
                                      <p:cBhvr>
                                        <p:cTn id="115" dur="1" fill="hold">
                                          <p:stCondLst>
                                            <p:cond delay="499"/>
                                          </p:stCondLst>
                                        </p:cTn>
                                        <p:tgtEl>
                                          <p:spTgt spid="61"/>
                                        </p:tgtEl>
                                        <p:attrNameLst>
                                          <p:attrName>style.visibility</p:attrName>
                                        </p:attrNameLst>
                                      </p:cBhvr>
                                      <p:to>
                                        <p:strVal val="visible"/>
                                      </p:to>
                                    </p:set>
                                  </p:childTnLst>
                                </p:cTn>
                              </p:par>
                            </p:childTnLst>
                          </p:cTn>
                        </p:par>
                      </p:childTnLst>
                    </p:cTn>
                  </p:par>
                  <p:par>
                    <p:cTn id="116" fill="hold">
                      <p:stCondLst>
                        <p:cond delay="indefinite"/>
                      </p:stCondLst>
                      <p:childTnLst>
                        <p:par>
                          <p:cTn id="117" fill="hold">
                            <p:stCondLst>
                              <p:cond delay="0"/>
                            </p:stCondLst>
                            <p:childTnLst>
                              <p:par>
                                <p:cTn id="118" presetID="1" presetClass="entr" presetSubtype="0" fill="hold" grpId="0" nodeType="clickEffect">
                                  <p:stCondLst>
                                    <p:cond delay="0"/>
                                  </p:stCondLst>
                                  <p:childTnLst>
                                    <p:set>
                                      <p:cBhvr>
                                        <p:cTn id="119" dur="1" fill="hold">
                                          <p:stCondLst>
                                            <p:cond delay="499"/>
                                          </p:stCondLst>
                                        </p:cTn>
                                        <p:tgtEl>
                                          <p:spTgt spid="1048637"/>
                                        </p:tgtEl>
                                        <p:attrNameLst>
                                          <p:attrName>style.visibility</p:attrName>
                                        </p:attrNameLst>
                                      </p:cBhvr>
                                      <p:to>
                                        <p:strVal val="visible"/>
                                      </p:to>
                                    </p:se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 presetClass="entr" presetSubtype="0" fill="hold" nodeType="clickEffect">
                                  <p:stCondLst>
                                    <p:cond delay="0"/>
                                  </p:stCondLst>
                                  <p:childTnLst>
                                    <p:set>
                                      <p:cBhvr>
                                        <p:cTn id="123" dur="1" fill="hold">
                                          <p:stCondLst>
                                            <p:cond delay="499"/>
                                          </p:stCondLst>
                                        </p:cTn>
                                        <p:tgtEl>
                                          <p:spTgt spid="56"/>
                                        </p:tgtEl>
                                        <p:attrNameLst>
                                          <p:attrName>style.visibility</p:attrName>
                                        </p:attrNameLst>
                                      </p:cBhvr>
                                      <p:to>
                                        <p:strVal val="visible"/>
                                      </p:to>
                                    </p:se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1" presetClass="entr" presetSubtype="0" fill="hold" grpId="0" nodeType="clickEffect">
                                  <p:stCondLst>
                                    <p:cond delay="0"/>
                                  </p:stCondLst>
                                  <p:childTnLst>
                                    <p:set>
                                      <p:cBhvr>
                                        <p:cTn id="127" dur="1" fill="hold">
                                          <p:stCondLst>
                                            <p:cond delay="499"/>
                                          </p:stCondLst>
                                        </p:cTn>
                                        <p:tgtEl>
                                          <p:spTgt spid="1048712"/>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nodeType="clickEffect">
                                  <p:stCondLst>
                                    <p:cond delay="0"/>
                                  </p:stCondLst>
                                  <p:childTnLst>
                                    <p:set>
                                      <p:cBhvr>
                                        <p:cTn id="131" dur="1" fill="hold">
                                          <p:stCondLst>
                                            <p:cond delay="499"/>
                                          </p:stCondLst>
                                        </p:cTn>
                                        <p:tgtEl>
                                          <p:spTgt spid="57"/>
                                        </p:tgtEl>
                                        <p:attrNameLst>
                                          <p:attrName>style.visibility</p:attrName>
                                        </p:attrNameLst>
                                      </p:cBhvr>
                                      <p:to>
                                        <p:strVal val="visible"/>
                                      </p:to>
                                    </p:se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 presetClass="entr" presetSubtype="0" fill="hold" grpId="0" nodeType="clickEffect">
                                  <p:stCondLst>
                                    <p:cond delay="0"/>
                                  </p:stCondLst>
                                  <p:childTnLst>
                                    <p:set>
                                      <p:cBhvr>
                                        <p:cTn id="135" dur="1" fill="hold">
                                          <p:stCondLst>
                                            <p:cond delay="499"/>
                                          </p:stCondLst>
                                        </p:cTn>
                                        <p:tgtEl>
                                          <p:spTgt spid="1048713"/>
                                        </p:tgtEl>
                                        <p:attrNameLst>
                                          <p:attrName>style.visibility</p:attrName>
                                        </p:attrNameLst>
                                      </p:cBhvr>
                                      <p:to>
                                        <p:strVal val="visible"/>
                                      </p:to>
                                    </p:set>
                                  </p:childTnLst>
                                </p:cTn>
                              </p:par>
                            </p:childTnLst>
                          </p:cTn>
                        </p:par>
                      </p:childTnLst>
                    </p:cTn>
                  </p:par>
                  <p:par>
                    <p:cTn id="136" fill="hold">
                      <p:stCondLst>
                        <p:cond delay="indefinite"/>
                      </p:stCondLst>
                      <p:childTnLst>
                        <p:par>
                          <p:cTn id="137" fill="hold">
                            <p:stCondLst>
                              <p:cond delay="0"/>
                            </p:stCondLst>
                            <p:childTnLst>
                              <p:par>
                                <p:cTn id="138" presetID="17" presetClass="entr" presetSubtype="4" fill="hold" grpId="0" nodeType="clickEffect">
                                  <p:stCondLst>
                                    <p:cond delay="0"/>
                                  </p:stCondLst>
                                  <p:childTnLst>
                                    <p:set>
                                      <p:cBhvr>
                                        <p:cTn id="139" dur="1" fill="hold">
                                          <p:stCondLst>
                                            <p:cond delay="0"/>
                                          </p:stCondLst>
                                        </p:cTn>
                                        <p:tgtEl>
                                          <p:spTgt spid="128"/>
                                        </p:tgtEl>
                                        <p:attrNameLst>
                                          <p:attrName>style.visibility</p:attrName>
                                        </p:attrNameLst>
                                      </p:cBhvr>
                                      <p:to>
                                        <p:strVal val="visible"/>
                                      </p:to>
                                    </p:set>
                                    <p:anim calcmode="lin" valueType="num">
                                      <p:cBhvr>
                                        <p:cTn id="140" dur="500" fill="hold"/>
                                        <p:tgtEl>
                                          <p:spTgt spid="128"/>
                                        </p:tgtEl>
                                        <p:attrNameLst>
                                          <p:attrName>ppt_x</p:attrName>
                                        </p:attrNameLst>
                                      </p:cBhvr>
                                      <p:tavLst>
                                        <p:tav tm="0">
                                          <p:val>
                                            <p:strVal val="#ppt_x"/>
                                          </p:val>
                                        </p:tav>
                                        <p:tav tm="100000">
                                          <p:val>
                                            <p:strVal val="#ppt_x"/>
                                          </p:val>
                                        </p:tav>
                                      </p:tavLst>
                                    </p:anim>
                                    <p:anim calcmode="lin" valueType="num">
                                      <p:cBhvr>
                                        <p:cTn id="141" dur="500" fill="hold"/>
                                        <p:tgtEl>
                                          <p:spTgt spid="128"/>
                                        </p:tgtEl>
                                        <p:attrNameLst>
                                          <p:attrName>ppt_y</p:attrName>
                                        </p:attrNameLst>
                                      </p:cBhvr>
                                      <p:tavLst>
                                        <p:tav tm="0">
                                          <p:val>
                                            <p:strVal val="#ppt_y+#ppt_h/2"/>
                                          </p:val>
                                        </p:tav>
                                        <p:tav tm="100000">
                                          <p:val>
                                            <p:strVal val="#ppt_y"/>
                                          </p:val>
                                        </p:tav>
                                      </p:tavLst>
                                    </p:anim>
                                    <p:anim calcmode="lin" valueType="num">
                                      <p:cBhvr>
                                        <p:cTn id="142" dur="500" fill="hold"/>
                                        <p:tgtEl>
                                          <p:spTgt spid="128"/>
                                        </p:tgtEl>
                                        <p:attrNameLst>
                                          <p:attrName>ppt_w</p:attrName>
                                        </p:attrNameLst>
                                      </p:cBhvr>
                                      <p:tavLst>
                                        <p:tav tm="0">
                                          <p:val>
                                            <p:strVal val="#ppt_w"/>
                                          </p:val>
                                        </p:tav>
                                        <p:tav tm="100000">
                                          <p:val>
                                            <p:strVal val="#ppt_w"/>
                                          </p:val>
                                        </p:tav>
                                      </p:tavLst>
                                    </p:anim>
                                    <p:anim calcmode="lin" valueType="num">
                                      <p:cBhvr>
                                        <p:cTn id="143" dur="500" fill="hold"/>
                                        <p:tgtEl>
                                          <p:spTgt spid="128"/>
                                        </p:tgtEl>
                                        <p:attrNameLst>
                                          <p:attrName>ppt_h</p:attrName>
                                        </p:attrNameLst>
                                      </p:cBhvr>
                                      <p:tavLst>
                                        <p:tav tm="0">
                                          <p:val>
                                            <p:fltVal val="0"/>
                                          </p:val>
                                        </p:tav>
                                        <p:tav tm="100000">
                                          <p:val>
                                            <p:strVal val="#ppt_h"/>
                                          </p:val>
                                        </p:tav>
                                      </p:tavLst>
                                    </p:anim>
                                  </p:childTnLst>
                                </p:cTn>
                              </p:par>
                            </p:childTnLst>
                          </p:cTn>
                        </p:par>
                        <p:par>
                          <p:cTn id="144" fill="hold">
                            <p:stCondLst>
                              <p:cond delay="500"/>
                            </p:stCondLst>
                            <p:childTnLst>
                              <p:par>
                                <p:cTn id="145" presetID="17" presetClass="entr" presetSubtype="4" fill="hold" grpId="0" nodeType="afterEffect">
                                  <p:stCondLst>
                                    <p:cond delay="0"/>
                                  </p:stCondLst>
                                  <p:childTnLst>
                                    <p:set>
                                      <p:cBhvr>
                                        <p:cTn id="146" dur="1" fill="hold">
                                          <p:stCondLst>
                                            <p:cond delay="0"/>
                                          </p:stCondLst>
                                        </p:cTn>
                                        <p:tgtEl>
                                          <p:spTgt spid="123"/>
                                        </p:tgtEl>
                                        <p:attrNameLst>
                                          <p:attrName>style.visibility</p:attrName>
                                        </p:attrNameLst>
                                      </p:cBhvr>
                                      <p:to>
                                        <p:strVal val="visible"/>
                                      </p:to>
                                    </p:set>
                                    <p:anim calcmode="lin" valueType="num">
                                      <p:cBhvr>
                                        <p:cTn id="147" dur="500" fill="hold"/>
                                        <p:tgtEl>
                                          <p:spTgt spid="123"/>
                                        </p:tgtEl>
                                        <p:attrNameLst>
                                          <p:attrName>ppt_x</p:attrName>
                                        </p:attrNameLst>
                                      </p:cBhvr>
                                      <p:tavLst>
                                        <p:tav tm="0">
                                          <p:val>
                                            <p:strVal val="#ppt_x"/>
                                          </p:val>
                                        </p:tav>
                                        <p:tav tm="100000">
                                          <p:val>
                                            <p:strVal val="#ppt_x"/>
                                          </p:val>
                                        </p:tav>
                                      </p:tavLst>
                                    </p:anim>
                                    <p:anim calcmode="lin" valueType="num">
                                      <p:cBhvr>
                                        <p:cTn id="148" dur="500" fill="hold"/>
                                        <p:tgtEl>
                                          <p:spTgt spid="123"/>
                                        </p:tgtEl>
                                        <p:attrNameLst>
                                          <p:attrName>ppt_y</p:attrName>
                                        </p:attrNameLst>
                                      </p:cBhvr>
                                      <p:tavLst>
                                        <p:tav tm="0">
                                          <p:val>
                                            <p:strVal val="#ppt_y+#ppt_h/2"/>
                                          </p:val>
                                        </p:tav>
                                        <p:tav tm="100000">
                                          <p:val>
                                            <p:strVal val="#ppt_y"/>
                                          </p:val>
                                        </p:tav>
                                      </p:tavLst>
                                    </p:anim>
                                    <p:anim calcmode="lin" valueType="num">
                                      <p:cBhvr>
                                        <p:cTn id="149" dur="500" fill="hold"/>
                                        <p:tgtEl>
                                          <p:spTgt spid="123"/>
                                        </p:tgtEl>
                                        <p:attrNameLst>
                                          <p:attrName>ppt_w</p:attrName>
                                        </p:attrNameLst>
                                      </p:cBhvr>
                                      <p:tavLst>
                                        <p:tav tm="0">
                                          <p:val>
                                            <p:strVal val="#ppt_w"/>
                                          </p:val>
                                        </p:tav>
                                        <p:tav tm="100000">
                                          <p:val>
                                            <p:strVal val="#ppt_w"/>
                                          </p:val>
                                        </p:tav>
                                      </p:tavLst>
                                    </p:anim>
                                    <p:anim calcmode="lin" valueType="num">
                                      <p:cBhvr>
                                        <p:cTn id="150" dur="500" fill="hold"/>
                                        <p:tgtEl>
                                          <p:spTgt spid="123"/>
                                        </p:tgtEl>
                                        <p:attrNameLst>
                                          <p:attrName>ppt_h</p:attrName>
                                        </p:attrNameLst>
                                      </p:cBhvr>
                                      <p:tavLst>
                                        <p:tav tm="0">
                                          <p:val>
                                            <p:fltVal val="0"/>
                                          </p:val>
                                        </p:tav>
                                        <p:tav tm="100000">
                                          <p:val>
                                            <p:strVal val="#ppt_h"/>
                                          </p:val>
                                        </p:tav>
                                      </p:tavLst>
                                    </p:anim>
                                  </p:childTnLst>
                                </p:cTn>
                              </p:par>
                              <p:par>
                                <p:cTn id="151" presetID="12" presetClass="entr" presetSubtype="8" fill="hold" grpId="0" nodeType="withEffect">
                                  <p:stCondLst>
                                    <p:cond delay="0"/>
                                  </p:stCondLst>
                                  <p:childTnLst>
                                    <p:set>
                                      <p:cBhvr>
                                        <p:cTn id="152" dur="1" fill="hold">
                                          <p:stCondLst>
                                            <p:cond delay="0"/>
                                          </p:stCondLst>
                                        </p:cTn>
                                        <p:tgtEl>
                                          <p:spTgt spid="136"/>
                                        </p:tgtEl>
                                        <p:attrNameLst>
                                          <p:attrName>style.visibility</p:attrName>
                                        </p:attrNameLst>
                                      </p:cBhvr>
                                      <p:to>
                                        <p:strVal val="visible"/>
                                      </p:to>
                                    </p:set>
                                    <p:animEffect transition="in" filter="slide(fromLeft)">
                                      <p:cBhvr>
                                        <p:cTn id="153" dur="500"/>
                                        <p:tgtEl>
                                          <p:spTgt spid="136"/>
                                        </p:tgtEl>
                                      </p:cBhvr>
                                    </p:animEffect>
                                  </p:childTnLst>
                                </p:cTn>
                              </p:par>
                            </p:childTnLst>
                          </p:cTn>
                        </p:par>
                      </p:childTnLst>
                    </p:cTn>
                  </p:par>
                  <p:par>
                    <p:cTn id="154" fill="hold" nodeType="clickPar">
                      <p:stCondLst>
                        <p:cond delay="indefinite"/>
                      </p:stCondLst>
                      <p:childTnLst>
                        <p:par>
                          <p:cTn id="155" fill="hold" nodeType="withGroup">
                            <p:stCondLst>
                              <p:cond delay="0"/>
                            </p:stCondLst>
                            <p:childTnLst>
                              <p:par>
                                <p:cTn id="156" presetID="1" presetClass="entr" presetSubtype="0" fill="hold" nodeType="clickEffect">
                                  <p:stCondLst>
                                    <p:cond delay="0"/>
                                  </p:stCondLst>
                                  <p:childTnLst>
                                    <p:set>
                                      <p:cBhvr>
                                        <p:cTn id="157" dur="1" fill="hold">
                                          <p:stCondLst>
                                            <p:cond delay="499"/>
                                          </p:stCondLst>
                                        </p:cTn>
                                        <p:tgtEl>
                                          <p:spTgt spid="58"/>
                                        </p:tgtEl>
                                        <p:attrNameLst>
                                          <p:attrName>style.visibility</p:attrName>
                                        </p:attrNameLst>
                                      </p:cBhvr>
                                      <p:to>
                                        <p:strVal val="visible"/>
                                      </p:to>
                                    </p:set>
                                  </p:childTnLst>
                                </p:cTn>
                              </p:par>
                            </p:childTnLst>
                          </p:cTn>
                        </p:par>
                      </p:childTnLst>
                    </p:cTn>
                  </p:par>
                  <p:par>
                    <p:cTn id="158" fill="hold">
                      <p:stCondLst>
                        <p:cond delay="indefinite"/>
                      </p:stCondLst>
                      <p:childTnLst>
                        <p:par>
                          <p:cTn id="159" fill="hold">
                            <p:stCondLst>
                              <p:cond delay="0"/>
                            </p:stCondLst>
                            <p:childTnLst>
                              <p:par>
                                <p:cTn id="160" presetID="1" presetClass="entr" presetSubtype="0" fill="hold" grpId="0" nodeType="clickEffect">
                                  <p:stCondLst>
                                    <p:cond delay="0"/>
                                  </p:stCondLst>
                                  <p:childTnLst>
                                    <p:set>
                                      <p:cBhvr>
                                        <p:cTn id="161" dur="1" fill="hold">
                                          <p:stCondLst>
                                            <p:cond delay="499"/>
                                          </p:stCondLst>
                                        </p:cTn>
                                        <p:tgtEl>
                                          <p:spTgt spid="1048714"/>
                                        </p:tgtEl>
                                        <p:attrNameLst>
                                          <p:attrName>style.visibility</p:attrName>
                                        </p:attrNameLst>
                                      </p:cBhvr>
                                      <p:to>
                                        <p:strVal val="visible"/>
                                      </p:to>
                                    </p:se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1" presetClass="entr" presetSubtype="0" fill="hold" nodeType="clickEffect">
                                  <p:stCondLst>
                                    <p:cond delay="0"/>
                                  </p:stCondLst>
                                  <p:childTnLst>
                                    <p:set>
                                      <p:cBhvr>
                                        <p:cTn id="165" dur="1" fill="hold">
                                          <p:stCondLst>
                                            <p:cond delay="499"/>
                                          </p:stCondLst>
                                        </p:cTn>
                                        <p:tgtEl>
                                          <p:spTgt spid="4194308"/>
                                        </p:tgtEl>
                                        <p:attrNameLst>
                                          <p:attrName>style.visibility</p:attrName>
                                        </p:attrNameLst>
                                      </p:cBhvr>
                                      <p:to>
                                        <p:strVal val="visible"/>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1" presetClass="entr" presetSubtype="0" fill="hold" grpId="0" nodeType="clickEffect">
                                  <p:stCondLst>
                                    <p:cond delay="0"/>
                                  </p:stCondLst>
                                  <p:childTnLst>
                                    <p:set>
                                      <p:cBhvr>
                                        <p:cTn id="169" dur="1" fill="hold">
                                          <p:stCondLst>
                                            <p:cond delay="499"/>
                                          </p:stCondLst>
                                        </p:cTn>
                                        <p:tgtEl>
                                          <p:spTgt spid="1048638"/>
                                        </p:tgtEl>
                                        <p:attrNameLst>
                                          <p:attrName>style.visibility</p:attrName>
                                        </p:attrNameLst>
                                      </p:cBhvr>
                                      <p:to>
                                        <p:strVal val="visible"/>
                                      </p:to>
                                    </p:set>
                                  </p:childTnLst>
                                </p:cTn>
                              </p:par>
                            </p:childTnLst>
                          </p:cTn>
                        </p:par>
                      </p:childTnLst>
                    </p:cTn>
                  </p:par>
                  <p:par>
                    <p:cTn id="170" fill="hold">
                      <p:stCondLst>
                        <p:cond delay="indefinite"/>
                      </p:stCondLst>
                      <p:childTnLst>
                        <p:par>
                          <p:cTn id="171" fill="hold">
                            <p:stCondLst>
                              <p:cond delay="0"/>
                            </p:stCondLst>
                            <p:childTnLst>
                              <p:par>
                                <p:cTn id="172" presetID="17" presetClass="entr" presetSubtype="4" fill="hold" grpId="0" nodeType="clickEffect">
                                  <p:stCondLst>
                                    <p:cond delay="0"/>
                                  </p:stCondLst>
                                  <p:childTnLst>
                                    <p:set>
                                      <p:cBhvr>
                                        <p:cTn id="173" dur="1" fill="hold">
                                          <p:stCondLst>
                                            <p:cond delay="0"/>
                                          </p:stCondLst>
                                        </p:cTn>
                                        <p:tgtEl>
                                          <p:spTgt spid="129"/>
                                        </p:tgtEl>
                                        <p:attrNameLst>
                                          <p:attrName>style.visibility</p:attrName>
                                        </p:attrNameLst>
                                      </p:cBhvr>
                                      <p:to>
                                        <p:strVal val="visible"/>
                                      </p:to>
                                    </p:set>
                                    <p:anim calcmode="lin" valueType="num">
                                      <p:cBhvr>
                                        <p:cTn id="174" dur="500" fill="hold"/>
                                        <p:tgtEl>
                                          <p:spTgt spid="129"/>
                                        </p:tgtEl>
                                        <p:attrNameLst>
                                          <p:attrName>ppt_x</p:attrName>
                                        </p:attrNameLst>
                                      </p:cBhvr>
                                      <p:tavLst>
                                        <p:tav tm="0">
                                          <p:val>
                                            <p:strVal val="#ppt_x"/>
                                          </p:val>
                                        </p:tav>
                                        <p:tav tm="100000">
                                          <p:val>
                                            <p:strVal val="#ppt_x"/>
                                          </p:val>
                                        </p:tav>
                                      </p:tavLst>
                                    </p:anim>
                                    <p:anim calcmode="lin" valueType="num">
                                      <p:cBhvr>
                                        <p:cTn id="175" dur="500" fill="hold"/>
                                        <p:tgtEl>
                                          <p:spTgt spid="129"/>
                                        </p:tgtEl>
                                        <p:attrNameLst>
                                          <p:attrName>ppt_y</p:attrName>
                                        </p:attrNameLst>
                                      </p:cBhvr>
                                      <p:tavLst>
                                        <p:tav tm="0">
                                          <p:val>
                                            <p:strVal val="#ppt_y+#ppt_h/2"/>
                                          </p:val>
                                        </p:tav>
                                        <p:tav tm="100000">
                                          <p:val>
                                            <p:strVal val="#ppt_y"/>
                                          </p:val>
                                        </p:tav>
                                      </p:tavLst>
                                    </p:anim>
                                    <p:anim calcmode="lin" valueType="num">
                                      <p:cBhvr>
                                        <p:cTn id="176" dur="500" fill="hold"/>
                                        <p:tgtEl>
                                          <p:spTgt spid="129"/>
                                        </p:tgtEl>
                                        <p:attrNameLst>
                                          <p:attrName>ppt_w</p:attrName>
                                        </p:attrNameLst>
                                      </p:cBhvr>
                                      <p:tavLst>
                                        <p:tav tm="0">
                                          <p:val>
                                            <p:strVal val="#ppt_w"/>
                                          </p:val>
                                        </p:tav>
                                        <p:tav tm="100000">
                                          <p:val>
                                            <p:strVal val="#ppt_w"/>
                                          </p:val>
                                        </p:tav>
                                      </p:tavLst>
                                    </p:anim>
                                    <p:anim calcmode="lin" valueType="num">
                                      <p:cBhvr>
                                        <p:cTn id="177" dur="500" fill="hold"/>
                                        <p:tgtEl>
                                          <p:spTgt spid="129"/>
                                        </p:tgtEl>
                                        <p:attrNameLst>
                                          <p:attrName>ppt_h</p:attrName>
                                        </p:attrNameLst>
                                      </p:cBhvr>
                                      <p:tavLst>
                                        <p:tav tm="0">
                                          <p:val>
                                            <p:fltVal val="0"/>
                                          </p:val>
                                        </p:tav>
                                        <p:tav tm="100000">
                                          <p:val>
                                            <p:strVal val="#ppt_h"/>
                                          </p:val>
                                        </p:tav>
                                      </p:tavLst>
                                    </p:anim>
                                  </p:childTnLst>
                                </p:cTn>
                              </p:par>
                            </p:childTnLst>
                          </p:cTn>
                        </p:par>
                        <p:par>
                          <p:cTn id="178" fill="hold">
                            <p:stCondLst>
                              <p:cond delay="500"/>
                            </p:stCondLst>
                            <p:childTnLst>
                              <p:par>
                                <p:cTn id="179" presetID="17" presetClass="entr" presetSubtype="4" fill="hold" grpId="0" nodeType="afterEffect">
                                  <p:stCondLst>
                                    <p:cond delay="0"/>
                                  </p:stCondLst>
                                  <p:childTnLst>
                                    <p:set>
                                      <p:cBhvr>
                                        <p:cTn id="180" dur="1" fill="hold">
                                          <p:stCondLst>
                                            <p:cond delay="0"/>
                                          </p:stCondLst>
                                        </p:cTn>
                                        <p:tgtEl>
                                          <p:spTgt spid="130"/>
                                        </p:tgtEl>
                                        <p:attrNameLst>
                                          <p:attrName>style.visibility</p:attrName>
                                        </p:attrNameLst>
                                      </p:cBhvr>
                                      <p:to>
                                        <p:strVal val="visible"/>
                                      </p:to>
                                    </p:set>
                                    <p:anim calcmode="lin" valueType="num">
                                      <p:cBhvr>
                                        <p:cTn id="181" dur="500" fill="hold"/>
                                        <p:tgtEl>
                                          <p:spTgt spid="130"/>
                                        </p:tgtEl>
                                        <p:attrNameLst>
                                          <p:attrName>ppt_x</p:attrName>
                                        </p:attrNameLst>
                                      </p:cBhvr>
                                      <p:tavLst>
                                        <p:tav tm="0">
                                          <p:val>
                                            <p:strVal val="#ppt_x"/>
                                          </p:val>
                                        </p:tav>
                                        <p:tav tm="100000">
                                          <p:val>
                                            <p:strVal val="#ppt_x"/>
                                          </p:val>
                                        </p:tav>
                                      </p:tavLst>
                                    </p:anim>
                                    <p:anim calcmode="lin" valueType="num">
                                      <p:cBhvr>
                                        <p:cTn id="182" dur="500" fill="hold"/>
                                        <p:tgtEl>
                                          <p:spTgt spid="130"/>
                                        </p:tgtEl>
                                        <p:attrNameLst>
                                          <p:attrName>ppt_y</p:attrName>
                                        </p:attrNameLst>
                                      </p:cBhvr>
                                      <p:tavLst>
                                        <p:tav tm="0">
                                          <p:val>
                                            <p:strVal val="#ppt_y+#ppt_h/2"/>
                                          </p:val>
                                        </p:tav>
                                        <p:tav tm="100000">
                                          <p:val>
                                            <p:strVal val="#ppt_y"/>
                                          </p:val>
                                        </p:tav>
                                      </p:tavLst>
                                    </p:anim>
                                    <p:anim calcmode="lin" valueType="num">
                                      <p:cBhvr>
                                        <p:cTn id="183" dur="500" fill="hold"/>
                                        <p:tgtEl>
                                          <p:spTgt spid="130"/>
                                        </p:tgtEl>
                                        <p:attrNameLst>
                                          <p:attrName>ppt_w</p:attrName>
                                        </p:attrNameLst>
                                      </p:cBhvr>
                                      <p:tavLst>
                                        <p:tav tm="0">
                                          <p:val>
                                            <p:strVal val="#ppt_w"/>
                                          </p:val>
                                        </p:tav>
                                        <p:tav tm="100000">
                                          <p:val>
                                            <p:strVal val="#ppt_w"/>
                                          </p:val>
                                        </p:tav>
                                      </p:tavLst>
                                    </p:anim>
                                    <p:anim calcmode="lin" valueType="num">
                                      <p:cBhvr>
                                        <p:cTn id="184" dur="500" fill="hold"/>
                                        <p:tgtEl>
                                          <p:spTgt spid="130"/>
                                        </p:tgtEl>
                                        <p:attrNameLst>
                                          <p:attrName>ppt_h</p:attrName>
                                        </p:attrNameLst>
                                      </p:cBhvr>
                                      <p:tavLst>
                                        <p:tav tm="0">
                                          <p:val>
                                            <p:fltVal val="0"/>
                                          </p:val>
                                        </p:tav>
                                        <p:tav tm="100000">
                                          <p:val>
                                            <p:strVal val="#ppt_h"/>
                                          </p:val>
                                        </p:tav>
                                      </p:tavLst>
                                    </p:anim>
                                  </p:childTnLst>
                                </p:cTn>
                              </p:par>
                            </p:childTnLst>
                          </p:cTn>
                        </p:par>
                        <p:par>
                          <p:cTn id="185" fill="hold">
                            <p:stCondLst>
                              <p:cond delay="1000"/>
                            </p:stCondLst>
                            <p:childTnLst>
                              <p:par>
                                <p:cTn id="186" presetID="17" presetClass="entr" presetSubtype="4" fill="hold" grpId="0" nodeType="afterEffect">
                                  <p:stCondLst>
                                    <p:cond delay="0"/>
                                  </p:stCondLst>
                                  <p:childTnLst>
                                    <p:set>
                                      <p:cBhvr>
                                        <p:cTn id="187" dur="1" fill="hold">
                                          <p:stCondLst>
                                            <p:cond delay="0"/>
                                          </p:stCondLst>
                                        </p:cTn>
                                        <p:tgtEl>
                                          <p:spTgt spid="131"/>
                                        </p:tgtEl>
                                        <p:attrNameLst>
                                          <p:attrName>style.visibility</p:attrName>
                                        </p:attrNameLst>
                                      </p:cBhvr>
                                      <p:to>
                                        <p:strVal val="visible"/>
                                      </p:to>
                                    </p:set>
                                    <p:anim calcmode="lin" valueType="num">
                                      <p:cBhvr>
                                        <p:cTn id="188" dur="500" fill="hold"/>
                                        <p:tgtEl>
                                          <p:spTgt spid="131"/>
                                        </p:tgtEl>
                                        <p:attrNameLst>
                                          <p:attrName>ppt_x</p:attrName>
                                        </p:attrNameLst>
                                      </p:cBhvr>
                                      <p:tavLst>
                                        <p:tav tm="0">
                                          <p:val>
                                            <p:strVal val="#ppt_x"/>
                                          </p:val>
                                        </p:tav>
                                        <p:tav tm="100000">
                                          <p:val>
                                            <p:strVal val="#ppt_x"/>
                                          </p:val>
                                        </p:tav>
                                      </p:tavLst>
                                    </p:anim>
                                    <p:anim calcmode="lin" valueType="num">
                                      <p:cBhvr>
                                        <p:cTn id="189" dur="500" fill="hold"/>
                                        <p:tgtEl>
                                          <p:spTgt spid="131"/>
                                        </p:tgtEl>
                                        <p:attrNameLst>
                                          <p:attrName>ppt_y</p:attrName>
                                        </p:attrNameLst>
                                      </p:cBhvr>
                                      <p:tavLst>
                                        <p:tav tm="0">
                                          <p:val>
                                            <p:strVal val="#ppt_y+#ppt_h/2"/>
                                          </p:val>
                                        </p:tav>
                                        <p:tav tm="100000">
                                          <p:val>
                                            <p:strVal val="#ppt_y"/>
                                          </p:val>
                                        </p:tav>
                                      </p:tavLst>
                                    </p:anim>
                                    <p:anim calcmode="lin" valueType="num">
                                      <p:cBhvr>
                                        <p:cTn id="190" dur="500" fill="hold"/>
                                        <p:tgtEl>
                                          <p:spTgt spid="131"/>
                                        </p:tgtEl>
                                        <p:attrNameLst>
                                          <p:attrName>ppt_w</p:attrName>
                                        </p:attrNameLst>
                                      </p:cBhvr>
                                      <p:tavLst>
                                        <p:tav tm="0">
                                          <p:val>
                                            <p:strVal val="#ppt_w"/>
                                          </p:val>
                                        </p:tav>
                                        <p:tav tm="100000">
                                          <p:val>
                                            <p:strVal val="#ppt_w"/>
                                          </p:val>
                                        </p:tav>
                                      </p:tavLst>
                                    </p:anim>
                                    <p:anim calcmode="lin" valueType="num">
                                      <p:cBhvr>
                                        <p:cTn id="191" dur="500" fill="hold"/>
                                        <p:tgtEl>
                                          <p:spTgt spid="131"/>
                                        </p:tgtEl>
                                        <p:attrNameLst>
                                          <p:attrName>ppt_h</p:attrName>
                                        </p:attrNameLst>
                                      </p:cBhvr>
                                      <p:tavLst>
                                        <p:tav tm="0">
                                          <p:val>
                                            <p:fltVal val="0"/>
                                          </p:val>
                                        </p:tav>
                                        <p:tav tm="100000">
                                          <p:val>
                                            <p:strVal val="#ppt_h"/>
                                          </p:val>
                                        </p:tav>
                                      </p:tavLst>
                                    </p:anim>
                                  </p:childTnLst>
                                </p:cTn>
                              </p:par>
                            </p:childTnLst>
                          </p:cTn>
                        </p:par>
                        <p:par>
                          <p:cTn id="192" fill="hold">
                            <p:stCondLst>
                              <p:cond delay="1500"/>
                            </p:stCondLst>
                            <p:childTnLst>
                              <p:par>
                                <p:cTn id="193" presetID="17" presetClass="entr" presetSubtype="4" fill="hold" grpId="0" nodeType="afterEffect">
                                  <p:stCondLst>
                                    <p:cond delay="0"/>
                                  </p:stCondLst>
                                  <p:childTnLst>
                                    <p:set>
                                      <p:cBhvr>
                                        <p:cTn id="194" dur="1" fill="hold">
                                          <p:stCondLst>
                                            <p:cond delay="0"/>
                                          </p:stCondLst>
                                        </p:cTn>
                                        <p:tgtEl>
                                          <p:spTgt spid="132"/>
                                        </p:tgtEl>
                                        <p:attrNameLst>
                                          <p:attrName>style.visibility</p:attrName>
                                        </p:attrNameLst>
                                      </p:cBhvr>
                                      <p:to>
                                        <p:strVal val="visible"/>
                                      </p:to>
                                    </p:set>
                                    <p:anim calcmode="lin" valueType="num">
                                      <p:cBhvr>
                                        <p:cTn id="195" dur="500" fill="hold"/>
                                        <p:tgtEl>
                                          <p:spTgt spid="132"/>
                                        </p:tgtEl>
                                        <p:attrNameLst>
                                          <p:attrName>ppt_x</p:attrName>
                                        </p:attrNameLst>
                                      </p:cBhvr>
                                      <p:tavLst>
                                        <p:tav tm="0">
                                          <p:val>
                                            <p:strVal val="#ppt_x"/>
                                          </p:val>
                                        </p:tav>
                                        <p:tav tm="100000">
                                          <p:val>
                                            <p:strVal val="#ppt_x"/>
                                          </p:val>
                                        </p:tav>
                                      </p:tavLst>
                                    </p:anim>
                                    <p:anim calcmode="lin" valueType="num">
                                      <p:cBhvr>
                                        <p:cTn id="196" dur="500" fill="hold"/>
                                        <p:tgtEl>
                                          <p:spTgt spid="132"/>
                                        </p:tgtEl>
                                        <p:attrNameLst>
                                          <p:attrName>ppt_y</p:attrName>
                                        </p:attrNameLst>
                                      </p:cBhvr>
                                      <p:tavLst>
                                        <p:tav tm="0">
                                          <p:val>
                                            <p:strVal val="#ppt_y+#ppt_h/2"/>
                                          </p:val>
                                        </p:tav>
                                        <p:tav tm="100000">
                                          <p:val>
                                            <p:strVal val="#ppt_y"/>
                                          </p:val>
                                        </p:tav>
                                      </p:tavLst>
                                    </p:anim>
                                    <p:anim calcmode="lin" valueType="num">
                                      <p:cBhvr>
                                        <p:cTn id="197" dur="500" fill="hold"/>
                                        <p:tgtEl>
                                          <p:spTgt spid="132"/>
                                        </p:tgtEl>
                                        <p:attrNameLst>
                                          <p:attrName>ppt_w</p:attrName>
                                        </p:attrNameLst>
                                      </p:cBhvr>
                                      <p:tavLst>
                                        <p:tav tm="0">
                                          <p:val>
                                            <p:strVal val="#ppt_w"/>
                                          </p:val>
                                        </p:tav>
                                        <p:tav tm="100000">
                                          <p:val>
                                            <p:strVal val="#ppt_w"/>
                                          </p:val>
                                        </p:tav>
                                      </p:tavLst>
                                    </p:anim>
                                    <p:anim calcmode="lin" valueType="num">
                                      <p:cBhvr>
                                        <p:cTn id="198" dur="500" fill="hold"/>
                                        <p:tgtEl>
                                          <p:spTgt spid="132"/>
                                        </p:tgtEl>
                                        <p:attrNameLst>
                                          <p:attrName>ppt_h</p:attrName>
                                        </p:attrNameLst>
                                      </p:cBhvr>
                                      <p:tavLst>
                                        <p:tav tm="0">
                                          <p:val>
                                            <p:fltVal val="0"/>
                                          </p:val>
                                        </p:tav>
                                        <p:tav tm="100000">
                                          <p:val>
                                            <p:strVal val="#ppt_h"/>
                                          </p:val>
                                        </p:tav>
                                      </p:tavLst>
                                    </p:anim>
                                  </p:childTnLst>
                                </p:cTn>
                              </p:par>
                            </p:childTnLst>
                          </p:cTn>
                        </p:par>
                        <p:par>
                          <p:cTn id="199" fill="hold">
                            <p:stCondLst>
                              <p:cond delay="2000"/>
                            </p:stCondLst>
                            <p:childTnLst>
                              <p:par>
                                <p:cTn id="200" presetID="17" presetClass="entr" presetSubtype="4" fill="hold" grpId="0" nodeType="afterEffect">
                                  <p:stCondLst>
                                    <p:cond delay="0"/>
                                  </p:stCondLst>
                                  <p:childTnLst>
                                    <p:set>
                                      <p:cBhvr>
                                        <p:cTn id="201" dur="1" fill="hold">
                                          <p:stCondLst>
                                            <p:cond delay="0"/>
                                          </p:stCondLst>
                                        </p:cTn>
                                        <p:tgtEl>
                                          <p:spTgt spid="133"/>
                                        </p:tgtEl>
                                        <p:attrNameLst>
                                          <p:attrName>style.visibility</p:attrName>
                                        </p:attrNameLst>
                                      </p:cBhvr>
                                      <p:to>
                                        <p:strVal val="visible"/>
                                      </p:to>
                                    </p:set>
                                    <p:anim calcmode="lin" valueType="num">
                                      <p:cBhvr>
                                        <p:cTn id="202" dur="500" fill="hold"/>
                                        <p:tgtEl>
                                          <p:spTgt spid="133"/>
                                        </p:tgtEl>
                                        <p:attrNameLst>
                                          <p:attrName>ppt_x</p:attrName>
                                        </p:attrNameLst>
                                      </p:cBhvr>
                                      <p:tavLst>
                                        <p:tav tm="0">
                                          <p:val>
                                            <p:strVal val="#ppt_x"/>
                                          </p:val>
                                        </p:tav>
                                        <p:tav tm="100000">
                                          <p:val>
                                            <p:strVal val="#ppt_x"/>
                                          </p:val>
                                        </p:tav>
                                      </p:tavLst>
                                    </p:anim>
                                    <p:anim calcmode="lin" valueType="num">
                                      <p:cBhvr>
                                        <p:cTn id="203" dur="500" fill="hold"/>
                                        <p:tgtEl>
                                          <p:spTgt spid="133"/>
                                        </p:tgtEl>
                                        <p:attrNameLst>
                                          <p:attrName>ppt_y</p:attrName>
                                        </p:attrNameLst>
                                      </p:cBhvr>
                                      <p:tavLst>
                                        <p:tav tm="0">
                                          <p:val>
                                            <p:strVal val="#ppt_y+#ppt_h/2"/>
                                          </p:val>
                                        </p:tav>
                                        <p:tav tm="100000">
                                          <p:val>
                                            <p:strVal val="#ppt_y"/>
                                          </p:val>
                                        </p:tav>
                                      </p:tavLst>
                                    </p:anim>
                                    <p:anim calcmode="lin" valueType="num">
                                      <p:cBhvr>
                                        <p:cTn id="204" dur="500" fill="hold"/>
                                        <p:tgtEl>
                                          <p:spTgt spid="133"/>
                                        </p:tgtEl>
                                        <p:attrNameLst>
                                          <p:attrName>ppt_w</p:attrName>
                                        </p:attrNameLst>
                                      </p:cBhvr>
                                      <p:tavLst>
                                        <p:tav tm="0">
                                          <p:val>
                                            <p:strVal val="#ppt_w"/>
                                          </p:val>
                                        </p:tav>
                                        <p:tav tm="100000">
                                          <p:val>
                                            <p:strVal val="#ppt_w"/>
                                          </p:val>
                                        </p:tav>
                                      </p:tavLst>
                                    </p:anim>
                                    <p:anim calcmode="lin" valueType="num">
                                      <p:cBhvr>
                                        <p:cTn id="205" dur="500" fill="hold"/>
                                        <p:tgtEl>
                                          <p:spTgt spid="133"/>
                                        </p:tgtEl>
                                        <p:attrNameLst>
                                          <p:attrName>ppt_h</p:attrName>
                                        </p:attrNameLst>
                                      </p:cBhvr>
                                      <p:tavLst>
                                        <p:tav tm="0">
                                          <p:val>
                                            <p:fltVal val="0"/>
                                          </p:val>
                                        </p:tav>
                                        <p:tav tm="100000">
                                          <p:val>
                                            <p:strVal val="#ppt_h"/>
                                          </p:val>
                                        </p:tav>
                                      </p:tavLst>
                                    </p:anim>
                                  </p:childTnLst>
                                </p:cTn>
                              </p:par>
                            </p:childTnLst>
                          </p:cTn>
                        </p:par>
                        <p:par>
                          <p:cTn id="206" fill="hold">
                            <p:stCondLst>
                              <p:cond delay="2500"/>
                            </p:stCondLst>
                            <p:childTnLst>
                              <p:par>
                                <p:cTn id="207" presetID="17" presetClass="entr" presetSubtype="4" fill="hold" grpId="0" nodeType="afterEffect">
                                  <p:stCondLst>
                                    <p:cond delay="0"/>
                                  </p:stCondLst>
                                  <p:childTnLst>
                                    <p:set>
                                      <p:cBhvr>
                                        <p:cTn id="208" dur="1" fill="hold">
                                          <p:stCondLst>
                                            <p:cond delay="0"/>
                                          </p:stCondLst>
                                        </p:cTn>
                                        <p:tgtEl>
                                          <p:spTgt spid="124"/>
                                        </p:tgtEl>
                                        <p:attrNameLst>
                                          <p:attrName>style.visibility</p:attrName>
                                        </p:attrNameLst>
                                      </p:cBhvr>
                                      <p:to>
                                        <p:strVal val="visible"/>
                                      </p:to>
                                    </p:set>
                                    <p:anim calcmode="lin" valueType="num">
                                      <p:cBhvr>
                                        <p:cTn id="209" dur="500" fill="hold"/>
                                        <p:tgtEl>
                                          <p:spTgt spid="124"/>
                                        </p:tgtEl>
                                        <p:attrNameLst>
                                          <p:attrName>ppt_x</p:attrName>
                                        </p:attrNameLst>
                                      </p:cBhvr>
                                      <p:tavLst>
                                        <p:tav tm="0">
                                          <p:val>
                                            <p:strVal val="#ppt_x"/>
                                          </p:val>
                                        </p:tav>
                                        <p:tav tm="100000">
                                          <p:val>
                                            <p:strVal val="#ppt_x"/>
                                          </p:val>
                                        </p:tav>
                                      </p:tavLst>
                                    </p:anim>
                                    <p:anim calcmode="lin" valueType="num">
                                      <p:cBhvr>
                                        <p:cTn id="210" dur="500" fill="hold"/>
                                        <p:tgtEl>
                                          <p:spTgt spid="124"/>
                                        </p:tgtEl>
                                        <p:attrNameLst>
                                          <p:attrName>ppt_y</p:attrName>
                                        </p:attrNameLst>
                                      </p:cBhvr>
                                      <p:tavLst>
                                        <p:tav tm="0">
                                          <p:val>
                                            <p:strVal val="#ppt_y+#ppt_h/2"/>
                                          </p:val>
                                        </p:tav>
                                        <p:tav tm="100000">
                                          <p:val>
                                            <p:strVal val="#ppt_y"/>
                                          </p:val>
                                        </p:tav>
                                      </p:tavLst>
                                    </p:anim>
                                    <p:anim calcmode="lin" valueType="num">
                                      <p:cBhvr>
                                        <p:cTn id="211" dur="500" fill="hold"/>
                                        <p:tgtEl>
                                          <p:spTgt spid="124"/>
                                        </p:tgtEl>
                                        <p:attrNameLst>
                                          <p:attrName>ppt_w</p:attrName>
                                        </p:attrNameLst>
                                      </p:cBhvr>
                                      <p:tavLst>
                                        <p:tav tm="0">
                                          <p:val>
                                            <p:strVal val="#ppt_w"/>
                                          </p:val>
                                        </p:tav>
                                        <p:tav tm="100000">
                                          <p:val>
                                            <p:strVal val="#ppt_w"/>
                                          </p:val>
                                        </p:tav>
                                      </p:tavLst>
                                    </p:anim>
                                    <p:anim calcmode="lin" valueType="num">
                                      <p:cBhvr>
                                        <p:cTn id="212" dur="500" fill="hold"/>
                                        <p:tgtEl>
                                          <p:spTgt spid="124"/>
                                        </p:tgtEl>
                                        <p:attrNameLst>
                                          <p:attrName>ppt_h</p:attrName>
                                        </p:attrNameLst>
                                      </p:cBhvr>
                                      <p:tavLst>
                                        <p:tav tm="0">
                                          <p:val>
                                            <p:fltVal val="0"/>
                                          </p:val>
                                        </p:tav>
                                        <p:tav tm="100000">
                                          <p:val>
                                            <p:strVal val="#ppt_h"/>
                                          </p:val>
                                        </p:tav>
                                      </p:tavLst>
                                    </p:anim>
                                  </p:childTnLst>
                                </p:cTn>
                              </p:par>
                              <p:par>
                                <p:cTn id="213" presetID="12" presetClass="entr" presetSubtype="8" fill="hold" grpId="0" nodeType="withEffect">
                                  <p:stCondLst>
                                    <p:cond delay="0"/>
                                  </p:stCondLst>
                                  <p:childTnLst>
                                    <p:set>
                                      <p:cBhvr>
                                        <p:cTn id="214" dur="1" fill="hold">
                                          <p:stCondLst>
                                            <p:cond delay="0"/>
                                          </p:stCondLst>
                                        </p:cTn>
                                        <p:tgtEl>
                                          <p:spTgt spid="137"/>
                                        </p:tgtEl>
                                        <p:attrNameLst>
                                          <p:attrName>style.visibility</p:attrName>
                                        </p:attrNameLst>
                                      </p:cBhvr>
                                      <p:to>
                                        <p:strVal val="visible"/>
                                      </p:to>
                                    </p:set>
                                    <p:animEffect transition="in" filter="slide(fromLeft)">
                                      <p:cBhvr>
                                        <p:cTn id="215" dur="500"/>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630" grpId="0" autoUpdateAnimBg="0"/>
      <p:bldP spid="1048634" grpId="0" autoUpdateAnimBg="0"/>
      <p:bldP spid="1048635" grpId="0" autoUpdateAnimBg="0"/>
      <p:bldP spid="1048636" grpId="0" autoUpdateAnimBg="0"/>
      <p:bldP spid="1048637" grpId="0" autoUpdateAnimBg="0"/>
      <p:bldP spid="1048638" grpId="0" autoUpdateAnimBg="0"/>
      <p:bldP spid="1048702" grpId="0" autoUpdateAnimBg="0"/>
      <p:bldP spid="1048712" grpId="0" autoUpdateAnimBg="0"/>
      <p:bldP spid="1048713" grpId="0" autoUpdateAnimBg="0"/>
      <p:bldP spid="1048714" grpId="0" autoUpdateAnimBg="0"/>
      <p:bldP spid="1048715" grpId="0" autoUpdateAnimBg="0"/>
      <p:bldP spid="1048716" grpId="0" animBg="1" autoUpdateAnimBg="0"/>
      <p:bldP spid="1048717" grpId="0"/>
      <p:bldP spid="120" grpId="0" build="p" autoUpdateAnimBg="0"/>
      <p:bldP spid="121" grpId="0" autoUpdateAnimBg="0"/>
      <p:bldP spid="122" grpId="0" autoUpdateAnimBg="0"/>
      <p:bldP spid="123" grpId="0" autoUpdateAnimBg="0"/>
      <p:bldP spid="124" grpId="0" autoUpdateAnimBg="0"/>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utoUpdateAnimBg="0"/>
      <p:bldP spid="135" grpId="0" autoUpdateAnimBg="0"/>
      <p:bldP spid="136" grpId="0" autoUpdateAnimBg="0"/>
      <p:bldP spid="137" grpId="0" autoUpdateAnimBg="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21" name="Rectangle 1027"/>
          <p:cNvSpPr>
            <a:spLocks noGrp="1" noChangeArrowheads="1"/>
          </p:cNvSpPr>
          <p:nvPr>
            <p:ph type="body" idx="1"/>
          </p:nvPr>
        </p:nvSpPr>
        <p:spPr>
          <a:xfrm>
            <a:off x="539552" y="771550"/>
            <a:ext cx="8136904" cy="1753041"/>
          </a:xfrm>
        </p:spPr>
        <p:txBody>
          <a:bodyPr>
            <a:noAutofit/>
          </a:bodyPr>
          <a:lstStyle/>
          <a:p>
            <a:pPr>
              <a:spcBef>
                <a:spcPts val="0"/>
              </a:spcBef>
            </a:pPr>
            <a:r>
              <a:rPr lang="zh-CN" altLang="en-US" sz="2000" dirty="0">
                <a:latin typeface="宋体" panose="02010600030101010101" pitchFamily="2" charset="-122"/>
                <a:ea typeface="宋体" panose="02010600030101010101" pitchFamily="2" charset="-122"/>
              </a:rPr>
              <a:t>设置一个栈，</a:t>
            </a:r>
            <a:r>
              <a:rPr lang="zh-CN" altLang="en-US" sz="2000" dirty="0">
                <a:latin typeface="宋体" panose="02010600030101010101" pitchFamily="2" charset="-122"/>
                <a:ea typeface="宋体" panose="02010600030101010101" pitchFamily="2" charset="-122"/>
                <a:sym typeface="Symbol" pitchFamily="18" charset="2"/>
              </a:rPr>
              <a:t>从输入符号串开始依次读入符号，</a:t>
            </a:r>
            <a:r>
              <a:rPr lang="zh-CN" altLang="en-US" sz="2000" b="1" dirty="0">
                <a:solidFill>
                  <a:srgbClr val="003399"/>
                </a:solidFill>
                <a:latin typeface="宋体" panose="02010600030101010101" pitchFamily="2" charset="-122"/>
                <a:ea typeface="宋体" panose="02010600030101010101" pitchFamily="2" charset="-122"/>
                <a:sym typeface="Symbol" pitchFamily="18" charset="2"/>
              </a:rPr>
              <a:t>移进</a:t>
            </a:r>
            <a:r>
              <a:rPr lang="zh-CN" altLang="en-US" sz="2000" dirty="0">
                <a:latin typeface="宋体" panose="02010600030101010101" pitchFamily="2" charset="-122"/>
                <a:ea typeface="宋体" panose="02010600030101010101" pitchFamily="2" charset="-122"/>
                <a:sym typeface="Symbol" pitchFamily="18" charset="2"/>
              </a:rPr>
              <a:t>栈中。</a:t>
            </a:r>
          </a:p>
          <a:p>
            <a:pPr>
              <a:spcBef>
                <a:spcPts val="0"/>
              </a:spcBef>
            </a:pPr>
            <a:r>
              <a:rPr lang="zh-CN" altLang="en-US" sz="2000" dirty="0">
                <a:latin typeface="宋体" panose="02010600030101010101" pitchFamily="2" charset="-122"/>
                <a:ea typeface="宋体" panose="02010600030101010101" pitchFamily="2" charset="-122"/>
                <a:sym typeface="Symbol" pitchFamily="18" charset="2"/>
              </a:rPr>
              <a:t>每移进一个符号，检查栈顶的一个或多个符号，一旦发现</a:t>
            </a:r>
            <a:r>
              <a:rPr lang="zh-CN" altLang="en-US" sz="2000" dirty="0">
                <a:solidFill>
                  <a:srgbClr val="0000FF"/>
                </a:solidFill>
                <a:latin typeface="宋体" panose="02010600030101010101" pitchFamily="2" charset="-122"/>
                <a:ea typeface="宋体" panose="02010600030101010101" pitchFamily="2" charset="-122"/>
                <a:sym typeface="Symbol" pitchFamily="18" charset="2"/>
              </a:rPr>
              <a:t>某个产生式的右部</a:t>
            </a:r>
            <a:r>
              <a:rPr lang="zh-CN" altLang="en-US" sz="2000" dirty="0">
                <a:latin typeface="宋体" panose="02010600030101010101" pitchFamily="2" charset="-122"/>
                <a:ea typeface="宋体" panose="02010600030101010101" pitchFamily="2" charset="-122"/>
                <a:sym typeface="Symbol" pitchFamily="18" charset="2"/>
              </a:rPr>
              <a:t>呈现在栈顶，就立即</a:t>
            </a:r>
            <a:r>
              <a:rPr lang="zh-CN" altLang="en-US" sz="2000" b="1" dirty="0">
                <a:solidFill>
                  <a:srgbClr val="003399"/>
                </a:solidFill>
                <a:latin typeface="宋体" panose="02010600030101010101" pitchFamily="2" charset="-122"/>
                <a:ea typeface="宋体" panose="02010600030101010101" pitchFamily="2" charset="-122"/>
                <a:sym typeface="Symbol" pitchFamily="18" charset="2"/>
              </a:rPr>
              <a:t>归约</a:t>
            </a:r>
            <a:r>
              <a:rPr lang="zh-CN" altLang="en-US" sz="2000" dirty="0">
                <a:latin typeface="宋体" panose="02010600030101010101" pitchFamily="2" charset="-122"/>
                <a:ea typeface="宋体" panose="02010600030101010101" pitchFamily="2" charset="-122"/>
                <a:sym typeface="Symbol" pitchFamily="18" charset="2"/>
              </a:rPr>
              <a:t>。归约可能</a:t>
            </a:r>
            <a:r>
              <a:rPr lang="zh-CN" altLang="en-US" sz="2000" b="1" dirty="0">
                <a:solidFill>
                  <a:srgbClr val="FF0000"/>
                </a:solidFill>
                <a:latin typeface="宋体" panose="02010600030101010101" pitchFamily="2" charset="-122"/>
                <a:ea typeface="宋体" panose="02010600030101010101" pitchFamily="2" charset="-122"/>
                <a:sym typeface="Symbol" pitchFamily="18" charset="2"/>
              </a:rPr>
              <a:t>重复多次</a:t>
            </a:r>
            <a:r>
              <a:rPr lang="zh-CN" altLang="en-US" sz="2000" dirty="0">
                <a:latin typeface="宋体" panose="02010600030101010101" pitchFamily="2" charset="-122"/>
                <a:ea typeface="宋体" panose="02010600030101010101" pitchFamily="2" charset="-122"/>
                <a:sym typeface="Symbol" pitchFamily="18" charset="2"/>
              </a:rPr>
              <a:t>。</a:t>
            </a:r>
          </a:p>
          <a:p>
            <a:pPr>
              <a:spcBef>
                <a:spcPts val="0"/>
              </a:spcBef>
            </a:pPr>
            <a:r>
              <a:rPr lang="zh-CN" altLang="en-US" sz="2000" dirty="0">
                <a:latin typeface="宋体" panose="02010600030101010101" pitchFamily="2" charset="-122"/>
                <a:ea typeface="宋体" panose="02010600030101010101" pitchFamily="2" charset="-122"/>
                <a:sym typeface="Symbol" pitchFamily="18" charset="2"/>
              </a:rPr>
              <a:t>不能归约则继续移进。</a:t>
            </a:r>
            <a:endParaRPr lang="zh-CN" altLang="en-US" sz="2000" dirty="0">
              <a:latin typeface="宋体" panose="02010600030101010101" pitchFamily="2" charset="-122"/>
              <a:ea typeface="宋体" panose="02010600030101010101" pitchFamily="2" charset="-122"/>
            </a:endParaRPr>
          </a:p>
          <a:p>
            <a:pPr>
              <a:spcBef>
                <a:spcPts val="0"/>
              </a:spcBef>
            </a:pPr>
            <a:r>
              <a:rPr lang="zh-CN" altLang="en-US" sz="2000" dirty="0">
                <a:latin typeface="宋体" panose="02010600030101010101" pitchFamily="2" charset="-122"/>
                <a:ea typeface="宋体" panose="02010600030101010101" pitchFamily="2" charset="-122"/>
                <a:sym typeface="Symbol" pitchFamily="18" charset="2"/>
              </a:rPr>
              <a:t>若最终能归约成文法的开始符号，则分析成功，否则出错</a:t>
            </a:r>
          </a:p>
        </p:txBody>
      </p:sp>
      <p:sp>
        <p:nvSpPr>
          <p:cNvPr id="1048722" name="矩形 1"/>
          <p:cNvSpPr/>
          <p:nvPr/>
        </p:nvSpPr>
        <p:spPr>
          <a:xfrm>
            <a:off x="0" y="0"/>
            <a:ext cx="4604466" cy="584775"/>
          </a:xfrm>
          <a:prstGeom prst="rect">
            <a:avLst/>
          </a:prstGeom>
        </p:spPr>
        <p:txBody>
          <a:bodyPr wrap="none">
            <a:spAutoFit/>
          </a:bodyPr>
          <a:lstStyle/>
          <a:p>
            <a:pPr marL="109728" lvl="0">
              <a:spcBef>
                <a:spcPts val="400"/>
              </a:spcBef>
              <a:buClr>
                <a:srgbClr val="2DA2BF"/>
              </a:buClr>
              <a:buSzPct val="68000"/>
            </a:pPr>
            <a:r>
              <a:rPr lang="zh-CN" altLang="en-US" sz="3200" dirty="0">
                <a:solidFill>
                  <a:prstClr val="black"/>
                </a:solidFill>
                <a:latin typeface="隶书" panose="02010509060101010101" pitchFamily="49" charset="-122"/>
                <a:ea typeface="隶书" panose="02010509060101010101" pitchFamily="49" charset="-122"/>
                <a:sym typeface="Symbol" pitchFamily="18" charset="2"/>
              </a:rPr>
              <a:t>移进</a:t>
            </a:r>
            <a:r>
              <a:rPr lang="en-US" altLang="zh-CN" sz="3200" dirty="0">
                <a:solidFill>
                  <a:prstClr val="black"/>
                </a:solidFill>
                <a:latin typeface="隶书" panose="02010509060101010101" pitchFamily="49" charset="-122"/>
                <a:ea typeface="隶书" panose="02010509060101010101" pitchFamily="49" charset="-122"/>
                <a:sym typeface="Symbol" pitchFamily="18" charset="2"/>
              </a:rPr>
              <a:t>-</a:t>
            </a:r>
            <a:r>
              <a:rPr lang="zh-CN" altLang="en-US" sz="3200" dirty="0">
                <a:solidFill>
                  <a:prstClr val="black"/>
                </a:solidFill>
                <a:latin typeface="隶书" panose="02010509060101010101" pitchFamily="49" charset="-122"/>
                <a:ea typeface="隶书" panose="02010509060101010101" pitchFamily="49" charset="-122"/>
                <a:sym typeface="Symbol" pitchFamily="18" charset="2"/>
              </a:rPr>
              <a:t>归约分析过程总结</a:t>
            </a:r>
            <a:endParaRPr lang="en-US" altLang="zh-CN" sz="3200" dirty="0">
              <a:solidFill>
                <a:prstClr val="black"/>
              </a:solidFill>
              <a:latin typeface="隶书" panose="02010509060101010101" pitchFamily="49" charset="-122"/>
              <a:ea typeface="隶书" panose="02010509060101010101" pitchFamily="49" charset="-122"/>
              <a:sym typeface="Symbol" pitchFamily="18" charset="2"/>
            </a:endParaRPr>
          </a:p>
        </p:txBody>
      </p:sp>
      <p:sp>
        <p:nvSpPr>
          <p:cNvPr id="38" name="矩形 2"/>
          <p:cNvSpPr/>
          <p:nvPr/>
        </p:nvSpPr>
        <p:spPr>
          <a:xfrm>
            <a:off x="5220072" y="4384144"/>
            <a:ext cx="3528392" cy="70788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109728" lvl="0">
              <a:spcBef>
                <a:spcPts val="400"/>
              </a:spcBef>
              <a:buClr>
                <a:srgbClr val="2DA2BF"/>
              </a:buClr>
              <a:buSzPct val="68000"/>
            </a:pPr>
            <a:r>
              <a:rPr lang="zh-CN" altLang="en-US" sz="2000" dirty="0">
                <a:solidFill>
                  <a:prstClr val="black"/>
                </a:solidFill>
                <a:latin typeface="宋体" panose="02010600030101010101" pitchFamily="2" charset="-122"/>
                <a:ea typeface="宋体" panose="02010600030101010101" pitchFamily="2" charset="-122"/>
                <a:sym typeface="Symbol" pitchFamily="18" charset="2"/>
              </a:rPr>
              <a:t>关键问题是如何判断形成了</a:t>
            </a:r>
            <a:r>
              <a:rPr lang="zh-CN" altLang="en-US" sz="2000" dirty="0">
                <a:solidFill>
                  <a:srgbClr val="FF0000"/>
                </a:solidFill>
                <a:latin typeface="宋体" panose="02010600030101010101" pitchFamily="2" charset="-122"/>
                <a:ea typeface="宋体" panose="02010600030101010101" pitchFamily="2" charset="-122"/>
                <a:sym typeface="Symbol" pitchFamily="18" charset="2"/>
              </a:rPr>
              <a:t>哪个产生式</a:t>
            </a:r>
            <a:r>
              <a:rPr lang="zh-CN" altLang="en-US" sz="2000" dirty="0">
                <a:solidFill>
                  <a:prstClr val="black"/>
                </a:solidFill>
                <a:latin typeface="宋体" panose="02010600030101010101" pitchFamily="2" charset="-122"/>
                <a:ea typeface="宋体" panose="02010600030101010101" pitchFamily="2" charset="-122"/>
                <a:sym typeface="Symbol" pitchFamily="18" charset="2"/>
              </a:rPr>
              <a:t>的右部？</a:t>
            </a:r>
          </a:p>
        </p:txBody>
      </p:sp>
      <p:sp>
        <p:nvSpPr>
          <p:cNvPr id="3" name="矩形 2"/>
          <p:cNvSpPr/>
          <p:nvPr/>
        </p:nvSpPr>
        <p:spPr>
          <a:xfrm>
            <a:off x="179512" y="2563965"/>
            <a:ext cx="4752528" cy="245605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nSpc>
                <a:spcPct val="120000"/>
              </a:lnSpc>
            </a:pPr>
            <a:r>
              <a:rPr lang="zh-CN" altLang="en-US" sz="2000" dirty="0">
                <a:solidFill>
                  <a:schemeClr val="tx1"/>
                </a:solidFill>
                <a:latin typeface="隶书" panose="02010509060101010101" pitchFamily="49" charset="-122"/>
                <a:ea typeface="隶书" panose="02010509060101010101" pitchFamily="49" charset="-122"/>
              </a:rPr>
              <a:t>分析器有四种动作：</a:t>
            </a:r>
            <a:endParaRPr lang="en-US" altLang="zh-CN" sz="2000" dirty="0">
              <a:solidFill>
                <a:schemeClr val="tx1"/>
              </a:solidFill>
              <a:latin typeface="隶书" panose="02010509060101010101" pitchFamily="49" charset="-122"/>
              <a:ea typeface="隶书" panose="02010509060101010101" pitchFamily="49" charset="-122"/>
            </a:endParaRPr>
          </a:p>
          <a:p>
            <a:pPr marL="285750" indent="-285750">
              <a:lnSpc>
                <a:spcPct val="120000"/>
              </a:lnSpc>
              <a:buFont typeface="Arial" panose="020B0604020202020204" pitchFamily="34" charset="0"/>
              <a:buChar char="•"/>
            </a:pPr>
            <a:r>
              <a:rPr lang="zh-CN" altLang="en-US" b="1" dirty="0">
                <a:solidFill>
                  <a:srgbClr val="0000FF"/>
                </a:solidFill>
                <a:latin typeface="宋体" pitchFamily="2" charset="-122"/>
              </a:rPr>
              <a:t>移进</a:t>
            </a:r>
            <a:r>
              <a:rPr lang="zh-CN" altLang="en-US" b="1" dirty="0">
                <a:latin typeface="宋体" pitchFamily="2" charset="-122"/>
              </a:rPr>
              <a:t>：</a:t>
            </a:r>
            <a:r>
              <a:rPr lang="zh-CN" altLang="en-US" dirty="0">
                <a:latin typeface="宋体" pitchFamily="2" charset="-122"/>
              </a:rPr>
              <a:t>将下一输入符号移入栈中</a:t>
            </a:r>
          </a:p>
          <a:p>
            <a:pPr marL="285750" indent="-285750">
              <a:lnSpc>
                <a:spcPct val="120000"/>
              </a:lnSpc>
              <a:buFont typeface="Arial" panose="020B0604020202020204" pitchFamily="34" charset="0"/>
              <a:buChar char="•"/>
            </a:pPr>
            <a:endParaRPr lang="en-US" altLang="zh-CN" dirty="0">
              <a:latin typeface="宋体" pitchFamily="2" charset="-122"/>
            </a:endParaRPr>
          </a:p>
          <a:p>
            <a:pPr marL="285750" indent="-285750">
              <a:lnSpc>
                <a:spcPct val="120000"/>
              </a:lnSpc>
              <a:buFont typeface="Arial" panose="020B0604020202020204" pitchFamily="34" charset="0"/>
              <a:buChar char="•"/>
            </a:pPr>
            <a:endParaRPr lang="en-US" altLang="zh-CN" dirty="0">
              <a:latin typeface="宋体" pitchFamily="2" charset="-122"/>
            </a:endParaRPr>
          </a:p>
          <a:p>
            <a:pPr marL="285750" indent="-285750">
              <a:lnSpc>
                <a:spcPct val="120000"/>
              </a:lnSpc>
              <a:buFont typeface="Arial" panose="020B0604020202020204" pitchFamily="34" charset="0"/>
              <a:buChar char="•"/>
            </a:pPr>
            <a:endParaRPr lang="en-US" altLang="zh-CN" dirty="0">
              <a:latin typeface="宋体" pitchFamily="2" charset="-122"/>
            </a:endParaRPr>
          </a:p>
          <a:p>
            <a:pPr marL="285750" indent="-285750">
              <a:lnSpc>
                <a:spcPct val="120000"/>
              </a:lnSpc>
              <a:buFont typeface="Arial" panose="020B0604020202020204" pitchFamily="34" charset="0"/>
              <a:buChar char="•"/>
            </a:pPr>
            <a:endParaRPr lang="en-US" altLang="zh-CN" dirty="0">
              <a:latin typeface="宋体" pitchFamily="2" charset="-122"/>
            </a:endParaRPr>
          </a:p>
          <a:p>
            <a:pPr marL="285750" indent="-285750">
              <a:lnSpc>
                <a:spcPct val="120000"/>
              </a:lnSpc>
              <a:buFont typeface="Arial" panose="020B0604020202020204" pitchFamily="34" charset="0"/>
              <a:buChar char="•"/>
            </a:pPr>
            <a:endParaRPr lang="en-US" altLang="zh-CN" dirty="0">
              <a:latin typeface="宋体" pitchFamily="2" charset="-122"/>
            </a:endParaRPr>
          </a:p>
        </p:txBody>
      </p:sp>
      <p:sp>
        <p:nvSpPr>
          <p:cNvPr id="4" name="Rectangle 1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5" name="对象 4"/>
          <p:cNvGraphicFramePr>
            <a:graphicFrameLocks noChangeAspect="1"/>
          </p:cNvGraphicFramePr>
          <p:nvPr>
            <p:extLst>
              <p:ext uri="{D42A27DB-BD31-4B8C-83A1-F6EECF244321}">
                <p14:modId xmlns:p14="http://schemas.microsoft.com/office/powerpoint/2010/main" val="4287614093"/>
              </p:ext>
            </p:extLst>
          </p:nvPr>
        </p:nvGraphicFramePr>
        <p:xfrm>
          <a:off x="5076056" y="2552943"/>
          <a:ext cx="3901740" cy="1800200"/>
        </p:xfrm>
        <a:graphic>
          <a:graphicData uri="http://schemas.openxmlformats.org/presentationml/2006/ole">
            <mc:AlternateContent xmlns:mc="http://schemas.openxmlformats.org/markup-compatibility/2006">
              <mc:Choice xmlns:v="urn:schemas-microsoft-com:vml" Requires="v">
                <p:oleObj spid="_x0000_s25607" name="Visio" r:id="rId4" imgW="2215923" imgH="979992" progId="Visio.Drawing.11">
                  <p:embed/>
                </p:oleObj>
              </mc:Choice>
              <mc:Fallback>
                <p:oleObj name="Visio" r:id="rId4" imgW="2215923" imgH="979992" progId="Visio.Drawing.11">
                  <p:embed/>
                  <p:pic>
                    <p:nvPicPr>
                      <p:cNvPr id="5" name="对象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76056" y="2552943"/>
                        <a:ext cx="3901740" cy="1800200"/>
                      </a:xfrm>
                      <a:prstGeom prst="rect">
                        <a:avLst/>
                      </a:prstGeom>
                      <a:noFill/>
                    </p:spPr>
                  </p:pic>
                </p:oleObj>
              </mc:Fallback>
            </mc:AlternateContent>
          </a:graphicData>
        </a:graphic>
      </p:graphicFrame>
      <p:sp>
        <p:nvSpPr>
          <p:cNvPr id="2" name="矩形 1"/>
          <p:cNvSpPr/>
          <p:nvPr/>
        </p:nvSpPr>
        <p:spPr>
          <a:xfrm>
            <a:off x="179512" y="3291830"/>
            <a:ext cx="4752528" cy="646331"/>
          </a:xfrm>
          <a:prstGeom prst="rect">
            <a:avLst/>
          </a:prstGeom>
        </p:spPr>
        <p:txBody>
          <a:bodyPr wrap="square">
            <a:spAutoFit/>
          </a:bodyPr>
          <a:lstStyle/>
          <a:p>
            <a:pPr marL="285750" indent="-285750">
              <a:buFont typeface="Arial" panose="020B0604020202020204" pitchFamily="34" charset="0"/>
              <a:buChar char="•"/>
            </a:pPr>
            <a:r>
              <a:rPr lang="zh-CN" altLang="en-US" b="1" dirty="0">
                <a:solidFill>
                  <a:srgbClr val="0000FF"/>
                </a:solidFill>
                <a:latin typeface="宋体" pitchFamily="2" charset="-122"/>
              </a:rPr>
              <a:t>归约</a:t>
            </a:r>
            <a:r>
              <a:rPr lang="zh-CN" altLang="en-US" b="1" dirty="0">
                <a:latin typeface="宋体" pitchFamily="2" charset="-122"/>
              </a:rPr>
              <a:t>：</a:t>
            </a:r>
            <a:r>
              <a:rPr lang="zh-CN" altLang="en-US" dirty="0">
                <a:latin typeface="宋体" pitchFamily="2" charset="-122"/>
              </a:rPr>
              <a:t>栈顶出现产生式右部，用产生式左部的非终结符替换</a:t>
            </a:r>
          </a:p>
        </p:txBody>
      </p:sp>
      <p:sp>
        <p:nvSpPr>
          <p:cNvPr id="6" name="矩形 5"/>
          <p:cNvSpPr/>
          <p:nvPr/>
        </p:nvSpPr>
        <p:spPr>
          <a:xfrm>
            <a:off x="219512" y="3939902"/>
            <a:ext cx="4712528" cy="380553"/>
          </a:xfrm>
          <a:prstGeom prst="rect">
            <a:avLst/>
          </a:prstGeom>
        </p:spPr>
        <p:txBody>
          <a:bodyPr wrap="square">
            <a:spAutoFit/>
          </a:bodyPr>
          <a:lstStyle/>
          <a:p>
            <a:pPr marL="285750" indent="-285750">
              <a:lnSpc>
                <a:spcPct val="120000"/>
              </a:lnSpc>
              <a:buFont typeface="Arial" panose="020B0604020202020204" pitchFamily="34" charset="0"/>
              <a:buChar char="•"/>
            </a:pPr>
            <a:r>
              <a:rPr lang="zh-CN" altLang="en-US" b="1" dirty="0">
                <a:solidFill>
                  <a:srgbClr val="0000FF"/>
                </a:solidFill>
                <a:latin typeface="宋体" pitchFamily="2" charset="-122"/>
              </a:rPr>
              <a:t>接受</a:t>
            </a:r>
            <a:r>
              <a:rPr lang="zh-CN" altLang="en-US" b="1" dirty="0">
                <a:latin typeface="宋体" pitchFamily="2" charset="-122"/>
              </a:rPr>
              <a:t>：</a:t>
            </a:r>
            <a:r>
              <a:rPr lang="zh-CN" altLang="en-US" dirty="0">
                <a:latin typeface="宋体" pitchFamily="2" charset="-122"/>
              </a:rPr>
              <a:t>分析成功，是归约的一种特殊情况</a:t>
            </a:r>
          </a:p>
        </p:txBody>
      </p:sp>
      <p:sp>
        <p:nvSpPr>
          <p:cNvPr id="7" name="矩形 6"/>
          <p:cNvSpPr/>
          <p:nvPr/>
        </p:nvSpPr>
        <p:spPr>
          <a:xfrm>
            <a:off x="179512" y="4373691"/>
            <a:ext cx="4572000" cy="646331"/>
          </a:xfrm>
          <a:prstGeom prst="rect">
            <a:avLst/>
          </a:prstGeom>
        </p:spPr>
        <p:txBody>
          <a:bodyPr>
            <a:spAutoFit/>
          </a:bodyPr>
          <a:lstStyle/>
          <a:p>
            <a:pPr marL="285750" indent="-285750">
              <a:buFont typeface="Arial" panose="020B0604020202020204" pitchFamily="34" charset="0"/>
              <a:buChar char="•"/>
            </a:pPr>
            <a:r>
              <a:rPr lang="zh-CN" altLang="en-US" b="1" dirty="0">
                <a:solidFill>
                  <a:srgbClr val="0000FF"/>
                </a:solidFill>
                <a:latin typeface="宋体" pitchFamily="2" charset="-122"/>
              </a:rPr>
              <a:t>出错</a:t>
            </a:r>
            <a:r>
              <a:rPr lang="zh-CN" altLang="en-US" b="1" dirty="0">
                <a:latin typeface="宋体" pitchFamily="2" charset="-122"/>
              </a:rPr>
              <a:t>：</a:t>
            </a:r>
            <a:r>
              <a:rPr lang="zh-CN" altLang="en-US" dirty="0">
                <a:latin typeface="宋体" pitchFamily="2" charset="-122"/>
              </a:rPr>
              <a:t>栈顶内容与输入符号相悖，进行出错处理</a:t>
            </a:r>
            <a:endParaRPr lang="zh-CN" altLang="en-US" dirty="0"/>
          </a:p>
        </p:txBody>
      </p:sp>
    </p:spTree>
    <p:extLst>
      <p:ext uri="{BB962C8B-B14F-4D97-AF65-F5344CB8AC3E}">
        <p14:creationId xmlns:p14="http://schemas.microsoft.com/office/powerpoint/2010/main" val="1044435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 grpId="0" animBg="1"/>
      <p:bldP spid="2" grpId="0"/>
      <p:bldP spid="6" grpId="0"/>
      <p:bldP spid="7"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06" name="Group 195"/>
          <p:cNvGraphicFramePr>
            <a:graphicFrameLocks noGrp="1"/>
          </p:cNvGraphicFramePr>
          <p:nvPr>
            <p:extLst>
              <p:ext uri="{D42A27DB-BD31-4B8C-83A1-F6EECF244321}">
                <p14:modId xmlns:p14="http://schemas.microsoft.com/office/powerpoint/2010/main" val="1287599501"/>
              </p:ext>
            </p:extLst>
          </p:nvPr>
        </p:nvGraphicFramePr>
        <p:xfrm>
          <a:off x="4783436" y="2087226"/>
          <a:ext cx="4347510" cy="2999054"/>
        </p:xfrm>
        <a:graphic>
          <a:graphicData uri="http://schemas.openxmlformats.org/drawingml/2006/table">
            <a:tbl>
              <a:tblPr/>
              <a:tblGrid>
                <a:gridCol w="434751">
                  <a:extLst>
                    <a:ext uri="{9D8B030D-6E8A-4147-A177-3AD203B41FA5}">
                      <a16:colId xmlns:a16="http://schemas.microsoft.com/office/drawing/2014/main" val="20000"/>
                    </a:ext>
                  </a:extLst>
                </a:gridCol>
                <a:gridCol w="422297">
                  <a:extLst>
                    <a:ext uri="{9D8B030D-6E8A-4147-A177-3AD203B41FA5}">
                      <a16:colId xmlns:a16="http://schemas.microsoft.com/office/drawing/2014/main" val="20001"/>
                    </a:ext>
                  </a:extLst>
                </a:gridCol>
                <a:gridCol w="447205">
                  <a:extLst>
                    <a:ext uri="{9D8B030D-6E8A-4147-A177-3AD203B41FA5}">
                      <a16:colId xmlns:a16="http://schemas.microsoft.com/office/drawing/2014/main" val="20002"/>
                    </a:ext>
                  </a:extLst>
                </a:gridCol>
                <a:gridCol w="434751">
                  <a:extLst>
                    <a:ext uri="{9D8B030D-6E8A-4147-A177-3AD203B41FA5}">
                      <a16:colId xmlns:a16="http://schemas.microsoft.com/office/drawing/2014/main" val="20003"/>
                    </a:ext>
                  </a:extLst>
                </a:gridCol>
                <a:gridCol w="434751">
                  <a:extLst>
                    <a:ext uri="{9D8B030D-6E8A-4147-A177-3AD203B41FA5}">
                      <a16:colId xmlns:a16="http://schemas.microsoft.com/office/drawing/2014/main" val="20004"/>
                    </a:ext>
                  </a:extLst>
                </a:gridCol>
                <a:gridCol w="434751">
                  <a:extLst>
                    <a:ext uri="{9D8B030D-6E8A-4147-A177-3AD203B41FA5}">
                      <a16:colId xmlns:a16="http://schemas.microsoft.com/office/drawing/2014/main" val="20005"/>
                    </a:ext>
                  </a:extLst>
                </a:gridCol>
                <a:gridCol w="434751">
                  <a:extLst>
                    <a:ext uri="{9D8B030D-6E8A-4147-A177-3AD203B41FA5}">
                      <a16:colId xmlns:a16="http://schemas.microsoft.com/office/drawing/2014/main" val="20006"/>
                    </a:ext>
                  </a:extLst>
                </a:gridCol>
                <a:gridCol w="434751">
                  <a:extLst>
                    <a:ext uri="{9D8B030D-6E8A-4147-A177-3AD203B41FA5}">
                      <a16:colId xmlns:a16="http://schemas.microsoft.com/office/drawing/2014/main" val="20007"/>
                    </a:ext>
                  </a:extLst>
                </a:gridCol>
                <a:gridCol w="434751">
                  <a:extLst>
                    <a:ext uri="{9D8B030D-6E8A-4147-A177-3AD203B41FA5}">
                      <a16:colId xmlns:a16="http://schemas.microsoft.com/office/drawing/2014/main" val="20008"/>
                    </a:ext>
                  </a:extLst>
                </a:gridCol>
                <a:gridCol w="434751">
                  <a:extLst>
                    <a:ext uri="{9D8B030D-6E8A-4147-A177-3AD203B41FA5}">
                      <a16:colId xmlns:a16="http://schemas.microsoft.com/office/drawing/2014/main" val="20009"/>
                    </a:ext>
                  </a:extLst>
                </a:gridCol>
              </a:tblGrid>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67562">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cap="flat">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a:noFill/>
                    </a:lnL>
                    <a:lnR>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a:noFill/>
                    </a:lnL>
                    <a:lnR cap="flat">
                      <a:noFill/>
                    </a:lnR>
                    <a:lnT>
                      <a:noFill/>
                    </a:lnT>
                    <a:lnB w="12700" cap="flat" cmpd="sng" algn="ctr">
                      <a:solidFill>
                        <a:srgbClr val="FF0066"/>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1"/>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2"/>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3"/>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4"/>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5"/>
                  </a:ext>
                </a:extLst>
              </a:tr>
              <a:tr h="388538">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dirty="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rgbClr val="FF0066"/>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2"/>
                    </a:solidFill>
                  </a:tcPr>
                </a:tc>
                <a:extLst>
                  <a:ext uri="{0D108BD9-81ED-4DB2-BD59-A6C34878D82A}">
                    <a16:rowId xmlns:a16="http://schemas.microsoft.com/office/drawing/2014/main" val="10006"/>
                  </a:ext>
                </a:extLst>
              </a:tr>
            </a:tbl>
          </a:graphicData>
        </a:graphic>
      </p:graphicFrame>
      <p:sp>
        <p:nvSpPr>
          <p:cNvPr id="1048630" name="Text Box 126"/>
          <p:cNvSpPr txBox="1">
            <a:spLocks noChangeArrowheads="1"/>
          </p:cNvSpPr>
          <p:nvPr/>
        </p:nvSpPr>
        <p:spPr bwMode="auto">
          <a:xfrm>
            <a:off x="4135279" y="1825437"/>
            <a:ext cx="612140" cy="83099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600" dirty="0">
                <a:solidFill>
                  <a:srgbClr val="0000FF"/>
                </a:solidFill>
                <a:latin typeface="宋体" panose="02010600030101010101" pitchFamily="2" charset="-122"/>
              </a:rPr>
              <a:t>步骤</a:t>
            </a:r>
          </a:p>
          <a:p>
            <a:pPr algn="ctr" eaLnBrk="1" hangingPunct="1">
              <a:spcBef>
                <a:spcPts val="0"/>
              </a:spcBef>
              <a:buFontTx/>
              <a:buNone/>
            </a:pPr>
            <a:endParaRPr lang="zh-CN" altLang="en-US" sz="1600" dirty="0">
              <a:solidFill>
                <a:srgbClr val="0000FF"/>
              </a:solidFill>
              <a:latin typeface="宋体" panose="02010600030101010101" pitchFamily="2" charset="-122"/>
            </a:endParaRPr>
          </a:p>
          <a:p>
            <a:pPr algn="ctr" eaLnBrk="1" hangingPunct="1">
              <a:spcBef>
                <a:spcPts val="0"/>
              </a:spcBef>
              <a:buFontTx/>
              <a:buNone/>
            </a:pPr>
            <a:r>
              <a:rPr lang="zh-CN" altLang="en-US" sz="1600" dirty="0">
                <a:solidFill>
                  <a:srgbClr val="003399"/>
                </a:solidFill>
                <a:latin typeface="宋体" panose="02010600030101010101" pitchFamily="2" charset="-122"/>
              </a:rPr>
              <a:t>动作</a:t>
            </a:r>
          </a:p>
        </p:txBody>
      </p:sp>
      <p:sp>
        <p:nvSpPr>
          <p:cNvPr id="1048631" name="Rectangle 270"/>
          <p:cNvSpPr>
            <a:spLocks noChangeArrowheads="1"/>
          </p:cNvSpPr>
          <p:nvPr/>
        </p:nvSpPr>
        <p:spPr bwMode="auto">
          <a:xfrm>
            <a:off x="7354141" y="81172"/>
            <a:ext cx="1638301" cy="1361439"/>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dirty="0">
                <a:latin typeface="宋体" panose="02010600030101010101" pitchFamily="2" charset="-122"/>
              </a:rPr>
              <a:t>(1)</a:t>
            </a:r>
            <a:r>
              <a:rPr lang="en-US" altLang="zh-CN" sz="2000" dirty="0" err="1">
                <a:latin typeface="宋体" panose="02010600030101010101" pitchFamily="2" charset="-122"/>
              </a:rPr>
              <a:t>S</a:t>
            </a:r>
            <a:r>
              <a:rPr lang="en-US" altLang="zh-CN" sz="2000" dirty="0" err="1">
                <a:latin typeface="宋体" panose="02010600030101010101" pitchFamily="2" charset="-122"/>
                <a:sym typeface="Symbol" pitchFamily="18" charset="2"/>
              </a:rPr>
              <a:t>aAcBe</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(2)</a:t>
            </a:r>
            <a:r>
              <a:rPr lang="en-US" altLang="zh-CN" sz="2000" dirty="0" err="1">
                <a:latin typeface="宋体" panose="02010600030101010101" pitchFamily="2" charset="-122"/>
                <a:sym typeface="Symbol" pitchFamily="18" charset="2"/>
              </a:rPr>
              <a:t>Ab</a:t>
            </a:r>
            <a:r>
              <a:rPr lang="en-US" altLang="zh-CN" sz="2000" dirty="0">
                <a:latin typeface="宋体" panose="02010600030101010101" pitchFamily="2" charset="-122"/>
                <a:sym typeface="Symbol" pitchFamily="18" charset="2"/>
              </a:rPr>
              <a:t> </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(3)</a:t>
            </a:r>
            <a:r>
              <a:rPr lang="en-US" altLang="zh-CN" sz="2000" dirty="0" err="1">
                <a:latin typeface="宋体" panose="02010600030101010101" pitchFamily="2" charset="-122"/>
                <a:sym typeface="Symbol" pitchFamily="18" charset="2"/>
              </a:rPr>
              <a:t>AAb</a:t>
            </a:r>
            <a:br>
              <a:rPr lang="en-US" altLang="zh-CN" sz="2000" dirty="0">
                <a:latin typeface="宋体" panose="02010600030101010101" pitchFamily="2" charset="-122"/>
                <a:sym typeface="Symbol" pitchFamily="18" charset="2"/>
              </a:rPr>
            </a:br>
            <a:r>
              <a:rPr lang="en-US" altLang="zh-CN" sz="2000" dirty="0">
                <a:latin typeface="宋体" panose="02010600030101010101" pitchFamily="2" charset="-122"/>
                <a:sym typeface="Symbol" pitchFamily="18" charset="2"/>
              </a:rPr>
              <a:t>(4)</a:t>
            </a:r>
            <a:r>
              <a:rPr lang="en-US" altLang="zh-CN" sz="2000" dirty="0" err="1">
                <a:latin typeface="宋体" panose="02010600030101010101" pitchFamily="2" charset="-122"/>
                <a:sym typeface="Symbol" pitchFamily="18" charset="2"/>
              </a:rPr>
              <a:t>Bd</a:t>
            </a:r>
            <a:endParaRPr lang="en-US" altLang="zh-CN" sz="2000" dirty="0">
              <a:latin typeface="宋体" panose="02010600030101010101" pitchFamily="2" charset="-122"/>
              <a:sym typeface="Symbol" pitchFamily="18" charset="2"/>
            </a:endParaRPr>
          </a:p>
        </p:txBody>
      </p:sp>
      <p:sp>
        <p:nvSpPr>
          <p:cNvPr id="1048632" name="Rectangle 272"/>
          <p:cNvSpPr>
            <a:spLocks noChangeArrowheads="1"/>
          </p:cNvSpPr>
          <p:nvPr/>
        </p:nvSpPr>
        <p:spPr bwMode="auto">
          <a:xfrm>
            <a:off x="2987824" y="1000811"/>
            <a:ext cx="4338911" cy="523220"/>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solidFill>
                  <a:srgbClr val="000000"/>
                </a:solidFill>
                <a:latin typeface="宋体" panose="02010600030101010101" pitchFamily="2" charset="-122"/>
                <a:sym typeface="Symbol" pitchFamily="18" charset="2"/>
              </a:rPr>
              <a:t>对输入串</a:t>
            </a:r>
            <a:r>
              <a:rPr lang="en-US" altLang="zh-CN" sz="2800" b="1" dirty="0" err="1">
                <a:solidFill>
                  <a:srgbClr val="FF0000"/>
                </a:solidFill>
                <a:latin typeface="宋体" panose="02010600030101010101" pitchFamily="2" charset="-122"/>
                <a:sym typeface="Symbol" pitchFamily="18" charset="2"/>
              </a:rPr>
              <a:t>abbcde</a:t>
            </a:r>
            <a:r>
              <a:rPr lang="zh-CN" altLang="en-US" sz="2000" dirty="0">
                <a:solidFill>
                  <a:srgbClr val="000000"/>
                </a:solidFill>
                <a:latin typeface="宋体" panose="02010600030101010101" pitchFamily="2" charset="-122"/>
                <a:sym typeface="Symbol" pitchFamily="18" charset="2"/>
              </a:rPr>
              <a:t>的归约过程如下：</a:t>
            </a:r>
          </a:p>
        </p:txBody>
      </p:sp>
      <p:sp>
        <p:nvSpPr>
          <p:cNvPr id="1048634" name="Rectangle 33"/>
          <p:cNvSpPr>
            <a:spLocks noChangeArrowheads="1"/>
          </p:cNvSpPr>
          <p:nvPr/>
        </p:nvSpPr>
        <p:spPr bwMode="auto">
          <a:xfrm>
            <a:off x="4905651" y="4705757"/>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35" name="Rectangle 43"/>
          <p:cNvSpPr>
            <a:spLocks noChangeArrowheads="1"/>
          </p:cNvSpPr>
          <p:nvPr/>
        </p:nvSpPr>
        <p:spPr bwMode="auto">
          <a:xfrm>
            <a:off x="5353962" y="4322644"/>
            <a:ext cx="18554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b</a:t>
            </a:r>
          </a:p>
        </p:txBody>
      </p:sp>
      <p:sp>
        <p:nvSpPr>
          <p:cNvPr id="1048636" name="Rectangle 44"/>
          <p:cNvSpPr>
            <a:spLocks noChangeArrowheads="1"/>
          </p:cNvSpPr>
          <p:nvPr/>
        </p:nvSpPr>
        <p:spPr bwMode="auto">
          <a:xfrm>
            <a:off x="5755531" y="4336425"/>
            <a:ext cx="24485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37" name="Rectangle 48"/>
          <p:cNvSpPr>
            <a:spLocks noChangeArrowheads="1"/>
          </p:cNvSpPr>
          <p:nvPr/>
        </p:nvSpPr>
        <p:spPr bwMode="auto">
          <a:xfrm>
            <a:off x="7026989" y="3913669"/>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c</a:t>
            </a:r>
          </a:p>
        </p:txBody>
      </p:sp>
      <p:sp>
        <p:nvSpPr>
          <p:cNvPr id="1048638" name="Rectangle 52"/>
          <p:cNvSpPr>
            <a:spLocks noChangeArrowheads="1"/>
          </p:cNvSpPr>
          <p:nvPr/>
        </p:nvSpPr>
        <p:spPr bwMode="auto">
          <a:xfrm>
            <a:off x="8779867" y="4768473"/>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S</a:t>
            </a:r>
          </a:p>
        </p:txBody>
      </p:sp>
      <p:graphicFrame>
        <p:nvGraphicFramePr>
          <p:cNvPr id="4194307" name="Group 64"/>
          <p:cNvGraphicFramePr>
            <a:graphicFrameLocks noGrp="1"/>
          </p:cNvGraphicFramePr>
          <p:nvPr>
            <p:extLst>
              <p:ext uri="{D42A27DB-BD31-4B8C-83A1-F6EECF244321}">
                <p14:modId xmlns:p14="http://schemas.microsoft.com/office/powerpoint/2010/main" val="34784836"/>
              </p:ext>
            </p:extLst>
          </p:nvPr>
        </p:nvGraphicFramePr>
        <p:xfrm>
          <a:off x="4809406" y="1836847"/>
          <a:ext cx="348767" cy="1428750"/>
        </p:xfrm>
        <a:graphic>
          <a:graphicData uri="http://schemas.openxmlformats.org/drawingml/2006/table">
            <a:tbl>
              <a:tblPr/>
              <a:tblGrid>
                <a:gridCol w="348767">
                  <a:extLst>
                    <a:ext uri="{9D8B030D-6E8A-4147-A177-3AD203B41FA5}">
                      <a16:colId xmlns:a16="http://schemas.microsoft.com/office/drawing/2014/main" val="20000"/>
                    </a:ext>
                  </a:extLst>
                </a:gridCol>
              </a:tblGrid>
              <a:tr h="4000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ts val="0"/>
                        </a:spcBef>
                        <a:spcAft>
                          <a:spcPct val="0"/>
                        </a:spcAft>
                        <a:buClrTx/>
                        <a:buSzTx/>
                        <a:buFontTx/>
                        <a:buNone/>
                      </a:pPr>
                      <a:r>
                        <a:rPr kumimoji="1" lang="zh-CN" altLang="en-US"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移进</a:t>
                      </a:r>
                      <a:endParaRPr kumimoji="1" lang="en-US" altLang="zh-CN"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p>
                      <a:pPr marL="0" marR="0" lvl="0" indent="0" algn="ctr" defTabSz="914400" rtl="0" eaLnBrk="1" fontAlgn="base" latinLnBrk="0" hangingPunct="1">
                        <a:lnSpc>
                          <a:spcPct val="100000"/>
                        </a:lnSpc>
                        <a:spcBef>
                          <a:spcPts val="0"/>
                        </a:spcBef>
                        <a:spcAft>
                          <a:spcPct val="0"/>
                        </a:spcAft>
                        <a:buClrTx/>
                        <a:buSzTx/>
                        <a:buFontTx/>
                        <a:buNone/>
                      </a:pPr>
                      <a:r>
                        <a:rPr kumimoji="1" lang="en-US" altLang="zh-CN"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a:t>
                      </a: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grpSp>
        <p:nvGrpSpPr>
          <p:cNvPr id="54" name="Group 186"/>
          <p:cNvGrpSpPr/>
          <p:nvPr/>
        </p:nvGrpSpPr>
        <p:grpSpPr bwMode="auto">
          <a:xfrm>
            <a:off x="3851920" y="1770041"/>
            <a:ext cx="2695699" cy="3295758"/>
            <a:chOff x="2110" y="887"/>
            <a:chExt cx="2695699" cy="2769"/>
          </a:xfrm>
        </p:grpSpPr>
        <p:sp>
          <p:nvSpPr>
            <p:cNvPr id="1048639" name="Rectangle 45"/>
            <p:cNvSpPr>
              <a:spLocks noChangeArrowheads="1"/>
            </p:cNvSpPr>
            <p:nvPr/>
          </p:nvSpPr>
          <p:spPr bwMode="auto">
            <a:xfrm>
              <a:off x="2311705" y="3027"/>
              <a:ext cx="300030" cy="629"/>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800"/>
                </a:spcBef>
                <a:buFontTx/>
                <a:buNone/>
              </a:pPr>
              <a:r>
                <a:rPr lang="en-US" altLang="zh-CN" sz="1800" dirty="0">
                  <a:latin typeface="宋体" panose="02010600030101010101" pitchFamily="2" charset="-122"/>
                </a:rPr>
                <a:t>A</a:t>
              </a:r>
            </a:p>
            <a:p>
              <a:pPr algn="ctr" eaLnBrk="1" hangingPunct="1">
                <a:spcBef>
                  <a:spcPts val="800"/>
                </a:spcBef>
                <a:buFontTx/>
                <a:buNone/>
              </a:pPr>
              <a:r>
                <a:rPr lang="en-US" altLang="zh-CN" sz="1800" dirty="0">
                  <a:latin typeface="宋体" panose="02010600030101010101" pitchFamily="2" charset="-122"/>
                </a:rPr>
                <a:t>a</a:t>
              </a:r>
            </a:p>
          </p:txBody>
        </p:sp>
        <p:sp>
          <p:nvSpPr>
            <p:cNvPr id="1048640" name="Rectangle 92"/>
            <p:cNvSpPr>
              <a:spLocks noChangeArrowheads="1"/>
            </p:cNvSpPr>
            <p:nvPr/>
          </p:nvSpPr>
          <p:spPr bwMode="auto">
            <a:xfrm>
              <a:off x="2280964" y="1262"/>
              <a:ext cx="361511"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b</a:t>
              </a:r>
            </a:p>
          </p:txBody>
        </p:sp>
        <p:sp>
          <p:nvSpPr>
            <p:cNvPr id="1048641" name="Rectangle 91"/>
            <p:cNvSpPr>
              <a:spLocks noChangeArrowheads="1"/>
            </p:cNvSpPr>
            <p:nvPr/>
          </p:nvSpPr>
          <p:spPr bwMode="auto">
            <a:xfrm>
              <a:off x="2225631" y="895"/>
              <a:ext cx="472178" cy="297"/>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4</a:t>
              </a:r>
            </a:p>
          </p:txBody>
        </p:sp>
        <p:sp>
          <p:nvSpPr>
            <p:cNvPr id="1048642" name="Line 93"/>
            <p:cNvSpPr>
              <a:spLocks noChangeShapeType="1"/>
            </p:cNvSpPr>
            <p:nvPr/>
          </p:nvSpPr>
          <p:spPr bwMode="auto">
            <a:xfrm>
              <a:off x="2122342" y="887"/>
              <a:ext cx="472178"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3" name="Line 95"/>
            <p:cNvSpPr>
              <a:spLocks noChangeShapeType="1"/>
            </p:cNvSpPr>
            <p:nvPr/>
          </p:nvSpPr>
          <p:spPr bwMode="auto">
            <a:xfrm>
              <a:off x="2122342" y="2087"/>
              <a:ext cx="472178"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4" name="Line 96"/>
            <p:cNvSpPr>
              <a:spLocks noChangeShapeType="1"/>
            </p:cNvSpPr>
            <p:nvPr/>
          </p:nvSpPr>
          <p:spPr bwMode="auto">
            <a:xfrm>
              <a:off x="2122342" y="887"/>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5" name="Line 97"/>
            <p:cNvSpPr>
              <a:spLocks noChangeShapeType="1"/>
            </p:cNvSpPr>
            <p:nvPr/>
          </p:nvSpPr>
          <p:spPr bwMode="auto">
            <a:xfrm>
              <a:off x="2594398" y="895"/>
              <a:ext cx="0" cy="336"/>
            </a:xfrm>
            <a:prstGeom prst="line">
              <a:avLst/>
            </a:prstGeom>
            <a:noFill/>
            <a:ln>
              <a:noFill/>
            </a:ln>
          </p:spPr>
          <p:txBody>
            <a:bodyPr/>
            <a:lstStyle/>
            <a:p>
              <a:pPr algn="ctr"/>
              <a:endParaRPr lang="zh-CN" altLang="en-US" sz="1200">
                <a:latin typeface="宋体" panose="02010600030101010101" pitchFamily="2" charset="-122"/>
                <a:ea typeface="宋体" panose="02010600030101010101" pitchFamily="2" charset="-122"/>
              </a:endParaRPr>
            </a:p>
          </p:txBody>
        </p:sp>
        <p:sp>
          <p:nvSpPr>
            <p:cNvPr id="1048646" name="Line 99"/>
            <p:cNvSpPr>
              <a:spLocks noChangeShapeType="1"/>
            </p:cNvSpPr>
            <p:nvPr/>
          </p:nvSpPr>
          <p:spPr bwMode="auto">
            <a:xfrm>
              <a:off x="2122342" y="1223"/>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47" name="Line 100"/>
            <p:cNvSpPr>
              <a:spLocks noChangeShapeType="1"/>
            </p:cNvSpPr>
            <p:nvPr/>
          </p:nvSpPr>
          <p:spPr bwMode="auto">
            <a:xfrm>
              <a:off x="2110" y="1223"/>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grpSp>
      <p:grpSp>
        <p:nvGrpSpPr>
          <p:cNvPr id="55" name="Group 194"/>
          <p:cNvGrpSpPr/>
          <p:nvPr/>
        </p:nvGrpSpPr>
        <p:grpSpPr bwMode="auto">
          <a:xfrm>
            <a:off x="6547619" y="1780179"/>
            <a:ext cx="447487" cy="3321783"/>
            <a:chOff x="2088" y="850"/>
            <a:chExt cx="384" cy="2789"/>
          </a:xfrm>
        </p:grpSpPr>
        <p:sp>
          <p:nvSpPr>
            <p:cNvPr id="1048648" name="Rectangle 46"/>
            <p:cNvSpPr>
              <a:spLocks noChangeArrowheads="1"/>
            </p:cNvSpPr>
            <p:nvPr/>
          </p:nvSpPr>
          <p:spPr bwMode="auto">
            <a:xfrm>
              <a:off x="2150" y="3329"/>
              <a:ext cx="258"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048649" name="Rectangle 104"/>
            <p:cNvSpPr>
              <a:spLocks noChangeArrowheads="1"/>
            </p:cNvSpPr>
            <p:nvPr/>
          </p:nvSpPr>
          <p:spPr bwMode="auto">
            <a:xfrm>
              <a:off x="2130" y="1224"/>
              <a:ext cx="299"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3</a:t>
              </a:r>
            </a:p>
          </p:txBody>
        </p:sp>
        <p:sp>
          <p:nvSpPr>
            <p:cNvPr id="1048650" name="Rectangle 103"/>
            <p:cNvSpPr>
              <a:spLocks noChangeArrowheads="1"/>
            </p:cNvSpPr>
            <p:nvPr/>
          </p:nvSpPr>
          <p:spPr bwMode="auto">
            <a:xfrm>
              <a:off x="2088" y="850"/>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5</a:t>
              </a:r>
            </a:p>
          </p:txBody>
        </p:sp>
      </p:grpSp>
      <p:sp>
        <p:nvSpPr>
          <p:cNvPr id="1048651" name="Line 105"/>
          <p:cNvSpPr>
            <a:spLocks noChangeShapeType="1"/>
          </p:cNvSpPr>
          <p:nvPr/>
        </p:nvSpPr>
        <p:spPr bwMode="auto">
          <a:xfrm>
            <a:off x="7236123" y="1798301"/>
            <a:ext cx="44519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2" name="Line 107"/>
          <p:cNvSpPr>
            <a:spLocks noChangeShapeType="1"/>
          </p:cNvSpPr>
          <p:nvPr/>
        </p:nvSpPr>
        <p:spPr bwMode="auto">
          <a:xfrm>
            <a:off x="7236123" y="3227051"/>
            <a:ext cx="44519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3" name="Line 108"/>
          <p:cNvSpPr>
            <a:spLocks noChangeShapeType="1"/>
          </p:cNvSpPr>
          <p:nvPr/>
        </p:nvSpPr>
        <p:spPr bwMode="auto">
          <a:xfrm>
            <a:off x="7236123" y="1798301"/>
            <a:ext cx="0" cy="40005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4" name="Line 109"/>
          <p:cNvSpPr>
            <a:spLocks noChangeShapeType="1"/>
          </p:cNvSpPr>
          <p:nvPr/>
        </p:nvSpPr>
        <p:spPr bwMode="auto">
          <a:xfrm>
            <a:off x="7845723" y="1798301"/>
            <a:ext cx="0" cy="40005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5" name="Line 111"/>
          <p:cNvSpPr>
            <a:spLocks noChangeShapeType="1"/>
          </p:cNvSpPr>
          <p:nvPr/>
        </p:nvSpPr>
        <p:spPr bwMode="auto">
          <a:xfrm>
            <a:off x="7236123" y="2198351"/>
            <a:ext cx="0" cy="102870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56" name="Line 112"/>
          <p:cNvSpPr>
            <a:spLocks noChangeShapeType="1"/>
          </p:cNvSpPr>
          <p:nvPr/>
        </p:nvSpPr>
        <p:spPr bwMode="auto">
          <a:xfrm>
            <a:off x="7845723" y="2198351"/>
            <a:ext cx="0" cy="102870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grpSp>
        <p:nvGrpSpPr>
          <p:cNvPr id="56" name="Group 189"/>
          <p:cNvGrpSpPr/>
          <p:nvPr/>
        </p:nvGrpSpPr>
        <p:grpSpPr bwMode="auto">
          <a:xfrm>
            <a:off x="4047471" y="1779410"/>
            <a:ext cx="3798243" cy="3347552"/>
            <a:chOff x="3279" y="844"/>
            <a:chExt cx="3798243" cy="2811"/>
          </a:xfrm>
        </p:grpSpPr>
        <p:sp>
          <p:nvSpPr>
            <p:cNvPr id="1048657" name="Rectangle 49"/>
            <p:cNvSpPr>
              <a:spLocks noChangeArrowheads="1"/>
            </p:cNvSpPr>
            <p:nvPr/>
          </p:nvSpPr>
          <p:spPr bwMode="auto">
            <a:xfrm>
              <a:off x="3376039" y="2664"/>
              <a:ext cx="415049" cy="99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1000"/>
                </a:spcBef>
                <a:buFontTx/>
                <a:buNone/>
              </a:pPr>
              <a:r>
                <a:rPr lang="en-US" altLang="zh-CN" sz="1800" dirty="0">
                  <a:latin typeface="宋体" panose="02010600030101010101" pitchFamily="2" charset="-122"/>
                </a:rPr>
                <a:t>c </a:t>
              </a:r>
            </a:p>
            <a:p>
              <a:pPr eaLnBrk="1" hangingPunct="1">
                <a:spcBef>
                  <a:spcPts val="1000"/>
                </a:spcBef>
                <a:buFontTx/>
                <a:buNone/>
              </a:pPr>
              <a:r>
                <a:rPr lang="en-US" altLang="zh-CN" sz="1800" dirty="0">
                  <a:latin typeface="宋体" panose="02010600030101010101" pitchFamily="2" charset="-122"/>
                </a:rPr>
                <a:t>A</a:t>
              </a:r>
            </a:p>
            <a:p>
              <a:pPr eaLnBrk="1" hangingPunct="1">
                <a:spcBef>
                  <a:spcPts val="1000"/>
                </a:spcBef>
                <a:buFontTx/>
                <a:buNone/>
              </a:pPr>
              <a:r>
                <a:rPr lang="en-US" altLang="zh-CN" sz="1800" dirty="0">
                  <a:latin typeface="宋体" panose="02010600030101010101" pitchFamily="2" charset="-122"/>
                </a:rPr>
                <a:t>a</a:t>
              </a:r>
            </a:p>
          </p:txBody>
        </p:sp>
        <p:sp>
          <p:nvSpPr>
            <p:cNvPr id="1048658" name="Rectangle 128"/>
            <p:cNvSpPr>
              <a:spLocks noChangeArrowheads="1"/>
            </p:cNvSpPr>
            <p:nvPr/>
          </p:nvSpPr>
          <p:spPr bwMode="auto">
            <a:xfrm>
              <a:off x="3439804" y="1189"/>
              <a:ext cx="287520"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d</a:t>
              </a:r>
            </a:p>
          </p:txBody>
        </p:sp>
        <p:sp>
          <p:nvSpPr>
            <p:cNvPr id="1048659" name="Rectangle 127"/>
            <p:cNvSpPr>
              <a:spLocks noChangeArrowheads="1"/>
            </p:cNvSpPr>
            <p:nvPr/>
          </p:nvSpPr>
          <p:spPr bwMode="auto">
            <a:xfrm>
              <a:off x="3399226" y="844"/>
              <a:ext cx="308388"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dirty="0">
                  <a:latin typeface="宋体" panose="02010600030101010101" pitchFamily="2" charset="-122"/>
                </a:rPr>
                <a:t>7</a:t>
              </a:r>
            </a:p>
          </p:txBody>
        </p:sp>
        <p:sp>
          <p:nvSpPr>
            <p:cNvPr id="1048660" name="Line 129"/>
            <p:cNvSpPr>
              <a:spLocks noChangeShapeType="1"/>
            </p:cNvSpPr>
            <p:nvPr/>
          </p:nvSpPr>
          <p:spPr bwMode="auto">
            <a:xfrm>
              <a:off x="3356330" y="888"/>
              <a:ext cx="445192"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1" name="Line 131"/>
            <p:cNvSpPr>
              <a:spLocks noChangeShapeType="1"/>
            </p:cNvSpPr>
            <p:nvPr/>
          </p:nvSpPr>
          <p:spPr bwMode="auto">
            <a:xfrm>
              <a:off x="3356330" y="2088"/>
              <a:ext cx="445192"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2" name="Line 132"/>
            <p:cNvSpPr>
              <a:spLocks noChangeShapeType="1"/>
            </p:cNvSpPr>
            <p:nvPr/>
          </p:nvSpPr>
          <p:spPr bwMode="auto">
            <a:xfrm>
              <a:off x="3356330" y="888"/>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3" name="Line 133"/>
            <p:cNvSpPr>
              <a:spLocks noChangeShapeType="1"/>
            </p:cNvSpPr>
            <p:nvPr/>
          </p:nvSpPr>
          <p:spPr bwMode="auto">
            <a:xfrm>
              <a:off x="3801522" y="888"/>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4" name="Line 135"/>
            <p:cNvSpPr>
              <a:spLocks noChangeShapeType="1"/>
            </p:cNvSpPr>
            <p:nvPr/>
          </p:nvSpPr>
          <p:spPr bwMode="auto">
            <a:xfrm>
              <a:off x="3356330" y="1224"/>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65" name="Line 136"/>
            <p:cNvSpPr>
              <a:spLocks noChangeShapeType="1"/>
            </p:cNvSpPr>
            <p:nvPr/>
          </p:nvSpPr>
          <p:spPr bwMode="auto">
            <a:xfrm>
              <a:off x="3279" y="1224"/>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pSp>
        <p:nvGrpSpPr>
          <p:cNvPr id="57" name="Group 190"/>
          <p:cNvGrpSpPr/>
          <p:nvPr/>
        </p:nvGrpSpPr>
        <p:grpSpPr bwMode="auto">
          <a:xfrm>
            <a:off x="4040858" y="1780193"/>
            <a:ext cx="4234952" cy="3338513"/>
            <a:chOff x="3656" y="842"/>
            <a:chExt cx="4234952" cy="2804"/>
          </a:xfrm>
        </p:grpSpPr>
        <p:sp>
          <p:nvSpPr>
            <p:cNvPr id="1048666" name="Rectangle 50"/>
            <p:cNvSpPr>
              <a:spLocks noChangeArrowheads="1"/>
            </p:cNvSpPr>
            <p:nvPr/>
          </p:nvSpPr>
          <p:spPr bwMode="auto">
            <a:xfrm>
              <a:off x="3789937" y="2655"/>
              <a:ext cx="415050" cy="99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1000"/>
                </a:spcBef>
                <a:buFontTx/>
                <a:buNone/>
              </a:pPr>
              <a:r>
                <a:rPr lang="en-US" altLang="zh-CN" sz="1800" dirty="0">
                  <a:latin typeface="宋体" panose="02010600030101010101" pitchFamily="2" charset="-122"/>
                </a:rPr>
                <a:t>c </a:t>
              </a:r>
            </a:p>
            <a:p>
              <a:pPr algn="ctr" eaLnBrk="1" hangingPunct="1">
                <a:spcBef>
                  <a:spcPts val="1000"/>
                </a:spcBef>
                <a:buFontTx/>
                <a:buNone/>
              </a:pPr>
              <a:r>
                <a:rPr lang="en-US" altLang="zh-CN" sz="1800" dirty="0">
                  <a:latin typeface="宋体" panose="02010600030101010101" pitchFamily="2" charset="-122"/>
                </a:rPr>
                <a:t>A </a:t>
              </a:r>
            </a:p>
            <a:p>
              <a:pPr algn="ctr" eaLnBrk="1" hangingPunct="1">
                <a:spcBef>
                  <a:spcPts val="1000"/>
                </a:spcBef>
                <a:buFontTx/>
                <a:buNone/>
              </a:pPr>
              <a:r>
                <a:rPr lang="en-US" altLang="zh-CN" sz="1800" dirty="0">
                  <a:latin typeface="宋体" panose="02010600030101010101" pitchFamily="2" charset="-122"/>
                </a:rPr>
                <a:t>a</a:t>
              </a:r>
            </a:p>
          </p:txBody>
        </p:sp>
        <p:sp>
          <p:nvSpPr>
            <p:cNvPr id="1048667" name="Rectangle 140"/>
            <p:cNvSpPr>
              <a:spLocks noChangeArrowheads="1"/>
            </p:cNvSpPr>
            <p:nvPr/>
          </p:nvSpPr>
          <p:spPr bwMode="auto">
            <a:xfrm>
              <a:off x="3846745" y="1187"/>
              <a:ext cx="333895"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4</a:t>
              </a:r>
            </a:p>
          </p:txBody>
        </p:sp>
        <p:sp>
          <p:nvSpPr>
            <p:cNvPr id="1048668" name="Rectangle 139"/>
            <p:cNvSpPr>
              <a:spLocks noChangeArrowheads="1"/>
            </p:cNvSpPr>
            <p:nvPr/>
          </p:nvSpPr>
          <p:spPr bwMode="auto">
            <a:xfrm>
              <a:off x="3793415" y="842"/>
              <a:ext cx="445193"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dirty="0">
                  <a:latin typeface="宋体" panose="02010600030101010101" pitchFamily="2" charset="-122"/>
                </a:rPr>
                <a:t>8</a:t>
              </a:r>
            </a:p>
          </p:txBody>
        </p:sp>
        <p:sp>
          <p:nvSpPr>
            <p:cNvPr id="1048669" name="Line 141"/>
            <p:cNvSpPr>
              <a:spLocks noChangeShapeType="1"/>
            </p:cNvSpPr>
            <p:nvPr/>
          </p:nvSpPr>
          <p:spPr bwMode="auto">
            <a:xfrm>
              <a:off x="3793415" y="880"/>
              <a:ext cx="445193"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0" name="Line 143"/>
            <p:cNvSpPr>
              <a:spLocks noChangeShapeType="1"/>
            </p:cNvSpPr>
            <p:nvPr/>
          </p:nvSpPr>
          <p:spPr bwMode="auto">
            <a:xfrm>
              <a:off x="3793415" y="2080"/>
              <a:ext cx="445193"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1" name="Line 144"/>
            <p:cNvSpPr>
              <a:spLocks noChangeShapeType="1"/>
            </p:cNvSpPr>
            <p:nvPr/>
          </p:nvSpPr>
          <p:spPr bwMode="auto">
            <a:xfrm>
              <a:off x="3793415" y="880"/>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2" name="Line 145"/>
            <p:cNvSpPr>
              <a:spLocks noChangeShapeType="1"/>
            </p:cNvSpPr>
            <p:nvPr/>
          </p:nvSpPr>
          <p:spPr bwMode="auto">
            <a:xfrm>
              <a:off x="4238608" y="880"/>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3" name="Line 147"/>
            <p:cNvSpPr>
              <a:spLocks noChangeShapeType="1"/>
            </p:cNvSpPr>
            <p:nvPr/>
          </p:nvSpPr>
          <p:spPr bwMode="auto">
            <a:xfrm>
              <a:off x="3793415" y="1216"/>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4" name="Line 148"/>
            <p:cNvSpPr>
              <a:spLocks noChangeShapeType="1"/>
            </p:cNvSpPr>
            <p:nvPr/>
          </p:nvSpPr>
          <p:spPr bwMode="auto">
            <a:xfrm>
              <a:off x="3656" y="1216"/>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pSp>
        <p:nvGrpSpPr>
          <p:cNvPr id="58" name="Group 191"/>
          <p:cNvGrpSpPr/>
          <p:nvPr/>
        </p:nvGrpSpPr>
        <p:grpSpPr bwMode="auto">
          <a:xfrm>
            <a:off x="4067623" y="1671536"/>
            <a:ext cx="4694857" cy="3466268"/>
            <a:chOff x="4017" y="887"/>
            <a:chExt cx="4694857" cy="2843"/>
          </a:xfrm>
        </p:grpSpPr>
        <p:sp>
          <p:nvSpPr>
            <p:cNvPr id="1048675" name="Rectangle 51"/>
            <p:cNvSpPr>
              <a:spLocks noChangeArrowheads="1"/>
            </p:cNvSpPr>
            <p:nvPr/>
          </p:nvSpPr>
          <p:spPr bwMode="auto">
            <a:xfrm>
              <a:off x="4283824" y="2463"/>
              <a:ext cx="415050" cy="1267"/>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800"/>
                </a:spcBef>
                <a:buFontTx/>
                <a:buNone/>
              </a:pPr>
              <a:r>
                <a:rPr lang="en-US" altLang="zh-CN" sz="1800" dirty="0">
                  <a:latin typeface="宋体" panose="02010600030101010101" pitchFamily="2" charset="-122"/>
                </a:rPr>
                <a:t>B</a:t>
              </a:r>
            </a:p>
            <a:p>
              <a:pPr eaLnBrk="1" hangingPunct="1">
                <a:spcBef>
                  <a:spcPts val="800"/>
                </a:spcBef>
                <a:buFontTx/>
                <a:buNone/>
              </a:pPr>
              <a:r>
                <a:rPr lang="en-US" altLang="zh-CN" sz="1800" dirty="0">
                  <a:latin typeface="宋体" panose="02010600030101010101" pitchFamily="2" charset="-122"/>
                </a:rPr>
                <a:t>c </a:t>
              </a:r>
            </a:p>
            <a:p>
              <a:pPr eaLnBrk="1" hangingPunct="1">
                <a:spcBef>
                  <a:spcPts val="800"/>
                </a:spcBef>
                <a:buFontTx/>
                <a:buNone/>
              </a:pPr>
              <a:r>
                <a:rPr lang="en-US" altLang="zh-CN" sz="1800" dirty="0">
                  <a:latin typeface="宋体" panose="02010600030101010101" pitchFamily="2" charset="-122"/>
                </a:rPr>
                <a:t>A </a:t>
              </a:r>
            </a:p>
            <a:p>
              <a:pPr eaLnBrk="1" hangingPunct="1">
                <a:spcBef>
                  <a:spcPts val="800"/>
                </a:spcBef>
                <a:buFontTx/>
                <a:buNone/>
              </a:pPr>
              <a:r>
                <a:rPr lang="en-US" altLang="zh-CN" sz="1800" dirty="0">
                  <a:latin typeface="宋体" panose="02010600030101010101" pitchFamily="2" charset="-122"/>
                </a:rPr>
                <a:t>a</a:t>
              </a:r>
            </a:p>
          </p:txBody>
        </p:sp>
        <p:sp>
          <p:nvSpPr>
            <p:cNvPr id="1048676" name="Rectangle 152"/>
            <p:cNvSpPr>
              <a:spLocks noChangeArrowheads="1"/>
            </p:cNvSpPr>
            <p:nvPr/>
          </p:nvSpPr>
          <p:spPr bwMode="auto">
            <a:xfrm>
              <a:off x="4238609" y="1293"/>
              <a:ext cx="380269"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e</a:t>
              </a:r>
            </a:p>
          </p:txBody>
        </p:sp>
        <p:sp>
          <p:nvSpPr>
            <p:cNvPr id="1048677" name="Rectangle 151"/>
            <p:cNvSpPr>
              <a:spLocks noChangeArrowheads="1"/>
            </p:cNvSpPr>
            <p:nvPr/>
          </p:nvSpPr>
          <p:spPr bwMode="auto">
            <a:xfrm>
              <a:off x="4238609" y="974"/>
              <a:ext cx="380269"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1800" dirty="0">
                  <a:latin typeface="宋体" panose="02010600030101010101" pitchFamily="2" charset="-122"/>
                </a:rPr>
                <a:t>9</a:t>
              </a:r>
            </a:p>
          </p:txBody>
        </p:sp>
        <p:sp>
          <p:nvSpPr>
            <p:cNvPr id="1048678" name="Line 153"/>
            <p:cNvSpPr>
              <a:spLocks noChangeShapeType="1"/>
            </p:cNvSpPr>
            <p:nvPr/>
          </p:nvSpPr>
          <p:spPr bwMode="auto">
            <a:xfrm>
              <a:off x="4211944" y="887"/>
              <a:ext cx="445193"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79" name="Line 155"/>
            <p:cNvSpPr>
              <a:spLocks noChangeShapeType="1"/>
            </p:cNvSpPr>
            <p:nvPr/>
          </p:nvSpPr>
          <p:spPr bwMode="auto">
            <a:xfrm>
              <a:off x="4211944" y="2087"/>
              <a:ext cx="445193" cy="0"/>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0" name="Line 156"/>
            <p:cNvSpPr>
              <a:spLocks noChangeShapeType="1"/>
            </p:cNvSpPr>
            <p:nvPr/>
          </p:nvSpPr>
          <p:spPr bwMode="auto">
            <a:xfrm>
              <a:off x="4211944" y="887"/>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1" name="Line 157"/>
            <p:cNvSpPr>
              <a:spLocks noChangeShapeType="1"/>
            </p:cNvSpPr>
            <p:nvPr/>
          </p:nvSpPr>
          <p:spPr bwMode="auto">
            <a:xfrm>
              <a:off x="4657137" y="887"/>
              <a:ext cx="0" cy="336"/>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2" name="Line 159"/>
            <p:cNvSpPr>
              <a:spLocks noChangeShapeType="1"/>
            </p:cNvSpPr>
            <p:nvPr/>
          </p:nvSpPr>
          <p:spPr bwMode="auto">
            <a:xfrm>
              <a:off x="4211944" y="1223"/>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sp>
          <p:nvSpPr>
            <p:cNvPr id="1048683" name="Line 160"/>
            <p:cNvSpPr>
              <a:spLocks noChangeShapeType="1"/>
            </p:cNvSpPr>
            <p:nvPr/>
          </p:nvSpPr>
          <p:spPr bwMode="auto">
            <a:xfrm>
              <a:off x="4017" y="1223"/>
              <a:ext cx="0" cy="864"/>
            </a:xfrm>
            <a:prstGeom prst="line">
              <a:avLst/>
            </a:prstGeom>
            <a:noFill/>
            <a:ln>
              <a:noFill/>
            </a:ln>
          </p:spPr>
          <p:txBody>
            <a:bodyPr/>
            <a:lstStyle/>
            <a:p>
              <a:endParaRPr lang="zh-CN" altLang="en-US">
                <a:latin typeface="宋体" panose="02010600030101010101" pitchFamily="2" charset="-122"/>
                <a:ea typeface="宋体" panose="02010600030101010101" pitchFamily="2" charset="-122"/>
              </a:endParaRPr>
            </a:p>
          </p:txBody>
        </p:sp>
      </p:grpSp>
      <p:graphicFrame>
        <p:nvGraphicFramePr>
          <p:cNvPr id="4194308" name="Group 174"/>
          <p:cNvGraphicFramePr>
            <a:graphicFrameLocks noGrp="1"/>
          </p:cNvGraphicFramePr>
          <p:nvPr>
            <p:extLst>
              <p:ext uri="{D42A27DB-BD31-4B8C-83A1-F6EECF244321}">
                <p14:modId xmlns:p14="http://schemas.microsoft.com/office/powerpoint/2010/main" val="1839835441"/>
              </p:ext>
            </p:extLst>
          </p:nvPr>
        </p:nvGraphicFramePr>
        <p:xfrm>
          <a:off x="8721004" y="1815369"/>
          <a:ext cx="473868" cy="1428750"/>
        </p:xfrm>
        <a:graphic>
          <a:graphicData uri="http://schemas.openxmlformats.org/drawingml/2006/table">
            <a:tbl>
              <a:tblPr/>
              <a:tblGrid>
                <a:gridCol w="473868">
                  <a:extLst>
                    <a:ext uri="{9D8B030D-6E8A-4147-A177-3AD203B41FA5}">
                      <a16:colId xmlns:a16="http://schemas.microsoft.com/office/drawing/2014/main" val="20000"/>
                    </a:ext>
                  </a:extLst>
                </a:gridCol>
              </a:tblGrid>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10</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ctr"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dirty="0">
                          <a:ln>
                            <a:noFill/>
                          </a:ln>
                          <a:solidFill>
                            <a:schemeClr val="tx1"/>
                          </a:solidFill>
                          <a:effectLst/>
                          <a:latin typeface="Times New Roman" pitchFamily="18" charset="0"/>
                          <a:ea typeface="宋体" pitchFamily="2" charset="-122"/>
                        </a:rPr>
                        <a:t>归约</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1</a:t>
                      </a: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pSp>
        <p:nvGrpSpPr>
          <p:cNvPr id="59" name="Group 183"/>
          <p:cNvGrpSpPr/>
          <p:nvPr/>
        </p:nvGrpSpPr>
        <p:grpSpPr bwMode="auto">
          <a:xfrm>
            <a:off x="5291533" y="1807825"/>
            <a:ext cx="319982" cy="3266630"/>
            <a:chOff x="954" y="896"/>
            <a:chExt cx="432" cy="2743"/>
          </a:xfrm>
        </p:grpSpPr>
        <p:sp>
          <p:nvSpPr>
            <p:cNvPr id="1048684" name="Rectangle 67"/>
            <p:cNvSpPr>
              <a:spLocks noChangeArrowheads="1"/>
            </p:cNvSpPr>
            <p:nvPr/>
          </p:nvSpPr>
          <p:spPr bwMode="auto">
            <a:xfrm>
              <a:off x="1066" y="1232"/>
              <a:ext cx="250"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b</a:t>
              </a:r>
            </a:p>
          </p:txBody>
        </p:sp>
        <p:sp>
          <p:nvSpPr>
            <p:cNvPr id="1048685" name="Rectangle 66"/>
            <p:cNvSpPr>
              <a:spLocks noChangeArrowheads="1"/>
            </p:cNvSpPr>
            <p:nvPr/>
          </p:nvSpPr>
          <p:spPr bwMode="auto">
            <a:xfrm>
              <a:off x="954" y="896"/>
              <a:ext cx="432"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a:latin typeface="宋体" panose="02010600030101010101" pitchFamily="2" charset="-122"/>
                </a:rPr>
                <a:t>2</a:t>
              </a:r>
            </a:p>
          </p:txBody>
        </p:sp>
        <p:sp>
          <p:nvSpPr>
            <p:cNvPr id="1048686" name="Line 68"/>
            <p:cNvSpPr>
              <a:spLocks noChangeShapeType="1"/>
            </p:cNvSpPr>
            <p:nvPr/>
          </p:nvSpPr>
          <p:spPr bwMode="auto">
            <a:xfrm>
              <a:off x="954" y="896"/>
              <a:ext cx="432"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7" name="Line 70"/>
            <p:cNvSpPr>
              <a:spLocks noChangeShapeType="1"/>
            </p:cNvSpPr>
            <p:nvPr/>
          </p:nvSpPr>
          <p:spPr bwMode="auto">
            <a:xfrm>
              <a:off x="954" y="2096"/>
              <a:ext cx="432"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8" name="Line 71"/>
            <p:cNvSpPr>
              <a:spLocks noChangeShapeType="1"/>
            </p:cNvSpPr>
            <p:nvPr/>
          </p:nvSpPr>
          <p:spPr bwMode="auto">
            <a:xfrm>
              <a:off x="954" y="896"/>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89" name="Line 72"/>
            <p:cNvSpPr>
              <a:spLocks noChangeShapeType="1"/>
            </p:cNvSpPr>
            <p:nvPr/>
          </p:nvSpPr>
          <p:spPr bwMode="auto">
            <a:xfrm>
              <a:off x="1386" y="896"/>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0" name="Line 74"/>
            <p:cNvSpPr>
              <a:spLocks noChangeShapeType="1"/>
            </p:cNvSpPr>
            <p:nvPr/>
          </p:nvSpPr>
          <p:spPr bwMode="auto">
            <a:xfrm>
              <a:off x="954" y="1232"/>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1" name="Line 75"/>
            <p:cNvSpPr>
              <a:spLocks noChangeShapeType="1"/>
            </p:cNvSpPr>
            <p:nvPr/>
          </p:nvSpPr>
          <p:spPr bwMode="auto">
            <a:xfrm>
              <a:off x="1386" y="1232"/>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2" name="Rectangle 176"/>
            <p:cNvSpPr>
              <a:spLocks noChangeArrowheads="1"/>
            </p:cNvSpPr>
            <p:nvPr/>
          </p:nvSpPr>
          <p:spPr bwMode="auto">
            <a:xfrm>
              <a:off x="1041" y="3329"/>
              <a:ext cx="189"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grpSp>
      <p:grpSp>
        <p:nvGrpSpPr>
          <p:cNvPr id="60" name="Group 185"/>
          <p:cNvGrpSpPr/>
          <p:nvPr/>
        </p:nvGrpSpPr>
        <p:grpSpPr bwMode="auto">
          <a:xfrm>
            <a:off x="5678486" y="1798302"/>
            <a:ext cx="365072" cy="3276975"/>
            <a:chOff x="1323" y="888"/>
            <a:chExt cx="373" cy="2752"/>
          </a:xfrm>
        </p:grpSpPr>
        <p:sp>
          <p:nvSpPr>
            <p:cNvPr id="1048693" name="Rectangle 79"/>
            <p:cNvSpPr>
              <a:spLocks noChangeArrowheads="1"/>
            </p:cNvSpPr>
            <p:nvPr/>
          </p:nvSpPr>
          <p:spPr bwMode="auto">
            <a:xfrm>
              <a:off x="1437" y="1224"/>
              <a:ext cx="21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归约</a:t>
              </a:r>
              <a:r>
                <a:rPr lang="en-US" altLang="zh-CN" sz="1800" dirty="0">
                  <a:latin typeface="宋体" panose="02010600030101010101" pitchFamily="2" charset="-122"/>
                </a:rPr>
                <a:t>2</a:t>
              </a:r>
            </a:p>
          </p:txBody>
        </p:sp>
        <p:sp>
          <p:nvSpPr>
            <p:cNvPr id="1048694" name="Rectangle 78"/>
            <p:cNvSpPr>
              <a:spLocks noChangeArrowheads="1"/>
            </p:cNvSpPr>
            <p:nvPr/>
          </p:nvSpPr>
          <p:spPr bwMode="auto">
            <a:xfrm>
              <a:off x="1323" y="888"/>
              <a:ext cx="373"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3</a:t>
              </a:r>
            </a:p>
          </p:txBody>
        </p:sp>
        <p:sp>
          <p:nvSpPr>
            <p:cNvPr id="1048695" name="Line 80"/>
            <p:cNvSpPr>
              <a:spLocks noChangeShapeType="1"/>
            </p:cNvSpPr>
            <p:nvPr/>
          </p:nvSpPr>
          <p:spPr bwMode="auto">
            <a:xfrm>
              <a:off x="1323" y="888"/>
              <a:ext cx="37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6" name="Line 82"/>
            <p:cNvSpPr>
              <a:spLocks noChangeShapeType="1"/>
            </p:cNvSpPr>
            <p:nvPr/>
          </p:nvSpPr>
          <p:spPr bwMode="auto">
            <a:xfrm>
              <a:off x="1323" y="2088"/>
              <a:ext cx="373"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7" name="Line 83"/>
            <p:cNvSpPr>
              <a:spLocks noChangeShapeType="1"/>
            </p:cNvSpPr>
            <p:nvPr/>
          </p:nvSpPr>
          <p:spPr bwMode="auto">
            <a:xfrm>
              <a:off x="1323" y="888"/>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8" name="Line 84"/>
            <p:cNvSpPr>
              <a:spLocks noChangeShapeType="1"/>
            </p:cNvSpPr>
            <p:nvPr/>
          </p:nvSpPr>
          <p:spPr bwMode="auto">
            <a:xfrm>
              <a:off x="1696" y="888"/>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699" name="Line 86"/>
            <p:cNvSpPr>
              <a:spLocks noChangeShapeType="1"/>
            </p:cNvSpPr>
            <p:nvPr/>
          </p:nvSpPr>
          <p:spPr bwMode="auto">
            <a:xfrm>
              <a:off x="1323" y="1224"/>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0" name="Line 87"/>
            <p:cNvSpPr>
              <a:spLocks noChangeShapeType="1"/>
            </p:cNvSpPr>
            <p:nvPr/>
          </p:nvSpPr>
          <p:spPr bwMode="auto">
            <a:xfrm>
              <a:off x="1696" y="1224"/>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1" name="Rectangle 177"/>
            <p:cNvSpPr>
              <a:spLocks noChangeArrowheads="1"/>
            </p:cNvSpPr>
            <p:nvPr/>
          </p:nvSpPr>
          <p:spPr bwMode="auto">
            <a:xfrm>
              <a:off x="1418" y="3330"/>
              <a:ext cx="189" cy="31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grpSp>
      <p:sp>
        <p:nvSpPr>
          <p:cNvPr id="1048702" name="Rectangle 178"/>
          <p:cNvSpPr>
            <a:spLocks noChangeArrowheads="1"/>
          </p:cNvSpPr>
          <p:nvPr/>
        </p:nvSpPr>
        <p:spPr bwMode="auto">
          <a:xfrm>
            <a:off x="6187579" y="3913669"/>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b="1" dirty="0">
                <a:solidFill>
                  <a:srgbClr val="FF0000"/>
                </a:solidFill>
                <a:latin typeface="宋体" panose="02010600030101010101" pitchFamily="2" charset="-122"/>
              </a:rPr>
              <a:t>b</a:t>
            </a:r>
          </a:p>
        </p:txBody>
      </p:sp>
      <p:grpSp>
        <p:nvGrpSpPr>
          <p:cNvPr id="61" name="Group 188"/>
          <p:cNvGrpSpPr/>
          <p:nvPr/>
        </p:nvGrpSpPr>
        <p:grpSpPr bwMode="auto">
          <a:xfrm>
            <a:off x="6879193" y="1789197"/>
            <a:ext cx="500843" cy="3299222"/>
            <a:chOff x="2482" y="879"/>
            <a:chExt cx="432" cy="2771"/>
          </a:xfrm>
        </p:grpSpPr>
        <p:sp>
          <p:nvSpPr>
            <p:cNvPr id="1048703" name="Rectangle 116"/>
            <p:cNvSpPr>
              <a:spLocks noChangeArrowheads="1"/>
            </p:cNvSpPr>
            <p:nvPr/>
          </p:nvSpPr>
          <p:spPr bwMode="auto">
            <a:xfrm>
              <a:off x="2591" y="1215"/>
              <a:ext cx="288" cy="864"/>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zh-CN" altLang="en-US" sz="1800" dirty="0">
                  <a:latin typeface="宋体" panose="02010600030101010101" pitchFamily="2" charset="-122"/>
                </a:rPr>
                <a:t>移进</a:t>
              </a:r>
              <a:r>
                <a:rPr lang="en-US" altLang="zh-CN" sz="1800" dirty="0">
                  <a:latin typeface="宋体" panose="02010600030101010101" pitchFamily="2" charset="-122"/>
                </a:rPr>
                <a:t>c</a:t>
              </a:r>
            </a:p>
          </p:txBody>
        </p:sp>
        <p:sp>
          <p:nvSpPr>
            <p:cNvPr id="1048704" name="Rectangle 115"/>
            <p:cNvSpPr>
              <a:spLocks noChangeArrowheads="1"/>
            </p:cNvSpPr>
            <p:nvPr/>
          </p:nvSpPr>
          <p:spPr bwMode="auto">
            <a:xfrm>
              <a:off x="2530" y="879"/>
              <a:ext cx="384" cy="336"/>
            </a:xfrm>
            <a:prstGeom prst="rect">
              <a:avLst/>
            </a:prstGeom>
            <a:noFill/>
            <a:ln>
              <a:noFill/>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6</a:t>
              </a:r>
            </a:p>
          </p:txBody>
        </p:sp>
        <p:sp>
          <p:nvSpPr>
            <p:cNvPr id="1048705" name="Line 117"/>
            <p:cNvSpPr>
              <a:spLocks noChangeShapeType="1"/>
            </p:cNvSpPr>
            <p:nvPr/>
          </p:nvSpPr>
          <p:spPr bwMode="auto">
            <a:xfrm>
              <a:off x="2482" y="879"/>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6" name="Line 119"/>
            <p:cNvSpPr>
              <a:spLocks noChangeShapeType="1"/>
            </p:cNvSpPr>
            <p:nvPr/>
          </p:nvSpPr>
          <p:spPr bwMode="auto">
            <a:xfrm>
              <a:off x="2482" y="2079"/>
              <a:ext cx="384" cy="0"/>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7" name="Line 120"/>
            <p:cNvSpPr>
              <a:spLocks noChangeShapeType="1"/>
            </p:cNvSpPr>
            <p:nvPr/>
          </p:nvSpPr>
          <p:spPr bwMode="auto">
            <a:xfrm>
              <a:off x="2482" y="879"/>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8" name="Line 121"/>
            <p:cNvSpPr>
              <a:spLocks noChangeShapeType="1"/>
            </p:cNvSpPr>
            <p:nvPr/>
          </p:nvSpPr>
          <p:spPr bwMode="auto">
            <a:xfrm>
              <a:off x="2866" y="879"/>
              <a:ext cx="0" cy="336"/>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09" name="Line 123"/>
            <p:cNvSpPr>
              <a:spLocks noChangeShapeType="1"/>
            </p:cNvSpPr>
            <p:nvPr/>
          </p:nvSpPr>
          <p:spPr bwMode="auto">
            <a:xfrm>
              <a:off x="2482" y="1215"/>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10" name="Line 124"/>
            <p:cNvSpPr>
              <a:spLocks noChangeShapeType="1"/>
            </p:cNvSpPr>
            <p:nvPr/>
          </p:nvSpPr>
          <p:spPr bwMode="auto">
            <a:xfrm>
              <a:off x="2866" y="1215"/>
              <a:ext cx="0" cy="864"/>
            </a:xfrm>
            <a:prstGeom prst="line">
              <a:avLst/>
            </a:prstGeom>
            <a:noFill/>
            <a:ln>
              <a:noFill/>
            </a:ln>
          </p:spPr>
          <p:txBody>
            <a:bodyPr/>
            <a:lstStyle/>
            <a:p>
              <a:endParaRPr lang="zh-CN" altLang="en-US" sz="1200">
                <a:latin typeface="宋体" panose="02010600030101010101" pitchFamily="2" charset="-122"/>
                <a:ea typeface="宋体" panose="02010600030101010101" pitchFamily="2" charset="-122"/>
              </a:endParaRPr>
            </a:p>
          </p:txBody>
        </p:sp>
        <p:sp>
          <p:nvSpPr>
            <p:cNvPr id="1048711" name="Rectangle 179"/>
            <p:cNvSpPr>
              <a:spLocks noChangeArrowheads="1"/>
            </p:cNvSpPr>
            <p:nvPr/>
          </p:nvSpPr>
          <p:spPr bwMode="auto">
            <a:xfrm>
              <a:off x="2575" y="2999"/>
              <a:ext cx="259" cy="651"/>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1000"/>
                </a:spcBef>
                <a:buFontTx/>
                <a:buNone/>
              </a:pPr>
              <a:r>
                <a:rPr lang="en-US" altLang="zh-CN" sz="1800" dirty="0">
                  <a:latin typeface="宋体" panose="02010600030101010101" pitchFamily="2" charset="-122"/>
                </a:rPr>
                <a:t>A</a:t>
              </a:r>
            </a:p>
            <a:p>
              <a:pPr algn="ctr" eaLnBrk="1" hangingPunct="1">
                <a:spcBef>
                  <a:spcPts val="1000"/>
                </a:spcBef>
                <a:buFontTx/>
                <a:buNone/>
              </a:pPr>
              <a:r>
                <a:rPr lang="en-US" altLang="zh-CN" sz="1800" dirty="0">
                  <a:latin typeface="宋体" panose="02010600030101010101" pitchFamily="2" charset="-122"/>
                </a:rPr>
                <a:t>a</a:t>
              </a:r>
            </a:p>
          </p:txBody>
        </p:sp>
      </p:grpSp>
      <p:sp>
        <p:nvSpPr>
          <p:cNvPr id="1048712" name="Rectangle 180"/>
          <p:cNvSpPr>
            <a:spLocks noChangeArrowheads="1"/>
          </p:cNvSpPr>
          <p:nvPr/>
        </p:nvSpPr>
        <p:spPr bwMode="auto">
          <a:xfrm>
            <a:off x="7518164" y="3553104"/>
            <a:ext cx="109575" cy="36985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d</a:t>
            </a:r>
          </a:p>
        </p:txBody>
      </p:sp>
      <p:sp>
        <p:nvSpPr>
          <p:cNvPr id="1048713" name="Rectangle 181"/>
          <p:cNvSpPr>
            <a:spLocks noChangeArrowheads="1"/>
          </p:cNvSpPr>
          <p:nvPr/>
        </p:nvSpPr>
        <p:spPr bwMode="auto">
          <a:xfrm>
            <a:off x="7925089" y="3553629"/>
            <a:ext cx="219151"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B</a:t>
            </a:r>
          </a:p>
        </p:txBody>
      </p:sp>
      <p:sp>
        <p:nvSpPr>
          <p:cNvPr id="1048714" name="Rectangle 182"/>
          <p:cNvSpPr>
            <a:spLocks noChangeArrowheads="1"/>
          </p:cNvSpPr>
          <p:nvPr/>
        </p:nvSpPr>
        <p:spPr bwMode="auto">
          <a:xfrm>
            <a:off x="8410128" y="3164684"/>
            <a:ext cx="15371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e</a:t>
            </a:r>
          </a:p>
        </p:txBody>
      </p:sp>
      <p:sp>
        <p:nvSpPr>
          <p:cNvPr id="1048715" name="Rectangle 192"/>
          <p:cNvSpPr>
            <a:spLocks noChangeArrowheads="1"/>
          </p:cNvSpPr>
          <p:nvPr/>
        </p:nvSpPr>
        <p:spPr bwMode="auto">
          <a:xfrm>
            <a:off x="6634333" y="4322644"/>
            <a:ext cx="244855" cy="36933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1800" dirty="0">
                <a:latin typeface="宋体" panose="02010600030101010101" pitchFamily="2" charset="-122"/>
              </a:rPr>
              <a:t>A</a:t>
            </a:r>
          </a:p>
        </p:txBody>
      </p:sp>
      <p:sp>
        <p:nvSpPr>
          <p:cNvPr id="118" name="矩形 3"/>
          <p:cNvSpPr/>
          <p:nvPr/>
        </p:nvSpPr>
        <p:spPr>
          <a:xfrm>
            <a:off x="286104" y="1551488"/>
            <a:ext cx="3832132" cy="1785104"/>
          </a:xfrm>
          <a:prstGeom prst="rect">
            <a:avLst/>
          </a:prstGeom>
        </p:spPr>
        <p:style>
          <a:lnRef idx="2">
            <a:schemeClr val="accent3"/>
          </a:lnRef>
          <a:fillRef idx="1">
            <a:schemeClr val="lt1"/>
          </a:fillRef>
          <a:effectRef idx="0">
            <a:schemeClr val="accent3"/>
          </a:effectRef>
          <a:fontRef idx="minor">
            <a:schemeClr val="dk1"/>
          </a:fontRef>
        </p:style>
        <p:txBody>
          <a:bodyPr wrap="square">
            <a:spAutoFit/>
          </a:bodyPr>
          <a:lstStyle/>
          <a:p>
            <a:r>
              <a:rPr lang="zh-CN" altLang="en-US" sz="2200" dirty="0">
                <a:ea typeface="华文行楷" pitchFamily="2" charset="-122"/>
              </a:rPr>
              <a:t>采用不同的方法来判断栈顶的符号串是可以归约的，就构成了不同的自下而上的语法分析方法，并对栈顶符号串给了不同的名字</a:t>
            </a:r>
            <a:endParaRPr lang="zh-CN" altLang="en-US" sz="2200" dirty="0"/>
          </a:p>
        </p:txBody>
      </p:sp>
      <p:grpSp>
        <p:nvGrpSpPr>
          <p:cNvPr id="119" name="Group 51"/>
          <p:cNvGrpSpPr/>
          <p:nvPr/>
        </p:nvGrpSpPr>
        <p:grpSpPr bwMode="auto">
          <a:xfrm>
            <a:off x="-108520" y="3644898"/>
            <a:ext cx="4680200" cy="1446927"/>
            <a:chOff x="497" y="3092"/>
            <a:chExt cx="2573" cy="1215"/>
          </a:xfrm>
        </p:grpSpPr>
        <p:sp>
          <p:nvSpPr>
            <p:cNvPr id="138" name="Text Box 48"/>
            <p:cNvSpPr txBox="1">
              <a:spLocks noChangeArrowheads="1"/>
            </p:cNvSpPr>
            <p:nvPr/>
          </p:nvSpPr>
          <p:spPr bwMode="auto">
            <a:xfrm>
              <a:off x="740" y="3092"/>
              <a:ext cx="2330" cy="1215"/>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ea typeface="华文行楷" pitchFamily="2" charset="-122"/>
                </a:rPr>
                <a:t>规范归约：</a:t>
              </a:r>
              <a:r>
                <a:rPr lang="zh-CN" altLang="en-US" sz="2200" dirty="0">
                  <a:solidFill>
                    <a:schemeClr val="accent2"/>
                  </a:solidFill>
                  <a:ea typeface="华文行楷" pitchFamily="2" charset="-122"/>
                </a:rPr>
                <a:t>句柄</a:t>
              </a:r>
              <a:endParaRPr lang="zh-CN" altLang="en-US" sz="2200" dirty="0">
                <a:ea typeface="华文行楷" pitchFamily="2" charset="-122"/>
              </a:endParaRPr>
            </a:p>
            <a:p>
              <a:pPr eaLnBrk="1" hangingPunct="1">
                <a:spcBef>
                  <a:spcPts val="0"/>
                </a:spcBef>
                <a:buFontTx/>
                <a:buNone/>
              </a:pPr>
              <a:r>
                <a:rPr lang="zh-CN" altLang="en-US" sz="2200" dirty="0">
                  <a:ea typeface="华文行楷" pitchFamily="2" charset="-122"/>
                </a:rPr>
                <a:t>算符优先：</a:t>
              </a:r>
              <a:r>
                <a:rPr lang="zh-CN" altLang="en-US" sz="2200" dirty="0">
                  <a:solidFill>
                    <a:schemeClr val="accent2"/>
                  </a:solidFill>
                  <a:ea typeface="华文行楷" pitchFamily="2" charset="-122"/>
                </a:rPr>
                <a:t>最左素短语</a:t>
              </a:r>
              <a:endParaRPr lang="zh-CN" altLang="en-US" sz="2200" dirty="0">
                <a:ea typeface="华文行楷" pitchFamily="2" charset="-122"/>
              </a:endParaRPr>
            </a:p>
            <a:p>
              <a:pPr eaLnBrk="1" hangingPunct="1">
                <a:spcBef>
                  <a:spcPts val="0"/>
                </a:spcBef>
                <a:buFontTx/>
                <a:buNone/>
              </a:pPr>
              <a:r>
                <a:rPr lang="en-US" altLang="zh-CN" sz="2200" dirty="0">
                  <a:ea typeface="华文行楷" pitchFamily="2" charset="-122"/>
                </a:rPr>
                <a:t>LR</a:t>
              </a:r>
              <a:r>
                <a:rPr lang="zh-CN" altLang="en-US" sz="2200" dirty="0">
                  <a:ea typeface="华文行楷" pitchFamily="2" charset="-122"/>
                </a:rPr>
                <a:t>分析方法：</a:t>
              </a:r>
              <a:r>
                <a:rPr lang="zh-CN" altLang="en-US" sz="2200" dirty="0">
                  <a:solidFill>
                    <a:srgbClr val="FF0000"/>
                  </a:solidFill>
                  <a:ea typeface="华文行楷" pitchFamily="2" charset="-122"/>
                </a:rPr>
                <a:t>句柄，利用活前缀找句柄</a:t>
              </a:r>
            </a:p>
          </p:txBody>
        </p:sp>
        <p:sp>
          <p:nvSpPr>
            <p:cNvPr id="139" name="AutoShape 49"/>
            <p:cNvSpPr/>
            <p:nvPr/>
          </p:nvSpPr>
          <p:spPr bwMode="auto">
            <a:xfrm>
              <a:off x="497" y="3134"/>
              <a:ext cx="234" cy="882"/>
            </a:xfrm>
            <a:prstGeom prst="leftBrace">
              <a:avLst>
                <a:gd name="adj1" fmla="val 31410"/>
                <a:gd name="adj2" fmla="val 50000"/>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000">
                <a:ea typeface="华文行楷" pitchFamily="2" charset="-122"/>
              </a:endParaRPr>
            </a:p>
          </p:txBody>
        </p:sp>
      </p:grpSp>
      <p:sp>
        <p:nvSpPr>
          <p:cNvPr id="140" name="矩形 3"/>
          <p:cNvSpPr/>
          <p:nvPr/>
        </p:nvSpPr>
        <p:spPr>
          <a:xfrm>
            <a:off x="179510" y="367492"/>
            <a:ext cx="6577249" cy="461665"/>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zh-CN" altLang="en-US" sz="2400" dirty="0">
                <a:ea typeface="华文行楷" pitchFamily="2" charset="-122"/>
              </a:rPr>
              <a:t>并不是每一次出现了产生式的右部就一定归约</a:t>
            </a:r>
            <a:endParaRPr lang="zh-CN" altLang="en-US" sz="2400" dirty="0"/>
          </a:p>
        </p:txBody>
      </p:sp>
    </p:spTree>
    <p:extLst>
      <p:ext uri="{BB962C8B-B14F-4D97-AF65-F5344CB8AC3E}">
        <p14:creationId xmlns:p14="http://schemas.microsoft.com/office/powerpoint/2010/main" val="4245317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19430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4863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486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4863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4863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4863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4863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19430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5"/>
                                        </p:tgtEl>
                                        <p:attrNameLst>
                                          <p:attrName>style.visibility</p:attrName>
                                        </p:attrNameLst>
                                      </p:cBhvr>
                                      <p:to>
                                        <p:strVal val="visible"/>
                                      </p:to>
                                    </p:set>
                                  </p:childTnLst>
                                </p:cTn>
                              </p:par>
                              <p:par>
                                <p:cTn id="25" presetID="1" presetClass="entr" presetSubtype="0" fill="hold" grpId="0" nodeType="withEffect" nodePh="1">
                                  <p:stCondLst>
                                    <p:cond delay="0"/>
                                  </p:stCondLst>
                                  <p:endCondLst>
                                    <p:cond evt="begin" delay="0">
                                      <p:tn val="25"/>
                                    </p:cond>
                                  </p:endCondLst>
                                  <p:childTnLst>
                                    <p:set>
                                      <p:cBhvr>
                                        <p:cTn id="26" dur="1" fill="hold">
                                          <p:stCondLst>
                                            <p:cond delay="0"/>
                                          </p:stCondLst>
                                        </p:cTn>
                                        <p:tgtEl>
                                          <p:spTgt spid="1048651"/>
                                        </p:tgtEl>
                                        <p:attrNameLst>
                                          <p:attrName>style.visibility</p:attrName>
                                        </p:attrNameLst>
                                      </p:cBhvr>
                                      <p:to>
                                        <p:strVal val="visible"/>
                                      </p:to>
                                    </p:set>
                                  </p:childTnLst>
                                </p:cTn>
                              </p:par>
                              <p:par>
                                <p:cTn id="27" presetID="1" presetClass="entr" presetSubtype="0" fill="hold" grpId="0" nodeType="withEffect" nodePh="1">
                                  <p:stCondLst>
                                    <p:cond delay="0"/>
                                  </p:stCondLst>
                                  <p:endCondLst>
                                    <p:cond evt="begin" delay="0">
                                      <p:tn val="27"/>
                                    </p:cond>
                                  </p:endCondLst>
                                  <p:childTnLst>
                                    <p:set>
                                      <p:cBhvr>
                                        <p:cTn id="28" dur="1" fill="hold">
                                          <p:stCondLst>
                                            <p:cond delay="0"/>
                                          </p:stCondLst>
                                        </p:cTn>
                                        <p:tgtEl>
                                          <p:spTgt spid="1048652"/>
                                        </p:tgtEl>
                                        <p:attrNameLst>
                                          <p:attrName>style.visibility</p:attrName>
                                        </p:attrNameLst>
                                      </p:cBhvr>
                                      <p:to>
                                        <p:strVal val="visible"/>
                                      </p:to>
                                    </p:set>
                                  </p:childTnLst>
                                </p:cTn>
                              </p:par>
                              <p:par>
                                <p:cTn id="29" presetID="1" presetClass="entr" presetSubtype="0" fill="hold" grpId="0" nodeType="withEffect" nodePh="1">
                                  <p:stCondLst>
                                    <p:cond delay="0"/>
                                  </p:stCondLst>
                                  <p:endCondLst>
                                    <p:cond evt="begin" delay="0">
                                      <p:tn val="29"/>
                                    </p:cond>
                                  </p:endCondLst>
                                  <p:childTnLst>
                                    <p:set>
                                      <p:cBhvr>
                                        <p:cTn id="30" dur="1" fill="hold">
                                          <p:stCondLst>
                                            <p:cond delay="0"/>
                                          </p:stCondLst>
                                        </p:cTn>
                                        <p:tgtEl>
                                          <p:spTgt spid="1048653"/>
                                        </p:tgtEl>
                                        <p:attrNameLst>
                                          <p:attrName>style.visibility</p:attrName>
                                        </p:attrNameLst>
                                      </p:cBhvr>
                                      <p:to>
                                        <p:strVal val="visible"/>
                                      </p:to>
                                    </p:set>
                                  </p:childTnLst>
                                </p:cTn>
                              </p:par>
                              <p:par>
                                <p:cTn id="31" presetID="1" presetClass="entr" presetSubtype="0" fill="hold" grpId="0" nodeType="withEffect" nodePh="1">
                                  <p:stCondLst>
                                    <p:cond delay="0"/>
                                  </p:stCondLst>
                                  <p:endCondLst>
                                    <p:cond evt="begin" delay="0">
                                      <p:tn val="31"/>
                                    </p:cond>
                                  </p:endCondLst>
                                  <p:childTnLst>
                                    <p:set>
                                      <p:cBhvr>
                                        <p:cTn id="32" dur="1" fill="hold">
                                          <p:stCondLst>
                                            <p:cond delay="0"/>
                                          </p:stCondLst>
                                        </p:cTn>
                                        <p:tgtEl>
                                          <p:spTgt spid="1048654"/>
                                        </p:tgtEl>
                                        <p:attrNameLst>
                                          <p:attrName>style.visibility</p:attrName>
                                        </p:attrNameLst>
                                      </p:cBhvr>
                                      <p:to>
                                        <p:strVal val="visible"/>
                                      </p:to>
                                    </p:set>
                                  </p:childTnLst>
                                </p:cTn>
                              </p:par>
                              <p:par>
                                <p:cTn id="33" presetID="1" presetClass="entr" presetSubtype="0" fill="hold" grpId="0" nodeType="withEffect" nodePh="1">
                                  <p:stCondLst>
                                    <p:cond delay="0"/>
                                  </p:stCondLst>
                                  <p:endCondLst>
                                    <p:cond evt="begin" delay="0">
                                      <p:tn val="33"/>
                                    </p:cond>
                                  </p:endCondLst>
                                  <p:childTnLst>
                                    <p:set>
                                      <p:cBhvr>
                                        <p:cTn id="34" dur="1" fill="hold">
                                          <p:stCondLst>
                                            <p:cond delay="0"/>
                                          </p:stCondLst>
                                        </p:cTn>
                                        <p:tgtEl>
                                          <p:spTgt spid="1048655"/>
                                        </p:tgtEl>
                                        <p:attrNameLst>
                                          <p:attrName>style.visibility</p:attrName>
                                        </p:attrNameLst>
                                      </p:cBhvr>
                                      <p:to>
                                        <p:strVal val="visible"/>
                                      </p:to>
                                    </p:set>
                                  </p:childTnLst>
                                </p:cTn>
                              </p:par>
                              <p:par>
                                <p:cTn id="35" presetID="1" presetClass="entr" presetSubtype="0" fill="hold" grpId="0" nodeType="withEffect" nodePh="1">
                                  <p:stCondLst>
                                    <p:cond delay="0"/>
                                  </p:stCondLst>
                                  <p:endCondLst>
                                    <p:cond evt="begin" delay="0">
                                      <p:tn val="35"/>
                                    </p:cond>
                                  </p:endCondLst>
                                  <p:childTnLst>
                                    <p:set>
                                      <p:cBhvr>
                                        <p:cTn id="36" dur="1" fill="hold">
                                          <p:stCondLst>
                                            <p:cond delay="0"/>
                                          </p:stCondLst>
                                        </p:cTn>
                                        <p:tgtEl>
                                          <p:spTgt spid="104865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419430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9"/>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6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0487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61"/>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04871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048713"/>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04871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04871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048632"/>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048631"/>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118"/>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1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630" grpId="0"/>
      <p:bldP spid="1048631" grpId="0" animBg="1"/>
      <p:bldP spid="1048632" grpId="0"/>
      <p:bldP spid="1048634" grpId="0"/>
      <p:bldP spid="1048635" grpId="0"/>
      <p:bldP spid="1048636" grpId="0"/>
      <p:bldP spid="1048637" grpId="0"/>
      <p:bldP spid="1048638" grpId="0"/>
      <p:bldP spid="1048651" grpId="0"/>
      <p:bldP spid="1048652" grpId="0"/>
      <p:bldP spid="1048653" grpId="0"/>
      <p:bldP spid="1048654" grpId="0"/>
      <p:bldP spid="1048655" grpId="0"/>
      <p:bldP spid="1048656" grpId="0"/>
      <p:bldP spid="1048702" grpId="0"/>
      <p:bldP spid="1048712" grpId="0"/>
      <p:bldP spid="1048713" grpId="0"/>
      <p:bldP spid="1048714" grpId="0"/>
      <p:bldP spid="1048715" grpId="0"/>
      <p:bldP spid="118"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5322291" cy="1323439"/>
          </a:xfrm>
          <a:prstGeom prst="rect">
            <a:avLst/>
          </a:prstGeom>
        </p:spPr>
        <p:txBody>
          <a:bodyPr wrap="none">
            <a:spAutoFit/>
          </a:bodyPr>
          <a:lstStyle/>
          <a:p>
            <a:r>
              <a:rPr lang="en-US" altLang="zh-CN" sz="4000" b="1" dirty="0">
                <a:solidFill>
                  <a:srgbClr val="CC0099"/>
                </a:solidFill>
                <a:ea typeface="隶书" pitchFamily="49" charset="-122"/>
              </a:rPr>
              <a:t>6</a:t>
            </a:r>
            <a:r>
              <a:rPr lang="zh-CN" altLang="en-US" sz="4000" b="1" dirty="0">
                <a:solidFill>
                  <a:srgbClr val="CC0099"/>
                </a:solidFill>
                <a:ea typeface="隶书" pitchFamily="49" charset="-122"/>
              </a:rPr>
              <a:t>、自下而上语法分析</a:t>
            </a:r>
            <a:endParaRPr lang="en-US" altLang="zh-CN" sz="4000" b="1" dirty="0">
              <a:solidFill>
                <a:srgbClr val="CC0099"/>
              </a:solidFill>
              <a:ea typeface="隶书" pitchFamily="49" charset="-122"/>
            </a:endParaRPr>
          </a:p>
          <a:p>
            <a:r>
              <a:rPr lang="en-US" altLang="zh-CN" sz="4000" b="1" dirty="0">
                <a:solidFill>
                  <a:srgbClr val="CC0099"/>
                </a:solidFill>
                <a:ea typeface="隶书" pitchFamily="49" charset="-122"/>
              </a:rPr>
              <a:t>      </a:t>
            </a:r>
            <a:r>
              <a:rPr lang="en-US" altLang="zh-CN" sz="3600" b="1" dirty="0">
                <a:solidFill>
                  <a:srgbClr val="CC0099"/>
                </a:solidFill>
                <a:ea typeface="隶书" pitchFamily="49" charset="-122"/>
              </a:rPr>
              <a:t>——</a:t>
            </a:r>
            <a:r>
              <a:rPr lang="zh-CN" altLang="en-US" sz="3600" b="1" dirty="0">
                <a:solidFill>
                  <a:srgbClr val="CC0099"/>
                </a:solidFill>
                <a:ea typeface="隶书" pitchFamily="49" charset="-122"/>
              </a:rPr>
              <a:t>句柄和规范归约</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1688492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766" name="Rectangle 2"/>
          <p:cNvSpPr>
            <a:spLocks noGrp="1" noChangeArrowheads="1"/>
          </p:cNvSpPr>
          <p:nvPr>
            <p:ph type="title"/>
          </p:nvPr>
        </p:nvSpPr>
        <p:spPr>
          <a:xfrm>
            <a:off x="671513" y="261938"/>
            <a:ext cx="7772400" cy="574675"/>
          </a:xfrm>
        </p:spPr>
        <p:txBody>
          <a:bodyPr>
            <a:normAutofit fontScale="90000"/>
          </a:bodyPr>
          <a:lstStyle/>
          <a:p>
            <a:pPr eaLnBrk="1" hangingPunct="1"/>
            <a:r>
              <a:rPr lang="zh-CN" altLang="en-US" dirty="0">
                <a:ea typeface="隶书" pitchFamily="49" charset="-122"/>
              </a:rPr>
              <a:t>句柄的概念</a:t>
            </a:r>
          </a:p>
        </p:txBody>
      </p:sp>
      <p:sp>
        <p:nvSpPr>
          <p:cNvPr id="1048767" name="Rectangle 3"/>
          <p:cNvSpPr>
            <a:spLocks noGrp="1" noChangeArrowheads="1"/>
          </p:cNvSpPr>
          <p:nvPr>
            <p:ph type="body" idx="1"/>
          </p:nvPr>
        </p:nvSpPr>
        <p:spPr>
          <a:xfrm>
            <a:off x="685800" y="955675"/>
            <a:ext cx="8081963" cy="2984227"/>
          </a:xfrm>
          <a:solidFill>
            <a:schemeClr val="bg1"/>
          </a:solidFill>
          <a:ln w="28575">
            <a:solidFill>
              <a:srgbClr val="0000FF"/>
            </a:solidFill>
            <a:miter lim="800000"/>
            <a:headEnd/>
            <a:tailEnd/>
          </a:ln>
        </p:spPr>
        <p:txBody>
          <a:bodyPr>
            <a:noAutofit/>
          </a:bodyPr>
          <a:lstStyle/>
          <a:p>
            <a:pPr eaLnBrk="1" hangingPunct="1">
              <a:spcBef>
                <a:spcPct val="50000"/>
              </a:spcBef>
            </a:pPr>
            <a:endParaRPr lang="en-US" altLang="zh-CN" sz="2200" dirty="0">
              <a:latin typeface="宋体" pitchFamily="2" charset="-122"/>
              <a:ea typeface="宋体" panose="02010600030101010101" pitchFamily="2" charset="-122"/>
            </a:endParaRPr>
          </a:p>
          <a:p>
            <a:pPr eaLnBrk="1" hangingPunct="1">
              <a:spcBef>
                <a:spcPct val="50000"/>
              </a:spcBef>
            </a:pPr>
            <a:endParaRPr lang="en-US" altLang="zh-CN" sz="2200" dirty="0">
              <a:latin typeface="宋体" pitchFamily="2" charset="-122"/>
              <a:ea typeface="宋体" panose="02010600030101010101" pitchFamily="2" charset="-122"/>
            </a:endParaRPr>
          </a:p>
          <a:p>
            <a:pPr eaLnBrk="1" hangingPunct="1">
              <a:spcBef>
                <a:spcPct val="50000"/>
              </a:spcBef>
            </a:pPr>
            <a:endParaRPr lang="zh-CN" altLang="en-US" sz="2200" dirty="0">
              <a:latin typeface="宋体" pitchFamily="2" charset="-122"/>
              <a:ea typeface="宋体" panose="02010600030101010101" pitchFamily="2" charset="-122"/>
            </a:endParaRPr>
          </a:p>
        </p:txBody>
      </p:sp>
      <p:sp>
        <p:nvSpPr>
          <p:cNvPr id="1048769" name="Rectangle 8"/>
          <p:cNvSpPr>
            <a:spLocks noChangeArrowheads="1"/>
          </p:cNvSpPr>
          <p:nvPr/>
        </p:nvSpPr>
        <p:spPr bwMode="auto">
          <a:xfrm>
            <a:off x="521318" y="4314164"/>
            <a:ext cx="8305800" cy="523220"/>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dirty="0">
                <a:latin typeface="宋体" pitchFamily="2" charset="-122"/>
                <a:ea typeface="华文行楷" pitchFamily="2" charset="-122"/>
              </a:rPr>
              <a:t>在规范归约中每次归约的符号串是</a:t>
            </a:r>
            <a:r>
              <a:rPr lang="zh-CN" altLang="en-US" sz="2800" dirty="0">
                <a:solidFill>
                  <a:schemeClr val="accent1"/>
                </a:solidFill>
                <a:latin typeface="宋体" pitchFamily="2" charset="-122"/>
                <a:ea typeface="华文行楷" pitchFamily="2" charset="-122"/>
              </a:rPr>
              <a:t>句柄</a:t>
            </a:r>
            <a:r>
              <a:rPr lang="zh-CN" altLang="en-US" sz="2800" dirty="0">
                <a:latin typeface="宋体" pitchFamily="2" charset="-122"/>
                <a:ea typeface="华文行楷" pitchFamily="2" charset="-122"/>
              </a:rPr>
              <a:t> </a:t>
            </a:r>
            <a:r>
              <a:rPr lang="en-US" altLang="zh-CN" sz="2800" dirty="0">
                <a:ea typeface="华文行楷" pitchFamily="2" charset="-122"/>
              </a:rPr>
              <a:t>(</a:t>
            </a:r>
            <a:r>
              <a:rPr lang="zh-CN" altLang="en-US" sz="2800" dirty="0">
                <a:latin typeface="宋体" pitchFamily="2" charset="-122"/>
                <a:ea typeface="华文行楷" pitchFamily="2" charset="-122"/>
              </a:rPr>
              <a:t>最右推导</a:t>
            </a:r>
            <a:r>
              <a:rPr lang="en-US" altLang="zh-CN" sz="2800" dirty="0">
                <a:ea typeface="华文行楷" pitchFamily="2" charset="-122"/>
              </a:rPr>
              <a:t>)</a:t>
            </a:r>
            <a:r>
              <a:rPr lang="zh-CN" altLang="en-US" sz="2800" dirty="0">
                <a:ea typeface="华文行楷" pitchFamily="2" charset="-122"/>
              </a:rPr>
              <a:t>。</a:t>
            </a:r>
          </a:p>
        </p:txBody>
      </p:sp>
      <p:grpSp>
        <p:nvGrpSpPr>
          <p:cNvPr id="76" name="组合 4"/>
          <p:cNvGrpSpPr/>
          <p:nvPr/>
        </p:nvGrpSpPr>
        <p:grpSpPr>
          <a:xfrm>
            <a:off x="666501" y="1563638"/>
            <a:ext cx="8081963" cy="1004333"/>
            <a:chOff x="2987824" y="2274884"/>
            <a:chExt cx="8081963" cy="1004333"/>
          </a:xfrm>
        </p:grpSpPr>
        <p:sp>
          <p:nvSpPr>
            <p:cNvPr id="1048770" name="Rectangle 5"/>
            <p:cNvSpPr>
              <a:spLocks noChangeArrowheads="1"/>
            </p:cNvSpPr>
            <p:nvPr/>
          </p:nvSpPr>
          <p:spPr bwMode="auto">
            <a:xfrm>
              <a:off x="4322762" y="2337098"/>
              <a:ext cx="335281" cy="51054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latin typeface="宋体" pitchFamily="2" charset="-122"/>
                  <a:ea typeface="华文行楷" pitchFamily="2" charset="-122"/>
                </a:rPr>
                <a:t>*</a:t>
              </a:r>
            </a:p>
          </p:txBody>
        </p:sp>
        <p:sp>
          <p:nvSpPr>
            <p:cNvPr id="1048771" name="Rectangle 6"/>
            <p:cNvSpPr>
              <a:spLocks noChangeArrowheads="1"/>
            </p:cNvSpPr>
            <p:nvPr/>
          </p:nvSpPr>
          <p:spPr bwMode="auto">
            <a:xfrm>
              <a:off x="6052716" y="2274884"/>
              <a:ext cx="363538" cy="522684"/>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latin typeface="宋体" pitchFamily="2" charset="-122"/>
                  <a:ea typeface="华文行楷" pitchFamily="2" charset="-122"/>
                </a:rPr>
                <a:t>+</a:t>
              </a:r>
            </a:p>
          </p:txBody>
        </p:sp>
        <p:sp>
          <p:nvSpPr>
            <p:cNvPr id="1048772" name="Rectangle 3"/>
            <p:cNvSpPr txBox="1">
              <a:spLocks noChangeArrowheads="1"/>
            </p:cNvSpPr>
            <p:nvPr/>
          </p:nvSpPr>
          <p:spPr>
            <a:xfrm>
              <a:off x="2987824" y="2534209"/>
              <a:ext cx="8081963" cy="745008"/>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ct val="50000"/>
                </a:spcBef>
              </a:pPr>
              <a:r>
                <a:rPr lang="zh-CN" altLang="en-US" sz="2200" dirty="0">
                  <a:latin typeface="宋体"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S=&gt;</a:t>
              </a:r>
              <a:r>
                <a:rPr lang="en-US" altLang="zh-CN" sz="2200" dirty="0" err="1">
                  <a:latin typeface="宋体" pitchFamily="2" charset="-122"/>
                  <a:ea typeface="宋体" panose="02010600030101010101" pitchFamily="2" charset="-122"/>
                </a:rPr>
                <a:t>xAy</a:t>
              </a: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且有</a:t>
              </a:r>
              <a:r>
                <a:rPr lang="en-US" altLang="zh-CN" sz="2200" dirty="0">
                  <a:latin typeface="宋体" pitchFamily="2" charset="-122"/>
                  <a:ea typeface="宋体" panose="02010600030101010101" pitchFamily="2" charset="-122"/>
                </a:rPr>
                <a:t>A=&gt;β,</a:t>
              </a:r>
              <a:r>
                <a:rPr lang="zh-CN" altLang="en-US" sz="2200" dirty="0">
                  <a:latin typeface="宋体" pitchFamily="2" charset="-122"/>
                  <a:ea typeface="宋体" panose="02010600030101010101" pitchFamily="2" charset="-122"/>
                </a:rPr>
                <a:t>则</a:t>
              </a:r>
              <a:r>
                <a:rPr lang="en-US" altLang="zh-CN" sz="2200" dirty="0">
                  <a:latin typeface="宋体" pitchFamily="2" charset="-122"/>
                  <a:ea typeface="宋体" panose="02010600030101010101" pitchFamily="2" charset="-122"/>
                </a:rPr>
                <a:t>β</a:t>
              </a:r>
              <a:r>
                <a:rPr lang="zh-CN" altLang="en-US" sz="2200" dirty="0">
                  <a:latin typeface="宋体" pitchFamily="2" charset="-122"/>
                  <a:ea typeface="宋体" panose="02010600030101010101" pitchFamily="2" charset="-122"/>
                </a:rPr>
                <a:t>是句型</a:t>
              </a:r>
              <a:r>
                <a:rPr lang="en-US" altLang="zh-CN" sz="2200" dirty="0">
                  <a:latin typeface="宋体" pitchFamily="2" charset="-122"/>
                  <a:ea typeface="宋体" panose="02010600030101010101" pitchFamily="2" charset="-122"/>
                </a:rPr>
                <a:t>xβy</a:t>
              </a:r>
              <a:r>
                <a:rPr lang="zh-CN" altLang="en-US" sz="2200" dirty="0">
                  <a:latin typeface="宋体" pitchFamily="2" charset="-122"/>
                  <a:ea typeface="宋体" panose="02010600030101010101" pitchFamily="2" charset="-122"/>
                </a:rPr>
                <a:t>相对于非终结符</a:t>
              </a:r>
              <a:r>
                <a:rPr lang="en-US" altLang="zh-CN" sz="2200" dirty="0">
                  <a:latin typeface="宋体" pitchFamily="2" charset="-122"/>
                  <a:ea typeface="宋体" panose="02010600030101010101" pitchFamily="2" charset="-122"/>
                </a:rPr>
                <a:t>A</a:t>
              </a:r>
              <a:r>
                <a:rPr lang="zh-CN" altLang="en-US" sz="2200" dirty="0">
                  <a:latin typeface="宋体" pitchFamily="2" charset="-122"/>
                  <a:ea typeface="宋体" panose="02010600030101010101" pitchFamily="2" charset="-122"/>
                </a:rPr>
                <a:t>的</a:t>
              </a:r>
              <a:r>
                <a:rPr lang="zh-CN" altLang="en-US" sz="2200" b="1" i="1" dirty="0">
                  <a:solidFill>
                    <a:schemeClr val="accent2"/>
                  </a:solidFill>
                  <a:latin typeface="宋体" pitchFamily="2" charset="-122"/>
                  <a:ea typeface="宋体" panose="02010600030101010101" pitchFamily="2" charset="-122"/>
                </a:rPr>
                <a:t>短语</a:t>
              </a:r>
              <a:endParaRPr lang="zh-CN" altLang="en-US" sz="2200" dirty="0">
                <a:solidFill>
                  <a:schemeClr val="accent2"/>
                </a:solidFill>
                <a:latin typeface="宋体" pitchFamily="2" charset="-122"/>
                <a:ea typeface="宋体" panose="02010600030101010101" pitchFamily="2" charset="-122"/>
              </a:endParaRPr>
            </a:p>
          </p:txBody>
        </p:sp>
      </p:grpSp>
      <p:grpSp>
        <p:nvGrpSpPr>
          <p:cNvPr id="77" name="组合 5"/>
          <p:cNvGrpSpPr/>
          <p:nvPr/>
        </p:nvGrpSpPr>
        <p:grpSpPr>
          <a:xfrm>
            <a:off x="683568" y="2337098"/>
            <a:ext cx="8081963" cy="1098748"/>
            <a:chOff x="2627783" y="3273202"/>
            <a:chExt cx="8081963" cy="1098748"/>
          </a:xfrm>
        </p:grpSpPr>
        <p:sp>
          <p:nvSpPr>
            <p:cNvPr id="1048773" name="Rectangle 7"/>
            <p:cNvSpPr>
              <a:spLocks noChangeArrowheads="1"/>
            </p:cNvSpPr>
            <p:nvPr/>
          </p:nvSpPr>
          <p:spPr bwMode="auto">
            <a:xfrm>
              <a:off x="3994026" y="3273202"/>
              <a:ext cx="361950" cy="522684"/>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latin typeface="宋体" pitchFamily="2" charset="-122"/>
                  <a:ea typeface="华文行楷" pitchFamily="2" charset="-122"/>
                </a:rPr>
                <a:t>*</a:t>
              </a:r>
            </a:p>
          </p:txBody>
        </p:sp>
        <p:sp>
          <p:nvSpPr>
            <p:cNvPr id="1048774" name="Rectangle 3"/>
            <p:cNvSpPr txBox="1">
              <a:spLocks noChangeArrowheads="1"/>
            </p:cNvSpPr>
            <p:nvPr/>
          </p:nvSpPr>
          <p:spPr>
            <a:xfrm>
              <a:off x="2627783" y="3520330"/>
              <a:ext cx="8081963" cy="851620"/>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ct val="50000"/>
                </a:spcBef>
              </a:pPr>
              <a:r>
                <a:rPr lang="zh-CN" altLang="en-US" sz="2200" dirty="0">
                  <a:latin typeface="宋体"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S=&gt;</a:t>
              </a:r>
              <a:r>
                <a:rPr lang="en-US" altLang="zh-CN" sz="2200" dirty="0" err="1">
                  <a:latin typeface="宋体" pitchFamily="2" charset="-122"/>
                  <a:ea typeface="宋体" panose="02010600030101010101" pitchFamily="2" charset="-122"/>
                </a:rPr>
                <a:t>xAy</a:t>
              </a: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且有</a:t>
              </a:r>
              <a:r>
                <a:rPr lang="en-US" altLang="zh-CN" sz="2200" dirty="0">
                  <a:latin typeface="宋体" pitchFamily="2" charset="-122"/>
                  <a:ea typeface="宋体" panose="02010600030101010101" pitchFamily="2" charset="-122"/>
                </a:rPr>
                <a:t>A-&gt;β,</a:t>
              </a:r>
              <a:r>
                <a:rPr lang="zh-CN" altLang="en-US" sz="2200" dirty="0">
                  <a:latin typeface="宋体" pitchFamily="2" charset="-122"/>
                  <a:ea typeface="宋体" panose="02010600030101010101" pitchFamily="2" charset="-122"/>
                </a:rPr>
                <a:t>则</a:t>
              </a:r>
              <a:r>
                <a:rPr lang="en-US" altLang="zh-CN" sz="2200" dirty="0">
                  <a:latin typeface="宋体" pitchFamily="2" charset="-122"/>
                  <a:ea typeface="宋体" panose="02010600030101010101" pitchFamily="2" charset="-122"/>
                </a:rPr>
                <a:t>β</a:t>
              </a:r>
              <a:r>
                <a:rPr lang="zh-CN" altLang="en-US" sz="2200" dirty="0">
                  <a:latin typeface="宋体" pitchFamily="2" charset="-122"/>
                  <a:ea typeface="宋体" panose="02010600030101010101" pitchFamily="2" charset="-122"/>
                </a:rPr>
                <a:t>是句型</a:t>
              </a:r>
              <a:r>
                <a:rPr lang="en-US" altLang="zh-CN" sz="2200" dirty="0">
                  <a:latin typeface="宋体" pitchFamily="2" charset="-122"/>
                  <a:ea typeface="宋体" panose="02010600030101010101" pitchFamily="2" charset="-122"/>
                </a:rPr>
                <a:t>xβy</a:t>
              </a:r>
              <a:r>
                <a:rPr lang="zh-CN" altLang="en-US" sz="2200" dirty="0">
                  <a:latin typeface="宋体" pitchFamily="2" charset="-122"/>
                  <a:ea typeface="宋体" panose="02010600030101010101" pitchFamily="2" charset="-122"/>
                </a:rPr>
                <a:t>相对于</a:t>
              </a:r>
              <a:r>
                <a:rPr lang="en-US" altLang="zh-CN" sz="2200" dirty="0">
                  <a:latin typeface="宋体" pitchFamily="2" charset="-122"/>
                  <a:ea typeface="宋体" panose="02010600030101010101" pitchFamily="2" charset="-122"/>
                </a:rPr>
                <a:t>A-&gt;β</a:t>
              </a:r>
              <a:r>
                <a:rPr lang="zh-CN" altLang="en-US" sz="2200" dirty="0">
                  <a:latin typeface="宋体" pitchFamily="2" charset="-122"/>
                  <a:ea typeface="宋体" panose="02010600030101010101" pitchFamily="2" charset="-122"/>
                </a:rPr>
                <a:t>的</a:t>
              </a:r>
              <a:r>
                <a:rPr lang="zh-CN" altLang="en-US" sz="2200" b="1" i="1" dirty="0">
                  <a:solidFill>
                    <a:schemeClr val="accent2"/>
                  </a:solidFill>
                  <a:latin typeface="宋体" pitchFamily="2" charset="-122"/>
                  <a:ea typeface="宋体" panose="02010600030101010101" pitchFamily="2" charset="-122"/>
                </a:rPr>
                <a:t>直接短语</a:t>
              </a:r>
              <a:endParaRPr lang="zh-CN" altLang="en-US" sz="2200" dirty="0">
                <a:solidFill>
                  <a:schemeClr val="accent2"/>
                </a:solidFill>
                <a:latin typeface="宋体" pitchFamily="2" charset="-122"/>
                <a:ea typeface="宋体" panose="02010600030101010101" pitchFamily="2" charset="-122"/>
              </a:endParaRPr>
            </a:p>
          </p:txBody>
        </p:sp>
      </p:grpSp>
      <p:sp>
        <p:nvSpPr>
          <p:cNvPr id="1048775" name="Rectangle 3"/>
          <p:cNvSpPr txBox="1">
            <a:spLocks noChangeArrowheads="1"/>
          </p:cNvSpPr>
          <p:nvPr/>
        </p:nvSpPr>
        <p:spPr>
          <a:xfrm>
            <a:off x="683568" y="3360937"/>
            <a:ext cx="8081963" cy="506957"/>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ct val="50000"/>
              </a:spcBef>
            </a:pPr>
            <a:r>
              <a:rPr lang="zh-CN" altLang="en-US" sz="2200" dirty="0">
                <a:latin typeface="宋体" pitchFamily="2" charset="-122"/>
                <a:ea typeface="宋体" panose="02010600030101010101" pitchFamily="2" charset="-122"/>
              </a:rPr>
              <a:t>位于</a:t>
            </a:r>
            <a:r>
              <a:rPr lang="zh-CN" altLang="en-US" sz="2200" b="1" dirty="0">
                <a:solidFill>
                  <a:srgbClr val="9933CC"/>
                </a:solidFill>
                <a:latin typeface="宋体" pitchFamily="2" charset="-122"/>
                <a:ea typeface="宋体" panose="02010600030101010101" pitchFamily="2" charset="-122"/>
              </a:rPr>
              <a:t>一个</a:t>
            </a:r>
            <a:r>
              <a:rPr lang="zh-CN" altLang="en-US" sz="2200" dirty="0">
                <a:latin typeface="宋体" pitchFamily="2" charset="-122"/>
                <a:ea typeface="宋体" panose="02010600030101010101" pitchFamily="2" charset="-122"/>
              </a:rPr>
              <a:t>句型最左边的直接短语称为</a:t>
            </a:r>
            <a:r>
              <a:rPr lang="zh-CN" altLang="en-US" sz="2200" b="1" i="1" dirty="0">
                <a:solidFill>
                  <a:schemeClr val="accent2"/>
                </a:solidFill>
                <a:latin typeface="宋体" pitchFamily="2" charset="-122"/>
                <a:ea typeface="宋体" panose="02010600030101010101" pitchFamily="2" charset="-122"/>
              </a:rPr>
              <a:t>句柄</a:t>
            </a:r>
            <a:r>
              <a:rPr lang="en-US" altLang="zh-CN" sz="2200" dirty="0">
                <a:latin typeface="宋体" pitchFamily="2" charset="-122"/>
                <a:ea typeface="宋体" panose="02010600030101010101" pitchFamily="2" charset="-122"/>
              </a:rPr>
              <a:t>.</a:t>
            </a:r>
          </a:p>
        </p:txBody>
      </p:sp>
      <p:grpSp>
        <p:nvGrpSpPr>
          <p:cNvPr id="3" name="组合 2"/>
          <p:cNvGrpSpPr/>
          <p:nvPr/>
        </p:nvGrpSpPr>
        <p:grpSpPr>
          <a:xfrm>
            <a:off x="683567" y="773659"/>
            <a:ext cx="8080884" cy="1006003"/>
            <a:chOff x="3275856" y="-236562"/>
            <a:chExt cx="8080884" cy="1006003"/>
          </a:xfrm>
        </p:grpSpPr>
        <p:sp>
          <p:nvSpPr>
            <p:cNvPr id="1048768" name="Rectangle 4"/>
            <p:cNvSpPr>
              <a:spLocks noChangeArrowheads="1"/>
            </p:cNvSpPr>
            <p:nvPr/>
          </p:nvSpPr>
          <p:spPr bwMode="auto">
            <a:xfrm>
              <a:off x="7664183" y="-236562"/>
              <a:ext cx="364202" cy="52322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solidFill>
                    <a:srgbClr val="0000FF"/>
                  </a:solidFill>
                  <a:latin typeface="宋体" pitchFamily="2" charset="-122"/>
                  <a:ea typeface="华文行楷" pitchFamily="2" charset="-122"/>
                </a:rPr>
                <a:t>*</a:t>
              </a:r>
            </a:p>
          </p:txBody>
        </p:sp>
        <p:sp>
          <p:nvSpPr>
            <p:cNvPr id="2" name="矩形 1"/>
            <p:cNvSpPr/>
            <p:nvPr/>
          </p:nvSpPr>
          <p:spPr>
            <a:xfrm>
              <a:off x="3275856" y="0"/>
              <a:ext cx="8080884" cy="769441"/>
            </a:xfrm>
            <a:prstGeom prst="rect">
              <a:avLst/>
            </a:prstGeom>
          </p:spPr>
          <p:txBody>
            <a:bodyPr wrap="square">
              <a:spAutoFit/>
            </a:bodyPr>
            <a:lstStyle/>
            <a:p>
              <a:pPr marL="365760" lvl="0" indent="-256032">
                <a:spcBef>
                  <a:spcPct val="50000"/>
                </a:spcBef>
                <a:buClr>
                  <a:srgbClr val="2DA2BF"/>
                </a:buClr>
                <a:buSzPct val="68000"/>
                <a:buFont typeface="Wingdings 3"/>
                <a:buChar char=""/>
              </a:pPr>
              <a:r>
                <a:rPr lang="zh-CN" altLang="en-US" sz="2200" dirty="0">
                  <a:solidFill>
                    <a:prstClr val="black"/>
                  </a:solidFill>
                  <a:latin typeface="宋体" pitchFamily="2" charset="-122"/>
                  <a:ea typeface="宋体" panose="02010600030101010101" pitchFamily="2" charset="-122"/>
                </a:rPr>
                <a:t>有文法</a:t>
              </a:r>
              <a:r>
                <a:rPr lang="en-US" altLang="zh-CN" sz="2200" dirty="0">
                  <a:solidFill>
                    <a:prstClr val="black"/>
                  </a:solidFill>
                  <a:latin typeface="宋体" pitchFamily="2" charset="-122"/>
                  <a:ea typeface="宋体" panose="02010600030101010101" pitchFamily="2" charset="-122"/>
                </a:rPr>
                <a:t>G</a:t>
              </a:r>
              <a:r>
                <a:rPr lang="zh-CN" altLang="en-US" sz="2200" dirty="0">
                  <a:solidFill>
                    <a:prstClr val="black"/>
                  </a:solidFill>
                  <a:latin typeface="宋体" pitchFamily="2" charset="-122"/>
                  <a:ea typeface="宋体" panose="02010600030101010101" pitchFamily="2" charset="-122"/>
                </a:rPr>
                <a:t>，开始符号为</a:t>
              </a:r>
              <a:r>
                <a:rPr lang="en-US" altLang="zh-CN" sz="2200" dirty="0">
                  <a:solidFill>
                    <a:prstClr val="black"/>
                  </a:solidFill>
                  <a:latin typeface="宋体" pitchFamily="2" charset="-122"/>
                  <a:ea typeface="宋体" panose="02010600030101010101" pitchFamily="2" charset="-122"/>
                </a:rPr>
                <a:t>S, </a:t>
              </a:r>
              <a:r>
                <a:rPr lang="zh-CN" altLang="en-US" sz="2200" dirty="0">
                  <a:solidFill>
                    <a:prstClr val="black"/>
                  </a:solidFill>
                  <a:latin typeface="宋体" pitchFamily="2" charset="-122"/>
                  <a:ea typeface="宋体" panose="02010600030101010101" pitchFamily="2" charset="-122"/>
                </a:rPr>
                <a:t>如果有</a:t>
              </a:r>
              <a:r>
                <a:rPr lang="en-US" altLang="zh-CN" sz="2200" dirty="0">
                  <a:solidFill>
                    <a:srgbClr val="0000FF"/>
                  </a:solidFill>
                  <a:latin typeface="宋体" pitchFamily="2" charset="-122"/>
                  <a:ea typeface="宋体" panose="02010600030101010101" pitchFamily="2" charset="-122"/>
                </a:rPr>
                <a:t>S=&gt;xβy</a:t>
              </a:r>
              <a:r>
                <a:rPr lang="en-US" altLang="zh-CN" sz="2200" dirty="0">
                  <a:solidFill>
                    <a:prstClr val="black"/>
                  </a:solidFill>
                  <a:latin typeface="宋体" pitchFamily="2" charset="-122"/>
                  <a:ea typeface="宋体" panose="02010600030101010101" pitchFamily="2" charset="-122"/>
                </a:rPr>
                <a:t>,</a:t>
              </a:r>
              <a:r>
                <a:rPr lang="zh-CN" altLang="en-US" sz="2200" dirty="0">
                  <a:solidFill>
                    <a:prstClr val="black"/>
                  </a:solidFill>
                  <a:latin typeface="宋体" pitchFamily="2" charset="-122"/>
                  <a:ea typeface="宋体" panose="02010600030101010101" pitchFamily="2" charset="-122"/>
                </a:rPr>
                <a:t>则</a:t>
              </a:r>
              <a:r>
                <a:rPr lang="en-US" altLang="zh-CN" sz="2200" dirty="0">
                  <a:solidFill>
                    <a:prstClr val="black"/>
                  </a:solidFill>
                  <a:latin typeface="宋体" pitchFamily="2" charset="-122"/>
                  <a:ea typeface="宋体" panose="02010600030101010101" pitchFamily="2" charset="-122"/>
                </a:rPr>
                <a:t>xβy</a:t>
              </a:r>
              <a:r>
                <a:rPr lang="zh-CN" altLang="en-US" sz="2200" dirty="0">
                  <a:solidFill>
                    <a:prstClr val="black"/>
                  </a:solidFill>
                  <a:latin typeface="宋体" pitchFamily="2" charset="-122"/>
                  <a:ea typeface="宋体" panose="02010600030101010101" pitchFamily="2" charset="-122"/>
                </a:rPr>
                <a:t>是文法</a:t>
              </a:r>
              <a:r>
                <a:rPr lang="en-US" altLang="zh-CN" sz="2200" dirty="0">
                  <a:solidFill>
                    <a:prstClr val="black"/>
                  </a:solidFill>
                  <a:latin typeface="宋体" pitchFamily="2" charset="-122"/>
                  <a:ea typeface="宋体" panose="02010600030101010101" pitchFamily="2" charset="-122"/>
                </a:rPr>
                <a:t>G</a:t>
              </a:r>
              <a:r>
                <a:rPr lang="zh-CN" altLang="en-US" sz="2200" dirty="0">
                  <a:solidFill>
                    <a:prstClr val="black"/>
                  </a:solidFill>
                  <a:latin typeface="宋体" pitchFamily="2" charset="-122"/>
                  <a:ea typeface="宋体" panose="02010600030101010101" pitchFamily="2" charset="-122"/>
                </a:rPr>
                <a:t>的</a:t>
              </a:r>
              <a:r>
                <a:rPr lang="zh-CN" altLang="en-US" sz="2200" b="1" i="1" dirty="0">
                  <a:solidFill>
                    <a:srgbClr val="DA1F28"/>
                  </a:solidFill>
                  <a:latin typeface="宋体" pitchFamily="2" charset="-122"/>
                  <a:ea typeface="宋体" panose="02010600030101010101" pitchFamily="2" charset="-122"/>
                </a:rPr>
                <a:t>句型</a:t>
              </a:r>
              <a:r>
                <a:rPr lang="zh-CN" altLang="en-US" sz="2200" dirty="0">
                  <a:solidFill>
                    <a:prstClr val="black"/>
                  </a:solidFill>
                  <a:latin typeface="宋体" pitchFamily="2" charset="-122"/>
                  <a:ea typeface="宋体" panose="02010600030101010101" pitchFamily="2" charset="-122"/>
                </a:rPr>
                <a:t>，</a:t>
              </a:r>
              <a:r>
                <a:rPr lang="en-US" altLang="zh-CN" sz="2200" dirty="0" err="1">
                  <a:solidFill>
                    <a:prstClr val="black"/>
                  </a:solidFill>
                  <a:latin typeface="宋体" pitchFamily="2" charset="-122"/>
                  <a:ea typeface="宋体" panose="02010600030101010101" pitchFamily="2" charset="-122"/>
                </a:rPr>
                <a:t>x,y</a:t>
              </a:r>
              <a:r>
                <a:rPr lang="zh-CN" altLang="en-US" sz="2200" dirty="0">
                  <a:solidFill>
                    <a:prstClr val="black"/>
                  </a:solidFill>
                  <a:latin typeface="宋体" pitchFamily="2" charset="-122"/>
                  <a:ea typeface="宋体" panose="02010600030101010101" pitchFamily="2" charset="-122"/>
                </a:rPr>
                <a:t>是任意的符号串</a:t>
              </a:r>
            </a:p>
          </p:txBody>
        </p:sp>
      </p:grpSp>
    </p:spTree>
    <p:extLst>
      <p:ext uri="{BB962C8B-B14F-4D97-AF65-F5344CB8AC3E}">
        <p14:creationId xmlns:p14="http://schemas.microsoft.com/office/powerpoint/2010/main" val="1952655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nodePh="1">
                                  <p:stCondLst>
                                    <p:cond delay="0"/>
                                  </p:stCondLst>
                                  <p:endCondLst>
                                    <p:cond evt="begin" delay="0">
                                      <p:tn val="5"/>
                                    </p:cond>
                                  </p:endCondLst>
                                  <p:childTnLst>
                                    <p:set>
                                      <p:cBhvr>
                                        <p:cTn id="6" dur="1" fill="hold">
                                          <p:stCondLst>
                                            <p:cond delay="499"/>
                                          </p:stCondLst>
                                        </p:cTn>
                                        <p:tgtEl>
                                          <p:spTgt spid="1048767">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04877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767" grpId="0" build="p" autoUpdateAnimBg="0"/>
      <p:bldP spid="1048775" grpId="0" build="p" autoUpdateAnimBg="0"/>
    </p:bldLst>
  </p:timing>
</p:sld>
</file>

<file path=ppt/slides/slide14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753" name="Rectangle 2"/>
          <p:cNvSpPr>
            <a:spLocks noGrp="1" noChangeArrowheads="1"/>
          </p:cNvSpPr>
          <p:nvPr>
            <p:ph type="title"/>
          </p:nvPr>
        </p:nvSpPr>
        <p:spPr>
          <a:xfrm>
            <a:off x="35123" y="51470"/>
            <a:ext cx="3960813" cy="615950"/>
          </a:xfrm>
        </p:spPr>
        <p:txBody>
          <a:bodyPr>
            <a:normAutofit/>
          </a:bodyPr>
          <a:lstStyle/>
          <a:p>
            <a:pPr algn="l" eaLnBrk="1" hangingPunct="1"/>
            <a:r>
              <a:rPr lang="zh-CN" altLang="en-US" sz="2400" dirty="0"/>
              <a:t>例：考虑如下文法：</a:t>
            </a:r>
          </a:p>
        </p:txBody>
      </p:sp>
      <p:sp>
        <p:nvSpPr>
          <p:cNvPr id="1048754" name="Rectangle 3"/>
          <p:cNvSpPr>
            <a:spLocks noGrp="1" noChangeArrowheads="1"/>
          </p:cNvSpPr>
          <p:nvPr>
            <p:ph type="body" idx="1"/>
          </p:nvPr>
        </p:nvSpPr>
        <p:spPr>
          <a:xfrm>
            <a:off x="179512" y="589335"/>
            <a:ext cx="5786313" cy="470247"/>
          </a:xfrm>
        </p:spPr>
        <p:txBody>
          <a:bodyPr>
            <a:normAutofit fontScale="84167" lnSpcReduction="10000"/>
          </a:bodyPr>
          <a:lstStyle/>
          <a:p>
            <a:pPr marL="0" indent="0" eaLnBrk="1" hangingPunct="1">
              <a:lnSpc>
                <a:spcPct val="120000"/>
              </a:lnSpc>
              <a:spcBef>
                <a:spcPts val="0"/>
              </a:spcBef>
              <a:buFontTx/>
              <a:buNone/>
            </a:pPr>
            <a:r>
              <a:rPr lang="zh-CN" altLang="en-US" sz="2400" dirty="0"/>
              <a:t>求句型   </a:t>
            </a:r>
            <a:r>
              <a:rPr lang="en-US" altLang="zh-CN" sz="2400" dirty="0">
                <a:solidFill>
                  <a:srgbClr val="FF0000"/>
                </a:solidFill>
              </a:rPr>
              <a:t>i1 *  i2 + i3 </a:t>
            </a:r>
            <a:r>
              <a:rPr lang="zh-CN" altLang="en-US" sz="2400" dirty="0"/>
              <a:t>的短语、直接短语和句柄。</a:t>
            </a:r>
          </a:p>
        </p:txBody>
      </p:sp>
      <p:sp>
        <p:nvSpPr>
          <p:cNvPr id="1048755" name="Text Box 4"/>
          <p:cNvSpPr txBox="1">
            <a:spLocks noChangeArrowheads="1"/>
          </p:cNvSpPr>
          <p:nvPr/>
        </p:nvSpPr>
        <p:spPr bwMode="auto">
          <a:xfrm>
            <a:off x="5965826" y="123478"/>
            <a:ext cx="1753372" cy="1200329"/>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400" dirty="0">
                <a:ea typeface="华文行楷" pitchFamily="2" charset="-122"/>
              </a:rPr>
              <a:t>E</a:t>
            </a:r>
            <a:r>
              <a:rPr lang="en-US" altLang="zh-CN" sz="2400" dirty="0">
                <a:ea typeface="华文行楷" pitchFamily="2" charset="-122"/>
                <a:sym typeface="Wingdings" pitchFamily="2" charset="2"/>
              </a:rPr>
              <a:t>T | E+T</a:t>
            </a:r>
          </a:p>
          <a:p>
            <a:pPr algn="ctr" eaLnBrk="1" hangingPunct="1">
              <a:spcBef>
                <a:spcPts val="0"/>
              </a:spcBef>
              <a:buFontTx/>
              <a:buNone/>
            </a:pPr>
            <a:r>
              <a:rPr lang="en-US" altLang="zh-CN" sz="2400" dirty="0">
                <a:ea typeface="华文行楷" pitchFamily="2" charset="-122"/>
                <a:sym typeface="Wingdings" pitchFamily="2" charset="2"/>
              </a:rPr>
              <a:t>TF | T*F</a:t>
            </a:r>
          </a:p>
          <a:p>
            <a:pPr algn="ctr" eaLnBrk="1" hangingPunct="1">
              <a:spcBef>
                <a:spcPts val="0"/>
              </a:spcBef>
              <a:buFontTx/>
              <a:buNone/>
            </a:pPr>
            <a:r>
              <a:rPr lang="en-US" altLang="zh-CN" sz="2400" dirty="0" err="1">
                <a:ea typeface="华文行楷" pitchFamily="2" charset="-122"/>
              </a:rPr>
              <a:t>F</a:t>
            </a:r>
            <a:r>
              <a:rPr lang="en-US" altLang="zh-CN" sz="2400" dirty="0" err="1">
                <a:ea typeface="华文行楷" pitchFamily="2" charset="-122"/>
                <a:sym typeface="Wingdings" pitchFamily="2" charset="2"/>
              </a:rPr>
              <a:t>i</a:t>
            </a:r>
            <a:r>
              <a:rPr lang="en-US" altLang="zh-CN" sz="2400" dirty="0">
                <a:ea typeface="华文行楷" pitchFamily="2" charset="-122"/>
                <a:sym typeface="Wingdings" pitchFamily="2" charset="2"/>
              </a:rPr>
              <a:t>  |  (E)</a:t>
            </a:r>
            <a:endParaRPr lang="en-US" altLang="zh-CN" sz="2400" dirty="0">
              <a:ea typeface="华文行楷" pitchFamily="2" charset="-122"/>
            </a:endParaRPr>
          </a:p>
        </p:txBody>
      </p:sp>
      <p:sp>
        <p:nvSpPr>
          <p:cNvPr id="1048756" name="Text Box 6"/>
          <p:cNvSpPr txBox="1">
            <a:spLocks noChangeArrowheads="1"/>
          </p:cNvSpPr>
          <p:nvPr/>
        </p:nvSpPr>
        <p:spPr bwMode="auto">
          <a:xfrm>
            <a:off x="303625" y="2893700"/>
            <a:ext cx="4620663" cy="124341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2200" dirty="0">
                <a:cs typeface="Times New Roman" panose="02020603050405020304" pitchFamily="18" charset="0"/>
              </a:rPr>
              <a:t>短语有：</a:t>
            </a:r>
            <a:r>
              <a:rPr lang="en-US" altLang="zh-CN" sz="2200" dirty="0">
                <a:cs typeface="Times New Roman" panose="02020603050405020304" pitchFamily="18" charset="0"/>
              </a:rPr>
              <a:t>i1,  i2,  i3,  i1*i2,  i1*i2+i3</a:t>
            </a:r>
          </a:p>
          <a:p>
            <a:pPr eaLnBrk="1" hangingPunct="1">
              <a:buFontTx/>
              <a:buNone/>
            </a:pPr>
            <a:r>
              <a:rPr lang="zh-CN" altLang="en-US" sz="2200" dirty="0">
                <a:cs typeface="Times New Roman" panose="02020603050405020304" pitchFamily="18" charset="0"/>
              </a:rPr>
              <a:t>  直接短语有：</a:t>
            </a:r>
            <a:r>
              <a:rPr lang="en-US" altLang="zh-CN" sz="2200" dirty="0">
                <a:cs typeface="Times New Roman" panose="02020603050405020304" pitchFamily="18" charset="0"/>
              </a:rPr>
              <a:t>i1, i2 , i3 </a:t>
            </a:r>
          </a:p>
          <a:p>
            <a:pPr eaLnBrk="1" hangingPunct="1">
              <a:buFontTx/>
              <a:buNone/>
            </a:pPr>
            <a:r>
              <a:rPr lang="zh-CN" altLang="en-US" sz="2200" dirty="0">
                <a:cs typeface="Times New Roman" panose="02020603050405020304" pitchFamily="18" charset="0"/>
              </a:rPr>
              <a:t>  句柄是： </a:t>
            </a:r>
            <a:r>
              <a:rPr lang="en-US" altLang="zh-CN" sz="2200" dirty="0">
                <a:cs typeface="Times New Roman" panose="02020603050405020304" pitchFamily="18" charset="0"/>
              </a:rPr>
              <a:t>i1</a:t>
            </a:r>
          </a:p>
        </p:txBody>
      </p:sp>
      <p:sp>
        <p:nvSpPr>
          <p:cNvPr id="1048759" name="Rectangle 9"/>
          <p:cNvSpPr>
            <a:spLocks noChangeArrowheads="1"/>
          </p:cNvSpPr>
          <p:nvPr/>
        </p:nvSpPr>
        <p:spPr bwMode="auto">
          <a:xfrm>
            <a:off x="3088349" y="1428023"/>
            <a:ext cx="742511" cy="461665"/>
          </a:xfrm>
          <a:prstGeom prst="rect">
            <a:avLst/>
          </a:prstGeom>
          <a:ln w="28575"/>
        </p:spPr>
        <p:style>
          <a:lnRef idx="2">
            <a:schemeClr val="dk1"/>
          </a:lnRef>
          <a:fillRef idx="1">
            <a:schemeClr val="lt1"/>
          </a:fillRef>
          <a:effectRef idx="0">
            <a:schemeClr val="dk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err="1">
                <a:ea typeface="华文行楷" pitchFamily="2" charset="-122"/>
              </a:rPr>
              <a:t>F</a:t>
            </a:r>
            <a:r>
              <a:rPr lang="en-US" altLang="zh-CN" sz="2400" dirty="0" err="1">
                <a:ea typeface="华文行楷" pitchFamily="2" charset="-122"/>
                <a:sym typeface="Wingdings" pitchFamily="2" charset="2"/>
              </a:rPr>
              <a:t>i</a:t>
            </a:r>
            <a:endParaRPr lang="en-US" altLang="zh-CN" sz="2400" dirty="0">
              <a:ea typeface="华文行楷" pitchFamily="2" charset="-122"/>
              <a:sym typeface="Wingdings" pitchFamily="2" charset="2"/>
            </a:endParaRPr>
          </a:p>
        </p:txBody>
      </p:sp>
      <p:grpSp>
        <p:nvGrpSpPr>
          <p:cNvPr id="8" name="组合 7"/>
          <p:cNvGrpSpPr/>
          <p:nvPr/>
        </p:nvGrpSpPr>
        <p:grpSpPr>
          <a:xfrm>
            <a:off x="4924288" y="3206574"/>
            <a:ext cx="4219712" cy="904863"/>
            <a:chOff x="4369379" y="3775083"/>
            <a:chExt cx="4219712" cy="904863"/>
          </a:xfrm>
        </p:grpSpPr>
        <p:sp>
          <p:nvSpPr>
            <p:cNvPr id="1048760" name="Line 10"/>
            <p:cNvSpPr>
              <a:spLocks noChangeShapeType="1"/>
            </p:cNvSpPr>
            <p:nvPr/>
          </p:nvSpPr>
          <p:spPr bwMode="auto">
            <a:xfrm>
              <a:off x="5436096" y="4310793"/>
              <a:ext cx="100013" cy="206375"/>
            </a:xfrm>
            <a:prstGeom prst="line">
              <a:avLst/>
            </a:prstGeom>
            <a:noFill/>
            <a:ln w="9525">
              <a:solidFill>
                <a:schemeClr val="tx1"/>
              </a:solidFill>
              <a:round/>
              <a:headEnd/>
              <a:tailEnd/>
            </a:ln>
          </p:spPr>
          <p:txBody>
            <a:bodyPr/>
            <a:lstStyle/>
            <a:p>
              <a:endParaRPr lang="zh-CN" altLang="en-US" sz="1600"/>
            </a:p>
          </p:txBody>
        </p:sp>
        <p:sp>
          <p:nvSpPr>
            <p:cNvPr id="1048761" name="Rectangle 11"/>
            <p:cNvSpPr>
              <a:spLocks noChangeArrowheads="1"/>
            </p:cNvSpPr>
            <p:nvPr/>
          </p:nvSpPr>
          <p:spPr bwMode="auto">
            <a:xfrm>
              <a:off x="4369379" y="3775083"/>
              <a:ext cx="4219712" cy="904863"/>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2400" dirty="0">
                  <a:ea typeface="华文行楷" pitchFamily="2" charset="-122"/>
                </a:rPr>
                <a:t>i2 + i3 </a:t>
              </a:r>
              <a:r>
                <a:rPr lang="zh-CN" altLang="en-US" sz="2400" dirty="0">
                  <a:ea typeface="华文行楷" pitchFamily="2" charset="-122"/>
                </a:rPr>
                <a:t>不是短语，</a:t>
              </a:r>
              <a:endParaRPr lang="en-US" altLang="zh-CN" sz="2400" dirty="0">
                <a:ea typeface="华文行楷" pitchFamily="2" charset="-122"/>
              </a:endParaRPr>
            </a:p>
            <a:p>
              <a:pPr eaLnBrk="1" hangingPunct="1">
                <a:buFontTx/>
                <a:buNone/>
              </a:pPr>
              <a:r>
                <a:rPr lang="zh-CN" altLang="en-US" sz="2400" dirty="0">
                  <a:ea typeface="华文行楷" pitchFamily="2" charset="-122"/>
                </a:rPr>
                <a:t>因为</a:t>
              </a:r>
              <a:r>
                <a:rPr lang="en-US" altLang="zh-CN" sz="2400" dirty="0">
                  <a:ea typeface="华文行楷" pitchFamily="2" charset="-122"/>
                </a:rPr>
                <a:t>E  =&gt;  i1 * E </a:t>
              </a:r>
              <a:r>
                <a:rPr lang="zh-CN" altLang="en-US" sz="2400" dirty="0">
                  <a:ea typeface="华文行楷" pitchFamily="2" charset="-122"/>
                </a:rPr>
                <a:t>（</a:t>
              </a:r>
              <a:r>
                <a:rPr lang="en-US" altLang="zh-CN" sz="2400" dirty="0">
                  <a:ea typeface="华文行楷" pitchFamily="2" charset="-122"/>
                </a:rPr>
                <a:t>E =&gt;i2 +i3</a:t>
              </a:r>
              <a:r>
                <a:rPr lang="zh-CN" altLang="en-US" sz="2400" dirty="0">
                  <a:ea typeface="华文行楷" pitchFamily="2" charset="-122"/>
                </a:rPr>
                <a:t>）</a:t>
              </a:r>
            </a:p>
          </p:txBody>
        </p:sp>
        <p:sp>
          <p:nvSpPr>
            <p:cNvPr id="1048762" name="Text Box 13"/>
            <p:cNvSpPr txBox="1">
              <a:spLocks noChangeArrowheads="1"/>
            </p:cNvSpPr>
            <p:nvPr/>
          </p:nvSpPr>
          <p:spPr bwMode="auto">
            <a:xfrm>
              <a:off x="7164288" y="4083918"/>
              <a:ext cx="368300" cy="461659"/>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grpSp>
      <p:grpSp>
        <p:nvGrpSpPr>
          <p:cNvPr id="7" name="组合 6"/>
          <p:cNvGrpSpPr/>
          <p:nvPr/>
        </p:nvGrpSpPr>
        <p:grpSpPr>
          <a:xfrm>
            <a:off x="5765831" y="2228377"/>
            <a:ext cx="2384120" cy="769441"/>
            <a:chOff x="5796137" y="2403281"/>
            <a:chExt cx="2384120" cy="769441"/>
          </a:xfrm>
        </p:grpSpPr>
        <p:sp>
          <p:nvSpPr>
            <p:cNvPr id="2" name="矩形 1"/>
            <p:cNvSpPr/>
            <p:nvPr/>
          </p:nvSpPr>
          <p:spPr>
            <a:xfrm>
              <a:off x="5796137" y="2403281"/>
              <a:ext cx="2384120" cy="769441"/>
            </a:xfrm>
            <a:prstGeom prst="rect">
              <a:avLst/>
            </a:prstGeom>
            <a:ln w="28575"/>
          </p:spPr>
          <p:style>
            <a:lnRef idx="2">
              <a:schemeClr val="dk1"/>
            </a:lnRef>
            <a:fillRef idx="1">
              <a:schemeClr val="lt1"/>
            </a:fillRef>
            <a:effectRef idx="0">
              <a:schemeClr val="dk1"/>
            </a:effectRef>
            <a:fontRef idx="minor">
              <a:schemeClr val="dk1"/>
            </a:fontRef>
          </p:style>
          <p:txBody>
            <a:bodyPr wrap="square">
              <a:spAutoFit/>
            </a:bodyPr>
            <a:lstStyle/>
            <a:p>
              <a:r>
                <a:rPr lang="en-US" altLang="zh-CN" sz="2200" dirty="0">
                  <a:solidFill>
                    <a:schemeClr val="tx1"/>
                  </a:solidFill>
                  <a:latin typeface="Times New Roman" panose="02020603050405020304" pitchFamily="18" charset="0"/>
                  <a:ea typeface="华文行楷" pitchFamily="2" charset="-122"/>
                  <a:cs typeface="Times New Roman" panose="02020603050405020304" pitchFamily="18" charset="0"/>
                </a:rPr>
                <a:t>E =&gt;E</a:t>
              </a:r>
            </a:p>
            <a:p>
              <a:r>
                <a:rPr lang="en-US" altLang="zh-CN" sz="2200" dirty="0">
                  <a:solidFill>
                    <a:schemeClr val="tx1"/>
                  </a:solidFill>
                  <a:latin typeface="Times New Roman" panose="02020603050405020304" pitchFamily="18" charset="0"/>
                  <a:ea typeface="华文行楷" pitchFamily="2" charset="-122"/>
                  <a:cs typeface="Times New Roman" panose="02020603050405020304" pitchFamily="18" charset="0"/>
                </a:rPr>
                <a:t>E =&gt; i1 * i2 + i3 </a:t>
              </a:r>
              <a:endParaRPr lang="zh-CN" altLang="en-US" sz="2400" dirty="0">
                <a:solidFill>
                  <a:schemeClr val="tx1"/>
                </a:solidFill>
                <a:latin typeface="Times New Roman" panose="02020603050405020304" pitchFamily="18" charset="0"/>
                <a:cs typeface="Times New Roman" panose="02020603050405020304" pitchFamily="18" charset="0"/>
              </a:endParaRPr>
            </a:p>
          </p:txBody>
        </p:sp>
        <p:sp>
          <p:nvSpPr>
            <p:cNvPr id="17" name="TextBox 16"/>
            <p:cNvSpPr txBox="1"/>
            <p:nvPr/>
          </p:nvSpPr>
          <p:spPr>
            <a:xfrm>
              <a:off x="6089334" y="2690925"/>
              <a:ext cx="288032" cy="369332"/>
            </a:xfrm>
            <a:prstGeom prst="rect">
              <a:avLst/>
            </a:prstGeom>
            <a:noFill/>
          </p:spPr>
          <p:txBody>
            <a:bodyPr wrap="square" rtlCol="0">
              <a:spAutoFit/>
            </a:bodyPr>
            <a:lstStyle/>
            <a:p>
              <a:r>
                <a:rPr lang="en-US" altLang="zh-CN" dirty="0"/>
                <a:t>*</a:t>
              </a:r>
              <a:endParaRPr lang="zh-CN" altLang="en-US" dirty="0"/>
            </a:p>
          </p:txBody>
        </p:sp>
      </p:grpSp>
      <p:grpSp>
        <p:nvGrpSpPr>
          <p:cNvPr id="5" name="组合 4"/>
          <p:cNvGrpSpPr/>
          <p:nvPr/>
        </p:nvGrpSpPr>
        <p:grpSpPr>
          <a:xfrm>
            <a:off x="691279" y="1203598"/>
            <a:ext cx="2397070" cy="1142853"/>
            <a:chOff x="691279" y="1203598"/>
            <a:chExt cx="2397070" cy="1142853"/>
          </a:xfrm>
        </p:grpSpPr>
        <p:sp>
          <p:nvSpPr>
            <p:cNvPr id="1048757" name="Rectangle 7"/>
            <p:cNvSpPr>
              <a:spLocks noChangeArrowheads="1"/>
            </p:cNvSpPr>
            <p:nvPr/>
          </p:nvSpPr>
          <p:spPr bwMode="auto">
            <a:xfrm>
              <a:off x="691279" y="1238455"/>
              <a:ext cx="2397070" cy="1107996"/>
            </a:xfrm>
            <a:prstGeom prst="rect">
              <a:avLst/>
            </a:prstGeom>
            <a:ln w="28575"/>
          </p:spPr>
          <p:style>
            <a:lnRef idx="2">
              <a:schemeClr val="dk1"/>
            </a:lnRef>
            <a:fillRef idx="1">
              <a:schemeClr val="lt1"/>
            </a:fillRef>
            <a:effectRef idx="0">
              <a:schemeClr val="dk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E =&gt; F * i2 + i3   </a:t>
              </a:r>
            </a:p>
            <a:p>
              <a:pPr eaLnBrk="1" hangingPunct="1">
                <a:spcBef>
                  <a:spcPct val="0"/>
                </a:spcBef>
                <a:buFontTx/>
                <a:buNone/>
              </a:pPr>
              <a:r>
                <a:rPr lang="en-US" altLang="zh-CN" sz="2200" dirty="0">
                  <a:ea typeface="华文行楷" pitchFamily="2" charset="-122"/>
                </a:rPr>
                <a:t>E =&gt; i1 * F + i3   </a:t>
              </a:r>
            </a:p>
            <a:p>
              <a:pPr eaLnBrk="1" hangingPunct="1">
                <a:spcBef>
                  <a:spcPct val="0"/>
                </a:spcBef>
                <a:buFontTx/>
                <a:buNone/>
              </a:pPr>
              <a:r>
                <a:rPr lang="en-US" altLang="zh-CN" sz="2200" dirty="0">
                  <a:ea typeface="华文行楷" pitchFamily="2" charset="-122"/>
                </a:rPr>
                <a:t>E =&gt; i1 * i2 + F </a:t>
              </a:r>
            </a:p>
          </p:txBody>
        </p:sp>
        <p:sp>
          <p:nvSpPr>
            <p:cNvPr id="18" name="TextBox 17"/>
            <p:cNvSpPr txBox="1"/>
            <p:nvPr/>
          </p:nvSpPr>
          <p:spPr>
            <a:xfrm>
              <a:off x="971600" y="1203598"/>
              <a:ext cx="288032" cy="369332"/>
            </a:xfrm>
            <a:prstGeom prst="rect">
              <a:avLst/>
            </a:prstGeom>
            <a:noFill/>
          </p:spPr>
          <p:txBody>
            <a:bodyPr wrap="square" rtlCol="0">
              <a:spAutoFit/>
            </a:bodyPr>
            <a:lstStyle/>
            <a:p>
              <a:r>
                <a:rPr lang="en-US" altLang="zh-CN" dirty="0"/>
                <a:t>*</a:t>
              </a:r>
              <a:endParaRPr lang="zh-CN" altLang="en-US" dirty="0"/>
            </a:p>
          </p:txBody>
        </p:sp>
        <p:sp>
          <p:nvSpPr>
            <p:cNvPr id="19" name="TextBox 18"/>
            <p:cNvSpPr txBox="1"/>
            <p:nvPr/>
          </p:nvSpPr>
          <p:spPr>
            <a:xfrm>
              <a:off x="971600" y="1554346"/>
              <a:ext cx="288032" cy="369332"/>
            </a:xfrm>
            <a:prstGeom prst="rect">
              <a:avLst/>
            </a:prstGeom>
            <a:noFill/>
          </p:spPr>
          <p:txBody>
            <a:bodyPr wrap="square" rtlCol="0">
              <a:spAutoFit/>
            </a:bodyPr>
            <a:lstStyle/>
            <a:p>
              <a:r>
                <a:rPr lang="en-US" altLang="zh-CN" dirty="0"/>
                <a:t>*</a:t>
              </a:r>
              <a:endParaRPr lang="zh-CN" altLang="en-US" dirty="0"/>
            </a:p>
          </p:txBody>
        </p:sp>
        <p:sp>
          <p:nvSpPr>
            <p:cNvPr id="20" name="TextBox 19"/>
            <p:cNvSpPr txBox="1"/>
            <p:nvPr/>
          </p:nvSpPr>
          <p:spPr>
            <a:xfrm>
              <a:off x="971600" y="1851670"/>
              <a:ext cx="288032" cy="369332"/>
            </a:xfrm>
            <a:prstGeom prst="rect">
              <a:avLst/>
            </a:prstGeom>
            <a:noFill/>
          </p:spPr>
          <p:txBody>
            <a:bodyPr wrap="square" rtlCol="0">
              <a:spAutoFit/>
            </a:bodyPr>
            <a:lstStyle/>
            <a:p>
              <a:r>
                <a:rPr lang="en-US" altLang="zh-CN" dirty="0"/>
                <a:t>*</a:t>
              </a:r>
              <a:endParaRPr lang="zh-CN" altLang="en-US" dirty="0"/>
            </a:p>
          </p:txBody>
        </p:sp>
      </p:grpSp>
      <p:grpSp>
        <p:nvGrpSpPr>
          <p:cNvPr id="6" name="组合 5"/>
          <p:cNvGrpSpPr/>
          <p:nvPr/>
        </p:nvGrpSpPr>
        <p:grpSpPr>
          <a:xfrm>
            <a:off x="5752880" y="1410330"/>
            <a:ext cx="2397070" cy="761217"/>
            <a:chOff x="5783186" y="1585234"/>
            <a:chExt cx="2397070" cy="761217"/>
          </a:xfrm>
        </p:grpSpPr>
        <p:sp>
          <p:nvSpPr>
            <p:cNvPr id="15" name="Rectangle 7"/>
            <p:cNvSpPr>
              <a:spLocks noChangeArrowheads="1"/>
            </p:cNvSpPr>
            <p:nvPr/>
          </p:nvSpPr>
          <p:spPr bwMode="auto">
            <a:xfrm>
              <a:off x="5783186" y="1644720"/>
              <a:ext cx="2397070" cy="701731"/>
            </a:xfrm>
            <a:prstGeom prst="rect">
              <a:avLst/>
            </a:prstGeom>
            <a:ln w="28575"/>
          </p:spPr>
          <p:style>
            <a:lnRef idx="2">
              <a:schemeClr val="dk1"/>
            </a:lnRef>
            <a:fillRef idx="1">
              <a:schemeClr val="lt1"/>
            </a:fillRef>
            <a:effectRef idx="0">
              <a:schemeClr val="dk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nSpc>
                  <a:spcPct val="90000"/>
                </a:lnSpc>
                <a:spcBef>
                  <a:spcPts val="0"/>
                </a:spcBef>
                <a:buNone/>
              </a:pPr>
              <a:r>
                <a:rPr lang="en-US" altLang="zh-CN" sz="2200" dirty="0">
                  <a:ea typeface="BatangChe" panose="02030609000101010101" pitchFamily="49" charset="-127"/>
                  <a:cs typeface="Times New Roman" panose="02020603050405020304" pitchFamily="18" charset="0"/>
                </a:rPr>
                <a:t>E =&gt; T + i3</a:t>
              </a:r>
            </a:p>
            <a:p>
              <a:pPr lvl="0">
                <a:lnSpc>
                  <a:spcPct val="90000"/>
                </a:lnSpc>
                <a:spcBef>
                  <a:spcPts val="0"/>
                </a:spcBef>
                <a:buNone/>
              </a:pPr>
              <a:r>
                <a:rPr lang="en-US" altLang="zh-CN" sz="2200" dirty="0">
                  <a:ea typeface="BatangChe" panose="02030609000101010101" pitchFamily="49" charset="-127"/>
                  <a:cs typeface="Times New Roman" panose="02020603050405020304" pitchFamily="18" charset="0"/>
                </a:rPr>
                <a:t>T =&gt;T*F =&gt;i1*i2  </a:t>
              </a:r>
            </a:p>
          </p:txBody>
        </p:sp>
        <p:sp>
          <p:nvSpPr>
            <p:cNvPr id="4" name="TextBox 3"/>
            <p:cNvSpPr txBox="1"/>
            <p:nvPr/>
          </p:nvSpPr>
          <p:spPr>
            <a:xfrm>
              <a:off x="6084168" y="1585234"/>
              <a:ext cx="288032" cy="369332"/>
            </a:xfrm>
            <a:prstGeom prst="rect">
              <a:avLst/>
            </a:prstGeom>
            <a:noFill/>
          </p:spPr>
          <p:txBody>
            <a:bodyPr wrap="square" rtlCol="0">
              <a:spAutoFit/>
            </a:bodyPr>
            <a:lstStyle/>
            <a:p>
              <a:r>
                <a:rPr lang="en-US" altLang="zh-CN" dirty="0"/>
                <a:t>*</a:t>
              </a:r>
              <a:endParaRPr lang="zh-CN" altLang="en-US" dirty="0"/>
            </a:p>
          </p:txBody>
        </p:sp>
        <p:sp>
          <p:nvSpPr>
            <p:cNvPr id="22" name="TextBox 21"/>
            <p:cNvSpPr txBox="1"/>
            <p:nvPr/>
          </p:nvSpPr>
          <p:spPr>
            <a:xfrm>
              <a:off x="6876256" y="1879169"/>
              <a:ext cx="288032" cy="369332"/>
            </a:xfrm>
            <a:prstGeom prst="rect">
              <a:avLst/>
            </a:prstGeom>
            <a:noFill/>
          </p:spPr>
          <p:txBody>
            <a:bodyPr wrap="square" rtlCol="0">
              <a:spAutoFit/>
            </a:bodyPr>
            <a:lstStyle/>
            <a:p>
              <a:r>
                <a:rPr lang="en-US" altLang="zh-CN" dirty="0"/>
                <a:t>*</a:t>
              </a:r>
              <a:endParaRPr lang="zh-CN" altLang="en-US" dirty="0"/>
            </a:p>
          </p:txBody>
        </p:sp>
      </p:grpSp>
    </p:spTree>
    <p:extLst>
      <p:ext uri="{BB962C8B-B14F-4D97-AF65-F5344CB8AC3E}">
        <p14:creationId xmlns:p14="http://schemas.microsoft.com/office/powerpoint/2010/main" val="903996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04875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1048756"/>
                                        </p:tgtEl>
                                        <p:attrNameLst>
                                          <p:attrName>style.visibility</p:attrName>
                                        </p:attrNameLst>
                                      </p:cBhvr>
                                      <p:to>
                                        <p:strVal val="visible"/>
                                      </p:to>
                                    </p:set>
                                    <p:animEffect transition="in" filter="box(in)">
                                      <p:cBhvr>
                                        <p:cTn id="23" dur="500"/>
                                        <p:tgtEl>
                                          <p:spTgt spid="1048756"/>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756" grpId="0" autoUpdateAnimBg="0"/>
      <p:bldP spid="1048759" grpId="0" animBg="1" autoUpdateAnimBg="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79" name="Rectangle 3"/>
          <p:cNvSpPr>
            <a:spLocks noGrp="1" noChangeArrowheads="1"/>
          </p:cNvSpPr>
          <p:nvPr>
            <p:ph type="body" idx="1"/>
          </p:nvPr>
        </p:nvSpPr>
        <p:spPr>
          <a:xfrm>
            <a:off x="334963" y="267494"/>
            <a:ext cx="5795962" cy="2440750"/>
          </a:xfrm>
          <a:solidFill>
            <a:schemeClr val="bg1"/>
          </a:solidFill>
          <a:ln w="28575">
            <a:solidFill>
              <a:srgbClr val="0000FF"/>
            </a:solidFill>
            <a:miter lim="800000"/>
            <a:headEnd/>
            <a:tailEnd/>
          </a:ln>
        </p:spPr>
        <p:txBody>
          <a:bodyPr>
            <a:noAutofit/>
          </a:bodyPr>
          <a:lstStyle/>
          <a:p>
            <a:pPr eaLnBrk="1" hangingPunct="1">
              <a:lnSpc>
                <a:spcPct val="90000"/>
              </a:lnSpc>
              <a:buFontTx/>
              <a:buNone/>
            </a:pPr>
            <a:r>
              <a:rPr lang="zh-CN" altLang="en-US" sz="2200" dirty="0">
                <a:latin typeface="宋体" panose="02010600030101010101" pitchFamily="2" charset="-122"/>
                <a:ea typeface="宋体" panose="02010600030101010101" pitchFamily="2" charset="-122"/>
              </a:rPr>
              <a:t>从语法树来识别：</a:t>
            </a:r>
          </a:p>
          <a:p>
            <a:pPr eaLnBrk="1" hangingPunct="1">
              <a:lnSpc>
                <a:spcPct val="90000"/>
              </a:lnSpc>
            </a:pPr>
            <a:r>
              <a:rPr lang="zh-CN" altLang="en-US" sz="2200" dirty="0">
                <a:latin typeface="宋体" panose="02010600030101010101" pitchFamily="2" charset="-122"/>
                <a:ea typeface="宋体" panose="02010600030101010101" pitchFamily="2" charset="-122"/>
              </a:rPr>
              <a:t>一棵</a:t>
            </a:r>
            <a:r>
              <a:rPr lang="zh-CN" altLang="en-US" sz="2200" b="1" dirty="0">
                <a:solidFill>
                  <a:schemeClr val="accent2"/>
                </a:solidFill>
                <a:latin typeface="宋体" panose="02010600030101010101" pitchFamily="2" charset="-122"/>
                <a:ea typeface="宋体" panose="02010600030101010101" pitchFamily="2" charset="-122"/>
              </a:rPr>
              <a:t>子树</a:t>
            </a:r>
            <a:r>
              <a:rPr lang="zh-CN" altLang="en-US" sz="2200" dirty="0">
                <a:latin typeface="宋体" panose="02010600030101010101" pitchFamily="2" charset="-122"/>
                <a:ea typeface="宋体" panose="02010600030101010101" pitchFamily="2" charset="-122"/>
              </a:rPr>
              <a:t>是由树的某个结点连同它的所有子孙组成的。</a:t>
            </a:r>
          </a:p>
          <a:p>
            <a:pPr eaLnBrk="1" hangingPunct="1">
              <a:lnSpc>
                <a:spcPct val="90000"/>
              </a:lnSpc>
            </a:pPr>
            <a:r>
              <a:rPr lang="zh-CN" altLang="en-US" sz="2200" dirty="0">
                <a:latin typeface="宋体" panose="02010600030101010101" pitchFamily="2" charset="-122"/>
                <a:ea typeface="宋体" panose="02010600030101010101" pitchFamily="2" charset="-122"/>
              </a:rPr>
              <a:t>子树的所有端末结点自左至右排列成一个相对子树根的</a:t>
            </a:r>
            <a:r>
              <a:rPr lang="zh-CN" altLang="en-US" sz="2200" b="1" dirty="0">
                <a:solidFill>
                  <a:schemeClr val="accent2"/>
                </a:solidFill>
                <a:latin typeface="宋体" panose="02010600030101010101" pitchFamily="2" charset="-122"/>
                <a:ea typeface="宋体" panose="02010600030101010101" pitchFamily="2" charset="-122"/>
              </a:rPr>
              <a:t>短语</a:t>
            </a:r>
            <a:r>
              <a:rPr lang="zh-CN" altLang="en-US" sz="2200" b="1" dirty="0">
                <a:latin typeface="宋体" panose="02010600030101010101" pitchFamily="2" charset="-122"/>
                <a:ea typeface="宋体" panose="02010600030101010101" pitchFamily="2" charset="-122"/>
              </a:rPr>
              <a:t>。</a:t>
            </a:r>
          </a:p>
          <a:p>
            <a:pPr eaLnBrk="1" hangingPunct="1">
              <a:lnSpc>
                <a:spcPct val="90000"/>
              </a:lnSpc>
            </a:pPr>
            <a:r>
              <a:rPr lang="zh-CN" altLang="en-US" sz="2200" b="1" dirty="0">
                <a:solidFill>
                  <a:schemeClr val="accent2"/>
                </a:solidFill>
                <a:latin typeface="宋体" panose="02010600030101010101" pitchFamily="2" charset="-122"/>
                <a:ea typeface="宋体" panose="02010600030101010101" pitchFamily="2" charset="-122"/>
              </a:rPr>
              <a:t>直接短语</a:t>
            </a:r>
            <a:r>
              <a:rPr lang="zh-CN" altLang="en-US" sz="2200" b="1"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只有父子两代结点形成的短语。</a:t>
            </a:r>
          </a:p>
          <a:p>
            <a:pPr eaLnBrk="1" hangingPunct="1">
              <a:lnSpc>
                <a:spcPct val="90000"/>
              </a:lnSpc>
            </a:pPr>
            <a:r>
              <a:rPr lang="zh-CN" altLang="en-US" sz="2200" b="1" dirty="0">
                <a:solidFill>
                  <a:schemeClr val="accent2"/>
                </a:solidFill>
                <a:latin typeface="宋体" panose="02010600030101010101" pitchFamily="2" charset="-122"/>
                <a:ea typeface="宋体" panose="02010600030101010101" pitchFamily="2" charset="-122"/>
              </a:rPr>
              <a:t>句柄</a:t>
            </a:r>
            <a:r>
              <a:rPr lang="zh-CN" altLang="en-US" sz="2200" b="1"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最左子树的直接短语。</a:t>
            </a:r>
          </a:p>
        </p:txBody>
      </p:sp>
      <p:grpSp>
        <p:nvGrpSpPr>
          <p:cNvPr id="81" name="Group 26"/>
          <p:cNvGrpSpPr/>
          <p:nvPr/>
        </p:nvGrpSpPr>
        <p:grpSpPr bwMode="auto">
          <a:xfrm>
            <a:off x="6156326" y="-92879"/>
            <a:ext cx="2855912" cy="3752067"/>
            <a:chOff x="3473" y="489"/>
            <a:chExt cx="1799" cy="3151"/>
          </a:xfrm>
        </p:grpSpPr>
        <p:sp>
          <p:nvSpPr>
            <p:cNvPr id="1048780" name="Text Box 4"/>
            <p:cNvSpPr txBox="1">
              <a:spLocks noChangeArrowheads="1"/>
            </p:cNvSpPr>
            <p:nvPr/>
          </p:nvSpPr>
          <p:spPr bwMode="auto">
            <a:xfrm>
              <a:off x="4199" y="489"/>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E</a:t>
              </a:r>
            </a:p>
          </p:txBody>
        </p:sp>
        <p:sp>
          <p:nvSpPr>
            <p:cNvPr id="1048781" name="Text Box 5"/>
            <p:cNvSpPr txBox="1">
              <a:spLocks noChangeArrowheads="1"/>
            </p:cNvSpPr>
            <p:nvPr/>
          </p:nvSpPr>
          <p:spPr bwMode="auto">
            <a:xfrm>
              <a:off x="4067" y="1075"/>
              <a:ext cx="834"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E   +    T</a:t>
              </a:r>
            </a:p>
          </p:txBody>
        </p:sp>
        <p:sp>
          <p:nvSpPr>
            <p:cNvPr id="1048782" name="Text Box 6"/>
            <p:cNvSpPr txBox="1">
              <a:spLocks noChangeArrowheads="1"/>
            </p:cNvSpPr>
            <p:nvPr/>
          </p:nvSpPr>
          <p:spPr bwMode="auto">
            <a:xfrm>
              <a:off x="3881" y="1517"/>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T</a:t>
              </a:r>
            </a:p>
          </p:txBody>
        </p:sp>
        <p:sp>
          <p:nvSpPr>
            <p:cNvPr id="1048783" name="Text Box 7"/>
            <p:cNvSpPr txBox="1">
              <a:spLocks noChangeArrowheads="1"/>
            </p:cNvSpPr>
            <p:nvPr/>
          </p:nvSpPr>
          <p:spPr bwMode="auto">
            <a:xfrm>
              <a:off x="4652" y="1517"/>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F</a:t>
              </a:r>
            </a:p>
          </p:txBody>
        </p:sp>
        <p:sp>
          <p:nvSpPr>
            <p:cNvPr id="1048784" name="Text Box 8"/>
            <p:cNvSpPr txBox="1">
              <a:spLocks noChangeArrowheads="1"/>
            </p:cNvSpPr>
            <p:nvPr/>
          </p:nvSpPr>
          <p:spPr bwMode="auto">
            <a:xfrm>
              <a:off x="4834" y="2081"/>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i3</a:t>
              </a:r>
            </a:p>
          </p:txBody>
        </p:sp>
        <p:sp>
          <p:nvSpPr>
            <p:cNvPr id="1048785" name="Text Box 10"/>
            <p:cNvSpPr txBox="1">
              <a:spLocks noChangeArrowheads="1"/>
            </p:cNvSpPr>
            <p:nvPr/>
          </p:nvSpPr>
          <p:spPr bwMode="auto">
            <a:xfrm>
              <a:off x="4153" y="2776"/>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i2</a:t>
              </a:r>
            </a:p>
          </p:txBody>
        </p:sp>
        <p:sp>
          <p:nvSpPr>
            <p:cNvPr id="1048786" name="Text Box 11"/>
            <p:cNvSpPr txBox="1">
              <a:spLocks noChangeArrowheads="1"/>
            </p:cNvSpPr>
            <p:nvPr/>
          </p:nvSpPr>
          <p:spPr bwMode="auto">
            <a:xfrm>
              <a:off x="3473" y="3252"/>
              <a:ext cx="438"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i1</a:t>
              </a:r>
            </a:p>
          </p:txBody>
        </p:sp>
        <p:sp>
          <p:nvSpPr>
            <p:cNvPr id="1048787" name="Text Box 12"/>
            <p:cNvSpPr txBox="1">
              <a:spLocks noChangeArrowheads="1"/>
            </p:cNvSpPr>
            <p:nvPr/>
          </p:nvSpPr>
          <p:spPr bwMode="auto">
            <a:xfrm>
              <a:off x="3609" y="2062"/>
              <a:ext cx="834"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T    *    F</a:t>
              </a:r>
            </a:p>
          </p:txBody>
        </p:sp>
        <p:sp>
          <p:nvSpPr>
            <p:cNvPr id="1048788" name="Text Box 13"/>
            <p:cNvSpPr txBox="1">
              <a:spLocks noChangeArrowheads="1"/>
            </p:cNvSpPr>
            <p:nvPr/>
          </p:nvSpPr>
          <p:spPr bwMode="auto">
            <a:xfrm>
              <a:off x="3518" y="2666"/>
              <a:ext cx="301" cy="388"/>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F</a:t>
              </a:r>
            </a:p>
          </p:txBody>
        </p:sp>
        <p:sp>
          <p:nvSpPr>
            <p:cNvPr id="1048789" name="Line 14"/>
            <p:cNvSpPr>
              <a:spLocks noChangeShapeType="1"/>
            </p:cNvSpPr>
            <p:nvPr/>
          </p:nvSpPr>
          <p:spPr bwMode="auto">
            <a:xfrm flipH="1">
              <a:off x="4195" y="817"/>
              <a:ext cx="224" cy="309"/>
            </a:xfrm>
            <a:prstGeom prst="line">
              <a:avLst/>
            </a:prstGeom>
            <a:noFill/>
            <a:ln w="9525">
              <a:solidFill>
                <a:schemeClr val="tx1"/>
              </a:solidFill>
              <a:round/>
              <a:headEnd/>
              <a:tailEnd/>
            </a:ln>
          </p:spPr>
          <p:txBody>
            <a:bodyPr/>
            <a:lstStyle/>
            <a:p>
              <a:endParaRPr lang="zh-CN" altLang="en-US"/>
            </a:p>
          </p:txBody>
        </p:sp>
        <p:sp>
          <p:nvSpPr>
            <p:cNvPr id="1048790" name="Line 15"/>
            <p:cNvSpPr>
              <a:spLocks noChangeShapeType="1"/>
            </p:cNvSpPr>
            <p:nvPr/>
          </p:nvSpPr>
          <p:spPr bwMode="auto">
            <a:xfrm>
              <a:off x="4436" y="825"/>
              <a:ext cx="0" cy="318"/>
            </a:xfrm>
            <a:prstGeom prst="line">
              <a:avLst/>
            </a:prstGeom>
            <a:noFill/>
            <a:ln w="9525">
              <a:solidFill>
                <a:schemeClr val="tx1"/>
              </a:solidFill>
              <a:round/>
              <a:headEnd/>
              <a:tailEnd/>
            </a:ln>
          </p:spPr>
          <p:txBody>
            <a:bodyPr/>
            <a:lstStyle/>
            <a:p>
              <a:endParaRPr lang="zh-CN" altLang="en-US"/>
            </a:p>
          </p:txBody>
        </p:sp>
        <p:sp>
          <p:nvSpPr>
            <p:cNvPr id="1048791" name="Line 16"/>
            <p:cNvSpPr>
              <a:spLocks noChangeShapeType="1"/>
            </p:cNvSpPr>
            <p:nvPr/>
          </p:nvSpPr>
          <p:spPr bwMode="auto">
            <a:xfrm>
              <a:off x="4445" y="825"/>
              <a:ext cx="301" cy="293"/>
            </a:xfrm>
            <a:prstGeom prst="line">
              <a:avLst/>
            </a:prstGeom>
            <a:noFill/>
            <a:ln w="9525">
              <a:solidFill>
                <a:schemeClr val="tx1"/>
              </a:solidFill>
              <a:round/>
              <a:headEnd/>
              <a:tailEnd/>
            </a:ln>
          </p:spPr>
          <p:txBody>
            <a:bodyPr/>
            <a:lstStyle/>
            <a:p>
              <a:endParaRPr lang="zh-CN" altLang="en-US"/>
            </a:p>
          </p:txBody>
        </p:sp>
        <p:sp>
          <p:nvSpPr>
            <p:cNvPr id="1048792" name="Line 17"/>
            <p:cNvSpPr>
              <a:spLocks noChangeShapeType="1"/>
            </p:cNvSpPr>
            <p:nvPr/>
          </p:nvSpPr>
          <p:spPr bwMode="auto">
            <a:xfrm flipH="1">
              <a:off x="4092" y="1315"/>
              <a:ext cx="86" cy="310"/>
            </a:xfrm>
            <a:prstGeom prst="line">
              <a:avLst/>
            </a:prstGeom>
            <a:noFill/>
            <a:ln w="9525">
              <a:solidFill>
                <a:schemeClr val="tx1"/>
              </a:solidFill>
              <a:round/>
              <a:headEnd/>
              <a:tailEnd/>
            </a:ln>
          </p:spPr>
          <p:txBody>
            <a:bodyPr/>
            <a:lstStyle/>
            <a:p>
              <a:endParaRPr lang="zh-CN" altLang="en-US"/>
            </a:p>
          </p:txBody>
        </p:sp>
        <p:sp>
          <p:nvSpPr>
            <p:cNvPr id="1048793" name="Line 18"/>
            <p:cNvSpPr>
              <a:spLocks noChangeShapeType="1"/>
            </p:cNvSpPr>
            <p:nvPr/>
          </p:nvSpPr>
          <p:spPr bwMode="auto">
            <a:xfrm>
              <a:off x="4771" y="1315"/>
              <a:ext cx="78" cy="293"/>
            </a:xfrm>
            <a:prstGeom prst="line">
              <a:avLst/>
            </a:prstGeom>
            <a:noFill/>
            <a:ln w="9525">
              <a:solidFill>
                <a:schemeClr val="tx1"/>
              </a:solidFill>
              <a:round/>
              <a:headEnd/>
              <a:tailEnd/>
            </a:ln>
          </p:spPr>
          <p:txBody>
            <a:bodyPr/>
            <a:lstStyle/>
            <a:p>
              <a:endParaRPr lang="zh-CN" altLang="en-US"/>
            </a:p>
          </p:txBody>
        </p:sp>
        <p:sp>
          <p:nvSpPr>
            <p:cNvPr id="1048794" name="Line 19"/>
            <p:cNvSpPr>
              <a:spLocks noChangeShapeType="1"/>
            </p:cNvSpPr>
            <p:nvPr/>
          </p:nvSpPr>
          <p:spPr bwMode="auto">
            <a:xfrm flipH="1">
              <a:off x="3765" y="1831"/>
              <a:ext cx="319" cy="310"/>
            </a:xfrm>
            <a:prstGeom prst="line">
              <a:avLst/>
            </a:prstGeom>
            <a:noFill/>
            <a:ln w="9525">
              <a:solidFill>
                <a:schemeClr val="tx1"/>
              </a:solidFill>
              <a:round/>
              <a:headEnd/>
              <a:tailEnd/>
            </a:ln>
          </p:spPr>
          <p:txBody>
            <a:bodyPr/>
            <a:lstStyle/>
            <a:p>
              <a:endParaRPr lang="zh-CN" altLang="en-US"/>
            </a:p>
          </p:txBody>
        </p:sp>
        <p:sp>
          <p:nvSpPr>
            <p:cNvPr id="1048795" name="Line 20"/>
            <p:cNvSpPr>
              <a:spLocks noChangeShapeType="1"/>
            </p:cNvSpPr>
            <p:nvPr/>
          </p:nvSpPr>
          <p:spPr bwMode="auto">
            <a:xfrm flipH="1">
              <a:off x="4015" y="1848"/>
              <a:ext cx="86" cy="267"/>
            </a:xfrm>
            <a:prstGeom prst="line">
              <a:avLst/>
            </a:prstGeom>
            <a:noFill/>
            <a:ln w="9525">
              <a:solidFill>
                <a:schemeClr val="tx1"/>
              </a:solidFill>
              <a:round/>
              <a:headEnd/>
              <a:tailEnd/>
            </a:ln>
          </p:spPr>
          <p:txBody>
            <a:bodyPr/>
            <a:lstStyle/>
            <a:p>
              <a:endParaRPr lang="zh-CN" altLang="en-US"/>
            </a:p>
          </p:txBody>
        </p:sp>
        <p:sp>
          <p:nvSpPr>
            <p:cNvPr id="1048796" name="Line 21"/>
            <p:cNvSpPr>
              <a:spLocks noChangeShapeType="1"/>
            </p:cNvSpPr>
            <p:nvPr/>
          </p:nvSpPr>
          <p:spPr bwMode="auto">
            <a:xfrm>
              <a:off x="4101" y="1848"/>
              <a:ext cx="198" cy="301"/>
            </a:xfrm>
            <a:prstGeom prst="line">
              <a:avLst/>
            </a:prstGeom>
            <a:noFill/>
            <a:ln w="9525">
              <a:solidFill>
                <a:schemeClr val="tx1"/>
              </a:solidFill>
              <a:round/>
              <a:headEnd/>
              <a:tailEnd/>
            </a:ln>
          </p:spPr>
          <p:txBody>
            <a:bodyPr/>
            <a:lstStyle/>
            <a:p>
              <a:endParaRPr lang="zh-CN" altLang="en-US"/>
            </a:p>
          </p:txBody>
        </p:sp>
        <p:sp>
          <p:nvSpPr>
            <p:cNvPr id="1048797" name="Line 22"/>
            <p:cNvSpPr>
              <a:spLocks noChangeShapeType="1"/>
            </p:cNvSpPr>
            <p:nvPr/>
          </p:nvSpPr>
          <p:spPr bwMode="auto">
            <a:xfrm>
              <a:off x="4900" y="1788"/>
              <a:ext cx="112" cy="335"/>
            </a:xfrm>
            <a:prstGeom prst="line">
              <a:avLst/>
            </a:prstGeom>
            <a:noFill/>
            <a:ln w="9525">
              <a:solidFill>
                <a:schemeClr val="tx1"/>
              </a:solidFill>
              <a:round/>
              <a:headEnd/>
              <a:tailEnd/>
            </a:ln>
          </p:spPr>
          <p:txBody>
            <a:bodyPr/>
            <a:lstStyle/>
            <a:p>
              <a:endParaRPr lang="zh-CN" altLang="en-US"/>
            </a:p>
          </p:txBody>
        </p:sp>
        <p:sp>
          <p:nvSpPr>
            <p:cNvPr id="1048798" name="Line 23"/>
            <p:cNvSpPr>
              <a:spLocks noChangeShapeType="1"/>
            </p:cNvSpPr>
            <p:nvPr/>
          </p:nvSpPr>
          <p:spPr bwMode="auto">
            <a:xfrm flipH="1">
              <a:off x="3671" y="2347"/>
              <a:ext cx="77" cy="447"/>
            </a:xfrm>
            <a:prstGeom prst="line">
              <a:avLst/>
            </a:prstGeom>
            <a:noFill/>
            <a:ln w="9525">
              <a:solidFill>
                <a:schemeClr val="tx1"/>
              </a:solidFill>
              <a:round/>
              <a:headEnd/>
              <a:tailEnd/>
            </a:ln>
          </p:spPr>
          <p:txBody>
            <a:bodyPr/>
            <a:lstStyle/>
            <a:p>
              <a:endParaRPr lang="zh-CN" altLang="en-US"/>
            </a:p>
          </p:txBody>
        </p:sp>
        <p:sp>
          <p:nvSpPr>
            <p:cNvPr id="1048799" name="Line 24"/>
            <p:cNvSpPr>
              <a:spLocks noChangeShapeType="1"/>
            </p:cNvSpPr>
            <p:nvPr/>
          </p:nvSpPr>
          <p:spPr bwMode="auto">
            <a:xfrm flipH="1">
              <a:off x="3654" y="2975"/>
              <a:ext cx="0" cy="300"/>
            </a:xfrm>
            <a:prstGeom prst="line">
              <a:avLst/>
            </a:prstGeom>
            <a:noFill/>
            <a:ln w="9525">
              <a:solidFill>
                <a:schemeClr val="tx1"/>
              </a:solidFill>
              <a:round/>
              <a:headEnd/>
              <a:tailEnd/>
            </a:ln>
          </p:spPr>
          <p:txBody>
            <a:bodyPr/>
            <a:lstStyle/>
            <a:p>
              <a:endParaRPr lang="zh-CN" altLang="en-US"/>
            </a:p>
          </p:txBody>
        </p:sp>
        <p:sp>
          <p:nvSpPr>
            <p:cNvPr id="1048800" name="Line 25"/>
            <p:cNvSpPr>
              <a:spLocks noChangeShapeType="1"/>
            </p:cNvSpPr>
            <p:nvPr/>
          </p:nvSpPr>
          <p:spPr bwMode="auto">
            <a:xfrm>
              <a:off x="4299" y="2338"/>
              <a:ext cx="43" cy="473"/>
            </a:xfrm>
            <a:prstGeom prst="line">
              <a:avLst/>
            </a:prstGeom>
            <a:noFill/>
            <a:ln w="9525">
              <a:solidFill>
                <a:schemeClr val="tx1"/>
              </a:solidFill>
              <a:round/>
              <a:headEnd/>
              <a:tailEnd/>
            </a:ln>
          </p:spPr>
          <p:txBody>
            <a:bodyPr/>
            <a:lstStyle/>
            <a:p>
              <a:endParaRPr lang="zh-CN" altLang="en-US"/>
            </a:p>
          </p:txBody>
        </p:sp>
      </p:grpSp>
      <p:sp>
        <p:nvSpPr>
          <p:cNvPr id="1048801" name="Text Box 27"/>
          <p:cNvSpPr txBox="1">
            <a:spLocks noChangeArrowheads="1"/>
          </p:cNvSpPr>
          <p:nvPr/>
        </p:nvSpPr>
        <p:spPr bwMode="auto">
          <a:xfrm>
            <a:off x="323528" y="3219822"/>
            <a:ext cx="5832797" cy="1815882"/>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None/>
            </a:pPr>
            <a:r>
              <a:rPr lang="zh-CN" altLang="en-US" sz="2000" dirty="0">
                <a:latin typeface="宋体" panose="02010600030101010101" pitchFamily="2" charset="-122"/>
              </a:rPr>
              <a:t>从语法树可以看出：</a:t>
            </a:r>
          </a:p>
          <a:p>
            <a:pPr marL="342900" indent="-342900"/>
            <a:r>
              <a:rPr lang="en-US" altLang="zh-CN" sz="2000" dirty="0">
                <a:latin typeface="宋体" panose="02010600030101010101" pitchFamily="2" charset="-122"/>
              </a:rPr>
              <a:t>i1,  i2,  i3,  i1*i2,  i1*i2+i3</a:t>
            </a:r>
            <a:r>
              <a:rPr lang="zh-CN" altLang="en-US" sz="2000" dirty="0">
                <a:latin typeface="宋体" panose="02010600030101010101" pitchFamily="2" charset="-122"/>
              </a:rPr>
              <a:t>是句型</a:t>
            </a:r>
            <a:r>
              <a:rPr lang="en-US" altLang="zh-CN" sz="2000" dirty="0">
                <a:latin typeface="宋体" panose="02010600030101010101" pitchFamily="2" charset="-122"/>
              </a:rPr>
              <a:t>i1*i2+i3</a:t>
            </a:r>
            <a:r>
              <a:rPr lang="zh-CN" altLang="en-US" sz="2000" dirty="0">
                <a:latin typeface="宋体" panose="02010600030101010101" pitchFamily="2" charset="-122"/>
              </a:rPr>
              <a:t>的短语</a:t>
            </a:r>
          </a:p>
          <a:p>
            <a:pPr marL="342900" indent="-342900"/>
            <a:endParaRPr lang="en-US" altLang="zh-CN" sz="2000" dirty="0">
              <a:latin typeface="宋体" panose="02010600030101010101" pitchFamily="2" charset="-122"/>
            </a:endParaRPr>
          </a:p>
          <a:p>
            <a:pPr marL="342900" indent="-342900"/>
            <a:endParaRPr lang="zh-CN" altLang="en-US" sz="2000" dirty="0">
              <a:latin typeface="宋体" panose="02010600030101010101" pitchFamily="2" charset="-122"/>
            </a:endParaRPr>
          </a:p>
        </p:txBody>
      </p:sp>
      <p:sp>
        <p:nvSpPr>
          <p:cNvPr id="1048802" name="Text Box 28"/>
          <p:cNvSpPr txBox="1">
            <a:spLocks noChangeArrowheads="1"/>
          </p:cNvSpPr>
          <p:nvPr/>
        </p:nvSpPr>
        <p:spPr bwMode="auto">
          <a:xfrm>
            <a:off x="7535863" y="3573472"/>
            <a:ext cx="1507374" cy="1107996"/>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200" dirty="0">
                <a:latin typeface="宋体" panose="02010600030101010101" pitchFamily="2" charset="-122"/>
              </a:rPr>
              <a:t>E</a:t>
            </a:r>
            <a:r>
              <a:rPr lang="en-US" altLang="zh-CN" sz="2200" dirty="0">
                <a:latin typeface="宋体" panose="02010600030101010101" pitchFamily="2" charset="-122"/>
                <a:sym typeface="Wingdings" pitchFamily="2" charset="2"/>
              </a:rPr>
              <a:t>T|E+T</a:t>
            </a:r>
          </a:p>
          <a:p>
            <a:pPr eaLnBrk="1" hangingPunct="1">
              <a:spcBef>
                <a:spcPts val="0"/>
              </a:spcBef>
              <a:buFontTx/>
              <a:buNone/>
            </a:pPr>
            <a:r>
              <a:rPr lang="en-US" altLang="zh-CN" sz="2200" dirty="0">
                <a:latin typeface="宋体" panose="02010600030101010101" pitchFamily="2" charset="-122"/>
                <a:sym typeface="Wingdings" pitchFamily="2" charset="2"/>
              </a:rPr>
              <a:t>TF|T*F</a:t>
            </a:r>
          </a:p>
          <a:p>
            <a:pPr eaLnBrk="1" hangingPunct="1">
              <a:spcBef>
                <a:spcPts val="0"/>
              </a:spcBef>
              <a:buFontTx/>
              <a:buNone/>
            </a:pPr>
            <a:r>
              <a:rPr lang="en-US" altLang="zh-CN" sz="2200" dirty="0" err="1">
                <a:latin typeface="宋体" panose="02010600030101010101" pitchFamily="2" charset="-122"/>
              </a:rPr>
              <a:t>F</a:t>
            </a:r>
            <a:r>
              <a:rPr lang="en-US" altLang="zh-CN" sz="2200" dirty="0" err="1">
                <a:latin typeface="宋体" panose="02010600030101010101" pitchFamily="2" charset="-122"/>
                <a:sym typeface="Wingdings" pitchFamily="2" charset="2"/>
              </a:rPr>
              <a:t>i</a:t>
            </a:r>
            <a:r>
              <a:rPr lang="en-US" altLang="zh-CN" sz="2200" dirty="0">
                <a:latin typeface="宋体" panose="02010600030101010101" pitchFamily="2" charset="-122"/>
                <a:sym typeface="Wingdings" pitchFamily="2" charset="2"/>
              </a:rPr>
              <a:t>|(E)</a:t>
            </a:r>
            <a:endParaRPr lang="en-US" altLang="zh-CN" sz="2200" dirty="0">
              <a:latin typeface="宋体" panose="02010600030101010101" pitchFamily="2" charset="-122"/>
            </a:endParaRPr>
          </a:p>
        </p:txBody>
      </p:sp>
      <p:sp>
        <p:nvSpPr>
          <p:cNvPr id="1048803" name="Text Box 29"/>
          <p:cNvSpPr txBox="1">
            <a:spLocks noChangeArrowheads="1"/>
          </p:cNvSpPr>
          <p:nvPr/>
        </p:nvSpPr>
        <p:spPr bwMode="auto">
          <a:xfrm>
            <a:off x="0" y="2760663"/>
            <a:ext cx="5934075" cy="430887"/>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200" dirty="0">
                <a:latin typeface="宋体" panose="02010600030101010101" pitchFamily="2" charset="-122"/>
              </a:rPr>
              <a:t>句型</a:t>
            </a:r>
            <a:r>
              <a:rPr lang="en-US" altLang="zh-CN" sz="2200" dirty="0">
                <a:latin typeface="宋体" panose="02010600030101010101" pitchFamily="2" charset="-122"/>
              </a:rPr>
              <a:t>i1*i2+i3</a:t>
            </a:r>
            <a:r>
              <a:rPr lang="zh-CN" altLang="en-US" sz="2200" dirty="0">
                <a:latin typeface="宋体" panose="02010600030101010101" pitchFamily="2" charset="-122"/>
              </a:rPr>
              <a:t>的语法树如图：</a:t>
            </a:r>
          </a:p>
        </p:txBody>
      </p:sp>
      <p:sp>
        <p:nvSpPr>
          <p:cNvPr id="28" name="Text Box 27"/>
          <p:cNvSpPr txBox="1">
            <a:spLocks noChangeArrowheads="1"/>
          </p:cNvSpPr>
          <p:nvPr/>
        </p:nvSpPr>
        <p:spPr bwMode="auto">
          <a:xfrm>
            <a:off x="323528" y="4259872"/>
            <a:ext cx="5832797" cy="400110"/>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r>
              <a:rPr lang="zh-CN" altLang="en-US" sz="2000" dirty="0">
                <a:latin typeface="宋体" panose="02010600030101010101" pitchFamily="2" charset="-122"/>
              </a:rPr>
              <a:t>直接短语有：</a:t>
            </a:r>
            <a:r>
              <a:rPr lang="en-US" altLang="zh-CN" sz="2000" dirty="0">
                <a:latin typeface="宋体" panose="02010600030101010101" pitchFamily="2" charset="-122"/>
              </a:rPr>
              <a:t>i1, i2 , i3 </a:t>
            </a:r>
          </a:p>
        </p:txBody>
      </p:sp>
      <p:sp>
        <p:nvSpPr>
          <p:cNvPr id="29" name="Text Box 27"/>
          <p:cNvSpPr txBox="1">
            <a:spLocks noChangeArrowheads="1"/>
          </p:cNvSpPr>
          <p:nvPr/>
        </p:nvSpPr>
        <p:spPr bwMode="auto">
          <a:xfrm>
            <a:off x="323528" y="4711811"/>
            <a:ext cx="5832797" cy="400110"/>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r>
              <a:rPr lang="zh-CN" altLang="en-US" sz="2000" dirty="0">
                <a:latin typeface="宋体" panose="02010600030101010101" pitchFamily="2" charset="-122"/>
              </a:rPr>
              <a:t>句柄是： </a:t>
            </a:r>
            <a:r>
              <a:rPr lang="en-US" altLang="zh-CN" sz="2000" dirty="0">
                <a:latin typeface="宋体" panose="02010600030101010101" pitchFamily="2" charset="-122"/>
              </a:rPr>
              <a:t>i1</a:t>
            </a:r>
          </a:p>
        </p:txBody>
      </p:sp>
    </p:spTree>
    <p:extLst>
      <p:ext uri="{BB962C8B-B14F-4D97-AF65-F5344CB8AC3E}">
        <p14:creationId xmlns:p14="http://schemas.microsoft.com/office/powerpoint/2010/main" val="13038998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2" fill="hold" grpId="0" nodeType="clickEffect">
                                  <p:stCondLst>
                                    <p:cond delay="0"/>
                                  </p:stCondLst>
                                  <p:childTnLst>
                                    <p:set>
                                      <p:cBhvr>
                                        <p:cTn id="6" dur="1" fill="hold">
                                          <p:stCondLst>
                                            <p:cond delay="0"/>
                                          </p:stCondLst>
                                        </p:cTn>
                                        <p:tgtEl>
                                          <p:spTgt spid="1048802"/>
                                        </p:tgtEl>
                                        <p:attrNameLst>
                                          <p:attrName>style.visibility</p:attrName>
                                        </p:attrNameLst>
                                      </p:cBhvr>
                                      <p:to>
                                        <p:strVal val="visible"/>
                                      </p:to>
                                    </p:set>
                                    <p:anim calcmode="lin" valueType="num">
                                      <p:cBhvr>
                                        <p:cTn id="7" dur="500" fill="hold"/>
                                        <p:tgtEl>
                                          <p:spTgt spid="1048802"/>
                                        </p:tgtEl>
                                        <p:attrNameLst>
                                          <p:attrName>ppt_x</p:attrName>
                                        </p:attrNameLst>
                                      </p:cBhvr>
                                      <p:tavLst>
                                        <p:tav tm="0">
                                          <p:val>
                                            <p:strVal val="#ppt_x+#ppt_w/2"/>
                                          </p:val>
                                        </p:tav>
                                        <p:tav tm="100000">
                                          <p:val>
                                            <p:strVal val="#ppt_x"/>
                                          </p:val>
                                        </p:tav>
                                      </p:tavLst>
                                    </p:anim>
                                    <p:anim calcmode="lin" valueType="num">
                                      <p:cBhvr>
                                        <p:cTn id="8" dur="500" fill="hold"/>
                                        <p:tgtEl>
                                          <p:spTgt spid="1048802"/>
                                        </p:tgtEl>
                                        <p:attrNameLst>
                                          <p:attrName>ppt_y</p:attrName>
                                        </p:attrNameLst>
                                      </p:cBhvr>
                                      <p:tavLst>
                                        <p:tav tm="0">
                                          <p:val>
                                            <p:strVal val="#ppt_y"/>
                                          </p:val>
                                        </p:tav>
                                        <p:tav tm="100000">
                                          <p:val>
                                            <p:strVal val="#ppt_y"/>
                                          </p:val>
                                        </p:tav>
                                      </p:tavLst>
                                    </p:anim>
                                    <p:anim calcmode="lin" valueType="num">
                                      <p:cBhvr>
                                        <p:cTn id="9" dur="500" fill="hold"/>
                                        <p:tgtEl>
                                          <p:spTgt spid="1048802"/>
                                        </p:tgtEl>
                                        <p:attrNameLst>
                                          <p:attrName>ppt_w</p:attrName>
                                        </p:attrNameLst>
                                      </p:cBhvr>
                                      <p:tavLst>
                                        <p:tav tm="0">
                                          <p:val>
                                            <p:fltVal val="0"/>
                                          </p:val>
                                        </p:tav>
                                        <p:tav tm="100000">
                                          <p:val>
                                            <p:strVal val="#ppt_w"/>
                                          </p:val>
                                        </p:tav>
                                      </p:tavLst>
                                    </p:anim>
                                    <p:anim calcmode="lin" valueType="num">
                                      <p:cBhvr>
                                        <p:cTn id="10" dur="500" fill="hold"/>
                                        <p:tgtEl>
                                          <p:spTgt spid="1048802"/>
                                        </p:tgtEl>
                                        <p:attrNameLst>
                                          <p:attrName>ppt_h</p:attrName>
                                        </p:attrNameLst>
                                      </p:cBhvr>
                                      <p:tavLst>
                                        <p:tav tm="0">
                                          <p:val>
                                            <p:strVal val="#ppt_h"/>
                                          </p:val>
                                        </p:tav>
                                        <p:tav tm="100000">
                                          <p:val>
                                            <p:strVal val="#ppt_h"/>
                                          </p:val>
                                        </p:tav>
                                      </p:tavLst>
                                    </p:anim>
                                  </p:childTnLst>
                                </p:cTn>
                              </p:par>
                            </p:childTnLst>
                          </p:cTn>
                        </p:par>
                      </p:childTnLst>
                    </p:cTn>
                  </p:par>
                  <p:par>
                    <p:cTn id="11" fill="hold">
                      <p:stCondLst>
                        <p:cond delay="indefinite"/>
                      </p:stCondLst>
                      <p:childTnLst>
                        <p:par>
                          <p:cTn id="12" fill="hold">
                            <p:stCondLst>
                              <p:cond delay="0"/>
                            </p:stCondLst>
                            <p:childTnLst>
                              <p:par>
                                <p:cTn id="13" presetID="4" presetClass="entr" presetSubtype="16" fill="hold" grpId="0" nodeType="clickEffect">
                                  <p:stCondLst>
                                    <p:cond delay="0"/>
                                  </p:stCondLst>
                                  <p:childTnLst>
                                    <p:set>
                                      <p:cBhvr>
                                        <p:cTn id="14" dur="1" fill="hold">
                                          <p:stCondLst>
                                            <p:cond delay="0"/>
                                          </p:stCondLst>
                                        </p:cTn>
                                        <p:tgtEl>
                                          <p:spTgt spid="1048803"/>
                                        </p:tgtEl>
                                        <p:attrNameLst>
                                          <p:attrName>style.visibility</p:attrName>
                                        </p:attrNameLst>
                                      </p:cBhvr>
                                      <p:to>
                                        <p:strVal val="visible"/>
                                      </p:to>
                                    </p:set>
                                    <p:animEffect transition="in" filter="box(in)">
                                      <p:cBhvr>
                                        <p:cTn id="15" dur="500"/>
                                        <p:tgtEl>
                                          <p:spTgt spid="104880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ntr" presetSubtype="16" fill="hold" grpId="0" nodeType="clickEffect">
                                  <p:stCondLst>
                                    <p:cond delay="0"/>
                                  </p:stCondLst>
                                  <p:childTnLst>
                                    <p:set>
                                      <p:cBhvr>
                                        <p:cTn id="19" dur="1" fill="hold">
                                          <p:stCondLst>
                                            <p:cond delay="0"/>
                                          </p:stCondLst>
                                        </p:cTn>
                                        <p:tgtEl>
                                          <p:spTgt spid="1048801"/>
                                        </p:tgtEl>
                                        <p:attrNameLst>
                                          <p:attrName>style.visibility</p:attrName>
                                        </p:attrNameLst>
                                      </p:cBhvr>
                                      <p:to>
                                        <p:strVal val="visible"/>
                                      </p:to>
                                    </p:set>
                                    <p:animEffect transition="in" filter="box(in)">
                                      <p:cBhvr>
                                        <p:cTn id="20" dur="500"/>
                                        <p:tgtEl>
                                          <p:spTgt spid="1048801"/>
                                        </p:tgtEl>
                                      </p:cBhvr>
                                    </p:animEffect>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grpId="0" nodeType="click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box(in)">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box(in)">
                                      <p:cBhvr>
                                        <p:cTn id="3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801" grpId="0" animBg="1" autoUpdateAnimBg="0"/>
      <p:bldP spid="1048802" grpId="0" animBg="1" autoUpdateAnimBg="0"/>
      <p:bldP spid="1048803" grpId="0" autoUpdateAnimBg="0"/>
      <p:bldP spid="28" grpId="0"/>
      <p:bldP spid="29" grpId="0"/>
    </p:bldLst>
  </p:timing>
</p:sld>
</file>

<file path=ppt/slides/slide1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807" name="Rectangle 2"/>
          <p:cNvSpPr>
            <a:spLocks noGrp="1" noChangeArrowheads="1"/>
          </p:cNvSpPr>
          <p:nvPr>
            <p:ph type="title"/>
          </p:nvPr>
        </p:nvSpPr>
        <p:spPr>
          <a:xfrm>
            <a:off x="685800" y="163513"/>
            <a:ext cx="7772400" cy="714375"/>
          </a:xfrm>
        </p:spPr>
        <p:txBody>
          <a:bodyPr>
            <a:normAutofit fontScale="90000"/>
          </a:bodyPr>
          <a:lstStyle/>
          <a:p>
            <a:pPr algn="l" eaLnBrk="1" hangingPunct="1"/>
            <a:r>
              <a:rPr lang="zh-CN" altLang="en-US" dirty="0">
                <a:ea typeface="隶书" pitchFamily="49" charset="-122"/>
              </a:rPr>
              <a:t>规范归约的定义：</a:t>
            </a:r>
          </a:p>
        </p:txBody>
      </p:sp>
      <p:sp>
        <p:nvSpPr>
          <p:cNvPr id="1048808" name="Rectangle 3"/>
          <p:cNvSpPr>
            <a:spLocks noGrp="1" noChangeArrowheads="1"/>
          </p:cNvSpPr>
          <p:nvPr>
            <p:ph type="body" idx="1"/>
          </p:nvPr>
        </p:nvSpPr>
        <p:spPr>
          <a:xfrm>
            <a:off x="557213" y="843558"/>
            <a:ext cx="8110537" cy="2696195"/>
          </a:xfrm>
          <a:solidFill>
            <a:schemeClr val="bg1"/>
          </a:solidFill>
          <a:ln w="28575">
            <a:solidFill>
              <a:srgbClr val="0000FF"/>
            </a:solidFill>
            <a:miter lim="800000"/>
            <a:headEnd/>
            <a:tailEnd/>
          </a:ln>
        </p:spPr>
        <p:txBody>
          <a:bodyPr>
            <a:noAutofit/>
          </a:bodyPr>
          <a:lstStyle/>
          <a:p>
            <a:pPr eaLnBrk="1" hangingPunct="1">
              <a:lnSpc>
                <a:spcPct val="110000"/>
              </a:lnSpc>
              <a:spcBef>
                <a:spcPts val="0"/>
              </a:spcBef>
            </a:pPr>
            <a:r>
              <a:rPr lang="zh-CN" altLang="en-US" sz="2200" dirty="0">
                <a:latin typeface="宋体" panose="02010600030101010101" pitchFamily="2" charset="-122"/>
                <a:ea typeface="宋体" panose="02010600030101010101" pitchFamily="2" charset="-122"/>
              </a:rPr>
              <a:t>假定</a:t>
            </a:r>
            <a:r>
              <a:rPr lang="en-US" altLang="zh-CN" sz="2200" dirty="0">
                <a:latin typeface="宋体" panose="02010600030101010101" pitchFamily="2" charset="-122"/>
                <a:ea typeface="宋体" panose="02010600030101010101" pitchFamily="2" charset="-122"/>
                <a:cs typeface="Times New Roman" pitchFamily="18" charset="0"/>
              </a:rPr>
              <a:t>α</a:t>
            </a:r>
            <a:r>
              <a:rPr lang="zh-CN" altLang="en-US" sz="2200" dirty="0">
                <a:latin typeface="宋体" panose="02010600030101010101" pitchFamily="2" charset="-122"/>
                <a:ea typeface="宋体" panose="02010600030101010101" pitchFamily="2" charset="-122"/>
              </a:rPr>
              <a:t>是文法</a:t>
            </a:r>
            <a:r>
              <a:rPr lang="en-US" altLang="zh-CN" sz="2200" dirty="0">
                <a:latin typeface="宋体" panose="02010600030101010101" pitchFamily="2" charset="-122"/>
                <a:ea typeface="宋体" panose="02010600030101010101" pitchFamily="2" charset="-122"/>
              </a:rPr>
              <a:t>G</a:t>
            </a:r>
            <a:r>
              <a:rPr lang="zh-CN" altLang="en-US" sz="2200" dirty="0">
                <a:latin typeface="宋体" panose="02010600030101010101" pitchFamily="2" charset="-122"/>
                <a:ea typeface="宋体" panose="02010600030101010101" pitchFamily="2" charset="-122"/>
              </a:rPr>
              <a:t>的一个句子，如果序列： </a:t>
            </a:r>
            <a:r>
              <a:rPr lang="en-US" altLang="zh-CN" sz="2200" dirty="0">
                <a:latin typeface="宋体" panose="02010600030101010101" pitchFamily="2" charset="-122"/>
                <a:ea typeface="宋体" panose="02010600030101010101" pitchFamily="2" charset="-122"/>
                <a:cs typeface="Times New Roman" pitchFamily="18" charset="0"/>
              </a:rPr>
              <a:t>α</a:t>
            </a:r>
            <a:r>
              <a:rPr lang="en-US" altLang="zh-CN" sz="2200" baseline="-25000" dirty="0">
                <a:latin typeface="宋体" panose="02010600030101010101" pitchFamily="2" charset="-122"/>
                <a:ea typeface="宋体" panose="02010600030101010101" pitchFamily="2" charset="-122"/>
                <a:cs typeface="Times New Roman" pitchFamily="18" charset="0"/>
              </a:rPr>
              <a:t>n</a:t>
            </a:r>
            <a:r>
              <a:rPr lang="en-US" altLang="zh-CN" sz="2200" dirty="0">
                <a:latin typeface="宋体" panose="02010600030101010101" pitchFamily="2" charset="-122"/>
                <a:ea typeface="宋体" panose="02010600030101010101" pitchFamily="2" charset="-122"/>
                <a:cs typeface="Times New Roman" pitchFamily="18" charset="0"/>
              </a:rPr>
              <a:t>, α</a:t>
            </a:r>
            <a:r>
              <a:rPr lang="en-US" altLang="zh-CN" sz="2200" baseline="-25000" dirty="0">
                <a:latin typeface="宋体" panose="02010600030101010101" pitchFamily="2" charset="-122"/>
                <a:ea typeface="宋体" panose="02010600030101010101" pitchFamily="2" charset="-122"/>
                <a:cs typeface="Times New Roman" pitchFamily="18" charset="0"/>
              </a:rPr>
              <a:t>n-1</a:t>
            </a:r>
            <a:r>
              <a:rPr lang="en-US" altLang="zh-CN" sz="2200" dirty="0">
                <a:latin typeface="宋体" panose="02010600030101010101" pitchFamily="2" charset="-122"/>
                <a:ea typeface="宋体" panose="02010600030101010101" pitchFamily="2" charset="-122"/>
                <a:cs typeface="Times New Roman" pitchFamily="18" charset="0"/>
              </a:rPr>
              <a:t>,  ……, α</a:t>
            </a:r>
            <a:r>
              <a:rPr lang="en-US" altLang="zh-CN" sz="2200" baseline="-25000" dirty="0">
                <a:latin typeface="宋体" panose="02010600030101010101" pitchFamily="2" charset="-122"/>
                <a:ea typeface="宋体" panose="02010600030101010101" pitchFamily="2" charset="-122"/>
                <a:cs typeface="Times New Roman" pitchFamily="18" charset="0"/>
              </a:rPr>
              <a:t>0 </a:t>
            </a:r>
            <a:r>
              <a:rPr lang="en-US" altLang="zh-CN"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cs typeface="Times New Roman" pitchFamily="18" charset="0"/>
              </a:rPr>
              <a:t>S</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满足如下条件，则序列</a:t>
            </a:r>
            <a:r>
              <a:rPr lang="en-US" altLang="zh-CN" sz="2200" dirty="0">
                <a:latin typeface="宋体" panose="02010600030101010101" pitchFamily="2" charset="-122"/>
                <a:ea typeface="宋体" panose="02010600030101010101" pitchFamily="2" charset="-122"/>
                <a:cs typeface="Times New Roman" pitchFamily="18" charset="0"/>
              </a:rPr>
              <a:t>α</a:t>
            </a:r>
            <a:r>
              <a:rPr lang="en-US" altLang="zh-CN" sz="2200" baseline="-25000" dirty="0">
                <a:latin typeface="宋体" panose="02010600030101010101" pitchFamily="2" charset="-122"/>
                <a:ea typeface="宋体" panose="02010600030101010101" pitchFamily="2" charset="-122"/>
                <a:cs typeface="Times New Roman" pitchFamily="18" charset="0"/>
              </a:rPr>
              <a:t>n</a:t>
            </a:r>
            <a:r>
              <a:rPr lang="en-US" altLang="zh-CN" sz="2200" dirty="0">
                <a:latin typeface="宋体" panose="02010600030101010101" pitchFamily="2" charset="-122"/>
                <a:ea typeface="宋体" panose="02010600030101010101" pitchFamily="2" charset="-122"/>
                <a:cs typeface="Times New Roman" pitchFamily="18" charset="0"/>
              </a:rPr>
              <a:t>, α</a:t>
            </a:r>
            <a:r>
              <a:rPr lang="en-US" altLang="zh-CN" sz="2200" baseline="-25000" dirty="0">
                <a:latin typeface="宋体" panose="02010600030101010101" pitchFamily="2" charset="-122"/>
                <a:ea typeface="宋体" panose="02010600030101010101" pitchFamily="2" charset="-122"/>
                <a:cs typeface="Times New Roman" pitchFamily="18" charset="0"/>
              </a:rPr>
              <a:t>n-1</a:t>
            </a:r>
            <a:r>
              <a:rPr lang="en-US" altLang="zh-CN" sz="2200" dirty="0">
                <a:latin typeface="宋体" panose="02010600030101010101" pitchFamily="2" charset="-122"/>
                <a:ea typeface="宋体" panose="02010600030101010101" pitchFamily="2" charset="-122"/>
                <a:cs typeface="Times New Roman" pitchFamily="18" charset="0"/>
              </a:rPr>
              <a:t>, ……, α</a:t>
            </a:r>
            <a:r>
              <a:rPr lang="en-US" altLang="zh-CN" sz="2200" baseline="-25000" dirty="0">
                <a:latin typeface="宋体" panose="02010600030101010101" pitchFamily="2" charset="-122"/>
                <a:ea typeface="宋体" panose="02010600030101010101" pitchFamily="2" charset="-122"/>
                <a:cs typeface="Times New Roman" pitchFamily="18" charset="0"/>
              </a:rPr>
              <a:t>0</a:t>
            </a:r>
            <a:r>
              <a:rPr lang="zh-CN" altLang="en-US" sz="2200" dirty="0">
                <a:latin typeface="宋体" panose="02010600030101010101" pitchFamily="2" charset="-122"/>
                <a:ea typeface="宋体" panose="02010600030101010101" pitchFamily="2" charset="-122"/>
              </a:rPr>
              <a:t>是一个</a:t>
            </a:r>
            <a:r>
              <a:rPr lang="zh-CN" altLang="en-US" sz="2200" b="1" dirty="0">
                <a:solidFill>
                  <a:srgbClr val="0000FF"/>
                </a:solidFill>
                <a:latin typeface="宋体" panose="02010600030101010101" pitchFamily="2" charset="-122"/>
                <a:ea typeface="宋体" panose="02010600030101010101" pitchFamily="2" charset="-122"/>
              </a:rPr>
              <a:t>规范归约</a:t>
            </a:r>
            <a:r>
              <a:rPr lang="en-US" altLang="zh-CN" sz="2200" dirty="0">
                <a:latin typeface="宋体" panose="02010600030101010101" pitchFamily="2" charset="-122"/>
                <a:ea typeface="宋体" panose="02010600030101010101" pitchFamily="2" charset="-122"/>
              </a:rPr>
              <a:t>:</a:t>
            </a:r>
          </a:p>
          <a:p>
            <a:pPr eaLnBrk="1" hangingPunct="1">
              <a:lnSpc>
                <a:spcPct val="110000"/>
              </a:lnSpc>
              <a:spcBef>
                <a:spcPts val="0"/>
              </a:spcBef>
              <a:buFontTx/>
              <a:buNone/>
            </a:pPr>
            <a:r>
              <a:rPr lang="en-US" altLang="zh-CN" sz="2200" dirty="0">
                <a:latin typeface="宋体" panose="02010600030101010101" pitchFamily="2" charset="-122"/>
                <a:ea typeface="宋体" panose="02010600030101010101" pitchFamily="2" charset="-122"/>
                <a:cs typeface="Times New Roman" pitchFamily="18" charset="0"/>
              </a:rPr>
              <a:t>	(1) α</a:t>
            </a:r>
            <a:r>
              <a:rPr lang="en-US" altLang="zh-CN" sz="2200" baseline="-25000" dirty="0">
                <a:latin typeface="宋体" panose="02010600030101010101" pitchFamily="2" charset="-122"/>
                <a:ea typeface="宋体" panose="02010600030101010101" pitchFamily="2" charset="-122"/>
                <a:cs typeface="Times New Roman" pitchFamily="18" charset="0"/>
              </a:rPr>
              <a:t>n </a:t>
            </a:r>
            <a:r>
              <a:rPr lang="en-US" altLang="zh-CN"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cs typeface="Times New Roman" pitchFamily="18" charset="0"/>
              </a:rPr>
              <a:t>α</a:t>
            </a:r>
            <a:r>
              <a:rPr lang="en-US" altLang="zh-CN" sz="2200" dirty="0">
                <a:latin typeface="宋体" panose="02010600030101010101" pitchFamily="2" charset="-122"/>
                <a:ea typeface="宋体" panose="02010600030101010101" pitchFamily="2" charset="-122"/>
              </a:rPr>
              <a:t> </a:t>
            </a:r>
            <a:r>
              <a:rPr lang="zh-CN" altLang="en-US" sz="2200" dirty="0">
                <a:latin typeface="宋体" panose="02010600030101010101" pitchFamily="2" charset="-122"/>
                <a:ea typeface="宋体" panose="02010600030101010101" pitchFamily="2" charset="-122"/>
              </a:rPr>
              <a:t>是给定的句子</a:t>
            </a:r>
          </a:p>
          <a:p>
            <a:pPr eaLnBrk="1" hangingPunct="1">
              <a:lnSpc>
                <a:spcPct val="110000"/>
              </a:lnSpc>
              <a:spcBef>
                <a:spcPts val="0"/>
              </a:spcBef>
              <a:buFontTx/>
              <a:buNone/>
            </a:pPr>
            <a:r>
              <a:rPr lang="zh-CN" altLang="en-US" sz="2200" dirty="0">
                <a:latin typeface="宋体" panose="02010600030101010101" pitchFamily="2" charset="-122"/>
                <a:ea typeface="宋体" panose="02010600030101010101" pitchFamily="2" charset="-122"/>
                <a:cs typeface="Times New Roman" pitchFamily="18" charset="0"/>
              </a:rPr>
              <a:t>	</a:t>
            </a:r>
            <a:r>
              <a:rPr lang="en-US" altLang="zh-CN" sz="2200" dirty="0">
                <a:latin typeface="宋体" panose="02010600030101010101" pitchFamily="2" charset="-122"/>
                <a:ea typeface="宋体" panose="02010600030101010101" pitchFamily="2" charset="-122"/>
                <a:cs typeface="Times New Roman" pitchFamily="18" charset="0"/>
              </a:rPr>
              <a:t>(2) α</a:t>
            </a:r>
            <a:r>
              <a:rPr lang="en-US" altLang="zh-CN" sz="2200" baseline="-25000" dirty="0">
                <a:latin typeface="宋体" panose="02010600030101010101" pitchFamily="2" charset="-122"/>
                <a:ea typeface="宋体" panose="02010600030101010101" pitchFamily="2" charset="-122"/>
                <a:cs typeface="Times New Roman" pitchFamily="18" charset="0"/>
              </a:rPr>
              <a:t>0 </a:t>
            </a:r>
            <a:r>
              <a:rPr lang="en-US" altLang="zh-CN"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cs typeface="Times New Roman" pitchFamily="18" charset="0"/>
              </a:rPr>
              <a:t>S </a:t>
            </a:r>
            <a:r>
              <a:rPr lang="zh-CN" altLang="en-US" sz="2200" dirty="0">
                <a:latin typeface="宋体" panose="02010600030101010101" pitchFamily="2" charset="-122"/>
                <a:ea typeface="宋体" panose="02010600030101010101" pitchFamily="2" charset="-122"/>
              </a:rPr>
              <a:t>是文法的开始符号</a:t>
            </a:r>
          </a:p>
          <a:p>
            <a:pPr eaLnBrk="1" hangingPunct="1">
              <a:lnSpc>
                <a:spcPct val="110000"/>
              </a:lnSpc>
              <a:spcBef>
                <a:spcPts val="0"/>
              </a:spcBef>
              <a:buFontTx/>
              <a:buNone/>
            </a:pPr>
            <a:r>
              <a:rPr lang="zh-CN" altLang="en-US" sz="2200" dirty="0">
                <a:latin typeface="宋体" panose="02010600030101010101" pitchFamily="2" charset="-122"/>
                <a:ea typeface="宋体" panose="02010600030101010101" pitchFamily="2" charset="-122"/>
              </a:rPr>
              <a:t>	</a:t>
            </a:r>
            <a:r>
              <a:rPr lang="en-US" altLang="zh-CN" sz="2200" dirty="0">
                <a:latin typeface="宋体" panose="02010600030101010101" pitchFamily="2" charset="-122"/>
                <a:ea typeface="宋体" panose="02010600030101010101" pitchFamily="2" charset="-122"/>
              </a:rPr>
              <a:t>(3) </a:t>
            </a:r>
            <a:r>
              <a:rPr lang="zh-CN" altLang="en-US" sz="2200" dirty="0">
                <a:latin typeface="宋体" panose="02010600030101010101" pitchFamily="2" charset="-122"/>
                <a:ea typeface="宋体" panose="02010600030101010101" pitchFamily="2" charset="-122"/>
              </a:rPr>
              <a:t>对任何</a:t>
            </a:r>
            <a:r>
              <a:rPr lang="en-US" altLang="zh-CN" sz="2200" dirty="0" err="1">
                <a:latin typeface="宋体" panose="02010600030101010101" pitchFamily="2" charset="-122"/>
                <a:ea typeface="宋体" panose="02010600030101010101" pitchFamily="2" charset="-122"/>
              </a:rPr>
              <a:t>i</a:t>
            </a:r>
            <a:r>
              <a:rPr lang="en-US" altLang="zh-CN" sz="2200" dirty="0">
                <a:latin typeface="宋体" panose="02010600030101010101" pitchFamily="2" charset="-122"/>
                <a:ea typeface="宋体" panose="02010600030101010101" pitchFamily="2" charset="-122"/>
              </a:rPr>
              <a:t>, 0&lt;</a:t>
            </a:r>
            <a:r>
              <a:rPr lang="en-US" altLang="zh-CN" sz="2200" dirty="0" err="1">
                <a:latin typeface="宋体" panose="02010600030101010101" pitchFamily="2" charset="-122"/>
                <a:ea typeface="宋体" panose="02010600030101010101" pitchFamily="2" charset="-122"/>
              </a:rPr>
              <a:t>i</a:t>
            </a:r>
            <a:r>
              <a:rPr lang="en-US" altLang="zh-CN" sz="2200" dirty="0" err="1">
                <a:latin typeface="宋体" panose="02010600030101010101" pitchFamily="2" charset="-122"/>
                <a:ea typeface="宋体" panose="02010600030101010101" pitchFamily="2" charset="-122"/>
                <a:sym typeface="Symbol" pitchFamily="18" charset="2"/>
              </a:rPr>
              <a:t>n</a:t>
            </a:r>
            <a:r>
              <a:rPr lang="zh-CN" altLang="en-US" sz="2200" dirty="0">
                <a:latin typeface="宋体" panose="02010600030101010101" pitchFamily="2" charset="-122"/>
                <a:ea typeface="宋体" panose="02010600030101010101" pitchFamily="2" charset="-122"/>
                <a:sym typeface="Symbol" pitchFamily="18" charset="2"/>
              </a:rPr>
              <a:t>，</a:t>
            </a:r>
            <a:r>
              <a:rPr lang="en-US" altLang="zh-CN" sz="2200" dirty="0">
                <a:latin typeface="宋体" panose="02010600030101010101" pitchFamily="2" charset="-122"/>
                <a:ea typeface="宋体" panose="02010600030101010101" pitchFamily="2" charset="-122"/>
                <a:cs typeface="Times New Roman" pitchFamily="18" charset="0"/>
              </a:rPr>
              <a:t>α</a:t>
            </a:r>
            <a:r>
              <a:rPr lang="en-US" altLang="zh-CN" sz="2200" baseline="-25000" dirty="0">
                <a:latin typeface="宋体" panose="02010600030101010101" pitchFamily="2" charset="-122"/>
                <a:ea typeface="宋体" panose="02010600030101010101" pitchFamily="2" charset="-122"/>
                <a:cs typeface="Times New Roman" pitchFamily="18" charset="0"/>
              </a:rPr>
              <a:t>i-1</a:t>
            </a:r>
            <a:r>
              <a:rPr lang="zh-CN" altLang="en-US" sz="2200" dirty="0">
                <a:latin typeface="宋体" panose="02010600030101010101" pitchFamily="2" charset="-122"/>
                <a:ea typeface="宋体" panose="02010600030101010101" pitchFamily="2" charset="-122"/>
              </a:rPr>
              <a:t>是从</a:t>
            </a:r>
            <a:r>
              <a:rPr lang="en-US" altLang="zh-CN" sz="2200" dirty="0">
                <a:latin typeface="宋体" panose="02010600030101010101" pitchFamily="2" charset="-122"/>
                <a:ea typeface="宋体" panose="02010600030101010101" pitchFamily="2" charset="-122"/>
                <a:cs typeface="Times New Roman" pitchFamily="18" charset="0"/>
              </a:rPr>
              <a:t>α</a:t>
            </a:r>
            <a:r>
              <a:rPr lang="en-US" altLang="zh-CN" sz="2200" baseline="-25000" dirty="0" err="1">
                <a:latin typeface="宋体" panose="02010600030101010101" pitchFamily="2" charset="-122"/>
                <a:ea typeface="宋体" panose="02010600030101010101" pitchFamily="2" charset="-122"/>
                <a:cs typeface="Times New Roman" pitchFamily="18" charset="0"/>
              </a:rPr>
              <a:t>i</a:t>
            </a:r>
            <a:r>
              <a:rPr lang="zh-CN" altLang="en-US" sz="2200" dirty="0">
                <a:latin typeface="宋体" panose="02010600030101010101" pitchFamily="2" charset="-122"/>
                <a:ea typeface="宋体" panose="02010600030101010101" pitchFamily="2" charset="-122"/>
              </a:rPr>
              <a:t>经把</a:t>
            </a:r>
            <a:r>
              <a:rPr lang="zh-CN" altLang="en-US" sz="2200" b="1" dirty="0">
                <a:solidFill>
                  <a:srgbClr val="FF0066"/>
                </a:solidFill>
                <a:latin typeface="宋体" panose="02010600030101010101" pitchFamily="2" charset="-122"/>
                <a:ea typeface="宋体" panose="02010600030101010101" pitchFamily="2" charset="-122"/>
              </a:rPr>
              <a:t>句柄</a:t>
            </a:r>
            <a:r>
              <a:rPr lang="zh-CN" altLang="en-US" sz="2200" dirty="0">
                <a:latin typeface="宋体" panose="02010600030101010101" pitchFamily="2" charset="-122"/>
                <a:ea typeface="宋体" panose="02010600030101010101" pitchFamily="2" charset="-122"/>
              </a:rPr>
              <a:t>替换为相应文法产生式的左部符号而得到的。</a:t>
            </a:r>
          </a:p>
        </p:txBody>
      </p:sp>
      <p:sp>
        <p:nvSpPr>
          <p:cNvPr id="5" name="Rectangle 3"/>
          <p:cNvSpPr txBox="1">
            <a:spLocks noChangeArrowheads="1"/>
          </p:cNvSpPr>
          <p:nvPr/>
        </p:nvSpPr>
        <p:spPr>
          <a:xfrm>
            <a:off x="565919" y="3723878"/>
            <a:ext cx="8110537" cy="1224136"/>
          </a:xfrm>
          <a:prstGeom prst="rect">
            <a:avLst/>
          </a:prstGeom>
          <a:solidFill>
            <a:schemeClr val="bg1"/>
          </a:solidFill>
          <a:ln w="28575">
            <a:solidFill>
              <a:srgbClr val="0000FF"/>
            </a:solid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lnSpc>
                <a:spcPct val="80000"/>
              </a:lnSpc>
              <a:spcBef>
                <a:spcPct val="60000"/>
              </a:spcBef>
            </a:pPr>
            <a:r>
              <a:rPr lang="zh-CN" altLang="en-US" sz="2200" dirty="0">
                <a:latin typeface="宋体" panose="02010600030101010101" pitchFamily="2" charset="-122"/>
                <a:ea typeface="宋体" panose="02010600030101010101" pitchFamily="2" charset="-122"/>
              </a:rPr>
              <a:t>规范归约是最右推导的逆过程，是</a:t>
            </a:r>
            <a:r>
              <a:rPr lang="zh-CN" altLang="en-US" sz="2200" b="1" dirty="0">
                <a:solidFill>
                  <a:srgbClr val="0000FF"/>
                </a:solidFill>
                <a:latin typeface="宋体" panose="02010600030101010101" pitchFamily="2" charset="-122"/>
                <a:ea typeface="宋体" panose="02010600030101010101" pitchFamily="2" charset="-122"/>
              </a:rPr>
              <a:t>最左归约</a:t>
            </a:r>
            <a:r>
              <a:rPr lang="zh-CN" altLang="en-US" sz="2200" dirty="0">
                <a:latin typeface="宋体" panose="02010600030101010101" pitchFamily="2" charset="-122"/>
                <a:ea typeface="宋体" panose="02010600030101010101" pitchFamily="2" charset="-122"/>
              </a:rPr>
              <a:t>。</a:t>
            </a:r>
          </a:p>
          <a:p>
            <a:pPr>
              <a:lnSpc>
                <a:spcPct val="80000"/>
              </a:lnSpc>
              <a:spcBef>
                <a:spcPct val="60000"/>
              </a:spcBef>
            </a:pPr>
            <a:r>
              <a:rPr lang="zh-CN" altLang="en-US" sz="2200" dirty="0">
                <a:latin typeface="宋体" panose="02010600030101010101" pitchFamily="2" charset="-122"/>
                <a:ea typeface="宋体" panose="02010600030101010101" pitchFamily="2" charset="-122"/>
              </a:rPr>
              <a:t>最右推导又称</a:t>
            </a:r>
            <a:r>
              <a:rPr lang="zh-CN" altLang="en-US" sz="2200" b="1" dirty="0">
                <a:solidFill>
                  <a:srgbClr val="0000FF"/>
                </a:solidFill>
                <a:latin typeface="宋体" panose="02010600030101010101" pitchFamily="2" charset="-122"/>
                <a:ea typeface="宋体" panose="02010600030101010101" pitchFamily="2" charset="-122"/>
              </a:rPr>
              <a:t>规范推导</a:t>
            </a:r>
            <a:r>
              <a:rPr lang="zh-CN" altLang="en-US" sz="2200" dirty="0">
                <a:latin typeface="宋体" panose="02010600030101010101" pitchFamily="2" charset="-122"/>
                <a:ea typeface="宋体" panose="02010600030101010101" pitchFamily="2" charset="-122"/>
              </a:rPr>
              <a:t>，由规范推导所得到的句型称</a:t>
            </a:r>
            <a:r>
              <a:rPr lang="zh-CN" altLang="en-US" sz="2200" b="1" dirty="0">
                <a:solidFill>
                  <a:srgbClr val="0000FF"/>
                </a:solidFill>
                <a:latin typeface="宋体" panose="02010600030101010101" pitchFamily="2" charset="-122"/>
                <a:ea typeface="宋体" panose="02010600030101010101" pitchFamily="2" charset="-122"/>
              </a:rPr>
              <a:t>规范句型</a:t>
            </a:r>
            <a:r>
              <a:rPr lang="zh-CN" altLang="en-US" sz="2200" dirty="0">
                <a:latin typeface="宋体" panose="02010600030101010101" pitchFamily="2" charset="-122"/>
                <a:ea typeface="宋体" panose="02010600030101010101" pitchFamily="2" charset="-122"/>
              </a:rPr>
              <a:t>，规范推导的逆过程是规范归约。</a:t>
            </a:r>
          </a:p>
        </p:txBody>
      </p:sp>
    </p:spTree>
    <p:extLst>
      <p:ext uri="{BB962C8B-B14F-4D97-AF65-F5344CB8AC3E}">
        <p14:creationId xmlns:p14="http://schemas.microsoft.com/office/powerpoint/2010/main" val="2180631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09" name="Group 45"/>
          <p:cNvGraphicFramePr>
            <a:graphicFrameLocks noGrp="1"/>
          </p:cNvGraphicFramePr>
          <p:nvPr/>
        </p:nvGraphicFramePr>
        <p:xfrm>
          <a:off x="669925" y="847161"/>
          <a:ext cx="4935414" cy="2391848"/>
        </p:xfrm>
        <a:graphic>
          <a:graphicData uri="http://schemas.openxmlformats.org/drawingml/2006/table">
            <a:tbl>
              <a:tblPr/>
              <a:tblGrid>
                <a:gridCol w="2467707">
                  <a:extLst>
                    <a:ext uri="{9D8B030D-6E8A-4147-A177-3AD203B41FA5}">
                      <a16:colId xmlns:a16="http://schemas.microsoft.com/office/drawing/2014/main" val="20000"/>
                    </a:ext>
                  </a:extLst>
                </a:gridCol>
                <a:gridCol w="2467707">
                  <a:extLst>
                    <a:ext uri="{9D8B030D-6E8A-4147-A177-3AD203B41FA5}">
                      <a16:colId xmlns:a16="http://schemas.microsoft.com/office/drawing/2014/main" val="20001"/>
                    </a:ext>
                  </a:extLst>
                </a:gridCol>
              </a:tblGrid>
              <a:tr h="40759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句型</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归约规则</a:t>
                      </a: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0"/>
                  </a:ext>
                </a:extLst>
              </a:tr>
              <a:tr h="3934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abbcde</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 A</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Wingdings" panose="05000000000000000000" pitchFamily="2" charset="2"/>
                        </a:rPr>
                        <a:t>b</a:t>
                      </a: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1"/>
                  </a:ext>
                </a:extLst>
              </a:tr>
              <a:tr h="39874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aAbcde</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(3) A  Ab </a:t>
                      </a: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2"/>
                  </a:ext>
                </a:extLst>
              </a:tr>
              <a:tr h="39874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aAcde</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(4) B  d</a:t>
                      </a: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3"/>
                  </a:ext>
                </a:extLst>
              </a:tr>
              <a:tr h="39874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aAcBe</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 S </a:t>
                      </a: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aAcBe</a:t>
                      </a: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4"/>
                  </a:ext>
                </a:extLst>
              </a:tr>
              <a:tr h="39459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p>
                  </a:txBody>
                  <a:tcPr marT="34273" marB="342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73" marB="342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5"/>
                  </a:ext>
                </a:extLst>
              </a:tr>
            </a:tbl>
          </a:graphicData>
        </a:graphic>
      </p:graphicFrame>
      <p:sp>
        <p:nvSpPr>
          <p:cNvPr id="1048812" name="Rectangle 27"/>
          <p:cNvSpPr>
            <a:spLocks noChangeArrowheads="1"/>
          </p:cNvSpPr>
          <p:nvPr/>
        </p:nvSpPr>
        <p:spPr bwMode="auto">
          <a:xfrm>
            <a:off x="6765924" y="1174750"/>
            <a:ext cx="2289663" cy="1615441"/>
          </a:xfrm>
          <a:prstGeom prst="rect">
            <a:avLst/>
          </a:prstGeom>
          <a:solidFill>
            <a:srgbClr val="FFFFFF"/>
          </a:solidFill>
          <a:ln w="25400">
            <a:solidFill>
              <a:srgbClr val="0000FF"/>
            </a:solidFill>
            <a:prstDash val="solid"/>
          </a:ln>
        </p:spPr>
        <p:txBody>
          <a:bodyPr anchor="t" anchorCtr="1">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l" eaLnBrk="1" hangingPunct="1">
              <a:spcBef>
                <a:spcPct val="0"/>
              </a:spcBef>
              <a:buFontTx/>
              <a:buNone/>
            </a:pPr>
            <a:r>
              <a:rPr lang="en-US" altLang="zh-CN" sz="2400">
                <a:solidFill>
                  <a:srgbClr val="000000"/>
                </a:solidFill>
                <a:ea typeface="华文行楷" pitchFamily="2" charset="-122"/>
              </a:rPr>
              <a:t>(1)S </a:t>
            </a:r>
            <a:r>
              <a:rPr lang="en-US" altLang="zh-CN" sz="2400">
                <a:solidFill>
                  <a:srgbClr val="000000"/>
                </a:solidFill>
                <a:ea typeface="华文行楷" pitchFamily="2" charset="-122"/>
                <a:sym typeface="Symbol" pitchFamily="18" charset="2"/>
              </a:rPr>
              <a:t> aAcBe</a:t>
            </a:r>
            <a:br>
              <a:rPr lang="en-US" altLang="zh-CN" sz="2400">
                <a:ea typeface="华文行楷" pitchFamily="2" charset="-122"/>
                <a:sym typeface="Symbol" pitchFamily="18" charset="2"/>
              </a:rPr>
            </a:br>
            <a:r>
              <a:rPr lang="en-US" altLang="zh-CN" sz="2400">
                <a:solidFill>
                  <a:srgbClr val="000000"/>
                </a:solidFill>
                <a:ea typeface="华文行楷" pitchFamily="2" charset="-122"/>
                <a:sym typeface="Symbol" pitchFamily="18" charset="2"/>
              </a:rPr>
              <a:t>(2)A  b </a:t>
            </a:r>
            <a:br>
              <a:rPr lang="en-US" altLang="zh-CN" sz="2400">
                <a:ea typeface="华文行楷" pitchFamily="2" charset="-122"/>
                <a:sym typeface="Symbol" pitchFamily="18" charset="2"/>
              </a:rPr>
            </a:br>
            <a:r>
              <a:rPr lang="en-US" altLang="zh-CN" sz="2400">
                <a:solidFill>
                  <a:srgbClr val="000000"/>
                </a:solidFill>
                <a:ea typeface="华文行楷" pitchFamily="2" charset="-122"/>
                <a:sym typeface="Symbol" pitchFamily="18" charset="2"/>
              </a:rPr>
              <a:t>(3)A  Ab</a:t>
            </a:r>
            <a:br>
              <a:rPr lang="en-US" altLang="zh-CN" sz="2400">
                <a:ea typeface="华文行楷" pitchFamily="2" charset="-122"/>
                <a:sym typeface="Symbol" pitchFamily="18" charset="2"/>
              </a:rPr>
            </a:br>
            <a:r>
              <a:rPr lang="en-US" altLang="zh-CN" sz="2400">
                <a:solidFill>
                  <a:srgbClr val="000000"/>
                </a:solidFill>
                <a:ea typeface="华文行楷" pitchFamily="2" charset="-122"/>
                <a:sym typeface="Symbol" pitchFamily="18" charset="2"/>
              </a:rPr>
              <a:t>(4)B  d</a:t>
            </a:r>
            <a:endParaRPr>
              <a:solidFill>
                <a:srgbClr val="000000"/>
              </a:solidFill>
            </a:endParaRPr>
          </a:p>
        </p:txBody>
      </p:sp>
      <p:sp>
        <p:nvSpPr>
          <p:cNvPr id="1048813" name="Line 36"/>
          <p:cNvSpPr>
            <a:spLocks noChangeShapeType="1"/>
          </p:cNvSpPr>
          <p:nvPr/>
        </p:nvSpPr>
        <p:spPr bwMode="auto">
          <a:xfrm>
            <a:off x="827584" y="1609725"/>
            <a:ext cx="169862" cy="3175"/>
          </a:xfrm>
          <a:prstGeom prst="line">
            <a:avLst/>
          </a:prstGeom>
          <a:noFill/>
          <a:ln w="38100">
            <a:solidFill>
              <a:srgbClr val="0000FF"/>
            </a:solidFill>
            <a:round/>
            <a:headEnd/>
            <a:tailEnd/>
          </a:ln>
        </p:spPr>
        <p:txBody>
          <a:bodyPr/>
          <a:lstStyle/>
          <a:p>
            <a:endParaRPr lang="zh-CN" altLang="en-US"/>
          </a:p>
        </p:txBody>
      </p:sp>
      <p:sp>
        <p:nvSpPr>
          <p:cNvPr id="1048814" name="Line 37"/>
          <p:cNvSpPr>
            <a:spLocks noChangeShapeType="1"/>
          </p:cNvSpPr>
          <p:nvPr/>
        </p:nvSpPr>
        <p:spPr bwMode="auto">
          <a:xfrm>
            <a:off x="912515" y="2012951"/>
            <a:ext cx="275109" cy="0"/>
          </a:xfrm>
          <a:prstGeom prst="line">
            <a:avLst/>
          </a:prstGeom>
          <a:noFill/>
          <a:ln w="38100">
            <a:solidFill>
              <a:srgbClr val="0000FF"/>
            </a:solidFill>
            <a:round/>
            <a:headEnd/>
            <a:tailEnd/>
          </a:ln>
        </p:spPr>
        <p:txBody>
          <a:bodyPr/>
          <a:lstStyle/>
          <a:p>
            <a:endParaRPr lang="zh-CN" altLang="en-US"/>
          </a:p>
        </p:txBody>
      </p:sp>
      <p:sp>
        <p:nvSpPr>
          <p:cNvPr id="1048815" name="Line 38"/>
          <p:cNvSpPr>
            <a:spLocks noChangeShapeType="1"/>
          </p:cNvSpPr>
          <p:nvPr/>
        </p:nvSpPr>
        <p:spPr bwMode="auto">
          <a:xfrm>
            <a:off x="1187624" y="2393950"/>
            <a:ext cx="144016" cy="0"/>
          </a:xfrm>
          <a:prstGeom prst="line">
            <a:avLst/>
          </a:prstGeom>
          <a:noFill/>
          <a:ln w="38100">
            <a:solidFill>
              <a:srgbClr val="0000FF"/>
            </a:solidFill>
            <a:round/>
            <a:headEnd/>
            <a:tailEnd/>
          </a:ln>
        </p:spPr>
        <p:txBody>
          <a:bodyPr/>
          <a:lstStyle/>
          <a:p>
            <a:endParaRPr lang="zh-CN" altLang="en-US"/>
          </a:p>
        </p:txBody>
      </p:sp>
      <p:sp>
        <p:nvSpPr>
          <p:cNvPr id="1048816" name="Line 39"/>
          <p:cNvSpPr>
            <a:spLocks noChangeShapeType="1"/>
          </p:cNvSpPr>
          <p:nvPr/>
        </p:nvSpPr>
        <p:spPr bwMode="auto">
          <a:xfrm>
            <a:off x="755576" y="2795589"/>
            <a:ext cx="720080" cy="0"/>
          </a:xfrm>
          <a:prstGeom prst="line">
            <a:avLst/>
          </a:prstGeom>
          <a:noFill/>
          <a:ln w="38100">
            <a:solidFill>
              <a:srgbClr val="0000FF"/>
            </a:solidFill>
            <a:round/>
            <a:headEnd/>
            <a:tailEnd/>
          </a:ln>
        </p:spPr>
        <p:txBody>
          <a:bodyPr/>
          <a:lstStyle/>
          <a:p>
            <a:endParaRPr lang="zh-CN" altLang="en-US"/>
          </a:p>
        </p:txBody>
      </p:sp>
      <p:sp>
        <p:nvSpPr>
          <p:cNvPr id="1048817" name="Rectangle 40"/>
          <p:cNvSpPr>
            <a:spLocks noGrp="1" noChangeArrowheads="1"/>
          </p:cNvSpPr>
          <p:nvPr>
            <p:ph type="body" idx="1"/>
          </p:nvPr>
        </p:nvSpPr>
        <p:spPr>
          <a:xfrm>
            <a:off x="531813" y="3509963"/>
            <a:ext cx="7772400" cy="731837"/>
          </a:xfrm>
        </p:spPr>
        <p:txBody>
          <a:bodyPr>
            <a:normAutofit fontScale="88929" lnSpcReduction="20000"/>
          </a:bodyPr>
          <a:lstStyle/>
          <a:p>
            <a:pPr eaLnBrk="1" hangingPunct="1"/>
            <a:r>
              <a:rPr lang="zh-CN" altLang="en-US" sz="2800"/>
              <a:t>上述例子中句子</a:t>
            </a:r>
            <a:r>
              <a:rPr lang="en-US" altLang="zh-CN" sz="2800"/>
              <a:t>abbcde</a:t>
            </a:r>
            <a:r>
              <a:rPr lang="zh-CN" altLang="en-US" sz="2800"/>
              <a:t>的规范归约过程是： </a:t>
            </a:r>
            <a:r>
              <a:rPr lang="en-US" altLang="zh-CN" sz="2800"/>
              <a:t>abbcde</a:t>
            </a:r>
            <a:r>
              <a:rPr lang="zh-CN" altLang="en-US" sz="2800"/>
              <a:t>， </a:t>
            </a:r>
            <a:r>
              <a:rPr lang="en-US" altLang="zh-CN" sz="2800"/>
              <a:t>aAbcde</a:t>
            </a:r>
            <a:r>
              <a:rPr lang="zh-CN" altLang="en-US" sz="2800"/>
              <a:t>， </a:t>
            </a:r>
            <a:r>
              <a:rPr lang="en-US" altLang="zh-CN" sz="2800"/>
              <a:t>aAcde</a:t>
            </a:r>
            <a:r>
              <a:rPr lang="zh-CN" altLang="en-US" sz="2800"/>
              <a:t>， </a:t>
            </a:r>
            <a:r>
              <a:rPr lang="en-US" altLang="zh-CN" sz="2800"/>
              <a:t>aAcBe</a:t>
            </a:r>
            <a:r>
              <a:rPr lang="zh-CN" altLang="en-US" sz="2800"/>
              <a:t>，</a:t>
            </a:r>
            <a:r>
              <a:rPr lang="en-US" altLang="zh-CN" sz="2800"/>
              <a:t>S</a:t>
            </a:r>
          </a:p>
        </p:txBody>
      </p:sp>
    </p:spTree>
    <p:extLst>
      <p:ext uri="{BB962C8B-B14F-4D97-AF65-F5344CB8AC3E}">
        <p14:creationId xmlns:p14="http://schemas.microsoft.com/office/powerpoint/2010/main" val="3538871862"/>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821" name="Rectangle 2"/>
          <p:cNvSpPr>
            <a:spLocks noGrp="1" noChangeArrowheads="1"/>
          </p:cNvSpPr>
          <p:nvPr>
            <p:ph type="title"/>
          </p:nvPr>
        </p:nvSpPr>
        <p:spPr>
          <a:xfrm>
            <a:off x="179388" y="0"/>
            <a:ext cx="7772400" cy="635000"/>
          </a:xfrm>
        </p:spPr>
        <p:txBody>
          <a:bodyPr>
            <a:normAutofit fontScale="90000"/>
          </a:bodyPr>
          <a:lstStyle/>
          <a:p>
            <a:pPr eaLnBrk="1" hangingPunct="1"/>
            <a:r>
              <a:rPr lang="zh-CN" altLang="en-US" sz="4000" dirty="0">
                <a:solidFill>
                  <a:srgbClr val="000000"/>
                </a:solidFill>
              </a:rPr>
              <a:t>规范归约中的句型</a:t>
            </a:r>
            <a:r>
              <a:rPr lang="en-US" altLang="zh-CN" sz="4000" dirty="0">
                <a:solidFill>
                  <a:srgbClr val="000000"/>
                </a:solidFill>
              </a:rPr>
              <a:t>——</a:t>
            </a:r>
            <a:r>
              <a:rPr lang="zh-CN" altLang="en-US" sz="4000" dirty="0">
                <a:solidFill>
                  <a:srgbClr val="000000"/>
                </a:solidFill>
              </a:rPr>
              <a:t>规范句型</a:t>
            </a:r>
          </a:p>
        </p:txBody>
      </p:sp>
      <p:sp>
        <p:nvSpPr>
          <p:cNvPr id="1048822" name="Rectangle 3"/>
          <p:cNvSpPr>
            <a:spLocks noGrp="1" noChangeArrowheads="1"/>
          </p:cNvSpPr>
          <p:nvPr>
            <p:ph type="body" idx="1"/>
          </p:nvPr>
        </p:nvSpPr>
        <p:spPr>
          <a:xfrm>
            <a:off x="887694" y="2812513"/>
            <a:ext cx="2605087" cy="471488"/>
          </a:xfrm>
        </p:spPr>
        <p:txBody>
          <a:bodyPr>
            <a:normAutofit fontScale="88929" lnSpcReduction="10000"/>
          </a:bodyPr>
          <a:lstStyle/>
          <a:p>
            <a:pPr eaLnBrk="1" hangingPunct="1"/>
            <a:r>
              <a:rPr lang="en-US" altLang="zh-CN" sz="2800" dirty="0">
                <a:solidFill>
                  <a:srgbClr val="000000"/>
                </a:solidFill>
              </a:rPr>
              <a:t>2</a:t>
            </a:r>
            <a:r>
              <a:rPr lang="zh-CN" altLang="en-US" sz="2800" dirty="0">
                <a:solidFill>
                  <a:srgbClr val="000000"/>
                </a:solidFill>
              </a:rPr>
              <a:t>、句型表示</a:t>
            </a:r>
          </a:p>
        </p:txBody>
      </p:sp>
      <p:sp>
        <p:nvSpPr>
          <p:cNvPr id="1048851" name="Text Box 17"/>
          <p:cNvSpPr txBox="1">
            <a:spLocks noChangeArrowheads="1"/>
          </p:cNvSpPr>
          <p:nvPr/>
        </p:nvSpPr>
        <p:spPr bwMode="auto">
          <a:xfrm>
            <a:off x="1236746" y="2374899"/>
            <a:ext cx="6511925" cy="461963"/>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2400" dirty="0">
                <a:solidFill>
                  <a:schemeClr val="accent2"/>
                </a:solidFill>
                <a:ea typeface="华文行楷" pitchFamily="2" charset="-122"/>
              </a:rPr>
              <a:t>符号栈内容  </a:t>
            </a:r>
            <a:r>
              <a:rPr lang="en-US" altLang="zh-CN" sz="2400" dirty="0">
                <a:solidFill>
                  <a:schemeClr val="accent2"/>
                </a:solidFill>
                <a:ea typeface="华文行楷" pitchFamily="2" charset="-122"/>
              </a:rPr>
              <a:t>+  </a:t>
            </a:r>
            <a:r>
              <a:rPr lang="zh-CN" altLang="en-US" sz="2400" dirty="0">
                <a:solidFill>
                  <a:schemeClr val="accent2"/>
                </a:solidFill>
                <a:ea typeface="华文行楷" pitchFamily="2" charset="-122"/>
              </a:rPr>
              <a:t>输入缓冲区内容 ＝ </a:t>
            </a:r>
            <a:r>
              <a:rPr lang="en-US" altLang="zh-CN" sz="2400" dirty="0">
                <a:solidFill>
                  <a:schemeClr val="accent2"/>
                </a:solidFill>
                <a:ea typeface="华文行楷" pitchFamily="2" charset="-122"/>
              </a:rPr>
              <a:t># </a:t>
            </a:r>
            <a:r>
              <a:rPr lang="zh-CN" altLang="en-US" sz="2400" dirty="0">
                <a:solidFill>
                  <a:schemeClr val="accent2"/>
                </a:solidFill>
                <a:ea typeface="华文行楷" pitchFamily="2" charset="-122"/>
              </a:rPr>
              <a:t>当前句型 </a:t>
            </a:r>
            <a:r>
              <a:rPr lang="en-US" altLang="zh-CN" sz="2400" dirty="0">
                <a:solidFill>
                  <a:schemeClr val="accent2"/>
                </a:solidFill>
                <a:ea typeface="华文行楷" pitchFamily="2" charset="-122"/>
              </a:rPr>
              <a:t>#</a:t>
            </a:r>
          </a:p>
        </p:txBody>
      </p:sp>
      <p:graphicFrame>
        <p:nvGraphicFramePr>
          <p:cNvPr id="4194310" name="Group 77"/>
          <p:cNvGraphicFramePr>
            <a:graphicFrameLocks noGrp="1"/>
          </p:cNvGraphicFramePr>
          <p:nvPr>
            <p:extLst>
              <p:ext uri="{D42A27DB-BD31-4B8C-83A1-F6EECF244321}">
                <p14:modId xmlns:p14="http://schemas.microsoft.com/office/powerpoint/2010/main" val="2967019536"/>
              </p:ext>
            </p:extLst>
          </p:nvPr>
        </p:nvGraphicFramePr>
        <p:xfrm>
          <a:off x="2771801" y="3320513"/>
          <a:ext cx="5400600" cy="1028700"/>
        </p:xfrm>
        <a:graphic>
          <a:graphicData uri="http://schemas.openxmlformats.org/drawingml/2006/table">
            <a:tbl>
              <a:tblPr/>
              <a:tblGrid>
                <a:gridCol w="1636648">
                  <a:extLst>
                    <a:ext uri="{9D8B030D-6E8A-4147-A177-3AD203B41FA5}">
                      <a16:colId xmlns:a16="http://schemas.microsoft.com/office/drawing/2014/main" val="20000"/>
                    </a:ext>
                  </a:extLst>
                </a:gridCol>
                <a:gridCol w="1954487">
                  <a:extLst>
                    <a:ext uri="{9D8B030D-6E8A-4147-A177-3AD203B41FA5}">
                      <a16:colId xmlns:a16="http://schemas.microsoft.com/office/drawing/2014/main" val="20001"/>
                    </a:ext>
                  </a:extLst>
                </a:gridCol>
                <a:gridCol w="1809465">
                  <a:extLst>
                    <a:ext uri="{9D8B030D-6E8A-4147-A177-3AD203B41FA5}">
                      <a16:colId xmlns:a16="http://schemas.microsoft.com/office/drawing/2014/main" val="20002"/>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一般形式：</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符号栈的内容</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剩余输入串</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0"/>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初态：</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输入串</a:t>
                      </a: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1"/>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终态：</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pPr>
                      <a:r>
                        <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extLst>
                  <a:ext uri="{0D108BD9-81ED-4DB2-BD59-A6C34878D82A}">
                    <a16:rowId xmlns:a16="http://schemas.microsoft.com/office/drawing/2014/main" val="10002"/>
                  </a:ext>
                </a:extLst>
              </a:tr>
            </a:tbl>
          </a:graphicData>
        </a:graphic>
      </p:graphicFrame>
      <p:sp>
        <p:nvSpPr>
          <p:cNvPr id="1048853" name="Text Box 55"/>
          <p:cNvSpPr txBox="1">
            <a:spLocks noChangeArrowheads="1"/>
          </p:cNvSpPr>
          <p:nvPr/>
        </p:nvSpPr>
        <p:spPr bwMode="auto">
          <a:xfrm>
            <a:off x="255836" y="4576870"/>
            <a:ext cx="7916564" cy="461665"/>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400" dirty="0">
                <a:ea typeface="华文行楷" pitchFamily="2" charset="-122"/>
              </a:rPr>
              <a:t>能够到达终态，分析成功，不能到达终态，分析失败。</a:t>
            </a:r>
          </a:p>
        </p:txBody>
      </p:sp>
      <p:grpSp>
        <p:nvGrpSpPr>
          <p:cNvPr id="92" name="Group 62"/>
          <p:cNvGrpSpPr/>
          <p:nvPr/>
        </p:nvGrpSpPr>
        <p:grpSpPr bwMode="auto">
          <a:xfrm>
            <a:off x="4426992" y="3696751"/>
            <a:ext cx="1433513" cy="288925"/>
            <a:chOff x="2880" y="1453"/>
            <a:chExt cx="1290" cy="243"/>
          </a:xfrm>
        </p:grpSpPr>
        <p:sp>
          <p:nvSpPr>
            <p:cNvPr id="1048854" name="Line 56"/>
            <p:cNvSpPr>
              <a:spLocks noChangeShapeType="1"/>
            </p:cNvSpPr>
            <p:nvPr/>
          </p:nvSpPr>
          <p:spPr bwMode="auto">
            <a:xfrm>
              <a:off x="2880" y="1453"/>
              <a:ext cx="1290" cy="0"/>
            </a:xfrm>
            <a:prstGeom prst="line">
              <a:avLst/>
            </a:prstGeom>
            <a:noFill/>
            <a:ln w="38100">
              <a:solidFill>
                <a:srgbClr val="FF0066"/>
              </a:solidFill>
              <a:round/>
              <a:headEnd/>
              <a:tailEnd/>
            </a:ln>
          </p:spPr>
          <p:txBody>
            <a:bodyPr/>
            <a:lstStyle/>
            <a:p>
              <a:endParaRPr lang="zh-CN" altLang="en-US"/>
            </a:p>
          </p:txBody>
        </p:sp>
        <p:sp>
          <p:nvSpPr>
            <p:cNvPr id="1048855" name="Line 57"/>
            <p:cNvSpPr>
              <a:spLocks noChangeShapeType="1"/>
            </p:cNvSpPr>
            <p:nvPr/>
          </p:nvSpPr>
          <p:spPr bwMode="auto">
            <a:xfrm>
              <a:off x="2880" y="1453"/>
              <a:ext cx="0" cy="232"/>
            </a:xfrm>
            <a:prstGeom prst="line">
              <a:avLst/>
            </a:prstGeom>
            <a:noFill/>
            <a:ln w="38100">
              <a:solidFill>
                <a:srgbClr val="FF0066"/>
              </a:solidFill>
              <a:round/>
              <a:headEnd/>
              <a:tailEnd/>
            </a:ln>
          </p:spPr>
          <p:txBody>
            <a:bodyPr/>
            <a:lstStyle/>
            <a:p>
              <a:endParaRPr lang="zh-CN" altLang="en-US"/>
            </a:p>
          </p:txBody>
        </p:sp>
        <p:sp>
          <p:nvSpPr>
            <p:cNvPr id="1048856" name="Line 58"/>
            <p:cNvSpPr>
              <a:spLocks noChangeShapeType="1"/>
            </p:cNvSpPr>
            <p:nvPr/>
          </p:nvSpPr>
          <p:spPr bwMode="auto">
            <a:xfrm>
              <a:off x="2880" y="1694"/>
              <a:ext cx="1272" cy="2"/>
            </a:xfrm>
            <a:prstGeom prst="line">
              <a:avLst/>
            </a:prstGeom>
            <a:noFill/>
            <a:ln w="38100">
              <a:solidFill>
                <a:srgbClr val="FF0066"/>
              </a:solidFill>
              <a:round/>
              <a:headEnd/>
              <a:tailEnd/>
            </a:ln>
          </p:spPr>
          <p:txBody>
            <a:bodyPr/>
            <a:lstStyle/>
            <a:p>
              <a:endParaRPr lang="zh-CN" altLang="en-US"/>
            </a:p>
          </p:txBody>
        </p:sp>
      </p:grpSp>
      <p:grpSp>
        <p:nvGrpSpPr>
          <p:cNvPr id="93" name="Group 63"/>
          <p:cNvGrpSpPr/>
          <p:nvPr/>
        </p:nvGrpSpPr>
        <p:grpSpPr bwMode="auto">
          <a:xfrm>
            <a:off x="6834137" y="3677701"/>
            <a:ext cx="1338263" cy="288925"/>
            <a:chOff x="4284" y="1437"/>
            <a:chExt cx="1006" cy="243"/>
          </a:xfrm>
        </p:grpSpPr>
        <p:sp>
          <p:nvSpPr>
            <p:cNvPr id="1048857" name="Line 59"/>
            <p:cNvSpPr>
              <a:spLocks noChangeShapeType="1"/>
            </p:cNvSpPr>
            <p:nvPr/>
          </p:nvSpPr>
          <p:spPr bwMode="auto">
            <a:xfrm>
              <a:off x="4284" y="1437"/>
              <a:ext cx="989" cy="0"/>
            </a:xfrm>
            <a:prstGeom prst="line">
              <a:avLst/>
            </a:prstGeom>
            <a:noFill/>
            <a:ln w="38100">
              <a:solidFill>
                <a:srgbClr val="FF0066"/>
              </a:solidFill>
              <a:round/>
              <a:headEnd/>
              <a:tailEnd/>
            </a:ln>
          </p:spPr>
          <p:txBody>
            <a:bodyPr/>
            <a:lstStyle/>
            <a:p>
              <a:endParaRPr lang="zh-CN" altLang="en-US"/>
            </a:p>
          </p:txBody>
        </p:sp>
        <p:sp>
          <p:nvSpPr>
            <p:cNvPr id="1048858" name="Line 60"/>
            <p:cNvSpPr>
              <a:spLocks noChangeShapeType="1"/>
            </p:cNvSpPr>
            <p:nvPr/>
          </p:nvSpPr>
          <p:spPr bwMode="auto">
            <a:xfrm>
              <a:off x="5290" y="1437"/>
              <a:ext cx="0" cy="232"/>
            </a:xfrm>
            <a:prstGeom prst="line">
              <a:avLst/>
            </a:prstGeom>
            <a:noFill/>
            <a:ln w="38100">
              <a:solidFill>
                <a:srgbClr val="FF0066"/>
              </a:solidFill>
              <a:round/>
              <a:headEnd/>
              <a:tailEnd/>
            </a:ln>
          </p:spPr>
          <p:txBody>
            <a:bodyPr/>
            <a:lstStyle/>
            <a:p>
              <a:endParaRPr lang="zh-CN" altLang="en-US"/>
            </a:p>
          </p:txBody>
        </p:sp>
        <p:sp>
          <p:nvSpPr>
            <p:cNvPr id="1048859" name="Line 61"/>
            <p:cNvSpPr>
              <a:spLocks noChangeShapeType="1"/>
            </p:cNvSpPr>
            <p:nvPr/>
          </p:nvSpPr>
          <p:spPr bwMode="auto">
            <a:xfrm>
              <a:off x="4284" y="1678"/>
              <a:ext cx="1006" cy="2"/>
            </a:xfrm>
            <a:prstGeom prst="line">
              <a:avLst/>
            </a:prstGeom>
            <a:noFill/>
            <a:ln w="38100">
              <a:solidFill>
                <a:srgbClr val="FF0066"/>
              </a:solidFill>
              <a:round/>
              <a:headEnd/>
              <a:tailEnd/>
            </a:ln>
          </p:spPr>
          <p:txBody>
            <a:bodyPr/>
            <a:lstStyle/>
            <a:p>
              <a:endParaRPr lang="zh-CN" altLang="en-US"/>
            </a:p>
          </p:txBody>
        </p:sp>
      </p:grpSp>
      <p:grpSp>
        <p:nvGrpSpPr>
          <p:cNvPr id="94" name="Group 64"/>
          <p:cNvGrpSpPr/>
          <p:nvPr/>
        </p:nvGrpSpPr>
        <p:grpSpPr bwMode="auto">
          <a:xfrm>
            <a:off x="4412705" y="4055526"/>
            <a:ext cx="1433512" cy="290512"/>
            <a:chOff x="2880" y="1453"/>
            <a:chExt cx="1290" cy="243"/>
          </a:xfrm>
        </p:grpSpPr>
        <p:sp>
          <p:nvSpPr>
            <p:cNvPr id="1048860" name="Line 65"/>
            <p:cNvSpPr>
              <a:spLocks noChangeShapeType="1"/>
            </p:cNvSpPr>
            <p:nvPr/>
          </p:nvSpPr>
          <p:spPr bwMode="auto">
            <a:xfrm>
              <a:off x="2880" y="1453"/>
              <a:ext cx="1290" cy="0"/>
            </a:xfrm>
            <a:prstGeom prst="line">
              <a:avLst/>
            </a:prstGeom>
            <a:noFill/>
            <a:ln w="38100">
              <a:solidFill>
                <a:srgbClr val="FF0066"/>
              </a:solidFill>
              <a:round/>
              <a:headEnd/>
              <a:tailEnd/>
            </a:ln>
          </p:spPr>
          <p:txBody>
            <a:bodyPr/>
            <a:lstStyle/>
            <a:p>
              <a:endParaRPr lang="zh-CN" altLang="en-US"/>
            </a:p>
          </p:txBody>
        </p:sp>
        <p:sp>
          <p:nvSpPr>
            <p:cNvPr id="1048861" name="Line 66"/>
            <p:cNvSpPr>
              <a:spLocks noChangeShapeType="1"/>
            </p:cNvSpPr>
            <p:nvPr/>
          </p:nvSpPr>
          <p:spPr bwMode="auto">
            <a:xfrm>
              <a:off x="2880" y="1453"/>
              <a:ext cx="0" cy="232"/>
            </a:xfrm>
            <a:prstGeom prst="line">
              <a:avLst/>
            </a:prstGeom>
            <a:noFill/>
            <a:ln w="38100">
              <a:solidFill>
                <a:srgbClr val="FF0066"/>
              </a:solidFill>
              <a:round/>
              <a:headEnd/>
              <a:tailEnd/>
            </a:ln>
          </p:spPr>
          <p:txBody>
            <a:bodyPr/>
            <a:lstStyle/>
            <a:p>
              <a:endParaRPr lang="zh-CN" altLang="en-US"/>
            </a:p>
          </p:txBody>
        </p:sp>
        <p:sp>
          <p:nvSpPr>
            <p:cNvPr id="1048862" name="Line 67"/>
            <p:cNvSpPr>
              <a:spLocks noChangeShapeType="1"/>
            </p:cNvSpPr>
            <p:nvPr/>
          </p:nvSpPr>
          <p:spPr bwMode="auto">
            <a:xfrm>
              <a:off x="2880" y="1694"/>
              <a:ext cx="1272" cy="2"/>
            </a:xfrm>
            <a:prstGeom prst="line">
              <a:avLst/>
            </a:prstGeom>
            <a:noFill/>
            <a:ln w="38100">
              <a:solidFill>
                <a:srgbClr val="FF0066"/>
              </a:solidFill>
              <a:round/>
              <a:headEnd/>
              <a:tailEnd/>
            </a:ln>
          </p:spPr>
          <p:txBody>
            <a:bodyPr/>
            <a:lstStyle/>
            <a:p>
              <a:endParaRPr lang="zh-CN" altLang="en-US"/>
            </a:p>
          </p:txBody>
        </p:sp>
      </p:grpSp>
      <p:grpSp>
        <p:nvGrpSpPr>
          <p:cNvPr id="95" name="Group 68"/>
          <p:cNvGrpSpPr/>
          <p:nvPr/>
        </p:nvGrpSpPr>
        <p:grpSpPr bwMode="auto">
          <a:xfrm>
            <a:off x="6819850" y="4036476"/>
            <a:ext cx="1338262" cy="290512"/>
            <a:chOff x="4284" y="1437"/>
            <a:chExt cx="1006" cy="243"/>
          </a:xfrm>
        </p:grpSpPr>
        <p:sp>
          <p:nvSpPr>
            <p:cNvPr id="1048863" name="Line 69"/>
            <p:cNvSpPr>
              <a:spLocks noChangeShapeType="1"/>
            </p:cNvSpPr>
            <p:nvPr/>
          </p:nvSpPr>
          <p:spPr bwMode="auto">
            <a:xfrm>
              <a:off x="4284" y="1437"/>
              <a:ext cx="989" cy="0"/>
            </a:xfrm>
            <a:prstGeom prst="line">
              <a:avLst/>
            </a:prstGeom>
            <a:noFill/>
            <a:ln w="38100">
              <a:solidFill>
                <a:srgbClr val="FF0066"/>
              </a:solidFill>
              <a:round/>
              <a:headEnd/>
              <a:tailEnd/>
            </a:ln>
          </p:spPr>
          <p:txBody>
            <a:bodyPr/>
            <a:lstStyle/>
            <a:p>
              <a:endParaRPr lang="zh-CN" altLang="en-US"/>
            </a:p>
          </p:txBody>
        </p:sp>
        <p:sp>
          <p:nvSpPr>
            <p:cNvPr id="1048864" name="Line 70"/>
            <p:cNvSpPr>
              <a:spLocks noChangeShapeType="1"/>
            </p:cNvSpPr>
            <p:nvPr/>
          </p:nvSpPr>
          <p:spPr bwMode="auto">
            <a:xfrm>
              <a:off x="5290" y="1437"/>
              <a:ext cx="0" cy="232"/>
            </a:xfrm>
            <a:prstGeom prst="line">
              <a:avLst/>
            </a:prstGeom>
            <a:noFill/>
            <a:ln w="38100">
              <a:solidFill>
                <a:srgbClr val="FF0066"/>
              </a:solidFill>
              <a:round/>
              <a:headEnd/>
              <a:tailEnd/>
            </a:ln>
          </p:spPr>
          <p:txBody>
            <a:bodyPr/>
            <a:lstStyle/>
            <a:p>
              <a:endParaRPr lang="zh-CN" altLang="en-US"/>
            </a:p>
          </p:txBody>
        </p:sp>
        <p:sp>
          <p:nvSpPr>
            <p:cNvPr id="1048865" name="Line 71"/>
            <p:cNvSpPr>
              <a:spLocks noChangeShapeType="1"/>
            </p:cNvSpPr>
            <p:nvPr/>
          </p:nvSpPr>
          <p:spPr bwMode="auto">
            <a:xfrm>
              <a:off x="4284" y="1678"/>
              <a:ext cx="1006" cy="2"/>
            </a:xfrm>
            <a:prstGeom prst="line">
              <a:avLst/>
            </a:prstGeom>
            <a:noFill/>
            <a:ln w="38100">
              <a:solidFill>
                <a:srgbClr val="FF0066"/>
              </a:solidFill>
              <a:round/>
              <a:headEnd/>
              <a:tailEnd/>
            </a:ln>
          </p:spPr>
          <p:txBody>
            <a:bodyPr/>
            <a:lstStyle/>
            <a:p>
              <a:endParaRPr lang="zh-CN" altLang="en-US"/>
            </a:p>
          </p:txBody>
        </p:sp>
      </p:grpSp>
      <p:sp>
        <p:nvSpPr>
          <p:cNvPr id="54" name="Rectangle 3"/>
          <p:cNvSpPr txBox="1">
            <a:spLocks noChangeArrowheads="1"/>
          </p:cNvSpPr>
          <p:nvPr/>
        </p:nvSpPr>
        <p:spPr>
          <a:xfrm>
            <a:off x="683568" y="998676"/>
            <a:ext cx="2605087" cy="471488"/>
          </a:xfrm>
          <a:prstGeom prst="rect">
            <a:avLst/>
          </a:prstGeom>
        </p:spPr>
        <p:txBody>
          <a:bodyPr vert="horz">
            <a:normAutofit fontScale="81429" lnSpcReduction="1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r>
              <a:rPr lang="en-US" altLang="zh-CN" sz="2800" dirty="0">
                <a:solidFill>
                  <a:srgbClr val="000000"/>
                </a:solidFill>
              </a:rPr>
              <a:t>1</a:t>
            </a:r>
            <a:r>
              <a:rPr lang="zh-CN" altLang="en-US" sz="2800" dirty="0">
                <a:solidFill>
                  <a:srgbClr val="000000"/>
                </a:solidFill>
              </a:rPr>
              <a:t>、分析器结构 </a:t>
            </a:r>
          </a:p>
        </p:txBody>
      </p:sp>
      <p:sp>
        <p:nvSpPr>
          <p:cNvPr id="3" name="Rectangle 1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 name="对象 3"/>
          <p:cNvGraphicFramePr>
            <a:graphicFrameLocks noChangeAspect="1"/>
          </p:cNvGraphicFramePr>
          <p:nvPr>
            <p:extLst>
              <p:ext uri="{D42A27DB-BD31-4B8C-83A1-F6EECF244321}">
                <p14:modId xmlns:p14="http://schemas.microsoft.com/office/powerpoint/2010/main" val="1634626417"/>
              </p:ext>
            </p:extLst>
          </p:nvPr>
        </p:nvGraphicFramePr>
        <p:xfrm>
          <a:off x="3419872" y="667904"/>
          <a:ext cx="3852457" cy="1706995"/>
        </p:xfrm>
        <a:graphic>
          <a:graphicData uri="http://schemas.openxmlformats.org/presentationml/2006/ole">
            <mc:AlternateContent xmlns:mc="http://schemas.openxmlformats.org/markup-compatibility/2006">
              <mc:Choice xmlns:v="urn:schemas-microsoft-com:vml" Requires="v">
                <p:oleObj spid="_x0000_s26631" name="Visio" r:id="rId4" imgW="2215923" imgH="979992" progId="Visio.Drawing.11">
                  <p:embed/>
                </p:oleObj>
              </mc:Choice>
              <mc:Fallback>
                <p:oleObj name="Visio" r:id="rId4" imgW="2215923" imgH="979992" progId="Visio.Drawing.11">
                  <p:embed/>
                  <p:pic>
                    <p:nvPicPr>
                      <p:cNvPr id="4" name="对象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19872" y="667904"/>
                        <a:ext cx="3852457" cy="1706995"/>
                      </a:xfrm>
                      <a:prstGeom prst="rect">
                        <a:avLst/>
                      </a:prstGeom>
                      <a:noFill/>
                    </p:spPr>
                  </p:pic>
                </p:oleObj>
              </mc:Fallback>
            </mc:AlternateContent>
          </a:graphicData>
        </a:graphic>
      </p:graphicFrame>
    </p:spTree>
    <p:extLst>
      <p:ext uri="{BB962C8B-B14F-4D97-AF65-F5344CB8AC3E}">
        <p14:creationId xmlns:p14="http://schemas.microsoft.com/office/powerpoint/2010/main" val="35683141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wd">
                                    <p:tmPct val="10000"/>
                                  </p:iterate>
                                  <p:childTnLst>
                                    <p:set>
                                      <p:cBhvr>
                                        <p:cTn id="6" dur="1" fill="hold">
                                          <p:stCondLst>
                                            <p:cond delay="0"/>
                                          </p:stCondLst>
                                        </p:cTn>
                                        <p:tgtEl>
                                          <p:spTgt spid="1048851">
                                            <p:txEl>
                                              <p:pRg st="0" end="0"/>
                                            </p:txEl>
                                          </p:spTgt>
                                        </p:tgtEl>
                                        <p:attrNameLst>
                                          <p:attrName>style.visibility</p:attrName>
                                        </p:attrNameLst>
                                      </p:cBhvr>
                                      <p:to>
                                        <p:strVal val="visible"/>
                                      </p:to>
                                    </p:set>
                                    <p:animEffect transition="in" filter="wipe(up)">
                                      <p:cBhvr>
                                        <p:cTn id="7" dur="75"/>
                                        <p:tgtEl>
                                          <p:spTgt spid="104885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6" fill="hold" grpId="0" nodeType="clickEffect">
                                  <p:stCondLst>
                                    <p:cond delay="0"/>
                                  </p:stCondLst>
                                  <p:childTnLst>
                                    <p:set>
                                      <p:cBhvr>
                                        <p:cTn id="11" dur="1" fill="hold">
                                          <p:stCondLst>
                                            <p:cond delay="0"/>
                                          </p:stCondLst>
                                        </p:cTn>
                                        <p:tgtEl>
                                          <p:spTgt spid="1048822">
                                            <p:txEl>
                                              <p:pRg st="0" end="0"/>
                                            </p:txEl>
                                          </p:spTgt>
                                        </p:tgtEl>
                                        <p:attrNameLst>
                                          <p:attrName>style.visibility</p:attrName>
                                        </p:attrNameLst>
                                      </p:cBhvr>
                                      <p:to>
                                        <p:strVal val="visible"/>
                                      </p:to>
                                    </p:set>
                                    <p:animEffect transition="in" filter="barn(inHorizontal)">
                                      <p:cBhvr>
                                        <p:cTn id="12" dur="500"/>
                                        <p:tgtEl>
                                          <p:spTgt spid="1048822">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nodeType="clickEffect">
                                  <p:stCondLst>
                                    <p:cond delay="0"/>
                                  </p:stCondLst>
                                  <p:childTnLst>
                                    <p:set>
                                      <p:cBhvr>
                                        <p:cTn id="16" dur="1" fill="hold">
                                          <p:stCondLst>
                                            <p:cond delay="0"/>
                                          </p:stCondLst>
                                        </p:cTn>
                                        <p:tgtEl>
                                          <p:spTgt spid="4194310"/>
                                        </p:tgtEl>
                                        <p:attrNameLst>
                                          <p:attrName>style.visibility</p:attrName>
                                        </p:attrNameLst>
                                      </p:cBhvr>
                                      <p:to>
                                        <p:strVal val="visible"/>
                                      </p:to>
                                    </p:set>
                                    <p:animEffect transition="in" filter="strips(downLeft)">
                                      <p:cBhvr>
                                        <p:cTn id="17" dur="500"/>
                                        <p:tgtEl>
                                          <p:spTgt spid="41943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499"/>
                                          </p:stCondLst>
                                        </p:cTn>
                                        <p:tgtEl>
                                          <p:spTgt spid="92"/>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499"/>
                                          </p:stCondLst>
                                        </p:cTn>
                                        <p:tgtEl>
                                          <p:spTgt spid="93"/>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499"/>
                                          </p:stCondLst>
                                        </p:cTn>
                                        <p:tgtEl>
                                          <p:spTgt spid="94"/>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499"/>
                                          </p:stCondLst>
                                        </p:cTn>
                                        <p:tgtEl>
                                          <p:spTgt spid="95"/>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grpId="0" nodeType="clickEffect">
                                  <p:stCondLst>
                                    <p:cond delay="0"/>
                                  </p:stCondLst>
                                  <p:childTnLst>
                                    <p:set>
                                      <p:cBhvr>
                                        <p:cTn id="37" dur="1" fill="hold">
                                          <p:stCondLst>
                                            <p:cond delay="499"/>
                                          </p:stCondLst>
                                        </p:cTn>
                                        <p:tgtEl>
                                          <p:spTgt spid="10488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822" grpId="0" build="p" autoUpdateAnimBg="0"/>
      <p:bldP spid="1048851" grpId="0" build="p" autoUpdateAnimBg="0"/>
      <p:bldP spid="1048853" grpId="0" animBg="1" autoUpdateAnimBg="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69" name="Text Box 4"/>
          <p:cNvSpPr txBox="1">
            <a:spLocks noChangeArrowheads="1"/>
          </p:cNvSpPr>
          <p:nvPr/>
        </p:nvSpPr>
        <p:spPr bwMode="auto">
          <a:xfrm>
            <a:off x="323528" y="339502"/>
            <a:ext cx="7129462" cy="2792476"/>
          </a:xfrm>
          <a:prstGeom prst="rect">
            <a:avLst/>
          </a:prstGeom>
          <a:noFill/>
          <a:ln>
            <a:noFill/>
          </a:ln>
        </p:spPr>
        <p:txBody>
          <a:bodyPr>
            <a:spAutoFit/>
          </a:bodyPr>
          <a:lstStyle>
            <a:lvl1pPr marL="457200" indent="-76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771650" indent="-4572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dirty="0">
                <a:ea typeface="华文行楷" pitchFamily="2" charset="-122"/>
              </a:rPr>
              <a:t>例</a:t>
            </a:r>
            <a:r>
              <a:rPr lang="en-US" altLang="zh-CN" sz="2200" dirty="0">
                <a:ea typeface="华文行楷" pitchFamily="2" charset="-122"/>
              </a:rPr>
              <a:t>2</a:t>
            </a:r>
            <a:r>
              <a:rPr lang="zh-CN" altLang="en-US" sz="2200" dirty="0">
                <a:ea typeface="华文行楷" pitchFamily="2" charset="-122"/>
              </a:rPr>
              <a:t>：有文法：</a:t>
            </a:r>
          </a:p>
          <a:p>
            <a:pPr eaLnBrk="1" hangingPunct="1">
              <a:buFontTx/>
              <a:buNone/>
            </a:pPr>
            <a:r>
              <a:rPr lang="zh-CN" altLang="en-US" sz="2200" dirty="0">
                <a:ea typeface="华文行楷" pitchFamily="2" charset="-122"/>
              </a:rPr>
              <a:t>			</a:t>
            </a:r>
          </a:p>
          <a:p>
            <a:pPr lvl="2" eaLnBrk="1" hangingPunct="1">
              <a:buFontTx/>
              <a:buAutoNum type="arabicParenBoth"/>
            </a:pPr>
            <a:r>
              <a:rPr lang="en-US" altLang="zh-CN" sz="2200" dirty="0">
                <a:solidFill>
                  <a:schemeClr val="accent2"/>
                </a:solidFill>
                <a:ea typeface="华文行楷" pitchFamily="2" charset="-122"/>
              </a:rPr>
              <a:t>E </a:t>
            </a:r>
            <a:r>
              <a:rPr lang="en-US" altLang="zh-CN" sz="2200" dirty="0">
                <a:solidFill>
                  <a:schemeClr val="accent2"/>
                </a:solidFill>
                <a:ea typeface="华文行楷" pitchFamily="2" charset="-122"/>
                <a:sym typeface="Wingdings" pitchFamily="2" charset="2"/>
              </a:rPr>
              <a:t> </a:t>
            </a:r>
            <a:r>
              <a:rPr lang="en-US" altLang="zh-CN" sz="2200" dirty="0">
                <a:solidFill>
                  <a:schemeClr val="accent2"/>
                </a:solidFill>
                <a:ea typeface="华文行楷" pitchFamily="2" charset="-122"/>
              </a:rPr>
              <a:t>E+T|T</a:t>
            </a:r>
          </a:p>
          <a:p>
            <a:pPr lvl="2" eaLnBrk="1" hangingPunct="1">
              <a:buFontTx/>
              <a:buAutoNum type="arabicParenBoth"/>
            </a:pPr>
            <a:r>
              <a:rPr lang="en-US" altLang="zh-CN" sz="2200" dirty="0">
                <a:solidFill>
                  <a:schemeClr val="accent2"/>
                </a:solidFill>
                <a:ea typeface="华文行楷" pitchFamily="2" charset="-122"/>
              </a:rPr>
              <a:t>T </a:t>
            </a:r>
            <a:r>
              <a:rPr lang="en-US" altLang="zh-CN" sz="2200" dirty="0">
                <a:solidFill>
                  <a:schemeClr val="accent2"/>
                </a:solidFill>
                <a:ea typeface="华文行楷" pitchFamily="2" charset="-122"/>
                <a:sym typeface="Wingdings" pitchFamily="2" charset="2"/>
              </a:rPr>
              <a:t> </a:t>
            </a:r>
            <a:r>
              <a:rPr lang="en-US" altLang="zh-CN" sz="2200" dirty="0">
                <a:solidFill>
                  <a:schemeClr val="accent2"/>
                </a:solidFill>
                <a:ea typeface="华文行楷" pitchFamily="2" charset="-122"/>
              </a:rPr>
              <a:t>T*F|F</a:t>
            </a:r>
          </a:p>
          <a:p>
            <a:pPr lvl="2" eaLnBrk="1" hangingPunct="1">
              <a:buFontTx/>
              <a:buAutoNum type="arabicParenBoth"/>
            </a:pPr>
            <a:r>
              <a:rPr lang="en-US" altLang="zh-CN" sz="2200" dirty="0">
                <a:solidFill>
                  <a:schemeClr val="accent2"/>
                </a:solidFill>
                <a:ea typeface="华文行楷" pitchFamily="2" charset="-122"/>
              </a:rPr>
              <a:t>F </a:t>
            </a:r>
            <a:r>
              <a:rPr lang="en-US" altLang="zh-CN" sz="2200" dirty="0">
                <a:solidFill>
                  <a:schemeClr val="accent2"/>
                </a:solidFill>
                <a:ea typeface="华文行楷" pitchFamily="2" charset="-122"/>
                <a:sym typeface="Wingdings" pitchFamily="2" charset="2"/>
              </a:rPr>
              <a:t> </a:t>
            </a:r>
            <a:r>
              <a:rPr lang="en-US" altLang="zh-CN" sz="2200" dirty="0">
                <a:solidFill>
                  <a:schemeClr val="accent2"/>
                </a:solidFill>
                <a:ea typeface="华文行楷" pitchFamily="2" charset="-122"/>
              </a:rPr>
              <a:t>(E)|</a:t>
            </a:r>
            <a:r>
              <a:rPr lang="en-US" altLang="zh-CN" sz="2200" dirty="0" err="1">
                <a:solidFill>
                  <a:schemeClr val="accent2"/>
                </a:solidFill>
                <a:ea typeface="华文行楷" pitchFamily="2" charset="-122"/>
              </a:rPr>
              <a:t>i</a:t>
            </a:r>
            <a:endParaRPr lang="en-US" altLang="zh-CN" sz="2200" dirty="0">
              <a:solidFill>
                <a:schemeClr val="accent2"/>
              </a:solidFill>
              <a:ea typeface="华文行楷" pitchFamily="2" charset="-122"/>
            </a:endParaRPr>
          </a:p>
          <a:p>
            <a:pPr eaLnBrk="1" hangingPunct="1">
              <a:buFontTx/>
              <a:buNone/>
            </a:pPr>
            <a:endParaRPr lang="en-US" altLang="zh-CN" sz="2200" dirty="0">
              <a:solidFill>
                <a:schemeClr val="accent2"/>
              </a:solidFill>
              <a:ea typeface="华文行楷" pitchFamily="2" charset="-122"/>
            </a:endParaRPr>
          </a:p>
          <a:p>
            <a:pPr eaLnBrk="1" hangingPunct="1">
              <a:buFontTx/>
              <a:buNone/>
            </a:pPr>
            <a:r>
              <a:rPr lang="zh-CN" altLang="en-US" sz="2200" dirty="0">
                <a:ea typeface="华文行楷" pitchFamily="2" charset="-122"/>
              </a:rPr>
              <a:t>对输入串 </a:t>
            </a:r>
            <a:r>
              <a:rPr lang="en-US" altLang="zh-CN" sz="2200" dirty="0">
                <a:ea typeface="华文行楷" pitchFamily="2" charset="-122"/>
              </a:rPr>
              <a:t>i</a:t>
            </a:r>
            <a:r>
              <a:rPr lang="en-US" altLang="zh-CN" sz="2200" baseline="-25000" dirty="0">
                <a:ea typeface="华文行楷" pitchFamily="2" charset="-122"/>
              </a:rPr>
              <a:t>1</a:t>
            </a:r>
            <a:r>
              <a:rPr lang="en-US" altLang="zh-CN" sz="2200" dirty="0">
                <a:ea typeface="华文行楷" pitchFamily="2" charset="-122"/>
              </a:rPr>
              <a:t>+i</a:t>
            </a:r>
            <a:r>
              <a:rPr lang="en-US" altLang="zh-CN" sz="2200" baseline="-25000" dirty="0">
                <a:ea typeface="华文行楷" pitchFamily="2" charset="-122"/>
              </a:rPr>
              <a:t>2</a:t>
            </a:r>
            <a:r>
              <a:rPr lang="en-US" altLang="zh-CN" sz="2200" dirty="0">
                <a:ea typeface="华文行楷" pitchFamily="2" charset="-122"/>
              </a:rPr>
              <a:t>*i</a:t>
            </a:r>
            <a:r>
              <a:rPr lang="en-US" altLang="zh-CN" sz="2200" baseline="-25000" dirty="0">
                <a:ea typeface="华文行楷" pitchFamily="2" charset="-122"/>
              </a:rPr>
              <a:t>3</a:t>
            </a:r>
            <a:r>
              <a:rPr lang="en-US" altLang="zh-CN" sz="2200" dirty="0">
                <a:ea typeface="华文行楷" pitchFamily="2" charset="-122"/>
              </a:rPr>
              <a:t> </a:t>
            </a:r>
            <a:r>
              <a:rPr lang="zh-CN" altLang="en-US" sz="2200" dirty="0">
                <a:ea typeface="华文行楷" pitchFamily="2" charset="-122"/>
              </a:rPr>
              <a:t>的规范归约过程：</a:t>
            </a:r>
          </a:p>
        </p:txBody>
      </p:sp>
    </p:spTree>
    <p:extLst>
      <p:ext uri="{BB962C8B-B14F-4D97-AF65-F5344CB8AC3E}">
        <p14:creationId xmlns:p14="http://schemas.microsoft.com/office/powerpoint/2010/main" val="74529004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873" name="Rectangle 3"/>
          <p:cNvSpPr>
            <a:spLocks noGrp="1" noChangeArrowheads="1"/>
          </p:cNvSpPr>
          <p:nvPr>
            <p:ph type="body" idx="1"/>
          </p:nvPr>
        </p:nvSpPr>
        <p:spPr>
          <a:xfrm>
            <a:off x="360040" y="123478"/>
            <a:ext cx="4644008" cy="4876006"/>
          </a:xfrm>
          <a:solidFill>
            <a:schemeClr val="bg1"/>
          </a:solidFill>
        </p:spPr>
        <p:txBody>
          <a:bodyPr lIns="92075" tIns="46038" rIns="92075" bIns="46038">
            <a:noAutofit/>
          </a:bodyPr>
          <a:lstStyle/>
          <a:p>
            <a:pPr>
              <a:lnSpc>
                <a:spcPct val="90000"/>
              </a:lnSpc>
              <a:buNone/>
            </a:pPr>
            <a:r>
              <a:rPr lang="en-US" altLang="zh-CN" sz="1800" u="sng" dirty="0">
                <a:latin typeface="宋体" pitchFamily="2" charset="-122"/>
                <a:ea typeface="宋体" panose="02010600030101010101" pitchFamily="2" charset="-122"/>
              </a:rPr>
              <a:t>  </a:t>
            </a:r>
            <a:r>
              <a:rPr lang="en-US" altLang="zh-CN" sz="1800" i="1" u="sng" dirty="0">
                <a:latin typeface="宋体" pitchFamily="2" charset="-122"/>
                <a:ea typeface="宋体" panose="02010600030101010101" pitchFamily="2" charset="-122"/>
              </a:rPr>
              <a:t>  </a:t>
            </a:r>
            <a:r>
              <a:rPr lang="zh-CN" altLang="en-US" sz="1800" i="1" u="sng" dirty="0">
                <a:latin typeface="宋体" pitchFamily="2" charset="-122"/>
                <a:ea typeface="宋体" panose="02010600030101010101" pitchFamily="2" charset="-122"/>
              </a:rPr>
              <a:t>动作          栈       剩余输入串</a:t>
            </a:r>
            <a:endParaRPr lang="zh-CN" altLang="en-US" sz="1800" u="sng" dirty="0">
              <a:latin typeface="宋体" pitchFamily="2" charset="-122"/>
              <a:ea typeface="宋体" panose="02010600030101010101" pitchFamily="2" charset="-122"/>
            </a:endParaRPr>
          </a:p>
          <a:p>
            <a:pPr eaLnBrk="1" hangingPunct="1">
              <a:lnSpc>
                <a:spcPct val="90000"/>
              </a:lnSpc>
              <a:buFontTx/>
              <a:buNone/>
            </a:pPr>
            <a:r>
              <a:rPr lang="en-US" altLang="zh-CN" sz="1800" u="sng" dirty="0">
                <a:latin typeface="宋体" pitchFamily="2" charset="-122"/>
                <a:ea typeface="宋体" panose="02010600030101010101" pitchFamily="2" charset="-122"/>
              </a:rPr>
              <a:t>1)  </a:t>
            </a:r>
            <a:r>
              <a:rPr lang="zh-CN" altLang="en-US" sz="1800" u="sng" dirty="0">
                <a:latin typeface="宋体" pitchFamily="2" charset="-122"/>
                <a:ea typeface="宋体" panose="02010600030101010101" pitchFamily="2" charset="-122"/>
              </a:rPr>
              <a:t>准备          </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1</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2)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1</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3)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#F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4)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T→F     #T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5)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E→T     #E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6)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7)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8)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#E+F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9)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T→F     #E+T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10)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11)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12)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#E+T*F            #</a:t>
            </a:r>
          </a:p>
          <a:p>
            <a:pPr eaLnBrk="1" hangingPunct="1">
              <a:lnSpc>
                <a:spcPct val="90000"/>
              </a:lnSpc>
              <a:buFontTx/>
              <a:buNone/>
            </a:pPr>
            <a:r>
              <a:rPr lang="en-US" altLang="zh-CN" sz="1800" u="sng" dirty="0">
                <a:latin typeface="宋体" pitchFamily="2" charset="-122"/>
                <a:ea typeface="宋体" panose="02010600030101010101" pitchFamily="2" charset="-122"/>
              </a:rPr>
              <a:t>13)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T→T*F   #E+T              #</a:t>
            </a:r>
          </a:p>
          <a:p>
            <a:pPr eaLnBrk="1" hangingPunct="1">
              <a:lnSpc>
                <a:spcPct val="90000"/>
              </a:lnSpc>
              <a:buFontTx/>
              <a:buNone/>
            </a:pPr>
            <a:r>
              <a:rPr lang="en-US" altLang="zh-CN" sz="1800" u="sng" dirty="0">
                <a:latin typeface="宋体" pitchFamily="2" charset="-122"/>
                <a:ea typeface="宋体" panose="02010600030101010101" pitchFamily="2" charset="-122"/>
              </a:rPr>
              <a:t>14)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E→E+T   #E                #  </a:t>
            </a:r>
          </a:p>
          <a:p>
            <a:pPr eaLnBrk="1" hangingPunct="1">
              <a:lnSpc>
                <a:spcPct val="90000"/>
              </a:lnSpc>
              <a:buFontTx/>
              <a:buNone/>
            </a:pPr>
            <a:r>
              <a:rPr lang="en-US" altLang="zh-CN" sz="1800" u="sng" dirty="0">
                <a:latin typeface="宋体" pitchFamily="2" charset="-122"/>
                <a:ea typeface="宋体" panose="02010600030101010101" pitchFamily="2" charset="-122"/>
              </a:rPr>
              <a:t>15) </a:t>
            </a:r>
            <a:r>
              <a:rPr lang="zh-CN" altLang="en-US" sz="1800" u="sng" dirty="0">
                <a:latin typeface="宋体" pitchFamily="2" charset="-122"/>
                <a:ea typeface="宋体" panose="02010600030101010101" pitchFamily="2" charset="-122"/>
              </a:rPr>
              <a:t>接受</a:t>
            </a:r>
          </a:p>
        </p:txBody>
      </p:sp>
      <p:sp>
        <p:nvSpPr>
          <p:cNvPr id="1048874" name="Line 4"/>
          <p:cNvSpPr>
            <a:spLocks noChangeShapeType="1"/>
          </p:cNvSpPr>
          <p:nvPr/>
        </p:nvSpPr>
        <p:spPr bwMode="auto">
          <a:xfrm flipV="1">
            <a:off x="6588224" y="4152429"/>
            <a:ext cx="0" cy="363537"/>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5" name="Line 5"/>
          <p:cNvSpPr>
            <a:spLocks noChangeShapeType="1"/>
          </p:cNvSpPr>
          <p:nvPr/>
        </p:nvSpPr>
        <p:spPr bwMode="auto">
          <a:xfrm flipV="1">
            <a:off x="6670675" y="1485900"/>
            <a:ext cx="415925" cy="10541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6" name="Line 6"/>
          <p:cNvSpPr>
            <a:spLocks noChangeShapeType="1"/>
          </p:cNvSpPr>
          <p:nvPr/>
        </p:nvSpPr>
        <p:spPr bwMode="auto">
          <a:xfrm flipV="1">
            <a:off x="7086600" y="1485897"/>
            <a:ext cx="76200" cy="3030068"/>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7" name="Line 7"/>
          <p:cNvSpPr>
            <a:spLocks noChangeShapeType="1"/>
          </p:cNvSpPr>
          <p:nvPr/>
        </p:nvSpPr>
        <p:spPr bwMode="auto">
          <a:xfrm flipH="1" flipV="1">
            <a:off x="8305800" y="2343150"/>
            <a:ext cx="456604" cy="14795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8" name="Line 8"/>
          <p:cNvSpPr>
            <a:spLocks noChangeShapeType="1"/>
          </p:cNvSpPr>
          <p:nvPr/>
        </p:nvSpPr>
        <p:spPr bwMode="auto">
          <a:xfrm flipV="1">
            <a:off x="8147050" y="2400300"/>
            <a:ext cx="82550" cy="2115666"/>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9" name="Line 9"/>
          <p:cNvSpPr>
            <a:spLocks noChangeShapeType="1"/>
          </p:cNvSpPr>
          <p:nvPr/>
        </p:nvSpPr>
        <p:spPr bwMode="auto">
          <a:xfrm flipV="1">
            <a:off x="7672388" y="2343150"/>
            <a:ext cx="481012" cy="8318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0" name="Line 10"/>
          <p:cNvSpPr>
            <a:spLocks noChangeShapeType="1"/>
          </p:cNvSpPr>
          <p:nvPr/>
        </p:nvSpPr>
        <p:spPr bwMode="auto">
          <a:xfrm flipV="1">
            <a:off x="7639050" y="4141316"/>
            <a:ext cx="0" cy="3746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1" name="Line 11"/>
          <p:cNvSpPr>
            <a:spLocks noChangeShapeType="1"/>
          </p:cNvSpPr>
          <p:nvPr/>
        </p:nvSpPr>
        <p:spPr bwMode="auto">
          <a:xfrm flipH="1" flipV="1">
            <a:off x="8748464" y="4184179"/>
            <a:ext cx="6350" cy="331787"/>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2" name="Line 12"/>
          <p:cNvSpPr>
            <a:spLocks noChangeShapeType="1"/>
          </p:cNvSpPr>
          <p:nvPr/>
        </p:nvSpPr>
        <p:spPr bwMode="auto">
          <a:xfrm flipH="1" flipV="1">
            <a:off x="7315200" y="1485900"/>
            <a:ext cx="838200" cy="6286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3" name="Rectangle 13"/>
          <p:cNvSpPr>
            <a:spLocks noChangeArrowheads="1"/>
          </p:cNvSpPr>
          <p:nvPr/>
        </p:nvSpPr>
        <p:spPr bwMode="auto">
          <a:xfrm>
            <a:off x="5148064" y="4800600"/>
            <a:ext cx="3995936" cy="461665"/>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dirty="0">
                <a:ea typeface="华文行楷" pitchFamily="2" charset="-122"/>
              </a:rPr>
              <a:t>规范归约产生语法树</a:t>
            </a:r>
          </a:p>
        </p:txBody>
      </p:sp>
      <p:sp>
        <p:nvSpPr>
          <p:cNvPr id="1048884" name="Rectangle 15"/>
          <p:cNvSpPr>
            <a:spLocks noChangeArrowheads="1"/>
          </p:cNvSpPr>
          <p:nvPr/>
        </p:nvSpPr>
        <p:spPr bwMode="auto">
          <a:xfrm>
            <a:off x="6276375" y="4413250"/>
            <a:ext cx="2867625" cy="43088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200" dirty="0">
                <a:solidFill>
                  <a:srgbClr val="FF0066"/>
                </a:solidFill>
                <a:latin typeface="宋体" pitchFamily="2" charset="-122"/>
                <a:ea typeface="华文行楷" pitchFamily="2" charset="-122"/>
              </a:rPr>
              <a:t>i</a:t>
            </a:r>
            <a:r>
              <a:rPr lang="en-US" altLang="zh-CN" sz="2200" baseline="-25000" dirty="0">
                <a:solidFill>
                  <a:srgbClr val="FF0066"/>
                </a:solidFill>
                <a:latin typeface="宋体" pitchFamily="2" charset="-122"/>
                <a:ea typeface="华文行楷" pitchFamily="2" charset="-122"/>
              </a:rPr>
              <a:t>1</a:t>
            </a:r>
            <a:r>
              <a:rPr lang="en-US" altLang="zh-CN" sz="2200" dirty="0">
                <a:solidFill>
                  <a:srgbClr val="FF0066"/>
                </a:solidFill>
                <a:latin typeface="宋体" pitchFamily="2" charset="-122"/>
                <a:ea typeface="华文行楷" pitchFamily="2" charset="-122"/>
              </a:rPr>
              <a:t>  +   i</a:t>
            </a:r>
            <a:r>
              <a:rPr lang="en-US" altLang="zh-CN" sz="2200" baseline="-25000" dirty="0">
                <a:solidFill>
                  <a:srgbClr val="FF0066"/>
                </a:solidFill>
                <a:latin typeface="宋体" pitchFamily="2" charset="-122"/>
                <a:ea typeface="华文行楷" pitchFamily="2" charset="-122"/>
              </a:rPr>
              <a:t>2</a:t>
            </a:r>
            <a:r>
              <a:rPr lang="en-US" altLang="zh-CN" sz="2200" dirty="0">
                <a:solidFill>
                  <a:srgbClr val="FF0066"/>
                </a:solidFill>
                <a:latin typeface="宋体" pitchFamily="2" charset="-122"/>
                <a:ea typeface="华文行楷" pitchFamily="2" charset="-122"/>
              </a:rPr>
              <a:t>  *   i</a:t>
            </a:r>
            <a:r>
              <a:rPr lang="en-US" altLang="zh-CN" sz="2200" baseline="-25000" dirty="0">
                <a:solidFill>
                  <a:srgbClr val="FF0066"/>
                </a:solidFill>
                <a:latin typeface="宋体" pitchFamily="2" charset="-122"/>
                <a:ea typeface="华文行楷" pitchFamily="2" charset="-122"/>
              </a:rPr>
              <a:t>3</a:t>
            </a:r>
          </a:p>
        </p:txBody>
      </p:sp>
      <p:sp>
        <p:nvSpPr>
          <p:cNvPr id="1048885" name="Text Box 16"/>
          <p:cNvSpPr txBox="1">
            <a:spLocks noChangeArrowheads="1"/>
          </p:cNvSpPr>
          <p:nvPr/>
        </p:nvSpPr>
        <p:spPr bwMode="auto">
          <a:xfrm>
            <a:off x="6444208" y="3746500"/>
            <a:ext cx="315912"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1048886" name="Line 17"/>
          <p:cNvSpPr>
            <a:spLocks noChangeShapeType="1"/>
          </p:cNvSpPr>
          <p:nvPr/>
        </p:nvSpPr>
        <p:spPr bwMode="auto">
          <a:xfrm flipV="1">
            <a:off x="6588224" y="3461494"/>
            <a:ext cx="0" cy="4064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7" name="Text Box 18"/>
          <p:cNvSpPr txBox="1">
            <a:spLocks noChangeArrowheads="1"/>
          </p:cNvSpPr>
          <p:nvPr/>
        </p:nvSpPr>
        <p:spPr bwMode="auto">
          <a:xfrm>
            <a:off x="6444208" y="3075806"/>
            <a:ext cx="315912"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88" name="Line 19"/>
          <p:cNvSpPr>
            <a:spLocks noChangeShapeType="1"/>
          </p:cNvSpPr>
          <p:nvPr/>
        </p:nvSpPr>
        <p:spPr bwMode="auto">
          <a:xfrm flipV="1">
            <a:off x="6602164" y="2789238"/>
            <a:ext cx="38572" cy="4064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9" name="Text Box 20"/>
          <p:cNvSpPr txBox="1">
            <a:spLocks noChangeArrowheads="1"/>
          </p:cNvSpPr>
          <p:nvPr/>
        </p:nvSpPr>
        <p:spPr bwMode="auto">
          <a:xfrm>
            <a:off x="6497638" y="2427734"/>
            <a:ext cx="287337" cy="461665"/>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sp>
        <p:nvSpPr>
          <p:cNvPr id="1048890" name="Text Box 22"/>
          <p:cNvSpPr txBox="1">
            <a:spLocks noChangeArrowheads="1"/>
          </p:cNvSpPr>
          <p:nvPr/>
        </p:nvSpPr>
        <p:spPr bwMode="auto">
          <a:xfrm>
            <a:off x="7497763" y="3760788"/>
            <a:ext cx="315912" cy="460375"/>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solidFill>
                  <a:srgbClr val="FF0066"/>
                </a:solidFill>
                <a:ea typeface="华文行楷" pitchFamily="2" charset="-122"/>
              </a:rPr>
              <a:t>F</a:t>
            </a:r>
          </a:p>
        </p:txBody>
      </p:sp>
      <p:sp>
        <p:nvSpPr>
          <p:cNvPr id="1048891" name="Line 23"/>
          <p:cNvSpPr>
            <a:spLocks noChangeShapeType="1"/>
          </p:cNvSpPr>
          <p:nvPr/>
        </p:nvSpPr>
        <p:spPr bwMode="auto">
          <a:xfrm flipV="1">
            <a:off x="7626350" y="3491656"/>
            <a:ext cx="0" cy="376238"/>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92" name="Text Box 24"/>
          <p:cNvSpPr txBox="1">
            <a:spLocks noChangeArrowheads="1"/>
          </p:cNvSpPr>
          <p:nvPr/>
        </p:nvSpPr>
        <p:spPr bwMode="auto">
          <a:xfrm>
            <a:off x="7442200" y="3075806"/>
            <a:ext cx="315913"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93" name="Text Box 25"/>
          <p:cNvSpPr txBox="1">
            <a:spLocks noChangeArrowheads="1"/>
          </p:cNvSpPr>
          <p:nvPr/>
        </p:nvSpPr>
        <p:spPr bwMode="auto">
          <a:xfrm>
            <a:off x="8604448" y="3794125"/>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1048894" name="Text Box 26"/>
          <p:cNvSpPr txBox="1">
            <a:spLocks noChangeArrowheads="1"/>
          </p:cNvSpPr>
          <p:nvPr/>
        </p:nvSpPr>
        <p:spPr bwMode="auto">
          <a:xfrm>
            <a:off x="8054975" y="1995686"/>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95" name="Text Box 27"/>
          <p:cNvSpPr txBox="1">
            <a:spLocks noChangeArrowheads="1"/>
          </p:cNvSpPr>
          <p:nvPr/>
        </p:nvSpPr>
        <p:spPr bwMode="auto">
          <a:xfrm>
            <a:off x="7004050" y="1131590"/>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sp>
        <p:nvSpPr>
          <p:cNvPr id="1048896" name="Text Box 35"/>
          <p:cNvSpPr txBox="1">
            <a:spLocks noChangeArrowheads="1"/>
          </p:cNvSpPr>
          <p:nvPr/>
        </p:nvSpPr>
        <p:spPr bwMode="auto">
          <a:xfrm>
            <a:off x="7200240" y="0"/>
            <a:ext cx="1943760" cy="1243417"/>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457200" indent="-457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2200" dirty="0">
                <a:ea typeface="华文行楷" pitchFamily="2" charset="-122"/>
              </a:rPr>
              <a:t>(1) E</a:t>
            </a:r>
            <a:r>
              <a:rPr lang="en-US" altLang="zh-CN" sz="2200" dirty="0">
                <a:ea typeface="华文行楷" pitchFamily="2" charset="-122"/>
                <a:sym typeface="Wingdings" pitchFamily="2" charset="2"/>
              </a:rPr>
              <a:t>T | E+T</a:t>
            </a:r>
          </a:p>
          <a:p>
            <a:pPr algn="ctr" eaLnBrk="1" hangingPunct="1">
              <a:buFontTx/>
              <a:buNone/>
            </a:pPr>
            <a:r>
              <a:rPr lang="en-US" altLang="zh-CN" sz="2200" dirty="0">
                <a:ea typeface="华文行楷" pitchFamily="2" charset="-122"/>
                <a:sym typeface="Wingdings" pitchFamily="2" charset="2"/>
              </a:rPr>
              <a:t>(2) TF | T*F</a:t>
            </a:r>
          </a:p>
          <a:p>
            <a:pPr algn="ctr" eaLnBrk="1" hangingPunct="1">
              <a:buFontTx/>
              <a:buNone/>
            </a:pPr>
            <a:r>
              <a:rPr lang="en-US" altLang="zh-CN" sz="2200" dirty="0">
                <a:ea typeface="华文行楷" pitchFamily="2" charset="-122"/>
              </a:rPr>
              <a:t>(3) </a:t>
            </a:r>
            <a:r>
              <a:rPr lang="en-US" altLang="zh-CN" sz="2200" dirty="0" err="1">
                <a:ea typeface="华文行楷" pitchFamily="2" charset="-122"/>
              </a:rPr>
              <a:t>F</a:t>
            </a:r>
            <a:r>
              <a:rPr lang="en-US" altLang="zh-CN" sz="2200" dirty="0" err="1">
                <a:ea typeface="华文行楷" pitchFamily="2" charset="-122"/>
                <a:sym typeface="Wingdings" pitchFamily="2" charset="2"/>
              </a:rPr>
              <a:t>i</a:t>
            </a:r>
            <a:r>
              <a:rPr lang="en-US" altLang="zh-CN" sz="2200" dirty="0">
                <a:ea typeface="华文行楷" pitchFamily="2" charset="-122"/>
                <a:sym typeface="Wingdings" pitchFamily="2" charset="2"/>
              </a:rPr>
              <a:t>  |  (E)</a:t>
            </a:r>
            <a:endParaRPr lang="en-US" altLang="zh-CN" sz="2200" dirty="0">
              <a:ea typeface="华文行楷" pitchFamily="2" charset="-122"/>
            </a:endParaRPr>
          </a:p>
        </p:txBody>
      </p:sp>
      <p:grpSp>
        <p:nvGrpSpPr>
          <p:cNvPr id="102" name="Group 36"/>
          <p:cNvGrpSpPr/>
          <p:nvPr/>
        </p:nvGrpSpPr>
        <p:grpSpPr bwMode="auto">
          <a:xfrm>
            <a:off x="2559447" y="411510"/>
            <a:ext cx="860425" cy="288925"/>
            <a:chOff x="2880" y="1453"/>
            <a:chExt cx="1290" cy="243"/>
          </a:xfrm>
        </p:grpSpPr>
        <p:sp>
          <p:nvSpPr>
            <p:cNvPr id="1048897" name="Line 37"/>
            <p:cNvSpPr>
              <a:spLocks noChangeShapeType="1"/>
            </p:cNvSpPr>
            <p:nvPr/>
          </p:nvSpPr>
          <p:spPr bwMode="auto">
            <a:xfrm>
              <a:off x="2880" y="1453"/>
              <a:ext cx="1290" cy="0"/>
            </a:xfrm>
            <a:prstGeom prst="line">
              <a:avLst/>
            </a:prstGeom>
            <a:noFill/>
            <a:ln w="38100">
              <a:solidFill>
                <a:srgbClr val="FF0066"/>
              </a:solidFill>
              <a:round/>
              <a:headEnd/>
              <a:tailEnd/>
            </a:ln>
          </p:spPr>
          <p:txBody>
            <a:bodyPr/>
            <a:lstStyle/>
            <a:p>
              <a:endParaRPr lang="zh-CN" altLang="en-US"/>
            </a:p>
          </p:txBody>
        </p:sp>
        <p:sp>
          <p:nvSpPr>
            <p:cNvPr id="1048898" name="Line 38"/>
            <p:cNvSpPr>
              <a:spLocks noChangeShapeType="1"/>
            </p:cNvSpPr>
            <p:nvPr/>
          </p:nvSpPr>
          <p:spPr bwMode="auto">
            <a:xfrm>
              <a:off x="2880" y="1453"/>
              <a:ext cx="0" cy="232"/>
            </a:xfrm>
            <a:prstGeom prst="line">
              <a:avLst/>
            </a:prstGeom>
            <a:noFill/>
            <a:ln w="38100">
              <a:solidFill>
                <a:srgbClr val="FF0066"/>
              </a:solidFill>
              <a:round/>
              <a:headEnd/>
              <a:tailEnd/>
            </a:ln>
          </p:spPr>
          <p:txBody>
            <a:bodyPr/>
            <a:lstStyle/>
            <a:p>
              <a:endParaRPr lang="zh-CN" altLang="en-US"/>
            </a:p>
          </p:txBody>
        </p:sp>
        <p:sp>
          <p:nvSpPr>
            <p:cNvPr id="1048899" name="Line 39"/>
            <p:cNvSpPr>
              <a:spLocks noChangeShapeType="1"/>
            </p:cNvSpPr>
            <p:nvPr/>
          </p:nvSpPr>
          <p:spPr bwMode="auto">
            <a:xfrm>
              <a:off x="2880" y="1694"/>
              <a:ext cx="1272" cy="2"/>
            </a:xfrm>
            <a:prstGeom prst="line">
              <a:avLst/>
            </a:prstGeom>
            <a:noFill/>
            <a:ln w="38100">
              <a:solidFill>
                <a:srgbClr val="FF0066"/>
              </a:solidFill>
              <a:round/>
              <a:headEnd/>
              <a:tailEnd/>
            </a:ln>
          </p:spPr>
          <p:txBody>
            <a:bodyPr/>
            <a:lstStyle/>
            <a:p>
              <a:endParaRPr lang="zh-CN" altLang="en-US"/>
            </a:p>
          </p:txBody>
        </p:sp>
      </p:grpSp>
      <p:grpSp>
        <p:nvGrpSpPr>
          <p:cNvPr id="103" name="Group 40"/>
          <p:cNvGrpSpPr/>
          <p:nvPr/>
        </p:nvGrpSpPr>
        <p:grpSpPr bwMode="auto">
          <a:xfrm>
            <a:off x="3563888" y="411510"/>
            <a:ext cx="1224136" cy="288925"/>
            <a:chOff x="4284" y="1437"/>
            <a:chExt cx="1006" cy="243"/>
          </a:xfrm>
        </p:grpSpPr>
        <p:sp>
          <p:nvSpPr>
            <p:cNvPr id="1048900" name="Line 41"/>
            <p:cNvSpPr>
              <a:spLocks noChangeShapeType="1"/>
            </p:cNvSpPr>
            <p:nvPr/>
          </p:nvSpPr>
          <p:spPr bwMode="auto">
            <a:xfrm>
              <a:off x="4284" y="1437"/>
              <a:ext cx="989" cy="0"/>
            </a:xfrm>
            <a:prstGeom prst="line">
              <a:avLst/>
            </a:prstGeom>
            <a:noFill/>
            <a:ln w="38100">
              <a:solidFill>
                <a:srgbClr val="FF0066"/>
              </a:solidFill>
              <a:round/>
              <a:headEnd/>
              <a:tailEnd/>
            </a:ln>
          </p:spPr>
          <p:txBody>
            <a:bodyPr/>
            <a:lstStyle/>
            <a:p>
              <a:endParaRPr lang="zh-CN" altLang="en-US"/>
            </a:p>
          </p:txBody>
        </p:sp>
        <p:sp>
          <p:nvSpPr>
            <p:cNvPr id="1048901" name="Line 42"/>
            <p:cNvSpPr>
              <a:spLocks noChangeShapeType="1"/>
            </p:cNvSpPr>
            <p:nvPr/>
          </p:nvSpPr>
          <p:spPr bwMode="auto">
            <a:xfrm>
              <a:off x="5290" y="1437"/>
              <a:ext cx="0" cy="232"/>
            </a:xfrm>
            <a:prstGeom prst="line">
              <a:avLst/>
            </a:prstGeom>
            <a:noFill/>
            <a:ln w="38100">
              <a:solidFill>
                <a:srgbClr val="FF0066"/>
              </a:solidFill>
              <a:round/>
              <a:headEnd/>
              <a:tailEnd/>
            </a:ln>
          </p:spPr>
          <p:txBody>
            <a:bodyPr/>
            <a:lstStyle/>
            <a:p>
              <a:endParaRPr lang="zh-CN" altLang="en-US"/>
            </a:p>
          </p:txBody>
        </p:sp>
        <p:sp>
          <p:nvSpPr>
            <p:cNvPr id="1048902" name="Line 43"/>
            <p:cNvSpPr>
              <a:spLocks noChangeShapeType="1"/>
            </p:cNvSpPr>
            <p:nvPr/>
          </p:nvSpPr>
          <p:spPr bwMode="auto">
            <a:xfrm>
              <a:off x="4284" y="1678"/>
              <a:ext cx="1006" cy="2"/>
            </a:xfrm>
            <a:prstGeom prst="line">
              <a:avLst/>
            </a:prstGeom>
            <a:noFill/>
            <a:ln w="38100">
              <a:solidFill>
                <a:srgbClr val="FF0066"/>
              </a:solidFill>
              <a:round/>
              <a:headEnd/>
              <a:tailEnd/>
            </a:ln>
          </p:spPr>
          <p:txBody>
            <a:bodyPr/>
            <a:lstStyle/>
            <a:p>
              <a:endParaRPr lang="zh-CN" altLang="en-US"/>
            </a:p>
          </p:txBody>
        </p:sp>
      </p:grpSp>
      <p:sp>
        <p:nvSpPr>
          <p:cNvPr id="1048903" name="矩形 3"/>
          <p:cNvSpPr/>
          <p:nvPr/>
        </p:nvSpPr>
        <p:spPr>
          <a:xfrm>
            <a:off x="359024" y="411510"/>
            <a:ext cx="4536504" cy="576064"/>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4" name="矩形 34"/>
          <p:cNvSpPr/>
          <p:nvPr/>
        </p:nvSpPr>
        <p:spPr>
          <a:xfrm>
            <a:off x="359024" y="987574"/>
            <a:ext cx="4536504" cy="30582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5" name="矩形 35"/>
          <p:cNvSpPr/>
          <p:nvPr/>
        </p:nvSpPr>
        <p:spPr>
          <a:xfrm>
            <a:off x="359024" y="1329818"/>
            <a:ext cx="4536504" cy="30582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6" name="矩形 36"/>
          <p:cNvSpPr/>
          <p:nvPr/>
        </p:nvSpPr>
        <p:spPr>
          <a:xfrm>
            <a:off x="359024" y="1647311"/>
            <a:ext cx="4536504" cy="81033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7" name="矩形 37"/>
          <p:cNvSpPr/>
          <p:nvPr/>
        </p:nvSpPr>
        <p:spPr>
          <a:xfrm>
            <a:off x="359024" y="2457649"/>
            <a:ext cx="4536504" cy="331589"/>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8" name="矩形 38"/>
          <p:cNvSpPr/>
          <p:nvPr/>
        </p:nvSpPr>
        <p:spPr>
          <a:xfrm>
            <a:off x="359024" y="2789238"/>
            <a:ext cx="4536504" cy="875456"/>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9" name="矩形 39"/>
          <p:cNvSpPr/>
          <p:nvPr/>
        </p:nvSpPr>
        <p:spPr>
          <a:xfrm>
            <a:off x="359024" y="3672802"/>
            <a:ext cx="4536504" cy="30468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10" name="矩形 40"/>
          <p:cNvSpPr/>
          <p:nvPr/>
        </p:nvSpPr>
        <p:spPr>
          <a:xfrm>
            <a:off x="359024" y="4025107"/>
            <a:ext cx="4536504" cy="230982"/>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11" name="矩形 41"/>
          <p:cNvSpPr/>
          <p:nvPr/>
        </p:nvSpPr>
        <p:spPr>
          <a:xfrm>
            <a:off x="359024" y="4256089"/>
            <a:ext cx="4536504" cy="331885"/>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5232789" y="30150"/>
            <a:ext cx="2087173" cy="769441"/>
          </a:xfrm>
          <a:prstGeom prst="rect">
            <a:avLst/>
          </a:prstGeom>
        </p:spPr>
        <p:txBody>
          <a:bodyPr wrap="square">
            <a:spAutoFit/>
          </a:bodyPr>
          <a:lstStyle/>
          <a:p>
            <a:r>
              <a:rPr lang="zh-CN" altLang="en-US" sz="2000" dirty="0">
                <a:ea typeface="华文行楷" pitchFamily="2" charset="-122"/>
              </a:rPr>
              <a:t>例：对</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1</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2</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3</a:t>
            </a:r>
            <a:endParaRPr lang="en-US" altLang="zh-CN" baseline="-25000" dirty="0">
              <a:solidFill>
                <a:srgbClr val="FF0000"/>
              </a:solidFill>
              <a:ea typeface="华文行楷" pitchFamily="2" charset="-122"/>
            </a:endParaRPr>
          </a:p>
          <a:p>
            <a:r>
              <a:rPr lang="zh-CN" altLang="en-US" sz="2000" dirty="0">
                <a:ea typeface="华文行楷" pitchFamily="2" charset="-122"/>
              </a:rPr>
              <a:t>进行规范归约</a:t>
            </a:r>
            <a:endParaRPr lang="zh-CN" altLang="en-US" sz="2000" dirty="0"/>
          </a:p>
        </p:txBody>
      </p:sp>
    </p:spTree>
    <p:extLst>
      <p:ext uri="{BB962C8B-B14F-4D97-AF65-F5344CB8AC3E}">
        <p14:creationId xmlns:p14="http://schemas.microsoft.com/office/powerpoint/2010/main" val="18163824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48873">
                                            <p:txEl>
                                              <p:pRg st="0" end="0"/>
                                            </p:txEl>
                                          </p:spTgt>
                                        </p:tgtEl>
                                        <p:attrNameLst>
                                          <p:attrName>style.visibility</p:attrName>
                                        </p:attrNameLst>
                                      </p:cBhvr>
                                      <p:to>
                                        <p:strVal val="visible"/>
                                      </p:to>
                                    </p:set>
                                    <p:animEffect transition="in" filter="wipe(left)">
                                      <p:cBhvr>
                                        <p:cTn id="7" dur="500"/>
                                        <p:tgtEl>
                                          <p:spTgt spid="1048873">
                                            <p:txEl>
                                              <p:pRg st="0" end="0"/>
                                            </p:txEl>
                                          </p:spTgt>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499"/>
                                          </p:stCondLst>
                                        </p:cTn>
                                        <p:tgtEl>
                                          <p:spTgt spid="10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499"/>
                                          </p:stCondLst>
                                        </p:cTn>
                                        <p:tgtEl>
                                          <p:spTgt spid="103"/>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048873">
                                            <p:txEl>
                                              <p:pRg st="1" end="1"/>
                                            </p:txEl>
                                          </p:spTgt>
                                        </p:tgtEl>
                                        <p:attrNameLst>
                                          <p:attrName>style.visibility</p:attrName>
                                        </p:attrNameLst>
                                      </p:cBhvr>
                                      <p:to>
                                        <p:strVal val="visible"/>
                                      </p:to>
                                    </p:set>
                                    <p:animEffect transition="in" filter="wipe(left)">
                                      <p:cBhvr>
                                        <p:cTn id="17" dur="500"/>
                                        <p:tgtEl>
                                          <p:spTgt spid="1048873">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1048884"/>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48873">
                                            <p:txEl>
                                              <p:pRg st="2" end="2"/>
                                            </p:txEl>
                                          </p:spTgt>
                                        </p:tgtEl>
                                        <p:attrNameLst>
                                          <p:attrName>style.visibility</p:attrName>
                                        </p:attrNameLst>
                                      </p:cBhvr>
                                      <p:to>
                                        <p:strVal val="visible"/>
                                      </p:to>
                                    </p:set>
                                    <p:animEffect transition="in" filter="wipe(left)">
                                      <p:cBhvr>
                                        <p:cTn id="26" dur="500"/>
                                        <p:tgtEl>
                                          <p:spTgt spid="1048873">
                                            <p:txEl>
                                              <p:pRg st="2" end="2"/>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048873">
                                            <p:txEl>
                                              <p:pRg st="3" end="3"/>
                                            </p:txEl>
                                          </p:spTgt>
                                        </p:tgtEl>
                                        <p:attrNameLst>
                                          <p:attrName>style.visibility</p:attrName>
                                        </p:attrNameLst>
                                      </p:cBhvr>
                                      <p:to>
                                        <p:strVal val="visible"/>
                                      </p:to>
                                    </p:set>
                                    <p:animEffect transition="in" filter="wipe(left)">
                                      <p:cBhvr>
                                        <p:cTn id="31" dur="500"/>
                                        <p:tgtEl>
                                          <p:spTgt spid="1048873">
                                            <p:txEl>
                                              <p:pRg st="3" end="3"/>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7" presetClass="entr" presetSubtype="4" fill="hold" grpId="0" nodeType="clickEffect">
                                  <p:stCondLst>
                                    <p:cond delay="0"/>
                                  </p:stCondLst>
                                  <p:childTnLst>
                                    <p:set>
                                      <p:cBhvr>
                                        <p:cTn id="35" dur="1" fill="hold">
                                          <p:stCondLst>
                                            <p:cond delay="0"/>
                                          </p:stCondLst>
                                        </p:cTn>
                                        <p:tgtEl>
                                          <p:spTgt spid="1048874"/>
                                        </p:tgtEl>
                                        <p:attrNameLst>
                                          <p:attrName>style.visibility</p:attrName>
                                        </p:attrNameLst>
                                      </p:cBhvr>
                                      <p:to>
                                        <p:strVal val="visible"/>
                                      </p:to>
                                    </p:set>
                                    <p:anim calcmode="lin" valueType="num">
                                      <p:cBhvr>
                                        <p:cTn id="36" dur="500" fill="hold"/>
                                        <p:tgtEl>
                                          <p:spTgt spid="1048874"/>
                                        </p:tgtEl>
                                        <p:attrNameLst>
                                          <p:attrName>ppt_x</p:attrName>
                                        </p:attrNameLst>
                                      </p:cBhvr>
                                      <p:tavLst>
                                        <p:tav tm="0">
                                          <p:val>
                                            <p:strVal val="#ppt_x"/>
                                          </p:val>
                                        </p:tav>
                                        <p:tav tm="100000">
                                          <p:val>
                                            <p:strVal val="#ppt_x"/>
                                          </p:val>
                                        </p:tav>
                                      </p:tavLst>
                                    </p:anim>
                                    <p:anim calcmode="lin" valueType="num">
                                      <p:cBhvr>
                                        <p:cTn id="37" dur="500" fill="hold"/>
                                        <p:tgtEl>
                                          <p:spTgt spid="1048874"/>
                                        </p:tgtEl>
                                        <p:attrNameLst>
                                          <p:attrName>ppt_y</p:attrName>
                                        </p:attrNameLst>
                                      </p:cBhvr>
                                      <p:tavLst>
                                        <p:tav tm="0">
                                          <p:val>
                                            <p:strVal val="#ppt_y+#ppt_h/2"/>
                                          </p:val>
                                        </p:tav>
                                        <p:tav tm="100000">
                                          <p:val>
                                            <p:strVal val="#ppt_y"/>
                                          </p:val>
                                        </p:tav>
                                      </p:tavLst>
                                    </p:anim>
                                    <p:anim calcmode="lin" valueType="num">
                                      <p:cBhvr>
                                        <p:cTn id="38" dur="500" fill="hold"/>
                                        <p:tgtEl>
                                          <p:spTgt spid="1048874"/>
                                        </p:tgtEl>
                                        <p:attrNameLst>
                                          <p:attrName>ppt_w</p:attrName>
                                        </p:attrNameLst>
                                      </p:cBhvr>
                                      <p:tavLst>
                                        <p:tav tm="0">
                                          <p:val>
                                            <p:strVal val="#ppt_w"/>
                                          </p:val>
                                        </p:tav>
                                        <p:tav tm="100000">
                                          <p:val>
                                            <p:strVal val="#ppt_w"/>
                                          </p:val>
                                        </p:tav>
                                      </p:tavLst>
                                    </p:anim>
                                    <p:anim calcmode="lin" valueType="num">
                                      <p:cBhvr>
                                        <p:cTn id="39" dur="500" fill="hold"/>
                                        <p:tgtEl>
                                          <p:spTgt spid="1048874"/>
                                        </p:tgtEl>
                                        <p:attrNameLst>
                                          <p:attrName>ppt_h</p:attrName>
                                        </p:attrNameLst>
                                      </p:cBhvr>
                                      <p:tavLst>
                                        <p:tav tm="0">
                                          <p:val>
                                            <p:fltVal val="0"/>
                                          </p:val>
                                        </p:tav>
                                        <p:tav tm="100000">
                                          <p:val>
                                            <p:strVal val="#ppt_h"/>
                                          </p:val>
                                        </p:tav>
                                      </p:tavLst>
                                    </p:anim>
                                  </p:childTnLst>
                                </p:cTn>
                              </p:par>
                            </p:childTnLst>
                          </p:cTn>
                        </p:par>
                        <p:par>
                          <p:cTn id="40" fill="hold">
                            <p:stCondLst>
                              <p:cond delay="500"/>
                            </p:stCondLst>
                            <p:childTnLst>
                              <p:par>
                                <p:cTn id="41" presetID="1" presetClass="entr" presetSubtype="0" fill="hold" grpId="0" nodeType="afterEffect">
                                  <p:stCondLst>
                                    <p:cond delay="0"/>
                                  </p:stCondLst>
                                  <p:childTnLst>
                                    <p:set>
                                      <p:cBhvr>
                                        <p:cTn id="42" dur="1" fill="hold">
                                          <p:stCondLst>
                                            <p:cond delay="499"/>
                                          </p:stCondLst>
                                        </p:cTn>
                                        <p:tgtEl>
                                          <p:spTgt spid="1048885"/>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048873">
                                            <p:txEl>
                                              <p:pRg st="4" end="4"/>
                                            </p:txEl>
                                          </p:spTgt>
                                        </p:tgtEl>
                                        <p:attrNameLst>
                                          <p:attrName>style.visibility</p:attrName>
                                        </p:attrNameLst>
                                      </p:cBhvr>
                                      <p:to>
                                        <p:strVal val="visible"/>
                                      </p:to>
                                    </p:set>
                                    <p:animEffect transition="in" filter="wipe(left)">
                                      <p:cBhvr>
                                        <p:cTn id="47" dur="500"/>
                                        <p:tgtEl>
                                          <p:spTgt spid="1048873">
                                            <p:txEl>
                                              <p:pRg st="4" end="4"/>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7" presetClass="entr" presetSubtype="4" fill="hold" grpId="0" nodeType="clickEffect">
                                  <p:stCondLst>
                                    <p:cond delay="0"/>
                                  </p:stCondLst>
                                  <p:childTnLst>
                                    <p:set>
                                      <p:cBhvr>
                                        <p:cTn id="51" dur="1" fill="hold">
                                          <p:stCondLst>
                                            <p:cond delay="0"/>
                                          </p:stCondLst>
                                        </p:cTn>
                                        <p:tgtEl>
                                          <p:spTgt spid="1048886"/>
                                        </p:tgtEl>
                                        <p:attrNameLst>
                                          <p:attrName>style.visibility</p:attrName>
                                        </p:attrNameLst>
                                      </p:cBhvr>
                                      <p:to>
                                        <p:strVal val="visible"/>
                                      </p:to>
                                    </p:set>
                                    <p:anim calcmode="lin" valueType="num">
                                      <p:cBhvr>
                                        <p:cTn id="52" dur="500" fill="hold"/>
                                        <p:tgtEl>
                                          <p:spTgt spid="1048886"/>
                                        </p:tgtEl>
                                        <p:attrNameLst>
                                          <p:attrName>ppt_x</p:attrName>
                                        </p:attrNameLst>
                                      </p:cBhvr>
                                      <p:tavLst>
                                        <p:tav tm="0">
                                          <p:val>
                                            <p:strVal val="#ppt_x"/>
                                          </p:val>
                                        </p:tav>
                                        <p:tav tm="100000">
                                          <p:val>
                                            <p:strVal val="#ppt_x"/>
                                          </p:val>
                                        </p:tav>
                                      </p:tavLst>
                                    </p:anim>
                                    <p:anim calcmode="lin" valueType="num">
                                      <p:cBhvr>
                                        <p:cTn id="53" dur="500" fill="hold"/>
                                        <p:tgtEl>
                                          <p:spTgt spid="1048886"/>
                                        </p:tgtEl>
                                        <p:attrNameLst>
                                          <p:attrName>ppt_y</p:attrName>
                                        </p:attrNameLst>
                                      </p:cBhvr>
                                      <p:tavLst>
                                        <p:tav tm="0">
                                          <p:val>
                                            <p:strVal val="#ppt_y+#ppt_h/2"/>
                                          </p:val>
                                        </p:tav>
                                        <p:tav tm="100000">
                                          <p:val>
                                            <p:strVal val="#ppt_y"/>
                                          </p:val>
                                        </p:tav>
                                      </p:tavLst>
                                    </p:anim>
                                    <p:anim calcmode="lin" valueType="num">
                                      <p:cBhvr>
                                        <p:cTn id="54" dur="500" fill="hold"/>
                                        <p:tgtEl>
                                          <p:spTgt spid="1048886"/>
                                        </p:tgtEl>
                                        <p:attrNameLst>
                                          <p:attrName>ppt_w</p:attrName>
                                        </p:attrNameLst>
                                      </p:cBhvr>
                                      <p:tavLst>
                                        <p:tav tm="0">
                                          <p:val>
                                            <p:strVal val="#ppt_w"/>
                                          </p:val>
                                        </p:tav>
                                        <p:tav tm="100000">
                                          <p:val>
                                            <p:strVal val="#ppt_w"/>
                                          </p:val>
                                        </p:tav>
                                      </p:tavLst>
                                    </p:anim>
                                    <p:anim calcmode="lin" valueType="num">
                                      <p:cBhvr>
                                        <p:cTn id="55" dur="500" fill="hold"/>
                                        <p:tgtEl>
                                          <p:spTgt spid="1048886"/>
                                        </p:tgtEl>
                                        <p:attrNameLst>
                                          <p:attrName>ppt_h</p:attrName>
                                        </p:attrNameLst>
                                      </p:cBhvr>
                                      <p:tavLst>
                                        <p:tav tm="0">
                                          <p:val>
                                            <p:fltVal val="0"/>
                                          </p:val>
                                        </p:tav>
                                        <p:tav tm="100000">
                                          <p:val>
                                            <p:strVal val="#ppt_h"/>
                                          </p:val>
                                        </p:tav>
                                      </p:tavLst>
                                    </p:anim>
                                  </p:childTnLst>
                                </p:cTn>
                              </p:par>
                            </p:childTnLst>
                          </p:cTn>
                        </p:par>
                        <p:par>
                          <p:cTn id="56" fill="hold">
                            <p:stCondLst>
                              <p:cond delay="500"/>
                            </p:stCondLst>
                            <p:childTnLst>
                              <p:par>
                                <p:cTn id="57" presetID="1" presetClass="entr" presetSubtype="0" fill="hold" grpId="0" nodeType="afterEffect">
                                  <p:stCondLst>
                                    <p:cond delay="0"/>
                                  </p:stCondLst>
                                  <p:childTnLst>
                                    <p:set>
                                      <p:cBhvr>
                                        <p:cTn id="58" dur="1" fill="hold">
                                          <p:stCondLst>
                                            <p:cond delay="499"/>
                                          </p:stCondLst>
                                        </p:cTn>
                                        <p:tgtEl>
                                          <p:spTgt spid="1048887"/>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1048873">
                                            <p:txEl>
                                              <p:pRg st="5" end="5"/>
                                            </p:txEl>
                                          </p:spTgt>
                                        </p:tgtEl>
                                        <p:attrNameLst>
                                          <p:attrName>style.visibility</p:attrName>
                                        </p:attrNameLst>
                                      </p:cBhvr>
                                      <p:to>
                                        <p:strVal val="visible"/>
                                      </p:to>
                                    </p:set>
                                    <p:animEffect transition="in" filter="wipe(left)">
                                      <p:cBhvr>
                                        <p:cTn id="63" dur="500"/>
                                        <p:tgtEl>
                                          <p:spTgt spid="1048873">
                                            <p:txEl>
                                              <p:pRg st="5" end="5"/>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17" presetClass="entr" presetSubtype="4" fill="hold" grpId="0" nodeType="clickEffect">
                                  <p:stCondLst>
                                    <p:cond delay="0"/>
                                  </p:stCondLst>
                                  <p:childTnLst>
                                    <p:set>
                                      <p:cBhvr>
                                        <p:cTn id="67" dur="1" fill="hold">
                                          <p:stCondLst>
                                            <p:cond delay="0"/>
                                          </p:stCondLst>
                                        </p:cTn>
                                        <p:tgtEl>
                                          <p:spTgt spid="1048888"/>
                                        </p:tgtEl>
                                        <p:attrNameLst>
                                          <p:attrName>style.visibility</p:attrName>
                                        </p:attrNameLst>
                                      </p:cBhvr>
                                      <p:to>
                                        <p:strVal val="visible"/>
                                      </p:to>
                                    </p:set>
                                    <p:anim calcmode="lin" valueType="num">
                                      <p:cBhvr>
                                        <p:cTn id="68" dur="500" fill="hold"/>
                                        <p:tgtEl>
                                          <p:spTgt spid="1048888"/>
                                        </p:tgtEl>
                                        <p:attrNameLst>
                                          <p:attrName>ppt_x</p:attrName>
                                        </p:attrNameLst>
                                      </p:cBhvr>
                                      <p:tavLst>
                                        <p:tav tm="0">
                                          <p:val>
                                            <p:strVal val="#ppt_x"/>
                                          </p:val>
                                        </p:tav>
                                        <p:tav tm="100000">
                                          <p:val>
                                            <p:strVal val="#ppt_x"/>
                                          </p:val>
                                        </p:tav>
                                      </p:tavLst>
                                    </p:anim>
                                    <p:anim calcmode="lin" valueType="num">
                                      <p:cBhvr>
                                        <p:cTn id="69" dur="500" fill="hold"/>
                                        <p:tgtEl>
                                          <p:spTgt spid="1048888"/>
                                        </p:tgtEl>
                                        <p:attrNameLst>
                                          <p:attrName>ppt_y</p:attrName>
                                        </p:attrNameLst>
                                      </p:cBhvr>
                                      <p:tavLst>
                                        <p:tav tm="0">
                                          <p:val>
                                            <p:strVal val="#ppt_y+#ppt_h/2"/>
                                          </p:val>
                                        </p:tav>
                                        <p:tav tm="100000">
                                          <p:val>
                                            <p:strVal val="#ppt_y"/>
                                          </p:val>
                                        </p:tav>
                                      </p:tavLst>
                                    </p:anim>
                                    <p:anim calcmode="lin" valueType="num">
                                      <p:cBhvr>
                                        <p:cTn id="70" dur="500" fill="hold"/>
                                        <p:tgtEl>
                                          <p:spTgt spid="1048888"/>
                                        </p:tgtEl>
                                        <p:attrNameLst>
                                          <p:attrName>ppt_w</p:attrName>
                                        </p:attrNameLst>
                                      </p:cBhvr>
                                      <p:tavLst>
                                        <p:tav tm="0">
                                          <p:val>
                                            <p:strVal val="#ppt_w"/>
                                          </p:val>
                                        </p:tav>
                                        <p:tav tm="100000">
                                          <p:val>
                                            <p:strVal val="#ppt_w"/>
                                          </p:val>
                                        </p:tav>
                                      </p:tavLst>
                                    </p:anim>
                                    <p:anim calcmode="lin" valueType="num">
                                      <p:cBhvr>
                                        <p:cTn id="71" dur="500" fill="hold"/>
                                        <p:tgtEl>
                                          <p:spTgt spid="1048888"/>
                                        </p:tgtEl>
                                        <p:attrNameLst>
                                          <p:attrName>ppt_h</p:attrName>
                                        </p:attrNameLst>
                                      </p:cBhvr>
                                      <p:tavLst>
                                        <p:tav tm="0">
                                          <p:val>
                                            <p:fltVal val="0"/>
                                          </p:val>
                                        </p:tav>
                                        <p:tav tm="100000">
                                          <p:val>
                                            <p:strVal val="#ppt_h"/>
                                          </p:val>
                                        </p:tav>
                                      </p:tavLst>
                                    </p:anim>
                                  </p:childTnLst>
                                </p:cTn>
                              </p:par>
                            </p:childTnLst>
                          </p:cTn>
                        </p:par>
                        <p:par>
                          <p:cTn id="72" fill="hold">
                            <p:stCondLst>
                              <p:cond delay="500"/>
                            </p:stCondLst>
                            <p:childTnLst>
                              <p:par>
                                <p:cTn id="73" presetID="1" presetClass="entr" presetSubtype="0" fill="hold" grpId="0" nodeType="afterEffect">
                                  <p:stCondLst>
                                    <p:cond delay="0"/>
                                  </p:stCondLst>
                                  <p:childTnLst>
                                    <p:set>
                                      <p:cBhvr>
                                        <p:cTn id="74" dur="1" fill="hold">
                                          <p:stCondLst>
                                            <p:cond delay="499"/>
                                          </p:stCondLst>
                                        </p:cTn>
                                        <p:tgtEl>
                                          <p:spTgt spid="1048889"/>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1048873">
                                            <p:txEl>
                                              <p:pRg st="6" end="6"/>
                                            </p:txEl>
                                          </p:spTgt>
                                        </p:tgtEl>
                                        <p:attrNameLst>
                                          <p:attrName>style.visibility</p:attrName>
                                        </p:attrNameLst>
                                      </p:cBhvr>
                                      <p:to>
                                        <p:strVal val="visible"/>
                                      </p:to>
                                    </p:set>
                                    <p:animEffect transition="in" filter="wipe(left)">
                                      <p:cBhvr>
                                        <p:cTn id="79" dur="500"/>
                                        <p:tgtEl>
                                          <p:spTgt spid="1048873">
                                            <p:txEl>
                                              <p:pRg st="6" end="6"/>
                                            </p:txEl>
                                          </p:spTgt>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1048873">
                                            <p:txEl>
                                              <p:pRg st="7" end="7"/>
                                            </p:txEl>
                                          </p:spTgt>
                                        </p:tgtEl>
                                        <p:attrNameLst>
                                          <p:attrName>style.visibility</p:attrName>
                                        </p:attrNameLst>
                                      </p:cBhvr>
                                      <p:to>
                                        <p:strVal val="visible"/>
                                      </p:to>
                                    </p:set>
                                    <p:animEffect transition="in" filter="wipe(left)">
                                      <p:cBhvr>
                                        <p:cTn id="84" dur="500"/>
                                        <p:tgtEl>
                                          <p:spTgt spid="1048873">
                                            <p:txEl>
                                              <p:pRg st="7" end="7"/>
                                            </p:txEl>
                                          </p:spTgt>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1048873">
                                            <p:txEl>
                                              <p:pRg st="8" end="8"/>
                                            </p:txEl>
                                          </p:spTgt>
                                        </p:tgtEl>
                                        <p:attrNameLst>
                                          <p:attrName>style.visibility</p:attrName>
                                        </p:attrNameLst>
                                      </p:cBhvr>
                                      <p:to>
                                        <p:strVal val="visible"/>
                                      </p:to>
                                    </p:set>
                                    <p:animEffect transition="in" filter="wipe(left)">
                                      <p:cBhvr>
                                        <p:cTn id="89" dur="500"/>
                                        <p:tgtEl>
                                          <p:spTgt spid="1048873">
                                            <p:txEl>
                                              <p:pRg st="8" end="8"/>
                                            </p:txEl>
                                          </p:spTgt>
                                        </p:tgtEl>
                                      </p:cBhvr>
                                    </p:animEffect>
                                  </p:childTnLst>
                                </p:cTn>
                              </p:par>
                            </p:childTnLst>
                          </p:cTn>
                        </p:par>
                      </p:childTnLst>
                    </p:cTn>
                  </p:par>
                  <p:par>
                    <p:cTn id="90" fill="hold">
                      <p:stCondLst>
                        <p:cond delay="indefinite"/>
                      </p:stCondLst>
                      <p:childTnLst>
                        <p:par>
                          <p:cTn id="91" fill="hold">
                            <p:stCondLst>
                              <p:cond delay="0"/>
                            </p:stCondLst>
                            <p:childTnLst>
                              <p:par>
                                <p:cTn id="92" presetID="17" presetClass="entr" presetSubtype="4" fill="hold" grpId="0" nodeType="clickEffect">
                                  <p:stCondLst>
                                    <p:cond delay="0"/>
                                  </p:stCondLst>
                                  <p:childTnLst>
                                    <p:set>
                                      <p:cBhvr>
                                        <p:cTn id="93" dur="1" fill="hold">
                                          <p:stCondLst>
                                            <p:cond delay="0"/>
                                          </p:stCondLst>
                                        </p:cTn>
                                        <p:tgtEl>
                                          <p:spTgt spid="1048880"/>
                                        </p:tgtEl>
                                        <p:attrNameLst>
                                          <p:attrName>style.visibility</p:attrName>
                                        </p:attrNameLst>
                                      </p:cBhvr>
                                      <p:to>
                                        <p:strVal val="visible"/>
                                      </p:to>
                                    </p:set>
                                    <p:anim calcmode="lin" valueType="num">
                                      <p:cBhvr>
                                        <p:cTn id="94" dur="500" fill="hold"/>
                                        <p:tgtEl>
                                          <p:spTgt spid="1048880"/>
                                        </p:tgtEl>
                                        <p:attrNameLst>
                                          <p:attrName>ppt_x</p:attrName>
                                        </p:attrNameLst>
                                      </p:cBhvr>
                                      <p:tavLst>
                                        <p:tav tm="0">
                                          <p:val>
                                            <p:strVal val="#ppt_x"/>
                                          </p:val>
                                        </p:tav>
                                        <p:tav tm="100000">
                                          <p:val>
                                            <p:strVal val="#ppt_x"/>
                                          </p:val>
                                        </p:tav>
                                      </p:tavLst>
                                    </p:anim>
                                    <p:anim calcmode="lin" valueType="num">
                                      <p:cBhvr>
                                        <p:cTn id="95" dur="500" fill="hold"/>
                                        <p:tgtEl>
                                          <p:spTgt spid="1048880"/>
                                        </p:tgtEl>
                                        <p:attrNameLst>
                                          <p:attrName>ppt_y</p:attrName>
                                        </p:attrNameLst>
                                      </p:cBhvr>
                                      <p:tavLst>
                                        <p:tav tm="0">
                                          <p:val>
                                            <p:strVal val="#ppt_y+#ppt_h/2"/>
                                          </p:val>
                                        </p:tav>
                                        <p:tav tm="100000">
                                          <p:val>
                                            <p:strVal val="#ppt_y"/>
                                          </p:val>
                                        </p:tav>
                                      </p:tavLst>
                                    </p:anim>
                                    <p:anim calcmode="lin" valueType="num">
                                      <p:cBhvr>
                                        <p:cTn id="96" dur="500" fill="hold"/>
                                        <p:tgtEl>
                                          <p:spTgt spid="1048880"/>
                                        </p:tgtEl>
                                        <p:attrNameLst>
                                          <p:attrName>ppt_w</p:attrName>
                                        </p:attrNameLst>
                                      </p:cBhvr>
                                      <p:tavLst>
                                        <p:tav tm="0">
                                          <p:val>
                                            <p:strVal val="#ppt_w"/>
                                          </p:val>
                                        </p:tav>
                                        <p:tav tm="100000">
                                          <p:val>
                                            <p:strVal val="#ppt_w"/>
                                          </p:val>
                                        </p:tav>
                                      </p:tavLst>
                                    </p:anim>
                                    <p:anim calcmode="lin" valueType="num">
                                      <p:cBhvr>
                                        <p:cTn id="97" dur="500" fill="hold"/>
                                        <p:tgtEl>
                                          <p:spTgt spid="1048880"/>
                                        </p:tgtEl>
                                        <p:attrNameLst>
                                          <p:attrName>ppt_h</p:attrName>
                                        </p:attrNameLst>
                                      </p:cBhvr>
                                      <p:tavLst>
                                        <p:tav tm="0">
                                          <p:val>
                                            <p:fltVal val="0"/>
                                          </p:val>
                                        </p:tav>
                                        <p:tav tm="100000">
                                          <p:val>
                                            <p:strVal val="#ppt_h"/>
                                          </p:val>
                                        </p:tav>
                                      </p:tavLst>
                                    </p:anim>
                                  </p:childTnLst>
                                </p:cTn>
                              </p:par>
                            </p:childTnLst>
                          </p:cTn>
                        </p:par>
                        <p:par>
                          <p:cTn id="98" fill="hold">
                            <p:stCondLst>
                              <p:cond delay="500"/>
                            </p:stCondLst>
                            <p:childTnLst>
                              <p:par>
                                <p:cTn id="99" presetID="1" presetClass="entr" presetSubtype="0" fill="hold" grpId="0" nodeType="afterEffect">
                                  <p:stCondLst>
                                    <p:cond delay="0"/>
                                  </p:stCondLst>
                                  <p:childTnLst>
                                    <p:set>
                                      <p:cBhvr>
                                        <p:cTn id="100" dur="1" fill="hold">
                                          <p:stCondLst>
                                            <p:cond delay="499"/>
                                          </p:stCondLst>
                                        </p:cTn>
                                        <p:tgtEl>
                                          <p:spTgt spid="1048890"/>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2" presetClass="entr" presetSubtype="8" fill="hold" grpId="0" nodeType="clickEffect">
                                  <p:stCondLst>
                                    <p:cond delay="0"/>
                                  </p:stCondLst>
                                  <p:childTnLst>
                                    <p:set>
                                      <p:cBhvr>
                                        <p:cTn id="104" dur="1" fill="hold">
                                          <p:stCondLst>
                                            <p:cond delay="0"/>
                                          </p:stCondLst>
                                        </p:cTn>
                                        <p:tgtEl>
                                          <p:spTgt spid="1048873">
                                            <p:txEl>
                                              <p:pRg st="9" end="9"/>
                                            </p:txEl>
                                          </p:spTgt>
                                        </p:tgtEl>
                                        <p:attrNameLst>
                                          <p:attrName>style.visibility</p:attrName>
                                        </p:attrNameLst>
                                      </p:cBhvr>
                                      <p:to>
                                        <p:strVal val="visible"/>
                                      </p:to>
                                    </p:set>
                                    <p:animEffect transition="in" filter="wipe(left)">
                                      <p:cBhvr>
                                        <p:cTn id="105" dur="500"/>
                                        <p:tgtEl>
                                          <p:spTgt spid="1048873">
                                            <p:txEl>
                                              <p:pRg st="9" end="9"/>
                                            </p:txEl>
                                          </p:spTgt>
                                        </p:tgtEl>
                                      </p:cBhvr>
                                    </p:animEffect>
                                  </p:childTnLst>
                                </p:cTn>
                              </p:par>
                            </p:childTnLst>
                          </p:cTn>
                        </p:par>
                      </p:childTnLst>
                    </p:cTn>
                  </p:par>
                  <p:par>
                    <p:cTn id="106" fill="hold">
                      <p:stCondLst>
                        <p:cond delay="indefinite"/>
                      </p:stCondLst>
                      <p:childTnLst>
                        <p:par>
                          <p:cTn id="107" fill="hold">
                            <p:stCondLst>
                              <p:cond delay="0"/>
                            </p:stCondLst>
                            <p:childTnLst>
                              <p:par>
                                <p:cTn id="108" presetID="17" presetClass="entr" presetSubtype="4" fill="hold" grpId="0" nodeType="clickEffect">
                                  <p:stCondLst>
                                    <p:cond delay="0"/>
                                  </p:stCondLst>
                                  <p:childTnLst>
                                    <p:set>
                                      <p:cBhvr>
                                        <p:cTn id="109" dur="1" fill="hold">
                                          <p:stCondLst>
                                            <p:cond delay="0"/>
                                          </p:stCondLst>
                                        </p:cTn>
                                        <p:tgtEl>
                                          <p:spTgt spid="1048891"/>
                                        </p:tgtEl>
                                        <p:attrNameLst>
                                          <p:attrName>style.visibility</p:attrName>
                                        </p:attrNameLst>
                                      </p:cBhvr>
                                      <p:to>
                                        <p:strVal val="visible"/>
                                      </p:to>
                                    </p:set>
                                    <p:anim calcmode="lin" valueType="num">
                                      <p:cBhvr>
                                        <p:cTn id="110" dur="500" fill="hold"/>
                                        <p:tgtEl>
                                          <p:spTgt spid="1048891"/>
                                        </p:tgtEl>
                                        <p:attrNameLst>
                                          <p:attrName>ppt_x</p:attrName>
                                        </p:attrNameLst>
                                      </p:cBhvr>
                                      <p:tavLst>
                                        <p:tav tm="0">
                                          <p:val>
                                            <p:strVal val="#ppt_x"/>
                                          </p:val>
                                        </p:tav>
                                        <p:tav tm="100000">
                                          <p:val>
                                            <p:strVal val="#ppt_x"/>
                                          </p:val>
                                        </p:tav>
                                      </p:tavLst>
                                    </p:anim>
                                    <p:anim calcmode="lin" valueType="num">
                                      <p:cBhvr>
                                        <p:cTn id="111" dur="500" fill="hold"/>
                                        <p:tgtEl>
                                          <p:spTgt spid="1048891"/>
                                        </p:tgtEl>
                                        <p:attrNameLst>
                                          <p:attrName>ppt_y</p:attrName>
                                        </p:attrNameLst>
                                      </p:cBhvr>
                                      <p:tavLst>
                                        <p:tav tm="0">
                                          <p:val>
                                            <p:strVal val="#ppt_y+#ppt_h/2"/>
                                          </p:val>
                                        </p:tav>
                                        <p:tav tm="100000">
                                          <p:val>
                                            <p:strVal val="#ppt_y"/>
                                          </p:val>
                                        </p:tav>
                                      </p:tavLst>
                                    </p:anim>
                                    <p:anim calcmode="lin" valueType="num">
                                      <p:cBhvr>
                                        <p:cTn id="112" dur="500" fill="hold"/>
                                        <p:tgtEl>
                                          <p:spTgt spid="1048891"/>
                                        </p:tgtEl>
                                        <p:attrNameLst>
                                          <p:attrName>ppt_w</p:attrName>
                                        </p:attrNameLst>
                                      </p:cBhvr>
                                      <p:tavLst>
                                        <p:tav tm="0">
                                          <p:val>
                                            <p:strVal val="#ppt_w"/>
                                          </p:val>
                                        </p:tav>
                                        <p:tav tm="100000">
                                          <p:val>
                                            <p:strVal val="#ppt_w"/>
                                          </p:val>
                                        </p:tav>
                                      </p:tavLst>
                                    </p:anim>
                                    <p:anim calcmode="lin" valueType="num">
                                      <p:cBhvr>
                                        <p:cTn id="113" dur="500" fill="hold"/>
                                        <p:tgtEl>
                                          <p:spTgt spid="1048891"/>
                                        </p:tgtEl>
                                        <p:attrNameLst>
                                          <p:attrName>ppt_h</p:attrName>
                                        </p:attrNameLst>
                                      </p:cBhvr>
                                      <p:tavLst>
                                        <p:tav tm="0">
                                          <p:val>
                                            <p:fltVal val="0"/>
                                          </p:val>
                                        </p:tav>
                                        <p:tav tm="100000">
                                          <p:val>
                                            <p:strVal val="#ppt_h"/>
                                          </p:val>
                                        </p:tav>
                                      </p:tavLst>
                                    </p:anim>
                                  </p:childTnLst>
                                </p:cTn>
                              </p:par>
                            </p:childTnLst>
                          </p:cTn>
                        </p:par>
                        <p:par>
                          <p:cTn id="114" fill="hold">
                            <p:stCondLst>
                              <p:cond delay="500"/>
                            </p:stCondLst>
                            <p:childTnLst>
                              <p:par>
                                <p:cTn id="115" presetID="1" presetClass="entr" presetSubtype="0" fill="hold" grpId="0" nodeType="afterEffect">
                                  <p:stCondLst>
                                    <p:cond delay="0"/>
                                  </p:stCondLst>
                                  <p:childTnLst>
                                    <p:set>
                                      <p:cBhvr>
                                        <p:cTn id="116" dur="1" fill="hold">
                                          <p:stCondLst>
                                            <p:cond delay="499"/>
                                          </p:stCondLst>
                                        </p:cTn>
                                        <p:tgtEl>
                                          <p:spTgt spid="1048892"/>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2" presetClass="entr" presetSubtype="8" fill="hold" grpId="0" nodeType="clickEffect">
                                  <p:stCondLst>
                                    <p:cond delay="0"/>
                                  </p:stCondLst>
                                  <p:childTnLst>
                                    <p:set>
                                      <p:cBhvr>
                                        <p:cTn id="120" dur="1" fill="hold">
                                          <p:stCondLst>
                                            <p:cond delay="0"/>
                                          </p:stCondLst>
                                        </p:cTn>
                                        <p:tgtEl>
                                          <p:spTgt spid="1048873">
                                            <p:txEl>
                                              <p:pRg st="10" end="10"/>
                                            </p:txEl>
                                          </p:spTgt>
                                        </p:tgtEl>
                                        <p:attrNameLst>
                                          <p:attrName>style.visibility</p:attrName>
                                        </p:attrNameLst>
                                      </p:cBhvr>
                                      <p:to>
                                        <p:strVal val="visible"/>
                                      </p:to>
                                    </p:set>
                                    <p:animEffect transition="in" filter="wipe(left)">
                                      <p:cBhvr>
                                        <p:cTn id="121" dur="500"/>
                                        <p:tgtEl>
                                          <p:spTgt spid="1048873">
                                            <p:txEl>
                                              <p:pRg st="10" end="10"/>
                                            </p:txEl>
                                          </p:spTgt>
                                        </p:tgtEl>
                                      </p:cBhvr>
                                    </p:animEffec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22" presetClass="entr" presetSubtype="8" fill="hold" grpId="0" nodeType="clickEffect">
                                  <p:stCondLst>
                                    <p:cond delay="0"/>
                                  </p:stCondLst>
                                  <p:childTnLst>
                                    <p:set>
                                      <p:cBhvr>
                                        <p:cTn id="125" dur="1" fill="hold">
                                          <p:stCondLst>
                                            <p:cond delay="0"/>
                                          </p:stCondLst>
                                        </p:cTn>
                                        <p:tgtEl>
                                          <p:spTgt spid="1048873">
                                            <p:txEl>
                                              <p:pRg st="11" end="11"/>
                                            </p:txEl>
                                          </p:spTgt>
                                        </p:tgtEl>
                                        <p:attrNameLst>
                                          <p:attrName>style.visibility</p:attrName>
                                        </p:attrNameLst>
                                      </p:cBhvr>
                                      <p:to>
                                        <p:strVal val="visible"/>
                                      </p:to>
                                    </p:set>
                                    <p:animEffect transition="in" filter="wipe(left)">
                                      <p:cBhvr>
                                        <p:cTn id="126" dur="500"/>
                                        <p:tgtEl>
                                          <p:spTgt spid="1048873">
                                            <p:txEl>
                                              <p:pRg st="11" end="11"/>
                                            </p:txEl>
                                          </p:spTgt>
                                        </p:tgtEl>
                                      </p:cBhvr>
                                    </p:animEffec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22" presetClass="entr" presetSubtype="8" fill="hold" grpId="0" nodeType="clickEffect">
                                  <p:stCondLst>
                                    <p:cond delay="0"/>
                                  </p:stCondLst>
                                  <p:childTnLst>
                                    <p:set>
                                      <p:cBhvr>
                                        <p:cTn id="130" dur="1" fill="hold">
                                          <p:stCondLst>
                                            <p:cond delay="0"/>
                                          </p:stCondLst>
                                        </p:cTn>
                                        <p:tgtEl>
                                          <p:spTgt spid="1048873">
                                            <p:txEl>
                                              <p:pRg st="12" end="12"/>
                                            </p:txEl>
                                          </p:spTgt>
                                        </p:tgtEl>
                                        <p:attrNameLst>
                                          <p:attrName>style.visibility</p:attrName>
                                        </p:attrNameLst>
                                      </p:cBhvr>
                                      <p:to>
                                        <p:strVal val="visible"/>
                                      </p:to>
                                    </p:set>
                                    <p:animEffect transition="in" filter="wipe(left)">
                                      <p:cBhvr>
                                        <p:cTn id="131" dur="500"/>
                                        <p:tgtEl>
                                          <p:spTgt spid="1048873">
                                            <p:txEl>
                                              <p:pRg st="12" end="12"/>
                                            </p:txEl>
                                          </p:spTgt>
                                        </p:tgtEl>
                                      </p:cBhvr>
                                    </p:animEffect>
                                  </p:childTnLst>
                                </p:cTn>
                              </p:par>
                            </p:childTnLst>
                          </p:cTn>
                        </p:par>
                      </p:childTnLst>
                    </p:cTn>
                  </p:par>
                  <p:par>
                    <p:cTn id="132" fill="hold">
                      <p:stCondLst>
                        <p:cond delay="indefinite"/>
                      </p:stCondLst>
                      <p:childTnLst>
                        <p:par>
                          <p:cTn id="133" fill="hold">
                            <p:stCondLst>
                              <p:cond delay="0"/>
                            </p:stCondLst>
                            <p:childTnLst>
                              <p:par>
                                <p:cTn id="134" presetID="17" presetClass="entr" presetSubtype="4" fill="hold" grpId="0" nodeType="clickEffect">
                                  <p:stCondLst>
                                    <p:cond delay="0"/>
                                  </p:stCondLst>
                                  <p:childTnLst>
                                    <p:set>
                                      <p:cBhvr>
                                        <p:cTn id="135" dur="1" fill="hold">
                                          <p:stCondLst>
                                            <p:cond delay="0"/>
                                          </p:stCondLst>
                                        </p:cTn>
                                        <p:tgtEl>
                                          <p:spTgt spid="1048881"/>
                                        </p:tgtEl>
                                        <p:attrNameLst>
                                          <p:attrName>style.visibility</p:attrName>
                                        </p:attrNameLst>
                                      </p:cBhvr>
                                      <p:to>
                                        <p:strVal val="visible"/>
                                      </p:to>
                                    </p:set>
                                    <p:anim calcmode="lin" valueType="num">
                                      <p:cBhvr>
                                        <p:cTn id="136" dur="500" fill="hold"/>
                                        <p:tgtEl>
                                          <p:spTgt spid="1048881"/>
                                        </p:tgtEl>
                                        <p:attrNameLst>
                                          <p:attrName>ppt_x</p:attrName>
                                        </p:attrNameLst>
                                      </p:cBhvr>
                                      <p:tavLst>
                                        <p:tav tm="0">
                                          <p:val>
                                            <p:strVal val="#ppt_x"/>
                                          </p:val>
                                        </p:tav>
                                        <p:tav tm="100000">
                                          <p:val>
                                            <p:strVal val="#ppt_x"/>
                                          </p:val>
                                        </p:tav>
                                      </p:tavLst>
                                    </p:anim>
                                    <p:anim calcmode="lin" valueType="num">
                                      <p:cBhvr>
                                        <p:cTn id="137" dur="500" fill="hold"/>
                                        <p:tgtEl>
                                          <p:spTgt spid="1048881"/>
                                        </p:tgtEl>
                                        <p:attrNameLst>
                                          <p:attrName>ppt_y</p:attrName>
                                        </p:attrNameLst>
                                      </p:cBhvr>
                                      <p:tavLst>
                                        <p:tav tm="0">
                                          <p:val>
                                            <p:strVal val="#ppt_y+#ppt_h/2"/>
                                          </p:val>
                                        </p:tav>
                                        <p:tav tm="100000">
                                          <p:val>
                                            <p:strVal val="#ppt_y"/>
                                          </p:val>
                                        </p:tav>
                                      </p:tavLst>
                                    </p:anim>
                                    <p:anim calcmode="lin" valueType="num">
                                      <p:cBhvr>
                                        <p:cTn id="138" dur="500" fill="hold"/>
                                        <p:tgtEl>
                                          <p:spTgt spid="1048881"/>
                                        </p:tgtEl>
                                        <p:attrNameLst>
                                          <p:attrName>ppt_w</p:attrName>
                                        </p:attrNameLst>
                                      </p:cBhvr>
                                      <p:tavLst>
                                        <p:tav tm="0">
                                          <p:val>
                                            <p:strVal val="#ppt_w"/>
                                          </p:val>
                                        </p:tav>
                                        <p:tav tm="100000">
                                          <p:val>
                                            <p:strVal val="#ppt_w"/>
                                          </p:val>
                                        </p:tav>
                                      </p:tavLst>
                                    </p:anim>
                                    <p:anim calcmode="lin" valueType="num">
                                      <p:cBhvr>
                                        <p:cTn id="139" dur="500" fill="hold"/>
                                        <p:tgtEl>
                                          <p:spTgt spid="1048881"/>
                                        </p:tgtEl>
                                        <p:attrNameLst>
                                          <p:attrName>ppt_h</p:attrName>
                                        </p:attrNameLst>
                                      </p:cBhvr>
                                      <p:tavLst>
                                        <p:tav tm="0">
                                          <p:val>
                                            <p:fltVal val="0"/>
                                          </p:val>
                                        </p:tav>
                                        <p:tav tm="100000">
                                          <p:val>
                                            <p:strVal val="#ppt_h"/>
                                          </p:val>
                                        </p:tav>
                                      </p:tavLst>
                                    </p:anim>
                                  </p:childTnLst>
                                </p:cTn>
                              </p:par>
                            </p:childTnLst>
                          </p:cTn>
                        </p:par>
                        <p:par>
                          <p:cTn id="140" fill="hold">
                            <p:stCondLst>
                              <p:cond delay="500"/>
                            </p:stCondLst>
                            <p:childTnLst>
                              <p:par>
                                <p:cTn id="141" presetID="1" presetClass="entr" presetSubtype="0" fill="hold" grpId="0" nodeType="afterEffect">
                                  <p:stCondLst>
                                    <p:cond delay="0"/>
                                  </p:stCondLst>
                                  <p:childTnLst>
                                    <p:set>
                                      <p:cBhvr>
                                        <p:cTn id="142" dur="1" fill="hold">
                                          <p:stCondLst>
                                            <p:cond delay="499"/>
                                          </p:stCondLst>
                                        </p:cTn>
                                        <p:tgtEl>
                                          <p:spTgt spid="1048893"/>
                                        </p:tgtEl>
                                        <p:attrNameLst>
                                          <p:attrName>style.visibility</p:attrName>
                                        </p:attrNameLst>
                                      </p:cBhvr>
                                      <p:to>
                                        <p:strVal val="visible"/>
                                      </p:to>
                                    </p:se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2" presetClass="entr" presetSubtype="8" fill="hold" grpId="0" nodeType="clickEffect">
                                  <p:stCondLst>
                                    <p:cond delay="0"/>
                                  </p:stCondLst>
                                  <p:childTnLst>
                                    <p:set>
                                      <p:cBhvr>
                                        <p:cTn id="146" dur="1" fill="hold">
                                          <p:stCondLst>
                                            <p:cond delay="0"/>
                                          </p:stCondLst>
                                        </p:cTn>
                                        <p:tgtEl>
                                          <p:spTgt spid="1048873">
                                            <p:txEl>
                                              <p:pRg st="13" end="13"/>
                                            </p:txEl>
                                          </p:spTgt>
                                        </p:tgtEl>
                                        <p:attrNameLst>
                                          <p:attrName>style.visibility</p:attrName>
                                        </p:attrNameLst>
                                      </p:cBhvr>
                                      <p:to>
                                        <p:strVal val="visible"/>
                                      </p:to>
                                    </p:set>
                                    <p:animEffect transition="in" filter="wipe(left)">
                                      <p:cBhvr>
                                        <p:cTn id="147" dur="500"/>
                                        <p:tgtEl>
                                          <p:spTgt spid="1048873">
                                            <p:txEl>
                                              <p:pRg st="13" end="13"/>
                                            </p:txEl>
                                          </p:spTgt>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17" presetClass="entr" presetSubtype="4" fill="hold" grpId="0" nodeType="clickEffect">
                                  <p:stCondLst>
                                    <p:cond delay="0"/>
                                  </p:stCondLst>
                                  <p:childTnLst>
                                    <p:set>
                                      <p:cBhvr>
                                        <p:cTn id="151" dur="1" fill="hold">
                                          <p:stCondLst>
                                            <p:cond delay="0"/>
                                          </p:stCondLst>
                                        </p:cTn>
                                        <p:tgtEl>
                                          <p:spTgt spid="1048879"/>
                                        </p:tgtEl>
                                        <p:attrNameLst>
                                          <p:attrName>style.visibility</p:attrName>
                                        </p:attrNameLst>
                                      </p:cBhvr>
                                      <p:to>
                                        <p:strVal val="visible"/>
                                      </p:to>
                                    </p:set>
                                    <p:anim calcmode="lin" valueType="num">
                                      <p:cBhvr>
                                        <p:cTn id="152" dur="500" fill="hold"/>
                                        <p:tgtEl>
                                          <p:spTgt spid="1048879"/>
                                        </p:tgtEl>
                                        <p:attrNameLst>
                                          <p:attrName>ppt_x</p:attrName>
                                        </p:attrNameLst>
                                      </p:cBhvr>
                                      <p:tavLst>
                                        <p:tav tm="0">
                                          <p:val>
                                            <p:strVal val="#ppt_x"/>
                                          </p:val>
                                        </p:tav>
                                        <p:tav tm="100000">
                                          <p:val>
                                            <p:strVal val="#ppt_x"/>
                                          </p:val>
                                        </p:tav>
                                      </p:tavLst>
                                    </p:anim>
                                    <p:anim calcmode="lin" valueType="num">
                                      <p:cBhvr>
                                        <p:cTn id="153" dur="500" fill="hold"/>
                                        <p:tgtEl>
                                          <p:spTgt spid="1048879"/>
                                        </p:tgtEl>
                                        <p:attrNameLst>
                                          <p:attrName>ppt_y</p:attrName>
                                        </p:attrNameLst>
                                      </p:cBhvr>
                                      <p:tavLst>
                                        <p:tav tm="0">
                                          <p:val>
                                            <p:strVal val="#ppt_y+#ppt_h/2"/>
                                          </p:val>
                                        </p:tav>
                                        <p:tav tm="100000">
                                          <p:val>
                                            <p:strVal val="#ppt_y"/>
                                          </p:val>
                                        </p:tav>
                                      </p:tavLst>
                                    </p:anim>
                                    <p:anim calcmode="lin" valueType="num">
                                      <p:cBhvr>
                                        <p:cTn id="154" dur="500" fill="hold"/>
                                        <p:tgtEl>
                                          <p:spTgt spid="1048879"/>
                                        </p:tgtEl>
                                        <p:attrNameLst>
                                          <p:attrName>ppt_w</p:attrName>
                                        </p:attrNameLst>
                                      </p:cBhvr>
                                      <p:tavLst>
                                        <p:tav tm="0">
                                          <p:val>
                                            <p:strVal val="#ppt_w"/>
                                          </p:val>
                                        </p:tav>
                                        <p:tav tm="100000">
                                          <p:val>
                                            <p:strVal val="#ppt_w"/>
                                          </p:val>
                                        </p:tav>
                                      </p:tavLst>
                                    </p:anim>
                                    <p:anim calcmode="lin" valueType="num">
                                      <p:cBhvr>
                                        <p:cTn id="155" dur="500" fill="hold"/>
                                        <p:tgtEl>
                                          <p:spTgt spid="1048879"/>
                                        </p:tgtEl>
                                        <p:attrNameLst>
                                          <p:attrName>ppt_h</p:attrName>
                                        </p:attrNameLst>
                                      </p:cBhvr>
                                      <p:tavLst>
                                        <p:tav tm="0">
                                          <p:val>
                                            <p:fltVal val="0"/>
                                          </p:val>
                                        </p:tav>
                                        <p:tav tm="100000">
                                          <p:val>
                                            <p:strVal val="#ppt_h"/>
                                          </p:val>
                                        </p:tav>
                                      </p:tavLst>
                                    </p:anim>
                                  </p:childTnLst>
                                </p:cTn>
                              </p:par>
                            </p:childTnLst>
                          </p:cTn>
                        </p:par>
                        <p:par>
                          <p:cTn id="156" fill="hold">
                            <p:stCondLst>
                              <p:cond delay="500"/>
                            </p:stCondLst>
                            <p:childTnLst>
                              <p:par>
                                <p:cTn id="157" presetID="17" presetClass="entr" presetSubtype="4" fill="hold" grpId="0" nodeType="afterEffect">
                                  <p:stCondLst>
                                    <p:cond delay="0"/>
                                  </p:stCondLst>
                                  <p:childTnLst>
                                    <p:set>
                                      <p:cBhvr>
                                        <p:cTn id="158" dur="1" fill="hold">
                                          <p:stCondLst>
                                            <p:cond delay="0"/>
                                          </p:stCondLst>
                                        </p:cTn>
                                        <p:tgtEl>
                                          <p:spTgt spid="1048878"/>
                                        </p:tgtEl>
                                        <p:attrNameLst>
                                          <p:attrName>style.visibility</p:attrName>
                                        </p:attrNameLst>
                                      </p:cBhvr>
                                      <p:to>
                                        <p:strVal val="visible"/>
                                      </p:to>
                                    </p:set>
                                    <p:anim calcmode="lin" valueType="num">
                                      <p:cBhvr>
                                        <p:cTn id="159" dur="500" fill="hold"/>
                                        <p:tgtEl>
                                          <p:spTgt spid="1048878"/>
                                        </p:tgtEl>
                                        <p:attrNameLst>
                                          <p:attrName>ppt_x</p:attrName>
                                        </p:attrNameLst>
                                      </p:cBhvr>
                                      <p:tavLst>
                                        <p:tav tm="0">
                                          <p:val>
                                            <p:strVal val="#ppt_x"/>
                                          </p:val>
                                        </p:tav>
                                        <p:tav tm="100000">
                                          <p:val>
                                            <p:strVal val="#ppt_x"/>
                                          </p:val>
                                        </p:tav>
                                      </p:tavLst>
                                    </p:anim>
                                    <p:anim calcmode="lin" valueType="num">
                                      <p:cBhvr>
                                        <p:cTn id="160" dur="500" fill="hold"/>
                                        <p:tgtEl>
                                          <p:spTgt spid="1048878"/>
                                        </p:tgtEl>
                                        <p:attrNameLst>
                                          <p:attrName>ppt_y</p:attrName>
                                        </p:attrNameLst>
                                      </p:cBhvr>
                                      <p:tavLst>
                                        <p:tav tm="0">
                                          <p:val>
                                            <p:strVal val="#ppt_y+#ppt_h/2"/>
                                          </p:val>
                                        </p:tav>
                                        <p:tav tm="100000">
                                          <p:val>
                                            <p:strVal val="#ppt_y"/>
                                          </p:val>
                                        </p:tav>
                                      </p:tavLst>
                                    </p:anim>
                                    <p:anim calcmode="lin" valueType="num">
                                      <p:cBhvr>
                                        <p:cTn id="161" dur="500" fill="hold"/>
                                        <p:tgtEl>
                                          <p:spTgt spid="1048878"/>
                                        </p:tgtEl>
                                        <p:attrNameLst>
                                          <p:attrName>ppt_w</p:attrName>
                                        </p:attrNameLst>
                                      </p:cBhvr>
                                      <p:tavLst>
                                        <p:tav tm="0">
                                          <p:val>
                                            <p:strVal val="#ppt_w"/>
                                          </p:val>
                                        </p:tav>
                                        <p:tav tm="100000">
                                          <p:val>
                                            <p:strVal val="#ppt_w"/>
                                          </p:val>
                                        </p:tav>
                                      </p:tavLst>
                                    </p:anim>
                                    <p:anim calcmode="lin" valueType="num">
                                      <p:cBhvr>
                                        <p:cTn id="162" dur="500" fill="hold"/>
                                        <p:tgtEl>
                                          <p:spTgt spid="1048878"/>
                                        </p:tgtEl>
                                        <p:attrNameLst>
                                          <p:attrName>ppt_h</p:attrName>
                                        </p:attrNameLst>
                                      </p:cBhvr>
                                      <p:tavLst>
                                        <p:tav tm="0">
                                          <p:val>
                                            <p:fltVal val="0"/>
                                          </p:val>
                                        </p:tav>
                                        <p:tav tm="100000">
                                          <p:val>
                                            <p:strVal val="#ppt_h"/>
                                          </p:val>
                                        </p:tav>
                                      </p:tavLst>
                                    </p:anim>
                                  </p:childTnLst>
                                </p:cTn>
                              </p:par>
                            </p:childTnLst>
                          </p:cTn>
                        </p:par>
                        <p:par>
                          <p:cTn id="163" fill="hold">
                            <p:stCondLst>
                              <p:cond delay="1000"/>
                            </p:stCondLst>
                            <p:childTnLst>
                              <p:par>
                                <p:cTn id="164" presetID="17" presetClass="entr" presetSubtype="4" fill="hold" grpId="0" nodeType="afterEffect">
                                  <p:stCondLst>
                                    <p:cond delay="0"/>
                                  </p:stCondLst>
                                  <p:childTnLst>
                                    <p:set>
                                      <p:cBhvr>
                                        <p:cTn id="165" dur="1" fill="hold">
                                          <p:stCondLst>
                                            <p:cond delay="0"/>
                                          </p:stCondLst>
                                        </p:cTn>
                                        <p:tgtEl>
                                          <p:spTgt spid="1048877"/>
                                        </p:tgtEl>
                                        <p:attrNameLst>
                                          <p:attrName>style.visibility</p:attrName>
                                        </p:attrNameLst>
                                      </p:cBhvr>
                                      <p:to>
                                        <p:strVal val="visible"/>
                                      </p:to>
                                    </p:set>
                                    <p:anim calcmode="lin" valueType="num">
                                      <p:cBhvr>
                                        <p:cTn id="166" dur="500" fill="hold"/>
                                        <p:tgtEl>
                                          <p:spTgt spid="1048877"/>
                                        </p:tgtEl>
                                        <p:attrNameLst>
                                          <p:attrName>ppt_x</p:attrName>
                                        </p:attrNameLst>
                                      </p:cBhvr>
                                      <p:tavLst>
                                        <p:tav tm="0">
                                          <p:val>
                                            <p:strVal val="#ppt_x"/>
                                          </p:val>
                                        </p:tav>
                                        <p:tav tm="100000">
                                          <p:val>
                                            <p:strVal val="#ppt_x"/>
                                          </p:val>
                                        </p:tav>
                                      </p:tavLst>
                                    </p:anim>
                                    <p:anim calcmode="lin" valueType="num">
                                      <p:cBhvr>
                                        <p:cTn id="167" dur="500" fill="hold"/>
                                        <p:tgtEl>
                                          <p:spTgt spid="1048877"/>
                                        </p:tgtEl>
                                        <p:attrNameLst>
                                          <p:attrName>ppt_y</p:attrName>
                                        </p:attrNameLst>
                                      </p:cBhvr>
                                      <p:tavLst>
                                        <p:tav tm="0">
                                          <p:val>
                                            <p:strVal val="#ppt_y+#ppt_h/2"/>
                                          </p:val>
                                        </p:tav>
                                        <p:tav tm="100000">
                                          <p:val>
                                            <p:strVal val="#ppt_y"/>
                                          </p:val>
                                        </p:tav>
                                      </p:tavLst>
                                    </p:anim>
                                    <p:anim calcmode="lin" valueType="num">
                                      <p:cBhvr>
                                        <p:cTn id="168" dur="500" fill="hold"/>
                                        <p:tgtEl>
                                          <p:spTgt spid="1048877"/>
                                        </p:tgtEl>
                                        <p:attrNameLst>
                                          <p:attrName>ppt_w</p:attrName>
                                        </p:attrNameLst>
                                      </p:cBhvr>
                                      <p:tavLst>
                                        <p:tav tm="0">
                                          <p:val>
                                            <p:strVal val="#ppt_w"/>
                                          </p:val>
                                        </p:tav>
                                        <p:tav tm="100000">
                                          <p:val>
                                            <p:strVal val="#ppt_w"/>
                                          </p:val>
                                        </p:tav>
                                      </p:tavLst>
                                    </p:anim>
                                    <p:anim calcmode="lin" valueType="num">
                                      <p:cBhvr>
                                        <p:cTn id="169" dur="500" fill="hold"/>
                                        <p:tgtEl>
                                          <p:spTgt spid="1048877"/>
                                        </p:tgtEl>
                                        <p:attrNameLst>
                                          <p:attrName>ppt_h</p:attrName>
                                        </p:attrNameLst>
                                      </p:cBhvr>
                                      <p:tavLst>
                                        <p:tav tm="0">
                                          <p:val>
                                            <p:fltVal val="0"/>
                                          </p:val>
                                        </p:tav>
                                        <p:tav tm="100000">
                                          <p:val>
                                            <p:strVal val="#ppt_h"/>
                                          </p:val>
                                        </p:tav>
                                      </p:tavLst>
                                    </p:anim>
                                  </p:childTnLst>
                                </p:cTn>
                              </p:par>
                            </p:childTnLst>
                          </p:cTn>
                        </p:par>
                        <p:par>
                          <p:cTn id="170" fill="hold">
                            <p:stCondLst>
                              <p:cond delay="1500"/>
                            </p:stCondLst>
                            <p:childTnLst>
                              <p:par>
                                <p:cTn id="171" presetID="1" presetClass="entr" presetSubtype="0" fill="hold" grpId="0" nodeType="afterEffect">
                                  <p:stCondLst>
                                    <p:cond delay="0"/>
                                  </p:stCondLst>
                                  <p:childTnLst>
                                    <p:set>
                                      <p:cBhvr>
                                        <p:cTn id="172" dur="1" fill="hold">
                                          <p:stCondLst>
                                            <p:cond delay="499"/>
                                          </p:stCondLst>
                                        </p:cTn>
                                        <p:tgtEl>
                                          <p:spTgt spid="1048894"/>
                                        </p:tgtEl>
                                        <p:attrNameLst>
                                          <p:attrName>style.visibility</p:attrName>
                                        </p:attrNameLst>
                                      </p:cBhvr>
                                      <p:to>
                                        <p:strVal val="visible"/>
                                      </p:to>
                                    </p:set>
                                  </p:childTnLst>
                                </p:cTn>
                              </p:par>
                            </p:childTnLst>
                          </p:cTn>
                        </p:par>
                      </p:childTnLst>
                    </p:cTn>
                  </p:par>
                  <p:par>
                    <p:cTn id="173" fill="hold">
                      <p:stCondLst>
                        <p:cond delay="indefinite"/>
                      </p:stCondLst>
                      <p:childTnLst>
                        <p:par>
                          <p:cTn id="174" fill="hold">
                            <p:stCondLst>
                              <p:cond delay="0"/>
                            </p:stCondLst>
                            <p:childTnLst>
                              <p:par>
                                <p:cTn id="175" presetID="22" presetClass="entr" presetSubtype="8" fill="hold" grpId="0" nodeType="clickEffect">
                                  <p:stCondLst>
                                    <p:cond delay="0"/>
                                  </p:stCondLst>
                                  <p:childTnLst>
                                    <p:set>
                                      <p:cBhvr>
                                        <p:cTn id="176" dur="1" fill="hold">
                                          <p:stCondLst>
                                            <p:cond delay="0"/>
                                          </p:stCondLst>
                                        </p:cTn>
                                        <p:tgtEl>
                                          <p:spTgt spid="1048873">
                                            <p:txEl>
                                              <p:pRg st="14" end="14"/>
                                            </p:txEl>
                                          </p:spTgt>
                                        </p:tgtEl>
                                        <p:attrNameLst>
                                          <p:attrName>style.visibility</p:attrName>
                                        </p:attrNameLst>
                                      </p:cBhvr>
                                      <p:to>
                                        <p:strVal val="visible"/>
                                      </p:to>
                                    </p:set>
                                    <p:animEffect transition="in" filter="wipe(left)">
                                      <p:cBhvr>
                                        <p:cTn id="177" dur="500"/>
                                        <p:tgtEl>
                                          <p:spTgt spid="1048873">
                                            <p:txEl>
                                              <p:pRg st="14" end="14"/>
                                            </p:txEl>
                                          </p:spTgt>
                                        </p:tgtEl>
                                      </p:cBhvr>
                                    </p:animEffect>
                                  </p:childTnLst>
                                </p:cTn>
                              </p:par>
                            </p:childTnLst>
                          </p:cTn>
                        </p:par>
                      </p:childTnLst>
                    </p:cTn>
                  </p:par>
                  <p:par>
                    <p:cTn id="178" fill="hold" nodeType="clickPar">
                      <p:stCondLst>
                        <p:cond delay="indefinite"/>
                      </p:stCondLst>
                      <p:childTnLst>
                        <p:par>
                          <p:cTn id="179" fill="hold" nodeType="withGroup">
                            <p:stCondLst>
                              <p:cond delay="0"/>
                            </p:stCondLst>
                            <p:childTnLst>
                              <p:par>
                                <p:cTn id="180" presetID="17" presetClass="entr" presetSubtype="4" fill="hold" grpId="0" nodeType="clickEffect">
                                  <p:stCondLst>
                                    <p:cond delay="0"/>
                                  </p:stCondLst>
                                  <p:childTnLst>
                                    <p:set>
                                      <p:cBhvr>
                                        <p:cTn id="181" dur="1" fill="hold">
                                          <p:stCondLst>
                                            <p:cond delay="0"/>
                                          </p:stCondLst>
                                        </p:cTn>
                                        <p:tgtEl>
                                          <p:spTgt spid="1048875"/>
                                        </p:tgtEl>
                                        <p:attrNameLst>
                                          <p:attrName>style.visibility</p:attrName>
                                        </p:attrNameLst>
                                      </p:cBhvr>
                                      <p:to>
                                        <p:strVal val="visible"/>
                                      </p:to>
                                    </p:set>
                                    <p:anim calcmode="lin" valueType="num">
                                      <p:cBhvr>
                                        <p:cTn id="182" dur="500" fill="hold"/>
                                        <p:tgtEl>
                                          <p:spTgt spid="1048875"/>
                                        </p:tgtEl>
                                        <p:attrNameLst>
                                          <p:attrName>ppt_x</p:attrName>
                                        </p:attrNameLst>
                                      </p:cBhvr>
                                      <p:tavLst>
                                        <p:tav tm="0">
                                          <p:val>
                                            <p:strVal val="#ppt_x"/>
                                          </p:val>
                                        </p:tav>
                                        <p:tav tm="100000">
                                          <p:val>
                                            <p:strVal val="#ppt_x"/>
                                          </p:val>
                                        </p:tav>
                                      </p:tavLst>
                                    </p:anim>
                                    <p:anim calcmode="lin" valueType="num">
                                      <p:cBhvr>
                                        <p:cTn id="183" dur="500" fill="hold"/>
                                        <p:tgtEl>
                                          <p:spTgt spid="1048875"/>
                                        </p:tgtEl>
                                        <p:attrNameLst>
                                          <p:attrName>ppt_y</p:attrName>
                                        </p:attrNameLst>
                                      </p:cBhvr>
                                      <p:tavLst>
                                        <p:tav tm="0">
                                          <p:val>
                                            <p:strVal val="#ppt_y+#ppt_h/2"/>
                                          </p:val>
                                        </p:tav>
                                        <p:tav tm="100000">
                                          <p:val>
                                            <p:strVal val="#ppt_y"/>
                                          </p:val>
                                        </p:tav>
                                      </p:tavLst>
                                    </p:anim>
                                    <p:anim calcmode="lin" valueType="num">
                                      <p:cBhvr>
                                        <p:cTn id="184" dur="500" fill="hold"/>
                                        <p:tgtEl>
                                          <p:spTgt spid="1048875"/>
                                        </p:tgtEl>
                                        <p:attrNameLst>
                                          <p:attrName>ppt_w</p:attrName>
                                        </p:attrNameLst>
                                      </p:cBhvr>
                                      <p:tavLst>
                                        <p:tav tm="0">
                                          <p:val>
                                            <p:strVal val="#ppt_w"/>
                                          </p:val>
                                        </p:tav>
                                        <p:tav tm="100000">
                                          <p:val>
                                            <p:strVal val="#ppt_w"/>
                                          </p:val>
                                        </p:tav>
                                      </p:tavLst>
                                    </p:anim>
                                    <p:anim calcmode="lin" valueType="num">
                                      <p:cBhvr>
                                        <p:cTn id="185" dur="500" fill="hold"/>
                                        <p:tgtEl>
                                          <p:spTgt spid="1048875"/>
                                        </p:tgtEl>
                                        <p:attrNameLst>
                                          <p:attrName>ppt_h</p:attrName>
                                        </p:attrNameLst>
                                      </p:cBhvr>
                                      <p:tavLst>
                                        <p:tav tm="0">
                                          <p:val>
                                            <p:fltVal val="0"/>
                                          </p:val>
                                        </p:tav>
                                        <p:tav tm="100000">
                                          <p:val>
                                            <p:strVal val="#ppt_h"/>
                                          </p:val>
                                        </p:tav>
                                      </p:tavLst>
                                    </p:anim>
                                  </p:childTnLst>
                                </p:cTn>
                              </p:par>
                            </p:childTnLst>
                          </p:cTn>
                        </p:par>
                        <p:par>
                          <p:cTn id="186" fill="hold">
                            <p:stCondLst>
                              <p:cond delay="500"/>
                            </p:stCondLst>
                            <p:childTnLst>
                              <p:par>
                                <p:cTn id="187" presetID="17" presetClass="entr" presetSubtype="4" fill="hold" grpId="0" nodeType="afterEffect">
                                  <p:stCondLst>
                                    <p:cond delay="0"/>
                                  </p:stCondLst>
                                  <p:childTnLst>
                                    <p:set>
                                      <p:cBhvr>
                                        <p:cTn id="188" dur="1" fill="hold">
                                          <p:stCondLst>
                                            <p:cond delay="0"/>
                                          </p:stCondLst>
                                        </p:cTn>
                                        <p:tgtEl>
                                          <p:spTgt spid="1048876"/>
                                        </p:tgtEl>
                                        <p:attrNameLst>
                                          <p:attrName>style.visibility</p:attrName>
                                        </p:attrNameLst>
                                      </p:cBhvr>
                                      <p:to>
                                        <p:strVal val="visible"/>
                                      </p:to>
                                    </p:set>
                                    <p:anim calcmode="lin" valueType="num">
                                      <p:cBhvr>
                                        <p:cTn id="189" dur="500" fill="hold"/>
                                        <p:tgtEl>
                                          <p:spTgt spid="1048876"/>
                                        </p:tgtEl>
                                        <p:attrNameLst>
                                          <p:attrName>ppt_x</p:attrName>
                                        </p:attrNameLst>
                                      </p:cBhvr>
                                      <p:tavLst>
                                        <p:tav tm="0">
                                          <p:val>
                                            <p:strVal val="#ppt_x"/>
                                          </p:val>
                                        </p:tav>
                                        <p:tav tm="100000">
                                          <p:val>
                                            <p:strVal val="#ppt_x"/>
                                          </p:val>
                                        </p:tav>
                                      </p:tavLst>
                                    </p:anim>
                                    <p:anim calcmode="lin" valueType="num">
                                      <p:cBhvr>
                                        <p:cTn id="190" dur="500" fill="hold"/>
                                        <p:tgtEl>
                                          <p:spTgt spid="1048876"/>
                                        </p:tgtEl>
                                        <p:attrNameLst>
                                          <p:attrName>ppt_y</p:attrName>
                                        </p:attrNameLst>
                                      </p:cBhvr>
                                      <p:tavLst>
                                        <p:tav tm="0">
                                          <p:val>
                                            <p:strVal val="#ppt_y+#ppt_h/2"/>
                                          </p:val>
                                        </p:tav>
                                        <p:tav tm="100000">
                                          <p:val>
                                            <p:strVal val="#ppt_y"/>
                                          </p:val>
                                        </p:tav>
                                      </p:tavLst>
                                    </p:anim>
                                    <p:anim calcmode="lin" valueType="num">
                                      <p:cBhvr>
                                        <p:cTn id="191" dur="500" fill="hold"/>
                                        <p:tgtEl>
                                          <p:spTgt spid="1048876"/>
                                        </p:tgtEl>
                                        <p:attrNameLst>
                                          <p:attrName>ppt_w</p:attrName>
                                        </p:attrNameLst>
                                      </p:cBhvr>
                                      <p:tavLst>
                                        <p:tav tm="0">
                                          <p:val>
                                            <p:strVal val="#ppt_w"/>
                                          </p:val>
                                        </p:tav>
                                        <p:tav tm="100000">
                                          <p:val>
                                            <p:strVal val="#ppt_w"/>
                                          </p:val>
                                        </p:tav>
                                      </p:tavLst>
                                    </p:anim>
                                    <p:anim calcmode="lin" valueType="num">
                                      <p:cBhvr>
                                        <p:cTn id="192" dur="500" fill="hold"/>
                                        <p:tgtEl>
                                          <p:spTgt spid="1048876"/>
                                        </p:tgtEl>
                                        <p:attrNameLst>
                                          <p:attrName>ppt_h</p:attrName>
                                        </p:attrNameLst>
                                      </p:cBhvr>
                                      <p:tavLst>
                                        <p:tav tm="0">
                                          <p:val>
                                            <p:fltVal val="0"/>
                                          </p:val>
                                        </p:tav>
                                        <p:tav tm="100000">
                                          <p:val>
                                            <p:strVal val="#ppt_h"/>
                                          </p:val>
                                        </p:tav>
                                      </p:tavLst>
                                    </p:anim>
                                  </p:childTnLst>
                                </p:cTn>
                              </p:par>
                            </p:childTnLst>
                          </p:cTn>
                        </p:par>
                        <p:par>
                          <p:cTn id="193" fill="hold">
                            <p:stCondLst>
                              <p:cond delay="1000"/>
                            </p:stCondLst>
                            <p:childTnLst>
                              <p:par>
                                <p:cTn id="194" presetID="17" presetClass="entr" presetSubtype="4" fill="hold" grpId="0" nodeType="afterEffect">
                                  <p:stCondLst>
                                    <p:cond delay="0"/>
                                  </p:stCondLst>
                                  <p:childTnLst>
                                    <p:set>
                                      <p:cBhvr>
                                        <p:cTn id="195" dur="1" fill="hold">
                                          <p:stCondLst>
                                            <p:cond delay="0"/>
                                          </p:stCondLst>
                                        </p:cTn>
                                        <p:tgtEl>
                                          <p:spTgt spid="1048882"/>
                                        </p:tgtEl>
                                        <p:attrNameLst>
                                          <p:attrName>style.visibility</p:attrName>
                                        </p:attrNameLst>
                                      </p:cBhvr>
                                      <p:to>
                                        <p:strVal val="visible"/>
                                      </p:to>
                                    </p:set>
                                    <p:anim calcmode="lin" valueType="num">
                                      <p:cBhvr>
                                        <p:cTn id="196" dur="500" fill="hold"/>
                                        <p:tgtEl>
                                          <p:spTgt spid="1048882"/>
                                        </p:tgtEl>
                                        <p:attrNameLst>
                                          <p:attrName>ppt_x</p:attrName>
                                        </p:attrNameLst>
                                      </p:cBhvr>
                                      <p:tavLst>
                                        <p:tav tm="0">
                                          <p:val>
                                            <p:strVal val="#ppt_x"/>
                                          </p:val>
                                        </p:tav>
                                        <p:tav tm="100000">
                                          <p:val>
                                            <p:strVal val="#ppt_x"/>
                                          </p:val>
                                        </p:tav>
                                      </p:tavLst>
                                    </p:anim>
                                    <p:anim calcmode="lin" valueType="num">
                                      <p:cBhvr>
                                        <p:cTn id="197" dur="500" fill="hold"/>
                                        <p:tgtEl>
                                          <p:spTgt spid="1048882"/>
                                        </p:tgtEl>
                                        <p:attrNameLst>
                                          <p:attrName>ppt_y</p:attrName>
                                        </p:attrNameLst>
                                      </p:cBhvr>
                                      <p:tavLst>
                                        <p:tav tm="0">
                                          <p:val>
                                            <p:strVal val="#ppt_y+#ppt_h/2"/>
                                          </p:val>
                                        </p:tav>
                                        <p:tav tm="100000">
                                          <p:val>
                                            <p:strVal val="#ppt_y"/>
                                          </p:val>
                                        </p:tav>
                                      </p:tavLst>
                                    </p:anim>
                                    <p:anim calcmode="lin" valueType="num">
                                      <p:cBhvr>
                                        <p:cTn id="198" dur="500" fill="hold"/>
                                        <p:tgtEl>
                                          <p:spTgt spid="1048882"/>
                                        </p:tgtEl>
                                        <p:attrNameLst>
                                          <p:attrName>ppt_w</p:attrName>
                                        </p:attrNameLst>
                                      </p:cBhvr>
                                      <p:tavLst>
                                        <p:tav tm="0">
                                          <p:val>
                                            <p:strVal val="#ppt_w"/>
                                          </p:val>
                                        </p:tav>
                                        <p:tav tm="100000">
                                          <p:val>
                                            <p:strVal val="#ppt_w"/>
                                          </p:val>
                                        </p:tav>
                                      </p:tavLst>
                                    </p:anim>
                                    <p:anim calcmode="lin" valueType="num">
                                      <p:cBhvr>
                                        <p:cTn id="199" dur="500" fill="hold"/>
                                        <p:tgtEl>
                                          <p:spTgt spid="1048882"/>
                                        </p:tgtEl>
                                        <p:attrNameLst>
                                          <p:attrName>ppt_h</p:attrName>
                                        </p:attrNameLst>
                                      </p:cBhvr>
                                      <p:tavLst>
                                        <p:tav tm="0">
                                          <p:val>
                                            <p:fltVal val="0"/>
                                          </p:val>
                                        </p:tav>
                                        <p:tav tm="100000">
                                          <p:val>
                                            <p:strVal val="#ppt_h"/>
                                          </p:val>
                                        </p:tav>
                                      </p:tavLst>
                                    </p:anim>
                                  </p:childTnLst>
                                </p:cTn>
                              </p:par>
                            </p:childTnLst>
                          </p:cTn>
                        </p:par>
                        <p:par>
                          <p:cTn id="200" fill="hold">
                            <p:stCondLst>
                              <p:cond delay="1500"/>
                            </p:stCondLst>
                            <p:childTnLst>
                              <p:par>
                                <p:cTn id="201" presetID="1" presetClass="entr" presetSubtype="0" fill="hold" grpId="0" nodeType="afterEffect">
                                  <p:stCondLst>
                                    <p:cond delay="0"/>
                                  </p:stCondLst>
                                  <p:childTnLst>
                                    <p:set>
                                      <p:cBhvr>
                                        <p:cTn id="202" dur="1" fill="hold">
                                          <p:stCondLst>
                                            <p:cond delay="499"/>
                                          </p:stCondLst>
                                        </p:cTn>
                                        <p:tgtEl>
                                          <p:spTgt spid="1048895"/>
                                        </p:tgtEl>
                                        <p:attrNameLst>
                                          <p:attrName>style.visibility</p:attrName>
                                        </p:attrNameLst>
                                      </p:cBhvr>
                                      <p:to>
                                        <p:strVal val="visible"/>
                                      </p:to>
                                    </p:set>
                                  </p:childTnLst>
                                </p:cTn>
                              </p:par>
                            </p:childTnLst>
                          </p:cTn>
                        </p:par>
                      </p:childTnLst>
                    </p:cTn>
                  </p:par>
                  <p:par>
                    <p:cTn id="203" fill="hold">
                      <p:stCondLst>
                        <p:cond delay="indefinite"/>
                      </p:stCondLst>
                      <p:childTnLst>
                        <p:par>
                          <p:cTn id="204" fill="hold">
                            <p:stCondLst>
                              <p:cond delay="0"/>
                            </p:stCondLst>
                            <p:childTnLst>
                              <p:par>
                                <p:cTn id="205" presetID="22" presetClass="entr" presetSubtype="8" fill="hold" grpId="0" nodeType="clickEffect">
                                  <p:stCondLst>
                                    <p:cond delay="0"/>
                                  </p:stCondLst>
                                  <p:childTnLst>
                                    <p:set>
                                      <p:cBhvr>
                                        <p:cTn id="206" dur="1" fill="hold">
                                          <p:stCondLst>
                                            <p:cond delay="0"/>
                                          </p:stCondLst>
                                        </p:cTn>
                                        <p:tgtEl>
                                          <p:spTgt spid="1048873">
                                            <p:txEl>
                                              <p:pRg st="15" end="15"/>
                                            </p:txEl>
                                          </p:spTgt>
                                        </p:tgtEl>
                                        <p:attrNameLst>
                                          <p:attrName>style.visibility</p:attrName>
                                        </p:attrNameLst>
                                      </p:cBhvr>
                                      <p:to>
                                        <p:strVal val="visible"/>
                                      </p:to>
                                    </p:set>
                                    <p:animEffect transition="in" filter="wipe(left)">
                                      <p:cBhvr>
                                        <p:cTn id="207" dur="500"/>
                                        <p:tgtEl>
                                          <p:spTgt spid="1048873">
                                            <p:txEl>
                                              <p:pRg st="15" end="15"/>
                                            </p:txEl>
                                          </p:spTgt>
                                        </p:tgtEl>
                                      </p:cBhvr>
                                    </p:animEffect>
                                  </p:childTnLst>
                                </p:cTn>
                              </p:par>
                            </p:childTnLst>
                          </p:cTn>
                        </p:par>
                      </p:childTnLst>
                    </p:cTn>
                  </p:par>
                  <p:par>
                    <p:cTn id="208" fill="hold">
                      <p:stCondLst>
                        <p:cond delay="indefinite"/>
                      </p:stCondLst>
                      <p:childTnLst>
                        <p:par>
                          <p:cTn id="209" fill="hold">
                            <p:stCondLst>
                              <p:cond delay="0"/>
                            </p:stCondLst>
                            <p:childTnLst>
                              <p:par>
                                <p:cTn id="210" presetID="1" presetClass="entr" presetSubtype="0" fill="hold" grpId="0" nodeType="clickEffect">
                                  <p:stCondLst>
                                    <p:cond delay="0"/>
                                  </p:stCondLst>
                                  <p:childTnLst>
                                    <p:set>
                                      <p:cBhvr>
                                        <p:cTn id="211" dur="1" fill="hold">
                                          <p:stCondLst>
                                            <p:cond delay="0"/>
                                          </p:stCondLst>
                                        </p:cTn>
                                        <p:tgtEl>
                                          <p:spTgt spid="1048903"/>
                                        </p:tgtEl>
                                        <p:attrNameLst>
                                          <p:attrName>style.visibility</p:attrName>
                                        </p:attrNameLst>
                                      </p:cBhvr>
                                      <p:to>
                                        <p:strVal val="visible"/>
                                      </p:to>
                                    </p:set>
                                  </p:childTnLst>
                                </p:cTn>
                              </p:par>
                            </p:childTnLst>
                          </p:cTn>
                        </p:par>
                      </p:childTnLst>
                    </p:cTn>
                  </p:par>
                  <p:par>
                    <p:cTn id="212" fill="hold">
                      <p:stCondLst>
                        <p:cond delay="indefinite"/>
                      </p:stCondLst>
                      <p:childTnLst>
                        <p:par>
                          <p:cTn id="213" fill="hold">
                            <p:stCondLst>
                              <p:cond delay="0"/>
                            </p:stCondLst>
                            <p:childTnLst>
                              <p:par>
                                <p:cTn id="214" presetID="1" presetClass="exit" presetSubtype="0" fill="hold" grpId="1" nodeType="clickEffect">
                                  <p:stCondLst>
                                    <p:cond delay="0"/>
                                  </p:stCondLst>
                                  <p:childTnLst>
                                    <p:set>
                                      <p:cBhvr>
                                        <p:cTn id="215" dur="1" fill="hold">
                                          <p:stCondLst>
                                            <p:cond delay="0"/>
                                          </p:stCondLst>
                                        </p:cTn>
                                        <p:tgtEl>
                                          <p:spTgt spid="1048903"/>
                                        </p:tgtEl>
                                        <p:attrNameLst>
                                          <p:attrName>style.visibility</p:attrName>
                                        </p:attrNameLst>
                                      </p:cBhvr>
                                      <p:to>
                                        <p:strVal val="hidden"/>
                                      </p:to>
                                    </p:set>
                                  </p:childTnLst>
                                </p:cTn>
                              </p:par>
                              <p:par>
                                <p:cTn id="216" presetID="1" presetClass="entr" presetSubtype="0" fill="hold" grpId="0" nodeType="withEffect">
                                  <p:stCondLst>
                                    <p:cond delay="0"/>
                                  </p:stCondLst>
                                  <p:childTnLst>
                                    <p:set>
                                      <p:cBhvr>
                                        <p:cTn id="217" dur="1" fill="hold">
                                          <p:stCondLst>
                                            <p:cond delay="0"/>
                                          </p:stCondLst>
                                        </p:cTn>
                                        <p:tgtEl>
                                          <p:spTgt spid="1048904"/>
                                        </p:tgtEl>
                                        <p:attrNameLst>
                                          <p:attrName>style.visibility</p:attrName>
                                        </p:attrNameLst>
                                      </p:cBhvr>
                                      <p:to>
                                        <p:strVal val="visible"/>
                                      </p:to>
                                    </p:set>
                                  </p:childTnLst>
                                </p:cTn>
                              </p:par>
                            </p:childTnLst>
                          </p:cTn>
                        </p:par>
                      </p:childTnLst>
                    </p:cTn>
                  </p:par>
                  <p:par>
                    <p:cTn id="218" fill="hold">
                      <p:stCondLst>
                        <p:cond delay="indefinite"/>
                      </p:stCondLst>
                      <p:childTnLst>
                        <p:par>
                          <p:cTn id="219" fill="hold">
                            <p:stCondLst>
                              <p:cond delay="0"/>
                            </p:stCondLst>
                            <p:childTnLst>
                              <p:par>
                                <p:cTn id="220" presetID="1" presetClass="exit" presetSubtype="0" fill="hold" grpId="1" nodeType="clickEffect">
                                  <p:stCondLst>
                                    <p:cond delay="0"/>
                                  </p:stCondLst>
                                  <p:childTnLst>
                                    <p:set>
                                      <p:cBhvr>
                                        <p:cTn id="221" dur="1" fill="hold">
                                          <p:stCondLst>
                                            <p:cond delay="0"/>
                                          </p:stCondLst>
                                        </p:cTn>
                                        <p:tgtEl>
                                          <p:spTgt spid="1048904"/>
                                        </p:tgtEl>
                                        <p:attrNameLst>
                                          <p:attrName>style.visibility</p:attrName>
                                        </p:attrNameLst>
                                      </p:cBhvr>
                                      <p:to>
                                        <p:strVal val="hidden"/>
                                      </p:to>
                                    </p:set>
                                  </p:childTnLst>
                                </p:cTn>
                              </p:par>
                              <p:par>
                                <p:cTn id="222" presetID="1" presetClass="entr" presetSubtype="0" fill="hold" grpId="0" nodeType="withEffect">
                                  <p:stCondLst>
                                    <p:cond delay="0"/>
                                  </p:stCondLst>
                                  <p:childTnLst>
                                    <p:set>
                                      <p:cBhvr>
                                        <p:cTn id="223" dur="1" fill="hold">
                                          <p:stCondLst>
                                            <p:cond delay="0"/>
                                          </p:stCondLst>
                                        </p:cTn>
                                        <p:tgtEl>
                                          <p:spTgt spid="1048905"/>
                                        </p:tgtEl>
                                        <p:attrNameLst>
                                          <p:attrName>style.visibility</p:attrName>
                                        </p:attrNameLst>
                                      </p:cBhvr>
                                      <p:to>
                                        <p:strVal val="visible"/>
                                      </p:to>
                                    </p:set>
                                  </p:childTnLst>
                                </p:cTn>
                              </p:par>
                            </p:childTnLst>
                          </p:cTn>
                        </p:par>
                      </p:childTnLst>
                    </p:cTn>
                  </p:par>
                  <p:par>
                    <p:cTn id="224" fill="hold">
                      <p:stCondLst>
                        <p:cond delay="indefinite"/>
                      </p:stCondLst>
                      <p:childTnLst>
                        <p:par>
                          <p:cTn id="225" fill="hold">
                            <p:stCondLst>
                              <p:cond delay="0"/>
                            </p:stCondLst>
                            <p:childTnLst>
                              <p:par>
                                <p:cTn id="226" presetID="1" presetClass="exit" presetSubtype="0" fill="hold" grpId="1" nodeType="clickEffect">
                                  <p:stCondLst>
                                    <p:cond delay="0"/>
                                  </p:stCondLst>
                                  <p:childTnLst>
                                    <p:set>
                                      <p:cBhvr>
                                        <p:cTn id="227" dur="1" fill="hold">
                                          <p:stCondLst>
                                            <p:cond delay="0"/>
                                          </p:stCondLst>
                                        </p:cTn>
                                        <p:tgtEl>
                                          <p:spTgt spid="1048905"/>
                                        </p:tgtEl>
                                        <p:attrNameLst>
                                          <p:attrName>style.visibility</p:attrName>
                                        </p:attrNameLst>
                                      </p:cBhvr>
                                      <p:to>
                                        <p:strVal val="hidden"/>
                                      </p:to>
                                    </p:set>
                                  </p:childTnLst>
                                </p:cTn>
                              </p:par>
                              <p:par>
                                <p:cTn id="228" presetID="1" presetClass="entr" presetSubtype="0" fill="hold" grpId="0" nodeType="withEffect">
                                  <p:stCondLst>
                                    <p:cond delay="0"/>
                                  </p:stCondLst>
                                  <p:childTnLst>
                                    <p:set>
                                      <p:cBhvr>
                                        <p:cTn id="229" dur="1" fill="hold">
                                          <p:stCondLst>
                                            <p:cond delay="0"/>
                                          </p:stCondLst>
                                        </p:cTn>
                                        <p:tgtEl>
                                          <p:spTgt spid="1048906"/>
                                        </p:tgtEl>
                                        <p:attrNameLst>
                                          <p:attrName>style.visibility</p:attrName>
                                        </p:attrNameLst>
                                      </p:cBhvr>
                                      <p:to>
                                        <p:strVal val="visible"/>
                                      </p:to>
                                    </p:set>
                                  </p:childTnLst>
                                </p:cTn>
                              </p:par>
                            </p:childTnLst>
                          </p:cTn>
                        </p:par>
                      </p:childTnLst>
                    </p:cTn>
                  </p:par>
                  <p:par>
                    <p:cTn id="230" fill="hold">
                      <p:stCondLst>
                        <p:cond delay="indefinite"/>
                      </p:stCondLst>
                      <p:childTnLst>
                        <p:par>
                          <p:cTn id="231" fill="hold">
                            <p:stCondLst>
                              <p:cond delay="0"/>
                            </p:stCondLst>
                            <p:childTnLst>
                              <p:par>
                                <p:cTn id="232" presetID="1" presetClass="exit" presetSubtype="0" fill="hold" grpId="1" nodeType="clickEffect">
                                  <p:stCondLst>
                                    <p:cond delay="0"/>
                                  </p:stCondLst>
                                  <p:childTnLst>
                                    <p:set>
                                      <p:cBhvr>
                                        <p:cTn id="233" dur="1" fill="hold">
                                          <p:stCondLst>
                                            <p:cond delay="0"/>
                                          </p:stCondLst>
                                        </p:cTn>
                                        <p:tgtEl>
                                          <p:spTgt spid="1048906"/>
                                        </p:tgtEl>
                                        <p:attrNameLst>
                                          <p:attrName>style.visibility</p:attrName>
                                        </p:attrNameLst>
                                      </p:cBhvr>
                                      <p:to>
                                        <p:strVal val="hidden"/>
                                      </p:to>
                                    </p:set>
                                  </p:childTnLst>
                                </p:cTn>
                              </p:par>
                              <p:par>
                                <p:cTn id="234" presetID="1" presetClass="entr" presetSubtype="0" fill="hold" grpId="0" nodeType="withEffect">
                                  <p:stCondLst>
                                    <p:cond delay="0"/>
                                  </p:stCondLst>
                                  <p:childTnLst>
                                    <p:set>
                                      <p:cBhvr>
                                        <p:cTn id="235" dur="1" fill="hold">
                                          <p:stCondLst>
                                            <p:cond delay="0"/>
                                          </p:stCondLst>
                                        </p:cTn>
                                        <p:tgtEl>
                                          <p:spTgt spid="1048907"/>
                                        </p:tgtEl>
                                        <p:attrNameLst>
                                          <p:attrName>style.visibility</p:attrName>
                                        </p:attrNameLst>
                                      </p:cBhvr>
                                      <p:to>
                                        <p:strVal val="visible"/>
                                      </p:to>
                                    </p:set>
                                  </p:childTnLst>
                                </p:cTn>
                              </p:par>
                            </p:childTnLst>
                          </p:cTn>
                        </p:par>
                      </p:childTnLst>
                    </p:cTn>
                  </p:par>
                  <p:par>
                    <p:cTn id="236" fill="hold">
                      <p:stCondLst>
                        <p:cond delay="indefinite"/>
                      </p:stCondLst>
                      <p:childTnLst>
                        <p:par>
                          <p:cTn id="237" fill="hold">
                            <p:stCondLst>
                              <p:cond delay="0"/>
                            </p:stCondLst>
                            <p:childTnLst>
                              <p:par>
                                <p:cTn id="238" presetID="1" presetClass="exit" presetSubtype="0" fill="hold" grpId="1" nodeType="clickEffect">
                                  <p:stCondLst>
                                    <p:cond delay="0"/>
                                  </p:stCondLst>
                                  <p:childTnLst>
                                    <p:set>
                                      <p:cBhvr>
                                        <p:cTn id="239" dur="1" fill="hold">
                                          <p:stCondLst>
                                            <p:cond delay="0"/>
                                          </p:stCondLst>
                                        </p:cTn>
                                        <p:tgtEl>
                                          <p:spTgt spid="1048907"/>
                                        </p:tgtEl>
                                        <p:attrNameLst>
                                          <p:attrName>style.visibility</p:attrName>
                                        </p:attrNameLst>
                                      </p:cBhvr>
                                      <p:to>
                                        <p:strVal val="hidden"/>
                                      </p:to>
                                    </p:set>
                                  </p:childTnLst>
                                </p:cTn>
                              </p:par>
                              <p:par>
                                <p:cTn id="240" presetID="1" presetClass="entr" presetSubtype="0" fill="hold" grpId="0" nodeType="withEffect">
                                  <p:stCondLst>
                                    <p:cond delay="0"/>
                                  </p:stCondLst>
                                  <p:childTnLst>
                                    <p:set>
                                      <p:cBhvr>
                                        <p:cTn id="241" dur="1" fill="hold">
                                          <p:stCondLst>
                                            <p:cond delay="0"/>
                                          </p:stCondLst>
                                        </p:cTn>
                                        <p:tgtEl>
                                          <p:spTgt spid="1048908"/>
                                        </p:tgtEl>
                                        <p:attrNameLst>
                                          <p:attrName>style.visibility</p:attrName>
                                        </p:attrNameLst>
                                      </p:cBhvr>
                                      <p:to>
                                        <p:strVal val="visible"/>
                                      </p:to>
                                    </p:set>
                                  </p:childTnLst>
                                </p:cTn>
                              </p:par>
                            </p:childTnLst>
                          </p:cTn>
                        </p:par>
                      </p:childTnLst>
                    </p:cTn>
                  </p:par>
                  <p:par>
                    <p:cTn id="242" fill="hold">
                      <p:stCondLst>
                        <p:cond delay="indefinite"/>
                      </p:stCondLst>
                      <p:childTnLst>
                        <p:par>
                          <p:cTn id="243" fill="hold">
                            <p:stCondLst>
                              <p:cond delay="0"/>
                            </p:stCondLst>
                            <p:childTnLst>
                              <p:par>
                                <p:cTn id="244" presetID="1" presetClass="exit" presetSubtype="0" fill="hold" grpId="1" nodeType="clickEffect">
                                  <p:stCondLst>
                                    <p:cond delay="0"/>
                                  </p:stCondLst>
                                  <p:childTnLst>
                                    <p:set>
                                      <p:cBhvr>
                                        <p:cTn id="245" dur="1" fill="hold">
                                          <p:stCondLst>
                                            <p:cond delay="0"/>
                                          </p:stCondLst>
                                        </p:cTn>
                                        <p:tgtEl>
                                          <p:spTgt spid="1048908"/>
                                        </p:tgtEl>
                                        <p:attrNameLst>
                                          <p:attrName>style.visibility</p:attrName>
                                        </p:attrNameLst>
                                      </p:cBhvr>
                                      <p:to>
                                        <p:strVal val="hidden"/>
                                      </p:to>
                                    </p:set>
                                  </p:childTnLst>
                                </p:cTn>
                              </p:par>
                              <p:par>
                                <p:cTn id="246" presetID="1" presetClass="entr" presetSubtype="0" fill="hold" grpId="0" nodeType="withEffect">
                                  <p:stCondLst>
                                    <p:cond delay="0"/>
                                  </p:stCondLst>
                                  <p:childTnLst>
                                    <p:set>
                                      <p:cBhvr>
                                        <p:cTn id="247" dur="1" fill="hold">
                                          <p:stCondLst>
                                            <p:cond delay="0"/>
                                          </p:stCondLst>
                                        </p:cTn>
                                        <p:tgtEl>
                                          <p:spTgt spid="1048909"/>
                                        </p:tgtEl>
                                        <p:attrNameLst>
                                          <p:attrName>style.visibility</p:attrName>
                                        </p:attrNameLst>
                                      </p:cBhvr>
                                      <p:to>
                                        <p:strVal val="visible"/>
                                      </p:to>
                                    </p:set>
                                  </p:childTnLst>
                                </p:cTn>
                              </p:par>
                            </p:childTnLst>
                          </p:cTn>
                        </p:par>
                      </p:childTnLst>
                    </p:cTn>
                  </p:par>
                  <p:par>
                    <p:cTn id="248" fill="hold">
                      <p:stCondLst>
                        <p:cond delay="indefinite"/>
                      </p:stCondLst>
                      <p:childTnLst>
                        <p:par>
                          <p:cTn id="249" fill="hold">
                            <p:stCondLst>
                              <p:cond delay="0"/>
                            </p:stCondLst>
                            <p:childTnLst>
                              <p:par>
                                <p:cTn id="250" presetID="1" presetClass="exit" presetSubtype="0" fill="hold" grpId="1" nodeType="clickEffect">
                                  <p:stCondLst>
                                    <p:cond delay="0"/>
                                  </p:stCondLst>
                                  <p:childTnLst>
                                    <p:set>
                                      <p:cBhvr>
                                        <p:cTn id="251" dur="1" fill="hold">
                                          <p:stCondLst>
                                            <p:cond delay="0"/>
                                          </p:stCondLst>
                                        </p:cTn>
                                        <p:tgtEl>
                                          <p:spTgt spid="1048909"/>
                                        </p:tgtEl>
                                        <p:attrNameLst>
                                          <p:attrName>style.visibility</p:attrName>
                                        </p:attrNameLst>
                                      </p:cBhvr>
                                      <p:to>
                                        <p:strVal val="hidden"/>
                                      </p:to>
                                    </p:set>
                                  </p:childTnLst>
                                </p:cTn>
                              </p:par>
                              <p:par>
                                <p:cTn id="252" presetID="1" presetClass="entr" presetSubtype="0" fill="hold" grpId="0" nodeType="withEffect">
                                  <p:stCondLst>
                                    <p:cond delay="0"/>
                                  </p:stCondLst>
                                  <p:childTnLst>
                                    <p:set>
                                      <p:cBhvr>
                                        <p:cTn id="253" dur="1" fill="hold">
                                          <p:stCondLst>
                                            <p:cond delay="0"/>
                                          </p:stCondLst>
                                        </p:cTn>
                                        <p:tgtEl>
                                          <p:spTgt spid="1048910"/>
                                        </p:tgtEl>
                                        <p:attrNameLst>
                                          <p:attrName>style.visibility</p:attrName>
                                        </p:attrNameLst>
                                      </p:cBhvr>
                                      <p:to>
                                        <p:strVal val="visible"/>
                                      </p:to>
                                    </p:set>
                                  </p:childTnLst>
                                </p:cTn>
                              </p:par>
                            </p:childTnLst>
                          </p:cTn>
                        </p:par>
                      </p:childTnLst>
                    </p:cTn>
                  </p:par>
                  <p:par>
                    <p:cTn id="254" fill="hold">
                      <p:stCondLst>
                        <p:cond delay="indefinite"/>
                      </p:stCondLst>
                      <p:childTnLst>
                        <p:par>
                          <p:cTn id="255" fill="hold">
                            <p:stCondLst>
                              <p:cond delay="0"/>
                            </p:stCondLst>
                            <p:childTnLst>
                              <p:par>
                                <p:cTn id="256" presetID="1" presetClass="exit" presetSubtype="0" fill="hold" grpId="1" nodeType="clickEffect">
                                  <p:stCondLst>
                                    <p:cond delay="0"/>
                                  </p:stCondLst>
                                  <p:childTnLst>
                                    <p:set>
                                      <p:cBhvr>
                                        <p:cTn id="257" dur="1" fill="hold">
                                          <p:stCondLst>
                                            <p:cond delay="0"/>
                                          </p:stCondLst>
                                        </p:cTn>
                                        <p:tgtEl>
                                          <p:spTgt spid="1048910"/>
                                        </p:tgtEl>
                                        <p:attrNameLst>
                                          <p:attrName>style.visibility</p:attrName>
                                        </p:attrNameLst>
                                      </p:cBhvr>
                                      <p:to>
                                        <p:strVal val="hidden"/>
                                      </p:to>
                                    </p:set>
                                  </p:childTnLst>
                                </p:cTn>
                              </p:par>
                              <p:par>
                                <p:cTn id="258" presetID="1" presetClass="entr" presetSubtype="0" fill="hold" grpId="0" nodeType="withEffect">
                                  <p:stCondLst>
                                    <p:cond delay="0"/>
                                  </p:stCondLst>
                                  <p:childTnLst>
                                    <p:set>
                                      <p:cBhvr>
                                        <p:cTn id="259" dur="1" fill="hold">
                                          <p:stCondLst>
                                            <p:cond delay="0"/>
                                          </p:stCondLst>
                                        </p:cTn>
                                        <p:tgtEl>
                                          <p:spTgt spid="10489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873" grpId="0" build="p" autoUpdateAnimBg="0"/>
      <p:bldP spid="1048874" grpId="0" animBg="1"/>
      <p:bldP spid="1048875" grpId="0" animBg="1"/>
      <p:bldP spid="1048876" grpId="0" animBg="1"/>
      <p:bldP spid="1048877" grpId="0" animBg="1"/>
      <p:bldP spid="1048878" grpId="0" animBg="1"/>
      <p:bldP spid="1048879" grpId="0" animBg="1"/>
      <p:bldP spid="1048880" grpId="0" animBg="1"/>
      <p:bldP spid="1048881" grpId="0" animBg="1"/>
      <p:bldP spid="1048882" grpId="0" animBg="1"/>
      <p:bldP spid="1048884" grpId="0" autoUpdateAnimBg="0"/>
      <p:bldP spid="1048885" grpId="0" autoUpdateAnimBg="0"/>
      <p:bldP spid="1048886" grpId="0" animBg="1"/>
      <p:bldP spid="1048887" grpId="0" autoUpdateAnimBg="0"/>
      <p:bldP spid="1048888" grpId="0" animBg="1"/>
      <p:bldP spid="1048889" grpId="0" autoUpdateAnimBg="0"/>
      <p:bldP spid="1048890" grpId="0" autoUpdateAnimBg="0"/>
      <p:bldP spid="1048891" grpId="0" animBg="1"/>
      <p:bldP spid="1048892" grpId="0" autoUpdateAnimBg="0"/>
      <p:bldP spid="1048893" grpId="0" autoUpdateAnimBg="0"/>
      <p:bldP spid="1048894" grpId="0" autoUpdateAnimBg="0"/>
      <p:bldP spid="1048895" grpId="0" autoUpdateAnimBg="0"/>
      <p:bldP spid="1048903" grpId="0" animBg="1"/>
      <p:bldP spid="1048903" grpId="1" animBg="1"/>
      <p:bldP spid="1048904" grpId="0" animBg="1"/>
      <p:bldP spid="1048904" grpId="1" animBg="1"/>
      <p:bldP spid="1048905" grpId="0" animBg="1"/>
      <p:bldP spid="1048905" grpId="1" animBg="1"/>
      <p:bldP spid="1048906" grpId="0" animBg="1"/>
      <p:bldP spid="1048906" grpId="1" animBg="1"/>
      <p:bldP spid="1048907" grpId="0" animBg="1"/>
      <p:bldP spid="1048907" grpId="1" animBg="1"/>
      <p:bldP spid="1048908" grpId="0" animBg="1"/>
      <p:bldP spid="1048908" grpId="1" animBg="1"/>
      <p:bldP spid="1048909" grpId="0" animBg="1"/>
      <p:bldP spid="1048909" grpId="1" animBg="1"/>
      <p:bldP spid="1048910" grpId="0" animBg="1"/>
      <p:bldP spid="1048910" grpId="1" animBg="1"/>
      <p:bldP spid="1048911" grpId="0" animBg="1"/>
    </p:bldLst>
  </p:timing>
</p:sld>
</file>

<file path=ppt/slides/slide1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599" name="Rectangle 4"/>
          <p:cNvSpPr>
            <a:spLocks noGrp="1" noChangeArrowheads="1"/>
          </p:cNvSpPr>
          <p:nvPr>
            <p:ph type="body" idx="1"/>
          </p:nvPr>
        </p:nvSpPr>
        <p:spPr>
          <a:xfrm>
            <a:off x="657225" y="947738"/>
            <a:ext cx="7772400" cy="3532187"/>
          </a:xfrm>
          <a:noFill/>
        </p:spPr>
        <p:txBody>
          <a:bodyPr>
            <a:normAutofit fontScale="94457"/>
          </a:bodyPr>
          <a:lstStyle/>
          <a:p>
            <a:pPr marL="360363" indent="-360363" eaLnBrk="1" hangingPunct="1">
              <a:lnSpc>
                <a:spcPct val="90000"/>
              </a:lnSpc>
              <a:spcBef>
                <a:spcPct val="0"/>
              </a:spcBef>
            </a:pPr>
            <a:r>
              <a:rPr lang="zh-CN" altLang="en-US" sz="2200" dirty="0">
                <a:solidFill>
                  <a:schemeClr val="accent2"/>
                </a:solidFill>
              </a:rPr>
              <a:t>分析成功的</a:t>
            </a:r>
            <a:r>
              <a:rPr lang="zh-CN" altLang="en-US" sz="2200" b="1" dirty="0">
                <a:solidFill>
                  <a:schemeClr val="accent2"/>
                </a:solidFill>
              </a:rPr>
              <a:t>条件</a:t>
            </a:r>
            <a:r>
              <a:rPr lang="zh-CN" altLang="en-US" sz="2200" dirty="0">
                <a:solidFill>
                  <a:srgbClr val="000000"/>
                </a:solidFill>
              </a:rPr>
              <a:t>：栈顶为文法开始符号，输入符号串为空。</a:t>
            </a:r>
          </a:p>
          <a:p>
            <a:pPr marL="360363" indent="-360363" eaLnBrk="1" hangingPunct="1">
              <a:lnSpc>
                <a:spcPct val="90000"/>
              </a:lnSpc>
              <a:spcBef>
                <a:spcPct val="0"/>
              </a:spcBef>
            </a:pPr>
            <a:endParaRPr lang="zh-CN" altLang="en-US" sz="2200" dirty="0">
              <a:solidFill>
                <a:srgbClr val="000000"/>
              </a:solidFill>
            </a:endParaRPr>
          </a:p>
          <a:p>
            <a:pPr marL="360363" indent="-360363" eaLnBrk="1" hangingPunct="1">
              <a:lnSpc>
                <a:spcPct val="90000"/>
              </a:lnSpc>
              <a:spcBef>
                <a:spcPct val="0"/>
              </a:spcBef>
            </a:pPr>
            <a:r>
              <a:rPr lang="zh-CN" altLang="en-US" sz="2200" dirty="0">
                <a:solidFill>
                  <a:srgbClr val="000000"/>
                </a:solidFill>
              </a:rPr>
              <a:t>注意：该过程并未涉及如何在栈里找</a:t>
            </a:r>
            <a:r>
              <a:rPr lang="zh-CN" altLang="en-US" sz="2200" b="1" dirty="0">
                <a:solidFill>
                  <a:srgbClr val="0000FF"/>
                </a:solidFill>
              </a:rPr>
              <a:t>可归约串</a:t>
            </a:r>
            <a:r>
              <a:rPr lang="zh-CN" altLang="en-US" sz="2200" dirty="0">
                <a:solidFill>
                  <a:srgbClr val="000000"/>
                </a:solidFill>
              </a:rPr>
              <a:t>。实际上，不同的找可归约串的方法，构成了不同的分析方法。</a:t>
            </a:r>
          </a:p>
          <a:p>
            <a:pPr marL="360363" indent="-360363" eaLnBrk="1" hangingPunct="1">
              <a:lnSpc>
                <a:spcPct val="90000"/>
              </a:lnSpc>
              <a:spcBef>
                <a:spcPct val="0"/>
              </a:spcBef>
            </a:pPr>
            <a:endParaRPr lang="zh-CN" altLang="en-US" sz="2200" dirty="0">
              <a:solidFill>
                <a:srgbClr val="000000"/>
              </a:solidFill>
            </a:endParaRPr>
          </a:p>
          <a:p>
            <a:pPr marL="360363" indent="-360363" eaLnBrk="1" hangingPunct="1">
              <a:lnSpc>
                <a:spcPct val="90000"/>
              </a:lnSpc>
              <a:spcBef>
                <a:spcPct val="0"/>
              </a:spcBef>
            </a:pPr>
            <a:r>
              <a:rPr lang="zh-CN" altLang="en-US" sz="2200" dirty="0">
                <a:solidFill>
                  <a:srgbClr val="000000"/>
                </a:solidFill>
              </a:rPr>
              <a:t>“移进</a:t>
            </a:r>
            <a:r>
              <a:rPr lang="en-US" altLang="zh-CN" sz="2200" dirty="0">
                <a:solidFill>
                  <a:srgbClr val="000000"/>
                </a:solidFill>
              </a:rPr>
              <a:t>-</a:t>
            </a:r>
            <a:r>
              <a:rPr lang="zh-CN" altLang="en-US" sz="2200" dirty="0">
                <a:solidFill>
                  <a:srgbClr val="000000"/>
                </a:solidFill>
              </a:rPr>
              <a:t>归约”分析法用栈实现的</a:t>
            </a:r>
            <a:r>
              <a:rPr lang="zh-CN" altLang="en-US" sz="2200" b="1" dirty="0">
                <a:solidFill>
                  <a:schemeClr val="accent2"/>
                </a:solidFill>
              </a:rPr>
              <a:t>特点</a:t>
            </a:r>
            <a:r>
              <a:rPr lang="zh-CN" altLang="en-US" sz="2200" dirty="0">
                <a:solidFill>
                  <a:srgbClr val="000000"/>
                </a:solidFill>
              </a:rPr>
              <a:t>：</a:t>
            </a:r>
          </a:p>
          <a:p>
            <a:pPr marL="900113" lvl="1" indent="-180975" eaLnBrk="1" hangingPunct="1">
              <a:lnSpc>
                <a:spcPct val="90000"/>
              </a:lnSpc>
              <a:spcBef>
                <a:spcPct val="0"/>
              </a:spcBef>
              <a:buFontTx/>
              <a:buChar char="•"/>
            </a:pPr>
            <a:r>
              <a:rPr lang="zh-CN" altLang="en-US" sz="2200" dirty="0">
                <a:solidFill>
                  <a:srgbClr val="000000"/>
                </a:solidFill>
              </a:rPr>
              <a:t>可归约串必定位于栈顶，即可归约串之后就是剩余的输入串。</a:t>
            </a:r>
          </a:p>
          <a:p>
            <a:pPr marL="900113" lvl="1" indent="-180975" eaLnBrk="1" hangingPunct="1">
              <a:lnSpc>
                <a:spcPct val="90000"/>
              </a:lnSpc>
              <a:spcBef>
                <a:spcPct val="0"/>
              </a:spcBef>
              <a:buFontTx/>
              <a:buChar char="•"/>
            </a:pPr>
            <a:r>
              <a:rPr lang="zh-CN" altLang="en-US" sz="2200" dirty="0">
                <a:solidFill>
                  <a:srgbClr val="000000"/>
                </a:solidFill>
              </a:rPr>
              <a:t>栈内符号串与剩余输入串正好构成一个规范句型。</a:t>
            </a:r>
          </a:p>
        </p:txBody>
      </p:sp>
    </p:spTree>
    <p:extLst>
      <p:ext uri="{BB962C8B-B14F-4D97-AF65-F5344CB8AC3E}">
        <p14:creationId xmlns:p14="http://schemas.microsoft.com/office/powerpoint/2010/main" val="41886226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048599">
                                            <p:txEl>
                                              <p:pRg st="0" end="0"/>
                                            </p:txEl>
                                          </p:spTgt>
                                        </p:tgtEl>
                                        <p:attrNameLst>
                                          <p:attrName>style.visibility</p:attrName>
                                        </p:attrNameLst>
                                      </p:cBhvr>
                                      <p:to>
                                        <p:strVal val="visible"/>
                                      </p:to>
                                    </p:set>
                                    <p:animEffect transition="in" filter="strips(downLeft)">
                                      <p:cBhvr>
                                        <p:cTn id="7" dur="500"/>
                                        <p:tgtEl>
                                          <p:spTgt spid="1048599">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1048599">
                                            <p:txEl>
                                              <p:pRg st="2" end="2"/>
                                            </p:txEl>
                                          </p:spTgt>
                                        </p:tgtEl>
                                        <p:attrNameLst>
                                          <p:attrName>style.visibility</p:attrName>
                                        </p:attrNameLst>
                                      </p:cBhvr>
                                      <p:to>
                                        <p:strVal val="visible"/>
                                      </p:to>
                                    </p:set>
                                    <p:animEffect transition="in" filter="strips(downLeft)">
                                      <p:cBhvr>
                                        <p:cTn id="12" dur="500"/>
                                        <p:tgtEl>
                                          <p:spTgt spid="1048599">
                                            <p:txEl>
                                              <p:pRg st="2" end="2"/>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grpId="0" nodeType="clickEffect">
                                  <p:stCondLst>
                                    <p:cond delay="0"/>
                                  </p:stCondLst>
                                  <p:childTnLst>
                                    <p:set>
                                      <p:cBhvr>
                                        <p:cTn id="16" dur="1" fill="hold">
                                          <p:stCondLst>
                                            <p:cond delay="0"/>
                                          </p:stCondLst>
                                        </p:cTn>
                                        <p:tgtEl>
                                          <p:spTgt spid="1048599">
                                            <p:txEl>
                                              <p:pRg st="4" end="4"/>
                                            </p:txEl>
                                          </p:spTgt>
                                        </p:tgtEl>
                                        <p:attrNameLst>
                                          <p:attrName>style.visibility</p:attrName>
                                        </p:attrNameLst>
                                      </p:cBhvr>
                                      <p:to>
                                        <p:strVal val="visible"/>
                                      </p:to>
                                    </p:set>
                                    <p:animEffect transition="in" filter="strips(downLeft)">
                                      <p:cBhvr>
                                        <p:cTn id="17" dur="500"/>
                                        <p:tgtEl>
                                          <p:spTgt spid="1048599">
                                            <p:txEl>
                                              <p:pRg st="4" end="4"/>
                                            </p:txEl>
                                          </p:spTgt>
                                        </p:tgtEl>
                                      </p:cBhvr>
                                    </p:animEffect>
                                  </p:childTnLst>
                                </p:cTn>
                              </p:par>
                              <p:par>
                                <p:cTn id="18" presetID="18" presetClass="entr" presetSubtype="12" fill="hold" grpId="0" nodeType="withEffect">
                                  <p:stCondLst>
                                    <p:cond delay="0"/>
                                  </p:stCondLst>
                                  <p:childTnLst>
                                    <p:set>
                                      <p:cBhvr>
                                        <p:cTn id="19" dur="1" fill="hold">
                                          <p:stCondLst>
                                            <p:cond delay="0"/>
                                          </p:stCondLst>
                                        </p:cTn>
                                        <p:tgtEl>
                                          <p:spTgt spid="1048599">
                                            <p:txEl>
                                              <p:pRg st="5" end="5"/>
                                            </p:txEl>
                                          </p:spTgt>
                                        </p:tgtEl>
                                        <p:attrNameLst>
                                          <p:attrName>style.visibility</p:attrName>
                                        </p:attrNameLst>
                                      </p:cBhvr>
                                      <p:to>
                                        <p:strVal val="visible"/>
                                      </p:to>
                                    </p:set>
                                    <p:animEffect transition="in" filter="strips(downLeft)">
                                      <p:cBhvr>
                                        <p:cTn id="20" dur="500"/>
                                        <p:tgtEl>
                                          <p:spTgt spid="1048599">
                                            <p:txEl>
                                              <p:pRg st="5" end="5"/>
                                            </p:txEl>
                                          </p:spTgt>
                                        </p:tgtEl>
                                      </p:cBhvr>
                                    </p:animEffect>
                                  </p:childTnLst>
                                </p:cTn>
                              </p:par>
                              <p:par>
                                <p:cTn id="21" presetID="18" presetClass="entr" presetSubtype="12" fill="hold" grpId="0" nodeType="withEffect">
                                  <p:stCondLst>
                                    <p:cond delay="0"/>
                                  </p:stCondLst>
                                  <p:childTnLst>
                                    <p:set>
                                      <p:cBhvr>
                                        <p:cTn id="22" dur="1" fill="hold">
                                          <p:stCondLst>
                                            <p:cond delay="0"/>
                                          </p:stCondLst>
                                        </p:cTn>
                                        <p:tgtEl>
                                          <p:spTgt spid="1048599">
                                            <p:txEl>
                                              <p:pRg st="6" end="6"/>
                                            </p:txEl>
                                          </p:spTgt>
                                        </p:tgtEl>
                                        <p:attrNameLst>
                                          <p:attrName>style.visibility</p:attrName>
                                        </p:attrNameLst>
                                      </p:cBhvr>
                                      <p:to>
                                        <p:strVal val="visible"/>
                                      </p:to>
                                    </p:set>
                                    <p:animEffect transition="in" filter="strips(downLeft)">
                                      <p:cBhvr>
                                        <p:cTn id="23" dur="500"/>
                                        <p:tgtEl>
                                          <p:spTgt spid="1048599">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599" grpId="0" build="p" autoUpdateAnimBg="0"/>
    </p:bldLst>
  </p:timing>
</p:sld>
</file>

<file path=ppt/slides/slide1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589" name="Rectangle 2"/>
          <p:cNvSpPr>
            <a:spLocks noGrp="1" noChangeArrowheads="1"/>
          </p:cNvSpPr>
          <p:nvPr>
            <p:ph type="title"/>
          </p:nvPr>
        </p:nvSpPr>
        <p:spPr>
          <a:xfrm>
            <a:off x="395536" y="123478"/>
            <a:ext cx="7772400" cy="857250"/>
          </a:xfrm>
          <a:noFill/>
        </p:spPr>
        <p:txBody>
          <a:bodyPr lIns="92075" tIns="46038" rIns="92075" bIns="46038">
            <a:normAutofit/>
          </a:bodyPr>
          <a:lstStyle/>
          <a:p>
            <a:pPr eaLnBrk="1" hangingPunct="1"/>
            <a:r>
              <a:rPr lang="zh-CN" altLang="en-US" sz="3200" b="1">
                <a:solidFill>
                  <a:schemeClr val="tx1"/>
                </a:solidFill>
                <a:latin typeface="宋体" pitchFamily="2" charset="-122"/>
              </a:rPr>
              <a:t>移进</a:t>
            </a:r>
            <a:r>
              <a:rPr lang="en-US" altLang="zh-CN" sz="3200" b="1">
                <a:solidFill>
                  <a:schemeClr val="tx1"/>
                </a:solidFill>
                <a:latin typeface="宋体" pitchFamily="2" charset="-122"/>
              </a:rPr>
              <a:t>-</a:t>
            </a:r>
            <a:r>
              <a:rPr lang="zh-CN" altLang="en-US" sz="3200" b="1">
                <a:solidFill>
                  <a:schemeClr val="tx1"/>
                </a:solidFill>
                <a:latin typeface="宋体" pitchFamily="2" charset="-122"/>
              </a:rPr>
              <a:t>归约分析中的问题</a:t>
            </a:r>
          </a:p>
        </p:txBody>
      </p:sp>
      <p:sp>
        <p:nvSpPr>
          <p:cNvPr id="1048590" name="Rectangle 3"/>
          <p:cNvSpPr>
            <a:spLocks noGrp="1" noChangeArrowheads="1"/>
          </p:cNvSpPr>
          <p:nvPr>
            <p:ph type="body" idx="1"/>
          </p:nvPr>
        </p:nvSpPr>
        <p:spPr>
          <a:xfrm>
            <a:off x="755576" y="1275606"/>
            <a:ext cx="7286625" cy="3006725"/>
          </a:xfrm>
          <a:noFill/>
        </p:spPr>
        <p:txBody>
          <a:bodyPr lIns="92075" tIns="46038" rIns="92075" bIns="46038">
            <a:noAutofit/>
          </a:bodyPr>
          <a:lstStyle/>
          <a:p>
            <a:pPr eaLnBrk="1" hangingPunct="1">
              <a:lnSpc>
                <a:spcPct val="90000"/>
              </a:lnSpc>
            </a:pPr>
            <a:r>
              <a:rPr lang="en-US" altLang="zh-CN" sz="2200" b="1" dirty="0">
                <a:latin typeface="宋体" pitchFamily="2" charset="-122"/>
              </a:rPr>
              <a:t>1) </a:t>
            </a:r>
            <a:r>
              <a:rPr lang="zh-CN" altLang="en-US" sz="2200" b="1" dirty="0">
                <a:latin typeface="宋体" pitchFamily="2" charset="-122"/>
              </a:rPr>
              <a:t>移进</a:t>
            </a:r>
            <a:r>
              <a:rPr lang="en-US" altLang="zh-CN" sz="2200" b="1" dirty="0">
                <a:latin typeface="宋体" pitchFamily="2" charset="-122"/>
              </a:rPr>
              <a:t>-</a:t>
            </a:r>
            <a:r>
              <a:rPr lang="zh-CN" altLang="en-US" sz="2200" b="1" dirty="0">
                <a:latin typeface="宋体" pitchFamily="2" charset="-122"/>
              </a:rPr>
              <a:t>归约冲突     </a:t>
            </a:r>
          </a:p>
          <a:p>
            <a:pPr lvl="1" eaLnBrk="1" hangingPunct="1">
              <a:lnSpc>
                <a:spcPct val="90000"/>
              </a:lnSpc>
            </a:pPr>
            <a:r>
              <a:rPr lang="zh-CN" altLang="en-US" sz="2200" dirty="0">
                <a:latin typeface="宋体" pitchFamily="2" charset="-122"/>
              </a:rPr>
              <a:t>在分析到某一步时，既可以移进，又可以归约</a:t>
            </a:r>
          </a:p>
          <a:p>
            <a:pPr lvl="1" eaLnBrk="1" hangingPunct="1">
              <a:lnSpc>
                <a:spcPct val="90000"/>
              </a:lnSpc>
            </a:pPr>
            <a:r>
              <a:rPr lang="zh-CN" altLang="en-US" sz="2200" dirty="0">
                <a:latin typeface="宋体" pitchFamily="2" charset="-122"/>
              </a:rPr>
              <a:t>上例第</a:t>
            </a:r>
            <a:r>
              <a:rPr lang="en-US" altLang="zh-CN" sz="2200" dirty="0">
                <a:latin typeface="宋体" pitchFamily="2" charset="-122"/>
              </a:rPr>
              <a:t>10)</a:t>
            </a:r>
            <a:r>
              <a:rPr lang="zh-CN" altLang="en-US" sz="2200" dirty="0">
                <a:latin typeface="宋体" pitchFamily="2" charset="-122"/>
              </a:rPr>
              <a:t>步可以移进*，也可以按产生式</a:t>
            </a:r>
            <a:r>
              <a:rPr lang="en-US" altLang="zh-CN" sz="2200" dirty="0">
                <a:latin typeface="宋体" pitchFamily="2" charset="-122"/>
              </a:rPr>
              <a:t>E→E+T</a:t>
            </a:r>
            <a:r>
              <a:rPr lang="zh-CN" altLang="en-US" sz="2200" dirty="0">
                <a:latin typeface="宋体" pitchFamily="2" charset="-122"/>
              </a:rPr>
              <a:t>进行归约。</a:t>
            </a:r>
          </a:p>
          <a:p>
            <a:pPr eaLnBrk="1" hangingPunct="1">
              <a:lnSpc>
                <a:spcPct val="90000"/>
              </a:lnSpc>
            </a:pPr>
            <a:r>
              <a:rPr lang="en-US" altLang="zh-CN" sz="2200" b="1" dirty="0">
                <a:latin typeface="宋体" pitchFamily="2" charset="-122"/>
              </a:rPr>
              <a:t>2) </a:t>
            </a:r>
            <a:r>
              <a:rPr lang="zh-CN" altLang="en-US" sz="2200" b="1" dirty="0">
                <a:latin typeface="宋体" pitchFamily="2" charset="-122"/>
              </a:rPr>
              <a:t>归约</a:t>
            </a:r>
            <a:r>
              <a:rPr lang="en-US" altLang="zh-CN" sz="2200" b="1" dirty="0">
                <a:latin typeface="宋体" pitchFamily="2" charset="-122"/>
              </a:rPr>
              <a:t>-</a:t>
            </a:r>
            <a:r>
              <a:rPr lang="zh-CN" altLang="en-US" sz="2200" b="1" dirty="0">
                <a:latin typeface="宋体" pitchFamily="2" charset="-122"/>
              </a:rPr>
              <a:t>归约冲突</a:t>
            </a:r>
          </a:p>
          <a:p>
            <a:pPr lvl="1" eaLnBrk="1" hangingPunct="1">
              <a:lnSpc>
                <a:spcPct val="90000"/>
              </a:lnSpc>
            </a:pPr>
            <a:r>
              <a:rPr lang="zh-CN" altLang="en-US" sz="2200" dirty="0">
                <a:latin typeface="宋体" pitchFamily="2" charset="-122"/>
              </a:rPr>
              <a:t>存在两个可选的句柄，可对栈顶符号进行归约</a:t>
            </a:r>
          </a:p>
          <a:p>
            <a:pPr lvl="1" eaLnBrk="1" hangingPunct="1">
              <a:lnSpc>
                <a:spcPct val="90000"/>
              </a:lnSpc>
            </a:pPr>
            <a:r>
              <a:rPr lang="zh-CN" altLang="en-US" sz="2200" dirty="0">
                <a:latin typeface="宋体" pitchFamily="2" charset="-122"/>
              </a:rPr>
              <a:t>例如上述第</a:t>
            </a:r>
            <a:r>
              <a:rPr lang="en-US" altLang="zh-CN" sz="2200" dirty="0">
                <a:latin typeface="宋体" pitchFamily="2" charset="-122"/>
              </a:rPr>
              <a:t>13)</a:t>
            </a:r>
            <a:r>
              <a:rPr lang="zh-CN" altLang="en-US" sz="2200" dirty="0">
                <a:latin typeface="宋体" pitchFamily="2" charset="-122"/>
              </a:rPr>
              <a:t>步，可以用</a:t>
            </a:r>
            <a:r>
              <a:rPr lang="en-US" altLang="zh-CN" sz="2200" dirty="0">
                <a:latin typeface="宋体" pitchFamily="2" charset="-122"/>
              </a:rPr>
              <a:t>T→F</a:t>
            </a:r>
            <a:r>
              <a:rPr lang="zh-CN" altLang="en-US" sz="2200" dirty="0">
                <a:latin typeface="宋体" pitchFamily="2" charset="-122"/>
              </a:rPr>
              <a:t>进行归约，又可以按</a:t>
            </a:r>
            <a:r>
              <a:rPr lang="en-US" altLang="zh-CN" sz="2200" dirty="0">
                <a:latin typeface="宋体" pitchFamily="2" charset="-122"/>
              </a:rPr>
              <a:t>T→T*F</a:t>
            </a:r>
            <a:r>
              <a:rPr lang="zh-CN" altLang="en-US" sz="2200" dirty="0">
                <a:latin typeface="宋体" pitchFamily="2" charset="-122"/>
              </a:rPr>
              <a:t>进行归约。</a:t>
            </a:r>
          </a:p>
          <a:p>
            <a:pPr eaLnBrk="1" hangingPunct="1">
              <a:lnSpc>
                <a:spcPct val="90000"/>
              </a:lnSpc>
            </a:pPr>
            <a:r>
              <a:rPr lang="zh-CN" altLang="en-US" sz="2200" b="1" dirty="0">
                <a:latin typeface="宋体" pitchFamily="2" charset="-122"/>
              </a:rPr>
              <a:t>各种分析方法中处理冲突的技术不同</a:t>
            </a:r>
          </a:p>
        </p:txBody>
      </p:sp>
    </p:spTree>
    <p:extLst>
      <p:ext uri="{BB962C8B-B14F-4D97-AF65-F5344CB8AC3E}">
        <p14:creationId xmlns:p14="http://schemas.microsoft.com/office/powerpoint/2010/main" val="42840288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lt">
                                    <p:tmPct val="100000"/>
                                  </p:iterate>
                                  <p:childTnLst>
                                    <p:set>
                                      <p:cBhvr>
                                        <p:cTn id="6" dur="1" fill="hold">
                                          <p:stCondLst>
                                            <p:cond delay="0"/>
                                          </p:stCondLst>
                                        </p:cTn>
                                        <p:tgtEl>
                                          <p:spTgt spid="1048590">
                                            <p:txEl>
                                              <p:pRg st="0" end="0"/>
                                            </p:txEl>
                                          </p:spTgt>
                                        </p:tgtEl>
                                        <p:attrNameLst>
                                          <p:attrName>style.visibility</p:attrName>
                                        </p:attrNameLst>
                                      </p:cBhvr>
                                      <p:to>
                                        <p:strVal val="visible"/>
                                      </p:to>
                                    </p:set>
                                    <p:animEffect transition="in" filter="wipe(up)">
                                      <p:cBhvr>
                                        <p:cTn id="7" dur="75"/>
                                        <p:tgtEl>
                                          <p:spTgt spid="1048590">
                                            <p:txEl>
                                              <p:pRg st="0" end="0"/>
                                            </p:txEl>
                                          </p:spTgt>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par>
                                <p:cTn id="8" presetID="22" presetClass="entr" presetSubtype="1" fill="hold" grpId="0" nodeType="withEffect">
                                  <p:stCondLst>
                                    <p:cond delay="0"/>
                                  </p:stCondLst>
                                  <p:iterate type="lt">
                                    <p:tmPct val="100000"/>
                                  </p:iterate>
                                  <p:childTnLst>
                                    <p:set>
                                      <p:cBhvr>
                                        <p:cTn id="9" dur="1" fill="hold">
                                          <p:stCondLst>
                                            <p:cond delay="0"/>
                                          </p:stCondLst>
                                        </p:cTn>
                                        <p:tgtEl>
                                          <p:spTgt spid="1048590">
                                            <p:txEl>
                                              <p:pRg st="1" end="1"/>
                                            </p:txEl>
                                          </p:spTgt>
                                        </p:tgtEl>
                                        <p:attrNameLst>
                                          <p:attrName>style.visibility</p:attrName>
                                        </p:attrNameLst>
                                      </p:cBhvr>
                                      <p:to>
                                        <p:strVal val="visible"/>
                                      </p:to>
                                    </p:set>
                                    <p:animEffect transition="in" filter="wipe(up)">
                                      <p:cBhvr>
                                        <p:cTn id="10" dur="75"/>
                                        <p:tgtEl>
                                          <p:spTgt spid="1048590">
                                            <p:txEl>
                                              <p:pRg st="1" end="1"/>
                                            </p:txEl>
                                          </p:spTgt>
                                        </p:tgtEl>
                                      </p:cBhvr>
                                    </p:animEffect>
                                  </p:childTnLst>
                                  <p:subTnLst>
                                    <p:audio>
                                      <p:cMediaNode>
                                        <p:cTn display="0" masterRel="sameClick">
                                          <p:stCondLst>
                                            <p:cond evt="begin" delay="0">
                                              <p:tn val="8"/>
                                            </p:cond>
                                          </p:stCondLst>
                                          <p:endCondLst>
                                            <p:cond evt="onStopAudio" delay="0">
                                              <p:tgtEl>
                                                <p:sldTgt/>
                                              </p:tgtEl>
                                            </p:cond>
                                          </p:endCondLst>
                                        </p:cTn>
                                        <p:tgtEl>
                                          <p:sndTgt r:embed="rId3" name="TYPE.WAV"/>
                                        </p:tgtEl>
                                      </p:cMediaNode>
                                    </p:audio>
                                  </p:subTnLst>
                                </p:cTn>
                              </p:par>
                              <p:par>
                                <p:cTn id="11" presetID="22" presetClass="entr" presetSubtype="1" fill="hold" grpId="0" nodeType="withEffect">
                                  <p:stCondLst>
                                    <p:cond delay="0"/>
                                  </p:stCondLst>
                                  <p:iterate type="lt">
                                    <p:tmPct val="100000"/>
                                  </p:iterate>
                                  <p:childTnLst>
                                    <p:set>
                                      <p:cBhvr>
                                        <p:cTn id="12" dur="1" fill="hold">
                                          <p:stCondLst>
                                            <p:cond delay="0"/>
                                          </p:stCondLst>
                                        </p:cTn>
                                        <p:tgtEl>
                                          <p:spTgt spid="1048590">
                                            <p:txEl>
                                              <p:pRg st="2" end="2"/>
                                            </p:txEl>
                                          </p:spTgt>
                                        </p:tgtEl>
                                        <p:attrNameLst>
                                          <p:attrName>style.visibility</p:attrName>
                                        </p:attrNameLst>
                                      </p:cBhvr>
                                      <p:to>
                                        <p:strVal val="visible"/>
                                      </p:to>
                                    </p:set>
                                    <p:animEffect transition="in" filter="wipe(up)">
                                      <p:cBhvr>
                                        <p:cTn id="13" dur="75"/>
                                        <p:tgtEl>
                                          <p:spTgt spid="1048590">
                                            <p:txEl>
                                              <p:pRg st="2" end="2"/>
                                            </p:txEl>
                                          </p:spTgt>
                                        </p:tgtEl>
                                      </p:cBhvr>
                                    </p:animEffect>
                                  </p:childTnLst>
                                  <p:subTnLst>
                                    <p:audio>
                                      <p:cMediaNode>
                                        <p:cTn display="0" masterRel="sameClick">
                                          <p:stCondLst>
                                            <p:cond evt="begin" delay="0">
                                              <p:tn val="11"/>
                                            </p:cond>
                                          </p:stCondLst>
                                          <p:endCondLst>
                                            <p:cond evt="onStopAudio" delay="0">
                                              <p:tgtEl>
                                                <p:sldTgt/>
                                              </p:tgtEl>
                                            </p:cond>
                                          </p:endCondLst>
                                        </p:cTn>
                                        <p:tgtEl>
                                          <p:sndTgt r:embed="rId3" name="TYPE.WAV"/>
                                        </p:tgtEl>
                                      </p:cMediaNode>
                                    </p:audio>
                                  </p:sub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grpId="0" nodeType="clickEffect">
                                  <p:stCondLst>
                                    <p:cond delay="0"/>
                                  </p:stCondLst>
                                  <p:iterate type="lt">
                                    <p:tmPct val="100000"/>
                                  </p:iterate>
                                  <p:childTnLst>
                                    <p:set>
                                      <p:cBhvr>
                                        <p:cTn id="17" dur="1" fill="hold">
                                          <p:stCondLst>
                                            <p:cond delay="0"/>
                                          </p:stCondLst>
                                        </p:cTn>
                                        <p:tgtEl>
                                          <p:spTgt spid="1048590">
                                            <p:txEl>
                                              <p:pRg st="3" end="3"/>
                                            </p:txEl>
                                          </p:spTgt>
                                        </p:tgtEl>
                                        <p:attrNameLst>
                                          <p:attrName>style.visibility</p:attrName>
                                        </p:attrNameLst>
                                      </p:cBhvr>
                                      <p:to>
                                        <p:strVal val="visible"/>
                                      </p:to>
                                    </p:set>
                                    <p:animEffect transition="in" filter="wipe(up)">
                                      <p:cBhvr>
                                        <p:cTn id="18" dur="75"/>
                                        <p:tgtEl>
                                          <p:spTgt spid="1048590">
                                            <p:txEl>
                                              <p:pRg st="3" end="3"/>
                                            </p:txEl>
                                          </p:spTgt>
                                        </p:tgtEl>
                                      </p:cBhvr>
                                    </p:animEffect>
                                  </p:childTnLst>
                                  <p:subTnLst>
                                    <p:audio>
                                      <p:cMediaNode>
                                        <p:cTn display="0" masterRel="sameClick">
                                          <p:stCondLst>
                                            <p:cond evt="begin" delay="0">
                                              <p:tn val="16"/>
                                            </p:cond>
                                          </p:stCondLst>
                                          <p:endCondLst>
                                            <p:cond evt="onStopAudio" delay="0">
                                              <p:tgtEl>
                                                <p:sldTgt/>
                                              </p:tgtEl>
                                            </p:cond>
                                          </p:endCondLst>
                                        </p:cTn>
                                        <p:tgtEl>
                                          <p:sndTgt r:embed="rId3" name="TYPE.WAV"/>
                                        </p:tgtEl>
                                      </p:cMediaNode>
                                    </p:audio>
                                  </p:subTnLst>
                                </p:cTn>
                              </p:par>
                              <p:par>
                                <p:cTn id="19" presetID="22" presetClass="entr" presetSubtype="1" fill="hold" grpId="0" nodeType="withEffect">
                                  <p:stCondLst>
                                    <p:cond delay="0"/>
                                  </p:stCondLst>
                                  <p:iterate type="lt">
                                    <p:tmPct val="100000"/>
                                  </p:iterate>
                                  <p:childTnLst>
                                    <p:set>
                                      <p:cBhvr>
                                        <p:cTn id="20" dur="1" fill="hold">
                                          <p:stCondLst>
                                            <p:cond delay="0"/>
                                          </p:stCondLst>
                                        </p:cTn>
                                        <p:tgtEl>
                                          <p:spTgt spid="1048590">
                                            <p:txEl>
                                              <p:pRg st="4" end="4"/>
                                            </p:txEl>
                                          </p:spTgt>
                                        </p:tgtEl>
                                        <p:attrNameLst>
                                          <p:attrName>style.visibility</p:attrName>
                                        </p:attrNameLst>
                                      </p:cBhvr>
                                      <p:to>
                                        <p:strVal val="visible"/>
                                      </p:to>
                                    </p:set>
                                    <p:animEffect transition="in" filter="wipe(up)">
                                      <p:cBhvr>
                                        <p:cTn id="21" dur="75"/>
                                        <p:tgtEl>
                                          <p:spTgt spid="1048590">
                                            <p:txEl>
                                              <p:pRg st="4" end="4"/>
                                            </p:txEl>
                                          </p:spTgt>
                                        </p:tgtEl>
                                      </p:cBhvr>
                                    </p:animEffect>
                                  </p:childTnLst>
                                  <p:subTnLst>
                                    <p:audio>
                                      <p:cMediaNode>
                                        <p:cTn display="0" masterRel="sameClick">
                                          <p:stCondLst>
                                            <p:cond evt="begin" delay="0">
                                              <p:tn val="19"/>
                                            </p:cond>
                                          </p:stCondLst>
                                          <p:endCondLst>
                                            <p:cond evt="onStopAudio" delay="0">
                                              <p:tgtEl>
                                                <p:sldTgt/>
                                              </p:tgtEl>
                                            </p:cond>
                                          </p:endCondLst>
                                        </p:cTn>
                                        <p:tgtEl>
                                          <p:sndTgt r:embed="rId3" name="TYPE.WAV"/>
                                        </p:tgtEl>
                                      </p:cMediaNode>
                                    </p:audio>
                                  </p:subTnLst>
                                </p:cTn>
                              </p:par>
                              <p:par>
                                <p:cTn id="22" presetID="22" presetClass="entr" presetSubtype="1" fill="hold" grpId="0" nodeType="withEffect">
                                  <p:stCondLst>
                                    <p:cond delay="0"/>
                                  </p:stCondLst>
                                  <p:iterate type="lt">
                                    <p:tmPct val="100000"/>
                                  </p:iterate>
                                  <p:childTnLst>
                                    <p:set>
                                      <p:cBhvr>
                                        <p:cTn id="23" dur="1" fill="hold">
                                          <p:stCondLst>
                                            <p:cond delay="0"/>
                                          </p:stCondLst>
                                        </p:cTn>
                                        <p:tgtEl>
                                          <p:spTgt spid="1048590">
                                            <p:txEl>
                                              <p:pRg st="5" end="5"/>
                                            </p:txEl>
                                          </p:spTgt>
                                        </p:tgtEl>
                                        <p:attrNameLst>
                                          <p:attrName>style.visibility</p:attrName>
                                        </p:attrNameLst>
                                      </p:cBhvr>
                                      <p:to>
                                        <p:strVal val="visible"/>
                                      </p:to>
                                    </p:set>
                                    <p:animEffect transition="in" filter="wipe(up)">
                                      <p:cBhvr>
                                        <p:cTn id="24" dur="75"/>
                                        <p:tgtEl>
                                          <p:spTgt spid="1048590">
                                            <p:txEl>
                                              <p:pRg st="5" end="5"/>
                                            </p:txEl>
                                          </p:spTgt>
                                        </p:tgtEl>
                                      </p:cBhvr>
                                    </p:animEffect>
                                  </p:childTnLst>
                                  <p:subTnLst>
                                    <p:audio>
                                      <p:cMediaNode>
                                        <p:cTn display="0" masterRel="sameClick">
                                          <p:stCondLst>
                                            <p:cond evt="begin" delay="0">
                                              <p:tn val="22"/>
                                            </p:cond>
                                          </p:stCondLst>
                                          <p:endCondLst>
                                            <p:cond evt="onStopAudio" delay="0">
                                              <p:tgtEl>
                                                <p:sldTgt/>
                                              </p:tgtEl>
                                            </p:cond>
                                          </p:endCondLst>
                                        </p:cTn>
                                        <p:tgtEl>
                                          <p:sndTgt r:embed="rId3" name="TYPE.WAV"/>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iterate type="lt">
                                    <p:tmPct val="100000"/>
                                  </p:iterate>
                                  <p:childTnLst>
                                    <p:set>
                                      <p:cBhvr>
                                        <p:cTn id="28" dur="1" fill="hold">
                                          <p:stCondLst>
                                            <p:cond delay="0"/>
                                          </p:stCondLst>
                                        </p:cTn>
                                        <p:tgtEl>
                                          <p:spTgt spid="1048590">
                                            <p:txEl>
                                              <p:pRg st="6" end="6"/>
                                            </p:txEl>
                                          </p:spTgt>
                                        </p:tgtEl>
                                        <p:attrNameLst>
                                          <p:attrName>style.visibility</p:attrName>
                                        </p:attrNameLst>
                                      </p:cBhvr>
                                      <p:to>
                                        <p:strVal val="visible"/>
                                      </p:to>
                                    </p:set>
                                    <p:animEffect transition="in" filter="wipe(up)">
                                      <p:cBhvr>
                                        <p:cTn id="29" dur="75"/>
                                        <p:tgtEl>
                                          <p:spTgt spid="1048590">
                                            <p:txEl>
                                              <p:pRg st="6" end="6"/>
                                            </p:txEl>
                                          </p:spTgt>
                                        </p:tgtEl>
                                      </p:cBhvr>
                                    </p:animEffect>
                                  </p:childTnLst>
                                  <p:subTnLst>
                                    <p:audio>
                                      <p:cMediaNode>
                                        <p:cTn display="0" masterRel="sameClick">
                                          <p:stCondLst>
                                            <p:cond evt="begin" delay="0">
                                              <p:tn val="27"/>
                                            </p:cond>
                                          </p:stCondLst>
                                          <p:endCondLst>
                                            <p:cond evt="onStopAudio" delay="0">
                                              <p:tgtEl>
                                                <p:sldTgt/>
                                              </p:tgtEl>
                                            </p:cond>
                                          </p:endCondLst>
                                        </p:cTn>
                                        <p:tgtEl>
                                          <p:sndTgt r:embed="rId3"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590" grpId="0" build="p" autoUpdateAnimBg="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a:xfrm>
            <a:off x="725488" y="252413"/>
            <a:ext cx="7772400" cy="857250"/>
          </a:xfrm>
        </p:spPr>
        <p:txBody>
          <a:bodyPr/>
          <a:lstStyle/>
          <a:p>
            <a:pPr eaLnBrk="1" hangingPunct="1"/>
            <a:r>
              <a:rPr lang="zh-CN" altLang="en-US"/>
              <a:t>语法分析树的表示</a:t>
            </a:r>
          </a:p>
        </p:txBody>
      </p:sp>
      <p:sp>
        <p:nvSpPr>
          <p:cNvPr id="138243" name="Rectangle 3"/>
          <p:cNvSpPr>
            <a:spLocks noGrp="1" noChangeArrowheads="1"/>
          </p:cNvSpPr>
          <p:nvPr>
            <p:ph type="body" idx="1"/>
          </p:nvPr>
        </p:nvSpPr>
        <p:spPr>
          <a:xfrm>
            <a:off x="1115617" y="1762125"/>
            <a:ext cx="6713934" cy="2041525"/>
          </a:xfrm>
        </p:spPr>
        <p:txBody>
          <a:bodyPr>
            <a:normAutofit/>
          </a:bodyPr>
          <a:lstStyle/>
          <a:p>
            <a:pPr eaLnBrk="1" hangingPunct="1"/>
            <a:r>
              <a:rPr lang="zh-CN" altLang="en-US" sz="2400" dirty="0"/>
              <a:t>具体实现时可以采用不同的数据结构</a:t>
            </a:r>
          </a:p>
          <a:p>
            <a:pPr eaLnBrk="1" hangingPunct="1"/>
            <a:r>
              <a:rPr lang="zh-CN" altLang="en-US" sz="2400" dirty="0"/>
              <a:t>可以使用“穿线表”方法来表示语法树</a:t>
            </a:r>
          </a:p>
        </p:txBody>
      </p:sp>
    </p:spTree>
    <p:extLst>
      <p:ext uri="{BB962C8B-B14F-4D97-AF65-F5344CB8AC3E}">
        <p14:creationId xmlns:p14="http://schemas.microsoft.com/office/powerpoint/2010/main" val="1344009430"/>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834887"/>
          </a:xfrm>
        </p:spPr>
        <p:txBody>
          <a:bodyPr/>
          <a:lstStyle/>
          <a:p>
            <a:pPr marL="0" indent="0">
              <a:buNone/>
            </a:pPr>
            <a:r>
              <a:rPr lang="en-US" altLang="zh-CN" sz="4400" b="1" kern="1200" dirty="0">
                <a:solidFill>
                  <a:srgbClr val="CC0099"/>
                </a:solidFill>
                <a:latin typeface="Times New Roman" pitchFamily="18" charset="0"/>
                <a:ea typeface="隶书" pitchFamily="49" charset="-122"/>
              </a:rPr>
              <a:t>7. </a:t>
            </a:r>
            <a:r>
              <a:rPr lang="zh-CN" altLang="en-US" sz="4400" b="1" dirty="0">
                <a:solidFill>
                  <a:srgbClr val="CC0099"/>
                </a:solidFill>
                <a:latin typeface="Times New Roman" pitchFamily="18" charset="0"/>
                <a:ea typeface="隶书" pitchFamily="49" charset="-122"/>
              </a:rPr>
              <a:t>算符优先分析方法</a:t>
            </a:r>
            <a:endParaRPr lang="zh-CN" altLang="en-US" sz="4400" b="1" kern="1200" dirty="0">
              <a:solidFill>
                <a:srgbClr val="CC0099"/>
              </a:solidFill>
              <a:latin typeface="Times New Roman" pitchFamily="18" charset="0"/>
              <a:ea typeface="隶书" pitchFamily="49" charset="-122"/>
            </a:endParaRPr>
          </a:p>
        </p:txBody>
      </p:sp>
    </p:spTree>
    <p:extLst>
      <p:ext uri="{BB962C8B-B14F-4D97-AF65-F5344CB8AC3E}">
        <p14:creationId xmlns:p14="http://schemas.microsoft.com/office/powerpoint/2010/main" val="427236809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62" name="Rectangle 2"/>
          <p:cNvSpPr>
            <a:spLocks noGrp="1" noChangeArrowheads="1"/>
          </p:cNvSpPr>
          <p:nvPr>
            <p:ph type="title"/>
          </p:nvPr>
        </p:nvSpPr>
        <p:spPr>
          <a:xfrm>
            <a:off x="647700" y="488950"/>
            <a:ext cx="3924300" cy="647700"/>
          </a:xfrm>
        </p:spPr>
        <p:txBody>
          <a:bodyPr>
            <a:normAutofit fontScale="90000"/>
          </a:bodyPr>
          <a:lstStyle/>
          <a:p>
            <a:pPr eaLnBrk="1" hangingPunct="1">
              <a:defRPr/>
            </a:pPr>
            <a:r>
              <a:rPr lang="zh-CN" altLang="en-US" b="1"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rPr>
              <a:t>算符优先分析</a:t>
            </a:r>
          </a:p>
        </p:txBody>
      </p:sp>
      <p:sp>
        <p:nvSpPr>
          <p:cNvPr id="13315" name="Rectangle 3"/>
          <p:cNvSpPr>
            <a:spLocks noGrp="1" noChangeArrowheads="1"/>
          </p:cNvSpPr>
          <p:nvPr>
            <p:ph type="body" idx="1"/>
          </p:nvPr>
        </p:nvSpPr>
        <p:spPr>
          <a:xfrm>
            <a:off x="442913" y="1493838"/>
            <a:ext cx="7977187" cy="3166144"/>
          </a:xfrm>
        </p:spPr>
        <p:txBody>
          <a:bodyPr>
            <a:normAutofit/>
          </a:bodyPr>
          <a:lstStyle/>
          <a:p>
            <a:pPr eaLnBrk="1" hangingPunct="1">
              <a:spcBef>
                <a:spcPct val="50000"/>
              </a:spcBef>
            </a:pPr>
            <a:r>
              <a:rPr lang="zh-CN" altLang="en-US" sz="2200" dirty="0">
                <a:solidFill>
                  <a:srgbClr val="000000"/>
                </a:solidFill>
                <a:latin typeface="宋体" panose="02010600030101010101" pitchFamily="2" charset="-122"/>
                <a:ea typeface="宋体" panose="02010600030101010101" pitchFamily="2" charset="-122"/>
              </a:rPr>
              <a:t>算符优先分析的思想源于表达式的分析</a:t>
            </a:r>
            <a:endParaRPr lang="en-US" altLang="zh-CN" sz="2200" dirty="0">
              <a:solidFill>
                <a:srgbClr val="000000"/>
              </a:solidFill>
              <a:latin typeface="宋体" panose="02010600030101010101" pitchFamily="2" charset="-122"/>
              <a:ea typeface="宋体" panose="02010600030101010101" pitchFamily="2" charset="-122"/>
            </a:endParaRPr>
          </a:p>
          <a:p>
            <a:pPr eaLnBrk="1" hangingPunct="1">
              <a:spcBef>
                <a:spcPct val="50000"/>
              </a:spcBef>
            </a:pPr>
            <a:r>
              <a:rPr lang="zh-CN" altLang="en-US" sz="2200" dirty="0">
                <a:latin typeface="宋体" pitchFamily="2" charset="-122"/>
                <a:ea typeface="宋体" panose="02010600030101010101" pitchFamily="2" charset="-122"/>
              </a:rPr>
              <a:t>需要定义所有终结符之间的优先关系</a:t>
            </a:r>
            <a:endParaRPr lang="en-US" altLang="zh-CN" sz="2200" dirty="0">
              <a:latin typeface="宋体" pitchFamily="2" charset="-122"/>
              <a:ea typeface="宋体" panose="02010600030101010101" pitchFamily="2" charset="-122"/>
            </a:endParaRPr>
          </a:p>
          <a:p>
            <a:pPr>
              <a:spcBef>
                <a:spcPct val="50000"/>
              </a:spcBef>
            </a:pPr>
            <a:r>
              <a:rPr lang="zh-CN" altLang="en-US" sz="2200" dirty="0">
                <a:latin typeface="宋体" pitchFamily="2" charset="-122"/>
                <a:ea typeface="宋体" panose="02010600030101010101" pitchFamily="2" charset="-122"/>
              </a:rPr>
              <a:t>在自下而上分析过程中，将</a:t>
            </a:r>
            <a:r>
              <a:rPr lang="zh-CN" altLang="en-US" sz="2200" dirty="0">
                <a:solidFill>
                  <a:srgbClr val="FF0000"/>
                </a:solidFill>
                <a:latin typeface="宋体" pitchFamily="2" charset="-122"/>
                <a:ea typeface="宋体" panose="02010600030101010101" pitchFamily="2" charset="-122"/>
              </a:rPr>
              <a:t>终结符</a:t>
            </a:r>
            <a:r>
              <a:rPr lang="zh-CN" altLang="en-US" sz="2200" dirty="0">
                <a:latin typeface="宋体" pitchFamily="2" charset="-122"/>
                <a:ea typeface="宋体" panose="02010600030101010101" pitchFamily="2" charset="-122"/>
              </a:rPr>
              <a:t>当作“算符”，借助于相邻“算符”之间的优先关系确定栈顶是否形成了“可归约串” </a:t>
            </a:r>
            <a:endParaRPr lang="en-US" altLang="zh-CN" sz="2200" dirty="0">
              <a:latin typeface="宋体" pitchFamily="2" charset="-122"/>
              <a:ea typeface="宋体" panose="02010600030101010101" pitchFamily="2" charset="-122"/>
            </a:endParaRPr>
          </a:p>
          <a:p>
            <a:pPr>
              <a:spcBef>
                <a:spcPct val="50000"/>
              </a:spcBef>
            </a:pPr>
            <a:r>
              <a:rPr lang="zh-CN" altLang="en-US" sz="2200" dirty="0">
                <a:latin typeface="宋体" pitchFamily="2" charset="-122"/>
                <a:ea typeface="宋体" panose="02010600030101010101" pitchFamily="2" charset="-122"/>
              </a:rPr>
              <a:t>分析过程不是一种严格的规范归约</a:t>
            </a:r>
          </a:p>
        </p:txBody>
      </p:sp>
      <p:sp>
        <p:nvSpPr>
          <p:cNvPr id="2" name="TextBox 1"/>
          <p:cNvSpPr txBox="1"/>
          <p:nvPr/>
        </p:nvSpPr>
        <p:spPr>
          <a:xfrm>
            <a:off x="6885879" y="365924"/>
            <a:ext cx="2006601" cy="523220"/>
          </a:xfrm>
          <a:prstGeom prst="rect">
            <a:avLst/>
          </a:prstGeom>
          <a:noFill/>
        </p:spPr>
        <p:txBody>
          <a:bodyPr wrap="square" rtlCol="0">
            <a:spAutoFit/>
          </a:bodyPr>
          <a:lstStyle/>
          <a:p>
            <a:r>
              <a:rPr lang="en-US" altLang="zh-CN" sz="2800" dirty="0"/>
              <a:t>3+4</a:t>
            </a:r>
            <a:r>
              <a:rPr lang="zh-CN" altLang="en-US" sz="2800" dirty="0"/>
              <a:t>*</a:t>
            </a:r>
            <a:r>
              <a:rPr lang="en-US" altLang="zh-CN" sz="2800" dirty="0"/>
              <a:t>(5-2)</a:t>
            </a:r>
            <a:endParaRPr lang="zh-CN" altLang="en-US" sz="2800" dirty="0"/>
          </a:p>
        </p:txBody>
      </p:sp>
      <p:sp>
        <p:nvSpPr>
          <p:cNvPr id="5" name="TextBox 4"/>
          <p:cNvSpPr txBox="1"/>
          <p:nvPr/>
        </p:nvSpPr>
        <p:spPr>
          <a:xfrm>
            <a:off x="6885879" y="913764"/>
            <a:ext cx="2006601" cy="523220"/>
          </a:xfrm>
          <a:prstGeom prst="rect">
            <a:avLst/>
          </a:prstGeom>
          <a:noFill/>
        </p:spPr>
        <p:txBody>
          <a:bodyPr wrap="square" rtlCol="0">
            <a:spAutoFit/>
          </a:bodyPr>
          <a:lstStyle/>
          <a:p>
            <a:r>
              <a:rPr lang="en-US" altLang="zh-CN" sz="2800" dirty="0"/>
              <a:t>3+4+(5-2)</a:t>
            </a:r>
            <a:endParaRPr lang="zh-CN" altLang="en-US" sz="2800" dirty="0"/>
          </a:p>
        </p:txBody>
      </p:sp>
    </p:spTree>
    <p:extLst>
      <p:ext uri="{BB962C8B-B14F-4D97-AF65-F5344CB8AC3E}">
        <p14:creationId xmlns:p14="http://schemas.microsoft.com/office/powerpoint/2010/main" val="191634203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13315">
                                            <p:txEl>
                                              <p:pRg st="0" end="0"/>
                                            </p:txEl>
                                          </p:spTgt>
                                        </p:tgtEl>
                                        <p:attrNameLst>
                                          <p:attrName>style.visibility</p:attrName>
                                        </p:attrNameLst>
                                      </p:cBhvr>
                                      <p:to>
                                        <p:strVal val="visible"/>
                                      </p:to>
                                    </p:set>
                                    <p:animEffect transition="in" filter="box(in)">
                                      <p:cBhvr>
                                        <p:cTn id="7" dur="500"/>
                                        <p:tgtEl>
                                          <p:spTgt spid="133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4" presetClass="entr" presetSubtype="16" fill="hold" grpId="0" nodeType="clickEffect">
                                  <p:stCondLst>
                                    <p:cond delay="0"/>
                                  </p:stCondLst>
                                  <p:childTnLst>
                                    <p:set>
                                      <p:cBhvr>
                                        <p:cTn id="19" dur="1" fill="hold">
                                          <p:stCondLst>
                                            <p:cond delay="0"/>
                                          </p:stCondLst>
                                        </p:cTn>
                                        <p:tgtEl>
                                          <p:spTgt spid="13315">
                                            <p:txEl>
                                              <p:pRg st="1" end="1"/>
                                            </p:txEl>
                                          </p:spTgt>
                                        </p:tgtEl>
                                        <p:attrNameLst>
                                          <p:attrName>style.visibility</p:attrName>
                                        </p:attrNameLst>
                                      </p:cBhvr>
                                      <p:to>
                                        <p:strVal val="visible"/>
                                      </p:to>
                                    </p:set>
                                    <p:animEffect transition="in" filter="box(in)">
                                      <p:cBhvr>
                                        <p:cTn id="20" dur="500"/>
                                        <p:tgtEl>
                                          <p:spTgt spid="13315">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grpId="0" nodeType="clickEffect">
                                  <p:stCondLst>
                                    <p:cond delay="0"/>
                                  </p:stCondLst>
                                  <p:childTnLst>
                                    <p:set>
                                      <p:cBhvr>
                                        <p:cTn id="24" dur="1" fill="hold">
                                          <p:stCondLst>
                                            <p:cond delay="0"/>
                                          </p:stCondLst>
                                        </p:cTn>
                                        <p:tgtEl>
                                          <p:spTgt spid="13315">
                                            <p:txEl>
                                              <p:pRg st="2" end="2"/>
                                            </p:txEl>
                                          </p:spTgt>
                                        </p:tgtEl>
                                        <p:attrNameLst>
                                          <p:attrName>style.visibility</p:attrName>
                                        </p:attrNameLst>
                                      </p:cBhvr>
                                      <p:to>
                                        <p:strVal val="visible"/>
                                      </p:to>
                                    </p:set>
                                    <p:animEffect transition="in" filter="box(in)">
                                      <p:cBhvr>
                                        <p:cTn id="25" dur="500"/>
                                        <p:tgtEl>
                                          <p:spTgt spid="13315">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13315">
                                            <p:txEl>
                                              <p:pRg st="3" end="3"/>
                                            </p:txEl>
                                          </p:spTgt>
                                        </p:tgtEl>
                                        <p:attrNameLst>
                                          <p:attrName>style.visibility</p:attrName>
                                        </p:attrNameLst>
                                      </p:cBhvr>
                                      <p:to>
                                        <p:strVal val="visible"/>
                                      </p:to>
                                    </p:set>
                                    <p:animEffect transition="in" filter="box(in)">
                                      <p:cBhvr>
                                        <p:cTn id="30" dur="500"/>
                                        <p:tgtEl>
                                          <p:spTgt spid="1331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5" grpId="0" build="p" autoUpdateAnimBg="0"/>
      <p:bldP spid="2" grpId="0"/>
      <p:bldP spid="5"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a:xfrm>
            <a:off x="630238" y="250825"/>
            <a:ext cx="7772400" cy="623888"/>
          </a:xfrm>
        </p:spPr>
        <p:txBody>
          <a:bodyPr>
            <a:normAutofit fontScale="90000"/>
          </a:bodyPr>
          <a:lstStyle/>
          <a:p>
            <a:pPr algn="l" eaLnBrk="1" hangingPunct="1"/>
            <a:r>
              <a:rPr lang="zh-CN" altLang="en-US">
                <a:solidFill>
                  <a:srgbClr val="000000"/>
                </a:solidFill>
                <a:ea typeface="隶书" pitchFamily="49" charset="-122"/>
              </a:rPr>
              <a:t>优先关系的定义：</a:t>
            </a:r>
          </a:p>
        </p:txBody>
      </p:sp>
      <p:sp>
        <p:nvSpPr>
          <p:cNvPr id="141315" name="Rectangle 3"/>
          <p:cNvSpPr>
            <a:spLocks noGrp="1" noChangeArrowheads="1"/>
          </p:cNvSpPr>
          <p:nvPr>
            <p:ph type="body" idx="1"/>
          </p:nvPr>
        </p:nvSpPr>
        <p:spPr>
          <a:xfrm>
            <a:off x="685800" y="1203598"/>
            <a:ext cx="7772400" cy="1656184"/>
          </a:xfrm>
          <a:solidFill>
            <a:schemeClr val="bg1"/>
          </a:solidFill>
          <a:ln w="28575">
            <a:solidFill>
              <a:srgbClr val="0000FF"/>
            </a:solidFill>
            <a:miter lim="800000"/>
            <a:headEnd/>
            <a:tailEnd/>
          </a:ln>
        </p:spPr>
        <p:txBody>
          <a:bodyPr>
            <a:normAutofit/>
          </a:bodyPr>
          <a:lstStyle/>
          <a:p>
            <a:pPr eaLnBrk="1" hangingPunct="1">
              <a:lnSpc>
                <a:spcPct val="90000"/>
              </a:lnSpc>
              <a:spcBef>
                <a:spcPct val="50000"/>
              </a:spcBef>
            </a:pPr>
            <a:r>
              <a:rPr lang="zh-CN" altLang="en-US" sz="2200" dirty="0">
                <a:solidFill>
                  <a:srgbClr val="000000"/>
                </a:solidFill>
                <a:latin typeface="宋体" panose="02010600030101010101" pitchFamily="2" charset="-122"/>
                <a:ea typeface="宋体" panose="02010600030101010101" pitchFamily="2" charset="-122"/>
              </a:rPr>
              <a:t>在一个符号串中，任意两个相邻终结符号</a:t>
            </a:r>
            <a:r>
              <a:rPr lang="en-US" altLang="zh-CN" sz="2200" dirty="0">
                <a:solidFill>
                  <a:srgbClr val="000000"/>
                </a:solidFill>
                <a:latin typeface="宋体" panose="02010600030101010101" pitchFamily="2" charset="-122"/>
                <a:ea typeface="宋体" panose="02010600030101010101" pitchFamily="2" charset="-122"/>
              </a:rPr>
              <a:t>a</a:t>
            </a:r>
            <a:r>
              <a:rPr lang="zh-CN" altLang="en-US" sz="2200" dirty="0">
                <a:solidFill>
                  <a:srgbClr val="000000"/>
                </a:solidFill>
                <a:latin typeface="宋体" panose="02010600030101010101" pitchFamily="2" charset="-122"/>
                <a:ea typeface="宋体" panose="02010600030101010101" pitchFamily="2" charset="-122"/>
              </a:rPr>
              <a:t>和</a:t>
            </a:r>
            <a:r>
              <a:rPr lang="en-US" altLang="zh-CN" sz="2200" dirty="0">
                <a:solidFill>
                  <a:srgbClr val="000000"/>
                </a:solidFill>
                <a:latin typeface="宋体" panose="02010600030101010101" pitchFamily="2" charset="-122"/>
                <a:ea typeface="宋体" panose="02010600030101010101" pitchFamily="2" charset="-122"/>
              </a:rPr>
              <a:t>b</a:t>
            </a:r>
            <a:r>
              <a:rPr lang="zh-CN" altLang="en-US" sz="2200" dirty="0">
                <a:solidFill>
                  <a:srgbClr val="000000"/>
                </a:solidFill>
                <a:latin typeface="宋体" panose="02010600030101010101" pitchFamily="2" charset="-122"/>
                <a:ea typeface="宋体" panose="02010600030101010101" pitchFamily="2" charset="-122"/>
              </a:rPr>
              <a:t>之间，只可能存在三种优先关系：</a:t>
            </a:r>
            <a:br>
              <a:rPr lang="zh-CN" altLang="en-US" sz="2200" dirty="0">
                <a:solidFill>
                  <a:srgbClr val="000000"/>
                </a:solidFill>
                <a:latin typeface="宋体" panose="02010600030101010101" pitchFamily="2" charset="-122"/>
                <a:ea typeface="宋体" panose="02010600030101010101" pitchFamily="2" charset="-122"/>
              </a:rPr>
            </a:br>
            <a:r>
              <a:rPr lang="zh-CN" altLang="en-US" sz="2200" dirty="0">
                <a:solidFill>
                  <a:srgbClr val="000000"/>
                </a:solidFill>
                <a:latin typeface="宋体" panose="02010600030101010101" pitchFamily="2" charset="-122"/>
                <a:ea typeface="宋体" panose="02010600030101010101" pitchFamily="2" charset="-122"/>
              </a:rPr>
              <a:t>	</a:t>
            </a:r>
            <a:r>
              <a:rPr lang="en-US" altLang="zh-CN" sz="2200" dirty="0">
                <a:solidFill>
                  <a:srgbClr val="000000"/>
                </a:solidFill>
                <a:latin typeface="宋体" panose="02010600030101010101" pitchFamily="2" charset="-122"/>
                <a:ea typeface="宋体" panose="02010600030101010101" pitchFamily="2" charset="-122"/>
              </a:rPr>
              <a:t>(1) a</a:t>
            </a:r>
            <a:r>
              <a:rPr lang="zh-CN" altLang="en-US" sz="2200" dirty="0">
                <a:solidFill>
                  <a:srgbClr val="000000"/>
                </a:solidFill>
                <a:latin typeface="宋体" panose="02010600030101010101" pitchFamily="2" charset="-122"/>
                <a:ea typeface="宋体" panose="02010600030101010101" pitchFamily="2" charset="-122"/>
              </a:rPr>
              <a:t>优先性等于</a:t>
            </a:r>
            <a:r>
              <a:rPr lang="en-US" altLang="zh-CN" sz="2200" dirty="0">
                <a:solidFill>
                  <a:srgbClr val="000000"/>
                </a:solidFill>
                <a:latin typeface="宋体" panose="02010600030101010101" pitchFamily="2" charset="-122"/>
                <a:ea typeface="宋体" panose="02010600030101010101" pitchFamily="2" charset="-122"/>
              </a:rPr>
              <a:t>b</a:t>
            </a:r>
            <a:r>
              <a:rPr lang="zh-CN" altLang="en-US" sz="2200" dirty="0">
                <a:solidFill>
                  <a:srgbClr val="000000"/>
                </a:solidFill>
                <a:latin typeface="宋体" panose="02010600030101010101" pitchFamily="2" charset="-122"/>
                <a:ea typeface="宋体" panose="02010600030101010101" pitchFamily="2" charset="-122"/>
              </a:rPr>
              <a:t>， 记作</a:t>
            </a:r>
            <a:r>
              <a:rPr lang="en-US" altLang="zh-CN" sz="2200" dirty="0">
                <a:solidFill>
                  <a:srgbClr val="000000"/>
                </a:solidFill>
                <a:latin typeface="宋体" panose="02010600030101010101" pitchFamily="2" charset="-122"/>
                <a:ea typeface="宋体" panose="02010600030101010101" pitchFamily="2" charset="-122"/>
              </a:rPr>
              <a:t>a    b</a:t>
            </a:r>
            <a:r>
              <a:rPr lang="zh-CN" altLang="en-US" sz="2200" dirty="0">
                <a:solidFill>
                  <a:srgbClr val="000000"/>
                </a:solidFill>
                <a:latin typeface="宋体" panose="02010600030101010101" pitchFamily="2" charset="-122"/>
                <a:ea typeface="宋体" panose="02010600030101010101" pitchFamily="2" charset="-122"/>
              </a:rPr>
              <a:t>。</a:t>
            </a:r>
            <a:br>
              <a:rPr lang="zh-CN" altLang="en-US" sz="2200" dirty="0">
                <a:solidFill>
                  <a:srgbClr val="000000"/>
                </a:solidFill>
                <a:latin typeface="宋体" panose="02010600030101010101" pitchFamily="2" charset="-122"/>
                <a:ea typeface="宋体" panose="02010600030101010101" pitchFamily="2" charset="-122"/>
              </a:rPr>
            </a:br>
            <a:r>
              <a:rPr lang="zh-CN" altLang="en-US" sz="2200" dirty="0">
                <a:solidFill>
                  <a:srgbClr val="000000"/>
                </a:solidFill>
                <a:latin typeface="宋体" panose="02010600030101010101" pitchFamily="2" charset="-122"/>
                <a:ea typeface="宋体" panose="02010600030101010101" pitchFamily="2" charset="-122"/>
              </a:rPr>
              <a:t>	</a:t>
            </a:r>
            <a:r>
              <a:rPr lang="en-US" altLang="zh-CN" sz="2200" dirty="0">
                <a:solidFill>
                  <a:srgbClr val="000000"/>
                </a:solidFill>
                <a:latin typeface="宋体" panose="02010600030101010101" pitchFamily="2" charset="-122"/>
                <a:ea typeface="宋体" panose="02010600030101010101" pitchFamily="2" charset="-122"/>
              </a:rPr>
              <a:t>(2) a</a:t>
            </a:r>
            <a:r>
              <a:rPr lang="zh-CN" altLang="en-US" sz="2200" dirty="0">
                <a:solidFill>
                  <a:srgbClr val="000000"/>
                </a:solidFill>
                <a:latin typeface="宋体" panose="02010600030101010101" pitchFamily="2" charset="-122"/>
                <a:ea typeface="宋体" panose="02010600030101010101" pitchFamily="2" charset="-122"/>
              </a:rPr>
              <a:t>优先性高于</a:t>
            </a:r>
            <a:r>
              <a:rPr lang="en-US" altLang="zh-CN" sz="2200" dirty="0">
                <a:solidFill>
                  <a:srgbClr val="000000"/>
                </a:solidFill>
                <a:latin typeface="宋体" panose="02010600030101010101" pitchFamily="2" charset="-122"/>
                <a:ea typeface="宋体" panose="02010600030101010101" pitchFamily="2" charset="-122"/>
              </a:rPr>
              <a:t>b</a:t>
            </a:r>
            <a:r>
              <a:rPr lang="zh-CN" altLang="en-US" sz="2200" dirty="0">
                <a:solidFill>
                  <a:srgbClr val="000000"/>
                </a:solidFill>
                <a:latin typeface="宋体" panose="02010600030101010101" pitchFamily="2" charset="-122"/>
                <a:ea typeface="宋体" panose="02010600030101010101" pitchFamily="2" charset="-122"/>
              </a:rPr>
              <a:t>， 记作</a:t>
            </a:r>
            <a:r>
              <a:rPr lang="en-US" altLang="zh-CN" sz="2200" dirty="0">
                <a:solidFill>
                  <a:srgbClr val="000000"/>
                </a:solidFill>
                <a:latin typeface="宋体" panose="02010600030101010101" pitchFamily="2" charset="-122"/>
                <a:ea typeface="宋体" panose="02010600030101010101" pitchFamily="2" charset="-122"/>
              </a:rPr>
              <a:t>a    b</a:t>
            </a:r>
            <a:r>
              <a:rPr lang="zh-CN" altLang="en-US" sz="2200" dirty="0">
                <a:solidFill>
                  <a:srgbClr val="000000"/>
                </a:solidFill>
                <a:latin typeface="宋体" panose="02010600030101010101" pitchFamily="2" charset="-122"/>
                <a:ea typeface="宋体" panose="02010600030101010101" pitchFamily="2" charset="-122"/>
              </a:rPr>
              <a:t>。</a:t>
            </a:r>
            <a:br>
              <a:rPr lang="zh-CN" altLang="en-US" sz="2200" dirty="0">
                <a:solidFill>
                  <a:srgbClr val="000000"/>
                </a:solidFill>
                <a:latin typeface="宋体" panose="02010600030101010101" pitchFamily="2" charset="-122"/>
                <a:ea typeface="宋体" panose="02010600030101010101" pitchFamily="2" charset="-122"/>
              </a:rPr>
            </a:br>
            <a:r>
              <a:rPr lang="zh-CN" altLang="en-US" sz="2200" dirty="0">
                <a:solidFill>
                  <a:srgbClr val="000000"/>
                </a:solidFill>
                <a:latin typeface="宋体" panose="02010600030101010101" pitchFamily="2" charset="-122"/>
                <a:ea typeface="宋体" panose="02010600030101010101" pitchFamily="2" charset="-122"/>
              </a:rPr>
              <a:t>	</a:t>
            </a:r>
            <a:r>
              <a:rPr lang="en-US" altLang="zh-CN" sz="2200" dirty="0">
                <a:solidFill>
                  <a:srgbClr val="000000"/>
                </a:solidFill>
                <a:latin typeface="宋体" panose="02010600030101010101" pitchFamily="2" charset="-122"/>
                <a:ea typeface="宋体" panose="02010600030101010101" pitchFamily="2" charset="-122"/>
              </a:rPr>
              <a:t>(3) a</a:t>
            </a:r>
            <a:r>
              <a:rPr lang="zh-CN" altLang="en-US" sz="2200" dirty="0">
                <a:solidFill>
                  <a:srgbClr val="000000"/>
                </a:solidFill>
                <a:latin typeface="宋体" panose="02010600030101010101" pitchFamily="2" charset="-122"/>
                <a:ea typeface="宋体" panose="02010600030101010101" pitchFamily="2" charset="-122"/>
              </a:rPr>
              <a:t>优先性低于</a:t>
            </a:r>
            <a:r>
              <a:rPr lang="en-US" altLang="zh-CN" sz="2200" dirty="0">
                <a:solidFill>
                  <a:srgbClr val="000000"/>
                </a:solidFill>
                <a:latin typeface="宋体" panose="02010600030101010101" pitchFamily="2" charset="-122"/>
                <a:ea typeface="宋体" panose="02010600030101010101" pitchFamily="2" charset="-122"/>
              </a:rPr>
              <a:t>b</a:t>
            </a:r>
            <a:r>
              <a:rPr lang="zh-CN" altLang="en-US" sz="2200" dirty="0">
                <a:solidFill>
                  <a:srgbClr val="000000"/>
                </a:solidFill>
                <a:latin typeface="宋体" panose="02010600030101010101" pitchFamily="2" charset="-122"/>
                <a:ea typeface="宋体" panose="02010600030101010101" pitchFamily="2" charset="-122"/>
              </a:rPr>
              <a:t>， 记作</a:t>
            </a:r>
            <a:r>
              <a:rPr lang="en-US" altLang="zh-CN" sz="2200" dirty="0">
                <a:solidFill>
                  <a:srgbClr val="000000"/>
                </a:solidFill>
                <a:latin typeface="宋体" panose="02010600030101010101" pitchFamily="2" charset="-122"/>
                <a:ea typeface="宋体" panose="02010600030101010101" pitchFamily="2" charset="-122"/>
              </a:rPr>
              <a:t>a   </a:t>
            </a:r>
            <a:r>
              <a:rPr lang="en-US" altLang="zh-CN" sz="2200" dirty="0">
                <a:solidFill>
                  <a:srgbClr val="000000"/>
                </a:solidFill>
                <a:latin typeface="宋体" panose="02010600030101010101" pitchFamily="2" charset="-122"/>
                <a:ea typeface="宋体" panose="02010600030101010101" pitchFamily="2" charset="-122"/>
                <a:sym typeface="Symbol" pitchFamily="18" charset="2"/>
              </a:rPr>
              <a:t> </a:t>
            </a:r>
            <a:r>
              <a:rPr lang="en-US" altLang="zh-CN" sz="2200" dirty="0">
                <a:solidFill>
                  <a:srgbClr val="000000"/>
                </a:solidFill>
                <a:latin typeface="宋体" panose="02010600030101010101" pitchFamily="2" charset="-122"/>
                <a:ea typeface="宋体" panose="02010600030101010101" pitchFamily="2" charset="-122"/>
              </a:rPr>
              <a:t>b</a:t>
            </a:r>
            <a:r>
              <a:rPr lang="zh-CN" altLang="en-US" sz="2200" dirty="0">
                <a:solidFill>
                  <a:srgbClr val="000000"/>
                </a:solidFill>
                <a:latin typeface="宋体" panose="02010600030101010101" pitchFamily="2" charset="-122"/>
                <a:ea typeface="宋体" panose="02010600030101010101" pitchFamily="2" charset="-122"/>
              </a:rPr>
              <a:t>。	</a:t>
            </a:r>
          </a:p>
        </p:txBody>
      </p:sp>
      <p:grpSp>
        <p:nvGrpSpPr>
          <p:cNvPr id="2" name="Group 4"/>
          <p:cNvGrpSpPr>
            <a:grpSpLocks/>
          </p:cNvGrpSpPr>
          <p:nvPr/>
        </p:nvGrpSpPr>
        <p:grpSpPr bwMode="auto">
          <a:xfrm>
            <a:off x="5076056" y="1923678"/>
            <a:ext cx="468312" cy="738187"/>
            <a:chOff x="3230" y="2582"/>
            <a:chExt cx="283" cy="585"/>
          </a:xfrm>
        </p:grpSpPr>
        <p:graphicFrame>
          <p:nvGraphicFramePr>
            <p:cNvPr id="141318" name="Object 5"/>
            <p:cNvGraphicFramePr>
              <a:graphicFrameLocks noChangeAspect="1"/>
            </p:cNvGraphicFramePr>
            <p:nvPr/>
          </p:nvGraphicFramePr>
          <p:xfrm>
            <a:off x="3233" y="2996"/>
            <a:ext cx="262" cy="171"/>
          </p:xfrm>
          <a:graphic>
            <a:graphicData uri="http://schemas.openxmlformats.org/presentationml/2006/ole">
              <mc:AlternateContent xmlns:mc="http://schemas.openxmlformats.org/markup-compatibility/2006">
                <mc:Choice xmlns:v="urn:schemas-microsoft-com:vml" Requires="v">
                  <p:oleObj spid="_x0000_s27665" name="位图图像" r:id="rId4" imgW="171338" imgH="181096" progId="Paint.Picture">
                    <p:embed/>
                  </p:oleObj>
                </mc:Choice>
                <mc:Fallback>
                  <p:oleObj name="位图图像" r:id="rId4" imgW="171338" imgH="181096" progId="Paint.Picture">
                    <p:embed/>
                    <p:pic>
                      <p:nvPicPr>
                        <p:cNvPr id="141318"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3" y="2996"/>
                          <a:ext cx="26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1319" name="Object 6"/>
            <p:cNvGraphicFramePr>
              <a:graphicFrameLocks/>
            </p:cNvGraphicFramePr>
            <p:nvPr/>
          </p:nvGraphicFramePr>
          <p:xfrm>
            <a:off x="3233" y="2780"/>
            <a:ext cx="272" cy="134"/>
          </p:xfrm>
          <a:graphic>
            <a:graphicData uri="http://schemas.openxmlformats.org/presentationml/2006/ole">
              <mc:AlternateContent xmlns:mc="http://schemas.openxmlformats.org/markup-compatibility/2006">
                <mc:Choice xmlns:v="urn:schemas-microsoft-com:vml" Requires="v">
                  <p:oleObj spid="_x0000_s27666" name="位图图像" r:id="rId6" imgW="171338" imgH="171338" progId="Paint.Picture">
                    <p:embed/>
                  </p:oleObj>
                </mc:Choice>
                <mc:Fallback>
                  <p:oleObj name="位图图像" r:id="rId6" imgW="171338" imgH="171338" progId="Paint.Picture">
                    <p:embed/>
                    <p:pic>
                      <p:nvPicPr>
                        <p:cNvPr id="141319" name="Object 6"/>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3" y="2780"/>
                          <a:ext cx="272" cy="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1320" name="Object 7"/>
            <p:cNvGraphicFramePr>
              <a:graphicFrameLocks noChangeAspect="1"/>
            </p:cNvGraphicFramePr>
            <p:nvPr/>
          </p:nvGraphicFramePr>
          <p:xfrm>
            <a:off x="3230" y="2582"/>
            <a:ext cx="283" cy="143"/>
          </p:xfrm>
          <a:graphic>
            <a:graphicData uri="http://schemas.openxmlformats.org/presentationml/2006/ole">
              <mc:AlternateContent xmlns:mc="http://schemas.openxmlformats.org/markup-compatibility/2006">
                <mc:Choice xmlns:v="urn:schemas-microsoft-com:vml" Requires="v">
                  <p:oleObj spid="_x0000_s27667" name="位图图像" r:id="rId8" imgW="295238" imgH="190426" progId="Paint.Picture">
                    <p:embed/>
                  </p:oleObj>
                </mc:Choice>
                <mc:Fallback>
                  <p:oleObj name="位图图像" r:id="rId8" imgW="295238" imgH="190426" progId="Paint.Picture">
                    <p:embed/>
                    <p:pic>
                      <p:nvPicPr>
                        <p:cNvPr id="141320"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0" y="2582"/>
                          <a:ext cx="283" cy="1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23912" name="Rectangle 8"/>
          <p:cNvSpPr>
            <a:spLocks noChangeArrowheads="1"/>
          </p:cNvSpPr>
          <p:nvPr/>
        </p:nvSpPr>
        <p:spPr bwMode="auto">
          <a:xfrm>
            <a:off x="923925" y="2943225"/>
            <a:ext cx="7443788" cy="1319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50000"/>
              </a:spcBef>
            </a:pPr>
            <a:r>
              <a:rPr lang="en-US" altLang="zh-CN" sz="2200" dirty="0">
                <a:solidFill>
                  <a:srgbClr val="000000"/>
                </a:solidFill>
                <a:latin typeface="宋体" panose="02010600030101010101" pitchFamily="2" charset="-122"/>
              </a:rPr>
              <a:t> </a:t>
            </a:r>
            <a:r>
              <a:rPr lang="zh-CN" altLang="en-US" sz="2200" dirty="0">
                <a:solidFill>
                  <a:srgbClr val="000000"/>
                </a:solidFill>
                <a:latin typeface="宋体" panose="02010600030101010101" pitchFamily="2" charset="-122"/>
              </a:rPr>
              <a:t>另一种情况是，</a:t>
            </a:r>
            <a:r>
              <a:rPr lang="en-US" altLang="zh-CN" sz="2200" dirty="0">
                <a:solidFill>
                  <a:srgbClr val="000000"/>
                </a:solidFill>
                <a:latin typeface="宋体" panose="02010600030101010101" pitchFamily="2" charset="-122"/>
              </a:rPr>
              <a:t>a</a:t>
            </a:r>
            <a:r>
              <a:rPr lang="zh-CN" altLang="en-US" sz="2200" dirty="0">
                <a:solidFill>
                  <a:srgbClr val="000000"/>
                </a:solidFill>
                <a:latin typeface="宋体" panose="02010600030101010101" pitchFamily="2" charset="-122"/>
              </a:rPr>
              <a:t>与</a:t>
            </a:r>
            <a:r>
              <a:rPr lang="en-US" altLang="zh-CN" sz="2200" dirty="0">
                <a:solidFill>
                  <a:srgbClr val="000000"/>
                </a:solidFill>
                <a:latin typeface="宋体" panose="02010600030101010101" pitchFamily="2" charset="-122"/>
              </a:rPr>
              <a:t>b</a:t>
            </a:r>
            <a:r>
              <a:rPr lang="zh-CN" altLang="en-US" sz="2200" dirty="0">
                <a:solidFill>
                  <a:srgbClr val="000000"/>
                </a:solidFill>
                <a:latin typeface="宋体" panose="02010600030101010101" pitchFamily="2" charset="-122"/>
              </a:rPr>
              <a:t>不可能相邻，即此符号串不是句型</a:t>
            </a:r>
            <a:r>
              <a:rPr lang="en-US" altLang="zh-CN" sz="2200" dirty="0">
                <a:solidFill>
                  <a:srgbClr val="000000"/>
                </a:solidFill>
                <a:latin typeface="宋体" panose="02010600030101010101" pitchFamily="2" charset="-122"/>
              </a:rPr>
              <a:t>(</a:t>
            </a:r>
            <a:r>
              <a:rPr lang="zh-CN" altLang="en-US" sz="2200" dirty="0">
                <a:solidFill>
                  <a:srgbClr val="000000"/>
                </a:solidFill>
                <a:latin typeface="宋体" panose="02010600030101010101" pitchFamily="2" charset="-122"/>
              </a:rPr>
              <a:t>出错</a:t>
            </a:r>
            <a:r>
              <a:rPr lang="en-US" altLang="zh-CN" sz="2200" dirty="0">
                <a:solidFill>
                  <a:srgbClr val="000000"/>
                </a:solidFill>
                <a:latin typeface="宋体" panose="02010600030101010101" pitchFamily="2" charset="-122"/>
              </a:rPr>
              <a:t>)</a:t>
            </a:r>
            <a:r>
              <a:rPr lang="zh-CN" altLang="en-US" sz="2200" dirty="0">
                <a:solidFill>
                  <a:srgbClr val="000000"/>
                </a:solidFill>
                <a:latin typeface="宋体" panose="02010600030101010101" pitchFamily="2" charset="-122"/>
              </a:rPr>
              <a:t>。</a:t>
            </a:r>
            <a:br>
              <a:rPr lang="zh-CN" altLang="en-US" sz="2200" dirty="0">
                <a:solidFill>
                  <a:srgbClr val="000000"/>
                </a:solidFill>
                <a:latin typeface="宋体" panose="02010600030101010101" pitchFamily="2" charset="-122"/>
              </a:rPr>
            </a:br>
            <a:r>
              <a:rPr lang="zh-CN" altLang="en-US" sz="2200" dirty="0">
                <a:solidFill>
                  <a:srgbClr val="000000"/>
                </a:solidFill>
                <a:latin typeface="宋体" panose="02010600030101010101" pitchFamily="2" charset="-122"/>
              </a:rPr>
              <a:t>   如果以上四种关系中的任意两种都不会同时成立，则可以根据终结符号之间的归约关系进行分析。</a:t>
            </a:r>
          </a:p>
        </p:txBody>
      </p:sp>
    </p:spTree>
    <p:extLst>
      <p:ext uri="{BB962C8B-B14F-4D97-AF65-F5344CB8AC3E}">
        <p14:creationId xmlns:p14="http://schemas.microsoft.com/office/powerpoint/2010/main" val="27811630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39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12" grpId="0" autoUpdateAnimBg="0"/>
    </p:bldLst>
  </p:timing>
</p:sld>
</file>

<file path=ppt/slides/slide15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363" name="Rectangle 3"/>
          <p:cNvSpPr>
            <a:spLocks noGrp="1" noChangeArrowheads="1"/>
          </p:cNvSpPr>
          <p:nvPr>
            <p:ph type="body" idx="1"/>
          </p:nvPr>
        </p:nvSpPr>
        <p:spPr>
          <a:xfrm>
            <a:off x="454025" y="915566"/>
            <a:ext cx="8305800" cy="3948460"/>
          </a:xfrm>
          <a:solidFill>
            <a:schemeClr val="bg1"/>
          </a:solidFill>
          <a:ln w="28575">
            <a:solidFill>
              <a:srgbClr val="0000FF"/>
            </a:solidFill>
            <a:miter lim="800000"/>
            <a:headEnd/>
            <a:tailEnd/>
          </a:ln>
        </p:spPr>
        <p:txBody>
          <a:bodyPr>
            <a:normAutofit/>
          </a:bodyPr>
          <a:lstStyle/>
          <a:p>
            <a:pPr eaLnBrk="1" hangingPunct="1"/>
            <a:r>
              <a:rPr lang="en-US" altLang="zh-CN" sz="2200" dirty="0">
                <a:latin typeface="宋体" pitchFamily="2" charset="-122"/>
                <a:ea typeface="宋体" panose="02010600030101010101" pitchFamily="2" charset="-122"/>
              </a:rPr>
              <a:t>1.</a:t>
            </a:r>
            <a:r>
              <a:rPr lang="zh-CN" altLang="en-US" sz="2200" b="1" dirty="0">
                <a:solidFill>
                  <a:srgbClr val="0000FF"/>
                </a:solidFill>
                <a:latin typeface="宋体" pitchFamily="2" charset="-122"/>
                <a:ea typeface="宋体" panose="02010600030101010101" pitchFamily="2" charset="-122"/>
              </a:rPr>
              <a:t>算符文法</a:t>
            </a:r>
            <a:r>
              <a:rPr lang="zh-CN" altLang="en-US" sz="2200" dirty="0">
                <a:latin typeface="宋体" pitchFamily="2" charset="-122"/>
                <a:ea typeface="宋体" panose="02010600030101010101" pitchFamily="2" charset="-122"/>
              </a:rPr>
              <a:t>：文法</a:t>
            </a:r>
            <a:r>
              <a:rPr lang="en-US" altLang="zh-CN" sz="2200" dirty="0">
                <a:latin typeface="宋体" pitchFamily="2" charset="-122"/>
                <a:ea typeface="宋体" panose="02010600030101010101" pitchFamily="2" charset="-122"/>
              </a:rPr>
              <a:t>G</a:t>
            </a:r>
            <a:r>
              <a:rPr lang="zh-CN" altLang="en-US" sz="2200" dirty="0">
                <a:latin typeface="宋体" pitchFamily="2" charset="-122"/>
                <a:ea typeface="宋体" panose="02010600030101010101" pitchFamily="2" charset="-122"/>
              </a:rPr>
              <a:t>没有</a:t>
            </a:r>
            <a:r>
              <a:rPr lang="en-US" altLang="zh-CN" sz="2200" dirty="0">
                <a:latin typeface="宋体" pitchFamily="2" charset="-122"/>
                <a:ea typeface="宋体" panose="02010600030101010101" pitchFamily="2" charset="-122"/>
              </a:rPr>
              <a:t>P</a:t>
            </a:r>
            <a:r>
              <a:rPr lang="en-US" altLang="zh-CN" sz="2200" dirty="0">
                <a:latin typeface="宋体" pitchFamily="2" charset="-122"/>
                <a:ea typeface="宋体" panose="02010600030101010101" pitchFamily="2" charset="-122"/>
                <a:sym typeface="Wingdings" pitchFamily="2" charset="2"/>
              </a:rPr>
              <a:t></a:t>
            </a:r>
            <a:r>
              <a:rPr lang="en-US" altLang="zh-CN" sz="2200" dirty="0">
                <a:latin typeface="宋体" pitchFamily="2" charset="-122"/>
                <a:ea typeface="宋体" panose="02010600030101010101" pitchFamily="2" charset="-122"/>
              </a:rPr>
              <a:t>...QR...(P,Q,R</a:t>
            </a:r>
            <a:r>
              <a:rPr lang="zh-CN" altLang="en-US" sz="2200" dirty="0">
                <a:latin typeface="宋体" pitchFamily="2" charset="-122"/>
                <a:ea typeface="宋体" panose="02010600030101010101" pitchFamily="2" charset="-122"/>
              </a:rPr>
              <a:t>属于非终结符</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的产生式</a:t>
            </a:r>
            <a:endParaRPr lang="en-US" altLang="zh-CN" sz="2200" dirty="0">
              <a:latin typeface="宋体" pitchFamily="2" charset="-122"/>
              <a:ea typeface="宋体" panose="02010600030101010101" pitchFamily="2" charset="-122"/>
            </a:endParaRPr>
          </a:p>
          <a:p>
            <a:pPr eaLnBrk="1" hangingPunct="1"/>
            <a:r>
              <a:rPr lang="en-US" altLang="zh-CN" sz="2200" dirty="0">
                <a:latin typeface="宋体" pitchFamily="2" charset="-122"/>
                <a:ea typeface="宋体" panose="02010600030101010101" pitchFamily="2" charset="-122"/>
              </a:rPr>
              <a:t>2.</a:t>
            </a:r>
            <a:r>
              <a:rPr lang="zh-CN" altLang="en-US" sz="2200" b="1" dirty="0">
                <a:solidFill>
                  <a:srgbClr val="0000FF"/>
                </a:solidFill>
                <a:latin typeface="宋体" pitchFamily="2" charset="-122"/>
                <a:ea typeface="宋体" panose="02010600030101010101" pitchFamily="2" charset="-122"/>
              </a:rPr>
              <a:t>算符优先关系</a:t>
            </a:r>
            <a:r>
              <a:rPr lang="zh-CN" altLang="en-US" sz="2200" dirty="0">
                <a:latin typeface="宋体" pitchFamily="2" charset="-122"/>
                <a:ea typeface="宋体" panose="02010600030101010101" pitchFamily="2" charset="-122"/>
              </a:rPr>
              <a:t>的定义：文法</a:t>
            </a:r>
            <a:r>
              <a:rPr lang="en-US" altLang="zh-CN" sz="2200" dirty="0">
                <a:latin typeface="宋体" pitchFamily="2" charset="-122"/>
                <a:ea typeface="宋体" panose="02010600030101010101" pitchFamily="2" charset="-122"/>
              </a:rPr>
              <a:t>G</a:t>
            </a:r>
            <a:r>
              <a:rPr lang="zh-CN" altLang="en-US" sz="2200" dirty="0">
                <a:latin typeface="宋体" pitchFamily="2" charset="-122"/>
                <a:ea typeface="宋体" panose="02010600030101010101" pitchFamily="2" charset="-122"/>
              </a:rPr>
              <a:t>是一个</a:t>
            </a:r>
            <a:r>
              <a:rPr lang="zh-CN" altLang="en-US" sz="2200" dirty="0">
                <a:solidFill>
                  <a:srgbClr val="FF0000"/>
                </a:solidFill>
                <a:latin typeface="宋体" pitchFamily="2" charset="-122"/>
                <a:ea typeface="宋体" panose="02010600030101010101" pitchFamily="2" charset="-122"/>
              </a:rPr>
              <a:t>不含</a:t>
            </a:r>
            <a:r>
              <a:rPr lang="zh-CN" altLang="en-US" sz="2200" dirty="0">
                <a:solidFill>
                  <a:srgbClr val="FF0000"/>
                </a:solidFill>
                <a:latin typeface="宋体" pitchFamily="2" charset="-122"/>
                <a:ea typeface="宋体" panose="02010600030101010101" pitchFamily="2" charset="-122"/>
                <a:sym typeface="Symbol" pitchFamily="18" charset="2"/>
              </a:rPr>
              <a:t></a:t>
            </a:r>
            <a:r>
              <a:rPr lang="en-US" altLang="zh-CN" sz="2200" dirty="0">
                <a:solidFill>
                  <a:srgbClr val="FF0000"/>
                </a:solidFill>
                <a:latin typeface="宋体" pitchFamily="2" charset="-122"/>
                <a:ea typeface="宋体" panose="02010600030101010101" pitchFamily="2" charset="-122"/>
                <a:sym typeface="Symbol" pitchFamily="18" charset="2"/>
              </a:rPr>
              <a:t>-</a:t>
            </a:r>
            <a:r>
              <a:rPr lang="zh-CN" altLang="en-US" sz="2200" dirty="0">
                <a:solidFill>
                  <a:srgbClr val="FF0000"/>
                </a:solidFill>
                <a:latin typeface="宋体" pitchFamily="2" charset="-122"/>
                <a:ea typeface="宋体" panose="02010600030101010101" pitchFamily="2" charset="-122"/>
                <a:sym typeface="Symbol" pitchFamily="18" charset="2"/>
              </a:rPr>
              <a:t>产生式</a:t>
            </a:r>
            <a:r>
              <a:rPr lang="zh-CN" altLang="en-US" sz="2200" dirty="0">
                <a:latin typeface="宋体" pitchFamily="2" charset="-122"/>
                <a:ea typeface="宋体" panose="02010600030101010101" pitchFamily="2" charset="-122"/>
                <a:sym typeface="Symbol" pitchFamily="18" charset="2"/>
              </a:rPr>
              <a:t>的</a:t>
            </a:r>
            <a:r>
              <a:rPr lang="zh-CN" altLang="en-US" sz="2200" dirty="0">
                <a:solidFill>
                  <a:srgbClr val="FF0000"/>
                </a:solidFill>
                <a:latin typeface="宋体" pitchFamily="2" charset="-122"/>
                <a:ea typeface="宋体" panose="02010600030101010101" pitchFamily="2" charset="-122"/>
                <a:sym typeface="Symbol" pitchFamily="18" charset="2"/>
              </a:rPr>
              <a:t>算符文法</a:t>
            </a:r>
            <a:r>
              <a:rPr lang="zh-CN" altLang="en-US" sz="2200" dirty="0">
                <a:latin typeface="宋体" pitchFamily="2" charset="-122"/>
                <a:ea typeface="宋体" panose="02010600030101010101" pitchFamily="2" charset="-122"/>
                <a:sym typeface="Symbol" pitchFamily="18" charset="2"/>
              </a:rPr>
              <a:t>，定义终结符</a:t>
            </a:r>
            <a:r>
              <a:rPr lang="en-US" altLang="zh-CN" sz="2200" dirty="0">
                <a:latin typeface="宋体" pitchFamily="2" charset="-122"/>
                <a:ea typeface="宋体" panose="02010600030101010101" pitchFamily="2" charset="-122"/>
                <a:sym typeface="Symbol" pitchFamily="18" charset="2"/>
              </a:rPr>
              <a:t>a</a:t>
            </a:r>
            <a:r>
              <a:rPr lang="zh-CN" altLang="en-US" sz="2200" dirty="0">
                <a:latin typeface="宋体" pitchFamily="2" charset="-122"/>
                <a:ea typeface="宋体" panose="02010600030101010101" pitchFamily="2" charset="-122"/>
                <a:sym typeface="Symbol" pitchFamily="18" charset="2"/>
              </a:rPr>
              <a:t>、</a:t>
            </a:r>
            <a:r>
              <a:rPr lang="en-US" altLang="zh-CN" sz="2200" dirty="0">
                <a:latin typeface="宋体" pitchFamily="2" charset="-122"/>
                <a:ea typeface="宋体" panose="02010600030101010101" pitchFamily="2" charset="-122"/>
                <a:sym typeface="Symbol" pitchFamily="18" charset="2"/>
              </a:rPr>
              <a:t>b</a:t>
            </a:r>
            <a:r>
              <a:rPr lang="zh-CN" altLang="en-US" sz="2200" dirty="0">
                <a:latin typeface="宋体" pitchFamily="2" charset="-122"/>
                <a:ea typeface="宋体" panose="02010600030101010101" pitchFamily="2" charset="-122"/>
                <a:sym typeface="Symbol" pitchFamily="18" charset="2"/>
              </a:rPr>
              <a:t>之间的优先关系</a:t>
            </a:r>
            <a:endParaRPr lang="zh-CN" altLang="en-US" sz="2200" dirty="0">
              <a:latin typeface="宋体" pitchFamily="2" charset="-122"/>
              <a:ea typeface="宋体" panose="02010600030101010101" pitchFamily="2" charset="-122"/>
            </a:endParaRPr>
          </a:p>
        </p:txBody>
      </p:sp>
      <p:sp>
        <p:nvSpPr>
          <p:cNvPr id="142339" name="Rectangle 2"/>
          <p:cNvSpPr>
            <a:spLocks noGrp="1" noChangeArrowheads="1"/>
          </p:cNvSpPr>
          <p:nvPr>
            <p:ph type="title"/>
          </p:nvPr>
        </p:nvSpPr>
        <p:spPr>
          <a:xfrm>
            <a:off x="827088" y="144463"/>
            <a:ext cx="7772400" cy="647700"/>
          </a:xfrm>
          <a:noFill/>
        </p:spPr>
        <p:txBody>
          <a:bodyPr>
            <a:normAutofit fontScale="90000"/>
          </a:bodyPr>
          <a:lstStyle/>
          <a:p>
            <a:pPr eaLnBrk="1" hangingPunct="1"/>
            <a:r>
              <a:rPr lang="zh-CN" altLang="en-US">
                <a:ea typeface="隶书" pitchFamily="49" charset="-122"/>
              </a:rPr>
              <a:t>算符优先文法的定义</a:t>
            </a:r>
          </a:p>
        </p:txBody>
      </p:sp>
      <p:grpSp>
        <p:nvGrpSpPr>
          <p:cNvPr id="6" name="组合 5"/>
          <p:cNvGrpSpPr/>
          <p:nvPr/>
        </p:nvGrpSpPr>
        <p:grpSpPr>
          <a:xfrm>
            <a:off x="442664" y="3579862"/>
            <a:ext cx="8305800" cy="954852"/>
            <a:chOff x="442664" y="3921154"/>
            <a:chExt cx="8305800" cy="954852"/>
          </a:xfrm>
        </p:grpSpPr>
        <p:sp>
          <p:nvSpPr>
            <p:cNvPr id="12" name="Rectangle 3"/>
            <p:cNvSpPr txBox="1">
              <a:spLocks noChangeArrowheads="1"/>
            </p:cNvSpPr>
            <p:nvPr/>
          </p:nvSpPr>
          <p:spPr>
            <a:xfrm>
              <a:off x="442664" y="4166047"/>
              <a:ext cx="8305800" cy="709959"/>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110000"/>
                </a:lnSpc>
                <a:spcBef>
                  <a:spcPts val="0"/>
                </a:spcBef>
              </a:pPr>
              <a:r>
                <a:rPr lang="en-US" altLang="zh-CN" sz="2200" dirty="0">
                  <a:latin typeface="宋体" panose="02010600030101010101" pitchFamily="2" charset="-122"/>
                  <a:ea typeface="宋体" panose="02010600030101010101" pitchFamily="2" charset="-122"/>
                </a:rPr>
                <a:t>③ a    b</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G</a:t>
              </a:r>
              <a:r>
                <a:rPr lang="zh-CN" altLang="en-US" sz="2200" dirty="0">
                  <a:latin typeface="宋体" pitchFamily="2" charset="-122"/>
                  <a:ea typeface="宋体" panose="02010600030101010101" pitchFamily="2" charset="-122"/>
                </a:rPr>
                <a:t>中有</a:t>
              </a:r>
              <a:r>
                <a:rPr lang="en-US" altLang="zh-CN" sz="2200" dirty="0">
                  <a:latin typeface="宋体" panose="02010600030101010101" pitchFamily="2" charset="-122"/>
                  <a:ea typeface="宋体" panose="02010600030101010101" pitchFamily="2" charset="-122"/>
                </a:rPr>
                <a:t>P</a:t>
              </a:r>
              <a:r>
                <a:rPr lang="en-US" altLang="zh-CN" sz="2200" dirty="0">
                  <a:latin typeface="宋体" panose="02010600030101010101" pitchFamily="2" charset="-122"/>
                  <a:ea typeface="宋体" panose="02010600030101010101" pitchFamily="2" charset="-122"/>
                  <a:sym typeface="Wingdings" pitchFamily="2" charset="2"/>
                </a:rPr>
                <a:t></a:t>
              </a:r>
              <a:r>
                <a:rPr lang="en-US" altLang="zh-CN" sz="2200" dirty="0">
                  <a:latin typeface="宋体" panose="02010600030101010101" pitchFamily="2" charset="-122"/>
                  <a:ea typeface="宋体" panose="02010600030101010101" pitchFamily="2" charset="-122"/>
                </a:rPr>
                <a:t>...</a:t>
              </a:r>
              <a:r>
                <a:rPr lang="en-US" altLang="zh-CN" sz="2200" dirty="0" err="1">
                  <a:latin typeface="宋体" panose="02010600030101010101" pitchFamily="2" charset="-122"/>
                  <a:ea typeface="宋体" panose="02010600030101010101" pitchFamily="2" charset="-122"/>
                </a:rPr>
                <a:t>Rb</a:t>
              </a:r>
              <a:r>
                <a:rPr lang="en-US" altLang="zh-CN" sz="2200" dirty="0">
                  <a:latin typeface="宋体" panose="02010600030101010101" pitchFamily="2" charset="-122"/>
                  <a:ea typeface="宋体" panose="02010600030101010101" pitchFamily="2" charset="-122"/>
                </a:rPr>
                <a:t>...</a:t>
              </a:r>
              <a:r>
                <a:rPr lang="zh-CN" altLang="en-US" sz="2200" dirty="0">
                  <a:latin typeface="宋体" pitchFamily="2" charset="-122"/>
                  <a:ea typeface="宋体" panose="02010600030101010101" pitchFamily="2" charset="-122"/>
                </a:rPr>
                <a:t>的产生式</a:t>
              </a:r>
              <a:r>
                <a:rPr lang="en-US" altLang="zh-CN" sz="2200" dirty="0">
                  <a:latin typeface="宋体" panose="02010600030101010101" pitchFamily="2" charset="-122"/>
                  <a:ea typeface="宋体" panose="02010600030101010101" pitchFamily="2" charset="-122"/>
                </a:rPr>
                <a:t>,</a:t>
              </a:r>
              <a:r>
                <a:rPr lang="zh-CN" altLang="en-US" sz="2200" dirty="0">
                  <a:latin typeface="宋体" pitchFamily="2" charset="-122"/>
                  <a:ea typeface="宋体" panose="02010600030101010101" pitchFamily="2" charset="-122"/>
                </a:rPr>
                <a:t>且</a:t>
              </a:r>
              <a:r>
                <a:rPr lang="en-US" altLang="zh-CN" sz="2200" dirty="0">
                  <a:latin typeface="宋体" panose="02010600030101010101" pitchFamily="2" charset="-122"/>
                  <a:ea typeface="宋体" panose="02010600030101010101" pitchFamily="2" charset="-122"/>
                </a:rPr>
                <a:t>R=&gt;...a</a:t>
              </a:r>
              <a:r>
                <a:rPr lang="zh-CN" altLang="en-US" sz="2200" dirty="0">
                  <a:latin typeface="宋体" pitchFamily="2" charset="-122"/>
                  <a:ea typeface="宋体" panose="02010600030101010101" pitchFamily="2" charset="-122"/>
                </a:rPr>
                <a:t>或</a:t>
              </a:r>
              <a:r>
                <a:rPr lang="en-US" altLang="zh-CN" sz="2200" dirty="0">
                  <a:latin typeface="宋体" panose="02010600030101010101" pitchFamily="2" charset="-122"/>
                  <a:ea typeface="宋体" panose="02010600030101010101" pitchFamily="2" charset="-122"/>
                </a:rPr>
                <a:t>R=&gt;...</a:t>
              </a:r>
              <a:r>
                <a:rPr lang="en-US" altLang="zh-CN" sz="2200" dirty="0" err="1">
                  <a:latin typeface="宋体" panose="02010600030101010101" pitchFamily="2" charset="-122"/>
                  <a:ea typeface="宋体" panose="02010600030101010101" pitchFamily="2" charset="-122"/>
                </a:rPr>
                <a:t>aQ</a:t>
              </a:r>
              <a:r>
                <a:rPr lang="en-US" altLang="zh-CN" sz="2200" dirty="0">
                  <a:latin typeface="宋体" panose="02010600030101010101" pitchFamily="2" charset="-122"/>
                  <a:ea typeface="宋体" panose="02010600030101010101" pitchFamily="2" charset="-122"/>
                </a:rPr>
                <a:t> (</a:t>
              </a:r>
              <a:r>
                <a:rPr lang="zh-CN" altLang="en-US" sz="2200" dirty="0">
                  <a:solidFill>
                    <a:srgbClr val="FF0000"/>
                  </a:solidFill>
                  <a:latin typeface="宋体" pitchFamily="2" charset="-122"/>
                  <a:ea typeface="宋体" panose="02010600030101010101" pitchFamily="2" charset="-122"/>
                </a:rPr>
                <a:t>注意</a:t>
              </a:r>
              <a:r>
                <a:rPr lang="en-US" altLang="zh-CN" sz="2200" dirty="0">
                  <a:solidFill>
                    <a:srgbClr val="FF0000"/>
                  </a:solidFill>
                  <a:latin typeface="宋体" panose="02010600030101010101" pitchFamily="2" charset="-122"/>
                  <a:ea typeface="宋体" panose="02010600030101010101" pitchFamily="2" charset="-122"/>
                </a:rPr>
                <a:t>ab</a:t>
              </a:r>
              <a:r>
                <a:rPr lang="zh-CN" altLang="en-US" sz="2200" dirty="0">
                  <a:solidFill>
                    <a:srgbClr val="FF0000"/>
                  </a:solidFill>
                  <a:latin typeface="宋体" pitchFamily="2" charset="-122"/>
                  <a:ea typeface="宋体" panose="02010600030101010101" pitchFamily="2" charset="-122"/>
                </a:rPr>
                <a:t>相邻</a:t>
              </a:r>
              <a:r>
                <a:rPr lang="en-US" altLang="zh-CN" sz="2200" dirty="0">
                  <a:latin typeface="宋体" panose="02010600030101010101" pitchFamily="2" charset="-122"/>
                  <a:ea typeface="宋体" panose="02010600030101010101" pitchFamily="2" charset="-122"/>
                </a:rPr>
                <a:t>)</a:t>
              </a:r>
            </a:p>
          </p:txBody>
        </p:sp>
        <p:sp>
          <p:nvSpPr>
            <p:cNvPr id="142341" name="Rectangle 4"/>
            <p:cNvSpPr>
              <a:spLocks noChangeArrowheads="1"/>
            </p:cNvSpPr>
            <p:nvPr/>
          </p:nvSpPr>
          <p:spPr bwMode="auto">
            <a:xfrm>
              <a:off x="7497018" y="3921154"/>
              <a:ext cx="387350" cy="522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142342" name="Rectangle 5"/>
            <p:cNvSpPr>
              <a:spLocks noChangeArrowheads="1"/>
            </p:cNvSpPr>
            <p:nvPr/>
          </p:nvSpPr>
          <p:spPr bwMode="auto">
            <a:xfrm>
              <a:off x="6228184" y="3921154"/>
              <a:ext cx="387350" cy="522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142346" name="Object 5"/>
            <p:cNvGraphicFramePr>
              <a:graphicFrameLocks/>
            </p:cNvGraphicFramePr>
            <p:nvPr>
              <p:extLst>
                <p:ext uri="{D42A27DB-BD31-4B8C-83A1-F6EECF244321}">
                  <p14:modId xmlns:p14="http://schemas.microsoft.com/office/powerpoint/2010/main" val="3919028716"/>
                </p:ext>
              </p:extLst>
            </p:nvPr>
          </p:nvGraphicFramePr>
          <p:xfrm>
            <a:off x="1475656" y="4318504"/>
            <a:ext cx="431800" cy="159580"/>
          </p:xfrm>
          <a:graphic>
            <a:graphicData uri="http://schemas.openxmlformats.org/presentationml/2006/ole">
              <mc:AlternateContent xmlns:mc="http://schemas.openxmlformats.org/markup-compatibility/2006">
                <mc:Choice xmlns:v="urn:schemas-microsoft-com:vml" Requires="v">
                  <p:oleObj spid="_x0000_s28689" name="位图图像" r:id="rId4" imgW="171338" imgH="171338" progId="Paint.Picture">
                    <p:embed/>
                  </p:oleObj>
                </mc:Choice>
                <mc:Fallback>
                  <p:oleObj name="位图图像" r:id="rId4" imgW="171338" imgH="171338" progId="Paint.Picture">
                    <p:embed/>
                    <p:pic>
                      <p:nvPicPr>
                        <p:cNvPr id="142346" name="Object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5656" y="4318504"/>
                          <a:ext cx="431800" cy="1595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 name="组合 3"/>
          <p:cNvGrpSpPr/>
          <p:nvPr/>
        </p:nvGrpSpPr>
        <p:grpSpPr>
          <a:xfrm>
            <a:off x="442664" y="2469014"/>
            <a:ext cx="8701336" cy="437108"/>
            <a:chOff x="442664" y="2931791"/>
            <a:chExt cx="8701336" cy="437108"/>
          </a:xfrm>
        </p:grpSpPr>
        <p:graphicFrame>
          <p:nvGraphicFramePr>
            <p:cNvPr id="142347" name="Object 6"/>
            <p:cNvGraphicFramePr>
              <a:graphicFrameLocks noChangeAspect="1"/>
            </p:cNvGraphicFramePr>
            <p:nvPr>
              <p:extLst>
                <p:ext uri="{D42A27DB-BD31-4B8C-83A1-F6EECF244321}">
                  <p14:modId xmlns:p14="http://schemas.microsoft.com/office/powerpoint/2010/main" val="3748013121"/>
                </p:ext>
              </p:extLst>
            </p:nvPr>
          </p:nvGraphicFramePr>
          <p:xfrm>
            <a:off x="1458441" y="3049524"/>
            <a:ext cx="449263" cy="170298"/>
          </p:xfrm>
          <a:graphic>
            <a:graphicData uri="http://schemas.openxmlformats.org/presentationml/2006/ole">
              <mc:AlternateContent xmlns:mc="http://schemas.openxmlformats.org/markup-compatibility/2006">
                <mc:Choice xmlns:v="urn:schemas-microsoft-com:vml" Requires="v">
                  <p:oleObj spid="_x0000_s28690" name="位图图像" r:id="rId6" imgW="295238" imgH="190426" progId="Paint.Picture">
                    <p:embed/>
                  </p:oleObj>
                </mc:Choice>
                <mc:Fallback>
                  <p:oleObj name="位图图像" r:id="rId6" imgW="295238" imgH="190426" progId="Paint.Picture">
                    <p:embed/>
                    <p:pic>
                      <p:nvPicPr>
                        <p:cNvPr id="142347"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8441" y="3049524"/>
                          <a:ext cx="449263" cy="1702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 name="Rectangle 3"/>
            <p:cNvSpPr txBox="1">
              <a:spLocks noChangeArrowheads="1"/>
            </p:cNvSpPr>
            <p:nvPr/>
          </p:nvSpPr>
          <p:spPr>
            <a:xfrm>
              <a:off x="442664" y="2931791"/>
              <a:ext cx="8701336" cy="437108"/>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zh-CN" altLang="en-US" sz="2200" dirty="0">
                  <a:latin typeface="宋体" pitchFamily="2" charset="-122"/>
                  <a:ea typeface="宋体" panose="02010600030101010101" pitchFamily="2" charset="-122"/>
                </a:rPr>
                <a:t>① </a:t>
              </a:r>
              <a:r>
                <a:rPr lang="en-US" altLang="zh-CN" sz="2200" dirty="0">
                  <a:latin typeface="宋体" panose="02010600030101010101" pitchFamily="2" charset="-122"/>
                  <a:ea typeface="宋体" panose="02010600030101010101" pitchFamily="2" charset="-122"/>
                </a:rPr>
                <a:t>a    b</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G</a:t>
              </a:r>
              <a:r>
                <a:rPr lang="zh-CN" altLang="en-US" sz="2200" dirty="0">
                  <a:latin typeface="宋体" pitchFamily="2" charset="-122"/>
                  <a:ea typeface="宋体" panose="02010600030101010101" pitchFamily="2" charset="-122"/>
                </a:rPr>
                <a:t>中有</a:t>
              </a:r>
              <a:r>
                <a:rPr lang="en-US" altLang="zh-CN" sz="2200" dirty="0">
                  <a:latin typeface="宋体" panose="02010600030101010101" pitchFamily="2" charset="-122"/>
                  <a:ea typeface="宋体" panose="02010600030101010101" pitchFamily="2" charset="-122"/>
                </a:rPr>
                <a:t>P</a:t>
              </a:r>
              <a:r>
                <a:rPr lang="en-US" altLang="zh-CN" sz="2200" dirty="0">
                  <a:latin typeface="宋体" panose="02010600030101010101" pitchFamily="2" charset="-122"/>
                  <a:ea typeface="宋体" panose="02010600030101010101" pitchFamily="2" charset="-122"/>
                  <a:sym typeface="Wingdings" pitchFamily="2" charset="2"/>
                </a:rPr>
                <a:t></a:t>
              </a:r>
              <a:r>
                <a:rPr lang="en-US" altLang="zh-CN" sz="2200" dirty="0">
                  <a:latin typeface="宋体" panose="02010600030101010101" pitchFamily="2" charset="-122"/>
                  <a:ea typeface="宋体" panose="02010600030101010101" pitchFamily="2" charset="-122"/>
                </a:rPr>
                <a:t>...ab...</a:t>
              </a:r>
              <a:r>
                <a:rPr lang="zh-CN" altLang="en-US" sz="2200" dirty="0">
                  <a:latin typeface="宋体" pitchFamily="2" charset="-122"/>
                  <a:ea typeface="宋体" panose="02010600030101010101" pitchFamily="2" charset="-122"/>
                </a:rPr>
                <a:t>或</a:t>
              </a:r>
              <a:r>
                <a:rPr lang="en-US" altLang="zh-CN" sz="2200" dirty="0">
                  <a:latin typeface="宋体" panose="02010600030101010101" pitchFamily="2" charset="-122"/>
                  <a:ea typeface="宋体" panose="02010600030101010101" pitchFamily="2" charset="-122"/>
                </a:rPr>
                <a:t>P</a:t>
              </a:r>
              <a:r>
                <a:rPr lang="en-US" altLang="zh-CN" sz="2200" dirty="0">
                  <a:latin typeface="宋体" panose="02010600030101010101" pitchFamily="2" charset="-122"/>
                  <a:ea typeface="宋体" panose="02010600030101010101" pitchFamily="2" charset="-122"/>
                  <a:sym typeface="Wingdings" pitchFamily="2" charset="2"/>
                </a:rPr>
                <a:t></a:t>
              </a:r>
              <a:r>
                <a:rPr lang="en-US" altLang="zh-CN" sz="2200" dirty="0">
                  <a:latin typeface="宋体" panose="02010600030101010101" pitchFamily="2" charset="-122"/>
                  <a:ea typeface="宋体" panose="02010600030101010101" pitchFamily="2" charset="-122"/>
                </a:rPr>
                <a:t>...</a:t>
              </a:r>
              <a:r>
                <a:rPr lang="en-US" altLang="zh-CN" sz="2200" dirty="0" err="1">
                  <a:latin typeface="宋体" panose="02010600030101010101" pitchFamily="2" charset="-122"/>
                  <a:ea typeface="宋体" panose="02010600030101010101" pitchFamily="2" charset="-122"/>
                </a:rPr>
                <a:t>aQb</a:t>
              </a:r>
              <a:r>
                <a:rPr lang="en-US" altLang="zh-CN" sz="2200" dirty="0">
                  <a:latin typeface="宋体" panose="02010600030101010101" pitchFamily="2" charset="-122"/>
                  <a:ea typeface="宋体" panose="02010600030101010101" pitchFamily="2" charset="-122"/>
                </a:rPr>
                <a:t>...(</a:t>
              </a:r>
              <a:r>
                <a:rPr lang="zh-CN" altLang="en-US" sz="2200" dirty="0">
                  <a:solidFill>
                    <a:srgbClr val="FF0000"/>
                  </a:solidFill>
                  <a:latin typeface="宋体" pitchFamily="2" charset="-122"/>
                  <a:ea typeface="宋体" panose="02010600030101010101" pitchFamily="2" charset="-122"/>
                </a:rPr>
                <a:t>在同一产生式中</a:t>
              </a:r>
              <a:r>
                <a:rPr lang="en-US" altLang="zh-CN" sz="2200" dirty="0">
                  <a:latin typeface="宋体" panose="02010600030101010101" pitchFamily="2" charset="-122"/>
                  <a:ea typeface="宋体" panose="02010600030101010101" pitchFamily="2" charset="-122"/>
                </a:rPr>
                <a:t>)</a:t>
              </a:r>
              <a:br>
                <a:rPr lang="en-US" altLang="zh-CN" sz="2200" dirty="0">
                  <a:latin typeface="宋体" panose="02010600030101010101" pitchFamily="2" charset="-122"/>
                  <a:ea typeface="宋体" panose="02010600030101010101" pitchFamily="2" charset="-122"/>
                </a:rPr>
              </a:br>
              <a:endParaRPr lang="en-US" altLang="zh-CN" sz="2200" dirty="0">
                <a:latin typeface="宋体" panose="02010600030101010101" pitchFamily="2" charset="-122"/>
                <a:ea typeface="宋体" panose="02010600030101010101" pitchFamily="2" charset="-122"/>
              </a:endParaRPr>
            </a:p>
          </p:txBody>
        </p:sp>
      </p:grpSp>
      <p:grpSp>
        <p:nvGrpSpPr>
          <p:cNvPr id="5" name="组合 4"/>
          <p:cNvGrpSpPr/>
          <p:nvPr/>
        </p:nvGrpSpPr>
        <p:grpSpPr>
          <a:xfrm>
            <a:off x="442664" y="2787774"/>
            <a:ext cx="8305800" cy="1087996"/>
            <a:chOff x="442664" y="3078051"/>
            <a:chExt cx="8305800" cy="1087996"/>
          </a:xfrm>
        </p:grpSpPr>
        <p:sp>
          <p:nvSpPr>
            <p:cNvPr id="142343" name="Rectangle 6"/>
            <p:cNvSpPr>
              <a:spLocks noChangeArrowheads="1"/>
            </p:cNvSpPr>
            <p:nvPr/>
          </p:nvSpPr>
          <p:spPr bwMode="auto">
            <a:xfrm>
              <a:off x="7544146" y="3078051"/>
              <a:ext cx="387350" cy="522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142344" name="Rectangle 7"/>
            <p:cNvSpPr>
              <a:spLocks noChangeArrowheads="1"/>
            </p:cNvSpPr>
            <p:nvPr/>
          </p:nvSpPr>
          <p:spPr bwMode="auto">
            <a:xfrm>
              <a:off x="6275312" y="3078051"/>
              <a:ext cx="387350" cy="522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142345" name="Object 4"/>
            <p:cNvGraphicFramePr>
              <a:graphicFrameLocks noChangeAspect="1"/>
            </p:cNvGraphicFramePr>
            <p:nvPr>
              <p:extLst>
                <p:ext uri="{D42A27DB-BD31-4B8C-83A1-F6EECF244321}">
                  <p14:modId xmlns:p14="http://schemas.microsoft.com/office/powerpoint/2010/main" val="3144586335"/>
                </p:ext>
              </p:extLst>
            </p:nvPr>
          </p:nvGraphicFramePr>
          <p:xfrm>
            <a:off x="1563787" y="3435846"/>
            <a:ext cx="415925" cy="203643"/>
          </p:xfrm>
          <a:graphic>
            <a:graphicData uri="http://schemas.openxmlformats.org/presentationml/2006/ole">
              <mc:AlternateContent xmlns:mc="http://schemas.openxmlformats.org/markup-compatibility/2006">
                <mc:Choice xmlns:v="urn:schemas-microsoft-com:vml" Requires="v">
                  <p:oleObj spid="_x0000_s28691" name="位图图像" r:id="rId8" imgW="171338" imgH="181096" progId="Paint.Picture">
                    <p:embed/>
                  </p:oleObj>
                </mc:Choice>
                <mc:Fallback>
                  <p:oleObj name="位图图像" r:id="rId8" imgW="171338" imgH="181096" progId="Paint.Picture">
                    <p:embed/>
                    <p:pic>
                      <p:nvPicPr>
                        <p:cNvPr id="142345"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63787" y="3435846"/>
                          <a:ext cx="415925" cy="203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 name="Rectangle 3"/>
            <p:cNvSpPr txBox="1">
              <a:spLocks noChangeArrowheads="1"/>
            </p:cNvSpPr>
            <p:nvPr/>
          </p:nvSpPr>
          <p:spPr>
            <a:xfrm>
              <a:off x="442664" y="3291830"/>
              <a:ext cx="8305800" cy="874217"/>
            </a:xfrm>
            <a:prstGeom prst="rect">
              <a:avLst/>
            </a:prstGeom>
            <a:noFill/>
            <a:ln w="28575">
              <a:noFill/>
              <a:miter lim="800000"/>
              <a:headEnd/>
              <a:tailEnd/>
            </a:ln>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110000"/>
                </a:lnSpc>
                <a:spcBef>
                  <a:spcPts val="0"/>
                </a:spcBef>
              </a:pPr>
              <a:r>
                <a:rPr lang="en-US" altLang="zh-CN" sz="2200" dirty="0">
                  <a:latin typeface="宋体" panose="02010600030101010101" pitchFamily="2" charset="-122"/>
                  <a:ea typeface="宋体" panose="02010600030101010101" pitchFamily="2" charset="-122"/>
                </a:rPr>
                <a:t>② a    b</a:t>
              </a:r>
              <a:r>
                <a:rPr lang="zh-CN" altLang="en-US" sz="2200" dirty="0">
                  <a:latin typeface="宋体" panose="02010600030101010101" pitchFamily="2" charset="-122"/>
                  <a:ea typeface="宋体" panose="02010600030101010101" pitchFamily="2" charset="-122"/>
                </a:rPr>
                <a:t>：</a:t>
              </a:r>
              <a:r>
                <a:rPr lang="en-US" altLang="zh-CN" sz="2200" dirty="0">
                  <a:latin typeface="宋体" panose="02010600030101010101" pitchFamily="2" charset="-122"/>
                  <a:ea typeface="宋体" panose="02010600030101010101" pitchFamily="2" charset="-122"/>
                </a:rPr>
                <a:t>G</a:t>
              </a:r>
              <a:r>
                <a:rPr lang="zh-CN" altLang="en-US" sz="2200" dirty="0">
                  <a:latin typeface="宋体" pitchFamily="2" charset="-122"/>
                  <a:ea typeface="宋体" panose="02010600030101010101" pitchFamily="2" charset="-122"/>
                </a:rPr>
                <a:t>中有</a:t>
              </a:r>
              <a:r>
                <a:rPr lang="en-US" altLang="zh-CN" sz="2200" dirty="0">
                  <a:latin typeface="宋体" panose="02010600030101010101" pitchFamily="2" charset="-122"/>
                  <a:ea typeface="宋体" panose="02010600030101010101" pitchFamily="2" charset="-122"/>
                </a:rPr>
                <a:t>P</a:t>
              </a:r>
              <a:r>
                <a:rPr lang="en-US" altLang="zh-CN" sz="2200" dirty="0">
                  <a:latin typeface="宋体" panose="02010600030101010101" pitchFamily="2" charset="-122"/>
                  <a:ea typeface="宋体" panose="02010600030101010101" pitchFamily="2" charset="-122"/>
                  <a:sym typeface="Wingdings" pitchFamily="2" charset="2"/>
                </a:rPr>
                <a:t></a:t>
              </a:r>
              <a:r>
                <a:rPr lang="en-US" altLang="zh-CN" sz="2200" dirty="0">
                  <a:latin typeface="宋体" panose="02010600030101010101" pitchFamily="2" charset="-122"/>
                  <a:ea typeface="宋体" panose="02010600030101010101" pitchFamily="2" charset="-122"/>
                </a:rPr>
                <a:t>...</a:t>
              </a:r>
              <a:r>
                <a:rPr lang="en-US" altLang="zh-CN" sz="2200" dirty="0" err="1">
                  <a:latin typeface="宋体" panose="02010600030101010101" pitchFamily="2" charset="-122"/>
                  <a:ea typeface="宋体" panose="02010600030101010101" pitchFamily="2" charset="-122"/>
                </a:rPr>
                <a:t>aR.</a:t>
              </a:r>
              <a:r>
                <a:rPr lang="en-US" altLang="zh-CN" sz="2200" dirty="0">
                  <a:latin typeface="宋体" panose="02010600030101010101" pitchFamily="2" charset="-122"/>
                  <a:ea typeface="宋体" panose="02010600030101010101" pitchFamily="2" charset="-122"/>
                </a:rPr>
                <a:t>..</a:t>
              </a:r>
              <a:r>
                <a:rPr lang="zh-CN" altLang="en-US" sz="2200" dirty="0">
                  <a:latin typeface="宋体" pitchFamily="2" charset="-122"/>
                  <a:ea typeface="宋体" panose="02010600030101010101" pitchFamily="2" charset="-122"/>
                </a:rPr>
                <a:t>的产生式</a:t>
              </a:r>
              <a:r>
                <a:rPr lang="en-US" altLang="zh-CN" sz="2200" dirty="0">
                  <a:latin typeface="宋体" panose="02010600030101010101" pitchFamily="2" charset="-122"/>
                  <a:ea typeface="宋体" panose="02010600030101010101" pitchFamily="2" charset="-122"/>
                </a:rPr>
                <a:t>,</a:t>
              </a:r>
              <a:r>
                <a:rPr lang="zh-CN" altLang="en-US" sz="2200" dirty="0">
                  <a:latin typeface="宋体" pitchFamily="2" charset="-122"/>
                  <a:ea typeface="宋体" panose="02010600030101010101" pitchFamily="2" charset="-122"/>
                </a:rPr>
                <a:t>且</a:t>
              </a:r>
              <a:r>
                <a:rPr lang="en-US" altLang="zh-CN" sz="2200" dirty="0">
                  <a:latin typeface="宋体" panose="02010600030101010101" pitchFamily="2" charset="-122"/>
                  <a:ea typeface="宋体" panose="02010600030101010101" pitchFamily="2" charset="-122"/>
                </a:rPr>
                <a:t>R=&gt;b...</a:t>
              </a:r>
              <a:r>
                <a:rPr lang="zh-CN" altLang="en-US" sz="2200" dirty="0">
                  <a:latin typeface="宋体" pitchFamily="2" charset="-122"/>
                  <a:ea typeface="宋体" panose="02010600030101010101" pitchFamily="2" charset="-122"/>
                </a:rPr>
                <a:t>或</a:t>
              </a:r>
              <a:r>
                <a:rPr lang="en-US" altLang="zh-CN" sz="2200" dirty="0">
                  <a:latin typeface="宋体" panose="02010600030101010101" pitchFamily="2" charset="-122"/>
                  <a:ea typeface="宋体" panose="02010600030101010101" pitchFamily="2" charset="-122"/>
                </a:rPr>
                <a:t>R=&gt;</a:t>
              </a:r>
              <a:r>
                <a:rPr lang="en-US" altLang="zh-CN" sz="2200" dirty="0" err="1">
                  <a:latin typeface="宋体" panose="02010600030101010101" pitchFamily="2" charset="-122"/>
                  <a:ea typeface="宋体" panose="02010600030101010101" pitchFamily="2" charset="-122"/>
                </a:rPr>
                <a:t>Qb</a:t>
              </a:r>
              <a:r>
                <a:rPr lang="en-US" altLang="zh-CN" sz="2200" dirty="0">
                  <a:latin typeface="宋体" panose="02010600030101010101" pitchFamily="2" charset="-122"/>
                  <a:ea typeface="宋体" panose="02010600030101010101" pitchFamily="2" charset="-122"/>
                </a:rPr>
                <a:t>... (</a:t>
              </a:r>
              <a:r>
                <a:rPr lang="zh-CN" altLang="en-US" sz="2200" dirty="0">
                  <a:solidFill>
                    <a:srgbClr val="FF0000"/>
                  </a:solidFill>
                  <a:latin typeface="宋体" pitchFamily="2" charset="-122"/>
                  <a:ea typeface="宋体" panose="02010600030101010101" pitchFamily="2" charset="-122"/>
                </a:rPr>
                <a:t>注意</a:t>
              </a:r>
              <a:r>
                <a:rPr lang="en-US" altLang="zh-CN" sz="2200" dirty="0">
                  <a:solidFill>
                    <a:srgbClr val="FF0000"/>
                  </a:solidFill>
                  <a:latin typeface="宋体" panose="02010600030101010101" pitchFamily="2" charset="-122"/>
                  <a:ea typeface="宋体" panose="02010600030101010101" pitchFamily="2" charset="-122"/>
                </a:rPr>
                <a:t>ab</a:t>
              </a:r>
              <a:r>
                <a:rPr lang="zh-CN" altLang="en-US" sz="2200" dirty="0">
                  <a:solidFill>
                    <a:srgbClr val="FF0000"/>
                  </a:solidFill>
                  <a:latin typeface="宋体" pitchFamily="2" charset="-122"/>
                  <a:ea typeface="宋体" panose="02010600030101010101" pitchFamily="2" charset="-122"/>
                </a:rPr>
                <a:t>相邻</a:t>
              </a:r>
              <a:r>
                <a:rPr lang="en-US" altLang="zh-CN" sz="2200" dirty="0">
                  <a:latin typeface="宋体" panose="02010600030101010101" pitchFamily="2" charset="-122"/>
                  <a:ea typeface="宋体" panose="02010600030101010101" pitchFamily="2" charset="-122"/>
                </a:rPr>
                <a:t>)</a:t>
              </a:r>
              <a:br>
                <a:rPr lang="en-US" altLang="zh-CN" sz="2200" dirty="0">
                  <a:latin typeface="宋体" panose="02010600030101010101" pitchFamily="2" charset="-122"/>
                  <a:ea typeface="宋体" panose="02010600030101010101" pitchFamily="2" charset="-122"/>
                </a:rPr>
              </a:br>
              <a:endParaRPr lang="en-US" altLang="zh-CN" sz="2200" dirty="0">
                <a:latin typeface="宋体" panose="02010600030101010101" pitchFamily="2" charset="-122"/>
                <a:ea typeface="宋体" panose="02010600030101010101" pitchFamily="2" charset="-122"/>
              </a:endParaRPr>
            </a:p>
          </p:txBody>
        </p:sp>
      </p:grpSp>
    </p:spTree>
    <p:extLst>
      <p:ext uri="{BB962C8B-B14F-4D97-AF65-F5344CB8AC3E}">
        <p14:creationId xmlns:p14="http://schemas.microsoft.com/office/powerpoint/2010/main" val="21982081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5363">
                                            <p:txEl>
                                              <p:pRg st="0" end="0"/>
                                            </p:txEl>
                                          </p:spTgt>
                                        </p:tgtEl>
                                        <p:attrNameLst>
                                          <p:attrName>style.visibility</p:attrName>
                                        </p:attrNameLst>
                                      </p:cBhvr>
                                      <p:to>
                                        <p:strVal val="visible"/>
                                      </p:to>
                                    </p:set>
                                    <p:animEffect transition="in" filter="strips(downLeft)">
                                      <p:cBhvr>
                                        <p:cTn id="7" dur="500"/>
                                        <p:tgtEl>
                                          <p:spTgt spid="1536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15363">
                                            <p:txEl>
                                              <p:pRg st="1" end="1"/>
                                            </p:txEl>
                                          </p:spTgt>
                                        </p:tgtEl>
                                        <p:attrNameLst>
                                          <p:attrName>style.visibility</p:attrName>
                                        </p:attrNameLst>
                                      </p:cBhvr>
                                      <p:to>
                                        <p:strVal val="visible"/>
                                      </p:to>
                                    </p:set>
                                    <p:animEffect transition="in" filter="strips(downLeft)">
                                      <p:cBhvr>
                                        <p:cTn id="12" dur="500"/>
                                        <p:tgtEl>
                                          <p:spTgt spid="1536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3" grpId="0" build="p" autoUpdateAnimBg="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5" name="Text Box 3"/>
          <p:cNvSpPr txBox="1">
            <a:spLocks noChangeArrowheads="1"/>
          </p:cNvSpPr>
          <p:nvPr/>
        </p:nvSpPr>
        <p:spPr bwMode="auto">
          <a:xfrm>
            <a:off x="1189584" y="3651870"/>
            <a:ext cx="727476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en-US" altLang="zh-CN" sz="2200" dirty="0">
                <a:latin typeface="宋体" panose="02010600030101010101" pitchFamily="2" charset="-122"/>
              </a:rPr>
              <a:t>+ </a:t>
            </a:r>
            <a:r>
              <a:rPr lang="zh-CN" altLang="en-US" sz="2200" dirty="0">
                <a:latin typeface="宋体" panose="02010600030101010101" pitchFamily="2" charset="-122"/>
              </a:rPr>
              <a:t>和 * 之间有两种优先关系，所以不是算符优先文法。</a:t>
            </a:r>
          </a:p>
        </p:txBody>
      </p:sp>
      <p:sp>
        <p:nvSpPr>
          <p:cNvPr id="143363" name="Rectangle 3"/>
          <p:cNvSpPr>
            <a:spLocks noGrp="1" noChangeArrowheads="1"/>
          </p:cNvSpPr>
          <p:nvPr>
            <p:ph type="body" idx="1"/>
          </p:nvPr>
        </p:nvSpPr>
        <p:spPr>
          <a:xfrm>
            <a:off x="254768" y="156223"/>
            <a:ext cx="8637712" cy="1191392"/>
          </a:xfrm>
        </p:spPr>
        <p:style>
          <a:lnRef idx="2">
            <a:schemeClr val="accent1"/>
          </a:lnRef>
          <a:fillRef idx="1">
            <a:schemeClr val="lt1"/>
          </a:fillRef>
          <a:effectRef idx="0">
            <a:schemeClr val="accent1"/>
          </a:effectRef>
          <a:fontRef idx="minor">
            <a:schemeClr val="dk1"/>
          </a:fontRef>
        </p:style>
        <p:txBody>
          <a:bodyPr>
            <a:normAutofit/>
          </a:bodyPr>
          <a:lstStyle/>
          <a:p>
            <a:pPr eaLnBrk="1" hangingPunct="1"/>
            <a:r>
              <a:rPr lang="en-US" altLang="zh-CN" sz="2200" dirty="0">
                <a:latin typeface="宋体" pitchFamily="2" charset="-122"/>
                <a:ea typeface="宋体" panose="02010600030101010101" pitchFamily="2" charset="-122"/>
              </a:rPr>
              <a:t>3.</a:t>
            </a:r>
            <a:r>
              <a:rPr lang="zh-CN" altLang="en-US" sz="2200" b="1" dirty="0">
                <a:solidFill>
                  <a:srgbClr val="0000FF"/>
                </a:solidFill>
                <a:latin typeface="宋体" pitchFamily="2" charset="-122"/>
                <a:ea typeface="宋体" panose="02010600030101010101" pitchFamily="2" charset="-122"/>
              </a:rPr>
              <a:t>算符优先文法</a:t>
            </a:r>
          </a:p>
          <a:p>
            <a:pPr lvl="1" eaLnBrk="1" hangingPunct="1"/>
            <a:r>
              <a:rPr lang="zh-CN" altLang="en-US" sz="2200" dirty="0">
                <a:latin typeface="宋体" pitchFamily="2" charset="-122"/>
                <a:ea typeface="宋体" panose="02010600030101010101" pitchFamily="2" charset="-122"/>
              </a:rPr>
              <a:t>算符文法</a:t>
            </a:r>
            <a:r>
              <a:rPr lang="en-US" altLang="zh-CN" sz="2200" dirty="0">
                <a:latin typeface="宋体" pitchFamily="2" charset="-122"/>
                <a:ea typeface="宋体" panose="02010600030101010101" pitchFamily="2" charset="-122"/>
              </a:rPr>
              <a:t>G</a:t>
            </a:r>
            <a:r>
              <a:rPr lang="zh-CN" altLang="en-US" sz="2200" dirty="0">
                <a:latin typeface="宋体" pitchFamily="2" charset="-122"/>
                <a:ea typeface="宋体" panose="02010600030101010101" pitchFamily="2" charset="-122"/>
              </a:rPr>
              <a:t>的任何终结符</a:t>
            </a:r>
            <a:r>
              <a:rPr lang="en-US" altLang="zh-CN" sz="2200" dirty="0" err="1">
                <a:latin typeface="宋体" pitchFamily="2" charset="-122"/>
                <a:ea typeface="宋体" panose="02010600030101010101" pitchFamily="2" charset="-122"/>
              </a:rPr>
              <a:t>a,b</a:t>
            </a:r>
            <a:r>
              <a:rPr lang="zh-CN" altLang="en-US" sz="2200" dirty="0">
                <a:latin typeface="宋体" pitchFamily="2" charset="-122"/>
                <a:ea typeface="宋体" panose="02010600030101010101" pitchFamily="2" charset="-122"/>
              </a:rPr>
              <a:t>之间要么没有优先关系，若有优先关系</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至多有  </a:t>
            </a: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中的一种成立</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则</a:t>
            </a:r>
            <a:r>
              <a:rPr lang="en-US" altLang="zh-CN" sz="2200" dirty="0">
                <a:latin typeface="宋体" pitchFamily="2" charset="-122"/>
                <a:ea typeface="宋体" panose="02010600030101010101" pitchFamily="2" charset="-122"/>
              </a:rPr>
              <a:t>G</a:t>
            </a:r>
            <a:r>
              <a:rPr lang="zh-CN" altLang="en-US" sz="2200" dirty="0">
                <a:latin typeface="宋体" pitchFamily="2" charset="-122"/>
                <a:ea typeface="宋体" panose="02010600030101010101" pitchFamily="2" charset="-122"/>
              </a:rPr>
              <a:t>为一</a:t>
            </a:r>
            <a:r>
              <a:rPr lang="zh-CN" altLang="en-US" sz="2200" b="1" dirty="0">
                <a:latin typeface="宋体" pitchFamily="2" charset="-122"/>
                <a:ea typeface="宋体" panose="02010600030101010101" pitchFamily="2" charset="-122"/>
              </a:rPr>
              <a:t>算符优先文法</a:t>
            </a:r>
            <a:r>
              <a:rPr lang="zh-CN" altLang="en-US" sz="2200" dirty="0">
                <a:latin typeface="宋体" pitchFamily="2" charset="-122"/>
                <a:ea typeface="宋体" panose="02010600030101010101" pitchFamily="2" charset="-122"/>
              </a:rPr>
              <a:t>。</a:t>
            </a:r>
          </a:p>
        </p:txBody>
      </p:sp>
      <p:grpSp>
        <p:nvGrpSpPr>
          <p:cNvPr id="143364" name="Group 28"/>
          <p:cNvGrpSpPr>
            <a:grpSpLocks/>
          </p:cNvGrpSpPr>
          <p:nvPr/>
        </p:nvGrpSpPr>
        <p:grpSpPr bwMode="auto">
          <a:xfrm>
            <a:off x="2302617" y="987574"/>
            <a:ext cx="1665288" cy="204787"/>
            <a:chOff x="1201" y="1078"/>
            <a:chExt cx="1049" cy="173"/>
          </a:xfrm>
        </p:grpSpPr>
        <p:graphicFrame>
          <p:nvGraphicFramePr>
            <p:cNvPr id="143368" name="Object 21"/>
            <p:cNvGraphicFramePr>
              <a:graphicFrameLocks noChangeAspect="1"/>
            </p:cNvGraphicFramePr>
            <p:nvPr/>
          </p:nvGraphicFramePr>
          <p:xfrm>
            <a:off x="1557" y="1080"/>
            <a:ext cx="262" cy="171"/>
          </p:xfrm>
          <a:graphic>
            <a:graphicData uri="http://schemas.openxmlformats.org/presentationml/2006/ole">
              <mc:AlternateContent xmlns:mc="http://schemas.openxmlformats.org/markup-compatibility/2006">
                <mc:Choice xmlns:v="urn:schemas-microsoft-com:vml" Requires="v">
                  <p:oleObj spid="_x0000_s29738" name="位图图像" r:id="rId4" imgW="171338" imgH="181096" progId="Paint.Picture">
                    <p:embed/>
                  </p:oleObj>
                </mc:Choice>
                <mc:Fallback>
                  <p:oleObj name="位图图像" r:id="rId4" imgW="171338" imgH="181096" progId="Paint.Picture">
                    <p:embed/>
                    <p:pic>
                      <p:nvPicPr>
                        <p:cNvPr id="143368" name="Object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57" y="1080"/>
                          <a:ext cx="26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3369" name="Object 22"/>
            <p:cNvGraphicFramePr>
              <a:graphicFrameLocks/>
            </p:cNvGraphicFramePr>
            <p:nvPr/>
          </p:nvGraphicFramePr>
          <p:xfrm>
            <a:off x="1978" y="1078"/>
            <a:ext cx="272" cy="168"/>
          </p:xfrm>
          <a:graphic>
            <a:graphicData uri="http://schemas.openxmlformats.org/presentationml/2006/ole">
              <mc:AlternateContent xmlns:mc="http://schemas.openxmlformats.org/markup-compatibility/2006">
                <mc:Choice xmlns:v="urn:schemas-microsoft-com:vml" Requires="v">
                  <p:oleObj spid="_x0000_s29739" name="位图图像" r:id="rId6" imgW="171338" imgH="171338" progId="Paint.Picture">
                    <p:embed/>
                  </p:oleObj>
                </mc:Choice>
                <mc:Fallback>
                  <p:oleObj name="位图图像" r:id="rId6" imgW="171338" imgH="171338" progId="Paint.Picture">
                    <p:embed/>
                    <p:pic>
                      <p:nvPicPr>
                        <p:cNvPr id="143369" name="Object 22"/>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78" y="1078"/>
                          <a:ext cx="272"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3370" name="Object 23"/>
            <p:cNvGraphicFramePr>
              <a:graphicFrameLocks noChangeAspect="1"/>
            </p:cNvGraphicFramePr>
            <p:nvPr/>
          </p:nvGraphicFramePr>
          <p:xfrm>
            <a:off x="1201" y="1095"/>
            <a:ext cx="283" cy="143"/>
          </p:xfrm>
          <a:graphic>
            <a:graphicData uri="http://schemas.openxmlformats.org/presentationml/2006/ole">
              <mc:AlternateContent xmlns:mc="http://schemas.openxmlformats.org/markup-compatibility/2006">
                <mc:Choice xmlns:v="urn:schemas-microsoft-com:vml" Requires="v">
                  <p:oleObj spid="_x0000_s29740" name="位图图像" r:id="rId8" imgW="295238" imgH="190426" progId="Paint.Picture">
                    <p:embed/>
                  </p:oleObj>
                </mc:Choice>
                <mc:Fallback>
                  <p:oleObj name="位图图像" r:id="rId8" imgW="295238" imgH="190426" progId="Paint.Picture">
                    <p:embed/>
                    <p:pic>
                      <p:nvPicPr>
                        <p:cNvPr id="143370" name="Object 2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01" y="1095"/>
                          <a:ext cx="283" cy="1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1" name="Text Box 3"/>
          <p:cNvSpPr txBox="1">
            <a:spLocks noChangeArrowheads="1"/>
          </p:cNvSpPr>
          <p:nvPr/>
        </p:nvSpPr>
        <p:spPr bwMode="auto">
          <a:xfrm>
            <a:off x="539552" y="1492791"/>
            <a:ext cx="79248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zh-CN" altLang="en-US" sz="2200" dirty="0">
                <a:latin typeface="宋体" panose="02010600030101010101" pitchFamily="2" charset="-122"/>
              </a:rPr>
              <a:t>例：</a:t>
            </a:r>
            <a:r>
              <a:rPr lang="en-US" altLang="zh-CN" sz="2200" dirty="0">
                <a:latin typeface="宋体" panose="02010600030101010101" pitchFamily="2" charset="-122"/>
              </a:rPr>
              <a:t>E→E+E | E*E | (E) | </a:t>
            </a:r>
            <a:r>
              <a:rPr lang="en-US" altLang="zh-CN" sz="2200" dirty="0" err="1">
                <a:latin typeface="宋体" panose="02010600030101010101" pitchFamily="2" charset="-122"/>
              </a:rPr>
              <a:t>i</a:t>
            </a:r>
            <a:r>
              <a:rPr lang="en-US" altLang="zh-CN" sz="2200" dirty="0">
                <a:latin typeface="宋体" panose="02010600030101010101" pitchFamily="2" charset="-122"/>
              </a:rPr>
              <a:t>   </a:t>
            </a:r>
            <a:r>
              <a:rPr lang="zh-CN" altLang="en-US" sz="2200" dirty="0">
                <a:latin typeface="宋体" panose="02010600030101010101" pitchFamily="2" charset="-122"/>
              </a:rPr>
              <a:t>证明不是算符优先文法。</a:t>
            </a:r>
          </a:p>
        </p:txBody>
      </p:sp>
      <p:grpSp>
        <p:nvGrpSpPr>
          <p:cNvPr id="21" name="组合 20"/>
          <p:cNvGrpSpPr/>
          <p:nvPr/>
        </p:nvGrpSpPr>
        <p:grpSpPr>
          <a:xfrm>
            <a:off x="3135261" y="4116640"/>
            <a:ext cx="5976664" cy="1026860"/>
            <a:chOff x="755576" y="2859782"/>
            <a:chExt cx="5976664" cy="1026860"/>
          </a:xfrm>
        </p:grpSpPr>
        <p:sp>
          <p:nvSpPr>
            <p:cNvPr id="22" name="Rectangle 3"/>
            <p:cNvSpPr txBox="1">
              <a:spLocks noChangeArrowheads="1"/>
            </p:cNvSpPr>
            <p:nvPr/>
          </p:nvSpPr>
          <p:spPr>
            <a:xfrm>
              <a:off x="755576" y="2859782"/>
              <a:ext cx="5976664" cy="102686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10000"/>
                </a:lnSpc>
                <a:spcBef>
                  <a:spcPts val="0"/>
                </a:spcBef>
                <a:buNone/>
              </a:pPr>
              <a:r>
                <a:rPr lang="zh-CN" altLang="en-US" sz="2000" dirty="0">
                  <a:latin typeface="宋体" pitchFamily="2" charset="-122"/>
                  <a:ea typeface="宋体" panose="02010600030101010101" pitchFamily="2" charset="-122"/>
                </a:rPr>
                <a:t>① </a:t>
              </a:r>
              <a:r>
                <a:rPr lang="en-US" altLang="zh-CN" sz="2000" dirty="0">
                  <a:latin typeface="宋体" panose="02010600030101010101" pitchFamily="2" charset="-122"/>
                  <a:ea typeface="宋体" panose="02010600030101010101" pitchFamily="2" charset="-122"/>
                </a:rPr>
                <a:t>a   </a:t>
              </a:r>
              <a:r>
                <a:rPr lang="en-US" altLang="zh-CN" sz="2000" dirty="0" err="1">
                  <a:latin typeface="宋体" panose="02010600030101010101" pitchFamily="2" charset="-122"/>
                  <a:ea typeface="宋体" panose="02010600030101010101" pitchFamily="2" charset="-122"/>
                </a:rPr>
                <a:t>b,G</a:t>
              </a:r>
              <a:r>
                <a:rPr lang="zh-CN" altLang="en-US" sz="2000" dirty="0">
                  <a:latin typeface="宋体" pitchFamily="2" charset="-122"/>
                  <a:ea typeface="宋体" panose="02010600030101010101" pitchFamily="2" charset="-122"/>
                </a:rPr>
                <a:t>中有</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② </a:t>
              </a:r>
              <a:r>
                <a:rPr lang="en-US" altLang="zh-CN" sz="2000" dirty="0">
                  <a:latin typeface="宋体" panose="02010600030101010101" pitchFamily="2" charset="-122"/>
                  <a:ea typeface="宋体" panose="02010600030101010101" pitchFamily="2" charset="-122"/>
                </a:rPr>
                <a:t>a   b,</a:t>
              </a:r>
              <a:r>
                <a:rPr lang="zh-CN" altLang="en-US" sz="2000" dirty="0">
                  <a:latin typeface="宋体" panose="02010600030101010101"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aR.</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③ </a:t>
              </a:r>
              <a:r>
                <a:rPr lang="en-US" altLang="zh-CN" sz="2000" dirty="0">
                  <a:latin typeface="宋体" panose="02010600030101010101" pitchFamily="2" charset="-122"/>
                  <a:ea typeface="宋体" panose="02010600030101010101" pitchFamily="2" charset="-122"/>
                </a:rPr>
                <a:t>a   b,</a:t>
              </a:r>
              <a:r>
                <a:rPr lang="zh-CN" altLang="en-US" sz="2000" dirty="0">
                  <a:latin typeface="宋体"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Rb</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R=&gt;...a</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aQ</a:t>
              </a:r>
              <a:endParaRPr lang="en-US" altLang="zh-CN" sz="2000" dirty="0">
                <a:latin typeface="宋体" panose="02010600030101010101" pitchFamily="2" charset="-122"/>
                <a:ea typeface="宋体" panose="02010600030101010101" pitchFamily="2" charset="-122"/>
              </a:endParaRPr>
            </a:p>
          </p:txBody>
        </p:sp>
        <p:sp>
          <p:nvSpPr>
            <p:cNvPr id="23" name="Rectangle 4"/>
            <p:cNvSpPr>
              <a:spLocks noChangeArrowheads="1"/>
            </p:cNvSpPr>
            <p:nvPr/>
          </p:nvSpPr>
          <p:spPr bwMode="auto">
            <a:xfrm>
              <a:off x="5580112" y="334509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24" name="Rectangle 5"/>
            <p:cNvSpPr>
              <a:spLocks noChangeArrowheads="1"/>
            </p:cNvSpPr>
            <p:nvPr/>
          </p:nvSpPr>
          <p:spPr bwMode="auto">
            <a:xfrm>
              <a:off x="4427984" y="3363838"/>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25" name="Object 5"/>
            <p:cNvGraphicFramePr>
              <a:graphicFrameLocks/>
            </p:cNvGraphicFramePr>
            <p:nvPr>
              <p:extLst>
                <p:ext uri="{D42A27DB-BD31-4B8C-83A1-F6EECF244321}">
                  <p14:modId xmlns:p14="http://schemas.microsoft.com/office/powerpoint/2010/main" val="4235395657"/>
                </p:ext>
              </p:extLst>
            </p:nvPr>
          </p:nvGraphicFramePr>
          <p:xfrm>
            <a:off x="1475656" y="3651870"/>
            <a:ext cx="360040" cy="159580"/>
          </p:xfrm>
          <a:graphic>
            <a:graphicData uri="http://schemas.openxmlformats.org/presentationml/2006/ole">
              <mc:AlternateContent xmlns:mc="http://schemas.openxmlformats.org/markup-compatibility/2006">
                <mc:Choice xmlns:v="urn:schemas-microsoft-com:vml" Requires="v">
                  <p:oleObj spid="_x0000_s29741" name="位图图像" r:id="rId10" imgW="171338" imgH="171338" progId="Paint.Picture">
                    <p:embed/>
                  </p:oleObj>
                </mc:Choice>
                <mc:Fallback>
                  <p:oleObj name="位图图像" r:id="rId10" imgW="171338" imgH="171338" progId="Paint.Picture">
                    <p:embed/>
                    <p:pic>
                      <p:nvPicPr>
                        <p:cNvPr id="25" name="Object 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75656" y="3651870"/>
                          <a:ext cx="360040" cy="159580"/>
                        </a:xfrm>
                        <a:prstGeom prst="rect">
                          <a:avLst/>
                        </a:prstGeom>
                        <a:noFill/>
                        <a:ln>
                          <a:noFill/>
                        </a:ln>
                        <a:effectLst/>
                      </p:spPr>
                    </p:pic>
                  </p:oleObj>
                </mc:Fallback>
              </mc:AlternateContent>
            </a:graphicData>
          </a:graphic>
        </p:graphicFrame>
        <p:sp>
          <p:nvSpPr>
            <p:cNvPr id="26" name="Rectangle 6"/>
            <p:cNvSpPr>
              <a:spLocks noChangeArrowheads="1"/>
            </p:cNvSpPr>
            <p:nvPr/>
          </p:nvSpPr>
          <p:spPr bwMode="auto">
            <a:xfrm>
              <a:off x="5580112"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27" name="Rectangle 7"/>
            <p:cNvSpPr>
              <a:spLocks noChangeArrowheads="1"/>
            </p:cNvSpPr>
            <p:nvPr/>
          </p:nvSpPr>
          <p:spPr bwMode="auto">
            <a:xfrm>
              <a:off x="4427984"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28" name="Object 4"/>
            <p:cNvGraphicFramePr>
              <a:graphicFrameLocks noChangeAspect="1"/>
            </p:cNvGraphicFramePr>
            <p:nvPr>
              <p:extLst>
                <p:ext uri="{D42A27DB-BD31-4B8C-83A1-F6EECF244321}">
                  <p14:modId xmlns:p14="http://schemas.microsoft.com/office/powerpoint/2010/main" val="2095510867"/>
                </p:ext>
              </p:extLst>
            </p:nvPr>
          </p:nvGraphicFramePr>
          <p:xfrm>
            <a:off x="1475656" y="3353717"/>
            <a:ext cx="343917" cy="203643"/>
          </p:xfrm>
          <a:graphic>
            <a:graphicData uri="http://schemas.openxmlformats.org/presentationml/2006/ole">
              <mc:AlternateContent xmlns:mc="http://schemas.openxmlformats.org/markup-compatibility/2006">
                <mc:Choice xmlns:v="urn:schemas-microsoft-com:vml" Requires="v">
                  <p:oleObj spid="_x0000_s29742" name="位图图像" r:id="rId11" imgW="171338" imgH="181096" progId="Paint.Picture">
                    <p:embed/>
                  </p:oleObj>
                </mc:Choice>
                <mc:Fallback>
                  <p:oleObj name="位图图像" r:id="rId11" imgW="171338" imgH="181096" progId="Paint.Picture">
                    <p:embed/>
                    <p:pic>
                      <p:nvPicPr>
                        <p:cNvPr id="28"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5656" y="3353717"/>
                          <a:ext cx="343917" cy="203643"/>
                        </a:xfrm>
                        <a:prstGeom prst="rect">
                          <a:avLst/>
                        </a:prstGeom>
                        <a:noFill/>
                        <a:ln>
                          <a:noFill/>
                        </a:ln>
                        <a:effectLst/>
                      </p:spPr>
                    </p:pic>
                  </p:oleObj>
                </mc:Fallback>
              </mc:AlternateContent>
            </a:graphicData>
          </a:graphic>
        </p:graphicFrame>
        <p:graphicFrame>
          <p:nvGraphicFramePr>
            <p:cNvPr id="29" name="Object 6"/>
            <p:cNvGraphicFramePr>
              <a:graphicFrameLocks noChangeAspect="1"/>
            </p:cNvGraphicFramePr>
            <p:nvPr>
              <p:extLst>
                <p:ext uri="{D42A27DB-BD31-4B8C-83A1-F6EECF244321}">
                  <p14:modId xmlns:p14="http://schemas.microsoft.com/office/powerpoint/2010/main" val="1369692597"/>
                </p:ext>
              </p:extLst>
            </p:nvPr>
          </p:nvGraphicFramePr>
          <p:xfrm>
            <a:off x="1475656" y="3003798"/>
            <a:ext cx="360040" cy="170298"/>
          </p:xfrm>
          <a:graphic>
            <a:graphicData uri="http://schemas.openxmlformats.org/presentationml/2006/ole">
              <mc:AlternateContent xmlns:mc="http://schemas.openxmlformats.org/markup-compatibility/2006">
                <mc:Choice xmlns:v="urn:schemas-microsoft-com:vml" Requires="v">
                  <p:oleObj spid="_x0000_s29743" name="位图图像" r:id="rId12" imgW="295238" imgH="190426" progId="Paint.Picture">
                    <p:embed/>
                  </p:oleObj>
                </mc:Choice>
                <mc:Fallback>
                  <p:oleObj name="位图图像" r:id="rId12" imgW="295238" imgH="190426" progId="Paint.Picture">
                    <p:embed/>
                    <p:pic>
                      <p:nvPicPr>
                        <p:cNvPr id="29"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75656" y="3003798"/>
                          <a:ext cx="360040" cy="170298"/>
                        </a:xfrm>
                        <a:prstGeom prst="rect">
                          <a:avLst/>
                        </a:prstGeom>
                        <a:noFill/>
                        <a:ln>
                          <a:noFill/>
                        </a:ln>
                        <a:effectLst/>
                      </p:spPr>
                    </p:pic>
                  </p:oleObj>
                </mc:Fallback>
              </mc:AlternateContent>
            </a:graphicData>
          </a:graphic>
        </p:graphicFrame>
      </p:grpSp>
      <p:grpSp>
        <p:nvGrpSpPr>
          <p:cNvPr id="2" name="组合 1"/>
          <p:cNvGrpSpPr/>
          <p:nvPr/>
        </p:nvGrpSpPr>
        <p:grpSpPr>
          <a:xfrm>
            <a:off x="1189584" y="2860943"/>
            <a:ext cx="6624736" cy="430887"/>
            <a:chOff x="5940152" y="273874"/>
            <a:chExt cx="6624736" cy="430887"/>
          </a:xfrm>
        </p:grpSpPr>
        <p:graphicFrame>
          <p:nvGraphicFramePr>
            <p:cNvPr id="143366" name="Object 24"/>
            <p:cNvGraphicFramePr>
              <a:graphicFrameLocks noChangeAspect="1"/>
            </p:cNvGraphicFramePr>
            <p:nvPr>
              <p:extLst>
                <p:ext uri="{D42A27DB-BD31-4B8C-83A1-F6EECF244321}">
                  <p14:modId xmlns:p14="http://schemas.microsoft.com/office/powerpoint/2010/main" val="685155413"/>
                </p:ext>
              </p:extLst>
            </p:nvPr>
          </p:nvGraphicFramePr>
          <p:xfrm>
            <a:off x="10476656" y="387578"/>
            <a:ext cx="415925" cy="203478"/>
          </p:xfrm>
          <a:graphic>
            <a:graphicData uri="http://schemas.openxmlformats.org/presentationml/2006/ole">
              <mc:AlternateContent xmlns:mc="http://schemas.openxmlformats.org/markup-compatibility/2006">
                <mc:Choice xmlns:v="urn:schemas-microsoft-com:vml" Requires="v">
                  <p:oleObj spid="_x0000_s29744" name="位图图像" r:id="rId13" imgW="171338" imgH="181096" progId="Paint.Picture">
                    <p:embed/>
                  </p:oleObj>
                </mc:Choice>
                <mc:Fallback>
                  <p:oleObj name="位图图像" r:id="rId13" imgW="171338" imgH="181096" progId="Paint.Picture">
                    <p:embed/>
                    <p:pic>
                      <p:nvPicPr>
                        <p:cNvPr id="143366" name="Object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76656" y="387578"/>
                          <a:ext cx="415925" cy="203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 name="Text Box 3"/>
            <p:cNvSpPr txBox="1">
              <a:spLocks noChangeArrowheads="1"/>
            </p:cNvSpPr>
            <p:nvPr/>
          </p:nvSpPr>
          <p:spPr bwMode="auto">
            <a:xfrm>
              <a:off x="5940152" y="273874"/>
              <a:ext cx="662473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zh-CN" altLang="en-US" sz="2200" dirty="0">
                  <a:latin typeface="宋体" panose="02010600030101010101" pitchFamily="2" charset="-122"/>
                </a:rPr>
                <a:t>因  为：</a:t>
              </a:r>
              <a:r>
                <a:rPr lang="en-US" altLang="zh-CN" sz="2200" dirty="0">
                  <a:latin typeface="宋体" panose="02010600030101010101" pitchFamily="2" charset="-122"/>
                </a:rPr>
                <a:t>E→E+</a:t>
              </a:r>
              <a:r>
                <a:rPr lang="en-US" altLang="zh-CN" sz="2200" dirty="0">
                  <a:solidFill>
                    <a:srgbClr val="FF0066"/>
                  </a:solidFill>
                  <a:latin typeface="宋体" panose="02010600030101010101" pitchFamily="2" charset="-122"/>
                </a:rPr>
                <a:t>E</a:t>
              </a:r>
              <a:r>
                <a:rPr lang="en-US" altLang="zh-CN" sz="2200" dirty="0">
                  <a:latin typeface="宋体" panose="02010600030101010101" pitchFamily="2" charset="-122"/>
                </a:rPr>
                <a:t> </a:t>
              </a:r>
              <a:r>
                <a:rPr lang="zh-CN" altLang="en-US" sz="2200" dirty="0">
                  <a:latin typeface="宋体" panose="02010600030101010101" pitchFamily="2" charset="-122"/>
                </a:rPr>
                <a:t>，</a:t>
              </a:r>
              <a:r>
                <a:rPr lang="en-US" altLang="zh-CN" sz="2200" dirty="0">
                  <a:latin typeface="宋体" panose="02010600030101010101" pitchFamily="2" charset="-122"/>
                </a:rPr>
                <a:t>E</a:t>
              </a:r>
              <a:r>
                <a:rPr lang="en-US" altLang="zh-CN" sz="2200" dirty="0">
                  <a:latin typeface="宋体" panose="02010600030101010101" pitchFamily="2" charset="-122"/>
                  <a:sym typeface="Symbol" pitchFamily="18" charset="2"/>
                </a:rPr>
                <a:t></a:t>
              </a:r>
              <a:r>
                <a:rPr lang="en-US" altLang="zh-CN" sz="2200" dirty="0">
                  <a:latin typeface="宋体" panose="02010600030101010101" pitchFamily="2" charset="-122"/>
                </a:rPr>
                <a:t>E*E  </a:t>
              </a:r>
              <a:r>
                <a:rPr lang="zh-CN" altLang="en-US" sz="2200" dirty="0">
                  <a:latin typeface="宋体" panose="02010600030101010101" pitchFamily="2" charset="-122"/>
                </a:rPr>
                <a:t>则有 </a:t>
              </a:r>
              <a:r>
                <a:rPr lang="en-US" altLang="zh-CN" sz="2200" dirty="0">
                  <a:latin typeface="宋体" panose="02010600030101010101" pitchFamily="2" charset="-122"/>
                </a:rPr>
                <a:t>+     *(</a:t>
              </a:r>
              <a:r>
                <a:rPr lang="zh-CN" altLang="en-US" sz="2200" dirty="0">
                  <a:latin typeface="宋体" panose="02010600030101010101" pitchFamily="2" charset="-122"/>
                </a:rPr>
                <a:t>由规则</a:t>
              </a:r>
              <a:r>
                <a:rPr lang="en-US" altLang="zh-CN" sz="2200" dirty="0">
                  <a:latin typeface="宋体" panose="02010600030101010101" pitchFamily="2" charset="-122"/>
                </a:rPr>
                <a:t>2)</a:t>
              </a:r>
            </a:p>
          </p:txBody>
        </p:sp>
      </p:grpSp>
      <p:grpSp>
        <p:nvGrpSpPr>
          <p:cNvPr id="4" name="组合 3"/>
          <p:cNvGrpSpPr/>
          <p:nvPr/>
        </p:nvGrpSpPr>
        <p:grpSpPr>
          <a:xfrm>
            <a:off x="1189584" y="3220983"/>
            <a:ext cx="6801335" cy="430887"/>
            <a:chOff x="6123593" y="1564799"/>
            <a:chExt cx="6801335" cy="430887"/>
          </a:xfrm>
        </p:grpSpPr>
        <p:graphicFrame>
          <p:nvGraphicFramePr>
            <p:cNvPr id="143367" name="Object 25"/>
            <p:cNvGraphicFramePr>
              <a:graphicFrameLocks/>
            </p:cNvGraphicFramePr>
            <p:nvPr>
              <p:extLst>
                <p:ext uri="{D42A27DB-BD31-4B8C-83A1-F6EECF244321}">
                  <p14:modId xmlns:p14="http://schemas.microsoft.com/office/powerpoint/2010/main" val="3153407255"/>
                </p:ext>
              </p:extLst>
            </p:nvPr>
          </p:nvGraphicFramePr>
          <p:xfrm>
            <a:off x="10620672" y="1666237"/>
            <a:ext cx="431800" cy="220489"/>
          </p:xfrm>
          <a:graphic>
            <a:graphicData uri="http://schemas.openxmlformats.org/presentationml/2006/ole">
              <mc:AlternateContent xmlns:mc="http://schemas.openxmlformats.org/markup-compatibility/2006">
                <mc:Choice xmlns:v="urn:schemas-microsoft-com:vml" Requires="v">
                  <p:oleObj spid="_x0000_s29745" name="位图图像" r:id="rId14" imgW="171338" imgH="171338" progId="Paint.Picture">
                    <p:embed/>
                  </p:oleObj>
                </mc:Choice>
                <mc:Fallback>
                  <p:oleObj name="位图图像" r:id="rId14" imgW="171338" imgH="171338" progId="Paint.Picture">
                    <p:embed/>
                    <p:pic>
                      <p:nvPicPr>
                        <p:cNvPr id="143367" name="Object 2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620672" y="1666237"/>
                          <a:ext cx="431800" cy="220489"/>
                        </a:xfrm>
                        <a:prstGeom prst="rect">
                          <a:avLst/>
                        </a:prstGeom>
                        <a:noFill/>
                        <a:ln>
                          <a:noFill/>
                        </a:ln>
                        <a:effectLst/>
                      </p:spPr>
                    </p:pic>
                  </p:oleObj>
                </mc:Fallback>
              </mc:AlternateContent>
            </a:graphicData>
          </a:graphic>
        </p:graphicFrame>
        <p:sp>
          <p:nvSpPr>
            <p:cNvPr id="31" name="Text Box 3"/>
            <p:cNvSpPr txBox="1">
              <a:spLocks noChangeArrowheads="1"/>
            </p:cNvSpPr>
            <p:nvPr/>
          </p:nvSpPr>
          <p:spPr bwMode="auto">
            <a:xfrm>
              <a:off x="6123593" y="1564799"/>
              <a:ext cx="680133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zh-CN" altLang="en-US" sz="2200" dirty="0">
                  <a:latin typeface="宋体" panose="02010600030101010101" pitchFamily="2" charset="-122"/>
                </a:rPr>
                <a:t>又因为：</a:t>
              </a:r>
              <a:r>
                <a:rPr lang="en-US" altLang="zh-CN" sz="2200" dirty="0">
                  <a:latin typeface="宋体" panose="02010600030101010101" pitchFamily="2" charset="-122"/>
                </a:rPr>
                <a:t>E→</a:t>
              </a:r>
              <a:r>
                <a:rPr lang="en-US" altLang="zh-CN" sz="2200" dirty="0">
                  <a:solidFill>
                    <a:srgbClr val="FF0066"/>
                  </a:solidFill>
                  <a:latin typeface="宋体" panose="02010600030101010101" pitchFamily="2" charset="-122"/>
                </a:rPr>
                <a:t>E</a:t>
              </a:r>
              <a:r>
                <a:rPr lang="en-US" altLang="zh-CN" sz="2200" dirty="0">
                  <a:latin typeface="宋体" panose="02010600030101010101" pitchFamily="2" charset="-122"/>
                </a:rPr>
                <a:t>*E,  E</a:t>
              </a:r>
              <a:r>
                <a:rPr lang="en-US" altLang="zh-CN" sz="2200" dirty="0">
                  <a:latin typeface="宋体" panose="02010600030101010101" pitchFamily="2" charset="-122"/>
                  <a:sym typeface="Symbol" pitchFamily="18" charset="2"/>
                </a:rPr>
                <a:t></a:t>
              </a:r>
              <a:r>
                <a:rPr lang="en-US" altLang="zh-CN" sz="2200" dirty="0">
                  <a:latin typeface="宋体" panose="02010600030101010101" pitchFamily="2" charset="-122"/>
                </a:rPr>
                <a:t>E+E  </a:t>
              </a:r>
              <a:r>
                <a:rPr lang="zh-CN" altLang="en-US" sz="2200" dirty="0">
                  <a:latin typeface="宋体" panose="02010600030101010101" pitchFamily="2" charset="-122"/>
                </a:rPr>
                <a:t>则有 </a:t>
              </a:r>
              <a:r>
                <a:rPr lang="en-US" altLang="zh-CN" sz="2200" dirty="0">
                  <a:latin typeface="宋体" panose="02010600030101010101" pitchFamily="2" charset="-122"/>
                </a:rPr>
                <a:t>+     *(</a:t>
              </a:r>
              <a:r>
                <a:rPr lang="zh-CN" altLang="en-US" sz="2200" dirty="0">
                  <a:latin typeface="宋体" panose="02010600030101010101" pitchFamily="2" charset="-122"/>
                </a:rPr>
                <a:t>由规则</a:t>
              </a:r>
              <a:r>
                <a:rPr lang="en-US" altLang="zh-CN" sz="2200" dirty="0">
                  <a:latin typeface="宋体" panose="02010600030101010101" pitchFamily="2" charset="-122"/>
                </a:rPr>
                <a:t>3)</a:t>
              </a:r>
            </a:p>
          </p:txBody>
        </p:sp>
      </p:grpSp>
      <p:sp>
        <p:nvSpPr>
          <p:cNvPr id="34" name="Text Box 3"/>
          <p:cNvSpPr txBox="1">
            <a:spLocks noChangeArrowheads="1"/>
          </p:cNvSpPr>
          <p:nvPr/>
        </p:nvSpPr>
        <p:spPr bwMode="auto">
          <a:xfrm>
            <a:off x="842050" y="2090341"/>
            <a:ext cx="646625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ts val="0"/>
              </a:spcBef>
              <a:buFontTx/>
              <a:buNone/>
            </a:pPr>
            <a:r>
              <a:rPr lang="zh-CN" altLang="en-US" sz="2200" dirty="0">
                <a:latin typeface="宋体" panose="02010600030101010101" pitchFamily="2" charset="-122"/>
              </a:rPr>
              <a:t>首先，不含非终结符相邻的情况，是算符文法。</a:t>
            </a:r>
            <a:endParaRPr lang="en-US" altLang="zh-CN" sz="2200" dirty="0">
              <a:latin typeface="宋体" panose="02010600030101010101" pitchFamily="2" charset="-122"/>
            </a:endParaRPr>
          </a:p>
          <a:p>
            <a:pPr algn="just">
              <a:spcBef>
                <a:spcPts val="0"/>
              </a:spcBef>
              <a:buNone/>
            </a:pPr>
            <a:r>
              <a:rPr lang="zh-CN" altLang="en-US" sz="2200" dirty="0">
                <a:latin typeface="宋体" panose="02010600030101010101" pitchFamily="2" charset="-122"/>
              </a:rPr>
              <a:t>其次，不含</a:t>
            </a:r>
            <a:r>
              <a:rPr lang="zh-CN" altLang="en-US" sz="2200" dirty="0">
                <a:solidFill>
                  <a:srgbClr val="FF0000"/>
                </a:solidFill>
                <a:latin typeface="宋体" pitchFamily="2" charset="-122"/>
                <a:sym typeface="Symbol" pitchFamily="18" charset="2"/>
              </a:rPr>
              <a:t></a:t>
            </a:r>
            <a:r>
              <a:rPr lang="en-US" altLang="zh-CN" sz="2200" dirty="0">
                <a:solidFill>
                  <a:srgbClr val="FF0000"/>
                </a:solidFill>
                <a:latin typeface="宋体" pitchFamily="2" charset="-122"/>
                <a:sym typeface="Symbol" pitchFamily="18" charset="2"/>
              </a:rPr>
              <a:t>-</a:t>
            </a:r>
            <a:r>
              <a:rPr lang="zh-CN" altLang="en-US" sz="2200" dirty="0">
                <a:solidFill>
                  <a:srgbClr val="FF0000"/>
                </a:solidFill>
                <a:latin typeface="宋体" pitchFamily="2" charset="-122"/>
                <a:sym typeface="Symbol" pitchFamily="18" charset="2"/>
              </a:rPr>
              <a:t>产生式</a:t>
            </a:r>
            <a:r>
              <a:rPr lang="zh-CN" altLang="en-US" sz="2200" dirty="0">
                <a:latin typeface="宋体" panose="02010600030101010101" pitchFamily="2" charset="-122"/>
              </a:rPr>
              <a:t>。</a:t>
            </a:r>
          </a:p>
        </p:txBody>
      </p:sp>
    </p:spTree>
    <p:extLst>
      <p:ext uri="{BB962C8B-B14F-4D97-AF65-F5344CB8AC3E}">
        <p14:creationId xmlns:p14="http://schemas.microsoft.com/office/powerpoint/2010/main" val="23029238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trips(downLeft)">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34"/>
                                        </p:tgtEl>
                                        <p:attrNameLst>
                                          <p:attrName>style.visibility</p:attrName>
                                        </p:attrNameLst>
                                      </p:cBhvr>
                                      <p:to>
                                        <p:strVal val="visible"/>
                                      </p:to>
                                    </p:set>
                                    <p:animEffect transition="in" filter="strips(downLeft)">
                                      <p:cBhvr>
                                        <p:cTn id="12" dur="500"/>
                                        <p:tgtEl>
                                          <p:spTgt spid="34"/>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8" presetClass="entr" presetSubtype="12" fill="hold" grpId="0" nodeType="clickEffect">
                                  <p:stCondLst>
                                    <p:cond delay="0"/>
                                  </p:stCondLst>
                                  <p:childTnLst>
                                    <p:set>
                                      <p:cBhvr>
                                        <p:cTn id="28" dur="1" fill="hold">
                                          <p:stCondLst>
                                            <p:cond delay="0"/>
                                          </p:stCondLst>
                                        </p:cTn>
                                        <p:tgtEl>
                                          <p:spTgt spid="69635"/>
                                        </p:tgtEl>
                                        <p:attrNameLst>
                                          <p:attrName>style.visibility</p:attrName>
                                        </p:attrNameLst>
                                      </p:cBhvr>
                                      <p:to>
                                        <p:strVal val="visible"/>
                                      </p:to>
                                    </p:set>
                                    <p:animEffect transition="in" filter="strips(downLeft)">
                                      <p:cBhvr>
                                        <p:cTn id="29" dur="500"/>
                                        <p:tgtEl>
                                          <p:spTgt spid="696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35" grpId="0" autoUpdateAnimBg="0"/>
      <p:bldP spid="11" grpId="0" autoUpdateAnimBg="0"/>
      <p:bldP spid="34" grpId="0" autoUpdateAnimBg="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a:xfrm>
            <a:off x="685800" y="0"/>
            <a:ext cx="5584825" cy="857250"/>
          </a:xfrm>
        </p:spPr>
        <p:txBody>
          <a:bodyPr/>
          <a:lstStyle/>
          <a:p>
            <a:pPr eaLnBrk="1" hangingPunct="1"/>
            <a:r>
              <a:rPr lang="zh-CN" altLang="en-US">
                <a:latin typeface="隶书" pitchFamily="49" charset="-122"/>
                <a:ea typeface="隶书" pitchFamily="49" charset="-122"/>
              </a:rPr>
              <a:t>练   习</a:t>
            </a:r>
          </a:p>
        </p:txBody>
      </p:sp>
      <p:sp>
        <p:nvSpPr>
          <p:cNvPr id="144387" name="Rectangle 3"/>
          <p:cNvSpPr>
            <a:spLocks noGrp="1" noChangeArrowheads="1"/>
          </p:cNvSpPr>
          <p:nvPr>
            <p:ph type="body" idx="1"/>
          </p:nvPr>
        </p:nvSpPr>
        <p:spPr>
          <a:xfrm>
            <a:off x="0" y="904875"/>
            <a:ext cx="6156176" cy="835025"/>
          </a:xfrm>
        </p:spPr>
        <p:txBody>
          <a:bodyPr>
            <a:normAutofit/>
          </a:bodyPr>
          <a:lstStyle/>
          <a:p>
            <a:pPr eaLnBrk="1" hangingPunct="1"/>
            <a:r>
              <a:rPr lang="zh-CN" altLang="en-US" sz="2400" dirty="0">
                <a:latin typeface="宋体" panose="02010600030101010101" pitchFamily="2" charset="-122"/>
                <a:ea typeface="宋体" panose="02010600030101010101" pitchFamily="2" charset="-122"/>
              </a:rPr>
              <a:t>对右边的文法</a:t>
            </a:r>
            <a:r>
              <a:rPr lang="en-US" altLang="zh-CN" sz="2400" dirty="0">
                <a:latin typeface="宋体" panose="02010600030101010101" pitchFamily="2" charset="-122"/>
                <a:ea typeface="宋体" panose="02010600030101010101" pitchFamily="2" charset="-122"/>
              </a:rPr>
              <a:t>G</a:t>
            </a:r>
            <a:r>
              <a:rPr lang="zh-CN" altLang="en-US" sz="2400" dirty="0">
                <a:latin typeface="宋体" panose="02010600030101010101" pitchFamily="2" charset="-122"/>
                <a:ea typeface="宋体" panose="02010600030101010101" pitchFamily="2" charset="-122"/>
              </a:rPr>
              <a:t>，计算终结符</a:t>
            </a:r>
            <a:r>
              <a:rPr lang="en-US" altLang="zh-CN" sz="2400" dirty="0">
                <a:latin typeface="宋体" panose="02010600030101010101" pitchFamily="2" charset="-122"/>
                <a:ea typeface="宋体" panose="02010600030101010101" pitchFamily="2" charset="-122"/>
              </a:rPr>
              <a:t>+</a:t>
            </a:r>
            <a:r>
              <a:rPr lang="zh-CN" altLang="en-US" sz="2400" dirty="0">
                <a:latin typeface="宋体" panose="02010600030101010101" pitchFamily="2" charset="-122"/>
                <a:ea typeface="宋体" panose="02010600030101010101" pitchFamily="2" charset="-122"/>
              </a:rPr>
              <a:t>，*，</a:t>
            </a:r>
            <a:r>
              <a:rPr lang="zh-CN" altLang="en-US" sz="2400" dirty="0">
                <a:latin typeface="宋体" panose="02010600030101010101" pitchFamily="2" charset="-122"/>
                <a:ea typeface="宋体" panose="02010600030101010101" pitchFamily="2" charset="-122"/>
                <a:sym typeface="Symbol" pitchFamily="18" charset="2"/>
              </a:rPr>
              <a:t>和 </a:t>
            </a:r>
            <a:r>
              <a:rPr lang="en-US" altLang="zh-CN" sz="2400" dirty="0">
                <a:latin typeface="宋体" panose="02010600030101010101" pitchFamily="2" charset="-122"/>
                <a:ea typeface="宋体" panose="02010600030101010101" pitchFamily="2" charset="-122"/>
                <a:sym typeface="Symbol" pitchFamily="18" charset="2"/>
              </a:rPr>
              <a:t>)</a:t>
            </a:r>
            <a:r>
              <a:rPr lang="zh-CN" altLang="en-US" sz="2400" dirty="0">
                <a:latin typeface="宋体" panose="02010600030101010101" pitchFamily="2" charset="-122"/>
                <a:ea typeface="宋体" panose="02010600030101010101" pitchFamily="2" charset="-122"/>
              </a:rPr>
              <a:t>之间的优先关系：</a:t>
            </a:r>
          </a:p>
        </p:txBody>
      </p:sp>
      <p:sp>
        <p:nvSpPr>
          <p:cNvPr id="144388" name="Text Box 4"/>
          <p:cNvSpPr txBox="1">
            <a:spLocks noChangeArrowheads="1"/>
          </p:cNvSpPr>
          <p:nvPr/>
        </p:nvSpPr>
        <p:spPr bwMode="auto">
          <a:xfrm>
            <a:off x="6826250" y="131763"/>
            <a:ext cx="2095500" cy="2074862"/>
          </a:xfrm>
          <a:prstGeom prst="rect">
            <a:avLst/>
          </a:prstGeom>
          <a:solidFill>
            <a:schemeClr val="bg1"/>
          </a:solidFill>
          <a:ln w="28575">
            <a:solidFill>
              <a:srgbClr val="0000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2800" dirty="0">
                <a:solidFill>
                  <a:schemeClr val="accent2"/>
                </a:solidFill>
                <a:ea typeface="华文行楷" pitchFamily="2" charset="-122"/>
              </a:rPr>
              <a:t>E</a:t>
            </a:r>
            <a:r>
              <a:rPr lang="en-US" altLang="zh-CN" sz="2800" dirty="0">
                <a:solidFill>
                  <a:schemeClr val="accent2"/>
                </a:solidFill>
                <a:ea typeface="华文行楷" pitchFamily="2" charset="-122"/>
                <a:sym typeface="Wingdings" pitchFamily="2" charset="2"/>
              </a:rPr>
              <a:t>E + T </a:t>
            </a:r>
          </a:p>
          <a:p>
            <a:pPr algn="ctr" eaLnBrk="1" hangingPunct="1">
              <a:buFontTx/>
              <a:buNone/>
            </a:pPr>
            <a:r>
              <a:rPr lang="en-US" altLang="zh-CN" sz="2800" dirty="0">
                <a:solidFill>
                  <a:schemeClr val="accent2"/>
                </a:solidFill>
                <a:ea typeface="华文行楷" pitchFamily="2" charset="-122"/>
                <a:sym typeface="Wingdings" pitchFamily="2" charset="2"/>
              </a:rPr>
              <a:t>TT * F </a:t>
            </a:r>
          </a:p>
          <a:p>
            <a:pPr algn="ctr" eaLnBrk="1" hangingPunct="1">
              <a:buFontTx/>
              <a:buNone/>
            </a:pPr>
            <a:r>
              <a:rPr lang="en-US" altLang="zh-CN" sz="2800" dirty="0">
                <a:solidFill>
                  <a:schemeClr val="accent2"/>
                </a:solidFill>
                <a:ea typeface="华文行楷" pitchFamily="2" charset="-122"/>
                <a:sym typeface="Wingdings" pitchFamily="2" charset="2"/>
              </a:rPr>
              <a:t>FP </a:t>
            </a:r>
            <a:r>
              <a:rPr lang="en-US" altLang="zh-CN" sz="2800" dirty="0">
                <a:solidFill>
                  <a:schemeClr val="accent2"/>
                </a:solidFill>
                <a:ea typeface="华文行楷" pitchFamily="2" charset="-122"/>
                <a:sym typeface="Symbol" pitchFamily="18" charset="2"/>
              </a:rPr>
              <a:t> F</a:t>
            </a:r>
          </a:p>
          <a:p>
            <a:pPr algn="ctr" eaLnBrk="1" hangingPunct="1">
              <a:buFontTx/>
              <a:buNone/>
            </a:pPr>
            <a:r>
              <a:rPr lang="en-US" altLang="zh-CN" sz="2800" dirty="0">
                <a:solidFill>
                  <a:schemeClr val="accent2"/>
                </a:solidFill>
                <a:ea typeface="华文行楷" pitchFamily="2" charset="-122"/>
                <a:sym typeface="Symbol" pitchFamily="18" charset="2"/>
              </a:rPr>
              <a:t>P</a:t>
            </a:r>
            <a:r>
              <a:rPr lang="en-US" altLang="zh-CN" sz="2800" dirty="0">
                <a:solidFill>
                  <a:schemeClr val="accent2"/>
                </a:solidFill>
                <a:ea typeface="华文行楷" pitchFamily="2" charset="-122"/>
                <a:sym typeface="Wingdings" pitchFamily="2" charset="2"/>
              </a:rPr>
              <a:t>(E) </a:t>
            </a:r>
            <a:endParaRPr lang="en-US" altLang="zh-CN" sz="2800" dirty="0">
              <a:solidFill>
                <a:schemeClr val="accent2"/>
              </a:solidFill>
              <a:ea typeface="华文行楷" pitchFamily="2" charset="-122"/>
              <a:sym typeface="Symbol" pitchFamily="18" charset="2"/>
            </a:endParaRPr>
          </a:p>
        </p:txBody>
      </p:sp>
      <p:sp>
        <p:nvSpPr>
          <p:cNvPr id="124933" name="Text Box 5"/>
          <p:cNvSpPr txBox="1">
            <a:spLocks noChangeArrowheads="1"/>
          </p:cNvSpPr>
          <p:nvPr/>
        </p:nvSpPr>
        <p:spPr bwMode="auto">
          <a:xfrm>
            <a:off x="344586" y="1995686"/>
            <a:ext cx="8628063" cy="2800767"/>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solidFill>
                  <a:srgbClr val="0000FF"/>
                </a:solidFill>
                <a:latin typeface="宋体" panose="02010600030101010101" pitchFamily="2" charset="-122"/>
              </a:rPr>
              <a:t>因为： </a:t>
            </a:r>
            <a:r>
              <a:rPr lang="en-US" altLang="zh-CN" sz="2200" dirty="0">
                <a:solidFill>
                  <a:srgbClr val="0000FF"/>
                </a:solidFill>
                <a:latin typeface="宋体" panose="02010600030101010101" pitchFamily="2" charset="-122"/>
              </a:rPr>
              <a:t>E</a:t>
            </a:r>
            <a:r>
              <a:rPr lang="en-US" altLang="zh-CN" sz="2200" dirty="0">
                <a:solidFill>
                  <a:srgbClr val="0000FF"/>
                </a:solidFill>
                <a:latin typeface="宋体" panose="02010600030101010101" pitchFamily="2" charset="-122"/>
                <a:sym typeface="Wingdings" pitchFamily="2" charset="2"/>
              </a:rPr>
              <a:t>E + </a:t>
            </a:r>
            <a:r>
              <a:rPr lang="en-US" altLang="zh-CN" sz="2200" dirty="0">
                <a:solidFill>
                  <a:srgbClr val="FF0066"/>
                </a:solidFill>
                <a:latin typeface="宋体" panose="02010600030101010101" pitchFamily="2" charset="-122"/>
                <a:sym typeface="Wingdings" pitchFamily="2" charset="2"/>
              </a:rPr>
              <a:t>T </a:t>
            </a:r>
            <a:r>
              <a:rPr lang="zh-CN" altLang="en-US" sz="2200" dirty="0">
                <a:solidFill>
                  <a:srgbClr val="0000FF"/>
                </a:solidFill>
                <a:latin typeface="宋体" panose="02010600030101010101" pitchFamily="2" charset="-122"/>
                <a:sym typeface="Wingdings" pitchFamily="2" charset="2"/>
              </a:rPr>
              <a:t>，</a:t>
            </a:r>
            <a:r>
              <a:rPr lang="en-US" altLang="zh-CN" sz="2200" dirty="0">
                <a:solidFill>
                  <a:srgbClr val="0000FF"/>
                </a:solidFill>
                <a:latin typeface="宋体" panose="02010600030101010101" pitchFamily="2" charset="-122"/>
                <a:sym typeface="Wingdings" pitchFamily="2" charset="2"/>
              </a:rPr>
              <a:t>T=&gt;T*F</a:t>
            </a:r>
            <a:r>
              <a:rPr lang="zh-CN" altLang="en-US" sz="2200" dirty="0">
                <a:solidFill>
                  <a:srgbClr val="0000FF"/>
                </a:solidFill>
                <a:latin typeface="宋体" panose="02010600030101010101" pitchFamily="2" charset="-122"/>
                <a:sym typeface="Wingdings" pitchFamily="2" charset="2"/>
              </a:rPr>
              <a:t>，所以：</a:t>
            </a:r>
            <a:r>
              <a:rPr lang="en-US" altLang="zh-CN" sz="2200" dirty="0">
                <a:solidFill>
                  <a:srgbClr val="0000FF"/>
                </a:solidFill>
                <a:latin typeface="宋体" panose="02010600030101010101" pitchFamily="2" charset="-122"/>
                <a:sym typeface="Wingdings" pitchFamily="2" charset="2"/>
              </a:rPr>
              <a:t>+  &lt;   * (</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2)</a:t>
            </a:r>
          </a:p>
          <a:p>
            <a:pPr eaLnBrk="1" hangingPunct="1">
              <a:spcBef>
                <a:spcPts val="0"/>
              </a:spcBef>
              <a:buFontTx/>
              <a:buNone/>
            </a:pPr>
            <a:r>
              <a:rPr lang="zh-CN" altLang="en-US" sz="2200" dirty="0">
                <a:solidFill>
                  <a:srgbClr val="0000FF"/>
                </a:solidFill>
                <a:latin typeface="宋体" panose="02010600030101010101" pitchFamily="2" charset="-122"/>
              </a:rPr>
              <a:t>因为： </a:t>
            </a:r>
            <a:r>
              <a:rPr lang="en-US" altLang="zh-CN" sz="2200" dirty="0">
                <a:solidFill>
                  <a:srgbClr val="0000FF"/>
                </a:solidFill>
                <a:latin typeface="宋体" panose="02010600030101010101" pitchFamily="2" charset="-122"/>
              </a:rPr>
              <a:t>E</a:t>
            </a:r>
            <a:r>
              <a:rPr lang="en-US" altLang="zh-CN" sz="2200" dirty="0">
                <a:solidFill>
                  <a:srgbClr val="0000FF"/>
                </a:solidFill>
                <a:latin typeface="宋体" panose="02010600030101010101" pitchFamily="2" charset="-122"/>
                <a:sym typeface="Wingdings" pitchFamily="2" charset="2"/>
              </a:rPr>
              <a:t></a:t>
            </a:r>
            <a:r>
              <a:rPr lang="en-US" altLang="zh-CN" sz="2200" dirty="0">
                <a:solidFill>
                  <a:srgbClr val="FF0066"/>
                </a:solidFill>
                <a:latin typeface="宋体" panose="02010600030101010101" pitchFamily="2" charset="-122"/>
                <a:sym typeface="Wingdings" pitchFamily="2" charset="2"/>
              </a:rPr>
              <a:t>E</a:t>
            </a:r>
            <a:r>
              <a:rPr lang="en-US" altLang="zh-CN" sz="2200" dirty="0">
                <a:solidFill>
                  <a:srgbClr val="0000FF"/>
                </a:solidFill>
                <a:latin typeface="宋体" panose="02010600030101010101" pitchFamily="2" charset="-122"/>
                <a:sym typeface="Wingdings" pitchFamily="2" charset="2"/>
              </a:rPr>
              <a:t> + T </a:t>
            </a:r>
            <a:r>
              <a:rPr lang="zh-CN" altLang="en-US" sz="2200" dirty="0">
                <a:solidFill>
                  <a:srgbClr val="0000FF"/>
                </a:solidFill>
                <a:latin typeface="宋体" panose="02010600030101010101" pitchFamily="2" charset="-122"/>
                <a:sym typeface="Wingdings" pitchFamily="2" charset="2"/>
              </a:rPr>
              <a:t>， </a:t>
            </a:r>
            <a:r>
              <a:rPr lang="en-US" altLang="zh-CN" sz="2200" dirty="0">
                <a:solidFill>
                  <a:srgbClr val="0000FF"/>
                </a:solidFill>
                <a:latin typeface="宋体" panose="02010600030101010101" pitchFamily="2" charset="-122"/>
              </a:rPr>
              <a:t>E </a:t>
            </a:r>
            <a:r>
              <a:rPr lang="en-US" altLang="zh-CN" sz="2200" dirty="0">
                <a:solidFill>
                  <a:srgbClr val="0000FF"/>
                </a:solidFill>
                <a:latin typeface="宋体" panose="02010600030101010101" pitchFamily="2" charset="-122"/>
                <a:sym typeface="Wingdings" pitchFamily="2" charset="2"/>
              </a:rPr>
              <a:t>=&gt;</a:t>
            </a:r>
            <a:r>
              <a:rPr lang="en-US" altLang="zh-CN" sz="2200" dirty="0">
                <a:solidFill>
                  <a:srgbClr val="0000FF"/>
                </a:solidFill>
                <a:latin typeface="宋体" panose="02010600030101010101" pitchFamily="2" charset="-122"/>
              </a:rPr>
              <a:t> </a:t>
            </a:r>
            <a:r>
              <a:rPr lang="en-US" altLang="zh-CN" sz="2200" dirty="0">
                <a:solidFill>
                  <a:srgbClr val="0000FF"/>
                </a:solidFill>
                <a:latin typeface="宋体" panose="02010600030101010101" pitchFamily="2" charset="-122"/>
                <a:sym typeface="Wingdings" pitchFamily="2" charset="2"/>
              </a:rPr>
              <a:t>E + T </a:t>
            </a:r>
            <a:r>
              <a:rPr lang="zh-CN" altLang="en-US" sz="2200" dirty="0">
                <a:solidFill>
                  <a:srgbClr val="0000FF"/>
                </a:solidFill>
                <a:latin typeface="宋体" panose="02010600030101010101" pitchFamily="2" charset="-122"/>
                <a:sym typeface="Wingdings" pitchFamily="2" charset="2"/>
              </a:rPr>
              <a:t>，所以：</a:t>
            </a:r>
            <a:r>
              <a:rPr lang="en-US" altLang="zh-CN" sz="2200" dirty="0">
                <a:solidFill>
                  <a:srgbClr val="0000FF"/>
                </a:solidFill>
                <a:latin typeface="宋体" panose="02010600030101010101" pitchFamily="2" charset="-122"/>
                <a:sym typeface="Wingdings" pitchFamily="2" charset="2"/>
              </a:rPr>
              <a:t>+ &gt;  + (</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3)</a:t>
            </a:r>
          </a:p>
          <a:p>
            <a:pPr eaLnBrk="1" hangingPunct="1">
              <a:spcBef>
                <a:spcPts val="0"/>
              </a:spcBef>
              <a:buFontTx/>
              <a:buNone/>
            </a:pPr>
            <a:r>
              <a:rPr lang="zh-CN" altLang="en-US" sz="2200" dirty="0">
                <a:solidFill>
                  <a:srgbClr val="0000FF"/>
                </a:solidFill>
                <a:latin typeface="宋体" panose="02010600030101010101" pitchFamily="2" charset="-122"/>
              </a:rPr>
              <a:t>因为： </a:t>
            </a:r>
            <a:r>
              <a:rPr lang="en-US" altLang="zh-CN" sz="2200" dirty="0">
                <a:solidFill>
                  <a:srgbClr val="0000FF"/>
                </a:solidFill>
                <a:latin typeface="宋体" panose="02010600030101010101" pitchFamily="2" charset="-122"/>
                <a:sym typeface="Wingdings" pitchFamily="2" charset="2"/>
              </a:rPr>
              <a:t>T T * </a:t>
            </a:r>
            <a:r>
              <a:rPr lang="en-US" altLang="zh-CN" sz="2200" dirty="0">
                <a:solidFill>
                  <a:srgbClr val="FF0066"/>
                </a:solidFill>
                <a:latin typeface="宋体" panose="02010600030101010101" pitchFamily="2" charset="-122"/>
                <a:sym typeface="Wingdings" pitchFamily="2" charset="2"/>
              </a:rPr>
              <a:t>F</a:t>
            </a:r>
            <a:r>
              <a:rPr lang="en-US" altLang="zh-CN" sz="2200" dirty="0">
                <a:solidFill>
                  <a:srgbClr val="0000FF"/>
                </a:solidFill>
                <a:latin typeface="宋体" panose="02010600030101010101" pitchFamily="2" charset="-122"/>
              </a:rPr>
              <a:t> </a:t>
            </a:r>
            <a:r>
              <a:rPr lang="zh-CN" altLang="en-US" sz="2200" dirty="0">
                <a:solidFill>
                  <a:srgbClr val="0000FF"/>
                </a:solidFill>
                <a:latin typeface="宋体" panose="02010600030101010101" pitchFamily="2" charset="-122"/>
                <a:sym typeface="Wingdings" pitchFamily="2" charset="2"/>
              </a:rPr>
              <a:t>，</a:t>
            </a:r>
            <a:r>
              <a:rPr lang="en-US" altLang="zh-CN" sz="2200" dirty="0">
                <a:solidFill>
                  <a:srgbClr val="0000FF"/>
                </a:solidFill>
                <a:latin typeface="宋体" panose="02010600030101010101" pitchFamily="2" charset="-122"/>
                <a:sym typeface="Wingdings" pitchFamily="2" charset="2"/>
              </a:rPr>
              <a:t>F =&gt; P </a:t>
            </a:r>
            <a:r>
              <a:rPr lang="en-US" altLang="zh-CN" sz="2200" dirty="0">
                <a:solidFill>
                  <a:srgbClr val="0000FF"/>
                </a:solidFill>
                <a:latin typeface="宋体" panose="02010600030101010101" pitchFamily="2" charset="-122"/>
                <a:sym typeface="Symbol" pitchFamily="18" charset="2"/>
              </a:rPr>
              <a:t> F</a:t>
            </a:r>
            <a:r>
              <a:rPr lang="zh-CN" altLang="en-US" sz="2200" dirty="0">
                <a:solidFill>
                  <a:srgbClr val="0000FF"/>
                </a:solidFill>
                <a:latin typeface="宋体" panose="02010600030101010101" pitchFamily="2" charset="-122"/>
                <a:sym typeface="Wingdings" pitchFamily="2" charset="2"/>
              </a:rPr>
              <a:t>，所以：*  </a:t>
            </a:r>
            <a:r>
              <a:rPr lang="en-US" altLang="zh-CN" sz="2200" dirty="0">
                <a:solidFill>
                  <a:srgbClr val="0000FF"/>
                </a:solidFill>
                <a:latin typeface="宋体" panose="02010600030101010101" pitchFamily="2" charset="-122"/>
                <a:sym typeface="Wingdings" pitchFamily="2" charset="2"/>
              </a:rPr>
              <a:t>&lt; </a:t>
            </a:r>
            <a:r>
              <a:rPr lang="en-US" altLang="zh-CN" sz="2200" dirty="0">
                <a:solidFill>
                  <a:srgbClr val="0000FF"/>
                </a:solidFill>
                <a:latin typeface="宋体" panose="02010600030101010101" pitchFamily="2" charset="-122"/>
                <a:sym typeface="Symbol" pitchFamily="18" charset="2"/>
              </a:rPr>
              <a:t> </a:t>
            </a:r>
            <a:r>
              <a:rPr lang="en-US" altLang="zh-CN" sz="2200" dirty="0">
                <a:solidFill>
                  <a:srgbClr val="0000FF"/>
                </a:solidFill>
                <a:latin typeface="宋体" panose="02010600030101010101" pitchFamily="2" charset="-122"/>
                <a:sym typeface="Wingdings" pitchFamily="2" charset="2"/>
              </a:rPr>
              <a:t>(</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2)</a:t>
            </a:r>
            <a:r>
              <a:rPr lang="en-US" altLang="zh-CN" sz="2200" dirty="0">
                <a:solidFill>
                  <a:srgbClr val="0000FF"/>
                </a:solidFill>
                <a:latin typeface="宋体" panose="02010600030101010101" pitchFamily="2" charset="-122"/>
                <a:sym typeface="Symbol" pitchFamily="18" charset="2"/>
              </a:rPr>
              <a:t> </a:t>
            </a:r>
          </a:p>
          <a:p>
            <a:pPr eaLnBrk="1" hangingPunct="1">
              <a:spcBef>
                <a:spcPts val="0"/>
              </a:spcBef>
              <a:buFontTx/>
              <a:buNone/>
            </a:pPr>
            <a:r>
              <a:rPr lang="zh-CN" altLang="en-US" sz="2200" dirty="0">
                <a:solidFill>
                  <a:srgbClr val="0000FF"/>
                </a:solidFill>
                <a:latin typeface="宋体" panose="02010600030101010101" pitchFamily="2" charset="-122"/>
              </a:rPr>
              <a:t>因为： </a:t>
            </a:r>
            <a:r>
              <a:rPr lang="en-US" altLang="zh-CN" sz="2200" dirty="0">
                <a:solidFill>
                  <a:srgbClr val="0000FF"/>
                </a:solidFill>
                <a:latin typeface="宋体" panose="02010600030101010101" pitchFamily="2" charset="-122"/>
                <a:sym typeface="Wingdings" pitchFamily="2" charset="2"/>
              </a:rPr>
              <a:t>T </a:t>
            </a:r>
            <a:r>
              <a:rPr lang="en-US" altLang="zh-CN" sz="2200" dirty="0">
                <a:solidFill>
                  <a:srgbClr val="FF0066"/>
                </a:solidFill>
                <a:latin typeface="宋体" panose="02010600030101010101" pitchFamily="2" charset="-122"/>
                <a:sym typeface="Wingdings" pitchFamily="2" charset="2"/>
              </a:rPr>
              <a:t>T</a:t>
            </a:r>
            <a:r>
              <a:rPr lang="en-US" altLang="zh-CN" sz="2200" dirty="0">
                <a:solidFill>
                  <a:srgbClr val="0000FF"/>
                </a:solidFill>
                <a:latin typeface="宋体" panose="02010600030101010101" pitchFamily="2" charset="-122"/>
                <a:sym typeface="Wingdings" pitchFamily="2" charset="2"/>
              </a:rPr>
              <a:t> * F</a:t>
            </a:r>
            <a:r>
              <a:rPr lang="en-US" altLang="zh-CN" sz="2200" dirty="0">
                <a:solidFill>
                  <a:srgbClr val="0000FF"/>
                </a:solidFill>
                <a:latin typeface="宋体" panose="02010600030101010101" pitchFamily="2" charset="-122"/>
              </a:rPr>
              <a:t> </a:t>
            </a:r>
            <a:r>
              <a:rPr lang="zh-CN" altLang="en-US" sz="2200" dirty="0">
                <a:solidFill>
                  <a:srgbClr val="0000FF"/>
                </a:solidFill>
                <a:latin typeface="宋体" panose="02010600030101010101" pitchFamily="2" charset="-122"/>
                <a:sym typeface="Wingdings" pitchFamily="2" charset="2"/>
              </a:rPr>
              <a:t>， </a:t>
            </a:r>
            <a:r>
              <a:rPr lang="en-US" altLang="zh-CN" sz="2200" dirty="0">
                <a:solidFill>
                  <a:srgbClr val="0000FF"/>
                </a:solidFill>
                <a:latin typeface="宋体" panose="02010600030101010101" pitchFamily="2" charset="-122"/>
                <a:sym typeface="Wingdings" pitchFamily="2" charset="2"/>
              </a:rPr>
              <a:t>T =&gt; T * F</a:t>
            </a:r>
            <a:r>
              <a:rPr lang="zh-CN" altLang="en-US" sz="2200" dirty="0">
                <a:solidFill>
                  <a:srgbClr val="0000FF"/>
                </a:solidFill>
                <a:latin typeface="宋体" panose="02010600030101010101" pitchFamily="2" charset="-122"/>
                <a:sym typeface="Wingdings" pitchFamily="2" charset="2"/>
              </a:rPr>
              <a:t>，所以：*  </a:t>
            </a:r>
            <a:r>
              <a:rPr lang="en-US" altLang="zh-CN" sz="2200" dirty="0">
                <a:solidFill>
                  <a:srgbClr val="0000FF"/>
                </a:solidFill>
                <a:latin typeface="宋体" panose="02010600030101010101" pitchFamily="2" charset="-122"/>
                <a:sym typeface="Wingdings" pitchFamily="2" charset="2"/>
              </a:rPr>
              <a:t>&gt; *</a:t>
            </a:r>
            <a:r>
              <a:rPr lang="en-US" altLang="zh-CN" sz="2200" dirty="0">
                <a:solidFill>
                  <a:srgbClr val="0000FF"/>
                </a:solidFill>
                <a:latin typeface="宋体" panose="02010600030101010101" pitchFamily="2" charset="-122"/>
                <a:sym typeface="Symbol" pitchFamily="18" charset="2"/>
              </a:rPr>
              <a:t> </a:t>
            </a:r>
            <a:r>
              <a:rPr lang="en-US" altLang="zh-CN" sz="2200" dirty="0">
                <a:solidFill>
                  <a:srgbClr val="0000FF"/>
                </a:solidFill>
                <a:latin typeface="宋体" panose="02010600030101010101" pitchFamily="2" charset="-122"/>
                <a:sym typeface="Wingdings" pitchFamily="2" charset="2"/>
              </a:rPr>
              <a:t>(</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3)</a:t>
            </a:r>
          </a:p>
          <a:p>
            <a:pPr eaLnBrk="1" hangingPunct="1">
              <a:spcBef>
                <a:spcPts val="0"/>
              </a:spcBef>
              <a:buFontTx/>
              <a:buNone/>
            </a:pPr>
            <a:r>
              <a:rPr lang="zh-CN" altLang="en-US" sz="2200" dirty="0">
                <a:solidFill>
                  <a:srgbClr val="0000FF"/>
                </a:solidFill>
                <a:latin typeface="宋体" panose="02010600030101010101" pitchFamily="2" charset="-122"/>
              </a:rPr>
              <a:t>因为： </a:t>
            </a:r>
            <a:r>
              <a:rPr lang="en-US" altLang="zh-CN" sz="2200" dirty="0">
                <a:solidFill>
                  <a:srgbClr val="0000FF"/>
                </a:solidFill>
                <a:latin typeface="宋体" panose="02010600030101010101" pitchFamily="2" charset="-122"/>
                <a:sym typeface="Symbol" pitchFamily="18" charset="2"/>
              </a:rPr>
              <a:t>P</a:t>
            </a:r>
            <a:r>
              <a:rPr lang="en-US" altLang="zh-CN" sz="2200" dirty="0">
                <a:solidFill>
                  <a:srgbClr val="0000FF"/>
                </a:solidFill>
                <a:latin typeface="宋体" panose="02010600030101010101" pitchFamily="2" charset="-122"/>
                <a:sym typeface="Wingdings" pitchFamily="2" charset="2"/>
              </a:rPr>
              <a:t>(</a:t>
            </a:r>
            <a:r>
              <a:rPr lang="en-US" altLang="zh-CN" sz="2200" dirty="0">
                <a:solidFill>
                  <a:srgbClr val="FF0066"/>
                </a:solidFill>
                <a:latin typeface="宋体" panose="02010600030101010101" pitchFamily="2" charset="-122"/>
                <a:sym typeface="Wingdings" pitchFamily="2" charset="2"/>
              </a:rPr>
              <a:t>E</a:t>
            </a:r>
            <a:r>
              <a:rPr lang="en-US" altLang="zh-CN" sz="2200" dirty="0">
                <a:solidFill>
                  <a:srgbClr val="0000FF"/>
                </a:solidFill>
                <a:latin typeface="宋体" panose="02010600030101010101" pitchFamily="2" charset="-122"/>
                <a:sym typeface="Wingdings" pitchFamily="2" charset="2"/>
              </a:rPr>
              <a:t>) </a:t>
            </a:r>
            <a:r>
              <a:rPr lang="zh-CN" altLang="en-US" sz="2200" dirty="0">
                <a:solidFill>
                  <a:srgbClr val="0000FF"/>
                </a:solidFill>
                <a:latin typeface="宋体" panose="02010600030101010101" pitchFamily="2" charset="-122"/>
                <a:sym typeface="Wingdings" pitchFamily="2" charset="2"/>
              </a:rPr>
              <a:t>， </a:t>
            </a:r>
            <a:r>
              <a:rPr lang="en-US" altLang="zh-CN" sz="2200" dirty="0">
                <a:solidFill>
                  <a:srgbClr val="0000FF"/>
                </a:solidFill>
                <a:latin typeface="宋体" panose="02010600030101010101" pitchFamily="2" charset="-122"/>
              </a:rPr>
              <a:t>E </a:t>
            </a:r>
            <a:r>
              <a:rPr lang="en-US" altLang="zh-CN" sz="2200" dirty="0">
                <a:solidFill>
                  <a:srgbClr val="0000FF"/>
                </a:solidFill>
                <a:latin typeface="宋体" panose="02010600030101010101" pitchFamily="2" charset="-122"/>
                <a:sym typeface="Wingdings" pitchFamily="2" charset="2"/>
              </a:rPr>
              <a:t>=&gt; E + T </a:t>
            </a:r>
            <a:r>
              <a:rPr lang="zh-CN" altLang="en-US" sz="2200" dirty="0">
                <a:solidFill>
                  <a:srgbClr val="0000FF"/>
                </a:solidFill>
                <a:latin typeface="宋体" panose="02010600030101010101" pitchFamily="2" charset="-122"/>
                <a:sym typeface="Wingdings" pitchFamily="2" charset="2"/>
              </a:rPr>
              <a:t>，所以：</a:t>
            </a:r>
            <a:r>
              <a:rPr lang="en-US" altLang="zh-CN" sz="2200" dirty="0">
                <a:solidFill>
                  <a:srgbClr val="0000FF"/>
                </a:solidFill>
                <a:latin typeface="宋体" panose="02010600030101010101" pitchFamily="2" charset="-122"/>
                <a:sym typeface="Wingdings" pitchFamily="2" charset="2"/>
              </a:rPr>
              <a:t>+  &gt;  ) (</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3)</a:t>
            </a:r>
            <a:r>
              <a:rPr lang="en-US" altLang="zh-CN" sz="2200" dirty="0">
                <a:solidFill>
                  <a:srgbClr val="0000FF"/>
                </a:solidFill>
                <a:latin typeface="宋体" panose="02010600030101010101" pitchFamily="2" charset="-122"/>
                <a:sym typeface="Symbol" pitchFamily="18" charset="2"/>
              </a:rPr>
              <a:t> </a:t>
            </a:r>
          </a:p>
          <a:p>
            <a:pPr eaLnBrk="1" hangingPunct="1">
              <a:spcBef>
                <a:spcPts val="0"/>
              </a:spcBef>
              <a:buFontTx/>
              <a:buNone/>
            </a:pPr>
            <a:r>
              <a:rPr lang="zh-CN" altLang="en-US" sz="2200" dirty="0">
                <a:solidFill>
                  <a:srgbClr val="0000FF"/>
                </a:solidFill>
                <a:latin typeface="宋体" panose="02010600030101010101" pitchFamily="2" charset="-122"/>
                <a:sym typeface="Wingdings" pitchFamily="2" charset="2"/>
              </a:rPr>
              <a:t>因为：</a:t>
            </a:r>
            <a:r>
              <a:rPr lang="en-US" altLang="zh-CN" sz="2200" dirty="0">
                <a:solidFill>
                  <a:srgbClr val="0000FF"/>
                </a:solidFill>
                <a:latin typeface="宋体" panose="02010600030101010101" pitchFamily="2" charset="-122"/>
                <a:sym typeface="Wingdings" pitchFamily="2" charset="2"/>
              </a:rPr>
              <a:t>F</a:t>
            </a:r>
            <a:r>
              <a:rPr lang="en-US" altLang="zh-CN" sz="2200" dirty="0">
                <a:solidFill>
                  <a:srgbClr val="FF0066"/>
                </a:solidFill>
                <a:latin typeface="宋体" panose="02010600030101010101" pitchFamily="2" charset="-122"/>
                <a:sym typeface="Wingdings" pitchFamily="2" charset="2"/>
              </a:rPr>
              <a:t>P</a:t>
            </a:r>
            <a:r>
              <a:rPr lang="en-US" altLang="zh-CN" sz="2200" dirty="0">
                <a:solidFill>
                  <a:srgbClr val="0000FF"/>
                </a:solidFill>
                <a:latin typeface="宋体" panose="02010600030101010101" pitchFamily="2" charset="-122"/>
                <a:sym typeface="Wingdings" pitchFamily="2" charset="2"/>
              </a:rPr>
              <a:t> </a:t>
            </a:r>
            <a:r>
              <a:rPr lang="en-US" altLang="zh-CN" sz="2200" dirty="0">
                <a:solidFill>
                  <a:srgbClr val="0000FF"/>
                </a:solidFill>
                <a:latin typeface="宋体" panose="02010600030101010101" pitchFamily="2" charset="-122"/>
                <a:sym typeface="Symbol" pitchFamily="18" charset="2"/>
              </a:rPr>
              <a:t> F, P </a:t>
            </a:r>
            <a:r>
              <a:rPr lang="en-US" altLang="zh-CN" sz="2200" dirty="0">
                <a:solidFill>
                  <a:srgbClr val="0000FF"/>
                </a:solidFill>
                <a:latin typeface="宋体" panose="02010600030101010101" pitchFamily="2" charset="-122"/>
                <a:sym typeface="Wingdings" pitchFamily="2" charset="2"/>
              </a:rPr>
              <a:t>=&gt; (E)</a:t>
            </a:r>
            <a:r>
              <a:rPr lang="zh-CN" altLang="en-US" sz="2200" dirty="0">
                <a:solidFill>
                  <a:srgbClr val="0000FF"/>
                </a:solidFill>
                <a:latin typeface="宋体" panose="02010600030101010101" pitchFamily="2" charset="-122"/>
                <a:sym typeface="Wingdings" pitchFamily="2" charset="2"/>
              </a:rPr>
              <a:t>，所以：） </a:t>
            </a:r>
            <a:r>
              <a:rPr lang="en-US" altLang="zh-CN" sz="2200" dirty="0">
                <a:solidFill>
                  <a:srgbClr val="0000FF"/>
                </a:solidFill>
                <a:latin typeface="宋体" panose="02010600030101010101" pitchFamily="2" charset="-122"/>
                <a:sym typeface="Wingdings" pitchFamily="2" charset="2"/>
              </a:rPr>
              <a:t>&gt;  </a:t>
            </a:r>
            <a:r>
              <a:rPr lang="en-US" altLang="zh-CN" sz="2200" dirty="0">
                <a:solidFill>
                  <a:srgbClr val="0000FF"/>
                </a:solidFill>
                <a:latin typeface="宋体" panose="02010600030101010101" pitchFamily="2" charset="-122"/>
                <a:sym typeface="Symbol" pitchFamily="18" charset="2"/>
              </a:rPr>
              <a:t>     </a:t>
            </a:r>
            <a:r>
              <a:rPr lang="en-US" altLang="zh-CN" sz="2200" dirty="0">
                <a:solidFill>
                  <a:srgbClr val="0000FF"/>
                </a:solidFill>
                <a:latin typeface="宋体" panose="02010600030101010101" pitchFamily="2" charset="-122"/>
                <a:sym typeface="Wingdings" pitchFamily="2" charset="2"/>
              </a:rPr>
              <a:t>(</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3)</a:t>
            </a:r>
            <a:r>
              <a:rPr lang="en-US" altLang="zh-CN" sz="2200" dirty="0">
                <a:solidFill>
                  <a:srgbClr val="0000FF"/>
                </a:solidFill>
                <a:latin typeface="宋体" panose="02010600030101010101" pitchFamily="2" charset="-122"/>
                <a:sym typeface="Symbol" pitchFamily="18" charset="2"/>
              </a:rPr>
              <a:t> </a:t>
            </a:r>
          </a:p>
          <a:p>
            <a:pPr eaLnBrk="1" hangingPunct="1">
              <a:spcBef>
                <a:spcPts val="0"/>
              </a:spcBef>
              <a:buFontTx/>
              <a:buNone/>
            </a:pPr>
            <a:r>
              <a:rPr lang="zh-CN" altLang="en-US" sz="2200" dirty="0">
                <a:solidFill>
                  <a:srgbClr val="0000FF"/>
                </a:solidFill>
                <a:latin typeface="宋体" panose="02010600030101010101" pitchFamily="2" charset="-122"/>
                <a:sym typeface="Wingdings" pitchFamily="2" charset="2"/>
              </a:rPr>
              <a:t>因为： </a:t>
            </a:r>
            <a:r>
              <a:rPr lang="en-US" altLang="zh-CN" sz="2200" dirty="0">
                <a:solidFill>
                  <a:srgbClr val="0000FF"/>
                </a:solidFill>
                <a:latin typeface="宋体" panose="02010600030101010101" pitchFamily="2" charset="-122"/>
                <a:sym typeface="Wingdings" pitchFamily="2" charset="2"/>
              </a:rPr>
              <a:t>FP </a:t>
            </a:r>
            <a:r>
              <a:rPr lang="en-US" altLang="zh-CN" sz="2200" dirty="0">
                <a:solidFill>
                  <a:srgbClr val="0000FF"/>
                </a:solidFill>
                <a:latin typeface="宋体" panose="02010600030101010101" pitchFamily="2" charset="-122"/>
                <a:sym typeface="Symbol" pitchFamily="18" charset="2"/>
              </a:rPr>
              <a:t> </a:t>
            </a:r>
            <a:r>
              <a:rPr lang="en-US" altLang="zh-CN" sz="2200" dirty="0">
                <a:solidFill>
                  <a:srgbClr val="FF0066"/>
                </a:solidFill>
                <a:latin typeface="宋体" panose="02010600030101010101" pitchFamily="2" charset="-122"/>
                <a:sym typeface="Symbol" pitchFamily="18" charset="2"/>
              </a:rPr>
              <a:t>F</a:t>
            </a:r>
            <a:r>
              <a:rPr lang="zh-CN" altLang="en-US" sz="2200" dirty="0">
                <a:solidFill>
                  <a:srgbClr val="0000FF"/>
                </a:solidFill>
                <a:latin typeface="宋体" panose="02010600030101010101" pitchFamily="2" charset="-122"/>
                <a:sym typeface="Symbol" pitchFamily="18" charset="2"/>
              </a:rPr>
              <a:t>， </a:t>
            </a:r>
            <a:r>
              <a:rPr lang="en-US" altLang="zh-CN" sz="2200" dirty="0">
                <a:solidFill>
                  <a:srgbClr val="0000FF"/>
                </a:solidFill>
                <a:latin typeface="宋体" panose="02010600030101010101" pitchFamily="2" charset="-122"/>
                <a:sym typeface="Wingdings" pitchFamily="2" charset="2"/>
              </a:rPr>
              <a:t>F =&gt;P </a:t>
            </a:r>
            <a:r>
              <a:rPr lang="en-US" altLang="zh-CN" sz="2200" dirty="0">
                <a:solidFill>
                  <a:srgbClr val="0000FF"/>
                </a:solidFill>
                <a:latin typeface="宋体" panose="02010600030101010101" pitchFamily="2" charset="-122"/>
                <a:sym typeface="Symbol" pitchFamily="18" charset="2"/>
              </a:rPr>
              <a:t> F</a:t>
            </a:r>
            <a:r>
              <a:rPr lang="zh-CN" altLang="en-US" sz="2200" dirty="0">
                <a:solidFill>
                  <a:srgbClr val="0000FF"/>
                </a:solidFill>
                <a:latin typeface="宋体" panose="02010600030101010101" pitchFamily="2" charset="-122"/>
                <a:sym typeface="Symbol" pitchFamily="18" charset="2"/>
              </a:rPr>
              <a:t>，</a:t>
            </a:r>
            <a:r>
              <a:rPr lang="zh-CN" altLang="en-US" sz="2200" dirty="0">
                <a:solidFill>
                  <a:srgbClr val="0000FF"/>
                </a:solidFill>
                <a:latin typeface="宋体" panose="02010600030101010101" pitchFamily="2" charset="-122"/>
                <a:sym typeface="Wingdings" pitchFamily="2" charset="2"/>
              </a:rPr>
              <a:t>所以： </a:t>
            </a:r>
            <a:r>
              <a:rPr lang="zh-CN" altLang="en-US" sz="2200" dirty="0">
                <a:solidFill>
                  <a:srgbClr val="0000FF"/>
                </a:solidFill>
                <a:latin typeface="宋体" panose="02010600030101010101" pitchFamily="2" charset="-122"/>
                <a:sym typeface="Symbol" pitchFamily="18" charset="2"/>
              </a:rPr>
              <a:t></a:t>
            </a:r>
            <a:r>
              <a:rPr lang="zh-CN" altLang="en-US" sz="2200" dirty="0">
                <a:solidFill>
                  <a:srgbClr val="0000FF"/>
                </a:solidFill>
                <a:latin typeface="宋体" panose="02010600030101010101" pitchFamily="2" charset="-122"/>
                <a:sym typeface="Wingdings" pitchFamily="2" charset="2"/>
              </a:rPr>
              <a:t> </a:t>
            </a:r>
            <a:r>
              <a:rPr lang="en-US" altLang="zh-CN" sz="2200" dirty="0">
                <a:solidFill>
                  <a:srgbClr val="0000FF"/>
                </a:solidFill>
                <a:latin typeface="宋体" panose="02010600030101010101" pitchFamily="2" charset="-122"/>
                <a:sym typeface="Wingdings" pitchFamily="2" charset="2"/>
              </a:rPr>
              <a:t>&lt;  </a:t>
            </a:r>
            <a:r>
              <a:rPr lang="en-US" altLang="zh-CN" sz="2200" dirty="0">
                <a:solidFill>
                  <a:srgbClr val="0000FF"/>
                </a:solidFill>
                <a:latin typeface="宋体" panose="02010600030101010101" pitchFamily="2" charset="-122"/>
                <a:sym typeface="Symbol" pitchFamily="18" charset="2"/>
              </a:rPr>
              <a:t>     </a:t>
            </a:r>
            <a:r>
              <a:rPr lang="en-US" altLang="zh-CN" sz="2200" dirty="0">
                <a:solidFill>
                  <a:srgbClr val="0000FF"/>
                </a:solidFill>
                <a:latin typeface="宋体" panose="02010600030101010101" pitchFamily="2" charset="-122"/>
                <a:sym typeface="Wingdings" pitchFamily="2" charset="2"/>
              </a:rPr>
              <a:t>(</a:t>
            </a:r>
            <a:r>
              <a:rPr lang="zh-CN" altLang="en-US" sz="2200" dirty="0">
                <a:solidFill>
                  <a:srgbClr val="0000FF"/>
                </a:solidFill>
                <a:latin typeface="宋体" panose="02010600030101010101" pitchFamily="2" charset="-122"/>
                <a:sym typeface="Wingdings" pitchFamily="2" charset="2"/>
              </a:rPr>
              <a:t>规则</a:t>
            </a:r>
            <a:r>
              <a:rPr lang="en-US" altLang="zh-CN" sz="2200" dirty="0">
                <a:solidFill>
                  <a:srgbClr val="0000FF"/>
                </a:solidFill>
                <a:latin typeface="宋体" panose="02010600030101010101" pitchFamily="2" charset="-122"/>
                <a:sym typeface="Wingdings" pitchFamily="2" charset="2"/>
              </a:rPr>
              <a:t>2)</a:t>
            </a:r>
            <a:r>
              <a:rPr lang="en-US" altLang="zh-CN" sz="2200" dirty="0">
                <a:solidFill>
                  <a:srgbClr val="0000FF"/>
                </a:solidFill>
                <a:latin typeface="宋体" panose="02010600030101010101" pitchFamily="2" charset="-122"/>
                <a:sym typeface="Symbol" pitchFamily="18" charset="2"/>
              </a:rPr>
              <a:t> </a:t>
            </a:r>
          </a:p>
          <a:p>
            <a:pPr eaLnBrk="1" hangingPunct="1">
              <a:spcBef>
                <a:spcPts val="0"/>
              </a:spcBef>
              <a:buFontTx/>
              <a:buNone/>
            </a:pPr>
            <a:r>
              <a:rPr lang="en-US" altLang="zh-CN" sz="2200" dirty="0">
                <a:solidFill>
                  <a:srgbClr val="0000FF"/>
                </a:solidFill>
                <a:latin typeface="宋体" panose="02010600030101010101" pitchFamily="2" charset="-122"/>
                <a:sym typeface="Symbol" pitchFamily="18" charset="2"/>
              </a:rPr>
              <a:t>……</a:t>
            </a:r>
          </a:p>
        </p:txBody>
      </p:sp>
    </p:spTree>
    <p:extLst>
      <p:ext uri="{BB962C8B-B14F-4D97-AF65-F5344CB8AC3E}">
        <p14:creationId xmlns:p14="http://schemas.microsoft.com/office/powerpoint/2010/main" val="29170156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49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3"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Grp="1" noChangeArrowheads="1"/>
          </p:cNvSpPr>
          <p:nvPr>
            <p:ph type="title"/>
          </p:nvPr>
        </p:nvSpPr>
        <p:spPr>
          <a:xfrm>
            <a:off x="582613" y="149225"/>
            <a:ext cx="7772400" cy="857250"/>
          </a:xfrm>
        </p:spPr>
        <p:txBody>
          <a:bodyPr/>
          <a:lstStyle/>
          <a:p>
            <a:pPr eaLnBrk="1" hangingPunct="1"/>
            <a:r>
              <a:rPr lang="zh-CN" altLang="en-US" sz="3600" b="1" dirty="0">
                <a:solidFill>
                  <a:srgbClr val="3366CC"/>
                </a:solidFill>
                <a:latin typeface="隶书" pitchFamily="49" charset="-122"/>
                <a:ea typeface="隶书" pitchFamily="49" charset="-122"/>
              </a:rPr>
              <a:t>算符优先关系表</a:t>
            </a:r>
            <a:endParaRPr lang="zh-CN" altLang="en-US" dirty="0">
              <a:latin typeface="隶书" pitchFamily="49" charset="-122"/>
              <a:ea typeface="隶书" pitchFamily="49" charset="-122"/>
            </a:endParaRPr>
          </a:p>
        </p:txBody>
      </p:sp>
      <p:sp>
        <p:nvSpPr>
          <p:cNvPr id="145411" name="Rectangle 3"/>
          <p:cNvSpPr>
            <a:spLocks noGrp="1" noChangeArrowheads="1"/>
          </p:cNvSpPr>
          <p:nvPr>
            <p:ph type="body" idx="1"/>
          </p:nvPr>
        </p:nvSpPr>
        <p:spPr>
          <a:xfrm>
            <a:off x="742950" y="979489"/>
            <a:ext cx="7772400" cy="800174"/>
          </a:xfrm>
        </p:spPr>
        <p:txBody>
          <a:bodyPr>
            <a:normAutofit/>
          </a:bodyPr>
          <a:lstStyle/>
          <a:p>
            <a:pPr eaLnBrk="1" hangingPunct="1">
              <a:lnSpc>
                <a:spcPct val="80000"/>
              </a:lnSpc>
            </a:pPr>
            <a:r>
              <a:rPr lang="zh-CN" altLang="en-US" sz="2200" dirty="0">
                <a:latin typeface="宋体" panose="02010600030101010101" pitchFamily="2" charset="-122"/>
                <a:ea typeface="宋体" panose="02010600030101010101" pitchFamily="2" charset="-122"/>
              </a:rPr>
              <a:t>用表格形式来表示各终结符号的优先关系，称为优先表。</a:t>
            </a:r>
          </a:p>
        </p:txBody>
      </p:sp>
      <p:graphicFrame>
        <p:nvGraphicFramePr>
          <p:cNvPr id="4" name="Group 163"/>
          <p:cNvGraphicFramePr>
            <a:graphicFrameLocks noGrp="1"/>
          </p:cNvGraphicFramePr>
          <p:nvPr>
            <p:extLst>
              <p:ext uri="{D42A27DB-BD31-4B8C-83A1-F6EECF244321}">
                <p14:modId xmlns:p14="http://schemas.microsoft.com/office/powerpoint/2010/main" val="186099228"/>
              </p:ext>
            </p:extLst>
          </p:nvPr>
        </p:nvGraphicFramePr>
        <p:xfrm>
          <a:off x="6300192" y="1788954"/>
          <a:ext cx="2520280" cy="2400300"/>
        </p:xfrm>
        <a:graphic>
          <a:graphicData uri="http://schemas.openxmlformats.org/drawingml/2006/table">
            <a:tbl>
              <a:tblPr/>
              <a:tblGrid>
                <a:gridCol w="288032">
                  <a:extLst>
                    <a:ext uri="{9D8B030D-6E8A-4147-A177-3AD203B41FA5}">
                      <a16:colId xmlns:a16="http://schemas.microsoft.com/office/drawing/2014/main" val="20000"/>
                    </a:ext>
                  </a:extLst>
                </a:gridCol>
                <a:gridCol w="360040">
                  <a:extLst>
                    <a:ext uri="{9D8B030D-6E8A-4147-A177-3AD203B41FA5}">
                      <a16:colId xmlns:a16="http://schemas.microsoft.com/office/drawing/2014/main" val="20001"/>
                    </a:ext>
                  </a:extLst>
                </a:gridCol>
                <a:gridCol w="360040">
                  <a:extLst>
                    <a:ext uri="{9D8B030D-6E8A-4147-A177-3AD203B41FA5}">
                      <a16:colId xmlns:a16="http://schemas.microsoft.com/office/drawing/2014/main" val="20002"/>
                    </a:ext>
                  </a:extLst>
                </a:gridCol>
                <a:gridCol w="360040">
                  <a:extLst>
                    <a:ext uri="{9D8B030D-6E8A-4147-A177-3AD203B41FA5}">
                      <a16:colId xmlns:a16="http://schemas.microsoft.com/office/drawing/2014/main" val="20003"/>
                    </a:ext>
                  </a:extLst>
                </a:gridCol>
                <a:gridCol w="360040">
                  <a:extLst>
                    <a:ext uri="{9D8B030D-6E8A-4147-A177-3AD203B41FA5}">
                      <a16:colId xmlns:a16="http://schemas.microsoft.com/office/drawing/2014/main" val="20004"/>
                    </a:ext>
                  </a:extLst>
                </a:gridCol>
                <a:gridCol w="432048">
                  <a:extLst>
                    <a:ext uri="{9D8B030D-6E8A-4147-A177-3AD203B41FA5}">
                      <a16:colId xmlns:a16="http://schemas.microsoft.com/office/drawing/2014/main" val="20005"/>
                    </a:ext>
                  </a:extLst>
                </a:gridCol>
                <a:gridCol w="360040">
                  <a:extLst>
                    <a:ext uri="{9D8B030D-6E8A-4147-A177-3AD203B41FA5}">
                      <a16:colId xmlns:a16="http://schemas.microsoft.com/office/drawing/2014/main" val="20006"/>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3"/>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4"/>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5"/>
                  </a:ext>
                </a:extLst>
              </a:tr>
              <a:tr h="3429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6"/>
                  </a:ext>
                </a:extLst>
              </a:tr>
            </a:tbl>
          </a:graphicData>
        </a:graphic>
      </p:graphicFrame>
      <p:sp>
        <p:nvSpPr>
          <p:cNvPr id="5" name="Rectangle 3"/>
          <p:cNvSpPr txBox="1">
            <a:spLocks noChangeArrowheads="1"/>
          </p:cNvSpPr>
          <p:nvPr/>
        </p:nvSpPr>
        <p:spPr>
          <a:xfrm>
            <a:off x="683568" y="1596967"/>
            <a:ext cx="3886200" cy="1368151"/>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80000"/>
              </a:lnSpc>
            </a:pPr>
            <a:endParaRPr lang="zh-CN" altLang="en-US" sz="2200" dirty="0">
              <a:latin typeface="宋体" panose="02010600030101010101" pitchFamily="2" charset="-122"/>
              <a:ea typeface="宋体" panose="02010600030101010101" pitchFamily="2" charset="-122"/>
            </a:endParaRPr>
          </a:p>
          <a:p>
            <a:pPr>
              <a:lnSpc>
                <a:spcPct val="80000"/>
              </a:lnSpc>
            </a:pPr>
            <a:r>
              <a:rPr lang="zh-CN" altLang="en-US" sz="2200" dirty="0">
                <a:latin typeface="宋体" panose="02010600030101010101" pitchFamily="2" charset="-122"/>
                <a:ea typeface="宋体" panose="02010600030101010101" pitchFamily="2" charset="-122"/>
              </a:rPr>
              <a:t>构造优先关系表的方法：</a:t>
            </a:r>
          </a:p>
          <a:p>
            <a:pPr lvl="1">
              <a:lnSpc>
                <a:spcPct val="80000"/>
              </a:lnSpc>
            </a:pPr>
            <a:r>
              <a:rPr lang="zh-CN" altLang="en-US" sz="2200" dirty="0">
                <a:latin typeface="宋体" panose="02010600030101010101" pitchFamily="2" charset="-122"/>
                <a:ea typeface="宋体" panose="02010600030101010101" pitchFamily="2" charset="-122"/>
              </a:rPr>
              <a:t>①按照定义计算</a:t>
            </a:r>
          </a:p>
          <a:p>
            <a:pPr lvl="1">
              <a:lnSpc>
                <a:spcPct val="80000"/>
              </a:lnSpc>
            </a:pPr>
            <a:r>
              <a:rPr lang="zh-CN" altLang="en-US" sz="2200" dirty="0">
                <a:latin typeface="宋体" panose="02010600030101010101" pitchFamily="2" charset="-122"/>
                <a:ea typeface="宋体" panose="02010600030101010101" pitchFamily="2" charset="-122"/>
              </a:rPr>
              <a:t>②使用算法 </a:t>
            </a:r>
          </a:p>
        </p:txBody>
      </p:sp>
      <p:sp>
        <p:nvSpPr>
          <p:cNvPr id="2" name="TextBox 1"/>
          <p:cNvSpPr txBox="1"/>
          <p:nvPr/>
        </p:nvSpPr>
        <p:spPr>
          <a:xfrm>
            <a:off x="6272875" y="1419622"/>
            <a:ext cx="2520280" cy="369332"/>
          </a:xfrm>
          <a:prstGeom prst="rect">
            <a:avLst/>
          </a:prstGeom>
          <a:noFill/>
        </p:spPr>
        <p:txBody>
          <a:bodyPr wrap="square" rtlCol="0">
            <a:spAutoFit/>
          </a:bodyPr>
          <a:lstStyle/>
          <a:p>
            <a:r>
              <a:rPr lang="zh-CN" altLang="en-US" dirty="0">
                <a:latin typeface="宋体" panose="02010600030101010101" pitchFamily="2" charset="-122"/>
                <a:ea typeface="宋体" panose="02010600030101010101" pitchFamily="2" charset="-122"/>
              </a:rPr>
              <a:t>算符优先关系表样例</a:t>
            </a:r>
          </a:p>
        </p:txBody>
      </p:sp>
      <p:sp>
        <p:nvSpPr>
          <p:cNvPr id="7" name="Rectangle 3"/>
          <p:cNvSpPr txBox="1">
            <a:spLocks noChangeArrowheads="1"/>
          </p:cNvSpPr>
          <p:nvPr/>
        </p:nvSpPr>
        <p:spPr>
          <a:xfrm>
            <a:off x="715161" y="3350419"/>
            <a:ext cx="3886200" cy="1453579"/>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80000"/>
              </a:lnSpc>
            </a:pPr>
            <a:r>
              <a:rPr lang="zh-CN" altLang="en-US" sz="2200" dirty="0">
                <a:latin typeface="宋体" panose="02010600030101010101" pitchFamily="2" charset="-122"/>
                <a:ea typeface="宋体" panose="02010600030101010101" pitchFamily="2" charset="-122"/>
              </a:rPr>
              <a:t>例</a:t>
            </a:r>
            <a:r>
              <a:rPr lang="en-US" altLang="zh-CN" sz="2200" dirty="0">
                <a:latin typeface="宋体" panose="02010600030101010101" pitchFamily="2" charset="-122"/>
                <a:ea typeface="宋体" panose="02010600030101010101" pitchFamily="2" charset="-122"/>
              </a:rPr>
              <a:t>:</a:t>
            </a:r>
            <a:r>
              <a:rPr lang="zh-CN" altLang="en-US" sz="2200" dirty="0">
                <a:latin typeface="宋体" pitchFamily="2" charset="-122"/>
                <a:ea typeface="宋体" panose="02010600030101010101" pitchFamily="2" charset="-122"/>
              </a:rPr>
              <a:t>　</a:t>
            </a:r>
            <a:r>
              <a:rPr lang="en-US" altLang="zh-CN" sz="2200" dirty="0">
                <a:latin typeface="宋体" panose="02010600030101010101" pitchFamily="2" charset="-122"/>
                <a:ea typeface="宋体" panose="02010600030101010101" pitchFamily="2" charset="-122"/>
              </a:rPr>
              <a:t>P:</a:t>
            </a:r>
            <a:r>
              <a:rPr lang="zh-CN" altLang="en-US" sz="2200" dirty="0">
                <a:latin typeface="宋体" pitchFamily="2" charset="-122"/>
                <a:ea typeface="宋体" panose="02010600030101010101" pitchFamily="2" charset="-122"/>
              </a:rPr>
              <a:t>　</a:t>
            </a:r>
            <a:r>
              <a:rPr lang="en-US" altLang="zh-CN" sz="2200" dirty="0">
                <a:solidFill>
                  <a:srgbClr val="0000FF"/>
                </a:solidFill>
                <a:latin typeface="宋体" panose="02010600030101010101" pitchFamily="2" charset="-122"/>
                <a:ea typeface="宋体" panose="02010600030101010101" pitchFamily="2" charset="-122"/>
              </a:rPr>
              <a:t>E </a:t>
            </a:r>
            <a:r>
              <a:rPr lang="en-US" altLang="zh-CN" sz="2200" b="1" dirty="0">
                <a:solidFill>
                  <a:srgbClr val="0000FF"/>
                </a:solidFill>
                <a:latin typeface="宋体" panose="02010600030101010101" pitchFamily="2" charset="-122"/>
                <a:ea typeface="宋体" panose="02010600030101010101" pitchFamily="2" charset="-122"/>
                <a:sym typeface="Wingdings" pitchFamily="2" charset="2"/>
              </a:rPr>
              <a:t></a:t>
            </a:r>
            <a:r>
              <a:rPr lang="en-US" altLang="zh-CN" sz="2200" dirty="0">
                <a:solidFill>
                  <a:srgbClr val="0000FF"/>
                </a:solidFill>
                <a:latin typeface="宋体" panose="02010600030101010101" pitchFamily="2" charset="-122"/>
                <a:ea typeface="宋体" panose="02010600030101010101" pitchFamily="2" charset="-122"/>
              </a:rPr>
              <a:t> E+T|T</a:t>
            </a:r>
            <a:br>
              <a:rPr lang="en-US" altLang="zh-CN" sz="2200" dirty="0">
                <a:solidFill>
                  <a:srgbClr val="0000FF"/>
                </a:solidFill>
                <a:latin typeface="宋体" panose="02010600030101010101" pitchFamily="2" charset="-122"/>
                <a:ea typeface="宋体" panose="02010600030101010101" pitchFamily="2" charset="-122"/>
              </a:rPr>
            </a:br>
            <a:r>
              <a:rPr lang="zh-CN" altLang="en-US" sz="2200" dirty="0">
                <a:solidFill>
                  <a:srgbClr val="0000FF"/>
                </a:solidFill>
                <a:latin typeface="宋体" pitchFamily="2" charset="-122"/>
                <a:ea typeface="宋体" panose="02010600030101010101" pitchFamily="2" charset="-122"/>
              </a:rPr>
              <a:t>　　 　  </a:t>
            </a:r>
            <a:r>
              <a:rPr lang="en-US" altLang="zh-CN" sz="2200" dirty="0">
                <a:solidFill>
                  <a:srgbClr val="0000FF"/>
                </a:solidFill>
                <a:latin typeface="宋体" panose="02010600030101010101" pitchFamily="2" charset="-122"/>
                <a:ea typeface="宋体" panose="02010600030101010101" pitchFamily="2" charset="-122"/>
              </a:rPr>
              <a:t>T </a:t>
            </a:r>
            <a:r>
              <a:rPr lang="en-US" altLang="zh-CN" sz="2200" b="1" dirty="0">
                <a:solidFill>
                  <a:srgbClr val="0000FF"/>
                </a:solidFill>
                <a:latin typeface="宋体" panose="02010600030101010101" pitchFamily="2" charset="-122"/>
                <a:ea typeface="宋体" panose="02010600030101010101" pitchFamily="2" charset="-122"/>
                <a:sym typeface="Wingdings" pitchFamily="2" charset="2"/>
              </a:rPr>
              <a:t></a:t>
            </a:r>
            <a:r>
              <a:rPr lang="en-US" altLang="zh-CN" sz="2200" dirty="0">
                <a:solidFill>
                  <a:srgbClr val="0000FF"/>
                </a:solidFill>
                <a:latin typeface="宋体" panose="02010600030101010101" pitchFamily="2" charset="-122"/>
                <a:ea typeface="宋体" panose="02010600030101010101" pitchFamily="2" charset="-122"/>
              </a:rPr>
              <a:t> T*F|F</a:t>
            </a:r>
            <a:br>
              <a:rPr lang="en-US" altLang="zh-CN" sz="2200" dirty="0">
                <a:solidFill>
                  <a:srgbClr val="0000FF"/>
                </a:solidFill>
                <a:latin typeface="宋体" panose="02010600030101010101" pitchFamily="2" charset="-122"/>
                <a:ea typeface="宋体" panose="02010600030101010101" pitchFamily="2" charset="-122"/>
              </a:rPr>
            </a:br>
            <a:r>
              <a:rPr lang="zh-CN" altLang="en-US" sz="2200" dirty="0">
                <a:solidFill>
                  <a:srgbClr val="0000FF"/>
                </a:solidFill>
                <a:latin typeface="宋体" pitchFamily="2" charset="-122"/>
                <a:ea typeface="宋体" panose="02010600030101010101" pitchFamily="2" charset="-122"/>
              </a:rPr>
              <a:t>　　 　　</a:t>
            </a:r>
            <a:r>
              <a:rPr lang="en-US" altLang="zh-CN" sz="2200" dirty="0">
                <a:solidFill>
                  <a:srgbClr val="0000FF"/>
                </a:solidFill>
                <a:latin typeface="宋体" panose="02010600030101010101" pitchFamily="2" charset="-122"/>
                <a:ea typeface="宋体" panose="02010600030101010101" pitchFamily="2" charset="-122"/>
              </a:rPr>
              <a:t>F </a:t>
            </a:r>
            <a:r>
              <a:rPr lang="en-US" altLang="zh-CN" sz="2200" b="1" dirty="0">
                <a:solidFill>
                  <a:srgbClr val="0000FF"/>
                </a:solidFill>
                <a:latin typeface="宋体" panose="02010600030101010101" pitchFamily="2" charset="-122"/>
                <a:ea typeface="宋体" panose="02010600030101010101" pitchFamily="2" charset="-122"/>
                <a:sym typeface="Wingdings" pitchFamily="2" charset="2"/>
              </a:rPr>
              <a:t></a:t>
            </a:r>
            <a:r>
              <a:rPr lang="en-US" altLang="zh-CN" sz="2200" dirty="0">
                <a:solidFill>
                  <a:srgbClr val="0000FF"/>
                </a:solidFill>
                <a:latin typeface="宋体" panose="02010600030101010101" pitchFamily="2" charset="-122"/>
                <a:ea typeface="宋体" panose="02010600030101010101" pitchFamily="2" charset="-122"/>
              </a:rPr>
              <a:t> (E)|</a:t>
            </a:r>
            <a:r>
              <a:rPr lang="en-US" altLang="zh-CN" sz="2200" dirty="0" err="1">
                <a:solidFill>
                  <a:srgbClr val="0000FF"/>
                </a:solidFill>
                <a:latin typeface="宋体" panose="02010600030101010101" pitchFamily="2" charset="-122"/>
                <a:ea typeface="宋体" panose="02010600030101010101" pitchFamily="2" charset="-122"/>
              </a:rPr>
              <a:t>i</a:t>
            </a:r>
            <a:r>
              <a:rPr lang="en-US" altLang="zh-CN" sz="2200" dirty="0">
                <a:latin typeface="宋体" panose="02010600030101010101" pitchFamily="2" charset="-122"/>
                <a:ea typeface="宋体" panose="02010600030101010101" pitchFamily="2" charset="-122"/>
              </a:rPr>
              <a:t>  </a:t>
            </a:r>
          </a:p>
          <a:p>
            <a:pPr>
              <a:lnSpc>
                <a:spcPct val="80000"/>
              </a:lnSpc>
              <a:buFontTx/>
              <a:buNone/>
            </a:pPr>
            <a:r>
              <a:rPr lang="en-US" altLang="zh-CN" sz="2200" dirty="0">
                <a:latin typeface="宋体" panose="02010600030101010101" pitchFamily="2" charset="-122"/>
                <a:ea typeface="宋体" panose="02010600030101010101" pitchFamily="2" charset="-122"/>
              </a:rPr>
              <a:t>       </a:t>
            </a:r>
            <a:r>
              <a:rPr lang="zh-CN" altLang="en-US" sz="2200" dirty="0">
                <a:latin typeface="宋体" panose="02010600030101010101" pitchFamily="2" charset="-122"/>
                <a:ea typeface="宋体" panose="02010600030101010101" pitchFamily="2" charset="-122"/>
              </a:rPr>
              <a:t>求算符优先关系表。</a:t>
            </a:r>
          </a:p>
        </p:txBody>
      </p:sp>
      <p:sp>
        <p:nvSpPr>
          <p:cNvPr id="3" name="矩形标注 2"/>
          <p:cNvSpPr/>
          <p:nvPr/>
        </p:nvSpPr>
        <p:spPr>
          <a:xfrm>
            <a:off x="6046974" y="4443958"/>
            <a:ext cx="1908212" cy="504056"/>
          </a:xfrm>
          <a:prstGeom prst="wedgeRectCallout">
            <a:avLst>
              <a:gd name="adj1" fmla="val -35644"/>
              <a:gd name="adj2" fmla="val -115610"/>
            </a:avLst>
          </a:prstGeom>
        </p:spPr>
        <p:style>
          <a:lnRef idx="2">
            <a:schemeClr val="accent3"/>
          </a:lnRef>
          <a:fillRef idx="1">
            <a:schemeClr val="lt1"/>
          </a:fillRef>
          <a:effectRef idx="0">
            <a:schemeClr val="accent3"/>
          </a:effectRef>
          <a:fontRef idx="minor">
            <a:schemeClr val="dk1"/>
          </a:fontRef>
        </p:style>
        <p:txBody>
          <a:bodyPr rtlCol="0" anchor="ctr"/>
          <a:lstStyle/>
          <a:p>
            <a:pPr algn="ctr"/>
            <a:r>
              <a:rPr lang="zh-CN" altLang="en-US" dirty="0"/>
              <a:t>所有终结符</a:t>
            </a:r>
            <a:r>
              <a:rPr lang="en-US" altLang="zh-CN" dirty="0"/>
              <a:t>+”#”</a:t>
            </a:r>
            <a:endParaRPr lang="zh-CN" altLang="en-US" dirty="0"/>
          </a:p>
        </p:txBody>
      </p:sp>
      <p:sp>
        <p:nvSpPr>
          <p:cNvPr id="9" name="矩形标注 8"/>
          <p:cNvSpPr/>
          <p:nvPr/>
        </p:nvSpPr>
        <p:spPr>
          <a:xfrm>
            <a:off x="7001080" y="339502"/>
            <a:ext cx="1908212" cy="504056"/>
          </a:xfrm>
          <a:prstGeom prst="wedgeRectCallout">
            <a:avLst>
              <a:gd name="adj1" fmla="val 32314"/>
              <a:gd name="adj2" fmla="val 224119"/>
            </a:avLst>
          </a:prstGeom>
        </p:spPr>
        <p:style>
          <a:lnRef idx="2">
            <a:schemeClr val="accent3"/>
          </a:lnRef>
          <a:fillRef idx="1">
            <a:schemeClr val="lt1"/>
          </a:fillRef>
          <a:effectRef idx="0">
            <a:schemeClr val="accent3"/>
          </a:effectRef>
          <a:fontRef idx="minor">
            <a:schemeClr val="dk1"/>
          </a:fontRef>
        </p:style>
        <p:txBody>
          <a:bodyPr rtlCol="0" anchor="ctr"/>
          <a:lstStyle/>
          <a:p>
            <a:pPr algn="ctr"/>
            <a:r>
              <a:rPr lang="zh-CN" altLang="en-US" dirty="0"/>
              <a:t>所有终结符</a:t>
            </a:r>
            <a:r>
              <a:rPr lang="en-US" altLang="zh-CN" dirty="0"/>
              <a:t>+”#”</a:t>
            </a:r>
            <a:endParaRPr lang="zh-CN" altLang="en-US" dirty="0"/>
          </a:p>
        </p:txBody>
      </p:sp>
    </p:spTree>
    <p:extLst>
      <p:ext uri="{BB962C8B-B14F-4D97-AF65-F5344CB8AC3E}">
        <p14:creationId xmlns:p14="http://schemas.microsoft.com/office/powerpoint/2010/main" val="26567515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3"/>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3" grpId="0" animBg="1"/>
      <p:bldP spid="3" grpId="1" animBg="1"/>
      <p:bldP spid="9"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107504" y="1110997"/>
            <a:ext cx="4330824" cy="3576280"/>
          </a:xfrm>
        </p:spPr>
        <p:style>
          <a:lnRef idx="2">
            <a:schemeClr val="accent1"/>
          </a:lnRef>
          <a:fillRef idx="1">
            <a:schemeClr val="lt1"/>
          </a:fillRef>
          <a:effectRef idx="0">
            <a:schemeClr val="accent1"/>
          </a:effectRef>
          <a:fontRef idx="minor">
            <a:schemeClr val="dk1"/>
          </a:fontRef>
        </p:style>
        <p:txBody>
          <a:bodyPr>
            <a:noAutofit/>
          </a:bodyPr>
          <a:lstStyle/>
          <a:p>
            <a:pPr marL="109728" indent="0">
              <a:buNone/>
            </a:pPr>
            <a:r>
              <a:rPr lang="en-US" altLang="zh-CN" sz="2000" dirty="0"/>
              <a:t> (1) </a:t>
            </a:r>
            <a:r>
              <a:rPr lang="zh-CN" altLang="zh-CN" sz="2000" dirty="0"/>
              <a:t>设有文法</a:t>
            </a:r>
            <a:r>
              <a:rPr lang="en-US" altLang="zh-CN" sz="2000" dirty="0"/>
              <a:t>G[E]</a:t>
            </a:r>
            <a:r>
              <a:rPr lang="zh-CN" altLang="zh-CN" sz="2000" dirty="0"/>
              <a:t>：</a:t>
            </a:r>
          </a:p>
          <a:p>
            <a:pPr marL="109728" indent="0">
              <a:buNone/>
            </a:pPr>
            <a:r>
              <a:rPr lang="en-US" altLang="zh-CN" sz="2000" dirty="0"/>
              <a:t>           E→E+E | E*E | (E) | </a:t>
            </a:r>
            <a:r>
              <a:rPr lang="en-US" altLang="zh-CN" sz="2000" dirty="0" err="1"/>
              <a:t>i</a:t>
            </a:r>
            <a:endParaRPr lang="zh-CN" altLang="zh-CN" sz="2000" dirty="0"/>
          </a:p>
          <a:p>
            <a:pPr marL="109728" indent="0">
              <a:buNone/>
            </a:pPr>
            <a:r>
              <a:rPr lang="zh-CN" altLang="zh-CN" sz="2000" dirty="0"/>
              <a:t>在上述文法类中，文法</a:t>
            </a:r>
            <a:r>
              <a:rPr lang="en-US" altLang="zh-CN" sz="2000" dirty="0"/>
              <a:t>G[E]</a:t>
            </a:r>
            <a:r>
              <a:rPr lang="zh-CN" altLang="zh-CN" sz="2000" dirty="0"/>
              <a:t>属于</a:t>
            </a:r>
            <a:r>
              <a:rPr lang="en-US" altLang="zh-CN" sz="2000" u="sng" dirty="0"/>
              <a:t>         </a:t>
            </a:r>
            <a:r>
              <a:rPr lang="zh-CN" altLang="zh-CN" sz="2000" dirty="0"/>
              <a:t>。</a:t>
            </a:r>
          </a:p>
          <a:p>
            <a:pPr marL="109728" indent="0">
              <a:buNone/>
            </a:pPr>
            <a:r>
              <a:rPr lang="zh-CN" altLang="zh-CN" sz="2000" dirty="0"/>
              <a:t>① 算符文法</a:t>
            </a:r>
            <a:r>
              <a:rPr lang="en-US" altLang="zh-CN" sz="2000" dirty="0"/>
              <a:t>       </a:t>
            </a:r>
            <a:r>
              <a:rPr lang="zh-CN" altLang="zh-CN" sz="2000" dirty="0"/>
              <a:t>② 上下文无关文法</a:t>
            </a:r>
          </a:p>
          <a:p>
            <a:pPr marL="109728" indent="0">
              <a:buNone/>
            </a:pPr>
            <a:r>
              <a:rPr lang="zh-CN" altLang="zh-CN" sz="2000" dirty="0"/>
              <a:t>③ 正规文法 </a:t>
            </a:r>
            <a:r>
              <a:rPr lang="en-US" altLang="zh-CN" sz="2000" dirty="0"/>
              <a:t>      </a:t>
            </a:r>
            <a:r>
              <a:rPr lang="zh-CN" altLang="zh-CN" sz="2000" dirty="0"/>
              <a:t>④ 二义文法</a:t>
            </a:r>
          </a:p>
          <a:p>
            <a:pPr marL="109728" indent="0">
              <a:buNone/>
            </a:pPr>
            <a:r>
              <a:rPr lang="en-US" altLang="zh-CN" sz="2000" dirty="0"/>
              <a:t> </a:t>
            </a:r>
            <a:r>
              <a:rPr lang="zh-CN" altLang="zh-CN" sz="2000" dirty="0"/>
              <a:t>可选项有：</a:t>
            </a:r>
            <a:r>
              <a:rPr lang="en-US" altLang="zh-CN" sz="2000" dirty="0"/>
              <a:t>   </a:t>
            </a:r>
            <a:endParaRPr lang="zh-CN" altLang="zh-CN" sz="2000" dirty="0"/>
          </a:p>
          <a:p>
            <a:pPr marL="109728" indent="0">
              <a:buNone/>
            </a:pPr>
            <a:r>
              <a:rPr lang="en-US" altLang="zh-CN" sz="2000" dirty="0"/>
              <a:t>    A</a:t>
            </a:r>
            <a:r>
              <a:rPr lang="zh-CN" altLang="zh-CN" sz="2000" dirty="0"/>
              <a:t>．</a:t>
            </a:r>
            <a:r>
              <a:rPr lang="en-US" altLang="zh-CN" sz="2000" dirty="0"/>
              <a:t>(1)(2)             B</a:t>
            </a:r>
            <a:r>
              <a:rPr lang="zh-CN" altLang="zh-CN" sz="2000" dirty="0"/>
              <a:t>．</a:t>
            </a:r>
            <a:r>
              <a:rPr lang="en-US" altLang="zh-CN" sz="2000" dirty="0"/>
              <a:t>(1)(2)(4)      </a:t>
            </a:r>
            <a:endParaRPr lang="zh-CN" altLang="zh-CN" sz="2000" dirty="0"/>
          </a:p>
          <a:p>
            <a:pPr marL="109728" indent="0">
              <a:buNone/>
            </a:pPr>
            <a:r>
              <a:rPr lang="en-US" altLang="zh-CN" sz="2000" dirty="0"/>
              <a:t>    C</a:t>
            </a:r>
            <a:r>
              <a:rPr lang="zh-CN" altLang="zh-CN" sz="2000" dirty="0"/>
              <a:t>．</a:t>
            </a:r>
            <a:r>
              <a:rPr lang="en-US" altLang="zh-CN" sz="2000" dirty="0"/>
              <a:t>(2)(4)             D</a:t>
            </a:r>
            <a:r>
              <a:rPr lang="zh-CN" altLang="zh-CN" sz="2000" dirty="0"/>
              <a:t>．</a:t>
            </a:r>
            <a:r>
              <a:rPr lang="en-US" altLang="zh-CN" sz="2000" dirty="0"/>
              <a:t>(1)(4)</a:t>
            </a:r>
            <a:endParaRPr lang="zh-CN" altLang="zh-CN" sz="2000" dirty="0"/>
          </a:p>
        </p:txBody>
      </p:sp>
      <p:sp>
        <p:nvSpPr>
          <p:cNvPr id="3" name="标题 2"/>
          <p:cNvSpPr>
            <a:spLocks noGrp="1"/>
          </p:cNvSpPr>
          <p:nvPr>
            <p:ph type="title"/>
          </p:nvPr>
        </p:nvSpPr>
        <p:spPr/>
        <p:txBody>
          <a:bodyPr/>
          <a:lstStyle/>
          <a:p>
            <a:r>
              <a:rPr lang="zh-CN" altLang="en-US" dirty="0"/>
              <a:t>练习</a:t>
            </a:r>
          </a:p>
        </p:txBody>
      </p:sp>
      <p:sp>
        <p:nvSpPr>
          <p:cNvPr id="4" name="内容占位符 1"/>
          <p:cNvSpPr txBox="1">
            <a:spLocks/>
          </p:cNvSpPr>
          <p:nvPr/>
        </p:nvSpPr>
        <p:spPr>
          <a:xfrm>
            <a:off x="4654352" y="1110997"/>
            <a:ext cx="4330824" cy="1820793"/>
          </a:xfrm>
          <a:prstGeom prst="rect">
            <a:avLst/>
          </a:prstGeom>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dk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dk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dk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dk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dk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marL="109728" indent="0">
              <a:buNone/>
            </a:pPr>
            <a:r>
              <a:rPr lang="en-US" altLang="zh-CN" sz="2000" dirty="0"/>
              <a:t> (2) </a:t>
            </a:r>
            <a:r>
              <a:rPr lang="zh-CN" altLang="en-US" sz="2000" dirty="0"/>
              <a:t>规范归约中分析器的动作</a:t>
            </a:r>
            <a:r>
              <a:rPr lang="zh-CN" altLang="zh-CN" sz="2000" dirty="0"/>
              <a:t>包括</a:t>
            </a:r>
            <a:r>
              <a:rPr lang="en-US" altLang="zh-CN" sz="2000" u="sng" dirty="0"/>
              <a:t>        </a:t>
            </a:r>
            <a:r>
              <a:rPr lang="zh-CN" altLang="zh-CN" sz="2000" dirty="0"/>
              <a:t>。</a:t>
            </a:r>
          </a:p>
          <a:p>
            <a:pPr marL="109728" indent="0">
              <a:buNone/>
            </a:pPr>
            <a:r>
              <a:rPr lang="en-US" altLang="zh-CN" sz="2000" dirty="0"/>
              <a:t>A</a:t>
            </a:r>
            <a:r>
              <a:rPr lang="zh-CN" altLang="zh-CN" sz="2000" dirty="0"/>
              <a:t>．移进</a:t>
            </a:r>
            <a:r>
              <a:rPr lang="en-US" altLang="zh-CN" sz="2000" dirty="0"/>
              <a:t>              B</a:t>
            </a:r>
            <a:r>
              <a:rPr lang="zh-CN" altLang="zh-CN" sz="2000" dirty="0"/>
              <a:t>．比较</a:t>
            </a:r>
            <a:r>
              <a:rPr lang="en-US" altLang="zh-CN" sz="2000" dirty="0"/>
              <a:t>            </a:t>
            </a:r>
          </a:p>
          <a:p>
            <a:pPr marL="109728" indent="0">
              <a:buNone/>
            </a:pPr>
            <a:r>
              <a:rPr lang="en-US" altLang="zh-CN" sz="2000" dirty="0"/>
              <a:t>C</a:t>
            </a:r>
            <a:r>
              <a:rPr lang="zh-CN" altLang="zh-CN" sz="2000" dirty="0"/>
              <a:t>．接受</a:t>
            </a:r>
            <a:r>
              <a:rPr lang="en-US" altLang="zh-CN" sz="2000" dirty="0"/>
              <a:t>              D</a:t>
            </a:r>
            <a:r>
              <a:rPr lang="zh-CN" altLang="zh-CN" sz="2000" dirty="0"/>
              <a:t>．归约</a:t>
            </a:r>
            <a:r>
              <a:rPr lang="en-US" altLang="zh-CN" sz="2000" dirty="0"/>
              <a:t>              </a:t>
            </a:r>
          </a:p>
          <a:p>
            <a:pPr marL="109728" indent="0">
              <a:buNone/>
            </a:pPr>
            <a:r>
              <a:rPr lang="en-US" altLang="zh-CN" sz="2000" dirty="0"/>
              <a:t>E</a:t>
            </a:r>
            <a:r>
              <a:rPr lang="zh-CN" altLang="zh-CN" sz="2000" dirty="0"/>
              <a:t>．报错</a:t>
            </a:r>
          </a:p>
        </p:txBody>
      </p:sp>
      <p:sp>
        <p:nvSpPr>
          <p:cNvPr id="5" name="矩形 4"/>
          <p:cNvSpPr/>
          <p:nvPr/>
        </p:nvSpPr>
        <p:spPr>
          <a:xfrm>
            <a:off x="4572000" y="3363838"/>
            <a:ext cx="4572000" cy="1323439"/>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r>
              <a:rPr lang="en-US" altLang="zh-CN" sz="2000" dirty="0"/>
              <a:t>(3) </a:t>
            </a:r>
            <a:r>
              <a:rPr lang="zh-CN" altLang="zh-CN" sz="2000" dirty="0"/>
              <a:t>在通常的语法分析方法中，</a:t>
            </a:r>
            <a:r>
              <a:rPr lang="en-US" altLang="zh-CN" sz="2000" dirty="0"/>
              <a:t>_______</a:t>
            </a:r>
          </a:p>
          <a:p>
            <a:r>
              <a:rPr lang="zh-CN" altLang="zh-CN" sz="2000" dirty="0"/>
              <a:t>特别适用于表达式的分析。</a:t>
            </a:r>
            <a:r>
              <a:rPr lang="en-US" altLang="zh-CN" sz="2000" dirty="0"/>
              <a:t>             </a:t>
            </a:r>
            <a:endParaRPr lang="zh-CN" altLang="zh-CN" sz="2000" dirty="0"/>
          </a:p>
          <a:p>
            <a:r>
              <a:rPr lang="en-US" altLang="zh-CN" sz="2000" dirty="0"/>
              <a:t>A</a:t>
            </a:r>
            <a:r>
              <a:rPr lang="zh-CN" altLang="zh-CN" sz="2000" dirty="0"/>
              <a:t>．算符优先分析法</a:t>
            </a:r>
            <a:r>
              <a:rPr lang="en-US" altLang="zh-CN" sz="2000" dirty="0"/>
              <a:t>    B</a:t>
            </a:r>
            <a:r>
              <a:rPr lang="zh-CN" altLang="zh-CN" sz="2000" dirty="0"/>
              <a:t>．</a:t>
            </a:r>
            <a:r>
              <a:rPr lang="en-US" altLang="zh-CN" sz="2000" dirty="0"/>
              <a:t>LR</a:t>
            </a:r>
            <a:r>
              <a:rPr lang="zh-CN" altLang="zh-CN" sz="2000" dirty="0"/>
              <a:t>分析法</a:t>
            </a:r>
            <a:r>
              <a:rPr lang="en-US" altLang="zh-CN" sz="2000" dirty="0"/>
              <a:t>  </a:t>
            </a:r>
            <a:endParaRPr lang="zh-CN" altLang="zh-CN" sz="2000" dirty="0"/>
          </a:p>
          <a:p>
            <a:r>
              <a:rPr lang="en-US" altLang="zh-CN" sz="2000" dirty="0"/>
              <a:t>C</a:t>
            </a:r>
            <a:r>
              <a:rPr lang="zh-CN" altLang="zh-CN" sz="2000" dirty="0"/>
              <a:t>．递归下降分析法</a:t>
            </a:r>
            <a:r>
              <a:rPr lang="en-US" altLang="zh-CN" sz="2000" dirty="0"/>
              <a:t>    D</a:t>
            </a:r>
            <a:r>
              <a:rPr lang="zh-CN" altLang="zh-CN" sz="2000" dirty="0"/>
              <a:t>．</a:t>
            </a:r>
            <a:r>
              <a:rPr lang="en-US" altLang="zh-CN" sz="2000" dirty="0"/>
              <a:t>LL(1)</a:t>
            </a:r>
            <a:r>
              <a:rPr lang="zh-CN" altLang="zh-CN" sz="2000" dirty="0"/>
              <a:t>分析法</a:t>
            </a:r>
            <a:endParaRPr lang="zh-CN" altLang="en-US" sz="2000" dirty="0"/>
          </a:p>
        </p:txBody>
      </p:sp>
    </p:spTree>
    <p:extLst>
      <p:ext uri="{BB962C8B-B14F-4D97-AF65-F5344CB8AC3E}">
        <p14:creationId xmlns:p14="http://schemas.microsoft.com/office/powerpoint/2010/main" val="279913949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1584176"/>
          </a:xfrm>
        </p:spPr>
        <p:txBody>
          <a:bodyPr>
            <a:normAutofit/>
          </a:bodyPr>
          <a:lstStyle/>
          <a:p>
            <a:pPr marL="0" indent="0">
              <a:buNone/>
            </a:pPr>
            <a:r>
              <a:rPr lang="en-US" altLang="zh-CN" sz="4400" b="1" kern="1200" dirty="0">
                <a:solidFill>
                  <a:srgbClr val="CC0099"/>
                </a:solidFill>
                <a:latin typeface="Times New Roman" pitchFamily="18" charset="0"/>
                <a:ea typeface="隶书" pitchFamily="49" charset="-122"/>
              </a:rPr>
              <a:t>7. </a:t>
            </a:r>
            <a:r>
              <a:rPr lang="zh-CN" altLang="en-US" sz="4400" b="1" dirty="0">
                <a:solidFill>
                  <a:srgbClr val="CC0099"/>
                </a:solidFill>
                <a:latin typeface="Times New Roman" pitchFamily="18" charset="0"/>
                <a:ea typeface="隶书" pitchFamily="49" charset="-122"/>
              </a:rPr>
              <a:t>算符优先分析方法</a:t>
            </a:r>
            <a:endParaRPr lang="en-US" altLang="zh-CN" sz="4400" b="1" dirty="0">
              <a:solidFill>
                <a:srgbClr val="CC0099"/>
              </a:solidFill>
              <a:latin typeface="Times New Roman" pitchFamily="18" charset="0"/>
              <a:ea typeface="隶书" pitchFamily="49" charset="-122"/>
            </a:endParaRPr>
          </a:p>
          <a:p>
            <a:pPr marL="0" indent="0">
              <a:buNone/>
            </a:pPr>
            <a:r>
              <a:rPr lang="en-US" altLang="zh-CN" sz="4400" b="1" kern="1200" dirty="0">
                <a:solidFill>
                  <a:srgbClr val="CC0099"/>
                </a:solidFill>
                <a:latin typeface="Times New Roman" pitchFamily="18" charset="0"/>
                <a:ea typeface="隶书" pitchFamily="49" charset="-122"/>
              </a:rPr>
              <a:t>    </a:t>
            </a:r>
            <a:r>
              <a:rPr lang="en-US" altLang="zh-CN" sz="3600" b="1" kern="1200" dirty="0">
                <a:solidFill>
                  <a:srgbClr val="CC0099"/>
                </a:solidFill>
                <a:latin typeface="Times New Roman" pitchFamily="18" charset="0"/>
                <a:ea typeface="隶书" pitchFamily="49" charset="-122"/>
              </a:rPr>
              <a:t>——</a:t>
            </a:r>
            <a:r>
              <a:rPr lang="zh-CN" altLang="en-US" sz="3600" b="1" kern="1200" dirty="0">
                <a:solidFill>
                  <a:srgbClr val="CC0099"/>
                </a:solidFill>
                <a:latin typeface="Times New Roman" pitchFamily="18" charset="0"/>
                <a:ea typeface="隶书" pitchFamily="49" charset="-122"/>
              </a:rPr>
              <a:t>算符优先关系表的计算</a:t>
            </a:r>
          </a:p>
        </p:txBody>
      </p:sp>
    </p:spTree>
    <p:extLst>
      <p:ext uri="{BB962C8B-B14F-4D97-AF65-F5344CB8AC3E}">
        <p14:creationId xmlns:p14="http://schemas.microsoft.com/office/powerpoint/2010/main" val="59325677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5" name="Rectangle 3"/>
          <p:cNvSpPr>
            <a:spLocks noGrp="1" noChangeArrowheads="1"/>
          </p:cNvSpPr>
          <p:nvPr>
            <p:ph type="body" sz="half" idx="1"/>
          </p:nvPr>
        </p:nvSpPr>
        <p:spPr>
          <a:xfrm>
            <a:off x="689992" y="1486446"/>
            <a:ext cx="3810000" cy="374650"/>
          </a:xfrm>
        </p:spPr>
        <p:txBody>
          <a:bodyPr>
            <a:normAutofit fontScale="92500" lnSpcReduction="20000"/>
          </a:bodyPr>
          <a:lstStyle/>
          <a:p>
            <a:pPr eaLnBrk="1" hangingPunct="1"/>
            <a:r>
              <a:rPr lang="zh-CN" altLang="en-US" sz="2400" dirty="0">
                <a:latin typeface="宋体" pitchFamily="2" charset="-122"/>
              </a:rPr>
              <a:t>由</a:t>
            </a:r>
            <a:r>
              <a:rPr lang="en-US" altLang="zh-CN" sz="2400" dirty="0">
                <a:latin typeface="宋体" pitchFamily="2" charset="-122"/>
              </a:rPr>
              <a:t>F</a:t>
            </a:r>
            <a:r>
              <a:rPr lang="en-US" altLang="zh-CN" sz="2400" dirty="0">
                <a:latin typeface="宋体" pitchFamily="2" charset="-122"/>
                <a:sym typeface="Wingdings" pitchFamily="2" charset="2"/>
              </a:rPr>
              <a:t></a:t>
            </a:r>
            <a:r>
              <a:rPr lang="en-US" altLang="zh-CN" sz="2400" dirty="0">
                <a:latin typeface="宋体" pitchFamily="2" charset="-122"/>
              </a:rPr>
              <a:t>(E) </a:t>
            </a:r>
            <a:r>
              <a:rPr lang="zh-CN" altLang="en-US" sz="2400" dirty="0">
                <a:latin typeface="宋体" pitchFamily="2" charset="-122"/>
              </a:rPr>
              <a:t>得 </a:t>
            </a:r>
            <a:r>
              <a:rPr lang="en-US" altLang="zh-CN" sz="2400" dirty="0">
                <a:latin typeface="宋体" pitchFamily="2" charset="-122"/>
              </a:rPr>
              <a:t>(  = )</a:t>
            </a:r>
          </a:p>
        </p:txBody>
      </p:sp>
      <p:graphicFrame>
        <p:nvGraphicFramePr>
          <p:cNvPr id="18924" name="Group 492"/>
          <p:cNvGraphicFramePr>
            <a:graphicFrameLocks noGrp="1"/>
          </p:cNvGraphicFramePr>
          <p:nvPr>
            <p:extLst>
              <p:ext uri="{D42A27DB-BD31-4B8C-83A1-F6EECF244321}">
                <p14:modId xmlns:p14="http://schemas.microsoft.com/office/powerpoint/2010/main" val="3458045477"/>
              </p:ext>
            </p:extLst>
          </p:nvPr>
        </p:nvGraphicFramePr>
        <p:xfrm>
          <a:off x="5508104" y="1899196"/>
          <a:ext cx="3600971" cy="2524124"/>
        </p:xfrm>
        <a:graphic>
          <a:graphicData uri="http://schemas.openxmlformats.org/drawingml/2006/table">
            <a:tbl>
              <a:tblPr/>
              <a:tblGrid>
                <a:gridCol w="413271">
                  <a:extLst>
                    <a:ext uri="{9D8B030D-6E8A-4147-A177-3AD203B41FA5}">
                      <a16:colId xmlns:a16="http://schemas.microsoft.com/office/drawing/2014/main" val="20000"/>
                    </a:ext>
                  </a:extLst>
                </a:gridCol>
                <a:gridCol w="519113">
                  <a:extLst>
                    <a:ext uri="{9D8B030D-6E8A-4147-A177-3AD203B41FA5}">
                      <a16:colId xmlns:a16="http://schemas.microsoft.com/office/drawing/2014/main" val="20001"/>
                    </a:ext>
                  </a:extLst>
                </a:gridCol>
                <a:gridCol w="555625">
                  <a:extLst>
                    <a:ext uri="{9D8B030D-6E8A-4147-A177-3AD203B41FA5}">
                      <a16:colId xmlns:a16="http://schemas.microsoft.com/office/drawing/2014/main" val="20002"/>
                    </a:ext>
                  </a:extLst>
                </a:gridCol>
                <a:gridCol w="555625">
                  <a:extLst>
                    <a:ext uri="{9D8B030D-6E8A-4147-A177-3AD203B41FA5}">
                      <a16:colId xmlns:a16="http://schemas.microsoft.com/office/drawing/2014/main" val="20003"/>
                    </a:ext>
                  </a:extLst>
                </a:gridCol>
                <a:gridCol w="555625">
                  <a:extLst>
                    <a:ext uri="{9D8B030D-6E8A-4147-A177-3AD203B41FA5}">
                      <a16:colId xmlns:a16="http://schemas.microsoft.com/office/drawing/2014/main" val="20004"/>
                    </a:ext>
                  </a:extLst>
                </a:gridCol>
                <a:gridCol w="554037">
                  <a:extLst>
                    <a:ext uri="{9D8B030D-6E8A-4147-A177-3AD203B41FA5}">
                      <a16:colId xmlns:a16="http://schemas.microsoft.com/office/drawing/2014/main" val="20005"/>
                    </a:ext>
                  </a:extLst>
                </a:gridCol>
                <a:gridCol w="447675">
                  <a:extLst>
                    <a:ext uri="{9D8B030D-6E8A-4147-A177-3AD203B41FA5}">
                      <a16:colId xmlns:a16="http://schemas.microsoft.com/office/drawing/2014/main" val="20006"/>
                    </a:ext>
                  </a:extLst>
                </a:gridCol>
              </a:tblGrid>
              <a:tr h="36212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i</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0"/>
                  </a:ext>
                </a:extLst>
              </a:tr>
              <a:tr h="3597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597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212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597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597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6093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6" marB="343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6" marB="343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46528" name="Rectangle 385"/>
          <p:cNvSpPr>
            <a:spLocks noChangeArrowheads="1"/>
          </p:cNvSpPr>
          <p:nvPr/>
        </p:nvSpPr>
        <p:spPr bwMode="auto">
          <a:xfrm>
            <a:off x="103384" y="267494"/>
            <a:ext cx="496642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dirty="0">
                <a:latin typeface="宋体" pitchFamily="2" charset="-122"/>
                <a:ea typeface="华文行楷" pitchFamily="2" charset="-122"/>
              </a:rPr>
              <a:t>例</a:t>
            </a:r>
            <a:r>
              <a:rPr lang="en-US" altLang="zh-CN" sz="2400" dirty="0">
                <a:ea typeface="华文行楷" pitchFamily="2" charset="-122"/>
              </a:rPr>
              <a:t>:</a:t>
            </a:r>
            <a:r>
              <a:rPr lang="zh-CN" altLang="en-US" sz="2400" dirty="0">
                <a:latin typeface="宋体" pitchFamily="2" charset="-122"/>
                <a:ea typeface="华文行楷" pitchFamily="2" charset="-122"/>
              </a:rPr>
              <a:t>　</a:t>
            </a:r>
            <a:r>
              <a:rPr lang="en-US" altLang="zh-CN" sz="2400" dirty="0">
                <a:ea typeface="华文行楷" pitchFamily="2" charset="-122"/>
              </a:rPr>
              <a:t>P: </a:t>
            </a:r>
            <a:r>
              <a:rPr lang="en-US" altLang="zh-CN" sz="2400" dirty="0">
                <a:solidFill>
                  <a:srgbClr val="000000"/>
                </a:solidFill>
                <a:ea typeface="华文行楷" pitchFamily="2" charset="-122"/>
              </a:rPr>
              <a:t>E</a:t>
            </a:r>
            <a:r>
              <a:rPr lang="en-US" altLang="zh-CN" sz="2400" dirty="0">
                <a:solidFill>
                  <a:srgbClr val="000000"/>
                </a:solidFill>
                <a:ea typeface="华文行楷" pitchFamily="2" charset="-122"/>
                <a:sym typeface="Wingdings" pitchFamily="2" charset="2"/>
              </a:rPr>
              <a:t></a:t>
            </a:r>
            <a:r>
              <a:rPr lang="en-US" altLang="zh-CN" sz="2400" dirty="0">
                <a:solidFill>
                  <a:srgbClr val="000000"/>
                </a:solidFill>
                <a:ea typeface="华文行楷" pitchFamily="2" charset="-122"/>
              </a:rPr>
              <a:t>E+T</a:t>
            </a:r>
            <a:r>
              <a:rPr lang="en-US" altLang="zh-CN" sz="2400" dirty="0">
                <a:ea typeface="华文行楷" pitchFamily="2" charset="-122"/>
              </a:rPr>
              <a:t>|T</a:t>
            </a:r>
            <a:br>
              <a:rPr lang="en-US" altLang="zh-CN" sz="2400" dirty="0">
                <a:ea typeface="华文行楷" pitchFamily="2" charset="-122"/>
              </a:rPr>
            </a:br>
            <a:r>
              <a:rPr lang="zh-CN" altLang="en-US" sz="2400" dirty="0">
                <a:latin typeface="宋体" pitchFamily="2" charset="-122"/>
                <a:ea typeface="华文行楷" pitchFamily="2" charset="-122"/>
              </a:rPr>
              <a:t>　　</a:t>
            </a:r>
            <a:r>
              <a:rPr lang="zh-CN" altLang="en-US" sz="2400" dirty="0">
                <a:ea typeface="华文行楷" pitchFamily="2" charset="-122"/>
              </a:rPr>
              <a:t> </a:t>
            </a:r>
            <a:r>
              <a:rPr lang="zh-CN" altLang="en-US" sz="2400" dirty="0">
                <a:latin typeface="宋体" pitchFamily="2" charset="-122"/>
                <a:ea typeface="华文行楷" pitchFamily="2" charset="-122"/>
              </a:rPr>
              <a:t>　</a:t>
            </a:r>
            <a:r>
              <a:rPr lang="en-US" altLang="zh-CN" sz="2400" dirty="0">
                <a:ea typeface="华文行楷" pitchFamily="2" charset="-122"/>
              </a:rPr>
              <a:t>T</a:t>
            </a:r>
            <a:r>
              <a:rPr lang="en-US" altLang="zh-CN" sz="2400" dirty="0">
                <a:ea typeface="华文行楷" pitchFamily="2" charset="-122"/>
                <a:sym typeface="Wingdings" pitchFamily="2" charset="2"/>
              </a:rPr>
              <a:t></a:t>
            </a:r>
            <a:r>
              <a:rPr lang="en-US" altLang="zh-CN" sz="2400" dirty="0">
                <a:ea typeface="华文行楷" pitchFamily="2" charset="-122"/>
              </a:rPr>
              <a:t>T*F|F</a:t>
            </a:r>
            <a:br>
              <a:rPr lang="en-US" altLang="zh-CN" sz="2400" dirty="0">
                <a:ea typeface="华文行楷" pitchFamily="2" charset="-122"/>
              </a:rPr>
            </a:br>
            <a:r>
              <a:rPr lang="zh-CN" altLang="en-US" sz="2400" dirty="0">
                <a:latin typeface="宋体" pitchFamily="2" charset="-122"/>
                <a:ea typeface="华文行楷" pitchFamily="2" charset="-122"/>
              </a:rPr>
              <a:t>　　　 </a:t>
            </a:r>
            <a:r>
              <a:rPr lang="en-US" altLang="zh-CN" sz="2400" dirty="0">
                <a:ea typeface="华文行楷" pitchFamily="2" charset="-122"/>
              </a:rPr>
              <a:t>F</a:t>
            </a:r>
            <a:r>
              <a:rPr lang="en-US" altLang="zh-CN" sz="2400" dirty="0">
                <a:ea typeface="华文行楷" pitchFamily="2" charset="-122"/>
                <a:sym typeface="Wingdings" pitchFamily="2" charset="2"/>
              </a:rPr>
              <a:t> </a:t>
            </a:r>
            <a:r>
              <a:rPr lang="en-US" altLang="zh-CN" sz="2400" dirty="0">
                <a:ea typeface="华文行楷" pitchFamily="2" charset="-122"/>
              </a:rPr>
              <a:t>(E)|</a:t>
            </a:r>
            <a:r>
              <a:rPr lang="en-US" altLang="zh-CN" sz="2400" dirty="0" err="1">
                <a:ea typeface="华文行楷" pitchFamily="2" charset="-122"/>
              </a:rPr>
              <a:t>i</a:t>
            </a:r>
            <a:r>
              <a:rPr lang="en-US" altLang="zh-CN" sz="2400" dirty="0">
                <a:ea typeface="华文行楷" pitchFamily="2" charset="-122"/>
              </a:rPr>
              <a:t>  </a:t>
            </a:r>
            <a:r>
              <a:rPr lang="zh-CN" altLang="en-US" sz="2400" dirty="0">
                <a:ea typeface="华文行楷" pitchFamily="2" charset="-122"/>
              </a:rPr>
              <a:t>求算符优先关系表</a:t>
            </a:r>
          </a:p>
        </p:txBody>
      </p:sp>
      <p:grpSp>
        <p:nvGrpSpPr>
          <p:cNvPr id="2" name="Group 491"/>
          <p:cNvGrpSpPr>
            <a:grpSpLocks/>
          </p:cNvGrpSpPr>
          <p:nvPr/>
        </p:nvGrpSpPr>
        <p:grpSpPr bwMode="auto">
          <a:xfrm>
            <a:off x="323528" y="4608059"/>
            <a:ext cx="8733355" cy="369822"/>
            <a:chOff x="12" y="3940"/>
            <a:chExt cx="4368" cy="311"/>
          </a:xfrm>
        </p:grpSpPr>
        <p:sp>
          <p:nvSpPr>
            <p:cNvPr id="146556" name="Rectangle 388"/>
            <p:cNvSpPr>
              <a:spLocks noChangeArrowheads="1"/>
            </p:cNvSpPr>
            <p:nvPr/>
          </p:nvSpPr>
          <p:spPr bwMode="auto">
            <a:xfrm>
              <a:off x="12" y="3940"/>
              <a:ext cx="4368" cy="311"/>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1800" dirty="0">
                  <a:ea typeface="华文行楷" pitchFamily="2" charset="-122"/>
                </a:rPr>
                <a:t>#</a:t>
              </a:r>
              <a:r>
                <a:rPr lang="zh-CN" altLang="en-US" sz="1800" dirty="0">
                  <a:latin typeface="宋体" pitchFamily="2" charset="-122"/>
                  <a:ea typeface="华文行楷" pitchFamily="2" charset="-122"/>
                </a:rPr>
                <a:t>和其它符号</a:t>
              </a:r>
              <a:r>
                <a:rPr lang="en-US" altLang="zh-CN" sz="1800" dirty="0">
                  <a:ea typeface="华文行楷" pitchFamily="2" charset="-122"/>
                </a:rPr>
                <a:t>a</a:t>
              </a:r>
              <a:r>
                <a:rPr lang="zh-CN" altLang="en-US" sz="1800" dirty="0">
                  <a:ea typeface="华文行楷" pitchFamily="2" charset="-122"/>
                </a:rPr>
                <a:t>的</a:t>
              </a:r>
              <a:r>
                <a:rPr lang="zh-CN" altLang="en-US" sz="1800" dirty="0">
                  <a:latin typeface="宋体" pitchFamily="2" charset="-122"/>
                  <a:ea typeface="华文行楷" pitchFamily="2" charset="-122"/>
                </a:rPr>
                <a:t>关系</a:t>
              </a:r>
              <a:r>
                <a:rPr lang="zh-CN" altLang="en-US" sz="1800" dirty="0">
                  <a:ea typeface="华文行楷" pitchFamily="2" charset="-122"/>
                </a:rPr>
                <a:t>是通过</a:t>
              </a:r>
              <a:r>
                <a:rPr lang="zh-CN" altLang="en-US" sz="1800" dirty="0">
                  <a:latin typeface="宋体" pitchFamily="2" charset="-122"/>
                  <a:ea typeface="华文行楷" pitchFamily="2" charset="-122"/>
                </a:rPr>
                <a:t>拓展</a:t>
              </a:r>
              <a:r>
                <a:rPr lang="en-US" altLang="zh-CN" sz="1800" dirty="0">
                  <a:latin typeface="宋体" pitchFamily="2" charset="-122"/>
                  <a:ea typeface="华文行楷" pitchFamily="2" charset="-122"/>
                </a:rPr>
                <a:t>E</a:t>
              </a:r>
              <a:r>
                <a:rPr lang="en-US" altLang="zh-CN" sz="1800" dirty="0">
                  <a:ea typeface="华文行楷" pitchFamily="2" charset="-122"/>
                  <a:cs typeface="Times New Roman" panose="02020603050405020304" pitchFamily="18" charset="0"/>
                </a:rPr>
                <a:t>’</a:t>
              </a:r>
              <a:r>
                <a:rPr lang="en-US" altLang="zh-CN" sz="1800" dirty="0">
                  <a:latin typeface="宋体" pitchFamily="2" charset="-122"/>
                  <a:ea typeface="华文行楷" pitchFamily="2" charset="-122"/>
                  <a:sym typeface="Wingdings" pitchFamily="2" charset="2"/>
                </a:rPr>
                <a:t>#</a:t>
              </a:r>
              <a:r>
                <a:rPr lang="en-US" altLang="zh-CN" sz="1800" dirty="0">
                  <a:latin typeface="宋体" pitchFamily="2" charset="-122"/>
                  <a:ea typeface="华文行楷" pitchFamily="2" charset="-122"/>
                </a:rPr>
                <a:t>E#</a:t>
              </a:r>
              <a:r>
                <a:rPr lang="zh-CN" altLang="en-US" sz="1800" dirty="0">
                  <a:latin typeface="宋体" pitchFamily="2" charset="-122"/>
                  <a:ea typeface="华文行楷" pitchFamily="2" charset="-122"/>
                </a:rPr>
                <a:t>来计算</a:t>
              </a:r>
              <a:r>
                <a:rPr lang="en-US" altLang="zh-CN" sz="1800" dirty="0">
                  <a:latin typeface="宋体" pitchFamily="2" charset="-122"/>
                  <a:ea typeface="华文行楷" pitchFamily="2" charset="-122"/>
                </a:rPr>
                <a:t>,</a:t>
              </a:r>
              <a:r>
                <a:rPr lang="zh-CN" altLang="en-US" sz="1800" dirty="0">
                  <a:latin typeface="宋体" pitchFamily="2" charset="-122"/>
                  <a:ea typeface="华文行楷" pitchFamily="2" charset="-122"/>
                </a:rPr>
                <a:t>若有关系，则必有</a:t>
              </a:r>
              <a:r>
                <a:rPr lang="en-US" altLang="zh-CN" sz="1800" dirty="0">
                  <a:ea typeface="华文行楷" pitchFamily="2" charset="-122"/>
                </a:rPr>
                <a:t>: #  &lt;   a ;a   &gt;   # </a:t>
              </a:r>
              <a:endParaRPr lang="en-US" altLang="zh-CN" sz="2400" dirty="0">
                <a:solidFill>
                  <a:srgbClr val="000000"/>
                </a:solidFill>
                <a:ea typeface="华文行楷" pitchFamily="2" charset="-122"/>
              </a:endParaRPr>
            </a:p>
          </p:txBody>
        </p:sp>
        <p:pic>
          <p:nvPicPr>
            <p:cNvPr id="146557" name="Picture 441"/>
            <p:cNvPicPr>
              <a:picLocks noChangeAspect="1" noChangeArrowheads="1"/>
            </p:cNvPicPr>
            <p:nvPr/>
          </p:nvPicPr>
          <p:blipFill rotWithShape="1">
            <a:blip r:embed="rId4">
              <a:extLst>
                <a:ext uri="{28A0092B-C50C-407E-A947-70E740481C1C}">
                  <a14:useLocalDpi xmlns:a14="http://schemas.microsoft.com/office/drawing/2010/main" val="0"/>
                </a:ext>
              </a:extLst>
            </a:blip>
            <a:srcRect l="19093" r="18195"/>
            <a:stretch/>
          </p:blipFill>
          <p:spPr bwMode="auto">
            <a:xfrm>
              <a:off x="3497" y="3984"/>
              <a:ext cx="143"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558" name="Picture 445"/>
            <p:cNvPicPr>
              <a:picLocks noChangeAspect="1" noChangeArrowheads="1"/>
            </p:cNvPicPr>
            <p:nvPr/>
          </p:nvPicPr>
          <p:blipFill rotWithShape="1">
            <a:blip r:embed="rId5">
              <a:extLst>
                <a:ext uri="{28A0092B-C50C-407E-A947-70E740481C1C}">
                  <a14:useLocalDpi xmlns:a14="http://schemas.microsoft.com/office/drawing/2010/main" val="0"/>
                </a:ext>
              </a:extLst>
            </a:blip>
            <a:srcRect l="35765" t="1" r="17501" b="6046"/>
            <a:stretch/>
          </p:blipFill>
          <p:spPr bwMode="auto">
            <a:xfrm>
              <a:off x="3875" y="4011"/>
              <a:ext cx="12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aphicFrame>
        <p:nvGraphicFramePr>
          <p:cNvPr id="18890" name="Object 458"/>
          <p:cNvGraphicFramePr>
            <a:graphicFrameLocks noChangeAspect="1"/>
          </p:cNvGraphicFramePr>
          <p:nvPr>
            <p:extLst>
              <p:ext uri="{D42A27DB-BD31-4B8C-83A1-F6EECF244321}">
                <p14:modId xmlns:p14="http://schemas.microsoft.com/office/powerpoint/2010/main" val="1309445402"/>
              </p:ext>
            </p:extLst>
          </p:nvPr>
        </p:nvGraphicFramePr>
        <p:xfrm>
          <a:off x="2987824" y="1558454"/>
          <a:ext cx="449263" cy="169863"/>
        </p:xfrm>
        <a:graphic>
          <a:graphicData uri="http://schemas.openxmlformats.org/presentationml/2006/ole">
            <mc:AlternateContent xmlns:mc="http://schemas.openxmlformats.org/markup-compatibility/2006">
              <mc:Choice xmlns:v="urn:schemas-microsoft-com:vml" Requires="v">
                <p:oleObj spid="_x0000_s30767" name="位图图像" r:id="rId6" imgW="295238" imgH="190426" progId="Paint.Picture">
                  <p:embed/>
                </p:oleObj>
              </mc:Choice>
              <mc:Fallback>
                <p:oleObj name="位图图像" r:id="rId6" imgW="295238" imgH="190426" progId="Paint.Picture">
                  <p:embed/>
                  <p:pic>
                    <p:nvPicPr>
                      <p:cNvPr id="18890" name="Object 45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87824" y="1558454"/>
                        <a:ext cx="449263" cy="169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891" name="Object 459"/>
          <p:cNvGraphicFramePr>
            <a:graphicFrameLocks noChangeAspect="1"/>
          </p:cNvGraphicFramePr>
          <p:nvPr>
            <p:extLst>
              <p:ext uri="{D42A27DB-BD31-4B8C-83A1-F6EECF244321}">
                <p14:modId xmlns:p14="http://schemas.microsoft.com/office/powerpoint/2010/main" val="70771605"/>
              </p:ext>
            </p:extLst>
          </p:nvPr>
        </p:nvGraphicFramePr>
        <p:xfrm>
          <a:off x="8155186" y="3418434"/>
          <a:ext cx="449262" cy="171450"/>
        </p:xfrm>
        <a:graphic>
          <a:graphicData uri="http://schemas.openxmlformats.org/presentationml/2006/ole">
            <mc:AlternateContent xmlns:mc="http://schemas.openxmlformats.org/markup-compatibility/2006">
              <mc:Choice xmlns:v="urn:schemas-microsoft-com:vml" Requires="v">
                <p:oleObj spid="_x0000_s30768" name="位图图像" r:id="rId8" imgW="295238" imgH="190426" progId="Paint.Picture">
                  <p:embed/>
                </p:oleObj>
              </mc:Choice>
              <mc:Fallback>
                <p:oleObj name="位图图像" r:id="rId8" imgW="295238" imgH="190426" progId="Paint.Picture">
                  <p:embed/>
                  <p:pic>
                    <p:nvPicPr>
                      <p:cNvPr id="18891" name="Object 45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5186" y="3418434"/>
                        <a:ext cx="449262"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910" name="Object 478"/>
          <p:cNvGraphicFramePr>
            <a:graphicFrameLocks noChangeAspect="1"/>
          </p:cNvGraphicFramePr>
          <p:nvPr>
            <p:extLst>
              <p:ext uri="{D42A27DB-BD31-4B8C-83A1-F6EECF244321}">
                <p14:modId xmlns:p14="http://schemas.microsoft.com/office/powerpoint/2010/main" val="340589757"/>
              </p:ext>
            </p:extLst>
          </p:nvPr>
        </p:nvGraphicFramePr>
        <p:xfrm>
          <a:off x="6444456" y="2332584"/>
          <a:ext cx="431800" cy="209550"/>
        </p:xfrm>
        <a:graphic>
          <a:graphicData uri="http://schemas.openxmlformats.org/presentationml/2006/ole">
            <mc:AlternateContent xmlns:mc="http://schemas.openxmlformats.org/markup-compatibility/2006">
              <mc:Choice xmlns:v="urn:schemas-microsoft-com:vml" Requires="v">
                <p:oleObj spid="_x0000_s30769" name="位图图像" r:id="rId9" imgW="219222" imgH="181096" progId="Paint.Picture">
                  <p:embed/>
                </p:oleObj>
              </mc:Choice>
              <mc:Fallback>
                <p:oleObj name="位图图像" r:id="rId9" imgW="219222" imgH="181096" progId="Paint.Picture">
                  <p:embed/>
                  <p:pic>
                    <p:nvPicPr>
                      <p:cNvPr id="18910" name="Object 47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44456" y="2332584"/>
                        <a:ext cx="431800"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911" name="Object 479"/>
          <p:cNvGraphicFramePr>
            <a:graphicFrameLocks noChangeAspect="1"/>
          </p:cNvGraphicFramePr>
          <p:nvPr>
            <p:extLst>
              <p:ext uri="{D42A27DB-BD31-4B8C-83A1-F6EECF244321}">
                <p14:modId xmlns:p14="http://schemas.microsoft.com/office/powerpoint/2010/main" val="2469144430"/>
              </p:ext>
            </p:extLst>
          </p:nvPr>
        </p:nvGraphicFramePr>
        <p:xfrm>
          <a:off x="5940400" y="2635796"/>
          <a:ext cx="431800" cy="255588"/>
        </p:xfrm>
        <a:graphic>
          <a:graphicData uri="http://schemas.openxmlformats.org/presentationml/2006/ole">
            <mc:AlternateContent xmlns:mc="http://schemas.openxmlformats.org/markup-compatibility/2006">
              <mc:Choice xmlns:v="urn:schemas-microsoft-com:vml" Requires="v">
                <p:oleObj spid="_x0000_s30770" name="位图图像" r:id="rId11" imgW="219222" imgH="219222" progId="Paint.Picture">
                  <p:embed/>
                </p:oleObj>
              </mc:Choice>
              <mc:Fallback>
                <p:oleObj name="位图图像" r:id="rId11" imgW="219222" imgH="219222" progId="Paint.Picture">
                  <p:embed/>
                  <p:pic>
                    <p:nvPicPr>
                      <p:cNvPr id="18911" name="Object 47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40400" y="2635796"/>
                        <a:ext cx="431800" cy="255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8912" name="Picture 48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40400" y="2286546"/>
            <a:ext cx="431800" cy="25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13" name="Picture 48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12160" y="3753396"/>
            <a:ext cx="431800" cy="25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14" name="Picture 48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40400" y="3008859"/>
            <a:ext cx="4318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15" name="Picture 48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20520" y="2332584"/>
            <a:ext cx="4318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16" name="Picture 4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4576" y="2332584"/>
            <a:ext cx="4318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组合 33"/>
          <p:cNvGrpSpPr/>
          <p:nvPr/>
        </p:nvGrpSpPr>
        <p:grpSpPr>
          <a:xfrm>
            <a:off x="3145132" y="0"/>
            <a:ext cx="5976664" cy="1026860"/>
            <a:chOff x="755576" y="2859782"/>
            <a:chExt cx="5976664" cy="1026860"/>
          </a:xfrm>
        </p:grpSpPr>
        <p:sp>
          <p:nvSpPr>
            <p:cNvPr id="35" name="Rectangle 3"/>
            <p:cNvSpPr txBox="1">
              <a:spLocks noChangeArrowheads="1"/>
            </p:cNvSpPr>
            <p:nvPr/>
          </p:nvSpPr>
          <p:spPr>
            <a:xfrm>
              <a:off x="755576" y="2859782"/>
              <a:ext cx="5976664" cy="102686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10000"/>
                </a:lnSpc>
                <a:spcBef>
                  <a:spcPts val="0"/>
                </a:spcBef>
                <a:buNone/>
              </a:pPr>
              <a:r>
                <a:rPr lang="zh-CN" altLang="en-US" sz="2000" dirty="0">
                  <a:latin typeface="宋体" pitchFamily="2" charset="-122"/>
                  <a:ea typeface="宋体" panose="02010600030101010101" pitchFamily="2" charset="-122"/>
                </a:rPr>
                <a:t>① </a:t>
              </a:r>
              <a:r>
                <a:rPr lang="en-US" altLang="zh-CN" sz="2000" dirty="0">
                  <a:latin typeface="宋体" panose="02010600030101010101" pitchFamily="2" charset="-122"/>
                  <a:ea typeface="宋体" panose="02010600030101010101" pitchFamily="2" charset="-122"/>
                </a:rPr>
                <a:t>a   </a:t>
              </a:r>
              <a:r>
                <a:rPr lang="en-US" altLang="zh-CN" sz="2000" dirty="0" err="1">
                  <a:latin typeface="宋体" panose="02010600030101010101" pitchFamily="2" charset="-122"/>
                  <a:ea typeface="宋体" panose="02010600030101010101" pitchFamily="2" charset="-122"/>
                </a:rPr>
                <a:t>b,G</a:t>
              </a:r>
              <a:r>
                <a:rPr lang="zh-CN" altLang="en-US" sz="2000" dirty="0">
                  <a:latin typeface="宋体" pitchFamily="2" charset="-122"/>
                  <a:ea typeface="宋体" panose="02010600030101010101" pitchFamily="2" charset="-122"/>
                </a:rPr>
                <a:t>中有</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② </a:t>
              </a:r>
              <a:r>
                <a:rPr lang="en-US" altLang="zh-CN" sz="2000" dirty="0">
                  <a:latin typeface="宋体" panose="02010600030101010101" pitchFamily="2" charset="-122"/>
                  <a:ea typeface="宋体" panose="02010600030101010101" pitchFamily="2" charset="-122"/>
                </a:rPr>
                <a:t>a   b,</a:t>
              </a:r>
              <a:r>
                <a:rPr lang="zh-CN" altLang="en-US" sz="2000" dirty="0">
                  <a:latin typeface="宋体" panose="02010600030101010101"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aR.</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③ </a:t>
              </a:r>
              <a:r>
                <a:rPr lang="en-US" altLang="zh-CN" sz="2000" dirty="0">
                  <a:latin typeface="宋体" panose="02010600030101010101" pitchFamily="2" charset="-122"/>
                  <a:ea typeface="宋体" panose="02010600030101010101" pitchFamily="2" charset="-122"/>
                </a:rPr>
                <a:t>a   b,</a:t>
              </a:r>
              <a:r>
                <a:rPr lang="zh-CN" altLang="en-US" sz="2000" dirty="0">
                  <a:latin typeface="宋体"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Rb</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R=&gt;...a</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aQ</a:t>
              </a:r>
              <a:endParaRPr lang="en-US" altLang="zh-CN" sz="2000" dirty="0">
                <a:latin typeface="宋体" panose="02010600030101010101" pitchFamily="2" charset="-122"/>
                <a:ea typeface="宋体" panose="02010600030101010101" pitchFamily="2" charset="-122"/>
              </a:endParaRPr>
            </a:p>
          </p:txBody>
        </p:sp>
        <p:sp>
          <p:nvSpPr>
            <p:cNvPr id="36" name="Rectangle 4"/>
            <p:cNvSpPr>
              <a:spLocks noChangeArrowheads="1"/>
            </p:cNvSpPr>
            <p:nvPr/>
          </p:nvSpPr>
          <p:spPr bwMode="auto">
            <a:xfrm>
              <a:off x="5580112" y="334509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37" name="Rectangle 5"/>
            <p:cNvSpPr>
              <a:spLocks noChangeArrowheads="1"/>
            </p:cNvSpPr>
            <p:nvPr/>
          </p:nvSpPr>
          <p:spPr bwMode="auto">
            <a:xfrm>
              <a:off x="4427984" y="3363838"/>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38" name="Object 5"/>
            <p:cNvGraphicFramePr>
              <a:graphicFrameLocks/>
            </p:cNvGraphicFramePr>
            <p:nvPr>
              <p:extLst>
                <p:ext uri="{D42A27DB-BD31-4B8C-83A1-F6EECF244321}">
                  <p14:modId xmlns:p14="http://schemas.microsoft.com/office/powerpoint/2010/main" val="2790222491"/>
                </p:ext>
              </p:extLst>
            </p:nvPr>
          </p:nvGraphicFramePr>
          <p:xfrm>
            <a:off x="1475656" y="3651870"/>
            <a:ext cx="360040" cy="159580"/>
          </p:xfrm>
          <a:graphic>
            <a:graphicData uri="http://schemas.openxmlformats.org/presentationml/2006/ole">
              <mc:AlternateContent xmlns:mc="http://schemas.openxmlformats.org/markup-compatibility/2006">
                <mc:Choice xmlns:v="urn:schemas-microsoft-com:vml" Requires="v">
                  <p:oleObj spid="_x0000_s30771" name="位图图像" r:id="rId13" imgW="171338" imgH="171338" progId="Paint.Picture">
                    <p:embed/>
                  </p:oleObj>
                </mc:Choice>
                <mc:Fallback>
                  <p:oleObj name="位图图像" r:id="rId13" imgW="171338" imgH="171338" progId="Paint.Picture">
                    <p:embed/>
                    <p:pic>
                      <p:nvPicPr>
                        <p:cNvPr id="38" name="Object 5"/>
                        <p:cNvPicPr>
                          <a:picLocks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75656" y="3651870"/>
                          <a:ext cx="360040" cy="159580"/>
                        </a:xfrm>
                        <a:prstGeom prst="rect">
                          <a:avLst/>
                        </a:prstGeom>
                        <a:noFill/>
                        <a:ln>
                          <a:noFill/>
                        </a:ln>
                        <a:effectLst/>
                      </p:spPr>
                    </p:pic>
                  </p:oleObj>
                </mc:Fallback>
              </mc:AlternateContent>
            </a:graphicData>
          </a:graphic>
        </p:graphicFrame>
        <p:sp>
          <p:nvSpPr>
            <p:cNvPr id="39" name="Rectangle 6"/>
            <p:cNvSpPr>
              <a:spLocks noChangeArrowheads="1"/>
            </p:cNvSpPr>
            <p:nvPr/>
          </p:nvSpPr>
          <p:spPr bwMode="auto">
            <a:xfrm>
              <a:off x="5580112"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40" name="Rectangle 7"/>
            <p:cNvSpPr>
              <a:spLocks noChangeArrowheads="1"/>
            </p:cNvSpPr>
            <p:nvPr/>
          </p:nvSpPr>
          <p:spPr bwMode="auto">
            <a:xfrm>
              <a:off x="4427984"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41" name="Object 4"/>
            <p:cNvGraphicFramePr>
              <a:graphicFrameLocks noChangeAspect="1"/>
            </p:cNvGraphicFramePr>
            <p:nvPr>
              <p:extLst>
                <p:ext uri="{D42A27DB-BD31-4B8C-83A1-F6EECF244321}">
                  <p14:modId xmlns:p14="http://schemas.microsoft.com/office/powerpoint/2010/main" val="2101870323"/>
                </p:ext>
              </p:extLst>
            </p:nvPr>
          </p:nvGraphicFramePr>
          <p:xfrm>
            <a:off x="1475656" y="3353717"/>
            <a:ext cx="343917" cy="203643"/>
          </p:xfrm>
          <a:graphic>
            <a:graphicData uri="http://schemas.openxmlformats.org/presentationml/2006/ole">
              <mc:AlternateContent xmlns:mc="http://schemas.openxmlformats.org/markup-compatibility/2006">
                <mc:Choice xmlns:v="urn:schemas-microsoft-com:vml" Requires="v">
                  <p:oleObj spid="_x0000_s30772" name="位图图像" r:id="rId15" imgW="171338" imgH="181096" progId="Paint.Picture">
                    <p:embed/>
                  </p:oleObj>
                </mc:Choice>
                <mc:Fallback>
                  <p:oleObj name="位图图像" r:id="rId15" imgW="171338" imgH="181096" progId="Paint.Picture">
                    <p:embed/>
                    <p:pic>
                      <p:nvPicPr>
                        <p:cNvPr id="41" name="Object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75656" y="3353717"/>
                          <a:ext cx="343917" cy="203643"/>
                        </a:xfrm>
                        <a:prstGeom prst="rect">
                          <a:avLst/>
                        </a:prstGeom>
                        <a:noFill/>
                        <a:ln>
                          <a:noFill/>
                        </a:ln>
                        <a:effectLst/>
                      </p:spPr>
                    </p:pic>
                  </p:oleObj>
                </mc:Fallback>
              </mc:AlternateContent>
            </a:graphicData>
          </a:graphic>
        </p:graphicFrame>
        <p:graphicFrame>
          <p:nvGraphicFramePr>
            <p:cNvPr id="42" name="Object 6"/>
            <p:cNvGraphicFramePr>
              <a:graphicFrameLocks noChangeAspect="1"/>
            </p:cNvGraphicFramePr>
            <p:nvPr>
              <p:extLst>
                <p:ext uri="{D42A27DB-BD31-4B8C-83A1-F6EECF244321}">
                  <p14:modId xmlns:p14="http://schemas.microsoft.com/office/powerpoint/2010/main" val="469749670"/>
                </p:ext>
              </p:extLst>
            </p:nvPr>
          </p:nvGraphicFramePr>
          <p:xfrm>
            <a:off x="1475656" y="3003798"/>
            <a:ext cx="360040" cy="170298"/>
          </p:xfrm>
          <a:graphic>
            <a:graphicData uri="http://schemas.openxmlformats.org/presentationml/2006/ole">
              <mc:AlternateContent xmlns:mc="http://schemas.openxmlformats.org/markup-compatibility/2006">
                <mc:Choice xmlns:v="urn:schemas-microsoft-com:vml" Requires="v">
                  <p:oleObj spid="_x0000_s30773" name="位图图像" r:id="rId17" imgW="295238" imgH="190426" progId="Paint.Picture">
                    <p:embed/>
                  </p:oleObj>
                </mc:Choice>
                <mc:Fallback>
                  <p:oleObj name="位图图像" r:id="rId17" imgW="295238" imgH="190426" progId="Paint.Picture">
                    <p:embed/>
                    <p:pic>
                      <p:nvPicPr>
                        <p:cNvPr id="42" name="Object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75656" y="3003798"/>
                          <a:ext cx="360040" cy="170298"/>
                        </a:xfrm>
                        <a:prstGeom prst="rect">
                          <a:avLst/>
                        </a:prstGeom>
                        <a:noFill/>
                        <a:ln>
                          <a:noFill/>
                        </a:ln>
                        <a:effectLst/>
                      </p:spPr>
                    </p:pic>
                  </p:oleObj>
                </mc:Fallback>
              </mc:AlternateContent>
            </a:graphicData>
          </a:graphic>
        </p:graphicFrame>
      </p:grpSp>
      <p:grpSp>
        <p:nvGrpSpPr>
          <p:cNvPr id="46" name="组合 45"/>
          <p:cNvGrpSpPr/>
          <p:nvPr/>
        </p:nvGrpSpPr>
        <p:grpSpPr>
          <a:xfrm>
            <a:off x="2052192" y="1734940"/>
            <a:ext cx="1873250" cy="1254918"/>
            <a:chOff x="2339752" y="3219822"/>
            <a:chExt cx="1873250" cy="1254918"/>
          </a:xfrm>
        </p:grpSpPr>
        <p:sp>
          <p:nvSpPr>
            <p:cNvPr id="47" name="Text Box 399"/>
            <p:cNvSpPr txBox="1">
              <a:spLocks noChangeArrowheads="1"/>
            </p:cNvSpPr>
            <p:nvPr/>
          </p:nvSpPr>
          <p:spPr bwMode="auto">
            <a:xfrm>
              <a:off x="2339752" y="3219822"/>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
          <p:nvSpPr>
            <p:cNvPr id="48" name="Text Box 401"/>
            <p:cNvSpPr txBox="1">
              <a:spLocks noChangeArrowheads="1"/>
            </p:cNvSpPr>
            <p:nvPr/>
          </p:nvSpPr>
          <p:spPr bwMode="auto">
            <a:xfrm>
              <a:off x="2339752" y="3580581"/>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
          <p:nvSpPr>
            <p:cNvPr id="49" name="Text Box 402"/>
            <p:cNvSpPr txBox="1">
              <a:spLocks noChangeArrowheads="1"/>
            </p:cNvSpPr>
            <p:nvPr/>
          </p:nvSpPr>
          <p:spPr bwMode="auto">
            <a:xfrm>
              <a:off x="2339752" y="4012778"/>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graphicFrame>
          <p:nvGraphicFramePr>
            <p:cNvPr id="50" name="Object 408"/>
            <p:cNvGraphicFramePr>
              <a:graphicFrameLocks noChangeAspect="1"/>
            </p:cNvGraphicFramePr>
            <p:nvPr>
              <p:extLst>
                <p:ext uri="{D42A27DB-BD31-4B8C-83A1-F6EECF244321}">
                  <p14:modId xmlns:p14="http://schemas.microsoft.com/office/powerpoint/2010/main" val="2480637993"/>
                </p:ext>
              </p:extLst>
            </p:nvPr>
          </p:nvGraphicFramePr>
          <p:xfrm>
            <a:off x="3781202" y="3786559"/>
            <a:ext cx="431800" cy="210741"/>
          </p:xfrm>
          <a:graphic>
            <a:graphicData uri="http://schemas.openxmlformats.org/presentationml/2006/ole">
              <mc:AlternateContent xmlns:mc="http://schemas.openxmlformats.org/markup-compatibility/2006">
                <mc:Choice xmlns:v="urn:schemas-microsoft-com:vml" Requires="v">
                  <p:oleObj spid="_x0000_s30774" name="位图图像" r:id="rId19" imgW="219222" imgH="181096" progId="Paint.Picture">
                    <p:embed/>
                  </p:oleObj>
                </mc:Choice>
                <mc:Fallback>
                  <p:oleObj name="位图图像" r:id="rId19" imgW="219222" imgH="181096" progId="Paint.Picture">
                    <p:embed/>
                    <p:pic>
                      <p:nvPicPr>
                        <p:cNvPr id="50" name="Object 40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81202" y="3786559"/>
                          <a:ext cx="431800" cy="2107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51" name="Picture 4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0840" y="3407941"/>
              <a:ext cx="431800" cy="210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4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93890" y="4210422"/>
              <a:ext cx="431800" cy="210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aphicFrame>
        <p:nvGraphicFramePr>
          <p:cNvPr id="53" name="Group 395"/>
          <p:cNvGraphicFramePr>
            <a:graphicFrameLocks noGrp="1"/>
          </p:cNvGraphicFramePr>
          <p:nvPr>
            <p:extLst>
              <p:ext uri="{D42A27DB-BD31-4B8C-83A1-F6EECF244321}">
                <p14:modId xmlns:p14="http://schemas.microsoft.com/office/powerpoint/2010/main" val="362349092"/>
              </p:ext>
            </p:extLst>
          </p:nvPr>
        </p:nvGraphicFramePr>
        <p:xfrm>
          <a:off x="226814" y="1878956"/>
          <a:ext cx="4921250" cy="1116806"/>
        </p:xfrm>
        <a:graphic>
          <a:graphicData uri="http://schemas.openxmlformats.org/drawingml/2006/table">
            <a:tbl>
              <a:tblPr/>
              <a:tblGrid>
                <a:gridCol w="156845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361950">
                <a:tc rowSpan="3">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1" lang="zh-CN" altLang="en-US" sz="1800" b="0" i="0" u="none" strike="noStrike" cap="none" normalizeH="0" baseline="0" dirty="0">
                          <a:ln>
                            <a:noFill/>
                          </a:ln>
                          <a:solidFill>
                            <a:schemeClr val="tx1"/>
                          </a:solidFill>
                          <a:effectLst/>
                          <a:latin typeface="宋体" pitchFamily="2" charset="-122"/>
                          <a:ea typeface="宋体" pitchFamily="2" charset="-122"/>
                        </a:rPr>
                        <a:t>由</a:t>
                      </a:r>
                      <a:r>
                        <a:rPr kumimoji="1" lang="en-US" altLang="zh-CN" sz="1800" b="0" i="0" u="none" strike="noStrike" cap="none" normalizeH="0" baseline="0" dirty="0">
                          <a:ln>
                            <a:noFill/>
                          </a:ln>
                          <a:solidFill>
                            <a:schemeClr val="tx1"/>
                          </a:solidFill>
                          <a:effectLst/>
                          <a:latin typeface="宋体" pitchFamily="2" charset="-122"/>
                          <a:ea typeface="宋体" pitchFamily="2" charset="-122"/>
                          <a:cs typeface="Times New Roman" pitchFamily="18" charset="0"/>
                        </a:rPr>
                        <a:t>E-&gt;E+T</a:t>
                      </a: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err="1">
                          <a:ln>
                            <a:noFill/>
                          </a:ln>
                          <a:solidFill>
                            <a:schemeClr val="tx1"/>
                          </a:solidFill>
                          <a:effectLst/>
                          <a:latin typeface="Times New Roman" pitchFamily="18" charset="0"/>
                          <a:ea typeface="宋体" pitchFamily="2" charset="-122"/>
                        </a:rPr>
                        <a:t>i</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&lt;  </a:t>
                      </a:r>
                      <a:r>
                        <a:rPr kumimoji="1" lang="en-US" altLang="zh-CN" sz="1800" b="0" i="0" u="none" strike="noStrike" cap="none" normalizeH="0" baseline="0" dirty="0" err="1">
                          <a:ln>
                            <a:noFill/>
                          </a:ln>
                          <a:solidFill>
                            <a:schemeClr val="tx1"/>
                          </a:solidFill>
                          <a:effectLst/>
                          <a:latin typeface="Times New Roman" pitchFamily="18" charset="0"/>
                          <a:ea typeface="宋体" pitchFamily="2" charset="-122"/>
                        </a:rPr>
                        <a:t>i</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11956">
                <a:tc vMerge="1">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T*F,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&lt;   *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2900">
                <a:tc vMerge="1">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&lt;   (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54" name="Group 395"/>
          <p:cNvGraphicFramePr>
            <a:graphicFrameLocks noGrp="1"/>
          </p:cNvGraphicFramePr>
          <p:nvPr>
            <p:extLst>
              <p:ext uri="{D42A27DB-BD31-4B8C-83A1-F6EECF244321}">
                <p14:modId xmlns:p14="http://schemas.microsoft.com/office/powerpoint/2010/main" val="2291721000"/>
              </p:ext>
            </p:extLst>
          </p:nvPr>
        </p:nvGraphicFramePr>
        <p:xfrm>
          <a:off x="226814" y="3003798"/>
          <a:ext cx="4921250" cy="1440656"/>
        </p:xfrm>
        <a:graphic>
          <a:graphicData uri="http://schemas.openxmlformats.org/drawingml/2006/table">
            <a:tbl>
              <a:tblPr/>
              <a:tblGrid>
                <a:gridCol w="156845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411956">
                <a:tc rowSpan="4">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1" lang="zh-CN" altLang="en-US" sz="1800" b="0" i="0" u="none" strike="noStrike" cap="none" normalizeH="0" baseline="0" dirty="0">
                          <a:ln>
                            <a:noFill/>
                          </a:ln>
                          <a:solidFill>
                            <a:schemeClr val="tx1"/>
                          </a:solidFill>
                          <a:effectLst/>
                          <a:latin typeface="宋体" pitchFamily="2" charset="-122"/>
                          <a:ea typeface="宋体" pitchFamily="2" charset="-122"/>
                        </a:rPr>
                        <a:t>由</a:t>
                      </a:r>
                      <a:r>
                        <a:rPr kumimoji="1" lang="en-US" altLang="zh-CN" sz="1800" b="0" i="0" u="none" strike="noStrike" cap="none" normalizeH="0" baseline="0" dirty="0">
                          <a:ln>
                            <a:noFill/>
                          </a:ln>
                          <a:solidFill>
                            <a:schemeClr val="tx1"/>
                          </a:solidFill>
                          <a:effectLst/>
                          <a:latin typeface="宋体" pitchFamily="2" charset="-122"/>
                          <a:ea typeface="宋体" pitchFamily="2" charset="-122"/>
                          <a:cs typeface="Times New Roman" pitchFamily="18" charset="0"/>
                        </a:rPr>
                        <a:t>E-&gt;E+T</a:t>
                      </a:r>
                      <a:endParaRPr kumimoji="1" lang="en-US"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宋体" pitchFamily="2" charset="-122"/>
                          <a:ea typeface="宋体" pitchFamily="2" charset="-122"/>
                          <a:cs typeface="Times New Roman" pitchFamily="18" charset="0"/>
                        </a:rPr>
                        <a:t>E =&gt; </a:t>
                      </a:r>
                      <a:r>
                        <a:rPr kumimoji="1" lang="en-US" altLang="zh-CN" sz="1800" b="0" i="0" u="none" strike="noStrike" cap="none" normalizeH="0" baseline="0" dirty="0" err="1">
                          <a:ln>
                            <a:noFill/>
                          </a:ln>
                          <a:solidFill>
                            <a:schemeClr val="tx1"/>
                          </a:solidFill>
                          <a:effectLst/>
                          <a:latin typeface="宋体" pitchFamily="2" charset="-122"/>
                          <a:ea typeface="宋体" pitchFamily="2" charset="-122"/>
                          <a:cs typeface="Times New Roman" pitchFamily="18" charset="0"/>
                        </a:rPr>
                        <a:t>i</a:t>
                      </a:r>
                      <a:r>
                        <a:rPr kumimoji="1" lang="en-US" altLang="zh-CN" sz="1800" b="0" i="0" u="none" strike="noStrike" cap="none" normalizeH="0" baseline="0" dirty="0">
                          <a:ln>
                            <a:noFill/>
                          </a:ln>
                          <a:solidFill>
                            <a:schemeClr val="tx1"/>
                          </a:solidFill>
                          <a:effectLst/>
                          <a:latin typeface="宋体" pitchFamily="2" charset="-122"/>
                          <a:ea typeface="宋体" pitchFamily="2" charset="-122"/>
                          <a:cs typeface="Times New Roman" pitchFamily="18" charset="0"/>
                        </a:rPr>
                        <a:t>,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a:t>
                      </a:r>
                      <a:r>
                        <a:rPr kumimoji="1" lang="en-US" altLang="zh-CN" sz="1800" b="0" i="0" u="none" strike="noStrike" cap="none" normalizeH="0" baseline="0" dirty="0" err="1">
                          <a:ln>
                            <a:noFill/>
                          </a:ln>
                          <a:solidFill>
                            <a:schemeClr val="tx1"/>
                          </a:solidFill>
                          <a:effectLst/>
                          <a:latin typeface="宋体" pitchFamily="2" charset="-122"/>
                          <a:ea typeface="宋体" pitchFamily="2" charset="-122"/>
                        </a:rPr>
                        <a:t>i</a:t>
                      </a:r>
                      <a:r>
                        <a:rPr kumimoji="1" lang="en-US" altLang="zh-CN" sz="1800" b="0" i="0" u="none" strike="noStrike" cap="none" normalizeH="0" baseline="0" dirty="0">
                          <a:ln>
                            <a:noFill/>
                          </a:ln>
                          <a:solidFill>
                            <a:schemeClr val="tx1"/>
                          </a:solidFill>
                          <a:effectLst/>
                          <a:latin typeface="宋体" pitchFamily="2" charset="-122"/>
                          <a:ea typeface="宋体" pitchFamily="2" charset="-122"/>
                        </a:rPr>
                        <a:t> &gt;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2900">
                <a:tc vMerge="1">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E+T,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&gt;   +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2900">
                <a:tc vMerge="1">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T*F,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a:t>
                      </a:r>
                      <a:r>
                        <a:rPr kumimoji="1" lang="zh-CN" altLang="en-US" sz="1800" b="0" i="0" u="none" strike="noStrike" cap="none" normalizeH="0" baseline="0" dirty="0">
                          <a:ln>
                            <a:noFill/>
                          </a:ln>
                          <a:solidFill>
                            <a:schemeClr val="tx1"/>
                          </a:solidFill>
                          <a:effectLst/>
                          <a:latin typeface="Times New Roman" pitchFamily="18" charset="0"/>
                          <a:ea typeface="宋体" pitchFamily="2" charset="-122"/>
                        </a:rPr>
                        <a: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&gt;   +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2900">
                <a:tc vMerge="1">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Times New Roman" pitchFamily="18" charset="0"/>
                        <a:ea typeface="宋体"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  </a:t>
                      </a:r>
                      <a:r>
                        <a:rPr kumimoji="1" lang="en-US" altLang="zh-CN" sz="1800" b="0" i="0" u="none" strike="noStrike" cap="none" normalizeH="0" baseline="0" dirty="0">
                          <a:ln>
                            <a:noFill/>
                          </a:ln>
                          <a:solidFill>
                            <a:schemeClr val="tx1"/>
                          </a:solidFill>
                          <a:effectLst/>
                          <a:latin typeface="宋体" pitchFamily="2" charset="-122"/>
                          <a:ea typeface="宋体" pitchFamily="2" charset="-122"/>
                        </a:rPr>
                        <a:t>=&gt;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(E), </a:t>
                      </a:r>
                      <a:r>
                        <a:rPr kumimoji="1" lang="zh-CN" altLang="en-US" sz="1800" b="0" i="0" u="none" strike="noStrike" cap="none" normalizeH="0" baseline="0" dirty="0">
                          <a:ln>
                            <a:noFill/>
                          </a:ln>
                          <a:solidFill>
                            <a:schemeClr val="tx1"/>
                          </a:solidFill>
                          <a:effectLst/>
                          <a:latin typeface="宋体" pitchFamily="2" charset="-122"/>
                          <a:ea typeface="宋体" pitchFamily="2" charset="-122"/>
                        </a:rPr>
                        <a:t>得 </a:t>
                      </a:r>
                      <a:r>
                        <a:rPr kumimoji="1" lang="en-US" altLang="zh-CN" sz="1800" b="0" i="0" u="none" strike="noStrike" cap="none" normalizeH="0" baseline="0" dirty="0">
                          <a:ln>
                            <a:noFill/>
                          </a:ln>
                          <a:solidFill>
                            <a:schemeClr val="tx1"/>
                          </a:solidFill>
                          <a:effectLst/>
                          <a:latin typeface="Times New Roman" pitchFamily="18" charset="0"/>
                          <a:ea typeface="宋体" pitchFamily="2" charset="-122"/>
                        </a:rPr>
                        <a:t>)   &gt;   + </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pSp>
        <p:nvGrpSpPr>
          <p:cNvPr id="55" name="组合 54"/>
          <p:cNvGrpSpPr/>
          <p:nvPr/>
        </p:nvGrpSpPr>
        <p:grpSpPr>
          <a:xfrm>
            <a:off x="2025451" y="2887415"/>
            <a:ext cx="1763713" cy="1583531"/>
            <a:chOff x="7066011" y="2854871"/>
            <a:chExt cx="1763713" cy="1583531"/>
          </a:xfrm>
        </p:grpSpPr>
        <p:sp>
          <p:nvSpPr>
            <p:cNvPr id="56" name="Text Box 403"/>
            <p:cNvSpPr txBox="1">
              <a:spLocks noChangeArrowheads="1"/>
            </p:cNvSpPr>
            <p:nvPr/>
          </p:nvSpPr>
          <p:spPr bwMode="auto">
            <a:xfrm>
              <a:off x="7066011" y="2854871"/>
              <a:ext cx="219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400" dirty="0">
                  <a:ea typeface="华文行楷" pitchFamily="2" charset="-122"/>
                </a:rPr>
                <a:t>*</a:t>
              </a:r>
            </a:p>
          </p:txBody>
        </p:sp>
        <p:sp>
          <p:nvSpPr>
            <p:cNvPr id="57" name="Text Box 404"/>
            <p:cNvSpPr txBox="1">
              <a:spLocks noChangeArrowheads="1"/>
            </p:cNvSpPr>
            <p:nvPr/>
          </p:nvSpPr>
          <p:spPr bwMode="auto">
            <a:xfrm>
              <a:off x="7066011" y="3257302"/>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
          <p:nvSpPr>
            <p:cNvPr id="58" name="Text Box 405"/>
            <p:cNvSpPr txBox="1">
              <a:spLocks noChangeArrowheads="1"/>
            </p:cNvSpPr>
            <p:nvPr/>
          </p:nvSpPr>
          <p:spPr bwMode="auto">
            <a:xfrm>
              <a:off x="7066011" y="3616871"/>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sp>
          <p:nvSpPr>
            <p:cNvPr id="59" name="Text Box 406"/>
            <p:cNvSpPr txBox="1">
              <a:spLocks noChangeArrowheads="1"/>
            </p:cNvSpPr>
            <p:nvPr/>
          </p:nvSpPr>
          <p:spPr bwMode="auto">
            <a:xfrm>
              <a:off x="7066011" y="3976440"/>
              <a:ext cx="360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ea typeface="华文行楷" pitchFamily="2" charset="-122"/>
                </a:rPr>
                <a:t>*</a:t>
              </a:r>
            </a:p>
          </p:txBody>
        </p:sp>
        <p:graphicFrame>
          <p:nvGraphicFramePr>
            <p:cNvPr id="60" name="Object 409"/>
            <p:cNvGraphicFramePr>
              <a:graphicFrameLocks noChangeAspect="1"/>
            </p:cNvGraphicFramePr>
            <p:nvPr>
              <p:extLst>
                <p:ext uri="{D42A27DB-BD31-4B8C-83A1-F6EECF244321}">
                  <p14:modId xmlns:p14="http://schemas.microsoft.com/office/powerpoint/2010/main" val="3167393345"/>
                </p:ext>
              </p:extLst>
            </p:nvPr>
          </p:nvGraphicFramePr>
          <p:xfrm>
            <a:off x="8397924" y="3799036"/>
            <a:ext cx="431800" cy="255984"/>
          </p:xfrm>
          <a:graphic>
            <a:graphicData uri="http://schemas.openxmlformats.org/presentationml/2006/ole">
              <mc:AlternateContent xmlns:mc="http://schemas.openxmlformats.org/markup-compatibility/2006">
                <mc:Choice xmlns:v="urn:schemas-microsoft-com:vml" Requires="v">
                  <p:oleObj spid="_x0000_s30775" name="位图图像" r:id="rId20" imgW="219222" imgH="219222" progId="Paint.Picture">
                    <p:embed/>
                  </p:oleObj>
                </mc:Choice>
                <mc:Fallback>
                  <p:oleObj name="位图图像" r:id="rId20" imgW="219222" imgH="219222" progId="Paint.Picture">
                    <p:embed/>
                    <p:pic>
                      <p:nvPicPr>
                        <p:cNvPr id="60" name="Object 40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97924" y="3799036"/>
                          <a:ext cx="431800" cy="2559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1" name="Picture 42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0461" y="3403302"/>
              <a:ext cx="431800"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4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62999" y="4122886"/>
              <a:ext cx="431800"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4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72648" y="3035846"/>
              <a:ext cx="431800"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8356365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89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8" presetClass="entr" presetSubtype="12" fill="hold" grpId="0" nodeType="clickEffect">
                                  <p:stCondLst>
                                    <p:cond delay="0"/>
                                  </p:stCondLst>
                                  <p:childTnLst>
                                    <p:set>
                                      <p:cBhvr>
                                        <p:cTn id="14" dur="1" fill="hold">
                                          <p:stCondLst>
                                            <p:cond delay="0"/>
                                          </p:stCondLst>
                                        </p:cTn>
                                        <p:tgtEl>
                                          <p:spTgt spid="18435">
                                            <p:txEl>
                                              <p:pRg st="0" end="0"/>
                                            </p:txEl>
                                          </p:spTgt>
                                        </p:tgtEl>
                                        <p:attrNameLst>
                                          <p:attrName>style.visibility</p:attrName>
                                        </p:attrNameLst>
                                      </p:cBhvr>
                                      <p:to>
                                        <p:strVal val="visible"/>
                                      </p:to>
                                    </p:set>
                                    <p:animEffect transition="in" filter="strips(downLeft)">
                                      <p:cBhvr>
                                        <p:cTn id="15" dur="500"/>
                                        <p:tgtEl>
                                          <p:spTgt spid="18435">
                                            <p:txEl>
                                              <p:pRg st="0" end="0"/>
                                            </p:txEl>
                                          </p:spTgt>
                                        </p:tgtEl>
                                      </p:cBhvr>
                                    </p:animEffect>
                                  </p:childTnLst>
                                </p:cTn>
                              </p:par>
                            </p:childTnLst>
                          </p:cTn>
                        </p:par>
                        <p:par>
                          <p:cTn id="16" fill="hold" nodeType="afterGroup">
                            <p:stCondLst>
                              <p:cond delay="500"/>
                            </p:stCondLst>
                            <p:childTnLst>
                              <p:par>
                                <p:cTn id="17" presetID="1" presetClass="entr" presetSubtype="0" fill="hold" nodeType="afterEffect">
                                  <p:stCondLst>
                                    <p:cond delay="0"/>
                                  </p:stCondLst>
                                  <p:childTnLst>
                                    <p:set>
                                      <p:cBhvr>
                                        <p:cTn id="18" dur="1" fill="hold">
                                          <p:stCondLst>
                                            <p:cond delay="499"/>
                                          </p:stCondLst>
                                        </p:cTn>
                                        <p:tgtEl>
                                          <p:spTgt spid="18890"/>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1889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3"/>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499"/>
                                          </p:stCondLst>
                                        </p:cTn>
                                        <p:tgtEl>
                                          <p:spTgt spid="18915"/>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499"/>
                                          </p:stCondLst>
                                        </p:cTn>
                                        <p:tgtEl>
                                          <p:spTgt spid="18910"/>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499"/>
                                          </p:stCondLst>
                                        </p:cTn>
                                        <p:tgtEl>
                                          <p:spTgt spid="18916"/>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8" presetClass="entr" presetSubtype="12" fill="hold" nodeType="clickEffect">
                                  <p:stCondLst>
                                    <p:cond delay="0"/>
                                  </p:stCondLst>
                                  <p:childTnLst>
                                    <p:set>
                                      <p:cBhvr>
                                        <p:cTn id="44" dur="1" fill="hold">
                                          <p:stCondLst>
                                            <p:cond delay="0"/>
                                          </p:stCondLst>
                                        </p:cTn>
                                        <p:tgtEl>
                                          <p:spTgt spid="54"/>
                                        </p:tgtEl>
                                        <p:attrNameLst>
                                          <p:attrName>style.visibility</p:attrName>
                                        </p:attrNameLst>
                                      </p:cBhvr>
                                      <p:to>
                                        <p:strVal val="visible"/>
                                      </p:to>
                                    </p:set>
                                    <p:animEffect transition="in" filter="strips(downLeft)">
                                      <p:cBhvr>
                                        <p:cTn id="45" dur="500"/>
                                        <p:tgtEl>
                                          <p:spTgt spid="54"/>
                                        </p:tgtEl>
                                      </p:cBhvr>
                                    </p:animEffect>
                                  </p:childTnLst>
                                </p:cTn>
                              </p:par>
                              <p:par>
                                <p:cTn id="46" presetID="1" presetClass="entr" presetSubtype="0" fill="hold" nodeType="withEffect">
                                  <p:stCondLst>
                                    <p:cond delay="0"/>
                                  </p:stCondLst>
                                  <p:childTnLst>
                                    <p:set>
                                      <p:cBhvr>
                                        <p:cTn id="47" dur="1" fill="hold">
                                          <p:stCondLst>
                                            <p:cond delay="0"/>
                                          </p:stCondLst>
                                        </p:cTn>
                                        <p:tgtEl>
                                          <p:spTgt spid="55"/>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nodeType="clickEffect">
                                  <p:stCondLst>
                                    <p:cond delay="0"/>
                                  </p:stCondLst>
                                  <p:childTnLst>
                                    <p:set>
                                      <p:cBhvr>
                                        <p:cTn id="51" dur="1" fill="hold">
                                          <p:stCondLst>
                                            <p:cond delay="499"/>
                                          </p:stCondLst>
                                        </p:cTn>
                                        <p:tgtEl>
                                          <p:spTgt spid="18914"/>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nodeType="clickEffect">
                                  <p:stCondLst>
                                    <p:cond delay="0"/>
                                  </p:stCondLst>
                                  <p:childTnLst>
                                    <p:set>
                                      <p:cBhvr>
                                        <p:cTn id="55" dur="1" fill="hold">
                                          <p:stCondLst>
                                            <p:cond delay="499"/>
                                          </p:stCondLst>
                                        </p:cTn>
                                        <p:tgtEl>
                                          <p:spTgt spid="18912"/>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nodeType="clickEffect">
                                  <p:stCondLst>
                                    <p:cond delay="0"/>
                                  </p:stCondLst>
                                  <p:childTnLst>
                                    <p:set>
                                      <p:cBhvr>
                                        <p:cTn id="59" dur="1" fill="hold">
                                          <p:stCondLst>
                                            <p:cond delay="499"/>
                                          </p:stCondLst>
                                        </p:cTn>
                                        <p:tgtEl>
                                          <p:spTgt spid="18911"/>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499"/>
                                          </p:stCondLst>
                                        </p:cTn>
                                        <p:tgtEl>
                                          <p:spTgt spid="18913"/>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nodeType="clickEffect">
                                  <p:stCondLst>
                                    <p:cond delay="0"/>
                                  </p:stCondLst>
                                  <p:childTnLst>
                                    <p:set>
                                      <p:cBhvr>
                                        <p:cTn id="67"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5" grpId="0" build="p" autoUpdateAnimBg="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1"/>
          <p:cNvSpPr>
            <a:spLocks noGrp="1" noChangeArrowheads="1"/>
          </p:cNvSpPr>
          <p:nvPr>
            <p:ph type="title"/>
          </p:nvPr>
        </p:nvSpPr>
        <p:spPr>
          <a:xfrm>
            <a:off x="395536" y="195486"/>
            <a:ext cx="7772400" cy="857250"/>
          </a:xfrm>
        </p:spPr>
        <p:txBody>
          <a:bodyPr/>
          <a:lstStyle/>
          <a:p>
            <a:pPr eaLnBrk="1" hangingPunct="1"/>
            <a:r>
              <a:rPr lang="zh-CN" altLang="en-US" dirty="0"/>
              <a:t>注意：</a:t>
            </a:r>
          </a:p>
        </p:txBody>
      </p:sp>
      <p:sp>
        <p:nvSpPr>
          <p:cNvPr id="147459" name="Rectangle 22"/>
          <p:cNvSpPr>
            <a:spLocks noGrp="1" noChangeArrowheads="1"/>
          </p:cNvSpPr>
          <p:nvPr>
            <p:ph type="body" sz="half" idx="1"/>
          </p:nvPr>
        </p:nvSpPr>
        <p:spPr>
          <a:xfrm>
            <a:off x="511969" y="1087066"/>
            <a:ext cx="5860231" cy="3284884"/>
          </a:xfrm>
        </p:spPr>
        <p:txBody>
          <a:bodyPr>
            <a:normAutofit lnSpcReduction="10000"/>
          </a:bodyPr>
          <a:lstStyle/>
          <a:p>
            <a:pPr eaLnBrk="1" hangingPunct="1"/>
            <a:r>
              <a:rPr lang="en-US" altLang="zh-CN" sz="2200" dirty="0" err="1">
                <a:latin typeface="宋体" panose="02010600030101010101" pitchFamily="2" charset="-122"/>
                <a:ea typeface="宋体" panose="02010600030101010101" pitchFamily="2" charset="-122"/>
              </a:rPr>
              <a:t>a,b</a:t>
            </a:r>
            <a:r>
              <a:rPr lang="zh-CN" altLang="en-US" sz="2200" dirty="0">
                <a:latin typeface="宋体" pitchFamily="2" charset="-122"/>
                <a:ea typeface="宋体" panose="02010600030101010101" pitchFamily="2" charset="-122"/>
              </a:rPr>
              <a:t>之间未必有优先关系</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在优先表中，空白部分是一种错误关系</a:t>
            </a:r>
          </a:p>
          <a:p>
            <a:pPr eaLnBrk="1" hangingPunct="1"/>
            <a:r>
              <a:rPr lang="zh-CN" altLang="en-US" sz="2200" dirty="0">
                <a:latin typeface="宋体" pitchFamily="2" charset="-122"/>
                <a:ea typeface="宋体" panose="02010600030101010101" pitchFamily="2" charset="-122"/>
              </a:rPr>
              <a:t>相同的终结符之间的优先性不一定是</a:t>
            </a:r>
          </a:p>
          <a:p>
            <a:pPr eaLnBrk="1" hangingPunct="1"/>
            <a:r>
              <a:rPr lang="zh-CN" altLang="en-US" sz="2200" dirty="0">
                <a:latin typeface="宋体"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a  = b,</a:t>
            </a:r>
            <a:r>
              <a:rPr lang="zh-CN" altLang="en-US" sz="2200" dirty="0">
                <a:latin typeface="宋体" pitchFamily="2" charset="-122"/>
                <a:ea typeface="宋体" panose="02010600030101010101" pitchFamily="2" charset="-122"/>
              </a:rPr>
              <a:t>不一定有</a:t>
            </a:r>
            <a:r>
              <a:rPr lang="en-US" altLang="zh-CN" sz="2200" dirty="0">
                <a:latin typeface="宋体" pitchFamily="2" charset="-122"/>
                <a:ea typeface="宋体" panose="02010600030101010101" pitchFamily="2" charset="-122"/>
              </a:rPr>
              <a:t>b =  a(</a:t>
            </a:r>
            <a:r>
              <a:rPr lang="zh-CN" altLang="en-US" sz="2200" dirty="0">
                <a:latin typeface="宋体" pitchFamily="2" charset="-122"/>
                <a:ea typeface="宋体" panose="02010600030101010101" pitchFamily="2" charset="-122"/>
              </a:rPr>
              <a:t>不具对称性</a:t>
            </a:r>
            <a:r>
              <a:rPr lang="en-US" altLang="zh-CN" sz="2200" dirty="0">
                <a:latin typeface="宋体" pitchFamily="2" charset="-122"/>
                <a:ea typeface="宋体" panose="02010600030101010101" pitchFamily="2" charset="-122"/>
              </a:rPr>
              <a:t>) </a:t>
            </a:r>
          </a:p>
          <a:p>
            <a:pPr eaLnBrk="1" hangingPunct="1"/>
            <a:r>
              <a:rPr lang="zh-CN" altLang="en-US" sz="2200" dirty="0">
                <a:latin typeface="宋体"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a    b,</a:t>
            </a:r>
            <a:r>
              <a:rPr lang="zh-CN" altLang="en-US" sz="2200" dirty="0">
                <a:latin typeface="宋体" pitchFamily="2" charset="-122"/>
                <a:ea typeface="宋体" panose="02010600030101010101" pitchFamily="2" charset="-122"/>
              </a:rPr>
              <a:t>不一定有</a:t>
            </a:r>
            <a:r>
              <a:rPr lang="en-US" altLang="zh-CN" sz="2200" dirty="0">
                <a:latin typeface="宋体" pitchFamily="2" charset="-122"/>
                <a:ea typeface="宋体" panose="02010600030101010101" pitchFamily="2" charset="-122"/>
              </a:rPr>
              <a:t>b    a(</a:t>
            </a:r>
            <a:r>
              <a:rPr lang="zh-CN" altLang="en-US" sz="2200" dirty="0">
                <a:latin typeface="宋体" pitchFamily="2" charset="-122"/>
                <a:ea typeface="宋体" panose="02010600030101010101" pitchFamily="2" charset="-122"/>
              </a:rPr>
              <a:t>不具对称性</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，因为只定义</a:t>
            </a:r>
            <a:r>
              <a:rPr lang="zh-CN" altLang="en-US" sz="2200" dirty="0">
                <a:solidFill>
                  <a:srgbClr val="FF0000"/>
                </a:solidFill>
                <a:latin typeface="宋体" panose="02010600030101010101" pitchFamily="2" charset="-122"/>
                <a:ea typeface="宋体" panose="02010600030101010101" pitchFamily="2" charset="-122"/>
              </a:rPr>
              <a:t>相邻</a:t>
            </a:r>
            <a:r>
              <a:rPr lang="zh-CN" altLang="en-US" sz="2200" dirty="0">
                <a:latin typeface="宋体" panose="02010600030101010101" pitchFamily="2" charset="-122"/>
                <a:ea typeface="宋体" panose="02010600030101010101" pitchFamily="2" charset="-122"/>
              </a:rPr>
              <a:t>算符之间的优先关系，</a:t>
            </a:r>
            <a:r>
              <a:rPr lang="en-US" altLang="zh-CN" sz="2200" dirty="0" err="1">
                <a:latin typeface="宋体" panose="02010600030101010101" pitchFamily="2" charset="-122"/>
                <a:ea typeface="宋体" panose="02010600030101010101" pitchFamily="2" charset="-122"/>
              </a:rPr>
              <a:t>a,b</a:t>
            </a:r>
            <a:r>
              <a:rPr lang="zh-CN" altLang="en-US" sz="2200" dirty="0">
                <a:latin typeface="宋体" panose="02010600030101010101" pitchFamily="2" charset="-122"/>
                <a:ea typeface="宋体" panose="02010600030101010101" pitchFamily="2" charset="-122"/>
              </a:rPr>
              <a:t>相邻时，不一定</a:t>
            </a:r>
            <a:r>
              <a:rPr lang="en-US" altLang="zh-CN" sz="2200" dirty="0" err="1">
                <a:latin typeface="宋体" panose="02010600030101010101" pitchFamily="2" charset="-122"/>
                <a:ea typeface="宋体" panose="02010600030101010101" pitchFamily="2" charset="-122"/>
              </a:rPr>
              <a:t>b,a</a:t>
            </a:r>
            <a:r>
              <a:rPr lang="zh-CN" altLang="en-US" sz="2200" dirty="0">
                <a:latin typeface="宋体" panose="02010600030101010101" pitchFamily="2" charset="-122"/>
                <a:ea typeface="宋体" panose="02010600030101010101" pitchFamily="2" charset="-122"/>
              </a:rPr>
              <a:t>相邻。</a:t>
            </a:r>
          </a:p>
          <a:p>
            <a:pPr eaLnBrk="1" hangingPunct="1"/>
            <a:r>
              <a:rPr lang="zh-CN" altLang="en-US" sz="2200" dirty="0">
                <a:latin typeface="宋体" panose="02010600030101010101"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a    b, b    c</a:t>
            </a:r>
            <a:r>
              <a:rPr lang="zh-CN" altLang="en-US" sz="2200" dirty="0">
                <a:latin typeface="宋体" pitchFamily="2" charset="-122"/>
                <a:ea typeface="宋体" panose="02010600030101010101" pitchFamily="2" charset="-122"/>
              </a:rPr>
              <a:t>不一定有</a:t>
            </a:r>
            <a:r>
              <a:rPr lang="en-US" altLang="zh-CN" sz="2200" dirty="0">
                <a:latin typeface="宋体" pitchFamily="2" charset="-122"/>
                <a:ea typeface="宋体" panose="02010600030101010101" pitchFamily="2" charset="-122"/>
              </a:rPr>
              <a:t>a    c(</a:t>
            </a:r>
            <a:r>
              <a:rPr lang="zh-CN" altLang="en-US" sz="2200" dirty="0">
                <a:latin typeface="宋体" pitchFamily="2" charset="-122"/>
                <a:ea typeface="宋体" panose="02010600030101010101" pitchFamily="2" charset="-122"/>
              </a:rPr>
              <a:t>不具有传递性</a:t>
            </a:r>
            <a:r>
              <a:rPr lang="en-US" altLang="zh-CN" sz="2200" dirty="0">
                <a:latin typeface="宋体" pitchFamily="2" charset="-122"/>
                <a:ea typeface="宋体" panose="02010600030101010101" pitchFamily="2" charset="-122"/>
              </a:rPr>
              <a:t>)</a:t>
            </a:r>
          </a:p>
        </p:txBody>
      </p:sp>
      <p:graphicFrame>
        <p:nvGraphicFramePr>
          <p:cNvPr id="147461" name="Object 39"/>
          <p:cNvGraphicFramePr>
            <a:graphicFrameLocks noChangeAspect="1"/>
          </p:cNvGraphicFramePr>
          <p:nvPr>
            <p:extLst>
              <p:ext uri="{D42A27DB-BD31-4B8C-83A1-F6EECF244321}">
                <p14:modId xmlns:p14="http://schemas.microsoft.com/office/powerpoint/2010/main" val="664120109"/>
              </p:ext>
            </p:extLst>
          </p:nvPr>
        </p:nvGraphicFramePr>
        <p:xfrm>
          <a:off x="2123728" y="3472607"/>
          <a:ext cx="317500" cy="251271"/>
        </p:xfrm>
        <a:graphic>
          <a:graphicData uri="http://schemas.openxmlformats.org/presentationml/2006/ole">
            <mc:AlternateContent xmlns:mc="http://schemas.openxmlformats.org/markup-compatibility/2006">
              <mc:Choice xmlns:v="urn:schemas-microsoft-com:vml" Requires="v">
                <p:oleObj spid="_x0000_s31786" name="位图图像" r:id="rId4" imgW="171338" imgH="181096" progId="Paint.Picture">
                  <p:embed/>
                </p:oleObj>
              </mc:Choice>
              <mc:Fallback>
                <p:oleObj name="位图图像" r:id="rId4" imgW="171338" imgH="181096" progId="Paint.Picture">
                  <p:embed/>
                  <p:pic>
                    <p:nvPicPr>
                      <p:cNvPr id="147461" name="Object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3728" y="3472607"/>
                        <a:ext cx="317500" cy="251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2" name="Object 24"/>
          <p:cNvGraphicFramePr>
            <a:graphicFrameLocks noChangeAspect="1"/>
          </p:cNvGraphicFramePr>
          <p:nvPr>
            <p:extLst>
              <p:ext uri="{D42A27DB-BD31-4B8C-83A1-F6EECF244321}">
                <p14:modId xmlns:p14="http://schemas.microsoft.com/office/powerpoint/2010/main" val="19909169"/>
              </p:ext>
            </p:extLst>
          </p:nvPr>
        </p:nvGraphicFramePr>
        <p:xfrm>
          <a:off x="2096170" y="2559673"/>
          <a:ext cx="415925" cy="203636"/>
        </p:xfrm>
        <a:graphic>
          <a:graphicData uri="http://schemas.openxmlformats.org/presentationml/2006/ole">
            <mc:AlternateContent xmlns:mc="http://schemas.openxmlformats.org/markup-compatibility/2006">
              <mc:Choice xmlns:v="urn:schemas-microsoft-com:vml" Requires="v">
                <p:oleObj spid="_x0000_s31787" name="位图图像" r:id="rId6" imgW="171338" imgH="181096" progId="Paint.Picture">
                  <p:embed/>
                </p:oleObj>
              </mc:Choice>
              <mc:Fallback>
                <p:oleObj name="位图图像" r:id="rId6" imgW="171338" imgH="181096" progId="Paint.Picture">
                  <p:embed/>
                  <p:pic>
                    <p:nvPicPr>
                      <p:cNvPr id="147462" name="Object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96170" y="2559673"/>
                        <a:ext cx="415925" cy="203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3" name="Object 25"/>
          <p:cNvGraphicFramePr>
            <a:graphicFrameLocks/>
          </p:cNvGraphicFramePr>
          <p:nvPr>
            <p:extLst>
              <p:ext uri="{D42A27DB-BD31-4B8C-83A1-F6EECF244321}">
                <p14:modId xmlns:p14="http://schemas.microsoft.com/office/powerpoint/2010/main" val="3787827583"/>
              </p:ext>
            </p:extLst>
          </p:nvPr>
        </p:nvGraphicFramePr>
        <p:xfrm>
          <a:off x="4067944" y="2571750"/>
          <a:ext cx="431800" cy="200064"/>
        </p:xfrm>
        <a:graphic>
          <a:graphicData uri="http://schemas.openxmlformats.org/presentationml/2006/ole">
            <mc:AlternateContent xmlns:mc="http://schemas.openxmlformats.org/markup-compatibility/2006">
              <mc:Choice xmlns:v="urn:schemas-microsoft-com:vml" Requires="v">
                <p:oleObj spid="_x0000_s31788" name="位图图像" r:id="rId7" imgW="171338" imgH="171338" progId="Paint.Picture">
                  <p:embed/>
                </p:oleObj>
              </mc:Choice>
              <mc:Fallback>
                <p:oleObj name="位图图像" r:id="rId7" imgW="171338" imgH="171338" progId="Paint.Picture">
                  <p:embed/>
                  <p:pic>
                    <p:nvPicPr>
                      <p:cNvPr id="147463" name="Object 2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67944" y="2571750"/>
                        <a:ext cx="431800" cy="200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4" name="Object 26"/>
          <p:cNvGraphicFramePr>
            <a:graphicFrameLocks noChangeAspect="1"/>
          </p:cNvGraphicFramePr>
          <p:nvPr>
            <p:extLst>
              <p:ext uri="{D42A27DB-BD31-4B8C-83A1-F6EECF244321}">
                <p14:modId xmlns:p14="http://schemas.microsoft.com/office/powerpoint/2010/main" val="1814592509"/>
              </p:ext>
            </p:extLst>
          </p:nvPr>
        </p:nvGraphicFramePr>
        <p:xfrm>
          <a:off x="5508104" y="1779662"/>
          <a:ext cx="449263" cy="170292"/>
        </p:xfrm>
        <a:graphic>
          <a:graphicData uri="http://schemas.openxmlformats.org/presentationml/2006/ole">
            <mc:AlternateContent xmlns:mc="http://schemas.openxmlformats.org/markup-compatibility/2006">
              <mc:Choice xmlns:v="urn:schemas-microsoft-com:vml" Requires="v">
                <p:oleObj spid="_x0000_s31789" name="位图图像" r:id="rId9" imgW="295238" imgH="190426" progId="Paint.Picture">
                  <p:embed/>
                </p:oleObj>
              </mc:Choice>
              <mc:Fallback>
                <p:oleObj name="位图图像" r:id="rId9" imgW="295238" imgH="190426" progId="Paint.Picture">
                  <p:embed/>
                  <p:pic>
                    <p:nvPicPr>
                      <p:cNvPr id="147464" name="Object 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08104" y="1779662"/>
                        <a:ext cx="449263" cy="170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5" name="Object 28"/>
          <p:cNvGraphicFramePr>
            <a:graphicFrameLocks noChangeAspect="1"/>
          </p:cNvGraphicFramePr>
          <p:nvPr>
            <p:extLst>
              <p:ext uri="{D42A27DB-BD31-4B8C-83A1-F6EECF244321}">
                <p14:modId xmlns:p14="http://schemas.microsoft.com/office/powerpoint/2010/main" val="3701038510"/>
              </p:ext>
            </p:extLst>
          </p:nvPr>
        </p:nvGraphicFramePr>
        <p:xfrm>
          <a:off x="5092179" y="3507854"/>
          <a:ext cx="415925" cy="203636"/>
        </p:xfrm>
        <a:graphic>
          <a:graphicData uri="http://schemas.openxmlformats.org/presentationml/2006/ole">
            <mc:AlternateContent xmlns:mc="http://schemas.openxmlformats.org/markup-compatibility/2006">
              <mc:Choice xmlns:v="urn:schemas-microsoft-com:vml" Requires="v">
                <p:oleObj spid="_x0000_s31790" name="位图图像" r:id="rId11" imgW="171338" imgH="181096" progId="Paint.Picture">
                  <p:embed/>
                </p:oleObj>
              </mc:Choice>
              <mc:Fallback>
                <p:oleObj name="位图图像" r:id="rId11" imgW="171338" imgH="181096" progId="Paint.Picture">
                  <p:embed/>
                  <p:pic>
                    <p:nvPicPr>
                      <p:cNvPr id="147465" name="Object 2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2179" y="3507854"/>
                        <a:ext cx="415925" cy="203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6" name="Object 32"/>
          <p:cNvGraphicFramePr>
            <a:graphicFrameLocks noChangeAspect="1"/>
          </p:cNvGraphicFramePr>
          <p:nvPr>
            <p:extLst>
              <p:ext uri="{D42A27DB-BD31-4B8C-83A1-F6EECF244321}">
                <p14:modId xmlns:p14="http://schemas.microsoft.com/office/powerpoint/2010/main" val="537771782"/>
              </p:ext>
            </p:extLst>
          </p:nvPr>
        </p:nvGraphicFramePr>
        <p:xfrm>
          <a:off x="4139952" y="2211710"/>
          <a:ext cx="449263" cy="170292"/>
        </p:xfrm>
        <a:graphic>
          <a:graphicData uri="http://schemas.openxmlformats.org/presentationml/2006/ole">
            <mc:AlternateContent xmlns:mc="http://schemas.openxmlformats.org/markup-compatibility/2006">
              <mc:Choice xmlns:v="urn:schemas-microsoft-com:vml" Requires="v">
                <p:oleObj spid="_x0000_s31791" name="位图图像" r:id="rId12" imgW="295238" imgH="190426" progId="Paint.Picture">
                  <p:embed/>
                </p:oleObj>
              </mc:Choice>
              <mc:Fallback>
                <p:oleObj name="位图图像" r:id="rId12" imgW="295238" imgH="190426" progId="Paint.Picture">
                  <p:embed/>
                  <p:pic>
                    <p:nvPicPr>
                      <p:cNvPr id="147466" name="Object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39952" y="2211710"/>
                        <a:ext cx="449263" cy="170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7" name="Object 33"/>
          <p:cNvGraphicFramePr>
            <a:graphicFrameLocks noChangeAspect="1"/>
          </p:cNvGraphicFramePr>
          <p:nvPr>
            <p:extLst>
              <p:ext uri="{D42A27DB-BD31-4B8C-83A1-F6EECF244321}">
                <p14:modId xmlns:p14="http://schemas.microsoft.com/office/powerpoint/2010/main" val="1583692301"/>
              </p:ext>
            </p:extLst>
          </p:nvPr>
        </p:nvGraphicFramePr>
        <p:xfrm>
          <a:off x="2051720" y="2203607"/>
          <a:ext cx="449263" cy="170292"/>
        </p:xfrm>
        <a:graphic>
          <a:graphicData uri="http://schemas.openxmlformats.org/presentationml/2006/ole">
            <mc:AlternateContent xmlns:mc="http://schemas.openxmlformats.org/markup-compatibility/2006">
              <mc:Choice xmlns:v="urn:schemas-microsoft-com:vml" Requires="v">
                <p:oleObj spid="_x0000_s31792" name="位图图像" r:id="rId13" imgW="295238" imgH="190426" progId="Paint.Picture">
                  <p:embed/>
                </p:oleObj>
              </mc:Choice>
              <mc:Fallback>
                <p:oleObj name="位图图像" r:id="rId13" imgW="295238" imgH="190426" progId="Paint.Picture">
                  <p:embed/>
                  <p:pic>
                    <p:nvPicPr>
                      <p:cNvPr id="147467" name="Object 3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51720" y="2203607"/>
                        <a:ext cx="449263" cy="170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7468" name="Object 41"/>
          <p:cNvGraphicFramePr>
            <a:graphicFrameLocks noChangeAspect="1"/>
          </p:cNvGraphicFramePr>
          <p:nvPr>
            <p:extLst>
              <p:ext uri="{D42A27DB-BD31-4B8C-83A1-F6EECF244321}">
                <p14:modId xmlns:p14="http://schemas.microsoft.com/office/powerpoint/2010/main" val="3670524387"/>
              </p:ext>
            </p:extLst>
          </p:nvPr>
        </p:nvGraphicFramePr>
        <p:xfrm>
          <a:off x="3203848" y="3435846"/>
          <a:ext cx="315913" cy="250080"/>
        </p:xfrm>
        <a:graphic>
          <a:graphicData uri="http://schemas.openxmlformats.org/presentationml/2006/ole">
            <mc:AlternateContent xmlns:mc="http://schemas.openxmlformats.org/markup-compatibility/2006">
              <mc:Choice xmlns:v="urn:schemas-microsoft-com:vml" Requires="v">
                <p:oleObj spid="_x0000_s31793" name="位图图像" r:id="rId14" imgW="171338" imgH="181096" progId="Paint.Picture">
                  <p:embed/>
                </p:oleObj>
              </mc:Choice>
              <mc:Fallback>
                <p:oleObj name="位图图像" r:id="rId14" imgW="171338" imgH="181096" progId="Paint.Picture">
                  <p:embed/>
                  <p:pic>
                    <p:nvPicPr>
                      <p:cNvPr id="147468" name="Object 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3848" y="3435846"/>
                        <a:ext cx="315913" cy="25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 name="Group 163"/>
          <p:cNvGraphicFramePr>
            <a:graphicFrameLocks noGrp="1"/>
          </p:cNvGraphicFramePr>
          <p:nvPr>
            <p:extLst>
              <p:ext uri="{D42A27DB-BD31-4B8C-83A1-F6EECF244321}">
                <p14:modId xmlns:p14="http://schemas.microsoft.com/office/powerpoint/2010/main" val="1988017816"/>
              </p:ext>
            </p:extLst>
          </p:nvPr>
        </p:nvGraphicFramePr>
        <p:xfrm>
          <a:off x="6593832" y="1851670"/>
          <a:ext cx="2520280" cy="2400300"/>
        </p:xfrm>
        <a:graphic>
          <a:graphicData uri="http://schemas.openxmlformats.org/drawingml/2006/table">
            <a:tbl>
              <a:tblPr/>
              <a:tblGrid>
                <a:gridCol w="288032">
                  <a:extLst>
                    <a:ext uri="{9D8B030D-6E8A-4147-A177-3AD203B41FA5}">
                      <a16:colId xmlns:a16="http://schemas.microsoft.com/office/drawing/2014/main" val="20000"/>
                    </a:ext>
                  </a:extLst>
                </a:gridCol>
                <a:gridCol w="360040">
                  <a:extLst>
                    <a:ext uri="{9D8B030D-6E8A-4147-A177-3AD203B41FA5}">
                      <a16:colId xmlns:a16="http://schemas.microsoft.com/office/drawing/2014/main" val="20001"/>
                    </a:ext>
                  </a:extLst>
                </a:gridCol>
                <a:gridCol w="360040">
                  <a:extLst>
                    <a:ext uri="{9D8B030D-6E8A-4147-A177-3AD203B41FA5}">
                      <a16:colId xmlns:a16="http://schemas.microsoft.com/office/drawing/2014/main" val="20002"/>
                    </a:ext>
                  </a:extLst>
                </a:gridCol>
                <a:gridCol w="360040">
                  <a:extLst>
                    <a:ext uri="{9D8B030D-6E8A-4147-A177-3AD203B41FA5}">
                      <a16:colId xmlns:a16="http://schemas.microsoft.com/office/drawing/2014/main" val="20003"/>
                    </a:ext>
                  </a:extLst>
                </a:gridCol>
                <a:gridCol w="360040">
                  <a:extLst>
                    <a:ext uri="{9D8B030D-6E8A-4147-A177-3AD203B41FA5}">
                      <a16:colId xmlns:a16="http://schemas.microsoft.com/office/drawing/2014/main" val="20004"/>
                    </a:ext>
                  </a:extLst>
                </a:gridCol>
                <a:gridCol w="432048">
                  <a:extLst>
                    <a:ext uri="{9D8B030D-6E8A-4147-A177-3AD203B41FA5}">
                      <a16:colId xmlns:a16="http://schemas.microsoft.com/office/drawing/2014/main" val="20005"/>
                    </a:ext>
                  </a:extLst>
                </a:gridCol>
                <a:gridCol w="360040">
                  <a:extLst>
                    <a:ext uri="{9D8B030D-6E8A-4147-A177-3AD203B41FA5}">
                      <a16:colId xmlns:a16="http://schemas.microsoft.com/office/drawing/2014/main" val="20006"/>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3"/>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4"/>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5"/>
                  </a:ext>
                </a:extLst>
              </a:tr>
              <a:tr h="3429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6"/>
                  </a:ext>
                </a:extLst>
              </a:tr>
            </a:tbl>
          </a:graphicData>
        </a:graphic>
      </p:graphicFrame>
      <p:sp>
        <p:nvSpPr>
          <p:cNvPr id="13" name="TextBox 12"/>
          <p:cNvSpPr txBox="1"/>
          <p:nvPr/>
        </p:nvSpPr>
        <p:spPr>
          <a:xfrm>
            <a:off x="6566515" y="1482338"/>
            <a:ext cx="2520280" cy="369332"/>
          </a:xfrm>
          <a:prstGeom prst="rect">
            <a:avLst/>
          </a:prstGeom>
          <a:noFill/>
        </p:spPr>
        <p:txBody>
          <a:bodyPr wrap="square" rtlCol="0">
            <a:spAutoFit/>
          </a:bodyPr>
          <a:lstStyle/>
          <a:p>
            <a:r>
              <a:rPr lang="zh-CN" altLang="en-US" dirty="0">
                <a:latin typeface="宋体" panose="02010600030101010101" pitchFamily="2" charset="-122"/>
                <a:ea typeface="宋体" panose="02010600030101010101" pitchFamily="2" charset="-122"/>
              </a:rPr>
              <a:t>算符优先关系表样例</a:t>
            </a:r>
          </a:p>
        </p:txBody>
      </p:sp>
    </p:spTree>
    <p:extLst>
      <p:ext uri="{BB962C8B-B14F-4D97-AF65-F5344CB8AC3E}">
        <p14:creationId xmlns:p14="http://schemas.microsoft.com/office/powerpoint/2010/main" val="25446378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8482" name="Rectangle 2"/>
          <p:cNvSpPr>
            <a:spLocks noGrp="1" noChangeArrowheads="1"/>
          </p:cNvSpPr>
          <p:nvPr>
            <p:ph type="title"/>
          </p:nvPr>
        </p:nvSpPr>
        <p:spPr>
          <a:xfrm>
            <a:off x="205261" y="51470"/>
            <a:ext cx="8151813" cy="857250"/>
          </a:xfrm>
        </p:spPr>
        <p:txBody>
          <a:bodyPr>
            <a:normAutofit/>
          </a:bodyPr>
          <a:lstStyle/>
          <a:p>
            <a:pPr eaLnBrk="1" hangingPunct="1"/>
            <a:r>
              <a:rPr lang="zh-CN" altLang="en-US" sz="3600" b="1" dirty="0">
                <a:solidFill>
                  <a:srgbClr val="3366CC"/>
                </a:solidFill>
                <a:latin typeface="隶书" pitchFamily="49" charset="-122"/>
                <a:ea typeface="隶书" pitchFamily="49" charset="-122"/>
              </a:rPr>
              <a:t>算符优先关系表的自动构造算法</a:t>
            </a:r>
            <a:r>
              <a:rPr lang="zh-CN" altLang="en-US" sz="3600" dirty="0">
                <a:latin typeface="隶书" pitchFamily="49" charset="-122"/>
                <a:ea typeface="隶书" pitchFamily="49" charset="-122"/>
              </a:rPr>
              <a:t> </a:t>
            </a:r>
          </a:p>
        </p:txBody>
      </p:sp>
      <p:grpSp>
        <p:nvGrpSpPr>
          <p:cNvPr id="7" name="组合 6"/>
          <p:cNvGrpSpPr/>
          <p:nvPr/>
        </p:nvGrpSpPr>
        <p:grpSpPr>
          <a:xfrm>
            <a:off x="770811" y="1035253"/>
            <a:ext cx="7989887" cy="1464489"/>
            <a:chOff x="770811" y="1035253"/>
            <a:chExt cx="7989887" cy="1464489"/>
          </a:xfrm>
        </p:grpSpPr>
        <p:sp>
          <p:nvSpPr>
            <p:cNvPr id="16" name="Rectangle 3"/>
            <p:cNvSpPr txBox="1">
              <a:spLocks noChangeArrowheads="1"/>
            </p:cNvSpPr>
            <p:nvPr/>
          </p:nvSpPr>
          <p:spPr>
            <a:xfrm>
              <a:off x="770811" y="1035253"/>
              <a:ext cx="7989887" cy="1464489"/>
            </a:xfrm>
            <a:prstGeom prst="rect">
              <a:avLst/>
            </a:prstGeom>
            <a:solidFill>
              <a:schemeClr val="bg1"/>
            </a:solidFill>
            <a:ln w="28575">
              <a:solidFill>
                <a:srgbClr val="0000FF"/>
              </a:solid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en-US" altLang="zh-CN" sz="2200" b="1" dirty="0">
                  <a:solidFill>
                    <a:srgbClr val="FF0066"/>
                  </a:solidFill>
                  <a:latin typeface="宋体" pitchFamily="2" charset="-122"/>
                  <a:ea typeface="宋体" panose="02010600030101010101" pitchFamily="2" charset="-122"/>
                </a:rPr>
                <a:t>1.FirstVT</a:t>
              </a:r>
              <a:r>
                <a:rPr lang="zh-CN" altLang="en-US" sz="2200" b="1" dirty="0">
                  <a:solidFill>
                    <a:srgbClr val="FF0066"/>
                  </a:solidFill>
                  <a:latin typeface="宋体" pitchFamily="2" charset="-122"/>
                  <a:ea typeface="宋体" panose="02010600030101010101" pitchFamily="2" charset="-122"/>
                </a:rPr>
                <a:t>集</a:t>
              </a:r>
            </a:p>
            <a:p>
              <a:pPr lvl="1">
                <a:spcBef>
                  <a:spcPts val="0"/>
                </a:spcBef>
              </a:pPr>
              <a:r>
                <a:rPr lang="zh-CN" altLang="en-US" sz="2200" b="1" dirty="0">
                  <a:solidFill>
                    <a:schemeClr val="accent2"/>
                  </a:solidFill>
                  <a:latin typeface="宋体" pitchFamily="2" charset="-122"/>
                  <a:ea typeface="宋体" panose="02010600030101010101" pitchFamily="2" charset="-122"/>
                </a:rPr>
                <a:t>定义</a:t>
              </a:r>
              <a:r>
                <a:rPr lang="zh-CN" altLang="en-US" sz="2200" dirty="0">
                  <a:solidFill>
                    <a:schemeClr val="accent2"/>
                  </a:solidFill>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对每个非终结符</a:t>
              </a:r>
              <a:r>
                <a:rPr lang="en-US" altLang="zh-CN" sz="2200" dirty="0">
                  <a:latin typeface="宋体" pitchFamily="2" charset="-122"/>
                  <a:ea typeface="宋体" panose="02010600030101010101" pitchFamily="2" charset="-122"/>
                </a:rPr>
                <a:t>P, </a:t>
              </a:r>
            </a:p>
            <a:p>
              <a:pPr marL="393192" lvl="1" indent="0">
                <a:spcBef>
                  <a:spcPts val="0"/>
                </a:spcBef>
                <a:buNone/>
              </a:pPr>
              <a:r>
                <a:rPr lang="en-US" altLang="zh-CN" sz="2200" b="1" dirty="0" err="1">
                  <a:solidFill>
                    <a:schemeClr val="accent2"/>
                  </a:solidFill>
                  <a:latin typeface="宋体" pitchFamily="2" charset="-122"/>
                  <a:ea typeface="宋体" panose="02010600030101010101" pitchFamily="2" charset="-122"/>
                </a:rPr>
                <a:t>FirstVT</a:t>
              </a:r>
              <a:r>
                <a:rPr lang="en-US" altLang="zh-CN" sz="2200" b="1" dirty="0">
                  <a:solidFill>
                    <a:schemeClr val="accent2"/>
                  </a:solidFill>
                  <a:latin typeface="宋体" pitchFamily="2" charset="-122"/>
                  <a:ea typeface="宋体" panose="02010600030101010101" pitchFamily="2" charset="-122"/>
                </a:rPr>
                <a:t>(P)</a:t>
              </a:r>
              <a:r>
                <a:rPr lang="en-US" altLang="zh-CN" sz="2200" dirty="0">
                  <a:solidFill>
                    <a:schemeClr val="accent2"/>
                  </a:solidFill>
                  <a:latin typeface="宋体" pitchFamily="2" charset="-122"/>
                  <a:ea typeface="宋体" panose="02010600030101010101" pitchFamily="2" charset="-122"/>
                </a:rPr>
                <a:t>=</a:t>
              </a:r>
              <a:r>
                <a:rPr lang="en-US" altLang="zh-CN" sz="2200" dirty="0">
                  <a:latin typeface="宋体" pitchFamily="2" charset="-122"/>
                  <a:ea typeface="宋体" panose="02010600030101010101" pitchFamily="2" charset="-122"/>
                </a:rPr>
                <a:t>{</a:t>
              </a:r>
              <a:r>
                <a:rPr lang="en-US" altLang="zh-CN" sz="2200" dirty="0" err="1">
                  <a:latin typeface="宋体" pitchFamily="2" charset="-122"/>
                  <a:ea typeface="宋体" panose="02010600030101010101" pitchFamily="2" charset="-122"/>
                </a:rPr>
                <a:t>a|P</a:t>
              </a:r>
              <a:r>
                <a:rPr lang="en-US" altLang="zh-CN" sz="2200" dirty="0">
                  <a:latin typeface="宋体" pitchFamily="2" charset="-122"/>
                  <a:ea typeface="宋体" panose="02010600030101010101" pitchFamily="2" charset="-122"/>
                </a:rPr>
                <a:t>=&gt;a...</a:t>
              </a:r>
              <a:r>
                <a:rPr lang="zh-CN" altLang="en-US" sz="2200" dirty="0">
                  <a:latin typeface="宋体" pitchFamily="2" charset="-122"/>
                  <a:ea typeface="宋体" panose="02010600030101010101" pitchFamily="2" charset="-122"/>
                </a:rPr>
                <a:t>或</a:t>
              </a:r>
              <a:r>
                <a:rPr lang="en-US" altLang="zh-CN" sz="2200" dirty="0">
                  <a:latin typeface="宋体" pitchFamily="2" charset="-122"/>
                  <a:ea typeface="宋体" panose="02010600030101010101" pitchFamily="2" charset="-122"/>
                </a:rPr>
                <a:t>P=&gt;</a:t>
              </a:r>
              <a:r>
                <a:rPr lang="en-US" altLang="zh-CN" sz="2200" dirty="0" err="1">
                  <a:latin typeface="宋体" pitchFamily="2" charset="-122"/>
                  <a:ea typeface="宋体" panose="02010600030101010101" pitchFamily="2" charset="-122"/>
                </a:rPr>
                <a:t>Qa</a:t>
              </a:r>
              <a:r>
                <a:rPr lang="en-US" altLang="zh-CN" sz="2200" dirty="0">
                  <a:latin typeface="宋体" pitchFamily="2" charset="-122"/>
                  <a:ea typeface="宋体" panose="02010600030101010101" pitchFamily="2" charset="-122"/>
                </a:rPr>
                <a:t>...,a</a:t>
              </a:r>
              <a:r>
                <a:rPr lang="zh-CN" altLang="en-US" sz="2200" dirty="0">
                  <a:latin typeface="宋体" pitchFamily="2" charset="-122"/>
                  <a:ea typeface="宋体" panose="02010600030101010101" pitchFamily="2" charset="-122"/>
                </a:rPr>
                <a:t>为终结符</a:t>
              </a:r>
              <a:r>
                <a:rPr lang="en-US" altLang="zh-CN" sz="2200" dirty="0">
                  <a:latin typeface="宋体" pitchFamily="2" charset="-122"/>
                  <a:ea typeface="宋体" panose="02010600030101010101" pitchFamily="2" charset="-122"/>
                </a:rPr>
                <a:t>,P</a:t>
              </a:r>
              <a:r>
                <a:rPr lang="zh-CN" altLang="en-US" sz="2200" dirty="0">
                  <a:latin typeface="宋体" pitchFamily="2" charset="-122"/>
                  <a:ea typeface="宋体" panose="02010600030101010101" pitchFamily="2" charset="-122"/>
                </a:rPr>
                <a:t>，</a:t>
              </a:r>
              <a:r>
                <a:rPr lang="en-US" altLang="zh-CN" sz="2200" dirty="0">
                  <a:latin typeface="宋体" pitchFamily="2" charset="-122"/>
                  <a:ea typeface="宋体" panose="02010600030101010101" pitchFamily="2" charset="-122"/>
                </a:rPr>
                <a:t>Q</a:t>
              </a:r>
              <a:r>
                <a:rPr lang="zh-CN" altLang="en-US" sz="2200" dirty="0">
                  <a:latin typeface="宋体" pitchFamily="2" charset="-122"/>
                  <a:ea typeface="宋体" panose="02010600030101010101" pitchFamily="2" charset="-122"/>
                </a:rPr>
                <a:t>为非终结符</a:t>
              </a:r>
              <a:r>
                <a:rPr lang="en-US" altLang="zh-CN" sz="2200" dirty="0">
                  <a:latin typeface="宋体" pitchFamily="2" charset="-122"/>
                  <a:ea typeface="宋体" panose="02010600030101010101" pitchFamily="2" charset="-122"/>
                </a:rPr>
                <a:t>}</a:t>
              </a:r>
            </a:p>
          </p:txBody>
        </p:sp>
        <p:grpSp>
          <p:nvGrpSpPr>
            <p:cNvPr id="5" name="组合 4"/>
            <p:cNvGrpSpPr/>
            <p:nvPr/>
          </p:nvGrpSpPr>
          <p:grpSpPr>
            <a:xfrm>
              <a:off x="3419872" y="1564393"/>
              <a:ext cx="1440160" cy="431293"/>
              <a:chOff x="3207316" y="1638831"/>
              <a:chExt cx="1440160" cy="431293"/>
            </a:xfrm>
          </p:grpSpPr>
          <p:sp>
            <p:nvSpPr>
              <p:cNvPr id="148488" name="Rectangle 4"/>
              <p:cNvSpPr>
                <a:spLocks noChangeArrowheads="1"/>
              </p:cNvSpPr>
              <p:nvPr/>
            </p:nvSpPr>
            <p:spPr bwMode="auto">
              <a:xfrm>
                <a:off x="3207316" y="1638831"/>
                <a:ext cx="162719" cy="431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200" dirty="0">
                    <a:latin typeface="宋体" panose="02010600030101010101" pitchFamily="2" charset="-122"/>
                  </a:rPr>
                  <a:t>+</a:t>
                </a:r>
              </a:p>
            </p:txBody>
          </p:sp>
          <p:sp>
            <p:nvSpPr>
              <p:cNvPr id="148489" name="Rectangle 5"/>
              <p:cNvSpPr>
                <a:spLocks noChangeArrowheads="1"/>
              </p:cNvSpPr>
              <p:nvPr/>
            </p:nvSpPr>
            <p:spPr bwMode="auto">
              <a:xfrm>
                <a:off x="4322038" y="1638831"/>
                <a:ext cx="325438" cy="431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200" dirty="0">
                    <a:latin typeface="宋体" panose="02010600030101010101" pitchFamily="2" charset="-122"/>
                  </a:rPr>
                  <a:t>+</a:t>
                </a:r>
              </a:p>
            </p:txBody>
          </p:sp>
        </p:grpSp>
      </p:grpSp>
      <p:grpSp>
        <p:nvGrpSpPr>
          <p:cNvPr id="3" name="Group 14"/>
          <p:cNvGrpSpPr>
            <a:grpSpLocks/>
          </p:cNvGrpSpPr>
          <p:nvPr/>
        </p:nvGrpSpPr>
        <p:grpSpPr bwMode="auto">
          <a:xfrm>
            <a:off x="756003" y="2669715"/>
            <a:ext cx="7488405" cy="1107524"/>
            <a:chOff x="201" y="2342"/>
            <a:chExt cx="4842" cy="930"/>
          </a:xfrm>
        </p:grpSpPr>
        <p:sp>
          <p:nvSpPr>
            <p:cNvPr id="148486" name="Text Box 9"/>
            <p:cNvSpPr txBox="1">
              <a:spLocks noChangeArrowheads="1"/>
            </p:cNvSpPr>
            <p:nvPr/>
          </p:nvSpPr>
          <p:spPr bwMode="auto">
            <a:xfrm>
              <a:off x="201" y="2342"/>
              <a:ext cx="4842" cy="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latin typeface="宋体" panose="02010600030101010101" pitchFamily="2" charset="-122"/>
                </a:rPr>
                <a:t>由优先性低于的定义和</a:t>
              </a:r>
              <a:r>
                <a:rPr lang="en-US" altLang="zh-CN" sz="2200" dirty="0" err="1">
                  <a:latin typeface="宋体" panose="02010600030101010101" pitchFamily="2" charset="-122"/>
                </a:rPr>
                <a:t>FirstVT</a:t>
              </a:r>
              <a:r>
                <a:rPr lang="zh-CN" altLang="en-US" sz="2200" dirty="0">
                  <a:latin typeface="宋体" panose="02010600030101010101" pitchFamily="2" charset="-122"/>
                </a:rPr>
                <a:t>集合的定义可以得出：</a:t>
              </a:r>
            </a:p>
            <a:p>
              <a:pPr eaLnBrk="1" hangingPunct="1">
                <a:spcBef>
                  <a:spcPts val="0"/>
                </a:spcBef>
                <a:buFontTx/>
                <a:buNone/>
              </a:pPr>
              <a:r>
                <a:rPr lang="zh-CN" altLang="en-US" sz="2200" dirty="0">
                  <a:latin typeface="宋体" panose="02010600030101010101" pitchFamily="2" charset="-122"/>
                </a:rPr>
                <a:t>若存在某个产生式：</a:t>
              </a:r>
              <a:r>
                <a:rPr lang="en-US" altLang="zh-CN" sz="2200" dirty="0">
                  <a:latin typeface="宋体" panose="02010600030101010101" pitchFamily="2" charset="-122"/>
                </a:rPr>
                <a:t>Q-&gt;…</a:t>
              </a:r>
              <a:r>
                <a:rPr lang="en-US" altLang="zh-CN" sz="2200" dirty="0" err="1">
                  <a:latin typeface="宋体" panose="02010600030101010101" pitchFamily="2" charset="-122"/>
                </a:rPr>
                <a:t>aP</a:t>
              </a:r>
              <a:r>
                <a:rPr lang="en-US" altLang="zh-CN" sz="2200" dirty="0">
                  <a:latin typeface="宋体" panose="02010600030101010101" pitchFamily="2" charset="-122"/>
                </a:rPr>
                <a:t>…</a:t>
              </a:r>
              <a:r>
                <a:rPr lang="zh-CN" altLang="en-US" sz="2200" dirty="0">
                  <a:latin typeface="宋体" panose="02010600030101010101" pitchFamily="2" charset="-122"/>
                </a:rPr>
                <a:t>，</a:t>
              </a:r>
            </a:p>
            <a:p>
              <a:pPr eaLnBrk="1" hangingPunct="1">
                <a:spcBef>
                  <a:spcPts val="0"/>
                </a:spcBef>
                <a:buFontTx/>
                <a:buNone/>
              </a:pPr>
              <a:r>
                <a:rPr lang="zh-CN" altLang="en-US" sz="2200" dirty="0">
                  <a:latin typeface="宋体" panose="02010600030101010101" pitchFamily="2" charset="-122"/>
                </a:rPr>
                <a:t>对所有：</a:t>
              </a:r>
              <a:r>
                <a:rPr lang="en-US" altLang="zh-CN" sz="2200" dirty="0" err="1">
                  <a:latin typeface="宋体" panose="02010600030101010101" pitchFamily="2" charset="-122"/>
                </a:rPr>
                <a:t>b∈FirstVT</a:t>
              </a:r>
              <a:r>
                <a:rPr lang="en-US" altLang="zh-CN" sz="2200" dirty="0">
                  <a:latin typeface="宋体" panose="02010600030101010101" pitchFamily="2" charset="-122"/>
                </a:rPr>
                <a:t>(P)   </a:t>
              </a:r>
              <a:r>
                <a:rPr lang="zh-CN" altLang="en-US" sz="2200" dirty="0">
                  <a:latin typeface="宋体" panose="02010600030101010101" pitchFamily="2" charset="-122"/>
                </a:rPr>
                <a:t>都有：</a:t>
              </a:r>
              <a:r>
                <a:rPr lang="en-US" altLang="zh-CN" sz="2200" dirty="0">
                  <a:latin typeface="宋体" panose="02010600030101010101" pitchFamily="2" charset="-122"/>
                </a:rPr>
                <a:t>a  &lt; b</a:t>
              </a:r>
              <a:r>
                <a:rPr lang="zh-CN" altLang="en-US" sz="2200" dirty="0">
                  <a:latin typeface="宋体" panose="02010600030101010101" pitchFamily="2" charset="-122"/>
                </a:rPr>
                <a:t>。</a:t>
              </a:r>
            </a:p>
          </p:txBody>
        </p:sp>
        <p:graphicFrame>
          <p:nvGraphicFramePr>
            <p:cNvPr id="148487" name="Object 11"/>
            <p:cNvGraphicFramePr>
              <a:graphicFrameLocks noChangeAspect="1"/>
            </p:cNvGraphicFramePr>
            <p:nvPr>
              <p:extLst>
                <p:ext uri="{D42A27DB-BD31-4B8C-83A1-F6EECF244321}">
                  <p14:modId xmlns:p14="http://schemas.microsoft.com/office/powerpoint/2010/main" val="1936871796"/>
                </p:ext>
              </p:extLst>
            </p:nvPr>
          </p:nvGraphicFramePr>
          <p:xfrm>
            <a:off x="3134" y="3046"/>
            <a:ext cx="262" cy="171"/>
          </p:xfrm>
          <a:graphic>
            <a:graphicData uri="http://schemas.openxmlformats.org/presentationml/2006/ole">
              <mc:AlternateContent xmlns:mc="http://schemas.openxmlformats.org/markup-compatibility/2006">
                <mc:Choice xmlns:v="urn:schemas-microsoft-com:vml" Requires="v">
                  <p:oleObj spid="_x0000_s32790" name="位图图像" r:id="rId4" imgW="171338" imgH="181096" progId="Paint.Picture">
                    <p:embed/>
                  </p:oleObj>
                </mc:Choice>
                <mc:Fallback>
                  <p:oleObj name="位图图像" r:id="rId4" imgW="171338" imgH="181096" progId="Paint.Picture">
                    <p:embed/>
                    <p:pic>
                      <p:nvPicPr>
                        <p:cNvPr id="148487" name="Object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4" y="3046"/>
                          <a:ext cx="26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19" name="组合 18"/>
          <p:cNvGrpSpPr/>
          <p:nvPr/>
        </p:nvGrpSpPr>
        <p:grpSpPr>
          <a:xfrm>
            <a:off x="3135261" y="4011910"/>
            <a:ext cx="5976664" cy="1026860"/>
            <a:chOff x="755576" y="2859782"/>
            <a:chExt cx="5976664" cy="1026860"/>
          </a:xfrm>
        </p:grpSpPr>
        <p:sp>
          <p:nvSpPr>
            <p:cNvPr id="20" name="Rectangle 3"/>
            <p:cNvSpPr txBox="1">
              <a:spLocks noChangeArrowheads="1"/>
            </p:cNvSpPr>
            <p:nvPr/>
          </p:nvSpPr>
          <p:spPr>
            <a:xfrm>
              <a:off x="755576" y="2859782"/>
              <a:ext cx="5976664" cy="102686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10000"/>
                </a:lnSpc>
                <a:spcBef>
                  <a:spcPts val="0"/>
                </a:spcBef>
                <a:buNone/>
              </a:pPr>
              <a:r>
                <a:rPr lang="zh-CN" altLang="en-US" sz="2000" dirty="0">
                  <a:latin typeface="宋体" pitchFamily="2" charset="-122"/>
                  <a:ea typeface="宋体" panose="02010600030101010101" pitchFamily="2" charset="-122"/>
                </a:rPr>
                <a:t>① </a:t>
              </a:r>
              <a:r>
                <a:rPr lang="en-US" altLang="zh-CN" sz="2000" dirty="0">
                  <a:latin typeface="宋体" panose="02010600030101010101" pitchFamily="2" charset="-122"/>
                  <a:ea typeface="宋体" panose="02010600030101010101" pitchFamily="2" charset="-122"/>
                </a:rPr>
                <a:t>a   </a:t>
              </a:r>
              <a:r>
                <a:rPr lang="en-US" altLang="zh-CN" sz="2000" dirty="0" err="1">
                  <a:latin typeface="宋体" panose="02010600030101010101" pitchFamily="2" charset="-122"/>
                  <a:ea typeface="宋体" panose="02010600030101010101" pitchFamily="2" charset="-122"/>
                </a:rPr>
                <a:t>b,G</a:t>
              </a:r>
              <a:r>
                <a:rPr lang="zh-CN" altLang="en-US" sz="2000" dirty="0">
                  <a:latin typeface="宋体" pitchFamily="2" charset="-122"/>
                  <a:ea typeface="宋体" panose="02010600030101010101" pitchFamily="2" charset="-122"/>
                </a:rPr>
                <a:t>中有</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② </a:t>
              </a:r>
              <a:r>
                <a:rPr lang="en-US" altLang="zh-CN" sz="2000" dirty="0">
                  <a:latin typeface="宋体" panose="02010600030101010101" pitchFamily="2" charset="-122"/>
                  <a:ea typeface="宋体" panose="02010600030101010101" pitchFamily="2" charset="-122"/>
                </a:rPr>
                <a:t>a   b,</a:t>
              </a:r>
              <a:r>
                <a:rPr lang="zh-CN" altLang="en-US" sz="2000" dirty="0">
                  <a:latin typeface="宋体" panose="02010600030101010101"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aR.</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③ </a:t>
              </a:r>
              <a:r>
                <a:rPr lang="en-US" altLang="zh-CN" sz="2000" dirty="0">
                  <a:latin typeface="宋体" panose="02010600030101010101" pitchFamily="2" charset="-122"/>
                  <a:ea typeface="宋体" panose="02010600030101010101" pitchFamily="2" charset="-122"/>
                </a:rPr>
                <a:t>a   b,</a:t>
              </a:r>
              <a:r>
                <a:rPr lang="zh-CN" altLang="en-US" sz="2000" dirty="0">
                  <a:latin typeface="宋体"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Rb</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R=&gt;...a</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aQ</a:t>
              </a:r>
              <a:endParaRPr lang="en-US" altLang="zh-CN" sz="2000" dirty="0">
                <a:latin typeface="宋体" panose="02010600030101010101" pitchFamily="2" charset="-122"/>
                <a:ea typeface="宋体" panose="02010600030101010101" pitchFamily="2" charset="-122"/>
              </a:endParaRPr>
            </a:p>
          </p:txBody>
        </p:sp>
        <p:sp>
          <p:nvSpPr>
            <p:cNvPr id="21" name="Rectangle 4"/>
            <p:cNvSpPr>
              <a:spLocks noChangeArrowheads="1"/>
            </p:cNvSpPr>
            <p:nvPr/>
          </p:nvSpPr>
          <p:spPr bwMode="auto">
            <a:xfrm>
              <a:off x="5580112" y="334509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22" name="Rectangle 5"/>
            <p:cNvSpPr>
              <a:spLocks noChangeArrowheads="1"/>
            </p:cNvSpPr>
            <p:nvPr/>
          </p:nvSpPr>
          <p:spPr bwMode="auto">
            <a:xfrm>
              <a:off x="4427984" y="3363838"/>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23" name="Object 5"/>
            <p:cNvGraphicFramePr>
              <a:graphicFrameLocks/>
            </p:cNvGraphicFramePr>
            <p:nvPr>
              <p:extLst>
                <p:ext uri="{D42A27DB-BD31-4B8C-83A1-F6EECF244321}">
                  <p14:modId xmlns:p14="http://schemas.microsoft.com/office/powerpoint/2010/main" val="507212090"/>
                </p:ext>
              </p:extLst>
            </p:nvPr>
          </p:nvGraphicFramePr>
          <p:xfrm>
            <a:off x="1475656" y="3651870"/>
            <a:ext cx="360040" cy="159580"/>
          </p:xfrm>
          <a:graphic>
            <a:graphicData uri="http://schemas.openxmlformats.org/presentationml/2006/ole">
              <mc:AlternateContent xmlns:mc="http://schemas.openxmlformats.org/markup-compatibility/2006">
                <mc:Choice xmlns:v="urn:schemas-microsoft-com:vml" Requires="v">
                  <p:oleObj spid="_x0000_s32791" name="位图图像" r:id="rId6" imgW="171338" imgH="171338" progId="Paint.Picture">
                    <p:embed/>
                  </p:oleObj>
                </mc:Choice>
                <mc:Fallback>
                  <p:oleObj name="位图图像" r:id="rId6" imgW="171338" imgH="171338" progId="Paint.Picture">
                    <p:embed/>
                    <p:pic>
                      <p:nvPicPr>
                        <p:cNvPr id="23" name="Object 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75656" y="3651870"/>
                          <a:ext cx="360040" cy="159580"/>
                        </a:xfrm>
                        <a:prstGeom prst="rect">
                          <a:avLst/>
                        </a:prstGeom>
                        <a:noFill/>
                        <a:ln>
                          <a:noFill/>
                        </a:ln>
                        <a:effectLst/>
                      </p:spPr>
                    </p:pic>
                  </p:oleObj>
                </mc:Fallback>
              </mc:AlternateContent>
            </a:graphicData>
          </a:graphic>
        </p:graphicFrame>
        <p:sp>
          <p:nvSpPr>
            <p:cNvPr id="24" name="Rectangle 6"/>
            <p:cNvSpPr>
              <a:spLocks noChangeArrowheads="1"/>
            </p:cNvSpPr>
            <p:nvPr/>
          </p:nvSpPr>
          <p:spPr bwMode="auto">
            <a:xfrm>
              <a:off x="5580112"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25" name="Rectangle 7"/>
            <p:cNvSpPr>
              <a:spLocks noChangeArrowheads="1"/>
            </p:cNvSpPr>
            <p:nvPr/>
          </p:nvSpPr>
          <p:spPr bwMode="auto">
            <a:xfrm>
              <a:off x="4427984"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26" name="Object 4"/>
            <p:cNvGraphicFramePr>
              <a:graphicFrameLocks noChangeAspect="1"/>
            </p:cNvGraphicFramePr>
            <p:nvPr>
              <p:extLst>
                <p:ext uri="{D42A27DB-BD31-4B8C-83A1-F6EECF244321}">
                  <p14:modId xmlns:p14="http://schemas.microsoft.com/office/powerpoint/2010/main" val="2920572917"/>
                </p:ext>
              </p:extLst>
            </p:nvPr>
          </p:nvGraphicFramePr>
          <p:xfrm>
            <a:off x="1475656" y="3353717"/>
            <a:ext cx="343917" cy="203643"/>
          </p:xfrm>
          <a:graphic>
            <a:graphicData uri="http://schemas.openxmlformats.org/presentationml/2006/ole">
              <mc:AlternateContent xmlns:mc="http://schemas.openxmlformats.org/markup-compatibility/2006">
                <mc:Choice xmlns:v="urn:schemas-microsoft-com:vml" Requires="v">
                  <p:oleObj spid="_x0000_s32792" name="位图图像" r:id="rId8" imgW="171338" imgH="181096" progId="Paint.Picture">
                    <p:embed/>
                  </p:oleObj>
                </mc:Choice>
                <mc:Fallback>
                  <p:oleObj name="位图图像" r:id="rId8" imgW="171338" imgH="181096" progId="Paint.Picture">
                    <p:embed/>
                    <p:pic>
                      <p:nvPicPr>
                        <p:cNvPr id="26"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5656" y="3353717"/>
                          <a:ext cx="343917" cy="203643"/>
                        </a:xfrm>
                        <a:prstGeom prst="rect">
                          <a:avLst/>
                        </a:prstGeom>
                        <a:noFill/>
                        <a:ln>
                          <a:noFill/>
                        </a:ln>
                        <a:effectLst/>
                      </p:spPr>
                    </p:pic>
                  </p:oleObj>
                </mc:Fallback>
              </mc:AlternateContent>
            </a:graphicData>
          </a:graphic>
        </p:graphicFrame>
        <p:graphicFrame>
          <p:nvGraphicFramePr>
            <p:cNvPr id="27" name="Object 6"/>
            <p:cNvGraphicFramePr>
              <a:graphicFrameLocks noChangeAspect="1"/>
            </p:cNvGraphicFramePr>
            <p:nvPr>
              <p:extLst>
                <p:ext uri="{D42A27DB-BD31-4B8C-83A1-F6EECF244321}">
                  <p14:modId xmlns:p14="http://schemas.microsoft.com/office/powerpoint/2010/main" val="1764191290"/>
                </p:ext>
              </p:extLst>
            </p:nvPr>
          </p:nvGraphicFramePr>
          <p:xfrm>
            <a:off x="1475656" y="3003798"/>
            <a:ext cx="360040" cy="170298"/>
          </p:xfrm>
          <a:graphic>
            <a:graphicData uri="http://schemas.openxmlformats.org/presentationml/2006/ole">
              <mc:AlternateContent xmlns:mc="http://schemas.openxmlformats.org/markup-compatibility/2006">
                <mc:Choice xmlns:v="urn:schemas-microsoft-com:vml" Requires="v">
                  <p:oleObj spid="_x0000_s32793" name="位图图像" r:id="rId9" imgW="295238" imgH="190426" progId="Paint.Picture">
                    <p:embed/>
                  </p:oleObj>
                </mc:Choice>
                <mc:Fallback>
                  <p:oleObj name="位图图像" r:id="rId9" imgW="295238" imgH="190426" progId="Paint.Picture">
                    <p:embed/>
                    <p:pic>
                      <p:nvPicPr>
                        <p:cNvPr id="27"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75656" y="3003798"/>
                          <a:ext cx="360040" cy="170298"/>
                        </a:xfrm>
                        <a:prstGeom prst="rect">
                          <a:avLst/>
                        </a:prstGeom>
                        <a:noFill/>
                        <a:ln>
                          <a:noFill/>
                        </a:ln>
                        <a:effectLst/>
                      </p:spPr>
                    </p:pic>
                  </p:oleObj>
                </mc:Fallback>
              </mc:AlternateContent>
            </a:graphicData>
          </a:graphic>
        </p:graphicFrame>
      </p:grpSp>
    </p:spTree>
    <p:extLst>
      <p:ext uri="{BB962C8B-B14F-4D97-AF65-F5344CB8AC3E}">
        <p14:creationId xmlns:p14="http://schemas.microsoft.com/office/powerpoint/2010/main" val="40247987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3"/>
          <p:cNvSpPr>
            <a:spLocks noGrp="1" noChangeArrowheads="1"/>
          </p:cNvSpPr>
          <p:nvPr>
            <p:ph type="body" idx="1"/>
          </p:nvPr>
        </p:nvSpPr>
        <p:spPr>
          <a:xfrm>
            <a:off x="407988" y="699542"/>
            <a:ext cx="8526462" cy="1656184"/>
          </a:xfrm>
          <a:solidFill>
            <a:schemeClr val="bg1"/>
          </a:solidFill>
          <a:ln w="28575">
            <a:solidFill>
              <a:srgbClr val="0000FF"/>
            </a:solidFill>
            <a:miter lim="800000"/>
            <a:headEnd/>
            <a:tailEnd/>
          </a:ln>
        </p:spPr>
        <p:txBody>
          <a:bodyPr>
            <a:normAutofit/>
          </a:bodyPr>
          <a:lstStyle/>
          <a:p>
            <a:pPr eaLnBrk="1" hangingPunct="1">
              <a:tabLst>
                <a:tab pos="3233738" algn="l"/>
              </a:tabLst>
            </a:pPr>
            <a:r>
              <a:rPr lang="en-US" altLang="zh-CN" sz="2200" b="1" dirty="0">
                <a:solidFill>
                  <a:srgbClr val="FF0066"/>
                </a:solidFill>
                <a:latin typeface="宋体" panose="02010600030101010101" pitchFamily="2" charset="-122"/>
                <a:ea typeface="宋体" panose="02010600030101010101" pitchFamily="2" charset="-122"/>
              </a:rPr>
              <a:t>2. </a:t>
            </a:r>
            <a:r>
              <a:rPr lang="en-US" altLang="zh-CN" sz="2200" b="1" dirty="0" err="1">
                <a:solidFill>
                  <a:srgbClr val="FF0066"/>
                </a:solidFill>
                <a:latin typeface="宋体" panose="02010600030101010101" pitchFamily="2" charset="-122"/>
                <a:ea typeface="宋体" panose="02010600030101010101" pitchFamily="2" charset="-122"/>
              </a:rPr>
              <a:t>LastVT</a:t>
            </a:r>
            <a:r>
              <a:rPr lang="zh-CN" altLang="en-US" sz="2200" b="1" dirty="0">
                <a:solidFill>
                  <a:srgbClr val="FF0066"/>
                </a:solidFill>
                <a:latin typeface="宋体" pitchFamily="2" charset="-122"/>
                <a:ea typeface="宋体" panose="02010600030101010101" pitchFamily="2" charset="-122"/>
              </a:rPr>
              <a:t>集</a:t>
            </a:r>
            <a:r>
              <a:rPr lang="zh-CN" altLang="en-US" sz="2200" dirty="0">
                <a:latin typeface="宋体" panose="02010600030101010101" pitchFamily="2" charset="-122"/>
                <a:ea typeface="宋体" panose="02010600030101010101" pitchFamily="2" charset="-122"/>
              </a:rPr>
              <a:t> </a:t>
            </a:r>
          </a:p>
          <a:p>
            <a:pPr lvl="1">
              <a:tabLst>
                <a:tab pos="3233738" algn="l"/>
              </a:tabLst>
            </a:pPr>
            <a:r>
              <a:rPr lang="zh-CN" altLang="en-US" sz="2200" dirty="0">
                <a:solidFill>
                  <a:schemeClr val="accent2"/>
                </a:solidFill>
                <a:latin typeface="宋体" pitchFamily="2" charset="-122"/>
                <a:ea typeface="宋体" panose="02010600030101010101" pitchFamily="2" charset="-122"/>
              </a:rPr>
              <a:t>定义：</a:t>
            </a:r>
            <a:r>
              <a:rPr lang="zh-CN" altLang="en-US" sz="2200" dirty="0">
                <a:latin typeface="宋体" pitchFamily="2" charset="-122"/>
                <a:ea typeface="宋体" panose="02010600030101010101" pitchFamily="2" charset="-122"/>
              </a:rPr>
              <a:t>对每个非终结符</a:t>
            </a:r>
            <a:r>
              <a:rPr lang="en-US" altLang="zh-CN" sz="2200" dirty="0">
                <a:latin typeface="宋体" pitchFamily="2" charset="-122"/>
                <a:ea typeface="宋体" panose="02010600030101010101" pitchFamily="2" charset="-122"/>
              </a:rPr>
              <a:t>P, </a:t>
            </a:r>
          </a:p>
          <a:p>
            <a:pPr marL="393192" lvl="1" indent="0" eaLnBrk="1" hangingPunct="1">
              <a:buNone/>
              <a:tabLst>
                <a:tab pos="3233738" algn="l"/>
              </a:tabLst>
            </a:pPr>
            <a:r>
              <a:rPr lang="en-US" altLang="zh-CN" sz="2200" dirty="0" err="1">
                <a:solidFill>
                  <a:schemeClr val="accent2"/>
                </a:solidFill>
                <a:latin typeface="宋体" pitchFamily="2" charset="-122"/>
                <a:ea typeface="宋体" panose="02010600030101010101" pitchFamily="2" charset="-122"/>
              </a:rPr>
              <a:t>LastVT</a:t>
            </a:r>
            <a:r>
              <a:rPr lang="en-US" altLang="zh-CN" sz="2200" dirty="0">
                <a:solidFill>
                  <a:schemeClr val="accent2"/>
                </a:solidFill>
                <a:latin typeface="宋体" pitchFamily="2" charset="-122"/>
                <a:ea typeface="宋体" panose="02010600030101010101" pitchFamily="2" charset="-122"/>
              </a:rPr>
              <a:t>(P)=</a:t>
            </a:r>
            <a:r>
              <a:rPr lang="en-US" altLang="zh-CN" sz="2200" dirty="0">
                <a:latin typeface="宋体" pitchFamily="2" charset="-122"/>
                <a:ea typeface="宋体" panose="02010600030101010101" pitchFamily="2" charset="-122"/>
              </a:rPr>
              <a:t>{</a:t>
            </a:r>
            <a:r>
              <a:rPr lang="en-US" altLang="zh-CN" sz="2200" dirty="0" err="1">
                <a:latin typeface="宋体" pitchFamily="2" charset="-122"/>
                <a:ea typeface="宋体" panose="02010600030101010101" pitchFamily="2" charset="-122"/>
              </a:rPr>
              <a:t>a|P</a:t>
            </a:r>
            <a:r>
              <a:rPr lang="en-US" altLang="zh-CN" sz="2200" dirty="0">
                <a:latin typeface="宋体" pitchFamily="2" charset="-122"/>
                <a:ea typeface="宋体" panose="02010600030101010101" pitchFamily="2" charset="-122"/>
              </a:rPr>
              <a:t> =&gt; ...a</a:t>
            </a:r>
            <a:r>
              <a:rPr lang="zh-CN" altLang="en-US" sz="2200" dirty="0">
                <a:latin typeface="宋体" pitchFamily="2" charset="-122"/>
                <a:ea typeface="宋体" panose="02010600030101010101" pitchFamily="2" charset="-122"/>
              </a:rPr>
              <a:t>或 </a:t>
            </a:r>
            <a:r>
              <a:rPr lang="en-US" altLang="zh-CN" sz="2200" dirty="0">
                <a:latin typeface="宋体" pitchFamily="2" charset="-122"/>
                <a:ea typeface="宋体" panose="02010600030101010101" pitchFamily="2" charset="-122"/>
              </a:rPr>
              <a:t>P =&gt;...</a:t>
            </a:r>
            <a:r>
              <a:rPr lang="en-US" altLang="zh-CN" sz="2200" dirty="0" err="1">
                <a:latin typeface="宋体" pitchFamily="2" charset="-122"/>
                <a:ea typeface="宋体" panose="02010600030101010101" pitchFamily="2" charset="-122"/>
              </a:rPr>
              <a:t>aQ</a:t>
            </a:r>
            <a:r>
              <a:rPr lang="en-US" altLang="zh-CN" sz="2200" dirty="0">
                <a:latin typeface="宋体" pitchFamily="2" charset="-122"/>
                <a:ea typeface="宋体" panose="02010600030101010101" pitchFamily="2" charset="-122"/>
              </a:rPr>
              <a:t>, a</a:t>
            </a:r>
            <a:r>
              <a:rPr lang="zh-CN" altLang="en-US" sz="2200" dirty="0">
                <a:latin typeface="宋体" pitchFamily="2" charset="-122"/>
                <a:ea typeface="宋体" panose="02010600030101010101" pitchFamily="2" charset="-122"/>
              </a:rPr>
              <a:t>为终结符</a:t>
            </a:r>
            <a:r>
              <a:rPr lang="en-US" altLang="zh-CN" sz="2200" dirty="0">
                <a:latin typeface="宋体" pitchFamily="2" charset="-122"/>
                <a:ea typeface="宋体" panose="02010600030101010101" pitchFamily="2" charset="-122"/>
              </a:rPr>
              <a:t>, P</a:t>
            </a:r>
            <a:r>
              <a:rPr lang="zh-CN" altLang="en-US" sz="2200" dirty="0">
                <a:latin typeface="宋体" pitchFamily="2" charset="-122"/>
                <a:ea typeface="宋体" panose="02010600030101010101" pitchFamily="2" charset="-122"/>
              </a:rPr>
              <a:t>，</a:t>
            </a:r>
            <a:r>
              <a:rPr lang="en-US" altLang="zh-CN" sz="2200" dirty="0">
                <a:latin typeface="宋体" pitchFamily="2" charset="-122"/>
                <a:ea typeface="宋体" panose="02010600030101010101" pitchFamily="2" charset="-122"/>
              </a:rPr>
              <a:t>Q</a:t>
            </a:r>
            <a:r>
              <a:rPr lang="zh-CN" altLang="en-US" sz="2200" dirty="0">
                <a:latin typeface="宋体" pitchFamily="2" charset="-122"/>
                <a:ea typeface="宋体" panose="02010600030101010101" pitchFamily="2" charset="-122"/>
              </a:rPr>
              <a:t>为非终结符  </a:t>
            </a:r>
            <a:r>
              <a:rPr lang="en-US" altLang="zh-CN" sz="2200" dirty="0">
                <a:latin typeface="宋体" pitchFamily="2" charset="-122"/>
                <a:ea typeface="宋体" panose="02010600030101010101" pitchFamily="2" charset="-122"/>
              </a:rPr>
              <a:t>}</a:t>
            </a:r>
          </a:p>
        </p:txBody>
      </p:sp>
      <p:sp>
        <p:nvSpPr>
          <p:cNvPr id="154627" name="Rectangle 4"/>
          <p:cNvSpPr>
            <a:spLocks noChangeArrowheads="1"/>
          </p:cNvSpPr>
          <p:nvPr/>
        </p:nvSpPr>
        <p:spPr bwMode="auto">
          <a:xfrm>
            <a:off x="4541515" y="1203598"/>
            <a:ext cx="3905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dirty="0">
                <a:latin typeface="宋体" pitchFamily="2" charset="-122"/>
                <a:ea typeface="华文行楷" pitchFamily="2" charset="-122"/>
              </a:rPr>
              <a:t>+</a:t>
            </a:r>
          </a:p>
        </p:txBody>
      </p:sp>
      <p:sp>
        <p:nvSpPr>
          <p:cNvPr id="154628" name="Rectangle 5"/>
          <p:cNvSpPr>
            <a:spLocks noChangeArrowheads="1"/>
          </p:cNvSpPr>
          <p:nvPr/>
        </p:nvSpPr>
        <p:spPr bwMode="auto">
          <a:xfrm>
            <a:off x="2843808" y="1203598"/>
            <a:ext cx="3905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dirty="0">
                <a:latin typeface="宋体" pitchFamily="2" charset="-122"/>
                <a:ea typeface="华文行楷" pitchFamily="2" charset="-122"/>
              </a:rPr>
              <a:t>+</a:t>
            </a:r>
          </a:p>
        </p:txBody>
      </p:sp>
      <p:grpSp>
        <p:nvGrpSpPr>
          <p:cNvPr id="6" name="组合 5"/>
          <p:cNvGrpSpPr/>
          <p:nvPr/>
        </p:nvGrpSpPr>
        <p:grpSpPr>
          <a:xfrm>
            <a:off x="3135261" y="4011910"/>
            <a:ext cx="5976664" cy="1026860"/>
            <a:chOff x="755576" y="2859782"/>
            <a:chExt cx="5976664" cy="1026860"/>
          </a:xfrm>
        </p:grpSpPr>
        <p:sp>
          <p:nvSpPr>
            <p:cNvPr id="7" name="Rectangle 3"/>
            <p:cNvSpPr txBox="1">
              <a:spLocks noChangeArrowheads="1"/>
            </p:cNvSpPr>
            <p:nvPr/>
          </p:nvSpPr>
          <p:spPr>
            <a:xfrm>
              <a:off x="755576" y="2859782"/>
              <a:ext cx="5976664" cy="1026860"/>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lnSpc>
                  <a:spcPct val="110000"/>
                </a:lnSpc>
                <a:spcBef>
                  <a:spcPts val="0"/>
                </a:spcBef>
                <a:buNone/>
              </a:pPr>
              <a:r>
                <a:rPr lang="zh-CN" altLang="en-US" sz="2000" dirty="0">
                  <a:latin typeface="宋体" pitchFamily="2" charset="-122"/>
                  <a:ea typeface="宋体" panose="02010600030101010101" pitchFamily="2" charset="-122"/>
                </a:rPr>
                <a:t>① </a:t>
              </a:r>
              <a:r>
                <a:rPr lang="en-US" altLang="zh-CN" sz="2000" dirty="0">
                  <a:latin typeface="宋体" panose="02010600030101010101" pitchFamily="2" charset="-122"/>
                  <a:ea typeface="宋体" panose="02010600030101010101" pitchFamily="2" charset="-122"/>
                </a:rPr>
                <a:t>a   </a:t>
              </a:r>
              <a:r>
                <a:rPr lang="en-US" altLang="zh-CN" sz="2000" dirty="0" err="1">
                  <a:latin typeface="宋体" panose="02010600030101010101" pitchFamily="2" charset="-122"/>
                  <a:ea typeface="宋体" panose="02010600030101010101" pitchFamily="2" charset="-122"/>
                </a:rPr>
                <a:t>b,G</a:t>
              </a:r>
              <a:r>
                <a:rPr lang="zh-CN" altLang="en-US" sz="2000" dirty="0">
                  <a:latin typeface="宋体" pitchFamily="2" charset="-122"/>
                  <a:ea typeface="宋体" panose="02010600030101010101" pitchFamily="2" charset="-122"/>
                </a:rPr>
                <a:t>中有</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② </a:t>
              </a:r>
              <a:r>
                <a:rPr lang="en-US" altLang="zh-CN" sz="2000" dirty="0">
                  <a:latin typeface="宋体" panose="02010600030101010101" pitchFamily="2" charset="-122"/>
                  <a:ea typeface="宋体" panose="02010600030101010101" pitchFamily="2" charset="-122"/>
                </a:rPr>
                <a:t>a   b,</a:t>
              </a:r>
              <a:r>
                <a:rPr lang="zh-CN" altLang="en-US" sz="2000" dirty="0">
                  <a:latin typeface="宋体" panose="02010600030101010101"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aR.</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R=&gt;b...</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Qb</a:t>
              </a:r>
              <a:r>
                <a:rPr lang="en-US" altLang="zh-CN" sz="2000" dirty="0">
                  <a:latin typeface="宋体" panose="02010600030101010101" pitchFamily="2" charset="-122"/>
                  <a:ea typeface="宋体" panose="02010600030101010101" pitchFamily="2" charset="-122"/>
                </a:rPr>
                <a:t>... </a:t>
              </a:r>
            </a:p>
            <a:p>
              <a:pPr marL="109728" indent="0">
                <a:lnSpc>
                  <a:spcPct val="110000"/>
                </a:lnSpc>
                <a:spcBef>
                  <a:spcPts val="0"/>
                </a:spcBef>
                <a:buNone/>
              </a:pPr>
              <a:r>
                <a:rPr lang="zh-CN" altLang="en-US" sz="2000" dirty="0">
                  <a:latin typeface="宋体" panose="02010600030101010101" pitchFamily="2" charset="-122"/>
                  <a:ea typeface="宋体" panose="02010600030101010101" pitchFamily="2" charset="-122"/>
                </a:rPr>
                <a:t>③ </a:t>
              </a:r>
              <a:r>
                <a:rPr lang="en-US" altLang="zh-CN" sz="2000" dirty="0">
                  <a:latin typeface="宋体" panose="02010600030101010101" pitchFamily="2" charset="-122"/>
                  <a:ea typeface="宋体" panose="02010600030101010101" pitchFamily="2" charset="-122"/>
                </a:rPr>
                <a:t>a   b,</a:t>
              </a:r>
              <a:r>
                <a:rPr lang="zh-CN" altLang="en-US" sz="2000" dirty="0">
                  <a:latin typeface="宋体" pitchFamily="2" charset="-122"/>
                  <a:ea typeface="宋体" panose="02010600030101010101" pitchFamily="2" charset="-122"/>
                </a:rPr>
                <a:t>要求</a:t>
              </a:r>
              <a:r>
                <a:rPr lang="en-US" altLang="zh-CN" sz="2000" dirty="0">
                  <a:latin typeface="宋体" panose="02010600030101010101" pitchFamily="2" charset="-122"/>
                  <a:ea typeface="宋体" panose="02010600030101010101" pitchFamily="2" charset="-122"/>
                </a:rPr>
                <a:t>P</a:t>
              </a:r>
              <a:r>
                <a:rPr lang="en-US" altLang="zh-CN" sz="2000" dirty="0">
                  <a:latin typeface="宋体" panose="02010600030101010101" pitchFamily="2" charset="-122"/>
                  <a:ea typeface="宋体" panose="02010600030101010101" pitchFamily="2" charset="-122"/>
                  <a:sym typeface="Wingdings" pitchFamily="2" charset="2"/>
                </a:rPr>
                <a:t></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Rb</a:t>
              </a:r>
              <a:r>
                <a:rPr lang="en-US" altLang="zh-CN" sz="2000" dirty="0">
                  <a:latin typeface="宋体" panose="02010600030101010101" pitchFamily="2" charset="-122"/>
                  <a:ea typeface="宋体" panose="02010600030101010101" pitchFamily="2" charset="-122"/>
                </a:rPr>
                <a:t>...,</a:t>
              </a:r>
              <a:r>
                <a:rPr lang="zh-CN" altLang="en-US" sz="2000" dirty="0">
                  <a:latin typeface="宋体" pitchFamily="2" charset="-122"/>
                  <a:ea typeface="宋体" panose="02010600030101010101" pitchFamily="2" charset="-122"/>
                </a:rPr>
                <a:t>且</a:t>
              </a:r>
              <a:r>
                <a:rPr lang="en-US" altLang="zh-CN" sz="2000" dirty="0">
                  <a:latin typeface="宋体" panose="02010600030101010101" pitchFamily="2" charset="-122"/>
                  <a:ea typeface="宋体" panose="02010600030101010101" pitchFamily="2" charset="-122"/>
                </a:rPr>
                <a:t>R=&gt;...a</a:t>
              </a:r>
              <a:r>
                <a:rPr lang="zh-CN" altLang="en-US" sz="2000" dirty="0">
                  <a:latin typeface="宋体" pitchFamily="2" charset="-122"/>
                  <a:ea typeface="宋体" panose="02010600030101010101" pitchFamily="2" charset="-122"/>
                </a:rPr>
                <a:t>或</a:t>
              </a:r>
              <a:r>
                <a:rPr lang="en-US" altLang="zh-CN" sz="2000" dirty="0">
                  <a:latin typeface="宋体" panose="02010600030101010101" pitchFamily="2" charset="-122"/>
                  <a:ea typeface="宋体" panose="02010600030101010101" pitchFamily="2" charset="-122"/>
                </a:rPr>
                <a:t>R=&gt;...</a:t>
              </a:r>
              <a:r>
                <a:rPr lang="en-US" altLang="zh-CN" sz="2000" dirty="0" err="1">
                  <a:latin typeface="宋体" panose="02010600030101010101" pitchFamily="2" charset="-122"/>
                  <a:ea typeface="宋体" panose="02010600030101010101" pitchFamily="2" charset="-122"/>
                </a:rPr>
                <a:t>aQ</a:t>
              </a:r>
              <a:endParaRPr lang="en-US" altLang="zh-CN" sz="2000" dirty="0">
                <a:latin typeface="宋体" panose="02010600030101010101" pitchFamily="2" charset="-122"/>
                <a:ea typeface="宋体" panose="02010600030101010101" pitchFamily="2" charset="-122"/>
              </a:endParaRPr>
            </a:p>
          </p:txBody>
        </p:sp>
        <p:sp>
          <p:nvSpPr>
            <p:cNvPr id="8" name="Rectangle 4"/>
            <p:cNvSpPr>
              <a:spLocks noChangeArrowheads="1"/>
            </p:cNvSpPr>
            <p:nvPr/>
          </p:nvSpPr>
          <p:spPr bwMode="auto">
            <a:xfrm>
              <a:off x="5580112" y="334509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9" name="Rectangle 5"/>
            <p:cNvSpPr>
              <a:spLocks noChangeArrowheads="1"/>
            </p:cNvSpPr>
            <p:nvPr/>
          </p:nvSpPr>
          <p:spPr bwMode="auto">
            <a:xfrm>
              <a:off x="4427984" y="3363838"/>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10" name="Object 5"/>
            <p:cNvGraphicFramePr>
              <a:graphicFrameLocks/>
            </p:cNvGraphicFramePr>
            <p:nvPr>
              <p:extLst>
                <p:ext uri="{D42A27DB-BD31-4B8C-83A1-F6EECF244321}">
                  <p14:modId xmlns:p14="http://schemas.microsoft.com/office/powerpoint/2010/main" val="3473966808"/>
                </p:ext>
              </p:extLst>
            </p:nvPr>
          </p:nvGraphicFramePr>
          <p:xfrm>
            <a:off x="1475656" y="3651870"/>
            <a:ext cx="360040" cy="159580"/>
          </p:xfrm>
          <a:graphic>
            <a:graphicData uri="http://schemas.openxmlformats.org/presentationml/2006/ole">
              <mc:AlternateContent xmlns:mc="http://schemas.openxmlformats.org/markup-compatibility/2006">
                <mc:Choice xmlns:v="urn:schemas-microsoft-com:vml" Requires="v">
                  <p:oleObj spid="_x0000_s33814" name="位图图像" r:id="rId4" imgW="171338" imgH="171338" progId="Paint.Picture">
                    <p:embed/>
                  </p:oleObj>
                </mc:Choice>
                <mc:Fallback>
                  <p:oleObj name="位图图像" r:id="rId4" imgW="171338" imgH="171338" progId="Paint.Picture">
                    <p:embed/>
                    <p:pic>
                      <p:nvPicPr>
                        <p:cNvPr id="10" name="Object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5656" y="3651870"/>
                          <a:ext cx="360040" cy="159580"/>
                        </a:xfrm>
                        <a:prstGeom prst="rect">
                          <a:avLst/>
                        </a:prstGeom>
                        <a:noFill/>
                        <a:ln>
                          <a:noFill/>
                        </a:ln>
                        <a:effectLst/>
                      </p:spPr>
                    </p:pic>
                  </p:oleObj>
                </mc:Fallback>
              </mc:AlternateContent>
            </a:graphicData>
          </a:graphic>
        </p:graphicFrame>
        <p:sp>
          <p:nvSpPr>
            <p:cNvPr id="11" name="Rectangle 6"/>
            <p:cNvSpPr>
              <a:spLocks noChangeArrowheads="1"/>
            </p:cNvSpPr>
            <p:nvPr/>
          </p:nvSpPr>
          <p:spPr bwMode="auto">
            <a:xfrm>
              <a:off x="5580112"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sp>
          <p:nvSpPr>
            <p:cNvPr id="12" name="Rectangle 7"/>
            <p:cNvSpPr>
              <a:spLocks noChangeArrowheads="1"/>
            </p:cNvSpPr>
            <p:nvPr/>
          </p:nvSpPr>
          <p:spPr bwMode="auto">
            <a:xfrm>
              <a:off x="4427984" y="2985050"/>
              <a:ext cx="387350" cy="52280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800" dirty="0">
                  <a:ea typeface="华文行楷" pitchFamily="2" charset="-122"/>
                </a:rPr>
                <a:t>+</a:t>
              </a:r>
            </a:p>
          </p:txBody>
        </p:sp>
        <p:graphicFrame>
          <p:nvGraphicFramePr>
            <p:cNvPr id="13" name="Object 4"/>
            <p:cNvGraphicFramePr>
              <a:graphicFrameLocks noChangeAspect="1"/>
            </p:cNvGraphicFramePr>
            <p:nvPr>
              <p:extLst>
                <p:ext uri="{D42A27DB-BD31-4B8C-83A1-F6EECF244321}">
                  <p14:modId xmlns:p14="http://schemas.microsoft.com/office/powerpoint/2010/main" val="1437065877"/>
                </p:ext>
              </p:extLst>
            </p:nvPr>
          </p:nvGraphicFramePr>
          <p:xfrm>
            <a:off x="1475656" y="3353717"/>
            <a:ext cx="343917" cy="203643"/>
          </p:xfrm>
          <a:graphic>
            <a:graphicData uri="http://schemas.openxmlformats.org/presentationml/2006/ole">
              <mc:AlternateContent xmlns:mc="http://schemas.openxmlformats.org/markup-compatibility/2006">
                <mc:Choice xmlns:v="urn:schemas-microsoft-com:vml" Requires="v">
                  <p:oleObj spid="_x0000_s33815" name="位图图像" r:id="rId6" imgW="171338" imgH="181096" progId="Paint.Picture">
                    <p:embed/>
                  </p:oleObj>
                </mc:Choice>
                <mc:Fallback>
                  <p:oleObj name="位图图像" r:id="rId6" imgW="171338" imgH="181096" progId="Paint.Picture">
                    <p:embed/>
                    <p:pic>
                      <p:nvPicPr>
                        <p:cNvPr id="13"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75656" y="3353717"/>
                          <a:ext cx="343917" cy="203643"/>
                        </a:xfrm>
                        <a:prstGeom prst="rect">
                          <a:avLst/>
                        </a:prstGeom>
                        <a:noFill/>
                        <a:ln>
                          <a:noFill/>
                        </a:ln>
                        <a:effectLst/>
                      </p:spPr>
                    </p:pic>
                  </p:oleObj>
                </mc:Fallback>
              </mc:AlternateContent>
            </a:graphicData>
          </a:graphic>
        </p:graphicFrame>
        <p:graphicFrame>
          <p:nvGraphicFramePr>
            <p:cNvPr id="14" name="Object 6"/>
            <p:cNvGraphicFramePr>
              <a:graphicFrameLocks noChangeAspect="1"/>
            </p:cNvGraphicFramePr>
            <p:nvPr>
              <p:extLst>
                <p:ext uri="{D42A27DB-BD31-4B8C-83A1-F6EECF244321}">
                  <p14:modId xmlns:p14="http://schemas.microsoft.com/office/powerpoint/2010/main" val="4248227389"/>
                </p:ext>
              </p:extLst>
            </p:nvPr>
          </p:nvGraphicFramePr>
          <p:xfrm>
            <a:off x="1475656" y="3003798"/>
            <a:ext cx="360040" cy="170298"/>
          </p:xfrm>
          <a:graphic>
            <a:graphicData uri="http://schemas.openxmlformats.org/presentationml/2006/ole">
              <mc:AlternateContent xmlns:mc="http://schemas.openxmlformats.org/markup-compatibility/2006">
                <mc:Choice xmlns:v="urn:schemas-microsoft-com:vml" Requires="v">
                  <p:oleObj spid="_x0000_s33816" name="位图图像" r:id="rId8" imgW="295238" imgH="190426" progId="Paint.Picture">
                    <p:embed/>
                  </p:oleObj>
                </mc:Choice>
                <mc:Fallback>
                  <p:oleObj name="位图图像" r:id="rId8" imgW="295238" imgH="190426" progId="Paint.Picture">
                    <p:embed/>
                    <p:pic>
                      <p:nvPicPr>
                        <p:cNvPr id="14"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75656" y="3003798"/>
                          <a:ext cx="360040" cy="170298"/>
                        </a:xfrm>
                        <a:prstGeom prst="rect">
                          <a:avLst/>
                        </a:prstGeom>
                        <a:noFill/>
                        <a:ln>
                          <a:noFill/>
                        </a:ln>
                        <a:effectLst/>
                      </p:spPr>
                    </p:pic>
                  </p:oleObj>
                </mc:Fallback>
              </mc:AlternateContent>
            </a:graphicData>
          </a:graphic>
        </p:graphicFrame>
      </p:grpSp>
      <p:grpSp>
        <p:nvGrpSpPr>
          <p:cNvPr id="2" name="组合 1"/>
          <p:cNvGrpSpPr/>
          <p:nvPr/>
        </p:nvGrpSpPr>
        <p:grpSpPr>
          <a:xfrm>
            <a:off x="756003" y="2669715"/>
            <a:ext cx="7488405" cy="1107524"/>
            <a:chOff x="756003" y="2669715"/>
            <a:chExt cx="7488405" cy="1107524"/>
          </a:xfrm>
        </p:grpSpPr>
        <p:sp>
          <p:nvSpPr>
            <p:cNvPr id="16" name="Text Box 9"/>
            <p:cNvSpPr txBox="1">
              <a:spLocks noChangeArrowheads="1"/>
            </p:cNvSpPr>
            <p:nvPr/>
          </p:nvSpPr>
          <p:spPr bwMode="auto">
            <a:xfrm>
              <a:off x="756003" y="2669715"/>
              <a:ext cx="7488405" cy="1107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latin typeface="宋体" panose="02010600030101010101" pitchFamily="2" charset="-122"/>
                </a:rPr>
                <a:t>由优先性高于的定义和</a:t>
              </a:r>
              <a:r>
                <a:rPr lang="en-US" altLang="zh-CN" sz="2200" dirty="0" err="1">
                  <a:latin typeface="宋体" panose="02010600030101010101" pitchFamily="2" charset="-122"/>
                </a:rPr>
                <a:t>LastVT</a:t>
              </a:r>
              <a:r>
                <a:rPr lang="zh-CN" altLang="en-US" sz="2200" dirty="0">
                  <a:latin typeface="宋体" panose="02010600030101010101" pitchFamily="2" charset="-122"/>
                </a:rPr>
                <a:t>集合的定义可以得出：</a:t>
              </a:r>
            </a:p>
            <a:p>
              <a:pPr eaLnBrk="1" hangingPunct="1">
                <a:spcBef>
                  <a:spcPts val="0"/>
                </a:spcBef>
                <a:buFontTx/>
                <a:buNone/>
              </a:pPr>
              <a:r>
                <a:rPr lang="zh-CN" altLang="en-US" sz="2200" dirty="0">
                  <a:latin typeface="宋体" panose="02010600030101010101" pitchFamily="2" charset="-122"/>
                </a:rPr>
                <a:t>若存在某个产生式：</a:t>
              </a:r>
              <a:r>
                <a:rPr lang="en-US" altLang="zh-CN" sz="2200" dirty="0">
                  <a:latin typeface="宋体" panose="02010600030101010101" pitchFamily="2" charset="-122"/>
                </a:rPr>
                <a:t>Q-&gt;…</a:t>
              </a:r>
              <a:r>
                <a:rPr lang="en-US" altLang="zh-CN" sz="2200" dirty="0" err="1">
                  <a:latin typeface="宋体" panose="02010600030101010101" pitchFamily="2" charset="-122"/>
                </a:rPr>
                <a:t>Pb</a:t>
              </a:r>
              <a:r>
                <a:rPr lang="en-US" altLang="zh-CN" sz="2200" dirty="0">
                  <a:latin typeface="宋体" panose="02010600030101010101" pitchFamily="2" charset="-122"/>
                </a:rPr>
                <a:t>…</a:t>
              </a:r>
              <a:r>
                <a:rPr lang="zh-CN" altLang="en-US" sz="2200" dirty="0">
                  <a:latin typeface="宋体" panose="02010600030101010101" pitchFamily="2" charset="-122"/>
                </a:rPr>
                <a:t>，</a:t>
              </a:r>
            </a:p>
            <a:p>
              <a:pPr eaLnBrk="1" hangingPunct="1">
                <a:spcBef>
                  <a:spcPts val="0"/>
                </a:spcBef>
                <a:buFontTx/>
                <a:buNone/>
              </a:pPr>
              <a:r>
                <a:rPr lang="zh-CN" altLang="en-US" sz="2200" dirty="0">
                  <a:latin typeface="宋体" panose="02010600030101010101" pitchFamily="2" charset="-122"/>
                </a:rPr>
                <a:t>对所有：</a:t>
              </a:r>
              <a:r>
                <a:rPr lang="en-US" altLang="zh-CN" sz="2200" dirty="0" err="1">
                  <a:latin typeface="宋体" panose="02010600030101010101" pitchFamily="2" charset="-122"/>
                </a:rPr>
                <a:t>a∈LastVT</a:t>
              </a:r>
              <a:r>
                <a:rPr lang="en-US" altLang="zh-CN" sz="2200" dirty="0">
                  <a:latin typeface="宋体" panose="02010600030101010101" pitchFamily="2" charset="-122"/>
                </a:rPr>
                <a:t>(P)   </a:t>
              </a:r>
              <a:r>
                <a:rPr lang="zh-CN" altLang="en-US" sz="2200" dirty="0">
                  <a:latin typeface="宋体" panose="02010600030101010101" pitchFamily="2" charset="-122"/>
                </a:rPr>
                <a:t>都有：</a:t>
              </a:r>
              <a:r>
                <a:rPr lang="en-US" altLang="zh-CN" sz="2200" dirty="0">
                  <a:latin typeface="宋体" panose="02010600030101010101" pitchFamily="2" charset="-122"/>
                </a:rPr>
                <a:t>a  &lt; b</a:t>
              </a:r>
              <a:r>
                <a:rPr lang="zh-CN" altLang="en-US" sz="2200" dirty="0">
                  <a:latin typeface="宋体" panose="02010600030101010101" pitchFamily="2" charset="-122"/>
                </a:rPr>
                <a:t>。</a:t>
              </a:r>
            </a:p>
          </p:txBody>
        </p:sp>
        <p:graphicFrame>
          <p:nvGraphicFramePr>
            <p:cNvPr id="18" name="Object 5"/>
            <p:cNvGraphicFramePr>
              <a:graphicFrameLocks/>
            </p:cNvGraphicFramePr>
            <p:nvPr>
              <p:extLst>
                <p:ext uri="{D42A27DB-BD31-4B8C-83A1-F6EECF244321}">
                  <p14:modId xmlns:p14="http://schemas.microsoft.com/office/powerpoint/2010/main" val="495799898"/>
                </p:ext>
              </p:extLst>
            </p:nvPr>
          </p:nvGraphicFramePr>
          <p:xfrm>
            <a:off x="5148064" y="3492290"/>
            <a:ext cx="360040" cy="159580"/>
          </p:xfrm>
          <a:graphic>
            <a:graphicData uri="http://schemas.openxmlformats.org/presentationml/2006/ole">
              <mc:AlternateContent xmlns:mc="http://schemas.openxmlformats.org/markup-compatibility/2006">
                <mc:Choice xmlns:v="urn:schemas-microsoft-com:vml" Requires="v">
                  <p:oleObj spid="_x0000_s33817" name="位图图像" r:id="rId10" imgW="171338" imgH="171338" progId="Paint.Picture">
                    <p:embed/>
                  </p:oleObj>
                </mc:Choice>
                <mc:Fallback>
                  <p:oleObj name="位图图像" r:id="rId10" imgW="171338" imgH="171338" progId="Paint.Picture">
                    <p:embed/>
                    <p:pic>
                      <p:nvPicPr>
                        <p:cNvPr id="18" name="Object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48064" y="3492290"/>
                          <a:ext cx="360040" cy="159580"/>
                        </a:xfrm>
                        <a:prstGeom prst="rect">
                          <a:avLst/>
                        </a:prstGeom>
                        <a:noFill/>
                        <a:ln>
                          <a:noFill/>
                        </a:ln>
                        <a:effectLst/>
                      </p:spPr>
                    </p:pic>
                  </p:oleObj>
                </mc:Fallback>
              </mc:AlternateContent>
            </a:graphicData>
          </a:graphic>
        </p:graphicFrame>
      </p:grpSp>
    </p:spTree>
    <p:extLst>
      <p:ext uri="{BB962C8B-B14F-4D97-AF65-F5344CB8AC3E}">
        <p14:creationId xmlns:p14="http://schemas.microsoft.com/office/powerpoint/2010/main" val="16253728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1026"/>
          <p:cNvSpPr>
            <a:spLocks noGrp="1" noChangeArrowheads="1"/>
          </p:cNvSpPr>
          <p:nvPr>
            <p:ph type="title"/>
          </p:nvPr>
        </p:nvSpPr>
        <p:spPr>
          <a:xfrm>
            <a:off x="112351" y="1"/>
            <a:ext cx="7772400" cy="411510"/>
          </a:xfrm>
        </p:spPr>
        <p:txBody>
          <a:bodyPr>
            <a:noAutofit/>
          </a:bodyPr>
          <a:lstStyle/>
          <a:p>
            <a:pPr eaLnBrk="1" hangingPunct="1"/>
            <a:r>
              <a:rPr lang="zh-CN" altLang="en-US" sz="3600" b="1" dirty="0">
                <a:solidFill>
                  <a:schemeClr val="tx1"/>
                </a:solidFill>
                <a:latin typeface="宋体" pitchFamily="2" charset="-122"/>
                <a:ea typeface="隶书" pitchFamily="49" charset="-122"/>
              </a:rPr>
              <a:t>构造</a:t>
            </a:r>
            <a:r>
              <a:rPr lang="en-US" altLang="zh-CN" sz="3600" b="1" dirty="0" err="1">
                <a:solidFill>
                  <a:schemeClr val="tx1"/>
                </a:solidFill>
                <a:latin typeface="宋体" pitchFamily="2" charset="-122"/>
                <a:ea typeface="隶书" pitchFamily="49" charset="-122"/>
              </a:rPr>
              <a:t>FirstVT</a:t>
            </a:r>
            <a:r>
              <a:rPr lang="zh-CN" altLang="en-US" sz="3600" b="1" dirty="0">
                <a:solidFill>
                  <a:schemeClr val="tx1"/>
                </a:solidFill>
                <a:latin typeface="宋体" pitchFamily="2" charset="-122"/>
                <a:ea typeface="隶书" pitchFamily="49" charset="-122"/>
              </a:rPr>
              <a:t>集算法</a:t>
            </a:r>
            <a:r>
              <a:rPr lang="en-US" altLang="zh-CN" sz="3600" b="1" dirty="0">
                <a:solidFill>
                  <a:schemeClr val="tx1"/>
                </a:solidFill>
                <a:latin typeface="宋体" pitchFamily="2" charset="-122"/>
                <a:ea typeface="隶书" pitchFamily="49" charset="-122"/>
              </a:rPr>
              <a:t>:</a:t>
            </a:r>
          </a:p>
        </p:txBody>
      </p:sp>
      <p:sp>
        <p:nvSpPr>
          <p:cNvPr id="149507" name="Rectangle 1027"/>
          <p:cNvSpPr>
            <a:spLocks noGrp="1" noChangeArrowheads="1"/>
          </p:cNvSpPr>
          <p:nvPr>
            <p:ph type="body" idx="1"/>
          </p:nvPr>
        </p:nvSpPr>
        <p:spPr>
          <a:xfrm>
            <a:off x="165100" y="555526"/>
            <a:ext cx="8875713" cy="1077912"/>
          </a:xfrm>
          <a:ln w="28575"/>
        </p:spPr>
        <p:style>
          <a:lnRef idx="2">
            <a:schemeClr val="accent1"/>
          </a:lnRef>
          <a:fillRef idx="1">
            <a:schemeClr val="lt1"/>
          </a:fillRef>
          <a:effectRef idx="0">
            <a:schemeClr val="accent1"/>
          </a:effectRef>
          <a:fontRef idx="minor">
            <a:schemeClr val="dk1"/>
          </a:fontRef>
        </p:style>
        <p:txBody>
          <a:bodyPr>
            <a:normAutofit fontScale="92500" lnSpcReduction="10000"/>
          </a:bodyPr>
          <a:lstStyle/>
          <a:p>
            <a:pPr eaLnBrk="1" hangingPunct="1"/>
            <a:r>
              <a:rPr lang="en-US" altLang="zh-CN" sz="2200" dirty="0" err="1">
                <a:latin typeface="宋体" pitchFamily="2" charset="-122"/>
                <a:ea typeface="宋体" panose="02010600030101010101" pitchFamily="2" charset="-122"/>
              </a:rPr>
              <a:t>FirstVT</a:t>
            </a:r>
            <a:r>
              <a:rPr lang="zh-CN" altLang="en-US" sz="2200" dirty="0">
                <a:latin typeface="宋体" pitchFamily="2" charset="-122"/>
                <a:ea typeface="宋体" panose="02010600030101010101" pitchFamily="2" charset="-122"/>
              </a:rPr>
              <a:t>集的计算分为两种情况：</a:t>
            </a:r>
          </a:p>
          <a:p>
            <a:pPr lvl="1" eaLnBrk="1" hangingPunct="1"/>
            <a:r>
              <a:rPr lang="zh-CN" altLang="en-US" sz="2200" dirty="0">
                <a:latin typeface="宋体" pitchFamily="2" charset="-122"/>
                <a:ea typeface="宋体" panose="02010600030101010101" pitchFamily="2" charset="-122"/>
              </a:rPr>
              <a:t>① 若有产生式</a:t>
            </a:r>
            <a:r>
              <a:rPr lang="en-US" altLang="zh-CN" sz="2200" dirty="0" err="1">
                <a:latin typeface="宋体" pitchFamily="2" charset="-122"/>
                <a:ea typeface="宋体" panose="02010600030101010101" pitchFamily="2" charset="-122"/>
              </a:rPr>
              <a:t>P</a:t>
            </a:r>
            <a:r>
              <a:rPr lang="en-US" altLang="zh-CN" sz="2200" dirty="0" err="1">
                <a:latin typeface="宋体" pitchFamily="2" charset="-122"/>
                <a:ea typeface="宋体" panose="02010600030101010101" pitchFamily="2" charset="-122"/>
                <a:sym typeface="Wingdings" pitchFamily="2" charset="2"/>
              </a:rPr>
              <a:t></a:t>
            </a:r>
            <a:r>
              <a:rPr lang="en-US" altLang="zh-CN" sz="2200" dirty="0" err="1">
                <a:latin typeface="宋体" pitchFamily="2" charset="-122"/>
                <a:ea typeface="宋体" panose="02010600030101010101" pitchFamily="2" charset="-122"/>
              </a:rPr>
              <a:t>a</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或</a:t>
            </a:r>
            <a:r>
              <a:rPr lang="en-US" altLang="zh-CN" sz="2200" dirty="0" err="1">
                <a:latin typeface="宋体" pitchFamily="2" charset="-122"/>
                <a:ea typeface="宋体" panose="02010600030101010101" pitchFamily="2" charset="-122"/>
              </a:rPr>
              <a:t>P</a:t>
            </a:r>
            <a:r>
              <a:rPr lang="en-US" altLang="zh-CN" sz="2200" dirty="0" err="1">
                <a:latin typeface="宋体" pitchFamily="2" charset="-122"/>
                <a:ea typeface="宋体" panose="02010600030101010101" pitchFamily="2" charset="-122"/>
                <a:sym typeface="Wingdings" pitchFamily="2" charset="2"/>
              </a:rPr>
              <a:t></a:t>
            </a:r>
            <a:r>
              <a:rPr lang="en-US" altLang="zh-CN" sz="2200" dirty="0" err="1">
                <a:latin typeface="宋体" pitchFamily="2" charset="-122"/>
                <a:ea typeface="宋体" panose="02010600030101010101" pitchFamily="2" charset="-122"/>
              </a:rPr>
              <a:t>Qa</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则</a:t>
            </a:r>
            <a:r>
              <a:rPr lang="en-US" altLang="zh-CN" sz="2200" dirty="0" err="1">
                <a:latin typeface="宋体" pitchFamily="2" charset="-122"/>
                <a:ea typeface="宋体" panose="02010600030101010101" pitchFamily="2" charset="-122"/>
              </a:rPr>
              <a:t>a∈FirstVT</a:t>
            </a:r>
            <a:r>
              <a:rPr lang="en-US" altLang="zh-CN" sz="2200" dirty="0">
                <a:latin typeface="宋体" pitchFamily="2" charset="-122"/>
                <a:ea typeface="宋体" panose="02010600030101010101" pitchFamily="2" charset="-122"/>
              </a:rPr>
              <a:t>(P)</a:t>
            </a:r>
          </a:p>
          <a:p>
            <a:pPr lvl="1" eaLnBrk="1" hangingPunct="1"/>
            <a:r>
              <a:rPr lang="en-US" altLang="zh-CN" sz="2200" dirty="0">
                <a:latin typeface="宋体" pitchFamily="2" charset="-122"/>
                <a:ea typeface="宋体" panose="02010600030101010101" pitchFamily="2" charset="-122"/>
              </a:rPr>
              <a:t>② </a:t>
            </a:r>
            <a:r>
              <a:rPr lang="zh-CN" altLang="en-US" sz="2200" dirty="0">
                <a:latin typeface="宋体" pitchFamily="2" charset="-122"/>
                <a:ea typeface="宋体" panose="02010600030101010101" pitchFamily="2" charset="-122"/>
              </a:rPr>
              <a:t>若有产生式</a:t>
            </a:r>
            <a:r>
              <a:rPr lang="en-US" altLang="zh-CN" sz="2200" dirty="0">
                <a:latin typeface="宋体" pitchFamily="2" charset="-122"/>
                <a:ea typeface="宋体" panose="02010600030101010101" pitchFamily="2" charset="-122"/>
              </a:rPr>
              <a:t>P</a:t>
            </a:r>
            <a:r>
              <a:rPr lang="en-US" altLang="zh-CN" sz="2200" dirty="0">
                <a:latin typeface="宋体" pitchFamily="2" charset="-122"/>
                <a:ea typeface="宋体" panose="02010600030101010101" pitchFamily="2" charset="-122"/>
                <a:sym typeface="Wingdings" pitchFamily="2" charset="2"/>
              </a:rPr>
              <a:t></a:t>
            </a:r>
            <a:r>
              <a:rPr lang="en-US" altLang="zh-CN" sz="2200" dirty="0">
                <a:latin typeface="宋体" pitchFamily="2" charset="-122"/>
                <a:ea typeface="宋体" panose="02010600030101010101" pitchFamily="2" charset="-122"/>
              </a:rPr>
              <a:t>R...,</a:t>
            </a:r>
            <a:r>
              <a:rPr lang="zh-CN" altLang="en-US" sz="2200" dirty="0">
                <a:latin typeface="宋体" pitchFamily="2" charset="-122"/>
                <a:ea typeface="宋体" panose="02010600030101010101" pitchFamily="2" charset="-122"/>
              </a:rPr>
              <a:t>若</a:t>
            </a:r>
            <a:r>
              <a:rPr lang="en-US" altLang="zh-CN" sz="2200" dirty="0" err="1">
                <a:latin typeface="宋体" pitchFamily="2" charset="-122"/>
                <a:ea typeface="宋体" panose="02010600030101010101" pitchFamily="2" charset="-122"/>
              </a:rPr>
              <a:t>a∈FirstVT</a:t>
            </a:r>
            <a:r>
              <a:rPr lang="en-US" altLang="zh-CN" sz="2200" dirty="0">
                <a:latin typeface="宋体" pitchFamily="2" charset="-122"/>
                <a:ea typeface="宋体" panose="02010600030101010101" pitchFamily="2" charset="-122"/>
              </a:rPr>
              <a:t>(R),</a:t>
            </a:r>
            <a:r>
              <a:rPr lang="zh-CN" altLang="en-US" sz="2200" dirty="0">
                <a:latin typeface="宋体" pitchFamily="2" charset="-122"/>
                <a:ea typeface="宋体" panose="02010600030101010101" pitchFamily="2" charset="-122"/>
              </a:rPr>
              <a:t>则</a:t>
            </a:r>
            <a:r>
              <a:rPr lang="en-US" altLang="zh-CN" sz="2200" dirty="0" err="1">
                <a:latin typeface="宋体" pitchFamily="2" charset="-122"/>
                <a:ea typeface="宋体" panose="02010600030101010101" pitchFamily="2" charset="-122"/>
              </a:rPr>
              <a:t>a∈FirstVT</a:t>
            </a:r>
            <a:r>
              <a:rPr lang="en-US" altLang="zh-CN" sz="2200" dirty="0">
                <a:latin typeface="宋体" pitchFamily="2" charset="-122"/>
                <a:ea typeface="宋体" panose="02010600030101010101" pitchFamily="2" charset="-122"/>
              </a:rPr>
              <a:t>(P)</a:t>
            </a:r>
          </a:p>
        </p:txBody>
      </p:sp>
      <p:graphicFrame>
        <p:nvGraphicFramePr>
          <p:cNvPr id="108589" name="Group 1069"/>
          <p:cNvGraphicFramePr>
            <a:graphicFrameLocks noGrp="1"/>
          </p:cNvGraphicFramePr>
          <p:nvPr>
            <p:extLst>
              <p:ext uri="{D42A27DB-BD31-4B8C-83A1-F6EECF244321}">
                <p14:modId xmlns:p14="http://schemas.microsoft.com/office/powerpoint/2010/main" val="1456121875"/>
              </p:ext>
            </p:extLst>
          </p:nvPr>
        </p:nvGraphicFramePr>
        <p:xfrm>
          <a:off x="6457577" y="2643758"/>
          <a:ext cx="2434903" cy="1173164"/>
        </p:xfrm>
        <a:graphic>
          <a:graphicData uri="http://schemas.openxmlformats.org/drawingml/2006/table">
            <a:tbl>
              <a:tblPr/>
              <a:tblGrid>
                <a:gridCol w="648072">
                  <a:extLst>
                    <a:ext uri="{9D8B030D-6E8A-4147-A177-3AD203B41FA5}">
                      <a16:colId xmlns:a16="http://schemas.microsoft.com/office/drawing/2014/main" val="20000"/>
                    </a:ext>
                  </a:extLst>
                </a:gridCol>
                <a:gridCol w="576064">
                  <a:extLst>
                    <a:ext uri="{9D8B030D-6E8A-4147-A177-3AD203B41FA5}">
                      <a16:colId xmlns:a16="http://schemas.microsoft.com/office/drawing/2014/main" val="20001"/>
                    </a:ext>
                  </a:extLst>
                </a:gridCol>
                <a:gridCol w="648072">
                  <a:extLst>
                    <a:ext uri="{9D8B030D-6E8A-4147-A177-3AD203B41FA5}">
                      <a16:colId xmlns:a16="http://schemas.microsoft.com/office/drawing/2014/main" val="20002"/>
                    </a:ext>
                  </a:extLst>
                </a:gridCol>
                <a:gridCol w="562695">
                  <a:extLst>
                    <a:ext uri="{9D8B030D-6E8A-4147-A177-3AD203B41FA5}">
                      <a16:colId xmlns:a16="http://schemas.microsoft.com/office/drawing/2014/main" val="20003"/>
                    </a:ext>
                  </a:extLst>
                </a:gridCol>
              </a:tblGrid>
              <a:tr h="38883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c</a:t>
                      </a:r>
                    </a:p>
                  </a:txBody>
                  <a:tcPr marT="34309" marB="343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0"/>
                  </a:ext>
                </a:extLst>
              </a:tr>
              <a:tr h="39550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a:t>
                      </a:r>
                    </a:p>
                  </a:txBody>
                  <a:tcPr marT="34309" marB="343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883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Q</a:t>
                      </a:r>
                    </a:p>
                  </a:txBody>
                  <a:tcPr marT="34309" marB="343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9" marB="343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08587" name="Rectangle 1067"/>
          <p:cNvSpPr>
            <a:spLocks noChangeArrowheads="1"/>
          </p:cNvSpPr>
          <p:nvPr/>
        </p:nvSpPr>
        <p:spPr bwMode="auto">
          <a:xfrm>
            <a:off x="129034" y="1749755"/>
            <a:ext cx="89074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77813" indent="-277813">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pPr>
            <a:r>
              <a:rPr lang="zh-CN" altLang="en-US" sz="2000" dirty="0">
                <a:latin typeface="宋体" pitchFamily="2" charset="-122"/>
              </a:rPr>
              <a:t>通过构造一个二维数组</a:t>
            </a:r>
            <a:r>
              <a:rPr lang="en-US" altLang="zh-CN" sz="2000" dirty="0">
                <a:latin typeface="宋体" pitchFamily="2" charset="-122"/>
              </a:rPr>
              <a:t>F</a:t>
            </a:r>
            <a:r>
              <a:rPr lang="zh-CN" altLang="en-US" sz="2000" dirty="0">
                <a:latin typeface="宋体" pitchFamily="2" charset="-122"/>
              </a:rPr>
              <a:t>来实现</a:t>
            </a:r>
            <a:r>
              <a:rPr lang="en-US" altLang="zh-CN" sz="2000" dirty="0">
                <a:latin typeface="宋体" pitchFamily="2" charset="-122"/>
              </a:rPr>
              <a:t>, </a:t>
            </a:r>
            <a:r>
              <a:rPr lang="zh-CN" altLang="en-US" sz="2000" dirty="0">
                <a:latin typeface="宋体" pitchFamily="2" charset="-122"/>
              </a:rPr>
              <a:t>数组</a:t>
            </a:r>
            <a:r>
              <a:rPr lang="en-US" altLang="zh-CN" sz="2000" dirty="0">
                <a:latin typeface="宋体" pitchFamily="2" charset="-122"/>
              </a:rPr>
              <a:t>F</a:t>
            </a:r>
            <a:r>
              <a:rPr lang="zh-CN" altLang="en-US" sz="2000" dirty="0">
                <a:latin typeface="宋体" pitchFamily="2" charset="-122"/>
              </a:rPr>
              <a:t>的一行反映一个非终结符的</a:t>
            </a:r>
            <a:r>
              <a:rPr lang="en-US" altLang="zh-CN" sz="2000" dirty="0" err="1">
                <a:latin typeface="宋体" pitchFamily="2" charset="-122"/>
              </a:rPr>
              <a:t>FirstVT</a:t>
            </a:r>
            <a:r>
              <a:rPr lang="zh-CN" altLang="en-US" sz="2000" dirty="0">
                <a:latin typeface="宋体" pitchFamily="2" charset="-122"/>
              </a:rPr>
              <a:t>集中的元素。步骤：</a:t>
            </a:r>
          </a:p>
        </p:txBody>
      </p:sp>
      <p:sp>
        <p:nvSpPr>
          <p:cNvPr id="108588" name="Rectangle 1068"/>
          <p:cNvSpPr>
            <a:spLocks noChangeArrowheads="1"/>
          </p:cNvSpPr>
          <p:nvPr/>
        </p:nvSpPr>
        <p:spPr bwMode="auto">
          <a:xfrm>
            <a:off x="40455" y="2643758"/>
            <a:ext cx="6331745" cy="707886"/>
          </a:xfrm>
          <a:prstGeom prst="rect">
            <a:avLst/>
          </a:prstGeom>
          <a:ln w="28575"/>
        </p:spPr>
        <p:style>
          <a:lnRef idx="2">
            <a:schemeClr val="accent2"/>
          </a:lnRef>
          <a:fillRef idx="1">
            <a:schemeClr val="lt1"/>
          </a:fillRef>
          <a:effectRef idx="0">
            <a:schemeClr val="accent2"/>
          </a:effectRef>
          <a:fontRef idx="minor">
            <a:schemeClr val="dk1"/>
          </a:fontRef>
        </p:style>
        <p:txBody>
          <a:bodyPr wrap="square">
            <a:spAutoFit/>
          </a:bodyPr>
          <a:lstStyle>
            <a:lvl1pPr marL="338138" indent="-33813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268288" lvl="1" indent="-268288">
              <a:spcBef>
                <a:spcPct val="50000"/>
              </a:spcBef>
              <a:buNone/>
            </a:pPr>
            <a:r>
              <a:rPr lang="en-US" altLang="zh-CN" sz="2000" b="1" dirty="0">
                <a:solidFill>
                  <a:srgbClr val="0000FF"/>
                </a:solidFill>
                <a:latin typeface="宋体" pitchFamily="2" charset="-122"/>
              </a:rPr>
              <a:t>(1)</a:t>
            </a:r>
            <a:r>
              <a:rPr lang="zh-CN" altLang="en-US" sz="2000" b="1" dirty="0">
                <a:solidFill>
                  <a:srgbClr val="0000FF"/>
                </a:solidFill>
                <a:latin typeface="宋体" pitchFamily="2" charset="-122"/>
              </a:rPr>
              <a:t>先根据第一种情况初始化数组，</a:t>
            </a:r>
            <a:r>
              <a:rPr lang="zh-CN" altLang="en-US" sz="2000" dirty="0">
                <a:latin typeface="宋体" panose="02010600030101010101" pitchFamily="2" charset="-122"/>
              </a:rPr>
              <a:t>若存在形如</a:t>
            </a:r>
            <a:r>
              <a:rPr lang="en-US" altLang="zh-CN" sz="2000" dirty="0" err="1">
                <a:latin typeface="宋体" panose="02010600030101010101" pitchFamily="2" charset="-122"/>
              </a:rPr>
              <a:t>P</a:t>
            </a:r>
            <a:r>
              <a:rPr lang="en-US" altLang="zh-CN" sz="2000" dirty="0" err="1">
                <a:latin typeface="宋体" pitchFamily="2" charset="-122"/>
                <a:sym typeface="Wingdings" pitchFamily="2" charset="2"/>
              </a:rPr>
              <a:t></a:t>
            </a:r>
            <a:r>
              <a:rPr lang="en-US" altLang="zh-CN" sz="2000" dirty="0" err="1">
                <a:latin typeface="宋体" pitchFamily="2" charset="-122"/>
              </a:rPr>
              <a:t>a</a:t>
            </a:r>
            <a:r>
              <a:rPr lang="en-US" altLang="zh-CN" sz="2000" dirty="0">
                <a:latin typeface="宋体" pitchFamily="2" charset="-122"/>
              </a:rPr>
              <a:t>...</a:t>
            </a:r>
            <a:r>
              <a:rPr lang="zh-CN" altLang="en-US" sz="2000" dirty="0">
                <a:latin typeface="宋体" pitchFamily="2" charset="-122"/>
              </a:rPr>
              <a:t>或</a:t>
            </a:r>
            <a:r>
              <a:rPr lang="en-US" altLang="zh-CN" sz="2000" dirty="0" err="1">
                <a:latin typeface="宋体" pitchFamily="2" charset="-122"/>
              </a:rPr>
              <a:t>P</a:t>
            </a:r>
            <a:r>
              <a:rPr lang="en-US" altLang="zh-CN" sz="2000" dirty="0" err="1">
                <a:latin typeface="宋体" pitchFamily="2" charset="-122"/>
                <a:sym typeface="Wingdings" pitchFamily="2" charset="2"/>
              </a:rPr>
              <a:t></a:t>
            </a:r>
            <a:r>
              <a:rPr lang="en-US" altLang="zh-CN" sz="2000" dirty="0" err="1">
                <a:latin typeface="宋体" pitchFamily="2" charset="-122"/>
              </a:rPr>
              <a:t>Qa</a:t>
            </a:r>
            <a:r>
              <a:rPr lang="en-US" altLang="zh-CN" sz="2000" dirty="0">
                <a:latin typeface="宋体" pitchFamily="2" charset="-122"/>
              </a:rPr>
              <a:t>...,</a:t>
            </a:r>
            <a:r>
              <a:rPr lang="zh-CN" altLang="en-US" sz="2000" dirty="0">
                <a:latin typeface="宋体" pitchFamily="2" charset="-122"/>
              </a:rPr>
              <a:t>的产生式，置</a:t>
            </a:r>
            <a:r>
              <a:rPr lang="en-US" altLang="zh-CN" sz="2000" dirty="0">
                <a:latin typeface="宋体" panose="02010600030101010101" pitchFamily="2" charset="-122"/>
              </a:rPr>
              <a:t>F[</a:t>
            </a:r>
            <a:r>
              <a:rPr lang="en-US" altLang="zh-CN" sz="2000" dirty="0" err="1">
                <a:latin typeface="宋体" panose="02010600030101010101" pitchFamily="2" charset="-122"/>
              </a:rPr>
              <a:t>P,a</a:t>
            </a:r>
            <a:r>
              <a:rPr lang="en-US" altLang="zh-CN" sz="2000" dirty="0">
                <a:latin typeface="宋体" panose="02010600030101010101" pitchFamily="2" charset="-122"/>
              </a:rPr>
              <a:t>]</a:t>
            </a:r>
            <a:r>
              <a:rPr lang="zh-CN" altLang="en-US" sz="2000" dirty="0">
                <a:latin typeface="宋体" panose="02010600030101010101" pitchFamily="2" charset="-122"/>
              </a:rPr>
              <a:t>为真，将</a:t>
            </a:r>
            <a:r>
              <a:rPr lang="en-US" altLang="zh-CN" sz="2000" dirty="0">
                <a:latin typeface="宋体" panose="02010600030101010101" pitchFamily="2" charset="-122"/>
              </a:rPr>
              <a:t>(</a:t>
            </a:r>
            <a:r>
              <a:rPr lang="en-US" altLang="zh-CN" sz="2000" dirty="0" err="1">
                <a:latin typeface="宋体" panose="02010600030101010101" pitchFamily="2" charset="-122"/>
              </a:rPr>
              <a:t>P,a</a:t>
            </a:r>
            <a:r>
              <a:rPr lang="en-US" altLang="zh-CN" sz="2000" dirty="0">
                <a:latin typeface="宋体" panose="02010600030101010101" pitchFamily="2" charset="-122"/>
              </a:rPr>
              <a:t>)</a:t>
            </a:r>
            <a:r>
              <a:rPr lang="zh-CN" altLang="en-US" sz="2000" dirty="0">
                <a:latin typeface="宋体" panose="02010600030101010101" pitchFamily="2" charset="-122"/>
              </a:rPr>
              <a:t>压栈</a:t>
            </a:r>
          </a:p>
        </p:txBody>
      </p:sp>
      <p:sp>
        <p:nvSpPr>
          <p:cNvPr id="2" name="TextBox 1"/>
          <p:cNvSpPr txBox="1"/>
          <p:nvPr/>
        </p:nvSpPr>
        <p:spPr>
          <a:xfrm>
            <a:off x="7174449" y="3066134"/>
            <a:ext cx="432048" cy="369332"/>
          </a:xfrm>
          <a:prstGeom prst="rect">
            <a:avLst/>
          </a:prstGeom>
          <a:noFill/>
        </p:spPr>
        <p:txBody>
          <a:bodyPr wrap="square" rtlCol="0">
            <a:spAutoFit/>
          </a:bodyPr>
          <a:lstStyle/>
          <a:p>
            <a:r>
              <a:rPr lang="en-US" altLang="zh-CN" dirty="0"/>
              <a:t>1</a:t>
            </a:r>
            <a:endParaRPr lang="zh-CN" altLang="en-US" dirty="0"/>
          </a:p>
        </p:txBody>
      </p:sp>
      <p:sp>
        <p:nvSpPr>
          <p:cNvPr id="11" name="TextBox 10"/>
          <p:cNvSpPr txBox="1"/>
          <p:nvPr/>
        </p:nvSpPr>
        <p:spPr>
          <a:xfrm>
            <a:off x="8405001" y="3435466"/>
            <a:ext cx="432048" cy="369332"/>
          </a:xfrm>
          <a:prstGeom prst="rect">
            <a:avLst/>
          </a:prstGeom>
          <a:noFill/>
        </p:spPr>
        <p:txBody>
          <a:bodyPr wrap="square" rtlCol="0">
            <a:spAutoFit/>
          </a:bodyPr>
          <a:lstStyle/>
          <a:p>
            <a:r>
              <a:rPr lang="en-US" altLang="zh-CN" dirty="0"/>
              <a:t>1</a:t>
            </a:r>
            <a:endParaRPr lang="zh-CN" altLang="en-US" dirty="0"/>
          </a:p>
        </p:txBody>
      </p:sp>
      <p:sp>
        <p:nvSpPr>
          <p:cNvPr id="13" name="TextBox 12"/>
          <p:cNvSpPr txBox="1"/>
          <p:nvPr/>
        </p:nvSpPr>
        <p:spPr>
          <a:xfrm>
            <a:off x="40455" y="3479427"/>
            <a:ext cx="6331745" cy="1200329"/>
          </a:xfrm>
          <a:prstGeom prst="rect">
            <a:avLst/>
          </a:prstGeom>
          <a:ln w="28575"/>
        </p:spPr>
        <p:style>
          <a:lnRef idx="2">
            <a:schemeClr val="accent2"/>
          </a:lnRef>
          <a:fillRef idx="1">
            <a:schemeClr val="lt1"/>
          </a:fillRef>
          <a:effectRef idx="0">
            <a:schemeClr val="accent2"/>
          </a:effectRef>
          <a:fontRef idx="minor">
            <a:schemeClr val="dk1"/>
          </a:fontRef>
        </p:style>
        <p:txBody>
          <a:bodyPr wrap="square" rtlCol="0">
            <a:spAutoFit/>
          </a:bodyPr>
          <a:lstStyle/>
          <a:p>
            <a:pPr>
              <a:lnSpc>
                <a:spcPct val="90000"/>
              </a:lnSpc>
            </a:pPr>
            <a:r>
              <a:rPr lang="en-US" altLang="zh-CN" sz="2000" b="1" dirty="0">
                <a:solidFill>
                  <a:srgbClr val="0000FF"/>
                </a:solidFill>
                <a:latin typeface="宋体" pitchFamily="2" charset="-122"/>
                <a:ea typeface="宋体" panose="02010600030101010101" pitchFamily="2" charset="-122"/>
              </a:rPr>
              <a:t>(2)</a:t>
            </a:r>
            <a:r>
              <a:rPr lang="zh-CN" altLang="en-US" sz="2000" b="1" dirty="0">
                <a:solidFill>
                  <a:srgbClr val="0000FF"/>
                </a:solidFill>
                <a:latin typeface="宋体" pitchFamily="2" charset="-122"/>
                <a:ea typeface="宋体" panose="02010600030101010101" pitchFamily="2" charset="-122"/>
              </a:rPr>
              <a:t>根据第二种情况修改数组</a:t>
            </a:r>
            <a:r>
              <a:rPr lang="en-US" altLang="zh-CN" sz="2000" b="1" dirty="0">
                <a:solidFill>
                  <a:srgbClr val="0000FF"/>
                </a:solidFill>
                <a:latin typeface="宋体" pitchFamily="2" charset="-122"/>
                <a:ea typeface="宋体" panose="02010600030101010101" pitchFamily="2" charset="-122"/>
              </a:rPr>
              <a:t>F</a:t>
            </a:r>
            <a:r>
              <a:rPr lang="zh-CN" altLang="en-US" sz="2000" b="1" dirty="0">
                <a:solidFill>
                  <a:srgbClr val="0000FF"/>
                </a:solidFill>
                <a:latin typeface="宋体" pitchFamily="2" charset="-122"/>
                <a:ea typeface="宋体" panose="02010600030101010101" pitchFamily="2" charset="-122"/>
              </a:rPr>
              <a:t>，</a:t>
            </a:r>
            <a:r>
              <a:rPr lang="zh-CN" altLang="en-US" sz="2000" dirty="0">
                <a:latin typeface="宋体" panose="02010600030101010101" pitchFamily="2" charset="-122"/>
                <a:ea typeface="宋体" panose="02010600030101010101" pitchFamily="2" charset="-122"/>
              </a:rPr>
              <a:t>修改方法是：</a:t>
            </a:r>
          </a:p>
          <a:p>
            <a:pPr marL="268288" lvl="1">
              <a:lnSpc>
                <a:spcPct val="90000"/>
              </a:lnSpc>
            </a:pPr>
            <a:r>
              <a:rPr lang="zh-CN" altLang="en-US" sz="2000" dirty="0">
                <a:latin typeface="宋体" panose="02010600030101010101" pitchFamily="2" charset="-122"/>
                <a:ea typeface="宋体" panose="02010600030101010101" pitchFamily="2" charset="-122"/>
              </a:rPr>
              <a:t>若栈不空，重复下述操作：将栈顶符号对出栈，记为</a:t>
            </a:r>
            <a:r>
              <a:rPr lang="en-US" altLang="zh-CN" sz="2000" b="1" dirty="0">
                <a:latin typeface="宋体" panose="02010600030101010101" pitchFamily="2" charset="-122"/>
                <a:ea typeface="宋体" panose="02010600030101010101" pitchFamily="2" charset="-122"/>
              </a:rPr>
              <a:t>(</a:t>
            </a:r>
            <a:r>
              <a:rPr lang="en-US" altLang="zh-CN" sz="2000" b="1" dirty="0" err="1">
                <a:latin typeface="宋体" panose="02010600030101010101" pitchFamily="2" charset="-122"/>
                <a:ea typeface="宋体" panose="02010600030101010101" pitchFamily="2" charset="-122"/>
              </a:rPr>
              <a:t>Q,a</a:t>
            </a:r>
            <a:r>
              <a:rPr lang="en-US" altLang="zh-CN" sz="2000" b="1" dirty="0">
                <a:latin typeface="宋体" panose="02010600030101010101" pitchFamily="2" charset="-122"/>
                <a:ea typeface="宋体" panose="02010600030101010101" pitchFamily="2" charset="-122"/>
              </a:rPr>
              <a:t>)</a:t>
            </a:r>
            <a:r>
              <a:rPr lang="zh-CN" altLang="en-US" sz="2000" dirty="0">
                <a:latin typeface="宋体" panose="02010600030101010101" pitchFamily="2" charset="-122"/>
                <a:ea typeface="宋体" panose="02010600030101010101" pitchFamily="2" charset="-122"/>
              </a:rPr>
              <a:t>，若存在形如</a:t>
            </a:r>
            <a:r>
              <a:rPr lang="en-US" altLang="zh-CN" sz="2000" b="1" dirty="0">
                <a:latin typeface="宋体" panose="02010600030101010101" pitchFamily="2" charset="-122"/>
                <a:ea typeface="宋体" panose="02010600030101010101" pitchFamily="2" charset="-122"/>
              </a:rPr>
              <a:t>P</a:t>
            </a:r>
            <a:r>
              <a:rPr lang="en-US" altLang="zh-CN" sz="2000" b="1" dirty="0">
                <a:latin typeface="宋体" panose="02010600030101010101" pitchFamily="2" charset="-122"/>
                <a:ea typeface="宋体" panose="02010600030101010101" pitchFamily="2" charset="-122"/>
                <a:sym typeface="Wingdings" pitchFamily="2" charset="2"/>
              </a:rPr>
              <a:t>Q…</a:t>
            </a:r>
            <a:r>
              <a:rPr lang="zh-CN" altLang="en-US" sz="2000" dirty="0">
                <a:latin typeface="宋体" panose="02010600030101010101" pitchFamily="2" charset="-122"/>
                <a:ea typeface="宋体" panose="02010600030101010101" pitchFamily="2" charset="-122"/>
                <a:sym typeface="Wingdings" pitchFamily="2" charset="2"/>
              </a:rPr>
              <a:t>的</a:t>
            </a:r>
            <a:r>
              <a:rPr lang="zh-CN" altLang="en-US" sz="2000" dirty="0">
                <a:latin typeface="宋体" panose="02010600030101010101" pitchFamily="2" charset="-122"/>
                <a:ea typeface="宋体" panose="02010600030101010101" pitchFamily="2" charset="-122"/>
              </a:rPr>
              <a:t>产生式，且</a:t>
            </a:r>
            <a:r>
              <a:rPr lang="en-US" altLang="zh-CN" sz="2000" dirty="0">
                <a:latin typeface="宋体" panose="02010600030101010101" pitchFamily="2" charset="-122"/>
                <a:ea typeface="宋体" panose="02010600030101010101" pitchFamily="2" charset="-122"/>
              </a:rPr>
              <a:t>F[</a:t>
            </a:r>
            <a:r>
              <a:rPr lang="en-US" altLang="zh-CN" sz="2000" dirty="0" err="1">
                <a:latin typeface="宋体" panose="02010600030101010101" pitchFamily="2" charset="-122"/>
                <a:ea typeface="宋体" panose="02010600030101010101" pitchFamily="2" charset="-122"/>
              </a:rPr>
              <a:t>P,a</a:t>
            </a:r>
            <a:r>
              <a:rPr lang="en-US" altLang="zh-CN" sz="2000" dirty="0">
                <a:latin typeface="宋体" panose="02010600030101010101" pitchFamily="2" charset="-122"/>
                <a:ea typeface="宋体" panose="02010600030101010101" pitchFamily="2" charset="-122"/>
              </a:rPr>
              <a:t>]</a:t>
            </a:r>
            <a:r>
              <a:rPr lang="zh-CN" altLang="en-US" sz="2000" dirty="0">
                <a:latin typeface="宋体" panose="02010600030101010101" pitchFamily="2" charset="-122"/>
                <a:ea typeface="宋体" panose="02010600030101010101" pitchFamily="2" charset="-122"/>
              </a:rPr>
              <a:t>为假， 则置</a:t>
            </a:r>
            <a:r>
              <a:rPr lang="en-US" altLang="zh-CN" sz="2000" dirty="0">
                <a:latin typeface="宋体" panose="02010600030101010101" pitchFamily="2" charset="-122"/>
                <a:ea typeface="宋体" panose="02010600030101010101" pitchFamily="2" charset="-122"/>
              </a:rPr>
              <a:t>F[</a:t>
            </a:r>
            <a:r>
              <a:rPr lang="en-US" altLang="zh-CN" sz="2000" dirty="0" err="1">
                <a:latin typeface="宋体" panose="02010600030101010101" pitchFamily="2" charset="-122"/>
                <a:ea typeface="宋体" panose="02010600030101010101" pitchFamily="2" charset="-122"/>
              </a:rPr>
              <a:t>P,a</a:t>
            </a:r>
            <a:r>
              <a:rPr lang="en-US" altLang="zh-CN" sz="2000" dirty="0">
                <a:latin typeface="宋体" panose="02010600030101010101" pitchFamily="2" charset="-122"/>
                <a:ea typeface="宋体" panose="02010600030101010101" pitchFamily="2" charset="-122"/>
              </a:rPr>
              <a:t>]</a:t>
            </a:r>
            <a:r>
              <a:rPr lang="zh-CN" altLang="en-US" sz="2000" dirty="0">
                <a:latin typeface="宋体" panose="02010600030101010101" pitchFamily="2" charset="-122"/>
                <a:ea typeface="宋体" panose="02010600030101010101" pitchFamily="2" charset="-122"/>
              </a:rPr>
              <a:t>为真，将</a:t>
            </a:r>
            <a:r>
              <a:rPr lang="en-US" altLang="zh-CN" sz="2000" dirty="0">
                <a:latin typeface="宋体" panose="02010600030101010101" pitchFamily="2" charset="-122"/>
                <a:ea typeface="宋体" panose="02010600030101010101" pitchFamily="2" charset="-122"/>
              </a:rPr>
              <a:t>(</a:t>
            </a:r>
            <a:r>
              <a:rPr lang="en-US" altLang="zh-CN" sz="2000" dirty="0" err="1">
                <a:latin typeface="宋体" panose="02010600030101010101" pitchFamily="2" charset="-122"/>
                <a:ea typeface="宋体" panose="02010600030101010101" pitchFamily="2" charset="-122"/>
              </a:rPr>
              <a:t>P,a</a:t>
            </a:r>
            <a:r>
              <a:rPr lang="en-US" altLang="zh-CN" sz="2000" dirty="0">
                <a:latin typeface="宋体" panose="02010600030101010101" pitchFamily="2" charset="-122"/>
                <a:ea typeface="宋体" panose="02010600030101010101" pitchFamily="2" charset="-122"/>
              </a:rPr>
              <a:t>)</a:t>
            </a:r>
            <a:r>
              <a:rPr lang="zh-CN" altLang="en-US" sz="2000" dirty="0">
                <a:latin typeface="宋体" panose="02010600030101010101" pitchFamily="2" charset="-122"/>
                <a:ea typeface="宋体" panose="02010600030101010101" pitchFamily="2" charset="-122"/>
              </a:rPr>
              <a:t>压栈</a:t>
            </a:r>
          </a:p>
        </p:txBody>
      </p:sp>
      <p:sp>
        <p:nvSpPr>
          <p:cNvPr id="4" name="线形标注 1 3"/>
          <p:cNvSpPr/>
          <p:nvPr/>
        </p:nvSpPr>
        <p:spPr>
          <a:xfrm>
            <a:off x="5436096" y="2223615"/>
            <a:ext cx="1405338" cy="468052"/>
          </a:xfrm>
          <a:prstGeom prst="borderCallout1">
            <a:avLst>
              <a:gd name="adj1" fmla="val 10131"/>
              <a:gd name="adj2" fmla="val 98457"/>
              <a:gd name="adj3" fmla="val 132611"/>
              <a:gd name="adj4" fmla="val 127403"/>
            </a:avLst>
          </a:prstGeom>
          <a:ln w="28575"/>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dirty="0">
                <a:ea typeface="华文行楷" pitchFamily="2" charset="-122"/>
              </a:rPr>
              <a:t>所有终结符</a:t>
            </a:r>
          </a:p>
        </p:txBody>
      </p:sp>
      <p:sp>
        <p:nvSpPr>
          <p:cNvPr id="16" name="线形标注 1 15"/>
          <p:cNvSpPr/>
          <p:nvPr/>
        </p:nvSpPr>
        <p:spPr>
          <a:xfrm>
            <a:off x="5546655" y="4185831"/>
            <a:ext cx="1574015" cy="468052"/>
          </a:xfrm>
          <a:prstGeom prst="borderCallout1">
            <a:avLst>
              <a:gd name="adj1" fmla="val -4234"/>
              <a:gd name="adj2" fmla="val 78808"/>
              <a:gd name="adj3" fmla="val -85736"/>
              <a:gd name="adj4" fmla="val 82980"/>
            </a:avLst>
          </a:prstGeom>
          <a:ln w="28575"/>
        </p:spPr>
        <p:style>
          <a:lnRef idx="2">
            <a:schemeClr val="accent1"/>
          </a:lnRef>
          <a:fillRef idx="1">
            <a:schemeClr val="lt1"/>
          </a:fillRef>
          <a:effectRef idx="0">
            <a:schemeClr val="accent1"/>
          </a:effectRef>
          <a:fontRef idx="minor">
            <a:schemeClr val="dk1"/>
          </a:fontRef>
        </p:style>
        <p:txBody>
          <a:bodyPr rtlCol="0" anchor="ctr"/>
          <a:lstStyle/>
          <a:p>
            <a:pPr algn="ctr">
              <a:spcBef>
                <a:spcPct val="0"/>
              </a:spcBef>
            </a:pPr>
            <a:r>
              <a:rPr lang="zh-CN" altLang="en-US" dirty="0">
                <a:ea typeface="华文行楷" pitchFamily="2" charset="-122"/>
              </a:rPr>
              <a:t>所有非终结符</a:t>
            </a:r>
          </a:p>
        </p:txBody>
      </p:sp>
      <p:sp>
        <p:nvSpPr>
          <p:cNvPr id="17" name="线形标注 1 16"/>
          <p:cNvSpPr/>
          <p:nvPr/>
        </p:nvSpPr>
        <p:spPr>
          <a:xfrm>
            <a:off x="7267123" y="4166589"/>
            <a:ext cx="1876877" cy="826972"/>
          </a:xfrm>
          <a:prstGeom prst="borderCallout1">
            <a:avLst>
              <a:gd name="adj1" fmla="val -4234"/>
              <a:gd name="adj2" fmla="val 78808"/>
              <a:gd name="adj3" fmla="val -62472"/>
              <a:gd name="adj4" fmla="val 71623"/>
            </a:avLst>
          </a:prstGeom>
          <a:ln w="28575"/>
        </p:spPr>
        <p:style>
          <a:lnRef idx="2">
            <a:schemeClr val="accent1"/>
          </a:lnRef>
          <a:fillRef idx="1">
            <a:schemeClr val="lt1"/>
          </a:fillRef>
          <a:effectRef idx="0">
            <a:schemeClr val="accent1"/>
          </a:effectRef>
          <a:fontRef idx="minor">
            <a:schemeClr val="dk1"/>
          </a:fontRef>
        </p:style>
        <p:txBody>
          <a:bodyPr rtlCol="0" anchor="ctr"/>
          <a:lstStyle/>
          <a:p>
            <a:pPr algn="ctr">
              <a:spcBef>
                <a:spcPct val="0"/>
              </a:spcBef>
            </a:pPr>
            <a:r>
              <a:rPr lang="zh-CN" altLang="en-US" dirty="0">
                <a:ea typeface="华文行楷" pitchFamily="2" charset="-122"/>
              </a:rPr>
              <a:t>数组值为真假，为真的条件是</a:t>
            </a:r>
            <a:endParaRPr lang="en-US" altLang="zh-CN" dirty="0">
              <a:ea typeface="华文行楷" pitchFamily="2" charset="-122"/>
            </a:endParaRPr>
          </a:p>
          <a:p>
            <a:pPr algn="ctr">
              <a:spcBef>
                <a:spcPct val="0"/>
              </a:spcBef>
            </a:pPr>
            <a:r>
              <a:rPr lang="en-US" altLang="zh-CN" dirty="0" err="1">
                <a:ea typeface="华文行楷" pitchFamily="2" charset="-122"/>
              </a:rPr>
              <a:t>c</a:t>
            </a:r>
            <a:r>
              <a:rPr lang="en-US" altLang="zh-CN" dirty="0" err="1">
                <a:latin typeface="宋体" pitchFamily="2" charset="-122"/>
                <a:ea typeface="华文行楷" pitchFamily="2" charset="-122"/>
              </a:rPr>
              <a:t>∈</a:t>
            </a:r>
            <a:r>
              <a:rPr lang="en-US" altLang="zh-CN" dirty="0" err="1">
                <a:ea typeface="华文行楷" pitchFamily="2" charset="-122"/>
              </a:rPr>
              <a:t>FirstVT</a:t>
            </a:r>
            <a:r>
              <a:rPr lang="en-US" altLang="zh-CN" dirty="0">
                <a:ea typeface="华文行楷" pitchFamily="2" charset="-122"/>
              </a:rPr>
              <a:t>(Q)</a:t>
            </a:r>
          </a:p>
        </p:txBody>
      </p:sp>
    </p:spTree>
    <p:extLst>
      <p:ext uri="{BB962C8B-B14F-4D97-AF65-F5344CB8AC3E}">
        <p14:creationId xmlns:p14="http://schemas.microsoft.com/office/powerpoint/2010/main" val="40254033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149507">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9507">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9507">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9507">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858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08589"/>
                                        </p:tgtEl>
                                        <p:attrNameLst>
                                          <p:attrName>style.visibility</p:attrName>
                                        </p:attrNameLst>
                                      </p:cBhvr>
                                      <p:to>
                                        <p:strVal val="visible"/>
                                      </p:to>
                                    </p:set>
                                    <p:animEffect transition="in" filter="wipe(left)">
                                      <p:cBhvr>
                                        <p:cTn id="21" dur="500"/>
                                        <p:tgtEl>
                                          <p:spTgt spid="108589"/>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1"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hidden"/>
                                      </p:to>
                                    </p:set>
                                  </p:childTnLst>
                                </p:cTn>
                              </p:par>
                            </p:childTnLst>
                          </p:cTn>
                        </p:par>
                        <p:par>
                          <p:cTn id="30" fill="hold">
                            <p:stCondLst>
                              <p:cond delay="0"/>
                            </p:stCondLst>
                            <p:childTnLst>
                              <p:par>
                                <p:cTn id="31" presetID="1" presetClass="entr" presetSubtype="0" fill="hold" grpId="1" nodeType="after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hidden"/>
                                      </p:to>
                                    </p:set>
                                  </p:childTnLst>
                                </p:cTn>
                              </p:par>
                            </p:childTnLst>
                          </p:cTn>
                        </p:par>
                        <p:par>
                          <p:cTn id="41" fill="hold">
                            <p:stCondLst>
                              <p:cond delay="0"/>
                            </p:stCondLst>
                            <p:childTnLst>
                              <p:par>
                                <p:cTn id="42" presetID="1" presetClass="entr" presetSubtype="0" fill="hold" grpId="1" nodeType="afterEffect">
                                  <p:stCondLst>
                                    <p:cond delay="0"/>
                                  </p:stCondLst>
                                  <p:childTnLst>
                                    <p:set>
                                      <p:cBhvr>
                                        <p:cTn id="43" dur="1" fill="hold">
                                          <p:stCondLst>
                                            <p:cond delay="0"/>
                                          </p:stCondLst>
                                        </p:cTn>
                                        <p:tgtEl>
                                          <p:spTgt spid="17"/>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08588"/>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hidden"/>
                                      </p:to>
                                    </p:set>
                                  </p:childTnLst>
                                </p:cTn>
                              </p:par>
                            </p:childTnLst>
                          </p:cTn>
                        </p:par>
                        <p:par>
                          <p:cTn id="56" fill="hold">
                            <p:stCondLst>
                              <p:cond delay="0"/>
                            </p:stCondLst>
                            <p:childTnLst>
                              <p:par>
                                <p:cTn id="57" presetID="1" presetClass="entr" presetSubtype="0" fill="hold" grpId="0" nodeType="afterEffect">
                                  <p:stCondLst>
                                    <p:cond delay="0"/>
                                  </p:stCondLst>
                                  <p:childTnLst>
                                    <p:set>
                                      <p:cBhvr>
                                        <p:cTn id="5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7" grpId="0" build="p" animBg="1"/>
      <p:bldP spid="108587" grpId="0"/>
      <p:bldP spid="108588" grpId="0" animBg="1"/>
      <p:bldP spid="2" grpId="0"/>
      <p:bldP spid="11" grpId="0"/>
      <p:bldP spid="13" grpId="0" animBg="1"/>
      <p:bldP spid="4" grpId="0" animBg="1"/>
      <p:bldP spid="4" grpId="1" animBg="1"/>
      <p:bldP spid="16" grpId="0" animBg="1"/>
      <p:bldP spid="16" grpId="1" animBg="1"/>
      <p:bldP spid="17" grpId="0" animBg="1"/>
      <p:bldP spid="17" grpId="1" animBg="1"/>
    </p:bldLst>
  </p:timing>
</p:sld>
</file>

<file path=ppt/slides/slide16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1554" name="Rectangle 2"/>
          <p:cNvSpPr>
            <a:spLocks noGrp="1" noChangeArrowheads="1"/>
          </p:cNvSpPr>
          <p:nvPr>
            <p:ph type="title"/>
          </p:nvPr>
        </p:nvSpPr>
        <p:spPr>
          <a:xfrm>
            <a:off x="0" y="195486"/>
            <a:ext cx="6372200" cy="663575"/>
          </a:xfrm>
        </p:spPr>
        <p:txBody>
          <a:bodyPr>
            <a:normAutofit/>
          </a:bodyPr>
          <a:lstStyle/>
          <a:p>
            <a:pPr algn="l" eaLnBrk="1" hangingPunct="1"/>
            <a:r>
              <a:rPr lang="zh-CN" altLang="en-US" sz="3200" b="0" dirty="0"/>
              <a:t>例：求文法各非终结符的</a:t>
            </a:r>
            <a:r>
              <a:rPr lang="en-US" altLang="zh-CN" sz="3200" b="0" dirty="0" err="1"/>
              <a:t>FirstVT</a:t>
            </a:r>
            <a:r>
              <a:rPr lang="zh-CN" altLang="en-US" sz="3200" b="0" dirty="0"/>
              <a:t>：</a:t>
            </a:r>
          </a:p>
        </p:txBody>
      </p:sp>
      <p:sp>
        <p:nvSpPr>
          <p:cNvPr id="110595" name="Rectangle 3"/>
          <p:cNvSpPr>
            <a:spLocks noGrp="1" noChangeArrowheads="1"/>
          </p:cNvSpPr>
          <p:nvPr>
            <p:ph type="body" idx="1"/>
          </p:nvPr>
        </p:nvSpPr>
        <p:spPr>
          <a:xfrm>
            <a:off x="496888" y="1222375"/>
            <a:ext cx="4352925" cy="342900"/>
          </a:xfrm>
        </p:spPr>
        <p:txBody>
          <a:bodyPr>
            <a:normAutofit fontScale="70000" lnSpcReduction="20000"/>
          </a:bodyPr>
          <a:lstStyle/>
          <a:p>
            <a:pPr eaLnBrk="1" hangingPunct="1">
              <a:lnSpc>
                <a:spcPct val="90000"/>
              </a:lnSpc>
            </a:pPr>
            <a:r>
              <a:rPr lang="zh-CN" altLang="en-US" sz="2800" dirty="0"/>
              <a:t>定义数组：</a:t>
            </a:r>
          </a:p>
        </p:txBody>
      </p:sp>
      <p:graphicFrame>
        <p:nvGraphicFramePr>
          <p:cNvPr id="110770" name="Group 178"/>
          <p:cNvGraphicFramePr>
            <a:graphicFrameLocks noGrp="1"/>
          </p:cNvGraphicFramePr>
          <p:nvPr>
            <p:extLst>
              <p:ext uri="{D42A27DB-BD31-4B8C-83A1-F6EECF244321}">
                <p14:modId xmlns:p14="http://schemas.microsoft.com/office/powerpoint/2010/main" val="546005995"/>
              </p:ext>
            </p:extLst>
          </p:nvPr>
        </p:nvGraphicFramePr>
        <p:xfrm>
          <a:off x="251520" y="1395815"/>
          <a:ext cx="5112568" cy="1563687"/>
        </p:xfrm>
        <a:graphic>
          <a:graphicData uri="http://schemas.openxmlformats.org/drawingml/2006/table">
            <a:tbl>
              <a:tblPr/>
              <a:tblGrid>
                <a:gridCol w="1080120">
                  <a:extLst>
                    <a:ext uri="{9D8B030D-6E8A-4147-A177-3AD203B41FA5}">
                      <a16:colId xmlns:a16="http://schemas.microsoft.com/office/drawing/2014/main" val="20000"/>
                    </a:ext>
                  </a:extLst>
                </a:gridCol>
                <a:gridCol w="783605">
                  <a:extLst>
                    <a:ext uri="{9D8B030D-6E8A-4147-A177-3AD203B41FA5}">
                      <a16:colId xmlns:a16="http://schemas.microsoft.com/office/drawing/2014/main" val="20001"/>
                    </a:ext>
                  </a:extLst>
                </a:gridCol>
                <a:gridCol w="800571">
                  <a:extLst>
                    <a:ext uri="{9D8B030D-6E8A-4147-A177-3AD203B41FA5}">
                      <a16:colId xmlns:a16="http://schemas.microsoft.com/office/drawing/2014/main" val="20002"/>
                    </a:ext>
                  </a:extLst>
                </a:gridCol>
                <a:gridCol w="864096">
                  <a:extLst>
                    <a:ext uri="{9D8B030D-6E8A-4147-A177-3AD203B41FA5}">
                      <a16:colId xmlns:a16="http://schemas.microsoft.com/office/drawing/2014/main" val="20003"/>
                    </a:ext>
                  </a:extLst>
                </a:gridCol>
                <a:gridCol w="792088">
                  <a:extLst>
                    <a:ext uri="{9D8B030D-6E8A-4147-A177-3AD203B41FA5}">
                      <a16:colId xmlns:a16="http://schemas.microsoft.com/office/drawing/2014/main" val="20004"/>
                    </a:ext>
                  </a:extLst>
                </a:gridCol>
                <a:gridCol w="792088">
                  <a:extLst>
                    <a:ext uri="{9D8B030D-6E8A-4147-A177-3AD203B41FA5}">
                      <a16:colId xmlns:a16="http://schemas.microsoft.com/office/drawing/2014/main" val="20005"/>
                    </a:ext>
                  </a:extLst>
                </a:gridCol>
              </a:tblGrid>
              <a:tr h="39062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a:noFill/>
                    </a:lnL>
                    <a:lnR>
                      <a:noFill/>
                    </a:lnR>
                    <a:lnT>
                      <a:noFill/>
                    </a:lnT>
                    <a:lnB>
                      <a:noFill/>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062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299" marB="34299"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FF0066"/>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1815">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p>
                  </a:txBody>
                  <a:tcPr marT="34299" marB="34299"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062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99" marB="34299"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51591" name="Rectangle 86"/>
          <p:cNvSpPr>
            <a:spLocks noChangeArrowheads="1"/>
          </p:cNvSpPr>
          <p:nvPr/>
        </p:nvSpPr>
        <p:spPr bwMode="auto">
          <a:xfrm>
            <a:off x="7221235" y="195485"/>
            <a:ext cx="1613006" cy="1200329"/>
          </a:xfrm>
          <a:prstGeom prst="rect">
            <a:avLst/>
          </a:prstGeom>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FF"/>
                </a:solidFill>
                <a:ea typeface="华文行楷" pitchFamily="2" charset="-122"/>
              </a:rPr>
              <a:t>E</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E+T | T</a:t>
            </a:r>
            <a:br>
              <a:rPr lang="en-US" altLang="zh-CN" sz="2400" dirty="0">
                <a:solidFill>
                  <a:srgbClr val="0000FF"/>
                </a:solidFill>
                <a:ea typeface="华文行楷" pitchFamily="2" charset="-122"/>
              </a:rPr>
            </a:br>
            <a:r>
              <a:rPr lang="en-US" altLang="zh-CN" sz="2400" dirty="0">
                <a:solidFill>
                  <a:srgbClr val="0000FF"/>
                </a:solidFill>
                <a:ea typeface="华文行楷" pitchFamily="2" charset="-122"/>
              </a:rPr>
              <a:t>T</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T*F | F</a:t>
            </a:r>
            <a:br>
              <a:rPr lang="en-US" altLang="zh-CN" sz="2400" dirty="0">
                <a:solidFill>
                  <a:srgbClr val="0000FF"/>
                </a:solidFill>
                <a:ea typeface="华文行楷" pitchFamily="2" charset="-122"/>
              </a:rPr>
            </a:br>
            <a:r>
              <a:rPr lang="en-US" altLang="zh-CN" sz="2400" dirty="0">
                <a:solidFill>
                  <a:srgbClr val="0000FF"/>
                </a:solidFill>
                <a:ea typeface="华文行楷" pitchFamily="2" charset="-122"/>
              </a:rPr>
              <a:t>F</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(E) | </a:t>
            </a:r>
            <a:r>
              <a:rPr lang="en-US" altLang="zh-CN" sz="2400" dirty="0" err="1">
                <a:solidFill>
                  <a:srgbClr val="0000FF"/>
                </a:solidFill>
                <a:ea typeface="华文行楷" pitchFamily="2" charset="-122"/>
              </a:rPr>
              <a:t>i</a:t>
            </a:r>
            <a:endParaRPr lang="en-US" altLang="zh-CN" sz="2400" dirty="0">
              <a:solidFill>
                <a:srgbClr val="0000FF"/>
              </a:solidFill>
              <a:ea typeface="华文行楷" pitchFamily="2" charset="-122"/>
            </a:endParaRPr>
          </a:p>
        </p:txBody>
      </p:sp>
      <p:sp>
        <p:nvSpPr>
          <p:cNvPr id="110724" name="Text Box 132"/>
          <p:cNvSpPr txBox="1">
            <a:spLocks noChangeArrowheads="1"/>
          </p:cNvSpPr>
          <p:nvPr/>
        </p:nvSpPr>
        <p:spPr bwMode="auto">
          <a:xfrm>
            <a:off x="941931" y="3135040"/>
            <a:ext cx="4229723" cy="1625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
              </a:spcBef>
              <a:buFontTx/>
              <a:buNone/>
            </a:pPr>
            <a:r>
              <a:rPr lang="zh-CN" altLang="en-US" sz="2400" dirty="0">
                <a:ea typeface="华文行楷" pitchFamily="2" charset="-122"/>
              </a:rPr>
              <a:t>从而得到：</a:t>
            </a:r>
          </a:p>
          <a:p>
            <a:pPr eaLnBrk="1" hangingPunct="1">
              <a:spcBef>
                <a:spcPct val="5000"/>
              </a:spcBef>
              <a:buFontTx/>
              <a:buNone/>
            </a:pPr>
            <a:r>
              <a:rPr lang="zh-CN" altLang="en-US" sz="2400" dirty="0">
                <a:ea typeface="华文行楷" pitchFamily="2" charset="-122"/>
              </a:rPr>
              <a:t>	</a:t>
            </a:r>
            <a:r>
              <a:rPr lang="en-US" altLang="zh-CN" sz="2400" dirty="0" err="1">
                <a:ea typeface="华文行楷" pitchFamily="2" charset="-122"/>
              </a:rPr>
              <a:t>FirstVT</a:t>
            </a:r>
            <a:r>
              <a:rPr lang="en-US" altLang="zh-CN" sz="2400" dirty="0">
                <a:ea typeface="华文行楷" pitchFamily="2" charset="-122"/>
              </a:rPr>
              <a:t>(E) = { +, *,(, </a:t>
            </a:r>
            <a:r>
              <a:rPr lang="en-US" altLang="zh-CN" sz="2400" dirty="0" err="1">
                <a:ea typeface="华文行楷" pitchFamily="2" charset="-122"/>
              </a:rPr>
              <a:t>i</a:t>
            </a:r>
            <a:r>
              <a:rPr lang="en-US" altLang="zh-CN" sz="2400" dirty="0">
                <a:ea typeface="华文行楷" pitchFamily="2" charset="-122"/>
              </a:rPr>
              <a:t>}</a:t>
            </a:r>
          </a:p>
          <a:p>
            <a:pPr eaLnBrk="1" hangingPunct="1">
              <a:spcBef>
                <a:spcPct val="5000"/>
              </a:spcBef>
              <a:buFontTx/>
              <a:buNone/>
            </a:pPr>
            <a:r>
              <a:rPr lang="en-US" altLang="zh-CN" sz="2400" dirty="0">
                <a:ea typeface="华文行楷" pitchFamily="2" charset="-122"/>
              </a:rPr>
              <a:t>	</a:t>
            </a:r>
            <a:r>
              <a:rPr lang="en-US" altLang="zh-CN" sz="2400" dirty="0" err="1">
                <a:ea typeface="华文行楷" pitchFamily="2" charset="-122"/>
              </a:rPr>
              <a:t>FirstVT</a:t>
            </a:r>
            <a:r>
              <a:rPr lang="en-US" altLang="zh-CN" sz="2400" dirty="0">
                <a:ea typeface="华文行楷" pitchFamily="2" charset="-122"/>
              </a:rPr>
              <a:t>(T) = {*,(,</a:t>
            </a:r>
            <a:r>
              <a:rPr lang="en-US" altLang="zh-CN" sz="2400" dirty="0" err="1">
                <a:ea typeface="华文行楷" pitchFamily="2" charset="-122"/>
              </a:rPr>
              <a:t>i</a:t>
            </a:r>
            <a:r>
              <a:rPr lang="en-US" altLang="zh-CN" sz="2400" dirty="0">
                <a:ea typeface="华文行楷" pitchFamily="2" charset="-122"/>
              </a:rPr>
              <a:t>}</a:t>
            </a:r>
          </a:p>
          <a:p>
            <a:pPr eaLnBrk="1" hangingPunct="1">
              <a:spcBef>
                <a:spcPct val="5000"/>
              </a:spcBef>
              <a:buFontTx/>
              <a:buNone/>
            </a:pPr>
            <a:r>
              <a:rPr lang="en-US" altLang="zh-CN" sz="2400" dirty="0">
                <a:ea typeface="华文行楷" pitchFamily="2" charset="-122"/>
              </a:rPr>
              <a:t>	</a:t>
            </a:r>
            <a:r>
              <a:rPr lang="en-US" altLang="zh-CN" sz="2400" dirty="0" err="1">
                <a:ea typeface="华文行楷" pitchFamily="2" charset="-122"/>
              </a:rPr>
              <a:t>FirstVT</a:t>
            </a:r>
            <a:r>
              <a:rPr lang="en-US" altLang="zh-CN" sz="2400" dirty="0">
                <a:ea typeface="华文行楷" pitchFamily="2" charset="-122"/>
              </a:rPr>
              <a:t>(F) = {(,</a:t>
            </a:r>
            <a:r>
              <a:rPr lang="en-US" altLang="zh-CN" sz="2400" dirty="0" err="1">
                <a:ea typeface="华文行楷" pitchFamily="2" charset="-122"/>
              </a:rPr>
              <a:t>i</a:t>
            </a:r>
            <a:r>
              <a:rPr lang="en-US" altLang="zh-CN" sz="2400" dirty="0">
                <a:ea typeface="华文行楷" pitchFamily="2" charset="-122"/>
              </a:rPr>
              <a:t>}</a:t>
            </a:r>
          </a:p>
        </p:txBody>
      </p:sp>
      <p:sp>
        <p:nvSpPr>
          <p:cNvPr id="2" name="TextBox 1"/>
          <p:cNvSpPr txBox="1"/>
          <p:nvPr/>
        </p:nvSpPr>
        <p:spPr>
          <a:xfrm>
            <a:off x="1475656" y="1842378"/>
            <a:ext cx="263823" cy="369332"/>
          </a:xfrm>
          <a:prstGeom prst="rect">
            <a:avLst/>
          </a:prstGeom>
          <a:noFill/>
        </p:spPr>
        <p:txBody>
          <a:bodyPr wrap="square" rtlCol="0">
            <a:spAutoFit/>
          </a:bodyPr>
          <a:lstStyle/>
          <a:p>
            <a:r>
              <a:rPr lang="en-US" altLang="zh-CN" dirty="0"/>
              <a:t>1</a:t>
            </a:r>
            <a:endParaRPr lang="zh-CN" altLang="en-US" dirty="0"/>
          </a:p>
        </p:txBody>
      </p:sp>
      <p:sp>
        <p:nvSpPr>
          <p:cNvPr id="10" name="TextBox 9"/>
          <p:cNvSpPr txBox="1"/>
          <p:nvPr/>
        </p:nvSpPr>
        <p:spPr>
          <a:xfrm>
            <a:off x="2339752" y="2211710"/>
            <a:ext cx="263823" cy="369332"/>
          </a:xfrm>
          <a:prstGeom prst="rect">
            <a:avLst/>
          </a:prstGeom>
          <a:noFill/>
        </p:spPr>
        <p:txBody>
          <a:bodyPr wrap="square" rtlCol="0">
            <a:spAutoFit/>
          </a:bodyPr>
          <a:lstStyle/>
          <a:p>
            <a:r>
              <a:rPr lang="en-US" altLang="zh-CN" dirty="0">
                <a:latin typeface="+mj-lt"/>
              </a:rPr>
              <a:t>1</a:t>
            </a:r>
            <a:endParaRPr lang="zh-CN" altLang="en-US" dirty="0">
              <a:latin typeface="+mj-lt"/>
            </a:endParaRPr>
          </a:p>
        </p:txBody>
      </p:sp>
      <p:sp>
        <p:nvSpPr>
          <p:cNvPr id="11" name="TextBox 10"/>
          <p:cNvSpPr txBox="1"/>
          <p:nvPr/>
        </p:nvSpPr>
        <p:spPr>
          <a:xfrm>
            <a:off x="3155430" y="2634466"/>
            <a:ext cx="263823" cy="369332"/>
          </a:xfrm>
          <a:prstGeom prst="rect">
            <a:avLst/>
          </a:prstGeom>
          <a:noFill/>
        </p:spPr>
        <p:txBody>
          <a:bodyPr wrap="square" rtlCol="0">
            <a:spAutoFit/>
          </a:bodyPr>
          <a:lstStyle/>
          <a:p>
            <a:r>
              <a:rPr lang="en-US" altLang="zh-CN" dirty="0"/>
              <a:t>1</a:t>
            </a:r>
            <a:endParaRPr lang="zh-CN" altLang="en-US" dirty="0"/>
          </a:p>
        </p:txBody>
      </p:sp>
      <p:sp>
        <p:nvSpPr>
          <p:cNvPr id="12" name="TextBox 11"/>
          <p:cNvSpPr txBox="1"/>
          <p:nvPr/>
        </p:nvSpPr>
        <p:spPr>
          <a:xfrm>
            <a:off x="4860032" y="2581042"/>
            <a:ext cx="263823" cy="369332"/>
          </a:xfrm>
          <a:prstGeom prst="rect">
            <a:avLst/>
          </a:prstGeom>
          <a:noFill/>
        </p:spPr>
        <p:txBody>
          <a:bodyPr wrap="square" rtlCol="0">
            <a:spAutoFit/>
          </a:bodyPr>
          <a:lstStyle/>
          <a:p>
            <a:r>
              <a:rPr lang="en-US" altLang="zh-CN" dirty="0"/>
              <a:t>1</a:t>
            </a:r>
            <a:endParaRPr lang="zh-CN" altLang="en-US" dirty="0"/>
          </a:p>
        </p:txBody>
      </p:sp>
      <p:sp>
        <p:nvSpPr>
          <p:cNvPr id="3" name="矩形 2"/>
          <p:cNvSpPr/>
          <p:nvPr/>
        </p:nvSpPr>
        <p:spPr>
          <a:xfrm>
            <a:off x="3142591" y="1833086"/>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FF0066"/>
                </a:solidFill>
                <a:latin typeface="+mj-lt"/>
                <a:ea typeface="宋体" panose="02010600030101010101" pitchFamily="2" charset="-122"/>
              </a:rPr>
              <a:t>1</a:t>
            </a:r>
          </a:p>
        </p:txBody>
      </p:sp>
      <p:sp>
        <p:nvSpPr>
          <p:cNvPr id="4" name="矩形 3"/>
          <p:cNvSpPr/>
          <p:nvPr/>
        </p:nvSpPr>
        <p:spPr>
          <a:xfrm>
            <a:off x="4880553" y="2202418"/>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FF0066"/>
                </a:solidFill>
                <a:latin typeface="+mj-lt"/>
                <a:ea typeface="宋体" panose="02010600030101010101" pitchFamily="2" charset="-122"/>
              </a:rPr>
              <a:t>1</a:t>
            </a:r>
          </a:p>
        </p:txBody>
      </p:sp>
      <p:sp>
        <p:nvSpPr>
          <p:cNvPr id="5" name="矩形 4"/>
          <p:cNvSpPr/>
          <p:nvPr/>
        </p:nvSpPr>
        <p:spPr>
          <a:xfrm>
            <a:off x="2342357" y="1833086"/>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FF0066"/>
                </a:solidFill>
                <a:latin typeface="+mj-lt"/>
                <a:ea typeface="宋体" panose="02010600030101010101" pitchFamily="2" charset="-122"/>
              </a:rPr>
              <a:t>1</a:t>
            </a:r>
          </a:p>
        </p:txBody>
      </p:sp>
      <p:sp>
        <p:nvSpPr>
          <p:cNvPr id="6" name="矩形 5"/>
          <p:cNvSpPr/>
          <p:nvPr/>
        </p:nvSpPr>
        <p:spPr>
          <a:xfrm>
            <a:off x="4880552" y="1833086"/>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FF0066"/>
                </a:solidFill>
                <a:latin typeface="+mj-lt"/>
                <a:ea typeface="宋体" panose="02010600030101010101" pitchFamily="2" charset="-122"/>
              </a:rPr>
              <a:t>1</a:t>
            </a:r>
          </a:p>
        </p:txBody>
      </p:sp>
      <p:sp>
        <p:nvSpPr>
          <p:cNvPr id="17" name="矩形 16"/>
          <p:cNvSpPr/>
          <p:nvPr/>
        </p:nvSpPr>
        <p:spPr>
          <a:xfrm>
            <a:off x="3142591" y="2202418"/>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FF0066"/>
                </a:solidFill>
                <a:latin typeface="+mj-lt"/>
                <a:ea typeface="宋体" panose="02010600030101010101" pitchFamily="2" charset="-122"/>
              </a:rPr>
              <a:t>1</a:t>
            </a:r>
          </a:p>
        </p:txBody>
      </p:sp>
      <p:graphicFrame>
        <p:nvGraphicFramePr>
          <p:cNvPr id="7" name="表格 6"/>
          <p:cNvGraphicFramePr>
            <a:graphicFrameLocks noGrp="1"/>
          </p:cNvGraphicFramePr>
          <p:nvPr>
            <p:extLst>
              <p:ext uri="{D42A27DB-BD31-4B8C-83A1-F6EECF244321}">
                <p14:modId xmlns:p14="http://schemas.microsoft.com/office/powerpoint/2010/main" val="3231197305"/>
              </p:ext>
            </p:extLst>
          </p:nvPr>
        </p:nvGraphicFramePr>
        <p:xfrm>
          <a:off x="5940152" y="2678169"/>
          <a:ext cx="792088" cy="2341628"/>
        </p:xfrm>
        <a:graphic>
          <a:graphicData uri="http://schemas.openxmlformats.org/drawingml/2006/table">
            <a:tbl>
              <a:tblPr firstRow="1" bandRow="1">
                <a:tableStyleId>{5C22544A-7EE6-4342-B048-85BDC9FD1C3A}</a:tableStyleId>
              </a:tblPr>
              <a:tblGrid>
                <a:gridCol w="792088">
                  <a:extLst>
                    <a:ext uri="{9D8B030D-6E8A-4147-A177-3AD203B41FA5}">
                      <a16:colId xmlns:a16="http://schemas.microsoft.com/office/drawing/2014/main" val="20000"/>
                    </a:ext>
                  </a:extLst>
                </a:gridCol>
              </a:tblGrid>
              <a:tr h="2341628">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9" name="TextBox 8"/>
          <p:cNvSpPr txBox="1"/>
          <p:nvPr/>
        </p:nvSpPr>
        <p:spPr>
          <a:xfrm>
            <a:off x="6012160" y="4672561"/>
            <a:ext cx="792088" cy="369332"/>
          </a:xfrm>
          <a:prstGeom prst="rect">
            <a:avLst/>
          </a:prstGeom>
          <a:noFill/>
        </p:spPr>
        <p:txBody>
          <a:bodyPr wrap="square" rtlCol="0">
            <a:spAutoFit/>
          </a:bodyPr>
          <a:lstStyle/>
          <a:p>
            <a:r>
              <a:rPr lang="en-US" altLang="zh-CN" dirty="0"/>
              <a:t>(E,+)</a:t>
            </a:r>
            <a:endParaRPr lang="zh-CN" altLang="en-US" dirty="0"/>
          </a:p>
        </p:txBody>
      </p:sp>
      <p:sp>
        <p:nvSpPr>
          <p:cNvPr id="20" name="TextBox 19"/>
          <p:cNvSpPr txBox="1"/>
          <p:nvPr/>
        </p:nvSpPr>
        <p:spPr>
          <a:xfrm>
            <a:off x="6012160" y="3964646"/>
            <a:ext cx="792088" cy="369332"/>
          </a:xfrm>
          <a:prstGeom prst="rect">
            <a:avLst/>
          </a:prstGeom>
          <a:noFill/>
        </p:spPr>
        <p:txBody>
          <a:bodyPr wrap="square" rtlCol="0">
            <a:spAutoFit/>
          </a:bodyPr>
          <a:lstStyle/>
          <a:p>
            <a:r>
              <a:rPr lang="en-US" altLang="zh-CN" dirty="0"/>
              <a:t>(F,( )</a:t>
            </a:r>
            <a:endParaRPr lang="zh-CN" altLang="en-US" dirty="0"/>
          </a:p>
        </p:txBody>
      </p:sp>
      <p:sp>
        <p:nvSpPr>
          <p:cNvPr id="21" name="TextBox 20"/>
          <p:cNvSpPr txBox="1"/>
          <p:nvPr/>
        </p:nvSpPr>
        <p:spPr>
          <a:xfrm>
            <a:off x="6012160" y="4333557"/>
            <a:ext cx="792088" cy="369332"/>
          </a:xfrm>
          <a:prstGeom prst="rect">
            <a:avLst/>
          </a:prstGeom>
          <a:noFill/>
        </p:spPr>
        <p:txBody>
          <a:bodyPr wrap="square" rtlCol="0">
            <a:spAutoFit/>
          </a:bodyPr>
          <a:lstStyle/>
          <a:p>
            <a:r>
              <a:rPr lang="en-US" altLang="zh-CN" dirty="0"/>
              <a:t>(T,*)</a:t>
            </a:r>
            <a:endParaRPr lang="zh-CN" altLang="en-US" dirty="0"/>
          </a:p>
        </p:txBody>
      </p:sp>
      <p:sp>
        <p:nvSpPr>
          <p:cNvPr id="22" name="TextBox 21"/>
          <p:cNvSpPr txBox="1"/>
          <p:nvPr/>
        </p:nvSpPr>
        <p:spPr>
          <a:xfrm>
            <a:off x="6012160" y="3595314"/>
            <a:ext cx="792088" cy="369332"/>
          </a:xfrm>
          <a:prstGeom prst="rect">
            <a:avLst/>
          </a:prstGeom>
          <a:noFill/>
        </p:spPr>
        <p:txBody>
          <a:bodyPr wrap="square" rtlCol="0">
            <a:spAutoFit/>
          </a:bodyPr>
          <a:lstStyle/>
          <a:p>
            <a:r>
              <a:rPr lang="en-US" altLang="zh-CN" dirty="0"/>
              <a:t>(</a:t>
            </a:r>
            <a:r>
              <a:rPr lang="en-US" altLang="zh-CN" dirty="0" err="1"/>
              <a:t>F,i</a:t>
            </a:r>
            <a:r>
              <a:rPr lang="en-US" altLang="zh-CN" dirty="0"/>
              <a:t> )</a:t>
            </a:r>
            <a:endParaRPr lang="zh-CN" altLang="en-US" dirty="0"/>
          </a:p>
        </p:txBody>
      </p:sp>
      <p:sp>
        <p:nvSpPr>
          <p:cNvPr id="23" name="TextBox 22"/>
          <p:cNvSpPr txBox="1"/>
          <p:nvPr/>
        </p:nvSpPr>
        <p:spPr>
          <a:xfrm>
            <a:off x="6012160" y="3595689"/>
            <a:ext cx="792088" cy="369332"/>
          </a:xfrm>
          <a:prstGeom prst="rect">
            <a:avLst/>
          </a:prstGeom>
          <a:noFill/>
        </p:spPr>
        <p:txBody>
          <a:bodyPr wrap="square" rtlCol="0">
            <a:spAutoFit/>
          </a:bodyPr>
          <a:lstStyle/>
          <a:p>
            <a:r>
              <a:rPr lang="en-US" altLang="zh-CN" dirty="0"/>
              <a:t>(</a:t>
            </a:r>
            <a:r>
              <a:rPr lang="en-US" altLang="zh-CN" dirty="0" err="1"/>
              <a:t>T,i</a:t>
            </a:r>
            <a:r>
              <a:rPr lang="en-US" altLang="zh-CN" dirty="0"/>
              <a:t> )</a:t>
            </a:r>
            <a:endParaRPr lang="zh-CN" altLang="en-US" dirty="0"/>
          </a:p>
        </p:txBody>
      </p:sp>
      <p:sp>
        <p:nvSpPr>
          <p:cNvPr id="24" name="TextBox 23"/>
          <p:cNvSpPr txBox="1"/>
          <p:nvPr/>
        </p:nvSpPr>
        <p:spPr>
          <a:xfrm>
            <a:off x="6012160" y="3595689"/>
            <a:ext cx="792088" cy="369332"/>
          </a:xfrm>
          <a:prstGeom prst="rect">
            <a:avLst/>
          </a:prstGeom>
          <a:noFill/>
        </p:spPr>
        <p:txBody>
          <a:bodyPr wrap="square" rtlCol="0">
            <a:spAutoFit/>
          </a:bodyPr>
          <a:lstStyle/>
          <a:p>
            <a:r>
              <a:rPr lang="en-US" altLang="zh-CN" dirty="0"/>
              <a:t>(</a:t>
            </a:r>
            <a:r>
              <a:rPr lang="en-US" altLang="zh-CN" dirty="0" err="1"/>
              <a:t>E,i</a:t>
            </a:r>
            <a:r>
              <a:rPr lang="en-US" altLang="zh-CN" dirty="0"/>
              <a:t> )</a:t>
            </a:r>
            <a:endParaRPr lang="zh-CN" altLang="en-US" dirty="0"/>
          </a:p>
        </p:txBody>
      </p:sp>
      <p:sp>
        <p:nvSpPr>
          <p:cNvPr id="25" name="TextBox 24"/>
          <p:cNvSpPr txBox="1"/>
          <p:nvPr/>
        </p:nvSpPr>
        <p:spPr>
          <a:xfrm>
            <a:off x="6012160" y="4303229"/>
            <a:ext cx="792088" cy="369332"/>
          </a:xfrm>
          <a:prstGeom prst="rect">
            <a:avLst/>
          </a:prstGeom>
          <a:noFill/>
        </p:spPr>
        <p:txBody>
          <a:bodyPr wrap="square" rtlCol="0">
            <a:spAutoFit/>
          </a:bodyPr>
          <a:lstStyle/>
          <a:p>
            <a:r>
              <a:rPr lang="en-US" altLang="zh-CN" dirty="0"/>
              <a:t>(E,* )</a:t>
            </a:r>
            <a:endParaRPr lang="zh-CN" altLang="en-US" dirty="0"/>
          </a:p>
        </p:txBody>
      </p:sp>
      <p:sp>
        <p:nvSpPr>
          <p:cNvPr id="26" name="TextBox 25"/>
          <p:cNvSpPr txBox="1"/>
          <p:nvPr/>
        </p:nvSpPr>
        <p:spPr>
          <a:xfrm>
            <a:off x="6012160" y="3965021"/>
            <a:ext cx="792088" cy="369332"/>
          </a:xfrm>
          <a:prstGeom prst="rect">
            <a:avLst/>
          </a:prstGeom>
          <a:noFill/>
        </p:spPr>
        <p:txBody>
          <a:bodyPr wrap="square" rtlCol="0">
            <a:spAutoFit/>
          </a:bodyPr>
          <a:lstStyle/>
          <a:p>
            <a:r>
              <a:rPr lang="en-US" altLang="zh-CN" dirty="0"/>
              <a:t>(T,( )</a:t>
            </a:r>
            <a:endParaRPr lang="zh-CN" altLang="en-US" dirty="0"/>
          </a:p>
        </p:txBody>
      </p:sp>
      <p:sp>
        <p:nvSpPr>
          <p:cNvPr id="27" name="TextBox 26"/>
          <p:cNvSpPr txBox="1"/>
          <p:nvPr/>
        </p:nvSpPr>
        <p:spPr>
          <a:xfrm>
            <a:off x="6012160" y="3964646"/>
            <a:ext cx="792088" cy="369332"/>
          </a:xfrm>
          <a:prstGeom prst="rect">
            <a:avLst/>
          </a:prstGeom>
          <a:noFill/>
        </p:spPr>
        <p:txBody>
          <a:bodyPr wrap="square" rtlCol="0">
            <a:spAutoFit/>
          </a:bodyPr>
          <a:lstStyle/>
          <a:p>
            <a:r>
              <a:rPr lang="en-US" altLang="zh-CN" dirty="0"/>
              <a:t>(E,( )</a:t>
            </a:r>
            <a:endParaRPr lang="zh-CN" altLang="en-US" dirty="0"/>
          </a:p>
        </p:txBody>
      </p:sp>
      <p:sp>
        <p:nvSpPr>
          <p:cNvPr id="28" name="Rectangle 86"/>
          <p:cNvSpPr>
            <a:spLocks noChangeArrowheads="1"/>
          </p:cNvSpPr>
          <p:nvPr/>
        </p:nvSpPr>
        <p:spPr bwMode="auto">
          <a:xfrm>
            <a:off x="7221236" y="1611546"/>
            <a:ext cx="1596910" cy="2308324"/>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FF"/>
                </a:solidFill>
                <a:ea typeface="华文行楷" pitchFamily="2" charset="-122"/>
              </a:rPr>
              <a:t>E</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E+T</a:t>
            </a:r>
          </a:p>
          <a:p>
            <a:pPr>
              <a:spcBef>
                <a:spcPct val="0"/>
              </a:spcBef>
              <a:buNone/>
            </a:pPr>
            <a:r>
              <a:rPr lang="en-US" altLang="zh-CN" sz="2400" dirty="0">
                <a:solidFill>
                  <a:srgbClr val="0000FF"/>
                </a:solidFill>
                <a:ea typeface="华文行楷" pitchFamily="2" charset="-122"/>
              </a:rPr>
              <a:t>E</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T</a:t>
            </a:r>
            <a:br>
              <a:rPr lang="en-US" altLang="zh-CN" sz="2400" dirty="0">
                <a:solidFill>
                  <a:srgbClr val="0000FF"/>
                </a:solidFill>
                <a:ea typeface="华文行楷" pitchFamily="2" charset="-122"/>
              </a:rPr>
            </a:br>
            <a:r>
              <a:rPr lang="en-US" altLang="zh-CN" sz="2400" dirty="0">
                <a:solidFill>
                  <a:srgbClr val="0000FF"/>
                </a:solidFill>
                <a:ea typeface="华文行楷" pitchFamily="2" charset="-122"/>
              </a:rPr>
              <a:t>T</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T*F</a:t>
            </a:r>
          </a:p>
          <a:p>
            <a:pPr>
              <a:spcBef>
                <a:spcPct val="0"/>
              </a:spcBef>
              <a:buNone/>
            </a:pPr>
            <a:r>
              <a:rPr lang="en-US" altLang="zh-CN" sz="2400" dirty="0">
                <a:solidFill>
                  <a:srgbClr val="0000FF"/>
                </a:solidFill>
                <a:ea typeface="华文行楷" pitchFamily="2" charset="-122"/>
              </a:rPr>
              <a:t>T</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F</a:t>
            </a:r>
            <a:br>
              <a:rPr lang="en-US" altLang="zh-CN" sz="2400" dirty="0">
                <a:solidFill>
                  <a:srgbClr val="0000FF"/>
                </a:solidFill>
                <a:ea typeface="华文行楷" pitchFamily="2" charset="-122"/>
              </a:rPr>
            </a:br>
            <a:r>
              <a:rPr lang="en-US" altLang="zh-CN" sz="2400" dirty="0">
                <a:solidFill>
                  <a:srgbClr val="0000FF"/>
                </a:solidFill>
                <a:ea typeface="华文行楷" pitchFamily="2" charset="-122"/>
              </a:rPr>
              <a:t>F</a:t>
            </a:r>
            <a:r>
              <a:rPr lang="en-US" altLang="zh-CN" sz="2400" dirty="0">
                <a:solidFill>
                  <a:srgbClr val="0000FF"/>
                </a:solidFill>
                <a:ea typeface="华文行楷" pitchFamily="2" charset="-122"/>
                <a:sym typeface="Wingdings" pitchFamily="2" charset="2"/>
              </a:rPr>
              <a:t></a:t>
            </a:r>
            <a:r>
              <a:rPr lang="en-US" altLang="zh-CN" sz="2400" dirty="0">
                <a:solidFill>
                  <a:srgbClr val="0000FF"/>
                </a:solidFill>
                <a:ea typeface="华文行楷" pitchFamily="2" charset="-122"/>
              </a:rPr>
              <a:t>(E) </a:t>
            </a:r>
          </a:p>
          <a:p>
            <a:pPr>
              <a:spcBef>
                <a:spcPct val="0"/>
              </a:spcBef>
              <a:buNone/>
            </a:pPr>
            <a:r>
              <a:rPr lang="en-US" altLang="zh-CN" sz="2400" dirty="0" err="1">
                <a:solidFill>
                  <a:srgbClr val="0000FF"/>
                </a:solidFill>
                <a:ea typeface="华文行楷" pitchFamily="2" charset="-122"/>
              </a:rPr>
              <a:t>F</a:t>
            </a:r>
            <a:r>
              <a:rPr lang="en-US" altLang="zh-CN" sz="2400" dirty="0" err="1">
                <a:solidFill>
                  <a:srgbClr val="0000FF"/>
                </a:solidFill>
                <a:ea typeface="华文行楷" pitchFamily="2" charset="-122"/>
                <a:sym typeface="Wingdings" pitchFamily="2" charset="2"/>
              </a:rPr>
              <a:t></a:t>
            </a:r>
            <a:r>
              <a:rPr lang="en-US" altLang="zh-CN" sz="2400" dirty="0" err="1">
                <a:solidFill>
                  <a:srgbClr val="0000FF"/>
                </a:solidFill>
                <a:ea typeface="华文行楷" pitchFamily="2" charset="-122"/>
              </a:rPr>
              <a:t>i</a:t>
            </a:r>
            <a:endParaRPr lang="en-US" altLang="zh-CN" sz="2400" dirty="0">
              <a:solidFill>
                <a:srgbClr val="0000FF"/>
              </a:solidFill>
              <a:ea typeface="华文行楷" pitchFamily="2" charset="-122"/>
            </a:endParaRPr>
          </a:p>
        </p:txBody>
      </p:sp>
    </p:spTree>
    <p:extLst>
      <p:ext uri="{BB962C8B-B14F-4D97-AF65-F5344CB8AC3E}">
        <p14:creationId xmlns:p14="http://schemas.microsoft.com/office/powerpoint/2010/main" val="38939188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 presetClass="entr" presetSubtype="16" fill="hold" grpId="0" nodeType="clickEffect">
                                  <p:stCondLst>
                                    <p:cond delay="0"/>
                                  </p:stCondLst>
                                  <p:childTnLst>
                                    <p:set>
                                      <p:cBhvr>
                                        <p:cTn id="10" dur="1" fill="hold">
                                          <p:stCondLst>
                                            <p:cond delay="0"/>
                                          </p:stCondLst>
                                        </p:cTn>
                                        <p:tgtEl>
                                          <p:spTgt spid="110595">
                                            <p:txEl>
                                              <p:pRg st="0" end="0"/>
                                            </p:txEl>
                                          </p:spTgt>
                                        </p:tgtEl>
                                        <p:attrNameLst>
                                          <p:attrName>style.visibility</p:attrName>
                                        </p:attrNameLst>
                                      </p:cBhvr>
                                      <p:to>
                                        <p:strVal val="visible"/>
                                      </p:to>
                                    </p:set>
                                    <p:animEffect transition="in" filter="box(in)">
                                      <p:cBhvr>
                                        <p:cTn id="11" dur="500"/>
                                        <p:tgtEl>
                                          <p:spTgt spid="110595">
                                            <p:txEl>
                                              <p:pRg st="0" end="0"/>
                                            </p:txEl>
                                          </p:spTgt>
                                        </p:tgtEl>
                                      </p:cBhvr>
                                    </p:animEffect>
                                  </p:childTnLst>
                                </p:cTn>
                              </p:par>
                            </p:childTnLst>
                          </p:cTn>
                        </p:par>
                        <p:par>
                          <p:cTn id="12" fill="hold" nodeType="withGroup">
                            <p:stCondLst>
                              <p:cond delay="500"/>
                            </p:stCondLst>
                            <p:childTnLst>
                              <p:par>
                                <p:cTn id="13" presetID="1" presetClass="entr" presetSubtype="0" fill="hold" nodeType="afterEffect">
                                  <p:stCondLst>
                                    <p:cond delay="0"/>
                                  </p:stCondLst>
                                  <p:childTnLst>
                                    <p:set>
                                      <p:cBhvr>
                                        <p:cTn id="14" dur="1" fill="hold">
                                          <p:stCondLst>
                                            <p:cond delay="0"/>
                                          </p:stCondLst>
                                        </p:cTn>
                                        <p:tgtEl>
                                          <p:spTgt spid="11077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2"/>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xit" presetSubtype="0" fill="hold" grpId="1" nodeType="clickEffect">
                                  <p:stCondLst>
                                    <p:cond delay="500"/>
                                  </p:stCondLst>
                                  <p:childTnLst>
                                    <p:set>
                                      <p:cBhvr>
                                        <p:cTn id="54" dur="1" fill="hold">
                                          <p:stCondLst>
                                            <p:cond delay="0"/>
                                          </p:stCondLst>
                                        </p:cTn>
                                        <p:tgtEl>
                                          <p:spTgt spid="22"/>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4"/>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23"/>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xit" presetSubtype="0" fill="hold" grpId="1" nodeType="clickEffect">
                                  <p:stCondLst>
                                    <p:cond delay="500"/>
                                  </p:stCondLst>
                                  <p:childTnLst>
                                    <p:set>
                                      <p:cBhvr>
                                        <p:cTn id="66" dur="1" fill="hold">
                                          <p:stCondLst>
                                            <p:cond delay="0"/>
                                          </p:stCondLst>
                                        </p:cTn>
                                        <p:tgtEl>
                                          <p:spTgt spid="23"/>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6"/>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xit" presetSubtype="0" fill="hold" grpId="1" nodeType="clickEffect">
                                  <p:stCondLst>
                                    <p:cond delay="500"/>
                                  </p:stCondLst>
                                  <p:childTnLst>
                                    <p:set>
                                      <p:cBhvr>
                                        <p:cTn id="78" dur="1" fill="hold">
                                          <p:stCondLst>
                                            <p:cond delay="0"/>
                                          </p:stCondLst>
                                        </p:cTn>
                                        <p:tgtEl>
                                          <p:spTgt spid="24"/>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17"/>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26"/>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xit" presetSubtype="0" fill="hold" grpId="1" nodeType="clickEffect">
                                  <p:stCondLst>
                                    <p:cond delay="500"/>
                                  </p:stCondLst>
                                  <p:childTnLst>
                                    <p:set>
                                      <p:cBhvr>
                                        <p:cTn id="94" dur="1" fill="hold">
                                          <p:stCondLst>
                                            <p:cond delay="0"/>
                                          </p:stCondLst>
                                        </p:cTn>
                                        <p:tgtEl>
                                          <p:spTgt spid="26"/>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27"/>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1" presetClass="exit" presetSubtype="0" fill="hold" grpId="1" nodeType="clickEffect">
                                  <p:stCondLst>
                                    <p:cond delay="0"/>
                                  </p:stCondLst>
                                  <p:childTnLst>
                                    <p:set>
                                      <p:cBhvr>
                                        <p:cTn id="106" dur="1" fill="hold">
                                          <p:stCondLst>
                                            <p:cond delay="0"/>
                                          </p:stCondLst>
                                        </p:cTn>
                                        <p:tgtEl>
                                          <p:spTgt spid="27"/>
                                        </p:tgtEl>
                                        <p:attrNameLst>
                                          <p:attrName>style.visibility</p:attrName>
                                        </p:attrNameLst>
                                      </p:cBhvr>
                                      <p:to>
                                        <p:strVal val="hidden"/>
                                      </p:to>
                                    </p:set>
                                  </p:childTnLst>
                                </p:cTn>
                              </p:par>
                            </p:childTnLst>
                          </p:cTn>
                        </p:par>
                      </p:childTnLst>
                    </p:cTn>
                  </p:par>
                  <p:par>
                    <p:cTn id="107" fill="hold">
                      <p:stCondLst>
                        <p:cond delay="indefinite"/>
                      </p:stCondLst>
                      <p:childTnLst>
                        <p:par>
                          <p:cTn id="108" fill="hold">
                            <p:stCondLst>
                              <p:cond delay="0"/>
                            </p:stCondLst>
                            <p:childTnLst>
                              <p:par>
                                <p:cTn id="109" presetID="1" presetClass="exit" presetSubtype="0" fill="hold" grpId="1" nodeType="clickEffect">
                                  <p:stCondLst>
                                    <p:cond delay="500"/>
                                  </p:stCondLst>
                                  <p:childTnLst>
                                    <p:set>
                                      <p:cBhvr>
                                        <p:cTn id="110" dur="1" fill="hold">
                                          <p:stCondLst>
                                            <p:cond delay="0"/>
                                          </p:stCondLst>
                                        </p:cTn>
                                        <p:tgtEl>
                                          <p:spTgt spid="21"/>
                                        </p:tgtEl>
                                        <p:attrNameLst>
                                          <p:attrName>style.visibility</p:attrName>
                                        </p:attrNameLst>
                                      </p:cBhvr>
                                      <p:to>
                                        <p:strVal val="hidden"/>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5"/>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25"/>
                                        </p:tgtEl>
                                        <p:attrNameLst>
                                          <p:attrName>style.visibility</p:attrName>
                                        </p:attrNameLst>
                                      </p:cBhvr>
                                      <p:to>
                                        <p:strVal val="visible"/>
                                      </p:to>
                                    </p:set>
                                  </p:childTnLst>
                                </p:cTn>
                              </p:par>
                            </p:childTnLst>
                          </p:cTn>
                        </p:par>
                      </p:childTnLst>
                    </p:cTn>
                  </p:par>
                  <p:par>
                    <p:cTn id="119" fill="hold">
                      <p:stCondLst>
                        <p:cond delay="indefinite"/>
                      </p:stCondLst>
                      <p:childTnLst>
                        <p:par>
                          <p:cTn id="120" fill="hold">
                            <p:stCondLst>
                              <p:cond delay="0"/>
                            </p:stCondLst>
                            <p:childTnLst>
                              <p:par>
                                <p:cTn id="121" presetID="1" presetClass="exit" presetSubtype="0" fill="hold" grpId="1" nodeType="clickEffect">
                                  <p:stCondLst>
                                    <p:cond delay="0"/>
                                  </p:stCondLst>
                                  <p:childTnLst>
                                    <p:set>
                                      <p:cBhvr>
                                        <p:cTn id="122" dur="1" fill="hold">
                                          <p:stCondLst>
                                            <p:cond delay="0"/>
                                          </p:stCondLst>
                                        </p:cTn>
                                        <p:tgtEl>
                                          <p:spTgt spid="25"/>
                                        </p:tgtEl>
                                        <p:attrNameLst>
                                          <p:attrName>style.visibility</p:attrName>
                                        </p:attrNameLst>
                                      </p:cBhvr>
                                      <p:to>
                                        <p:strVal val="hidden"/>
                                      </p:to>
                                    </p:set>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grpId="1" nodeType="clickEffect">
                                  <p:stCondLst>
                                    <p:cond delay="0"/>
                                  </p:stCondLst>
                                  <p:childTnLst>
                                    <p:set>
                                      <p:cBhvr>
                                        <p:cTn id="126" dur="1" fill="hold">
                                          <p:stCondLst>
                                            <p:cond delay="0"/>
                                          </p:stCondLst>
                                        </p:cTn>
                                        <p:tgtEl>
                                          <p:spTgt spid="9"/>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 presetClass="entr" presetSubtype="0" fill="hold" grpId="0" nodeType="clickEffect">
                                  <p:stCondLst>
                                    <p:cond delay="0"/>
                                  </p:stCondLst>
                                  <p:childTnLst>
                                    <p:set>
                                      <p:cBhvr>
                                        <p:cTn id="130" dur="1" fill="hold">
                                          <p:stCondLst>
                                            <p:cond delay="0"/>
                                          </p:stCondLst>
                                        </p:cTn>
                                        <p:tgtEl>
                                          <p:spTgt spid="1107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5" grpId="0" build="p" autoUpdateAnimBg="0"/>
      <p:bldP spid="110724" grpId="0"/>
      <p:bldP spid="2" grpId="0"/>
      <p:bldP spid="10" grpId="0"/>
      <p:bldP spid="11" grpId="0"/>
      <p:bldP spid="12" grpId="0"/>
      <p:bldP spid="3" grpId="0"/>
      <p:bldP spid="4" grpId="0"/>
      <p:bldP spid="5" grpId="0"/>
      <p:bldP spid="6" grpId="0"/>
      <p:bldP spid="17" grpId="0"/>
      <p:bldP spid="9" grpId="0"/>
      <p:bldP spid="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p:cNvSpPr>
            <a:spLocks noGrp="1" noChangeArrowheads="1"/>
          </p:cNvSpPr>
          <p:nvPr>
            <p:ph type="title"/>
          </p:nvPr>
        </p:nvSpPr>
        <p:spPr/>
        <p:txBody>
          <a:bodyPr/>
          <a:lstStyle/>
          <a:p>
            <a:pPr eaLnBrk="1" hangingPunct="1"/>
            <a:r>
              <a:rPr lang="zh-CN" altLang="en-US" b="1">
                <a:solidFill>
                  <a:schemeClr val="tx1"/>
                </a:solidFill>
                <a:latin typeface="宋体" pitchFamily="2" charset="-122"/>
                <a:ea typeface="隶书" pitchFamily="49" charset="-122"/>
              </a:rPr>
              <a:t>练习</a:t>
            </a:r>
          </a:p>
        </p:txBody>
      </p:sp>
      <p:sp>
        <p:nvSpPr>
          <p:cNvPr id="152579" name="Rectangle 4"/>
          <p:cNvSpPr>
            <a:spLocks noChangeArrowheads="1"/>
          </p:cNvSpPr>
          <p:nvPr/>
        </p:nvSpPr>
        <p:spPr bwMode="auto">
          <a:xfrm>
            <a:off x="685800" y="487363"/>
            <a:ext cx="7772400" cy="59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4400">
              <a:latin typeface="宋体" pitchFamily="2" charset="-122"/>
              <a:ea typeface="隶书" pitchFamily="49" charset="-122"/>
            </a:endParaRPr>
          </a:p>
        </p:txBody>
      </p:sp>
      <p:sp>
        <p:nvSpPr>
          <p:cNvPr id="219141" name="Rectangle 5"/>
          <p:cNvSpPr>
            <a:spLocks noChangeArrowheads="1"/>
          </p:cNvSpPr>
          <p:nvPr/>
        </p:nvSpPr>
        <p:spPr bwMode="auto">
          <a:xfrm>
            <a:off x="4167188" y="1941513"/>
            <a:ext cx="4246562" cy="9540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a:solidFill>
                  <a:srgbClr val="0000FF"/>
                </a:solidFill>
                <a:ea typeface="华文行楷" pitchFamily="2" charset="-122"/>
              </a:rPr>
              <a:t>FirstVT(S) = {a,(}</a:t>
            </a:r>
          </a:p>
          <a:p>
            <a:pPr eaLnBrk="1" hangingPunct="1">
              <a:buFontTx/>
              <a:buNone/>
            </a:pPr>
            <a:r>
              <a:rPr lang="en-US" altLang="zh-CN">
                <a:solidFill>
                  <a:srgbClr val="0000FF"/>
                </a:solidFill>
                <a:ea typeface="华文行楷" pitchFamily="2" charset="-122"/>
              </a:rPr>
              <a:t>FirstVT(T) = {a,(, , }</a:t>
            </a:r>
          </a:p>
        </p:txBody>
      </p:sp>
      <p:sp>
        <p:nvSpPr>
          <p:cNvPr id="152581" name="Rectangle 6"/>
          <p:cNvSpPr>
            <a:spLocks noChangeArrowheads="1"/>
          </p:cNvSpPr>
          <p:nvPr/>
        </p:nvSpPr>
        <p:spPr bwMode="auto">
          <a:xfrm>
            <a:off x="330200" y="3103563"/>
            <a:ext cx="2787650" cy="879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a:ea typeface="华文行楷" pitchFamily="2" charset="-122"/>
              </a:rPr>
              <a:t>计算</a:t>
            </a:r>
            <a:r>
              <a:rPr lang="en-US" altLang="zh-CN">
                <a:ea typeface="华文行楷" pitchFamily="2" charset="-122"/>
              </a:rPr>
              <a:t>FirstVT</a:t>
            </a:r>
          </a:p>
        </p:txBody>
      </p:sp>
      <p:sp>
        <p:nvSpPr>
          <p:cNvPr id="152582" name="Text Box 7"/>
          <p:cNvSpPr txBox="1">
            <a:spLocks noChangeArrowheads="1"/>
          </p:cNvSpPr>
          <p:nvPr/>
        </p:nvSpPr>
        <p:spPr bwMode="auto">
          <a:xfrm>
            <a:off x="381000" y="1422400"/>
            <a:ext cx="3636963"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a:ea typeface="华文行楷" pitchFamily="2" charset="-122"/>
              </a:rPr>
              <a:t>给定文法</a:t>
            </a:r>
            <a:r>
              <a:rPr lang="en-US" altLang="zh-CN">
                <a:ea typeface="华文行楷" pitchFamily="2" charset="-122"/>
              </a:rPr>
              <a:t>G[S]</a:t>
            </a:r>
            <a:r>
              <a:rPr lang="zh-CN" altLang="en-US">
                <a:ea typeface="华文行楷" pitchFamily="2" charset="-122"/>
              </a:rPr>
              <a:t>：</a:t>
            </a:r>
          </a:p>
        </p:txBody>
      </p:sp>
      <p:sp>
        <p:nvSpPr>
          <p:cNvPr id="152583" name="Text Box 8"/>
          <p:cNvSpPr txBox="1">
            <a:spLocks noChangeArrowheads="1"/>
          </p:cNvSpPr>
          <p:nvPr/>
        </p:nvSpPr>
        <p:spPr bwMode="auto">
          <a:xfrm>
            <a:off x="546100" y="1946275"/>
            <a:ext cx="2279650" cy="11684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S </a:t>
            </a:r>
            <a:r>
              <a:rPr lang="en-US" altLang="zh-CN" sz="2800">
                <a:ea typeface="华文行楷" pitchFamily="2" charset="-122"/>
                <a:sym typeface="Wingdings" pitchFamily="2" charset="2"/>
              </a:rPr>
              <a:t> a | (T)</a:t>
            </a:r>
          </a:p>
          <a:p>
            <a:pPr algn="ctr" eaLnBrk="1" hangingPunct="1">
              <a:spcBef>
                <a:spcPct val="50000"/>
              </a:spcBef>
              <a:buFontTx/>
              <a:buNone/>
            </a:pPr>
            <a:r>
              <a:rPr lang="en-US" altLang="zh-CN" sz="2800">
                <a:ea typeface="华文行楷" pitchFamily="2" charset="-122"/>
                <a:sym typeface="Wingdings" pitchFamily="2" charset="2"/>
              </a:rPr>
              <a:t>T  T,S | S </a:t>
            </a:r>
            <a:endParaRPr lang="en-US" altLang="zh-CN" sz="2800">
              <a:ea typeface="华文行楷" pitchFamily="2" charset="-122"/>
            </a:endParaRPr>
          </a:p>
        </p:txBody>
      </p:sp>
    </p:spTree>
    <p:extLst>
      <p:ext uri="{BB962C8B-B14F-4D97-AF65-F5344CB8AC3E}">
        <p14:creationId xmlns:p14="http://schemas.microsoft.com/office/powerpoint/2010/main" val="30881349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9141">
                                            <p:txEl>
                                              <p:charRg st="4294967295" end="429496729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41" grpId="0" autoUpdateAnimBg="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2"/>
          <p:cNvSpPr>
            <a:spLocks noGrp="1" noChangeArrowheads="1"/>
          </p:cNvSpPr>
          <p:nvPr>
            <p:ph type="title"/>
          </p:nvPr>
        </p:nvSpPr>
        <p:spPr>
          <a:xfrm>
            <a:off x="366843" y="49876"/>
            <a:ext cx="7875587" cy="561975"/>
          </a:xfrm>
        </p:spPr>
        <p:txBody>
          <a:bodyPr>
            <a:normAutofit fontScale="90000"/>
          </a:bodyPr>
          <a:lstStyle/>
          <a:p>
            <a:pPr eaLnBrk="1" hangingPunct="1"/>
            <a:r>
              <a:rPr lang="zh-CN" altLang="en-US" sz="3600" dirty="0">
                <a:latin typeface="隶书" pitchFamily="49" charset="-122"/>
                <a:ea typeface="隶书" pitchFamily="49" charset="-122"/>
              </a:rPr>
              <a:t>求</a:t>
            </a:r>
            <a:r>
              <a:rPr lang="en-US" altLang="zh-CN" sz="3600" dirty="0" err="1">
                <a:latin typeface="隶书" pitchFamily="49" charset="-122"/>
                <a:ea typeface="隶书" pitchFamily="49" charset="-122"/>
              </a:rPr>
              <a:t>FirstVT</a:t>
            </a:r>
            <a:r>
              <a:rPr lang="zh-CN" altLang="en-US" sz="3600" dirty="0">
                <a:latin typeface="隶书" pitchFamily="49" charset="-122"/>
                <a:ea typeface="隶书" pitchFamily="49" charset="-122"/>
              </a:rPr>
              <a:t>集的算法描述</a:t>
            </a:r>
            <a:r>
              <a:rPr lang="en-US" altLang="zh-CN" sz="3600" dirty="0">
                <a:latin typeface="隶书" pitchFamily="49" charset="-122"/>
                <a:ea typeface="隶书" pitchFamily="49" charset="-122"/>
              </a:rPr>
              <a:t>:</a:t>
            </a:r>
          </a:p>
        </p:txBody>
      </p:sp>
      <p:sp>
        <p:nvSpPr>
          <p:cNvPr id="153603" name="Rectangle 3"/>
          <p:cNvSpPr>
            <a:spLocks noGrp="1" noChangeArrowheads="1"/>
          </p:cNvSpPr>
          <p:nvPr>
            <p:ph type="body" idx="1"/>
          </p:nvPr>
        </p:nvSpPr>
        <p:spPr>
          <a:xfrm>
            <a:off x="467544" y="827088"/>
            <a:ext cx="6619056" cy="3544862"/>
          </a:xfrm>
          <a:solidFill>
            <a:schemeClr val="bg1"/>
          </a:solidFill>
          <a:ln w="28575">
            <a:solidFill>
              <a:srgbClr val="0000FF"/>
            </a:solidFill>
            <a:miter lim="800000"/>
            <a:headEnd/>
            <a:tailEnd/>
          </a:ln>
        </p:spPr>
        <p:txBody>
          <a:bodyPr>
            <a:noAutofit/>
          </a:bodyPr>
          <a:lstStyle/>
          <a:p>
            <a:pPr eaLnBrk="1" hangingPunct="1">
              <a:lnSpc>
                <a:spcPct val="90000"/>
              </a:lnSpc>
              <a:buFontTx/>
              <a:buNone/>
            </a:pPr>
            <a:r>
              <a:rPr lang="en-US" altLang="zh-CN" sz="2000" dirty="0" err="1">
                <a:latin typeface="宋体" panose="02010600030101010101" pitchFamily="2" charset="-122"/>
                <a:ea typeface="宋体" panose="02010600030101010101" pitchFamily="2" charset="-122"/>
              </a:rPr>
              <a:t>firstVT</a:t>
            </a:r>
            <a:r>
              <a:rPr lang="en-US" altLang="zh-CN" sz="2000" dirty="0">
                <a:latin typeface="宋体" panose="02010600030101010101" pitchFamily="2" charset="-122"/>
                <a:ea typeface="宋体" panose="02010600030101010101" pitchFamily="2" charset="-122"/>
              </a:rPr>
              <a:t>(char A){</a:t>
            </a:r>
          </a:p>
          <a:p>
            <a:pPr lvl="1" eaLnBrk="1" hangingPunct="1">
              <a:lnSpc>
                <a:spcPct val="90000"/>
              </a:lnSpc>
              <a:buFontTx/>
              <a:buNone/>
            </a:pPr>
            <a:r>
              <a:rPr lang="en-US" altLang="zh-CN" sz="2000" dirty="0">
                <a:latin typeface="宋体" panose="02010600030101010101" pitchFamily="2" charset="-122"/>
                <a:ea typeface="宋体" panose="02010600030101010101" pitchFamily="2" charset="-122"/>
              </a:rPr>
              <a:t>for (</a:t>
            </a:r>
            <a:r>
              <a:rPr lang="zh-CN" altLang="en-US" sz="2000" dirty="0">
                <a:latin typeface="宋体" panose="02010600030101010101" pitchFamily="2" charset="-122"/>
                <a:ea typeface="宋体" panose="02010600030101010101" pitchFamily="2" charset="-122"/>
              </a:rPr>
              <a:t>对</a:t>
            </a:r>
            <a:r>
              <a:rPr lang="en-US" altLang="zh-CN" sz="2000" dirty="0">
                <a:latin typeface="宋体" panose="02010600030101010101" pitchFamily="2" charset="-122"/>
                <a:ea typeface="宋体" panose="02010600030101010101" pitchFamily="2" charset="-122"/>
              </a:rPr>
              <a:t>A</a:t>
            </a:r>
            <a:r>
              <a:rPr lang="zh-CN" altLang="en-US" sz="2000" dirty="0">
                <a:latin typeface="宋体" panose="02010600030101010101" pitchFamily="2" charset="-122"/>
                <a:ea typeface="宋体" panose="02010600030101010101" pitchFamily="2" charset="-122"/>
              </a:rPr>
              <a:t>的每个非终结符</a:t>
            </a:r>
            <a:r>
              <a:rPr lang="en-US" altLang="zh-CN" sz="2000" dirty="0">
                <a:latin typeface="宋体" panose="02010600030101010101" pitchFamily="2" charset="-122"/>
                <a:ea typeface="宋体" panose="02010600030101010101" pitchFamily="2" charset="-122"/>
              </a:rPr>
              <a:t>P</a:t>
            </a:r>
            <a:r>
              <a:rPr lang="zh-CN" altLang="en-US" sz="2000" dirty="0">
                <a:latin typeface="宋体" panose="02010600030101010101" pitchFamily="2" charset="-122"/>
                <a:ea typeface="宋体" panose="02010600030101010101" pitchFamily="2" charset="-122"/>
              </a:rPr>
              <a:t>和终结符</a:t>
            </a:r>
            <a:r>
              <a:rPr lang="en-US" altLang="zh-CN" sz="2000" dirty="0">
                <a:latin typeface="宋体" panose="02010600030101010101" pitchFamily="2" charset="-122"/>
                <a:ea typeface="宋体" panose="02010600030101010101" pitchFamily="2" charset="-122"/>
              </a:rPr>
              <a:t>a) </a:t>
            </a:r>
          </a:p>
          <a:p>
            <a:pPr lvl="1" eaLnBrk="1" hangingPunct="1">
              <a:lnSpc>
                <a:spcPct val="90000"/>
              </a:lnSpc>
              <a:buFontTx/>
              <a:buNone/>
            </a:pPr>
            <a:r>
              <a:rPr lang="en-US" altLang="zh-CN" sz="2000" dirty="0">
                <a:latin typeface="宋体" panose="02010600030101010101" pitchFamily="2" charset="-122"/>
                <a:ea typeface="宋体" panose="02010600030101010101" pitchFamily="2" charset="-122"/>
              </a:rPr>
              <a:t>	F[</a:t>
            </a:r>
            <a:r>
              <a:rPr lang="en-US" altLang="zh-CN" sz="2000" dirty="0" err="1">
                <a:latin typeface="宋体" panose="02010600030101010101" pitchFamily="2" charset="-122"/>
                <a:ea typeface="宋体" panose="02010600030101010101" pitchFamily="2" charset="-122"/>
              </a:rPr>
              <a:t>P,a</a:t>
            </a:r>
            <a:r>
              <a:rPr lang="en-US" altLang="zh-CN" sz="2000" dirty="0">
                <a:latin typeface="宋体" panose="02010600030101010101" pitchFamily="2" charset="-122"/>
                <a:ea typeface="宋体" panose="02010600030101010101" pitchFamily="2" charset="-122"/>
              </a:rPr>
              <a:t>] = 0;</a:t>
            </a:r>
          </a:p>
          <a:p>
            <a:pPr lvl="1" eaLnBrk="1" hangingPunct="1">
              <a:lnSpc>
                <a:spcPct val="90000"/>
              </a:lnSpc>
              <a:buFontTx/>
              <a:buNone/>
            </a:pPr>
            <a:r>
              <a:rPr lang="en-US" altLang="zh-CN" sz="2000" dirty="0">
                <a:solidFill>
                  <a:srgbClr val="0000FF"/>
                </a:solidFill>
                <a:latin typeface="宋体" panose="02010600030101010101" pitchFamily="2" charset="-122"/>
                <a:ea typeface="宋体" panose="02010600030101010101" pitchFamily="2" charset="-122"/>
              </a:rPr>
              <a:t>for (</a:t>
            </a:r>
            <a:r>
              <a:rPr lang="zh-CN" altLang="en-US" sz="2000" dirty="0">
                <a:solidFill>
                  <a:srgbClr val="0000FF"/>
                </a:solidFill>
                <a:latin typeface="宋体" panose="02010600030101010101" pitchFamily="2" charset="-122"/>
                <a:ea typeface="宋体" panose="02010600030101010101" pitchFamily="2" charset="-122"/>
              </a:rPr>
              <a:t>对每个形如</a:t>
            </a:r>
            <a:r>
              <a:rPr lang="en-US" altLang="zh-CN" sz="2000" dirty="0" err="1">
                <a:solidFill>
                  <a:srgbClr val="0000FF"/>
                </a:solidFill>
                <a:latin typeface="宋体" panose="02010600030101010101" pitchFamily="2" charset="-122"/>
                <a:ea typeface="宋体" panose="02010600030101010101" pitchFamily="2" charset="-122"/>
              </a:rPr>
              <a:t>P</a:t>
            </a:r>
            <a:r>
              <a:rPr lang="en-US" altLang="zh-CN" sz="2000" dirty="0" err="1">
                <a:solidFill>
                  <a:srgbClr val="0000FF"/>
                </a:solidFill>
                <a:latin typeface="宋体" panose="02010600030101010101" pitchFamily="2" charset="-122"/>
                <a:ea typeface="宋体" panose="02010600030101010101" pitchFamily="2" charset="-122"/>
                <a:sym typeface="Wingdings" pitchFamily="2" charset="2"/>
              </a:rPr>
              <a:t>a</a:t>
            </a:r>
            <a:r>
              <a:rPr lang="en-US" altLang="zh-CN" sz="2000" dirty="0">
                <a:solidFill>
                  <a:srgbClr val="0000FF"/>
                </a:solidFill>
                <a:latin typeface="宋体" panose="02010600030101010101" pitchFamily="2" charset="-122"/>
                <a:ea typeface="宋体" panose="02010600030101010101" pitchFamily="2" charset="-122"/>
                <a:sym typeface="Wingdings" pitchFamily="2" charset="2"/>
              </a:rPr>
              <a:t>…</a:t>
            </a:r>
            <a:r>
              <a:rPr lang="zh-CN" altLang="en-US" sz="2000" dirty="0">
                <a:solidFill>
                  <a:srgbClr val="0000FF"/>
                </a:solidFill>
                <a:latin typeface="宋体" panose="02010600030101010101" pitchFamily="2" charset="-122"/>
                <a:ea typeface="宋体" panose="02010600030101010101" pitchFamily="2" charset="-122"/>
                <a:sym typeface="Wingdings" pitchFamily="2" charset="2"/>
              </a:rPr>
              <a:t>或</a:t>
            </a:r>
            <a:r>
              <a:rPr lang="en-US" altLang="zh-CN" sz="2000" dirty="0" err="1">
                <a:solidFill>
                  <a:srgbClr val="0000FF"/>
                </a:solidFill>
                <a:latin typeface="宋体" panose="02010600030101010101" pitchFamily="2" charset="-122"/>
                <a:ea typeface="宋体" panose="02010600030101010101" pitchFamily="2" charset="-122"/>
              </a:rPr>
              <a:t>P</a:t>
            </a:r>
            <a:r>
              <a:rPr lang="en-US" altLang="zh-CN" sz="2000" dirty="0" err="1">
                <a:solidFill>
                  <a:srgbClr val="0000FF"/>
                </a:solidFill>
                <a:latin typeface="宋体" panose="02010600030101010101" pitchFamily="2" charset="-122"/>
                <a:ea typeface="宋体" panose="02010600030101010101" pitchFamily="2" charset="-122"/>
                <a:sym typeface="Wingdings" pitchFamily="2" charset="2"/>
              </a:rPr>
              <a:t>Qa</a:t>
            </a:r>
            <a:r>
              <a:rPr lang="en-US" altLang="zh-CN" sz="2000" dirty="0">
                <a:solidFill>
                  <a:srgbClr val="0000FF"/>
                </a:solidFill>
                <a:latin typeface="宋体" panose="02010600030101010101" pitchFamily="2" charset="-122"/>
                <a:ea typeface="宋体" panose="02010600030101010101" pitchFamily="2" charset="-122"/>
                <a:sym typeface="Wingdings" pitchFamily="2" charset="2"/>
              </a:rPr>
              <a:t>…</a:t>
            </a:r>
            <a:r>
              <a:rPr lang="zh-CN" altLang="en-US" sz="2000" dirty="0">
                <a:solidFill>
                  <a:srgbClr val="0000FF"/>
                </a:solidFill>
                <a:latin typeface="宋体" panose="02010600030101010101" pitchFamily="2" charset="-122"/>
                <a:ea typeface="宋体" panose="02010600030101010101" pitchFamily="2" charset="-122"/>
                <a:sym typeface="Wingdings" pitchFamily="2" charset="2"/>
              </a:rPr>
              <a:t>的产生式 </a:t>
            </a:r>
            <a:r>
              <a:rPr lang="en-US" altLang="zh-CN" sz="2000" dirty="0">
                <a:solidFill>
                  <a:srgbClr val="0000FF"/>
                </a:solidFill>
                <a:latin typeface="宋体" panose="02010600030101010101" pitchFamily="2" charset="-122"/>
                <a:ea typeface="宋体" panose="02010600030101010101" pitchFamily="2" charset="-122"/>
              </a:rPr>
              <a:t>)</a:t>
            </a:r>
          </a:p>
          <a:p>
            <a:pPr lvl="2" eaLnBrk="1" hangingPunct="1">
              <a:lnSpc>
                <a:spcPct val="90000"/>
              </a:lnSpc>
              <a:buFontTx/>
              <a:buNone/>
            </a:pPr>
            <a:r>
              <a:rPr lang="en-US" altLang="zh-CN" sz="2000" dirty="0">
                <a:solidFill>
                  <a:srgbClr val="0000FF"/>
                </a:solidFill>
                <a:latin typeface="宋体" panose="02010600030101010101" pitchFamily="2" charset="-122"/>
                <a:ea typeface="宋体" panose="02010600030101010101" pitchFamily="2" charset="-122"/>
              </a:rPr>
              <a:t>Insert(</a:t>
            </a:r>
            <a:r>
              <a:rPr lang="en-US" altLang="zh-CN" sz="2000" dirty="0" err="1">
                <a:solidFill>
                  <a:srgbClr val="0000FF"/>
                </a:solidFill>
                <a:latin typeface="宋体" panose="02010600030101010101" pitchFamily="2" charset="-122"/>
                <a:ea typeface="宋体" panose="02010600030101010101" pitchFamily="2" charset="-122"/>
              </a:rPr>
              <a:t>P,a</a:t>
            </a:r>
            <a:r>
              <a:rPr lang="en-US" altLang="zh-CN" sz="2000" dirty="0">
                <a:solidFill>
                  <a:srgbClr val="0000FF"/>
                </a:solidFill>
                <a:latin typeface="宋体" panose="02010600030101010101" pitchFamily="2" charset="-122"/>
                <a:ea typeface="宋体" panose="02010600030101010101" pitchFamily="2" charset="-122"/>
              </a:rPr>
              <a:t>);</a:t>
            </a:r>
          </a:p>
          <a:p>
            <a:pPr lvl="1" eaLnBrk="1" hangingPunct="1">
              <a:lnSpc>
                <a:spcPct val="90000"/>
              </a:lnSpc>
              <a:buFontTx/>
              <a:buNone/>
            </a:pPr>
            <a:r>
              <a:rPr lang="en-US" altLang="zh-CN" sz="2000" dirty="0">
                <a:solidFill>
                  <a:srgbClr val="339966"/>
                </a:solidFill>
                <a:latin typeface="宋体" panose="02010600030101010101" pitchFamily="2" charset="-122"/>
                <a:ea typeface="宋体" panose="02010600030101010101" pitchFamily="2" charset="-122"/>
              </a:rPr>
              <a:t>while (stack </a:t>
            </a:r>
            <a:r>
              <a:rPr lang="zh-CN" altLang="en-US" sz="2000" dirty="0">
                <a:solidFill>
                  <a:srgbClr val="339966"/>
                </a:solidFill>
                <a:latin typeface="宋体" panose="02010600030101010101" pitchFamily="2" charset="-122"/>
                <a:ea typeface="宋体" panose="02010600030101010101" pitchFamily="2" charset="-122"/>
              </a:rPr>
              <a:t>非空</a:t>
            </a:r>
            <a:r>
              <a:rPr lang="en-US" altLang="zh-CN" sz="2000" dirty="0">
                <a:solidFill>
                  <a:srgbClr val="339966"/>
                </a:solidFill>
                <a:latin typeface="宋体" panose="02010600030101010101" pitchFamily="2" charset="-122"/>
                <a:ea typeface="宋体" panose="02010600030101010101" pitchFamily="2" charset="-122"/>
              </a:rPr>
              <a:t>) {</a:t>
            </a:r>
            <a:endParaRPr lang="zh-CN" altLang="en-US" sz="2000" dirty="0">
              <a:solidFill>
                <a:srgbClr val="339966"/>
              </a:solidFill>
              <a:latin typeface="宋体" panose="02010600030101010101" pitchFamily="2" charset="-122"/>
              <a:ea typeface="宋体" panose="02010600030101010101" pitchFamily="2" charset="-122"/>
            </a:endParaRPr>
          </a:p>
          <a:p>
            <a:pPr lvl="3" eaLnBrk="1" hangingPunct="1">
              <a:lnSpc>
                <a:spcPct val="90000"/>
              </a:lnSpc>
              <a:buFontTx/>
              <a:buNone/>
            </a:pPr>
            <a:r>
              <a:rPr lang="zh-CN" altLang="en-US" sz="2000" dirty="0">
                <a:solidFill>
                  <a:srgbClr val="339966"/>
                </a:solidFill>
                <a:latin typeface="宋体" panose="02010600030101010101" pitchFamily="2" charset="-122"/>
                <a:ea typeface="宋体" panose="02010600030101010101" pitchFamily="2" charset="-122"/>
              </a:rPr>
              <a:t>栈顶项出栈</a:t>
            </a:r>
            <a:r>
              <a:rPr lang="en-US" altLang="zh-CN" sz="2000" dirty="0">
                <a:solidFill>
                  <a:srgbClr val="339966"/>
                </a:solidFill>
                <a:latin typeface="宋体" panose="02010600030101010101" pitchFamily="2" charset="-122"/>
                <a:ea typeface="宋体" panose="02010600030101010101" pitchFamily="2" charset="-122"/>
                <a:sym typeface="Wingdings" pitchFamily="2" charset="2"/>
              </a:rPr>
              <a:t></a:t>
            </a:r>
            <a:r>
              <a:rPr lang="en-US" altLang="zh-CN" sz="2000" dirty="0">
                <a:solidFill>
                  <a:srgbClr val="339966"/>
                </a:solidFill>
                <a:latin typeface="宋体" panose="02010600030101010101" pitchFamily="2" charset="-122"/>
                <a:ea typeface="宋体" panose="02010600030101010101" pitchFamily="2" charset="-122"/>
              </a:rPr>
              <a:t>(</a:t>
            </a:r>
            <a:r>
              <a:rPr lang="en-US" altLang="zh-CN" sz="2000" dirty="0" err="1">
                <a:solidFill>
                  <a:srgbClr val="339966"/>
                </a:solidFill>
                <a:latin typeface="宋体" panose="02010600030101010101" pitchFamily="2" charset="-122"/>
                <a:ea typeface="宋体" panose="02010600030101010101" pitchFamily="2" charset="-122"/>
              </a:rPr>
              <a:t>Q,a</a:t>
            </a:r>
            <a:r>
              <a:rPr lang="en-US" altLang="zh-CN" sz="2000" dirty="0">
                <a:solidFill>
                  <a:srgbClr val="339966"/>
                </a:solidFill>
                <a:latin typeface="宋体" panose="02010600030101010101" pitchFamily="2" charset="-122"/>
                <a:ea typeface="宋体" panose="02010600030101010101" pitchFamily="2" charset="-122"/>
              </a:rPr>
              <a:t>)</a:t>
            </a:r>
          </a:p>
          <a:p>
            <a:pPr lvl="3" eaLnBrk="1" hangingPunct="1">
              <a:lnSpc>
                <a:spcPct val="90000"/>
              </a:lnSpc>
              <a:buFontTx/>
              <a:buNone/>
            </a:pPr>
            <a:r>
              <a:rPr lang="en-US" altLang="zh-CN" sz="2000" dirty="0">
                <a:solidFill>
                  <a:srgbClr val="339966"/>
                </a:solidFill>
                <a:latin typeface="宋体" panose="02010600030101010101" pitchFamily="2" charset="-122"/>
                <a:ea typeface="宋体" panose="02010600030101010101" pitchFamily="2" charset="-122"/>
              </a:rPr>
              <a:t>for (</a:t>
            </a:r>
            <a:r>
              <a:rPr lang="zh-CN" altLang="en-US" sz="2000" dirty="0">
                <a:solidFill>
                  <a:srgbClr val="339966"/>
                </a:solidFill>
                <a:latin typeface="宋体" panose="02010600030101010101" pitchFamily="2" charset="-122"/>
                <a:ea typeface="宋体" panose="02010600030101010101" pitchFamily="2" charset="-122"/>
              </a:rPr>
              <a:t>对每条形如</a:t>
            </a:r>
            <a:r>
              <a:rPr lang="en-US" altLang="zh-CN" sz="2000" dirty="0">
                <a:solidFill>
                  <a:srgbClr val="339966"/>
                </a:solidFill>
                <a:latin typeface="宋体" panose="02010600030101010101" pitchFamily="2" charset="-122"/>
                <a:ea typeface="宋体" panose="02010600030101010101" pitchFamily="2" charset="-122"/>
              </a:rPr>
              <a:t>P</a:t>
            </a:r>
            <a:r>
              <a:rPr lang="en-US" altLang="zh-CN" sz="2000" dirty="0">
                <a:solidFill>
                  <a:srgbClr val="339966"/>
                </a:solidFill>
                <a:latin typeface="宋体" panose="02010600030101010101" pitchFamily="2" charset="-122"/>
                <a:ea typeface="宋体" panose="02010600030101010101" pitchFamily="2" charset="-122"/>
                <a:sym typeface="Wingdings" pitchFamily="2" charset="2"/>
              </a:rPr>
              <a:t>Q…</a:t>
            </a:r>
            <a:r>
              <a:rPr lang="zh-CN" altLang="en-US" sz="2000" dirty="0">
                <a:solidFill>
                  <a:srgbClr val="339966"/>
                </a:solidFill>
                <a:latin typeface="宋体" panose="02010600030101010101" pitchFamily="2" charset="-122"/>
                <a:ea typeface="宋体" panose="02010600030101010101" pitchFamily="2" charset="-122"/>
                <a:sym typeface="Wingdings" pitchFamily="2" charset="2"/>
              </a:rPr>
              <a:t>的产生式</a:t>
            </a:r>
            <a:r>
              <a:rPr lang="en-US" altLang="zh-CN" sz="2000" dirty="0">
                <a:solidFill>
                  <a:srgbClr val="339966"/>
                </a:solidFill>
                <a:latin typeface="宋体" panose="02010600030101010101" pitchFamily="2" charset="-122"/>
                <a:ea typeface="宋体" panose="02010600030101010101" pitchFamily="2" charset="-122"/>
                <a:sym typeface="Wingdings" pitchFamily="2" charset="2"/>
              </a:rPr>
              <a:t>)</a:t>
            </a:r>
          </a:p>
          <a:p>
            <a:pPr lvl="4" eaLnBrk="1" hangingPunct="1">
              <a:lnSpc>
                <a:spcPct val="90000"/>
              </a:lnSpc>
              <a:buFontTx/>
              <a:buNone/>
            </a:pPr>
            <a:r>
              <a:rPr lang="en-US" altLang="zh-CN" sz="2000" dirty="0">
                <a:solidFill>
                  <a:srgbClr val="339966"/>
                </a:solidFill>
                <a:latin typeface="宋体" panose="02010600030101010101" pitchFamily="2" charset="-122"/>
                <a:ea typeface="宋体" panose="02010600030101010101" pitchFamily="2" charset="-122"/>
              </a:rPr>
              <a:t>  insert(</a:t>
            </a:r>
            <a:r>
              <a:rPr lang="en-US" altLang="zh-CN" sz="2000" dirty="0" err="1">
                <a:solidFill>
                  <a:srgbClr val="339966"/>
                </a:solidFill>
                <a:latin typeface="宋体" panose="02010600030101010101" pitchFamily="2" charset="-122"/>
                <a:ea typeface="宋体" panose="02010600030101010101" pitchFamily="2" charset="-122"/>
              </a:rPr>
              <a:t>P,a</a:t>
            </a:r>
            <a:r>
              <a:rPr lang="en-US" altLang="zh-CN" sz="2000" dirty="0">
                <a:solidFill>
                  <a:srgbClr val="339966"/>
                </a:solidFill>
                <a:latin typeface="宋体" panose="02010600030101010101" pitchFamily="2" charset="-122"/>
                <a:ea typeface="宋体" panose="02010600030101010101" pitchFamily="2" charset="-122"/>
              </a:rPr>
              <a:t>)</a:t>
            </a:r>
          </a:p>
          <a:p>
            <a:pPr lvl="2" eaLnBrk="1" hangingPunct="1">
              <a:lnSpc>
                <a:spcPct val="90000"/>
              </a:lnSpc>
              <a:buFontTx/>
              <a:buNone/>
            </a:pPr>
            <a:r>
              <a:rPr lang="en-US" altLang="zh-CN" sz="2000" dirty="0">
                <a:solidFill>
                  <a:srgbClr val="339966"/>
                </a:solidFill>
                <a:latin typeface="宋体" panose="02010600030101010101" pitchFamily="2" charset="-122"/>
                <a:ea typeface="宋体" panose="02010600030101010101" pitchFamily="2" charset="-122"/>
              </a:rPr>
              <a:t>}</a:t>
            </a:r>
          </a:p>
          <a:p>
            <a:pPr eaLnBrk="1" hangingPunct="1">
              <a:lnSpc>
                <a:spcPct val="90000"/>
              </a:lnSpc>
              <a:buFontTx/>
              <a:buNone/>
            </a:pPr>
            <a:r>
              <a:rPr lang="en-US" altLang="zh-CN" sz="2000" dirty="0">
                <a:latin typeface="宋体" panose="02010600030101010101" pitchFamily="2" charset="-122"/>
                <a:ea typeface="宋体" panose="02010600030101010101" pitchFamily="2" charset="-122"/>
              </a:rPr>
              <a:t>}</a:t>
            </a:r>
          </a:p>
        </p:txBody>
      </p:sp>
      <p:sp>
        <p:nvSpPr>
          <p:cNvPr id="111620" name="Text Box 4"/>
          <p:cNvSpPr txBox="1">
            <a:spLocks noChangeArrowheads="1"/>
          </p:cNvSpPr>
          <p:nvPr/>
        </p:nvSpPr>
        <p:spPr bwMode="auto">
          <a:xfrm>
            <a:off x="6616700" y="3237153"/>
            <a:ext cx="2528888" cy="1938992"/>
          </a:xfrm>
          <a:prstGeom prst="rect">
            <a:avLst/>
          </a:prstGeom>
          <a:solidFill>
            <a:srgbClr val="FFFF99"/>
          </a:solidFill>
          <a:ln w="28575">
            <a:solidFill>
              <a:srgbClr val="0000FF"/>
            </a:solidFill>
            <a:miter lim="800000"/>
            <a:headEnd/>
            <a:tailEnd/>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a:ea typeface="华文行楷" pitchFamily="2" charset="-122"/>
              </a:rPr>
              <a:t>insert(</a:t>
            </a:r>
            <a:r>
              <a:rPr lang="en-US" altLang="zh-CN" sz="2000" dirty="0" err="1">
                <a:ea typeface="华文行楷" pitchFamily="2" charset="-122"/>
              </a:rPr>
              <a:t>P,a</a:t>
            </a:r>
            <a:r>
              <a:rPr lang="en-US" altLang="zh-CN" sz="2000" dirty="0">
                <a:ea typeface="华文行楷" pitchFamily="2" charset="-122"/>
              </a:rPr>
              <a:t>)  {</a:t>
            </a:r>
          </a:p>
          <a:p>
            <a:pPr eaLnBrk="1" hangingPunct="1">
              <a:spcBef>
                <a:spcPts val="0"/>
              </a:spcBef>
              <a:buFontTx/>
              <a:buNone/>
            </a:pPr>
            <a:r>
              <a:rPr lang="en-US" altLang="zh-CN" sz="2000" dirty="0">
                <a:ea typeface="华文行楷" pitchFamily="2" charset="-122"/>
              </a:rPr>
              <a:t>    if </a:t>
            </a:r>
            <a:r>
              <a:rPr lang="zh-CN" altLang="en-US" sz="2000" dirty="0">
                <a:ea typeface="华文行楷" pitchFamily="2" charset="-122"/>
              </a:rPr>
              <a:t>（</a:t>
            </a:r>
            <a:r>
              <a:rPr lang="en-US" altLang="zh-CN" sz="2000" dirty="0">
                <a:ea typeface="华文行楷" pitchFamily="2" charset="-122"/>
              </a:rPr>
              <a:t>!F[</a:t>
            </a:r>
            <a:r>
              <a:rPr lang="en-US" altLang="zh-CN" sz="2000" dirty="0" err="1">
                <a:ea typeface="华文行楷" pitchFamily="2" charset="-122"/>
              </a:rPr>
              <a:t>P,a</a:t>
            </a:r>
            <a:r>
              <a:rPr lang="en-US" altLang="zh-CN" sz="2000" dirty="0">
                <a:ea typeface="华文行楷" pitchFamily="2" charset="-122"/>
              </a:rPr>
              <a:t>] ) {</a:t>
            </a:r>
          </a:p>
          <a:p>
            <a:pPr eaLnBrk="1" hangingPunct="1">
              <a:spcBef>
                <a:spcPts val="0"/>
              </a:spcBef>
              <a:buFontTx/>
              <a:buNone/>
            </a:pPr>
            <a:r>
              <a:rPr lang="en-US" altLang="zh-CN" sz="2000" dirty="0">
                <a:ea typeface="华文行楷" pitchFamily="2" charset="-122"/>
              </a:rPr>
              <a:t>          F[</a:t>
            </a:r>
            <a:r>
              <a:rPr lang="en-US" altLang="zh-CN" sz="2000" dirty="0" err="1">
                <a:ea typeface="华文行楷" pitchFamily="2" charset="-122"/>
              </a:rPr>
              <a:t>P,a</a:t>
            </a:r>
            <a:r>
              <a:rPr lang="en-US" altLang="zh-CN" sz="2000" dirty="0">
                <a:ea typeface="华文行楷" pitchFamily="2" charset="-122"/>
              </a:rPr>
              <a:t>] = 1; </a:t>
            </a:r>
          </a:p>
          <a:p>
            <a:pPr eaLnBrk="1" hangingPunct="1">
              <a:spcBef>
                <a:spcPts val="0"/>
              </a:spcBef>
              <a:buFontTx/>
              <a:buNone/>
            </a:pPr>
            <a:r>
              <a:rPr lang="en-US" altLang="zh-CN" sz="2000" dirty="0">
                <a:ea typeface="华文行楷" pitchFamily="2" charset="-122"/>
              </a:rPr>
              <a:t>          (</a:t>
            </a:r>
            <a:r>
              <a:rPr lang="en-US" altLang="zh-CN" sz="2000" dirty="0" err="1">
                <a:ea typeface="华文行楷" pitchFamily="2" charset="-122"/>
              </a:rPr>
              <a:t>P,a</a:t>
            </a:r>
            <a:r>
              <a:rPr lang="en-US" altLang="zh-CN" sz="2000" dirty="0">
                <a:ea typeface="华文行楷" pitchFamily="2" charset="-122"/>
              </a:rPr>
              <a:t>)</a:t>
            </a:r>
            <a:r>
              <a:rPr lang="zh-CN" altLang="en-US" sz="2000" dirty="0">
                <a:ea typeface="华文行楷" pitchFamily="2" charset="-122"/>
              </a:rPr>
              <a:t>进栈 </a:t>
            </a:r>
          </a:p>
          <a:p>
            <a:pPr eaLnBrk="1" hangingPunct="1">
              <a:spcBef>
                <a:spcPts val="0"/>
              </a:spcBef>
              <a:buFontTx/>
              <a:buNone/>
            </a:pPr>
            <a:r>
              <a:rPr lang="en-US" altLang="zh-CN" sz="2000" dirty="0">
                <a:ea typeface="华文行楷" pitchFamily="2" charset="-122"/>
              </a:rPr>
              <a:t>     }</a:t>
            </a:r>
          </a:p>
          <a:p>
            <a:pPr eaLnBrk="1" hangingPunct="1">
              <a:spcBef>
                <a:spcPts val="0"/>
              </a:spcBef>
              <a:buFontTx/>
              <a:buNone/>
            </a:pPr>
            <a:r>
              <a:rPr lang="en-US" altLang="zh-CN" sz="2000" dirty="0">
                <a:ea typeface="华文行楷" pitchFamily="2" charset="-122"/>
              </a:rPr>
              <a:t>}</a:t>
            </a:r>
          </a:p>
        </p:txBody>
      </p:sp>
      <p:sp>
        <p:nvSpPr>
          <p:cNvPr id="111622" name="AutoShape 6"/>
          <p:cNvSpPr>
            <a:spLocks noChangeArrowheads="1"/>
          </p:cNvSpPr>
          <p:nvPr/>
        </p:nvSpPr>
        <p:spPr bwMode="auto">
          <a:xfrm>
            <a:off x="6262271" y="887413"/>
            <a:ext cx="1819071" cy="344487"/>
          </a:xfrm>
          <a:prstGeom prst="wedgeRectCallout">
            <a:avLst>
              <a:gd name="adj1" fmla="val -112757"/>
              <a:gd name="adj2" fmla="val 69020"/>
            </a:avLst>
          </a:prstGeom>
          <a:solidFill>
            <a:srgbClr val="FFFFCC"/>
          </a:solidFill>
          <a:ln w="9525">
            <a:solidFill>
              <a:schemeClr val="tx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000" dirty="0">
                <a:ea typeface="华文行楷" pitchFamily="2" charset="-122"/>
              </a:rPr>
              <a:t>对数组初始化</a:t>
            </a:r>
          </a:p>
        </p:txBody>
      </p:sp>
      <p:sp>
        <p:nvSpPr>
          <p:cNvPr id="111623" name="AutoShape 7"/>
          <p:cNvSpPr>
            <a:spLocks noChangeArrowheads="1"/>
          </p:cNvSpPr>
          <p:nvPr/>
        </p:nvSpPr>
        <p:spPr bwMode="auto">
          <a:xfrm>
            <a:off x="7020272" y="2129126"/>
            <a:ext cx="2125316" cy="344488"/>
          </a:xfrm>
          <a:prstGeom prst="wedgeRectCallout">
            <a:avLst>
              <a:gd name="adj1" fmla="val -127980"/>
              <a:gd name="adj2" fmla="val -92241"/>
            </a:avLst>
          </a:prstGeom>
          <a:solidFill>
            <a:srgbClr val="FFFFCC"/>
          </a:solidFill>
          <a:ln w="9525">
            <a:solidFill>
              <a:schemeClr val="tx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000" dirty="0">
                <a:ea typeface="华文行楷" pitchFamily="2" charset="-122"/>
              </a:rPr>
              <a:t>应用第一种情况</a:t>
            </a:r>
            <a:endParaRPr lang="en-US" altLang="zh-CN" sz="2000" dirty="0">
              <a:ea typeface="华文行楷" pitchFamily="2" charset="-122"/>
            </a:endParaRPr>
          </a:p>
        </p:txBody>
      </p:sp>
      <p:sp>
        <p:nvSpPr>
          <p:cNvPr id="111624" name="AutoShape 8"/>
          <p:cNvSpPr>
            <a:spLocks noChangeArrowheads="1"/>
          </p:cNvSpPr>
          <p:nvPr/>
        </p:nvSpPr>
        <p:spPr bwMode="auto">
          <a:xfrm>
            <a:off x="7018684" y="2859782"/>
            <a:ext cx="2125316" cy="346075"/>
          </a:xfrm>
          <a:prstGeom prst="wedgeRectCallout">
            <a:avLst>
              <a:gd name="adj1" fmla="val -109722"/>
              <a:gd name="adj2" fmla="val 27407"/>
            </a:avLst>
          </a:prstGeom>
          <a:solidFill>
            <a:srgbClr val="FFFFCC"/>
          </a:solidFill>
          <a:ln w="9525">
            <a:solidFill>
              <a:schemeClr val="tx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000" dirty="0">
                <a:ea typeface="华文行楷" pitchFamily="2" charset="-122"/>
              </a:rPr>
              <a:t>应用第二种情况</a:t>
            </a:r>
            <a:endParaRPr lang="en-US" altLang="zh-CN" sz="2000" dirty="0">
              <a:ea typeface="华文行楷" pitchFamily="2" charset="-122"/>
            </a:endParaRPr>
          </a:p>
        </p:txBody>
      </p:sp>
    </p:spTree>
    <p:extLst>
      <p:ext uri="{BB962C8B-B14F-4D97-AF65-F5344CB8AC3E}">
        <p14:creationId xmlns:p14="http://schemas.microsoft.com/office/powerpoint/2010/main" val="370334249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1622"/>
                                        </p:tgtEl>
                                        <p:attrNameLst>
                                          <p:attrName>style.visibility</p:attrName>
                                        </p:attrNameLst>
                                      </p:cBhvr>
                                      <p:to>
                                        <p:strVal val="visible"/>
                                      </p:to>
                                    </p:set>
                                  </p:childTnLst>
                                  <p:subTnLst>
                                    <p:set>
                                      <p:cBhvr override="childStyle">
                                        <p:cTn dur="1" fill="hold" display="0" masterRel="nextClick" afterEffect="1"/>
                                        <p:tgtEl>
                                          <p:spTgt spid="111622"/>
                                        </p:tgtEl>
                                        <p:attrNameLst>
                                          <p:attrName>style.visibility</p:attrName>
                                        </p:attrNameLst>
                                      </p:cBhvr>
                                      <p:to>
                                        <p:strVal val="hidden"/>
                                      </p:to>
                                    </p:set>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620"/>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11623"/>
                                        </p:tgtEl>
                                        <p:attrNameLst>
                                          <p:attrName>style.visibility</p:attrName>
                                        </p:attrNameLst>
                                      </p:cBhvr>
                                      <p:to>
                                        <p:strVal val="visible"/>
                                      </p:to>
                                    </p:set>
                                  </p:childTnLst>
                                  <p:subTnLst>
                                    <p:set>
                                      <p:cBhvr override="childStyle">
                                        <p:cTn dur="1" fill="hold" display="0" masterRel="nextClick" afterEffect="1"/>
                                        <p:tgtEl>
                                          <p:spTgt spid="111623"/>
                                        </p:tgtEl>
                                        <p:attrNameLst>
                                          <p:attrName>style.visibility</p:attrName>
                                        </p:attrNameLst>
                                      </p:cBhvr>
                                      <p:to>
                                        <p:strVal val="hidden"/>
                                      </p:to>
                                    </p:set>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116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20" grpId="0" animBg="1"/>
      <p:bldP spid="111622" grpId="0" animBg="1" autoUpdateAnimBg="0"/>
      <p:bldP spid="111623" grpId="0" animBg="1" autoUpdateAnimBg="0"/>
      <p:bldP spid="111624" grpId="0" animBg="1" autoUpdateAnimBg="0"/>
    </p:bldLst>
  </p:timing>
</p:sld>
</file>

<file path=ppt/slides/slide1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5650" name="Rectangle 2"/>
          <p:cNvSpPr>
            <a:spLocks noGrp="1" noChangeArrowheads="1"/>
          </p:cNvSpPr>
          <p:nvPr>
            <p:ph type="title"/>
          </p:nvPr>
        </p:nvSpPr>
        <p:spPr>
          <a:xfrm>
            <a:off x="685800" y="487363"/>
            <a:ext cx="7772400" cy="590550"/>
          </a:xfrm>
        </p:spPr>
        <p:txBody>
          <a:bodyPr>
            <a:normAutofit fontScale="90000"/>
          </a:bodyPr>
          <a:lstStyle/>
          <a:p>
            <a:pPr eaLnBrk="1" hangingPunct="1"/>
            <a:r>
              <a:rPr lang="zh-CN" altLang="en-US" b="1">
                <a:solidFill>
                  <a:schemeClr val="tx1"/>
                </a:solidFill>
                <a:latin typeface="宋体" pitchFamily="2" charset="-122"/>
                <a:ea typeface="隶书" pitchFamily="49" charset="-122"/>
              </a:rPr>
              <a:t>练习</a:t>
            </a:r>
          </a:p>
        </p:txBody>
      </p:sp>
      <p:sp>
        <p:nvSpPr>
          <p:cNvPr id="126979" name="Rectangle 3"/>
          <p:cNvSpPr>
            <a:spLocks noGrp="1" noChangeArrowheads="1"/>
          </p:cNvSpPr>
          <p:nvPr>
            <p:ph type="body" idx="1"/>
          </p:nvPr>
        </p:nvSpPr>
        <p:spPr>
          <a:xfrm>
            <a:off x="4167188" y="1941513"/>
            <a:ext cx="4246562" cy="866775"/>
          </a:xfrm>
          <a:solidFill>
            <a:schemeClr val="bg1"/>
          </a:solidFill>
        </p:spPr>
        <p:txBody>
          <a:bodyPr>
            <a:normAutofit lnSpcReduction="10000"/>
          </a:bodyPr>
          <a:lstStyle/>
          <a:p>
            <a:pPr eaLnBrk="1" hangingPunct="1">
              <a:lnSpc>
                <a:spcPct val="90000"/>
              </a:lnSpc>
            </a:pPr>
            <a:r>
              <a:rPr lang="en-US" altLang="zh-CN">
                <a:solidFill>
                  <a:srgbClr val="0000FF"/>
                </a:solidFill>
              </a:rPr>
              <a:t>LastVT(S) = {a,)}</a:t>
            </a:r>
          </a:p>
          <a:p>
            <a:pPr eaLnBrk="1" hangingPunct="1">
              <a:lnSpc>
                <a:spcPct val="90000"/>
              </a:lnSpc>
            </a:pPr>
            <a:r>
              <a:rPr lang="en-US" altLang="zh-CN">
                <a:solidFill>
                  <a:srgbClr val="0000FF"/>
                </a:solidFill>
              </a:rPr>
              <a:t>LastVT(T) = {a,), , }</a:t>
            </a:r>
          </a:p>
        </p:txBody>
      </p:sp>
      <p:sp>
        <p:nvSpPr>
          <p:cNvPr id="155652" name="Rectangle 4"/>
          <p:cNvSpPr>
            <a:spLocks noChangeArrowheads="1"/>
          </p:cNvSpPr>
          <p:nvPr/>
        </p:nvSpPr>
        <p:spPr bwMode="auto">
          <a:xfrm>
            <a:off x="330200" y="3103563"/>
            <a:ext cx="2787650" cy="879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zh-CN" altLang="en-US">
                <a:ea typeface="华文行楷" pitchFamily="2" charset="-122"/>
              </a:rPr>
              <a:t>计算</a:t>
            </a:r>
            <a:r>
              <a:rPr lang="en-US" altLang="zh-CN">
                <a:ea typeface="华文行楷" pitchFamily="2" charset="-122"/>
              </a:rPr>
              <a:t>LastVT</a:t>
            </a:r>
          </a:p>
        </p:txBody>
      </p:sp>
      <p:sp>
        <p:nvSpPr>
          <p:cNvPr id="155653" name="Text Box 5"/>
          <p:cNvSpPr txBox="1">
            <a:spLocks noChangeArrowheads="1"/>
          </p:cNvSpPr>
          <p:nvPr/>
        </p:nvSpPr>
        <p:spPr bwMode="auto">
          <a:xfrm>
            <a:off x="381000" y="1422400"/>
            <a:ext cx="3636963"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a:ea typeface="华文行楷" pitchFamily="2" charset="-122"/>
              </a:rPr>
              <a:t>给定文法</a:t>
            </a:r>
            <a:r>
              <a:rPr lang="en-US" altLang="zh-CN">
                <a:ea typeface="华文行楷" pitchFamily="2" charset="-122"/>
              </a:rPr>
              <a:t>G[S]</a:t>
            </a:r>
            <a:r>
              <a:rPr lang="zh-CN" altLang="en-US">
                <a:ea typeface="华文行楷" pitchFamily="2" charset="-122"/>
              </a:rPr>
              <a:t>：</a:t>
            </a:r>
          </a:p>
        </p:txBody>
      </p:sp>
      <p:sp>
        <p:nvSpPr>
          <p:cNvPr id="155654" name="Text Box 6"/>
          <p:cNvSpPr txBox="1">
            <a:spLocks noChangeArrowheads="1"/>
          </p:cNvSpPr>
          <p:nvPr/>
        </p:nvSpPr>
        <p:spPr bwMode="auto">
          <a:xfrm>
            <a:off x="546100" y="1946275"/>
            <a:ext cx="2279650" cy="11684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S </a:t>
            </a:r>
            <a:r>
              <a:rPr lang="en-US" altLang="zh-CN" sz="2800">
                <a:ea typeface="华文行楷" pitchFamily="2" charset="-122"/>
                <a:sym typeface="Wingdings" pitchFamily="2" charset="2"/>
              </a:rPr>
              <a:t> a | (T)</a:t>
            </a:r>
          </a:p>
          <a:p>
            <a:pPr algn="ctr" eaLnBrk="1" hangingPunct="1">
              <a:spcBef>
                <a:spcPct val="50000"/>
              </a:spcBef>
              <a:buFontTx/>
              <a:buNone/>
            </a:pPr>
            <a:r>
              <a:rPr lang="en-US" altLang="zh-CN" sz="2800">
                <a:ea typeface="华文行楷" pitchFamily="2" charset="-122"/>
                <a:sym typeface="Wingdings" pitchFamily="2" charset="2"/>
              </a:rPr>
              <a:t>T  T,S | S </a:t>
            </a:r>
            <a:endParaRPr lang="en-US" altLang="zh-CN" sz="2800">
              <a:ea typeface="华文行楷" pitchFamily="2" charset="-122"/>
            </a:endParaRPr>
          </a:p>
        </p:txBody>
      </p:sp>
    </p:spTree>
    <p:extLst>
      <p:ext uri="{BB962C8B-B14F-4D97-AF65-F5344CB8AC3E}">
        <p14:creationId xmlns:p14="http://schemas.microsoft.com/office/powerpoint/2010/main" val="15541923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6979">
                                            <p:txEl>
                                              <p:charRg st="4294967295" end="429496729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979" grpId="0" autoUpdateAnimBg="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3"/>
          <p:cNvSpPr>
            <a:spLocks noGrp="1" noChangeArrowheads="1"/>
          </p:cNvSpPr>
          <p:nvPr>
            <p:ph type="body" idx="1"/>
          </p:nvPr>
        </p:nvSpPr>
        <p:spPr>
          <a:xfrm>
            <a:off x="665163" y="195263"/>
            <a:ext cx="7889875" cy="1604962"/>
          </a:xfrm>
        </p:spPr>
        <p:txBody>
          <a:bodyPr>
            <a:normAutofit/>
          </a:bodyPr>
          <a:lstStyle/>
          <a:p>
            <a:pPr eaLnBrk="1" hangingPunct="1">
              <a:lnSpc>
                <a:spcPct val="90000"/>
              </a:lnSpc>
            </a:pPr>
            <a:r>
              <a:rPr lang="en-US" altLang="zh-CN" sz="3600" b="1" dirty="0">
                <a:solidFill>
                  <a:srgbClr val="FF0066"/>
                </a:solidFill>
                <a:latin typeface="宋体" pitchFamily="2" charset="-122"/>
              </a:rPr>
              <a:t>3.</a:t>
            </a:r>
            <a:r>
              <a:rPr lang="zh-CN" altLang="en-US" sz="3600" b="1" dirty="0">
                <a:solidFill>
                  <a:srgbClr val="FF0066"/>
                </a:solidFill>
                <a:latin typeface="宋体" pitchFamily="2" charset="-122"/>
              </a:rPr>
              <a:t>构造优先关系表的算法</a:t>
            </a:r>
          </a:p>
          <a:p>
            <a:pPr lvl="1" eaLnBrk="1" hangingPunct="1">
              <a:lnSpc>
                <a:spcPct val="90000"/>
              </a:lnSpc>
            </a:pPr>
            <a:endParaRPr lang="en-US" altLang="zh-CN" sz="2200" dirty="0">
              <a:latin typeface="宋体" pitchFamily="2" charset="-122"/>
              <a:ea typeface="宋体" panose="02010600030101010101" pitchFamily="2" charset="-122"/>
            </a:endParaRPr>
          </a:p>
          <a:p>
            <a:pPr lvl="1" eaLnBrk="1" hangingPunct="1">
              <a:lnSpc>
                <a:spcPct val="90000"/>
              </a:lnSpc>
            </a:pPr>
            <a:r>
              <a:rPr lang="zh-CN" altLang="en-US" sz="2200" dirty="0">
                <a:latin typeface="宋体" pitchFamily="2" charset="-122"/>
                <a:ea typeface="宋体" panose="02010600030101010101" pitchFamily="2" charset="-122"/>
              </a:rPr>
              <a:t>如果每个非终结符的</a:t>
            </a:r>
            <a:r>
              <a:rPr lang="en-US" altLang="zh-CN" sz="2200" dirty="0" err="1">
                <a:latin typeface="宋体" pitchFamily="2" charset="-122"/>
                <a:ea typeface="宋体" panose="02010600030101010101" pitchFamily="2" charset="-122"/>
              </a:rPr>
              <a:t>FirstVT</a:t>
            </a:r>
            <a:r>
              <a:rPr lang="zh-CN" altLang="en-US" sz="2200" dirty="0">
                <a:latin typeface="宋体" pitchFamily="2" charset="-122"/>
                <a:ea typeface="宋体" panose="02010600030101010101" pitchFamily="2" charset="-122"/>
              </a:rPr>
              <a:t>和</a:t>
            </a:r>
            <a:r>
              <a:rPr lang="en-US" altLang="zh-CN" sz="2200" dirty="0" err="1">
                <a:latin typeface="宋体" pitchFamily="2" charset="-122"/>
                <a:ea typeface="宋体" panose="02010600030101010101" pitchFamily="2" charset="-122"/>
              </a:rPr>
              <a:t>LastVT</a:t>
            </a:r>
            <a:r>
              <a:rPr lang="zh-CN" altLang="en-US" sz="2200" dirty="0">
                <a:latin typeface="宋体" pitchFamily="2" charset="-122"/>
                <a:ea typeface="宋体" panose="02010600030101010101" pitchFamily="2" charset="-122"/>
              </a:rPr>
              <a:t>集均已知</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则可根据定义</a:t>
            </a:r>
            <a:r>
              <a:rPr lang="zh-CN" altLang="en-US" sz="2200" dirty="0">
                <a:solidFill>
                  <a:schemeClr val="accent2"/>
                </a:solidFill>
                <a:latin typeface="宋体" pitchFamily="2" charset="-122"/>
                <a:ea typeface="宋体" panose="02010600030101010101" pitchFamily="2" charset="-122"/>
              </a:rPr>
              <a:t>构造优先关系表</a:t>
            </a:r>
            <a:r>
              <a:rPr lang="zh-CN" altLang="en-US" sz="2200" dirty="0">
                <a:latin typeface="宋体" pitchFamily="2" charset="-122"/>
                <a:ea typeface="宋体" panose="02010600030101010101" pitchFamily="2" charset="-122"/>
              </a:rPr>
              <a:t>。</a:t>
            </a:r>
          </a:p>
        </p:txBody>
      </p:sp>
      <p:grpSp>
        <p:nvGrpSpPr>
          <p:cNvPr id="2" name="Group 29"/>
          <p:cNvGrpSpPr>
            <a:grpSpLocks/>
          </p:cNvGrpSpPr>
          <p:nvPr/>
        </p:nvGrpSpPr>
        <p:grpSpPr bwMode="auto">
          <a:xfrm>
            <a:off x="517834" y="1939698"/>
            <a:ext cx="8229600" cy="3008313"/>
            <a:chOff x="324" y="1450"/>
            <a:chExt cx="5184" cy="2527"/>
          </a:xfrm>
        </p:grpSpPr>
        <p:sp>
          <p:nvSpPr>
            <p:cNvPr id="156676" name="Rectangle 22"/>
            <p:cNvSpPr>
              <a:spLocks noChangeArrowheads="1"/>
            </p:cNvSpPr>
            <p:nvPr/>
          </p:nvSpPr>
          <p:spPr bwMode="auto">
            <a:xfrm>
              <a:off x="324" y="1450"/>
              <a:ext cx="5184" cy="2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r>
                <a:rPr lang="zh-CN" altLang="en-US" sz="2200" dirty="0">
                  <a:latin typeface="宋体" pitchFamily="2" charset="-122"/>
                </a:rPr>
                <a:t>构造思路：</a:t>
              </a:r>
            </a:p>
            <a:p>
              <a:pPr lvl="2" eaLnBrk="1" hangingPunct="1"/>
              <a:r>
                <a:rPr lang="en-US" altLang="zh-CN" sz="2200" dirty="0">
                  <a:latin typeface="宋体" panose="02010600030101010101" pitchFamily="2" charset="-122"/>
                </a:rPr>
                <a:t>(1) </a:t>
              </a:r>
              <a:r>
                <a:rPr lang="zh-CN" altLang="en-US" sz="2200" dirty="0">
                  <a:latin typeface="宋体" panose="02010600030101010101" pitchFamily="2" charset="-122"/>
                </a:rPr>
                <a:t>若产生式是形如：</a:t>
              </a:r>
              <a:r>
                <a:rPr lang="en-US" altLang="zh-CN" sz="2200" dirty="0">
                  <a:latin typeface="宋体" panose="02010600030101010101" pitchFamily="2" charset="-122"/>
                </a:rPr>
                <a:t>P→…ab… </a:t>
              </a:r>
              <a:r>
                <a:rPr lang="zh-CN" altLang="en-US" sz="2200" dirty="0">
                  <a:latin typeface="宋体" panose="02010600030101010101" pitchFamily="2" charset="-122"/>
                </a:rPr>
                <a:t>或 </a:t>
              </a:r>
              <a:r>
                <a:rPr lang="en-US" altLang="zh-CN" sz="2200" dirty="0">
                  <a:latin typeface="宋体" panose="02010600030101010101" pitchFamily="2" charset="-122"/>
                </a:rPr>
                <a:t>P→…</a:t>
              </a:r>
              <a:r>
                <a:rPr lang="en-US" altLang="zh-CN" sz="2200" dirty="0" err="1">
                  <a:latin typeface="宋体" panose="02010600030101010101" pitchFamily="2" charset="-122"/>
                </a:rPr>
                <a:t>aQb</a:t>
              </a:r>
              <a:r>
                <a:rPr lang="en-US" altLang="zh-CN" sz="2200" dirty="0">
                  <a:latin typeface="宋体" panose="02010600030101010101" pitchFamily="2" charset="-122"/>
                </a:rPr>
                <a:t>…</a:t>
              </a:r>
              <a:r>
                <a:rPr lang="zh-CN" altLang="en-US" sz="2200" dirty="0">
                  <a:latin typeface="宋体" panose="02010600030101010101" pitchFamily="2" charset="-122"/>
                </a:rPr>
                <a:t>的形式，则有</a:t>
              </a:r>
              <a:r>
                <a:rPr lang="en-US" altLang="zh-CN" sz="2200" dirty="0">
                  <a:latin typeface="宋体" panose="02010600030101010101" pitchFamily="2" charset="-122"/>
                </a:rPr>
                <a:t>a     b</a:t>
              </a:r>
            </a:p>
            <a:p>
              <a:pPr lvl="2" eaLnBrk="1" hangingPunct="1"/>
              <a:r>
                <a:rPr lang="en-US" altLang="zh-CN" sz="2200" dirty="0">
                  <a:latin typeface="宋体" panose="02010600030101010101" pitchFamily="2" charset="-122"/>
                </a:rPr>
                <a:t>(2)</a:t>
              </a:r>
              <a:r>
                <a:rPr lang="zh-CN" altLang="en-US" sz="2200" dirty="0">
                  <a:latin typeface="宋体" pitchFamily="2" charset="-122"/>
                </a:rPr>
                <a:t>若产生式右部是</a:t>
              </a:r>
              <a:r>
                <a:rPr lang="en-US" altLang="zh-CN" sz="2200" dirty="0">
                  <a:latin typeface="宋体" pitchFamily="2" charset="-122"/>
                </a:rPr>
                <a:t>...</a:t>
              </a:r>
              <a:r>
                <a:rPr lang="en-US" altLang="zh-CN" sz="2200" dirty="0" err="1">
                  <a:latin typeface="宋体" pitchFamily="2" charset="-122"/>
                </a:rPr>
                <a:t>aR.</a:t>
              </a:r>
              <a:r>
                <a:rPr lang="en-US" altLang="zh-CN" sz="2200" dirty="0">
                  <a:latin typeface="宋体" pitchFamily="2" charset="-122"/>
                </a:rPr>
                <a:t>..</a:t>
              </a:r>
              <a:r>
                <a:rPr lang="zh-CN" altLang="en-US" sz="2200" dirty="0">
                  <a:latin typeface="宋体" pitchFamily="2" charset="-122"/>
                </a:rPr>
                <a:t>的形式</a:t>
              </a:r>
              <a:r>
                <a:rPr lang="en-US" altLang="zh-CN" sz="2200" dirty="0">
                  <a:latin typeface="宋体" pitchFamily="2" charset="-122"/>
                </a:rPr>
                <a:t>,</a:t>
              </a:r>
              <a:r>
                <a:rPr lang="zh-CN" altLang="en-US" sz="2200" dirty="0">
                  <a:latin typeface="宋体" pitchFamily="2" charset="-122"/>
                </a:rPr>
                <a:t>则对于每个</a:t>
              </a:r>
              <a:r>
                <a:rPr lang="en-US" altLang="zh-CN" sz="2200" dirty="0" err="1">
                  <a:latin typeface="宋体" pitchFamily="2" charset="-122"/>
                </a:rPr>
                <a:t>b∈FirstVT</a:t>
              </a:r>
              <a:r>
                <a:rPr lang="en-US" altLang="zh-CN" sz="2200" dirty="0">
                  <a:latin typeface="宋体" pitchFamily="2" charset="-122"/>
                </a:rPr>
                <a:t>(R)</a:t>
              </a:r>
              <a:r>
                <a:rPr lang="zh-CN" altLang="en-US" sz="2200" dirty="0">
                  <a:latin typeface="宋体" pitchFamily="2" charset="-122"/>
                </a:rPr>
                <a:t>都有</a:t>
              </a:r>
              <a:r>
                <a:rPr lang="en-US" altLang="zh-CN" sz="2200" dirty="0">
                  <a:latin typeface="宋体" pitchFamily="2" charset="-122"/>
                </a:rPr>
                <a:t>a    b</a:t>
              </a:r>
            </a:p>
            <a:p>
              <a:pPr lvl="2"/>
              <a:r>
                <a:rPr lang="en-US" altLang="zh-CN" sz="2200" dirty="0">
                  <a:latin typeface="宋体" pitchFamily="2" charset="-122"/>
                </a:rPr>
                <a:t>(3)</a:t>
              </a:r>
              <a:r>
                <a:rPr lang="zh-CN" altLang="en-US" sz="2200" dirty="0">
                  <a:latin typeface="宋体" pitchFamily="2" charset="-122"/>
                </a:rPr>
                <a:t>若产生式右部有</a:t>
              </a:r>
              <a:r>
                <a:rPr lang="en-US" altLang="zh-CN" sz="2200" dirty="0">
                  <a:latin typeface="宋体" pitchFamily="2" charset="-122"/>
                </a:rPr>
                <a:t>...</a:t>
              </a:r>
              <a:r>
                <a:rPr lang="en-US" altLang="zh-CN" sz="2200" dirty="0" err="1">
                  <a:latin typeface="宋体" pitchFamily="2" charset="-122"/>
                </a:rPr>
                <a:t>Rb</a:t>
              </a:r>
              <a:r>
                <a:rPr lang="en-US" altLang="zh-CN" sz="2200" dirty="0">
                  <a:latin typeface="宋体" pitchFamily="2" charset="-122"/>
                </a:rPr>
                <a:t> ...</a:t>
              </a:r>
              <a:r>
                <a:rPr lang="zh-CN" altLang="en-US" sz="2200" dirty="0">
                  <a:latin typeface="宋体" pitchFamily="2" charset="-122"/>
                </a:rPr>
                <a:t>的形式</a:t>
              </a:r>
              <a:r>
                <a:rPr lang="en-US" altLang="zh-CN" sz="2200" dirty="0">
                  <a:latin typeface="宋体" pitchFamily="2" charset="-122"/>
                </a:rPr>
                <a:t>,</a:t>
              </a:r>
              <a:r>
                <a:rPr lang="zh-CN" altLang="en-US" sz="2200" dirty="0">
                  <a:latin typeface="宋体" pitchFamily="2" charset="-122"/>
                </a:rPr>
                <a:t>则对于每个</a:t>
              </a:r>
              <a:r>
                <a:rPr lang="en-US" altLang="zh-CN" sz="2200" dirty="0" err="1">
                  <a:latin typeface="宋体" pitchFamily="2" charset="-122"/>
                </a:rPr>
                <a:t>a∈LastVT</a:t>
              </a:r>
              <a:r>
                <a:rPr lang="en-US" altLang="zh-CN" sz="2200" dirty="0">
                  <a:latin typeface="宋体" pitchFamily="2" charset="-122"/>
                </a:rPr>
                <a:t>(R)</a:t>
              </a:r>
              <a:r>
                <a:rPr lang="zh-CN" altLang="en-US" sz="2200" dirty="0">
                  <a:latin typeface="宋体" pitchFamily="2" charset="-122"/>
                </a:rPr>
                <a:t>集</a:t>
              </a:r>
              <a:r>
                <a:rPr lang="en-US" altLang="zh-CN" sz="2200" dirty="0">
                  <a:latin typeface="宋体" pitchFamily="2" charset="-122"/>
                </a:rPr>
                <a:t>,</a:t>
              </a:r>
              <a:r>
                <a:rPr lang="zh-CN" altLang="en-US" sz="2200" dirty="0">
                  <a:latin typeface="宋体" pitchFamily="2" charset="-122"/>
                </a:rPr>
                <a:t>都有</a:t>
              </a:r>
              <a:r>
                <a:rPr lang="en-US" altLang="zh-CN" sz="2200" dirty="0">
                  <a:latin typeface="宋体" pitchFamily="2" charset="-122"/>
                </a:rPr>
                <a:t>a    b</a:t>
              </a:r>
            </a:p>
          </p:txBody>
        </p:sp>
        <p:pic>
          <p:nvPicPr>
            <p:cNvPr id="156677" name="Picture 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71" y="3430"/>
              <a:ext cx="21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678" name="Picture 2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1" y="2778"/>
              <a:ext cx="240"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679" name="Picture 2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65" y="2159"/>
              <a:ext cx="28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379803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7698" name="Rectangle 3"/>
          <p:cNvSpPr>
            <a:spLocks noGrp="1" noChangeArrowheads="1"/>
          </p:cNvSpPr>
          <p:nvPr>
            <p:ph type="body" idx="1"/>
          </p:nvPr>
        </p:nvSpPr>
        <p:spPr>
          <a:xfrm>
            <a:off x="0" y="666750"/>
            <a:ext cx="9144000" cy="4353272"/>
          </a:xfrm>
          <a:solidFill>
            <a:schemeClr val="bg1"/>
          </a:solidFill>
          <a:ln w="28575">
            <a:solidFill>
              <a:srgbClr val="0000FF"/>
            </a:solidFill>
            <a:miter lim="800000"/>
            <a:headEnd/>
            <a:tailEnd/>
          </a:ln>
        </p:spPr>
        <p:txBody>
          <a:bodyPr>
            <a:noAutofit/>
          </a:bodyPr>
          <a:lstStyle/>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for </a:t>
            </a:r>
            <a:r>
              <a:rPr lang="zh-CN" altLang="en-US" sz="2200" dirty="0">
                <a:solidFill>
                  <a:srgbClr val="FF0066"/>
                </a:solidFill>
                <a:latin typeface="宋体" panose="02010600030101010101" pitchFamily="2" charset="-122"/>
                <a:ea typeface="宋体" panose="02010600030101010101" pitchFamily="2" charset="-122"/>
              </a:rPr>
              <a:t>每个</a:t>
            </a:r>
            <a:r>
              <a:rPr lang="zh-CN" altLang="en-US" sz="2200" dirty="0">
                <a:latin typeface="宋体" panose="02010600030101010101" pitchFamily="2" charset="-122"/>
                <a:ea typeface="宋体" panose="02010600030101010101" pitchFamily="2" charset="-122"/>
              </a:rPr>
              <a:t>形如</a:t>
            </a:r>
            <a:r>
              <a:rPr lang="en-US" altLang="zh-CN" sz="2200" dirty="0">
                <a:latin typeface="宋体" panose="02010600030101010101" pitchFamily="2" charset="-122"/>
                <a:ea typeface="宋体" panose="02010600030101010101" pitchFamily="2" charset="-122"/>
              </a:rPr>
              <a:t>P</a:t>
            </a:r>
            <a:r>
              <a:rPr lang="en-US" altLang="zh-CN" sz="2200" dirty="0">
                <a:latin typeface="宋体" panose="02010600030101010101" pitchFamily="2" charset="-122"/>
                <a:ea typeface="宋体" panose="02010600030101010101" pitchFamily="2" charset="-122"/>
                <a:sym typeface="Wingdings" pitchFamily="2" charset="2"/>
              </a:rPr>
              <a:t>X</a:t>
            </a:r>
            <a:r>
              <a:rPr lang="en-US" altLang="zh-CN" sz="2200" baseline="-25000" dirty="0">
                <a:latin typeface="宋体" panose="02010600030101010101" pitchFamily="2" charset="-122"/>
                <a:ea typeface="宋体" panose="02010600030101010101" pitchFamily="2" charset="-122"/>
                <a:sym typeface="Wingdings" pitchFamily="2" charset="2"/>
              </a:rPr>
              <a:t>1</a:t>
            </a:r>
            <a:r>
              <a:rPr lang="en-US" altLang="zh-CN" sz="2200" dirty="0">
                <a:latin typeface="宋体" panose="02010600030101010101" pitchFamily="2" charset="-122"/>
                <a:ea typeface="宋体" panose="02010600030101010101" pitchFamily="2" charset="-122"/>
                <a:sym typeface="Wingdings" pitchFamily="2" charset="2"/>
              </a:rPr>
              <a:t>X</a:t>
            </a:r>
            <a:r>
              <a:rPr lang="en-US" altLang="zh-CN" sz="2200" baseline="-25000" dirty="0">
                <a:latin typeface="宋体" panose="02010600030101010101" pitchFamily="2" charset="-122"/>
                <a:ea typeface="宋体" panose="02010600030101010101" pitchFamily="2" charset="-122"/>
                <a:sym typeface="Wingdings" pitchFamily="2" charset="2"/>
              </a:rPr>
              <a:t>2</a:t>
            </a:r>
            <a:r>
              <a:rPr lang="en-US" altLang="zh-CN" sz="2200" dirty="0">
                <a:latin typeface="宋体" panose="02010600030101010101" pitchFamily="2" charset="-122"/>
                <a:ea typeface="宋体" panose="02010600030101010101" pitchFamily="2" charset="-122"/>
                <a:sym typeface="Wingdings" pitchFamily="2" charset="2"/>
              </a:rPr>
              <a:t>…</a:t>
            </a:r>
            <a:r>
              <a:rPr lang="en-US" altLang="zh-CN" sz="2200" dirty="0" err="1">
                <a:latin typeface="宋体" panose="02010600030101010101" pitchFamily="2" charset="-122"/>
                <a:ea typeface="宋体" panose="02010600030101010101" pitchFamily="2" charset="-122"/>
                <a:sym typeface="Wingdings" pitchFamily="2" charset="2"/>
              </a:rPr>
              <a:t>X</a:t>
            </a:r>
            <a:r>
              <a:rPr lang="en-US" altLang="zh-CN" sz="2200" baseline="-25000" dirty="0" err="1">
                <a:latin typeface="宋体" panose="02010600030101010101" pitchFamily="2" charset="-122"/>
                <a:ea typeface="宋体" panose="02010600030101010101" pitchFamily="2" charset="-122"/>
                <a:sym typeface="Wingdings" pitchFamily="2" charset="2"/>
              </a:rPr>
              <a:t>n</a:t>
            </a:r>
            <a:r>
              <a:rPr lang="zh-CN" altLang="en-US" sz="2200" dirty="0">
                <a:latin typeface="宋体" panose="02010600030101010101" pitchFamily="2" charset="-122"/>
                <a:ea typeface="宋体" panose="02010600030101010101" pitchFamily="2" charset="-122"/>
                <a:sym typeface="Wingdings" pitchFamily="2" charset="2"/>
              </a:rPr>
              <a:t>的</a:t>
            </a:r>
            <a:r>
              <a:rPr lang="zh-CN" altLang="en-US" sz="2200" dirty="0">
                <a:solidFill>
                  <a:srgbClr val="FF0066"/>
                </a:solidFill>
                <a:latin typeface="宋体" panose="02010600030101010101" pitchFamily="2" charset="-122"/>
                <a:ea typeface="宋体" panose="02010600030101010101" pitchFamily="2" charset="-122"/>
              </a:rPr>
              <a:t>产生式</a:t>
            </a:r>
            <a:r>
              <a:rPr lang="zh-CN" altLang="en-US" sz="2200" dirty="0">
                <a:latin typeface="宋体" panose="02010600030101010101" pitchFamily="2" charset="-122"/>
                <a:ea typeface="宋体" panose="02010600030101010101" pitchFamily="2" charset="-122"/>
              </a:rPr>
              <a:t>  </a:t>
            </a:r>
            <a:r>
              <a:rPr lang="en-US" altLang="zh-CN" sz="2200" dirty="0">
                <a:latin typeface="宋体" panose="02010600030101010101" pitchFamily="2" charset="-122"/>
                <a:ea typeface="宋体" panose="02010600030101010101" pitchFamily="2" charset="-122"/>
              </a:rPr>
              <a:t>do</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for </a:t>
            </a:r>
            <a:r>
              <a:rPr lang="en-US" altLang="zh-CN" sz="2200" dirty="0" err="1">
                <a:latin typeface="宋体" panose="02010600030101010101" pitchFamily="2" charset="-122"/>
                <a:ea typeface="宋体" panose="02010600030101010101" pitchFamily="2" charset="-122"/>
              </a:rPr>
              <a:t>i</a:t>
            </a:r>
            <a:r>
              <a:rPr lang="en-US" altLang="zh-CN" sz="2200" dirty="0">
                <a:latin typeface="宋体" panose="02010600030101010101" pitchFamily="2" charset="-122"/>
                <a:ea typeface="宋体" panose="02010600030101010101" pitchFamily="2" charset="-122"/>
              </a:rPr>
              <a:t> =1 to n-1 do</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begin</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a:t>
            </a:r>
            <a:r>
              <a:rPr lang="en-US" altLang="zh-CN" sz="2200" dirty="0">
                <a:solidFill>
                  <a:schemeClr val="accent2"/>
                </a:solidFill>
                <a:latin typeface="宋体" panose="02010600030101010101" pitchFamily="2" charset="-122"/>
                <a:ea typeface="宋体" panose="02010600030101010101" pitchFamily="2" charset="-122"/>
              </a:rPr>
              <a:t>if X</a:t>
            </a:r>
            <a:r>
              <a:rPr lang="en-US" altLang="zh-CN" sz="2200" baseline="-25000" dirty="0">
                <a:solidFill>
                  <a:schemeClr val="accent2"/>
                </a:solidFill>
                <a:latin typeface="宋体" panose="02010600030101010101" pitchFamily="2" charset="-122"/>
                <a:ea typeface="宋体" panose="02010600030101010101" pitchFamily="2" charset="-122"/>
              </a:rPr>
              <a:t>i</a:t>
            </a:r>
            <a:r>
              <a:rPr lang="zh-CN" altLang="en-US" sz="2200" dirty="0">
                <a:solidFill>
                  <a:schemeClr val="accent2"/>
                </a:solidFill>
                <a:latin typeface="宋体" panose="02010600030101010101" pitchFamily="2" charset="-122"/>
                <a:ea typeface="宋体" panose="02010600030101010101" pitchFamily="2" charset="-122"/>
              </a:rPr>
              <a:t>和</a:t>
            </a:r>
            <a:r>
              <a:rPr lang="en-US" altLang="zh-CN" sz="2200" dirty="0">
                <a:solidFill>
                  <a:schemeClr val="accent2"/>
                </a:solidFill>
                <a:latin typeface="宋体" panose="02010600030101010101" pitchFamily="2" charset="-122"/>
                <a:ea typeface="宋体" panose="02010600030101010101" pitchFamily="2" charset="-122"/>
              </a:rPr>
              <a:t>X</a:t>
            </a:r>
            <a:r>
              <a:rPr lang="en-US" altLang="zh-CN" sz="2200" baseline="-25000" dirty="0">
                <a:solidFill>
                  <a:schemeClr val="accent2"/>
                </a:solidFill>
                <a:latin typeface="宋体" panose="02010600030101010101" pitchFamily="2" charset="-122"/>
                <a:ea typeface="宋体" panose="02010600030101010101" pitchFamily="2" charset="-122"/>
              </a:rPr>
              <a:t>i+1</a:t>
            </a:r>
            <a:r>
              <a:rPr lang="zh-CN" altLang="en-US" sz="2200" dirty="0">
                <a:solidFill>
                  <a:schemeClr val="accent2"/>
                </a:solidFill>
                <a:latin typeface="宋体" panose="02010600030101010101" pitchFamily="2" charset="-122"/>
                <a:ea typeface="宋体" panose="02010600030101010101" pitchFamily="2" charset="-122"/>
              </a:rPr>
              <a:t>都是终结符 </a:t>
            </a:r>
            <a:r>
              <a:rPr lang="en-US" altLang="zh-CN" sz="2200" dirty="0">
                <a:solidFill>
                  <a:schemeClr val="accent2"/>
                </a:solidFill>
                <a:latin typeface="宋体" panose="02010600030101010101" pitchFamily="2" charset="-122"/>
                <a:ea typeface="宋体" panose="02010600030101010101" pitchFamily="2" charset="-122"/>
              </a:rPr>
              <a:t>then </a:t>
            </a:r>
          </a:p>
          <a:p>
            <a:pPr eaLnBrk="1" hangingPunct="1">
              <a:lnSpc>
                <a:spcPct val="90000"/>
              </a:lnSpc>
              <a:spcBef>
                <a:spcPct val="0"/>
              </a:spcBef>
              <a:buFontTx/>
              <a:buNone/>
            </a:pPr>
            <a:r>
              <a:rPr lang="en-US" altLang="zh-CN" sz="2200" dirty="0">
                <a:solidFill>
                  <a:schemeClr val="accent2"/>
                </a:solidFill>
                <a:latin typeface="宋体" panose="02010600030101010101" pitchFamily="2" charset="-122"/>
                <a:ea typeface="宋体" panose="02010600030101010101" pitchFamily="2" charset="-122"/>
              </a:rPr>
              <a:t>			  X</a:t>
            </a:r>
            <a:r>
              <a:rPr lang="en-US" altLang="zh-CN" sz="2200" baseline="-25000" dirty="0">
                <a:solidFill>
                  <a:schemeClr val="accent2"/>
                </a:solidFill>
                <a:latin typeface="宋体" panose="02010600030101010101" pitchFamily="2" charset="-122"/>
                <a:ea typeface="宋体" panose="02010600030101010101" pitchFamily="2" charset="-122"/>
              </a:rPr>
              <a:t>i</a:t>
            </a:r>
            <a:r>
              <a:rPr lang="en-US" altLang="zh-CN" sz="2200" dirty="0">
                <a:solidFill>
                  <a:schemeClr val="accent2"/>
                </a:solidFill>
                <a:latin typeface="宋体" panose="02010600030101010101" pitchFamily="2" charset="-122"/>
                <a:ea typeface="宋体" panose="02010600030101010101" pitchFamily="2" charset="-122"/>
              </a:rPr>
              <a:t>   = X</a:t>
            </a:r>
            <a:r>
              <a:rPr lang="en-US" altLang="zh-CN" sz="2200" baseline="-25000" dirty="0">
                <a:solidFill>
                  <a:schemeClr val="accent2"/>
                </a:solidFill>
                <a:latin typeface="宋体" panose="02010600030101010101" pitchFamily="2" charset="-122"/>
                <a:ea typeface="宋体" panose="02010600030101010101" pitchFamily="2" charset="-122"/>
              </a:rPr>
              <a:t>i+1</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a:t>
            </a:r>
            <a:r>
              <a:rPr lang="en-US" altLang="zh-CN" sz="2200" dirty="0">
                <a:solidFill>
                  <a:srgbClr val="CC00FF"/>
                </a:solidFill>
                <a:latin typeface="宋体" panose="02010600030101010101" pitchFamily="2" charset="-122"/>
                <a:ea typeface="宋体" panose="02010600030101010101" pitchFamily="2" charset="-122"/>
              </a:rPr>
              <a:t>if </a:t>
            </a:r>
            <a:r>
              <a:rPr lang="en-US" altLang="zh-CN" sz="2200" dirty="0" err="1">
                <a:solidFill>
                  <a:srgbClr val="CC00FF"/>
                </a:solidFill>
                <a:latin typeface="宋体" panose="02010600030101010101" pitchFamily="2" charset="-122"/>
                <a:ea typeface="宋体" panose="02010600030101010101" pitchFamily="2" charset="-122"/>
              </a:rPr>
              <a:t>i</a:t>
            </a:r>
            <a:r>
              <a:rPr lang="en-US" altLang="zh-CN" sz="2200" dirty="0">
                <a:solidFill>
                  <a:srgbClr val="CC00FF"/>
                </a:solidFill>
                <a:latin typeface="宋体" panose="02010600030101010101" pitchFamily="2" charset="-122"/>
                <a:ea typeface="宋体" panose="02010600030101010101" pitchFamily="2" charset="-122"/>
              </a:rPr>
              <a:t>&lt;= n-2, X</a:t>
            </a:r>
            <a:r>
              <a:rPr lang="en-US" altLang="zh-CN" sz="2200" baseline="-25000" dirty="0">
                <a:solidFill>
                  <a:srgbClr val="CC00FF"/>
                </a:solidFill>
                <a:latin typeface="宋体" panose="02010600030101010101" pitchFamily="2" charset="-122"/>
                <a:ea typeface="宋体" panose="02010600030101010101" pitchFamily="2" charset="-122"/>
              </a:rPr>
              <a:t>i</a:t>
            </a:r>
            <a:r>
              <a:rPr lang="zh-CN" altLang="en-US" sz="2200" dirty="0">
                <a:solidFill>
                  <a:srgbClr val="CC00FF"/>
                </a:solidFill>
                <a:latin typeface="宋体" panose="02010600030101010101" pitchFamily="2" charset="-122"/>
                <a:ea typeface="宋体" panose="02010600030101010101" pitchFamily="2" charset="-122"/>
              </a:rPr>
              <a:t>和</a:t>
            </a:r>
            <a:r>
              <a:rPr lang="en-US" altLang="zh-CN" sz="2200" dirty="0">
                <a:solidFill>
                  <a:srgbClr val="CC00FF"/>
                </a:solidFill>
                <a:latin typeface="宋体" panose="02010600030101010101" pitchFamily="2" charset="-122"/>
                <a:ea typeface="宋体" panose="02010600030101010101" pitchFamily="2" charset="-122"/>
              </a:rPr>
              <a:t>X</a:t>
            </a:r>
            <a:r>
              <a:rPr lang="en-US" altLang="zh-CN" sz="2200" baseline="-25000" dirty="0">
                <a:solidFill>
                  <a:srgbClr val="CC00FF"/>
                </a:solidFill>
                <a:latin typeface="宋体" panose="02010600030101010101" pitchFamily="2" charset="-122"/>
                <a:ea typeface="宋体" panose="02010600030101010101" pitchFamily="2" charset="-122"/>
              </a:rPr>
              <a:t>i+2</a:t>
            </a:r>
            <a:r>
              <a:rPr lang="zh-CN" altLang="en-US" sz="2200" dirty="0">
                <a:solidFill>
                  <a:srgbClr val="CC00FF"/>
                </a:solidFill>
                <a:latin typeface="宋体" panose="02010600030101010101" pitchFamily="2" charset="-122"/>
                <a:ea typeface="宋体" panose="02010600030101010101" pitchFamily="2" charset="-122"/>
              </a:rPr>
              <a:t>是终结符</a:t>
            </a:r>
            <a:r>
              <a:rPr lang="en-US" altLang="zh-CN" sz="2200" dirty="0">
                <a:solidFill>
                  <a:srgbClr val="CC00FF"/>
                </a:solidFill>
                <a:latin typeface="宋体" panose="02010600030101010101" pitchFamily="2" charset="-122"/>
                <a:ea typeface="宋体" panose="02010600030101010101" pitchFamily="2" charset="-122"/>
              </a:rPr>
              <a:t>, </a:t>
            </a:r>
            <a:r>
              <a:rPr lang="zh-CN" altLang="en-US" sz="2200" dirty="0">
                <a:solidFill>
                  <a:srgbClr val="CC00FF"/>
                </a:solidFill>
                <a:latin typeface="宋体" panose="02010600030101010101" pitchFamily="2" charset="-122"/>
                <a:ea typeface="宋体" panose="02010600030101010101" pitchFamily="2" charset="-122"/>
              </a:rPr>
              <a:t>但</a:t>
            </a:r>
            <a:r>
              <a:rPr lang="en-US" altLang="zh-CN" sz="2200" dirty="0">
                <a:solidFill>
                  <a:srgbClr val="CC00FF"/>
                </a:solidFill>
                <a:latin typeface="宋体" panose="02010600030101010101" pitchFamily="2" charset="-122"/>
                <a:ea typeface="宋体" panose="02010600030101010101" pitchFamily="2" charset="-122"/>
              </a:rPr>
              <a:t>X</a:t>
            </a:r>
            <a:r>
              <a:rPr lang="en-US" altLang="zh-CN" sz="2200" baseline="-25000" dirty="0">
                <a:solidFill>
                  <a:srgbClr val="CC00FF"/>
                </a:solidFill>
                <a:latin typeface="宋体" panose="02010600030101010101" pitchFamily="2" charset="-122"/>
                <a:ea typeface="宋体" panose="02010600030101010101" pitchFamily="2" charset="-122"/>
              </a:rPr>
              <a:t>i+1</a:t>
            </a:r>
            <a:r>
              <a:rPr lang="zh-CN" altLang="en-US" sz="2200" dirty="0">
                <a:solidFill>
                  <a:srgbClr val="CC00FF"/>
                </a:solidFill>
                <a:latin typeface="宋体" panose="02010600030101010101" pitchFamily="2" charset="-122"/>
                <a:ea typeface="宋体" panose="02010600030101010101" pitchFamily="2" charset="-122"/>
              </a:rPr>
              <a:t>为非终结符 </a:t>
            </a:r>
            <a:r>
              <a:rPr lang="en-US" altLang="zh-CN" sz="2200" dirty="0">
                <a:solidFill>
                  <a:srgbClr val="CC00FF"/>
                </a:solidFill>
                <a:latin typeface="宋体" panose="02010600030101010101" pitchFamily="2" charset="-122"/>
                <a:ea typeface="宋体" panose="02010600030101010101" pitchFamily="2" charset="-122"/>
              </a:rPr>
              <a:t>then  		  X</a:t>
            </a:r>
            <a:r>
              <a:rPr lang="en-US" altLang="zh-CN" sz="2200" baseline="-25000" dirty="0">
                <a:solidFill>
                  <a:srgbClr val="CC00FF"/>
                </a:solidFill>
                <a:latin typeface="宋体" panose="02010600030101010101" pitchFamily="2" charset="-122"/>
                <a:ea typeface="宋体" panose="02010600030101010101" pitchFamily="2" charset="-122"/>
              </a:rPr>
              <a:t>i</a:t>
            </a:r>
            <a:r>
              <a:rPr lang="en-US" altLang="zh-CN" sz="2200" dirty="0">
                <a:solidFill>
                  <a:srgbClr val="CC00FF"/>
                </a:solidFill>
                <a:latin typeface="宋体" panose="02010600030101010101" pitchFamily="2" charset="-122"/>
                <a:ea typeface="宋体" panose="02010600030101010101" pitchFamily="2" charset="-122"/>
              </a:rPr>
              <a:t>  =  X</a:t>
            </a:r>
            <a:r>
              <a:rPr lang="en-US" altLang="zh-CN" sz="2200" baseline="-25000" dirty="0">
                <a:solidFill>
                  <a:srgbClr val="CC00FF"/>
                </a:solidFill>
                <a:latin typeface="宋体" panose="02010600030101010101" pitchFamily="2" charset="-122"/>
                <a:ea typeface="宋体" panose="02010600030101010101" pitchFamily="2" charset="-122"/>
              </a:rPr>
              <a:t>i+2</a:t>
            </a:r>
            <a:endParaRPr lang="en-US" altLang="zh-CN" sz="2200" dirty="0">
              <a:solidFill>
                <a:srgbClr val="CC00FF"/>
              </a:solidFill>
              <a:latin typeface="宋体" panose="02010600030101010101" pitchFamily="2" charset="-122"/>
              <a:ea typeface="宋体" panose="02010600030101010101" pitchFamily="2" charset="-122"/>
            </a:endParaRP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a:t>
            </a:r>
            <a:r>
              <a:rPr lang="en-US" altLang="zh-CN" sz="2200" dirty="0">
                <a:solidFill>
                  <a:srgbClr val="003399"/>
                </a:solidFill>
                <a:latin typeface="宋体" panose="02010600030101010101" pitchFamily="2" charset="-122"/>
                <a:ea typeface="宋体" panose="02010600030101010101" pitchFamily="2" charset="-122"/>
              </a:rPr>
              <a:t>if X</a:t>
            </a:r>
            <a:r>
              <a:rPr lang="en-US" altLang="zh-CN" sz="2200" baseline="-25000" dirty="0">
                <a:solidFill>
                  <a:srgbClr val="003399"/>
                </a:solidFill>
                <a:latin typeface="宋体" panose="02010600030101010101" pitchFamily="2" charset="-122"/>
                <a:ea typeface="宋体" panose="02010600030101010101" pitchFamily="2" charset="-122"/>
              </a:rPr>
              <a:t>i</a:t>
            </a:r>
            <a:r>
              <a:rPr lang="zh-CN" altLang="en-US" sz="2200" dirty="0">
                <a:solidFill>
                  <a:srgbClr val="003399"/>
                </a:solidFill>
                <a:latin typeface="宋体" panose="02010600030101010101" pitchFamily="2" charset="-122"/>
                <a:ea typeface="宋体" panose="02010600030101010101" pitchFamily="2" charset="-122"/>
              </a:rPr>
              <a:t>为终结符</a:t>
            </a:r>
            <a:r>
              <a:rPr lang="en-US" altLang="zh-CN" sz="2200" dirty="0">
                <a:solidFill>
                  <a:srgbClr val="003399"/>
                </a:solidFill>
                <a:latin typeface="宋体" panose="02010600030101010101" pitchFamily="2" charset="-122"/>
                <a:ea typeface="宋体" panose="02010600030101010101" pitchFamily="2" charset="-122"/>
              </a:rPr>
              <a:t>, X</a:t>
            </a:r>
            <a:r>
              <a:rPr lang="en-US" altLang="zh-CN" sz="2200" baseline="-25000" dirty="0">
                <a:solidFill>
                  <a:srgbClr val="003399"/>
                </a:solidFill>
                <a:latin typeface="宋体" panose="02010600030101010101" pitchFamily="2" charset="-122"/>
                <a:ea typeface="宋体" panose="02010600030101010101" pitchFamily="2" charset="-122"/>
              </a:rPr>
              <a:t>i+1</a:t>
            </a:r>
            <a:r>
              <a:rPr lang="zh-CN" altLang="en-US" sz="2200" dirty="0">
                <a:solidFill>
                  <a:srgbClr val="003399"/>
                </a:solidFill>
                <a:latin typeface="宋体" panose="02010600030101010101" pitchFamily="2" charset="-122"/>
                <a:ea typeface="宋体" panose="02010600030101010101" pitchFamily="2" charset="-122"/>
              </a:rPr>
              <a:t>为非终结符 </a:t>
            </a:r>
            <a:r>
              <a:rPr lang="en-US" altLang="zh-CN" sz="2200" dirty="0">
                <a:solidFill>
                  <a:srgbClr val="003399"/>
                </a:solidFill>
                <a:latin typeface="宋体" panose="02010600030101010101" pitchFamily="2" charset="-122"/>
                <a:ea typeface="宋体" panose="02010600030101010101" pitchFamily="2" charset="-122"/>
              </a:rPr>
              <a:t>then  			              </a:t>
            </a:r>
          </a:p>
          <a:p>
            <a:pPr>
              <a:lnSpc>
                <a:spcPct val="90000"/>
              </a:lnSpc>
              <a:spcBef>
                <a:spcPct val="0"/>
              </a:spcBef>
              <a:buNone/>
            </a:pPr>
            <a:r>
              <a:rPr lang="en-US" altLang="zh-CN" sz="2200" dirty="0">
                <a:solidFill>
                  <a:srgbClr val="003399"/>
                </a:solidFill>
                <a:latin typeface="宋体" panose="02010600030101010101" pitchFamily="2" charset="-122"/>
                <a:ea typeface="宋体" panose="02010600030101010101" pitchFamily="2" charset="-122"/>
              </a:rPr>
              <a:t>              for </a:t>
            </a:r>
            <a:r>
              <a:rPr lang="en-US" altLang="zh-CN" sz="2200" dirty="0" err="1">
                <a:solidFill>
                  <a:srgbClr val="003399"/>
                </a:solidFill>
                <a:latin typeface="宋体" panose="02010600030101010101" pitchFamily="2" charset="-122"/>
                <a:ea typeface="宋体" panose="02010600030101010101" pitchFamily="2" charset="-122"/>
              </a:rPr>
              <a:t>FirstVT</a:t>
            </a:r>
            <a:r>
              <a:rPr lang="en-US" altLang="zh-CN" sz="2200" dirty="0">
                <a:solidFill>
                  <a:srgbClr val="003399"/>
                </a:solidFill>
                <a:latin typeface="宋体" panose="02010600030101010101" pitchFamily="2" charset="-122"/>
                <a:ea typeface="宋体" panose="02010600030101010101" pitchFamily="2" charset="-122"/>
              </a:rPr>
              <a:t>(X</a:t>
            </a:r>
            <a:r>
              <a:rPr lang="en-US" altLang="zh-CN" sz="2200" baseline="-25000" dirty="0">
                <a:solidFill>
                  <a:srgbClr val="003399"/>
                </a:solidFill>
                <a:latin typeface="宋体" panose="02010600030101010101" pitchFamily="2" charset="-122"/>
                <a:ea typeface="宋体" panose="02010600030101010101" pitchFamily="2" charset="-122"/>
              </a:rPr>
              <a:t>i+1</a:t>
            </a:r>
            <a:r>
              <a:rPr lang="en-US" altLang="zh-CN" sz="2200" dirty="0">
                <a:solidFill>
                  <a:srgbClr val="003399"/>
                </a:solidFill>
                <a:latin typeface="宋体" panose="02010600030101010101" pitchFamily="2" charset="-122"/>
                <a:ea typeface="宋体" panose="02010600030101010101" pitchFamily="2" charset="-122"/>
              </a:rPr>
              <a:t>)</a:t>
            </a:r>
            <a:r>
              <a:rPr lang="zh-CN" altLang="en-US" sz="2200" dirty="0">
                <a:solidFill>
                  <a:srgbClr val="003399"/>
                </a:solidFill>
                <a:latin typeface="宋体" panose="02010600030101010101" pitchFamily="2" charset="-122"/>
                <a:ea typeface="宋体" panose="02010600030101010101" pitchFamily="2" charset="-122"/>
              </a:rPr>
              <a:t>中的每个元素</a:t>
            </a:r>
            <a:r>
              <a:rPr lang="en-US" altLang="zh-CN" sz="2200" dirty="0">
                <a:solidFill>
                  <a:srgbClr val="003399"/>
                </a:solidFill>
                <a:latin typeface="宋体" panose="02010600030101010101" pitchFamily="2" charset="-122"/>
                <a:ea typeface="宋体" panose="02010600030101010101" pitchFamily="2" charset="-122"/>
              </a:rPr>
              <a:t>b do</a:t>
            </a:r>
          </a:p>
          <a:p>
            <a:pPr eaLnBrk="1" hangingPunct="1">
              <a:lnSpc>
                <a:spcPct val="90000"/>
              </a:lnSpc>
              <a:spcBef>
                <a:spcPct val="0"/>
              </a:spcBef>
              <a:buFontTx/>
              <a:buNone/>
            </a:pPr>
            <a:r>
              <a:rPr lang="en-US" altLang="zh-CN" sz="2200" dirty="0">
                <a:solidFill>
                  <a:srgbClr val="003399"/>
                </a:solidFill>
                <a:latin typeface="宋体" panose="02010600030101010101" pitchFamily="2" charset="-122"/>
                <a:ea typeface="宋体" panose="02010600030101010101" pitchFamily="2" charset="-122"/>
              </a:rPr>
              <a:t>				X</a:t>
            </a:r>
            <a:r>
              <a:rPr lang="en-US" altLang="zh-CN" sz="2200" baseline="-25000" dirty="0">
                <a:solidFill>
                  <a:srgbClr val="003399"/>
                </a:solidFill>
                <a:latin typeface="宋体" panose="02010600030101010101" pitchFamily="2" charset="-122"/>
                <a:ea typeface="宋体" panose="02010600030101010101" pitchFamily="2" charset="-122"/>
              </a:rPr>
              <a:t>i</a:t>
            </a:r>
            <a:r>
              <a:rPr lang="en-US" altLang="zh-CN" sz="2200" dirty="0">
                <a:solidFill>
                  <a:srgbClr val="003399"/>
                </a:solidFill>
                <a:latin typeface="宋体" panose="02010600030101010101" pitchFamily="2" charset="-122"/>
                <a:ea typeface="宋体" panose="02010600030101010101" pitchFamily="2" charset="-122"/>
              </a:rPr>
              <a:t>  &lt;b ;</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if X</a:t>
            </a:r>
            <a:r>
              <a:rPr lang="en-US" altLang="zh-CN" sz="2200" baseline="-25000" dirty="0">
                <a:latin typeface="宋体" panose="02010600030101010101" pitchFamily="2" charset="-122"/>
                <a:ea typeface="宋体" panose="02010600030101010101" pitchFamily="2" charset="-122"/>
              </a:rPr>
              <a:t>i</a:t>
            </a:r>
            <a:r>
              <a:rPr lang="zh-CN" altLang="en-US" sz="2200" dirty="0">
                <a:latin typeface="宋体" panose="02010600030101010101" pitchFamily="2" charset="-122"/>
                <a:ea typeface="宋体" panose="02010600030101010101" pitchFamily="2" charset="-122"/>
              </a:rPr>
              <a:t>为非终结符</a:t>
            </a:r>
            <a:r>
              <a:rPr lang="en-US" altLang="zh-CN" sz="2200" dirty="0">
                <a:latin typeface="宋体" panose="02010600030101010101" pitchFamily="2" charset="-122"/>
                <a:ea typeface="宋体" panose="02010600030101010101" pitchFamily="2" charset="-122"/>
              </a:rPr>
              <a:t>, X</a:t>
            </a:r>
            <a:r>
              <a:rPr lang="en-US" altLang="zh-CN" sz="2200" baseline="-25000" dirty="0">
                <a:latin typeface="宋体" panose="02010600030101010101" pitchFamily="2" charset="-122"/>
                <a:ea typeface="宋体" panose="02010600030101010101" pitchFamily="2" charset="-122"/>
              </a:rPr>
              <a:t>i+1</a:t>
            </a:r>
            <a:r>
              <a:rPr lang="zh-CN" altLang="en-US" sz="2200" dirty="0">
                <a:latin typeface="宋体" panose="02010600030101010101" pitchFamily="2" charset="-122"/>
                <a:ea typeface="宋体" panose="02010600030101010101" pitchFamily="2" charset="-122"/>
              </a:rPr>
              <a:t>为终结符 </a:t>
            </a:r>
            <a:r>
              <a:rPr lang="en-US" altLang="zh-CN" sz="2200" dirty="0">
                <a:latin typeface="宋体" panose="02010600030101010101" pitchFamily="2" charset="-122"/>
                <a:ea typeface="宋体" panose="02010600030101010101" pitchFamily="2" charset="-122"/>
              </a:rPr>
              <a:t>then  			</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for </a:t>
            </a:r>
            <a:r>
              <a:rPr lang="en-US" altLang="zh-CN" sz="2200" dirty="0" err="1">
                <a:latin typeface="宋体" panose="02010600030101010101" pitchFamily="2" charset="-122"/>
                <a:ea typeface="宋体" panose="02010600030101010101" pitchFamily="2" charset="-122"/>
              </a:rPr>
              <a:t>LastVT</a:t>
            </a:r>
            <a:r>
              <a:rPr lang="zh-CN" altLang="en-US" sz="2200" dirty="0">
                <a:latin typeface="宋体" panose="02010600030101010101" pitchFamily="2" charset="-122"/>
                <a:ea typeface="宋体" panose="02010600030101010101" pitchFamily="2" charset="-122"/>
              </a:rPr>
              <a:t>中的每个元素</a:t>
            </a:r>
            <a:r>
              <a:rPr lang="en-US" altLang="zh-CN" sz="2200" dirty="0">
                <a:latin typeface="宋体" panose="02010600030101010101" pitchFamily="2" charset="-122"/>
                <a:ea typeface="宋体" panose="02010600030101010101" pitchFamily="2" charset="-122"/>
              </a:rPr>
              <a:t>a do</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a  &gt; X</a:t>
            </a:r>
            <a:r>
              <a:rPr lang="en-US" altLang="zh-CN" sz="2200" baseline="-25000" dirty="0">
                <a:latin typeface="宋体" panose="02010600030101010101" pitchFamily="2" charset="-122"/>
                <a:ea typeface="宋体" panose="02010600030101010101" pitchFamily="2" charset="-122"/>
              </a:rPr>
              <a:t>i+1</a:t>
            </a:r>
            <a:r>
              <a:rPr lang="en-US" altLang="zh-CN" sz="2200" dirty="0">
                <a:latin typeface="宋体" panose="02010600030101010101" pitchFamily="2" charset="-122"/>
                <a:ea typeface="宋体" panose="02010600030101010101" pitchFamily="2" charset="-122"/>
              </a:rPr>
              <a:t> ;</a:t>
            </a:r>
          </a:p>
          <a:p>
            <a:pPr eaLnBrk="1" hangingPunct="1">
              <a:lnSpc>
                <a:spcPct val="90000"/>
              </a:lnSpc>
              <a:spcBef>
                <a:spcPct val="0"/>
              </a:spcBef>
              <a:buFontTx/>
              <a:buNone/>
            </a:pPr>
            <a:r>
              <a:rPr lang="en-US" altLang="zh-CN" sz="2200" dirty="0">
                <a:latin typeface="宋体" panose="02010600030101010101" pitchFamily="2" charset="-122"/>
                <a:ea typeface="宋体" panose="02010600030101010101" pitchFamily="2" charset="-122"/>
              </a:rPr>
              <a:t>		end;</a:t>
            </a:r>
          </a:p>
        </p:txBody>
      </p:sp>
      <p:sp>
        <p:nvSpPr>
          <p:cNvPr id="157699" name="Rectangle 2"/>
          <p:cNvSpPr>
            <a:spLocks noGrp="1" noChangeArrowheads="1"/>
          </p:cNvSpPr>
          <p:nvPr>
            <p:ph type="title"/>
          </p:nvPr>
        </p:nvSpPr>
        <p:spPr>
          <a:xfrm>
            <a:off x="841375" y="0"/>
            <a:ext cx="6038850" cy="439738"/>
          </a:xfrm>
        </p:spPr>
        <p:txBody>
          <a:bodyPr>
            <a:normAutofit fontScale="90000"/>
          </a:bodyPr>
          <a:lstStyle/>
          <a:p>
            <a:pPr eaLnBrk="1" hangingPunct="1"/>
            <a:r>
              <a:rPr lang="zh-CN" altLang="en-US" sz="4000">
                <a:solidFill>
                  <a:schemeClr val="accent2"/>
                </a:solidFill>
                <a:latin typeface="宋体" pitchFamily="2" charset="-122"/>
              </a:rPr>
              <a:t>优先关系表构造算法</a:t>
            </a:r>
          </a:p>
        </p:txBody>
      </p:sp>
      <p:graphicFrame>
        <p:nvGraphicFramePr>
          <p:cNvPr id="157700" name="Object 0"/>
          <p:cNvGraphicFramePr>
            <a:graphicFrameLocks noChangeAspect="1"/>
          </p:cNvGraphicFramePr>
          <p:nvPr>
            <p:extLst>
              <p:ext uri="{D42A27DB-BD31-4B8C-83A1-F6EECF244321}">
                <p14:modId xmlns:p14="http://schemas.microsoft.com/office/powerpoint/2010/main" val="1393223493"/>
              </p:ext>
            </p:extLst>
          </p:nvPr>
        </p:nvGraphicFramePr>
        <p:xfrm>
          <a:off x="3131840" y="4371950"/>
          <a:ext cx="347662" cy="254000"/>
        </p:xfrm>
        <a:graphic>
          <a:graphicData uri="http://schemas.openxmlformats.org/presentationml/2006/ole">
            <mc:AlternateContent xmlns:mc="http://schemas.openxmlformats.org/markup-compatibility/2006">
              <mc:Choice xmlns:v="urn:schemas-microsoft-com:vml" Requires="v">
                <p:oleObj spid="_x0000_s34838" name="位图图像" r:id="rId4" imgW="181096" imgH="237969" progId="Paint.Picture">
                  <p:embed/>
                </p:oleObj>
              </mc:Choice>
              <mc:Fallback>
                <p:oleObj name="位图图像" r:id="rId4" imgW="181096" imgH="237969" progId="Paint.Picture">
                  <p:embed/>
                  <p:pic>
                    <p:nvPicPr>
                      <p:cNvPr id="157700" name="Object 0"/>
                      <p:cNvPicPr>
                        <a:picLocks noChangeAspect="1" noChangeArrowheads="1"/>
                      </p:cNvPicPr>
                      <p:nvPr/>
                    </p:nvPicPr>
                    <p:blipFill>
                      <a:blip r:embed="rId5">
                        <a:extLst>
                          <a:ext uri="{28A0092B-C50C-407E-A947-70E740481C1C}">
                            <a14:useLocalDpi xmlns:a14="http://schemas.microsoft.com/office/drawing/2010/main" val="0"/>
                          </a:ext>
                        </a:extLst>
                      </a:blip>
                      <a:srcRect t="6598" b="19444"/>
                      <a:stretch>
                        <a:fillRect/>
                      </a:stretch>
                    </p:blipFill>
                    <p:spPr bwMode="auto">
                      <a:xfrm>
                        <a:off x="3131840" y="4371950"/>
                        <a:ext cx="347662" cy="25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7701" name="Object 1"/>
          <p:cNvGraphicFramePr>
            <a:graphicFrameLocks noChangeAspect="1"/>
          </p:cNvGraphicFramePr>
          <p:nvPr>
            <p:extLst>
              <p:ext uri="{D42A27DB-BD31-4B8C-83A1-F6EECF244321}">
                <p14:modId xmlns:p14="http://schemas.microsoft.com/office/powerpoint/2010/main" val="1206705047"/>
              </p:ext>
            </p:extLst>
          </p:nvPr>
        </p:nvGraphicFramePr>
        <p:xfrm>
          <a:off x="3131840" y="3452415"/>
          <a:ext cx="381000" cy="271463"/>
        </p:xfrm>
        <a:graphic>
          <a:graphicData uri="http://schemas.openxmlformats.org/presentationml/2006/ole">
            <mc:AlternateContent xmlns:mc="http://schemas.openxmlformats.org/markup-compatibility/2006">
              <mc:Choice xmlns:v="urn:schemas-microsoft-com:vml" Requires="v">
                <p:oleObj spid="_x0000_s34839" name="位图图像" r:id="rId6" imgW="190426" imgH="209524" progId="Paint.Picture">
                  <p:embed/>
                </p:oleObj>
              </mc:Choice>
              <mc:Fallback>
                <p:oleObj name="位图图像" r:id="rId6" imgW="190426" imgH="209524" progId="Paint.Picture">
                  <p:embed/>
                  <p:pic>
                    <p:nvPicPr>
                      <p:cNvPr id="157701" name="Object 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1840" y="3452415"/>
                        <a:ext cx="3810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7702" name="Object 2"/>
          <p:cNvGraphicFramePr>
            <a:graphicFrameLocks noChangeAspect="1"/>
          </p:cNvGraphicFramePr>
          <p:nvPr>
            <p:extLst>
              <p:ext uri="{D42A27DB-BD31-4B8C-83A1-F6EECF244321}">
                <p14:modId xmlns:p14="http://schemas.microsoft.com/office/powerpoint/2010/main" val="1347769551"/>
              </p:ext>
            </p:extLst>
          </p:nvPr>
        </p:nvGraphicFramePr>
        <p:xfrm>
          <a:off x="2555776" y="2600325"/>
          <a:ext cx="457200" cy="177800"/>
        </p:xfrm>
        <a:graphic>
          <a:graphicData uri="http://schemas.openxmlformats.org/presentationml/2006/ole">
            <mc:AlternateContent xmlns:mc="http://schemas.openxmlformats.org/markup-compatibility/2006">
              <mc:Choice xmlns:v="urn:schemas-microsoft-com:vml" Requires="v">
                <p:oleObj spid="_x0000_s34840" name="位图图像" r:id="rId8" imgW="295238" imgH="190426" progId="Paint.Picture">
                  <p:embed/>
                </p:oleObj>
              </mc:Choice>
              <mc:Fallback>
                <p:oleObj name="位图图像" r:id="rId8" imgW="295238" imgH="190426" progId="Paint.Picture">
                  <p:embed/>
                  <p:pic>
                    <p:nvPicPr>
                      <p:cNvPr id="157702" name="Object 2"/>
                      <p:cNvPicPr>
                        <a:picLocks noChangeAspect="1" noChangeArrowheads="1"/>
                      </p:cNvPicPr>
                      <p:nvPr/>
                    </p:nvPicPr>
                    <p:blipFill>
                      <a:blip r:embed="rId9">
                        <a:extLst>
                          <a:ext uri="{28A0092B-C50C-407E-A947-70E740481C1C}">
                            <a14:useLocalDpi xmlns:a14="http://schemas.microsoft.com/office/drawing/2010/main" val="0"/>
                          </a:ext>
                        </a:extLst>
                      </a:blip>
                      <a:srcRect t="19893"/>
                      <a:stretch>
                        <a:fillRect/>
                      </a:stretch>
                    </p:blipFill>
                    <p:spPr bwMode="auto">
                      <a:xfrm>
                        <a:off x="2555776" y="2600325"/>
                        <a:ext cx="457200" cy="17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7703" name="Object 3"/>
          <p:cNvGraphicFramePr>
            <a:graphicFrameLocks noChangeAspect="1"/>
          </p:cNvGraphicFramePr>
          <p:nvPr>
            <p:extLst>
              <p:ext uri="{D42A27DB-BD31-4B8C-83A1-F6EECF244321}">
                <p14:modId xmlns:p14="http://schemas.microsoft.com/office/powerpoint/2010/main" val="2808578689"/>
              </p:ext>
            </p:extLst>
          </p:nvPr>
        </p:nvGraphicFramePr>
        <p:xfrm>
          <a:off x="2555776" y="1980304"/>
          <a:ext cx="457200" cy="220663"/>
        </p:xfrm>
        <a:graphic>
          <a:graphicData uri="http://schemas.openxmlformats.org/presentationml/2006/ole">
            <mc:AlternateContent xmlns:mc="http://schemas.openxmlformats.org/markup-compatibility/2006">
              <mc:Choice xmlns:v="urn:schemas-microsoft-com:vml" Requires="v">
                <p:oleObj spid="_x0000_s34841" name="位图图像" r:id="rId10" imgW="295238" imgH="190426" progId="Paint.Picture">
                  <p:embed/>
                </p:oleObj>
              </mc:Choice>
              <mc:Fallback>
                <p:oleObj name="位图图像" r:id="rId10" imgW="295238" imgH="190426" progId="Paint.Picture">
                  <p:embed/>
                  <p:pic>
                    <p:nvPicPr>
                      <p:cNvPr id="157703" name="Object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55776" y="1980304"/>
                        <a:ext cx="457200" cy="220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652" name="AutoShape 12"/>
          <p:cNvSpPr>
            <a:spLocks noChangeArrowheads="1"/>
          </p:cNvSpPr>
          <p:nvPr/>
        </p:nvSpPr>
        <p:spPr bwMode="auto">
          <a:xfrm>
            <a:off x="6647879" y="1414462"/>
            <a:ext cx="2460625" cy="733425"/>
          </a:xfrm>
          <a:prstGeom prst="wedgeRectCallout">
            <a:avLst>
              <a:gd name="adj1" fmla="val -115034"/>
              <a:gd name="adj2" fmla="val 10511"/>
            </a:avLst>
          </a:prstGeom>
          <a:ln w="28575">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1800" dirty="0">
                <a:latin typeface="宋体" panose="02010600030101010101" pitchFamily="2" charset="-122"/>
              </a:rPr>
              <a:t>…ab…</a:t>
            </a:r>
            <a:r>
              <a:rPr lang="zh-CN" altLang="en-US" sz="1800" dirty="0">
                <a:latin typeface="宋体" panose="02010600030101010101" pitchFamily="2" charset="-122"/>
              </a:rPr>
              <a:t>，同一产生式中的相邻符号</a:t>
            </a:r>
            <a:r>
              <a:rPr lang="en-US" altLang="zh-CN" sz="1800" dirty="0">
                <a:latin typeface="宋体" panose="02010600030101010101" pitchFamily="2" charset="-122"/>
              </a:rPr>
              <a:t>1</a:t>
            </a:r>
          </a:p>
        </p:txBody>
      </p:sp>
      <p:sp>
        <p:nvSpPr>
          <p:cNvPr id="112653" name="AutoShape 13"/>
          <p:cNvSpPr>
            <a:spLocks noChangeArrowheads="1"/>
          </p:cNvSpPr>
          <p:nvPr/>
        </p:nvSpPr>
        <p:spPr bwMode="auto">
          <a:xfrm>
            <a:off x="6619304" y="2689225"/>
            <a:ext cx="2479675" cy="644525"/>
          </a:xfrm>
          <a:prstGeom prst="wedgeRectCallout">
            <a:avLst>
              <a:gd name="adj1" fmla="val -92125"/>
              <a:gd name="adj2" fmla="val -71403"/>
            </a:avLst>
          </a:prstGeom>
          <a:ln w="28575">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1800" dirty="0">
                <a:latin typeface="宋体" panose="02010600030101010101" pitchFamily="2" charset="-122"/>
              </a:rPr>
              <a:t>…</a:t>
            </a:r>
            <a:r>
              <a:rPr lang="en-US" altLang="zh-CN" sz="1800" dirty="0" err="1">
                <a:latin typeface="宋体" panose="02010600030101010101" pitchFamily="2" charset="-122"/>
              </a:rPr>
              <a:t>aQb</a:t>
            </a:r>
            <a:r>
              <a:rPr lang="en-US" altLang="zh-CN" sz="1800" dirty="0">
                <a:latin typeface="宋体" panose="02010600030101010101" pitchFamily="2" charset="-122"/>
              </a:rPr>
              <a:t>…,</a:t>
            </a:r>
            <a:r>
              <a:rPr lang="zh-CN" altLang="en-US" sz="1800" dirty="0">
                <a:latin typeface="宋体" panose="02010600030101010101" pitchFamily="2" charset="-122"/>
              </a:rPr>
              <a:t>同一产生式中的相邻符号</a:t>
            </a:r>
            <a:r>
              <a:rPr lang="en-US" altLang="zh-CN" sz="1800" dirty="0">
                <a:latin typeface="宋体" panose="02010600030101010101" pitchFamily="2" charset="-122"/>
              </a:rPr>
              <a:t>2</a:t>
            </a:r>
          </a:p>
        </p:txBody>
      </p:sp>
      <p:sp>
        <p:nvSpPr>
          <p:cNvPr id="112654" name="AutoShape 14"/>
          <p:cNvSpPr>
            <a:spLocks noChangeArrowheads="1"/>
          </p:cNvSpPr>
          <p:nvPr/>
        </p:nvSpPr>
        <p:spPr bwMode="auto">
          <a:xfrm>
            <a:off x="6570091" y="3424238"/>
            <a:ext cx="2538413" cy="731688"/>
          </a:xfrm>
          <a:prstGeom prst="wedgeRectCallout">
            <a:avLst>
              <a:gd name="adj1" fmla="val -111477"/>
              <a:gd name="adj2" fmla="val -56718"/>
            </a:avLst>
          </a:prstGeom>
          <a:ln w="28575">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1800" dirty="0">
                <a:latin typeface="宋体" panose="02010600030101010101" pitchFamily="2" charset="-122"/>
              </a:rPr>
              <a:t>…</a:t>
            </a:r>
            <a:r>
              <a:rPr lang="en-US" altLang="zh-CN" sz="1800" dirty="0" err="1">
                <a:latin typeface="宋体" panose="02010600030101010101" pitchFamily="2" charset="-122"/>
              </a:rPr>
              <a:t>aR</a:t>
            </a:r>
            <a:r>
              <a:rPr lang="en-US" altLang="zh-CN" sz="1800" dirty="0">
                <a:latin typeface="宋体" panose="02010600030101010101" pitchFamily="2" charset="-122"/>
              </a:rPr>
              <a:t>…,b</a:t>
            </a:r>
            <a:r>
              <a:rPr lang="zh-CN" altLang="en-US" sz="1800" dirty="0">
                <a:latin typeface="宋体" panose="02010600030101010101" pitchFamily="2" charset="-122"/>
              </a:rPr>
              <a:t>出现在其它产生式中，通过计算得到</a:t>
            </a:r>
          </a:p>
        </p:txBody>
      </p:sp>
      <p:sp>
        <p:nvSpPr>
          <p:cNvPr id="2" name="TextBox 1"/>
          <p:cNvSpPr txBox="1"/>
          <p:nvPr/>
        </p:nvSpPr>
        <p:spPr>
          <a:xfrm>
            <a:off x="5966914" y="123478"/>
            <a:ext cx="3168352" cy="461665"/>
          </a:xfrm>
          <a:prstGeom prst="rect">
            <a:avLst/>
          </a:prstGeom>
          <a:ln w="28575"/>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400" dirty="0">
                <a:latin typeface="宋体" panose="02010600030101010101" pitchFamily="2" charset="-122"/>
                <a:ea typeface="宋体" panose="02010600030101010101" pitchFamily="2" charset="-122"/>
                <a:sym typeface="Wingdings" pitchFamily="2" charset="2"/>
              </a:rPr>
              <a:t>X</a:t>
            </a:r>
            <a:r>
              <a:rPr lang="en-US" altLang="zh-CN" sz="2400" baseline="-25000" dirty="0">
                <a:latin typeface="宋体" panose="02010600030101010101" pitchFamily="2" charset="-122"/>
                <a:ea typeface="宋体" panose="02010600030101010101" pitchFamily="2" charset="-122"/>
                <a:sym typeface="Wingdings" pitchFamily="2" charset="2"/>
              </a:rPr>
              <a:t>1</a:t>
            </a:r>
            <a:r>
              <a:rPr lang="en-US" altLang="zh-CN" sz="2400" dirty="0"/>
              <a:t>…</a:t>
            </a:r>
            <a:r>
              <a:rPr lang="en-US" altLang="zh-CN" sz="2400" dirty="0">
                <a:latin typeface="宋体" panose="02010600030101010101" pitchFamily="2" charset="-122"/>
                <a:ea typeface="宋体" panose="02010600030101010101" pitchFamily="2" charset="-122"/>
                <a:sym typeface="Wingdings" pitchFamily="2" charset="2"/>
              </a:rPr>
              <a:t>X</a:t>
            </a:r>
            <a:r>
              <a:rPr lang="en-US" altLang="zh-CN" sz="2400" baseline="-25000" dirty="0">
                <a:latin typeface="宋体" panose="02010600030101010101" pitchFamily="2" charset="-122"/>
                <a:ea typeface="宋体" panose="02010600030101010101" pitchFamily="2" charset="-122"/>
                <a:sym typeface="Wingdings" pitchFamily="2" charset="2"/>
              </a:rPr>
              <a:t>i</a:t>
            </a:r>
            <a:r>
              <a:rPr lang="en-US" altLang="zh-CN" sz="2400" dirty="0">
                <a:latin typeface="宋体" panose="02010600030101010101" pitchFamily="2" charset="-122"/>
                <a:ea typeface="宋体" panose="02010600030101010101" pitchFamily="2" charset="-122"/>
                <a:sym typeface="Wingdings" pitchFamily="2" charset="2"/>
              </a:rPr>
              <a:t>X</a:t>
            </a:r>
            <a:r>
              <a:rPr lang="en-US" altLang="zh-CN" sz="2400" baseline="-25000" dirty="0">
                <a:latin typeface="宋体" panose="02010600030101010101" pitchFamily="2" charset="-122"/>
                <a:ea typeface="宋体" panose="02010600030101010101" pitchFamily="2" charset="-122"/>
                <a:sym typeface="Wingdings" pitchFamily="2" charset="2"/>
              </a:rPr>
              <a:t>i+1</a:t>
            </a:r>
            <a:r>
              <a:rPr lang="en-US" altLang="zh-CN" sz="2400" dirty="0">
                <a:latin typeface="宋体" panose="02010600030101010101" pitchFamily="2" charset="-122"/>
                <a:ea typeface="宋体" panose="02010600030101010101" pitchFamily="2" charset="-122"/>
                <a:sym typeface="Wingdings" pitchFamily="2" charset="2"/>
              </a:rPr>
              <a:t>X</a:t>
            </a:r>
            <a:r>
              <a:rPr lang="en-US" altLang="zh-CN" sz="2400" baseline="-25000" dirty="0">
                <a:latin typeface="宋体" panose="02010600030101010101" pitchFamily="2" charset="-122"/>
                <a:ea typeface="宋体" panose="02010600030101010101" pitchFamily="2" charset="-122"/>
                <a:sym typeface="Wingdings" pitchFamily="2" charset="2"/>
              </a:rPr>
              <a:t>i+2</a:t>
            </a:r>
            <a:r>
              <a:rPr lang="en-US" altLang="zh-CN" sz="2400" dirty="0"/>
              <a:t>……</a:t>
            </a:r>
            <a:r>
              <a:rPr lang="en-US" altLang="zh-CN" sz="2400" dirty="0" err="1">
                <a:latin typeface="宋体" panose="02010600030101010101" pitchFamily="2" charset="-122"/>
                <a:ea typeface="宋体" panose="02010600030101010101" pitchFamily="2" charset="-122"/>
                <a:sym typeface="Wingdings" pitchFamily="2" charset="2"/>
              </a:rPr>
              <a:t>X</a:t>
            </a:r>
            <a:r>
              <a:rPr lang="en-US" altLang="zh-CN" sz="2400" baseline="-25000" dirty="0" err="1">
                <a:latin typeface="宋体" panose="02010600030101010101" pitchFamily="2" charset="-122"/>
                <a:ea typeface="宋体" panose="02010600030101010101" pitchFamily="2" charset="-122"/>
                <a:sym typeface="Wingdings" pitchFamily="2" charset="2"/>
              </a:rPr>
              <a:t>n</a:t>
            </a:r>
            <a:endParaRPr lang="zh-CN" altLang="en-US" sz="2400" dirty="0"/>
          </a:p>
        </p:txBody>
      </p:sp>
      <p:sp>
        <p:nvSpPr>
          <p:cNvPr id="12" name="AutoShape 14"/>
          <p:cNvSpPr>
            <a:spLocks noChangeArrowheads="1"/>
          </p:cNvSpPr>
          <p:nvPr/>
        </p:nvSpPr>
        <p:spPr bwMode="auto">
          <a:xfrm>
            <a:off x="6560566" y="4155926"/>
            <a:ext cx="2538413" cy="731688"/>
          </a:xfrm>
          <a:prstGeom prst="wedgeRectCallout">
            <a:avLst>
              <a:gd name="adj1" fmla="val -84990"/>
              <a:gd name="adj2" fmla="val -64069"/>
            </a:avLst>
          </a:prstGeom>
          <a:ln w="28575">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1800" dirty="0">
                <a:latin typeface="宋体" panose="02010600030101010101" pitchFamily="2" charset="-122"/>
              </a:rPr>
              <a:t>…</a:t>
            </a:r>
            <a:r>
              <a:rPr lang="en-US" altLang="zh-CN" sz="1800" dirty="0" err="1">
                <a:latin typeface="宋体" panose="02010600030101010101" pitchFamily="2" charset="-122"/>
              </a:rPr>
              <a:t>Rb</a:t>
            </a:r>
            <a:r>
              <a:rPr lang="en-US" altLang="zh-CN" sz="1800" dirty="0">
                <a:latin typeface="宋体" panose="02010600030101010101" pitchFamily="2" charset="-122"/>
              </a:rPr>
              <a:t>…,a</a:t>
            </a:r>
            <a:r>
              <a:rPr lang="zh-CN" altLang="en-US" sz="1800" dirty="0">
                <a:latin typeface="宋体" panose="02010600030101010101" pitchFamily="2" charset="-122"/>
              </a:rPr>
              <a:t>出现在其它产生式中，通过计算得到</a:t>
            </a:r>
          </a:p>
        </p:txBody>
      </p:sp>
    </p:spTree>
    <p:extLst>
      <p:ext uri="{BB962C8B-B14F-4D97-AF65-F5344CB8AC3E}">
        <p14:creationId xmlns:p14="http://schemas.microsoft.com/office/powerpoint/2010/main" val="96155736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2652"/>
                                        </p:tgtEl>
                                        <p:attrNameLst>
                                          <p:attrName>style.visibility</p:attrName>
                                        </p:attrNameLst>
                                      </p:cBhvr>
                                      <p:to>
                                        <p:strVal val="visible"/>
                                      </p:to>
                                    </p:set>
                                  </p:childTnLst>
                                  <p:subTnLst>
                                    <p:set>
                                      <p:cBhvr override="childStyle">
                                        <p:cTn dur="1" fill="hold" display="0" masterRel="nextClick" afterEffect="1"/>
                                        <p:tgtEl>
                                          <p:spTgt spid="112652"/>
                                        </p:tgtEl>
                                        <p:attrNameLst>
                                          <p:attrName>style.visibility</p:attrName>
                                        </p:attrNameLst>
                                      </p:cBhvr>
                                      <p:to>
                                        <p:strVal val="hidden"/>
                                      </p:to>
                                    </p:set>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12653"/>
                                        </p:tgtEl>
                                        <p:attrNameLst>
                                          <p:attrName>style.visibility</p:attrName>
                                        </p:attrNameLst>
                                      </p:cBhvr>
                                      <p:to>
                                        <p:strVal val="visible"/>
                                      </p:to>
                                    </p:set>
                                  </p:childTnLst>
                                  <p:subTnLst>
                                    <p:set>
                                      <p:cBhvr override="childStyle">
                                        <p:cTn dur="1" fill="hold" display="0" masterRel="nextClick" afterEffect="1"/>
                                        <p:tgtEl>
                                          <p:spTgt spid="112653"/>
                                        </p:tgtEl>
                                        <p:attrNameLst>
                                          <p:attrName>style.visibility</p:attrName>
                                        </p:attrNameLst>
                                      </p:cBhvr>
                                      <p:to>
                                        <p:strVal val="hidden"/>
                                      </p:to>
                                    </p:set>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12654"/>
                                        </p:tgtEl>
                                        <p:attrNameLst>
                                          <p:attrName>style.visibility</p:attrName>
                                        </p:attrNameLst>
                                      </p:cBhvr>
                                      <p:to>
                                        <p:strVal val="visible"/>
                                      </p:to>
                                    </p:set>
                                  </p:childTnLst>
                                  <p:subTnLst>
                                    <p:set>
                                      <p:cBhvr override="childStyle">
                                        <p:cTn dur="1" fill="hold" display="0" masterRel="nextClick" afterEffect="1"/>
                                        <p:tgtEl>
                                          <p:spTgt spid="112654"/>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2"/>
                                        </p:tgtEl>
                                        <p:attrNameLst>
                                          <p:attrName>style.visibility</p:attrName>
                                        </p:attrNameLst>
                                      </p:cBhvr>
                                      <p:to>
                                        <p:strVal val="visible"/>
                                      </p:to>
                                    </p:set>
                                  </p:childTnLst>
                                  <p:subTnLst>
                                    <p:set>
                                      <p:cBhvr override="childStyle">
                                        <p:cTn dur="1" fill="hold" display="0" masterRel="nextClick" afterEffect="1"/>
                                        <p:tgtEl>
                                          <p:spTgt spid="12"/>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52" grpId="0" animBg="1" autoUpdateAnimBg="0"/>
      <p:bldP spid="112653" grpId="0" animBg="1" autoUpdateAnimBg="0"/>
      <p:bldP spid="112654" grpId="0" animBg="1" autoUpdateAnimBg="0"/>
      <p:bldP spid="12" grpId="0" animBg="1" autoUpdateAnimBg="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1584176"/>
          </a:xfrm>
        </p:spPr>
        <p:txBody>
          <a:bodyPr>
            <a:normAutofit/>
          </a:bodyPr>
          <a:lstStyle/>
          <a:p>
            <a:pPr marL="0" indent="0">
              <a:buNone/>
            </a:pPr>
            <a:r>
              <a:rPr lang="zh-CN" altLang="en-US" sz="3600" b="1" kern="1200" dirty="0">
                <a:solidFill>
                  <a:srgbClr val="CC0099"/>
                </a:solidFill>
                <a:latin typeface="Times New Roman" pitchFamily="18" charset="0"/>
                <a:ea typeface="隶书" pitchFamily="49" charset="-122"/>
              </a:rPr>
              <a:t>实例：算符优先关系表的计算</a:t>
            </a:r>
          </a:p>
        </p:txBody>
      </p:sp>
    </p:spTree>
    <p:extLst>
      <p:ext uri="{BB962C8B-B14F-4D97-AF65-F5344CB8AC3E}">
        <p14:creationId xmlns:p14="http://schemas.microsoft.com/office/powerpoint/2010/main" val="13551816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265093" y="195486"/>
            <a:ext cx="3154780" cy="1368152"/>
          </a:xfrm>
        </p:spPr>
        <p:txBody>
          <a:bodyPr>
            <a:noAutofit/>
          </a:bodyPr>
          <a:lstStyle/>
          <a:p>
            <a:r>
              <a:rPr lang="zh-CN" altLang="en-US" sz="2400" dirty="0"/>
              <a:t>例</a:t>
            </a:r>
            <a:r>
              <a:rPr lang="en-US" altLang="zh-CN" sz="2400" dirty="0"/>
              <a:t>:</a:t>
            </a:r>
            <a:r>
              <a:rPr lang="zh-CN" altLang="en-US" sz="2200" dirty="0">
                <a:latin typeface="宋体" panose="02010600030101010101" pitchFamily="2" charset="-122"/>
                <a:ea typeface="宋体" panose="02010600030101010101" pitchFamily="2" charset="-122"/>
              </a:rPr>
              <a:t>给定文法</a:t>
            </a:r>
            <a:r>
              <a:rPr lang="en-US" altLang="zh-CN" sz="2200" dirty="0">
                <a:latin typeface="宋体" panose="02010600030101010101" pitchFamily="2" charset="-122"/>
                <a:ea typeface="宋体" panose="02010600030101010101" pitchFamily="2" charset="-122"/>
              </a:rPr>
              <a:t>G</a:t>
            </a:r>
            <a:r>
              <a:rPr lang="zh-CN" altLang="en-US" sz="2200" dirty="0">
                <a:latin typeface="宋体" panose="02010600030101010101" pitchFamily="2" charset="-122"/>
                <a:ea typeface="宋体" panose="02010600030101010101" pitchFamily="2" charset="-122"/>
              </a:rPr>
              <a:t>的</a:t>
            </a:r>
            <a:r>
              <a:rPr lang="en-US" altLang="zh-CN" sz="2200" dirty="0" err="1">
                <a:latin typeface="宋体" panose="02010600030101010101" pitchFamily="2" charset="-122"/>
                <a:ea typeface="宋体" panose="02010600030101010101" pitchFamily="2" charset="-122"/>
              </a:rPr>
              <a:t>FirstVT</a:t>
            </a:r>
            <a:r>
              <a:rPr lang="zh-CN" altLang="en-US" sz="2200" dirty="0">
                <a:latin typeface="宋体" panose="02010600030101010101" pitchFamily="2" charset="-122"/>
                <a:ea typeface="宋体" panose="02010600030101010101" pitchFamily="2" charset="-122"/>
              </a:rPr>
              <a:t>和</a:t>
            </a:r>
            <a:r>
              <a:rPr lang="en-US" altLang="zh-CN" sz="2200" dirty="0" err="1">
                <a:latin typeface="宋体" panose="02010600030101010101" pitchFamily="2" charset="-122"/>
                <a:ea typeface="宋体" panose="02010600030101010101" pitchFamily="2" charset="-122"/>
              </a:rPr>
              <a:t>LastVT</a:t>
            </a:r>
            <a:r>
              <a:rPr lang="zh-CN" altLang="en-US" sz="2200" dirty="0">
                <a:latin typeface="宋体" panose="02010600030101010101" pitchFamily="2" charset="-122"/>
                <a:ea typeface="宋体" panose="02010600030101010101" pitchFamily="2" charset="-122"/>
              </a:rPr>
              <a:t>集</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构造算符优先关系表。</a:t>
            </a:r>
            <a:br>
              <a:rPr lang="zh-CN" altLang="en-US" sz="2200" dirty="0">
                <a:latin typeface="宋体" panose="02010600030101010101" pitchFamily="2" charset="-122"/>
                <a:ea typeface="宋体" panose="02010600030101010101" pitchFamily="2" charset="-122"/>
              </a:rPr>
            </a:br>
            <a:endParaRPr lang="zh-CN" altLang="en-US" sz="2200" dirty="0"/>
          </a:p>
        </p:txBody>
      </p:sp>
      <p:sp>
        <p:nvSpPr>
          <p:cNvPr id="5" name="Rectangle 86"/>
          <p:cNvSpPr>
            <a:spLocks noChangeArrowheads="1"/>
          </p:cNvSpPr>
          <p:nvPr/>
        </p:nvSpPr>
        <p:spPr bwMode="auto">
          <a:xfrm>
            <a:off x="1910375" y="1031706"/>
            <a:ext cx="1498615" cy="1107996"/>
          </a:xfrm>
          <a:prstGeom prst="rect">
            <a:avLst/>
          </a:prstGeom>
          <a:ln w="28575"/>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200" dirty="0">
                <a:solidFill>
                  <a:srgbClr val="0000FF"/>
                </a:solidFill>
                <a:cs typeface="Times New Roman" panose="02020603050405020304" pitchFamily="18" charset="0"/>
              </a:rPr>
              <a:t>E</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E+T | T</a:t>
            </a:r>
            <a:br>
              <a:rPr lang="en-US" altLang="zh-CN" sz="2200" dirty="0">
                <a:solidFill>
                  <a:srgbClr val="0000FF"/>
                </a:solidFill>
                <a:cs typeface="Times New Roman" panose="02020603050405020304" pitchFamily="18" charset="0"/>
              </a:rPr>
            </a:br>
            <a:r>
              <a:rPr lang="en-US" altLang="zh-CN" sz="2200" dirty="0">
                <a:solidFill>
                  <a:srgbClr val="0000FF"/>
                </a:solidFill>
                <a:cs typeface="Times New Roman" panose="02020603050405020304" pitchFamily="18" charset="0"/>
              </a:rPr>
              <a:t>T</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T*F | F</a:t>
            </a:r>
            <a:br>
              <a:rPr lang="en-US" altLang="zh-CN" sz="2200" dirty="0">
                <a:solidFill>
                  <a:srgbClr val="0000FF"/>
                </a:solidFill>
                <a:cs typeface="Times New Roman" panose="02020603050405020304" pitchFamily="18" charset="0"/>
              </a:rPr>
            </a:br>
            <a:r>
              <a:rPr lang="en-US" altLang="zh-CN" sz="2200" dirty="0">
                <a:solidFill>
                  <a:srgbClr val="0000FF"/>
                </a:solidFill>
                <a:cs typeface="Times New Roman" panose="02020603050405020304" pitchFamily="18" charset="0"/>
              </a:rPr>
              <a:t>F</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(E) | </a:t>
            </a:r>
            <a:r>
              <a:rPr lang="en-US" altLang="zh-CN" sz="2200" dirty="0" err="1">
                <a:solidFill>
                  <a:srgbClr val="0000FF"/>
                </a:solidFill>
                <a:cs typeface="Times New Roman" panose="02020603050405020304" pitchFamily="18" charset="0"/>
              </a:rPr>
              <a:t>i</a:t>
            </a:r>
            <a:endParaRPr lang="en-US" altLang="zh-CN" sz="2200" dirty="0">
              <a:solidFill>
                <a:srgbClr val="0000FF"/>
              </a:solidFill>
              <a:cs typeface="Times New Roman" panose="02020603050405020304" pitchFamily="18" charset="0"/>
            </a:endParaRPr>
          </a:p>
        </p:txBody>
      </p:sp>
      <p:sp>
        <p:nvSpPr>
          <p:cNvPr id="6" name="Text Box 132"/>
          <p:cNvSpPr txBox="1">
            <a:spLocks noChangeArrowheads="1"/>
          </p:cNvSpPr>
          <p:nvPr/>
        </p:nvSpPr>
        <p:spPr bwMode="auto">
          <a:xfrm>
            <a:off x="323529" y="2314724"/>
            <a:ext cx="3096344" cy="1107996"/>
          </a:xfrm>
          <a:prstGeom prst="rect">
            <a:avLst/>
          </a:prstGeom>
          <a:ln w="28575"/>
        </p:spPr>
        <p:style>
          <a:lnRef idx="2">
            <a:schemeClr val="accent3"/>
          </a:lnRef>
          <a:fillRef idx="1">
            <a:schemeClr val="lt1"/>
          </a:fillRef>
          <a:effectRef idx="0">
            <a:schemeClr val="accent3"/>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en-US" altLang="zh-CN" sz="2200" dirty="0" err="1">
                <a:cs typeface="Times New Roman" panose="02020603050405020304" pitchFamily="18" charset="0"/>
              </a:rPr>
              <a:t>FirstVT</a:t>
            </a:r>
            <a:r>
              <a:rPr lang="en-US" altLang="zh-CN" sz="2200" dirty="0">
                <a:cs typeface="Times New Roman" panose="02020603050405020304" pitchFamily="18" charset="0"/>
              </a:rPr>
              <a:t>(E) = { +,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a:p>
            <a:pPr>
              <a:spcBef>
                <a:spcPts val="0"/>
              </a:spcBef>
              <a:buNone/>
            </a:pPr>
            <a:r>
              <a:rPr lang="en-US" altLang="zh-CN" sz="2200" dirty="0" err="1">
                <a:cs typeface="Times New Roman" panose="02020603050405020304" pitchFamily="18" charset="0"/>
              </a:rPr>
              <a:t>FirstVT</a:t>
            </a:r>
            <a:r>
              <a:rPr lang="en-US" altLang="zh-CN" sz="2200" dirty="0">
                <a:cs typeface="Times New Roman" panose="02020603050405020304" pitchFamily="18" charset="0"/>
              </a:rPr>
              <a:t>(T) =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a:p>
            <a:pPr eaLnBrk="1" hangingPunct="1">
              <a:spcBef>
                <a:spcPts val="0"/>
              </a:spcBef>
              <a:buFontTx/>
              <a:buNone/>
            </a:pPr>
            <a:r>
              <a:rPr lang="en-US" altLang="zh-CN" sz="2200" dirty="0" err="1">
                <a:cs typeface="Times New Roman" panose="02020603050405020304" pitchFamily="18" charset="0"/>
              </a:rPr>
              <a:t>FirstVT</a:t>
            </a:r>
            <a:r>
              <a:rPr lang="en-US" altLang="zh-CN" sz="2200" dirty="0">
                <a:cs typeface="Times New Roman" panose="02020603050405020304" pitchFamily="18" charset="0"/>
              </a:rPr>
              <a:t>(F)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p:txBody>
      </p:sp>
      <p:sp>
        <p:nvSpPr>
          <p:cNvPr id="7" name="Text Box 132"/>
          <p:cNvSpPr txBox="1">
            <a:spLocks noChangeArrowheads="1"/>
          </p:cNvSpPr>
          <p:nvPr/>
        </p:nvSpPr>
        <p:spPr bwMode="auto">
          <a:xfrm>
            <a:off x="323529" y="3551986"/>
            <a:ext cx="3096344" cy="1107996"/>
          </a:xfrm>
          <a:prstGeom prst="rect">
            <a:avLst/>
          </a:prstGeom>
          <a:ln w="28575"/>
        </p:spPr>
        <p:style>
          <a:lnRef idx="2">
            <a:schemeClr val="accent3"/>
          </a:lnRef>
          <a:fillRef idx="1">
            <a:schemeClr val="lt1"/>
          </a:fillRef>
          <a:effectRef idx="0">
            <a:schemeClr val="accent3"/>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en-US" altLang="zh-CN" sz="2200" dirty="0" err="1">
                <a:cs typeface="Times New Roman" panose="02020603050405020304" pitchFamily="18" charset="0"/>
              </a:rPr>
              <a:t>LastVT</a:t>
            </a:r>
            <a:r>
              <a:rPr lang="en-US" altLang="zh-CN" sz="2200" dirty="0">
                <a:cs typeface="Times New Roman" panose="02020603050405020304" pitchFamily="18" charset="0"/>
              </a:rPr>
              <a:t>(E) = { +,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a:p>
            <a:pPr eaLnBrk="1" hangingPunct="1">
              <a:spcBef>
                <a:spcPts val="0"/>
              </a:spcBef>
              <a:buFontTx/>
              <a:buNone/>
            </a:pPr>
            <a:r>
              <a:rPr lang="en-US" altLang="zh-CN" sz="2200" dirty="0" err="1">
                <a:cs typeface="Times New Roman" panose="02020603050405020304" pitchFamily="18" charset="0"/>
              </a:rPr>
              <a:t>LastVT</a:t>
            </a:r>
            <a:r>
              <a:rPr lang="en-US" altLang="zh-CN" sz="2200" dirty="0">
                <a:cs typeface="Times New Roman" panose="02020603050405020304" pitchFamily="18" charset="0"/>
              </a:rPr>
              <a:t>(T) =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a:p>
            <a:pPr eaLnBrk="1" hangingPunct="1">
              <a:spcBef>
                <a:spcPts val="0"/>
              </a:spcBef>
              <a:buFontTx/>
              <a:buNone/>
            </a:pPr>
            <a:r>
              <a:rPr lang="en-US" altLang="zh-CN" sz="2200" dirty="0" err="1">
                <a:cs typeface="Times New Roman" panose="02020603050405020304" pitchFamily="18" charset="0"/>
              </a:rPr>
              <a:t>LastVT</a:t>
            </a:r>
            <a:r>
              <a:rPr lang="en-US" altLang="zh-CN" sz="2200" dirty="0">
                <a:cs typeface="Times New Roman" panose="02020603050405020304" pitchFamily="18" charset="0"/>
              </a:rPr>
              <a:t>(F) = {</a:t>
            </a:r>
            <a:r>
              <a:rPr lang="en-US" altLang="zh-CN" sz="2200" dirty="0" err="1">
                <a:cs typeface="Times New Roman" panose="02020603050405020304" pitchFamily="18" charset="0"/>
              </a:rPr>
              <a:t>i</a:t>
            </a:r>
            <a:r>
              <a:rPr lang="en-US" altLang="zh-CN" sz="2200" dirty="0">
                <a:cs typeface="Times New Roman" panose="02020603050405020304" pitchFamily="18" charset="0"/>
              </a:rPr>
              <a:t>, )}</a:t>
            </a:r>
          </a:p>
        </p:txBody>
      </p:sp>
      <p:sp>
        <p:nvSpPr>
          <p:cNvPr id="8" name="Rectangle 86"/>
          <p:cNvSpPr>
            <a:spLocks noChangeArrowheads="1"/>
          </p:cNvSpPr>
          <p:nvPr/>
        </p:nvSpPr>
        <p:spPr bwMode="auto">
          <a:xfrm>
            <a:off x="4283968" y="843558"/>
            <a:ext cx="1221809" cy="1920526"/>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200" dirty="0">
                <a:solidFill>
                  <a:srgbClr val="0000FF"/>
                </a:solidFill>
                <a:cs typeface="Times New Roman" panose="02020603050405020304" pitchFamily="18" charset="0"/>
              </a:rPr>
              <a:t>E</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E+T</a:t>
            </a:r>
          </a:p>
          <a:p>
            <a:pPr>
              <a:lnSpc>
                <a:spcPct val="90000"/>
              </a:lnSpc>
              <a:spcBef>
                <a:spcPct val="0"/>
              </a:spcBef>
              <a:buNone/>
            </a:pPr>
            <a:r>
              <a:rPr lang="en-US" altLang="zh-CN" sz="2200" dirty="0">
                <a:solidFill>
                  <a:srgbClr val="0000FF"/>
                </a:solidFill>
                <a:cs typeface="Times New Roman" panose="02020603050405020304" pitchFamily="18" charset="0"/>
              </a:rPr>
              <a:t>E</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T</a:t>
            </a:r>
            <a:br>
              <a:rPr lang="en-US" altLang="zh-CN" sz="2200" dirty="0">
                <a:solidFill>
                  <a:srgbClr val="0000FF"/>
                </a:solidFill>
                <a:cs typeface="Times New Roman" panose="02020603050405020304" pitchFamily="18" charset="0"/>
              </a:rPr>
            </a:br>
            <a:r>
              <a:rPr lang="en-US" altLang="zh-CN" sz="2200" dirty="0">
                <a:solidFill>
                  <a:srgbClr val="0000FF"/>
                </a:solidFill>
                <a:cs typeface="Times New Roman" panose="02020603050405020304" pitchFamily="18" charset="0"/>
              </a:rPr>
              <a:t>T</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T*F</a:t>
            </a:r>
          </a:p>
          <a:p>
            <a:pPr>
              <a:lnSpc>
                <a:spcPct val="90000"/>
              </a:lnSpc>
              <a:spcBef>
                <a:spcPct val="0"/>
              </a:spcBef>
              <a:buNone/>
            </a:pPr>
            <a:r>
              <a:rPr lang="en-US" altLang="zh-CN" sz="2200" dirty="0">
                <a:solidFill>
                  <a:srgbClr val="0000FF"/>
                </a:solidFill>
                <a:cs typeface="Times New Roman" panose="02020603050405020304" pitchFamily="18" charset="0"/>
              </a:rPr>
              <a:t>T</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F</a:t>
            </a:r>
            <a:br>
              <a:rPr lang="en-US" altLang="zh-CN" sz="2200" dirty="0">
                <a:solidFill>
                  <a:srgbClr val="0000FF"/>
                </a:solidFill>
                <a:cs typeface="Times New Roman" panose="02020603050405020304" pitchFamily="18" charset="0"/>
              </a:rPr>
            </a:br>
            <a:r>
              <a:rPr lang="en-US" altLang="zh-CN" sz="2200" dirty="0">
                <a:solidFill>
                  <a:srgbClr val="0000FF"/>
                </a:solidFill>
                <a:cs typeface="Times New Roman" panose="02020603050405020304" pitchFamily="18" charset="0"/>
              </a:rPr>
              <a:t>F</a:t>
            </a:r>
            <a:r>
              <a:rPr lang="en-US" altLang="zh-CN" sz="2200" dirty="0">
                <a:solidFill>
                  <a:srgbClr val="0000FF"/>
                </a:solidFill>
                <a:cs typeface="Times New Roman" panose="02020603050405020304" pitchFamily="18" charset="0"/>
                <a:sym typeface="Wingdings" pitchFamily="2" charset="2"/>
              </a:rPr>
              <a:t></a:t>
            </a:r>
            <a:r>
              <a:rPr lang="en-US" altLang="zh-CN" sz="2200" dirty="0">
                <a:solidFill>
                  <a:srgbClr val="0000FF"/>
                </a:solidFill>
                <a:cs typeface="Times New Roman" panose="02020603050405020304" pitchFamily="18" charset="0"/>
              </a:rPr>
              <a:t>(E)</a:t>
            </a:r>
          </a:p>
          <a:p>
            <a:pPr>
              <a:lnSpc>
                <a:spcPct val="90000"/>
              </a:lnSpc>
              <a:spcBef>
                <a:spcPct val="0"/>
              </a:spcBef>
              <a:buNone/>
            </a:pPr>
            <a:r>
              <a:rPr lang="en-US" altLang="zh-CN" sz="2200">
                <a:solidFill>
                  <a:srgbClr val="0000FF"/>
                </a:solidFill>
                <a:cs typeface="Times New Roman" panose="02020603050405020304" pitchFamily="18" charset="0"/>
              </a:rPr>
              <a:t>F</a:t>
            </a:r>
            <a:r>
              <a:rPr lang="en-US" altLang="zh-CN" sz="2200">
                <a:solidFill>
                  <a:srgbClr val="0000FF"/>
                </a:solidFill>
                <a:cs typeface="Times New Roman" panose="02020603050405020304" pitchFamily="18" charset="0"/>
                <a:sym typeface="Wingdings" pitchFamily="2" charset="2"/>
              </a:rPr>
              <a:t></a:t>
            </a:r>
            <a:r>
              <a:rPr lang="en-US" altLang="zh-CN" sz="2200">
                <a:solidFill>
                  <a:srgbClr val="0000FF"/>
                </a:solidFill>
                <a:cs typeface="Times New Roman" panose="02020603050405020304" pitchFamily="18" charset="0"/>
              </a:rPr>
              <a:t>i</a:t>
            </a:r>
            <a:endParaRPr lang="en-US" altLang="zh-CN" sz="2200" dirty="0">
              <a:solidFill>
                <a:srgbClr val="0000FF"/>
              </a:solidFill>
              <a:cs typeface="Times New Roman" panose="02020603050405020304" pitchFamily="18" charset="0"/>
            </a:endParaRPr>
          </a:p>
        </p:txBody>
      </p:sp>
      <p:sp>
        <p:nvSpPr>
          <p:cNvPr id="9" name="Text Box 6"/>
          <p:cNvSpPr txBox="1">
            <a:spLocks noChangeArrowheads="1"/>
          </p:cNvSpPr>
          <p:nvPr/>
        </p:nvSpPr>
        <p:spPr bwMode="auto">
          <a:xfrm>
            <a:off x="4283968" y="2797142"/>
            <a:ext cx="1221809" cy="430887"/>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en-US" altLang="zh-CN" sz="2200" dirty="0">
                <a:solidFill>
                  <a:srgbClr val="FF0000"/>
                </a:solidFill>
                <a:latin typeface="宋体" panose="02010600030101010101" pitchFamily="2" charset="-122"/>
                <a:sym typeface="Wingdings" pitchFamily="2" charset="2"/>
              </a:rPr>
              <a:t>E</a:t>
            </a:r>
            <a:r>
              <a:rPr lang="en-US" altLang="zh-CN" sz="2200" dirty="0">
                <a:solidFill>
                  <a:srgbClr val="FF0000"/>
                </a:solidFill>
                <a:latin typeface="Cambria Math" panose="02040503050406030204" pitchFamily="18" charset="0"/>
                <a:ea typeface="Cambria Math" panose="02040503050406030204" pitchFamily="18" charset="0"/>
                <a:sym typeface="Wingdings" pitchFamily="2" charset="2"/>
              </a:rPr>
              <a:t>’</a:t>
            </a:r>
            <a:r>
              <a:rPr lang="en-US" altLang="zh-CN" sz="2200" dirty="0">
                <a:solidFill>
                  <a:srgbClr val="FF0000"/>
                </a:solidFill>
                <a:latin typeface="宋体" panose="02010600030101010101" pitchFamily="2" charset="-122"/>
                <a:sym typeface="Wingdings" pitchFamily="2" charset="2"/>
              </a:rPr>
              <a:t> #E#</a:t>
            </a:r>
            <a:endParaRPr lang="en-US" altLang="zh-CN" sz="2200" dirty="0">
              <a:solidFill>
                <a:srgbClr val="FF0000"/>
              </a:solidFill>
              <a:latin typeface="宋体" panose="02010600030101010101" pitchFamily="2" charset="-122"/>
            </a:endParaRPr>
          </a:p>
        </p:txBody>
      </p:sp>
      <p:graphicFrame>
        <p:nvGraphicFramePr>
          <p:cNvPr id="10" name="Group 163"/>
          <p:cNvGraphicFramePr>
            <a:graphicFrameLocks noGrp="1"/>
          </p:cNvGraphicFramePr>
          <p:nvPr>
            <p:extLst>
              <p:ext uri="{D42A27DB-BD31-4B8C-83A1-F6EECF244321}">
                <p14:modId xmlns:p14="http://schemas.microsoft.com/office/powerpoint/2010/main" val="1054991818"/>
              </p:ext>
            </p:extLst>
          </p:nvPr>
        </p:nvGraphicFramePr>
        <p:xfrm>
          <a:off x="5940152" y="1779662"/>
          <a:ext cx="2808310" cy="2613660"/>
        </p:xfrm>
        <a:graphic>
          <a:graphicData uri="http://schemas.openxmlformats.org/drawingml/2006/table">
            <a:tbl>
              <a:tblPr/>
              <a:tblGrid>
                <a:gridCol w="320950">
                  <a:extLst>
                    <a:ext uri="{9D8B030D-6E8A-4147-A177-3AD203B41FA5}">
                      <a16:colId xmlns:a16="http://schemas.microsoft.com/office/drawing/2014/main" val="20000"/>
                    </a:ext>
                  </a:extLst>
                </a:gridCol>
                <a:gridCol w="401187">
                  <a:extLst>
                    <a:ext uri="{9D8B030D-6E8A-4147-A177-3AD203B41FA5}">
                      <a16:colId xmlns:a16="http://schemas.microsoft.com/office/drawing/2014/main" val="20001"/>
                    </a:ext>
                  </a:extLst>
                </a:gridCol>
                <a:gridCol w="401187">
                  <a:extLst>
                    <a:ext uri="{9D8B030D-6E8A-4147-A177-3AD203B41FA5}">
                      <a16:colId xmlns:a16="http://schemas.microsoft.com/office/drawing/2014/main" val="20002"/>
                    </a:ext>
                  </a:extLst>
                </a:gridCol>
                <a:gridCol w="401187">
                  <a:extLst>
                    <a:ext uri="{9D8B030D-6E8A-4147-A177-3AD203B41FA5}">
                      <a16:colId xmlns:a16="http://schemas.microsoft.com/office/drawing/2014/main" val="20003"/>
                    </a:ext>
                  </a:extLst>
                </a:gridCol>
                <a:gridCol w="401187">
                  <a:extLst>
                    <a:ext uri="{9D8B030D-6E8A-4147-A177-3AD203B41FA5}">
                      <a16:colId xmlns:a16="http://schemas.microsoft.com/office/drawing/2014/main" val="20004"/>
                    </a:ext>
                  </a:extLst>
                </a:gridCol>
                <a:gridCol w="481425">
                  <a:extLst>
                    <a:ext uri="{9D8B030D-6E8A-4147-A177-3AD203B41FA5}">
                      <a16:colId xmlns:a16="http://schemas.microsoft.com/office/drawing/2014/main" val="20005"/>
                    </a:ext>
                  </a:extLst>
                </a:gridCol>
                <a:gridCol w="401187">
                  <a:extLst>
                    <a:ext uri="{9D8B030D-6E8A-4147-A177-3AD203B41FA5}">
                      <a16:colId xmlns:a16="http://schemas.microsoft.com/office/drawing/2014/main" val="20006"/>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rPr>
                        <a:t>i</a:t>
                      </a:r>
                      <a:endPar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0"/>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rPr>
                        <a:t>i</a:t>
                      </a:r>
                      <a:endPar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3"/>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4"/>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5"/>
                  </a:ext>
                </a:extLst>
              </a:tr>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6"/>
                  </a:ext>
                </a:extLst>
              </a:tr>
            </a:tbl>
          </a:graphicData>
        </a:graphic>
      </p:graphicFrame>
      <p:graphicFrame>
        <p:nvGraphicFramePr>
          <p:cNvPr id="11" name="表格 10"/>
          <p:cNvGraphicFramePr>
            <a:graphicFrameLocks noGrp="1"/>
          </p:cNvGraphicFramePr>
          <p:nvPr>
            <p:extLst>
              <p:ext uri="{D42A27DB-BD31-4B8C-83A1-F6EECF244321}">
                <p14:modId xmlns:p14="http://schemas.microsoft.com/office/powerpoint/2010/main" val="3958625235"/>
              </p:ext>
            </p:extLst>
          </p:nvPr>
        </p:nvGraphicFramePr>
        <p:xfrm>
          <a:off x="6259045" y="2139702"/>
          <a:ext cx="401187" cy="1866900"/>
        </p:xfrm>
        <a:graphic>
          <a:graphicData uri="http://schemas.openxmlformats.org/drawingml/2006/table">
            <a:tbl>
              <a:tblPr/>
              <a:tblGrid>
                <a:gridCol w="401187">
                  <a:extLst>
                    <a:ext uri="{9D8B030D-6E8A-4147-A177-3AD203B41FA5}">
                      <a16:colId xmlns:a16="http://schemas.microsoft.com/office/drawing/2014/main" val="20000"/>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graphicFrame>
        <p:nvGraphicFramePr>
          <p:cNvPr id="12" name="表格 11"/>
          <p:cNvGraphicFramePr>
            <a:graphicFrameLocks noGrp="1"/>
          </p:cNvGraphicFramePr>
          <p:nvPr>
            <p:extLst>
              <p:ext uri="{D42A27DB-BD31-4B8C-83A1-F6EECF244321}">
                <p14:modId xmlns:p14="http://schemas.microsoft.com/office/powerpoint/2010/main" val="1267335427"/>
              </p:ext>
            </p:extLst>
          </p:nvPr>
        </p:nvGraphicFramePr>
        <p:xfrm>
          <a:off x="6660232" y="2152012"/>
          <a:ext cx="1203561" cy="373380"/>
        </p:xfrm>
        <a:graphic>
          <a:graphicData uri="http://schemas.openxmlformats.org/drawingml/2006/table">
            <a:tbl>
              <a:tblPr/>
              <a:tblGrid>
                <a:gridCol w="401187">
                  <a:extLst>
                    <a:ext uri="{9D8B030D-6E8A-4147-A177-3AD203B41FA5}">
                      <a16:colId xmlns:a16="http://schemas.microsoft.com/office/drawing/2014/main" val="20000"/>
                    </a:ext>
                  </a:extLst>
                </a:gridCol>
                <a:gridCol w="401187">
                  <a:extLst>
                    <a:ext uri="{9D8B030D-6E8A-4147-A177-3AD203B41FA5}">
                      <a16:colId xmlns:a16="http://schemas.microsoft.com/office/drawing/2014/main" val="20001"/>
                    </a:ext>
                  </a:extLst>
                </a:gridCol>
                <a:gridCol w="401187">
                  <a:extLst>
                    <a:ext uri="{9D8B030D-6E8A-4147-A177-3AD203B41FA5}">
                      <a16:colId xmlns:a16="http://schemas.microsoft.com/office/drawing/2014/main" val="20002"/>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759932409"/>
              </p:ext>
            </p:extLst>
          </p:nvPr>
        </p:nvGraphicFramePr>
        <p:xfrm>
          <a:off x="6691093" y="2546694"/>
          <a:ext cx="401187" cy="1493520"/>
        </p:xfrm>
        <a:graphic>
          <a:graphicData uri="http://schemas.openxmlformats.org/drawingml/2006/table">
            <a:tbl>
              <a:tblPr/>
              <a:tblGrid>
                <a:gridCol w="401187">
                  <a:extLst>
                    <a:ext uri="{9D8B030D-6E8A-4147-A177-3AD203B41FA5}">
                      <a16:colId xmlns:a16="http://schemas.microsoft.com/office/drawing/2014/main" val="20000"/>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687317367"/>
              </p:ext>
            </p:extLst>
          </p:nvPr>
        </p:nvGraphicFramePr>
        <p:xfrm>
          <a:off x="7081994" y="2499742"/>
          <a:ext cx="802374" cy="373380"/>
        </p:xfrm>
        <a:graphic>
          <a:graphicData uri="http://schemas.openxmlformats.org/drawingml/2006/table">
            <a:tbl>
              <a:tblPr/>
              <a:tblGrid>
                <a:gridCol w="401187">
                  <a:extLst>
                    <a:ext uri="{9D8B030D-6E8A-4147-A177-3AD203B41FA5}">
                      <a16:colId xmlns:a16="http://schemas.microsoft.com/office/drawing/2014/main" val="20000"/>
                    </a:ext>
                  </a:extLst>
                </a:gridCol>
                <a:gridCol w="401187">
                  <a:extLst>
                    <a:ext uri="{9D8B030D-6E8A-4147-A177-3AD203B41FA5}">
                      <a16:colId xmlns:a16="http://schemas.microsoft.com/office/drawing/2014/main" val="20001"/>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TextBox 14"/>
          <p:cNvSpPr txBox="1"/>
          <p:nvPr/>
        </p:nvSpPr>
        <p:spPr>
          <a:xfrm>
            <a:off x="7884368" y="3282538"/>
            <a:ext cx="432048" cy="369332"/>
          </a:xfrm>
          <a:prstGeom prst="rect">
            <a:avLst/>
          </a:prstGeom>
          <a:noFill/>
        </p:spPr>
        <p:txBody>
          <a:bodyPr wrap="square" rtlCol="0">
            <a:spAutoFit/>
          </a:bodyPr>
          <a:lstStyle/>
          <a:p>
            <a:r>
              <a:rPr lang="en-US" altLang="zh-CN" dirty="0"/>
              <a:t>=</a:t>
            </a:r>
            <a:endParaRPr lang="zh-CN" altLang="en-US" dirty="0"/>
          </a:p>
        </p:txBody>
      </p:sp>
      <p:graphicFrame>
        <p:nvGraphicFramePr>
          <p:cNvPr id="16" name="表格 15"/>
          <p:cNvGraphicFramePr>
            <a:graphicFrameLocks noGrp="1"/>
          </p:cNvGraphicFramePr>
          <p:nvPr>
            <p:extLst>
              <p:ext uri="{D42A27DB-BD31-4B8C-83A1-F6EECF244321}">
                <p14:modId xmlns:p14="http://schemas.microsoft.com/office/powerpoint/2010/main" val="3929356926"/>
              </p:ext>
            </p:extLst>
          </p:nvPr>
        </p:nvGraphicFramePr>
        <p:xfrm>
          <a:off x="6228184" y="3280514"/>
          <a:ext cx="1604748" cy="373380"/>
        </p:xfrm>
        <a:graphic>
          <a:graphicData uri="http://schemas.openxmlformats.org/drawingml/2006/table">
            <a:tbl>
              <a:tblPr/>
              <a:tblGrid>
                <a:gridCol w="401187">
                  <a:extLst>
                    <a:ext uri="{9D8B030D-6E8A-4147-A177-3AD203B41FA5}">
                      <a16:colId xmlns:a16="http://schemas.microsoft.com/office/drawing/2014/main" val="20000"/>
                    </a:ext>
                  </a:extLst>
                </a:gridCol>
                <a:gridCol w="401187">
                  <a:extLst>
                    <a:ext uri="{9D8B030D-6E8A-4147-A177-3AD203B41FA5}">
                      <a16:colId xmlns:a16="http://schemas.microsoft.com/office/drawing/2014/main" val="20001"/>
                    </a:ext>
                  </a:extLst>
                </a:gridCol>
                <a:gridCol w="401187">
                  <a:extLst>
                    <a:ext uri="{9D8B030D-6E8A-4147-A177-3AD203B41FA5}">
                      <a16:colId xmlns:a16="http://schemas.microsoft.com/office/drawing/2014/main" val="20002"/>
                    </a:ext>
                  </a:extLst>
                </a:gridCol>
                <a:gridCol w="401187">
                  <a:extLst>
                    <a:ext uri="{9D8B030D-6E8A-4147-A177-3AD203B41FA5}">
                      <a16:colId xmlns:a16="http://schemas.microsoft.com/office/drawing/2014/main" val="20003"/>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7" name="表格 16"/>
          <p:cNvGraphicFramePr>
            <a:graphicFrameLocks noGrp="1"/>
          </p:cNvGraphicFramePr>
          <p:nvPr>
            <p:extLst>
              <p:ext uri="{D42A27DB-BD31-4B8C-83A1-F6EECF244321}">
                <p14:modId xmlns:p14="http://schemas.microsoft.com/office/powerpoint/2010/main" val="1437092170"/>
              </p:ext>
            </p:extLst>
          </p:nvPr>
        </p:nvGraphicFramePr>
        <p:xfrm>
          <a:off x="7906999" y="2185458"/>
          <a:ext cx="481425" cy="1866900"/>
        </p:xfrm>
        <a:graphic>
          <a:graphicData uri="http://schemas.openxmlformats.org/drawingml/2006/table">
            <a:tbl>
              <a:tblPr/>
              <a:tblGrid>
                <a:gridCol w="481425">
                  <a:extLst>
                    <a:ext uri="{9D8B030D-6E8A-4147-A177-3AD203B41FA5}">
                      <a16:colId xmlns:a16="http://schemas.microsoft.com/office/drawing/2014/main" val="20000"/>
                    </a:ext>
                  </a:extLst>
                </a:gridCol>
              </a:tblGrid>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4975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graphicFrame>
        <p:nvGraphicFramePr>
          <p:cNvPr id="18" name="表格 17"/>
          <p:cNvGraphicFramePr>
            <a:graphicFrameLocks noGrp="1"/>
          </p:cNvGraphicFramePr>
          <p:nvPr>
            <p:extLst>
              <p:ext uri="{D42A27DB-BD31-4B8C-83A1-F6EECF244321}">
                <p14:modId xmlns:p14="http://schemas.microsoft.com/office/powerpoint/2010/main" val="4145678660"/>
              </p:ext>
            </p:extLst>
          </p:nvPr>
        </p:nvGraphicFramePr>
        <p:xfrm>
          <a:off x="6279620" y="3984906"/>
          <a:ext cx="1604748" cy="373380"/>
        </p:xfrm>
        <a:graphic>
          <a:graphicData uri="http://schemas.openxmlformats.org/drawingml/2006/table">
            <a:tbl>
              <a:tblPr/>
              <a:tblGrid>
                <a:gridCol w="401187">
                  <a:extLst>
                    <a:ext uri="{9D8B030D-6E8A-4147-A177-3AD203B41FA5}">
                      <a16:colId xmlns:a16="http://schemas.microsoft.com/office/drawing/2014/main" val="20000"/>
                    </a:ext>
                  </a:extLst>
                </a:gridCol>
                <a:gridCol w="401187">
                  <a:extLst>
                    <a:ext uri="{9D8B030D-6E8A-4147-A177-3AD203B41FA5}">
                      <a16:colId xmlns:a16="http://schemas.microsoft.com/office/drawing/2014/main" val="20001"/>
                    </a:ext>
                  </a:extLst>
                </a:gridCol>
                <a:gridCol w="401187">
                  <a:extLst>
                    <a:ext uri="{9D8B030D-6E8A-4147-A177-3AD203B41FA5}">
                      <a16:colId xmlns:a16="http://schemas.microsoft.com/office/drawing/2014/main" val="20002"/>
                    </a:ext>
                  </a:extLst>
                </a:gridCol>
                <a:gridCol w="401187">
                  <a:extLst>
                    <a:ext uri="{9D8B030D-6E8A-4147-A177-3AD203B41FA5}">
                      <a16:colId xmlns:a16="http://schemas.microsoft.com/office/drawing/2014/main" val="20003"/>
                    </a:ext>
                  </a:extLst>
                </a:gridCol>
              </a:tblGrid>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endParaRPr kumimoji="1" lang="zh-CN"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9" name="表格 18"/>
          <p:cNvGraphicFramePr>
            <a:graphicFrameLocks noGrp="1"/>
          </p:cNvGraphicFramePr>
          <p:nvPr>
            <p:extLst>
              <p:ext uri="{D42A27DB-BD31-4B8C-83A1-F6EECF244321}">
                <p14:modId xmlns:p14="http://schemas.microsoft.com/office/powerpoint/2010/main" val="2908125841"/>
              </p:ext>
            </p:extLst>
          </p:nvPr>
        </p:nvGraphicFramePr>
        <p:xfrm>
          <a:off x="8347277" y="2185458"/>
          <a:ext cx="401187" cy="1866900"/>
        </p:xfrm>
        <a:graphic>
          <a:graphicData uri="http://schemas.openxmlformats.org/drawingml/2006/table">
            <a:tbl>
              <a:tblPr/>
              <a:tblGrid>
                <a:gridCol w="401187">
                  <a:extLst>
                    <a:ext uri="{9D8B030D-6E8A-4147-A177-3AD203B41FA5}">
                      <a16:colId xmlns:a16="http://schemas.microsoft.com/office/drawing/2014/main" val="20000"/>
                    </a:ext>
                  </a:extLst>
                </a:gridCol>
              </a:tblGrid>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49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000" b="1"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 name="TextBox 19"/>
          <p:cNvSpPr txBox="1"/>
          <p:nvPr/>
        </p:nvSpPr>
        <p:spPr>
          <a:xfrm>
            <a:off x="8316416" y="4018044"/>
            <a:ext cx="330812" cy="369332"/>
          </a:xfrm>
          <a:prstGeom prst="rect">
            <a:avLst/>
          </a:prstGeom>
          <a:noFill/>
        </p:spPr>
        <p:txBody>
          <a:bodyPr wrap="square" rtlCol="0">
            <a:spAutoFit/>
          </a:bodyPr>
          <a:lstStyle/>
          <a:p>
            <a:r>
              <a:rPr lang="en-US" altLang="zh-CN" dirty="0"/>
              <a:t>=</a:t>
            </a:r>
            <a:endParaRPr lang="zh-CN" altLang="en-US" dirty="0"/>
          </a:p>
        </p:txBody>
      </p:sp>
    </p:spTree>
    <p:extLst>
      <p:ext uri="{BB962C8B-B14F-4D97-AF65-F5344CB8AC3E}">
        <p14:creationId xmlns:p14="http://schemas.microsoft.com/office/powerpoint/2010/main" val="212197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8"/>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5" grpId="0"/>
      <p:bldP spid="20" grpId="0"/>
    </p:bldLst>
  </p:timing>
</p:sld>
</file>

<file path=ppt/slides/slide17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8722" name="Rectangle 2"/>
          <p:cNvSpPr>
            <a:spLocks noGrp="1" noChangeArrowheads="1"/>
          </p:cNvSpPr>
          <p:nvPr>
            <p:ph type="title"/>
          </p:nvPr>
        </p:nvSpPr>
        <p:spPr>
          <a:xfrm>
            <a:off x="179512" y="179412"/>
            <a:ext cx="3168352" cy="592138"/>
          </a:xfrm>
        </p:spPr>
        <p:txBody>
          <a:bodyPr>
            <a:normAutofit fontScale="90000"/>
          </a:bodyPr>
          <a:lstStyle/>
          <a:p>
            <a:pPr eaLnBrk="1" hangingPunct="1"/>
            <a:r>
              <a:rPr lang="zh-CN" altLang="en-US" b="0" dirty="0">
                <a:solidFill>
                  <a:schemeClr val="tx1"/>
                </a:solidFill>
                <a:effectLst/>
                <a:latin typeface="宋体" pitchFamily="2" charset="-122"/>
                <a:ea typeface="隶书" pitchFamily="49" charset="-122"/>
              </a:rPr>
              <a:t>例</a:t>
            </a:r>
          </a:p>
        </p:txBody>
      </p:sp>
      <p:sp>
        <p:nvSpPr>
          <p:cNvPr id="158723" name="Rectangle 3"/>
          <p:cNvSpPr>
            <a:spLocks noGrp="1" noChangeArrowheads="1"/>
          </p:cNvSpPr>
          <p:nvPr>
            <p:ph type="body" idx="1"/>
          </p:nvPr>
        </p:nvSpPr>
        <p:spPr>
          <a:xfrm>
            <a:off x="242019" y="2715766"/>
            <a:ext cx="3321869" cy="1600200"/>
          </a:xfrm>
          <a:ln w="28575"/>
        </p:spPr>
        <p:style>
          <a:lnRef idx="2">
            <a:schemeClr val="accent2"/>
          </a:lnRef>
          <a:fillRef idx="1">
            <a:schemeClr val="lt1"/>
          </a:fillRef>
          <a:effectRef idx="0">
            <a:schemeClr val="accent2"/>
          </a:effectRef>
          <a:fontRef idx="minor">
            <a:schemeClr val="dk1"/>
          </a:fontRef>
        </p:style>
        <p:txBody>
          <a:bodyPr>
            <a:noAutofit/>
          </a:bodyPr>
          <a:lstStyle/>
          <a:p>
            <a:pPr eaLnBrk="1" hangingPunct="1"/>
            <a:r>
              <a:rPr lang="en-US" altLang="zh-CN" sz="2200" dirty="0" err="1">
                <a:solidFill>
                  <a:srgbClr val="0000CC"/>
                </a:solidFill>
              </a:rPr>
              <a:t>FirstVT</a:t>
            </a:r>
            <a:r>
              <a:rPr lang="en-US" altLang="zh-CN" sz="2200" dirty="0">
                <a:solidFill>
                  <a:srgbClr val="0000CC"/>
                </a:solidFill>
              </a:rPr>
              <a:t>(S) = {a,(}</a:t>
            </a:r>
          </a:p>
          <a:p>
            <a:pPr eaLnBrk="1" hangingPunct="1"/>
            <a:r>
              <a:rPr lang="en-US" altLang="zh-CN" sz="2200" dirty="0" err="1">
                <a:solidFill>
                  <a:srgbClr val="0000CC"/>
                </a:solidFill>
              </a:rPr>
              <a:t>FirstVT</a:t>
            </a:r>
            <a:r>
              <a:rPr lang="en-US" altLang="zh-CN" sz="2200" dirty="0">
                <a:solidFill>
                  <a:srgbClr val="0000CC"/>
                </a:solidFill>
              </a:rPr>
              <a:t>(T) = {a,(, , }</a:t>
            </a:r>
          </a:p>
          <a:p>
            <a:pPr eaLnBrk="1" hangingPunct="1"/>
            <a:r>
              <a:rPr lang="en-US" altLang="zh-CN" sz="2200" dirty="0" err="1"/>
              <a:t>LastVT</a:t>
            </a:r>
            <a:r>
              <a:rPr lang="en-US" altLang="zh-CN" sz="2200" dirty="0"/>
              <a:t>(S) = {a,)}</a:t>
            </a:r>
          </a:p>
          <a:p>
            <a:pPr eaLnBrk="1" hangingPunct="1"/>
            <a:r>
              <a:rPr lang="en-US" altLang="zh-CN" sz="2200" dirty="0" err="1"/>
              <a:t>LastVT</a:t>
            </a:r>
            <a:r>
              <a:rPr lang="en-US" altLang="zh-CN" sz="2200" dirty="0"/>
              <a:t>(T) = {a,), , }</a:t>
            </a:r>
          </a:p>
        </p:txBody>
      </p:sp>
      <p:sp>
        <p:nvSpPr>
          <p:cNvPr id="158725" name="Text Box 5"/>
          <p:cNvSpPr txBox="1">
            <a:spLocks noChangeArrowheads="1"/>
          </p:cNvSpPr>
          <p:nvPr/>
        </p:nvSpPr>
        <p:spPr bwMode="auto">
          <a:xfrm>
            <a:off x="323528" y="788988"/>
            <a:ext cx="381642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None/>
            </a:pPr>
            <a:r>
              <a:rPr lang="zh-CN" altLang="en-US" sz="2200" dirty="0">
                <a:latin typeface="宋体" panose="02010600030101010101" pitchFamily="2" charset="-122"/>
              </a:rPr>
              <a:t>给定文法</a:t>
            </a:r>
            <a:r>
              <a:rPr lang="en-US" altLang="zh-CN" sz="2200" dirty="0">
                <a:latin typeface="宋体" panose="02010600030101010101" pitchFamily="2" charset="-122"/>
              </a:rPr>
              <a:t>G</a:t>
            </a:r>
            <a:r>
              <a:rPr lang="zh-CN" altLang="en-US" sz="2200" dirty="0">
                <a:latin typeface="宋体" panose="02010600030101010101" pitchFamily="2" charset="-122"/>
              </a:rPr>
              <a:t>的</a:t>
            </a:r>
            <a:r>
              <a:rPr lang="en-US" altLang="zh-CN" sz="2200" dirty="0" err="1">
                <a:latin typeface="宋体" panose="02010600030101010101" pitchFamily="2" charset="-122"/>
              </a:rPr>
              <a:t>FirstVT</a:t>
            </a:r>
            <a:r>
              <a:rPr lang="zh-CN" altLang="en-US" sz="2200" dirty="0">
                <a:latin typeface="宋体" panose="02010600030101010101" pitchFamily="2" charset="-122"/>
              </a:rPr>
              <a:t>和</a:t>
            </a:r>
            <a:r>
              <a:rPr lang="en-US" altLang="zh-CN" sz="2200" dirty="0" err="1">
                <a:latin typeface="宋体" panose="02010600030101010101" pitchFamily="2" charset="-122"/>
              </a:rPr>
              <a:t>LastVT</a:t>
            </a:r>
            <a:r>
              <a:rPr lang="zh-CN" altLang="en-US" sz="2200" dirty="0">
                <a:latin typeface="宋体" panose="02010600030101010101" pitchFamily="2" charset="-122"/>
              </a:rPr>
              <a:t>集</a:t>
            </a:r>
            <a:r>
              <a:rPr lang="en-US" altLang="zh-CN" sz="2200" dirty="0">
                <a:latin typeface="宋体" panose="02010600030101010101" pitchFamily="2" charset="-122"/>
              </a:rPr>
              <a:t>,</a:t>
            </a:r>
            <a:r>
              <a:rPr lang="zh-CN" altLang="en-US" sz="2200" dirty="0">
                <a:latin typeface="宋体" panose="02010600030101010101" pitchFamily="2" charset="-122"/>
              </a:rPr>
              <a:t>构造算符优先关系表。</a:t>
            </a:r>
          </a:p>
        </p:txBody>
      </p:sp>
      <p:sp>
        <p:nvSpPr>
          <p:cNvPr id="158726" name="Text Box 6"/>
          <p:cNvSpPr txBox="1">
            <a:spLocks noChangeArrowheads="1"/>
          </p:cNvSpPr>
          <p:nvPr/>
        </p:nvSpPr>
        <p:spPr bwMode="auto">
          <a:xfrm>
            <a:off x="646639" y="1667877"/>
            <a:ext cx="1753741" cy="769441"/>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200" dirty="0">
                <a:ea typeface="华文行楷" pitchFamily="2" charset="-122"/>
              </a:rPr>
              <a:t>S </a:t>
            </a:r>
            <a:r>
              <a:rPr lang="en-US" altLang="zh-CN" sz="2200" dirty="0">
                <a:ea typeface="华文行楷" pitchFamily="2" charset="-122"/>
                <a:sym typeface="Wingdings" pitchFamily="2" charset="2"/>
              </a:rPr>
              <a:t> a | (T)</a:t>
            </a:r>
          </a:p>
          <a:p>
            <a:pPr algn="ctr" eaLnBrk="1" hangingPunct="1">
              <a:spcBef>
                <a:spcPts val="0"/>
              </a:spcBef>
              <a:buFontTx/>
              <a:buNone/>
            </a:pPr>
            <a:r>
              <a:rPr lang="en-US" altLang="zh-CN" sz="2200" dirty="0">
                <a:ea typeface="华文行楷" pitchFamily="2" charset="-122"/>
                <a:sym typeface="Wingdings" pitchFamily="2" charset="2"/>
              </a:rPr>
              <a:t>T  T,S | S </a:t>
            </a:r>
            <a:endParaRPr lang="en-US" altLang="zh-CN" sz="2200" dirty="0">
              <a:ea typeface="华文行楷" pitchFamily="2" charset="-122"/>
            </a:endParaRPr>
          </a:p>
        </p:txBody>
      </p:sp>
      <p:graphicFrame>
        <p:nvGraphicFramePr>
          <p:cNvPr id="135259" name="Group 91"/>
          <p:cNvGraphicFramePr>
            <a:graphicFrameLocks noGrp="1"/>
          </p:cNvGraphicFramePr>
          <p:nvPr>
            <p:extLst>
              <p:ext uri="{D42A27DB-BD31-4B8C-83A1-F6EECF244321}">
                <p14:modId xmlns:p14="http://schemas.microsoft.com/office/powerpoint/2010/main" val="1953428546"/>
              </p:ext>
            </p:extLst>
          </p:nvPr>
        </p:nvGraphicFramePr>
        <p:xfrm>
          <a:off x="4492054" y="2279650"/>
          <a:ext cx="4616450" cy="2332038"/>
        </p:xfrm>
        <a:graphic>
          <a:graphicData uri="http://schemas.openxmlformats.org/drawingml/2006/table">
            <a:tbl>
              <a:tblPr/>
              <a:tblGrid>
                <a:gridCol w="914400">
                  <a:extLst>
                    <a:ext uri="{9D8B030D-6E8A-4147-A177-3AD203B41FA5}">
                      <a16:colId xmlns:a16="http://schemas.microsoft.com/office/drawing/2014/main" val="20000"/>
                    </a:ext>
                  </a:extLst>
                </a:gridCol>
                <a:gridCol w="781050">
                  <a:extLst>
                    <a:ext uri="{9D8B030D-6E8A-4147-A177-3AD203B41FA5}">
                      <a16:colId xmlns:a16="http://schemas.microsoft.com/office/drawing/2014/main" val="20001"/>
                    </a:ext>
                  </a:extLst>
                </a:gridCol>
                <a:gridCol w="841375">
                  <a:extLst>
                    <a:ext uri="{9D8B030D-6E8A-4147-A177-3AD203B41FA5}">
                      <a16:colId xmlns:a16="http://schemas.microsoft.com/office/drawing/2014/main" val="20002"/>
                    </a:ext>
                  </a:extLst>
                </a:gridCol>
                <a:gridCol w="758825">
                  <a:extLst>
                    <a:ext uri="{9D8B030D-6E8A-4147-A177-3AD203B41FA5}">
                      <a16:colId xmlns:a16="http://schemas.microsoft.com/office/drawing/2014/main" val="20003"/>
                    </a:ext>
                  </a:extLst>
                </a:gridCol>
                <a:gridCol w="725488">
                  <a:extLst>
                    <a:ext uri="{9D8B030D-6E8A-4147-A177-3AD203B41FA5}">
                      <a16:colId xmlns:a16="http://schemas.microsoft.com/office/drawing/2014/main" val="20004"/>
                    </a:ext>
                  </a:extLst>
                </a:gridCol>
                <a:gridCol w="595312">
                  <a:extLst>
                    <a:ext uri="{9D8B030D-6E8A-4147-A177-3AD203B41FA5}">
                      <a16:colId xmlns:a16="http://schemas.microsoft.com/office/drawing/2014/main" val="20005"/>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endParaRPr lang="zh-CN" altLang="en-US"/>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endParaRPr lang="zh-CN" altLang="en-US"/>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endParaRPr lang="zh-CN" altLang="en-US" dirty="0"/>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sp>
        <p:nvSpPr>
          <p:cNvPr id="8" name="Text Box 6"/>
          <p:cNvSpPr txBox="1">
            <a:spLocks noChangeArrowheads="1"/>
          </p:cNvSpPr>
          <p:nvPr/>
        </p:nvSpPr>
        <p:spPr bwMode="auto">
          <a:xfrm>
            <a:off x="4860032" y="267494"/>
            <a:ext cx="1753741" cy="1446550"/>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200" dirty="0">
                <a:ea typeface="华文行楷" pitchFamily="2" charset="-122"/>
              </a:rPr>
              <a:t>S </a:t>
            </a:r>
            <a:r>
              <a:rPr lang="en-US" altLang="zh-CN" sz="2200" dirty="0">
                <a:ea typeface="华文行楷" pitchFamily="2" charset="-122"/>
                <a:sym typeface="Wingdings" pitchFamily="2" charset="2"/>
              </a:rPr>
              <a:t> a</a:t>
            </a:r>
          </a:p>
          <a:p>
            <a:pPr>
              <a:spcBef>
                <a:spcPts val="0"/>
              </a:spcBef>
              <a:buNone/>
            </a:pPr>
            <a:r>
              <a:rPr lang="en-US" altLang="zh-CN" sz="2200" dirty="0">
                <a:ea typeface="华文行楷" pitchFamily="2" charset="-122"/>
              </a:rPr>
              <a:t>S </a:t>
            </a:r>
            <a:r>
              <a:rPr lang="en-US" altLang="zh-CN" sz="2200" dirty="0">
                <a:ea typeface="华文行楷" pitchFamily="2" charset="-122"/>
                <a:sym typeface="Wingdings" pitchFamily="2" charset="2"/>
              </a:rPr>
              <a:t>(T)</a:t>
            </a:r>
          </a:p>
          <a:p>
            <a:pPr eaLnBrk="1" hangingPunct="1">
              <a:spcBef>
                <a:spcPts val="0"/>
              </a:spcBef>
              <a:buFontTx/>
              <a:buNone/>
            </a:pPr>
            <a:r>
              <a:rPr lang="en-US" altLang="zh-CN" sz="2200" dirty="0">
                <a:ea typeface="华文行楷" pitchFamily="2" charset="-122"/>
                <a:sym typeface="Wingdings" pitchFamily="2" charset="2"/>
              </a:rPr>
              <a:t>T  T,S </a:t>
            </a:r>
          </a:p>
          <a:p>
            <a:pPr>
              <a:spcBef>
                <a:spcPts val="0"/>
              </a:spcBef>
              <a:buNone/>
            </a:pPr>
            <a:r>
              <a:rPr lang="en-US" altLang="zh-CN" sz="2200" dirty="0">
                <a:ea typeface="华文行楷" pitchFamily="2" charset="-122"/>
                <a:sym typeface="Wingdings" pitchFamily="2" charset="2"/>
              </a:rPr>
              <a:t>T  S </a:t>
            </a:r>
          </a:p>
        </p:txBody>
      </p:sp>
      <p:graphicFrame>
        <p:nvGraphicFramePr>
          <p:cNvPr id="2" name="表格 1"/>
          <p:cNvGraphicFramePr>
            <a:graphicFrameLocks noGrp="1"/>
          </p:cNvGraphicFramePr>
          <p:nvPr>
            <p:extLst>
              <p:ext uri="{D42A27DB-BD31-4B8C-83A1-F6EECF244321}">
                <p14:modId xmlns:p14="http://schemas.microsoft.com/office/powerpoint/2010/main" val="115773206"/>
              </p:ext>
            </p:extLst>
          </p:nvPr>
        </p:nvGraphicFramePr>
        <p:xfrm>
          <a:off x="5423148" y="3435846"/>
          <a:ext cx="2381250" cy="388673"/>
        </p:xfrm>
        <a:graphic>
          <a:graphicData uri="http://schemas.openxmlformats.org/drawingml/2006/table">
            <a:tbl>
              <a:tblPr/>
              <a:tblGrid>
                <a:gridCol w="781050">
                  <a:extLst>
                    <a:ext uri="{9D8B030D-6E8A-4147-A177-3AD203B41FA5}">
                      <a16:colId xmlns:a16="http://schemas.microsoft.com/office/drawing/2014/main" val="20000"/>
                    </a:ext>
                  </a:extLst>
                </a:gridCol>
                <a:gridCol w="841375">
                  <a:extLst>
                    <a:ext uri="{9D8B030D-6E8A-4147-A177-3AD203B41FA5}">
                      <a16:colId xmlns:a16="http://schemas.microsoft.com/office/drawing/2014/main" val="20001"/>
                    </a:ext>
                  </a:extLst>
                </a:gridCol>
                <a:gridCol w="758825">
                  <a:extLst>
                    <a:ext uri="{9D8B030D-6E8A-4147-A177-3AD203B41FA5}">
                      <a16:colId xmlns:a16="http://schemas.microsoft.com/office/drawing/2014/main" val="20002"/>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FF0000"/>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FF0000"/>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FF0000"/>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表格 2"/>
          <p:cNvGraphicFramePr>
            <a:graphicFrameLocks noGrp="1"/>
          </p:cNvGraphicFramePr>
          <p:nvPr>
            <p:extLst>
              <p:ext uri="{D42A27DB-BD31-4B8C-83A1-F6EECF244321}">
                <p14:modId xmlns:p14="http://schemas.microsoft.com/office/powerpoint/2010/main" val="1587128603"/>
              </p:ext>
            </p:extLst>
          </p:nvPr>
        </p:nvGraphicFramePr>
        <p:xfrm>
          <a:off x="7812360" y="2643758"/>
          <a:ext cx="725488" cy="1554692"/>
        </p:xfrm>
        <a:graphic>
          <a:graphicData uri="http://schemas.openxmlformats.org/drawingml/2006/table">
            <a:tbl>
              <a:tblPr/>
              <a:tblGrid>
                <a:gridCol w="725488">
                  <a:extLst>
                    <a:ext uri="{9D8B030D-6E8A-4147-A177-3AD203B41FA5}">
                      <a16:colId xmlns:a16="http://schemas.microsoft.com/office/drawing/2014/main" val="20000"/>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11" name="表格 10"/>
          <p:cNvGraphicFramePr>
            <a:graphicFrameLocks noGrp="1"/>
          </p:cNvGraphicFramePr>
          <p:nvPr>
            <p:extLst>
              <p:ext uri="{D42A27DB-BD31-4B8C-83A1-F6EECF244321}">
                <p14:modId xmlns:p14="http://schemas.microsoft.com/office/powerpoint/2010/main" val="273841510"/>
              </p:ext>
            </p:extLst>
          </p:nvPr>
        </p:nvGraphicFramePr>
        <p:xfrm>
          <a:off x="6251029" y="2643758"/>
          <a:ext cx="725488" cy="1554692"/>
        </p:xfrm>
        <a:graphic>
          <a:graphicData uri="http://schemas.openxmlformats.org/drawingml/2006/table">
            <a:tbl>
              <a:tblPr/>
              <a:tblGrid>
                <a:gridCol w="725488">
                  <a:extLst>
                    <a:ext uri="{9D8B030D-6E8A-4147-A177-3AD203B41FA5}">
                      <a16:colId xmlns:a16="http://schemas.microsoft.com/office/drawing/2014/main" val="20000"/>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4" name="表格 3"/>
          <p:cNvGraphicFramePr>
            <a:graphicFrameLocks noGrp="1"/>
          </p:cNvGraphicFramePr>
          <p:nvPr>
            <p:extLst>
              <p:ext uri="{D42A27DB-BD31-4B8C-83A1-F6EECF244321}">
                <p14:modId xmlns:p14="http://schemas.microsoft.com/office/powerpoint/2010/main" val="1791499521"/>
              </p:ext>
            </p:extLst>
          </p:nvPr>
        </p:nvGraphicFramePr>
        <p:xfrm>
          <a:off x="5423148" y="3075806"/>
          <a:ext cx="2381250" cy="388673"/>
        </p:xfrm>
        <a:graphic>
          <a:graphicData uri="http://schemas.openxmlformats.org/drawingml/2006/table">
            <a:tbl>
              <a:tblPr/>
              <a:tblGrid>
                <a:gridCol w="781050">
                  <a:extLst>
                    <a:ext uri="{9D8B030D-6E8A-4147-A177-3AD203B41FA5}">
                      <a16:colId xmlns:a16="http://schemas.microsoft.com/office/drawing/2014/main" val="20000"/>
                    </a:ext>
                  </a:extLst>
                </a:gridCol>
                <a:gridCol w="841375">
                  <a:extLst>
                    <a:ext uri="{9D8B030D-6E8A-4147-A177-3AD203B41FA5}">
                      <a16:colId xmlns:a16="http://schemas.microsoft.com/office/drawing/2014/main" val="20001"/>
                    </a:ext>
                  </a:extLst>
                </a:gridCol>
                <a:gridCol w="758825">
                  <a:extLst>
                    <a:ext uri="{9D8B030D-6E8A-4147-A177-3AD203B41FA5}">
                      <a16:colId xmlns:a16="http://schemas.microsoft.com/office/drawing/2014/main" val="20002"/>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bg2">
                              <a:lumMod val="50000"/>
                            </a:schemeClr>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2100" b="0" i="0" u="none" strike="noStrike" cap="none" normalizeH="0" baseline="0" dirty="0">
                        <a:ln>
                          <a:noFill/>
                        </a:ln>
                        <a:solidFill>
                          <a:schemeClr val="bg2">
                            <a:lumMod val="50000"/>
                          </a:schemeClr>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bg2">
                              <a:lumMod val="50000"/>
                            </a:schemeClr>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278506762"/>
              </p:ext>
            </p:extLst>
          </p:nvPr>
        </p:nvGraphicFramePr>
        <p:xfrm>
          <a:off x="5423148" y="4227934"/>
          <a:ext cx="2381250" cy="388673"/>
        </p:xfrm>
        <a:graphic>
          <a:graphicData uri="http://schemas.openxmlformats.org/drawingml/2006/table">
            <a:tbl>
              <a:tblPr/>
              <a:tblGrid>
                <a:gridCol w="781050">
                  <a:extLst>
                    <a:ext uri="{9D8B030D-6E8A-4147-A177-3AD203B41FA5}">
                      <a16:colId xmlns:a16="http://schemas.microsoft.com/office/drawing/2014/main" val="20000"/>
                    </a:ext>
                  </a:extLst>
                </a:gridCol>
                <a:gridCol w="841375">
                  <a:extLst>
                    <a:ext uri="{9D8B030D-6E8A-4147-A177-3AD203B41FA5}">
                      <a16:colId xmlns:a16="http://schemas.microsoft.com/office/drawing/2014/main" val="20001"/>
                    </a:ext>
                  </a:extLst>
                </a:gridCol>
                <a:gridCol w="758825">
                  <a:extLst>
                    <a:ext uri="{9D8B030D-6E8A-4147-A177-3AD203B41FA5}">
                      <a16:colId xmlns:a16="http://schemas.microsoft.com/office/drawing/2014/main" val="20002"/>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B050"/>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B050"/>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B050"/>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1848504693"/>
              </p:ext>
            </p:extLst>
          </p:nvPr>
        </p:nvGraphicFramePr>
        <p:xfrm>
          <a:off x="8513192" y="2643758"/>
          <a:ext cx="595312" cy="1554692"/>
        </p:xfrm>
        <a:graphic>
          <a:graphicData uri="http://schemas.openxmlformats.org/drawingml/2006/table">
            <a:tbl>
              <a:tblPr/>
              <a:tblGrid>
                <a:gridCol w="595312">
                  <a:extLst>
                    <a:ext uri="{9D8B030D-6E8A-4147-A177-3AD203B41FA5}">
                      <a16:colId xmlns:a16="http://schemas.microsoft.com/office/drawing/2014/main" val="20000"/>
                    </a:ext>
                  </a:extLst>
                </a:gridCol>
              </a:tblGrid>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886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TextBox 6"/>
          <p:cNvSpPr txBox="1"/>
          <p:nvPr/>
        </p:nvSpPr>
        <p:spPr>
          <a:xfrm>
            <a:off x="8028384" y="3498562"/>
            <a:ext cx="432048" cy="369332"/>
          </a:xfrm>
          <a:prstGeom prst="rect">
            <a:avLst/>
          </a:prstGeom>
          <a:noFill/>
        </p:spPr>
        <p:txBody>
          <a:bodyPr wrap="square" rtlCol="0">
            <a:spAutoFit/>
          </a:bodyPr>
          <a:lstStyle/>
          <a:p>
            <a:r>
              <a:rPr lang="en-US" altLang="zh-CN" dirty="0"/>
              <a:t>=</a:t>
            </a:r>
            <a:endParaRPr lang="zh-CN" altLang="en-US" dirty="0"/>
          </a:p>
        </p:txBody>
      </p:sp>
      <p:sp>
        <p:nvSpPr>
          <p:cNvPr id="16" name="TextBox 15"/>
          <p:cNvSpPr txBox="1"/>
          <p:nvPr/>
        </p:nvSpPr>
        <p:spPr>
          <a:xfrm>
            <a:off x="8676456" y="4227934"/>
            <a:ext cx="432048" cy="369332"/>
          </a:xfrm>
          <a:prstGeom prst="rect">
            <a:avLst/>
          </a:prstGeom>
          <a:noFill/>
        </p:spPr>
        <p:txBody>
          <a:bodyPr wrap="square" rtlCol="0">
            <a:spAutoFit/>
          </a:bodyPr>
          <a:lstStyle/>
          <a:p>
            <a:r>
              <a:rPr lang="en-US" altLang="zh-CN" dirty="0"/>
              <a:t>=</a:t>
            </a:r>
            <a:endParaRPr lang="zh-CN" altLang="en-US" dirty="0"/>
          </a:p>
        </p:txBody>
      </p:sp>
      <p:sp>
        <p:nvSpPr>
          <p:cNvPr id="17" name="Text Box 6"/>
          <p:cNvSpPr txBox="1">
            <a:spLocks noChangeArrowheads="1"/>
          </p:cNvSpPr>
          <p:nvPr/>
        </p:nvSpPr>
        <p:spPr bwMode="auto">
          <a:xfrm>
            <a:off x="4860032" y="1708815"/>
            <a:ext cx="1753741" cy="430887"/>
          </a:xfrm>
          <a:prstGeom prst="rect">
            <a:avLst/>
          </a:prstGeom>
          <a:ln w="28575"/>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en-US" altLang="zh-CN" sz="2200" dirty="0">
                <a:solidFill>
                  <a:srgbClr val="FF0000"/>
                </a:solidFill>
                <a:ea typeface="华文行楷" pitchFamily="2" charset="-122"/>
                <a:sym typeface="Wingdings" pitchFamily="2" charset="2"/>
              </a:rPr>
              <a:t>S</a:t>
            </a:r>
            <a:r>
              <a:rPr lang="en-US" altLang="zh-CN" sz="2200" dirty="0">
                <a:solidFill>
                  <a:srgbClr val="FF0000"/>
                </a:solidFill>
                <a:latin typeface="Cambria Math" panose="02040503050406030204" pitchFamily="18" charset="0"/>
                <a:ea typeface="Cambria Math" panose="02040503050406030204" pitchFamily="18" charset="0"/>
                <a:sym typeface="Wingdings" pitchFamily="2" charset="2"/>
              </a:rPr>
              <a:t>’</a:t>
            </a:r>
            <a:r>
              <a:rPr lang="en-US" altLang="zh-CN" sz="2200" dirty="0">
                <a:solidFill>
                  <a:srgbClr val="FF0000"/>
                </a:solidFill>
                <a:ea typeface="华文行楷" pitchFamily="2" charset="-122"/>
                <a:sym typeface="Wingdings" pitchFamily="2" charset="2"/>
              </a:rPr>
              <a:t> #S#</a:t>
            </a:r>
            <a:endParaRPr lang="en-US" altLang="zh-CN" sz="2200" dirty="0">
              <a:solidFill>
                <a:srgbClr val="FF0000"/>
              </a:solidFill>
              <a:ea typeface="华文行楷" pitchFamily="2" charset="-122"/>
            </a:endParaRPr>
          </a:p>
        </p:txBody>
      </p:sp>
    </p:spTree>
    <p:extLst>
      <p:ext uri="{BB962C8B-B14F-4D97-AF65-F5344CB8AC3E}">
        <p14:creationId xmlns:p14="http://schemas.microsoft.com/office/powerpoint/2010/main" val="2537998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13525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p:bldP spid="16" grpId="0"/>
      <p:bldP spid="17"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1584176"/>
          </a:xfrm>
        </p:spPr>
        <p:txBody>
          <a:bodyPr>
            <a:normAutofit/>
          </a:bodyPr>
          <a:lstStyle/>
          <a:p>
            <a:pPr marL="0" indent="0">
              <a:buNone/>
            </a:pPr>
            <a:r>
              <a:rPr lang="en-US" altLang="zh-CN" sz="4400" b="1" kern="1200" dirty="0">
                <a:solidFill>
                  <a:srgbClr val="CC0099"/>
                </a:solidFill>
                <a:latin typeface="Times New Roman" pitchFamily="18" charset="0"/>
                <a:ea typeface="隶书" pitchFamily="49" charset="-122"/>
              </a:rPr>
              <a:t>8. </a:t>
            </a:r>
            <a:r>
              <a:rPr lang="zh-CN" altLang="en-US" sz="4400" b="1" dirty="0">
                <a:solidFill>
                  <a:srgbClr val="CC0099"/>
                </a:solidFill>
                <a:latin typeface="Times New Roman" pitchFamily="18" charset="0"/>
                <a:ea typeface="隶书" pitchFamily="49" charset="-122"/>
              </a:rPr>
              <a:t>算符优先分析过程</a:t>
            </a:r>
            <a:endParaRPr lang="en-US" altLang="zh-CN" sz="4400" b="1" dirty="0">
              <a:solidFill>
                <a:srgbClr val="CC0099"/>
              </a:solidFill>
              <a:latin typeface="Times New Roman" pitchFamily="18" charset="0"/>
              <a:ea typeface="隶书" pitchFamily="49" charset="-122"/>
            </a:endParaRPr>
          </a:p>
        </p:txBody>
      </p:sp>
    </p:spTree>
    <p:extLst>
      <p:ext uri="{BB962C8B-B14F-4D97-AF65-F5344CB8AC3E}">
        <p14:creationId xmlns:p14="http://schemas.microsoft.com/office/powerpoint/2010/main" val="292410973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p:cNvSpPr>
            <a:spLocks noGrp="1" noChangeArrowheads="1"/>
          </p:cNvSpPr>
          <p:nvPr>
            <p:ph type="title"/>
          </p:nvPr>
        </p:nvSpPr>
        <p:spPr>
          <a:xfrm>
            <a:off x="539552" y="123478"/>
            <a:ext cx="7772400" cy="857250"/>
          </a:xfrm>
        </p:spPr>
        <p:txBody>
          <a:bodyPr/>
          <a:lstStyle/>
          <a:p>
            <a:pPr eaLnBrk="1" hangingPunct="1"/>
            <a:r>
              <a:rPr lang="zh-CN" altLang="en-US" b="1" dirty="0">
                <a:solidFill>
                  <a:schemeClr val="tx1"/>
                </a:solidFill>
                <a:latin typeface="宋体" pitchFamily="2" charset="-122"/>
                <a:ea typeface="隶书" pitchFamily="49" charset="-122"/>
              </a:rPr>
              <a:t>算符优先分析方法</a:t>
            </a:r>
            <a:endParaRPr lang="zh-CN" altLang="en-US" dirty="0">
              <a:solidFill>
                <a:schemeClr val="tx1"/>
              </a:solidFill>
              <a:ea typeface="隶书" pitchFamily="49" charset="-122"/>
            </a:endParaRPr>
          </a:p>
        </p:txBody>
      </p:sp>
      <p:sp>
        <p:nvSpPr>
          <p:cNvPr id="159747" name="Rectangle 3"/>
          <p:cNvSpPr>
            <a:spLocks noGrp="1" noChangeArrowheads="1"/>
          </p:cNvSpPr>
          <p:nvPr>
            <p:ph type="body" idx="1"/>
          </p:nvPr>
        </p:nvSpPr>
        <p:spPr>
          <a:xfrm>
            <a:off x="467544" y="987574"/>
            <a:ext cx="7992888" cy="1584176"/>
          </a:xfrm>
        </p:spPr>
        <p:txBody>
          <a:bodyPr>
            <a:normAutofit fontScale="92500"/>
          </a:bodyPr>
          <a:lstStyle/>
          <a:p>
            <a:pPr eaLnBrk="1" hangingPunct="1"/>
            <a:r>
              <a:rPr lang="zh-CN" altLang="en-US" sz="2400" b="1" dirty="0">
                <a:solidFill>
                  <a:srgbClr val="0000FF"/>
                </a:solidFill>
                <a:latin typeface="宋体" panose="02010600030101010101" pitchFamily="2" charset="-122"/>
                <a:ea typeface="宋体" panose="02010600030101010101" pitchFamily="2" charset="-122"/>
              </a:rPr>
              <a:t>基本思想</a:t>
            </a:r>
            <a:r>
              <a:rPr lang="zh-CN" altLang="en-US" sz="2400" dirty="0">
                <a:latin typeface="宋体" panose="02010600030101010101" pitchFamily="2" charset="-122"/>
                <a:ea typeface="宋体" panose="02010600030101010101" pitchFamily="2" charset="-122"/>
              </a:rPr>
              <a:t>：</a:t>
            </a:r>
          </a:p>
          <a:p>
            <a:pPr lvl="1"/>
            <a:r>
              <a:rPr lang="zh-CN" altLang="en-US" sz="2200" dirty="0">
                <a:latin typeface="宋体" pitchFamily="2" charset="-122"/>
                <a:ea typeface="宋体" panose="02010600030101010101" pitchFamily="2" charset="-122"/>
              </a:rPr>
              <a:t>是一种典型的自下而上的语法分析方法，仍然采用“移进</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归约”方式，不断将输入符号移进栈中，通过比较相邻算符（终结符）之间的优先关系识别栈顶的</a:t>
            </a:r>
            <a:r>
              <a:rPr lang="zh-CN" altLang="en-US" sz="2200" dirty="0">
                <a:solidFill>
                  <a:srgbClr val="FF0000"/>
                </a:solidFill>
                <a:latin typeface="宋体" pitchFamily="2" charset="-122"/>
                <a:ea typeface="宋体" panose="02010600030101010101" pitchFamily="2" charset="-122"/>
              </a:rPr>
              <a:t>可归约串</a:t>
            </a:r>
            <a:r>
              <a:rPr lang="zh-CN" altLang="en-US" sz="2200" dirty="0">
                <a:latin typeface="宋体" pitchFamily="2" charset="-122"/>
                <a:ea typeface="宋体" panose="02010600030101010101" pitchFamily="2" charset="-122"/>
              </a:rPr>
              <a:t>，并进行归约。</a:t>
            </a: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5"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6" name="对象 5"/>
          <p:cNvGraphicFramePr>
            <a:graphicFrameLocks noChangeAspect="1"/>
          </p:cNvGraphicFramePr>
          <p:nvPr>
            <p:extLst>
              <p:ext uri="{D42A27DB-BD31-4B8C-83A1-F6EECF244321}">
                <p14:modId xmlns:p14="http://schemas.microsoft.com/office/powerpoint/2010/main" val="1400062075"/>
              </p:ext>
            </p:extLst>
          </p:nvPr>
        </p:nvGraphicFramePr>
        <p:xfrm>
          <a:off x="5409330" y="2715766"/>
          <a:ext cx="3734670" cy="2232248"/>
        </p:xfrm>
        <a:graphic>
          <a:graphicData uri="http://schemas.openxmlformats.org/presentationml/2006/ole">
            <mc:AlternateContent xmlns:mc="http://schemas.openxmlformats.org/markup-compatibility/2006">
              <mc:Choice xmlns:v="urn:schemas-microsoft-com:vml" Requires="v">
                <p:oleObj spid="_x0000_s35847" name="Visio" r:id="rId4" imgW="2218512" imgH="1325160" progId="Visio.Drawing.11">
                  <p:embed/>
                </p:oleObj>
              </mc:Choice>
              <mc:Fallback>
                <p:oleObj name="Visio" r:id="rId4" imgW="2218512" imgH="1325160" progId="Visio.Drawing.11">
                  <p:embed/>
                  <p:pic>
                    <p:nvPicPr>
                      <p:cNvPr id="6" name="对象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09330" y="2715766"/>
                        <a:ext cx="3734670" cy="2232248"/>
                      </a:xfrm>
                      <a:prstGeom prst="rect">
                        <a:avLst/>
                      </a:prstGeom>
                      <a:noFill/>
                    </p:spPr>
                  </p:pic>
                </p:oleObj>
              </mc:Fallback>
            </mc:AlternateContent>
          </a:graphicData>
        </a:graphic>
      </p:graphicFrame>
      <p:sp>
        <p:nvSpPr>
          <p:cNvPr id="9" name="Rectangle 3"/>
          <p:cNvSpPr txBox="1">
            <a:spLocks noChangeArrowheads="1"/>
          </p:cNvSpPr>
          <p:nvPr/>
        </p:nvSpPr>
        <p:spPr>
          <a:xfrm>
            <a:off x="467544" y="2641811"/>
            <a:ext cx="4896544" cy="1874155"/>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zh-CN" altLang="en-US" sz="2200" b="1" dirty="0">
                <a:solidFill>
                  <a:srgbClr val="0000FF"/>
                </a:solidFill>
                <a:latin typeface="宋体" panose="02010600030101010101" pitchFamily="2" charset="-122"/>
                <a:ea typeface="宋体" panose="02010600030101010101" pitchFamily="2" charset="-122"/>
              </a:rPr>
              <a:t>方法</a:t>
            </a:r>
            <a:r>
              <a:rPr lang="zh-CN" altLang="en-US" sz="2200" dirty="0">
                <a:latin typeface="宋体" pitchFamily="2" charset="-122"/>
                <a:ea typeface="宋体" panose="02010600030101010101" pitchFamily="2" charset="-122"/>
              </a:rPr>
              <a:t>：</a:t>
            </a:r>
          </a:p>
          <a:p>
            <a:pPr lvl="1"/>
            <a:r>
              <a:rPr lang="zh-CN" altLang="en-US" sz="2000" dirty="0">
                <a:latin typeface="宋体" pitchFamily="2" charset="-122"/>
                <a:ea typeface="宋体" panose="02010600030101010101" pitchFamily="2" charset="-122"/>
              </a:rPr>
              <a:t>各种优先关系已经存于优先关系表中。</a:t>
            </a:r>
          </a:p>
          <a:p>
            <a:pPr lvl="1"/>
            <a:r>
              <a:rPr lang="zh-CN" altLang="en-US" sz="2000" dirty="0">
                <a:latin typeface="宋体" pitchFamily="2" charset="-122"/>
                <a:ea typeface="宋体" panose="02010600030101010101" pitchFamily="2" charset="-122"/>
              </a:rPr>
              <a:t>根据优先性“低于”来识别可归约串的头，根据优先性“高于”来识别可归约串的尾。</a:t>
            </a:r>
            <a:endParaRPr lang="en-US" altLang="zh-CN" sz="2000" dirty="0">
              <a:latin typeface="宋体" pitchFamily="2" charset="-122"/>
              <a:ea typeface="宋体" panose="02010600030101010101" pitchFamily="2" charset="-122"/>
            </a:endParaRPr>
          </a:p>
        </p:txBody>
      </p:sp>
    </p:spTree>
    <p:extLst>
      <p:ext uri="{BB962C8B-B14F-4D97-AF65-F5344CB8AC3E}">
        <p14:creationId xmlns:p14="http://schemas.microsoft.com/office/powerpoint/2010/main" val="7951369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0770" name="Rectangle 2"/>
          <p:cNvSpPr>
            <a:spLocks noGrp="1" noChangeArrowheads="1"/>
          </p:cNvSpPr>
          <p:nvPr>
            <p:ph type="title"/>
          </p:nvPr>
        </p:nvSpPr>
        <p:spPr>
          <a:xfrm>
            <a:off x="323528" y="7227"/>
            <a:ext cx="7772400" cy="647700"/>
          </a:xfrm>
        </p:spPr>
        <p:txBody>
          <a:bodyPr>
            <a:normAutofit fontScale="90000"/>
          </a:bodyPr>
          <a:lstStyle/>
          <a:p>
            <a:pPr eaLnBrk="1" hangingPunct="1"/>
            <a:r>
              <a:rPr lang="zh-CN" altLang="en-US" b="1" dirty="0">
                <a:solidFill>
                  <a:schemeClr val="tx1"/>
                </a:solidFill>
                <a:latin typeface="宋体" pitchFamily="2" charset="-122"/>
                <a:ea typeface="隶书" pitchFamily="49" charset="-122"/>
              </a:rPr>
              <a:t>几个定义</a:t>
            </a:r>
          </a:p>
        </p:txBody>
      </p:sp>
      <p:sp>
        <p:nvSpPr>
          <p:cNvPr id="23555" name="Rectangle 3"/>
          <p:cNvSpPr>
            <a:spLocks noGrp="1" noChangeArrowheads="1"/>
          </p:cNvSpPr>
          <p:nvPr>
            <p:ph type="body" idx="1"/>
          </p:nvPr>
        </p:nvSpPr>
        <p:spPr>
          <a:xfrm>
            <a:off x="577430" y="699542"/>
            <a:ext cx="7934325" cy="1157610"/>
          </a:xfrm>
        </p:spPr>
        <p:txBody>
          <a:bodyPr>
            <a:normAutofit/>
          </a:bodyPr>
          <a:lstStyle/>
          <a:p>
            <a:pPr eaLnBrk="1" hangingPunct="1"/>
            <a:r>
              <a:rPr lang="zh-CN" altLang="en-US" sz="2100" dirty="0">
                <a:latin typeface="宋体" pitchFamily="2" charset="-122"/>
                <a:ea typeface="宋体" panose="02010600030101010101" pitchFamily="2" charset="-122"/>
              </a:rPr>
              <a:t>算符优先分析过程，不是严格的规范归约，每次归约的符号串，不一定是规范归约中的“句柄”，不能识别只由一个非终结符组成的句柄，是当前句型的最左素短语。</a:t>
            </a:r>
          </a:p>
        </p:txBody>
      </p:sp>
      <p:sp>
        <p:nvSpPr>
          <p:cNvPr id="160772" name="Rectangle 4"/>
          <p:cNvSpPr>
            <a:spLocks noChangeArrowheads="1"/>
          </p:cNvSpPr>
          <p:nvPr/>
        </p:nvSpPr>
        <p:spPr bwMode="auto">
          <a:xfrm>
            <a:off x="667086" y="3147814"/>
            <a:ext cx="4408969" cy="1708160"/>
          </a:xfrm>
          <a:prstGeom prst="rect">
            <a:avLst/>
          </a:prstGeom>
          <a:solidFill>
            <a:schemeClr val="bg1"/>
          </a:solidFill>
          <a:ln w="28575">
            <a:solidFill>
              <a:srgbClr val="0000FF"/>
            </a:solidFill>
            <a:miter lim="800000"/>
            <a:headEnd/>
            <a:tailEnd/>
          </a:ln>
        </p:spPr>
        <p:txBody>
          <a:bodyPr wrap="square">
            <a:spAutoFit/>
          </a:bodyPr>
          <a:lstStyle>
            <a:lvl1pPr marL="363538" indent="-36353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en-US" altLang="zh-CN" sz="2100" dirty="0">
                <a:latin typeface="宋体" panose="02010600030101010101" pitchFamily="2" charset="-122"/>
              </a:rPr>
              <a:t>2. </a:t>
            </a:r>
            <a:r>
              <a:rPr lang="zh-CN" altLang="en-US" sz="2100" dirty="0">
                <a:solidFill>
                  <a:schemeClr val="accent2"/>
                </a:solidFill>
                <a:latin typeface="宋体" panose="02010600030101010101" pitchFamily="2" charset="-122"/>
              </a:rPr>
              <a:t>素短语：</a:t>
            </a:r>
            <a:r>
              <a:rPr lang="zh-CN" altLang="en-US" sz="2100" dirty="0">
                <a:latin typeface="宋体" panose="02010600030101010101" pitchFamily="2" charset="-122"/>
              </a:rPr>
              <a:t>是一个短语，至少含有一个终结符</a:t>
            </a:r>
            <a:r>
              <a:rPr lang="en-US" altLang="zh-CN" sz="2100" dirty="0">
                <a:latin typeface="宋体" panose="02010600030101010101" pitchFamily="2" charset="-122"/>
              </a:rPr>
              <a:t>,</a:t>
            </a:r>
            <a:r>
              <a:rPr lang="zh-CN" altLang="en-US" sz="2100" dirty="0">
                <a:latin typeface="宋体" panose="02010600030101010101" pitchFamily="2" charset="-122"/>
              </a:rPr>
              <a:t>且除自身外</a:t>
            </a:r>
            <a:r>
              <a:rPr lang="en-US" altLang="zh-CN" sz="2100" dirty="0">
                <a:latin typeface="宋体" panose="02010600030101010101" pitchFamily="2" charset="-122"/>
              </a:rPr>
              <a:t>,</a:t>
            </a:r>
            <a:r>
              <a:rPr lang="zh-CN" altLang="en-US" sz="2100" dirty="0">
                <a:latin typeface="宋体" panose="02010600030101010101" pitchFamily="2" charset="-122"/>
              </a:rPr>
              <a:t>不再包含任何其它更小的素短语。</a:t>
            </a:r>
          </a:p>
          <a:p>
            <a:pPr eaLnBrk="1" hangingPunct="1">
              <a:spcBef>
                <a:spcPct val="0"/>
              </a:spcBef>
            </a:pPr>
            <a:r>
              <a:rPr lang="en-US" altLang="zh-CN" sz="2100" dirty="0">
                <a:latin typeface="宋体" panose="02010600030101010101" pitchFamily="2" charset="-122"/>
              </a:rPr>
              <a:t>3. </a:t>
            </a:r>
            <a:r>
              <a:rPr lang="zh-CN" altLang="en-US" sz="2100" dirty="0">
                <a:solidFill>
                  <a:schemeClr val="accent2"/>
                </a:solidFill>
                <a:latin typeface="宋体" panose="02010600030101010101" pitchFamily="2" charset="-122"/>
              </a:rPr>
              <a:t>最左素短语</a:t>
            </a:r>
            <a:r>
              <a:rPr lang="zh-CN" altLang="en-US" sz="2100" dirty="0">
                <a:latin typeface="宋体" panose="02010600030101010101" pitchFamily="2" charset="-122"/>
              </a:rPr>
              <a:t>：是指位于句型最左边的素短语。</a:t>
            </a:r>
          </a:p>
        </p:txBody>
      </p:sp>
      <p:grpSp>
        <p:nvGrpSpPr>
          <p:cNvPr id="5" name="组合 4"/>
          <p:cNvGrpSpPr/>
          <p:nvPr/>
        </p:nvGrpSpPr>
        <p:grpSpPr>
          <a:xfrm>
            <a:off x="694779" y="1660753"/>
            <a:ext cx="4408969" cy="1343045"/>
            <a:chOff x="3403390" y="2328264"/>
            <a:chExt cx="4408969" cy="1343045"/>
          </a:xfrm>
        </p:grpSpPr>
        <p:sp>
          <p:nvSpPr>
            <p:cNvPr id="8" name="Rectangle 3"/>
            <p:cNvSpPr txBox="1">
              <a:spLocks noChangeArrowheads="1"/>
            </p:cNvSpPr>
            <p:nvPr/>
          </p:nvSpPr>
          <p:spPr>
            <a:xfrm>
              <a:off x="3403390" y="2534208"/>
              <a:ext cx="4408969" cy="1137101"/>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lstStyle>
            <a:p>
              <a:pPr>
                <a:spcBef>
                  <a:spcPct val="50000"/>
                </a:spcBef>
              </a:pPr>
              <a:r>
                <a:rPr lang="en-US" altLang="zh-CN" sz="2200" dirty="0">
                  <a:latin typeface="宋体" pitchFamily="2" charset="-122"/>
                  <a:ea typeface="宋体" panose="02010600030101010101" pitchFamily="2" charset="-122"/>
                </a:rPr>
                <a:t>1.</a:t>
              </a:r>
              <a:r>
                <a:rPr lang="zh-CN" altLang="en-US" sz="2200" dirty="0">
                  <a:latin typeface="宋体" pitchFamily="2" charset="-122"/>
                  <a:ea typeface="宋体" panose="02010600030101010101" pitchFamily="2" charset="-122"/>
                </a:rPr>
                <a:t>如果有</a:t>
              </a:r>
              <a:r>
                <a:rPr lang="en-US" altLang="zh-CN" sz="2200" dirty="0">
                  <a:latin typeface="宋体" pitchFamily="2" charset="-122"/>
                  <a:ea typeface="宋体" panose="02010600030101010101" pitchFamily="2" charset="-122"/>
                </a:rPr>
                <a:t>S=&gt;</a:t>
              </a:r>
              <a:r>
                <a:rPr lang="en-US" altLang="zh-CN" sz="2200" dirty="0" err="1">
                  <a:latin typeface="宋体" pitchFamily="2" charset="-122"/>
                  <a:ea typeface="宋体" panose="02010600030101010101" pitchFamily="2" charset="-122"/>
                </a:rPr>
                <a:t>xAy</a:t>
              </a: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且有</a:t>
              </a:r>
              <a:r>
                <a:rPr lang="en-US" altLang="zh-CN" sz="2200" dirty="0">
                  <a:latin typeface="宋体" pitchFamily="2" charset="-122"/>
                  <a:ea typeface="宋体" panose="02010600030101010101" pitchFamily="2" charset="-122"/>
                </a:rPr>
                <a:t>A=&gt;β,</a:t>
              </a:r>
              <a:r>
                <a:rPr lang="zh-CN" altLang="en-US" sz="2200" dirty="0">
                  <a:latin typeface="宋体" pitchFamily="2" charset="-122"/>
                  <a:ea typeface="宋体" panose="02010600030101010101" pitchFamily="2" charset="-122"/>
                </a:rPr>
                <a:t>则</a:t>
              </a:r>
              <a:r>
                <a:rPr lang="en-US" altLang="zh-CN" sz="2200" dirty="0">
                  <a:latin typeface="宋体" pitchFamily="2" charset="-122"/>
                  <a:ea typeface="宋体" panose="02010600030101010101" pitchFamily="2" charset="-122"/>
                </a:rPr>
                <a:t>β</a:t>
              </a:r>
              <a:r>
                <a:rPr lang="zh-CN" altLang="en-US" sz="2200" dirty="0">
                  <a:latin typeface="宋体" pitchFamily="2" charset="-122"/>
                  <a:ea typeface="宋体" panose="02010600030101010101" pitchFamily="2" charset="-122"/>
                </a:rPr>
                <a:t>是句型</a:t>
              </a:r>
              <a:r>
                <a:rPr lang="en-US" altLang="zh-CN" sz="2200" dirty="0">
                  <a:latin typeface="宋体" pitchFamily="2" charset="-122"/>
                  <a:ea typeface="宋体" panose="02010600030101010101" pitchFamily="2" charset="-122"/>
                </a:rPr>
                <a:t>xβy</a:t>
              </a:r>
              <a:r>
                <a:rPr lang="zh-CN" altLang="en-US" sz="2200" dirty="0">
                  <a:latin typeface="宋体" pitchFamily="2" charset="-122"/>
                  <a:ea typeface="宋体" panose="02010600030101010101" pitchFamily="2" charset="-122"/>
                </a:rPr>
                <a:t>相对于非终结符</a:t>
              </a:r>
              <a:r>
                <a:rPr lang="en-US" altLang="zh-CN" sz="2200" dirty="0">
                  <a:latin typeface="宋体" pitchFamily="2" charset="-122"/>
                  <a:ea typeface="宋体" panose="02010600030101010101" pitchFamily="2" charset="-122"/>
                </a:rPr>
                <a:t>A</a:t>
              </a:r>
              <a:r>
                <a:rPr lang="zh-CN" altLang="en-US" sz="2200" dirty="0">
                  <a:latin typeface="宋体" pitchFamily="2" charset="-122"/>
                  <a:ea typeface="宋体" panose="02010600030101010101" pitchFamily="2" charset="-122"/>
                </a:rPr>
                <a:t>的</a:t>
              </a:r>
              <a:r>
                <a:rPr lang="zh-CN" altLang="en-US" sz="2200" b="1" i="1" dirty="0">
                  <a:solidFill>
                    <a:schemeClr val="accent2"/>
                  </a:solidFill>
                  <a:latin typeface="宋体" pitchFamily="2" charset="-122"/>
                  <a:ea typeface="宋体" panose="02010600030101010101" pitchFamily="2" charset="-122"/>
                </a:rPr>
                <a:t>短语</a:t>
              </a:r>
              <a:endParaRPr lang="zh-CN" altLang="en-US" sz="2200" dirty="0">
                <a:solidFill>
                  <a:schemeClr val="accent2"/>
                </a:solidFill>
                <a:latin typeface="宋体" pitchFamily="2" charset="-122"/>
                <a:ea typeface="宋体" panose="02010600030101010101" pitchFamily="2" charset="-122"/>
              </a:endParaRPr>
            </a:p>
          </p:txBody>
        </p:sp>
        <p:sp>
          <p:nvSpPr>
            <p:cNvPr id="6" name="Rectangle 5"/>
            <p:cNvSpPr>
              <a:spLocks noChangeArrowheads="1"/>
            </p:cNvSpPr>
            <p:nvPr/>
          </p:nvSpPr>
          <p:spPr bwMode="auto">
            <a:xfrm>
              <a:off x="5043103" y="2337098"/>
              <a:ext cx="335281" cy="510540"/>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latin typeface="宋体" pitchFamily="2" charset="-122"/>
                  <a:ea typeface="华文行楷" pitchFamily="2" charset="-122"/>
                </a:rPr>
                <a:t>*</a:t>
              </a:r>
            </a:p>
          </p:txBody>
        </p:sp>
        <p:sp>
          <p:nvSpPr>
            <p:cNvPr id="7" name="Rectangle 6"/>
            <p:cNvSpPr>
              <a:spLocks noChangeArrowheads="1"/>
            </p:cNvSpPr>
            <p:nvPr/>
          </p:nvSpPr>
          <p:spPr bwMode="auto">
            <a:xfrm>
              <a:off x="6704547" y="2328264"/>
              <a:ext cx="363538" cy="522684"/>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dirty="0">
                  <a:latin typeface="宋体" pitchFamily="2" charset="-122"/>
                  <a:ea typeface="华文行楷" pitchFamily="2" charset="-122"/>
                </a:rPr>
                <a:t>+</a:t>
              </a:r>
            </a:p>
          </p:txBody>
        </p:sp>
      </p:grpSp>
      <p:grpSp>
        <p:nvGrpSpPr>
          <p:cNvPr id="25" name="Group 26"/>
          <p:cNvGrpSpPr/>
          <p:nvPr/>
        </p:nvGrpSpPr>
        <p:grpSpPr bwMode="auto">
          <a:xfrm>
            <a:off x="7207166" y="1413463"/>
            <a:ext cx="1981973" cy="2777634"/>
            <a:chOff x="3473" y="371"/>
            <a:chExt cx="1723" cy="3273"/>
          </a:xfrm>
        </p:grpSpPr>
        <p:sp>
          <p:nvSpPr>
            <p:cNvPr id="26" name="Text Box 4"/>
            <p:cNvSpPr txBox="1">
              <a:spLocks noChangeArrowheads="1"/>
            </p:cNvSpPr>
            <p:nvPr/>
          </p:nvSpPr>
          <p:spPr bwMode="auto">
            <a:xfrm>
              <a:off x="4199" y="371"/>
              <a:ext cx="438"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E</a:t>
              </a:r>
            </a:p>
          </p:txBody>
        </p:sp>
        <p:sp>
          <p:nvSpPr>
            <p:cNvPr id="27" name="Text Box 5"/>
            <p:cNvSpPr txBox="1">
              <a:spLocks noChangeArrowheads="1"/>
            </p:cNvSpPr>
            <p:nvPr/>
          </p:nvSpPr>
          <p:spPr bwMode="auto">
            <a:xfrm>
              <a:off x="4067" y="965"/>
              <a:ext cx="834"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E   +    T</a:t>
              </a:r>
            </a:p>
          </p:txBody>
        </p:sp>
        <p:sp>
          <p:nvSpPr>
            <p:cNvPr id="28" name="Text Box 6"/>
            <p:cNvSpPr txBox="1">
              <a:spLocks noChangeArrowheads="1"/>
            </p:cNvSpPr>
            <p:nvPr/>
          </p:nvSpPr>
          <p:spPr bwMode="auto">
            <a:xfrm>
              <a:off x="3881" y="1517"/>
              <a:ext cx="438"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T</a:t>
              </a:r>
            </a:p>
          </p:txBody>
        </p:sp>
        <p:sp>
          <p:nvSpPr>
            <p:cNvPr id="29" name="Text Box 7"/>
            <p:cNvSpPr txBox="1">
              <a:spLocks noChangeArrowheads="1"/>
            </p:cNvSpPr>
            <p:nvPr/>
          </p:nvSpPr>
          <p:spPr bwMode="auto">
            <a:xfrm>
              <a:off x="4652" y="1517"/>
              <a:ext cx="438"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a:ea typeface="华文行楷" pitchFamily="2" charset="-122"/>
                </a:rPr>
                <a:t>F</a:t>
              </a:r>
            </a:p>
          </p:txBody>
        </p:sp>
        <p:sp>
          <p:nvSpPr>
            <p:cNvPr id="30" name="Text Box 8"/>
            <p:cNvSpPr txBox="1">
              <a:spLocks noChangeArrowheads="1"/>
            </p:cNvSpPr>
            <p:nvPr/>
          </p:nvSpPr>
          <p:spPr bwMode="auto">
            <a:xfrm>
              <a:off x="4834" y="2081"/>
              <a:ext cx="362" cy="399"/>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i3</a:t>
              </a:r>
            </a:p>
          </p:txBody>
        </p:sp>
        <p:sp>
          <p:nvSpPr>
            <p:cNvPr id="31" name="Text Box 10"/>
            <p:cNvSpPr txBox="1">
              <a:spLocks noChangeArrowheads="1"/>
            </p:cNvSpPr>
            <p:nvPr/>
          </p:nvSpPr>
          <p:spPr bwMode="auto">
            <a:xfrm>
              <a:off x="4153" y="2776"/>
              <a:ext cx="438"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i2</a:t>
              </a:r>
            </a:p>
          </p:txBody>
        </p:sp>
        <p:sp>
          <p:nvSpPr>
            <p:cNvPr id="32" name="Text Box 11"/>
            <p:cNvSpPr txBox="1">
              <a:spLocks noChangeArrowheads="1"/>
            </p:cNvSpPr>
            <p:nvPr/>
          </p:nvSpPr>
          <p:spPr bwMode="auto">
            <a:xfrm>
              <a:off x="3473" y="3341"/>
              <a:ext cx="438"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i1</a:t>
              </a:r>
            </a:p>
          </p:txBody>
        </p:sp>
        <p:sp>
          <p:nvSpPr>
            <p:cNvPr id="33" name="Text Box 12"/>
            <p:cNvSpPr txBox="1">
              <a:spLocks noChangeArrowheads="1"/>
            </p:cNvSpPr>
            <p:nvPr/>
          </p:nvSpPr>
          <p:spPr bwMode="auto">
            <a:xfrm>
              <a:off x="3609" y="2062"/>
              <a:ext cx="834" cy="30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T    *    F</a:t>
              </a:r>
            </a:p>
          </p:txBody>
        </p:sp>
        <p:sp>
          <p:nvSpPr>
            <p:cNvPr id="34" name="Text Box 13"/>
            <p:cNvSpPr txBox="1">
              <a:spLocks noChangeArrowheads="1"/>
            </p:cNvSpPr>
            <p:nvPr/>
          </p:nvSpPr>
          <p:spPr bwMode="auto">
            <a:xfrm>
              <a:off x="3518" y="2711"/>
              <a:ext cx="301" cy="399"/>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1600" dirty="0">
                  <a:ea typeface="华文行楷" pitchFamily="2" charset="-122"/>
                </a:rPr>
                <a:t>F</a:t>
              </a:r>
            </a:p>
          </p:txBody>
        </p:sp>
        <p:sp>
          <p:nvSpPr>
            <p:cNvPr id="35" name="Line 14"/>
            <p:cNvSpPr>
              <a:spLocks noChangeShapeType="1"/>
            </p:cNvSpPr>
            <p:nvPr/>
          </p:nvSpPr>
          <p:spPr bwMode="auto">
            <a:xfrm flipH="1">
              <a:off x="4195" y="699"/>
              <a:ext cx="224" cy="309"/>
            </a:xfrm>
            <a:prstGeom prst="line">
              <a:avLst/>
            </a:prstGeom>
            <a:noFill/>
            <a:ln w="9525">
              <a:solidFill>
                <a:schemeClr val="tx1"/>
              </a:solidFill>
              <a:round/>
              <a:headEnd/>
              <a:tailEnd/>
            </a:ln>
          </p:spPr>
          <p:txBody>
            <a:bodyPr/>
            <a:lstStyle/>
            <a:p>
              <a:endParaRPr lang="zh-CN" altLang="en-US"/>
            </a:p>
          </p:txBody>
        </p:sp>
        <p:sp>
          <p:nvSpPr>
            <p:cNvPr id="36" name="Line 15"/>
            <p:cNvSpPr>
              <a:spLocks noChangeShapeType="1"/>
            </p:cNvSpPr>
            <p:nvPr/>
          </p:nvSpPr>
          <p:spPr bwMode="auto">
            <a:xfrm>
              <a:off x="4436" y="707"/>
              <a:ext cx="0" cy="318"/>
            </a:xfrm>
            <a:prstGeom prst="line">
              <a:avLst/>
            </a:prstGeom>
            <a:noFill/>
            <a:ln w="9525">
              <a:solidFill>
                <a:schemeClr val="tx1"/>
              </a:solidFill>
              <a:round/>
              <a:headEnd/>
              <a:tailEnd/>
            </a:ln>
          </p:spPr>
          <p:txBody>
            <a:bodyPr/>
            <a:lstStyle/>
            <a:p>
              <a:endParaRPr lang="zh-CN" altLang="en-US"/>
            </a:p>
          </p:txBody>
        </p:sp>
        <p:sp>
          <p:nvSpPr>
            <p:cNvPr id="37" name="Line 16"/>
            <p:cNvSpPr>
              <a:spLocks noChangeShapeType="1"/>
            </p:cNvSpPr>
            <p:nvPr/>
          </p:nvSpPr>
          <p:spPr bwMode="auto">
            <a:xfrm>
              <a:off x="4445" y="707"/>
              <a:ext cx="301" cy="293"/>
            </a:xfrm>
            <a:prstGeom prst="line">
              <a:avLst/>
            </a:prstGeom>
            <a:noFill/>
            <a:ln w="9525">
              <a:solidFill>
                <a:schemeClr val="tx1"/>
              </a:solidFill>
              <a:round/>
              <a:headEnd/>
              <a:tailEnd/>
            </a:ln>
          </p:spPr>
          <p:txBody>
            <a:bodyPr/>
            <a:lstStyle/>
            <a:p>
              <a:endParaRPr lang="zh-CN" altLang="en-US"/>
            </a:p>
          </p:txBody>
        </p:sp>
        <p:sp>
          <p:nvSpPr>
            <p:cNvPr id="38" name="Line 17"/>
            <p:cNvSpPr>
              <a:spLocks noChangeShapeType="1"/>
            </p:cNvSpPr>
            <p:nvPr/>
          </p:nvSpPr>
          <p:spPr bwMode="auto">
            <a:xfrm flipH="1">
              <a:off x="4092" y="1315"/>
              <a:ext cx="86" cy="310"/>
            </a:xfrm>
            <a:prstGeom prst="line">
              <a:avLst/>
            </a:prstGeom>
            <a:noFill/>
            <a:ln w="9525">
              <a:solidFill>
                <a:schemeClr val="tx1"/>
              </a:solidFill>
              <a:round/>
              <a:headEnd/>
              <a:tailEnd/>
            </a:ln>
          </p:spPr>
          <p:txBody>
            <a:bodyPr/>
            <a:lstStyle/>
            <a:p>
              <a:endParaRPr lang="zh-CN" altLang="en-US"/>
            </a:p>
          </p:txBody>
        </p:sp>
        <p:sp>
          <p:nvSpPr>
            <p:cNvPr id="39" name="Line 18"/>
            <p:cNvSpPr>
              <a:spLocks noChangeShapeType="1"/>
            </p:cNvSpPr>
            <p:nvPr/>
          </p:nvSpPr>
          <p:spPr bwMode="auto">
            <a:xfrm>
              <a:off x="4771" y="1315"/>
              <a:ext cx="78" cy="293"/>
            </a:xfrm>
            <a:prstGeom prst="line">
              <a:avLst/>
            </a:prstGeom>
            <a:noFill/>
            <a:ln w="9525">
              <a:solidFill>
                <a:schemeClr val="tx1"/>
              </a:solidFill>
              <a:round/>
              <a:headEnd/>
              <a:tailEnd/>
            </a:ln>
          </p:spPr>
          <p:txBody>
            <a:bodyPr/>
            <a:lstStyle/>
            <a:p>
              <a:endParaRPr lang="zh-CN" altLang="en-US"/>
            </a:p>
          </p:txBody>
        </p:sp>
        <p:sp>
          <p:nvSpPr>
            <p:cNvPr id="40" name="Line 19"/>
            <p:cNvSpPr>
              <a:spLocks noChangeShapeType="1"/>
            </p:cNvSpPr>
            <p:nvPr/>
          </p:nvSpPr>
          <p:spPr bwMode="auto">
            <a:xfrm flipH="1">
              <a:off x="3765" y="1831"/>
              <a:ext cx="319" cy="310"/>
            </a:xfrm>
            <a:prstGeom prst="line">
              <a:avLst/>
            </a:prstGeom>
            <a:noFill/>
            <a:ln w="9525">
              <a:solidFill>
                <a:schemeClr val="tx1"/>
              </a:solidFill>
              <a:round/>
              <a:headEnd/>
              <a:tailEnd/>
            </a:ln>
          </p:spPr>
          <p:txBody>
            <a:bodyPr/>
            <a:lstStyle/>
            <a:p>
              <a:endParaRPr lang="zh-CN" altLang="en-US"/>
            </a:p>
          </p:txBody>
        </p:sp>
        <p:sp>
          <p:nvSpPr>
            <p:cNvPr id="41" name="Line 20"/>
            <p:cNvSpPr>
              <a:spLocks noChangeShapeType="1"/>
            </p:cNvSpPr>
            <p:nvPr/>
          </p:nvSpPr>
          <p:spPr bwMode="auto">
            <a:xfrm flipH="1">
              <a:off x="4015" y="1848"/>
              <a:ext cx="86" cy="267"/>
            </a:xfrm>
            <a:prstGeom prst="line">
              <a:avLst/>
            </a:prstGeom>
            <a:noFill/>
            <a:ln w="9525">
              <a:solidFill>
                <a:schemeClr val="tx1"/>
              </a:solidFill>
              <a:round/>
              <a:headEnd/>
              <a:tailEnd/>
            </a:ln>
          </p:spPr>
          <p:txBody>
            <a:bodyPr/>
            <a:lstStyle/>
            <a:p>
              <a:endParaRPr lang="zh-CN" altLang="en-US"/>
            </a:p>
          </p:txBody>
        </p:sp>
        <p:sp>
          <p:nvSpPr>
            <p:cNvPr id="42" name="Line 21"/>
            <p:cNvSpPr>
              <a:spLocks noChangeShapeType="1"/>
            </p:cNvSpPr>
            <p:nvPr/>
          </p:nvSpPr>
          <p:spPr bwMode="auto">
            <a:xfrm>
              <a:off x="4101" y="1848"/>
              <a:ext cx="198" cy="301"/>
            </a:xfrm>
            <a:prstGeom prst="line">
              <a:avLst/>
            </a:prstGeom>
            <a:noFill/>
            <a:ln w="9525">
              <a:solidFill>
                <a:schemeClr val="tx1"/>
              </a:solidFill>
              <a:round/>
              <a:headEnd/>
              <a:tailEnd/>
            </a:ln>
          </p:spPr>
          <p:txBody>
            <a:bodyPr/>
            <a:lstStyle/>
            <a:p>
              <a:endParaRPr lang="zh-CN" altLang="en-US"/>
            </a:p>
          </p:txBody>
        </p:sp>
        <p:sp>
          <p:nvSpPr>
            <p:cNvPr id="43" name="Line 22"/>
            <p:cNvSpPr>
              <a:spLocks noChangeShapeType="1"/>
            </p:cNvSpPr>
            <p:nvPr/>
          </p:nvSpPr>
          <p:spPr bwMode="auto">
            <a:xfrm>
              <a:off x="4900" y="1788"/>
              <a:ext cx="112" cy="335"/>
            </a:xfrm>
            <a:prstGeom prst="line">
              <a:avLst/>
            </a:prstGeom>
            <a:noFill/>
            <a:ln w="9525">
              <a:solidFill>
                <a:schemeClr val="tx1"/>
              </a:solidFill>
              <a:round/>
              <a:headEnd/>
              <a:tailEnd/>
            </a:ln>
          </p:spPr>
          <p:txBody>
            <a:bodyPr/>
            <a:lstStyle/>
            <a:p>
              <a:endParaRPr lang="zh-CN" altLang="en-US"/>
            </a:p>
          </p:txBody>
        </p:sp>
        <p:sp>
          <p:nvSpPr>
            <p:cNvPr id="44" name="Line 23"/>
            <p:cNvSpPr>
              <a:spLocks noChangeShapeType="1"/>
            </p:cNvSpPr>
            <p:nvPr/>
          </p:nvSpPr>
          <p:spPr bwMode="auto">
            <a:xfrm flipH="1">
              <a:off x="3671" y="2433"/>
              <a:ext cx="39" cy="343"/>
            </a:xfrm>
            <a:prstGeom prst="line">
              <a:avLst/>
            </a:prstGeom>
            <a:noFill/>
            <a:ln w="9525">
              <a:solidFill>
                <a:schemeClr val="tx1"/>
              </a:solidFill>
              <a:round/>
              <a:headEnd/>
              <a:tailEnd/>
            </a:ln>
          </p:spPr>
          <p:txBody>
            <a:bodyPr/>
            <a:lstStyle/>
            <a:p>
              <a:endParaRPr lang="zh-CN" altLang="en-US" sz="1600"/>
            </a:p>
          </p:txBody>
        </p:sp>
        <p:sp>
          <p:nvSpPr>
            <p:cNvPr id="45" name="Line 24"/>
            <p:cNvSpPr>
              <a:spLocks noChangeShapeType="1"/>
            </p:cNvSpPr>
            <p:nvPr/>
          </p:nvSpPr>
          <p:spPr bwMode="auto">
            <a:xfrm flipH="1">
              <a:off x="3654" y="3089"/>
              <a:ext cx="0" cy="300"/>
            </a:xfrm>
            <a:prstGeom prst="line">
              <a:avLst/>
            </a:prstGeom>
            <a:noFill/>
            <a:ln w="9525">
              <a:solidFill>
                <a:schemeClr val="tx1"/>
              </a:solidFill>
              <a:round/>
              <a:headEnd/>
              <a:tailEnd/>
            </a:ln>
          </p:spPr>
          <p:txBody>
            <a:bodyPr/>
            <a:lstStyle/>
            <a:p>
              <a:endParaRPr lang="zh-CN" altLang="en-US"/>
            </a:p>
          </p:txBody>
        </p:sp>
        <p:sp>
          <p:nvSpPr>
            <p:cNvPr id="46" name="Line 25"/>
            <p:cNvSpPr>
              <a:spLocks noChangeShapeType="1"/>
            </p:cNvSpPr>
            <p:nvPr/>
          </p:nvSpPr>
          <p:spPr bwMode="auto">
            <a:xfrm>
              <a:off x="4299" y="2359"/>
              <a:ext cx="43" cy="473"/>
            </a:xfrm>
            <a:prstGeom prst="line">
              <a:avLst/>
            </a:prstGeom>
            <a:noFill/>
            <a:ln w="9525">
              <a:solidFill>
                <a:schemeClr val="tx1"/>
              </a:solidFill>
              <a:round/>
              <a:headEnd/>
              <a:tailEnd/>
            </a:ln>
          </p:spPr>
          <p:txBody>
            <a:bodyPr/>
            <a:lstStyle/>
            <a:p>
              <a:endParaRPr lang="zh-CN" altLang="en-US"/>
            </a:p>
          </p:txBody>
        </p:sp>
      </p:grpSp>
      <p:grpSp>
        <p:nvGrpSpPr>
          <p:cNvPr id="48" name="组合 2"/>
          <p:cNvGrpSpPr/>
          <p:nvPr/>
        </p:nvGrpSpPr>
        <p:grpSpPr>
          <a:xfrm>
            <a:off x="5691103" y="4155926"/>
            <a:ext cx="3009157" cy="1054291"/>
            <a:chOff x="2624699" y="4337278"/>
            <a:chExt cx="3009157" cy="1054291"/>
          </a:xfrm>
        </p:grpSpPr>
        <p:sp>
          <p:nvSpPr>
            <p:cNvPr id="49" name="Line 10"/>
            <p:cNvSpPr>
              <a:spLocks noChangeShapeType="1"/>
            </p:cNvSpPr>
            <p:nvPr/>
          </p:nvSpPr>
          <p:spPr bwMode="auto">
            <a:xfrm>
              <a:off x="3479448" y="5107077"/>
              <a:ext cx="100013" cy="206375"/>
            </a:xfrm>
            <a:prstGeom prst="line">
              <a:avLst/>
            </a:prstGeom>
            <a:noFill/>
            <a:ln w="9525">
              <a:solidFill>
                <a:schemeClr val="tx1"/>
              </a:solidFill>
              <a:round/>
              <a:headEnd/>
              <a:tailEnd/>
            </a:ln>
          </p:spPr>
          <p:txBody>
            <a:bodyPr/>
            <a:lstStyle/>
            <a:p>
              <a:endParaRPr lang="zh-CN" altLang="en-US" sz="2000"/>
            </a:p>
          </p:txBody>
        </p:sp>
        <p:sp>
          <p:nvSpPr>
            <p:cNvPr id="50" name="Rectangle 11"/>
            <p:cNvSpPr>
              <a:spLocks noChangeArrowheads="1"/>
            </p:cNvSpPr>
            <p:nvPr/>
          </p:nvSpPr>
          <p:spPr bwMode="auto">
            <a:xfrm>
              <a:off x="2624699" y="4468239"/>
              <a:ext cx="3009157" cy="923330"/>
            </a:xfrm>
            <a:prstGeom prst="rect">
              <a:avLst/>
            </a:prstGeom>
            <a:no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en-US" altLang="zh-CN" sz="1800" dirty="0">
                  <a:solidFill>
                    <a:schemeClr val="accent2"/>
                  </a:solidFill>
                  <a:ea typeface="华文行楷" pitchFamily="2" charset="-122"/>
                </a:rPr>
                <a:t>E =&gt; i1 * i2 + i3</a:t>
              </a:r>
              <a:r>
                <a:rPr lang="zh-CN" altLang="en-US" sz="1800" dirty="0">
                  <a:solidFill>
                    <a:schemeClr val="accent2"/>
                  </a:solidFill>
                  <a:ea typeface="华文行楷" pitchFamily="2" charset="-122"/>
                </a:rPr>
                <a:t>，</a:t>
              </a:r>
              <a:r>
                <a:rPr lang="en-US" altLang="zh-CN" sz="1800" dirty="0">
                  <a:ea typeface="华文行楷" pitchFamily="2" charset="-122"/>
                </a:rPr>
                <a:t>E =&gt;i2 +i3</a:t>
              </a:r>
              <a:endParaRPr lang="en-US" altLang="zh-CN" sz="1800" dirty="0">
                <a:solidFill>
                  <a:schemeClr val="accent2"/>
                </a:solidFill>
                <a:ea typeface="华文行楷" pitchFamily="2" charset="-122"/>
              </a:endParaRPr>
            </a:p>
            <a:p>
              <a:pPr eaLnBrk="1" hangingPunct="1">
                <a:spcBef>
                  <a:spcPts val="0"/>
                </a:spcBef>
                <a:buFontTx/>
                <a:buNone/>
              </a:pPr>
              <a:r>
                <a:rPr lang="en-US" altLang="zh-CN" sz="1800" dirty="0">
                  <a:ea typeface="华文行楷" pitchFamily="2" charset="-122"/>
                </a:rPr>
                <a:t>i2 + i3 </a:t>
              </a:r>
              <a:r>
                <a:rPr lang="zh-CN" altLang="en-US" sz="1800" dirty="0">
                  <a:solidFill>
                    <a:srgbClr val="FF0000"/>
                  </a:solidFill>
                  <a:ea typeface="华文行楷" pitchFamily="2" charset="-122"/>
                </a:rPr>
                <a:t>不是短语</a:t>
              </a:r>
              <a:endParaRPr lang="en-US" altLang="zh-CN" sz="1800" dirty="0">
                <a:solidFill>
                  <a:srgbClr val="FF0000"/>
                </a:solidFill>
                <a:ea typeface="华文行楷" pitchFamily="2" charset="-122"/>
              </a:endParaRPr>
            </a:p>
            <a:p>
              <a:pPr eaLnBrk="1" hangingPunct="1">
                <a:spcBef>
                  <a:spcPts val="0"/>
                </a:spcBef>
                <a:buFontTx/>
                <a:buNone/>
              </a:pPr>
              <a:r>
                <a:rPr lang="zh-CN" altLang="en-US" sz="1800" dirty="0">
                  <a:ea typeface="华文行楷" pitchFamily="2" charset="-122"/>
                </a:rPr>
                <a:t>因为</a:t>
              </a:r>
              <a:r>
                <a:rPr lang="en-US" altLang="zh-CN" sz="1800" dirty="0">
                  <a:ea typeface="华文行楷" pitchFamily="2" charset="-122"/>
                </a:rPr>
                <a:t>E  =&gt;  i1 * E</a:t>
              </a:r>
              <a:endParaRPr lang="zh-CN" altLang="en-US" sz="1800" dirty="0">
                <a:ea typeface="华文行楷" pitchFamily="2" charset="-122"/>
              </a:endParaRPr>
            </a:p>
          </p:txBody>
        </p:sp>
        <p:sp>
          <p:nvSpPr>
            <p:cNvPr id="51" name="Text Box 13"/>
            <p:cNvSpPr txBox="1">
              <a:spLocks noChangeArrowheads="1"/>
            </p:cNvSpPr>
            <p:nvPr/>
          </p:nvSpPr>
          <p:spPr bwMode="auto">
            <a:xfrm>
              <a:off x="4559568" y="4337278"/>
              <a:ext cx="368300" cy="400110"/>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dirty="0">
                  <a:ea typeface="华文行楷" pitchFamily="2" charset="-122"/>
                </a:rPr>
                <a:t>*</a:t>
              </a:r>
            </a:p>
          </p:txBody>
        </p:sp>
        <p:sp>
          <p:nvSpPr>
            <p:cNvPr id="52" name="Text Box 13"/>
            <p:cNvSpPr txBox="1">
              <a:spLocks noChangeArrowheads="1"/>
            </p:cNvSpPr>
            <p:nvPr/>
          </p:nvSpPr>
          <p:spPr bwMode="auto">
            <a:xfrm>
              <a:off x="2831376" y="4337278"/>
              <a:ext cx="368300" cy="400110"/>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000" dirty="0">
                  <a:ea typeface="华文行楷" pitchFamily="2" charset="-122"/>
                </a:rPr>
                <a:t>*</a:t>
              </a:r>
            </a:p>
          </p:txBody>
        </p:sp>
      </p:grpSp>
    </p:spTree>
    <p:extLst>
      <p:ext uri="{BB962C8B-B14F-4D97-AF65-F5344CB8AC3E}">
        <p14:creationId xmlns:p14="http://schemas.microsoft.com/office/powerpoint/2010/main" val="11733091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07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2"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p:cNvSpPr>
            <a:spLocks noGrp="1" noChangeArrowheads="1"/>
          </p:cNvSpPr>
          <p:nvPr>
            <p:ph type="title"/>
          </p:nvPr>
        </p:nvSpPr>
        <p:spPr>
          <a:xfrm>
            <a:off x="323528" y="427781"/>
            <a:ext cx="4729932" cy="1746201"/>
          </a:xfrm>
        </p:spPr>
        <p:txBody>
          <a:bodyPr>
            <a:noAutofit/>
          </a:bodyPr>
          <a:lstStyle/>
          <a:p>
            <a:pPr eaLnBrk="1" hangingPunct="1"/>
            <a:r>
              <a:rPr lang="zh-CN" altLang="en-US" sz="2200" dirty="0">
                <a:solidFill>
                  <a:schemeClr val="tx1"/>
                </a:solidFill>
                <a:latin typeface="宋体" panose="02010600030101010101" pitchFamily="2" charset="-122"/>
                <a:ea typeface="宋体" panose="02010600030101010101" pitchFamily="2" charset="-122"/>
              </a:rPr>
              <a:t>例：给定右边文法的一个句型：</a:t>
            </a:r>
            <a:br>
              <a:rPr lang="zh-CN" altLang="en-US" sz="2200" dirty="0">
                <a:solidFill>
                  <a:schemeClr val="tx1"/>
                </a:solidFill>
                <a:latin typeface="宋体" panose="02010600030101010101" pitchFamily="2" charset="-122"/>
                <a:ea typeface="宋体" panose="02010600030101010101" pitchFamily="2" charset="-122"/>
              </a:rPr>
            </a:br>
            <a:r>
              <a:rPr lang="zh-CN" altLang="en-US" sz="2200" dirty="0">
                <a:solidFill>
                  <a:schemeClr val="tx1"/>
                </a:solidFill>
                <a:latin typeface="宋体" panose="02010600030101010101" pitchFamily="2" charset="-122"/>
                <a:ea typeface="宋体" panose="02010600030101010101" pitchFamily="2" charset="-122"/>
              </a:rPr>
              <a:t>         </a:t>
            </a:r>
            <a:r>
              <a:rPr lang="en-US" altLang="zh-CN" sz="2200" b="1" dirty="0">
                <a:solidFill>
                  <a:srgbClr val="0000FF"/>
                </a:solidFill>
                <a:latin typeface="宋体" panose="02010600030101010101" pitchFamily="2" charset="-122"/>
                <a:ea typeface="宋体" panose="02010600030101010101" pitchFamily="2" charset="-122"/>
              </a:rPr>
              <a:t>T * F + </a:t>
            </a:r>
            <a:r>
              <a:rPr lang="en-US" altLang="zh-CN" sz="2200" b="1" dirty="0" err="1">
                <a:solidFill>
                  <a:srgbClr val="0000FF"/>
                </a:solidFill>
                <a:latin typeface="宋体" panose="02010600030101010101" pitchFamily="2" charset="-122"/>
                <a:ea typeface="宋体" panose="02010600030101010101" pitchFamily="2" charset="-122"/>
              </a:rPr>
              <a:t>i</a:t>
            </a:r>
            <a:br>
              <a:rPr lang="en-US" altLang="zh-CN" sz="2200" b="1" dirty="0">
                <a:solidFill>
                  <a:srgbClr val="0000FF"/>
                </a:solidFill>
                <a:latin typeface="宋体" panose="02010600030101010101" pitchFamily="2" charset="-122"/>
                <a:ea typeface="宋体" panose="02010600030101010101" pitchFamily="2" charset="-122"/>
              </a:rPr>
            </a:br>
            <a:r>
              <a:rPr lang="en-US" altLang="zh-CN" sz="2200" dirty="0">
                <a:solidFill>
                  <a:schemeClr val="tx1"/>
                </a:solidFill>
                <a:latin typeface="宋体" panose="02010600030101010101" pitchFamily="2" charset="-122"/>
                <a:ea typeface="宋体" panose="02010600030101010101" pitchFamily="2" charset="-122"/>
              </a:rPr>
              <a:t>    </a:t>
            </a:r>
            <a:r>
              <a:rPr lang="zh-CN" altLang="en-US" sz="2200" dirty="0">
                <a:solidFill>
                  <a:schemeClr val="tx1"/>
                </a:solidFill>
                <a:latin typeface="宋体" panose="02010600030101010101" pitchFamily="2" charset="-122"/>
                <a:ea typeface="宋体" panose="02010600030101010101" pitchFamily="2" charset="-122"/>
              </a:rPr>
              <a:t>求其短语、素短语、最左素短语？</a:t>
            </a:r>
          </a:p>
        </p:txBody>
      </p:sp>
      <p:sp>
        <p:nvSpPr>
          <p:cNvPr id="161795" name="Text Box 5"/>
          <p:cNvSpPr txBox="1">
            <a:spLocks noChangeArrowheads="1"/>
          </p:cNvSpPr>
          <p:nvPr/>
        </p:nvSpPr>
        <p:spPr bwMode="auto">
          <a:xfrm>
            <a:off x="6015038" y="246063"/>
            <a:ext cx="2143125" cy="144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200" dirty="0">
                <a:latin typeface="宋体" panose="02010600030101010101" pitchFamily="2" charset="-122"/>
              </a:rPr>
              <a:t>E</a:t>
            </a:r>
            <a:r>
              <a:rPr lang="en-US" altLang="zh-CN" sz="2200" dirty="0">
                <a:latin typeface="宋体" panose="02010600030101010101" pitchFamily="2" charset="-122"/>
                <a:sym typeface="Wingdings" pitchFamily="2" charset="2"/>
              </a:rPr>
              <a:t>T | E+T</a:t>
            </a:r>
          </a:p>
          <a:p>
            <a:pPr eaLnBrk="1" hangingPunct="1">
              <a:spcBef>
                <a:spcPct val="50000"/>
              </a:spcBef>
              <a:buFontTx/>
              <a:buNone/>
            </a:pPr>
            <a:r>
              <a:rPr lang="en-US" altLang="zh-CN" sz="2200" dirty="0">
                <a:latin typeface="宋体" panose="02010600030101010101" pitchFamily="2" charset="-122"/>
                <a:sym typeface="Wingdings" pitchFamily="2" charset="2"/>
              </a:rPr>
              <a:t>TF | T*F</a:t>
            </a:r>
          </a:p>
          <a:p>
            <a:pPr eaLnBrk="1" hangingPunct="1">
              <a:spcBef>
                <a:spcPct val="50000"/>
              </a:spcBef>
              <a:buFontTx/>
              <a:buNone/>
            </a:pPr>
            <a:r>
              <a:rPr lang="en-US" altLang="zh-CN" sz="2200" dirty="0" err="1">
                <a:latin typeface="宋体" panose="02010600030101010101" pitchFamily="2" charset="-122"/>
              </a:rPr>
              <a:t>F</a:t>
            </a:r>
            <a:r>
              <a:rPr lang="en-US" altLang="zh-CN" sz="2200" dirty="0" err="1">
                <a:latin typeface="宋体" panose="02010600030101010101" pitchFamily="2" charset="-122"/>
                <a:sym typeface="Wingdings" pitchFamily="2" charset="2"/>
              </a:rPr>
              <a:t>i</a:t>
            </a:r>
            <a:r>
              <a:rPr lang="en-US" altLang="zh-CN" sz="2200" dirty="0">
                <a:latin typeface="宋体" panose="02010600030101010101" pitchFamily="2" charset="-122"/>
                <a:sym typeface="Wingdings" pitchFamily="2" charset="2"/>
              </a:rPr>
              <a:t> | (E)</a:t>
            </a:r>
            <a:endParaRPr lang="en-US" altLang="zh-CN" sz="2200" dirty="0">
              <a:latin typeface="宋体" panose="02010600030101010101" pitchFamily="2" charset="-122"/>
            </a:endParaRPr>
          </a:p>
        </p:txBody>
      </p:sp>
      <p:grpSp>
        <p:nvGrpSpPr>
          <p:cNvPr id="2" name="Group 28"/>
          <p:cNvGrpSpPr>
            <a:grpSpLocks/>
          </p:cNvGrpSpPr>
          <p:nvPr/>
        </p:nvGrpSpPr>
        <p:grpSpPr bwMode="auto">
          <a:xfrm>
            <a:off x="6180138" y="1692613"/>
            <a:ext cx="2662238" cy="2919839"/>
            <a:chOff x="3696" y="1313"/>
            <a:chExt cx="1677" cy="2452"/>
          </a:xfrm>
        </p:grpSpPr>
        <p:sp>
          <p:nvSpPr>
            <p:cNvPr id="161798" name="Text Box 7"/>
            <p:cNvSpPr txBox="1">
              <a:spLocks noChangeArrowheads="1"/>
            </p:cNvSpPr>
            <p:nvPr/>
          </p:nvSpPr>
          <p:spPr bwMode="auto">
            <a:xfrm>
              <a:off x="4377" y="1313"/>
              <a:ext cx="43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E</a:t>
              </a:r>
            </a:p>
          </p:txBody>
        </p:sp>
        <p:sp>
          <p:nvSpPr>
            <p:cNvPr id="161799" name="Text Box 8"/>
            <p:cNvSpPr txBox="1">
              <a:spLocks noChangeArrowheads="1"/>
            </p:cNvSpPr>
            <p:nvPr/>
          </p:nvSpPr>
          <p:spPr bwMode="auto">
            <a:xfrm>
              <a:off x="4059" y="1918"/>
              <a:ext cx="1084"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E    +   T</a:t>
              </a:r>
            </a:p>
          </p:txBody>
        </p:sp>
        <p:sp>
          <p:nvSpPr>
            <p:cNvPr id="161800" name="Text Box 9"/>
            <p:cNvSpPr txBox="1">
              <a:spLocks noChangeArrowheads="1"/>
            </p:cNvSpPr>
            <p:nvPr/>
          </p:nvSpPr>
          <p:spPr bwMode="auto">
            <a:xfrm>
              <a:off x="4921" y="2507"/>
              <a:ext cx="354"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F</a:t>
              </a:r>
            </a:p>
          </p:txBody>
        </p:sp>
        <p:sp>
          <p:nvSpPr>
            <p:cNvPr id="161801" name="Text Box 10"/>
            <p:cNvSpPr txBox="1">
              <a:spLocks noChangeArrowheads="1"/>
            </p:cNvSpPr>
            <p:nvPr/>
          </p:nvSpPr>
          <p:spPr bwMode="auto">
            <a:xfrm>
              <a:off x="5142" y="3271"/>
              <a:ext cx="231"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a:ea typeface="华文行楷" pitchFamily="2" charset="-122"/>
                </a:rPr>
                <a:t>i</a:t>
              </a:r>
            </a:p>
          </p:txBody>
        </p:sp>
        <p:sp>
          <p:nvSpPr>
            <p:cNvPr id="161802" name="Text Box 11"/>
            <p:cNvSpPr txBox="1">
              <a:spLocks noChangeArrowheads="1"/>
            </p:cNvSpPr>
            <p:nvPr/>
          </p:nvSpPr>
          <p:spPr bwMode="auto">
            <a:xfrm>
              <a:off x="4105" y="2462"/>
              <a:ext cx="309"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a:t>
              </a:r>
            </a:p>
          </p:txBody>
        </p:sp>
        <p:sp>
          <p:nvSpPr>
            <p:cNvPr id="161803" name="Text Box 12"/>
            <p:cNvSpPr txBox="1">
              <a:spLocks noChangeArrowheads="1"/>
            </p:cNvSpPr>
            <p:nvPr/>
          </p:nvSpPr>
          <p:spPr bwMode="auto">
            <a:xfrm>
              <a:off x="3696" y="3326"/>
              <a:ext cx="1105"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T     *     F</a:t>
              </a:r>
            </a:p>
          </p:txBody>
        </p:sp>
        <p:sp>
          <p:nvSpPr>
            <p:cNvPr id="161804" name="Line 13"/>
            <p:cNvSpPr>
              <a:spLocks noChangeShapeType="1"/>
            </p:cNvSpPr>
            <p:nvPr/>
          </p:nvSpPr>
          <p:spPr bwMode="auto">
            <a:xfrm flipH="1">
              <a:off x="4266" y="1730"/>
              <a:ext cx="308" cy="2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05" name="Line 14"/>
            <p:cNvSpPr>
              <a:spLocks noChangeShapeType="1"/>
            </p:cNvSpPr>
            <p:nvPr/>
          </p:nvSpPr>
          <p:spPr bwMode="auto">
            <a:xfrm>
              <a:off x="4591" y="1738"/>
              <a:ext cx="0" cy="31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06" name="Line 15"/>
            <p:cNvSpPr>
              <a:spLocks noChangeShapeType="1"/>
            </p:cNvSpPr>
            <p:nvPr/>
          </p:nvSpPr>
          <p:spPr bwMode="auto">
            <a:xfrm>
              <a:off x="4600" y="1738"/>
              <a:ext cx="321" cy="2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07" name="Line 16"/>
            <p:cNvSpPr>
              <a:spLocks noChangeShapeType="1"/>
            </p:cNvSpPr>
            <p:nvPr/>
          </p:nvSpPr>
          <p:spPr bwMode="auto">
            <a:xfrm>
              <a:off x="4967" y="2274"/>
              <a:ext cx="78" cy="2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08" name="Line 19"/>
            <p:cNvSpPr>
              <a:spLocks noChangeShapeType="1"/>
            </p:cNvSpPr>
            <p:nvPr/>
          </p:nvSpPr>
          <p:spPr bwMode="auto">
            <a:xfrm flipH="1">
              <a:off x="4240" y="2287"/>
              <a:ext cx="11" cy="3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09" name="Line 20"/>
            <p:cNvSpPr>
              <a:spLocks noChangeShapeType="1"/>
            </p:cNvSpPr>
            <p:nvPr/>
          </p:nvSpPr>
          <p:spPr bwMode="auto">
            <a:xfrm>
              <a:off x="5116" y="2875"/>
              <a:ext cx="97" cy="43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10" name="Line 21"/>
            <p:cNvSpPr>
              <a:spLocks noChangeShapeType="1"/>
            </p:cNvSpPr>
            <p:nvPr/>
          </p:nvSpPr>
          <p:spPr bwMode="auto">
            <a:xfrm>
              <a:off x="4251" y="2827"/>
              <a:ext cx="6" cy="5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11" name="Line 22"/>
            <p:cNvSpPr>
              <a:spLocks noChangeShapeType="1"/>
            </p:cNvSpPr>
            <p:nvPr/>
          </p:nvSpPr>
          <p:spPr bwMode="auto">
            <a:xfrm flipH="1">
              <a:off x="3893" y="2810"/>
              <a:ext cx="321" cy="55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1812" name="Line 23"/>
            <p:cNvSpPr>
              <a:spLocks noChangeShapeType="1"/>
            </p:cNvSpPr>
            <p:nvPr/>
          </p:nvSpPr>
          <p:spPr bwMode="auto">
            <a:xfrm>
              <a:off x="4304" y="2827"/>
              <a:ext cx="284" cy="5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4712" name="Rectangle 24"/>
          <p:cNvSpPr>
            <a:spLocks noChangeArrowheads="1"/>
          </p:cNvSpPr>
          <p:nvPr/>
        </p:nvSpPr>
        <p:spPr bwMode="auto">
          <a:xfrm>
            <a:off x="773113" y="2973388"/>
            <a:ext cx="4529137"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dirty="0">
                <a:latin typeface="宋体" panose="02010600030101010101" pitchFamily="2" charset="-122"/>
              </a:rPr>
              <a:t>短语有：</a:t>
            </a:r>
            <a:r>
              <a:rPr lang="en-US" altLang="zh-CN" sz="2200" dirty="0" err="1">
                <a:latin typeface="宋体" panose="02010600030101010101" pitchFamily="2" charset="-122"/>
              </a:rPr>
              <a:t>i</a:t>
            </a:r>
            <a:r>
              <a:rPr lang="en-US" altLang="zh-CN" sz="2200" dirty="0">
                <a:latin typeface="宋体" panose="02010600030101010101" pitchFamily="2" charset="-122"/>
              </a:rPr>
              <a:t>,  T * F,  T * F + </a:t>
            </a:r>
            <a:r>
              <a:rPr lang="en-US" altLang="zh-CN" sz="2200" dirty="0" err="1">
                <a:latin typeface="宋体" panose="02010600030101010101" pitchFamily="2" charset="-122"/>
              </a:rPr>
              <a:t>i</a:t>
            </a:r>
            <a:endParaRPr lang="en-US" altLang="zh-CN" sz="2200" dirty="0">
              <a:latin typeface="宋体" panose="02010600030101010101" pitchFamily="2" charset="-122"/>
            </a:endParaRPr>
          </a:p>
          <a:p>
            <a:pPr eaLnBrk="1" hangingPunct="1">
              <a:spcBef>
                <a:spcPct val="50000"/>
              </a:spcBef>
              <a:buFontTx/>
              <a:buNone/>
            </a:pPr>
            <a:r>
              <a:rPr lang="zh-CN" altLang="en-US" sz="2200" dirty="0">
                <a:latin typeface="宋体" panose="02010600030101010101" pitchFamily="2" charset="-122"/>
              </a:rPr>
              <a:t>素短语有： </a:t>
            </a:r>
            <a:r>
              <a:rPr lang="en-US" altLang="zh-CN" sz="2200" dirty="0" err="1">
                <a:latin typeface="宋体" panose="02010600030101010101" pitchFamily="2" charset="-122"/>
              </a:rPr>
              <a:t>i</a:t>
            </a:r>
            <a:r>
              <a:rPr lang="en-US" altLang="zh-CN" sz="2200" dirty="0">
                <a:latin typeface="宋体" panose="02010600030101010101" pitchFamily="2" charset="-122"/>
              </a:rPr>
              <a:t>,  T * F</a:t>
            </a:r>
          </a:p>
          <a:p>
            <a:pPr eaLnBrk="1" hangingPunct="1">
              <a:spcBef>
                <a:spcPct val="50000"/>
              </a:spcBef>
              <a:buFontTx/>
              <a:buNone/>
            </a:pPr>
            <a:r>
              <a:rPr lang="zh-CN" altLang="en-US" sz="2200" dirty="0">
                <a:latin typeface="宋体" panose="02010600030101010101" pitchFamily="2" charset="-122"/>
              </a:rPr>
              <a:t>最左素短语是：</a:t>
            </a:r>
            <a:r>
              <a:rPr lang="en-US" altLang="zh-CN" sz="2200" dirty="0">
                <a:latin typeface="宋体" panose="02010600030101010101" pitchFamily="2" charset="-122"/>
              </a:rPr>
              <a:t>T * F</a:t>
            </a:r>
          </a:p>
        </p:txBody>
      </p:sp>
    </p:spTree>
    <p:extLst>
      <p:ext uri="{BB962C8B-B14F-4D97-AF65-F5344CB8AC3E}">
        <p14:creationId xmlns:p14="http://schemas.microsoft.com/office/powerpoint/2010/main" val="15720409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2" presetClass="entr" presetSubtype="8" fill="hold" grpId="0" nodeType="clickEffect">
                                  <p:stCondLst>
                                    <p:cond delay="0"/>
                                  </p:stCondLst>
                                  <p:childTnLst>
                                    <p:set>
                                      <p:cBhvr>
                                        <p:cTn id="10" dur="1" fill="hold">
                                          <p:stCondLst>
                                            <p:cond delay="0"/>
                                          </p:stCondLst>
                                        </p:cTn>
                                        <p:tgtEl>
                                          <p:spTgt spid="114712"/>
                                        </p:tgtEl>
                                        <p:attrNameLst>
                                          <p:attrName>style.visibility</p:attrName>
                                        </p:attrNameLst>
                                      </p:cBhvr>
                                      <p:to>
                                        <p:strVal val="visible"/>
                                      </p:to>
                                    </p:set>
                                    <p:animEffect transition="in" filter="slide(fromLeft)">
                                      <p:cBhvr>
                                        <p:cTn id="11" dur="500"/>
                                        <p:tgtEl>
                                          <p:spTgt spid="114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712" grpId="0" autoUpdateAnimBg="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3"/>
          <p:cNvSpPr>
            <a:spLocks noGrp="1" noChangeArrowheads="1"/>
          </p:cNvSpPr>
          <p:nvPr>
            <p:ph type="body" idx="1"/>
          </p:nvPr>
        </p:nvSpPr>
        <p:spPr>
          <a:xfrm>
            <a:off x="150813" y="89081"/>
            <a:ext cx="4745037" cy="2481262"/>
          </a:xfrm>
        </p:spPr>
        <p:txBody>
          <a:bodyPr>
            <a:normAutofit/>
          </a:bodyPr>
          <a:lstStyle/>
          <a:p>
            <a:pPr eaLnBrk="1" hangingPunct="1">
              <a:lnSpc>
                <a:spcPct val="90000"/>
              </a:lnSpc>
            </a:pPr>
            <a:r>
              <a:rPr lang="zh-CN" altLang="en-US" sz="2200" dirty="0">
                <a:latin typeface="宋体" pitchFamily="2" charset="-122"/>
                <a:ea typeface="宋体" panose="02010600030101010101" pitchFamily="2" charset="-122"/>
              </a:rPr>
              <a:t>练习</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给定文法</a:t>
            </a:r>
            <a:r>
              <a:rPr lang="en-US" altLang="zh-CN" sz="2200" dirty="0">
                <a:latin typeface="宋体" pitchFamily="2" charset="-122"/>
                <a:ea typeface="宋体" panose="02010600030101010101" pitchFamily="2" charset="-122"/>
              </a:rPr>
              <a:t>G[E]:</a:t>
            </a:r>
          </a:p>
          <a:p>
            <a:pPr eaLnBrk="1" hangingPunct="1">
              <a:lnSpc>
                <a:spcPct val="90000"/>
              </a:lnSpc>
              <a:buFontTx/>
              <a:buNone/>
            </a:pPr>
            <a:r>
              <a:rPr lang="en-US" altLang="zh-CN" sz="2200" dirty="0">
                <a:solidFill>
                  <a:srgbClr val="000000"/>
                </a:solidFill>
                <a:latin typeface="宋体" pitchFamily="2" charset="-122"/>
                <a:ea typeface="宋体" panose="02010600030101010101" pitchFamily="2" charset="-122"/>
              </a:rPr>
              <a:t>	</a:t>
            </a:r>
            <a:r>
              <a:rPr lang="zh-CN" altLang="en-US" sz="2200" dirty="0">
                <a:solidFill>
                  <a:srgbClr val="000000"/>
                </a:solidFill>
                <a:latin typeface="宋体" pitchFamily="2" charset="-122"/>
                <a:ea typeface="宋体" panose="02010600030101010101" pitchFamily="2" charset="-122"/>
              </a:rPr>
              <a:t>　</a:t>
            </a:r>
          </a:p>
          <a:p>
            <a:pPr eaLnBrk="1" hangingPunct="1">
              <a:lnSpc>
                <a:spcPct val="90000"/>
              </a:lnSpc>
              <a:buFontTx/>
              <a:buNone/>
            </a:pPr>
            <a:r>
              <a:rPr lang="zh-CN" altLang="en-US" sz="2200" dirty="0">
                <a:solidFill>
                  <a:srgbClr val="000000"/>
                </a:solidFill>
                <a:latin typeface="宋体" pitchFamily="2" charset="-122"/>
                <a:ea typeface="宋体" panose="02010600030101010101" pitchFamily="2" charset="-122"/>
              </a:rPr>
              <a:t>　 　　</a:t>
            </a:r>
          </a:p>
          <a:p>
            <a:pPr eaLnBrk="1" hangingPunct="1">
              <a:lnSpc>
                <a:spcPct val="90000"/>
              </a:lnSpc>
              <a:buFontTx/>
              <a:buNone/>
            </a:pPr>
            <a:r>
              <a:rPr lang="zh-CN" altLang="en-US" sz="2200" dirty="0">
                <a:latin typeface="宋体" pitchFamily="2" charset="-122"/>
                <a:ea typeface="宋体" panose="02010600030101010101" pitchFamily="2" charset="-122"/>
              </a:rPr>
              <a:t>	</a:t>
            </a:r>
          </a:p>
          <a:p>
            <a:pPr eaLnBrk="1" hangingPunct="1">
              <a:lnSpc>
                <a:spcPct val="90000"/>
              </a:lnSpc>
              <a:buFontTx/>
              <a:buNone/>
            </a:pPr>
            <a:r>
              <a:rPr lang="zh-CN" altLang="en-US" sz="2200" dirty="0">
                <a:latin typeface="宋体" pitchFamily="2" charset="-122"/>
                <a:ea typeface="宋体" panose="02010600030101010101" pitchFamily="2" charset="-122"/>
              </a:rPr>
              <a:t>求句型</a:t>
            </a:r>
            <a:r>
              <a:rPr lang="en-US" altLang="zh-CN" sz="2200" b="1" dirty="0">
                <a:solidFill>
                  <a:srgbClr val="0000FF"/>
                </a:solidFill>
                <a:latin typeface="宋体" pitchFamily="2" charset="-122"/>
                <a:ea typeface="宋体" panose="02010600030101010101" pitchFamily="2" charset="-122"/>
              </a:rPr>
              <a:t>T+T*</a:t>
            </a:r>
            <a:r>
              <a:rPr lang="en-US" altLang="zh-CN" sz="2200" b="1" dirty="0" err="1">
                <a:solidFill>
                  <a:srgbClr val="0000FF"/>
                </a:solidFill>
                <a:latin typeface="宋体" pitchFamily="2" charset="-122"/>
                <a:ea typeface="宋体" panose="02010600030101010101" pitchFamily="2" charset="-122"/>
              </a:rPr>
              <a:t>F+i</a:t>
            </a:r>
            <a:r>
              <a:rPr lang="zh-CN" altLang="en-US" sz="2200" dirty="0">
                <a:latin typeface="宋体" panose="02010600030101010101" pitchFamily="2" charset="-122"/>
                <a:ea typeface="宋体" panose="02010600030101010101" pitchFamily="2" charset="-122"/>
              </a:rPr>
              <a:t>的短语、素短语、最左素短语。</a:t>
            </a:r>
          </a:p>
        </p:txBody>
      </p:sp>
      <p:sp>
        <p:nvSpPr>
          <p:cNvPr id="24636" name="Text Box 60"/>
          <p:cNvSpPr txBox="1">
            <a:spLocks noChangeArrowheads="1"/>
          </p:cNvSpPr>
          <p:nvPr/>
        </p:nvSpPr>
        <p:spPr bwMode="auto">
          <a:xfrm>
            <a:off x="395536" y="2283718"/>
            <a:ext cx="4194745" cy="280076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30000"/>
              </a:spcBef>
              <a:buFontTx/>
              <a:buNone/>
            </a:pPr>
            <a:r>
              <a:rPr lang="zh-CN" altLang="en-US" sz="2000" dirty="0">
                <a:latin typeface="宋体" panose="02010600030101010101" pitchFamily="2" charset="-122"/>
              </a:rPr>
              <a:t>根据语法树可知：</a:t>
            </a:r>
          </a:p>
          <a:p>
            <a:pPr eaLnBrk="1" hangingPunct="1">
              <a:spcBef>
                <a:spcPct val="30000"/>
              </a:spcBef>
              <a:buFontTx/>
              <a:buNone/>
            </a:pPr>
            <a:r>
              <a:rPr lang="zh-CN" altLang="en-US" sz="2000" dirty="0">
                <a:latin typeface="宋体" panose="02010600030101010101" pitchFamily="2" charset="-122"/>
              </a:rPr>
              <a:t>句型</a:t>
            </a:r>
            <a:r>
              <a:rPr lang="en-US" altLang="zh-CN" sz="2000" dirty="0">
                <a:solidFill>
                  <a:srgbClr val="CC00FF"/>
                </a:solidFill>
                <a:latin typeface="宋体" panose="02010600030101010101" pitchFamily="2" charset="-122"/>
              </a:rPr>
              <a:t>T+T*</a:t>
            </a:r>
            <a:r>
              <a:rPr lang="en-US" altLang="zh-CN" sz="2000" dirty="0" err="1">
                <a:solidFill>
                  <a:srgbClr val="CC00FF"/>
                </a:solidFill>
                <a:latin typeface="宋体" panose="02010600030101010101" pitchFamily="2" charset="-122"/>
              </a:rPr>
              <a:t>F+i</a:t>
            </a:r>
            <a:r>
              <a:rPr lang="zh-CN" altLang="en-US" sz="2000" dirty="0">
                <a:latin typeface="宋体" panose="02010600030101010101" pitchFamily="2" charset="-122"/>
              </a:rPr>
              <a:t>的</a:t>
            </a:r>
            <a:r>
              <a:rPr lang="zh-CN" altLang="en-US" sz="2000" dirty="0">
                <a:solidFill>
                  <a:schemeClr val="accent2"/>
                </a:solidFill>
                <a:latin typeface="宋体" panose="02010600030101010101" pitchFamily="2" charset="-122"/>
              </a:rPr>
              <a:t>短语</a:t>
            </a:r>
            <a:r>
              <a:rPr lang="zh-CN" altLang="en-US" sz="2000" dirty="0">
                <a:latin typeface="宋体" panose="02010600030101010101" pitchFamily="2" charset="-122"/>
              </a:rPr>
              <a:t>有：</a:t>
            </a:r>
          </a:p>
          <a:p>
            <a:pPr eaLnBrk="1" hangingPunct="1">
              <a:spcBef>
                <a:spcPct val="30000"/>
              </a:spcBef>
              <a:buFontTx/>
              <a:buNone/>
            </a:pPr>
            <a:r>
              <a:rPr lang="en-US" altLang="zh-CN" sz="2000" dirty="0">
                <a:latin typeface="宋体" panose="02010600030101010101" pitchFamily="2" charset="-122"/>
              </a:rPr>
              <a:t>T —   </a:t>
            </a:r>
            <a:r>
              <a:rPr lang="zh-CN" altLang="en-US" sz="2000" dirty="0">
                <a:latin typeface="宋体" panose="02010600030101010101" pitchFamily="2" charset="-122"/>
              </a:rPr>
              <a:t>相对非终结符</a:t>
            </a:r>
            <a:r>
              <a:rPr lang="en-US" altLang="zh-CN" sz="2000" dirty="0">
                <a:latin typeface="宋体" panose="02010600030101010101" pitchFamily="2" charset="-122"/>
              </a:rPr>
              <a:t>E</a:t>
            </a:r>
            <a:r>
              <a:rPr lang="zh-CN" altLang="en-US" sz="2000" dirty="0">
                <a:latin typeface="宋体" panose="02010600030101010101" pitchFamily="2" charset="-122"/>
              </a:rPr>
              <a:t>的短语</a:t>
            </a:r>
          </a:p>
          <a:p>
            <a:pPr eaLnBrk="1" hangingPunct="1">
              <a:spcBef>
                <a:spcPct val="30000"/>
              </a:spcBef>
              <a:buFontTx/>
              <a:buNone/>
            </a:pPr>
            <a:r>
              <a:rPr lang="en-US" altLang="zh-CN" sz="2000" dirty="0">
                <a:latin typeface="宋体" panose="02010600030101010101" pitchFamily="2" charset="-122"/>
              </a:rPr>
              <a:t>T*F — </a:t>
            </a:r>
            <a:r>
              <a:rPr lang="zh-CN" altLang="en-US" sz="2000" dirty="0">
                <a:latin typeface="宋体" panose="02010600030101010101" pitchFamily="2" charset="-122"/>
              </a:rPr>
              <a:t>相对非终结符</a:t>
            </a:r>
            <a:r>
              <a:rPr lang="en-US" altLang="zh-CN" sz="2000" dirty="0">
                <a:latin typeface="宋体" panose="02010600030101010101" pitchFamily="2" charset="-122"/>
              </a:rPr>
              <a:t>T</a:t>
            </a:r>
            <a:r>
              <a:rPr lang="zh-CN" altLang="en-US" sz="2000" dirty="0">
                <a:latin typeface="宋体" panose="02010600030101010101" pitchFamily="2" charset="-122"/>
              </a:rPr>
              <a:t>的短语</a:t>
            </a:r>
          </a:p>
          <a:p>
            <a:pPr eaLnBrk="1" hangingPunct="1">
              <a:spcBef>
                <a:spcPct val="30000"/>
              </a:spcBef>
              <a:buFontTx/>
              <a:buNone/>
            </a:pPr>
            <a:r>
              <a:rPr lang="en-US" altLang="zh-CN" sz="2000" dirty="0">
                <a:latin typeface="宋体" panose="02010600030101010101" pitchFamily="2" charset="-122"/>
              </a:rPr>
              <a:t>T+T*F — </a:t>
            </a:r>
            <a:r>
              <a:rPr lang="zh-CN" altLang="en-US" sz="2000" dirty="0">
                <a:latin typeface="宋体" panose="02010600030101010101" pitchFamily="2" charset="-122"/>
              </a:rPr>
              <a:t>相对非终结符</a:t>
            </a:r>
            <a:r>
              <a:rPr lang="en-US" altLang="zh-CN" sz="2000" dirty="0">
                <a:latin typeface="宋体" panose="02010600030101010101" pitchFamily="2" charset="-122"/>
              </a:rPr>
              <a:t>E</a:t>
            </a:r>
            <a:r>
              <a:rPr lang="zh-CN" altLang="en-US" sz="2000" dirty="0">
                <a:latin typeface="宋体" panose="02010600030101010101" pitchFamily="2" charset="-122"/>
              </a:rPr>
              <a:t>的短语</a:t>
            </a:r>
          </a:p>
          <a:p>
            <a:pPr eaLnBrk="1" hangingPunct="1">
              <a:spcBef>
                <a:spcPct val="30000"/>
              </a:spcBef>
              <a:buFontTx/>
              <a:buNone/>
            </a:pPr>
            <a:r>
              <a:rPr lang="en-US" altLang="zh-CN" sz="2000" dirty="0" err="1">
                <a:latin typeface="宋体" panose="02010600030101010101" pitchFamily="2" charset="-122"/>
              </a:rPr>
              <a:t>i</a:t>
            </a:r>
            <a:r>
              <a:rPr lang="en-US" altLang="zh-CN" sz="2000" dirty="0">
                <a:latin typeface="宋体" panose="02010600030101010101" pitchFamily="2" charset="-122"/>
              </a:rPr>
              <a:t> — </a:t>
            </a:r>
            <a:r>
              <a:rPr lang="zh-CN" altLang="en-US" sz="2000" dirty="0">
                <a:latin typeface="宋体" panose="02010600030101010101" pitchFamily="2" charset="-122"/>
              </a:rPr>
              <a:t>相对非终结符</a:t>
            </a:r>
            <a:r>
              <a:rPr lang="en-US" altLang="zh-CN" sz="2000" dirty="0">
                <a:latin typeface="宋体" panose="02010600030101010101" pitchFamily="2" charset="-122"/>
              </a:rPr>
              <a:t>P</a:t>
            </a:r>
            <a:r>
              <a:rPr lang="zh-CN" altLang="en-US" sz="2000" dirty="0">
                <a:latin typeface="宋体" panose="02010600030101010101" pitchFamily="2" charset="-122"/>
              </a:rPr>
              <a:t>、</a:t>
            </a:r>
            <a:r>
              <a:rPr lang="en-US" altLang="zh-CN" sz="2000" dirty="0">
                <a:latin typeface="宋体" panose="02010600030101010101" pitchFamily="2" charset="-122"/>
              </a:rPr>
              <a:t>F</a:t>
            </a:r>
            <a:r>
              <a:rPr lang="zh-CN" altLang="en-US" sz="2000" dirty="0">
                <a:latin typeface="宋体" panose="02010600030101010101" pitchFamily="2" charset="-122"/>
              </a:rPr>
              <a:t>、</a:t>
            </a:r>
            <a:r>
              <a:rPr lang="en-US" altLang="zh-CN" sz="2000" dirty="0">
                <a:latin typeface="宋体" panose="02010600030101010101" pitchFamily="2" charset="-122"/>
              </a:rPr>
              <a:t>T</a:t>
            </a:r>
            <a:r>
              <a:rPr lang="zh-CN" altLang="en-US" sz="2000" dirty="0">
                <a:latin typeface="宋体" panose="02010600030101010101" pitchFamily="2" charset="-122"/>
              </a:rPr>
              <a:t>的短语</a:t>
            </a:r>
          </a:p>
          <a:p>
            <a:pPr eaLnBrk="1" hangingPunct="1">
              <a:spcBef>
                <a:spcPct val="30000"/>
              </a:spcBef>
              <a:buFontTx/>
              <a:buNone/>
            </a:pPr>
            <a:r>
              <a:rPr lang="en-US" altLang="zh-CN" sz="2000" dirty="0">
                <a:latin typeface="宋体" panose="02010600030101010101" pitchFamily="2" charset="-122"/>
              </a:rPr>
              <a:t>T+T*</a:t>
            </a:r>
            <a:r>
              <a:rPr lang="en-US" altLang="zh-CN" sz="2000" dirty="0" err="1">
                <a:latin typeface="宋体" panose="02010600030101010101" pitchFamily="2" charset="-122"/>
              </a:rPr>
              <a:t>F+i</a:t>
            </a:r>
            <a:r>
              <a:rPr lang="en-US" altLang="zh-CN" sz="2000" dirty="0">
                <a:latin typeface="宋体" panose="02010600030101010101" pitchFamily="2" charset="-122"/>
              </a:rPr>
              <a:t> —</a:t>
            </a:r>
            <a:r>
              <a:rPr lang="zh-CN" altLang="en-US" sz="2000" dirty="0">
                <a:latin typeface="宋体" panose="02010600030101010101" pitchFamily="2" charset="-122"/>
              </a:rPr>
              <a:t>相对非终结符</a:t>
            </a:r>
            <a:r>
              <a:rPr lang="en-US" altLang="zh-CN" sz="2000" dirty="0">
                <a:latin typeface="宋体" panose="02010600030101010101" pitchFamily="2" charset="-122"/>
              </a:rPr>
              <a:t>E</a:t>
            </a:r>
            <a:r>
              <a:rPr lang="zh-CN" altLang="en-US" sz="2000" dirty="0">
                <a:latin typeface="宋体" panose="02010600030101010101" pitchFamily="2" charset="-122"/>
              </a:rPr>
              <a:t>的短语</a:t>
            </a:r>
          </a:p>
        </p:txBody>
      </p:sp>
      <p:sp>
        <p:nvSpPr>
          <p:cNvPr id="24637" name="Text Box 61"/>
          <p:cNvSpPr txBox="1">
            <a:spLocks noChangeArrowheads="1"/>
          </p:cNvSpPr>
          <p:nvPr/>
        </p:nvSpPr>
        <p:spPr bwMode="auto">
          <a:xfrm>
            <a:off x="4895850" y="2600325"/>
            <a:ext cx="4248150" cy="24003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723900" indent="-723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000" dirty="0">
                <a:latin typeface="宋体" panose="02010600030101010101" pitchFamily="2" charset="-122"/>
              </a:rPr>
              <a:t>根据</a:t>
            </a:r>
            <a:r>
              <a:rPr lang="zh-CN" altLang="en-US" sz="2000" dirty="0">
                <a:solidFill>
                  <a:schemeClr val="accent2"/>
                </a:solidFill>
                <a:latin typeface="宋体" panose="02010600030101010101" pitchFamily="2" charset="-122"/>
              </a:rPr>
              <a:t>素短语</a:t>
            </a:r>
            <a:r>
              <a:rPr lang="zh-CN" altLang="en-US" sz="2000" dirty="0">
                <a:latin typeface="宋体" panose="02010600030101010101" pitchFamily="2" charset="-122"/>
              </a:rPr>
              <a:t>的定义可知：</a:t>
            </a:r>
          </a:p>
          <a:p>
            <a:pPr eaLnBrk="1" hangingPunct="1">
              <a:spcBef>
                <a:spcPct val="50000"/>
              </a:spcBef>
              <a:buFontTx/>
              <a:buNone/>
            </a:pPr>
            <a:r>
              <a:rPr lang="zh-CN" altLang="en-US" sz="2000" dirty="0">
                <a:latin typeface="宋体" panose="02010600030101010101" pitchFamily="2" charset="-122"/>
              </a:rPr>
              <a:t> </a:t>
            </a:r>
            <a:r>
              <a:rPr lang="en-US" altLang="zh-CN" sz="2000" dirty="0" err="1">
                <a:latin typeface="宋体" panose="02010600030101010101" pitchFamily="2" charset="-122"/>
              </a:rPr>
              <a:t>i</a:t>
            </a:r>
            <a:r>
              <a:rPr lang="zh-CN" altLang="en-US" sz="2000" dirty="0">
                <a:latin typeface="宋体" panose="02010600030101010101" pitchFamily="2" charset="-122"/>
              </a:rPr>
              <a:t>和</a:t>
            </a:r>
            <a:r>
              <a:rPr lang="en-US" altLang="zh-CN" sz="2000" dirty="0">
                <a:latin typeface="宋体" panose="02010600030101010101" pitchFamily="2" charset="-122"/>
              </a:rPr>
              <a:t>T*F</a:t>
            </a:r>
            <a:r>
              <a:rPr lang="zh-CN" altLang="en-US" sz="2000" dirty="0">
                <a:latin typeface="宋体" panose="02010600030101010101" pitchFamily="2" charset="-122"/>
              </a:rPr>
              <a:t>为素短语。</a:t>
            </a:r>
          </a:p>
          <a:p>
            <a:pPr eaLnBrk="1" hangingPunct="1">
              <a:spcBef>
                <a:spcPct val="50000"/>
              </a:spcBef>
              <a:buFontTx/>
              <a:buNone/>
            </a:pPr>
            <a:r>
              <a:rPr lang="zh-CN" altLang="en-US" sz="2000" dirty="0">
                <a:latin typeface="宋体" panose="02010600030101010101" pitchFamily="2" charset="-122"/>
              </a:rPr>
              <a:t>其中：</a:t>
            </a:r>
            <a:r>
              <a:rPr lang="en-US" altLang="zh-CN" sz="2000" dirty="0">
                <a:latin typeface="宋体" panose="02010600030101010101" pitchFamily="2" charset="-122"/>
              </a:rPr>
              <a:t>T+T*F   (</a:t>
            </a:r>
            <a:r>
              <a:rPr lang="zh-CN" altLang="en-US" sz="2000" dirty="0">
                <a:latin typeface="宋体" panose="02010600030101010101" pitchFamily="2" charset="-122"/>
              </a:rPr>
              <a:t>含</a:t>
            </a:r>
            <a:r>
              <a:rPr lang="en-US" altLang="zh-CN" sz="2000" dirty="0">
                <a:latin typeface="宋体" panose="02010600030101010101" pitchFamily="2" charset="-122"/>
              </a:rPr>
              <a:t>T*F</a:t>
            </a:r>
            <a:r>
              <a:rPr lang="zh-CN" altLang="en-US" sz="2000" dirty="0">
                <a:latin typeface="宋体" panose="02010600030101010101" pitchFamily="2" charset="-122"/>
              </a:rPr>
              <a:t>素短语</a:t>
            </a:r>
            <a:r>
              <a:rPr lang="en-US" altLang="zh-CN" sz="2000" dirty="0">
                <a:latin typeface="宋体" panose="02010600030101010101" pitchFamily="2" charset="-122"/>
              </a:rPr>
              <a:t>)</a:t>
            </a:r>
            <a:r>
              <a:rPr lang="zh-CN" altLang="en-US" sz="2000" dirty="0">
                <a:latin typeface="宋体" panose="02010600030101010101" pitchFamily="2" charset="-122"/>
              </a:rPr>
              <a:t>、     </a:t>
            </a:r>
            <a:r>
              <a:rPr lang="en-US" altLang="zh-CN" sz="2000" dirty="0">
                <a:latin typeface="宋体" panose="02010600030101010101" pitchFamily="2" charset="-122"/>
              </a:rPr>
              <a:t>T+T*</a:t>
            </a:r>
            <a:r>
              <a:rPr lang="en-US" altLang="zh-CN" sz="2000" dirty="0" err="1">
                <a:latin typeface="宋体" panose="02010600030101010101" pitchFamily="2" charset="-122"/>
              </a:rPr>
              <a:t>F+i</a:t>
            </a:r>
            <a:r>
              <a:rPr lang="en-US" altLang="zh-CN" sz="2000" dirty="0">
                <a:latin typeface="宋体" panose="02010600030101010101" pitchFamily="2" charset="-122"/>
              </a:rPr>
              <a:t> (</a:t>
            </a:r>
            <a:r>
              <a:rPr lang="zh-CN" altLang="en-US" sz="2000" dirty="0">
                <a:latin typeface="宋体" panose="02010600030101010101" pitchFamily="2" charset="-122"/>
              </a:rPr>
              <a:t>含</a:t>
            </a:r>
            <a:r>
              <a:rPr lang="en-US" altLang="zh-CN" sz="2000" dirty="0">
                <a:latin typeface="宋体" panose="02010600030101010101" pitchFamily="2" charset="-122"/>
              </a:rPr>
              <a:t>T*F</a:t>
            </a:r>
            <a:r>
              <a:rPr lang="zh-CN" altLang="en-US" sz="2000" dirty="0">
                <a:latin typeface="宋体" panose="02010600030101010101" pitchFamily="2" charset="-122"/>
              </a:rPr>
              <a:t>素短语</a:t>
            </a:r>
            <a:r>
              <a:rPr lang="en-US" altLang="zh-CN" sz="2000" dirty="0">
                <a:latin typeface="宋体" panose="02010600030101010101" pitchFamily="2" charset="-122"/>
              </a:rPr>
              <a:t>) </a:t>
            </a:r>
            <a:r>
              <a:rPr lang="zh-CN" altLang="en-US" sz="2000" dirty="0">
                <a:latin typeface="宋体" panose="02010600030101010101" pitchFamily="2" charset="-122"/>
              </a:rPr>
              <a:t>和                 </a:t>
            </a:r>
            <a:r>
              <a:rPr lang="en-US" altLang="zh-CN" sz="2000" dirty="0">
                <a:latin typeface="宋体" panose="02010600030101010101" pitchFamily="2" charset="-122"/>
              </a:rPr>
              <a:t>T(</a:t>
            </a:r>
            <a:r>
              <a:rPr lang="zh-CN" altLang="en-US" sz="2000" dirty="0">
                <a:latin typeface="宋体" panose="02010600030101010101" pitchFamily="2" charset="-122"/>
              </a:rPr>
              <a:t>不含终结符</a:t>
            </a:r>
            <a:r>
              <a:rPr lang="en-US" altLang="zh-CN" sz="2000" dirty="0">
                <a:latin typeface="宋体" panose="02010600030101010101" pitchFamily="2" charset="-122"/>
              </a:rPr>
              <a:t>)</a:t>
            </a:r>
            <a:r>
              <a:rPr lang="zh-CN" altLang="en-US" sz="2000" dirty="0">
                <a:latin typeface="宋体" panose="02010600030101010101" pitchFamily="2" charset="-122"/>
              </a:rPr>
              <a:t>也不是素短语</a:t>
            </a:r>
          </a:p>
          <a:p>
            <a:pPr eaLnBrk="1" hangingPunct="1">
              <a:spcBef>
                <a:spcPct val="50000"/>
              </a:spcBef>
              <a:buFontTx/>
              <a:buNone/>
            </a:pPr>
            <a:r>
              <a:rPr lang="en-US" altLang="zh-CN" sz="2000" dirty="0">
                <a:latin typeface="宋体" panose="02010600030101010101" pitchFamily="2" charset="-122"/>
              </a:rPr>
              <a:t>T*F</a:t>
            </a:r>
            <a:r>
              <a:rPr lang="zh-CN" altLang="en-US" sz="2000" dirty="0">
                <a:latin typeface="宋体" panose="02010600030101010101" pitchFamily="2" charset="-122"/>
              </a:rPr>
              <a:t>为</a:t>
            </a:r>
            <a:r>
              <a:rPr lang="zh-CN" altLang="en-US" sz="2000" dirty="0">
                <a:solidFill>
                  <a:schemeClr val="accent2"/>
                </a:solidFill>
                <a:latin typeface="宋体" panose="02010600030101010101" pitchFamily="2" charset="-122"/>
              </a:rPr>
              <a:t>最左素短语</a:t>
            </a:r>
            <a:r>
              <a:rPr lang="zh-CN" altLang="en-US" sz="2000" dirty="0">
                <a:latin typeface="宋体" panose="02010600030101010101" pitchFamily="2" charset="-122"/>
              </a:rPr>
              <a:t>。</a:t>
            </a:r>
          </a:p>
        </p:txBody>
      </p:sp>
      <p:sp>
        <p:nvSpPr>
          <p:cNvPr id="162821" name="Rectangle 62"/>
          <p:cNvSpPr>
            <a:spLocks noChangeArrowheads="1"/>
          </p:cNvSpPr>
          <p:nvPr/>
        </p:nvSpPr>
        <p:spPr bwMode="auto">
          <a:xfrm>
            <a:off x="1343025" y="458261"/>
            <a:ext cx="2173287" cy="100642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lnSpc>
                <a:spcPct val="90000"/>
              </a:lnSpc>
              <a:buFontTx/>
              <a:buNone/>
            </a:pPr>
            <a:r>
              <a:rPr lang="en-US" altLang="zh-CN" sz="2200" dirty="0">
                <a:solidFill>
                  <a:srgbClr val="000000"/>
                </a:solidFill>
                <a:latin typeface="宋体" panose="02010600030101010101" pitchFamily="2" charset="-122"/>
              </a:rPr>
              <a:t>E</a:t>
            </a:r>
            <a:r>
              <a:rPr lang="en-US" altLang="zh-CN" sz="2200" dirty="0">
                <a:solidFill>
                  <a:srgbClr val="000000"/>
                </a:solidFill>
                <a:latin typeface="宋体" pitchFamily="2" charset="-122"/>
                <a:sym typeface="Wingdings" pitchFamily="2" charset="2"/>
              </a:rPr>
              <a:t></a:t>
            </a:r>
            <a:r>
              <a:rPr lang="en-US" altLang="zh-CN" sz="2200" dirty="0">
                <a:solidFill>
                  <a:srgbClr val="000000"/>
                </a:solidFill>
                <a:latin typeface="宋体" pitchFamily="2" charset="-122"/>
              </a:rPr>
              <a:t>E+T</a:t>
            </a:r>
            <a:r>
              <a:rPr lang="en-US" altLang="zh-CN" sz="2200" dirty="0">
                <a:latin typeface="宋体" pitchFamily="2" charset="-122"/>
              </a:rPr>
              <a:t>|T</a:t>
            </a:r>
            <a:br>
              <a:rPr lang="en-US" altLang="zh-CN" sz="2200" dirty="0">
                <a:latin typeface="宋体" pitchFamily="2" charset="-122"/>
              </a:rPr>
            </a:br>
            <a:r>
              <a:rPr lang="en-US" altLang="zh-CN" sz="2200" dirty="0">
                <a:latin typeface="宋体" pitchFamily="2" charset="-122"/>
              </a:rPr>
              <a:t>T</a:t>
            </a:r>
            <a:r>
              <a:rPr lang="en-US" altLang="zh-CN" sz="2200" dirty="0">
                <a:latin typeface="宋体" pitchFamily="2" charset="-122"/>
                <a:sym typeface="Wingdings" pitchFamily="2" charset="2"/>
              </a:rPr>
              <a:t></a:t>
            </a:r>
            <a:r>
              <a:rPr lang="en-US" altLang="zh-CN" sz="2200" dirty="0">
                <a:latin typeface="宋体" pitchFamily="2" charset="-122"/>
              </a:rPr>
              <a:t>T*F|F</a:t>
            </a:r>
            <a:br>
              <a:rPr lang="en-US" altLang="zh-CN" sz="2200" dirty="0">
                <a:latin typeface="宋体" pitchFamily="2" charset="-122"/>
              </a:rPr>
            </a:br>
            <a:r>
              <a:rPr lang="en-US" altLang="zh-CN" sz="2200" dirty="0">
                <a:latin typeface="宋体" pitchFamily="2" charset="-122"/>
              </a:rPr>
              <a:t>F</a:t>
            </a:r>
            <a:r>
              <a:rPr lang="en-US" altLang="zh-CN" sz="2200" dirty="0">
                <a:latin typeface="宋体" pitchFamily="2" charset="-122"/>
                <a:sym typeface="Wingdings" pitchFamily="2" charset="2"/>
              </a:rPr>
              <a:t></a:t>
            </a:r>
            <a:r>
              <a:rPr lang="en-US" altLang="zh-CN" sz="2200" dirty="0">
                <a:latin typeface="宋体" pitchFamily="2" charset="-122"/>
              </a:rPr>
              <a:t>(E)|</a:t>
            </a:r>
            <a:r>
              <a:rPr lang="en-US" altLang="zh-CN" sz="2200" dirty="0" err="1">
                <a:latin typeface="宋体" pitchFamily="2" charset="-122"/>
              </a:rPr>
              <a:t>i</a:t>
            </a:r>
            <a:endParaRPr lang="en-US" altLang="zh-CN" sz="2200" dirty="0">
              <a:latin typeface="宋体" pitchFamily="2" charset="-122"/>
            </a:endParaRPr>
          </a:p>
        </p:txBody>
      </p:sp>
      <p:grpSp>
        <p:nvGrpSpPr>
          <p:cNvPr id="2" name="Group 65"/>
          <p:cNvGrpSpPr>
            <a:grpSpLocks/>
          </p:cNvGrpSpPr>
          <p:nvPr/>
        </p:nvGrpSpPr>
        <p:grpSpPr bwMode="auto">
          <a:xfrm>
            <a:off x="5364163" y="-92853"/>
            <a:ext cx="3330575" cy="2529666"/>
            <a:chOff x="3379" y="-78"/>
            <a:chExt cx="2098" cy="2125"/>
          </a:xfrm>
        </p:grpSpPr>
        <p:sp>
          <p:nvSpPr>
            <p:cNvPr id="162823" name="Text Box 5"/>
            <p:cNvSpPr txBox="1">
              <a:spLocks noChangeArrowheads="1"/>
            </p:cNvSpPr>
            <p:nvPr/>
          </p:nvSpPr>
          <p:spPr bwMode="auto">
            <a:xfrm>
              <a:off x="4592" y="-78"/>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E</a:t>
              </a:r>
            </a:p>
          </p:txBody>
        </p:sp>
        <p:sp>
          <p:nvSpPr>
            <p:cNvPr id="162824" name="Line 6"/>
            <p:cNvSpPr>
              <a:spLocks noChangeShapeType="1"/>
            </p:cNvSpPr>
            <p:nvPr/>
          </p:nvSpPr>
          <p:spPr bwMode="auto">
            <a:xfrm flipH="1">
              <a:off x="4090" y="218"/>
              <a:ext cx="568" cy="3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25" name="Line 8"/>
            <p:cNvSpPr>
              <a:spLocks noChangeShapeType="1"/>
            </p:cNvSpPr>
            <p:nvPr/>
          </p:nvSpPr>
          <p:spPr bwMode="auto">
            <a:xfrm>
              <a:off x="4753" y="218"/>
              <a:ext cx="568" cy="2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26" name="Text Box 9"/>
            <p:cNvSpPr txBox="1">
              <a:spLocks noChangeArrowheads="1"/>
            </p:cNvSpPr>
            <p:nvPr/>
          </p:nvSpPr>
          <p:spPr bwMode="auto">
            <a:xfrm>
              <a:off x="3923" y="406"/>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E</a:t>
              </a:r>
            </a:p>
          </p:txBody>
        </p:sp>
        <p:sp>
          <p:nvSpPr>
            <p:cNvPr id="162827" name="Text Box 10"/>
            <p:cNvSpPr txBox="1">
              <a:spLocks noChangeArrowheads="1"/>
            </p:cNvSpPr>
            <p:nvPr/>
          </p:nvSpPr>
          <p:spPr bwMode="auto">
            <a:xfrm>
              <a:off x="5181" y="406"/>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T</a:t>
              </a:r>
            </a:p>
          </p:txBody>
        </p:sp>
        <p:sp>
          <p:nvSpPr>
            <p:cNvPr id="162828" name="Text Box 11"/>
            <p:cNvSpPr txBox="1">
              <a:spLocks noChangeArrowheads="1"/>
            </p:cNvSpPr>
            <p:nvPr/>
          </p:nvSpPr>
          <p:spPr bwMode="auto">
            <a:xfrm>
              <a:off x="4604" y="480"/>
              <a:ext cx="2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a:t>
              </a:r>
            </a:p>
          </p:txBody>
        </p:sp>
        <p:sp>
          <p:nvSpPr>
            <p:cNvPr id="162829" name="Line 12"/>
            <p:cNvSpPr>
              <a:spLocks noChangeShapeType="1"/>
            </p:cNvSpPr>
            <p:nvPr/>
          </p:nvSpPr>
          <p:spPr bwMode="auto">
            <a:xfrm flipH="1">
              <a:off x="3521" y="699"/>
              <a:ext cx="474" cy="3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0" name="Line 13"/>
            <p:cNvSpPr>
              <a:spLocks noChangeShapeType="1"/>
            </p:cNvSpPr>
            <p:nvPr/>
          </p:nvSpPr>
          <p:spPr bwMode="auto">
            <a:xfrm>
              <a:off x="4042" y="699"/>
              <a:ext cx="4" cy="40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1" name="Line 14"/>
            <p:cNvSpPr>
              <a:spLocks noChangeShapeType="1"/>
            </p:cNvSpPr>
            <p:nvPr/>
          </p:nvSpPr>
          <p:spPr bwMode="auto">
            <a:xfrm>
              <a:off x="4090" y="699"/>
              <a:ext cx="426" cy="3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2" name="Line 15"/>
            <p:cNvSpPr>
              <a:spLocks noChangeShapeType="1"/>
            </p:cNvSpPr>
            <p:nvPr/>
          </p:nvSpPr>
          <p:spPr bwMode="auto">
            <a:xfrm>
              <a:off x="5334" y="725"/>
              <a:ext cx="0" cy="3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3" name="Text Box 16"/>
            <p:cNvSpPr txBox="1">
              <a:spLocks noChangeArrowheads="1"/>
            </p:cNvSpPr>
            <p:nvPr/>
          </p:nvSpPr>
          <p:spPr bwMode="auto">
            <a:xfrm>
              <a:off x="3379" y="951"/>
              <a:ext cx="2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E</a:t>
              </a:r>
            </a:p>
          </p:txBody>
        </p:sp>
        <p:sp>
          <p:nvSpPr>
            <p:cNvPr id="162834" name="Text Box 17"/>
            <p:cNvSpPr txBox="1">
              <a:spLocks noChangeArrowheads="1"/>
            </p:cNvSpPr>
            <p:nvPr/>
          </p:nvSpPr>
          <p:spPr bwMode="auto">
            <a:xfrm>
              <a:off x="3923" y="1011"/>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a:t>
              </a:r>
            </a:p>
          </p:txBody>
        </p:sp>
        <p:sp>
          <p:nvSpPr>
            <p:cNvPr id="162835" name="Text Box 18"/>
            <p:cNvSpPr txBox="1">
              <a:spLocks noChangeArrowheads="1"/>
            </p:cNvSpPr>
            <p:nvPr/>
          </p:nvSpPr>
          <p:spPr bwMode="auto">
            <a:xfrm>
              <a:off x="4374" y="951"/>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T</a:t>
              </a:r>
            </a:p>
          </p:txBody>
        </p:sp>
        <p:sp>
          <p:nvSpPr>
            <p:cNvPr id="162836" name="Text Box 19"/>
            <p:cNvSpPr txBox="1">
              <a:spLocks noChangeArrowheads="1"/>
            </p:cNvSpPr>
            <p:nvPr/>
          </p:nvSpPr>
          <p:spPr bwMode="auto">
            <a:xfrm>
              <a:off x="5193" y="1011"/>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latin typeface="宋体" panose="02010600030101010101" pitchFamily="2" charset="-122"/>
                </a:rPr>
                <a:t>F</a:t>
              </a:r>
            </a:p>
          </p:txBody>
        </p:sp>
        <p:sp>
          <p:nvSpPr>
            <p:cNvPr id="162837" name="Line 20"/>
            <p:cNvSpPr>
              <a:spLocks noChangeShapeType="1"/>
            </p:cNvSpPr>
            <p:nvPr/>
          </p:nvSpPr>
          <p:spPr bwMode="auto">
            <a:xfrm>
              <a:off x="3521" y="1300"/>
              <a:ext cx="0" cy="4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8" name="Line 21"/>
            <p:cNvSpPr>
              <a:spLocks noChangeShapeType="1"/>
            </p:cNvSpPr>
            <p:nvPr/>
          </p:nvSpPr>
          <p:spPr bwMode="auto">
            <a:xfrm>
              <a:off x="4469" y="1310"/>
              <a:ext cx="0" cy="3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39" name="Line 22"/>
            <p:cNvSpPr>
              <a:spLocks noChangeShapeType="1"/>
            </p:cNvSpPr>
            <p:nvPr/>
          </p:nvSpPr>
          <p:spPr bwMode="auto">
            <a:xfrm flipH="1">
              <a:off x="4090" y="1266"/>
              <a:ext cx="331" cy="3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40" name="Line 23"/>
            <p:cNvSpPr>
              <a:spLocks noChangeShapeType="1"/>
            </p:cNvSpPr>
            <p:nvPr/>
          </p:nvSpPr>
          <p:spPr bwMode="auto">
            <a:xfrm>
              <a:off x="4516" y="1266"/>
              <a:ext cx="379" cy="3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41" name="Line 24"/>
            <p:cNvSpPr>
              <a:spLocks noChangeShapeType="1"/>
            </p:cNvSpPr>
            <p:nvPr/>
          </p:nvSpPr>
          <p:spPr bwMode="auto">
            <a:xfrm>
              <a:off x="5321" y="1327"/>
              <a:ext cx="0" cy="3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sp>
          <p:nvSpPr>
            <p:cNvPr id="162842" name="Text Box 25"/>
            <p:cNvSpPr txBox="1">
              <a:spLocks noChangeArrowheads="1"/>
            </p:cNvSpPr>
            <p:nvPr/>
          </p:nvSpPr>
          <p:spPr bwMode="auto">
            <a:xfrm>
              <a:off x="3379" y="1659"/>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T</a:t>
              </a:r>
            </a:p>
          </p:txBody>
        </p:sp>
        <p:sp>
          <p:nvSpPr>
            <p:cNvPr id="162843" name="Text Box 26"/>
            <p:cNvSpPr txBox="1">
              <a:spLocks noChangeArrowheads="1"/>
            </p:cNvSpPr>
            <p:nvPr/>
          </p:nvSpPr>
          <p:spPr bwMode="auto">
            <a:xfrm>
              <a:off x="3948" y="1659"/>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T</a:t>
              </a:r>
            </a:p>
          </p:txBody>
        </p:sp>
        <p:sp>
          <p:nvSpPr>
            <p:cNvPr id="162844" name="Text Box 27"/>
            <p:cNvSpPr txBox="1">
              <a:spLocks noChangeArrowheads="1"/>
            </p:cNvSpPr>
            <p:nvPr/>
          </p:nvSpPr>
          <p:spPr bwMode="auto">
            <a:xfrm>
              <a:off x="4327" y="1659"/>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a:t>
              </a:r>
            </a:p>
          </p:txBody>
        </p:sp>
        <p:sp>
          <p:nvSpPr>
            <p:cNvPr id="162845" name="Text Box 28"/>
            <p:cNvSpPr txBox="1">
              <a:spLocks noChangeArrowheads="1"/>
            </p:cNvSpPr>
            <p:nvPr/>
          </p:nvSpPr>
          <p:spPr bwMode="auto">
            <a:xfrm>
              <a:off x="4753" y="1659"/>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F</a:t>
              </a:r>
            </a:p>
          </p:txBody>
        </p:sp>
        <p:sp>
          <p:nvSpPr>
            <p:cNvPr id="162846" name="Text Box 31"/>
            <p:cNvSpPr txBox="1">
              <a:spLocks noChangeArrowheads="1"/>
            </p:cNvSpPr>
            <p:nvPr/>
          </p:nvSpPr>
          <p:spPr bwMode="auto">
            <a:xfrm>
              <a:off x="5193" y="1659"/>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latin typeface="宋体" panose="02010600030101010101" pitchFamily="2" charset="-122"/>
                </a:rPr>
                <a:t>i</a:t>
              </a:r>
            </a:p>
          </p:txBody>
        </p:sp>
        <p:sp>
          <p:nvSpPr>
            <p:cNvPr id="162847" name="Line 63"/>
            <p:cNvSpPr>
              <a:spLocks noChangeShapeType="1"/>
            </p:cNvSpPr>
            <p:nvPr/>
          </p:nvSpPr>
          <p:spPr bwMode="auto">
            <a:xfrm>
              <a:off x="4721" y="287"/>
              <a:ext cx="0" cy="3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宋体" panose="02010600030101010101" pitchFamily="2" charset="-122"/>
                <a:ea typeface="宋体" panose="02010600030101010101" pitchFamily="2" charset="-122"/>
              </a:endParaRPr>
            </a:p>
          </p:txBody>
        </p:sp>
      </p:grpSp>
    </p:spTree>
    <p:extLst>
      <p:ext uri="{BB962C8B-B14F-4D97-AF65-F5344CB8AC3E}">
        <p14:creationId xmlns:p14="http://schemas.microsoft.com/office/powerpoint/2010/main" val="101390682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8" presetClass="entr" presetSubtype="3" fill="hold" grpId="0" nodeType="clickEffect">
                                  <p:stCondLst>
                                    <p:cond delay="0"/>
                                  </p:stCondLst>
                                  <p:childTnLst>
                                    <p:set>
                                      <p:cBhvr>
                                        <p:cTn id="10" dur="1" fill="hold">
                                          <p:stCondLst>
                                            <p:cond delay="0"/>
                                          </p:stCondLst>
                                        </p:cTn>
                                        <p:tgtEl>
                                          <p:spTgt spid="24636">
                                            <p:txEl>
                                              <p:charRg st="4294967295" end="4294967295"/>
                                            </p:txEl>
                                          </p:spTgt>
                                        </p:tgtEl>
                                        <p:attrNameLst>
                                          <p:attrName>style.visibility</p:attrName>
                                        </p:attrNameLst>
                                      </p:cBhvr>
                                      <p:to>
                                        <p:strVal val="visible"/>
                                      </p:to>
                                    </p:set>
                                    <p:animEffect transition="in" filter="strips(upRight)">
                                      <p:cBhvr>
                                        <p:cTn id="11" dur="500"/>
                                        <p:tgtEl>
                                          <p:spTgt spid="24636">
                                            <p:txEl>
                                              <p:charRg st="4294967295" end="4294967295"/>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12" fill="hold" grpId="0" nodeType="clickEffect">
                                  <p:stCondLst>
                                    <p:cond delay="0"/>
                                  </p:stCondLst>
                                  <p:childTnLst>
                                    <p:set>
                                      <p:cBhvr>
                                        <p:cTn id="15" dur="1" fill="hold">
                                          <p:stCondLst>
                                            <p:cond delay="0"/>
                                          </p:stCondLst>
                                        </p:cTn>
                                        <p:tgtEl>
                                          <p:spTgt spid="24637">
                                            <p:txEl>
                                              <p:charRg st="4294967295" end="4294967295"/>
                                            </p:txEl>
                                          </p:spTgt>
                                        </p:tgtEl>
                                        <p:attrNameLst>
                                          <p:attrName>style.visibility</p:attrName>
                                        </p:attrNameLst>
                                      </p:cBhvr>
                                      <p:to>
                                        <p:strVal val="visible"/>
                                      </p:to>
                                    </p:set>
                                    <p:animEffect transition="in" filter="strips(downLeft)">
                                      <p:cBhvr>
                                        <p:cTn id="16" dur="500"/>
                                        <p:tgtEl>
                                          <p:spTgt spid="24637">
                                            <p:txEl>
                                              <p:charRg st="4294967295" end="429496729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36" grpId="0" autoUpdateAnimBg="0"/>
      <p:bldP spid="24637" grpId="0" autoUpdateAnimBg="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6"/>
          <p:cNvSpPr>
            <a:spLocks noChangeArrowheads="1"/>
          </p:cNvSpPr>
          <p:nvPr/>
        </p:nvSpPr>
        <p:spPr bwMode="auto">
          <a:xfrm>
            <a:off x="858838" y="246609"/>
            <a:ext cx="7772400"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4400">
              <a:solidFill>
                <a:schemeClr val="tx2"/>
              </a:solidFill>
              <a:ea typeface="华文行楷" pitchFamily="2" charset="-122"/>
            </a:endParaRPr>
          </a:p>
        </p:txBody>
      </p:sp>
      <p:sp>
        <p:nvSpPr>
          <p:cNvPr id="163843" name="Rectangle 7"/>
          <p:cNvSpPr>
            <a:spLocks noChangeArrowheads="1"/>
          </p:cNvSpPr>
          <p:nvPr/>
        </p:nvSpPr>
        <p:spPr bwMode="auto">
          <a:xfrm>
            <a:off x="517525" y="791121"/>
            <a:ext cx="7438851" cy="2572717"/>
          </a:xfrm>
          <a:prstGeom prst="rect">
            <a:avLst/>
          </a:prstGeom>
          <a:solidFill>
            <a:schemeClr val="bg1"/>
          </a:solidFill>
          <a:ln w="28575">
            <a:solidFill>
              <a:srgbClr val="0000FF"/>
            </a:solidFill>
            <a:miter lim="800000"/>
            <a:headEnd/>
            <a:tailEnd/>
          </a:ln>
        </p:spPr>
        <p:txBody>
          <a:bodyPr lIns="92075" tIns="46038" rIns="92075" bIns="46038"/>
          <a:lstStyle>
            <a:lvl1pPr marL="342900" indent="-3429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pPr>
            <a:r>
              <a:rPr lang="zh-CN" altLang="en-US" sz="2200" dirty="0">
                <a:latin typeface="宋体" panose="02010600030101010101" pitchFamily="2" charset="-122"/>
              </a:rPr>
              <a:t>设算符优先文法</a:t>
            </a:r>
            <a:r>
              <a:rPr lang="en-US" altLang="zh-CN" sz="2200" dirty="0">
                <a:latin typeface="宋体" panose="02010600030101010101" pitchFamily="2" charset="-122"/>
              </a:rPr>
              <a:t>G</a:t>
            </a:r>
            <a:r>
              <a:rPr lang="zh-CN" altLang="en-US" sz="2200" dirty="0">
                <a:latin typeface="宋体" panose="02010600030101010101" pitchFamily="2" charset="-122"/>
              </a:rPr>
              <a:t>的句型的一般形式为</a:t>
            </a:r>
          </a:p>
          <a:p>
            <a:pPr>
              <a:spcBef>
                <a:spcPts val="0"/>
              </a:spcBef>
              <a:buNone/>
            </a:pPr>
            <a:r>
              <a:rPr lang="zh-CN" altLang="en-US" sz="2200" dirty="0">
                <a:latin typeface="宋体" panose="02010600030101010101" pitchFamily="2" charset="-122"/>
              </a:rPr>
              <a:t>	     </a:t>
            </a:r>
            <a:r>
              <a:rPr lang="en-US" altLang="zh-CN" sz="2200" dirty="0">
                <a:solidFill>
                  <a:srgbClr val="0000FF"/>
                </a:solidFill>
                <a:latin typeface="宋体" panose="02010600030101010101" pitchFamily="2" charset="-122"/>
              </a:rPr>
              <a:t>#N</a:t>
            </a:r>
            <a:r>
              <a:rPr lang="en-US" altLang="zh-CN" sz="2200" baseline="-25000" dirty="0">
                <a:solidFill>
                  <a:srgbClr val="0000FF"/>
                </a:solidFill>
                <a:latin typeface="宋体" panose="02010600030101010101" pitchFamily="2" charset="-122"/>
              </a:rPr>
              <a:t>1</a:t>
            </a:r>
            <a:r>
              <a:rPr lang="en-US" altLang="zh-CN" sz="2200" dirty="0">
                <a:solidFill>
                  <a:srgbClr val="0000FF"/>
                </a:solidFill>
                <a:latin typeface="宋体" panose="02010600030101010101" pitchFamily="2" charset="-122"/>
              </a:rPr>
              <a:t>a</a:t>
            </a:r>
            <a:r>
              <a:rPr lang="en-US" altLang="zh-CN" sz="2200" baseline="-25000" dirty="0">
                <a:solidFill>
                  <a:srgbClr val="0000FF"/>
                </a:solidFill>
                <a:latin typeface="宋体" panose="02010600030101010101" pitchFamily="2" charset="-122"/>
              </a:rPr>
              <a:t>1</a:t>
            </a:r>
            <a:r>
              <a:rPr lang="en-US" altLang="zh-CN" sz="2200" dirty="0">
                <a:solidFill>
                  <a:srgbClr val="0000FF"/>
                </a:solidFill>
                <a:latin typeface="宋体" panose="02010600030101010101" pitchFamily="2" charset="-122"/>
              </a:rPr>
              <a:t>N</a:t>
            </a:r>
            <a:r>
              <a:rPr lang="en-US" altLang="zh-CN" sz="2200" baseline="-25000" dirty="0">
                <a:solidFill>
                  <a:srgbClr val="0000FF"/>
                </a:solidFill>
                <a:latin typeface="宋体" panose="02010600030101010101" pitchFamily="2" charset="-122"/>
              </a:rPr>
              <a:t>2</a:t>
            </a:r>
            <a:r>
              <a:rPr lang="en-US" altLang="zh-CN" sz="2200" dirty="0">
                <a:solidFill>
                  <a:srgbClr val="0000FF"/>
                </a:solidFill>
                <a:latin typeface="宋体" panose="02010600030101010101" pitchFamily="2" charset="-122"/>
              </a:rPr>
              <a:t>a</a:t>
            </a:r>
            <a:r>
              <a:rPr lang="en-US" altLang="zh-CN" sz="2200" baseline="-25000" dirty="0">
                <a:solidFill>
                  <a:srgbClr val="0000FF"/>
                </a:solidFill>
                <a:latin typeface="宋体" panose="02010600030101010101" pitchFamily="2" charset="-122"/>
              </a:rPr>
              <a:t>2</a:t>
            </a:r>
            <a:r>
              <a:rPr lang="en-US" altLang="zh-CN" sz="2200" dirty="0">
                <a:solidFill>
                  <a:srgbClr val="0000FF"/>
                </a:solidFill>
                <a:latin typeface="宋体" panose="02010600030101010101" pitchFamily="2" charset="-122"/>
              </a:rPr>
              <a:t>…</a:t>
            </a:r>
            <a:r>
              <a:rPr lang="en-US" altLang="zh-CN" sz="2200" baseline="-25000" dirty="0">
                <a:solidFill>
                  <a:srgbClr val="0000FF"/>
                </a:solidFill>
                <a:latin typeface="宋体" panose="02010600030101010101" pitchFamily="2" charset="-122"/>
              </a:rPr>
              <a:t> </a:t>
            </a:r>
            <a:r>
              <a:rPr lang="en-US" altLang="zh-CN" sz="2200" dirty="0">
                <a:solidFill>
                  <a:srgbClr val="0000FF"/>
                </a:solidFill>
                <a:latin typeface="宋体" panose="02010600030101010101" pitchFamily="2" charset="-122"/>
              </a:rPr>
              <a:t>N</a:t>
            </a:r>
            <a:r>
              <a:rPr lang="en-US" altLang="zh-CN" sz="2200" baseline="-25000" dirty="0">
                <a:solidFill>
                  <a:srgbClr val="0000FF"/>
                </a:solidFill>
                <a:latin typeface="宋体" panose="02010600030101010101" pitchFamily="2" charset="-122"/>
              </a:rPr>
              <a:t>n</a:t>
            </a:r>
            <a:r>
              <a:rPr lang="en-US" altLang="zh-CN" sz="2200" dirty="0">
                <a:solidFill>
                  <a:srgbClr val="0000FF"/>
                </a:solidFill>
                <a:latin typeface="宋体" panose="02010600030101010101" pitchFamily="2" charset="-122"/>
              </a:rPr>
              <a:t>a</a:t>
            </a:r>
            <a:r>
              <a:rPr lang="en-US" altLang="zh-CN" sz="2200" baseline="-25000" dirty="0">
                <a:solidFill>
                  <a:srgbClr val="0000FF"/>
                </a:solidFill>
                <a:latin typeface="宋体" panose="02010600030101010101" pitchFamily="2" charset="-122"/>
              </a:rPr>
              <a:t>n</a:t>
            </a:r>
            <a:r>
              <a:rPr lang="en-US" altLang="zh-CN" sz="2200" dirty="0">
                <a:solidFill>
                  <a:srgbClr val="0000FF"/>
                </a:solidFill>
                <a:latin typeface="宋体" panose="02010600030101010101" pitchFamily="2" charset="-122"/>
              </a:rPr>
              <a:t>N</a:t>
            </a:r>
            <a:r>
              <a:rPr lang="en-US" altLang="zh-CN" sz="2200" baseline="-25000" dirty="0">
                <a:solidFill>
                  <a:srgbClr val="0000FF"/>
                </a:solidFill>
                <a:latin typeface="宋体" panose="02010600030101010101" pitchFamily="2" charset="-122"/>
              </a:rPr>
              <a:t>n+1</a:t>
            </a:r>
            <a:r>
              <a:rPr lang="en-US" altLang="zh-CN" sz="2200" dirty="0">
                <a:solidFill>
                  <a:srgbClr val="0000FF"/>
                </a:solidFill>
                <a:latin typeface="宋体" panose="02010600030101010101" pitchFamily="2" charset="-122"/>
              </a:rPr>
              <a:t>#</a:t>
            </a:r>
            <a:r>
              <a:rPr lang="en-US" altLang="zh-CN" sz="2200" dirty="0">
                <a:latin typeface="宋体" panose="02010600030101010101" pitchFamily="2" charset="-122"/>
              </a:rPr>
              <a:t>   (</a:t>
            </a:r>
            <a:r>
              <a:rPr lang="en-US" altLang="zh-CN" sz="2200" dirty="0" err="1">
                <a:latin typeface="宋体" panose="02010600030101010101" pitchFamily="2" charset="-122"/>
              </a:rPr>
              <a:t>N</a:t>
            </a:r>
            <a:r>
              <a:rPr lang="en-US" altLang="zh-CN" sz="2200" baseline="-25000" dirty="0" err="1">
                <a:latin typeface="宋体" panose="02010600030101010101" pitchFamily="2" charset="-122"/>
              </a:rPr>
              <a:t>i</a:t>
            </a:r>
            <a:r>
              <a:rPr lang="en-US" altLang="zh-CN" sz="2200" dirty="0" err="1">
                <a:latin typeface="宋体" pitchFamily="2" charset="-122"/>
              </a:rPr>
              <a:t>∈V</a:t>
            </a:r>
            <a:r>
              <a:rPr lang="en-US" altLang="zh-CN" sz="2200" baseline="-25000" dirty="0" err="1">
                <a:latin typeface="宋体" pitchFamily="2" charset="-122"/>
              </a:rPr>
              <a:t>N</a:t>
            </a:r>
            <a:r>
              <a:rPr lang="en-US" altLang="zh-CN" sz="2200" dirty="0">
                <a:latin typeface="宋体" pitchFamily="2" charset="-122"/>
              </a:rPr>
              <a:t>∪{ε},</a:t>
            </a:r>
            <a:r>
              <a:rPr lang="en-US" altLang="zh-CN" sz="2200" dirty="0" err="1">
                <a:latin typeface="宋体" pitchFamily="2" charset="-122"/>
              </a:rPr>
              <a:t>a</a:t>
            </a:r>
            <a:r>
              <a:rPr lang="en-US" altLang="zh-CN" sz="2200" baseline="-25000" dirty="0" err="1">
                <a:latin typeface="宋体" panose="02010600030101010101" pitchFamily="2" charset="-122"/>
              </a:rPr>
              <a:t>i</a:t>
            </a:r>
            <a:r>
              <a:rPr lang="en-US" altLang="zh-CN" sz="2200" baseline="-25000" dirty="0">
                <a:latin typeface="宋体" panose="02010600030101010101" pitchFamily="2" charset="-122"/>
              </a:rPr>
              <a:t> </a:t>
            </a:r>
            <a:r>
              <a:rPr lang="en-US" altLang="zh-CN" sz="2200" dirty="0">
                <a:latin typeface="宋体" pitchFamily="2" charset="-122"/>
              </a:rPr>
              <a:t>∈V</a:t>
            </a:r>
            <a:r>
              <a:rPr lang="en-US" altLang="zh-CN" sz="2200" baseline="-25000" dirty="0">
                <a:latin typeface="宋体" pitchFamily="2" charset="-122"/>
              </a:rPr>
              <a:t>T</a:t>
            </a:r>
            <a:r>
              <a:rPr lang="zh-CN" altLang="en-US" sz="2200" dirty="0">
                <a:latin typeface="宋体" panose="02010600030101010101" pitchFamily="2" charset="-122"/>
              </a:rPr>
              <a:t>）</a:t>
            </a:r>
          </a:p>
          <a:p>
            <a:pPr eaLnBrk="1" hangingPunct="1">
              <a:spcBef>
                <a:spcPts val="0"/>
              </a:spcBef>
              <a:buFontTx/>
              <a:buNone/>
            </a:pPr>
            <a:r>
              <a:rPr lang="zh-CN" altLang="en-US" sz="2200" dirty="0">
                <a:latin typeface="宋体" panose="02010600030101010101" pitchFamily="2" charset="-122"/>
              </a:rPr>
              <a:t>  它的</a:t>
            </a:r>
            <a:r>
              <a:rPr lang="zh-CN" altLang="en-US" sz="2200" dirty="0">
                <a:solidFill>
                  <a:srgbClr val="FF0066"/>
                </a:solidFill>
                <a:latin typeface="宋体" panose="02010600030101010101" pitchFamily="2" charset="-122"/>
              </a:rPr>
              <a:t>最左素短语</a:t>
            </a:r>
            <a:r>
              <a:rPr lang="zh-CN" altLang="en-US" sz="2200" dirty="0">
                <a:latin typeface="宋体" panose="02010600030101010101" pitchFamily="2" charset="-122"/>
              </a:rPr>
              <a:t>是满足下列条件的</a:t>
            </a:r>
            <a:r>
              <a:rPr lang="zh-CN" altLang="en-US" sz="2200" dirty="0">
                <a:solidFill>
                  <a:srgbClr val="FF0000"/>
                </a:solidFill>
                <a:latin typeface="宋体" panose="02010600030101010101" pitchFamily="2" charset="-122"/>
              </a:rPr>
              <a:t>最左</a:t>
            </a:r>
            <a:r>
              <a:rPr lang="zh-CN" altLang="en-US" sz="2200" dirty="0">
                <a:latin typeface="宋体" panose="02010600030101010101" pitchFamily="2" charset="-122"/>
              </a:rPr>
              <a:t>子串：</a:t>
            </a:r>
          </a:p>
          <a:p>
            <a:pPr eaLnBrk="1" hangingPunct="1">
              <a:spcBef>
                <a:spcPts val="0"/>
              </a:spcBef>
              <a:buFontTx/>
              <a:buNone/>
            </a:pPr>
            <a:r>
              <a:rPr lang="zh-CN" altLang="en-US" sz="2200" dirty="0">
                <a:latin typeface="宋体" panose="02010600030101010101" pitchFamily="2" charset="-122"/>
              </a:rPr>
              <a:t>			</a:t>
            </a:r>
            <a:r>
              <a:rPr lang="en-US" altLang="zh-CN" sz="2400" b="1" dirty="0" err="1">
                <a:solidFill>
                  <a:srgbClr val="0000FF"/>
                </a:solidFill>
                <a:latin typeface="宋体" panose="02010600030101010101" pitchFamily="2" charset="-122"/>
              </a:rPr>
              <a:t>N</a:t>
            </a:r>
            <a:r>
              <a:rPr lang="en-US" altLang="zh-CN" sz="2400" b="1" baseline="-25000" dirty="0" err="1">
                <a:solidFill>
                  <a:srgbClr val="0000FF"/>
                </a:solidFill>
                <a:latin typeface="宋体" panose="02010600030101010101" pitchFamily="2" charset="-122"/>
              </a:rPr>
              <a:t>i</a:t>
            </a:r>
            <a:r>
              <a:rPr lang="en-US" altLang="zh-CN" sz="2400" b="1" dirty="0" err="1">
                <a:solidFill>
                  <a:srgbClr val="0000FF"/>
                </a:solidFill>
                <a:latin typeface="宋体" panose="02010600030101010101" pitchFamily="2" charset="-122"/>
              </a:rPr>
              <a:t>a</a:t>
            </a:r>
            <a:r>
              <a:rPr lang="en-US" altLang="zh-CN" sz="2400" b="1" baseline="-25000" dirty="0" err="1">
                <a:solidFill>
                  <a:srgbClr val="0000FF"/>
                </a:solidFill>
                <a:latin typeface="宋体" panose="02010600030101010101" pitchFamily="2" charset="-122"/>
              </a:rPr>
              <a:t>i</a:t>
            </a:r>
            <a:r>
              <a:rPr lang="en-US" altLang="zh-CN" sz="2400" b="1" baseline="-25000" dirty="0">
                <a:solidFill>
                  <a:srgbClr val="0000FF"/>
                </a:solidFill>
                <a:latin typeface="宋体" panose="02010600030101010101" pitchFamily="2" charset="-122"/>
              </a:rPr>
              <a:t> </a:t>
            </a:r>
            <a:r>
              <a:rPr lang="en-US" altLang="zh-CN" sz="2400" b="1" dirty="0">
                <a:solidFill>
                  <a:srgbClr val="0000FF"/>
                </a:solidFill>
                <a:latin typeface="宋体" panose="02010600030101010101" pitchFamily="2" charset="-122"/>
              </a:rPr>
              <a:t>N</a:t>
            </a:r>
            <a:r>
              <a:rPr lang="en-US" altLang="zh-CN" sz="2400" b="1" baseline="-25000" dirty="0">
                <a:solidFill>
                  <a:srgbClr val="0000FF"/>
                </a:solidFill>
                <a:latin typeface="宋体" panose="02010600030101010101" pitchFamily="2" charset="-122"/>
              </a:rPr>
              <a:t>i+1</a:t>
            </a:r>
            <a:r>
              <a:rPr lang="en-US" altLang="zh-CN" sz="2400" b="1" dirty="0">
                <a:solidFill>
                  <a:srgbClr val="0000FF"/>
                </a:solidFill>
                <a:latin typeface="宋体" panose="02010600030101010101" pitchFamily="2" charset="-122"/>
              </a:rPr>
              <a:t>a</a:t>
            </a:r>
            <a:r>
              <a:rPr lang="en-US" altLang="zh-CN" sz="2400" b="1" baseline="-25000" dirty="0">
                <a:solidFill>
                  <a:srgbClr val="0000FF"/>
                </a:solidFill>
                <a:latin typeface="宋体" panose="02010600030101010101" pitchFamily="2" charset="-122"/>
              </a:rPr>
              <a:t>i+1</a:t>
            </a:r>
            <a:r>
              <a:rPr lang="en-US" altLang="zh-CN" sz="2400" b="1" dirty="0">
                <a:solidFill>
                  <a:srgbClr val="0000FF"/>
                </a:solidFill>
                <a:latin typeface="宋体" panose="02010600030101010101" pitchFamily="2" charset="-122"/>
              </a:rPr>
              <a:t>…</a:t>
            </a:r>
            <a:r>
              <a:rPr lang="en-US" altLang="zh-CN" sz="2400" b="1" baseline="-25000" dirty="0">
                <a:solidFill>
                  <a:srgbClr val="0000FF"/>
                </a:solidFill>
                <a:latin typeface="宋体" panose="02010600030101010101" pitchFamily="2" charset="-122"/>
              </a:rPr>
              <a:t> </a:t>
            </a:r>
            <a:r>
              <a:rPr lang="en-US" altLang="zh-CN" sz="2400" b="1" dirty="0" err="1">
                <a:solidFill>
                  <a:srgbClr val="0000FF"/>
                </a:solidFill>
                <a:latin typeface="宋体" panose="02010600030101010101" pitchFamily="2" charset="-122"/>
              </a:rPr>
              <a:t>N</a:t>
            </a:r>
            <a:r>
              <a:rPr lang="en-US" altLang="zh-CN" sz="2400" b="1" baseline="-25000" dirty="0" err="1">
                <a:solidFill>
                  <a:srgbClr val="0000FF"/>
                </a:solidFill>
                <a:latin typeface="宋体" panose="02010600030101010101" pitchFamily="2" charset="-122"/>
              </a:rPr>
              <a:t>j</a:t>
            </a:r>
            <a:r>
              <a:rPr lang="en-US" altLang="zh-CN" sz="2400" b="1" dirty="0" err="1">
                <a:solidFill>
                  <a:srgbClr val="0000FF"/>
                </a:solidFill>
                <a:latin typeface="宋体" panose="02010600030101010101" pitchFamily="2" charset="-122"/>
              </a:rPr>
              <a:t>a</a:t>
            </a:r>
            <a:r>
              <a:rPr lang="en-US" altLang="zh-CN" sz="2400" b="1" baseline="-25000" dirty="0" err="1">
                <a:solidFill>
                  <a:srgbClr val="0000FF"/>
                </a:solidFill>
                <a:latin typeface="宋体" panose="02010600030101010101" pitchFamily="2" charset="-122"/>
              </a:rPr>
              <a:t>j</a:t>
            </a:r>
            <a:r>
              <a:rPr lang="en-US" altLang="zh-CN" sz="2400" b="1" baseline="-25000" dirty="0">
                <a:solidFill>
                  <a:srgbClr val="0000FF"/>
                </a:solidFill>
                <a:latin typeface="宋体" panose="02010600030101010101" pitchFamily="2" charset="-122"/>
              </a:rPr>
              <a:t> </a:t>
            </a:r>
            <a:r>
              <a:rPr lang="en-US" altLang="zh-CN" sz="2400" b="1" dirty="0">
                <a:solidFill>
                  <a:srgbClr val="0000FF"/>
                </a:solidFill>
                <a:latin typeface="宋体" panose="02010600030101010101" pitchFamily="2" charset="-122"/>
              </a:rPr>
              <a:t>N</a:t>
            </a:r>
            <a:r>
              <a:rPr lang="en-US" altLang="zh-CN" sz="2400" b="1" baseline="-25000" dirty="0">
                <a:solidFill>
                  <a:srgbClr val="0000FF"/>
                </a:solidFill>
                <a:latin typeface="宋体" panose="02010600030101010101" pitchFamily="2" charset="-122"/>
              </a:rPr>
              <a:t>j+1</a:t>
            </a:r>
            <a:endParaRPr lang="en-US" altLang="zh-CN" sz="2200" b="1" dirty="0">
              <a:solidFill>
                <a:srgbClr val="0000FF"/>
              </a:solidFill>
              <a:latin typeface="宋体" panose="02010600030101010101" pitchFamily="2" charset="-122"/>
            </a:endParaRPr>
          </a:p>
          <a:p>
            <a:pPr eaLnBrk="1" hangingPunct="1">
              <a:spcBef>
                <a:spcPts val="0"/>
              </a:spcBef>
              <a:buFontTx/>
              <a:buNone/>
            </a:pPr>
            <a:r>
              <a:rPr lang="zh-CN" altLang="en-US" sz="2200" dirty="0">
                <a:latin typeface="宋体" panose="02010600030101010101" pitchFamily="2" charset="-122"/>
              </a:rPr>
              <a:t>  其中： </a:t>
            </a:r>
            <a:r>
              <a:rPr lang="en-US" altLang="zh-CN" sz="2200" dirty="0">
                <a:latin typeface="宋体" panose="02010600030101010101" pitchFamily="2" charset="-122"/>
              </a:rPr>
              <a:t>a</a:t>
            </a:r>
            <a:r>
              <a:rPr lang="en-US" altLang="zh-CN" sz="2200" baseline="-25000" dirty="0">
                <a:latin typeface="宋体" panose="02010600030101010101" pitchFamily="2" charset="-122"/>
              </a:rPr>
              <a:t>i-1 </a:t>
            </a:r>
            <a:r>
              <a:rPr lang="en-US" altLang="zh-CN" sz="2200" dirty="0">
                <a:latin typeface="宋体" pitchFamily="2" charset="-122"/>
              </a:rPr>
              <a:t>≮ </a:t>
            </a:r>
            <a:r>
              <a:rPr lang="en-US" altLang="zh-CN" sz="2200" dirty="0" err="1">
                <a:latin typeface="宋体" pitchFamily="2" charset="-122"/>
              </a:rPr>
              <a:t>a</a:t>
            </a:r>
            <a:r>
              <a:rPr lang="en-US" altLang="zh-CN" sz="2200" baseline="-25000" dirty="0" err="1">
                <a:latin typeface="宋体" panose="02010600030101010101" pitchFamily="2" charset="-122"/>
              </a:rPr>
              <a:t>i</a:t>
            </a:r>
            <a:r>
              <a:rPr lang="en-US" altLang="zh-CN" sz="2200" baseline="-25000" dirty="0">
                <a:latin typeface="宋体" panose="02010600030101010101" pitchFamily="2" charset="-122"/>
              </a:rPr>
              <a:t> </a:t>
            </a:r>
            <a:r>
              <a:rPr lang="en-US" altLang="zh-CN" sz="2200" dirty="0">
                <a:latin typeface="宋体" panose="02010600030101010101" pitchFamily="2" charset="-122"/>
              </a:rPr>
              <a:t>,</a:t>
            </a:r>
          </a:p>
          <a:p>
            <a:pPr eaLnBrk="1" hangingPunct="1">
              <a:spcBef>
                <a:spcPts val="0"/>
              </a:spcBef>
              <a:buFontTx/>
              <a:buNone/>
            </a:pPr>
            <a:r>
              <a:rPr lang="en-US" altLang="zh-CN" sz="2200" dirty="0">
                <a:latin typeface="宋体" panose="02010600030101010101" pitchFamily="2" charset="-122"/>
              </a:rPr>
              <a:t>		   </a:t>
            </a:r>
            <a:r>
              <a:rPr lang="en-US" altLang="zh-CN" sz="2200" dirty="0" err="1">
                <a:latin typeface="宋体" panose="02010600030101010101" pitchFamily="2" charset="-122"/>
              </a:rPr>
              <a:t>a</a:t>
            </a:r>
            <a:r>
              <a:rPr lang="en-US" altLang="zh-CN" sz="2200" baseline="-25000" dirty="0" err="1">
                <a:latin typeface="宋体" panose="02010600030101010101" pitchFamily="2" charset="-122"/>
              </a:rPr>
              <a:t>i</a:t>
            </a:r>
            <a:r>
              <a:rPr lang="en-US" altLang="zh-CN" sz="2200" baseline="-25000" dirty="0">
                <a:latin typeface="宋体" panose="02010600030101010101" pitchFamily="2" charset="-122"/>
              </a:rPr>
              <a:t> </a:t>
            </a:r>
            <a:r>
              <a:rPr lang="en-US" altLang="zh-CN" sz="2200" dirty="0">
                <a:latin typeface="宋体" pitchFamily="2" charset="-122"/>
              </a:rPr>
              <a:t>≡  a</a:t>
            </a:r>
            <a:r>
              <a:rPr lang="en-US" altLang="zh-CN" sz="2200" baseline="-25000" dirty="0">
                <a:latin typeface="宋体" panose="02010600030101010101" pitchFamily="2" charset="-122"/>
              </a:rPr>
              <a:t>i+1  </a:t>
            </a:r>
            <a:r>
              <a:rPr lang="en-US" altLang="zh-CN" sz="2200" dirty="0">
                <a:latin typeface="宋体" pitchFamily="2" charset="-122"/>
              </a:rPr>
              <a:t>≡….. ≡ a</a:t>
            </a:r>
            <a:r>
              <a:rPr lang="en-US" altLang="zh-CN" sz="2200" baseline="-25000" dirty="0">
                <a:latin typeface="宋体" panose="02010600030101010101" pitchFamily="2" charset="-122"/>
              </a:rPr>
              <a:t>j-1 </a:t>
            </a:r>
            <a:r>
              <a:rPr lang="en-US" altLang="zh-CN" sz="2200" dirty="0">
                <a:latin typeface="宋体" pitchFamily="2" charset="-122"/>
              </a:rPr>
              <a:t>≡ </a:t>
            </a:r>
            <a:r>
              <a:rPr lang="en-US" altLang="zh-CN" sz="2200" dirty="0" err="1">
                <a:latin typeface="宋体" pitchFamily="2" charset="-122"/>
              </a:rPr>
              <a:t>a</a:t>
            </a:r>
            <a:r>
              <a:rPr lang="en-US" altLang="zh-CN" sz="2200" baseline="-25000" dirty="0" err="1">
                <a:latin typeface="宋体" panose="02010600030101010101" pitchFamily="2" charset="-122"/>
              </a:rPr>
              <a:t>j</a:t>
            </a:r>
            <a:r>
              <a:rPr lang="en-US" altLang="zh-CN" sz="2200" dirty="0">
                <a:latin typeface="宋体" panose="02010600030101010101" pitchFamily="2" charset="-122"/>
              </a:rPr>
              <a:t> </a:t>
            </a:r>
            <a:r>
              <a:rPr lang="zh-CN" altLang="en-US" sz="2200" dirty="0">
                <a:latin typeface="宋体" panose="02010600030101010101" pitchFamily="2" charset="-122"/>
              </a:rPr>
              <a:t>，</a:t>
            </a:r>
          </a:p>
          <a:p>
            <a:pPr eaLnBrk="1" hangingPunct="1">
              <a:spcBef>
                <a:spcPts val="0"/>
              </a:spcBef>
              <a:buFontTx/>
              <a:buNone/>
            </a:pPr>
            <a:r>
              <a:rPr lang="zh-CN" altLang="en-US" sz="2200" dirty="0">
                <a:latin typeface="宋体" panose="02010600030101010101" pitchFamily="2" charset="-122"/>
              </a:rPr>
              <a:t>		   </a:t>
            </a:r>
            <a:r>
              <a:rPr lang="en-US" altLang="zh-CN" sz="2200" dirty="0" err="1">
                <a:latin typeface="宋体" panose="02010600030101010101" pitchFamily="2" charset="-122"/>
              </a:rPr>
              <a:t>a</a:t>
            </a:r>
            <a:r>
              <a:rPr lang="en-US" altLang="zh-CN" sz="2200" baseline="-25000" dirty="0" err="1">
                <a:latin typeface="宋体" panose="02010600030101010101" pitchFamily="2" charset="-122"/>
              </a:rPr>
              <a:t>j</a:t>
            </a:r>
            <a:r>
              <a:rPr lang="en-US" altLang="zh-CN" sz="2200" baseline="-25000" dirty="0">
                <a:latin typeface="宋体" panose="02010600030101010101" pitchFamily="2" charset="-122"/>
              </a:rPr>
              <a:t> </a:t>
            </a:r>
            <a:r>
              <a:rPr lang="en-US" altLang="zh-CN" sz="2200" dirty="0">
                <a:latin typeface="宋体" pitchFamily="2" charset="-122"/>
              </a:rPr>
              <a:t>≯</a:t>
            </a:r>
            <a:r>
              <a:rPr lang="en-US" altLang="zh-CN" sz="2200" baseline="-25000" dirty="0">
                <a:latin typeface="宋体" panose="02010600030101010101" pitchFamily="2" charset="-122"/>
              </a:rPr>
              <a:t> </a:t>
            </a:r>
            <a:r>
              <a:rPr lang="en-US" altLang="zh-CN" sz="2200" dirty="0">
                <a:latin typeface="宋体" panose="02010600030101010101" pitchFamily="2" charset="-122"/>
              </a:rPr>
              <a:t>a</a:t>
            </a:r>
            <a:r>
              <a:rPr lang="en-US" altLang="zh-CN" sz="2200" baseline="-25000" dirty="0">
                <a:latin typeface="宋体" panose="02010600030101010101" pitchFamily="2" charset="-122"/>
              </a:rPr>
              <a:t>j+1</a:t>
            </a:r>
          </a:p>
        </p:txBody>
      </p:sp>
      <p:graphicFrame>
        <p:nvGraphicFramePr>
          <p:cNvPr id="163847" name="Object 9"/>
          <p:cNvGraphicFramePr>
            <a:graphicFrameLocks noChangeAspect="1"/>
          </p:cNvGraphicFramePr>
          <p:nvPr>
            <p:extLst>
              <p:ext uri="{D42A27DB-BD31-4B8C-83A1-F6EECF244321}">
                <p14:modId xmlns:p14="http://schemas.microsoft.com/office/powerpoint/2010/main" val="3880860225"/>
              </p:ext>
            </p:extLst>
          </p:nvPr>
        </p:nvGraphicFramePr>
        <p:xfrm>
          <a:off x="2280122" y="2861231"/>
          <a:ext cx="347662" cy="342766"/>
        </p:xfrm>
        <a:graphic>
          <a:graphicData uri="http://schemas.openxmlformats.org/presentationml/2006/ole">
            <mc:AlternateContent xmlns:mc="http://schemas.openxmlformats.org/markup-compatibility/2006">
              <mc:Choice xmlns:v="urn:schemas-microsoft-com:vml" Requires="v">
                <p:oleObj spid="_x0000_s36901" name="位图图像" r:id="rId4" imgW="181096" imgH="237969" progId="PBrush">
                  <p:embed/>
                </p:oleObj>
              </mc:Choice>
              <mc:Fallback>
                <p:oleObj name="位图图像" r:id="rId4" imgW="181096" imgH="237969" progId="PBrush">
                  <p:embed/>
                  <p:pic>
                    <p:nvPicPr>
                      <p:cNvPr id="163847"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0122" y="2861231"/>
                        <a:ext cx="347662" cy="34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3848" name="Object 10"/>
          <p:cNvGraphicFramePr>
            <a:graphicFrameLocks noChangeAspect="1"/>
          </p:cNvGraphicFramePr>
          <p:nvPr>
            <p:extLst>
              <p:ext uri="{D42A27DB-BD31-4B8C-83A1-F6EECF244321}">
                <p14:modId xmlns:p14="http://schemas.microsoft.com/office/powerpoint/2010/main" val="3510307146"/>
              </p:ext>
            </p:extLst>
          </p:nvPr>
        </p:nvGraphicFramePr>
        <p:xfrm>
          <a:off x="2390800" y="2279856"/>
          <a:ext cx="381000" cy="271356"/>
        </p:xfrm>
        <a:graphic>
          <a:graphicData uri="http://schemas.openxmlformats.org/presentationml/2006/ole">
            <mc:AlternateContent xmlns:mc="http://schemas.openxmlformats.org/markup-compatibility/2006">
              <mc:Choice xmlns:v="urn:schemas-microsoft-com:vml" Requires="v">
                <p:oleObj spid="_x0000_s36902" name="位图图像" r:id="rId6" imgW="190426" imgH="209524" progId="PBrush">
                  <p:embed/>
                </p:oleObj>
              </mc:Choice>
              <mc:Fallback>
                <p:oleObj name="位图图像" r:id="rId6" imgW="190426" imgH="209524" progId="PBrush">
                  <p:embed/>
                  <p:pic>
                    <p:nvPicPr>
                      <p:cNvPr id="163848"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90800" y="2279856"/>
                        <a:ext cx="381000" cy="271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3849" name="Object 11"/>
          <p:cNvGraphicFramePr>
            <a:graphicFrameLocks noChangeAspect="1"/>
          </p:cNvGraphicFramePr>
          <p:nvPr>
            <p:extLst>
              <p:ext uri="{D42A27DB-BD31-4B8C-83A1-F6EECF244321}">
                <p14:modId xmlns:p14="http://schemas.microsoft.com/office/powerpoint/2010/main" val="918181599"/>
              </p:ext>
            </p:extLst>
          </p:nvPr>
        </p:nvGraphicFramePr>
        <p:xfrm>
          <a:off x="2242592" y="2617874"/>
          <a:ext cx="457200" cy="221370"/>
        </p:xfrm>
        <a:graphic>
          <a:graphicData uri="http://schemas.openxmlformats.org/presentationml/2006/ole">
            <mc:AlternateContent xmlns:mc="http://schemas.openxmlformats.org/markup-compatibility/2006">
              <mc:Choice xmlns:v="urn:schemas-microsoft-com:vml" Requires="v">
                <p:oleObj spid="_x0000_s36903" name="位图图像" r:id="rId8" imgW="295238" imgH="190426" progId="PBrush">
                  <p:embed/>
                </p:oleObj>
              </mc:Choice>
              <mc:Fallback>
                <p:oleObj name="位图图像" r:id="rId8" imgW="295238" imgH="190426" progId="PBrush">
                  <p:embed/>
                  <p:pic>
                    <p:nvPicPr>
                      <p:cNvPr id="163849" name="Object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42592" y="2617874"/>
                        <a:ext cx="457200" cy="2213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63850" name="Picture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48112" y="2597642"/>
            <a:ext cx="431800" cy="208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5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84216" y="2619065"/>
            <a:ext cx="431800" cy="208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52"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92328" y="2599444"/>
            <a:ext cx="431800" cy="208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92" name="Text Box 28"/>
          <p:cNvSpPr txBox="1">
            <a:spLocks noChangeArrowheads="1"/>
          </p:cNvSpPr>
          <p:nvPr/>
        </p:nvSpPr>
        <p:spPr bwMode="auto">
          <a:xfrm>
            <a:off x="5608" y="3435846"/>
            <a:ext cx="816451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200" dirty="0">
                <a:latin typeface="宋体" panose="02010600030101010101" pitchFamily="2" charset="-122"/>
              </a:rPr>
              <a:t>该定理说明了</a:t>
            </a:r>
            <a:r>
              <a:rPr lang="zh-CN" altLang="en-US" sz="2200" dirty="0">
                <a:solidFill>
                  <a:srgbClr val="0000FF"/>
                </a:solidFill>
                <a:latin typeface="宋体" panose="02010600030101010101" pitchFamily="2" charset="-122"/>
              </a:rPr>
              <a:t>最左素短语</a:t>
            </a:r>
            <a:r>
              <a:rPr lang="zh-CN" altLang="en-US" sz="2200" dirty="0">
                <a:latin typeface="宋体" panose="02010600030101010101" pitchFamily="2" charset="-122"/>
              </a:rPr>
              <a:t>与周围符号之间的关系</a:t>
            </a:r>
          </a:p>
        </p:txBody>
      </p:sp>
      <p:sp>
        <p:nvSpPr>
          <p:cNvPr id="163846" name="Rectangle 29"/>
          <p:cNvSpPr>
            <a:spLocks noGrp="1" noChangeArrowheads="1"/>
          </p:cNvSpPr>
          <p:nvPr>
            <p:ph type="title"/>
          </p:nvPr>
        </p:nvSpPr>
        <p:spPr>
          <a:xfrm>
            <a:off x="470274" y="27534"/>
            <a:ext cx="1872208" cy="647700"/>
          </a:xfrm>
          <a:noFill/>
        </p:spPr>
        <p:txBody>
          <a:bodyPr>
            <a:normAutofit fontScale="90000"/>
          </a:bodyPr>
          <a:lstStyle/>
          <a:p>
            <a:pPr eaLnBrk="1" hangingPunct="1"/>
            <a:r>
              <a:rPr lang="zh-CN" altLang="en-US" b="1" dirty="0">
                <a:solidFill>
                  <a:schemeClr val="tx1"/>
                </a:solidFill>
                <a:latin typeface="宋体" pitchFamily="2" charset="-122"/>
                <a:ea typeface="隶书" pitchFamily="49" charset="-122"/>
              </a:rPr>
              <a:t>定  理</a:t>
            </a:r>
          </a:p>
        </p:txBody>
      </p:sp>
      <p:sp>
        <p:nvSpPr>
          <p:cNvPr id="7" name="Rectangle 92"/>
          <p:cNvSpPr>
            <a:spLocks noChangeArrowheads="1"/>
          </p:cNvSpPr>
          <p:nvPr/>
        </p:nvSpPr>
        <p:spPr bwMode="auto">
          <a:xfrm>
            <a:off x="0" y="-164554"/>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对象 7"/>
          <p:cNvGraphicFramePr>
            <a:graphicFrameLocks noChangeAspect="1"/>
          </p:cNvGraphicFramePr>
          <p:nvPr>
            <p:extLst>
              <p:ext uri="{D42A27DB-BD31-4B8C-83A1-F6EECF244321}">
                <p14:modId xmlns:p14="http://schemas.microsoft.com/office/powerpoint/2010/main" val="2087127964"/>
              </p:ext>
            </p:extLst>
          </p:nvPr>
        </p:nvGraphicFramePr>
        <p:xfrm>
          <a:off x="1115615" y="4090075"/>
          <a:ext cx="7686601" cy="857939"/>
        </p:xfrm>
        <a:graphic>
          <a:graphicData uri="http://schemas.openxmlformats.org/presentationml/2006/ole">
            <mc:AlternateContent xmlns:mc="http://schemas.openxmlformats.org/markup-compatibility/2006">
              <mc:Choice xmlns:v="urn:schemas-microsoft-com:vml" Requires="v">
                <p:oleObj spid="_x0000_s36904" name="Visio" r:id="rId11" imgW="3229909" imgH="371520" progId="Visio.Drawing.11">
                  <p:embed/>
                </p:oleObj>
              </mc:Choice>
              <mc:Fallback>
                <p:oleObj name="Visio" r:id="rId11" imgW="3229909" imgH="371520" progId="Visio.Drawing.11">
                  <p:embed/>
                  <p:pic>
                    <p:nvPicPr>
                      <p:cNvPr id="8" name="对象 7"/>
                      <p:cNvPicPr>
                        <a:picLocks noChangeAspect="1" noChangeArrowheads="1"/>
                      </p:cNvPicPr>
                      <p:nvPr/>
                    </p:nvPicPr>
                    <p:blipFill>
                      <a:blip r:embed="rId12"/>
                      <a:srcRect/>
                      <a:stretch>
                        <a:fillRect/>
                      </a:stretch>
                    </p:blipFill>
                    <p:spPr bwMode="auto">
                      <a:xfrm>
                        <a:off x="1115615" y="4090075"/>
                        <a:ext cx="7686601" cy="857939"/>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ext uri="{D42A27DB-BD31-4B8C-83A1-F6EECF244321}">
                <p14:modId xmlns:p14="http://schemas.microsoft.com/office/powerpoint/2010/main" val="1533912614"/>
              </p:ext>
            </p:extLst>
          </p:nvPr>
        </p:nvGraphicFramePr>
        <p:xfrm>
          <a:off x="4482731" y="4587974"/>
          <a:ext cx="457200" cy="220662"/>
        </p:xfrm>
        <a:graphic>
          <a:graphicData uri="http://schemas.openxmlformats.org/presentationml/2006/ole">
            <mc:AlternateContent xmlns:mc="http://schemas.openxmlformats.org/markup-compatibility/2006">
              <mc:Choice xmlns:v="urn:schemas-microsoft-com:vml" Requires="v">
                <p:oleObj spid="_x0000_s36905" name="位图图像" r:id="rId13" imgW="295238" imgH="190426" progId="PBrush">
                  <p:embed/>
                </p:oleObj>
              </mc:Choice>
              <mc:Fallback>
                <p:oleObj name="位图图像" r:id="rId13" imgW="295238" imgH="190426" progId="PBrush">
                  <p:embed/>
                  <p:pic>
                    <p:nvPicPr>
                      <p:cNvPr id="9" name="对象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82731" y="4587974"/>
                        <a:ext cx="457200" cy="220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 name="对象 9"/>
          <p:cNvGraphicFramePr>
            <a:graphicFrameLocks noChangeAspect="1"/>
          </p:cNvGraphicFramePr>
          <p:nvPr>
            <p:extLst>
              <p:ext uri="{D42A27DB-BD31-4B8C-83A1-F6EECF244321}">
                <p14:modId xmlns:p14="http://schemas.microsoft.com/office/powerpoint/2010/main" val="4287566914"/>
              </p:ext>
            </p:extLst>
          </p:nvPr>
        </p:nvGraphicFramePr>
        <p:xfrm>
          <a:off x="3348112" y="3789789"/>
          <a:ext cx="381000" cy="271463"/>
        </p:xfrm>
        <a:graphic>
          <a:graphicData uri="http://schemas.openxmlformats.org/presentationml/2006/ole">
            <mc:AlternateContent xmlns:mc="http://schemas.openxmlformats.org/markup-compatibility/2006">
              <mc:Choice xmlns:v="urn:schemas-microsoft-com:vml" Requires="v">
                <p:oleObj spid="_x0000_s36906" name="位图图像" r:id="rId14" imgW="190426" imgH="209524" progId="PBrush">
                  <p:embed/>
                </p:oleObj>
              </mc:Choice>
              <mc:Fallback>
                <p:oleObj name="位图图像" r:id="rId14" imgW="190426" imgH="209524" progId="PBrush">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8112" y="3789789"/>
                        <a:ext cx="3810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 name="对象 10"/>
          <p:cNvGraphicFramePr>
            <a:graphicFrameLocks noChangeAspect="1"/>
          </p:cNvGraphicFramePr>
          <p:nvPr>
            <p:extLst>
              <p:ext uri="{D42A27DB-BD31-4B8C-83A1-F6EECF244321}">
                <p14:modId xmlns:p14="http://schemas.microsoft.com/office/powerpoint/2010/main" val="2591522641"/>
              </p:ext>
            </p:extLst>
          </p:nvPr>
        </p:nvGraphicFramePr>
        <p:xfrm>
          <a:off x="5808513" y="3754071"/>
          <a:ext cx="347663" cy="342900"/>
        </p:xfrm>
        <a:graphic>
          <a:graphicData uri="http://schemas.openxmlformats.org/presentationml/2006/ole">
            <mc:AlternateContent xmlns:mc="http://schemas.openxmlformats.org/markup-compatibility/2006">
              <mc:Choice xmlns:v="urn:schemas-microsoft-com:vml" Requires="v">
                <p:oleObj spid="_x0000_s36907" name="位图图像" r:id="rId15" imgW="181096" imgH="237969" progId="PBrush">
                  <p:embed/>
                </p:oleObj>
              </mc:Choice>
              <mc:Fallback>
                <p:oleObj name="位图图像" r:id="rId15" imgW="181096" imgH="237969" progId="PBrush">
                  <p:embed/>
                  <p:pic>
                    <p:nvPicPr>
                      <p:cNvPr id="11" name="对象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8513" y="3754071"/>
                        <a:ext cx="347663"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40222770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88092"/>
                                        </p:tgtEl>
                                        <p:attrNameLst>
                                          <p:attrName>style.visibility</p:attrName>
                                        </p:attrNameLst>
                                      </p:cBhvr>
                                      <p:to>
                                        <p:strVal val="visible"/>
                                      </p:to>
                                    </p:set>
                                    <p:animEffect transition="in" filter="slide(fromBottom)">
                                      <p:cBhvr>
                                        <p:cTn id="7" dur="500"/>
                                        <p:tgtEl>
                                          <p:spTgt spid="8809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0"/>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092" grpId="0" autoUpdateAnimBg="0"/>
    </p:bldLst>
  </p:timing>
</p:sld>
</file>

<file path=ppt/slides/slide17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33158" name="Group 38"/>
          <p:cNvGraphicFramePr>
            <a:graphicFrameLocks noGrp="1"/>
          </p:cNvGraphicFramePr>
          <p:nvPr>
            <p:extLst>
              <p:ext uri="{D42A27DB-BD31-4B8C-83A1-F6EECF244321}">
                <p14:modId xmlns:p14="http://schemas.microsoft.com/office/powerpoint/2010/main" val="201251713"/>
              </p:ext>
            </p:extLst>
          </p:nvPr>
        </p:nvGraphicFramePr>
        <p:xfrm>
          <a:off x="335650" y="3092922"/>
          <a:ext cx="4859447" cy="1310070"/>
        </p:xfrm>
        <a:graphic>
          <a:graphicData uri="http://schemas.openxmlformats.org/drawingml/2006/table">
            <a:tbl>
              <a:tblPr/>
              <a:tblGrid>
                <a:gridCol w="1403063">
                  <a:extLst>
                    <a:ext uri="{9D8B030D-6E8A-4147-A177-3AD203B41FA5}">
                      <a16:colId xmlns:a16="http://schemas.microsoft.com/office/drawing/2014/main" val="20000"/>
                    </a:ext>
                  </a:extLst>
                </a:gridCol>
                <a:gridCol w="1872208">
                  <a:extLst>
                    <a:ext uri="{9D8B030D-6E8A-4147-A177-3AD203B41FA5}">
                      <a16:colId xmlns:a16="http://schemas.microsoft.com/office/drawing/2014/main" val="20001"/>
                    </a:ext>
                  </a:extLst>
                </a:gridCol>
                <a:gridCol w="1584176">
                  <a:extLst>
                    <a:ext uri="{9D8B030D-6E8A-4147-A177-3AD203B41FA5}">
                      <a16:colId xmlns:a16="http://schemas.microsoft.com/office/drawing/2014/main" val="20002"/>
                    </a:ext>
                  </a:extLst>
                </a:gridCol>
              </a:tblGrid>
              <a:tr h="43113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一般形式：</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符号栈的内容</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剩余输入串</a:t>
                      </a:r>
                    </a:p>
                  </a:txBody>
                  <a:tcPr marT="34300" marB="343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3113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初态：</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输入串</a:t>
                      </a:r>
                      <a:r>
                        <a:rPr kumimoji="1" lang="en-US" altLang="zh-CN"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780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终态：</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#S</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a:t>
                      </a:r>
                      <a:endParaRPr kumimoji="1" lang="en-US" altLang="zh-CN" sz="21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33144" name="Text Box 24"/>
          <p:cNvSpPr>
            <a:spLocks noGrp="1" noChangeArrowheads="1"/>
          </p:cNvSpPr>
          <p:nvPr>
            <p:ph type="body" idx="1"/>
          </p:nvPr>
        </p:nvSpPr>
        <p:spPr>
          <a:xfrm>
            <a:off x="263642" y="1724770"/>
            <a:ext cx="6324582" cy="458787"/>
          </a:xfrm>
          <a:noFill/>
        </p:spPr>
        <p:txBody>
          <a:bodyPr>
            <a:normAutofit/>
          </a:bodyPr>
          <a:lstStyle/>
          <a:p>
            <a:pPr>
              <a:spcBef>
                <a:spcPct val="0"/>
              </a:spcBef>
              <a:buFontTx/>
              <a:buNone/>
            </a:pPr>
            <a:r>
              <a:rPr lang="zh-CN" altLang="en-US" sz="2200" b="1" dirty="0">
                <a:solidFill>
                  <a:srgbClr val="CC00FF"/>
                </a:solidFill>
                <a:latin typeface="宋体" panose="02010600030101010101" pitchFamily="2" charset="-122"/>
                <a:ea typeface="宋体" panose="02010600030101010101" pitchFamily="2" charset="-122"/>
              </a:rPr>
              <a:t>符号栈内容 </a:t>
            </a:r>
            <a:r>
              <a:rPr lang="en-US" altLang="zh-CN" sz="2200" b="1" dirty="0">
                <a:solidFill>
                  <a:srgbClr val="CC00FF"/>
                </a:solidFill>
                <a:latin typeface="宋体" panose="02010600030101010101" pitchFamily="2" charset="-122"/>
                <a:ea typeface="宋体" panose="02010600030101010101" pitchFamily="2" charset="-122"/>
              </a:rPr>
              <a:t>+ </a:t>
            </a:r>
            <a:r>
              <a:rPr lang="zh-CN" altLang="en-US" sz="2200" b="1" dirty="0">
                <a:solidFill>
                  <a:srgbClr val="CC00FF"/>
                </a:solidFill>
                <a:latin typeface="宋体" panose="02010600030101010101" pitchFamily="2" charset="-122"/>
                <a:ea typeface="宋体" panose="02010600030101010101" pitchFamily="2" charset="-122"/>
              </a:rPr>
              <a:t>剩余输入符号串 ＝ </a:t>
            </a:r>
            <a:r>
              <a:rPr lang="en-US" altLang="zh-CN" sz="2200" b="1" dirty="0">
                <a:solidFill>
                  <a:srgbClr val="CC00FF"/>
                </a:solidFill>
                <a:latin typeface="宋体" panose="02010600030101010101" pitchFamily="2" charset="-122"/>
                <a:ea typeface="宋体" panose="02010600030101010101" pitchFamily="2" charset="-122"/>
              </a:rPr>
              <a:t>#</a:t>
            </a:r>
            <a:r>
              <a:rPr lang="zh-CN" altLang="en-US" sz="2200" b="1" dirty="0">
                <a:solidFill>
                  <a:srgbClr val="CC00FF"/>
                </a:solidFill>
                <a:latin typeface="宋体" panose="02010600030101010101" pitchFamily="2" charset="-122"/>
                <a:ea typeface="宋体" panose="02010600030101010101" pitchFamily="2" charset="-122"/>
              </a:rPr>
              <a:t>当前句型</a:t>
            </a:r>
            <a:r>
              <a:rPr lang="en-US" altLang="zh-CN" sz="2200" b="1" dirty="0">
                <a:solidFill>
                  <a:srgbClr val="CC00FF"/>
                </a:solidFill>
                <a:latin typeface="宋体" panose="02010600030101010101" pitchFamily="2" charset="-122"/>
                <a:ea typeface="宋体" panose="02010600030101010101" pitchFamily="2" charset="-122"/>
              </a:rPr>
              <a:t>#</a:t>
            </a:r>
            <a:endParaRPr lang="en-US" altLang="zh-CN" sz="2200" dirty="0">
              <a:solidFill>
                <a:srgbClr val="CC00FF"/>
              </a:solidFill>
              <a:latin typeface="宋体" pitchFamily="2" charset="-122"/>
              <a:ea typeface="宋体" panose="02010600030101010101" pitchFamily="2" charset="-122"/>
            </a:endParaRPr>
          </a:p>
        </p:txBody>
      </p:sp>
      <p:sp>
        <p:nvSpPr>
          <p:cNvPr id="133154" name="Rectangle 34"/>
          <p:cNvSpPr>
            <a:spLocks noChangeArrowheads="1"/>
          </p:cNvSpPr>
          <p:nvPr/>
        </p:nvSpPr>
        <p:spPr bwMode="auto">
          <a:xfrm>
            <a:off x="363307" y="2488705"/>
            <a:ext cx="244169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solidFill>
                  <a:srgbClr val="000000"/>
                </a:solidFill>
                <a:latin typeface="宋体" panose="02010600030101010101" pitchFamily="2" charset="-122"/>
              </a:rPr>
              <a:t>分析时句型表示：</a:t>
            </a:r>
          </a:p>
        </p:txBody>
      </p:sp>
      <p:graphicFrame>
        <p:nvGraphicFramePr>
          <p:cNvPr id="2" name="对象 1"/>
          <p:cNvGraphicFramePr>
            <a:graphicFrameLocks noChangeAspect="1"/>
          </p:cNvGraphicFramePr>
          <p:nvPr>
            <p:extLst>
              <p:ext uri="{D42A27DB-BD31-4B8C-83A1-F6EECF244321}">
                <p14:modId xmlns:p14="http://schemas.microsoft.com/office/powerpoint/2010/main" val="4134000777"/>
              </p:ext>
            </p:extLst>
          </p:nvPr>
        </p:nvGraphicFramePr>
        <p:xfrm>
          <a:off x="5520226" y="2300834"/>
          <a:ext cx="3735387" cy="2232025"/>
        </p:xfrm>
        <a:graphic>
          <a:graphicData uri="http://schemas.openxmlformats.org/presentationml/2006/ole">
            <mc:AlternateContent xmlns:mc="http://schemas.openxmlformats.org/markup-compatibility/2006">
              <mc:Choice xmlns:v="urn:schemas-microsoft-com:vml" Requires="v">
                <p:oleObj spid="_x0000_s37915" name="Visio" r:id="rId4" imgW="2218512" imgH="1325160" progId="Visio.Drawing.11">
                  <p:embed/>
                </p:oleObj>
              </mc:Choice>
              <mc:Fallback>
                <p:oleObj name="Visio" r:id="rId4" imgW="2218512" imgH="1325160" progId="Visio.Drawing.11">
                  <p:embed/>
                  <p:pic>
                    <p:nvPicPr>
                      <p:cNvPr id="2" name="对象 1"/>
                      <p:cNvPicPr>
                        <a:picLocks noChangeAspect="1" noChangeArrowheads="1"/>
                      </p:cNvPicPr>
                      <p:nvPr/>
                    </p:nvPicPr>
                    <p:blipFill>
                      <a:blip r:embed="rId5"/>
                      <a:srcRect/>
                      <a:stretch>
                        <a:fillRect/>
                      </a:stretch>
                    </p:blipFill>
                    <p:spPr bwMode="auto">
                      <a:xfrm>
                        <a:off x="5520226" y="2300834"/>
                        <a:ext cx="3735387" cy="223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 name="TextBox 8"/>
          <p:cNvSpPr txBox="1"/>
          <p:nvPr/>
        </p:nvSpPr>
        <p:spPr>
          <a:xfrm>
            <a:off x="230614" y="1322339"/>
            <a:ext cx="3816424" cy="430887"/>
          </a:xfrm>
          <a:prstGeom prst="rect">
            <a:avLst/>
          </a:prstGeom>
          <a:noFill/>
        </p:spPr>
        <p:txBody>
          <a:bodyPr wrap="square" rtlCol="0">
            <a:spAutoFit/>
          </a:bodyPr>
          <a:lstStyle/>
          <a:p>
            <a:r>
              <a:rPr lang="zh-CN" altLang="en-US" sz="2200" dirty="0"/>
              <a:t>移进</a:t>
            </a:r>
            <a:r>
              <a:rPr lang="en-US" altLang="zh-CN" sz="2200" dirty="0"/>
              <a:t>-</a:t>
            </a:r>
            <a:r>
              <a:rPr lang="zh-CN" altLang="en-US" sz="2200" dirty="0"/>
              <a:t>归约分析中的句型</a:t>
            </a:r>
          </a:p>
        </p:txBody>
      </p:sp>
      <p:graphicFrame>
        <p:nvGraphicFramePr>
          <p:cNvPr id="10" name="对象 9"/>
          <p:cNvGraphicFramePr>
            <a:graphicFrameLocks noChangeAspect="1"/>
          </p:cNvGraphicFramePr>
          <p:nvPr>
            <p:extLst>
              <p:ext uri="{D42A27DB-BD31-4B8C-83A1-F6EECF244321}">
                <p14:modId xmlns:p14="http://schemas.microsoft.com/office/powerpoint/2010/main" val="2997993288"/>
              </p:ext>
            </p:extLst>
          </p:nvPr>
        </p:nvGraphicFramePr>
        <p:xfrm>
          <a:off x="2574602" y="425723"/>
          <a:ext cx="6965950" cy="777875"/>
        </p:xfrm>
        <a:graphic>
          <a:graphicData uri="http://schemas.openxmlformats.org/presentationml/2006/ole">
            <mc:AlternateContent xmlns:mc="http://schemas.openxmlformats.org/markup-compatibility/2006">
              <mc:Choice xmlns:v="urn:schemas-microsoft-com:vml" Requires="v">
                <p:oleObj spid="_x0000_s37916" name="Visio" r:id="rId6" imgW="3229909" imgH="371520" progId="Visio.Drawing.11">
                  <p:embed/>
                </p:oleObj>
              </mc:Choice>
              <mc:Fallback>
                <p:oleObj name="Visio" r:id="rId6" imgW="3229909" imgH="371520" progId="Visio.Drawing.11">
                  <p:embed/>
                  <p:pic>
                    <p:nvPicPr>
                      <p:cNvPr id="10" name="对象 9"/>
                      <p:cNvPicPr>
                        <a:picLocks noChangeAspect="1" noChangeArrowheads="1"/>
                      </p:cNvPicPr>
                      <p:nvPr/>
                    </p:nvPicPr>
                    <p:blipFill>
                      <a:blip r:embed="rId7"/>
                      <a:srcRect/>
                      <a:stretch>
                        <a:fillRect/>
                      </a:stretch>
                    </p:blipFill>
                    <p:spPr bwMode="auto">
                      <a:xfrm>
                        <a:off x="2574602" y="425723"/>
                        <a:ext cx="6965950" cy="7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1" name="对象 10"/>
          <p:cNvGraphicFramePr>
            <a:graphicFrameLocks noChangeAspect="1"/>
          </p:cNvGraphicFramePr>
          <p:nvPr>
            <p:extLst>
              <p:ext uri="{D42A27DB-BD31-4B8C-83A1-F6EECF244321}">
                <p14:modId xmlns:p14="http://schemas.microsoft.com/office/powerpoint/2010/main" val="565368365"/>
              </p:ext>
            </p:extLst>
          </p:nvPr>
        </p:nvGraphicFramePr>
        <p:xfrm>
          <a:off x="5544815" y="917848"/>
          <a:ext cx="457200" cy="220663"/>
        </p:xfrm>
        <a:graphic>
          <a:graphicData uri="http://schemas.openxmlformats.org/presentationml/2006/ole">
            <mc:AlternateContent xmlns:mc="http://schemas.openxmlformats.org/markup-compatibility/2006">
              <mc:Choice xmlns:v="urn:schemas-microsoft-com:vml" Requires="v">
                <p:oleObj spid="_x0000_s37917" name="位图图像" r:id="rId8" imgW="295238" imgH="190426" progId="PBrush">
                  <p:embed/>
                </p:oleObj>
              </mc:Choice>
              <mc:Fallback>
                <p:oleObj name="位图图像" r:id="rId8" imgW="295238" imgH="190426" progId="PBrush">
                  <p:embed/>
                  <p:pic>
                    <p:nvPicPr>
                      <p:cNvPr id="11" name="对象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44815" y="917848"/>
                        <a:ext cx="457200" cy="220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 name="对象 11"/>
          <p:cNvGraphicFramePr>
            <a:graphicFrameLocks noChangeAspect="1"/>
          </p:cNvGraphicFramePr>
          <p:nvPr>
            <p:extLst>
              <p:ext uri="{D42A27DB-BD31-4B8C-83A1-F6EECF244321}">
                <p14:modId xmlns:p14="http://schemas.microsoft.com/office/powerpoint/2010/main" val="2126862857"/>
              </p:ext>
            </p:extLst>
          </p:nvPr>
        </p:nvGraphicFramePr>
        <p:xfrm>
          <a:off x="4608190" y="244748"/>
          <a:ext cx="381000" cy="271463"/>
        </p:xfrm>
        <a:graphic>
          <a:graphicData uri="http://schemas.openxmlformats.org/presentationml/2006/ole">
            <mc:AlternateContent xmlns:mc="http://schemas.openxmlformats.org/markup-compatibility/2006">
              <mc:Choice xmlns:v="urn:schemas-microsoft-com:vml" Requires="v">
                <p:oleObj spid="_x0000_s37918" name="位图图像" r:id="rId10" imgW="190426" imgH="209524" progId="PBrush">
                  <p:embed/>
                </p:oleObj>
              </mc:Choice>
              <mc:Fallback>
                <p:oleObj name="位图图像" r:id="rId10" imgW="190426" imgH="209524" progId="PBrush">
                  <p:embed/>
                  <p:pic>
                    <p:nvPicPr>
                      <p:cNvPr id="12" name="对象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608190" y="244748"/>
                        <a:ext cx="3810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 name="对象 12"/>
          <p:cNvGraphicFramePr>
            <a:graphicFrameLocks noChangeAspect="1"/>
          </p:cNvGraphicFramePr>
          <p:nvPr>
            <p:extLst>
              <p:ext uri="{D42A27DB-BD31-4B8C-83A1-F6EECF244321}">
                <p14:modId xmlns:p14="http://schemas.microsoft.com/office/powerpoint/2010/main" val="259263925"/>
              </p:ext>
            </p:extLst>
          </p:nvPr>
        </p:nvGraphicFramePr>
        <p:xfrm>
          <a:off x="6852915" y="209823"/>
          <a:ext cx="347662" cy="342900"/>
        </p:xfrm>
        <a:graphic>
          <a:graphicData uri="http://schemas.openxmlformats.org/presentationml/2006/ole">
            <mc:AlternateContent xmlns:mc="http://schemas.openxmlformats.org/markup-compatibility/2006">
              <mc:Choice xmlns:v="urn:schemas-microsoft-com:vml" Requires="v">
                <p:oleObj spid="_x0000_s37919" name="位图图像" r:id="rId12" imgW="181096" imgH="237969" progId="PBrush">
                  <p:embed/>
                </p:oleObj>
              </mc:Choice>
              <mc:Fallback>
                <p:oleObj name="位图图像" r:id="rId12" imgW="181096" imgH="237969" progId="PBrush">
                  <p:embed/>
                  <p:pic>
                    <p:nvPicPr>
                      <p:cNvPr id="13" name="对象 1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852915" y="209823"/>
                        <a:ext cx="347662"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 name="Rectangle 34"/>
          <p:cNvSpPr>
            <a:spLocks noChangeArrowheads="1"/>
          </p:cNvSpPr>
          <p:nvPr/>
        </p:nvSpPr>
        <p:spPr bwMode="auto">
          <a:xfrm>
            <a:off x="0" y="64048"/>
            <a:ext cx="328808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solidFill>
                  <a:srgbClr val="000000"/>
                </a:solidFill>
                <a:latin typeface="宋体" panose="02010600030101010101" pitchFamily="2" charset="-122"/>
              </a:rPr>
              <a:t>算符优先文法中的句型：</a:t>
            </a:r>
          </a:p>
        </p:txBody>
      </p:sp>
      <p:sp>
        <p:nvSpPr>
          <p:cNvPr id="14" name="矩形 13"/>
          <p:cNvSpPr/>
          <p:nvPr/>
        </p:nvSpPr>
        <p:spPr>
          <a:xfrm>
            <a:off x="1763688" y="3075806"/>
            <a:ext cx="3456384" cy="432048"/>
          </a:xfrm>
          <a:prstGeom prst="rect">
            <a:avLst/>
          </a:prstGeom>
          <a:noFill/>
        </p:spPr>
        <p:style>
          <a:lnRef idx="2">
            <a:schemeClr val="accent1"/>
          </a:lnRef>
          <a:fillRef idx="1">
            <a:schemeClr val="lt1"/>
          </a:fillRef>
          <a:effectRef idx="0">
            <a:schemeClr val="accent1"/>
          </a:effectRef>
          <a:fontRef idx="minor">
            <a:schemeClr val="dk1"/>
          </a:fontRef>
        </p:style>
        <p:txBody>
          <a:bodyPr rtlCol="0" anchor="ctr"/>
          <a:lstStyle/>
          <a:p>
            <a:pPr algn="ctr"/>
            <a:endParaRPr lang="zh-CN" altLang="en-US"/>
          </a:p>
        </p:txBody>
      </p:sp>
    </p:spTree>
    <p:extLst>
      <p:ext uri="{BB962C8B-B14F-4D97-AF65-F5344CB8AC3E}">
        <p14:creationId xmlns:p14="http://schemas.microsoft.com/office/powerpoint/2010/main" val="35586462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33154"/>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0"/>
                                          </p:stCondLst>
                                        </p:cTn>
                                        <p:tgtEl>
                                          <p:spTgt spid="13315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74"/>
                                          </p:stCondLst>
                                        </p:cTn>
                                        <p:tgtEl>
                                          <p:spTgt spid="133144">
                                            <p:txEl>
                                              <p:pRg st="0" end="0"/>
                                            </p:txEl>
                                          </p:spTgt>
                                        </p:tgtEl>
                                        <p:attrNameLst>
                                          <p:attrName>style.visibility</p:attrName>
                                        </p:attrNameLst>
                                      </p:cBhvr>
                                      <p:to>
                                        <p:strVal val="visible"/>
                                      </p:to>
                                    </p:set>
                                  </p:childTnLst>
                                </p:cTn>
                              </p:par>
                            </p:childTnLst>
                          </p:cTn>
                        </p:par>
                        <p:par>
                          <p:cTn id="17" fill="hold">
                            <p:stCondLst>
                              <p:cond delay="75"/>
                            </p:stCondLst>
                            <p:childTnLst>
                              <p:par>
                                <p:cTn id="18" presetID="1" presetClass="entr" presetSubtype="0" fill="hold" grpId="0" nodeType="afterEffect">
                                  <p:stCondLst>
                                    <p:cond delay="0"/>
                                  </p:stCondLst>
                                  <p:childTnLst>
                                    <p:set>
                                      <p:cBhvr>
                                        <p:cTn id="19" dur="1" fill="hold">
                                          <p:stCondLst>
                                            <p:cond delay="0"/>
                                          </p:stCondLst>
                                        </p:cTn>
                                        <p:tgtEl>
                                          <p:spTgt spid="1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21"/>
                                        </p:tgtEl>
                                        <p:attrNameLst>
                                          <p:attrName>style.visibility</p:attrName>
                                        </p:attrNameLst>
                                      </p:cBhvr>
                                      <p:to>
                                        <p:strVal val="visible"/>
                                      </p:to>
                                    </p:set>
                                  </p:childTnLst>
                                </p:cTn>
                              </p:par>
                            </p:childTnLst>
                          </p:cTn>
                        </p:par>
                        <p:par>
                          <p:cTn id="24" fill="hold">
                            <p:stCondLst>
                              <p:cond delay="0"/>
                            </p:stCondLst>
                            <p:childTnLst>
                              <p:par>
                                <p:cTn id="25" presetID="1" presetClass="entr" presetSubtype="0"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nodeType="afterEffect">
                                  <p:stCondLst>
                                    <p:cond delay="0"/>
                                  </p:stCondLst>
                                  <p:childTnLst>
                                    <p:set>
                                      <p:cBhvr>
                                        <p:cTn id="33" dur="1" fill="hold">
                                          <p:stCondLst>
                                            <p:cond delay="0"/>
                                          </p:stCondLst>
                                        </p:cTn>
                                        <p:tgtEl>
                                          <p:spTgt spid="13"/>
                                        </p:tgtEl>
                                        <p:attrNameLst>
                                          <p:attrName>style.visibility</p:attrName>
                                        </p:attrNameLst>
                                      </p:cBhvr>
                                      <p:to>
                                        <p:strVal val="visible"/>
                                      </p:to>
                                    </p:set>
                                  </p:childTnLst>
                                </p:cTn>
                              </p:par>
                            </p:childTnLst>
                          </p:cTn>
                        </p:par>
                        <p:par>
                          <p:cTn id="34" fill="hold">
                            <p:stCondLst>
                              <p:cond delay="0"/>
                            </p:stCondLst>
                            <p:childTnLst>
                              <p:par>
                                <p:cTn id="35" presetID="1" presetClass="entr" presetSubtype="0"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4" grpId="0" build="p" autoUpdateAnimBg="0"/>
      <p:bldP spid="133154" grpId="0" autoUpdateAnimBg="0"/>
      <p:bldP spid="9" grpId="0"/>
      <p:bldP spid="21" grpId="0"/>
      <p:bldP spid="14" grpId="0" animBg="1"/>
    </p:bldLst>
  </p:timing>
</p:sld>
</file>

<file path=ppt/slides/slide18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组合 1"/>
          <p:cNvGrpSpPr/>
          <p:nvPr/>
        </p:nvGrpSpPr>
        <p:grpSpPr>
          <a:xfrm>
            <a:off x="305886" y="2192660"/>
            <a:ext cx="8263551" cy="1938992"/>
            <a:chOff x="291767" y="1712878"/>
            <a:chExt cx="8263551" cy="1938992"/>
          </a:xfrm>
        </p:grpSpPr>
        <p:sp>
          <p:nvSpPr>
            <p:cNvPr id="8" name="Rectangle 12"/>
            <p:cNvSpPr>
              <a:spLocks noChangeArrowheads="1"/>
            </p:cNvSpPr>
            <p:nvPr/>
          </p:nvSpPr>
          <p:spPr bwMode="auto">
            <a:xfrm>
              <a:off x="291767" y="1712878"/>
              <a:ext cx="8263551" cy="1938992"/>
            </a:xfrm>
            <a:prstGeom prst="rect">
              <a:avLst/>
            </a:prstGeom>
            <a:solidFill>
              <a:schemeClr val="bg1"/>
            </a:solidFill>
            <a:ln w="28575">
              <a:solidFill>
                <a:srgbClr val="0000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81000" indent="-381000">
                <a:lnSpc>
                  <a:spcPct val="90000"/>
                </a:lnSpc>
              </a:pPr>
              <a:r>
                <a:rPr lang="zh-CN" altLang="en-US" sz="2000" b="1" dirty="0">
                  <a:solidFill>
                    <a:srgbClr val="FF0066"/>
                  </a:solidFill>
                  <a:latin typeface="宋体" pitchFamily="2" charset="-122"/>
                </a:rPr>
                <a:t>过程</a:t>
              </a:r>
              <a:r>
                <a:rPr lang="zh-CN" altLang="en-US" sz="2000" dirty="0">
                  <a:latin typeface="宋体" pitchFamily="2" charset="-122"/>
                </a:rPr>
                <a:t>：</a:t>
              </a:r>
            </a:p>
            <a:p>
              <a:pPr marL="952500" lvl="1" indent="-274638">
                <a:lnSpc>
                  <a:spcPct val="90000"/>
                </a:lnSpc>
              </a:pPr>
              <a:r>
                <a:rPr lang="en-US" altLang="zh-CN" sz="2000" b="1" dirty="0">
                  <a:latin typeface="宋体" pitchFamily="2" charset="-122"/>
                </a:rPr>
                <a:t>(1)</a:t>
              </a:r>
              <a:r>
                <a:rPr lang="zh-CN" altLang="en-US" sz="2000" dirty="0">
                  <a:latin typeface="宋体" pitchFamily="2" charset="-122"/>
                </a:rPr>
                <a:t>从左向右扫描输入符号串并移入栈中</a:t>
              </a:r>
              <a:r>
                <a:rPr lang="en-US" altLang="zh-CN" sz="2000" dirty="0">
                  <a:latin typeface="宋体" pitchFamily="2" charset="-122"/>
                </a:rPr>
                <a:t>,</a:t>
              </a:r>
              <a:r>
                <a:rPr lang="zh-CN" altLang="en-US" sz="2000" dirty="0">
                  <a:latin typeface="宋体" pitchFamily="2" charset="-122"/>
                </a:rPr>
                <a:t>并查优先关系表</a:t>
              </a:r>
              <a:r>
                <a:rPr lang="en-US" altLang="zh-CN" sz="2000" dirty="0">
                  <a:latin typeface="宋体" pitchFamily="2" charset="-122"/>
                </a:rPr>
                <a:t>,</a:t>
              </a:r>
              <a:r>
                <a:rPr lang="zh-CN" altLang="en-US" sz="2000" dirty="0">
                  <a:latin typeface="宋体" pitchFamily="2" charset="-122"/>
                </a:rPr>
                <a:t>直至找到满足</a:t>
              </a:r>
              <a:r>
                <a:rPr lang="en-US" altLang="zh-CN" sz="2000" b="1" dirty="0" err="1">
                  <a:latin typeface="宋体" panose="02010600030101010101" pitchFamily="2" charset="-122"/>
                </a:rPr>
                <a:t>a</a:t>
              </a:r>
              <a:r>
                <a:rPr lang="en-US" altLang="zh-CN" sz="2000" b="1" baseline="-25000" dirty="0" err="1">
                  <a:latin typeface="宋体" panose="02010600030101010101" pitchFamily="2" charset="-122"/>
                </a:rPr>
                <a:t>j</a:t>
              </a:r>
              <a:r>
                <a:rPr lang="en-US" altLang="zh-CN" sz="2000" b="1" baseline="-25000" dirty="0">
                  <a:latin typeface="宋体" panose="02010600030101010101" pitchFamily="2" charset="-122"/>
                </a:rPr>
                <a:t>  </a:t>
              </a:r>
              <a:r>
                <a:rPr lang="en-US" altLang="zh-CN" sz="2000" dirty="0">
                  <a:latin typeface="宋体" pitchFamily="2" charset="-122"/>
                </a:rPr>
                <a:t>&gt; </a:t>
              </a:r>
              <a:r>
                <a:rPr lang="en-US" altLang="zh-CN" sz="2000" b="1" dirty="0">
                  <a:latin typeface="宋体" panose="02010600030101010101" pitchFamily="2" charset="-122"/>
                </a:rPr>
                <a:t>a</a:t>
              </a:r>
              <a:r>
                <a:rPr lang="en-US" altLang="zh-CN" sz="2000" b="1" baseline="-25000" dirty="0">
                  <a:latin typeface="宋体" panose="02010600030101010101" pitchFamily="2" charset="-122"/>
                </a:rPr>
                <a:t>j+1</a:t>
              </a:r>
              <a:r>
                <a:rPr lang="zh-CN" altLang="en-US" sz="2000" dirty="0">
                  <a:latin typeface="宋体" pitchFamily="2" charset="-122"/>
                </a:rPr>
                <a:t>时为止</a:t>
              </a:r>
              <a:endParaRPr lang="en-US" altLang="zh-CN" sz="2000" dirty="0">
                <a:latin typeface="宋体" pitchFamily="2" charset="-122"/>
              </a:endParaRPr>
            </a:p>
            <a:p>
              <a:pPr marL="952500" lvl="1" indent="-274638">
                <a:lnSpc>
                  <a:spcPct val="90000"/>
                </a:lnSpc>
              </a:pPr>
              <a:r>
                <a:rPr lang="en-US" altLang="zh-CN" sz="2000" b="1" dirty="0">
                  <a:latin typeface="宋体" pitchFamily="2" charset="-122"/>
                </a:rPr>
                <a:t>(2)</a:t>
              </a:r>
              <a:r>
                <a:rPr lang="zh-CN" altLang="en-US" sz="2000" dirty="0">
                  <a:latin typeface="宋体" pitchFamily="2" charset="-122"/>
                </a:rPr>
                <a:t>从</a:t>
              </a:r>
              <a:r>
                <a:rPr lang="en-US" altLang="zh-CN" sz="2000" b="1" dirty="0" err="1">
                  <a:latin typeface="宋体" panose="02010600030101010101" pitchFamily="2" charset="-122"/>
                </a:rPr>
                <a:t>a</a:t>
              </a:r>
              <a:r>
                <a:rPr lang="en-US" altLang="zh-CN" sz="2000" baseline="-25000" dirty="0" err="1">
                  <a:latin typeface="宋体" panose="02010600030101010101" pitchFamily="2" charset="-122"/>
                </a:rPr>
                <a:t>j</a:t>
              </a:r>
              <a:r>
                <a:rPr lang="zh-CN" altLang="en-US" sz="2000" dirty="0">
                  <a:latin typeface="宋体" pitchFamily="2" charset="-122"/>
                </a:rPr>
                <a:t>开始往左扫描堆栈</a:t>
              </a:r>
              <a:r>
                <a:rPr lang="en-US" altLang="zh-CN" sz="2000" dirty="0">
                  <a:latin typeface="宋体" pitchFamily="2" charset="-122"/>
                </a:rPr>
                <a:t>,</a:t>
              </a:r>
              <a:r>
                <a:rPr lang="zh-CN" altLang="en-US" sz="2000" dirty="0">
                  <a:latin typeface="宋体" pitchFamily="2" charset="-122"/>
                </a:rPr>
                <a:t>直至找到某个</a:t>
              </a:r>
              <a:r>
                <a:rPr lang="en-US" altLang="zh-CN" sz="2000" dirty="0" err="1">
                  <a:latin typeface="宋体" pitchFamily="2" charset="-122"/>
                </a:rPr>
                <a:t>i</a:t>
              </a:r>
              <a:r>
                <a:rPr lang="en-US" altLang="zh-CN" sz="2000" dirty="0">
                  <a:latin typeface="宋体" pitchFamily="2" charset="-122"/>
                </a:rPr>
                <a:t>,</a:t>
              </a:r>
              <a:r>
                <a:rPr lang="zh-CN" altLang="en-US" sz="2000" dirty="0">
                  <a:latin typeface="宋体" pitchFamily="2" charset="-122"/>
                </a:rPr>
                <a:t>满足</a:t>
              </a:r>
              <a:r>
                <a:rPr lang="en-US" altLang="zh-CN" sz="2000" dirty="0">
                  <a:latin typeface="宋体" pitchFamily="2" charset="-122"/>
                </a:rPr>
                <a:t>a</a:t>
              </a:r>
              <a:r>
                <a:rPr lang="en-US" altLang="zh-CN" sz="2000" baseline="-25000" dirty="0">
                  <a:latin typeface="宋体" pitchFamily="2" charset="-122"/>
                </a:rPr>
                <a:t>i-1</a:t>
              </a:r>
              <a:r>
                <a:rPr lang="en-US" altLang="zh-CN" sz="2000" dirty="0">
                  <a:latin typeface="宋体" pitchFamily="2" charset="-122"/>
                </a:rPr>
                <a:t> &lt;  </a:t>
              </a:r>
              <a:r>
                <a:rPr lang="en-US" altLang="zh-CN" sz="2000" dirty="0" err="1">
                  <a:latin typeface="宋体" pitchFamily="2" charset="-122"/>
                </a:rPr>
                <a:t>a</a:t>
              </a:r>
              <a:r>
                <a:rPr lang="en-US" altLang="zh-CN" sz="2000" baseline="-25000" dirty="0" err="1">
                  <a:latin typeface="宋体" pitchFamily="2" charset="-122"/>
                </a:rPr>
                <a:t>i</a:t>
              </a:r>
              <a:r>
                <a:rPr lang="zh-CN" altLang="en-US" sz="2000" dirty="0">
                  <a:latin typeface="宋体" pitchFamily="2" charset="-122"/>
                </a:rPr>
                <a:t>为止</a:t>
              </a:r>
            </a:p>
            <a:p>
              <a:pPr marL="952500" lvl="1" indent="-274638">
                <a:lnSpc>
                  <a:spcPct val="90000"/>
                </a:lnSpc>
              </a:pPr>
              <a:r>
                <a:rPr lang="en-US" altLang="zh-CN" sz="2000" b="1" dirty="0">
                  <a:latin typeface="宋体" pitchFamily="2" charset="-122"/>
                </a:rPr>
                <a:t>(3)</a:t>
              </a:r>
              <a:r>
                <a:rPr lang="en-US" altLang="zh-CN" sz="2000" b="1" dirty="0" err="1">
                  <a:solidFill>
                    <a:srgbClr val="0000FF"/>
                  </a:solidFill>
                  <a:latin typeface="宋体" panose="02010600030101010101" pitchFamily="2" charset="-122"/>
                </a:rPr>
                <a:t>N</a:t>
              </a:r>
              <a:r>
                <a:rPr lang="en-US" altLang="zh-CN" sz="2000" b="1" baseline="-25000" dirty="0" err="1">
                  <a:solidFill>
                    <a:srgbClr val="0000FF"/>
                  </a:solidFill>
                  <a:latin typeface="宋体" panose="02010600030101010101" pitchFamily="2" charset="-122"/>
                </a:rPr>
                <a:t>i</a:t>
              </a:r>
              <a:r>
                <a:rPr lang="en-US" altLang="zh-CN" sz="2000" b="1" dirty="0" err="1">
                  <a:solidFill>
                    <a:srgbClr val="0000FF"/>
                  </a:solidFill>
                  <a:latin typeface="宋体" panose="02010600030101010101" pitchFamily="2" charset="-122"/>
                </a:rPr>
                <a:t>a</a:t>
              </a:r>
              <a:r>
                <a:rPr lang="en-US" altLang="zh-CN" sz="2000" b="1" baseline="-25000" dirty="0" err="1">
                  <a:solidFill>
                    <a:srgbClr val="0000FF"/>
                  </a:solidFill>
                  <a:latin typeface="宋体" panose="02010600030101010101" pitchFamily="2" charset="-122"/>
                </a:rPr>
                <a:t>i</a:t>
              </a:r>
              <a:r>
                <a:rPr lang="en-US" altLang="zh-CN" sz="2000" b="1" baseline="-25000" dirty="0">
                  <a:solidFill>
                    <a:srgbClr val="0000FF"/>
                  </a:solidFill>
                  <a:latin typeface="宋体" panose="02010600030101010101" pitchFamily="2" charset="-122"/>
                </a:rPr>
                <a:t> </a:t>
              </a:r>
              <a:r>
                <a:rPr lang="en-US" altLang="zh-CN" sz="2000" b="1" dirty="0">
                  <a:solidFill>
                    <a:srgbClr val="0000FF"/>
                  </a:solidFill>
                  <a:latin typeface="宋体" panose="02010600030101010101" pitchFamily="2" charset="-122"/>
                </a:rPr>
                <a:t>N</a:t>
              </a:r>
              <a:r>
                <a:rPr lang="en-US" altLang="zh-CN" sz="2000" b="1" baseline="-25000" dirty="0">
                  <a:solidFill>
                    <a:srgbClr val="0000FF"/>
                  </a:solidFill>
                  <a:latin typeface="宋体" panose="02010600030101010101" pitchFamily="2" charset="-122"/>
                </a:rPr>
                <a:t>i+1</a:t>
              </a:r>
              <a:r>
                <a:rPr lang="en-US" altLang="zh-CN" sz="2000" b="1" dirty="0">
                  <a:solidFill>
                    <a:srgbClr val="0000FF"/>
                  </a:solidFill>
                  <a:latin typeface="宋体" panose="02010600030101010101" pitchFamily="2" charset="-122"/>
                </a:rPr>
                <a:t>a</a:t>
              </a:r>
              <a:r>
                <a:rPr lang="en-US" altLang="zh-CN" sz="2000" b="1" baseline="-25000" dirty="0">
                  <a:solidFill>
                    <a:srgbClr val="0000FF"/>
                  </a:solidFill>
                  <a:latin typeface="宋体" panose="02010600030101010101" pitchFamily="2" charset="-122"/>
                </a:rPr>
                <a:t>i+1</a:t>
              </a:r>
              <a:r>
                <a:rPr lang="en-US" altLang="zh-CN" sz="2000" b="1" dirty="0">
                  <a:solidFill>
                    <a:srgbClr val="0000FF"/>
                  </a:solidFill>
                  <a:latin typeface="宋体" panose="02010600030101010101" pitchFamily="2" charset="-122"/>
                </a:rPr>
                <a:t>…</a:t>
              </a:r>
              <a:r>
                <a:rPr lang="en-US" altLang="zh-CN" sz="2000" b="1" baseline="-25000" dirty="0">
                  <a:solidFill>
                    <a:srgbClr val="0000FF"/>
                  </a:solidFill>
                  <a:latin typeface="宋体" panose="02010600030101010101" pitchFamily="2" charset="-122"/>
                </a:rPr>
                <a:t> </a:t>
              </a:r>
              <a:r>
                <a:rPr lang="en-US" altLang="zh-CN" sz="2000" b="1" dirty="0" err="1">
                  <a:solidFill>
                    <a:srgbClr val="0000FF"/>
                  </a:solidFill>
                  <a:latin typeface="宋体" panose="02010600030101010101" pitchFamily="2" charset="-122"/>
                </a:rPr>
                <a:t>N</a:t>
              </a:r>
              <a:r>
                <a:rPr lang="en-US" altLang="zh-CN" sz="2000" b="1" baseline="-25000" dirty="0" err="1">
                  <a:solidFill>
                    <a:srgbClr val="0000FF"/>
                  </a:solidFill>
                  <a:latin typeface="宋体" panose="02010600030101010101" pitchFamily="2" charset="-122"/>
                </a:rPr>
                <a:t>j</a:t>
              </a:r>
              <a:r>
                <a:rPr lang="en-US" altLang="zh-CN" sz="2000" b="1" dirty="0" err="1">
                  <a:solidFill>
                    <a:srgbClr val="0000FF"/>
                  </a:solidFill>
                  <a:latin typeface="宋体" panose="02010600030101010101" pitchFamily="2" charset="-122"/>
                </a:rPr>
                <a:t>a</a:t>
              </a:r>
              <a:r>
                <a:rPr lang="en-US" altLang="zh-CN" sz="2000" b="1" baseline="-25000" dirty="0" err="1">
                  <a:solidFill>
                    <a:srgbClr val="0000FF"/>
                  </a:solidFill>
                  <a:latin typeface="宋体" panose="02010600030101010101" pitchFamily="2" charset="-122"/>
                </a:rPr>
                <a:t>j</a:t>
              </a:r>
              <a:r>
                <a:rPr lang="en-US" altLang="zh-CN" sz="2000" b="1" baseline="-25000" dirty="0">
                  <a:solidFill>
                    <a:srgbClr val="0000FF"/>
                  </a:solidFill>
                  <a:latin typeface="宋体" panose="02010600030101010101" pitchFamily="2" charset="-122"/>
                </a:rPr>
                <a:t> </a:t>
              </a:r>
              <a:r>
                <a:rPr lang="en-US" altLang="zh-CN" sz="2000" b="1" dirty="0">
                  <a:solidFill>
                    <a:srgbClr val="0000FF"/>
                  </a:solidFill>
                  <a:latin typeface="宋体" panose="02010600030101010101" pitchFamily="2" charset="-122"/>
                </a:rPr>
                <a:t>N</a:t>
              </a:r>
              <a:r>
                <a:rPr lang="en-US" altLang="zh-CN" sz="2000" b="1" baseline="-25000" dirty="0">
                  <a:solidFill>
                    <a:srgbClr val="0000FF"/>
                  </a:solidFill>
                  <a:latin typeface="宋体" panose="02010600030101010101" pitchFamily="2" charset="-122"/>
                </a:rPr>
                <a:t>j+1</a:t>
              </a:r>
              <a:r>
                <a:rPr lang="zh-CN" altLang="en-US" sz="2000" dirty="0">
                  <a:latin typeface="宋体" pitchFamily="2" charset="-122"/>
                </a:rPr>
                <a:t>形式的子串即为</a:t>
              </a:r>
              <a:r>
                <a:rPr lang="zh-CN" altLang="en-US" sz="2000" b="1" dirty="0">
                  <a:solidFill>
                    <a:schemeClr val="accent2"/>
                  </a:solidFill>
                  <a:latin typeface="宋体" pitchFamily="2" charset="-122"/>
                </a:rPr>
                <a:t>最左素短语</a:t>
              </a:r>
              <a:r>
                <a:rPr lang="zh-CN" altLang="en-US" sz="2000" dirty="0">
                  <a:latin typeface="宋体" pitchFamily="2" charset="-122"/>
                </a:rPr>
                <a:t>，应被归约</a:t>
              </a:r>
            </a:p>
          </p:txBody>
        </p:sp>
        <p:graphicFrame>
          <p:nvGraphicFramePr>
            <p:cNvPr id="166919" name="Object 5"/>
            <p:cNvGraphicFramePr>
              <a:graphicFrameLocks noChangeAspect="1"/>
            </p:cNvGraphicFramePr>
            <p:nvPr>
              <p:extLst>
                <p:ext uri="{D42A27DB-BD31-4B8C-83A1-F6EECF244321}">
                  <p14:modId xmlns:p14="http://schemas.microsoft.com/office/powerpoint/2010/main" val="2114701935"/>
                </p:ext>
              </p:extLst>
            </p:nvPr>
          </p:nvGraphicFramePr>
          <p:xfrm>
            <a:off x="2640161" y="2319228"/>
            <a:ext cx="347663" cy="343193"/>
          </p:xfrm>
          <a:graphic>
            <a:graphicData uri="http://schemas.openxmlformats.org/presentationml/2006/ole">
              <mc:AlternateContent xmlns:mc="http://schemas.openxmlformats.org/markup-compatibility/2006">
                <mc:Choice xmlns:v="urn:schemas-microsoft-com:vml" Requires="v">
                  <p:oleObj spid="_x0000_s38944" name="位图图像" r:id="rId4" imgW="181096" imgH="237969" progId="Paint.Picture">
                    <p:embed/>
                  </p:oleObj>
                </mc:Choice>
                <mc:Fallback>
                  <p:oleObj name="位图图像" r:id="rId4" imgW="181096" imgH="237969" progId="Paint.Picture">
                    <p:embed/>
                    <p:pic>
                      <p:nvPicPr>
                        <p:cNvPr id="166919"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40161" y="2319228"/>
                          <a:ext cx="347663" cy="343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6920" name="Object 6"/>
            <p:cNvGraphicFramePr>
              <a:graphicFrameLocks noChangeAspect="1"/>
            </p:cNvGraphicFramePr>
            <p:nvPr>
              <p:extLst>
                <p:ext uri="{D42A27DB-BD31-4B8C-83A1-F6EECF244321}">
                  <p14:modId xmlns:p14="http://schemas.microsoft.com/office/powerpoint/2010/main" val="1802345747"/>
                </p:ext>
              </p:extLst>
            </p:nvPr>
          </p:nvGraphicFramePr>
          <p:xfrm>
            <a:off x="7071320" y="2732104"/>
            <a:ext cx="381000" cy="271694"/>
          </p:xfrm>
          <a:graphic>
            <a:graphicData uri="http://schemas.openxmlformats.org/presentationml/2006/ole">
              <mc:AlternateContent xmlns:mc="http://schemas.openxmlformats.org/markup-compatibility/2006">
                <mc:Choice xmlns:v="urn:schemas-microsoft-com:vml" Requires="v">
                  <p:oleObj spid="_x0000_s38945" name="位图图像" r:id="rId6" imgW="190426" imgH="209524" progId="Paint.Picture">
                    <p:embed/>
                  </p:oleObj>
                </mc:Choice>
                <mc:Fallback>
                  <p:oleObj name="位图图像" r:id="rId6" imgW="190426" imgH="209524" progId="Paint.Picture">
                    <p:embed/>
                    <p:pic>
                      <p:nvPicPr>
                        <p:cNvPr id="166920"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71320" y="2732104"/>
                          <a:ext cx="381000" cy="2716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66916" name="Rectangle 11"/>
          <p:cNvSpPr>
            <a:spLocks noGrp="1" noChangeArrowheads="1"/>
          </p:cNvSpPr>
          <p:nvPr>
            <p:ph type="title"/>
          </p:nvPr>
        </p:nvSpPr>
        <p:spPr>
          <a:xfrm>
            <a:off x="4247" y="744587"/>
            <a:ext cx="1639793" cy="695325"/>
          </a:xfrm>
        </p:spPr>
        <p:txBody>
          <a:bodyPr>
            <a:normAutofit/>
          </a:bodyPr>
          <a:lstStyle/>
          <a:p>
            <a:pPr eaLnBrk="1" hangingPunct="1"/>
            <a:r>
              <a:rPr kumimoji="1" lang="zh-CN" altLang="en-US" sz="2200" dirty="0">
                <a:solidFill>
                  <a:srgbClr val="000000"/>
                </a:solidFill>
                <a:latin typeface="宋体" panose="02010600030101010101" pitchFamily="2" charset="-122"/>
                <a:ea typeface="宋体" pitchFamily="2" charset="-122"/>
                <a:cs typeface="+mn-cs"/>
              </a:rPr>
              <a:t>分析过程</a:t>
            </a:r>
            <a:r>
              <a:rPr kumimoji="1" lang="en-US" altLang="zh-CN" sz="2200" dirty="0">
                <a:solidFill>
                  <a:srgbClr val="000000"/>
                </a:solidFill>
                <a:latin typeface="宋体" panose="02010600030101010101" pitchFamily="2" charset="-122"/>
                <a:ea typeface="宋体" pitchFamily="2" charset="-122"/>
                <a:cs typeface="+mn-cs"/>
              </a:rPr>
              <a:t>:</a:t>
            </a:r>
            <a:endParaRPr kumimoji="1" lang="zh-CN" altLang="en-US" sz="2200" dirty="0">
              <a:solidFill>
                <a:srgbClr val="000000"/>
              </a:solidFill>
              <a:latin typeface="宋体" panose="02010600030101010101" pitchFamily="2" charset="-122"/>
              <a:ea typeface="宋体" pitchFamily="2" charset="-122"/>
              <a:cs typeface="+mn-cs"/>
            </a:endParaRPr>
          </a:p>
        </p:txBody>
      </p:sp>
      <p:sp>
        <p:nvSpPr>
          <p:cNvPr id="25612" name="Rectangle 12"/>
          <p:cNvSpPr>
            <a:spLocks noChangeArrowheads="1"/>
          </p:cNvSpPr>
          <p:nvPr/>
        </p:nvSpPr>
        <p:spPr bwMode="auto">
          <a:xfrm>
            <a:off x="298282" y="1439912"/>
            <a:ext cx="8263551" cy="677108"/>
          </a:xfrm>
          <a:prstGeom prst="rect">
            <a:avLst/>
          </a:prstGeom>
          <a:solidFill>
            <a:schemeClr val="bg1"/>
          </a:solidFill>
          <a:ln w="28575">
            <a:solidFill>
              <a:srgbClr val="0000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50000"/>
              </a:spcBef>
            </a:pPr>
            <a:r>
              <a:rPr lang="en-US" altLang="zh-CN" sz="2000" dirty="0">
                <a:solidFill>
                  <a:srgbClr val="FF0066"/>
                </a:solidFill>
                <a:latin typeface="宋体" pitchFamily="2" charset="-122"/>
              </a:rPr>
              <a:t> </a:t>
            </a:r>
            <a:r>
              <a:rPr lang="zh-CN" altLang="en-US" sz="2000" dirty="0">
                <a:solidFill>
                  <a:srgbClr val="FF0066"/>
                </a:solidFill>
                <a:latin typeface="宋体" pitchFamily="2" charset="-122"/>
              </a:rPr>
              <a:t>开始</a:t>
            </a:r>
            <a:r>
              <a:rPr lang="zh-CN" altLang="en-US" sz="2000" dirty="0">
                <a:latin typeface="宋体" pitchFamily="2" charset="-122"/>
              </a:rPr>
              <a:t>：</a:t>
            </a:r>
          </a:p>
          <a:p>
            <a:pPr eaLnBrk="1" hangingPunct="1">
              <a:spcBef>
                <a:spcPct val="0"/>
              </a:spcBef>
              <a:buFontTx/>
              <a:buNone/>
            </a:pPr>
            <a:r>
              <a:rPr lang="zh-CN" altLang="en-US" sz="2000" dirty="0">
                <a:latin typeface="宋体" pitchFamily="2" charset="-122"/>
              </a:rPr>
              <a:t> 	分析栈中为：</a:t>
            </a:r>
            <a:r>
              <a:rPr lang="en-US" altLang="zh-CN" sz="2000" dirty="0">
                <a:solidFill>
                  <a:srgbClr val="0000FF"/>
                </a:solidFill>
                <a:latin typeface="宋体" pitchFamily="2" charset="-122"/>
              </a:rPr>
              <a:t>#</a:t>
            </a:r>
            <a:r>
              <a:rPr lang="zh-CN" altLang="en-US" sz="2000" dirty="0">
                <a:latin typeface="宋体" pitchFamily="2" charset="-122"/>
              </a:rPr>
              <a:t>，输入缓冲区为：</a:t>
            </a:r>
            <a:r>
              <a:rPr lang="zh-CN" altLang="en-US" sz="2000" dirty="0">
                <a:solidFill>
                  <a:schemeClr val="accent2"/>
                </a:solidFill>
                <a:latin typeface="宋体" panose="02010600030101010101" pitchFamily="2" charset="-122"/>
              </a:rPr>
              <a:t>输入串</a:t>
            </a:r>
            <a:r>
              <a:rPr lang="en-US" altLang="zh-CN" sz="2000" dirty="0">
                <a:solidFill>
                  <a:schemeClr val="accent2"/>
                </a:solidFill>
                <a:latin typeface="宋体" panose="02010600030101010101" pitchFamily="2" charset="-122"/>
              </a:rPr>
              <a:t>#</a:t>
            </a:r>
          </a:p>
        </p:txBody>
      </p:sp>
      <p:sp>
        <p:nvSpPr>
          <p:cNvPr id="25613" name="Rectangle 13"/>
          <p:cNvSpPr>
            <a:spLocks noChangeArrowheads="1"/>
          </p:cNvSpPr>
          <p:nvPr/>
        </p:nvSpPr>
        <p:spPr bwMode="auto">
          <a:xfrm>
            <a:off x="298282" y="4131652"/>
            <a:ext cx="8271155" cy="1015663"/>
          </a:xfrm>
          <a:prstGeom prst="rect">
            <a:avLst/>
          </a:prstGeom>
          <a:solidFill>
            <a:schemeClr val="bg1"/>
          </a:solidFill>
          <a:ln w="28575">
            <a:solidFill>
              <a:srgbClr val="0000FF"/>
            </a:solidFill>
            <a:miter lim="800000"/>
            <a:headEnd/>
            <a:tailEnd/>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en-US" altLang="zh-CN" sz="2000" dirty="0">
                <a:solidFill>
                  <a:srgbClr val="FF0066"/>
                </a:solidFill>
                <a:latin typeface="宋体" pitchFamily="2" charset="-122"/>
              </a:rPr>
              <a:t> </a:t>
            </a:r>
            <a:r>
              <a:rPr lang="zh-CN" altLang="en-US" sz="2000" dirty="0">
                <a:solidFill>
                  <a:srgbClr val="FF0066"/>
                </a:solidFill>
                <a:latin typeface="宋体" pitchFamily="2" charset="-122"/>
              </a:rPr>
              <a:t>结束</a:t>
            </a:r>
            <a:r>
              <a:rPr lang="zh-CN" altLang="en-US" sz="2000" dirty="0">
                <a:latin typeface="宋体" pitchFamily="2" charset="-122"/>
              </a:rPr>
              <a:t>：</a:t>
            </a:r>
          </a:p>
          <a:p>
            <a:pPr eaLnBrk="1" hangingPunct="1">
              <a:spcBef>
                <a:spcPct val="0"/>
              </a:spcBef>
              <a:buFontTx/>
              <a:buNone/>
            </a:pPr>
            <a:r>
              <a:rPr lang="zh-CN" altLang="en-US" sz="2000" dirty="0">
                <a:latin typeface="宋体" pitchFamily="2" charset="-122"/>
              </a:rPr>
              <a:t>	输入缓冲区为</a:t>
            </a:r>
            <a:r>
              <a:rPr lang="en-US" altLang="zh-CN" sz="2000" dirty="0">
                <a:solidFill>
                  <a:srgbClr val="0000FF"/>
                </a:solidFill>
                <a:latin typeface="宋体" pitchFamily="2" charset="-122"/>
              </a:rPr>
              <a:t>#</a:t>
            </a:r>
            <a:r>
              <a:rPr lang="zh-CN" altLang="en-US" sz="2000" dirty="0">
                <a:solidFill>
                  <a:srgbClr val="0000FF"/>
                </a:solidFill>
                <a:latin typeface="宋体" pitchFamily="2" charset="-122"/>
              </a:rPr>
              <a:t>，</a:t>
            </a:r>
            <a:r>
              <a:rPr lang="zh-CN" altLang="en-US" sz="2000" dirty="0">
                <a:latin typeface="宋体" pitchFamily="2" charset="-122"/>
              </a:rPr>
              <a:t>分析栈中为</a:t>
            </a:r>
            <a:r>
              <a:rPr lang="en-US" altLang="zh-CN" sz="2000" dirty="0">
                <a:solidFill>
                  <a:srgbClr val="0000FF"/>
                </a:solidFill>
                <a:latin typeface="宋体" pitchFamily="2" charset="-122"/>
              </a:rPr>
              <a:t>#S</a:t>
            </a:r>
            <a:r>
              <a:rPr lang="zh-CN" altLang="en-US" sz="2000" dirty="0">
                <a:latin typeface="宋体" pitchFamily="2" charset="-122"/>
              </a:rPr>
              <a:t>，分析成功</a:t>
            </a:r>
          </a:p>
          <a:p>
            <a:pPr eaLnBrk="1" hangingPunct="1">
              <a:spcBef>
                <a:spcPct val="0"/>
              </a:spcBef>
              <a:buFontTx/>
              <a:buNone/>
            </a:pPr>
            <a:r>
              <a:rPr lang="zh-CN" altLang="en-US" sz="2000" dirty="0">
                <a:latin typeface="宋体" pitchFamily="2" charset="-122"/>
              </a:rPr>
              <a:t>	否则失败</a:t>
            </a:r>
          </a:p>
        </p:txBody>
      </p:sp>
      <p:sp>
        <p:nvSpPr>
          <p:cNvPr id="15" name="Rectangle 34"/>
          <p:cNvSpPr>
            <a:spLocks noChangeArrowheads="1"/>
          </p:cNvSpPr>
          <p:nvPr/>
        </p:nvSpPr>
        <p:spPr bwMode="auto">
          <a:xfrm>
            <a:off x="0" y="64048"/>
            <a:ext cx="328808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200" dirty="0">
                <a:solidFill>
                  <a:srgbClr val="000000"/>
                </a:solidFill>
                <a:latin typeface="宋体" panose="02010600030101010101" pitchFamily="2" charset="-122"/>
              </a:rPr>
              <a:t>算符优先文法中的句型：</a:t>
            </a:r>
          </a:p>
        </p:txBody>
      </p:sp>
      <p:graphicFrame>
        <p:nvGraphicFramePr>
          <p:cNvPr id="4" name="对象 3"/>
          <p:cNvGraphicFramePr>
            <a:graphicFrameLocks noChangeAspect="1"/>
          </p:cNvGraphicFramePr>
          <p:nvPr>
            <p:extLst>
              <p:ext uri="{D42A27DB-BD31-4B8C-83A1-F6EECF244321}">
                <p14:modId xmlns:p14="http://schemas.microsoft.com/office/powerpoint/2010/main" val="510955467"/>
              </p:ext>
            </p:extLst>
          </p:nvPr>
        </p:nvGraphicFramePr>
        <p:xfrm>
          <a:off x="2574925" y="425723"/>
          <a:ext cx="6965950" cy="777875"/>
        </p:xfrm>
        <a:graphic>
          <a:graphicData uri="http://schemas.openxmlformats.org/presentationml/2006/ole">
            <mc:AlternateContent xmlns:mc="http://schemas.openxmlformats.org/markup-compatibility/2006">
              <mc:Choice xmlns:v="urn:schemas-microsoft-com:vml" Requires="v">
                <p:oleObj spid="_x0000_s38946" name="Visio" r:id="rId8" imgW="3229909" imgH="371520" progId="Visio.Drawing.11">
                  <p:embed/>
                </p:oleObj>
              </mc:Choice>
              <mc:Fallback>
                <p:oleObj name="Visio" r:id="rId8" imgW="3229909" imgH="371520" progId="Visio.Drawing.11">
                  <p:embed/>
                  <p:pic>
                    <p:nvPicPr>
                      <p:cNvPr id="4" name="对象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4925" y="425723"/>
                        <a:ext cx="6965950" cy="7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5" name="对象 4"/>
          <p:cNvGraphicFramePr>
            <a:graphicFrameLocks noChangeAspect="1"/>
          </p:cNvGraphicFramePr>
          <p:nvPr>
            <p:extLst>
              <p:ext uri="{D42A27DB-BD31-4B8C-83A1-F6EECF244321}">
                <p14:modId xmlns:p14="http://schemas.microsoft.com/office/powerpoint/2010/main" val="2584638406"/>
              </p:ext>
            </p:extLst>
          </p:nvPr>
        </p:nvGraphicFramePr>
        <p:xfrm>
          <a:off x="5545138" y="917848"/>
          <a:ext cx="457200" cy="220662"/>
        </p:xfrm>
        <a:graphic>
          <a:graphicData uri="http://schemas.openxmlformats.org/presentationml/2006/ole">
            <mc:AlternateContent xmlns:mc="http://schemas.openxmlformats.org/markup-compatibility/2006">
              <mc:Choice xmlns:v="urn:schemas-microsoft-com:vml" Requires="v">
                <p:oleObj spid="_x0000_s38947" name="位图图像" r:id="rId10" imgW="295238" imgH="190426" progId="PBrush">
                  <p:embed/>
                </p:oleObj>
              </mc:Choice>
              <mc:Fallback>
                <p:oleObj name="位图图像" r:id="rId10" imgW="295238" imgH="190426" progId="PBrush">
                  <p:embed/>
                  <p:pic>
                    <p:nvPicPr>
                      <p:cNvPr id="5" name="对象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545138" y="917848"/>
                        <a:ext cx="457200" cy="220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对象 5"/>
          <p:cNvGraphicFramePr>
            <a:graphicFrameLocks noChangeAspect="1"/>
          </p:cNvGraphicFramePr>
          <p:nvPr>
            <p:extLst>
              <p:ext uri="{D42A27DB-BD31-4B8C-83A1-F6EECF244321}">
                <p14:modId xmlns:p14="http://schemas.microsoft.com/office/powerpoint/2010/main" val="4137270900"/>
              </p:ext>
            </p:extLst>
          </p:nvPr>
        </p:nvGraphicFramePr>
        <p:xfrm>
          <a:off x="4608513" y="244748"/>
          <a:ext cx="381000" cy="271462"/>
        </p:xfrm>
        <a:graphic>
          <a:graphicData uri="http://schemas.openxmlformats.org/presentationml/2006/ole">
            <mc:AlternateContent xmlns:mc="http://schemas.openxmlformats.org/markup-compatibility/2006">
              <mc:Choice xmlns:v="urn:schemas-microsoft-com:vml" Requires="v">
                <p:oleObj spid="_x0000_s38948" name="位图图像" r:id="rId12" imgW="190426" imgH="209524" progId="PBrush">
                  <p:embed/>
                </p:oleObj>
              </mc:Choice>
              <mc:Fallback>
                <p:oleObj name="位图图像" r:id="rId12" imgW="190426" imgH="209524" progId="PBrush">
                  <p:embed/>
                  <p:pic>
                    <p:nvPicPr>
                      <p:cNvPr id="6" name="对象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08513" y="244748"/>
                        <a:ext cx="381000" cy="271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 name="对象 6"/>
          <p:cNvGraphicFramePr>
            <a:graphicFrameLocks noChangeAspect="1"/>
          </p:cNvGraphicFramePr>
          <p:nvPr>
            <p:extLst>
              <p:ext uri="{D42A27DB-BD31-4B8C-83A1-F6EECF244321}">
                <p14:modId xmlns:p14="http://schemas.microsoft.com/office/powerpoint/2010/main" val="3895865105"/>
              </p:ext>
            </p:extLst>
          </p:nvPr>
        </p:nvGraphicFramePr>
        <p:xfrm>
          <a:off x="6853238" y="209823"/>
          <a:ext cx="347662" cy="342900"/>
        </p:xfrm>
        <a:graphic>
          <a:graphicData uri="http://schemas.openxmlformats.org/presentationml/2006/ole">
            <mc:AlternateContent xmlns:mc="http://schemas.openxmlformats.org/markup-compatibility/2006">
              <mc:Choice xmlns:v="urn:schemas-microsoft-com:vml" Requires="v">
                <p:oleObj spid="_x0000_s38949" name="位图图像" r:id="rId13" imgW="181096" imgH="237969" progId="PBrush">
                  <p:embed/>
                </p:oleObj>
              </mc:Choice>
              <mc:Fallback>
                <p:oleObj name="位图图像" r:id="rId13" imgW="181096" imgH="237969" progId="PBrush">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3238" y="209823"/>
                        <a:ext cx="347662"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26401117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5612"/>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256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12" grpId="0" animBg="1" autoUpdateAnimBg="0"/>
      <p:bldP spid="25613" grpId="0" animBg="1" autoUpdateAnimBg="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Grp="1" noChangeArrowheads="1"/>
          </p:cNvSpPr>
          <p:nvPr>
            <p:ph type="title"/>
          </p:nvPr>
        </p:nvSpPr>
        <p:spPr>
          <a:xfrm>
            <a:off x="685800" y="0"/>
            <a:ext cx="7772400" cy="127000"/>
          </a:xfrm>
        </p:spPr>
        <p:txBody>
          <a:bodyPr>
            <a:noAutofit/>
          </a:bodyPr>
          <a:lstStyle/>
          <a:p>
            <a:pPr eaLnBrk="1" hangingPunct="1"/>
            <a:endParaRPr lang="zh-CN" altLang="zh-CN" sz="2000">
              <a:latin typeface="宋体" panose="02010600030101010101" pitchFamily="2" charset="-122"/>
              <a:ea typeface="宋体" panose="02010600030101010101" pitchFamily="2" charset="-122"/>
            </a:endParaRPr>
          </a:p>
        </p:txBody>
      </p:sp>
      <p:sp>
        <p:nvSpPr>
          <p:cNvPr id="11271" name="Rectangle 3"/>
          <p:cNvSpPr>
            <a:spLocks noGrp="1" noChangeArrowheads="1"/>
          </p:cNvSpPr>
          <p:nvPr>
            <p:ph type="body" idx="1"/>
          </p:nvPr>
        </p:nvSpPr>
        <p:spPr>
          <a:xfrm>
            <a:off x="636588" y="72008"/>
            <a:ext cx="8027987" cy="5020022"/>
          </a:xfrm>
          <a:solidFill>
            <a:schemeClr val="bg1"/>
          </a:solidFill>
          <a:ln w="28575">
            <a:solidFill>
              <a:srgbClr val="0000FF"/>
            </a:solidFill>
          </a:ln>
        </p:spPr>
        <p:txBody>
          <a:bodyPr>
            <a:noAutofit/>
          </a:bodyPr>
          <a:lstStyle/>
          <a:p>
            <a:pPr marL="0"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top=1;s[top] = ‘#’;</a:t>
            </a:r>
          </a:p>
          <a:p>
            <a:pPr marL="0"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a = </a:t>
            </a:r>
            <a:r>
              <a:rPr lang="zh-CN" altLang="en-US" sz="2000" b="1" dirty="0">
                <a:latin typeface="宋体" panose="02010600030101010101" pitchFamily="2" charset="-122"/>
                <a:ea typeface="宋体" panose="02010600030101010101" pitchFamily="2" charset="-122"/>
              </a:rPr>
              <a:t>下一个输入符号</a:t>
            </a:r>
            <a:r>
              <a:rPr lang="en-US" altLang="zh-CN" sz="2000" b="1" dirty="0">
                <a:latin typeface="宋体" panose="02010600030101010101" pitchFamily="2" charset="-122"/>
                <a:ea typeface="宋体" panose="02010600030101010101" pitchFamily="2" charset="-122"/>
              </a:rPr>
              <a:t>;</a:t>
            </a:r>
          </a:p>
          <a:p>
            <a:pPr marL="0"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do</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if s[top] ∈</a:t>
            </a:r>
            <a:r>
              <a:rPr lang="en-US" altLang="zh-CN" sz="2000" b="1" dirty="0" err="1">
                <a:latin typeface="宋体" panose="02010600030101010101" pitchFamily="2" charset="-122"/>
                <a:ea typeface="宋体" panose="02010600030101010101" pitchFamily="2" charset="-122"/>
              </a:rPr>
              <a:t>Vt</a:t>
            </a:r>
            <a:r>
              <a:rPr lang="en-US" altLang="zh-CN" sz="2000" b="1" dirty="0">
                <a:latin typeface="宋体" panose="02010600030101010101" pitchFamily="2" charset="-122"/>
                <a:ea typeface="宋体" panose="02010600030101010101" pitchFamily="2" charset="-122"/>
              </a:rPr>
              <a:t>  THEN  j=top ELSE j=top-1;</a:t>
            </a:r>
          </a:p>
          <a:p>
            <a:pPr marL="114300" lvl="1" indent="0">
              <a:lnSpc>
                <a:spcPct val="85000"/>
              </a:lnSpc>
              <a:spcBef>
                <a:spcPct val="0"/>
              </a:spcBef>
              <a:buNone/>
              <a:defRPr/>
            </a:pPr>
            <a:r>
              <a:rPr lang="en-US" altLang="zh-CN" sz="2000" b="1" dirty="0">
                <a:latin typeface="宋体" panose="02010600030101010101" pitchFamily="2" charset="-122"/>
                <a:ea typeface="宋体" panose="02010600030101010101" pitchFamily="2" charset="-122"/>
              </a:rPr>
              <a:t>    while (s[j]  &gt;  a) { </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          do</a:t>
            </a:r>
            <a:r>
              <a:rPr lang="en-US" altLang="zh-CN" sz="2000" b="1" dirty="0">
                <a:solidFill>
                  <a:srgbClr val="0000FF"/>
                </a:solidFill>
                <a:latin typeface="宋体" panose="02010600030101010101" pitchFamily="2" charset="-122"/>
                <a:ea typeface="宋体" panose="02010600030101010101" pitchFamily="2" charset="-122"/>
              </a:rPr>
              <a:t>{</a:t>
            </a:r>
          </a:p>
          <a:p>
            <a:pPr marL="114300" lvl="1" indent="0" eaLnBrk="1" hangingPunct="1">
              <a:lnSpc>
                <a:spcPct val="85000"/>
              </a:lnSpc>
              <a:spcBef>
                <a:spcPct val="0"/>
              </a:spcBef>
              <a:buFontTx/>
              <a:buNone/>
              <a:defRPr/>
            </a:pPr>
            <a:r>
              <a:rPr lang="en-US" altLang="zh-CN" sz="2000" b="1" dirty="0">
                <a:solidFill>
                  <a:srgbClr val="0000FF"/>
                </a:solidFill>
                <a:latin typeface="宋体" panose="02010600030101010101" pitchFamily="2" charset="-122"/>
                <a:ea typeface="宋体" panose="02010600030101010101" pitchFamily="2" charset="-122"/>
              </a:rPr>
              <a:t>		  q=s[j];</a:t>
            </a:r>
          </a:p>
          <a:p>
            <a:pPr marL="114300" lvl="1" indent="0" eaLnBrk="1" hangingPunct="1">
              <a:lnSpc>
                <a:spcPct val="85000"/>
              </a:lnSpc>
              <a:spcBef>
                <a:spcPct val="0"/>
              </a:spcBef>
              <a:buFontTx/>
              <a:buNone/>
              <a:defRPr/>
            </a:pPr>
            <a:r>
              <a:rPr lang="en-US" altLang="zh-CN" sz="2000" b="1" dirty="0">
                <a:solidFill>
                  <a:srgbClr val="0000FF"/>
                </a:solidFill>
                <a:latin typeface="宋体" panose="02010600030101010101" pitchFamily="2" charset="-122"/>
                <a:ea typeface="宋体" panose="02010600030101010101" pitchFamily="2" charset="-122"/>
              </a:rPr>
              <a:t>		  IF s[j-1] ∈</a:t>
            </a:r>
            <a:r>
              <a:rPr lang="en-US" altLang="zh-CN" sz="2000" b="1" dirty="0" err="1">
                <a:solidFill>
                  <a:srgbClr val="0000FF"/>
                </a:solidFill>
                <a:latin typeface="宋体" panose="02010600030101010101" pitchFamily="2" charset="-122"/>
                <a:ea typeface="宋体" panose="02010600030101010101" pitchFamily="2" charset="-122"/>
              </a:rPr>
              <a:t>Vt</a:t>
            </a:r>
            <a:r>
              <a:rPr lang="en-US" altLang="zh-CN" sz="2000" b="1" dirty="0">
                <a:solidFill>
                  <a:srgbClr val="0000FF"/>
                </a:solidFill>
                <a:latin typeface="宋体" panose="02010600030101010101" pitchFamily="2" charset="-122"/>
                <a:ea typeface="宋体" panose="02010600030101010101" pitchFamily="2" charset="-122"/>
              </a:rPr>
              <a:t> THEN j=j-1 else j=j-2;</a:t>
            </a:r>
          </a:p>
          <a:p>
            <a:pPr marL="114300" lvl="1" indent="0" eaLnBrk="1" hangingPunct="1">
              <a:lnSpc>
                <a:spcPct val="85000"/>
              </a:lnSpc>
              <a:spcBef>
                <a:spcPct val="0"/>
              </a:spcBef>
              <a:buFontTx/>
              <a:buNone/>
              <a:defRPr/>
            </a:pPr>
            <a:r>
              <a:rPr lang="en-US" altLang="zh-CN" sz="2000" b="1" dirty="0">
                <a:solidFill>
                  <a:srgbClr val="0000FF"/>
                </a:solidFill>
                <a:latin typeface="宋体" panose="02010600030101010101" pitchFamily="2" charset="-122"/>
                <a:ea typeface="宋体" panose="02010600030101010101" pitchFamily="2" charset="-122"/>
              </a:rPr>
              <a:t>	    } while( s[j]  &lt;  q);</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	    </a:t>
            </a:r>
            <a:r>
              <a:rPr lang="zh-CN" altLang="en-US" sz="2000" b="1" dirty="0">
                <a:latin typeface="宋体" panose="02010600030101010101" pitchFamily="2" charset="-122"/>
                <a:ea typeface="宋体" panose="02010600030101010101" pitchFamily="2" charset="-122"/>
              </a:rPr>
              <a:t>把</a:t>
            </a:r>
            <a:r>
              <a:rPr lang="en-US" altLang="zh-CN" sz="2000" b="1" dirty="0">
                <a:latin typeface="宋体" panose="02010600030101010101" pitchFamily="2" charset="-122"/>
                <a:ea typeface="宋体" panose="02010600030101010101" pitchFamily="2" charset="-122"/>
              </a:rPr>
              <a:t>s[j+1]…s[top]</a:t>
            </a:r>
            <a:r>
              <a:rPr lang="zh-CN" altLang="en-US" sz="2000" b="1" dirty="0">
                <a:latin typeface="宋体" panose="02010600030101010101" pitchFamily="2" charset="-122"/>
                <a:ea typeface="宋体" panose="02010600030101010101" pitchFamily="2" charset="-122"/>
              </a:rPr>
              <a:t>归约为某个</a:t>
            </a:r>
            <a:r>
              <a:rPr lang="en-US" altLang="zh-CN" sz="2000" b="1" dirty="0">
                <a:latin typeface="宋体" panose="02010600030101010101" pitchFamily="2" charset="-122"/>
                <a:ea typeface="宋体" panose="02010600030101010101" pitchFamily="2" charset="-122"/>
              </a:rPr>
              <a:t>N</a:t>
            </a:r>
            <a:r>
              <a:rPr lang="zh-CN" altLang="en-US" sz="2000" b="1" dirty="0">
                <a:latin typeface="宋体" panose="02010600030101010101" pitchFamily="2" charset="-122"/>
                <a:ea typeface="宋体" panose="02010600030101010101" pitchFamily="2" charset="-122"/>
              </a:rPr>
              <a:t>，将</a:t>
            </a:r>
            <a:r>
              <a:rPr lang="en-US" altLang="zh-CN" sz="2000" b="1" dirty="0">
                <a:latin typeface="宋体" panose="02010600030101010101" pitchFamily="2" charset="-122"/>
                <a:ea typeface="宋体" panose="02010600030101010101" pitchFamily="2" charset="-122"/>
              </a:rPr>
              <a:t>N</a:t>
            </a:r>
            <a:r>
              <a:rPr lang="zh-CN" altLang="en-US" sz="2000" b="1" dirty="0">
                <a:latin typeface="宋体" panose="02010600030101010101" pitchFamily="2" charset="-122"/>
                <a:ea typeface="宋体" panose="02010600030101010101" pitchFamily="2" charset="-122"/>
              </a:rPr>
              <a:t>入栈；</a:t>
            </a:r>
          </a:p>
          <a:p>
            <a:pPr marL="114300" lvl="1" indent="0" eaLnBrk="1" hangingPunct="1">
              <a:lnSpc>
                <a:spcPct val="85000"/>
              </a:lnSpc>
              <a:spcBef>
                <a:spcPct val="0"/>
              </a:spcBef>
              <a:buFontTx/>
              <a:buNone/>
              <a:defRPr/>
            </a:pPr>
            <a:r>
              <a:rPr lang="zh-CN" altLang="en-US" sz="2000" b="1" dirty="0">
                <a:latin typeface="宋体" panose="02010600030101010101" pitchFamily="2" charset="-122"/>
                <a:ea typeface="宋体" panose="02010600030101010101" pitchFamily="2" charset="-122"/>
              </a:rPr>
              <a:t>	    </a:t>
            </a:r>
            <a:r>
              <a:rPr lang="en-US" altLang="zh-CN" sz="2000" b="1" dirty="0">
                <a:latin typeface="宋体" panose="02010600030101010101" pitchFamily="2" charset="-122"/>
                <a:ea typeface="宋体" panose="02010600030101010101" pitchFamily="2" charset="-122"/>
              </a:rPr>
              <a:t>top=j+1;</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	}</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    </a:t>
            </a:r>
            <a:r>
              <a:rPr lang="en-US" altLang="zh-CN" sz="2000" b="1" dirty="0">
                <a:solidFill>
                  <a:srgbClr val="003399"/>
                </a:solidFill>
                <a:latin typeface="宋体" panose="02010600030101010101" pitchFamily="2" charset="-122"/>
                <a:ea typeface="宋体" panose="02010600030101010101" pitchFamily="2" charset="-122"/>
              </a:rPr>
              <a:t>if (s[j]  &lt; a) || (s[j]  =  a) {</a:t>
            </a:r>
          </a:p>
          <a:p>
            <a:pPr marL="114300" lvl="1" indent="0" eaLnBrk="1" hangingPunct="1">
              <a:lnSpc>
                <a:spcPct val="85000"/>
              </a:lnSpc>
              <a:spcBef>
                <a:spcPct val="0"/>
              </a:spcBef>
              <a:buFontTx/>
              <a:buNone/>
              <a:defRPr/>
            </a:pPr>
            <a:r>
              <a:rPr lang="en-US" altLang="zh-CN" sz="2000" b="1" dirty="0">
                <a:solidFill>
                  <a:srgbClr val="003399"/>
                </a:solidFill>
                <a:latin typeface="宋体" panose="02010600030101010101" pitchFamily="2" charset="-122"/>
                <a:ea typeface="宋体" panose="02010600030101010101" pitchFamily="2" charset="-122"/>
              </a:rPr>
              <a:t>	 top=top+1;  </a:t>
            </a:r>
          </a:p>
          <a:p>
            <a:pPr marL="114300" lvl="1" indent="0" eaLnBrk="1" hangingPunct="1">
              <a:lnSpc>
                <a:spcPct val="85000"/>
              </a:lnSpc>
              <a:spcBef>
                <a:spcPct val="0"/>
              </a:spcBef>
              <a:buFontTx/>
              <a:buNone/>
              <a:defRPr/>
            </a:pPr>
            <a:r>
              <a:rPr lang="en-US" altLang="zh-CN" sz="2000" b="1" dirty="0">
                <a:solidFill>
                  <a:srgbClr val="003399"/>
                </a:solidFill>
                <a:latin typeface="宋体" panose="02010600030101010101" pitchFamily="2" charset="-122"/>
                <a:ea typeface="宋体" panose="02010600030101010101" pitchFamily="2" charset="-122"/>
              </a:rPr>
              <a:t>        s[top]=a; </a:t>
            </a:r>
          </a:p>
          <a:p>
            <a:pPr marL="114300" lvl="1" indent="0" eaLnBrk="1" hangingPunct="1">
              <a:lnSpc>
                <a:spcPct val="85000"/>
              </a:lnSpc>
              <a:spcBef>
                <a:spcPct val="0"/>
              </a:spcBef>
              <a:buFontTx/>
              <a:buNone/>
              <a:defRPr/>
            </a:pPr>
            <a:r>
              <a:rPr lang="en-US" altLang="zh-CN" sz="2000" b="1" dirty="0">
                <a:solidFill>
                  <a:srgbClr val="003399"/>
                </a:solidFill>
                <a:latin typeface="宋体" panose="02010600030101010101" pitchFamily="2" charset="-122"/>
                <a:ea typeface="宋体" panose="02010600030101010101" pitchFamily="2" charset="-122"/>
              </a:rPr>
              <a:t>      }</a:t>
            </a:r>
          </a:p>
          <a:p>
            <a:pPr marL="114300" lvl="1" indent="0" eaLnBrk="1" hangingPunct="1">
              <a:lnSpc>
                <a:spcPct val="85000"/>
              </a:lnSpc>
              <a:spcBef>
                <a:spcPct val="0"/>
              </a:spcBef>
              <a:buFontTx/>
              <a:buNone/>
              <a:defRPr/>
            </a:pPr>
            <a:r>
              <a:rPr lang="en-US" altLang="zh-CN" sz="2000" b="1" dirty="0">
                <a:solidFill>
                  <a:srgbClr val="003399"/>
                </a:solidFill>
                <a:latin typeface="宋体" panose="02010600030101010101" pitchFamily="2" charset="-122"/>
                <a:ea typeface="宋体" panose="02010600030101010101" pitchFamily="2" charset="-122"/>
              </a:rPr>
              <a:t>    else  error;</a:t>
            </a:r>
          </a:p>
          <a:p>
            <a:pPr marL="11430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    a = </a:t>
            </a:r>
            <a:r>
              <a:rPr lang="zh-CN" altLang="en-US" sz="2000" b="1" dirty="0">
                <a:latin typeface="宋体" panose="02010600030101010101" pitchFamily="2" charset="-122"/>
                <a:ea typeface="宋体" panose="02010600030101010101" pitchFamily="2" charset="-122"/>
              </a:rPr>
              <a:t>下一个输入符号</a:t>
            </a:r>
            <a:r>
              <a:rPr lang="en-US" altLang="zh-CN" sz="2000" b="1" dirty="0">
                <a:latin typeface="宋体" panose="02010600030101010101" pitchFamily="2" charset="-122"/>
                <a:ea typeface="宋体" panose="02010600030101010101" pitchFamily="2" charset="-122"/>
              </a:rPr>
              <a:t>;</a:t>
            </a:r>
          </a:p>
          <a:p>
            <a:pPr marL="0" lvl="1" indent="0" eaLnBrk="1" hangingPunct="1">
              <a:lnSpc>
                <a:spcPct val="85000"/>
              </a:lnSpc>
              <a:spcBef>
                <a:spcPct val="0"/>
              </a:spcBef>
              <a:buFontTx/>
              <a:buNone/>
              <a:defRPr/>
            </a:pPr>
            <a:r>
              <a:rPr lang="en-US" altLang="zh-CN" sz="2000" b="1" dirty="0">
                <a:latin typeface="宋体" panose="02010600030101010101" pitchFamily="2" charset="-122"/>
                <a:ea typeface="宋体" panose="02010600030101010101" pitchFamily="2" charset="-122"/>
              </a:rPr>
              <a:t>while (a!=‘#’) ;</a:t>
            </a:r>
          </a:p>
        </p:txBody>
      </p:sp>
      <p:graphicFrame>
        <p:nvGraphicFramePr>
          <p:cNvPr id="168974" name="Object 5"/>
          <p:cNvGraphicFramePr>
            <a:graphicFrameLocks noChangeAspect="1"/>
          </p:cNvGraphicFramePr>
          <p:nvPr>
            <p:extLst>
              <p:ext uri="{D42A27DB-BD31-4B8C-83A1-F6EECF244321}">
                <p14:modId xmlns:p14="http://schemas.microsoft.com/office/powerpoint/2010/main" val="773437298"/>
              </p:ext>
            </p:extLst>
          </p:nvPr>
        </p:nvGraphicFramePr>
        <p:xfrm>
          <a:off x="2915816" y="1135145"/>
          <a:ext cx="347662" cy="343010"/>
        </p:xfrm>
        <a:graphic>
          <a:graphicData uri="http://schemas.openxmlformats.org/presentationml/2006/ole">
            <mc:AlternateContent xmlns:mc="http://schemas.openxmlformats.org/markup-compatibility/2006">
              <mc:Choice xmlns:v="urn:schemas-microsoft-com:vml" Requires="v">
                <p:oleObj spid="_x0000_s39963" name="位图图像" r:id="rId4" imgW="181096" imgH="237969" progId="Paint.Picture">
                  <p:embed/>
                </p:oleObj>
              </mc:Choice>
              <mc:Fallback>
                <p:oleObj name="位图图像" r:id="rId4" imgW="181096" imgH="237969" progId="Paint.Picture">
                  <p:embed/>
                  <p:pic>
                    <p:nvPicPr>
                      <p:cNvPr id="168974"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15816" y="1135145"/>
                        <a:ext cx="347662" cy="3430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8975" name="Object 6"/>
          <p:cNvGraphicFramePr>
            <a:graphicFrameLocks noChangeAspect="1"/>
          </p:cNvGraphicFramePr>
          <p:nvPr>
            <p:extLst>
              <p:ext uri="{D42A27DB-BD31-4B8C-83A1-F6EECF244321}">
                <p14:modId xmlns:p14="http://schemas.microsoft.com/office/powerpoint/2010/main" val="950016077"/>
              </p:ext>
            </p:extLst>
          </p:nvPr>
        </p:nvGraphicFramePr>
        <p:xfrm>
          <a:off x="2462808" y="3164297"/>
          <a:ext cx="381000" cy="271549"/>
        </p:xfrm>
        <a:graphic>
          <a:graphicData uri="http://schemas.openxmlformats.org/presentationml/2006/ole">
            <mc:AlternateContent xmlns:mc="http://schemas.openxmlformats.org/markup-compatibility/2006">
              <mc:Choice xmlns:v="urn:schemas-microsoft-com:vml" Requires="v">
                <p:oleObj spid="_x0000_s39964" name="位图图像" r:id="rId6" imgW="190426" imgH="209524" progId="Paint.Picture">
                  <p:embed/>
                </p:oleObj>
              </mc:Choice>
              <mc:Fallback>
                <p:oleObj name="位图图像" r:id="rId6" imgW="190426" imgH="209524" progId="Paint.Picture">
                  <p:embed/>
                  <p:pic>
                    <p:nvPicPr>
                      <p:cNvPr id="168975"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62808" y="3164297"/>
                        <a:ext cx="381000" cy="271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8976" name="Object 8"/>
          <p:cNvGraphicFramePr>
            <a:graphicFrameLocks noChangeAspect="1"/>
          </p:cNvGraphicFramePr>
          <p:nvPr>
            <p:extLst>
              <p:ext uri="{D42A27DB-BD31-4B8C-83A1-F6EECF244321}">
                <p14:modId xmlns:p14="http://schemas.microsoft.com/office/powerpoint/2010/main" val="1422129164"/>
              </p:ext>
            </p:extLst>
          </p:nvPr>
        </p:nvGraphicFramePr>
        <p:xfrm>
          <a:off x="4427984" y="3224733"/>
          <a:ext cx="457200" cy="221527"/>
        </p:xfrm>
        <a:graphic>
          <a:graphicData uri="http://schemas.openxmlformats.org/presentationml/2006/ole">
            <mc:AlternateContent xmlns:mc="http://schemas.openxmlformats.org/markup-compatibility/2006">
              <mc:Choice xmlns:v="urn:schemas-microsoft-com:vml" Requires="v">
                <p:oleObj spid="_x0000_s39965" name="位图图像" r:id="rId8" imgW="295238" imgH="190426" progId="PBrush">
                  <p:embed/>
                </p:oleObj>
              </mc:Choice>
              <mc:Fallback>
                <p:oleObj name="位图图像" r:id="rId8" imgW="295238" imgH="190426" progId="PBrush">
                  <p:embed/>
                  <p:pic>
                    <p:nvPicPr>
                      <p:cNvPr id="168976"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7984" y="3224733"/>
                        <a:ext cx="457200" cy="221527"/>
                      </a:xfrm>
                      <a:prstGeom prst="rect">
                        <a:avLst/>
                      </a:prstGeom>
                      <a:noFill/>
                      <a:ln>
                        <a:noFill/>
                      </a:ln>
                      <a:effectLst/>
                    </p:spPr>
                  </p:pic>
                </p:oleObj>
              </mc:Fallback>
            </mc:AlternateContent>
          </a:graphicData>
        </a:graphic>
      </p:graphicFrame>
      <p:sp>
        <p:nvSpPr>
          <p:cNvPr id="115725" name="AutoShape 13"/>
          <p:cNvSpPr>
            <a:spLocks noChangeArrowheads="1"/>
          </p:cNvSpPr>
          <p:nvPr/>
        </p:nvSpPr>
        <p:spPr bwMode="auto">
          <a:xfrm>
            <a:off x="6147594" y="1103313"/>
            <a:ext cx="3001962" cy="749685"/>
          </a:xfrm>
          <a:prstGeom prst="wedgeRectCallout">
            <a:avLst>
              <a:gd name="adj1" fmla="val -112585"/>
              <a:gd name="adj2" fmla="val -4312"/>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a:latin typeface="宋体" panose="02010600030101010101" pitchFamily="2" charset="-122"/>
              </a:rPr>
              <a:t>栈顶符号</a:t>
            </a:r>
            <a:r>
              <a:rPr lang="en-US" altLang="zh-CN" sz="2000">
                <a:latin typeface="宋体" panose="02010600030101010101" pitchFamily="2" charset="-122"/>
              </a:rPr>
              <a:t>s[j]</a:t>
            </a:r>
            <a:r>
              <a:rPr lang="zh-CN" altLang="en-US" sz="2000">
                <a:latin typeface="宋体" panose="02010600030101010101" pitchFamily="2" charset="-122"/>
              </a:rPr>
              <a:t>与即将输入的符号</a:t>
            </a:r>
            <a:r>
              <a:rPr lang="en-US" altLang="zh-CN" sz="2000">
                <a:latin typeface="宋体" panose="02010600030101010101" pitchFamily="2" charset="-122"/>
              </a:rPr>
              <a:t>a</a:t>
            </a:r>
            <a:r>
              <a:rPr lang="zh-CN" altLang="en-US" sz="2000">
                <a:latin typeface="宋体" panose="02010600030101010101" pitchFamily="2" charset="-122"/>
              </a:rPr>
              <a:t>进行比较</a:t>
            </a:r>
          </a:p>
        </p:txBody>
      </p:sp>
      <p:sp>
        <p:nvSpPr>
          <p:cNvPr id="115726" name="AutoShape 14"/>
          <p:cNvSpPr>
            <a:spLocks noChangeArrowheads="1"/>
          </p:cNvSpPr>
          <p:nvPr/>
        </p:nvSpPr>
        <p:spPr bwMode="auto">
          <a:xfrm>
            <a:off x="6461551" y="3939902"/>
            <a:ext cx="2612776" cy="993775"/>
          </a:xfrm>
          <a:prstGeom prst="wedgeRectCallout">
            <a:avLst>
              <a:gd name="adj1" fmla="val -100801"/>
              <a:gd name="adj2" fmla="val -27151"/>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latin typeface="宋体" panose="02010600030101010101" pitchFamily="2" charset="-122"/>
              </a:rPr>
              <a:t>栈顶符号优先性低于或等于输入符号</a:t>
            </a:r>
            <a:r>
              <a:rPr lang="en-US" altLang="zh-CN" sz="2000" dirty="0">
                <a:latin typeface="宋体" panose="02010600030101010101" pitchFamily="2" charset="-122"/>
              </a:rPr>
              <a:t>a</a:t>
            </a:r>
            <a:r>
              <a:rPr lang="zh-CN" altLang="en-US" sz="2000" dirty="0">
                <a:latin typeface="宋体" panose="02010600030101010101" pitchFamily="2" charset="-122"/>
              </a:rPr>
              <a:t>，则移进</a:t>
            </a:r>
            <a:r>
              <a:rPr lang="en-US" altLang="zh-CN" sz="2000" dirty="0">
                <a:latin typeface="宋体" panose="02010600030101010101" pitchFamily="2" charset="-122"/>
              </a:rPr>
              <a:t>a</a:t>
            </a:r>
          </a:p>
        </p:txBody>
      </p:sp>
      <p:sp>
        <p:nvSpPr>
          <p:cNvPr id="115728" name="AutoShape 16"/>
          <p:cNvSpPr>
            <a:spLocks noChangeArrowheads="1"/>
          </p:cNvSpPr>
          <p:nvPr/>
        </p:nvSpPr>
        <p:spPr bwMode="auto">
          <a:xfrm>
            <a:off x="5467350" y="1103313"/>
            <a:ext cx="2980814" cy="748357"/>
          </a:xfrm>
          <a:prstGeom prst="wedgeRectCallout">
            <a:avLst>
              <a:gd name="adj1" fmla="val -104465"/>
              <a:gd name="adj2" fmla="val 62543"/>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latin typeface="宋体" panose="02010600030101010101" pitchFamily="2" charset="-122"/>
              </a:rPr>
              <a:t>向前查找最左素短语的头， </a:t>
            </a:r>
            <a:r>
              <a:rPr lang="en-US" altLang="zh-CN" sz="2000" dirty="0">
                <a:latin typeface="宋体" panose="02010600030101010101" pitchFamily="2" charset="-122"/>
              </a:rPr>
              <a:t>j</a:t>
            </a:r>
            <a:r>
              <a:rPr lang="zh-CN" altLang="en-US" sz="2000" dirty="0">
                <a:latin typeface="宋体" panose="02010600030101010101" pitchFamily="2" charset="-122"/>
              </a:rPr>
              <a:t>记录可归约串的头</a:t>
            </a:r>
          </a:p>
        </p:txBody>
      </p:sp>
      <p:sp>
        <p:nvSpPr>
          <p:cNvPr id="115731" name="AutoShape 19"/>
          <p:cNvSpPr>
            <a:spLocks noChangeArrowheads="1"/>
          </p:cNvSpPr>
          <p:nvPr/>
        </p:nvSpPr>
        <p:spPr bwMode="auto">
          <a:xfrm>
            <a:off x="7778750" y="3141822"/>
            <a:ext cx="1274514" cy="387350"/>
          </a:xfrm>
          <a:prstGeom prst="wedgeRectCallout">
            <a:avLst>
              <a:gd name="adj1" fmla="val -148141"/>
              <a:gd name="adj2" fmla="val -49412"/>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a:latin typeface="宋体" panose="02010600030101010101" pitchFamily="2" charset="-122"/>
              </a:rPr>
              <a:t>进行归约</a:t>
            </a:r>
          </a:p>
        </p:txBody>
      </p:sp>
      <p:sp>
        <p:nvSpPr>
          <p:cNvPr id="115733" name="AutoShape 21"/>
          <p:cNvSpPr>
            <a:spLocks noChangeArrowheads="1"/>
          </p:cNvSpPr>
          <p:nvPr/>
        </p:nvSpPr>
        <p:spPr bwMode="auto">
          <a:xfrm>
            <a:off x="3933825" y="0"/>
            <a:ext cx="4427538" cy="687388"/>
          </a:xfrm>
          <a:prstGeom prst="wedgeRectCallout">
            <a:avLst>
              <a:gd name="adj1" fmla="val -30028"/>
              <a:gd name="adj2" fmla="val -26255"/>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dirty="0">
                <a:latin typeface="宋体" panose="02010600030101010101" pitchFamily="2" charset="-122"/>
              </a:rPr>
              <a:t>S</a:t>
            </a:r>
            <a:r>
              <a:rPr lang="zh-CN" altLang="en-US" sz="2000" dirty="0">
                <a:latin typeface="宋体" panose="02010600030101010101" pitchFamily="2" charset="-122"/>
              </a:rPr>
              <a:t>表示堆栈，</a:t>
            </a:r>
            <a:r>
              <a:rPr lang="en-US" altLang="zh-CN" sz="2000" dirty="0">
                <a:latin typeface="宋体" panose="02010600030101010101" pitchFamily="2" charset="-122"/>
              </a:rPr>
              <a:t>top</a:t>
            </a:r>
            <a:r>
              <a:rPr lang="zh-CN" altLang="en-US" sz="2000" dirty="0">
                <a:latin typeface="宋体" panose="02010600030101010101" pitchFamily="2" charset="-122"/>
              </a:rPr>
              <a:t>记录栈顶位置，</a:t>
            </a:r>
            <a:r>
              <a:rPr lang="en-US" altLang="zh-CN" sz="2000" dirty="0">
                <a:latin typeface="宋体" panose="02010600030101010101" pitchFamily="2" charset="-122"/>
              </a:rPr>
              <a:t>j</a:t>
            </a:r>
            <a:r>
              <a:rPr lang="zh-CN" altLang="en-US" sz="2000" dirty="0">
                <a:latin typeface="宋体" panose="02010600030101010101" pitchFamily="2" charset="-122"/>
              </a:rPr>
              <a:t>记录栈顶终结符位置</a:t>
            </a:r>
          </a:p>
        </p:txBody>
      </p:sp>
      <p:grpSp>
        <p:nvGrpSpPr>
          <p:cNvPr id="3" name="Group 25"/>
          <p:cNvGrpSpPr>
            <a:grpSpLocks/>
          </p:cNvGrpSpPr>
          <p:nvPr/>
        </p:nvGrpSpPr>
        <p:grpSpPr bwMode="auto">
          <a:xfrm>
            <a:off x="0" y="1401763"/>
            <a:ext cx="1828800" cy="1740059"/>
            <a:chOff x="0" y="1321"/>
            <a:chExt cx="1152" cy="1872"/>
          </a:xfrm>
        </p:grpSpPr>
        <p:sp>
          <p:nvSpPr>
            <p:cNvPr id="168972" name="AutoShape 15"/>
            <p:cNvSpPr>
              <a:spLocks noChangeArrowheads="1"/>
            </p:cNvSpPr>
            <p:nvPr/>
          </p:nvSpPr>
          <p:spPr bwMode="auto">
            <a:xfrm>
              <a:off x="0" y="1321"/>
              <a:ext cx="872" cy="1700"/>
            </a:xfrm>
            <a:prstGeom prst="wedgeRectCallout">
              <a:avLst>
                <a:gd name="adj1" fmla="val 82796"/>
                <a:gd name="adj2" fmla="val -19704"/>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000" dirty="0">
                  <a:latin typeface="宋体" panose="02010600030101010101" pitchFamily="2" charset="-122"/>
                </a:rPr>
                <a:t>S[j]</a:t>
              </a:r>
              <a:r>
                <a:rPr lang="zh-CN" altLang="en-US" sz="2000" dirty="0">
                  <a:latin typeface="宋体" panose="02010600030101010101" pitchFamily="2" charset="-122"/>
                </a:rPr>
                <a:t>优先性高于</a:t>
              </a:r>
              <a:r>
                <a:rPr lang="en-US" altLang="zh-CN" sz="2000" dirty="0">
                  <a:latin typeface="宋体" panose="02010600030101010101" pitchFamily="2" charset="-122"/>
                </a:rPr>
                <a:t>a,</a:t>
              </a:r>
              <a:r>
                <a:rPr lang="zh-CN" altLang="en-US" sz="2000" dirty="0">
                  <a:latin typeface="宋体" panose="02010600030101010101" pitchFamily="2" charset="-122"/>
                </a:rPr>
                <a:t>寻找可归约串</a:t>
              </a:r>
              <a:r>
                <a:rPr lang="en-US" altLang="zh-CN" sz="2000" dirty="0">
                  <a:latin typeface="宋体" panose="02010600030101010101" pitchFamily="2" charset="-122"/>
                </a:rPr>
                <a:t>,</a:t>
              </a:r>
              <a:r>
                <a:rPr lang="zh-CN" altLang="en-US" sz="2000" dirty="0">
                  <a:latin typeface="宋体" panose="02010600030101010101" pitchFamily="2" charset="-122"/>
                </a:rPr>
                <a:t>进行归约</a:t>
              </a:r>
            </a:p>
          </p:txBody>
        </p:sp>
        <p:sp>
          <p:nvSpPr>
            <p:cNvPr id="168973" name="Line 23"/>
            <p:cNvSpPr>
              <a:spLocks noChangeShapeType="1"/>
            </p:cNvSpPr>
            <p:nvPr/>
          </p:nvSpPr>
          <p:spPr bwMode="auto">
            <a:xfrm>
              <a:off x="1152" y="1374"/>
              <a:ext cx="0" cy="1819"/>
            </a:xfrm>
            <a:prstGeom prst="line">
              <a:avLst/>
            </a:prstGeom>
            <a:ln>
              <a:headEnd/>
              <a:tailEnd/>
            </a:ln>
          </p:spPr>
          <p:style>
            <a:lnRef idx="2">
              <a:schemeClr val="accent3"/>
            </a:lnRef>
            <a:fillRef idx="1">
              <a:schemeClr val="lt1"/>
            </a:fillRef>
            <a:effectRef idx="0">
              <a:schemeClr val="accent3"/>
            </a:effectRef>
            <a:fontRef idx="minor">
              <a:schemeClr val="dk1"/>
            </a:fontRef>
          </p:style>
          <p:txBody>
            <a:bodyPr/>
            <a:lstStyle/>
            <a:p>
              <a:endParaRPr lang="zh-CN" altLang="en-US" sz="2000">
                <a:latin typeface="宋体" panose="02010600030101010101" pitchFamily="2" charset="-122"/>
                <a:ea typeface="宋体" panose="02010600030101010101" pitchFamily="2" charset="-122"/>
              </a:endParaRPr>
            </a:p>
          </p:txBody>
        </p:sp>
      </p:grpSp>
      <p:graphicFrame>
        <p:nvGraphicFramePr>
          <p:cNvPr id="2" name="对象 1"/>
          <p:cNvGraphicFramePr>
            <a:graphicFrameLocks noChangeAspect="1"/>
          </p:cNvGraphicFramePr>
          <p:nvPr>
            <p:extLst>
              <p:ext uri="{D42A27DB-BD31-4B8C-83A1-F6EECF244321}">
                <p14:modId xmlns:p14="http://schemas.microsoft.com/office/powerpoint/2010/main" val="4134181451"/>
              </p:ext>
            </p:extLst>
          </p:nvPr>
        </p:nvGraphicFramePr>
        <p:xfrm>
          <a:off x="3491557" y="-20538"/>
          <a:ext cx="5832971" cy="651357"/>
        </p:xfrm>
        <a:graphic>
          <a:graphicData uri="http://schemas.openxmlformats.org/presentationml/2006/ole">
            <mc:AlternateContent xmlns:mc="http://schemas.openxmlformats.org/markup-compatibility/2006">
              <mc:Choice xmlns:v="urn:schemas-microsoft-com:vml" Requires="v">
                <p:oleObj spid="_x0000_s39966" name="Visio" r:id="rId10" imgW="3229909" imgH="371520" progId="Visio.Drawing.11">
                  <p:embed/>
                </p:oleObj>
              </mc:Choice>
              <mc:Fallback>
                <p:oleObj name="Visio" r:id="rId10" imgW="3229909" imgH="371520" progId="Visio.Drawing.11">
                  <p:embed/>
                  <p:pic>
                    <p:nvPicPr>
                      <p:cNvPr id="2" name="对象 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91557" y="-20538"/>
                        <a:ext cx="5832971" cy="651357"/>
                      </a:xfrm>
                      <a:prstGeom prst="rect">
                        <a:avLst/>
                      </a:prstGeom>
                      <a:solidFill>
                        <a:srgbClr val="FFFF99"/>
                      </a:solidFill>
                      <a:ln>
                        <a:noFill/>
                      </a:ln>
                    </p:spPr>
                  </p:pic>
                </p:oleObj>
              </mc:Fallback>
            </mc:AlternateContent>
          </a:graphicData>
        </a:graphic>
      </p:graphicFrame>
      <p:graphicFrame>
        <p:nvGraphicFramePr>
          <p:cNvPr id="4" name="对象 3"/>
          <p:cNvGraphicFramePr>
            <a:graphicFrameLocks noChangeAspect="1"/>
          </p:cNvGraphicFramePr>
          <p:nvPr>
            <p:extLst>
              <p:ext uri="{D42A27DB-BD31-4B8C-83A1-F6EECF244321}">
                <p14:modId xmlns:p14="http://schemas.microsoft.com/office/powerpoint/2010/main" val="4230517152"/>
              </p:ext>
            </p:extLst>
          </p:nvPr>
        </p:nvGraphicFramePr>
        <p:xfrm>
          <a:off x="3963541" y="2194618"/>
          <a:ext cx="457200" cy="222250"/>
        </p:xfrm>
        <a:graphic>
          <a:graphicData uri="http://schemas.openxmlformats.org/presentationml/2006/ole">
            <mc:AlternateContent xmlns:mc="http://schemas.openxmlformats.org/markup-compatibility/2006">
              <mc:Choice xmlns:v="urn:schemas-microsoft-com:vml" Requires="v">
                <p:oleObj spid="_x0000_s39967" name="位图图像" r:id="rId12" imgW="295238" imgH="190426" progId="PBrush">
                  <p:embed/>
                </p:oleObj>
              </mc:Choice>
              <mc:Fallback>
                <p:oleObj name="位图图像" r:id="rId12" imgW="295238" imgH="190426" progId="PBrush">
                  <p:embed/>
                  <p:pic>
                    <p:nvPicPr>
                      <p:cNvPr id="4" name="对象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63541" y="2194618"/>
                        <a:ext cx="45720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99751772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5733"/>
                                        </p:tgtEl>
                                        <p:attrNameLst>
                                          <p:attrName>style.visibility</p:attrName>
                                        </p:attrNameLst>
                                      </p:cBhvr>
                                      <p:to>
                                        <p:strVal val="visible"/>
                                      </p:to>
                                    </p:set>
                                  </p:childTnLst>
                                  <p:subTnLst>
                                    <p:set>
                                      <p:cBhvr override="childStyle">
                                        <p:cTn dur="1" fill="hold" display="0" masterRel="nextClick" afterEffect="1"/>
                                        <p:tgtEl>
                                          <p:spTgt spid="115733"/>
                                        </p:tgtEl>
                                        <p:attrNameLst>
                                          <p:attrName>style.visibility</p:attrName>
                                        </p:attrNameLst>
                                      </p:cBhvr>
                                      <p:to>
                                        <p:strVal val="hidden"/>
                                      </p:to>
                                    </p:set>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15725"/>
                                        </p:tgtEl>
                                        <p:attrNameLst>
                                          <p:attrName>style.visibility</p:attrName>
                                        </p:attrNameLst>
                                      </p:cBhvr>
                                      <p:to>
                                        <p:strVal val="visible"/>
                                      </p:to>
                                    </p:set>
                                  </p:childTnLst>
                                  <p:subTnLst>
                                    <p:set>
                                      <p:cBhvr override="childStyle">
                                        <p:cTn dur="1" fill="hold" display="0" masterRel="nextClick" afterEffect="1"/>
                                        <p:tgtEl>
                                          <p:spTgt spid="11572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3"/>
                                        </p:tgtEl>
                                        <p:attrNameLst>
                                          <p:attrName>style.visibility</p:attrName>
                                        </p:attrNameLst>
                                      </p:cBhvr>
                                      <p:to>
                                        <p:strVal val="visible"/>
                                      </p:to>
                                    </p:set>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15728"/>
                                        </p:tgtEl>
                                        <p:attrNameLst>
                                          <p:attrName>style.visibility</p:attrName>
                                        </p:attrNameLst>
                                      </p:cBhvr>
                                      <p:to>
                                        <p:strVal val="visible"/>
                                      </p:to>
                                    </p:set>
                                  </p:childTnLst>
                                  <p:subTnLst>
                                    <p:set>
                                      <p:cBhvr override="childStyle">
                                        <p:cTn dur="1" fill="hold" display="0" masterRel="nextClick" afterEffect="1"/>
                                        <p:tgtEl>
                                          <p:spTgt spid="115728"/>
                                        </p:tgtEl>
                                        <p:attrNameLst>
                                          <p:attrName>style.visibility</p:attrName>
                                        </p:attrNameLst>
                                      </p:cBhvr>
                                      <p:to>
                                        <p:strVal val="hidden"/>
                                      </p:to>
                                    </p:set>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15731"/>
                                        </p:tgtEl>
                                        <p:attrNameLst>
                                          <p:attrName>style.visibility</p:attrName>
                                        </p:attrNameLst>
                                      </p:cBhvr>
                                      <p:to>
                                        <p:strVal val="visible"/>
                                      </p:to>
                                    </p:set>
                                  </p:childTnLst>
                                  <p:subTnLst>
                                    <p:set>
                                      <p:cBhvr override="childStyle">
                                        <p:cTn dur="1" fill="hold" display="0" masterRel="nextClick" afterEffect="1"/>
                                        <p:tgtEl>
                                          <p:spTgt spid="115731"/>
                                        </p:tgtEl>
                                        <p:attrNameLst>
                                          <p:attrName>style.visibility</p:attrName>
                                        </p:attrNameLst>
                                      </p:cBhvr>
                                      <p:to>
                                        <p:strVal val="hidden"/>
                                      </p:to>
                                    </p:set>
                                  </p:sub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115726"/>
                                        </p:tgtEl>
                                        <p:attrNameLst>
                                          <p:attrName>style.visibility</p:attrName>
                                        </p:attrNameLst>
                                      </p:cBhvr>
                                      <p:to>
                                        <p:strVal val="visible"/>
                                      </p:to>
                                    </p:set>
                                  </p:childTnLst>
                                  <p:subTnLst>
                                    <p:set>
                                      <p:cBhvr override="childStyle">
                                        <p:cTn dur="1" fill="hold" display="0" masterRel="nextClick" afterEffect="1"/>
                                        <p:tgtEl>
                                          <p:spTgt spid="11572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25" grpId="0" animBg="1" autoUpdateAnimBg="0"/>
      <p:bldP spid="115726" grpId="0" animBg="1" autoUpdateAnimBg="0"/>
      <p:bldP spid="115728" grpId="0" animBg="1" autoUpdateAnimBg="0"/>
      <p:bldP spid="115731" grpId="0" animBg="1" autoUpdateAnimBg="0"/>
      <p:bldP spid="115733" grpId="0" animBg="1" autoUpdateAnimBg="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9552" y="1923678"/>
            <a:ext cx="7772400" cy="1584176"/>
          </a:xfrm>
        </p:spPr>
        <p:txBody>
          <a:bodyPr>
            <a:normAutofit/>
          </a:bodyPr>
          <a:lstStyle/>
          <a:p>
            <a:pPr marL="0" indent="0">
              <a:buNone/>
            </a:pPr>
            <a:r>
              <a:rPr lang="zh-CN" altLang="en-US" sz="4400" b="1" dirty="0">
                <a:solidFill>
                  <a:srgbClr val="CC0099"/>
                </a:solidFill>
                <a:latin typeface="Times New Roman" pitchFamily="18" charset="0"/>
                <a:ea typeface="隶书" pitchFamily="49" charset="-122"/>
              </a:rPr>
              <a:t>实例：算符优先分析过程</a:t>
            </a:r>
            <a:endParaRPr lang="en-US" altLang="zh-CN" sz="4400" b="1" dirty="0">
              <a:solidFill>
                <a:srgbClr val="CC0099"/>
              </a:solidFill>
              <a:latin typeface="Times New Roman" pitchFamily="18" charset="0"/>
              <a:ea typeface="隶书" pitchFamily="49" charset="-122"/>
            </a:endParaRPr>
          </a:p>
        </p:txBody>
      </p:sp>
    </p:spTree>
    <p:extLst>
      <p:ext uri="{BB962C8B-B14F-4D97-AF65-F5344CB8AC3E}">
        <p14:creationId xmlns:p14="http://schemas.microsoft.com/office/powerpoint/2010/main" val="281436840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4"/>
          <p:cNvSpPr>
            <a:spLocks noChangeArrowheads="1"/>
          </p:cNvSpPr>
          <p:nvPr/>
        </p:nvSpPr>
        <p:spPr bwMode="auto">
          <a:xfrm>
            <a:off x="0" y="2212975"/>
            <a:ext cx="2198688"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solidFill>
                  <a:srgbClr val="0000FF"/>
                </a:solidFill>
                <a:latin typeface="宋体" pitchFamily="2" charset="-122"/>
                <a:ea typeface="华文行楷" pitchFamily="2" charset="-122"/>
              </a:rPr>
              <a:t>对输入串</a:t>
            </a:r>
          </a:p>
          <a:p>
            <a:pPr eaLnBrk="1" hangingPunct="1">
              <a:spcBef>
                <a:spcPct val="0"/>
              </a:spcBef>
              <a:buFontTx/>
              <a:buNone/>
            </a:pPr>
            <a:r>
              <a:rPr lang="zh-CN" altLang="en-US" sz="2200" dirty="0">
                <a:solidFill>
                  <a:srgbClr val="0000FF"/>
                </a:solidFill>
                <a:latin typeface="宋体" pitchFamily="2" charset="-122"/>
                <a:ea typeface="华文行楷" pitchFamily="2" charset="-122"/>
              </a:rPr>
              <a:t> </a:t>
            </a:r>
            <a:r>
              <a:rPr lang="en-US" altLang="zh-CN" sz="2200" b="1" dirty="0" err="1">
                <a:solidFill>
                  <a:srgbClr val="FF0000"/>
                </a:solidFill>
                <a:latin typeface="宋体" pitchFamily="2" charset="-122"/>
                <a:ea typeface="华文行楷" pitchFamily="2" charset="-122"/>
              </a:rPr>
              <a:t>i+i</a:t>
            </a:r>
            <a:r>
              <a:rPr lang="en-US" altLang="zh-CN" sz="2200" b="1" dirty="0">
                <a:solidFill>
                  <a:srgbClr val="FF0000"/>
                </a:solidFill>
                <a:latin typeface="宋体" pitchFamily="2" charset="-122"/>
                <a:ea typeface="华文行楷" pitchFamily="2" charset="-122"/>
              </a:rPr>
              <a:t>*</a:t>
            </a:r>
            <a:r>
              <a:rPr lang="en-US" altLang="zh-CN" sz="2200" b="1" dirty="0" err="1">
                <a:solidFill>
                  <a:srgbClr val="FF0000"/>
                </a:solidFill>
                <a:latin typeface="宋体" pitchFamily="2" charset="-122"/>
                <a:ea typeface="华文行楷" pitchFamily="2" charset="-122"/>
              </a:rPr>
              <a:t>i</a:t>
            </a:r>
            <a:endParaRPr lang="en-US" altLang="zh-CN" sz="2200" b="1" dirty="0">
              <a:solidFill>
                <a:srgbClr val="FF0000"/>
              </a:solidFill>
              <a:latin typeface="宋体" pitchFamily="2" charset="-122"/>
              <a:ea typeface="华文行楷" pitchFamily="2" charset="-122"/>
            </a:endParaRPr>
          </a:p>
          <a:p>
            <a:pPr eaLnBrk="1" hangingPunct="1">
              <a:spcBef>
                <a:spcPct val="0"/>
              </a:spcBef>
              <a:buFontTx/>
              <a:buNone/>
            </a:pPr>
            <a:r>
              <a:rPr lang="zh-CN" altLang="en-US" sz="2200" dirty="0">
                <a:latin typeface="宋体" pitchFamily="2" charset="-122"/>
                <a:ea typeface="华文行楷" pitchFamily="2" charset="-122"/>
              </a:rPr>
              <a:t>的算符优先</a:t>
            </a:r>
            <a:endParaRPr lang="en-US" altLang="zh-CN" sz="2200" dirty="0">
              <a:latin typeface="宋体" pitchFamily="2" charset="-122"/>
              <a:ea typeface="华文行楷" pitchFamily="2" charset="-122"/>
            </a:endParaRPr>
          </a:p>
          <a:p>
            <a:pPr eaLnBrk="1" hangingPunct="1">
              <a:spcBef>
                <a:spcPct val="0"/>
              </a:spcBef>
              <a:buFontTx/>
              <a:buNone/>
            </a:pPr>
            <a:r>
              <a:rPr lang="zh-CN" altLang="en-US" sz="2200" dirty="0">
                <a:latin typeface="宋体" pitchFamily="2" charset="-122"/>
                <a:ea typeface="华文行楷" pitchFamily="2" charset="-122"/>
              </a:rPr>
              <a:t>分析过程</a:t>
            </a:r>
          </a:p>
        </p:txBody>
      </p:sp>
      <p:sp>
        <p:nvSpPr>
          <p:cNvPr id="167939" name="Rectangle 23"/>
          <p:cNvSpPr>
            <a:spLocks noChangeArrowheads="1"/>
          </p:cNvSpPr>
          <p:nvPr/>
        </p:nvSpPr>
        <p:spPr bwMode="auto">
          <a:xfrm>
            <a:off x="0" y="765175"/>
            <a:ext cx="1933575" cy="11079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solidFill>
                  <a:srgbClr val="000000"/>
                </a:solidFill>
                <a:latin typeface="宋体" pitchFamily="2" charset="-122"/>
                <a:ea typeface="华文行楷" pitchFamily="2" charset="-122"/>
              </a:rPr>
              <a:t>E</a:t>
            </a:r>
            <a:r>
              <a:rPr lang="en-US" altLang="zh-CN" sz="2200" dirty="0">
                <a:solidFill>
                  <a:srgbClr val="000000"/>
                </a:solidFill>
                <a:latin typeface="宋体" pitchFamily="2" charset="-122"/>
                <a:ea typeface="华文行楷" pitchFamily="2" charset="-122"/>
                <a:sym typeface="Wingdings" pitchFamily="2" charset="2"/>
              </a:rPr>
              <a:t></a:t>
            </a:r>
            <a:r>
              <a:rPr lang="en-US" altLang="zh-CN" sz="2200" dirty="0">
                <a:solidFill>
                  <a:srgbClr val="000000"/>
                </a:solidFill>
                <a:latin typeface="宋体" pitchFamily="2" charset="-122"/>
                <a:ea typeface="华文行楷" pitchFamily="2" charset="-122"/>
              </a:rPr>
              <a:t>E+T</a:t>
            </a:r>
            <a:r>
              <a:rPr lang="en-US" altLang="zh-CN" sz="2200" dirty="0">
                <a:latin typeface="宋体" pitchFamily="2" charset="-122"/>
                <a:ea typeface="华文行楷" pitchFamily="2" charset="-122"/>
              </a:rPr>
              <a:t>|T </a:t>
            </a:r>
          </a:p>
          <a:p>
            <a:pPr eaLnBrk="1" hangingPunct="1">
              <a:spcBef>
                <a:spcPct val="0"/>
              </a:spcBef>
              <a:buFontTx/>
              <a:buNone/>
            </a:pPr>
            <a:r>
              <a:rPr lang="en-US" altLang="zh-CN" sz="2200" dirty="0">
                <a:latin typeface="宋体" pitchFamily="2" charset="-122"/>
                <a:ea typeface="华文行楷" pitchFamily="2" charset="-122"/>
              </a:rPr>
              <a:t>T</a:t>
            </a:r>
            <a:r>
              <a:rPr lang="en-US" altLang="zh-CN" sz="2200" dirty="0">
                <a:latin typeface="宋体" pitchFamily="2" charset="-122"/>
                <a:ea typeface="华文行楷" pitchFamily="2" charset="-122"/>
                <a:sym typeface="Wingdings" pitchFamily="2" charset="2"/>
              </a:rPr>
              <a:t></a:t>
            </a:r>
            <a:r>
              <a:rPr lang="en-US" altLang="zh-CN" sz="2200" dirty="0">
                <a:latin typeface="宋体" pitchFamily="2" charset="-122"/>
                <a:ea typeface="华文行楷" pitchFamily="2" charset="-122"/>
              </a:rPr>
              <a:t>T*F|F</a:t>
            </a:r>
            <a:br>
              <a:rPr lang="en-US" altLang="zh-CN" sz="2200" dirty="0">
                <a:latin typeface="宋体" pitchFamily="2" charset="-122"/>
                <a:ea typeface="华文行楷" pitchFamily="2" charset="-122"/>
              </a:rPr>
            </a:br>
            <a:r>
              <a:rPr lang="en-US" altLang="zh-CN" sz="2200" dirty="0">
                <a:latin typeface="宋体" pitchFamily="2" charset="-122"/>
                <a:ea typeface="华文行楷" pitchFamily="2" charset="-122"/>
              </a:rPr>
              <a:t>F</a:t>
            </a:r>
            <a:r>
              <a:rPr lang="en-US" altLang="zh-CN" sz="2200" dirty="0">
                <a:latin typeface="宋体" pitchFamily="2" charset="-122"/>
                <a:ea typeface="华文行楷" pitchFamily="2" charset="-122"/>
                <a:sym typeface="Wingdings" pitchFamily="2" charset="2"/>
              </a:rPr>
              <a:t></a:t>
            </a:r>
            <a:r>
              <a:rPr lang="en-US" altLang="zh-CN" sz="2200" dirty="0">
                <a:latin typeface="宋体" pitchFamily="2" charset="-122"/>
                <a:ea typeface="华文行楷" pitchFamily="2" charset="-122"/>
              </a:rPr>
              <a:t>(E)|</a:t>
            </a:r>
            <a:r>
              <a:rPr lang="en-US" altLang="zh-CN" sz="2200" dirty="0" err="1">
                <a:latin typeface="宋体" pitchFamily="2" charset="-122"/>
                <a:ea typeface="华文行楷" pitchFamily="2" charset="-122"/>
              </a:rPr>
              <a:t>i</a:t>
            </a:r>
            <a:endParaRPr lang="en-US" altLang="zh-CN" sz="2200" dirty="0">
              <a:latin typeface="宋体" pitchFamily="2" charset="-122"/>
              <a:ea typeface="华文行楷" pitchFamily="2" charset="-122"/>
            </a:endParaRPr>
          </a:p>
        </p:txBody>
      </p:sp>
      <p:sp>
        <p:nvSpPr>
          <p:cNvPr id="167940" name="Rectangle 24"/>
          <p:cNvSpPr>
            <a:spLocks noChangeArrowheads="1"/>
          </p:cNvSpPr>
          <p:nvPr/>
        </p:nvSpPr>
        <p:spPr bwMode="auto">
          <a:xfrm>
            <a:off x="0" y="0"/>
            <a:ext cx="382111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a:latin typeface="宋体" pitchFamily="2" charset="-122"/>
                <a:ea typeface="华文行楷" pitchFamily="2" charset="-122"/>
              </a:rPr>
              <a:t>例</a:t>
            </a:r>
            <a:r>
              <a:rPr lang="en-US" altLang="zh-CN" sz="2200">
                <a:latin typeface="宋体" pitchFamily="2" charset="-122"/>
                <a:ea typeface="华文行楷" pitchFamily="2" charset="-122"/>
              </a:rPr>
              <a:t>:</a:t>
            </a:r>
            <a:r>
              <a:rPr lang="zh-CN" altLang="en-US" sz="2200">
                <a:latin typeface="宋体" pitchFamily="2" charset="-122"/>
                <a:ea typeface="华文行楷" pitchFamily="2" charset="-122"/>
              </a:rPr>
              <a:t>给定文法</a:t>
            </a:r>
            <a:r>
              <a:rPr lang="en-US" altLang="zh-CN" sz="2200">
                <a:latin typeface="宋体" pitchFamily="2" charset="-122"/>
                <a:ea typeface="华文行楷" pitchFamily="2" charset="-122"/>
              </a:rPr>
              <a:t>G[E]</a:t>
            </a:r>
            <a:r>
              <a:rPr lang="zh-CN" altLang="en-US" sz="2200">
                <a:latin typeface="宋体" pitchFamily="2" charset="-122"/>
                <a:ea typeface="华文行楷" pitchFamily="2" charset="-122"/>
              </a:rPr>
              <a:t>：</a:t>
            </a:r>
          </a:p>
        </p:txBody>
      </p:sp>
      <p:graphicFrame>
        <p:nvGraphicFramePr>
          <p:cNvPr id="28854" name="Group 182"/>
          <p:cNvGraphicFramePr>
            <a:graphicFrameLocks noGrp="1"/>
          </p:cNvGraphicFramePr>
          <p:nvPr>
            <p:extLst>
              <p:ext uri="{D42A27DB-BD31-4B8C-83A1-F6EECF244321}">
                <p14:modId xmlns:p14="http://schemas.microsoft.com/office/powerpoint/2010/main" val="3979567223"/>
              </p:ext>
            </p:extLst>
          </p:nvPr>
        </p:nvGraphicFramePr>
        <p:xfrm>
          <a:off x="1766888" y="479425"/>
          <a:ext cx="5109368" cy="4706940"/>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000" b="1" i="0" u="none" strike="noStrike" cap="none" normalizeH="0" baseline="0" dirty="0">
                          <a:ln>
                            <a:noFill/>
                          </a:ln>
                          <a:solidFill>
                            <a:schemeClr val="tx1"/>
                          </a:solidFill>
                          <a:effectLst/>
                          <a:latin typeface="宋体" pitchFamily="2" charset="-122"/>
                          <a:ea typeface="宋体" pitchFamily="2" charset="-122"/>
                        </a:rPr>
                        <a:t>栈</a:t>
                      </a: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600" b="1" i="0" u="none" strike="noStrike" cap="none" normalizeH="0" baseline="0" dirty="0">
                          <a:ln>
                            <a:noFill/>
                          </a:ln>
                          <a:solidFill>
                            <a:schemeClr val="tx1"/>
                          </a:solidFill>
                          <a:effectLst/>
                          <a:latin typeface="宋体" pitchFamily="2" charset="-122"/>
                          <a:ea typeface="宋体" pitchFamily="2" charset="-122"/>
                        </a:rPr>
                        <a:t>输入符号串</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2000" b="1" i="0" u="none" strike="noStrike" cap="none" normalizeH="0" baseline="0">
                          <a:ln>
                            <a:noFill/>
                          </a:ln>
                          <a:solidFill>
                            <a:schemeClr val="tx1"/>
                          </a:solidFill>
                          <a:effectLst/>
                          <a:latin typeface="Times New Roman" pitchFamily="18" charset="0"/>
                          <a:ea typeface="宋体" pitchFamily="2" charset="-122"/>
                        </a:rPr>
                        <a:t>说明</a:t>
                      </a: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dirty="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endParaRPr kumimoji="1" lang="zh-CN" altLang="zh-CN" sz="20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9"/>
                  </a:ext>
                </a:extLst>
              </a:tr>
              <a:tr h="43315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0"/>
                  </a:ext>
                </a:extLst>
              </a:tr>
              <a:tr h="388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Times New Roman" pitchFamily="18" charset="0"/>
                        <a:ea typeface="宋体"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1" lang="zh-CN" altLang="zh-CN" sz="2000" b="1" i="0" u="none" strike="noStrike" cap="none" normalizeH="0" baseline="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宋体" pitchFamily="2" charset="-122"/>
                        <a:ea typeface="宋体" pitchFamily="2" charset="-122"/>
                      </a:endParaRP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28865" name="Group 193"/>
          <p:cNvGraphicFramePr>
            <a:graphicFrameLocks noGrp="1"/>
          </p:cNvGraphicFramePr>
          <p:nvPr>
            <p:extLst>
              <p:ext uri="{D42A27DB-BD31-4B8C-83A1-F6EECF244321}">
                <p14:modId xmlns:p14="http://schemas.microsoft.com/office/powerpoint/2010/main" val="2252099185"/>
              </p:ext>
            </p:extLst>
          </p:nvPr>
        </p:nvGraphicFramePr>
        <p:xfrm>
          <a:off x="1766888" y="850900"/>
          <a:ext cx="5109368" cy="388938"/>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宋体" panose="02010600030101010101" pitchFamily="2" charset="-122"/>
                          <a:ea typeface="宋体" panose="02010600030101010101" pitchFamily="2" charset="-122"/>
                        </a:rPr>
                        <a:t>#</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err="1">
                          <a:ln>
                            <a:noFill/>
                          </a:ln>
                          <a:solidFill>
                            <a:srgbClr val="FF0066"/>
                          </a:solidFill>
                          <a:effectLst/>
                          <a:latin typeface="宋体" panose="02010600030101010101" pitchFamily="2" charset="-122"/>
                          <a:ea typeface="宋体" panose="02010600030101010101" pitchFamily="2" charset="-122"/>
                        </a:rPr>
                        <a:t>i+i</a:t>
                      </a:r>
                      <a:r>
                        <a:rPr kumimoji="1" lang="en-US" altLang="zh-CN" sz="2100" b="1" i="0" u="none" strike="noStrike" cap="none" normalizeH="0" baseline="0" dirty="0">
                          <a:ln>
                            <a:noFill/>
                          </a:ln>
                          <a:solidFill>
                            <a:srgbClr val="FF0066"/>
                          </a:solidFill>
                          <a:effectLst/>
                          <a:latin typeface="宋体" panose="02010600030101010101" pitchFamily="2" charset="-122"/>
                          <a:ea typeface="宋体" panose="02010600030101010101" pitchFamily="2" charset="-122"/>
                        </a:rPr>
                        <a:t>*</a:t>
                      </a:r>
                      <a:r>
                        <a:rPr kumimoji="1" lang="en-US" altLang="zh-CN" sz="2100" b="1" i="0" u="none" strike="noStrike" cap="none" normalizeH="0" baseline="0" dirty="0" err="1">
                          <a:ln>
                            <a:noFill/>
                          </a:ln>
                          <a:solidFill>
                            <a:srgbClr val="FF0066"/>
                          </a:solidFill>
                          <a:effectLst/>
                          <a:latin typeface="宋体" panose="02010600030101010101" pitchFamily="2" charset="-122"/>
                          <a:ea typeface="宋体" panose="02010600030101010101" pitchFamily="2" charset="-122"/>
                        </a:rPr>
                        <a:t>i</a:t>
                      </a:r>
                      <a:r>
                        <a:rPr kumimoji="1" lang="en-US" altLang="zh-CN" sz="2100" b="1" i="0" u="none" strike="noStrike" cap="none" normalizeH="0" baseline="0" dirty="0">
                          <a:ln>
                            <a:noFill/>
                          </a:ln>
                          <a:solidFill>
                            <a:srgbClr val="FF0066"/>
                          </a:solidFill>
                          <a:effectLst/>
                          <a:latin typeface="宋体" panose="02010600030101010101" pitchFamily="2" charset="-122"/>
                          <a:ea typeface="宋体" panose="02010600030101010101" pitchFamily="2" charset="-12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初始状态</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876" name="Group 204"/>
          <p:cNvGraphicFramePr>
            <a:graphicFrameLocks noGrp="1"/>
          </p:cNvGraphicFramePr>
          <p:nvPr>
            <p:extLst>
              <p:ext uri="{D42A27DB-BD31-4B8C-83A1-F6EECF244321}">
                <p14:modId xmlns:p14="http://schemas.microsoft.com/office/powerpoint/2010/main" val="3186485162"/>
              </p:ext>
            </p:extLst>
          </p:nvPr>
        </p:nvGraphicFramePr>
        <p:xfrm>
          <a:off x="1766888" y="1265238"/>
          <a:ext cx="5109368" cy="388088"/>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7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Times New Roman" pitchFamily="18" charset="0"/>
                          <a:ea typeface="宋体" pitchFamily="2" charset="-122"/>
                        </a:rPr>
                        <a:t>#</a:t>
                      </a:r>
                      <a:r>
                        <a:rPr kumimoji="1" lang="en-US" altLang="zh-CN" sz="2100" b="1" i="0" u="none" strike="noStrike" cap="none" normalizeH="0" baseline="0" dirty="0" err="1">
                          <a:ln>
                            <a:noFill/>
                          </a:ln>
                          <a:solidFill>
                            <a:srgbClr val="FF0066"/>
                          </a:solidFill>
                          <a:effectLst/>
                          <a:latin typeface="Times New Roman" pitchFamily="18" charset="0"/>
                          <a:ea typeface="宋体" pitchFamily="2" charset="-122"/>
                        </a:rPr>
                        <a:t>i</a:t>
                      </a:r>
                      <a:endParaRPr kumimoji="1" lang="en-US" altLang="zh-CN" sz="2100" b="1" i="0" u="none" strike="noStrike" cap="none" normalizeH="0" baseline="0" dirty="0">
                        <a:ln>
                          <a:noFill/>
                        </a:ln>
                        <a:solidFill>
                          <a:srgbClr val="FF0066"/>
                        </a:solidFill>
                        <a:effectLst/>
                        <a:latin typeface="Times New Roman" pitchFamily="18" charset="0"/>
                        <a:ea typeface="宋体" pitchFamily="2" charset="-122"/>
                      </a:endParaRPr>
                    </a:p>
                  </a:txBody>
                  <a:tcPr marT="34024" marB="3402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+i*i#</a:t>
                      </a:r>
                    </a:p>
                  </a:txBody>
                  <a:tcPr marT="34024" marB="3402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宋体" pitchFamily="2" charset="-122"/>
                          <a:ea typeface="宋体" pitchFamily="2" charset="-122"/>
                        </a:rPr>
                        <a:t>#&lt;</a:t>
                      </a:r>
                      <a:r>
                        <a:rPr kumimoji="1" lang="en-US" altLang="zh-CN" sz="2100" b="0" i="0" u="none" strike="noStrike" cap="none" normalizeH="0" baseline="0" dirty="0" err="1">
                          <a:ln>
                            <a:noFill/>
                          </a:ln>
                          <a:solidFill>
                            <a:schemeClr val="tx1"/>
                          </a:solidFill>
                          <a:effectLst/>
                          <a:latin typeface="宋体" pitchFamily="2" charset="-122"/>
                          <a:ea typeface="宋体" pitchFamily="2" charset="-122"/>
                        </a:rPr>
                        <a:t>i</a:t>
                      </a:r>
                      <a:r>
                        <a:rPr kumimoji="1" lang="en-US" altLang="zh-CN" sz="2100" b="0" i="0" u="none" strike="noStrike" cap="none" normalizeH="0" baseline="0" dirty="0">
                          <a:ln>
                            <a:noFill/>
                          </a:ln>
                          <a:solidFill>
                            <a:schemeClr val="tx1"/>
                          </a:solidFill>
                          <a:effectLst/>
                          <a:latin typeface="宋体" pitchFamily="2" charset="-122"/>
                          <a:ea typeface="宋体" pitchFamily="2" charset="-122"/>
                        </a:rPr>
                        <a:t>, </a:t>
                      </a:r>
                      <a:r>
                        <a:rPr kumimoji="1" lang="en-US" altLang="zh-CN" sz="2100" b="0" i="0" u="none" strike="noStrike" cap="none" normalizeH="0" baseline="0" dirty="0" err="1">
                          <a:ln>
                            <a:noFill/>
                          </a:ln>
                          <a:solidFill>
                            <a:schemeClr val="tx1"/>
                          </a:solidFill>
                          <a:effectLst/>
                          <a:latin typeface="宋体" pitchFamily="2" charset="-122"/>
                          <a:ea typeface="宋体" pitchFamily="2" charset="-122"/>
                        </a:rPr>
                        <a:t>i</a:t>
                      </a:r>
                      <a:r>
                        <a:rPr kumimoji="1" lang="zh-CN" altLang="en-US" sz="2100" b="0" i="0" u="none" strike="noStrike" cap="none" normalizeH="0" baseline="0" dirty="0">
                          <a:ln>
                            <a:noFill/>
                          </a:ln>
                          <a:solidFill>
                            <a:schemeClr val="tx1"/>
                          </a:solidFill>
                          <a:effectLst/>
                          <a:latin typeface="宋体" pitchFamily="2" charset="-122"/>
                          <a:ea typeface="宋体" pitchFamily="2" charset="-122"/>
                        </a:rPr>
                        <a:t>入栈</a:t>
                      </a:r>
                    </a:p>
                  </a:txBody>
                  <a:tcPr marT="34024" marB="3402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887" name="Group 215"/>
          <p:cNvGraphicFramePr>
            <a:graphicFrameLocks noGrp="1"/>
          </p:cNvGraphicFramePr>
          <p:nvPr>
            <p:extLst>
              <p:ext uri="{D42A27DB-BD31-4B8C-83A1-F6EECF244321}">
                <p14:modId xmlns:p14="http://schemas.microsoft.com/office/powerpoint/2010/main" val="2182359989"/>
              </p:ext>
            </p:extLst>
          </p:nvPr>
        </p:nvGraphicFramePr>
        <p:xfrm>
          <a:off x="1766888" y="1652588"/>
          <a:ext cx="5109368" cy="388937"/>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Times New Roman" pitchFamily="18" charset="0"/>
                          <a:ea typeface="宋体" pitchFamily="2" charset="-122"/>
                        </a:rPr>
                        <a:t>#F</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+i*i#</a:t>
                      </a:r>
                      <a:endParaRPr kumimoji="1" lang="en-US" altLang="zh-CN" sz="1800" b="0" i="0" u="none" strike="noStrike" cap="none" normalizeH="0" baseline="0">
                        <a:ln>
                          <a:noFill/>
                        </a:ln>
                        <a:solidFill>
                          <a:schemeClr val="tx1"/>
                        </a:solidFill>
                        <a:effectLst/>
                        <a:latin typeface="Times New Roman" pitchFamily="18" charset="0"/>
                        <a:ea typeface="宋体" pitchFamily="2" charset="-122"/>
                      </a:endParaRP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宋体" pitchFamily="2" charset="-122"/>
                          <a:ea typeface="宋体" pitchFamily="2" charset="-122"/>
                        </a:rPr>
                        <a:t>#&lt;</a:t>
                      </a:r>
                      <a:r>
                        <a:rPr kumimoji="1" lang="en-US" altLang="zh-CN" sz="2100" b="0" i="0" u="none" strike="noStrike" cap="none" normalizeH="0" baseline="0" dirty="0" err="1">
                          <a:ln>
                            <a:noFill/>
                          </a:ln>
                          <a:solidFill>
                            <a:schemeClr val="tx1"/>
                          </a:solidFill>
                          <a:effectLst/>
                          <a:latin typeface="宋体" pitchFamily="2" charset="-122"/>
                          <a:ea typeface="宋体" pitchFamily="2" charset="-122"/>
                        </a:rPr>
                        <a:t>i</a:t>
                      </a:r>
                      <a:r>
                        <a:rPr kumimoji="1" lang="en-US" altLang="zh-CN" sz="2100" b="0" i="0" u="none" strike="noStrike" cap="none" normalizeH="0" baseline="0" dirty="0">
                          <a:ln>
                            <a:noFill/>
                          </a:ln>
                          <a:solidFill>
                            <a:schemeClr val="tx1"/>
                          </a:solidFill>
                          <a:effectLst/>
                          <a:latin typeface="宋体" pitchFamily="2" charset="-122"/>
                          <a:ea typeface="宋体" pitchFamily="2" charset="-122"/>
                        </a:rPr>
                        <a:t>&gt;+, </a:t>
                      </a:r>
                      <a:r>
                        <a:rPr kumimoji="1" lang="zh-CN" altLang="en-US" sz="2100" b="0" i="0" u="none" strike="noStrike" cap="none" normalizeH="0" baseline="0" dirty="0">
                          <a:ln>
                            <a:noFill/>
                          </a:ln>
                          <a:solidFill>
                            <a:schemeClr val="tx1"/>
                          </a:solidFill>
                          <a:effectLst/>
                          <a:latin typeface="宋体" pitchFamily="2" charset="-122"/>
                          <a:ea typeface="宋体" pitchFamily="2" charset="-122"/>
                        </a:rPr>
                        <a:t>用</a:t>
                      </a:r>
                      <a:r>
                        <a:rPr kumimoji="1" lang="en-US" altLang="zh-CN" sz="2100" b="0" i="0" u="none" strike="noStrike" cap="none" normalizeH="0" baseline="0" dirty="0" err="1">
                          <a:ln>
                            <a:noFill/>
                          </a:ln>
                          <a:solidFill>
                            <a:schemeClr val="tx1"/>
                          </a:solidFill>
                          <a:effectLst/>
                          <a:latin typeface="宋体" pitchFamily="2" charset="-122"/>
                          <a:ea typeface="宋体" pitchFamily="2" charset="-122"/>
                        </a:rPr>
                        <a:t>F</a:t>
                      </a:r>
                      <a:r>
                        <a:rPr kumimoji="1" lang="en-US" altLang="zh-CN" sz="2100" b="0" i="0" u="none" strike="noStrike" cap="none" normalizeH="0" baseline="0" dirty="0" err="1">
                          <a:ln>
                            <a:noFill/>
                          </a:ln>
                          <a:solidFill>
                            <a:schemeClr val="tx1"/>
                          </a:solidFill>
                          <a:effectLst/>
                          <a:latin typeface="宋体" pitchFamily="2" charset="-122"/>
                          <a:ea typeface="宋体" pitchFamily="2" charset="-122"/>
                          <a:sym typeface="Wingdings" pitchFamily="2" charset="2"/>
                        </a:rPr>
                        <a:t></a:t>
                      </a:r>
                      <a:r>
                        <a:rPr kumimoji="1" lang="en-US" altLang="zh-CN" sz="2100" b="0" i="0" u="none" strike="noStrike" cap="none" normalizeH="0" baseline="0" dirty="0" err="1">
                          <a:ln>
                            <a:noFill/>
                          </a:ln>
                          <a:solidFill>
                            <a:schemeClr val="tx1"/>
                          </a:solidFill>
                          <a:effectLst/>
                          <a:latin typeface="宋体" pitchFamily="2" charset="-122"/>
                          <a:ea typeface="宋体" pitchFamily="2" charset="-122"/>
                        </a:rPr>
                        <a:t>i</a:t>
                      </a:r>
                      <a:r>
                        <a:rPr kumimoji="1" lang="zh-CN" altLang="en-US" sz="2100" b="0" i="0" u="none" strike="noStrike" cap="none" normalizeH="0" baseline="0" dirty="0">
                          <a:ln>
                            <a:noFill/>
                          </a:ln>
                          <a:solidFill>
                            <a:schemeClr val="tx1"/>
                          </a:solidFill>
                          <a:effectLst/>
                          <a:latin typeface="宋体" pitchFamily="2" charset="-122"/>
                          <a:ea typeface="宋体" pitchFamily="2" charset="-122"/>
                        </a:rPr>
                        <a:t>归约</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898" name="Group 226"/>
          <p:cNvGraphicFramePr>
            <a:graphicFrameLocks noGrp="1"/>
          </p:cNvGraphicFramePr>
          <p:nvPr>
            <p:extLst>
              <p:ext uri="{D42A27DB-BD31-4B8C-83A1-F6EECF244321}">
                <p14:modId xmlns:p14="http://schemas.microsoft.com/office/powerpoint/2010/main" val="2582903481"/>
              </p:ext>
            </p:extLst>
          </p:nvPr>
        </p:nvGraphicFramePr>
        <p:xfrm>
          <a:off x="1766888" y="2041525"/>
          <a:ext cx="5109368" cy="388938"/>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Times New Roman" pitchFamily="18" charset="0"/>
                          <a:ea typeface="宋体" pitchFamily="2" charset="-122"/>
                        </a:rPr>
                        <a:t>#F+</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i*i#</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itchFamily="2" charset="-122"/>
                          <a:ea typeface="宋体" pitchFamily="2" charset="-122"/>
                        </a:rPr>
                        <a:t>#&lt;+, +</a:t>
                      </a:r>
                      <a:r>
                        <a:rPr kumimoji="1" lang="zh-CN" altLang="en-US" sz="2100" b="0" i="0" u="none" strike="noStrike" cap="none" normalizeH="0" baseline="0">
                          <a:ln>
                            <a:noFill/>
                          </a:ln>
                          <a:solidFill>
                            <a:schemeClr val="tx1"/>
                          </a:solidFill>
                          <a:effectLst/>
                          <a:latin typeface="宋体" pitchFamily="2" charset="-122"/>
                          <a:ea typeface="宋体" pitchFamily="2" charset="-122"/>
                        </a:rPr>
                        <a:t>入栈</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09" name="Group 237"/>
          <p:cNvGraphicFramePr>
            <a:graphicFrameLocks noGrp="1"/>
          </p:cNvGraphicFramePr>
          <p:nvPr>
            <p:extLst>
              <p:ext uri="{D42A27DB-BD31-4B8C-83A1-F6EECF244321}">
                <p14:modId xmlns:p14="http://schemas.microsoft.com/office/powerpoint/2010/main" val="688743740"/>
              </p:ext>
            </p:extLst>
          </p:nvPr>
        </p:nvGraphicFramePr>
        <p:xfrm>
          <a:off x="1766888" y="2428875"/>
          <a:ext cx="5109368" cy="388938"/>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Times New Roman" pitchFamily="18" charset="0"/>
                          <a:ea typeface="宋体" pitchFamily="2" charset="-122"/>
                        </a:rPr>
                        <a:t>#F+i</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itchFamily="2" charset="-122"/>
                          <a:ea typeface="宋体" pitchFamily="2" charset="-122"/>
                        </a:rPr>
                        <a:t>+&lt;i, i</a:t>
                      </a:r>
                      <a:r>
                        <a:rPr kumimoji="1" lang="zh-CN" altLang="en-US" sz="2100" b="0" i="0" u="none" strike="noStrike" cap="none" normalizeH="0" baseline="0">
                          <a:ln>
                            <a:noFill/>
                          </a:ln>
                          <a:solidFill>
                            <a:schemeClr val="tx1"/>
                          </a:solidFill>
                          <a:effectLst/>
                          <a:latin typeface="宋体" pitchFamily="2" charset="-122"/>
                          <a:ea typeface="宋体" pitchFamily="2" charset="-122"/>
                        </a:rPr>
                        <a:t>入栈</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20" name="Group 248"/>
          <p:cNvGraphicFramePr>
            <a:graphicFrameLocks noGrp="1"/>
          </p:cNvGraphicFramePr>
          <p:nvPr>
            <p:extLst>
              <p:ext uri="{D42A27DB-BD31-4B8C-83A1-F6EECF244321}">
                <p14:modId xmlns:p14="http://schemas.microsoft.com/office/powerpoint/2010/main" val="3485181770"/>
              </p:ext>
            </p:extLst>
          </p:nvPr>
        </p:nvGraphicFramePr>
        <p:xfrm>
          <a:off x="1766888" y="2805113"/>
          <a:ext cx="5109368" cy="388937"/>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Times New Roman" pitchFamily="18" charset="0"/>
                          <a:ea typeface="宋体" pitchFamily="2" charset="-122"/>
                        </a:rPr>
                        <a:t>#F+F</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itchFamily="2" charset="-122"/>
                          <a:ea typeface="宋体" pitchFamily="2" charset="-122"/>
                        </a:rPr>
                        <a:t>+&lt;i&gt;*, </a:t>
                      </a:r>
                      <a:r>
                        <a:rPr kumimoji="1" lang="zh-CN" altLang="en-US" sz="2100" b="0" i="0" u="none" strike="noStrike" cap="none" normalizeH="0" baseline="0">
                          <a:ln>
                            <a:noFill/>
                          </a:ln>
                          <a:solidFill>
                            <a:schemeClr val="tx1"/>
                          </a:solidFill>
                          <a:effectLst/>
                          <a:latin typeface="宋体" pitchFamily="2" charset="-122"/>
                          <a:ea typeface="宋体" pitchFamily="2" charset="-122"/>
                        </a:rPr>
                        <a:t>用</a:t>
                      </a:r>
                      <a:r>
                        <a:rPr kumimoji="1" lang="en-US" altLang="zh-CN" sz="2100" b="0" i="0" u="none" strike="noStrike" cap="none" normalizeH="0" baseline="0">
                          <a:ln>
                            <a:noFill/>
                          </a:ln>
                          <a:solidFill>
                            <a:schemeClr val="tx1"/>
                          </a:solidFill>
                          <a:effectLst/>
                          <a:latin typeface="宋体" pitchFamily="2" charset="-122"/>
                          <a:ea typeface="宋体" pitchFamily="2" charset="-122"/>
                        </a:rPr>
                        <a:t>F</a:t>
                      </a:r>
                      <a:r>
                        <a:rPr kumimoji="1" lang="en-US" altLang="zh-CN" sz="2100" b="0" i="0" u="none" strike="noStrike" cap="none" normalizeH="0" baseline="0">
                          <a:ln>
                            <a:noFill/>
                          </a:ln>
                          <a:solidFill>
                            <a:schemeClr val="tx1"/>
                          </a:solidFill>
                          <a:effectLst/>
                          <a:latin typeface="宋体" pitchFamily="2" charset="-122"/>
                          <a:ea typeface="宋体" pitchFamily="2" charset="-122"/>
                          <a:sym typeface="Wingdings" pitchFamily="2" charset="2"/>
                        </a:rPr>
                        <a:t></a:t>
                      </a:r>
                      <a:r>
                        <a:rPr kumimoji="1" lang="en-US" altLang="zh-CN" sz="2100" b="0" i="0" u="none" strike="noStrike" cap="none" normalizeH="0" baseline="0">
                          <a:ln>
                            <a:noFill/>
                          </a:ln>
                          <a:solidFill>
                            <a:schemeClr val="tx1"/>
                          </a:solidFill>
                          <a:effectLst/>
                          <a:latin typeface="宋体" pitchFamily="2" charset="-122"/>
                          <a:ea typeface="宋体" pitchFamily="2" charset="-122"/>
                        </a:rPr>
                        <a:t>i</a:t>
                      </a:r>
                      <a:r>
                        <a:rPr kumimoji="1" lang="zh-CN" altLang="en-US" sz="2100" b="0" i="0" u="none" strike="noStrike" cap="none" normalizeH="0" baseline="0">
                          <a:ln>
                            <a:noFill/>
                          </a:ln>
                          <a:solidFill>
                            <a:schemeClr val="tx1"/>
                          </a:solidFill>
                          <a:effectLst/>
                          <a:latin typeface="宋体" pitchFamily="2" charset="-122"/>
                          <a:ea typeface="宋体" pitchFamily="2" charset="-122"/>
                        </a:rPr>
                        <a:t>归约</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31" name="Group 259"/>
          <p:cNvGraphicFramePr>
            <a:graphicFrameLocks noGrp="1"/>
          </p:cNvGraphicFramePr>
          <p:nvPr>
            <p:extLst>
              <p:ext uri="{D42A27DB-BD31-4B8C-83A1-F6EECF244321}">
                <p14:modId xmlns:p14="http://schemas.microsoft.com/office/powerpoint/2010/main" val="3226166974"/>
              </p:ext>
            </p:extLst>
          </p:nvPr>
        </p:nvGraphicFramePr>
        <p:xfrm>
          <a:off x="1766888" y="3192463"/>
          <a:ext cx="5109368" cy="388937"/>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Times New Roman" pitchFamily="18" charset="0"/>
                          <a:ea typeface="宋体" pitchFamily="2" charset="-122"/>
                        </a:rPr>
                        <a:t>#F+F*</a:t>
                      </a:r>
                    </a:p>
                  </a:txBody>
                  <a:tcPr marT="34164" marB="3416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itchFamily="2" charset="-122"/>
                          <a:ea typeface="宋体" pitchFamily="2" charset="-122"/>
                        </a:rPr>
                        <a:t>i#</a:t>
                      </a:r>
                    </a:p>
                  </a:txBody>
                  <a:tcPr marT="34164" marB="3416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itchFamily="2" charset="-122"/>
                          <a:ea typeface="宋体" pitchFamily="2" charset="-122"/>
                        </a:rPr>
                        <a:t>+&lt;*, *</a:t>
                      </a:r>
                      <a:r>
                        <a:rPr kumimoji="1" lang="zh-CN" altLang="en-US" sz="2100" b="0" i="0" u="none" strike="noStrike" cap="none" normalizeH="0" baseline="0">
                          <a:ln>
                            <a:noFill/>
                          </a:ln>
                          <a:solidFill>
                            <a:schemeClr val="tx1"/>
                          </a:solidFill>
                          <a:effectLst/>
                          <a:latin typeface="宋体" pitchFamily="2" charset="-122"/>
                          <a:ea typeface="宋体" pitchFamily="2" charset="-122"/>
                        </a:rPr>
                        <a:t>入栈</a:t>
                      </a:r>
                    </a:p>
                  </a:txBody>
                  <a:tcPr marT="34164" marB="3416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42" name="Group 270"/>
          <p:cNvGraphicFramePr>
            <a:graphicFrameLocks noGrp="1"/>
          </p:cNvGraphicFramePr>
          <p:nvPr>
            <p:extLst>
              <p:ext uri="{D42A27DB-BD31-4B8C-83A1-F6EECF244321}">
                <p14:modId xmlns:p14="http://schemas.microsoft.com/office/powerpoint/2010/main" val="1834664097"/>
              </p:ext>
            </p:extLst>
          </p:nvPr>
        </p:nvGraphicFramePr>
        <p:xfrm>
          <a:off x="1766888" y="3594100"/>
          <a:ext cx="5109368" cy="388938"/>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89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Times New Roman" panose="02020603050405020304" pitchFamily="18" charset="0"/>
                          <a:ea typeface="宋体" panose="02010600030101010101" pitchFamily="2" charset="-122"/>
                        </a:rPr>
                        <a:t>#F+F*i</a:t>
                      </a:r>
                    </a:p>
                  </a:txBody>
                  <a:tcPr marT="34173" marB="3417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anose="02010600030101010101" pitchFamily="2" charset="-122"/>
                          <a:ea typeface="宋体" panose="02010600030101010101" pitchFamily="2" charset="-122"/>
                        </a:rPr>
                        <a:t>#</a:t>
                      </a:r>
                    </a:p>
                  </a:txBody>
                  <a:tcPr marT="34173" marB="3417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*&lt;i, i</a:t>
                      </a:r>
                      <a:r>
                        <a:rPr kumimoji="1" lang="zh-CN" altLang="en-US"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入栈</a:t>
                      </a:r>
                    </a:p>
                  </a:txBody>
                  <a:tcPr marT="34173" marB="3417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53" name="Group 281"/>
          <p:cNvGraphicFramePr>
            <a:graphicFrameLocks noGrp="1"/>
          </p:cNvGraphicFramePr>
          <p:nvPr>
            <p:extLst>
              <p:ext uri="{D42A27DB-BD31-4B8C-83A1-F6EECF244321}">
                <p14:modId xmlns:p14="http://schemas.microsoft.com/office/powerpoint/2010/main" val="3955576432"/>
              </p:ext>
            </p:extLst>
          </p:nvPr>
        </p:nvGraphicFramePr>
        <p:xfrm>
          <a:off x="1766888" y="3970338"/>
          <a:ext cx="5109368" cy="388106"/>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rPr>
                        <a:t>#F+F*F</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anose="02010600030101010101" pitchFamily="2" charset="-122"/>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rPr>
                        <a:t>i</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&gt;#,</a:t>
                      </a:r>
                      <a:r>
                        <a:rPr kumimoji="1" lang="zh-CN" altLang="en-US"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用</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rPr>
                        <a:t>F</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sym typeface="Wingdings" panose="05000000000000000000" pitchFamily="2" charset="2"/>
                        </a:rPr>
                        <a:t></a:t>
                      </a:r>
                      <a:r>
                        <a:rPr kumimoji="1" lang="en-US" altLang="zh-CN" sz="2100" b="0" i="0" u="none" strike="noStrike" cap="none" normalizeH="0" baseline="0" dirty="0" err="1">
                          <a:ln>
                            <a:noFill/>
                          </a:ln>
                          <a:solidFill>
                            <a:schemeClr val="tx1"/>
                          </a:solidFill>
                          <a:effectLst/>
                          <a:latin typeface="宋体" panose="02010600030101010101" pitchFamily="2" charset="-122"/>
                          <a:ea typeface="宋体" panose="02010600030101010101" pitchFamily="2" charset="-122"/>
                        </a:rPr>
                        <a:t>i</a:t>
                      </a:r>
                      <a:r>
                        <a:rPr kumimoji="1" lang="zh-CN" altLang="en-US"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归约</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64" name="Group 292"/>
          <p:cNvGraphicFramePr>
            <a:graphicFrameLocks noGrp="1"/>
          </p:cNvGraphicFramePr>
          <p:nvPr>
            <p:extLst>
              <p:ext uri="{D42A27DB-BD31-4B8C-83A1-F6EECF244321}">
                <p14:modId xmlns:p14="http://schemas.microsoft.com/office/powerpoint/2010/main" val="4107886534"/>
              </p:ext>
            </p:extLst>
          </p:nvPr>
        </p:nvGraphicFramePr>
        <p:xfrm>
          <a:off x="1766888" y="4348163"/>
          <a:ext cx="5109368" cy="433387"/>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4333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rPr>
                        <a:t>#F+T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anose="02010600030101010101" pitchFamily="2" charset="-122"/>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+&lt;*&gt;#, </a:t>
                      </a:r>
                      <a:r>
                        <a:rPr kumimoji="1" lang="zh-CN" altLang="en-US"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用</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T</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sym typeface="Wingdings" panose="05000000000000000000" pitchFamily="2" charset="2"/>
                        </a:rPr>
                        <a:t></a:t>
                      </a:r>
                      <a:r>
                        <a:rPr kumimoji="1" lang="en-US" altLang="zh-CN"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F*F</a:t>
                      </a:r>
                      <a:r>
                        <a:rPr kumimoji="1" lang="zh-CN" altLang="en-US" sz="2100" b="0" i="0" u="none" strike="noStrike" cap="none" normalizeH="0" baseline="0">
                          <a:ln>
                            <a:noFill/>
                          </a:ln>
                          <a:solidFill>
                            <a:schemeClr val="tx1"/>
                          </a:solidFill>
                          <a:effectLst/>
                          <a:latin typeface="宋体" panose="02010600030101010101" pitchFamily="2" charset="-122"/>
                          <a:ea typeface="宋体" panose="02010600030101010101" pitchFamily="2" charset="-122"/>
                        </a:rPr>
                        <a:t>归约</a:t>
                      </a:r>
                      <a:endParaRPr kumimoji="1"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8975" name="Group 303"/>
          <p:cNvGraphicFramePr>
            <a:graphicFrameLocks noGrp="1"/>
          </p:cNvGraphicFramePr>
          <p:nvPr>
            <p:extLst>
              <p:ext uri="{D42A27DB-BD31-4B8C-83A1-F6EECF244321}">
                <p14:modId xmlns:p14="http://schemas.microsoft.com/office/powerpoint/2010/main" val="503764757"/>
              </p:ext>
            </p:extLst>
          </p:nvPr>
        </p:nvGraphicFramePr>
        <p:xfrm>
          <a:off x="1766888" y="4768850"/>
          <a:ext cx="5109368" cy="388106"/>
        </p:xfrm>
        <a:graphic>
          <a:graphicData uri="http://schemas.openxmlformats.org/drawingml/2006/table">
            <a:tbl>
              <a:tblPr/>
              <a:tblGrid>
                <a:gridCol w="1096686">
                  <a:extLst>
                    <a:ext uri="{9D8B030D-6E8A-4147-A177-3AD203B41FA5}">
                      <a16:colId xmlns:a16="http://schemas.microsoft.com/office/drawing/2014/main" val="20000"/>
                    </a:ext>
                  </a:extLst>
                </a:gridCol>
                <a:gridCol w="1244854">
                  <a:extLst>
                    <a:ext uri="{9D8B030D-6E8A-4147-A177-3AD203B41FA5}">
                      <a16:colId xmlns:a16="http://schemas.microsoft.com/office/drawing/2014/main" val="20001"/>
                    </a:ext>
                  </a:extLst>
                </a:gridCol>
                <a:gridCol w="2767828">
                  <a:extLst>
                    <a:ext uri="{9D8B030D-6E8A-4147-A177-3AD203B41FA5}">
                      <a16:colId xmlns:a16="http://schemas.microsoft.com/office/drawing/2014/main" val="20002"/>
                    </a:ext>
                  </a:extLst>
                </a:gridCol>
              </a:tblGrid>
              <a:tr h="3873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FF0066"/>
                          </a:solidFill>
                          <a:effectLst/>
                          <a:latin typeface="Times New Roman" panose="02020603050405020304" pitchFamily="18" charset="0"/>
                          <a:ea typeface="宋体" panose="02010600030101010101" pitchFamily="2" charset="-122"/>
                        </a:rPr>
                        <a:t>#E</a:t>
                      </a:r>
                    </a:p>
                  </a:txBody>
                  <a:tcPr marT="34033" marB="340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FF0066"/>
                          </a:solidFill>
                          <a:effectLst/>
                          <a:latin typeface="宋体" panose="02010600030101010101" pitchFamily="2" charset="-122"/>
                          <a:ea typeface="宋体" panose="02010600030101010101" pitchFamily="2" charset="-122"/>
                        </a:rPr>
                        <a:t>#</a:t>
                      </a:r>
                    </a:p>
                  </a:txBody>
                  <a:tcPr marT="34033" marB="340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#&lt;+&gt;#, </a:t>
                      </a:r>
                      <a:r>
                        <a:rPr kumimoji="1" lang="zh-CN" altLang="en-US"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用</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E</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sym typeface="Wingdings" panose="05000000000000000000" pitchFamily="2" charset="2"/>
                        </a:rPr>
                        <a:t></a:t>
                      </a:r>
                      <a:r>
                        <a:rPr kumimoji="1" lang="en-US" altLang="zh-CN"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F+T</a:t>
                      </a:r>
                      <a:r>
                        <a:rPr kumimoji="1" lang="zh-CN" altLang="en-US" sz="2100" b="0" i="0" u="none" strike="noStrike" cap="none" normalizeH="0" baseline="0" dirty="0">
                          <a:ln>
                            <a:noFill/>
                          </a:ln>
                          <a:solidFill>
                            <a:schemeClr val="tx1"/>
                          </a:solidFill>
                          <a:effectLst/>
                          <a:latin typeface="宋体" panose="02010600030101010101" pitchFamily="2" charset="-122"/>
                          <a:ea typeface="宋体" panose="02010600030101010101" pitchFamily="2" charset="-122"/>
                        </a:rPr>
                        <a:t>归约</a:t>
                      </a:r>
                    </a:p>
                  </a:txBody>
                  <a:tcPr marT="34033" marB="340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049" name="Group 377"/>
          <p:cNvGraphicFramePr>
            <a:graphicFrameLocks noGrp="1"/>
          </p:cNvGraphicFramePr>
          <p:nvPr/>
        </p:nvGraphicFramePr>
        <p:xfrm>
          <a:off x="6502400" y="0"/>
          <a:ext cx="2641600" cy="2400300"/>
        </p:xfrm>
        <a:graphic>
          <a:graphicData uri="http://schemas.openxmlformats.org/drawingml/2006/table">
            <a:tbl>
              <a:tblPr/>
              <a:tblGrid>
                <a:gridCol w="412750">
                  <a:extLst>
                    <a:ext uri="{9D8B030D-6E8A-4147-A177-3AD203B41FA5}">
                      <a16:colId xmlns:a16="http://schemas.microsoft.com/office/drawing/2014/main" val="20000"/>
                    </a:ext>
                  </a:extLst>
                </a:gridCol>
                <a:gridCol w="363538">
                  <a:extLst>
                    <a:ext uri="{9D8B030D-6E8A-4147-A177-3AD203B41FA5}">
                      <a16:colId xmlns:a16="http://schemas.microsoft.com/office/drawing/2014/main" val="20001"/>
                    </a:ext>
                  </a:extLst>
                </a:gridCol>
                <a:gridCol w="388937">
                  <a:extLst>
                    <a:ext uri="{9D8B030D-6E8A-4147-A177-3AD203B41FA5}">
                      <a16:colId xmlns:a16="http://schemas.microsoft.com/office/drawing/2014/main" val="20002"/>
                    </a:ext>
                  </a:extLst>
                </a:gridCol>
                <a:gridCol w="387350">
                  <a:extLst>
                    <a:ext uri="{9D8B030D-6E8A-4147-A177-3AD203B41FA5}">
                      <a16:colId xmlns:a16="http://schemas.microsoft.com/office/drawing/2014/main" val="20003"/>
                    </a:ext>
                  </a:extLst>
                </a:gridCol>
                <a:gridCol w="388938">
                  <a:extLst>
                    <a:ext uri="{9D8B030D-6E8A-4147-A177-3AD203B41FA5}">
                      <a16:colId xmlns:a16="http://schemas.microsoft.com/office/drawing/2014/main" val="20004"/>
                    </a:ext>
                  </a:extLst>
                </a:gridCol>
                <a:gridCol w="387350">
                  <a:extLst>
                    <a:ext uri="{9D8B030D-6E8A-4147-A177-3AD203B41FA5}">
                      <a16:colId xmlns:a16="http://schemas.microsoft.com/office/drawing/2014/main" val="20005"/>
                    </a:ext>
                  </a:extLst>
                </a:gridCol>
                <a:gridCol w="312737">
                  <a:extLst>
                    <a:ext uri="{9D8B030D-6E8A-4147-A177-3AD203B41FA5}">
                      <a16:colId xmlns:a16="http://schemas.microsoft.com/office/drawing/2014/main" val="20006"/>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i</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宋体" panose="02010600030101010101" pitchFamily="2" charset="-122"/>
                          <a:ea typeface="宋体" panose="02010600030101010101" pitchFamily="2" charset="-122"/>
                          <a:cs typeface="Times New Roman" panose="02020603050405020304" pitchFamily="18" charset="0"/>
                        </a:rPr>
                        <a:t>#</a:t>
                      </a:r>
                      <a:endPar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0"/>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1"/>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2"/>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i</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3"/>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4"/>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5"/>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0" i="0" u="none" strike="noStrike" cap="none" normalizeH="0" baseline="0" dirty="0">
                          <a:ln>
                            <a:noFill/>
                          </a:ln>
                          <a:solidFill>
                            <a:schemeClr val="bg1"/>
                          </a:solidFill>
                          <a:effectLst/>
                          <a:latin typeface="Times New Roman" panose="02020603050405020304" pitchFamily="18" charset="0"/>
                          <a:ea typeface="宋体" panose="02010600030101010101" pitchFamily="2" charset="-122"/>
                        </a:rPr>
                        <a: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6"/>
                  </a:ext>
                </a:extLst>
              </a:tr>
            </a:tbl>
          </a:graphicData>
        </a:graphic>
      </p:graphicFrame>
      <p:sp>
        <p:nvSpPr>
          <p:cNvPr id="2" name="矩形 1"/>
          <p:cNvSpPr/>
          <p:nvPr/>
        </p:nvSpPr>
        <p:spPr>
          <a:xfrm>
            <a:off x="1763688" y="2067694"/>
            <a:ext cx="4248472" cy="720080"/>
          </a:xfrm>
          <a:prstGeom prst="rect">
            <a:avLst/>
          </a:prstGeom>
          <a:noFill/>
          <a:ln w="28575">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p:cNvSpPr/>
          <p:nvPr/>
        </p:nvSpPr>
        <p:spPr>
          <a:xfrm>
            <a:off x="1763688" y="4019565"/>
            <a:ext cx="5328592" cy="360040"/>
          </a:xfrm>
          <a:prstGeom prst="rect">
            <a:avLst/>
          </a:prstGeom>
          <a:noFill/>
          <a:ln w="28575">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66524580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885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2904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2886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2887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2888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28898"/>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499"/>
                                          </p:stCondLst>
                                        </p:cTn>
                                        <p:tgtEl>
                                          <p:spTgt spid="28909"/>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499"/>
                                          </p:stCondLst>
                                        </p:cTn>
                                        <p:tgtEl>
                                          <p:spTgt spid="28920"/>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499"/>
                                          </p:stCondLst>
                                        </p:cTn>
                                        <p:tgtEl>
                                          <p:spTgt spid="28931"/>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499"/>
                                          </p:stCondLst>
                                        </p:cTn>
                                        <p:tgtEl>
                                          <p:spTgt spid="28942"/>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499"/>
                                          </p:stCondLst>
                                        </p:cTn>
                                        <p:tgtEl>
                                          <p:spTgt spid="2895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nodeType="clickEffect">
                                  <p:stCondLst>
                                    <p:cond delay="0"/>
                                  </p:stCondLst>
                                  <p:childTnLst>
                                    <p:set>
                                      <p:cBhvr>
                                        <p:cTn id="50" dur="1" fill="hold">
                                          <p:stCondLst>
                                            <p:cond delay="499"/>
                                          </p:stCondLst>
                                        </p:cTn>
                                        <p:tgtEl>
                                          <p:spTgt spid="28964"/>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499"/>
                                          </p:stCondLst>
                                        </p:cTn>
                                        <p:tgtEl>
                                          <p:spTgt spid="2897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xit" presetSubtype="0" fill="hold" grpId="1" nodeType="click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par>
                          <p:cTn id="63" fill="hold">
                            <p:stCondLst>
                              <p:cond delay="0"/>
                            </p:stCondLst>
                            <p:childTnLst>
                              <p:par>
                                <p:cTn id="64" presetID="1" presetClass="entr" presetSubtype="0" fill="hold" grpId="0" nodeType="afterEffect">
                                  <p:stCondLst>
                                    <p:cond delay="0"/>
                                  </p:stCondLst>
                                  <p:childTnLst>
                                    <p:set>
                                      <p:cBhvr>
                                        <p:cTn id="65"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19"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3"/>
          <p:cNvSpPr>
            <a:spLocks noGrp="1" noChangeArrowheads="1"/>
          </p:cNvSpPr>
          <p:nvPr>
            <p:ph type="body" idx="1"/>
          </p:nvPr>
        </p:nvSpPr>
        <p:spPr>
          <a:xfrm>
            <a:off x="509588" y="1112838"/>
            <a:ext cx="8374062" cy="3086100"/>
          </a:xfrm>
        </p:spPr>
        <p:txBody>
          <a:bodyPr>
            <a:normAutofit/>
          </a:bodyPr>
          <a:lstStyle/>
          <a:p>
            <a:pPr eaLnBrk="1" hangingPunct="1"/>
            <a:r>
              <a:rPr lang="zh-CN" altLang="en-US" sz="2200" dirty="0">
                <a:latin typeface="宋体" pitchFamily="2" charset="-122"/>
                <a:ea typeface="宋体" panose="02010600030101010101" pitchFamily="2" charset="-122"/>
              </a:rPr>
              <a:t>关于归约的说明</a:t>
            </a:r>
            <a:r>
              <a:rPr lang="en-US" altLang="zh-CN" sz="2200" dirty="0">
                <a:latin typeface="宋体" pitchFamily="2" charset="-122"/>
                <a:ea typeface="宋体" panose="02010600030101010101" pitchFamily="2" charset="-122"/>
              </a:rPr>
              <a:t>:</a:t>
            </a:r>
          </a:p>
          <a:p>
            <a:pPr eaLnBrk="1" hangingPunct="1">
              <a:buFontTx/>
              <a:buNone/>
            </a:pP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归约时并不一定是完整的产生式右部，</a:t>
            </a:r>
            <a:endParaRPr lang="en-US" altLang="zh-CN" sz="2200" dirty="0">
              <a:latin typeface="宋体" pitchFamily="2" charset="-122"/>
              <a:ea typeface="宋体" panose="02010600030101010101" pitchFamily="2" charset="-122"/>
            </a:endParaRPr>
          </a:p>
          <a:p>
            <a:pPr eaLnBrk="1" hangingPunct="1">
              <a:buFontTx/>
              <a:buNone/>
            </a:pP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其实是在文法中寻找这样的产生式</a:t>
            </a:r>
            <a:r>
              <a:rPr lang="en-US" altLang="zh-CN" sz="2200" dirty="0">
                <a:latin typeface="宋体" pitchFamily="2" charset="-122"/>
                <a:ea typeface="宋体" panose="02010600030101010101" pitchFamily="2" charset="-122"/>
              </a:rPr>
              <a:t>:</a:t>
            </a:r>
            <a:br>
              <a:rPr lang="en-US" altLang="zh-CN" sz="2200" dirty="0">
                <a:latin typeface="宋体" pitchFamily="2" charset="-122"/>
                <a:ea typeface="宋体" panose="02010600030101010101" pitchFamily="2" charset="-122"/>
              </a:rPr>
            </a:br>
            <a:r>
              <a:rPr lang="zh-CN" altLang="en-US" sz="2200" dirty="0">
                <a:latin typeface="宋体" pitchFamily="2" charset="-122"/>
                <a:ea typeface="宋体" panose="02010600030101010101" pitchFamily="2" charset="-122"/>
              </a:rPr>
              <a:t>右部形如</a:t>
            </a:r>
            <a:r>
              <a:rPr lang="en-US" altLang="zh-CN" sz="2200" dirty="0">
                <a:latin typeface="宋体" pitchFamily="2" charset="-122"/>
                <a:ea typeface="宋体" panose="02010600030101010101" pitchFamily="2" charset="-122"/>
              </a:rPr>
              <a:t>: </a:t>
            </a:r>
            <a:r>
              <a:rPr lang="en-US" altLang="zh-CN" sz="2200" b="1" dirty="0" err="1">
                <a:solidFill>
                  <a:srgbClr val="0000FF"/>
                </a:solidFill>
                <a:latin typeface="宋体" panose="02010600030101010101" pitchFamily="2" charset="-122"/>
                <a:ea typeface="宋体" panose="02010600030101010101" pitchFamily="2" charset="-122"/>
              </a:rPr>
              <a:t>N</a:t>
            </a:r>
            <a:r>
              <a:rPr lang="en-US" altLang="zh-CN" sz="2200" b="1" baseline="-25000" dirty="0" err="1">
                <a:solidFill>
                  <a:srgbClr val="0000FF"/>
                </a:solidFill>
                <a:latin typeface="宋体" panose="02010600030101010101" pitchFamily="2" charset="-122"/>
                <a:ea typeface="宋体" panose="02010600030101010101" pitchFamily="2" charset="-122"/>
              </a:rPr>
              <a:t>i</a:t>
            </a:r>
            <a:r>
              <a:rPr lang="en-US" altLang="zh-CN" sz="2200" b="1" dirty="0" err="1">
                <a:solidFill>
                  <a:srgbClr val="0000FF"/>
                </a:solidFill>
                <a:latin typeface="宋体" panose="02010600030101010101" pitchFamily="2" charset="-122"/>
                <a:ea typeface="宋体" panose="02010600030101010101" pitchFamily="2" charset="-122"/>
              </a:rPr>
              <a:t>a</a:t>
            </a:r>
            <a:r>
              <a:rPr lang="en-US" altLang="zh-CN" sz="2200" b="1" baseline="-25000" dirty="0" err="1">
                <a:solidFill>
                  <a:srgbClr val="0000FF"/>
                </a:solidFill>
                <a:latin typeface="宋体" panose="02010600030101010101" pitchFamily="2" charset="-122"/>
                <a:ea typeface="宋体" panose="02010600030101010101" pitchFamily="2" charset="-122"/>
              </a:rPr>
              <a:t>i</a:t>
            </a:r>
            <a:r>
              <a:rPr lang="en-US" altLang="zh-CN" sz="2200" b="1" baseline="-25000" dirty="0">
                <a:solidFill>
                  <a:srgbClr val="0000FF"/>
                </a:solidFill>
                <a:latin typeface="宋体" panose="02010600030101010101" pitchFamily="2" charset="-122"/>
                <a:ea typeface="宋体" panose="02010600030101010101" pitchFamily="2" charset="-122"/>
              </a:rPr>
              <a:t> </a:t>
            </a:r>
            <a:r>
              <a:rPr lang="en-US" altLang="zh-CN" sz="2200" b="1" dirty="0">
                <a:solidFill>
                  <a:srgbClr val="0000FF"/>
                </a:solidFill>
                <a:latin typeface="宋体" panose="02010600030101010101" pitchFamily="2" charset="-122"/>
                <a:ea typeface="宋体" panose="02010600030101010101" pitchFamily="2" charset="-122"/>
              </a:rPr>
              <a:t>N</a:t>
            </a:r>
            <a:r>
              <a:rPr lang="en-US" altLang="zh-CN" sz="2200" b="1" baseline="-25000" dirty="0">
                <a:solidFill>
                  <a:srgbClr val="0000FF"/>
                </a:solidFill>
                <a:latin typeface="宋体" panose="02010600030101010101" pitchFamily="2" charset="-122"/>
                <a:ea typeface="宋体" panose="02010600030101010101" pitchFamily="2" charset="-122"/>
              </a:rPr>
              <a:t>i+1</a:t>
            </a:r>
            <a:r>
              <a:rPr lang="en-US" altLang="zh-CN" sz="2200" b="1" dirty="0">
                <a:solidFill>
                  <a:srgbClr val="0000FF"/>
                </a:solidFill>
                <a:latin typeface="宋体" panose="02010600030101010101" pitchFamily="2" charset="-122"/>
                <a:ea typeface="宋体" panose="02010600030101010101" pitchFamily="2" charset="-122"/>
              </a:rPr>
              <a:t>a</a:t>
            </a:r>
            <a:r>
              <a:rPr lang="en-US" altLang="zh-CN" sz="2200" b="1" baseline="-25000" dirty="0">
                <a:solidFill>
                  <a:srgbClr val="0000FF"/>
                </a:solidFill>
                <a:latin typeface="宋体" panose="02010600030101010101" pitchFamily="2" charset="-122"/>
                <a:ea typeface="宋体" panose="02010600030101010101" pitchFamily="2" charset="-122"/>
              </a:rPr>
              <a:t>i+1</a:t>
            </a:r>
            <a:r>
              <a:rPr lang="en-US" altLang="zh-CN" sz="2200" b="1" dirty="0">
                <a:solidFill>
                  <a:srgbClr val="0000FF"/>
                </a:solidFill>
                <a:latin typeface="宋体" panose="02010600030101010101" pitchFamily="2" charset="-122"/>
                <a:ea typeface="宋体" panose="02010600030101010101" pitchFamily="2" charset="-122"/>
              </a:rPr>
              <a:t>…</a:t>
            </a:r>
            <a:r>
              <a:rPr lang="en-US" altLang="zh-CN" sz="2200" b="1" baseline="-25000" dirty="0">
                <a:solidFill>
                  <a:srgbClr val="0000FF"/>
                </a:solidFill>
                <a:latin typeface="宋体" panose="02010600030101010101" pitchFamily="2" charset="-122"/>
                <a:ea typeface="宋体" panose="02010600030101010101" pitchFamily="2" charset="-122"/>
              </a:rPr>
              <a:t> </a:t>
            </a:r>
            <a:r>
              <a:rPr lang="en-US" altLang="zh-CN" sz="2200" b="1" dirty="0" err="1">
                <a:solidFill>
                  <a:srgbClr val="0000FF"/>
                </a:solidFill>
                <a:latin typeface="宋体" panose="02010600030101010101" pitchFamily="2" charset="-122"/>
                <a:ea typeface="宋体" panose="02010600030101010101" pitchFamily="2" charset="-122"/>
              </a:rPr>
              <a:t>N</a:t>
            </a:r>
            <a:r>
              <a:rPr lang="en-US" altLang="zh-CN" sz="2200" b="1" baseline="-25000" dirty="0" err="1">
                <a:solidFill>
                  <a:srgbClr val="0000FF"/>
                </a:solidFill>
                <a:latin typeface="宋体" panose="02010600030101010101" pitchFamily="2" charset="-122"/>
                <a:ea typeface="宋体" panose="02010600030101010101" pitchFamily="2" charset="-122"/>
              </a:rPr>
              <a:t>j</a:t>
            </a:r>
            <a:r>
              <a:rPr lang="en-US" altLang="zh-CN" sz="2200" b="1" dirty="0" err="1">
                <a:solidFill>
                  <a:srgbClr val="0000FF"/>
                </a:solidFill>
                <a:latin typeface="宋体" panose="02010600030101010101" pitchFamily="2" charset="-122"/>
                <a:ea typeface="宋体" panose="02010600030101010101" pitchFamily="2" charset="-122"/>
              </a:rPr>
              <a:t>a</a:t>
            </a:r>
            <a:r>
              <a:rPr lang="en-US" altLang="zh-CN" sz="2200" b="1" baseline="-25000" dirty="0" err="1">
                <a:solidFill>
                  <a:srgbClr val="0000FF"/>
                </a:solidFill>
                <a:latin typeface="宋体" panose="02010600030101010101" pitchFamily="2" charset="-122"/>
                <a:ea typeface="宋体" panose="02010600030101010101" pitchFamily="2" charset="-122"/>
              </a:rPr>
              <a:t>j</a:t>
            </a:r>
            <a:r>
              <a:rPr lang="en-US" altLang="zh-CN" sz="2200" b="1" baseline="-25000" dirty="0">
                <a:solidFill>
                  <a:srgbClr val="0000FF"/>
                </a:solidFill>
                <a:latin typeface="宋体" panose="02010600030101010101" pitchFamily="2" charset="-122"/>
                <a:ea typeface="宋体" panose="02010600030101010101" pitchFamily="2" charset="-122"/>
              </a:rPr>
              <a:t> </a:t>
            </a:r>
            <a:r>
              <a:rPr lang="en-US" altLang="zh-CN" sz="2200" b="1" dirty="0">
                <a:solidFill>
                  <a:srgbClr val="0000FF"/>
                </a:solidFill>
                <a:latin typeface="宋体" panose="02010600030101010101" pitchFamily="2" charset="-122"/>
                <a:ea typeface="宋体" panose="02010600030101010101" pitchFamily="2" charset="-122"/>
              </a:rPr>
              <a:t>N</a:t>
            </a:r>
            <a:r>
              <a:rPr lang="en-US" altLang="zh-CN" sz="2200" b="1" baseline="-25000" dirty="0">
                <a:solidFill>
                  <a:srgbClr val="0000FF"/>
                </a:solidFill>
                <a:latin typeface="宋体" panose="02010600030101010101" pitchFamily="2" charset="-122"/>
                <a:ea typeface="宋体" panose="02010600030101010101" pitchFamily="2" charset="-122"/>
              </a:rPr>
              <a:t>j+1</a:t>
            </a:r>
            <a:r>
              <a:rPr lang="en-US" altLang="zh-CN" sz="2200" dirty="0">
                <a:latin typeface="宋体" pitchFamily="2" charset="-122"/>
                <a:ea typeface="宋体" panose="02010600030101010101" pitchFamily="2" charset="-122"/>
              </a:rPr>
              <a:t>,</a:t>
            </a:r>
          </a:p>
          <a:p>
            <a:pPr eaLnBrk="1" hangingPunct="1">
              <a:buFontTx/>
              <a:buNone/>
            </a:pPr>
            <a:r>
              <a:rPr lang="en-US" altLang="zh-CN" sz="2200" dirty="0">
                <a:latin typeface="宋体" pitchFamily="2" charset="-122"/>
                <a:ea typeface="宋体" panose="02010600030101010101" pitchFamily="2" charset="-122"/>
              </a:rPr>
              <a:t>  </a:t>
            </a:r>
            <a:r>
              <a:rPr lang="zh-CN" altLang="en-US" sz="2200" dirty="0">
                <a:latin typeface="宋体" pitchFamily="2" charset="-122"/>
                <a:ea typeface="宋体" panose="02010600030101010101" pitchFamily="2" charset="-122"/>
              </a:rPr>
              <a:t>每个终结符号与最左素短语对应位置上的</a:t>
            </a:r>
            <a:r>
              <a:rPr lang="zh-CN" altLang="en-US" sz="2200" b="1" dirty="0">
                <a:solidFill>
                  <a:srgbClr val="0000FF"/>
                </a:solidFill>
                <a:latin typeface="宋体" pitchFamily="2" charset="-122"/>
                <a:ea typeface="宋体" panose="02010600030101010101" pitchFamily="2" charset="-122"/>
              </a:rPr>
              <a:t>终结符号完全相同</a:t>
            </a:r>
            <a:r>
              <a:rPr lang="en-US" altLang="zh-CN" sz="2200" dirty="0">
                <a:latin typeface="宋体" pitchFamily="2" charset="-122"/>
                <a:ea typeface="宋体" panose="02010600030101010101" pitchFamily="2" charset="-122"/>
              </a:rPr>
              <a:t>,</a:t>
            </a:r>
            <a:r>
              <a:rPr lang="zh-CN" altLang="en-US" sz="2200" dirty="0">
                <a:latin typeface="宋体" pitchFamily="2" charset="-122"/>
                <a:ea typeface="宋体" panose="02010600030101010101" pitchFamily="2" charset="-122"/>
              </a:rPr>
              <a:t>而每一个</a:t>
            </a:r>
            <a:r>
              <a:rPr lang="zh-CN" altLang="en-US" sz="2200" b="1" dirty="0">
                <a:solidFill>
                  <a:srgbClr val="0000FF"/>
                </a:solidFill>
                <a:latin typeface="宋体" pitchFamily="2" charset="-122"/>
                <a:ea typeface="宋体" panose="02010600030101010101" pitchFamily="2" charset="-122"/>
              </a:rPr>
              <a:t>非终结符号</a:t>
            </a:r>
            <a:r>
              <a:rPr lang="en-US" altLang="zh-CN" sz="2200" b="1" dirty="0" err="1">
                <a:solidFill>
                  <a:srgbClr val="0000FF"/>
                </a:solidFill>
                <a:latin typeface="宋体" pitchFamily="2" charset="-122"/>
                <a:ea typeface="宋体" panose="02010600030101010101" pitchFamily="2" charset="-122"/>
              </a:rPr>
              <a:t>U</a:t>
            </a:r>
            <a:r>
              <a:rPr lang="en-US" altLang="zh-CN" sz="2200" baseline="-25000" dirty="0" err="1">
                <a:latin typeface="宋体" pitchFamily="2" charset="-122"/>
                <a:ea typeface="宋体" panose="02010600030101010101" pitchFamily="2" charset="-122"/>
              </a:rPr>
              <a:t>k</a:t>
            </a:r>
            <a:r>
              <a:rPr lang="zh-CN" altLang="en-US" sz="2200" dirty="0">
                <a:latin typeface="宋体" pitchFamily="2" charset="-122"/>
                <a:ea typeface="宋体" panose="02010600030101010101" pitchFamily="2" charset="-122"/>
              </a:rPr>
              <a:t>应与相应位置上的非终结符号</a:t>
            </a:r>
            <a:r>
              <a:rPr lang="en-US" altLang="zh-CN" sz="2200" dirty="0" err="1">
                <a:latin typeface="宋体" pitchFamily="2" charset="-122"/>
                <a:ea typeface="宋体" panose="02010600030101010101" pitchFamily="2" charset="-122"/>
              </a:rPr>
              <a:t>Nk</a:t>
            </a:r>
            <a:r>
              <a:rPr lang="zh-CN" altLang="en-US" sz="2200" dirty="0">
                <a:latin typeface="宋体" pitchFamily="2" charset="-122"/>
                <a:ea typeface="宋体" panose="02010600030101010101" pitchFamily="2" charset="-122"/>
              </a:rPr>
              <a:t>相对应</a:t>
            </a:r>
            <a:r>
              <a:rPr lang="en-US" altLang="zh-CN" sz="2200" dirty="0">
                <a:latin typeface="宋体" pitchFamily="2" charset="-122"/>
                <a:ea typeface="宋体" panose="02010600030101010101" pitchFamily="2" charset="-122"/>
              </a:rPr>
              <a:t>,</a:t>
            </a:r>
            <a:r>
              <a:rPr lang="zh-CN" altLang="en-US" sz="2200" b="1" dirty="0">
                <a:solidFill>
                  <a:srgbClr val="0000FF"/>
                </a:solidFill>
                <a:latin typeface="宋体" pitchFamily="2" charset="-122"/>
                <a:ea typeface="宋体" panose="02010600030101010101" pitchFamily="2" charset="-122"/>
              </a:rPr>
              <a:t>不必完全相同</a:t>
            </a:r>
            <a:r>
              <a:rPr lang="zh-CN" altLang="en-US" sz="2200" dirty="0">
                <a:latin typeface="宋体" pitchFamily="2" charset="-122"/>
                <a:ea typeface="宋体" panose="02010600030101010101" pitchFamily="2" charset="-122"/>
              </a:rPr>
              <a:t>。</a:t>
            </a:r>
          </a:p>
        </p:txBody>
      </p:sp>
    </p:spTree>
    <p:extLst>
      <p:ext uri="{BB962C8B-B14F-4D97-AF65-F5344CB8AC3E}">
        <p14:creationId xmlns:p14="http://schemas.microsoft.com/office/powerpoint/2010/main" val="2431704370"/>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7" name="Rectangle 3"/>
          <p:cNvSpPr>
            <a:spLocks noGrp="1" noChangeArrowheads="1"/>
          </p:cNvSpPr>
          <p:nvPr>
            <p:ph type="body" idx="1"/>
          </p:nvPr>
        </p:nvSpPr>
        <p:spPr>
          <a:xfrm>
            <a:off x="0" y="469453"/>
            <a:ext cx="4860032" cy="4342630"/>
          </a:xfrm>
          <a:solidFill>
            <a:schemeClr val="bg1"/>
          </a:solidFill>
        </p:spPr>
        <p:txBody>
          <a:bodyPr>
            <a:normAutofit/>
          </a:bodyPr>
          <a:lstStyle/>
          <a:p>
            <a:pPr eaLnBrk="1" hangingPunct="1"/>
            <a:r>
              <a:rPr lang="zh-CN" altLang="en-US" sz="2200" dirty="0">
                <a:latin typeface="宋体" panose="02010600030101010101" pitchFamily="2" charset="-122"/>
                <a:ea typeface="宋体" panose="02010600030101010101" pitchFamily="2" charset="-122"/>
              </a:rPr>
              <a:t>算符优先分析不是严格的规范归约</a:t>
            </a:r>
          </a:p>
          <a:p>
            <a:pPr eaLnBrk="1" hangingPunct="1"/>
            <a:r>
              <a:rPr lang="zh-CN" altLang="en-US" sz="2200" dirty="0">
                <a:latin typeface="宋体" panose="02010600030101010101" pitchFamily="2" charset="-122"/>
                <a:ea typeface="宋体" panose="02010600030101010101" pitchFamily="2" charset="-122"/>
              </a:rPr>
              <a:t>不对文法的非终结符定义优先关系，无法发现由单个非终结符组成的“可归约串”。即无法使用单非产生式</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如：</a:t>
            </a:r>
            <a:r>
              <a:rPr lang="en-US" altLang="zh-CN" sz="2200" dirty="0">
                <a:latin typeface="宋体" panose="02010600030101010101" pitchFamily="2" charset="-122"/>
                <a:ea typeface="宋体" panose="02010600030101010101" pitchFamily="2" charset="-122"/>
              </a:rPr>
              <a:t>T</a:t>
            </a:r>
            <a:r>
              <a:rPr lang="en-US" altLang="zh-CN" sz="2200" dirty="0">
                <a:latin typeface="宋体" panose="02010600030101010101" pitchFamily="2" charset="-122"/>
                <a:ea typeface="宋体" panose="02010600030101010101" pitchFamily="2" charset="-122"/>
                <a:sym typeface="Wingdings" pitchFamily="2" charset="2"/>
              </a:rPr>
              <a:t>F)</a:t>
            </a:r>
            <a:r>
              <a:rPr lang="zh-CN" altLang="en-US" sz="2200" dirty="0">
                <a:latin typeface="宋体" panose="02010600030101010101" pitchFamily="2" charset="-122"/>
                <a:ea typeface="宋体" panose="02010600030101010101" pitchFamily="2" charset="-122"/>
              </a:rPr>
              <a:t>进行归约。</a:t>
            </a:r>
          </a:p>
          <a:p>
            <a:pPr eaLnBrk="1" hangingPunct="1"/>
            <a:r>
              <a:rPr lang="zh-CN" altLang="en-US" sz="2200" dirty="0">
                <a:latin typeface="宋体" panose="02010600030101010101" pitchFamily="2" charset="-122"/>
                <a:ea typeface="宋体" panose="02010600030101010101" pitchFamily="2" charset="-122"/>
              </a:rPr>
              <a:t>算符优先分析比规范归约过程要快，跳过了所有的单非终结产生式。</a:t>
            </a:r>
          </a:p>
          <a:p>
            <a:pPr eaLnBrk="1" hangingPunct="1"/>
            <a:r>
              <a:rPr lang="zh-CN" altLang="en-US" sz="2200" dirty="0">
                <a:latin typeface="宋体" panose="02010600030101010101" pitchFamily="2" charset="-122"/>
                <a:ea typeface="宋体" panose="02010600030101010101" pitchFamily="2" charset="-122"/>
              </a:rPr>
              <a:t>缺点是：可能将本来不是句子的输入串误认为是句子。</a:t>
            </a:r>
          </a:p>
        </p:txBody>
      </p:sp>
      <p:grpSp>
        <p:nvGrpSpPr>
          <p:cNvPr id="2" name="组合 1"/>
          <p:cNvGrpSpPr/>
          <p:nvPr/>
        </p:nvGrpSpPr>
        <p:grpSpPr>
          <a:xfrm>
            <a:off x="6326390" y="-57427"/>
            <a:ext cx="2867625" cy="2688510"/>
            <a:chOff x="148799" y="1794512"/>
            <a:chExt cx="2867625" cy="3506978"/>
          </a:xfrm>
        </p:grpSpPr>
        <p:sp>
          <p:nvSpPr>
            <p:cNvPr id="3" name="Line 4"/>
            <p:cNvSpPr>
              <a:spLocks noChangeShapeType="1"/>
            </p:cNvSpPr>
            <p:nvPr/>
          </p:nvSpPr>
          <p:spPr bwMode="auto">
            <a:xfrm flipV="1">
              <a:off x="460648" y="4438457"/>
              <a:ext cx="0" cy="363537"/>
            </a:xfrm>
            <a:prstGeom prst="line">
              <a:avLst/>
            </a:prstGeom>
            <a:noFill/>
            <a:ln w="28575">
              <a:solidFill>
                <a:srgbClr val="0000FF"/>
              </a:solidFill>
              <a:round/>
              <a:headEnd/>
              <a:tailEnd/>
            </a:ln>
          </p:spPr>
          <p:txBody>
            <a:bodyPr lIns="92075" tIns="46038" rIns="92075" bIns="46038"/>
            <a:lstStyle/>
            <a:p>
              <a:endParaRPr lang="zh-CN" altLang="en-US"/>
            </a:p>
          </p:txBody>
        </p:sp>
        <p:sp>
          <p:nvSpPr>
            <p:cNvPr id="4" name="Line 5"/>
            <p:cNvSpPr>
              <a:spLocks noChangeShapeType="1"/>
            </p:cNvSpPr>
            <p:nvPr/>
          </p:nvSpPr>
          <p:spPr bwMode="auto">
            <a:xfrm flipV="1">
              <a:off x="543099" y="2281712"/>
              <a:ext cx="415925" cy="544314"/>
            </a:xfrm>
            <a:prstGeom prst="line">
              <a:avLst/>
            </a:prstGeom>
            <a:noFill/>
            <a:ln w="28575">
              <a:solidFill>
                <a:srgbClr val="0000FF"/>
              </a:solidFill>
              <a:round/>
              <a:headEnd/>
              <a:tailEnd/>
            </a:ln>
          </p:spPr>
          <p:txBody>
            <a:bodyPr lIns="92075" tIns="46038" rIns="92075" bIns="46038"/>
            <a:lstStyle/>
            <a:p>
              <a:endParaRPr lang="zh-CN" altLang="en-US"/>
            </a:p>
          </p:txBody>
        </p:sp>
        <p:sp>
          <p:nvSpPr>
            <p:cNvPr id="5" name="Line 6"/>
            <p:cNvSpPr>
              <a:spLocks noChangeShapeType="1"/>
            </p:cNvSpPr>
            <p:nvPr/>
          </p:nvSpPr>
          <p:spPr bwMode="auto">
            <a:xfrm flipV="1">
              <a:off x="959024" y="2281712"/>
              <a:ext cx="93880" cy="2520280"/>
            </a:xfrm>
            <a:prstGeom prst="line">
              <a:avLst/>
            </a:prstGeom>
            <a:noFill/>
            <a:ln w="28575">
              <a:solidFill>
                <a:srgbClr val="0000FF"/>
              </a:solidFill>
              <a:round/>
              <a:headEnd/>
              <a:tailEnd/>
            </a:ln>
          </p:spPr>
          <p:txBody>
            <a:bodyPr lIns="92075" tIns="46038" rIns="92075" bIns="46038"/>
            <a:lstStyle/>
            <a:p>
              <a:endParaRPr lang="zh-CN" altLang="en-US"/>
            </a:p>
          </p:txBody>
        </p:sp>
        <p:sp>
          <p:nvSpPr>
            <p:cNvPr id="6" name="Line 7"/>
            <p:cNvSpPr>
              <a:spLocks noChangeShapeType="1"/>
            </p:cNvSpPr>
            <p:nvPr/>
          </p:nvSpPr>
          <p:spPr bwMode="auto">
            <a:xfrm flipH="1" flipV="1">
              <a:off x="2008578" y="3175423"/>
              <a:ext cx="612310" cy="978499"/>
            </a:xfrm>
            <a:prstGeom prst="line">
              <a:avLst/>
            </a:prstGeom>
            <a:noFill/>
            <a:ln w="28575">
              <a:solidFill>
                <a:srgbClr val="0000FF"/>
              </a:solidFill>
              <a:round/>
              <a:headEnd/>
              <a:tailEnd/>
            </a:ln>
          </p:spPr>
          <p:txBody>
            <a:bodyPr lIns="92075" tIns="46038" rIns="92075" bIns="46038"/>
            <a:lstStyle/>
            <a:p>
              <a:endParaRPr lang="zh-CN" altLang="en-US"/>
            </a:p>
          </p:txBody>
        </p:sp>
        <p:sp>
          <p:nvSpPr>
            <p:cNvPr id="7" name="Line 8"/>
            <p:cNvSpPr>
              <a:spLocks noChangeShapeType="1"/>
            </p:cNvSpPr>
            <p:nvPr/>
          </p:nvSpPr>
          <p:spPr bwMode="auto">
            <a:xfrm flipH="1" flipV="1">
              <a:off x="1927398" y="3202808"/>
              <a:ext cx="92075" cy="1599185"/>
            </a:xfrm>
            <a:prstGeom prst="line">
              <a:avLst/>
            </a:prstGeom>
            <a:noFill/>
            <a:ln w="28575">
              <a:solidFill>
                <a:srgbClr val="0000FF"/>
              </a:solidFill>
              <a:round/>
              <a:headEnd/>
              <a:tailEnd/>
            </a:ln>
          </p:spPr>
          <p:txBody>
            <a:bodyPr lIns="92075" tIns="46038" rIns="92075" bIns="46038"/>
            <a:lstStyle/>
            <a:p>
              <a:endParaRPr lang="zh-CN" altLang="en-US"/>
            </a:p>
          </p:txBody>
        </p:sp>
        <p:sp>
          <p:nvSpPr>
            <p:cNvPr id="8" name="Line 9"/>
            <p:cNvSpPr>
              <a:spLocks noChangeShapeType="1"/>
            </p:cNvSpPr>
            <p:nvPr/>
          </p:nvSpPr>
          <p:spPr bwMode="auto">
            <a:xfrm flipV="1">
              <a:off x="1544812" y="3175425"/>
              <a:ext cx="240506" cy="285600"/>
            </a:xfrm>
            <a:prstGeom prst="line">
              <a:avLst/>
            </a:prstGeom>
            <a:noFill/>
            <a:ln w="28575">
              <a:solidFill>
                <a:srgbClr val="0000FF"/>
              </a:solidFill>
              <a:round/>
              <a:headEnd/>
              <a:tailEnd/>
            </a:ln>
          </p:spPr>
          <p:txBody>
            <a:bodyPr lIns="92075" tIns="46038" rIns="92075" bIns="46038"/>
            <a:lstStyle/>
            <a:p>
              <a:endParaRPr lang="zh-CN" altLang="en-US"/>
            </a:p>
          </p:txBody>
        </p:sp>
        <p:sp>
          <p:nvSpPr>
            <p:cNvPr id="9" name="Line 10"/>
            <p:cNvSpPr>
              <a:spLocks noChangeShapeType="1"/>
            </p:cNvSpPr>
            <p:nvPr/>
          </p:nvSpPr>
          <p:spPr bwMode="auto">
            <a:xfrm flipV="1">
              <a:off x="1511474" y="4427344"/>
              <a:ext cx="0" cy="3746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 name="Line 11"/>
            <p:cNvSpPr>
              <a:spLocks noChangeShapeType="1"/>
            </p:cNvSpPr>
            <p:nvPr/>
          </p:nvSpPr>
          <p:spPr bwMode="auto">
            <a:xfrm flipH="1" flipV="1">
              <a:off x="2620888" y="4470207"/>
              <a:ext cx="6350" cy="331787"/>
            </a:xfrm>
            <a:prstGeom prst="line">
              <a:avLst/>
            </a:prstGeom>
            <a:noFill/>
            <a:ln w="28575">
              <a:solidFill>
                <a:srgbClr val="0000FF"/>
              </a:solidFill>
              <a:round/>
              <a:headEnd/>
              <a:tailEnd/>
            </a:ln>
          </p:spPr>
          <p:txBody>
            <a:bodyPr lIns="92075" tIns="46038" rIns="92075" bIns="46038"/>
            <a:lstStyle/>
            <a:p>
              <a:endParaRPr lang="zh-CN" altLang="en-US"/>
            </a:p>
          </p:txBody>
        </p:sp>
        <p:sp>
          <p:nvSpPr>
            <p:cNvPr id="11" name="Line 12"/>
            <p:cNvSpPr>
              <a:spLocks noChangeShapeType="1"/>
            </p:cNvSpPr>
            <p:nvPr/>
          </p:nvSpPr>
          <p:spPr bwMode="auto">
            <a:xfrm flipH="1" flipV="1">
              <a:off x="1052904" y="2281711"/>
              <a:ext cx="862120" cy="544314"/>
            </a:xfrm>
            <a:prstGeom prst="line">
              <a:avLst/>
            </a:prstGeom>
            <a:noFill/>
            <a:ln w="28575">
              <a:solidFill>
                <a:srgbClr val="0000FF"/>
              </a:solidFill>
              <a:round/>
              <a:headEnd/>
              <a:tailEnd/>
            </a:ln>
          </p:spPr>
          <p:txBody>
            <a:bodyPr lIns="92075" tIns="46038" rIns="92075" bIns="46038"/>
            <a:lstStyle/>
            <a:p>
              <a:endParaRPr lang="zh-CN" altLang="en-US"/>
            </a:p>
          </p:txBody>
        </p:sp>
        <p:sp>
          <p:nvSpPr>
            <p:cNvPr id="12" name="Rectangle 15"/>
            <p:cNvSpPr>
              <a:spLocks noChangeArrowheads="1"/>
            </p:cNvSpPr>
            <p:nvPr/>
          </p:nvSpPr>
          <p:spPr bwMode="auto">
            <a:xfrm>
              <a:off x="148799" y="4699279"/>
              <a:ext cx="2867625" cy="602211"/>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a:solidFill>
                    <a:srgbClr val="FF0066"/>
                  </a:solidFill>
                  <a:latin typeface="宋体" pitchFamily="2" charset="-122"/>
                  <a:ea typeface="华文行楷" pitchFamily="2" charset="-122"/>
                </a:rPr>
                <a:t>i</a:t>
              </a:r>
              <a:r>
                <a:rPr lang="en-US" altLang="zh-CN" sz="2400" baseline="-25000" dirty="0">
                  <a:solidFill>
                    <a:srgbClr val="FF0066"/>
                  </a:solidFill>
                  <a:latin typeface="宋体" pitchFamily="2" charset="-122"/>
                  <a:ea typeface="华文行楷" pitchFamily="2" charset="-122"/>
                </a:rPr>
                <a:t>1</a:t>
              </a:r>
              <a:r>
                <a:rPr lang="en-US" altLang="zh-CN" sz="2400" dirty="0">
                  <a:solidFill>
                    <a:srgbClr val="FF0066"/>
                  </a:solidFill>
                  <a:latin typeface="宋体" pitchFamily="2" charset="-122"/>
                  <a:ea typeface="华文行楷" pitchFamily="2" charset="-122"/>
                </a:rPr>
                <a:t>  +   i</a:t>
              </a:r>
              <a:r>
                <a:rPr lang="en-US" altLang="zh-CN" sz="2400" baseline="-25000" dirty="0">
                  <a:solidFill>
                    <a:srgbClr val="FF0066"/>
                  </a:solidFill>
                  <a:latin typeface="宋体" pitchFamily="2" charset="-122"/>
                  <a:ea typeface="华文行楷" pitchFamily="2" charset="-122"/>
                </a:rPr>
                <a:t>2</a:t>
              </a:r>
              <a:r>
                <a:rPr lang="en-US" altLang="zh-CN" sz="2400" dirty="0">
                  <a:solidFill>
                    <a:srgbClr val="FF0066"/>
                  </a:solidFill>
                  <a:latin typeface="宋体" pitchFamily="2" charset="-122"/>
                  <a:ea typeface="华文行楷" pitchFamily="2" charset="-122"/>
                </a:rPr>
                <a:t>  *   i</a:t>
              </a:r>
              <a:r>
                <a:rPr lang="en-US" altLang="zh-CN" sz="2400" baseline="-25000" dirty="0">
                  <a:solidFill>
                    <a:srgbClr val="FF0066"/>
                  </a:solidFill>
                  <a:latin typeface="宋体" pitchFamily="2" charset="-122"/>
                  <a:ea typeface="华文行楷" pitchFamily="2" charset="-122"/>
                </a:rPr>
                <a:t>3</a:t>
              </a:r>
            </a:p>
          </p:txBody>
        </p:sp>
        <p:sp>
          <p:nvSpPr>
            <p:cNvPr id="13" name="Text Box 16"/>
            <p:cNvSpPr txBox="1">
              <a:spLocks noChangeArrowheads="1"/>
            </p:cNvSpPr>
            <p:nvPr/>
          </p:nvSpPr>
          <p:spPr bwMode="auto">
            <a:xfrm>
              <a:off x="316632" y="4032528"/>
              <a:ext cx="315912"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14" name="Line 17"/>
            <p:cNvSpPr>
              <a:spLocks noChangeShapeType="1"/>
            </p:cNvSpPr>
            <p:nvPr/>
          </p:nvSpPr>
          <p:spPr bwMode="auto">
            <a:xfrm flipV="1">
              <a:off x="460648" y="3747522"/>
              <a:ext cx="0" cy="406400"/>
            </a:xfrm>
            <a:prstGeom prst="line">
              <a:avLst/>
            </a:prstGeom>
            <a:noFill/>
            <a:ln w="28575">
              <a:solidFill>
                <a:srgbClr val="0000FF"/>
              </a:solidFill>
              <a:round/>
              <a:headEnd/>
              <a:tailEnd/>
            </a:ln>
          </p:spPr>
          <p:txBody>
            <a:bodyPr lIns="92075" tIns="46038" rIns="92075" bIns="46038"/>
            <a:lstStyle/>
            <a:p>
              <a:endParaRPr lang="zh-CN" altLang="en-US"/>
            </a:p>
          </p:txBody>
        </p:sp>
        <p:sp>
          <p:nvSpPr>
            <p:cNvPr id="15" name="Text Box 18"/>
            <p:cNvSpPr txBox="1">
              <a:spLocks noChangeArrowheads="1"/>
            </p:cNvSpPr>
            <p:nvPr/>
          </p:nvSpPr>
          <p:spPr bwMode="auto">
            <a:xfrm>
              <a:off x="316632" y="3361834"/>
              <a:ext cx="315912"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6" name="Line 19"/>
            <p:cNvSpPr>
              <a:spLocks noChangeShapeType="1"/>
            </p:cNvSpPr>
            <p:nvPr/>
          </p:nvSpPr>
          <p:spPr bwMode="auto">
            <a:xfrm flipV="1">
              <a:off x="474588" y="3175424"/>
              <a:ext cx="19286" cy="306240"/>
            </a:xfrm>
            <a:prstGeom prst="line">
              <a:avLst/>
            </a:prstGeom>
            <a:noFill/>
            <a:ln w="28575">
              <a:solidFill>
                <a:srgbClr val="0000FF"/>
              </a:solidFill>
              <a:round/>
              <a:headEnd/>
              <a:tailEnd/>
            </a:ln>
          </p:spPr>
          <p:txBody>
            <a:bodyPr lIns="92075" tIns="46038" rIns="92075" bIns="46038"/>
            <a:lstStyle/>
            <a:p>
              <a:endParaRPr lang="zh-CN" altLang="en-US"/>
            </a:p>
          </p:txBody>
        </p:sp>
        <p:sp>
          <p:nvSpPr>
            <p:cNvPr id="17" name="Text Box 20"/>
            <p:cNvSpPr txBox="1">
              <a:spLocks noChangeArrowheads="1"/>
            </p:cNvSpPr>
            <p:nvPr/>
          </p:nvSpPr>
          <p:spPr bwMode="auto">
            <a:xfrm>
              <a:off x="370062" y="2687997"/>
              <a:ext cx="287337" cy="461665"/>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sp>
          <p:nvSpPr>
            <p:cNvPr id="18" name="Text Box 22"/>
            <p:cNvSpPr txBox="1">
              <a:spLocks noChangeArrowheads="1"/>
            </p:cNvSpPr>
            <p:nvPr/>
          </p:nvSpPr>
          <p:spPr bwMode="auto">
            <a:xfrm>
              <a:off x="1370187" y="4046816"/>
              <a:ext cx="315912" cy="460375"/>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solidFill>
                    <a:srgbClr val="FF0066"/>
                  </a:solidFill>
                  <a:ea typeface="华文行楷" pitchFamily="2" charset="-122"/>
                </a:rPr>
                <a:t>F</a:t>
              </a:r>
            </a:p>
          </p:txBody>
        </p:sp>
        <p:sp>
          <p:nvSpPr>
            <p:cNvPr id="19" name="Line 23"/>
            <p:cNvSpPr>
              <a:spLocks noChangeShapeType="1"/>
            </p:cNvSpPr>
            <p:nvPr/>
          </p:nvSpPr>
          <p:spPr bwMode="auto">
            <a:xfrm flipV="1">
              <a:off x="1498774" y="3777684"/>
              <a:ext cx="0" cy="376238"/>
            </a:xfrm>
            <a:prstGeom prst="line">
              <a:avLst/>
            </a:prstGeom>
            <a:noFill/>
            <a:ln w="28575">
              <a:solidFill>
                <a:srgbClr val="0000FF"/>
              </a:solidFill>
              <a:round/>
              <a:headEnd/>
              <a:tailEnd/>
            </a:ln>
          </p:spPr>
          <p:txBody>
            <a:bodyPr lIns="92075" tIns="46038" rIns="92075" bIns="46038"/>
            <a:lstStyle/>
            <a:p>
              <a:endParaRPr lang="zh-CN" altLang="en-US"/>
            </a:p>
          </p:txBody>
        </p:sp>
        <p:sp>
          <p:nvSpPr>
            <p:cNvPr id="20" name="Text Box 24"/>
            <p:cNvSpPr txBox="1">
              <a:spLocks noChangeArrowheads="1"/>
            </p:cNvSpPr>
            <p:nvPr/>
          </p:nvSpPr>
          <p:spPr bwMode="auto">
            <a:xfrm>
              <a:off x="1314624" y="3361834"/>
              <a:ext cx="315913"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21" name="Text Box 25"/>
            <p:cNvSpPr txBox="1">
              <a:spLocks noChangeArrowheads="1"/>
            </p:cNvSpPr>
            <p:nvPr/>
          </p:nvSpPr>
          <p:spPr bwMode="auto">
            <a:xfrm>
              <a:off x="2476872" y="4080153"/>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22" name="Text Box 26"/>
            <p:cNvSpPr txBox="1">
              <a:spLocks noChangeArrowheads="1"/>
            </p:cNvSpPr>
            <p:nvPr/>
          </p:nvSpPr>
          <p:spPr bwMode="auto">
            <a:xfrm>
              <a:off x="1757068" y="2686194"/>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23" name="Text Box 27"/>
            <p:cNvSpPr txBox="1">
              <a:spLocks noChangeArrowheads="1"/>
            </p:cNvSpPr>
            <p:nvPr/>
          </p:nvSpPr>
          <p:spPr bwMode="auto">
            <a:xfrm>
              <a:off x="860022" y="1794512"/>
              <a:ext cx="310357" cy="602211"/>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grpSp>
      <p:grpSp>
        <p:nvGrpSpPr>
          <p:cNvPr id="47" name="组合 46"/>
          <p:cNvGrpSpPr/>
          <p:nvPr/>
        </p:nvGrpSpPr>
        <p:grpSpPr>
          <a:xfrm>
            <a:off x="5224990" y="2688232"/>
            <a:ext cx="2867625" cy="2158267"/>
            <a:chOff x="148799" y="2486178"/>
            <a:chExt cx="2867625" cy="2815312"/>
          </a:xfrm>
        </p:grpSpPr>
        <p:sp>
          <p:nvSpPr>
            <p:cNvPr id="48" name="Line 4"/>
            <p:cNvSpPr>
              <a:spLocks noChangeShapeType="1"/>
            </p:cNvSpPr>
            <p:nvPr/>
          </p:nvSpPr>
          <p:spPr bwMode="auto">
            <a:xfrm flipV="1">
              <a:off x="460648" y="4438457"/>
              <a:ext cx="0" cy="363537"/>
            </a:xfrm>
            <a:prstGeom prst="line">
              <a:avLst/>
            </a:prstGeom>
            <a:noFill/>
            <a:ln w="28575">
              <a:solidFill>
                <a:srgbClr val="0000FF"/>
              </a:solidFill>
              <a:round/>
              <a:headEnd/>
              <a:tailEnd/>
            </a:ln>
          </p:spPr>
          <p:txBody>
            <a:bodyPr lIns="92075" tIns="46038" rIns="92075" bIns="46038"/>
            <a:lstStyle/>
            <a:p>
              <a:endParaRPr lang="zh-CN" altLang="en-US"/>
            </a:p>
          </p:txBody>
        </p:sp>
        <p:sp>
          <p:nvSpPr>
            <p:cNvPr id="49" name="Line 5"/>
            <p:cNvSpPr>
              <a:spLocks noChangeShapeType="1"/>
            </p:cNvSpPr>
            <p:nvPr/>
          </p:nvSpPr>
          <p:spPr bwMode="auto">
            <a:xfrm flipV="1">
              <a:off x="484469" y="3070964"/>
              <a:ext cx="521495" cy="1088629"/>
            </a:xfrm>
            <a:prstGeom prst="line">
              <a:avLst/>
            </a:prstGeom>
            <a:noFill/>
            <a:ln w="28575">
              <a:solidFill>
                <a:srgbClr val="0000FF"/>
              </a:solidFill>
              <a:round/>
              <a:headEnd/>
              <a:tailEnd/>
            </a:ln>
          </p:spPr>
          <p:txBody>
            <a:bodyPr lIns="92075" tIns="46038" rIns="92075" bIns="46038"/>
            <a:lstStyle/>
            <a:p>
              <a:endParaRPr lang="zh-CN" altLang="en-US"/>
            </a:p>
          </p:txBody>
        </p:sp>
        <p:sp>
          <p:nvSpPr>
            <p:cNvPr id="50" name="Line 6"/>
            <p:cNvSpPr>
              <a:spLocks noChangeShapeType="1"/>
            </p:cNvSpPr>
            <p:nvPr/>
          </p:nvSpPr>
          <p:spPr bwMode="auto">
            <a:xfrm flipV="1">
              <a:off x="959024" y="3070964"/>
              <a:ext cx="56176" cy="1731028"/>
            </a:xfrm>
            <a:prstGeom prst="line">
              <a:avLst/>
            </a:prstGeom>
            <a:noFill/>
            <a:ln w="28575">
              <a:solidFill>
                <a:srgbClr val="0000FF"/>
              </a:solidFill>
              <a:round/>
              <a:headEnd/>
              <a:tailEnd/>
            </a:ln>
          </p:spPr>
          <p:txBody>
            <a:bodyPr lIns="92075" tIns="46038" rIns="92075" bIns="46038"/>
            <a:lstStyle/>
            <a:p>
              <a:endParaRPr lang="zh-CN" altLang="en-US"/>
            </a:p>
          </p:txBody>
        </p:sp>
        <p:sp>
          <p:nvSpPr>
            <p:cNvPr id="51" name="Line 7"/>
            <p:cNvSpPr>
              <a:spLocks noChangeShapeType="1"/>
            </p:cNvSpPr>
            <p:nvPr/>
          </p:nvSpPr>
          <p:spPr bwMode="auto">
            <a:xfrm flipH="1" flipV="1">
              <a:off x="2114752" y="3887434"/>
              <a:ext cx="362120" cy="325542"/>
            </a:xfrm>
            <a:prstGeom prst="line">
              <a:avLst/>
            </a:prstGeom>
            <a:noFill/>
            <a:ln w="28575">
              <a:solidFill>
                <a:srgbClr val="0000FF"/>
              </a:solidFill>
              <a:round/>
              <a:headEnd/>
              <a:tailEnd/>
            </a:ln>
          </p:spPr>
          <p:txBody>
            <a:bodyPr lIns="92075" tIns="46038" rIns="92075" bIns="46038"/>
            <a:lstStyle/>
            <a:p>
              <a:endParaRPr lang="zh-CN" altLang="en-US"/>
            </a:p>
          </p:txBody>
        </p:sp>
        <p:sp>
          <p:nvSpPr>
            <p:cNvPr id="52" name="Line 8"/>
            <p:cNvSpPr>
              <a:spLocks noChangeShapeType="1"/>
            </p:cNvSpPr>
            <p:nvPr/>
          </p:nvSpPr>
          <p:spPr bwMode="auto">
            <a:xfrm flipH="1" flipV="1">
              <a:off x="1946918" y="3927374"/>
              <a:ext cx="72554" cy="874618"/>
            </a:xfrm>
            <a:prstGeom prst="line">
              <a:avLst/>
            </a:prstGeom>
            <a:noFill/>
            <a:ln w="28575">
              <a:solidFill>
                <a:srgbClr val="0000FF"/>
              </a:solidFill>
              <a:round/>
              <a:headEnd/>
              <a:tailEnd/>
            </a:ln>
          </p:spPr>
          <p:txBody>
            <a:bodyPr lIns="92075" tIns="46038" rIns="92075" bIns="46038"/>
            <a:lstStyle/>
            <a:p>
              <a:endParaRPr lang="zh-CN" altLang="en-US"/>
            </a:p>
          </p:txBody>
        </p:sp>
        <p:sp>
          <p:nvSpPr>
            <p:cNvPr id="53" name="Line 9"/>
            <p:cNvSpPr>
              <a:spLocks noChangeShapeType="1"/>
            </p:cNvSpPr>
            <p:nvPr/>
          </p:nvSpPr>
          <p:spPr bwMode="auto">
            <a:xfrm flipV="1">
              <a:off x="1483964" y="3927375"/>
              <a:ext cx="240506" cy="285600"/>
            </a:xfrm>
            <a:prstGeom prst="line">
              <a:avLst/>
            </a:prstGeom>
            <a:noFill/>
            <a:ln w="28575">
              <a:solidFill>
                <a:srgbClr val="0000FF"/>
              </a:solidFill>
              <a:round/>
              <a:headEnd/>
              <a:tailEnd/>
            </a:ln>
          </p:spPr>
          <p:txBody>
            <a:bodyPr lIns="92075" tIns="46038" rIns="92075" bIns="46038"/>
            <a:lstStyle/>
            <a:p>
              <a:endParaRPr lang="zh-CN" altLang="en-US"/>
            </a:p>
          </p:txBody>
        </p:sp>
        <p:sp>
          <p:nvSpPr>
            <p:cNvPr id="54" name="Line 10"/>
            <p:cNvSpPr>
              <a:spLocks noChangeShapeType="1"/>
            </p:cNvSpPr>
            <p:nvPr/>
          </p:nvSpPr>
          <p:spPr bwMode="auto">
            <a:xfrm flipV="1">
              <a:off x="1511474" y="4427344"/>
              <a:ext cx="0" cy="374650"/>
            </a:xfrm>
            <a:prstGeom prst="line">
              <a:avLst/>
            </a:prstGeom>
            <a:noFill/>
            <a:ln w="28575">
              <a:solidFill>
                <a:srgbClr val="0000FF"/>
              </a:solidFill>
              <a:round/>
              <a:headEnd/>
              <a:tailEnd/>
            </a:ln>
          </p:spPr>
          <p:txBody>
            <a:bodyPr lIns="92075" tIns="46038" rIns="92075" bIns="46038"/>
            <a:lstStyle/>
            <a:p>
              <a:endParaRPr lang="zh-CN" altLang="en-US"/>
            </a:p>
          </p:txBody>
        </p:sp>
        <p:sp>
          <p:nvSpPr>
            <p:cNvPr id="55" name="Line 11"/>
            <p:cNvSpPr>
              <a:spLocks noChangeShapeType="1"/>
            </p:cNvSpPr>
            <p:nvPr/>
          </p:nvSpPr>
          <p:spPr bwMode="auto">
            <a:xfrm flipH="1" flipV="1">
              <a:off x="2620888" y="4470207"/>
              <a:ext cx="6350" cy="331787"/>
            </a:xfrm>
            <a:prstGeom prst="line">
              <a:avLst/>
            </a:prstGeom>
            <a:noFill/>
            <a:ln w="28575">
              <a:solidFill>
                <a:srgbClr val="0000FF"/>
              </a:solidFill>
              <a:round/>
              <a:headEnd/>
              <a:tailEnd/>
            </a:ln>
          </p:spPr>
          <p:txBody>
            <a:bodyPr lIns="92075" tIns="46038" rIns="92075" bIns="46038"/>
            <a:lstStyle/>
            <a:p>
              <a:endParaRPr lang="zh-CN" altLang="en-US"/>
            </a:p>
          </p:txBody>
        </p:sp>
        <p:sp>
          <p:nvSpPr>
            <p:cNvPr id="56" name="Line 12"/>
            <p:cNvSpPr>
              <a:spLocks noChangeShapeType="1"/>
            </p:cNvSpPr>
            <p:nvPr/>
          </p:nvSpPr>
          <p:spPr bwMode="auto">
            <a:xfrm flipH="1" flipV="1">
              <a:off x="1005964" y="3070963"/>
              <a:ext cx="751479" cy="544315"/>
            </a:xfrm>
            <a:prstGeom prst="line">
              <a:avLst/>
            </a:prstGeom>
            <a:noFill/>
            <a:ln w="28575">
              <a:solidFill>
                <a:srgbClr val="0000FF"/>
              </a:solidFill>
              <a:round/>
              <a:headEnd/>
              <a:tailEnd/>
            </a:ln>
          </p:spPr>
          <p:txBody>
            <a:bodyPr lIns="92075" tIns="46038" rIns="92075" bIns="46038"/>
            <a:lstStyle/>
            <a:p>
              <a:endParaRPr lang="zh-CN" altLang="en-US"/>
            </a:p>
          </p:txBody>
        </p:sp>
        <p:sp>
          <p:nvSpPr>
            <p:cNvPr id="57" name="Rectangle 15"/>
            <p:cNvSpPr>
              <a:spLocks noChangeArrowheads="1"/>
            </p:cNvSpPr>
            <p:nvPr/>
          </p:nvSpPr>
          <p:spPr bwMode="auto">
            <a:xfrm>
              <a:off x="148799" y="4699279"/>
              <a:ext cx="2867625" cy="602211"/>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400" dirty="0">
                  <a:solidFill>
                    <a:srgbClr val="FF0066"/>
                  </a:solidFill>
                  <a:latin typeface="宋体" pitchFamily="2" charset="-122"/>
                  <a:ea typeface="华文行楷" pitchFamily="2" charset="-122"/>
                </a:rPr>
                <a:t>i</a:t>
              </a:r>
              <a:r>
                <a:rPr lang="en-US" altLang="zh-CN" sz="2400" baseline="-25000" dirty="0">
                  <a:solidFill>
                    <a:srgbClr val="FF0066"/>
                  </a:solidFill>
                  <a:latin typeface="宋体" pitchFamily="2" charset="-122"/>
                  <a:ea typeface="华文行楷" pitchFamily="2" charset="-122"/>
                </a:rPr>
                <a:t>1</a:t>
              </a:r>
              <a:r>
                <a:rPr lang="en-US" altLang="zh-CN" sz="2400" dirty="0">
                  <a:solidFill>
                    <a:srgbClr val="FF0066"/>
                  </a:solidFill>
                  <a:latin typeface="宋体" pitchFamily="2" charset="-122"/>
                  <a:ea typeface="华文行楷" pitchFamily="2" charset="-122"/>
                </a:rPr>
                <a:t>  +   i</a:t>
              </a:r>
              <a:r>
                <a:rPr lang="en-US" altLang="zh-CN" sz="2400" baseline="-25000" dirty="0">
                  <a:solidFill>
                    <a:srgbClr val="FF0066"/>
                  </a:solidFill>
                  <a:latin typeface="宋体" pitchFamily="2" charset="-122"/>
                  <a:ea typeface="华文行楷" pitchFamily="2" charset="-122"/>
                </a:rPr>
                <a:t>2</a:t>
              </a:r>
              <a:r>
                <a:rPr lang="en-US" altLang="zh-CN" sz="2400" dirty="0">
                  <a:solidFill>
                    <a:srgbClr val="FF0066"/>
                  </a:solidFill>
                  <a:latin typeface="宋体" pitchFamily="2" charset="-122"/>
                  <a:ea typeface="华文行楷" pitchFamily="2" charset="-122"/>
                </a:rPr>
                <a:t>  *   i</a:t>
              </a:r>
              <a:r>
                <a:rPr lang="en-US" altLang="zh-CN" sz="2400" baseline="-25000" dirty="0">
                  <a:solidFill>
                    <a:srgbClr val="FF0066"/>
                  </a:solidFill>
                  <a:latin typeface="宋体" pitchFamily="2" charset="-122"/>
                  <a:ea typeface="华文行楷" pitchFamily="2" charset="-122"/>
                </a:rPr>
                <a:t>3</a:t>
              </a:r>
            </a:p>
          </p:txBody>
        </p:sp>
        <p:sp>
          <p:nvSpPr>
            <p:cNvPr id="58" name="Text Box 16"/>
            <p:cNvSpPr txBox="1">
              <a:spLocks noChangeArrowheads="1"/>
            </p:cNvSpPr>
            <p:nvPr/>
          </p:nvSpPr>
          <p:spPr bwMode="auto">
            <a:xfrm>
              <a:off x="316632" y="4032528"/>
              <a:ext cx="315912"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63" name="Text Box 22"/>
            <p:cNvSpPr txBox="1">
              <a:spLocks noChangeArrowheads="1"/>
            </p:cNvSpPr>
            <p:nvPr/>
          </p:nvSpPr>
          <p:spPr bwMode="auto">
            <a:xfrm>
              <a:off x="1370187" y="4046816"/>
              <a:ext cx="315912" cy="460375"/>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solidFill>
                    <a:srgbClr val="FF0066"/>
                  </a:solidFill>
                  <a:ea typeface="华文行楷" pitchFamily="2" charset="-122"/>
                </a:rPr>
                <a:t>F</a:t>
              </a:r>
            </a:p>
          </p:txBody>
        </p:sp>
        <p:sp>
          <p:nvSpPr>
            <p:cNvPr id="66" name="Text Box 25"/>
            <p:cNvSpPr txBox="1">
              <a:spLocks noChangeArrowheads="1"/>
            </p:cNvSpPr>
            <p:nvPr/>
          </p:nvSpPr>
          <p:spPr bwMode="auto">
            <a:xfrm>
              <a:off x="2476872" y="4080153"/>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67" name="Text Box 26"/>
            <p:cNvSpPr txBox="1">
              <a:spLocks noChangeArrowheads="1"/>
            </p:cNvSpPr>
            <p:nvPr/>
          </p:nvSpPr>
          <p:spPr bwMode="auto">
            <a:xfrm>
              <a:off x="1757443" y="3433158"/>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68" name="Text Box 27"/>
            <p:cNvSpPr txBox="1">
              <a:spLocks noChangeArrowheads="1"/>
            </p:cNvSpPr>
            <p:nvPr/>
          </p:nvSpPr>
          <p:spPr bwMode="auto">
            <a:xfrm>
              <a:off x="860022" y="2486178"/>
              <a:ext cx="310357" cy="602211"/>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grpSp>
    </p:spTree>
    <p:extLst>
      <p:ext uri="{BB962C8B-B14F-4D97-AF65-F5344CB8AC3E}">
        <p14:creationId xmlns:p14="http://schemas.microsoft.com/office/powerpoint/2010/main" val="30079632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9987">
                                            <p:bg/>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169987">
                                            <p:txEl>
                                              <p:pRg st="0" end="0"/>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69987">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47"/>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69987">
                                            <p:txEl>
                                              <p:pRg st="2" end="2"/>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6998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987" grpId="0" build="p"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eaLnBrk="1" hangingPunct="1"/>
            <a:r>
              <a:rPr lang="zh-CN" altLang="en-US" b="0" dirty="0">
                <a:solidFill>
                  <a:schemeClr val="tx1"/>
                </a:solidFill>
                <a:effectLst/>
                <a:latin typeface="宋体" pitchFamily="2" charset="-122"/>
                <a:ea typeface="隶书" pitchFamily="49" charset="-122"/>
              </a:rPr>
              <a:t>算符优先分析法小结</a:t>
            </a:r>
          </a:p>
        </p:txBody>
      </p:sp>
      <p:sp>
        <p:nvSpPr>
          <p:cNvPr id="172035" name="Rectangle 3"/>
          <p:cNvSpPr>
            <a:spLocks noGrp="1" noChangeArrowheads="1"/>
          </p:cNvSpPr>
          <p:nvPr>
            <p:ph type="body" idx="1"/>
          </p:nvPr>
        </p:nvSpPr>
        <p:spPr>
          <a:xfrm>
            <a:off x="467544" y="915566"/>
            <a:ext cx="7772400" cy="3888432"/>
          </a:xfrm>
        </p:spPr>
        <p:txBody>
          <a:bodyPr>
            <a:normAutofit/>
          </a:bodyPr>
          <a:lstStyle/>
          <a:p>
            <a:pPr eaLnBrk="1" hangingPunct="1"/>
            <a:r>
              <a:rPr lang="zh-CN" altLang="en-US" sz="2200" dirty="0">
                <a:latin typeface="宋体" panose="02010600030101010101" pitchFamily="2" charset="-122"/>
                <a:ea typeface="宋体" panose="02010600030101010101" pitchFamily="2" charset="-122"/>
              </a:rPr>
              <a:t>优点</a:t>
            </a:r>
          </a:p>
          <a:p>
            <a:pPr lvl="1" eaLnBrk="1" hangingPunct="1"/>
            <a:r>
              <a:rPr lang="zh-CN" altLang="en-US" sz="2000" dirty="0">
                <a:latin typeface="宋体" panose="02010600030101010101" pitchFamily="2" charset="-122"/>
                <a:ea typeface="宋体" panose="02010600030101010101" pitchFamily="2" charset="-122"/>
              </a:rPr>
              <a:t>简单、效率高</a:t>
            </a:r>
          </a:p>
          <a:p>
            <a:pPr lvl="1" eaLnBrk="1" hangingPunct="1"/>
            <a:r>
              <a:rPr lang="zh-CN" altLang="en-US" sz="2000" dirty="0">
                <a:latin typeface="宋体" panose="02010600030101010101" pitchFamily="2" charset="-122"/>
                <a:ea typeface="宋体" panose="02010600030101010101" pitchFamily="2" charset="-122"/>
              </a:rPr>
              <a:t>能够处理部分二义性文法</a:t>
            </a:r>
          </a:p>
          <a:p>
            <a:pPr lvl="1"/>
            <a:r>
              <a:rPr lang="zh-CN" altLang="en-US" sz="2000" dirty="0">
                <a:latin typeface="宋体" panose="02010600030101010101" pitchFamily="2" charset="-122"/>
                <a:ea typeface="宋体" panose="02010600030101010101" pitchFamily="2" charset="-122"/>
              </a:rPr>
              <a:t>算符优先分析法是一种广泛应用的、行之有效的方法</a:t>
            </a:r>
            <a:endParaRPr lang="en-US" altLang="zh-CN" sz="2000" dirty="0">
              <a:latin typeface="宋体" panose="02010600030101010101" pitchFamily="2" charset="-122"/>
              <a:ea typeface="宋体" panose="02010600030101010101" pitchFamily="2" charset="-122"/>
            </a:endParaRPr>
          </a:p>
          <a:p>
            <a:pPr lvl="2"/>
            <a:r>
              <a:rPr lang="zh-CN" altLang="en-US" sz="1800" dirty="0">
                <a:latin typeface="宋体" panose="02010600030101010101" pitchFamily="2" charset="-122"/>
                <a:ea typeface="宋体" panose="02010600030101010101" pitchFamily="2" charset="-122"/>
              </a:rPr>
              <a:t>不仅仅局限于分析表达式</a:t>
            </a:r>
            <a:endParaRPr lang="en-US" altLang="zh-CN" sz="1800" dirty="0">
              <a:latin typeface="宋体" panose="02010600030101010101" pitchFamily="2" charset="-122"/>
              <a:ea typeface="宋体" panose="02010600030101010101" pitchFamily="2" charset="-122"/>
            </a:endParaRPr>
          </a:p>
          <a:p>
            <a:pPr lvl="2"/>
            <a:r>
              <a:rPr lang="en-US" altLang="zh-CN" sz="1800" dirty="0">
                <a:latin typeface="宋体" panose="02010600030101010101" pitchFamily="2" charset="-122"/>
                <a:ea typeface="宋体" panose="02010600030101010101" pitchFamily="2" charset="-122"/>
              </a:rPr>
              <a:t>ALGOL 60</a:t>
            </a:r>
            <a:r>
              <a:rPr lang="zh-CN" altLang="en-US" sz="1800" dirty="0">
                <a:latin typeface="宋体" panose="02010600030101010101" pitchFamily="2" charset="-122"/>
                <a:ea typeface="宋体" panose="02010600030101010101" pitchFamily="2" charset="-122"/>
              </a:rPr>
              <a:t>的编译器就可以用算符优先分析来实现</a:t>
            </a:r>
            <a:endParaRPr lang="en-US" altLang="zh-CN" sz="1800" dirty="0">
              <a:latin typeface="宋体" panose="02010600030101010101" pitchFamily="2" charset="-122"/>
              <a:ea typeface="宋体" panose="02010600030101010101" pitchFamily="2" charset="-122"/>
            </a:endParaRPr>
          </a:p>
          <a:p>
            <a:pPr eaLnBrk="1" hangingPunct="1"/>
            <a:r>
              <a:rPr lang="zh-CN" altLang="en-US" sz="2200" dirty="0">
                <a:latin typeface="宋体" panose="02010600030101010101" pitchFamily="2" charset="-122"/>
                <a:ea typeface="宋体" panose="02010600030101010101" pitchFamily="2" charset="-122"/>
              </a:rPr>
              <a:t>缺点</a:t>
            </a:r>
          </a:p>
          <a:p>
            <a:pPr lvl="1" eaLnBrk="1" hangingPunct="1"/>
            <a:r>
              <a:rPr lang="zh-CN" altLang="en-US" sz="2000" dirty="0">
                <a:latin typeface="宋体" panose="02010600030101010101" pitchFamily="2" charset="-122"/>
                <a:ea typeface="宋体" panose="02010600030101010101" pitchFamily="2" charset="-122"/>
              </a:rPr>
              <a:t>文法书写限制大（算符优先文法）</a:t>
            </a:r>
          </a:p>
          <a:p>
            <a:pPr lvl="1" eaLnBrk="1" hangingPunct="1"/>
            <a:r>
              <a:rPr lang="zh-CN" altLang="en-US" sz="2000" dirty="0">
                <a:latin typeface="宋体" panose="02010600030101010101" pitchFamily="2" charset="-122"/>
                <a:ea typeface="宋体" panose="02010600030101010101" pitchFamily="2" charset="-122"/>
              </a:rPr>
              <a:t>占用内存空间大（</a:t>
            </a:r>
            <a:r>
              <a:rPr lang="en-US" altLang="zh-CN" sz="2000" dirty="0">
                <a:latin typeface="宋体" panose="02010600030101010101" pitchFamily="2" charset="-122"/>
                <a:ea typeface="宋体" panose="02010600030101010101" pitchFamily="2" charset="-122"/>
              </a:rPr>
              <a:t>n</a:t>
            </a:r>
            <a:r>
              <a:rPr lang="zh-CN" altLang="en-US" sz="2000" dirty="0">
                <a:latin typeface="宋体" panose="02010600030101010101" pitchFamily="2" charset="-122"/>
                <a:ea typeface="宋体" panose="02010600030101010101" pitchFamily="2" charset="-122"/>
              </a:rPr>
              <a:t>*</a:t>
            </a:r>
            <a:r>
              <a:rPr lang="en-US" altLang="zh-CN" sz="2000" dirty="0">
                <a:latin typeface="宋体" panose="02010600030101010101" pitchFamily="2" charset="-122"/>
                <a:ea typeface="宋体" panose="02010600030101010101" pitchFamily="2" charset="-122"/>
              </a:rPr>
              <a:t>n</a:t>
            </a:r>
            <a:r>
              <a:rPr lang="zh-CN" altLang="en-US" sz="2000" dirty="0">
                <a:latin typeface="宋体" panose="02010600030101010101" pitchFamily="2" charset="-122"/>
                <a:ea typeface="宋体" panose="02010600030101010101" pitchFamily="2" charset="-122"/>
              </a:rPr>
              <a:t>的分析表）</a:t>
            </a:r>
            <a:endParaRPr lang="en-US" altLang="zh-CN" sz="2000" dirty="0">
              <a:latin typeface="宋体" panose="02010600030101010101" pitchFamily="2" charset="-122"/>
              <a:ea typeface="宋体" panose="02010600030101010101" pitchFamily="2" charset="-122"/>
            </a:endParaRPr>
          </a:p>
          <a:p>
            <a:pPr lvl="1" eaLnBrk="1" hangingPunct="1"/>
            <a:r>
              <a:rPr lang="zh-CN" altLang="en-US" sz="2000" dirty="0">
                <a:latin typeface="宋体" panose="02010600030101010101" pitchFamily="2" charset="-122"/>
                <a:ea typeface="宋体" panose="02010600030101010101" pitchFamily="2" charset="-122"/>
              </a:rPr>
              <a:t>需要不停查表，计算工作量大</a:t>
            </a:r>
          </a:p>
          <a:p>
            <a:pPr lvl="1" eaLnBrk="1" hangingPunct="1"/>
            <a:r>
              <a:rPr lang="zh-CN" altLang="en-US" sz="2000" dirty="0">
                <a:latin typeface="宋体" panose="02010600030101010101" pitchFamily="2" charset="-122"/>
                <a:ea typeface="宋体" panose="02010600030101010101" pitchFamily="2" charset="-122"/>
              </a:rPr>
              <a:t>不规范、可能将不是句子的符号串识别为句子</a:t>
            </a:r>
          </a:p>
        </p:txBody>
      </p:sp>
    </p:spTree>
    <p:extLst>
      <p:ext uri="{BB962C8B-B14F-4D97-AF65-F5344CB8AC3E}">
        <p14:creationId xmlns:p14="http://schemas.microsoft.com/office/powerpoint/2010/main" val="3315254018"/>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eaLnBrk="1" hangingPunct="1"/>
            <a:r>
              <a:rPr lang="zh-CN" altLang="en-US" b="0" dirty="0">
                <a:solidFill>
                  <a:schemeClr val="tx1"/>
                </a:solidFill>
                <a:effectLst/>
                <a:latin typeface="宋体" pitchFamily="2" charset="-122"/>
                <a:ea typeface="隶书" pitchFamily="49" charset="-122"/>
              </a:rPr>
              <a:t>算符优先</a:t>
            </a:r>
          </a:p>
        </p:txBody>
      </p:sp>
      <p:sp>
        <p:nvSpPr>
          <p:cNvPr id="172035" name="Rectangle 3"/>
          <p:cNvSpPr>
            <a:spLocks noGrp="1" noChangeArrowheads="1"/>
          </p:cNvSpPr>
          <p:nvPr>
            <p:ph type="body" idx="1"/>
          </p:nvPr>
        </p:nvSpPr>
        <p:spPr>
          <a:xfrm>
            <a:off x="611560" y="987574"/>
            <a:ext cx="7772400" cy="3672408"/>
          </a:xfrm>
        </p:spPr>
        <p:txBody>
          <a:bodyPr>
            <a:normAutofit fontScale="92500" lnSpcReduction="10000"/>
          </a:bodyPr>
          <a:lstStyle/>
          <a:p>
            <a:pPr eaLnBrk="1" hangingPunct="1"/>
            <a:r>
              <a:rPr lang="zh-CN" altLang="en-US" sz="2200" dirty="0">
                <a:latin typeface="宋体" panose="02010600030101010101" pitchFamily="2" charset="-122"/>
                <a:ea typeface="宋体" panose="02010600030101010101" pitchFamily="2" charset="-122"/>
              </a:rPr>
              <a:t>优点</a:t>
            </a:r>
          </a:p>
          <a:p>
            <a:pPr lvl="1" eaLnBrk="1" hangingPunct="1"/>
            <a:r>
              <a:rPr lang="zh-CN" altLang="en-US" sz="2000" dirty="0">
                <a:latin typeface="宋体" panose="02010600030101010101" pitchFamily="2" charset="-122"/>
                <a:ea typeface="宋体" panose="02010600030101010101" pitchFamily="2" charset="-122"/>
              </a:rPr>
              <a:t>简单、效率高</a:t>
            </a:r>
          </a:p>
          <a:p>
            <a:pPr lvl="1" eaLnBrk="1" hangingPunct="1"/>
            <a:r>
              <a:rPr lang="zh-CN" altLang="en-US" sz="2000" dirty="0">
                <a:latin typeface="宋体" panose="02010600030101010101" pitchFamily="2" charset="-122"/>
                <a:ea typeface="宋体" panose="02010600030101010101" pitchFamily="2" charset="-122"/>
              </a:rPr>
              <a:t>能够处理部分二义性文法</a:t>
            </a:r>
          </a:p>
          <a:p>
            <a:pPr lvl="1"/>
            <a:r>
              <a:rPr lang="zh-CN" altLang="en-US" sz="2000" dirty="0">
                <a:latin typeface="宋体" panose="02010600030101010101" pitchFamily="2" charset="-122"/>
                <a:ea typeface="宋体" panose="02010600030101010101" pitchFamily="2" charset="-122"/>
              </a:rPr>
              <a:t>算符优先分析法是一种广泛应用的、行之有效的方法</a:t>
            </a:r>
            <a:endParaRPr lang="en-US" altLang="zh-CN" sz="2000" dirty="0">
              <a:latin typeface="宋体" panose="02010600030101010101" pitchFamily="2" charset="-122"/>
              <a:ea typeface="宋体" panose="02010600030101010101" pitchFamily="2" charset="-122"/>
            </a:endParaRPr>
          </a:p>
          <a:p>
            <a:pPr lvl="2"/>
            <a:r>
              <a:rPr lang="zh-CN" altLang="en-US" sz="1800" dirty="0">
                <a:latin typeface="宋体" panose="02010600030101010101" pitchFamily="2" charset="-122"/>
                <a:ea typeface="宋体" panose="02010600030101010101" pitchFamily="2" charset="-122"/>
              </a:rPr>
              <a:t>不仅仅局限于分析表达式</a:t>
            </a:r>
            <a:endParaRPr lang="en-US" altLang="zh-CN" sz="1800" dirty="0">
              <a:latin typeface="宋体" panose="02010600030101010101" pitchFamily="2" charset="-122"/>
              <a:ea typeface="宋体" panose="02010600030101010101" pitchFamily="2" charset="-122"/>
            </a:endParaRPr>
          </a:p>
          <a:p>
            <a:pPr lvl="2"/>
            <a:r>
              <a:rPr lang="en-US" altLang="zh-CN" sz="1800" dirty="0">
                <a:latin typeface="宋体" panose="02010600030101010101" pitchFamily="2" charset="-122"/>
                <a:ea typeface="宋体" panose="02010600030101010101" pitchFamily="2" charset="-122"/>
              </a:rPr>
              <a:t>ALGOL 60</a:t>
            </a:r>
            <a:r>
              <a:rPr lang="zh-CN" altLang="en-US" sz="1800" dirty="0">
                <a:latin typeface="宋体" panose="02010600030101010101" pitchFamily="2" charset="-122"/>
                <a:ea typeface="宋体" panose="02010600030101010101" pitchFamily="2" charset="-122"/>
              </a:rPr>
              <a:t>的编译器就可以用算符优先分析来实现</a:t>
            </a:r>
            <a:endParaRPr lang="en-US" altLang="zh-CN" sz="1800" dirty="0">
              <a:latin typeface="宋体" panose="02010600030101010101" pitchFamily="2" charset="-122"/>
              <a:ea typeface="宋体" panose="02010600030101010101" pitchFamily="2" charset="-122"/>
            </a:endParaRPr>
          </a:p>
          <a:p>
            <a:pPr eaLnBrk="1" hangingPunct="1"/>
            <a:r>
              <a:rPr lang="zh-CN" altLang="en-US" sz="2200" dirty="0">
                <a:latin typeface="宋体" panose="02010600030101010101" pitchFamily="2" charset="-122"/>
                <a:ea typeface="宋体" panose="02010600030101010101" pitchFamily="2" charset="-122"/>
              </a:rPr>
              <a:t>缺点</a:t>
            </a:r>
          </a:p>
          <a:p>
            <a:pPr lvl="1" eaLnBrk="1" hangingPunct="1"/>
            <a:r>
              <a:rPr lang="zh-CN" altLang="en-US" sz="2000" dirty="0">
                <a:latin typeface="宋体" panose="02010600030101010101" pitchFamily="2" charset="-122"/>
                <a:ea typeface="宋体" panose="02010600030101010101" pitchFamily="2" charset="-122"/>
              </a:rPr>
              <a:t>占用内存空间大（</a:t>
            </a:r>
            <a:r>
              <a:rPr lang="en-US" altLang="zh-CN" sz="2000" dirty="0">
                <a:latin typeface="宋体" panose="02010600030101010101" pitchFamily="2" charset="-122"/>
                <a:ea typeface="宋体" panose="02010600030101010101" pitchFamily="2" charset="-122"/>
              </a:rPr>
              <a:t>n</a:t>
            </a:r>
            <a:r>
              <a:rPr lang="zh-CN" altLang="en-US" sz="2000" dirty="0">
                <a:latin typeface="宋体" panose="02010600030101010101" pitchFamily="2" charset="-122"/>
                <a:ea typeface="宋体" panose="02010600030101010101" pitchFamily="2" charset="-122"/>
              </a:rPr>
              <a:t>*</a:t>
            </a:r>
            <a:r>
              <a:rPr lang="en-US" altLang="zh-CN" sz="2000" dirty="0">
                <a:latin typeface="宋体" panose="02010600030101010101" pitchFamily="2" charset="-122"/>
                <a:ea typeface="宋体" panose="02010600030101010101" pitchFamily="2" charset="-122"/>
              </a:rPr>
              <a:t>n</a:t>
            </a:r>
            <a:r>
              <a:rPr lang="zh-CN" altLang="en-US" sz="2000" dirty="0">
                <a:latin typeface="宋体" panose="02010600030101010101" pitchFamily="2" charset="-122"/>
                <a:ea typeface="宋体" panose="02010600030101010101" pitchFamily="2" charset="-122"/>
              </a:rPr>
              <a:t>的分析表）</a:t>
            </a:r>
            <a:endParaRPr lang="en-US" altLang="zh-CN" sz="2000" dirty="0">
              <a:latin typeface="宋体" panose="02010600030101010101" pitchFamily="2" charset="-122"/>
              <a:ea typeface="宋体" panose="02010600030101010101" pitchFamily="2" charset="-122"/>
            </a:endParaRPr>
          </a:p>
          <a:p>
            <a:pPr lvl="1" eaLnBrk="1" hangingPunct="1"/>
            <a:r>
              <a:rPr lang="zh-CN" altLang="en-US" sz="2000" dirty="0">
                <a:latin typeface="宋体" panose="02010600030101010101" pitchFamily="2" charset="-122"/>
                <a:ea typeface="宋体" panose="02010600030101010101" pitchFamily="2" charset="-122"/>
              </a:rPr>
              <a:t>需要不停查表，计算工作量大</a:t>
            </a:r>
            <a:endParaRPr lang="en-US" altLang="zh-CN" sz="2000" dirty="0">
              <a:latin typeface="宋体" panose="02010600030101010101" pitchFamily="2" charset="-122"/>
              <a:ea typeface="宋体" panose="02010600030101010101" pitchFamily="2" charset="-122"/>
            </a:endParaRPr>
          </a:p>
          <a:p>
            <a:r>
              <a:rPr lang="zh-CN" altLang="en-US" sz="2000" dirty="0">
                <a:latin typeface="宋体" panose="02010600030101010101" pitchFamily="2" charset="-122"/>
                <a:ea typeface="宋体" panose="02010600030101010101" pitchFamily="2" charset="-122"/>
              </a:rPr>
              <a:t>改进措施</a:t>
            </a:r>
            <a:endParaRPr lang="en-US" altLang="zh-CN" sz="2000" dirty="0">
              <a:latin typeface="宋体" panose="02010600030101010101" pitchFamily="2" charset="-122"/>
              <a:ea typeface="宋体" panose="02010600030101010101" pitchFamily="2" charset="-122"/>
            </a:endParaRPr>
          </a:p>
          <a:p>
            <a:pPr lvl="1"/>
            <a:r>
              <a:rPr lang="zh-CN" altLang="en-US" sz="2100" dirty="0">
                <a:latin typeface="宋体" panose="02010600030101010101" pitchFamily="2" charset="-122"/>
                <a:ea typeface="宋体" panose="02010600030101010101" pitchFamily="2" charset="-122"/>
              </a:rPr>
              <a:t>构造优先函数</a:t>
            </a:r>
          </a:p>
          <a:p>
            <a:pPr lvl="1" eaLnBrk="1" hangingPunct="1"/>
            <a:endParaRPr lang="zh-CN" altLang="en-US" sz="2000" dirty="0">
              <a:latin typeface="宋体" panose="02010600030101010101" pitchFamily="2" charset="-122"/>
              <a:ea typeface="宋体" panose="02010600030101010101" pitchFamily="2" charset="-122"/>
            </a:endParaRPr>
          </a:p>
        </p:txBody>
      </p:sp>
    </p:spTree>
    <p:extLst>
      <p:ext uri="{BB962C8B-B14F-4D97-AF65-F5344CB8AC3E}">
        <p14:creationId xmlns:p14="http://schemas.microsoft.com/office/powerpoint/2010/main" val="2465147337"/>
      </p:ext>
    </p:extLst>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p:cNvSpPr>
            <a:spLocks noGrp="1" noChangeArrowheads="1"/>
          </p:cNvSpPr>
          <p:nvPr>
            <p:ph type="title"/>
          </p:nvPr>
        </p:nvSpPr>
        <p:spPr>
          <a:xfrm>
            <a:off x="396875" y="29231"/>
            <a:ext cx="7772400" cy="649287"/>
          </a:xfrm>
        </p:spPr>
        <p:txBody>
          <a:bodyPr>
            <a:normAutofit fontScale="90000"/>
          </a:bodyPr>
          <a:lstStyle/>
          <a:p>
            <a:pPr eaLnBrk="1" hangingPunct="1"/>
            <a:r>
              <a:rPr lang="zh-CN" altLang="en-US" b="1" dirty="0">
                <a:solidFill>
                  <a:schemeClr val="tx1"/>
                </a:solidFill>
                <a:latin typeface="宋体" pitchFamily="2" charset="-122"/>
                <a:ea typeface="隶书" pitchFamily="49" charset="-122"/>
              </a:rPr>
              <a:t>优先函数</a:t>
            </a:r>
          </a:p>
        </p:txBody>
      </p:sp>
      <p:grpSp>
        <p:nvGrpSpPr>
          <p:cNvPr id="2" name="Group 8"/>
          <p:cNvGrpSpPr>
            <a:grpSpLocks/>
          </p:cNvGrpSpPr>
          <p:nvPr/>
        </p:nvGrpSpPr>
        <p:grpSpPr bwMode="auto">
          <a:xfrm>
            <a:off x="576263" y="915566"/>
            <a:ext cx="8172450" cy="1939060"/>
            <a:chOff x="363" y="1649"/>
            <a:chExt cx="5148" cy="1628"/>
          </a:xfrm>
        </p:grpSpPr>
        <p:sp>
          <p:nvSpPr>
            <p:cNvPr id="173062" name="Rectangle 7"/>
            <p:cNvSpPr>
              <a:spLocks noChangeArrowheads="1"/>
            </p:cNvSpPr>
            <p:nvPr/>
          </p:nvSpPr>
          <p:spPr bwMode="auto">
            <a:xfrm>
              <a:off x="363" y="1649"/>
              <a:ext cx="5148" cy="1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en-US" altLang="zh-CN" sz="2000" dirty="0">
                  <a:cs typeface="Times New Roman" panose="02020603050405020304" pitchFamily="18" charset="0"/>
                </a:rPr>
                <a:t>  </a:t>
              </a:r>
              <a:r>
                <a:rPr lang="zh-CN" altLang="en-US" sz="2000" dirty="0">
                  <a:cs typeface="Times New Roman" panose="02020603050405020304" pitchFamily="18" charset="0"/>
                </a:rPr>
                <a:t>将每个终结符</a:t>
              </a:r>
              <a:r>
                <a:rPr lang="en-US" altLang="zh-CN" sz="2000" dirty="0">
                  <a:cs typeface="Times New Roman" panose="02020603050405020304" pitchFamily="18" charset="0"/>
                </a:rPr>
                <a:t>θ</a:t>
              </a:r>
              <a:r>
                <a:rPr lang="zh-CN" altLang="en-US" sz="2000" dirty="0">
                  <a:cs typeface="Times New Roman" panose="02020603050405020304" pitchFamily="18" charset="0"/>
                </a:rPr>
                <a:t>与两个自然数</a:t>
              </a:r>
              <a:r>
                <a:rPr lang="en-US" altLang="zh-CN" sz="2000" dirty="0">
                  <a:cs typeface="Times New Roman" panose="02020603050405020304" pitchFamily="18" charset="0"/>
                </a:rPr>
                <a:t>f(θ)</a:t>
              </a:r>
              <a:r>
                <a:rPr lang="zh-CN" altLang="en-US" sz="2000" dirty="0">
                  <a:cs typeface="Times New Roman" panose="02020603050405020304" pitchFamily="18" charset="0"/>
                </a:rPr>
                <a:t>和</a:t>
              </a:r>
              <a:r>
                <a:rPr lang="en-US" altLang="zh-CN" sz="2000" dirty="0">
                  <a:cs typeface="Times New Roman" panose="02020603050405020304" pitchFamily="18" charset="0"/>
                </a:rPr>
                <a:t>g(θ)</a:t>
              </a:r>
              <a:r>
                <a:rPr lang="zh-CN" altLang="en-US" sz="2000" dirty="0">
                  <a:cs typeface="Times New Roman" panose="02020603050405020304" pitchFamily="18" charset="0"/>
                </a:rPr>
                <a:t>对应，</a:t>
              </a:r>
              <a:r>
                <a:rPr lang="en-US" altLang="zh-CN" sz="2000" dirty="0">
                  <a:cs typeface="Times New Roman" panose="02020603050405020304" pitchFamily="18" charset="0"/>
                </a:rPr>
                <a:t>f(θ)</a:t>
              </a:r>
              <a:r>
                <a:rPr lang="zh-CN" altLang="en-US" sz="2000" dirty="0">
                  <a:cs typeface="Times New Roman" panose="02020603050405020304" pitchFamily="18" charset="0"/>
                </a:rPr>
                <a:t>和</a:t>
              </a:r>
              <a:r>
                <a:rPr lang="en-US" altLang="zh-CN" sz="2000" dirty="0">
                  <a:cs typeface="Times New Roman" panose="02020603050405020304" pitchFamily="18" charset="0"/>
                </a:rPr>
                <a:t>g(θ)</a:t>
              </a:r>
              <a:r>
                <a:rPr lang="zh-CN" altLang="en-US" sz="2000" dirty="0">
                  <a:cs typeface="Times New Roman" panose="02020603050405020304" pitchFamily="18" charset="0"/>
                </a:rPr>
                <a:t>的选择满足如下关系：</a:t>
              </a:r>
            </a:p>
            <a:p>
              <a:pPr eaLnBrk="1" hangingPunct="1">
                <a:spcBef>
                  <a:spcPct val="0"/>
                </a:spcBef>
                <a:buFontTx/>
                <a:buNone/>
              </a:pPr>
              <a:r>
                <a:rPr lang="en-US" altLang="zh-CN" sz="2000" dirty="0">
                  <a:solidFill>
                    <a:srgbClr val="0000FF"/>
                  </a:solidFill>
                  <a:cs typeface="Times New Roman" panose="02020603050405020304" pitchFamily="18" charset="0"/>
                </a:rPr>
                <a:t>         θ1  &lt;   θ2 ,  f(θ1) &lt; g(θ2)</a:t>
              </a:r>
            </a:p>
            <a:p>
              <a:pPr eaLnBrk="1" hangingPunct="1">
                <a:spcBef>
                  <a:spcPct val="0"/>
                </a:spcBef>
                <a:buFontTx/>
                <a:buNone/>
              </a:pPr>
              <a:r>
                <a:rPr lang="en-US" altLang="zh-CN" sz="2000" dirty="0">
                  <a:solidFill>
                    <a:srgbClr val="0000FF"/>
                  </a:solidFill>
                  <a:cs typeface="Times New Roman" panose="02020603050405020304" pitchFamily="18" charset="0"/>
                </a:rPr>
                <a:t>         θ1   =  θ2 ,  f(θ1) = g(θ2)</a:t>
              </a:r>
            </a:p>
            <a:p>
              <a:pPr eaLnBrk="1" hangingPunct="1">
                <a:spcBef>
                  <a:spcPct val="0"/>
                </a:spcBef>
                <a:buFontTx/>
                <a:buNone/>
              </a:pPr>
              <a:r>
                <a:rPr lang="en-US" altLang="zh-CN" sz="2000" dirty="0">
                  <a:solidFill>
                    <a:srgbClr val="0000FF"/>
                  </a:solidFill>
                  <a:cs typeface="Times New Roman" panose="02020603050405020304" pitchFamily="18" charset="0"/>
                </a:rPr>
                <a:t>         θ1   &gt;  θ2 ,  f(θ1) &gt; g(θ2)</a:t>
              </a:r>
            </a:p>
            <a:p>
              <a:pPr eaLnBrk="1" hangingPunct="1">
                <a:spcBef>
                  <a:spcPct val="0"/>
                </a:spcBef>
                <a:buFontTx/>
                <a:buNone/>
              </a:pPr>
              <a:r>
                <a:rPr lang="zh-CN" altLang="en-US" sz="2000" dirty="0">
                  <a:cs typeface="Times New Roman" panose="02020603050405020304" pitchFamily="18" charset="0"/>
                </a:rPr>
                <a:t>函数</a:t>
              </a:r>
              <a:r>
                <a:rPr lang="en-US" altLang="zh-CN" sz="2000" dirty="0">
                  <a:cs typeface="Times New Roman" panose="02020603050405020304" pitchFamily="18" charset="0"/>
                </a:rPr>
                <a:t>f</a:t>
              </a:r>
              <a:r>
                <a:rPr lang="zh-CN" altLang="en-US" sz="2000" dirty="0">
                  <a:cs typeface="Times New Roman" panose="02020603050405020304" pitchFamily="18" charset="0"/>
                </a:rPr>
                <a:t>为入栈优先函数，</a:t>
              </a:r>
              <a:r>
                <a:rPr lang="en-US" altLang="zh-CN" sz="2000" dirty="0">
                  <a:cs typeface="Times New Roman" panose="02020603050405020304" pitchFamily="18" charset="0"/>
                </a:rPr>
                <a:t>g</a:t>
              </a:r>
              <a:r>
                <a:rPr lang="zh-CN" altLang="en-US" sz="2000" dirty="0">
                  <a:cs typeface="Times New Roman" panose="02020603050405020304" pitchFamily="18" charset="0"/>
                </a:rPr>
                <a:t>为比较优先函数。</a:t>
              </a:r>
              <a:endParaRPr lang="en-US" altLang="zh-CN" sz="2000" dirty="0">
                <a:cs typeface="Times New Roman" panose="02020603050405020304" pitchFamily="18" charset="0"/>
              </a:endParaRPr>
            </a:p>
          </p:txBody>
        </p:sp>
        <p:graphicFrame>
          <p:nvGraphicFramePr>
            <p:cNvPr id="173063" name="Object 4"/>
            <p:cNvGraphicFramePr>
              <a:graphicFrameLocks noChangeAspect="1"/>
            </p:cNvGraphicFramePr>
            <p:nvPr>
              <p:extLst>
                <p:ext uri="{D42A27DB-BD31-4B8C-83A1-F6EECF244321}">
                  <p14:modId xmlns:p14="http://schemas.microsoft.com/office/powerpoint/2010/main" val="2426567661"/>
                </p:ext>
              </p:extLst>
            </p:nvPr>
          </p:nvGraphicFramePr>
          <p:xfrm>
            <a:off x="983" y="2691"/>
            <a:ext cx="219" cy="288"/>
          </p:xfrm>
          <a:graphic>
            <a:graphicData uri="http://schemas.openxmlformats.org/presentationml/2006/ole">
              <mc:AlternateContent xmlns:mc="http://schemas.openxmlformats.org/markup-compatibility/2006">
                <mc:Choice xmlns:v="urn:schemas-microsoft-com:vml" Requires="v">
                  <p:oleObj spid="_x0000_s40977" name="位图图像" r:id="rId4" imgW="181096" imgH="237969" progId="Paint.Picture">
                    <p:embed/>
                  </p:oleObj>
                </mc:Choice>
                <mc:Fallback>
                  <p:oleObj name="位图图像" r:id="rId4" imgW="181096" imgH="237969" progId="Paint.Picture">
                    <p:embed/>
                    <p:pic>
                      <p:nvPicPr>
                        <p:cNvPr id="173063"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3" y="2691"/>
                          <a:ext cx="2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3064" name="Object 5"/>
            <p:cNvGraphicFramePr>
              <a:graphicFrameLocks noChangeAspect="1"/>
            </p:cNvGraphicFramePr>
            <p:nvPr>
              <p:extLst>
                <p:ext uri="{D42A27DB-BD31-4B8C-83A1-F6EECF244321}">
                  <p14:modId xmlns:p14="http://schemas.microsoft.com/office/powerpoint/2010/main" val="268700758"/>
                </p:ext>
              </p:extLst>
            </p:nvPr>
          </p:nvGraphicFramePr>
          <p:xfrm>
            <a:off x="975" y="2207"/>
            <a:ext cx="240" cy="228"/>
          </p:xfrm>
          <a:graphic>
            <a:graphicData uri="http://schemas.openxmlformats.org/presentationml/2006/ole">
              <mc:AlternateContent xmlns:mc="http://schemas.openxmlformats.org/markup-compatibility/2006">
                <mc:Choice xmlns:v="urn:schemas-microsoft-com:vml" Requires="v">
                  <p:oleObj spid="_x0000_s40978" name="位图图像" r:id="rId6" imgW="190426" imgH="209524" progId="Paint.Picture">
                    <p:embed/>
                  </p:oleObj>
                </mc:Choice>
                <mc:Fallback>
                  <p:oleObj name="位图图像" r:id="rId6" imgW="190426" imgH="209524" progId="Paint.Picture">
                    <p:embed/>
                    <p:pic>
                      <p:nvPicPr>
                        <p:cNvPr id="173064"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5" y="2207"/>
                          <a:ext cx="240" cy="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3065" name="Object 6"/>
            <p:cNvGraphicFramePr>
              <a:graphicFrameLocks noChangeAspect="1"/>
            </p:cNvGraphicFramePr>
            <p:nvPr>
              <p:extLst>
                <p:ext uri="{D42A27DB-BD31-4B8C-83A1-F6EECF244321}">
                  <p14:modId xmlns:p14="http://schemas.microsoft.com/office/powerpoint/2010/main" val="3245079654"/>
                </p:ext>
              </p:extLst>
            </p:nvPr>
          </p:nvGraphicFramePr>
          <p:xfrm>
            <a:off x="930" y="2495"/>
            <a:ext cx="288" cy="186"/>
          </p:xfrm>
          <a:graphic>
            <a:graphicData uri="http://schemas.openxmlformats.org/presentationml/2006/ole">
              <mc:AlternateContent xmlns:mc="http://schemas.openxmlformats.org/markup-compatibility/2006">
                <mc:Choice xmlns:v="urn:schemas-microsoft-com:vml" Requires="v">
                  <p:oleObj spid="_x0000_s40979" name="位图图像" r:id="rId8" imgW="295238" imgH="190426" progId="Paint.Picture">
                    <p:embed/>
                  </p:oleObj>
                </mc:Choice>
                <mc:Fallback>
                  <p:oleObj name="位图图像" r:id="rId8" imgW="295238" imgH="190426" progId="Paint.Picture">
                    <p:embed/>
                    <p:pic>
                      <p:nvPicPr>
                        <p:cNvPr id="173065"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0" y="2495"/>
                          <a:ext cx="288" cy="186"/>
                        </a:xfrm>
                        <a:prstGeom prst="rect">
                          <a:avLst/>
                        </a:prstGeom>
                        <a:noFill/>
                        <a:ln>
                          <a:noFill/>
                        </a:ln>
                        <a:effectLst/>
                      </p:spPr>
                    </p:pic>
                  </p:oleObj>
                </mc:Fallback>
              </mc:AlternateContent>
            </a:graphicData>
          </a:graphic>
        </p:graphicFrame>
      </p:grpSp>
      <p:sp>
        <p:nvSpPr>
          <p:cNvPr id="3" name="矩形 2"/>
          <p:cNvSpPr/>
          <p:nvPr/>
        </p:nvSpPr>
        <p:spPr>
          <a:xfrm>
            <a:off x="539552" y="2845261"/>
            <a:ext cx="8172450" cy="2246769"/>
          </a:xfrm>
          <a:prstGeom prst="rect">
            <a:avLst/>
          </a:prstGeom>
          <a:ln w="28575"/>
        </p:spPr>
        <p:style>
          <a:lnRef idx="2">
            <a:schemeClr val="accent2"/>
          </a:lnRef>
          <a:fillRef idx="1">
            <a:schemeClr val="lt1"/>
          </a:fillRef>
          <a:effectRef idx="0">
            <a:schemeClr val="accent2"/>
          </a:effectRef>
          <a:fontRef idx="minor">
            <a:schemeClr val="dk1"/>
          </a:fontRef>
        </p:style>
        <p:txBody>
          <a:bodyPr wrap="square">
            <a:spAutoFit/>
          </a:bodyPr>
          <a:lstStyle/>
          <a:p>
            <a:r>
              <a:rPr lang="zh-CN" altLang="en-US" sz="2000" dirty="0">
                <a:latin typeface="宋体" panose="02010600030101010101" pitchFamily="2" charset="-122"/>
                <a:ea typeface="宋体" panose="02010600030101010101" pitchFamily="2" charset="-122"/>
              </a:rPr>
              <a:t>优点：</a:t>
            </a:r>
            <a:endParaRPr lang="en-US" altLang="zh-CN" sz="2000" dirty="0">
              <a:latin typeface="宋体" panose="02010600030101010101" pitchFamily="2" charset="-122"/>
              <a:ea typeface="宋体" panose="02010600030101010101" pitchFamily="2" charset="-122"/>
            </a:endParaRPr>
          </a:p>
          <a:p>
            <a:pPr marL="742950" lvl="1" indent="-285750">
              <a:buFont typeface="Wingdings" panose="05000000000000000000" pitchFamily="2" charset="2"/>
              <a:buChar char="Ø"/>
            </a:pPr>
            <a:r>
              <a:rPr lang="zh-CN" altLang="en-US" sz="2000" dirty="0">
                <a:latin typeface="宋体" panose="02010600030101010101" pitchFamily="2" charset="-122"/>
                <a:ea typeface="宋体" panose="02010600030101010101" pitchFamily="2" charset="-122"/>
              </a:rPr>
              <a:t>便于作比较运算（从优先关系的比较到自然数的比较）</a:t>
            </a:r>
            <a:endParaRPr lang="en-US" altLang="zh-CN" sz="2000" dirty="0">
              <a:latin typeface="宋体" panose="02010600030101010101" pitchFamily="2" charset="-122"/>
              <a:ea typeface="宋体" panose="02010600030101010101" pitchFamily="2" charset="-122"/>
            </a:endParaRPr>
          </a:p>
          <a:p>
            <a:pPr marL="742950" lvl="1" indent="-285750">
              <a:buFont typeface="Wingdings" panose="05000000000000000000" pitchFamily="2" charset="2"/>
              <a:buChar char="Ø"/>
            </a:pPr>
            <a:r>
              <a:rPr lang="zh-CN" altLang="en-US" sz="2000" dirty="0">
                <a:latin typeface="宋体" panose="02010600030101010101" pitchFamily="2" charset="-122"/>
                <a:ea typeface="宋体" panose="02010600030101010101" pitchFamily="2" charset="-122"/>
              </a:rPr>
              <a:t>节省存储空间（从</a:t>
            </a:r>
            <a:r>
              <a:rPr lang="en-US" altLang="zh-CN" sz="2000" dirty="0">
                <a:latin typeface="宋体" panose="02010600030101010101" pitchFamily="2" charset="-122"/>
                <a:ea typeface="宋体" panose="02010600030101010101" pitchFamily="2" charset="-122"/>
              </a:rPr>
              <a:t>n*n</a:t>
            </a:r>
            <a:r>
              <a:rPr lang="zh-CN" altLang="en-US" sz="2000" dirty="0">
                <a:latin typeface="宋体" panose="02010600030101010101" pitchFamily="2" charset="-122"/>
                <a:ea typeface="宋体" panose="02010600030101010101" pitchFamily="2" charset="-122"/>
              </a:rPr>
              <a:t>到</a:t>
            </a:r>
            <a:r>
              <a:rPr lang="en-US" altLang="zh-CN" sz="2000" dirty="0">
                <a:latin typeface="宋体" panose="02010600030101010101" pitchFamily="2" charset="-122"/>
                <a:ea typeface="宋体" panose="02010600030101010101" pitchFamily="2" charset="-122"/>
              </a:rPr>
              <a:t>2n</a:t>
            </a:r>
            <a:r>
              <a:rPr lang="zh-CN" altLang="en-US" sz="2000" dirty="0">
                <a:latin typeface="宋体" panose="02010600030101010101" pitchFamily="2" charset="-122"/>
                <a:ea typeface="宋体" panose="02010600030101010101" pitchFamily="2" charset="-122"/>
              </a:rPr>
              <a:t>）；</a:t>
            </a:r>
          </a:p>
          <a:p>
            <a:r>
              <a:rPr lang="zh-CN" altLang="en-US" sz="2000" dirty="0">
                <a:latin typeface="宋体" panose="02010600030101010101" pitchFamily="2" charset="-122"/>
                <a:ea typeface="宋体" panose="02010600030101010101" pitchFamily="2" charset="-122"/>
              </a:rPr>
              <a:t>缺点：</a:t>
            </a:r>
            <a:endParaRPr lang="en-US" altLang="zh-CN" sz="2000" dirty="0">
              <a:latin typeface="宋体" panose="02010600030101010101" pitchFamily="2" charset="-122"/>
              <a:ea typeface="宋体" panose="02010600030101010101" pitchFamily="2" charset="-122"/>
            </a:endParaRPr>
          </a:p>
          <a:p>
            <a:pPr marL="742950" lvl="1" indent="-285750">
              <a:buFont typeface="Wingdings" panose="05000000000000000000" pitchFamily="2" charset="2"/>
              <a:buChar char="Ø"/>
            </a:pPr>
            <a:r>
              <a:rPr lang="zh-CN" altLang="en-US" sz="2000" dirty="0">
                <a:latin typeface="宋体" panose="02010600030101010101" pitchFamily="2" charset="-122"/>
                <a:ea typeface="宋体" panose="02010600030101010101" pitchFamily="2" charset="-122"/>
              </a:rPr>
              <a:t>可能将不存在优先关系的两个终结符，由于自然数的对应关系变成可比较了。可能会掩盖输入串中的错误。需要进行特殊判断，做一些处理。</a:t>
            </a:r>
          </a:p>
        </p:txBody>
      </p:sp>
      <p:graphicFrame>
        <p:nvGraphicFramePr>
          <p:cNvPr id="4" name="表格 3"/>
          <p:cNvGraphicFramePr>
            <a:graphicFrameLocks noGrp="1"/>
          </p:cNvGraphicFramePr>
          <p:nvPr>
            <p:extLst>
              <p:ext uri="{D42A27DB-BD31-4B8C-83A1-F6EECF244321}">
                <p14:modId xmlns:p14="http://schemas.microsoft.com/office/powerpoint/2010/main" val="13553271"/>
              </p:ext>
            </p:extLst>
          </p:nvPr>
        </p:nvGraphicFramePr>
        <p:xfrm>
          <a:off x="6084168" y="1347614"/>
          <a:ext cx="2939734" cy="1112520"/>
        </p:xfrm>
        <a:graphic>
          <a:graphicData uri="http://schemas.openxmlformats.org/drawingml/2006/table">
            <a:tbl>
              <a:tblPr firstRow="1" bandRow="1">
                <a:tableStyleId>{5C22544A-7EE6-4342-B048-85BDC9FD1C3A}</a:tableStyleId>
              </a:tblPr>
              <a:tblGrid>
                <a:gridCol w="354008">
                  <a:extLst>
                    <a:ext uri="{9D8B030D-6E8A-4147-A177-3AD203B41FA5}">
                      <a16:colId xmlns:a16="http://schemas.microsoft.com/office/drawing/2014/main" val="20000"/>
                    </a:ext>
                  </a:extLst>
                </a:gridCol>
                <a:gridCol w="485916">
                  <a:extLst>
                    <a:ext uri="{9D8B030D-6E8A-4147-A177-3AD203B41FA5}">
                      <a16:colId xmlns:a16="http://schemas.microsoft.com/office/drawing/2014/main" val="20001"/>
                    </a:ext>
                  </a:extLst>
                </a:gridCol>
                <a:gridCol w="419962">
                  <a:extLst>
                    <a:ext uri="{9D8B030D-6E8A-4147-A177-3AD203B41FA5}">
                      <a16:colId xmlns:a16="http://schemas.microsoft.com/office/drawing/2014/main" val="20002"/>
                    </a:ext>
                  </a:extLst>
                </a:gridCol>
                <a:gridCol w="419962">
                  <a:extLst>
                    <a:ext uri="{9D8B030D-6E8A-4147-A177-3AD203B41FA5}">
                      <a16:colId xmlns:a16="http://schemas.microsoft.com/office/drawing/2014/main" val="20003"/>
                    </a:ext>
                  </a:extLst>
                </a:gridCol>
                <a:gridCol w="419962">
                  <a:extLst>
                    <a:ext uri="{9D8B030D-6E8A-4147-A177-3AD203B41FA5}">
                      <a16:colId xmlns:a16="http://schemas.microsoft.com/office/drawing/2014/main" val="20004"/>
                    </a:ext>
                  </a:extLst>
                </a:gridCol>
                <a:gridCol w="419962">
                  <a:extLst>
                    <a:ext uri="{9D8B030D-6E8A-4147-A177-3AD203B41FA5}">
                      <a16:colId xmlns:a16="http://schemas.microsoft.com/office/drawing/2014/main" val="20005"/>
                    </a:ext>
                  </a:extLst>
                </a:gridCol>
                <a:gridCol w="419962">
                  <a:extLst>
                    <a:ext uri="{9D8B030D-6E8A-4147-A177-3AD203B41FA5}">
                      <a16:colId xmlns:a16="http://schemas.microsoft.com/office/drawing/2014/main" val="20006"/>
                    </a:ext>
                  </a:extLst>
                </a:gridCol>
              </a:tblGrid>
              <a:tr h="370840">
                <a:tc>
                  <a:txBody>
                    <a:bodyPr/>
                    <a:lstStyle/>
                    <a:p>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zh-CN" altLang="en-US" dirty="0">
                          <a:solidFill>
                            <a:schemeClr val="tx1"/>
                          </a:solidFill>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err="1">
                          <a:solidFill>
                            <a:schemeClr val="tx1"/>
                          </a:solidFill>
                        </a:rPr>
                        <a:t>i</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0"/>
                  </a:ext>
                </a:extLst>
              </a:tr>
              <a:tr h="370840">
                <a:tc>
                  <a:txBody>
                    <a:bodyPr/>
                    <a:lstStyle/>
                    <a:p>
                      <a:r>
                        <a:rPr lang="en-US" altLang="zh-CN" dirty="0">
                          <a:solidFill>
                            <a:schemeClr val="tx1"/>
                          </a:solidFill>
                        </a:rPr>
                        <a:t>f</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2</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4</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0</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6</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6</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0</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1"/>
                  </a:ext>
                </a:extLst>
              </a:tr>
              <a:tr h="370840">
                <a:tc>
                  <a:txBody>
                    <a:bodyPr/>
                    <a:lstStyle/>
                    <a:p>
                      <a:r>
                        <a:rPr lang="en-US" altLang="zh-CN" dirty="0">
                          <a:solidFill>
                            <a:schemeClr val="tx1"/>
                          </a:solidFill>
                        </a:rPr>
                        <a:t>g</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1</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3</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5</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0</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5</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r>
                        <a:rPr lang="en-US" altLang="zh-CN" dirty="0">
                          <a:solidFill>
                            <a:schemeClr val="tx1"/>
                          </a:solidFill>
                        </a:rPr>
                        <a:t>0</a:t>
                      </a:r>
                      <a:endParaRPr lang="zh-CN" altLang="en-US"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2"/>
                  </a:ext>
                </a:extLst>
              </a:tr>
            </a:tbl>
          </a:graphicData>
        </a:graphic>
      </p:graphicFrame>
      <p:graphicFrame>
        <p:nvGraphicFramePr>
          <p:cNvPr id="13" name="Group 377"/>
          <p:cNvGraphicFramePr>
            <a:graphicFrameLocks noGrp="1"/>
          </p:cNvGraphicFramePr>
          <p:nvPr>
            <p:extLst>
              <p:ext uri="{D42A27DB-BD31-4B8C-83A1-F6EECF244321}">
                <p14:modId xmlns:p14="http://schemas.microsoft.com/office/powerpoint/2010/main" val="830757933"/>
              </p:ext>
            </p:extLst>
          </p:nvPr>
        </p:nvGraphicFramePr>
        <p:xfrm>
          <a:off x="6948264" y="2787774"/>
          <a:ext cx="2123729" cy="2186940"/>
        </p:xfrm>
        <a:graphic>
          <a:graphicData uri="http://schemas.openxmlformats.org/drawingml/2006/table">
            <a:tbl>
              <a:tblPr/>
              <a:tblGrid>
                <a:gridCol w="331833">
                  <a:extLst>
                    <a:ext uri="{9D8B030D-6E8A-4147-A177-3AD203B41FA5}">
                      <a16:colId xmlns:a16="http://schemas.microsoft.com/office/drawing/2014/main" val="20000"/>
                    </a:ext>
                  </a:extLst>
                </a:gridCol>
                <a:gridCol w="292268">
                  <a:extLst>
                    <a:ext uri="{9D8B030D-6E8A-4147-A177-3AD203B41FA5}">
                      <a16:colId xmlns:a16="http://schemas.microsoft.com/office/drawing/2014/main" val="20001"/>
                    </a:ext>
                  </a:extLst>
                </a:gridCol>
                <a:gridCol w="312688">
                  <a:extLst>
                    <a:ext uri="{9D8B030D-6E8A-4147-A177-3AD203B41FA5}">
                      <a16:colId xmlns:a16="http://schemas.microsoft.com/office/drawing/2014/main" val="20002"/>
                    </a:ext>
                  </a:extLst>
                </a:gridCol>
                <a:gridCol w="311412">
                  <a:extLst>
                    <a:ext uri="{9D8B030D-6E8A-4147-A177-3AD203B41FA5}">
                      <a16:colId xmlns:a16="http://schemas.microsoft.com/office/drawing/2014/main" val="20003"/>
                    </a:ext>
                  </a:extLst>
                </a:gridCol>
                <a:gridCol w="312689">
                  <a:extLst>
                    <a:ext uri="{9D8B030D-6E8A-4147-A177-3AD203B41FA5}">
                      <a16:colId xmlns:a16="http://schemas.microsoft.com/office/drawing/2014/main" val="20004"/>
                    </a:ext>
                  </a:extLst>
                </a:gridCol>
                <a:gridCol w="311412">
                  <a:extLst>
                    <a:ext uri="{9D8B030D-6E8A-4147-A177-3AD203B41FA5}">
                      <a16:colId xmlns:a16="http://schemas.microsoft.com/office/drawing/2014/main" val="20005"/>
                    </a:ext>
                  </a:extLst>
                </a:gridCol>
                <a:gridCol w="251427">
                  <a:extLst>
                    <a:ext uri="{9D8B030D-6E8A-4147-A177-3AD203B41FA5}">
                      <a16:colId xmlns:a16="http://schemas.microsoft.com/office/drawing/2014/main" val="20006"/>
                    </a:ext>
                  </a:extLst>
                </a:gridCol>
              </a:tblGrid>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i</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cs typeface="Times New Roman" panose="02020603050405020304" pitchFamily="18" charset="0"/>
                        </a:rPr>
                        <a: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0"/>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1"/>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2"/>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i</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3"/>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4"/>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&gt;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5"/>
                  </a:ext>
                </a:extLst>
              </a:tr>
              <a:tr h="25061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a:t>
                      </a:r>
                    </a:p>
                  </a:txBody>
                  <a:tcPr marT="34290" marB="34290" anchor="b"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bg1"/>
                          </a:solidFill>
                          <a:effectLst/>
                          <a:latin typeface="+mn-lt"/>
                          <a:ea typeface="宋体" panose="02010600030101010101" pitchFamily="2" charset="-122"/>
                        </a:rPr>
                        <a:t>&lt;</a:t>
                      </a: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bg1"/>
                        </a:solidFill>
                        <a:effectLst/>
                        <a:latin typeface="+mn-lt"/>
                        <a:ea typeface="宋体" panose="02010600030101010101" pitchFamily="2" charset="-122"/>
                      </a:endParaRPr>
                    </a:p>
                  </a:txBody>
                  <a:tcPr marT="34290" marB="3429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bg1"/>
                          </a:solidFill>
                          <a:effectLst/>
                          <a:latin typeface="+mn-lt"/>
                          <a:ea typeface="宋体" panose="02010600030101010101" pitchFamily="2" charset="-122"/>
                        </a:rPr>
                        <a:t>=</a:t>
                      </a:r>
                    </a:p>
                  </a:txBody>
                  <a:tcPr marT="34290" marB="34290"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339966"/>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8169513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nodeType="click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par>
                          <p:cTn id="15" fill="hold">
                            <p:stCondLst>
                              <p:cond delay="0"/>
                            </p:stCondLst>
                            <p:childTnLst>
                              <p:par>
                                <p:cTn id="16" presetID="1" presetClass="entr" presetSubtype="0"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endParaRPr lang="zh-CN" altLang="en-US"/>
          </a:p>
        </p:txBody>
      </p:sp>
      <p:sp>
        <p:nvSpPr>
          <p:cNvPr id="4" name="Rectangle 10"/>
          <p:cNvSpPr>
            <a:spLocks noGrp="1" noChangeArrowheads="1"/>
          </p:cNvSpPr>
          <p:nvPr>
            <p:ph idx="1"/>
          </p:nvPr>
        </p:nvSpPr>
        <p:spPr bwMode="auto">
          <a:xfrm>
            <a:off x="407706" y="3075806"/>
            <a:ext cx="4380318" cy="1107996"/>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latin typeface="宋体" panose="02010600030101010101" pitchFamily="2" charset="-122"/>
              </a:rPr>
              <a:t>给定一个算符优先关系表，如果存在优先函数，则一定存在多个，即</a:t>
            </a:r>
            <a:r>
              <a:rPr lang="en-US" altLang="zh-CN" sz="2200" dirty="0">
                <a:latin typeface="宋体" panose="02010600030101010101" pitchFamily="2" charset="-122"/>
              </a:rPr>
              <a:t>f</a:t>
            </a:r>
            <a:r>
              <a:rPr lang="zh-CN" altLang="en-US" sz="2200" dirty="0">
                <a:latin typeface="宋体" panose="02010600030101010101" pitchFamily="2" charset="-122"/>
              </a:rPr>
              <a:t>和</a:t>
            </a:r>
            <a:r>
              <a:rPr lang="en-US" altLang="zh-CN" sz="2200" dirty="0">
                <a:latin typeface="宋体" panose="02010600030101010101" pitchFamily="2" charset="-122"/>
              </a:rPr>
              <a:t>g</a:t>
            </a:r>
            <a:r>
              <a:rPr lang="zh-CN" altLang="en-US" sz="2200" dirty="0">
                <a:latin typeface="宋体" panose="02010600030101010101" pitchFamily="2" charset="-122"/>
              </a:rPr>
              <a:t>的选择不是唯一的。</a:t>
            </a:r>
          </a:p>
        </p:txBody>
      </p:sp>
      <p:sp>
        <p:nvSpPr>
          <p:cNvPr id="6" name="Rectangle 10"/>
          <p:cNvSpPr txBox="1">
            <a:spLocks noChangeArrowheads="1"/>
          </p:cNvSpPr>
          <p:nvPr/>
        </p:nvSpPr>
        <p:spPr bwMode="auto">
          <a:xfrm>
            <a:off x="386042" y="798665"/>
            <a:ext cx="4740358"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a:spAutoFit/>
          </a:bodyPr>
          <a:lstStyle>
            <a:lvl1pPr marL="365760" indent="-256032" algn="l" rtl="0" eaLnBrk="1" latinLnBrk="0" hangingPunct="1">
              <a:spcBef>
                <a:spcPct val="20000"/>
              </a:spcBef>
              <a:spcAft>
                <a:spcPts val="0"/>
              </a:spcAft>
              <a:buClr>
                <a:schemeClr val="accent1"/>
              </a:buClr>
              <a:buSzPct val="68000"/>
              <a:buFont typeface="Wingdings 3"/>
              <a:buChar char="•"/>
              <a:defRPr kumimoji="1" sz="3200" kern="1200">
                <a:solidFill>
                  <a:schemeClr val="tx1"/>
                </a:solidFill>
                <a:latin typeface="Times New Roman" pitchFamily="18" charset="0"/>
                <a:ea typeface="宋体" pitchFamily="2" charset="-122"/>
                <a:cs typeface="+mn-cs"/>
              </a:defRPr>
            </a:lvl1pPr>
            <a:lvl2pPr marL="742950" indent="-285750" algn="l" rtl="0" eaLnBrk="1" latinLnBrk="0" hangingPunct="1">
              <a:spcBef>
                <a:spcPct val="20000"/>
              </a:spcBef>
              <a:buClr>
                <a:schemeClr val="accent1"/>
              </a:buClr>
              <a:buFont typeface="Verdana"/>
              <a:buChar char="–"/>
              <a:defRPr kumimoji="1" sz="2800" kern="1200">
                <a:solidFill>
                  <a:schemeClr val="tx1"/>
                </a:solidFill>
                <a:latin typeface="Times New Roman" pitchFamily="18" charset="0"/>
                <a:ea typeface="宋体" pitchFamily="2" charset="-122"/>
                <a:cs typeface="+mn-cs"/>
              </a:defRPr>
            </a:lvl2pPr>
            <a:lvl3pPr marL="1143000" indent="-228600" algn="l" rtl="0" eaLnBrk="1" latinLnBrk="0" hangingPunct="1">
              <a:spcBef>
                <a:spcPct val="20000"/>
              </a:spcBef>
              <a:buClr>
                <a:schemeClr val="accent2"/>
              </a:buClr>
              <a:buSzPct val="100000"/>
              <a:buFont typeface="Wingdings 2"/>
              <a:buChar char="•"/>
              <a:defRPr kumimoji="1" sz="2400" kern="1200">
                <a:solidFill>
                  <a:schemeClr val="tx1"/>
                </a:solidFill>
                <a:latin typeface="Times New Roman" pitchFamily="18" charset="0"/>
                <a:ea typeface="宋体" pitchFamily="2" charset="-122"/>
                <a:cs typeface="+mn-cs"/>
              </a:defRPr>
            </a:lvl3pPr>
            <a:lvl4pPr marL="1600200" indent="-228600" algn="l" rtl="0" eaLnBrk="1" latinLnBrk="0" hangingPunct="1">
              <a:spcBef>
                <a:spcPct val="20000"/>
              </a:spcBef>
              <a:buClr>
                <a:schemeClr val="accent2"/>
              </a:buClr>
              <a:buFont typeface="Wingdings 2"/>
              <a:buChar char="–"/>
              <a:defRPr kumimoji="1" sz="2000" kern="1200">
                <a:solidFill>
                  <a:schemeClr val="tx1"/>
                </a:solidFill>
                <a:latin typeface="Times New Roman" pitchFamily="18" charset="0"/>
                <a:ea typeface="宋体" pitchFamily="2" charset="-122"/>
                <a:cs typeface="+mn-cs"/>
              </a:defRPr>
            </a:lvl4pPr>
            <a:lvl5pPr marL="2057400" indent="-228600" algn="l" rtl="0" eaLnBrk="1" latinLnBrk="0" hangingPunct="1">
              <a:spcBef>
                <a:spcPct val="20000"/>
              </a:spcBef>
              <a:buClr>
                <a:schemeClr val="accent2"/>
              </a:buClr>
              <a:buFont typeface="Wingdings 2"/>
              <a:buChar char="»"/>
              <a:defRPr kumimoji="1" sz="2000" kern="1200">
                <a:solidFill>
                  <a:schemeClr val="tx1"/>
                </a:solidFill>
                <a:latin typeface="Times New Roman" pitchFamily="18" charset="0"/>
                <a:ea typeface="宋体" pitchFamily="2" charset="-122"/>
                <a:cs typeface="+mn-cs"/>
              </a:defRPr>
            </a:lvl5pPr>
            <a:lvl6pPr marL="2514600" indent="-228600" algn="l" rtl="0" eaLnBrk="0" fontAlgn="base" latinLnBrk="0" hangingPunct="0">
              <a:spcBef>
                <a:spcPct val="20000"/>
              </a:spcBef>
              <a:spcAft>
                <a:spcPct val="0"/>
              </a:spcAft>
              <a:buClr>
                <a:schemeClr val="accent3"/>
              </a:buClr>
              <a:buFont typeface="Wingdings 2"/>
              <a:buChar char="»"/>
              <a:defRPr kumimoji="1" sz="2000" kern="1200">
                <a:solidFill>
                  <a:schemeClr val="tx1"/>
                </a:solidFill>
                <a:latin typeface="Times New Roman" pitchFamily="18" charset="0"/>
                <a:ea typeface="宋体" pitchFamily="2" charset="-122"/>
                <a:cs typeface="+mn-cs"/>
              </a:defRPr>
            </a:lvl6pPr>
            <a:lvl7pPr marL="2971800" indent="-228600" algn="l" rtl="0" eaLnBrk="0" fontAlgn="base" latinLnBrk="0" hangingPunct="0">
              <a:spcBef>
                <a:spcPct val="20000"/>
              </a:spcBef>
              <a:spcAft>
                <a:spcPct val="0"/>
              </a:spcAft>
              <a:buClr>
                <a:schemeClr val="accent3"/>
              </a:buClr>
              <a:buFont typeface="Wingdings 2"/>
              <a:buChar char="»"/>
              <a:defRPr kumimoji="1" sz="2000" kern="1200">
                <a:solidFill>
                  <a:schemeClr val="tx1"/>
                </a:solidFill>
                <a:latin typeface="Times New Roman" pitchFamily="18" charset="0"/>
                <a:ea typeface="宋体" pitchFamily="2" charset="-122"/>
                <a:cs typeface="+mn-cs"/>
              </a:defRPr>
            </a:lvl7pPr>
            <a:lvl8pPr marL="3429000" indent="-228600" algn="l" rtl="0" eaLnBrk="0" fontAlgn="base" latinLnBrk="0" hangingPunct="0">
              <a:spcBef>
                <a:spcPct val="20000"/>
              </a:spcBef>
              <a:spcAft>
                <a:spcPct val="0"/>
              </a:spcAft>
              <a:buClr>
                <a:schemeClr val="accent3"/>
              </a:buClr>
              <a:buFont typeface="Wingdings 2"/>
              <a:buChar char="»"/>
              <a:defRPr kumimoji="1" sz="2000" kern="1200">
                <a:solidFill>
                  <a:schemeClr val="tx1"/>
                </a:solidFill>
                <a:latin typeface="Times New Roman" pitchFamily="18" charset="0"/>
                <a:ea typeface="宋体" pitchFamily="2" charset="-122"/>
                <a:cs typeface="+mn-cs"/>
              </a:defRPr>
            </a:lvl8pPr>
            <a:lvl9pPr marL="3886200" indent="-228600" algn="l" rtl="0" eaLnBrk="0" fontAlgn="base" latinLnBrk="0" hangingPunct="0">
              <a:spcBef>
                <a:spcPct val="20000"/>
              </a:spcBef>
              <a:spcAft>
                <a:spcPct val="0"/>
              </a:spcAft>
              <a:buClr>
                <a:schemeClr val="accent3"/>
              </a:buClr>
              <a:buFont typeface="Wingdings 2"/>
              <a:buChar char="»"/>
              <a:defRPr kumimoji="1" sz="2000" kern="1200" baseline="0">
                <a:solidFill>
                  <a:schemeClr val="tx1"/>
                </a:solidFill>
                <a:latin typeface="Times New Roman" pitchFamily="18" charset="0"/>
                <a:ea typeface="宋体" pitchFamily="2" charset="-122"/>
                <a:cs typeface="+mn-cs"/>
              </a:defRPr>
            </a:lvl9pPr>
            <a:extLst/>
          </a:lstStyle>
          <a:p>
            <a:pPr>
              <a:spcBef>
                <a:spcPct val="0"/>
              </a:spcBef>
              <a:buFontTx/>
              <a:buNone/>
            </a:pPr>
            <a:r>
              <a:rPr lang="zh-CN" altLang="en-US" sz="2200" dirty="0">
                <a:latin typeface="宋体" panose="02010600030101010101" pitchFamily="2" charset="-122"/>
              </a:rPr>
              <a:t>对于任何无冲突的优先关系表，是否都存在优先函数呢？</a:t>
            </a:r>
            <a:endParaRPr lang="en-US" altLang="zh-CN" sz="2200" dirty="0">
              <a:latin typeface="宋体" panose="02010600030101010101" pitchFamily="2" charset="-122"/>
            </a:endParaRPr>
          </a:p>
          <a:p>
            <a:pPr>
              <a:spcBef>
                <a:spcPct val="0"/>
              </a:spcBef>
              <a:buFontTx/>
              <a:buNone/>
            </a:pPr>
            <a:r>
              <a:rPr lang="en-US" altLang="zh-CN" sz="2200" dirty="0">
                <a:latin typeface="宋体" panose="02010600030101010101" pitchFamily="2" charset="-122"/>
              </a:rPr>
              <a:t>A. </a:t>
            </a:r>
            <a:r>
              <a:rPr lang="zh-CN" altLang="en-US" sz="2200" dirty="0">
                <a:latin typeface="宋体" panose="02010600030101010101" pitchFamily="2" charset="-122"/>
              </a:rPr>
              <a:t>√</a:t>
            </a:r>
            <a:endParaRPr lang="en-US" altLang="zh-CN" sz="2200" dirty="0">
              <a:latin typeface="宋体" panose="02010600030101010101" pitchFamily="2" charset="-122"/>
            </a:endParaRPr>
          </a:p>
          <a:p>
            <a:pPr>
              <a:spcBef>
                <a:spcPct val="0"/>
              </a:spcBef>
              <a:buFontTx/>
              <a:buNone/>
            </a:pPr>
            <a:r>
              <a:rPr lang="en-US" altLang="zh-CN" sz="2200" dirty="0">
                <a:latin typeface="宋体" panose="02010600030101010101" pitchFamily="2" charset="-122"/>
              </a:rPr>
              <a:t>B. ×</a:t>
            </a:r>
            <a:endParaRPr lang="zh-CN" altLang="en-US" sz="2200" dirty="0">
              <a:latin typeface="宋体" panose="02010600030101010101" pitchFamily="2" charset="-122"/>
            </a:endParaRPr>
          </a:p>
        </p:txBody>
      </p:sp>
      <p:graphicFrame>
        <p:nvGraphicFramePr>
          <p:cNvPr id="7" name="表格 6"/>
          <p:cNvGraphicFramePr>
            <a:graphicFrameLocks noGrp="1"/>
          </p:cNvGraphicFramePr>
          <p:nvPr>
            <p:extLst>
              <p:ext uri="{D42A27DB-BD31-4B8C-83A1-F6EECF244321}">
                <p14:modId xmlns:p14="http://schemas.microsoft.com/office/powerpoint/2010/main" val="3288140578"/>
              </p:ext>
            </p:extLst>
          </p:nvPr>
        </p:nvGraphicFramePr>
        <p:xfrm>
          <a:off x="6448516" y="1649909"/>
          <a:ext cx="1648460" cy="914400"/>
        </p:xfrm>
        <a:graphic>
          <a:graphicData uri="http://schemas.openxmlformats.org/drawingml/2006/table">
            <a:tbl>
              <a:tblPr>
                <a:tableStyleId>{5C22544A-7EE6-4342-B048-85BDC9FD1C3A}</a:tableStyleId>
              </a:tblPr>
              <a:tblGrid>
                <a:gridCol w="492125">
                  <a:extLst>
                    <a:ext uri="{9D8B030D-6E8A-4147-A177-3AD203B41FA5}">
                      <a16:colId xmlns:a16="http://schemas.microsoft.com/office/drawing/2014/main" val="20000"/>
                    </a:ext>
                  </a:extLst>
                </a:gridCol>
                <a:gridCol w="589280">
                  <a:extLst>
                    <a:ext uri="{9D8B030D-6E8A-4147-A177-3AD203B41FA5}">
                      <a16:colId xmlns:a16="http://schemas.microsoft.com/office/drawing/2014/main" val="20001"/>
                    </a:ext>
                  </a:extLst>
                </a:gridCol>
                <a:gridCol w="567055">
                  <a:extLst>
                    <a:ext uri="{9D8B030D-6E8A-4147-A177-3AD203B41FA5}">
                      <a16:colId xmlns:a16="http://schemas.microsoft.com/office/drawing/2014/main" val="20002"/>
                    </a:ext>
                  </a:extLst>
                </a:gridCol>
              </a:tblGrid>
              <a:tr h="0">
                <a:tc>
                  <a:txBody>
                    <a:bodyPr/>
                    <a:lstStyle/>
                    <a:p>
                      <a:pPr algn="ctr">
                        <a:spcAft>
                          <a:spcPts val="0"/>
                        </a:spcAft>
                      </a:pPr>
                      <a:r>
                        <a:rPr lang="fr-FR" sz="2000" kern="100" dirty="0">
                          <a:effectLst/>
                        </a:rPr>
                        <a:t> </a:t>
                      </a:r>
                      <a:endParaRPr lang="zh-CN" sz="2000" kern="100" dirty="0">
                        <a:effectLst/>
                        <a:latin typeface="Times New Roman"/>
                        <a:ea typeface="宋体"/>
                      </a:endParaRPr>
                    </a:p>
                  </a:txBody>
                  <a:tcPr marL="68580" marR="68580" marT="0" marB="0"/>
                </a:tc>
                <a:tc>
                  <a:txBody>
                    <a:bodyPr/>
                    <a:lstStyle/>
                    <a:p>
                      <a:pPr algn="ctr">
                        <a:spcAft>
                          <a:spcPts val="0"/>
                        </a:spcAft>
                      </a:pPr>
                      <a:r>
                        <a:rPr lang="en-US" sz="2000" kern="100">
                          <a:effectLst/>
                        </a:rPr>
                        <a:t>a</a:t>
                      </a:r>
                      <a:endParaRPr lang="zh-CN" sz="2000" kern="100">
                        <a:effectLst/>
                        <a:latin typeface="Times New Roman"/>
                        <a:ea typeface="宋体"/>
                      </a:endParaRPr>
                    </a:p>
                  </a:txBody>
                  <a:tcPr marL="68580" marR="68580" marT="0" marB="0"/>
                </a:tc>
                <a:tc>
                  <a:txBody>
                    <a:bodyPr/>
                    <a:lstStyle/>
                    <a:p>
                      <a:pPr algn="ctr">
                        <a:spcAft>
                          <a:spcPts val="0"/>
                        </a:spcAft>
                      </a:pPr>
                      <a:r>
                        <a:rPr lang="en-US" sz="2000" kern="100">
                          <a:effectLst/>
                        </a:rPr>
                        <a:t>b</a:t>
                      </a:r>
                      <a:endParaRPr lang="zh-CN" sz="2000" kern="100">
                        <a:effectLst/>
                        <a:latin typeface="Times New Roman"/>
                        <a:ea typeface="宋体"/>
                      </a:endParaRPr>
                    </a:p>
                  </a:txBody>
                  <a:tcPr marL="68580" marR="68580" marT="0" marB="0"/>
                </a:tc>
                <a:extLst>
                  <a:ext uri="{0D108BD9-81ED-4DB2-BD59-A6C34878D82A}">
                    <a16:rowId xmlns:a16="http://schemas.microsoft.com/office/drawing/2014/main" val="10000"/>
                  </a:ext>
                </a:extLst>
              </a:tr>
              <a:tr h="0">
                <a:tc>
                  <a:txBody>
                    <a:bodyPr/>
                    <a:lstStyle/>
                    <a:p>
                      <a:pPr algn="ctr">
                        <a:spcAft>
                          <a:spcPts val="0"/>
                        </a:spcAft>
                      </a:pPr>
                      <a:r>
                        <a:rPr lang="en-US" sz="2000" kern="100">
                          <a:effectLst/>
                        </a:rPr>
                        <a:t>a</a:t>
                      </a:r>
                      <a:endParaRPr lang="zh-CN" sz="2000" kern="100">
                        <a:effectLst/>
                        <a:latin typeface="Times New Roman"/>
                        <a:ea typeface="宋体"/>
                      </a:endParaRPr>
                    </a:p>
                  </a:txBody>
                  <a:tcPr marL="68580" marR="68580" marT="0" marB="0"/>
                </a:tc>
                <a:tc>
                  <a:txBody>
                    <a:bodyPr/>
                    <a:lstStyle/>
                    <a:p>
                      <a:pPr algn="ctr">
                        <a:spcAft>
                          <a:spcPts val="0"/>
                        </a:spcAft>
                      </a:pPr>
                      <a:endParaRPr lang="en-US" sz="2000" kern="100" dirty="0">
                        <a:effectLst/>
                        <a:latin typeface="Times New Roman"/>
                        <a:ea typeface="宋体"/>
                      </a:endParaRPr>
                    </a:p>
                  </a:txBody>
                  <a:tcPr marL="68580" marR="68580" marT="0" marB="0"/>
                </a:tc>
                <a:tc>
                  <a:txBody>
                    <a:bodyPr/>
                    <a:lstStyle/>
                    <a:p>
                      <a:pPr algn="ctr">
                        <a:spcAft>
                          <a:spcPts val="0"/>
                        </a:spcAft>
                      </a:pPr>
                      <a:endParaRPr lang="en-US" sz="2000" kern="100" dirty="0">
                        <a:effectLst/>
                        <a:latin typeface="Times New Roman"/>
                        <a:ea typeface="宋体"/>
                      </a:endParaRPr>
                    </a:p>
                  </a:txBody>
                  <a:tcPr marL="68580" marR="68580" marT="0" marB="0"/>
                </a:tc>
                <a:extLst>
                  <a:ext uri="{0D108BD9-81ED-4DB2-BD59-A6C34878D82A}">
                    <a16:rowId xmlns:a16="http://schemas.microsoft.com/office/drawing/2014/main" val="10001"/>
                  </a:ext>
                </a:extLst>
              </a:tr>
              <a:tr h="0">
                <a:tc>
                  <a:txBody>
                    <a:bodyPr/>
                    <a:lstStyle/>
                    <a:p>
                      <a:pPr algn="ctr">
                        <a:spcAft>
                          <a:spcPts val="0"/>
                        </a:spcAft>
                      </a:pPr>
                      <a:r>
                        <a:rPr lang="en-US" sz="2000" kern="100">
                          <a:effectLst/>
                        </a:rPr>
                        <a:t>b</a:t>
                      </a:r>
                      <a:endParaRPr lang="zh-CN" sz="2000" kern="100">
                        <a:effectLst/>
                        <a:latin typeface="Times New Roman"/>
                        <a:ea typeface="宋体"/>
                      </a:endParaRPr>
                    </a:p>
                  </a:txBody>
                  <a:tcPr marL="68580" marR="68580" marT="0" marB="0"/>
                </a:tc>
                <a:tc>
                  <a:txBody>
                    <a:bodyPr/>
                    <a:lstStyle/>
                    <a:p>
                      <a:pPr algn="ctr">
                        <a:spcAft>
                          <a:spcPts val="0"/>
                        </a:spcAft>
                      </a:pPr>
                      <a:endParaRPr lang="en-US" sz="2000" kern="100" dirty="0">
                        <a:effectLst/>
                        <a:latin typeface="Times New Roman"/>
                        <a:ea typeface="宋体"/>
                      </a:endParaRPr>
                    </a:p>
                  </a:txBody>
                  <a:tcPr marL="68580" marR="68580" marT="0" marB="0"/>
                </a:tc>
                <a:tc>
                  <a:txBody>
                    <a:bodyPr/>
                    <a:lstStyle/>
                    <a:p>
                      <a:pPr algn="ctr">
                        <a:spcAft>
                          <a:spcPts val="0"/>
                        </a:spcAft>
                      </a:pPr>
                      <a:endParaRPr lang="en-US" sz="2000" kern="100" dirty="0">
                        <a:effectLst/>
                        <a:latin typeface="Times New Roman"/>
                        <a:ea typeface="宋体"/>
                      </a:endParaRPr>
                    </a:p>
                  </a:txBody>
                  <a:tcPr marL="68580" marR="68580" marT="0" marB="0"/>
                </a:tc>
                <a:extLst>
                  <a:ext uri="{0D108BD9-81ED-4DB2-BD59-A6C34878D82A}">
                    <a16:rowId xmlns:a16="http://schemas.microsoft.com/office/drawing/2014/main" val="10002"/>
                  </a:ext>
                </a:extLst>
              </a:tr>
            </a:tbl>
          </a:graphicData>
        </a:graphic>
      </p:graphicFrame>
      <p:grpSp>
        <p:nvGrpSpPr>
          <p:cNvPr id="9" name="组合 8"/>
          <p:cNvGrpSpPr/>
          <p:nvPr/>
        </p:nvGrpSpPr>
        <p:grpSpPr>
          <a:xfrm>
            <a:off x="7168596" y="1998561"/>
            <a:ext cx="792981" cy="488043"/>
            <a:chOff x="7452320" y="1768274"/>
            <a:chExt cx="792981" cy="488043"/>
          </a:xfrm>
        </p:grpSpPr>
        <p:pic>
          <p:nvPicPr>
            <p:cNvPr id="19464" name="图片 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V="1">
              <a:off x="7452320" y="1779662"/>
              <a:ext cx="216917" cy="185428"/>
            </a:xfrm>
            <a:prstGeom prst="rect">
              <a:avLst/>
            </a:prstGeom>
            <a:noFill/>
            <a:extLst>
              <a:ext uri="{909E8E84-426E-40DD-AFC4-6F175D3DCCD1}">
                <a14:hiddenFill xmlns:a14="http://schemas.microsoft.com/office/drawing/2010/main">
                  <a:solidFill>
                    <a:srgbClr val="FFFFFF"/>
                  </a:solidFill>
                </a14:hiddenFill>
              </a:ext>
            </a:extLst>
          </p:spPr>
        </p:pic>
        <p:pic>
          <p:nvPicPr>
            <p:cNvPr id="19463" name="图片 5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8016994" y="1768274"/>
              <a:ext cx="227414" cy="227412"/>
            </a:xfrm>
            <a:prstGeom prst="rect">
              <a:avLst/>
            </a:prstGeom>
            <a:noFill/>
            <a:extLst>
              <a:ext uri="{909E8E84-426E-40DD-AFC4-6F175D3DCCD1}">
                <a14:hiddenFill xmlns:a14="http://schemas.microsoft.com/office/drawing/2010/main">
                  <a:solidFill>
                    <a:srgbClr val="FFFFFF"/>
                  </a:solidFill>
                </a14:hiddenFill>
              </a:ext>
            </a:extLst>
          </p:spPr>
        </p:pic>
        <p:pic>
          <p:nvPicPr>
            <p:cNvPr id="19462" name="图片 5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V="1">
              <a:off x="7452320" y="2067694"/>
              <a:ext cx="216917" cy="185428"/>
            </a:xfrm>
            <a:prstGeom prst="rect">
              <a:avLst/>
            </a:prstGeom>
            <a:noFill/>
            <a:extLst>
              <a:ext uri="{909E8E84-426E-40DD-AFC4-6F175D3DCCD1}">
                <a14:hiddenFill xmlns:a14="http://schemas.microsoft.com/office/drawing/2010/main">
                  <a:solidFill>
                    <a:srgbClr val="FFFFFF"/>
                  </a:solidFill>
                </a14:hiddenFill>
              </a:ext>
            </a:extLst>
          </p:spPr>
        </p:pic>
        <p:pic>
          <p:nvPicPr>
            <p:cNvPr id="19461" name="图片 5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V="1">
              <a:off x="8028384" y="2070889"/>
              <a:ext cx="216917" cy="185428"/>
            </a:xfrm>
            <a:prstGeom prst="rect">
              <a:avLst/>
            </a:prstGeom>
            <a:noFill/>
            <a:extLst>
              <a:ext uri="{909E8E84-426E-40DD-AFC4-6F175D3DCCD1}">
                <a14:hiddenFill xmlns:a14="http://schemas.microsoft.com/office/drawing/2010/main">
                  <a:solidFill>
                    <a:srgbClr val="FFFFFF"/>
                  </a:solidFill>
                </a14:hiddenFill>
              </a:ext>
            </a:extLst>
          </p:spPr>
        </p:pic>
      </p:grpSp>
      <p:sp>
        <p:nvSpPr>
          <p:cNvPr id="10" name="矩形 9"/>
          <p:cNvSpPr/>
          <p:nvPr/>
        </p:nvSpPr>
        <p:spPr>
          <a:xfrm>
            <a:off x="5278640" y="606217"/>
            <a:ext cx="3779912" cy="70788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lang="zh-CN" altLang="zh-CN" sz="2000" dirty="0"/>
              <a:t>有许多优先关系表不存在对应的优先函数</a:t>
            </a:r>
            <a:endParaRPr lang="zh-CN" altLang="en-US" sz="2000" dirty="0"/>
          </a:p>
        </p:txBody>
      </p:sp>
      <p:sp>
        <p:nvSpPr>
          <p:cNvPr id="11" name="矩形 10"/>
          <p:cNvSpPr/>
          <p:nvPr/>
        </p:nvSpPr>
        <p:spPr>
          <a:xfrm>
            <a:off x="5076056" y="2750587"/>
            <a:ext cx="3779912" cy="1477328"/>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r>
              <a:rPr lang="zh-CN" altLang="en-US" dirty="0"/>
              <a:t>证明：</a:t>
            </a:r>
            <a:r>
              <a:rPr lang="zh-CN" altLang="zh-CN" dirty="0"/>
              <a:t>假定存在</a:t>
            </a:r>
            <a:r>
              <a:rPr lang="en-US" altLang="zh-CN" dirty="0"/>
              <a:t>f</a:t>
            </a:r>
            <a:r>
              <a:rPr lang="zh-CN" altLang="zh-CN" dirty="0"/>
              <a:t>和</a:t>
            </a:r>
            <a:r>
              <a:rPr lang="en-US" altLang="zh-CN" dirty="0"/>
              <a:t>g</a:t>
            </a:r>
            <a:r>
              <a:rPr lang="zh-CN" altLang="zh-CN" dirty="0"/>
              <a:t>，则应有：</a:t>
            </a:r>
          </a:p>
          <a:p>
            <a:r>
              <a:rPr lang="en-US" altLang="zh-CN" dirty="0"/>
              <a:t>          f(a) = g(a)    f(a)</a:t>
            </a:r>
            <a:r>
              <a:rPr lang="zh-CN" altLang="zh-CN" dirty="0"/>
              <a:t>＞</a:t>
            </a:r>
            <a:r>
              <a:rPr lang="en-US" altLang="zh-CN" dirty="0"/>
              <a:t>g(b)    </a:t>
            </a:r>
          </a:p>
          <a:p>
            <a:r>
              <a:rPr lang="en-US" altLang="zh-CN" dirty="0"/>
              <a:t>          f(b) = g(a)    f(b) = g(b)</a:t>
            </a:r>
            <a:endParaRPr lang="zh-CN" altLang="zh-CN" dirty="0"/>
          </a:p>
          <a:p>
            <a:r>
              <a:rPr lang="zh-CN" altLang="zh-CN" dirty="0"/>
              <a:t>这将导致如下矛盾：</a:t>
            </a:r>
          </a:p>
          <a:p>
            <a:r>
              <a:rPr lang="en-US" altLang="zh-CN" dirty="0"/>
              <a:t>          f(a)</a:t>
            </a:r>
            <a:r>
              <a:rPr lang="zh-CN" altLang="zh-CN" dirty="0"/>
              <a:t>＞</a:t>
            </a:r>
            <a:r>
              <a:rPr lang="en-US" altLang="zh-CN" dirty="0"/>
              <a:t>g(b)=f(b)=g(a)=f(a) </a:t>
            </a:r>
            <a:endParaRPr lang="zh-CN" altLang="zh-CN" dirty="0"/>
          </a:p>
        </p:txBody>
      </p:sp>
    </p:spTree>
    <p:extLst>
      <p:ext uri="{BB962C8B-B14F-4D97-AF65-F5344CB8AC3E}">
        <p14:creationId xmlns:p14="http://schemas.microsoft.com/office/powerpoint/2010/main" val="122139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autoUpdateAnimBg="0"/>
      <p:bldP spid="10" grpId="0" animBg="1"/>
      <p:bldP spid="11"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2"/>
          <p:cNvSpPr>
            <a:spLocks noGrp="1" noChangeArrowheads="1"/>
          </p:cNvSpPr>
          <p:nvPr>
            <p:ph type="title"/>
          </p:nvPr>
        </p:nvSpPr>
        <p:spPr>
          <a:xfrm>
            <a:off x="611560" y="123478"/>
            <a:ext cx="7848872" cy="715069"/>
          </a:xfrm>
        </p:spPr>
        <p:txBody>
          <a:bodyPr>
            <a:noAutofit/>
          </a:bodyPr>
          <a:lstStyle/>
          <a:p>
            <a:pPr algn="l" eaLnBrk="1" hangingPunct="1"/>
            <a:r>
              <a:rPr lang="zh-CN" altLang="en-US" sz="2400" b="0" dirty="0">
                <a:effectLst/>
              </a:rPr>
              <a:t>如果优先函数存在，从优先关系表可以构造优先函数。步骤如下：</a:t>
            </a:r>
          </a:p>
        </p:txBody>
      </p:sp>
      <p:grpSp>
        <p:nvGrpSpPr>
          <p:cNvPr id="2" name="组合 1"/>
          <p:cNvGrpSpPr/>
          <p:nvPr/>
        </p:nvGrpSpPr>
        <p:grpSpPr>
          <a:xfrm>
            <a:off x="683568" y="987574"/>
            <a:ext cx="7851775" cy="3827100"/>
            <a:chOff x="4655175" y="2006191"/>
            <a:chExt cx="7851775" cy="3765767"/>
          </a:xfrm>
        </p:grpSpPr>
        <p:sp>
          <p:nvSpPr>
            <p:cNvPr id="8" name="Rectangle 3"/>
            <p:cNvSpPr txBox="1">
              <a:spLocks noChangeArrowheads="1"/>
            </p:cNvSpPr>
            <p:nvPr/>
          </p:nvSpPr>
          <p:spPr>
            <a:xfrm>
              <a:off x="4655175" y="2006191"/>
              <a:ext cx="7851775" cy="3765767"/>
            </a:xfrm>
            <a:prstGeom prst="rect">
              <a:avLst/>
            </a:prstGeom>
            <a:solidFill>
              <a:schemeClr val="bg1"/>
            </a:solidFill>
            <a:ln w="28575">
              <a:solidFill>
                <a:srgbClr val="0000FF"/>
              </a:solid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en-US" altLang="zh-CN" sz="2200" dirty="0">
                  <a:latin typeface="宋体" panose="02010600030101010101" pitchFamily="2" charset="-122"/>
                  <a:ea typeface="宋体" panose="02010600030101010101" pitchFamily="2" charset="-122"/>
                </a:rPr>
                <a:t>(1)</a:t>
              </a:r>
              <a:r>
                <a:rPr lang="zh-CN" altLang="en-US" sz="2200" b="1" dirty="0">
                  <a:latin typeface="宋体" panose="02010600030101010101" pitchFamily="2" charset="-122"/>
                  <a:ea typeface="宋体" panose="02010600030101010101" pitchFamily="2" charset="-122"/>
                </a:rPr>
                <a:t>画图</a:t>
              </a:r>
              <a:r>
                <a:rPr lang="zh-CN" altLang="en-US" sz="2200" dirty="0">
                  <a:latin typeface="宋体" panose="02010600030101010101" pitchFamily="2" charset="-122"/>
                  <a:ea typeface="宋体" panose="02010600030101010101" pitchFamily="2" charset="-122"/>
                </a:rPr>
                <a:t>：对应于每个终结符</a:t>
              </a:r>
              <a:r>
                <a:rPr lang="en-US" altLang="zh-CN" sz="22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包含</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，令其对应两个符号</a:t>
              </a:r>
              <a:r>
                <a:rPr lang="en-US" altLang="zh-CN" sz="2200" dirty="0">
                  <a:latin typeface="宋体" panose="02010600030101010101" pitchFamily="2" charset="-122"/>
                  <a:ea typeface="宋体" panose="02010600030101010101" pitchFamily="2" charset="-122"/>
                </a:rPr>
                <a:t>f</a:t>
              </a:r>
              <a:r>
                <a:rPr lang="en-US" altLang="zh-CN" sz="2200" baseline="-250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和</a:t>
              </a:r>
              <a:r>
                <a:rPr lang="en-US" altLang="zh-CN" sz="2200" dirty="0" err="1">
                  <a:latin typeface="宋体" panose="02010600030101010101" pitchFamily="2" charset="-122"/>
                  <a:ea typeface="宋体" panose="02010600030101010101" pitchFamily="2" charset="-122"/>
                </a:rPr>
                <a:t>g</a:t>
              </a:r>
              <a:r>
                <a:rPr lang="en-US" altLang="zh-CN" sz="2200" baseline="-25000" dirty="0" err="1">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，然后画一张以所有这些符号为结点的方向图，如果</a:t>
              </a:r>
              <a:r>
                <a:rPr lang="en-US" altLang="zh-CN" sz="2200" dirty="0">
                  <a:latin typeface="宋体" panose="02010600030101010101" pitchFamily="2" charset="-122"/>
                  <a:ea typeface="宋体" panose="02010600030101010101" pitchFamily="2" charset="-122"/>
                </a:rPr>
                <a:t>a  &gt;= b</a:t>
              </a:r>
              <a:r>
                <a:rPr lang="zh-CN" altLang="en-US" sz="2200" dirty="0">
                  <a:latin typeface="宋体" panose="02010600030101010101" pitchFamily="2" charset="-122"/>
                  <a:ea typeface="宋体" panose="02010600030101010101" pitchFamily="2" charset="-122"/>
                </a:rPr>
                <a:t>，从</a:t>
              </a:r>
              <a:r>
                <a:rPr lang="en-US" altLang="zh-CN" sz="2200" dirty="0">
                  <a:latin typeface="宋体" panose="02010600030101010101" pitchFamily="2" charset="-122"/>
                  <a:ea typeface="宋体" panose="02010600030101010101" pitchFamily="2" charset="-122"/>
                </a:rPr>
                <a:t>f</a:t>
              </a:r>
              <a:r>
                <a:rPr lang="en-US" altLang="zh-CN" sz="2200" baseline="-25000" dirty="0">
                  <a:latin typeface="宋体" panose="02010600030101010101" pitchFamily="2" charset="-122"/>
                  <a:ea typeface="宋体" panose="02010600030101010101" pitchFamily="2" charset="-122"/>
                </a:rPr>
                <a:t>a</a:t>
              </a:r>
              <a:r>
                <a:rPr lang="zh-CN" altLang="en-US" sz="2200" dirty="0">
                  <a:latin typeface="宋体" panose="02010600030101010101" pitchFamily="2" charset="-122"/>
                  <a:ea typeface="宋体" panose="02010600030101010101" pitchFamily="2" charset="-122"/>
                </a:rPr>
                <a:t>画箭弧到</a:t>
              </a:r>
              <a:r>
                <a:rPr lang="en-US" altLang="zh-CN" sz="2200" dirty="0" err="1">
                  <a:latin typeface="宋体" panose="02010600030101010101" pitchFamily="2" charset="-122"/>
                  <a:ea typeface="宋体" panose="02010600030101010101" pitchFamily="2" charset="-122"/>
                </a:rPr>
                <a:t>g</a:t>
              </a:r>
              <a:r>
                <a:rPr lang="en-US" altLang="zh-CN" sz="2200" baseline="-25000" dirty="0" err="1">
                  <a:latin typeface="宋体" panose="02010600030101010101" pitchFamily="2" charset="-122"/>
                  <a:ea typeface="宋体" panose="02010600030101010101" pitchFamily="2" charset="-122"/>
                </a:rPr>
                <a:t>b</a:t>
              </a:r>
              <a:r>
                <a:rPr lang="zh-CN" altLang="en-US" sz="2200" dirty="0">
                  <a:latin typeface="宋体" panose="02010600030101010101" pitchFamily="2" charset="-122"/>
                  <a:ea typeface="宋体" panose="02010600030101010101" pitchFamily="2" charset="-122"/>
                </a:rPr>
                <a:t>，如果</a:t>
              </a:r>
              <a:r>
                <a:rPr lang="en-US" altLang="zh-CN" sz="2200" dirty="0">
                  <a:latin typeface="宋体" panose="02010600030101010101" pitchFamily="2" charset="-122"/>
                  <a:ea typeface="宋体" panose="02010600030101010101" pitchFamily="2" charset="-122"/>
                </a:rPr>
                <a:t>a  &lt;=b</a:t>
              </a:r>
              <a:r>
                <a:rPr lang="zh-CN" altLang="en-US" sz="2200" dirty="0">
                  <a:latin typeface="宋体" panose="02010600030101010101" pitchFamily="2" charset="-122"/>
                  <a:ea typeface="宋体" panose="02010600030101010101" pitchFamily="2" charset="-122"/>
                </a:rPr>
                <a:t>，从</a:t>
              </a:r>
              <a:r>
                <a:rPr lang="en-US" altLang="zh-CN" sz="2200" dirty="0" err="1">
                  <a:latin typeface="宋体" panose="02010600030101010101" pitchFamily="2" charset="-122"/>
                  <a:ea typeface="宋体" panose="02010600030101010101" pitchFamily="2" charset="-122"/>
                </a:rPr>
                <a:t>g</a:t>
              </a:r>
              <a:r>
                <a:rPr lang="en-US" altLang="zh-CN" sz="2200" baseline="-25000" dirty="0" err="1">
                  <a:latin typeface="宋体" panose="02010600030101010101" pitchFamily="2" charset="-122"/>
                  <a:ea typeface="宋体" panose="02010600030101010101" pitchFamily="2" charset="-122"/>
                </a:rPr>
                <a:t>b</a:t>
              </a:r>
              <a:r>
                <a:rPr lang="zh-CN" altLang="en-US" sz="2200" dirty="0">
                  <a:latin typeface="宋体" panose="02010600030101010101" pitchFamily="2" charset="-122"/>
                  <a:ea typeface="宋体" panose="02010600030101010101" pitchFamily="2" charset="-122"/>
                </a:rPr>
                <a:t>画箭弧到</a:t>
              </a:r>
              <a:r>
                <a:rPr lang="en-US" altLang="zh-CN" sz="2200" dirty="0">
                  <a:latin typeface="宋体" panose="02010600030101010101" pitchFamily="2" charset="-122"/>
                  <a:ea typeface="宋体" panose="02010600030101010101" pitchFamily="2" charset="-122"/>
                </a:rPr>
                <a:t>f</a:t>
              </a:r>
              <a:r>
                <a:rPr lang="en-US" altLang="zh-CN" sz="2200" baseline="-25000" dirty="0">
                  <a:latin typeface="宋体" panose="02010600030101010101" pitchFamily="2" charset="-122"/>
                  <a:ea typeface="宋体" panose="02010600030101010101" pitchFamily="2" charset="-122"/>
                </a:rPr>
                <a:t>a </a:t>
              </a:r>
              <a:r>
                <a:rPr lang="zh-CN" altLang="en-US" sz="2200" dirty="0">
                  <a:latin typeface="宋体" panose="02010600030101010101" pitchFamily="2" charset="-122"/>
                  <a:ea typeface="宋体" panose="02010600030101010101" pitchFamily="2" charset="-122"/>
                </a:rPr>
                <a:t>；</a:t>
              </a:r>
            </a:p>
            <a:p>
              <a:pPr>
                <a:spcBef>
                  <a:spcPts val="0"/>
                </a:spcBef>
              </a:pPr>
              <a:endParaRPr lang="en-US" altLang="zh-CN" sz="2200" dirty="0">
                <a:latin typeface="宋体" panose="02010600030101010101" pitchFamily="2" charset="-122"/>
                <a:ea typeface="宋体" panose="02010600030101010101" pitchFamily="2" charset="-122"/>
              </a:endParaRPr>
            </a:p>
          </p:txBody>
        </p:sp>
        <p:graphicFrame>
          <p:nvGraphicFramePr>
            <p:cNvPr id="174085" name="Object 4"/>
            <p:cNvGraphicFramePr>
              <a:graphicFrameLocks noChangeAspect="1"/>
            </p:cNvGraphicFramePr>
            <p:nvPr>
              <p:extLst>
                <p:ext uri="{D42A27DB-BD31-4B8C-83A1-F6EECF244321}">
                  <p14:modId xmlns:p14="http://schemas.microsoft.com/office/powerpoint/2010/main" val="943282387"/>
                </p:ext>
              </p:extLst>
            </p:nvPr>
          </p:nvGraphicFramePr>
          <p:xfrm>
            <a:off x="5220072" y="2777058"/>
            <a:ext cx="303213" cy="298847"/>
          </p:xfrm>
          <a:graphic>
            <a:graphicData uri="http://schemas.openxmlformats.org/presentationml/2006/ole">
              <mc:AlternateContent xmlns:mc="http://schemas.openxmlformats.org/markup-compatibility/2006">
                <mc:Choice xmlns:v="urn:schemas-microsoft-com:vml" Requires="v">
                  <p:oleObj spid="_x0000_s42006" name="位图图像" r:id="rId4" imgW="181096" imgH="237969" progId="Paint.Picture">
                    <p:embed/>
                  </p:oleObj>
                </mc:Choice>
                <mc:Fallback>
                  <p:oleObj name="位图图像" r:id="rId4" imgW="181096" imgH="237969" progId="Paint.Picture">
                    <p:embed/>
                    <p:pic>
                      <p:nvPicPr>
                        <p:cNvPr id="174085" name="Object 4"/>
                        <p:cNvPicPr>
                          <a:picLocks noChangeAspect="1" noChangeArrowheads="1"/>
                        </p:cNvPicPr>
                        <p:nvPr/>
                      </p:nvPicPr>
                      <p:blipFill>
                        <a:blip r:embed="rId5">
                          <a:extLst>
                            <a:ext uri="{28A0092B-C50C-407E-A947-70E740481C1C}">
                              <a14:useLocalDpi xmlns:a14="http://schemas.microsoft.com/office/drawing/2010/main" val="0"/>
                            </a:ext>
                          </a:extLst>
                        </a:blip>
                        <a:srcRect t="12848" r="12785"/>
                        <a:stretch>
                          <a:fillRect/>
                        </a:stretch>
                      </p:blipFill>
                      <p:spPr bwMode="auto">
                        <a:xfrm>
                          <a:off x="5220072" y="2777058"/>
                          <a:ext cx="303213" cy="2988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4086" name="Object 5"/>
            <p:cNvGraphicFramePr>
              <a:graphicFrameLocks noChangeAspect="1"/>
            </p:cNvGraphicFramePr>
            <p:nvPr>
              <p:extLst>
                <p:ext uri="{D42A27DB-BD31-4B8C-83A1-F6EECF244321}">
                  <p14:modId xmlns:p14="http://schemas.microsoft.com/office/powerpoint/2010/main" val="364664320"/>
                </p:ext>
              </p:extLst>
            </p:nvPr>
          </p:nvGraphicFramePr>
          <p:xfrm>
            <a:off x="9180512" y="2797538"/>
            <a:ext cx="381000" cy="271463"/>
          </p:xfrm>
          <a:graphic>
            <a:graphicData uri="http://schemas.openxmlformats.org/presentationml/2006/ole">
              <mc:AlternateContent xmlns:mc="http://schemas.openxmlformats.org/markup-compatibility/2006">
                <mc:Choice xmlns:v="urn:schemas-microsoft-com:vml" Requires="v">
                  <p:oleObj spid="_x0000_s42007" name="位图图像" r:id="rId6" imgW="190426" imgH="209524" progId="Paint.Picture">
                    <p:embed/>
                  </p:oleObj>
                </mc:Choice>
                <mc:Fallback>
                  <p:oleObj name="位图图像" r:id="rId6" imgW="190426" imgH="209524" progId="Paint.Picture">
                    <p:embed/>
                    <p:pic>
                      <p:nvPicPr>
                        <p:cNvPr id="174086"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80512" y="2797538"/>
                          <a:ext cx="3810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4087" name="Object 6"/>
            <p:cNvGraphicFramePr>
              <a:graphicFrameLocks noChangeAspect="1"/>
            </p:cNvGraphicFramePr>
            <p:nvPr>
              <p:extLst>
                <p:ext uri="{D42A27DB-BD31-4B8C-83A1-F6EECF244321}">
                  <p14:modId xmlns:p14="http://schemas.microsoft.com/office/powerpoint/2010/main" val="2046501927"/>
                </p:ext>
              </p:extLst>
            </p:nvPr>
          </p:nvGraphicFramePr>
          <p:xfrm>
            <a:off x="5491535" y="2787774"/>
            <a:ext cx="457200" cy="221456"/>
          </p:xfrm>
          <a:graphic>
            <a:graphicData uri="http://schemas.openxmlformats.org/presentationml/2006/ole">
              <mc:AlternateContent xmlns:mc="http://schemas.openxmlformats.org/markup-compatibility/2006">
                <mc:Choice xmlns:v="urn:schemas-microsoft-com:vml" Requires="v">
                  <p:oleObj spid="_x0000_s42008" name="位图图像" r:id="rId8" imgW="295238" imgH="190426" progId="Paint.Picture">
                    <p:embed/>
                  </p:oleObj>
                </mc:Choice>
                <mc:Fallback>
                  <p:oleObj name="位图图像" r:id="rId8" imgW="295238" imgH="190426" progId="Paint.Picture">
                    <p:embed/>
                    <p:pic>
                      <p:nvPicPr>
                        <p:cNvPr id="174087"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91535" y="2787774"/>
                          <a:ext cx="457200" cy="221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4088" name="Object 7"/>
            <p:cNvGraphicFramePr>
              <a:graphicFrameLocks noChangeAspect="1"/>
            </p:cNvGraphicFramePr>
            <p:nvPr>
              <p:extLst>
                <p:ext uri="{D42A27DB-BD31-4B8C-83A1-F6EECF244321}">
                  <p14:modId xmlns:p14="http://schemas.microsoft.com/office/powerpoint/2010/main" val="1303914620"/>
                </p:ext>
              </p:extLst>
            </p:nvPr>
          </p:nvGraphicFramePr>
          <p:xfrm>
            <a:off x="9403580" y="2815398"/>
            <a:ext cx="373956" cy="221456"/>
          </p:xfrm>
          <a:graphic>
            <a:graphicData uri="http://schemas.openxmlformats.org/presentationml/2006/ole">
              <mc:AlternateContent xmlns:mc="http://schemas.openxmlformats.org/markup-compatibility/2006">
                <mc:Choice xmlns:v="urn:schemas-microsoft-com:vml" Requires="v">
                  <p:oleObj spid="_x0000_s42009" name="位图图像" r:id="rId10" imgW="295238" imgH="190426" progId="Paint.Picture">
                    <p:embed/>
                  </p:oleObj>
                </mc:Choice>
                <mc:Fallback>
                  <p:oleObj name="位图图像" r:id="rId10" imgW="295238" imgH="190426" progId="Paint.Picture">
                    <p:embed/>
                    <p:pic>
                      <p:nvPicPr>
                        <p:cNvPr id="174088"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580" y="2815398"/>
                          <a:ext cx="373956" cy="221456"/>
                        </a:xfrm>
                        <a:prstGeom prst="rect">
                          <a:avLst/>
                        </a:prstGeom>
                        <a:noFill/>
                        <a:ln>
                          <a:noFill/>
                        </a:ln>
                        <a:effectLst/>
                      </p:spPr>
                    </p:pic>
                  </p:oleObj>
                </mc:Fallback>
              </mc:AlternateContent>
            </a:graphicData>
          </a:graphic>
        </p:graphicFrame>
      </p:grpSp>
      <p:sp>
        <p:nvSpPr>
          <p:cNvPr id="11" name="Rectangle 3"/>
          <p:cNvSpPr txBox="1">
            <a:spLocks noChangeArrowheads="1"/>
          </p:cNvSpPr>
          <p:nvPr/>
        </p:nvSpPr>
        <p:spPr>
          <a:xfrm>
            <a:off x="680665" y="2139702"/>
            <a:ext cx="7851775" cy="1193899"/>
          </a:xfrm>
          <a:prstGeom prst="rect">
            <a:avLst/>
          </a:prstGeom>
          <a:noFill/>
          <a:ln w="28575">
            <a:no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en-US" altLang="zh-CN" sz="2200" dirty="0">
                <a:latin typeface="宋体" panose="02010600030101010101" pitchFamily="2" charset="-122"/>
                <a:ea typeface="宋体" panose="02010600030101010101" pitchFamily="2" charset="-122"/>
              </a:rPr>
              <a:t>(2) </a:t>
            </a:r>
            <a:r>
              <a:rPr lang="zh-CN" altLang="en-US" sz="2200" b="1" dirty="0">
                <a:latin typeface="宋体" panose="02010600030101010101" pitchFamily="2" charset="-122"/>
                <a:ea typeface="宋体" panose="02010600030101010101" pitchFamily="2" charset="-122"/>
              </a:rPr>
              <a:t>数数</a:t>
            </a:r>
            <a:r>
              <a:rPr lang="zh-CN" altLang="en-US" sz="2200" dirty="0">
                <a:latin typeface="宋体" panose="02010600030101010101" pitchFamily="2" charset="-122"/>
                <a:ea typeface="宋体" panose="02010600030101010101" pitchFamily="2" charset="-122"/>
              </a:rPr>
              <a:t>：对每个结点都赋予一个数，此数值等于从该结点出发</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含该结点</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，能够到达的所有不相同的结点的个数，即不记重复数；</a:t>
            </a:r>
          </a:p>
        </p:txBody>
      </p:sp>
      <p:sp>
        <p:nvSpPr>
          <p:cNvPr id="174083" name="Rectangle 3"/>
          <p:cNvSpPr>
            <a:spLocks noGrp="1" noChangeArrowheads="1"/>
          </p:cNvSpPr>
          <p:nvPr>
            <p:ph type="body" idx="1"/>
          </p:nvPr>
        </p:nvSpPr>
        <p:spPr>
          <a:xfrm>
            <a:off x="683568" y="3272269"/>
            <a:ext cx="7851775" cy="1559694"/>
          </a:xfrm>
          <a:noFill/>
          <a:ln w="28575">
            <a:noFill/>
            <a:miter lim="800000"/>
            <a:headEnd/>
            <a:tailEnd/>
          </a:ln>
        </p:spPr>
        <p:txBody>
          <a:bodyPr>
            <a:normAutofit/>
          </a:bodyPr>
          <a:lstStyle/>
          <a:p>
            <a:pPr eaLnBrk="1" hangingPunct="1">
              <a:spcBef>
                <a:spcPts val="0"/>
              </a:spcBef>
            </a:pPr>
            <a:r>
              <a:rPr lang="en-US" altLang="zh-CN" sz="2200" dirty="0">
                <a:latin typeface="宋体" panose="02010600030101010101" pitchFamily="2" charset="-122"/>
                <a:ea typeface="宋体" panose="02010600030101010101" pitchFamily="2" charset="-122"/>
              </a:rPr>
              <a:t>(3) </a:t>
            </a:r>
            <a:r>
              <a:rPr lang="zh-CN" altLang="en-US" sz="2200" b="1" dirty="0">
                <a:latin typeface="宋体" panose="02010600030101010101" pitchFamily="2" charset="-122"/>
                <a:ea typeface="宋体" panose="02010600030101010101" pitchFamily="2" charset="-122"/>
              </a:rPr>
              <a:t>验证</a:t>
            </a:r>
            <a:r>
              <a:rPr lang="zh-CN" altLang="en-US" sz="2200" dirty="0">
                <a:latin typeface="宋体" panose="02010600030101010101" pitchFamily="2" charset="-122"/>
                <a:ea typeface="宋体" panose="02010600030101010101" pitchFamily="2" charset="-122"/>
              </a:rPr>
              <a:t>：检查所构造的函数</a:t>
            </a:r>
            <a:r>
              <a:rPr lang="en-US" altLang="zh-CN" sz="2200" dirty="0">
                <a:latin typeface="宋体" panose="02010600030101010101" pitchFamily="2" charset="-122"/>
                <a:ea typeface="宋体" panose="02010600030101010101" pitchFamily="2" charset="-122"/>
              </a:rPr>
              <a:t>f</a:t>
            </a:r>
            <a:r>
              <a:rPr lang="zh-CN" altLang="en-US" sz="2200" dirty="0">
                <a:latin typeface="宋体" panose="02010600030101010101" pitchFamily="2" charset="-122"/>
                <a:ea typeface="宋体" panose="02010600030101010101" pitchFamily="2" charset="-122"/>
              </a:rPr>
              <a:t>和</a:t>
            </a:r>
            <a:r>
              <a:rPr lang="en-US" altLang="zh-CN" sz="2200" dirty="0">
                <a:latin typeface="宋体" panose="02010600030101010101" pitchFamily="2" charset="-122"/>
                <a:ea typeface="宋体" panose="02010600030101010101" pitchFamily="2" charset="-122"/>
              </a:rPr>
              <a:t>g</a:t>
            </a:r>
            <a:r>
              <a:rPr lang="zh-CN" altLang="en-US" sz="2200" dirty="0">
                <a:latin typeface="宋体" panose="02010600030101010101" pitchFamily="2" charset="-122"/>
                <a:ea typeface="宋体" panose="02010600030101010101" pitchFamily="2" charset="-122"/>
              </a:rPr>
              <a:t>，看是否同原来的优先关系表相矛盾。如果不矛盾，</a:t>
            </a:r>
            <a:r>
              <a:rPr lang="en-US" altLang="zh-CN" sz="2200" dirty="0">
                <a:latin typeface="宋体" panose="02010600030101010101" pitchFamily="2" charset="-122"/>
                <a:ea typeface="宋体" panose="02010600030101010101" pitchFamily="2" charset="-122"/>
              </a:rPr>
              <a:t>f</a:t>
            </a:r>
            <a:r>
              <a:rPr lang="zh-CN" altLang="en-US" sz="2200" dirty="0">
                <a:latin typeface="宋体" panose="02010600030101010101" pitchFamily="2" charset="-122"/>
                <a:ea typeface="宋体" panose="02010600030101010101" pitchFamily="2" charset="-122"/>
              </a:rPr>
              <a:t>和</a:t>
            </a:r>
            <a:r>
              <a:rPr lang="en-US" altLang="zh-CN" sz="2200" dirty="0">
                <a:latin typeface="宋体" panose="02010600030101010101" pitchFamily="2" charset="-122"/>
                <a:ea typeface="宋体" panose="02010600030101010101" pitchFamily="2" charset="-122"/>
              </a:rPr>
              <a:t>g</a:t>
            </a:r>
            <a:r>
              <a:rPr lang="zh-CN" altLang="en-US" sz="2200" dirty="0">
                <a:latin typeface="宋体" panose="02010600030101010101" pitchFamily="2" charset="-122"/>
                <a:ea typeface="宋体" panose="02010600030101010101" pitchFamily="2" charset="-122"/>
              </a:rPr>
              <a:t>就是所要求的优先函数；如果有矛盾，则不存在优先关系函数。</a:t>
            </a:r>
            <a:r>
              <a:rPr lang="en-US" altLang="zh-CN" sz="2200" dirty="0">
                <a:latin typeface="宋体" panose="02010600030101010101" pitchFamily="2" charset="-122"/>
                <a:ea typeface="宋体" panose="02010600030101010101" pitchFamily="2" charset="-122"/>
              </a:rPr>
              <a:t>(</a:t>
            </a:r>
            <a:r>
              <a:rPr lang="zh-CN" altLang="en-US" sz="2200" dirty="0">
                <a:latin typeface="宋体" panose="02010600030101010101" pitchFamily="2" charset="-122"/>
                <a:ea typeface="宋体" panose="02010600030101010101" pitchFamily="2" charset="-122"/>
              </a:rPr>
              <a:t>因为存在优先关系表没有对应的优先函数的情况</a:t>
            </a:r>
            <a:r>
              <a:rPr lang="en-US" altLang="zh-CN" sz="2200" dirty="0">
                <a:latin typeface="宋体" panose="02010600030101010101" pitchFamily="2" charset="-122"/>
                <a:ea typeface="宋体" panose="02010600030101010101" pitchFamily="2" charset="-122"/>
              </a:rPr>
              <a:t>)</a:t>
            </a:r>
          </a:p>
        </p:txBody>
      </p:sp>
    </p:spTree>
    <p:extLst>
      <p:ext uri="{BB962C8B-B14F-4D97-AF65-F5344CB8AC3E}">
        <p14:creationId xmlns:p14="http://schemas.microsoft.com/office/powerpoint/2010/main" val="15132422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7408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74083" grpId="0" build="p"/>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对象 1"/>
          <p:cNvGraphicFramePr>
            <a:graphicFrameLocks noChangeAspect="1"/>
          </p:cNvGraphicFramePr>
          <p:nvPr>
            <p:extLst>
              <p:ext uri="{D42A27DB-BD31-4B8C-83A1-F6EECF244321}">
                <p14:modId xmlns:p14="http://schemas.microsoft.com/office/powerpoint/2010/main" val="768769989"/>
              </p:ext>
            </p:extLst>
          </p:nvPr>
        </p:nvGraphicFramePr>
        <p:xfrm>
          <a:off x="251520" y="2499742"/>
          <a:ext cx="6096000" cy="2622550"/>
        </p:xfrm>
        <a:graphic>
          <a:graphicData uri="http://schemas.openxmlformats.org/presentationml/2006/ole">
            <mc:AlternateContent xmlns:mc="http://schemas.openxmlformats.org/markup-compatibility/2006">
              <mc:Choice xmlns:v="urn:schemas-microsoft-com:vml" Requires="v">
                <p:oleObj spid="_x0000_s43025" name="Visio" r:id="rId4" imgW="4352652" imgH="1958688" progId="Visio.Drawing.11">
                  <p:embed/>
                </p:oleObj>
              </mc:Choice>
              <mc:Fallback>
                <p:oleObj name="Visio" r:id="rId4" imgW="4352652" imgH="1958688" progId="Visio.Drawing.11">
                  <p:embed/>
                  <p:pic>
                    <p:nvPicPr>
                      <p:cNvPr id="2" name="对象 1"/>
                      <p:cNvPicPr>
                        <a:picLocks noChangeAspect="1" noChangeArrowheads="1"/>
                      </p:cNvPicPr>
                      <p:nvPr/>
                    </p:nvPicPr>
                    <p:blipFill>
                      <a:blip r:embed="rId5"/>
                      <a:srcRect/>
                      <a:stretch>
                        <a:fillRect/>
                      </a:stretch>
                    </p:blipFill>
                    <p:spPr bwMode="auto">
                      <a:xfrm>
                        <a:off x="251520" y="2499742"/>
                        <a:ext cx="6096000" cy="2622550"/>
                      </a:xfrm>
                      <a:prstGeom prst="rect">
                        <a:avLst/>
                      </a:prstGeom>
                      <a:solidFill>
                        <a:schemeClr val="accent3">
                          <a:lumMod val="20000"/>
                          <a:lumOff val="80000"/>
                        </a:schemeClr>
                      </a:solidFill>
                      <a:ln>
                        <a:noFill/>
                      </a:ln>
                    </p:spPr>
                  </p:pic>
                </p:oleObj>
              </mc:Fallback>
            </mc:AlternateContent>
          </a:graphicData>
        </a:graphic>
      </p:graphicFrame>
      <p:sp>
        <p:nvSpPr>
          <p:cNvPr id="175106" name="Rectangle 2"/>
          <p:cNvSpPr>
            <a:spLocks noGrp="1" noChangeArrowheads="1"/>
          </p:cNvSpPr>
          <p:nvPr>
            <p:ph type="title"/>
          </p:nvPr>
        </p:nvSpPr>
        <p:spPr>
          <a:xfrm>
            <a:off x="0" y="0"/>
            <a:ext cx="8904288" cy="444500"/>
          </a:xfrm>
        </p:spPr>
        <p:txBody>
          <a:bodyPr>
            <a:normAutofit fontScale="90000"/>
          </a:bodyPr>
          <a:lstStyle/>
          <a:p>
            <a:pPr algn="l" eaLnBrk="1" hangingPunct="1"/>
            <a:r>
              <a:rPr lang="zh-CN" altLang="en-US" sz="3200"/>
              <a:t>例：根据优先关系表构造优先函数：</a:t>
            </a:r>
          </a:p>
        </p:txBody>
      </p:sp>
      <p:graphicFrame>
        <p:nvGraphicFramePr>
          <p:cNvPr id="140334" name="Group 46"/>
          <p:cNvGraphicFramePr>
            <a:graphicFrameLocks noGrp="1"/>
          </p:cNvGraphicFramePr>
          <p:nvPr>
            <p:extLst>
              <p:ext uri="{D42A27DB-BD31-4B8C-83A1-F6EECF244321}">
                <p14:modId xmlns:p14="http://schemas.microsoft.com/office/powerpoint/2010/main" val="3157897548"/>
              </p:ext>
            </p:extLst>
          </p:nvPr>
        </p:nvGraphicFramePr>
        <p:xfrm>
          <a:off x="5508104" y="771550"/>
          <a:ext cx="3491880" cy="1435099"/>
        </p:xfrm>
        <a:graphic>
          <a:graphicData uri="http://schemas.openxmlformats.org/drawingml/2006/table">
            <a:tbl>
              <a:tblPr/>
              <a:tblGrid>
                <a:gridCol w="581980">
                  <a:extLst>
                    <a:ext uri="{9D8B030D-6E8A-4147-A177-3AD203B41FA5}">
                      <a16:colId xmlns:a16="http://schemas.microsoft.com/office/drawing/2014/main" val="20000"/>
                    </a:ext>
                  </a:extLst>
                </a:gridCol>
                <a:gridCol w="581980">
                  <a:extLst>
                    <a:ext uri="{9D8B030D-6E8A-4147-A177-3AD203B41FA5}">
                      <a16:colId xmlns:a16="http://schemas.microsoft.com/office/drawing/2014/main" val="20001"/>
                    </a:ext>
                  </a:extLst>
                </a:gridCol>
                <a:gridCol w="581980">
                  <a:extLst>
                    <a:ext uri="{9D8B030D-6E8A-4147-A177-3AD203B41FA5}">
                      <a16:colId xmlns:a16="http://schemas.microsoft.com/office/drawing/2014/main" val="20002"/>
                    </a:ext>
                  </a:extLst>
                </a:gridCol>
                <a:gridCol w="581980">
                  <a:extLst>
                    <a:ext uri="{9D8B030D-6E8A-4147-A177-3AD203B41FA5}">
                      <a16:colId xmlns:a16="http://schemas.microsoft.com/office/drawing/2014/main" val="20003"/>
                    </a:ext>
                  </a:extLst>
                </a:gridCol>
                <a:gridCol w="581980">
                  <a:extLst>
                    <a:ext uri="{9D8B030D-6E8A-4147-A177-3AD203B41FA5}">
                      <a16:colId xmlns:a16="http://schemas.microsoft.com/office/drawing/2014/main" val="20004"/>
                    </a:ext>
                  </a:extLst>
                </a:gridCol>
                <a:gridCol w="581980">
                  <a:extLst>
                    <a:ext uri="{9D8B030D-6E8A-4147-A177-3AD203B41FA5}">
                      <a16:colId xmlns:a16="http://schemas.microsoft.com/office/drawing/2014/main" val="20005"/>
                    </a:ext>
                  </a:extLst>
                </a:gridCol>
              </a:tblGrid>
              <a:tr h="47876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9" marB="3429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0"/>
                  </a:ext>
                </a:extLst>
              </a:tr>
              <a:tr h="47757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99" marB="3429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4</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47876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a:t>
                      </a:r>
                    </a:p>
                  </a:txBody>
                  <a:tcPr marT="34299" marB="3429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3</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T="34299" marB="3429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2</a:t>
                      </a:r>
                    </a:p>
                  </a:txBody>
                  <a:tcPr marT="34299" marB="3429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bl>
          </a:graphicData>
        </a:graphic>
      </p:graphicFrame>
      <p:graphicFrame>
        <p:nvGraphicFramePr>
          <p:cNvPr id="140451" name="Group 163"/>
          <p:cNvGraphicFramePr>
            <a:graphicFrameLocks noGrp="1"/>
          </p:cNvGraphicFramePr>
          <p:nvPr>
            <p:extLst>
              <p:ext uri="{D42A27DB-BD31-4B8C-83A1-F6EECF244321}">
                <p14:modId xmlns:p14="http://schemas.microsoft.com/office/powerpoint/2010/main" val="3422808576"/>
              </p:ext>
            </p:extLst>
          </p:nvPr>
        </p:nvGraphicFramePr>
        <p:xfrm>
          <a:off x="505520" y="483518"/>
          <a:ext cx="3274392" cy="2057400"/>
        </p:xfrm>
        <a:graphic>
          <a:graphicData uri="http://schemas.openxmlformats.org/drawingml/2006/table">
            <a:tbl>
              <a:tblPr/>
              <a:tblGrid>
                <a:gridCol w="545732">
                  <a:extLst>
                    <a:ext uri="{9D8B030D-6E8A-4147-A177-3AD203B41FA5}">
                      <a16:colId xmlns:a16="http://schemas.microsoft.com/office/drawing/2014/main" val="20000"/>
                    </a:ext>
                  </a:extLst>
                </a:gridCol>
                <a:gridCol w="545732">
                  <a:extLst>
                    <a:ext uri="{9D8B030D-6E8A-4147-A177-3AD203B41FA5}">
                      <a16:colId xmlns:a16="http://schemas.microsoft.com/office/drawing/2014/main" val="20001"/>
                    </a:ext>
                  </a:extLst>
                </a:gridCol>
                <a:gridCol w="545732">
                  <a:extLst>
                    <a:ext uri="{9D8B030D-6E8A-4147-A177-3AD203B41FA5}">
                      <a16:colId xmlns:a16="http://schemas.microsoft.com/office/drawing/2014/main" val="20002"/>
                    </a:ext>
                  </a:extLst>
                </a:gridCol>
                <a:gridCol w="545732">
                  <a:extLst>
                    <a:ext uri="{9D8B030D-6E8A-4147-A177-3AD203B41FA5}">
                      <a16:colId xmlns:a16="http://schemas.microsoft.com/office/drawing/2014/main" val="20003"/>
                    </a:ext>
                  </a:extLst>
                </a:gridCol>
                <a:gridCol w="545732">
                  <a:extLst>
                    <a:ext uri="{9D8B030D-6E8A-4147-A177-3AD203B41FA5}">
                      <a16:colId xmlns:a16="http://schemas.microsoft.com/office/drawing/2014/main" val="20004"/>
                    </a:ext>
                  </a:extLst>
                </a:gridCol>
                <a:gridCol w="545732">
                  <a:extLst>
                    <a:ext uri="{9D8B030D-6E8A-4147-A177-3AD203B41FA5}">
                      <a16:colId xmlns:a16="http://schemas.microsoft.com/office/drawing/2014/main" val="20005"/>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0"/>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3"/>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&lt;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4"/>
                  </a:ext>
                </a:extLst>
              </a:tr>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&gt;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5"/>
                  </a:ext>
                </a:extLst>
              </a:tr>
            </a:tbl>
          </a:graphicData>
        </a:graphic>
      </p:graphicFrame>
      <p:graphicFrame>
        <p:nvGraphicFramePr>
          <p:cNvPr id="3" name="对象 2"/>
          <p:cNvGraphicFramePr>
            <a:graphicFrameLocks noChangeAspect="1"/>
          </p:cNvGraphicFramePr>
          <p:nvPr>
            <p:extLst>
              <p:ext uri="{D42A27DB-BD31-4B8C-83A1-F6EECF244321}">
                <p14:modId xmlns:p14="http://schemas.microsoft.com/office/powerpoint/2010/main" val="2177457863"/>
              </p:ext>
            </p:extLst>
          </p:nvPr>
        </p:nvGraphicFramePr>
        <p:xfrm>
          <a:off x="251520" y="2499742"/>
          <a:ext cx="6096000" cy="2622550"/>
        </p:xfrm>
        <a:graphic>
          <a:graphicData uri="http://schemas.openxmlformats.org/presentationml/2006/ole">
            <mc:AlternateContent xmlns:mc="http://schemas.openxmlformats.org/markup-compatibility/2006">
              <mc:Choice xmlns:v="urn:schemas-microsoft-com:vml" Requires="v">
                <p:oleObj spid="_x0000_s43026" name="Visio" r:id="rId6" imgW="4352652" imgH="1958688" progId="Visio.Drawing.11">
                  <p:embed/>
                </p:oleObj>
              </mc:Choice>
              <mc:Fallback>
                <p:oleObj name="Visio" r:id="rId6" imgW="4352652" imgH="1958688" progId="Visio.Drawing.11">
                  <p:embed/>
                  <p:pic>
                    <p:nvPicPr>
                      <p:cNvPr id="3" name="对象 2"/>
                      <p:cNvPicPr>
                        <a:picLocks noChangeAspect="1" noChangeArrowheads="1"/>
                      </p:cNvPicPr>
                      <p:nvPr/>
                    </p:nvPicPr>
                    <p:blipFill>
                      <a:blip r:embed="rId7"/>
                      <a:srcRect/>
                      <a:stretch>
                        <a:fillRect/>
                      </a:stretch>
                    </p:blipFill>
                    <p:spPr bwMode="auto">
                      <a:xfrm>
                        <a:off x="251520" y="2499742"/>
                        <a:ext cx="6096000" cy="2622550"/>
                      </a:xfrm>
                      <a:prstGeom prst="rect">
                        <a:avLst/>
                      </a:prstGeom>
                      <a:solidFill>
                        <a:srgbClr val="FBE0D1"/>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5107" name="Object 4"/>
          <p:cNvGraphicFramePr>
            <a:graphicFrameLocks noChangeAspect="1"/>
          </p:cNvGraphicFramePr>
          <p:nvPr>
            <p:extLst>
              <p:ext uri="{D42A27DB-BD31-4B8C-83A1-F6EECF244321}">
                <p14:modId xmlns:p14="http://schemas.microsoft.com/office/powerpoint/2010/main" val="3514187019"/>
              </p:ext>
            </p:extLst>
          </p:nvPr>
        </p:nvGraphicFramePr>
        <p:xfrm>
          <a:off x="251520" y="2499742"/>
          <a:ext cx="6201083" cy="2533595"/>
        </p:xfrm>
        <a:graphic>
          <a:graphicData uri="http://schemas.openxmlformats.org/presentationml/2006/ole">
            <mc:AlternateContent xmlns:mc="http://schemas.openxmlformats.org/markup-compatibility/2006">
              <mc:Choice xmlns:v="urn:schemas-microsoft-com:vml" Requires="v">
                <p:oleObj spid="_x0000_s43027" name="Visio" r:id="rId8" imgW="4178880" imgH="1785600" progId="Visio.Drawing.11">
                  <p:embed/>
                </p:oleObj>
              </mc:Choice>
              <mc:Fallback>
                <p:oleObj name="Visio" r:id="rId8" imgW="4178880" imgH="1785600" progId="Visio.Drawing.11">
                  <p:embed/>
                  <p:pic>
                    <p:nvPicPr>
                      <p:cNvPr id="175107"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520" y="2499742"/>
                        <a:ext cx="6201083" cy="2533595"/>
                      </a:xfrm>
                      <a:prstGeom prst="rect">
                        <a:avLst/>
                      </a:prstGeom>
                      <a:solidFill>
                        <a:schemeClr val="accent3">
                          <a:lumMod val="20000"/>
                          <a:lumOff val="80000"/>
                        </a:schemeClr>
                      </a:solidFill>
                      <a:ln>
                        <a:noFill/>
                      </a:ln>
                      <a:effectLst/>
                    </p:spPr>
                  </p:pic>
                </p:oleObj>
              </mc:Fallback>
            </mc:AlternateContent>
          </a:graphicData>
        </a:graphic>
      </p:graphicFrame>
    </p:spTree>
    <p:extLst>
      <p:ext uri="{BB962C8B-B14F-4D97-AF65-F5344CB8AC3E}">
        <p14:creationId xmlns:p14="http://schemas.microsoft.com/office/powerpoint/2010/main" val="41006554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7510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1403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a:xfrm>
            <a:off x="265113" y="0"/>
            <a:ext cx="3600450" cy="542925"/>
          </a:xfrm>
        </p:spPr>
        <p:txBody>
          <a:bodyPr>
            <a:normAutofit fontScale="90000"/>
          </a:bodyPr>
          <a:lstStyle/>
          <a:p>
            <a:pPr eaLnBrk="1" hangingPunct="1"/>
            <a:r>
              <a:rPr lang="zh-CN" altLang="en-US"/>
              <a:t>练习</a:t>
            </a:r>
          </a:p>
        </p:txBody>
      </p:sp>
      <p:sp>
        <p:nvSpPr>
          <p:cNvPr id="176131" name="Rectangle 3"/>
          <p:cNvSpPr>
            <a:spLocks noGrp="1" noChangeArrowheads="1"/>
          </p:cNvSpPr>
          <p:nvPr>
            <p:ph type="body" idx="1"/>
          </p:nvPr>
        </p:nvSpPr>
        <p:spPr>
          <a:xfrm>
            <a:off x="0" y="457200"/>
            <a:ext cx="4572000" cy="818406"/>
          </a:xfrm>
        </p:spPr>
        <p:txBody>
          <a:bodyPr>
            <a:normAutofit/>
          </a:bodyPr>
          <a:lstStyle/>
          <a:p>
            <a:pPr eaLnBrk="1" hangingPunct="1"/>
            <a:r>
              <a:rPr lang="zh-CN" altLang="en-US" sz="2200" dirty="0">
                <a:latin typeface="宋体" panose="02010600030101010101" pitchFamily="2" charset="-122"/>
                <a:ea typeface="宋体" panose="02010600030101010101" pitchFamily="2" charset="-122"/>
              </a:rPr>
              <a:t>对下边的文法，有优先关系表如右：为其构造优先函数：</a:t>
            </a:r>
          </a:p>
        </p:txBody>
      </p:sp>
      <p:sp>
        <p:nvSpPr>
          <p:cNvPr id="176132" name="Text Box 4"/>
          <p:cNvSpPr txBox="1">
            <a:spLocks noChangeArrowheads="1"/>
          </p:cNvSpPr>
          <p:nvPr/>
        </p:nvSpPr>
        <p:spPr bwMode="auto">
          <a:xfrm>
            <a:off x="749300" y="1211371"/>
            <a:ext cx="2279650" cy="93871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200" dirty="0">
                <a:latin typeface="宋体" panose="02010600030101010101" pitchFamily="2" charset="-122"/>
              </a:rPr>
              <a:t>S </a:t>
            </a:r>
            <a:r>
              <a:rPr lang="en-US" altLang="zh-CN" sz="2200" dirty="0">
                <a:latin typeface="宋体" panose="02010600030101010101" pitchFamily="2" charset="-122"/>
                <a:sym typeface="Wingdings" pitchFamily="2" charset="2"/>
              </a:rPr>
              <a:t> a | (T)</a:t>
            </a:r>
          </a:p>
          <a:p>
            <a:pPr algn="ctr" eaLnBrk="1" hangingPunct="1">
              <a:spcBef>
                <a:spcPct val="50000"/>
              </a:spcBef>
              <a:buFontTx/>
              <a:buNone/>
            </a:pPr>
            <a:r>
              <a:rPr lang="en-US" altLang="zh-CN" sz="2200" dirty="0">
                <a:latin typeface="宋体" panose="02010600030101010101" pitchFamily="2" charset="-122"/>
                <a:sym typeface="Wingdings" pitchFamily="2" charset="2"/>
              </a:rPr>
              <a:t>T  T,S | S </a:t>
            </a:r>
            <a:endParaRPr lang="en-US" altLang="zh-CN" sz="2200" dirty="0">
              <a:latin typeface="宋体" panose="02010600030101010101" pitchFamily="2" charset="-122"/>
            </a:endParaRPr>
          </a:p>
        </p:txBody>
      </p:sp>
      <p:graphicFrame>
        <p:nvGraphicFramePr>
          <p:cNvPr id="144479" name="Group 95"/>
          <p:cNvGraphicFramePr>
            <a:graphicFrameLocks noGrp="1"/>
          </p:cNvGraphicFramePr>
          <p:nvPr>
            <p:extLst>
              <p:ext uri="{D42A27DB-BD31-4B8C-83A1-F6EECF244321}">
                <p14:modId xmlns:p14="http://schemas.microsoft.com/office/powerpoint/2010/main" val="1367755946"/>
              </p:ext>
            </p:extLst>
          </p:nvPr>
        </p:nvGraphicFramePr>
        <p:xfrm>
          <a:off x="5508104" y="96242"/>
          <a:ext cx="3563888" cy="2331492"/>
        </p:xfrm>
        <a:graphic>
          <a:graphicData uri="http://schemas.openxmlformats.org/drawingml/2006/table">
            <a:tbl>
              <a:tblPr/>
              <a:tblGrid>
                <a:gridCol w="677331">
                  <a:extLst>
                    <a:ext uri="{9D8B030D-6E8A-4147-A177-3AD203B41FA5}">
                      <a16:colId xmlns:a16="http://schemas.microsoft.com/office/drawing/2014/main" val="20000"/>
                    </a:ext>
                  </a:extLst>
                </a:gridCol>
                <a:gridCol w="608636">
                  <a:extLst>
                    <a:ext uri="{9D8B030D-6E8A-4147-A177-3AD203B41FA5}">
                      <a16:colId xmlns:a16="http://schemas.microsoft.com/office/drawing/2014/main" val="20001"/>
                    </a:ext>
                  </a:extLst>
                </a:gridCol>
                <a:gridCol w="656723">
                  <a:extLst>
                    <a:ext uri="{9D8B030D-6E8A-4147-A177-3AD203B41FA5}">
                      <a16:colId xmlns:a16="http://schemas.microsoft.com/office/drawing/2014/main" val="20002"/>
                    </a:ext>
                  </a:extLst>
                </a:gridCol>
                <a:gridCol w="590776">
                  <a:extLst>
                    <a:ext uri="{9D8B030D-6E8A-4147-A177-3AD203B41FA5}">
                      <a16:colId xmlns:a16="http://schemas.microsoft.com/office/drawing/2014/main" val="20003"/>
                    </a:ext>
                  </a:extLst>
                </a:gridCol>
                <a:gridCol w="566045">
                  <a:extLst>
                    <a:ext uri="{9D8B030D-6E8A-4147-A177-3AD203B41FA5}">
                      <a16:colId xmlns:a16="http://schemas.microsoft.com/office/drawing/2014/main" val="20004"/>
                    </a:ext>
                  </a:extLst>
                </a:gridCol>
                <a:gridCol w="464377">
                  <a:extLst>
                    <a:ext uri="{9D8B030D-6E8A-4147-A177-3AD203B41FA5}">
                      <a16:colId xmlns:a16="http://schemas.microsoft.com/office/drawing/2014/main" val="20005"/>
                    </a:ext>
                  </a:extLst>
                </a:gridCol>
              </a:tblGrid>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endParaRPr>
                    </a:p>
                  </a:txBody>
                  <a:tcPr marT="34271" marB="3427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&gt;</a:t>
                      </a: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7204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rPr>
                        <a:t>&lt;</a:t>
                      </a: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rgbClr val="0000FF"/>
                        </a:solidFill>
                        <a:effectLst/>
                        <a:latin typeface="Times New Roman" panose="02020603050405020304" pitchFamily="18" charset="0"/>
                        <a:ea typeface="宋体" panose="02010600030101010101" pitchFamily="2" charset="-122"/>
                      </a:endParaRPr>
                    </a:p>
                  </a:txBody>
                  <a:tcPr marT="34271" marB="3427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rgbClr val="0000FF"/>
                          </a:solidFill>
                          <a:effectLst/>
                          <a:latin typeface="Times New Roman" panose="02020603050405020304" pitchFamily="18" charset="0"/>
                          <a:ea typeface="宋体" panose="02010600030101010101" pitchFamily="2" charset="-122"/>
                        </a:rPr>
                        <a:t>=</a:t>
                      </a:r>
                    </a:p>
                  </a:txBody>
                  <a:tcPr marT="34271" marB="3427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graphicFrame>
        <p:nvGraphicFramePr>
          <p:cNvPr id="144480" name="Group 96"/>
          <p:cNvGraphicFramePr>
            <a:graphicFrameLocks noGrp="1"/>
          </p:cNvGraphicFramePr>
          <p:nvPr>
            <p:extLst>
              <p:ext uri="{D42A27DB-BD31-4B8C-83A1-F6EECF244321}">
                <p14:modId xmlns:p14="http://schemas.microsoft.com/office/powerpoint/2010/main" val="1155745036"/>
              </p:ext>
            </p:extLst>
          </p:nvPr>
        </p:nvGraphicFramePr>
        <p:xfrm>
          <a:off x="5796138" y="3435846"/>
          <a:ext cx="3312798" cy="1165860"/>
        </p:xfrm>
        <a:graphic>
          <a:graphicData uri="http://schemas.openxmlformats.org/drawingml/2006/table">
            <a:tbl>
              <a:tblPr/>
              <a:tblGrid>
                <a:gridCol w="552133">
                  <a:extLst>
                    <a:ext uri="{9D8B030D-6E8A-4147-A177-3AD203B41FA5}">
                      <a16:colId xmlns:a16="http://schemas.microsoft.com/office/drawing/2014/main" val="20000"/>
                    </a:ext>
                  </a:extLst>
                </a:gridCol>
                <a:gridCol w="552133">
                  <a:extLst>
                    <a:ext uri="{9D8B030D-6E8A-4147-A177-3AD203B41FA5}">
                      <a16:colId xmlns:a16="http://schemas.microsoft.com/office/drawing/2014/main" val="20001"/>
                    </a:ext>
                  </a:extLst>
                </a:gridCol>
                <a:gridCol w="552133">
                  <a:extLst>
                    <a:ext uri="{9D8B030D-6E8A-4147-A177-3AD203B41FA5}">
                      <a16:colId xmlns:a16="http://schemas.microsoft.com/office/drawing/2014/main" val="20002"/>
                    </a:ext>
                  </a:extLst>
                </a:gridCol>
                <a:gridCol w="552133">
                  <a:extLst>
                    <a:ext uri="{9D8B030D-6E8A-4147-A177-3AD203B41FA5}">
                      <a16:colId xmlns:a16="http://schemas.microsoft.com/office/drawing/2014/main" val="20003"/>
                    </a:ext>
                  </a:extLst>
                </a:gridCol>
                <a:gridCol w="552133">
                  <a:extLst>
                    <a:ext uri="{9D8B030D-6E8A-4147-A177-3AD203B41FA5}">
                      <a16:colId xmlns:a16="http://schemas.microsoft.com/office/drawing/2014/main" val="20004"/>
                    </a:ext>
                  </a:extLst>
                </a:gridCol>
                <a:gridCol w="552133">
                  <a:extLst>
                    <a:ext uri="{9D8B030D-6E8A-4147-A177-3AD203B41FA5}">
                      <a16:colId xmlns:a16="http://schemas.microsoft.com/office/drawing/2014/main" val="20005"/>
                    </a:ext>
                  </a:extLst>
                </a:gridCol>
              </a:tblGrid>
              <a:tr h="33164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0"/>
                  </a:ext>
                </a:extLst>
              </a:tr>
              <a:tr h="33164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1"/>
                  </a:ext>
                </a:extLst>
              </a:tr>
              <a:tr h="33164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2</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val="10002"/>
                  </a:ext>
                </a:extLst>
              </a:tr>
            </a:tbl>
          </a:graphicData>
        </a:graphic>
      </p:graphicFrame>
      <p:graphicFrame>
        <p:nvGraphicFramePr>
          <p:cNvPr id="144478" name="Object 94"/>
          <p:cNvGraphicFramePr>
            <a:graphicFrameLocks noChangeAspect="1"/>
          </p:cNvGraphicFramePr>
          <p:nvPr>
            <p:extLst>
              <p:ext uri="{D42A27DB-BD31-4B8C-83A1-F6EECF244321}">
                <p14:modId xmlns:p14="http://schemas.microsoft.com/office/powerpoint/2010/main" val="3002296303"/>
              </p:ext>
            </p:extLst>
          </p:nvPr>
        </p:nvGraphicFramePr>
        <p:xfrm>
          <a:off x="251520" y="2841625"/>
          <a:ext cx="5328592" cy="2079625"/>
        </p:xfrm>
        <a:graphic>
          <a:graphicData uri="http://schemas.openxmlformats.org/presentationml/2006/ole">
            <mc:AlternateContent xmlns:mc="http://schemas.openxmlformats.org/markup-compatibility/2006">
              <mc:Choice xmlns:v="urn:schemas-microsoft-com:vml" Requires="v">
                <p:oleObj spid="_x0000_s44039" name="Visio" r:id="rId4" imgW="4316688" imgH="1743321" progId="Visio.Drawing.6">
                  <p:embed/>
                </p:oleObj>
              </mc:Choice>
              <mc:Fallback>
                <p:oleObj name="Visio" r:id="rId4" imgW="4316688" imgH="1743321" progId="Visio.Drawing.6">
                  <p:embed/>
                  <p:pic>
                    <p:nvPicPr>
                      <p:cNvPr id="144478" name="Object 9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2841625"/>
                        <a:ext cx="5328592" cy="2079625"/>
                      </a:xfrm>
                      <a:prstGeom prst="rect">
                        <a:avLst/>
                      </a:prstGeom>
                      <a:solidFill>
                        <a:schemeClr val="accent3">
                          <a:lumMod val="20000"/>
                          <a:lumOff val="80000"/>
                        </a:schemeClr>
                      </a:solidFill>
                      <a:ln>
                        <a:noFill/>
                      </a:ln>
                      <a:effectLst/>
                    </p:spPr>
                  </p:pic>
                </p:oleObj>
              </mc:Fallback>
            </mc:AlternateContent>
          </a:graphicData>
        </a:graphic>
      </p:graphicFrame>
    </p:spTree>
    <p:extLst>
      <p:ext uri="{BB962C8B-B14F-4D97-AF65-F5344CB8AC3E}">
        <p14:creationId xmlns:p14="http://schemas.microsoft.com/office/powerpoint/2010/main" val="12951575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444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1444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Grp="1" noChangeArrowheads="1"/>
          </p:cNvSpPr>
          <p:nvPr>
            <p:ph type="title"/>
          </p:nvPr>
        </p:nvSpPr>
        <p:spPr/>
        <p:txBody>
          <a:bodyPr/>
          <a:lstStyle/>
          <a:p>
            <a:pPr eaLnBrk="1" hangingPunct="1"/>
            <a:r>
              <a:rPr lang="zh-CN" altLang="en-US" b="0" dirty="0">
                <a:solidFill>
                  <a:schemeClr val="tx1"/>
                </a:solidFill>
                <a:effectLst/>
                <a:latin typeface="宋体" pitchFamily="2" charset="-122"/>
                <a:ea typeface="隶书" pitchFamily="49" charset="-122"/>
              </a:rPr>
              <a:t>算符优先分析中的错误处理</a:t>
            </a:r>
          </a:p>
        </p:txBody>
      </p:sp>
      <p:sp>
        <p:nvSpPr>
          <p:cNvPr id="177155" name="Rectangle 3"/>
          <p:cNvSpPr>
            <a:spLocks noGrp="1" noChangeArrowheads="1"/>
          </p:cNvSpPr>
          <p:nvPr>
            <p:ph type="body" idx="1"/>
          </p:nvPr>
        </p:nvSpPr>
        <p:spPr/>
        <p:txBody>
          <a:bodyPr>
            <a:normAutofit/>
          </a:bodyPr>
          <a:lstStyle/>
          <a:p>
            <a:pPr eaLnBrk="1" hangingPunct="1"/>
            <a:r>
              <a:rPr lang="zh-CN" altLang="en-US" sz="2200" dirty="0">
                <a:latin typeface="宋体" panose="02010600030101010101" pitchFamily="2" charset="-122"/>
                <a:ea typeface="宋体" panose="02010600030101010101" pitchFamily="2" charset="-122"/>
              </a:rPr>
              <a:t>使用算符优先分析法时，可在两种情况下发现语法错误：</a:t>
            </a:r>
          </a:p>
          <a:p>
            <a:pPr lvl="1" eaLnBrk="1" hangingPunct="1"/>
            <a:r>
              <a:rPr lang="en-US" altLang="zh-CN" sz="2200" dirty="0">
                <a:latin typeface="宋体" panose="02010600030101010101" pitchFamily="2" charset="-122"/>
                <a:ea typeface="宋体" panose="02010600030101010101" pitchFamily="2" charset="-122"/>
              </a:rPr>
              <a:t>1. </a:t>
            </a:r>
            <a:r>
              <a:rPr lang="zh-CN" altLang="en-US" sz="2200" dirty="0">
                <a:latin typeface="宋体" panose="02010600030101010101" pitchFamily="2" charset="-122"/>
                <a:ea typeface="宋体" panose="02010600030101010101" pitchFamily="2" charset="-122"/>
              </a:rPr>
              <a:t>若栈顶终结符与下一个输入符号之间不存在任何优先关系</a:t>
            </a:r>
          </a:p>
          <a:p>
            <a:pPr lvl="1" eaLnBrk="1" hangingPunct="1"/>
            <a:r>
              <a:rPr lang="en-US" altLang="zh-CN" sz="2200" dirty="0">
                <a:latin typeface="宋体" panose="02010600030101010101" pitchFamily="2" charset="-122"/>
                <a:ea typeface="宋体" panose="02010600030101010101" pitchFamily="2" charset="-122"/>
              </a:rPr>
              <a:t>2. </a:t>
            </a:r>
            <a:r>
              <a:rPr lang="zh-CN" altLang="en-US" sz="2200" dirty="0">
                <a:latin typeface="宋体" panose="02010600030101010101" pitchFamily="2" charset="-122"/>
                <a:ea typeface="宋体" panose="02010600030101010101" pitchFamily="2" charset="-122"/>
              </a:rPr>
              <a:t>若找到某一可归约串，但不存在任一产生式，其右部与其匹配。 </a:t>
            </a:r>
          </a:p>
        </p:txBody>
      </p:sp>
    </p:spTree>
    <p:extLst>
      <p:ext uri="{BB962C8B-B14F-4D97-AF65-F5344CB8AC3E}">
        <p14:creationId xmlns:p14="http://schemas.microsoft.com/office/powerpoint/2010/main" val="3125876179"/>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Text Box 5"/>
          <p:cNvSpPr txBox="1">
            <a:spLocks noChangeArrowheads="1"/>
          </p:cNvSpPr>
          <p:nvPr/>
        </p:nvSpPr>
        <p:spPr bwMode="auto">
          <a:xfrm>
            <a:off x="1403350" y="1436688"/>
            <a:ext cx="3816722" cy="2970044"/>
          </a:xfrm>
          <a:prstGeom prst="rect">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zh-CN" altLang="en-US" sz="2200" dirty="0">
                <a:latin typeface="Cambria Math" panose="02040503050406030204" pitchFamily="18" charset="0"/>
              </a:rPr>
              <a:t>设文法为：</a:t>
            </a:r>
          </a:p>
          <a:p>
            <a:pPr algn="just" eaLnBrk="1" hangingPunct="1">
              <a:spcBef>
                <a:spcPct val="50000"/>
              </a:spcBef>
              <a:buFontTx/>
              <a:buNone/>
            </a:pPr>
            <a:r>
              <a:rPr lang="zh-CN" altLang="en-US" sz="2200" dirty="0">
                <a:latin typeface="Cambria Math" panose="02040503050406030204" pitchFamily="18" charset="0"/>
              </a:rPr>
              <a:t>          </a:t>
            </a:r>
            <a:r>
              <a:rPr lang="en-US" altLang="zh-CN" sz="2200" dirty="0">
                <a:solidFill>
                  <a:srgbClr val="FF0000"/>
                </a:solidFill>
                <a:latin typeface="Cambria Math" panose="02040503050406030204" pitchFamily="18" charset="0"/>
                <a:ea typeface="Cambria Math" panose="02040503050406030204" pitchFamily="18" charset="0"/>
              </a:rPr>
              <a:t>E'→#E#         </a:t>
            </a:r>
            <a:r>
              <a:rPr lang="en-US" altLang="zh-CN" sz="2200" dirty="0">
                <a:latin typeface="Cambria Math" panose="02040503050406030204" pitchFamily="18" charset="0"/>
                <a:ea typeface="Cambria Math" panose="02040503050406030204" pitchFamily="18" charset="0"/>
              </a:rPr>
              <a:t>T→F</a:t>
            </a:r>
          </a:p>
          <a:p>
            <a:pPr algn="just" eaLnBrk="1" hangingPunct="1">
              <a:spcBef>
                <a:spcPct val="50000"/>
              </a:spcBef>
              <a:buFontTx/>
              <a:buNone/>
            </a:pPr>
            <a:r>
              <a:rPr lang="en-US" altLang="zh-CN" sz="2200" dirty="0">
                <a:latin typeface="Cambria Math" panose="02040503050406030204" pitchFamily="18" charset="0"/>
                <a:ea typeface="Cambria Math" panose="02040503050406030204" pitchFamily="18" charset="0"/>
              </a:rPr>
              <a:t>          E→E+T           F→P↑F | P</a:t>
            </a:r>
          </a:p>
          <a:p>
            <a:pPr algn="just" eaLnBrk="1" hangingPunct="1">
              <a:spcBef>
                <a:spcPct val="50000"/>
              </a:spcBef>
              <a:buFontTx/>
              <a:buNone/>
            </a:pPr>
            <a:r>
              <a:rPr lang="en-US" altLang="zh-CN" sz="2200" dirty="0">
                <a:latin typeface="Cambria Math" panose="02040503050406030204" pitchFamily="18" charset="0"/>
                <a:ea typeface="Cambria Math" panose="02040503050406030204" pitchFamily="18" charset="0"/>
              </a:rPr>
              <a:t>          E→T             P→(E)</a:t>
            </a:r>
          </a:p>
          <a:p>
            <a:pPr algn="just" eaLnBrk="1" hangingPunct="1">
              <a:spcBef>
                <a:spcPct val="50000"/>
              </a:spcBef>
              <a:buFontTx/>
              <a:buNone/>
            </a:pPr>
            <a:r>
              <a:rPr lang="en-US" altLang="zh-CN" sz="2200" dirty="0">
                <a:latin typeface="Cambria Math" panose="02040503050406030204" pitchFamily="18" charset="0"/>
                <a:ea typeface="Cambria Math" panose="02040503050406030204" pitchFamily="18" charset="0"/>
              </a:rPr>
              <a:t>          T→T*F           </a:t>
            </a:r>
            <a:r>
              <a:rPr lang="en-US" altLang="zh-CN" sz="2200" dirty="0" err="1">
                <a:latin typeface="Cambria Math" panose="02040503050406030204" pitchFamily="18" charset="0"/>
                <a:ea typeface="Cambria Math" panose="02040503050406030204" pitchFamily="18" charset="0"/>
              </a:rPr>
              <a:t>P→i</a:t>
            </a:r>
            <a:endParaRPr lang="en-US" altLang="zh-CN" sz="2200" dirty="0">
              <a:latin typeface="Cambria Math" panose="02040503050406030204" pitchFamily="18" charset="0"/>
              <a:ea typeface="Cambria Math" panose="02040503050406030204" pitchFamily="18" charset="0"/>
            </a:endParaRPr>
          </a:p>
          <a:p>
            <a:pPr algn="just" eaLnBrk="1" hangingPunct="1">
              <a:spcBef>
                <a:spcPct val="50000"/>
              </a:spcBef>
              <a:buFontTx/>
              <a:buNone/>
            </a:pPr>
            <a:r>
              <a:rPr lang="zh-CN" altLang="en-US" sz="2200" dirty="0">
                <a:latin typeface="Cambria Math" panose="02040503050406030204" pitchFamily="18" charset="0"/>
              </a:rPr>
              <a:t>求算符优先关系表和优先函数。</a:t>
            </a:r>
          </a:p>
        </p:txBody>
      </p:sp>
      <p:sp>
        <p:nvSpPr>
          <p:cNvPr id="178179" name="Text Box 6"/>
          <p:cNvSpPr txBox="1">
            <a:spLocks noChangeArrowheads="1"/>
          </p:cNvSpPr>
          <p:nvPr/>
        </p:nvSpPr>
        <p:spPr bwMode="auto">
          <a:xfrm>
            <a:off x="989013" y="531813"/>
            <a:ext cx="2303462"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4400">
                <a:latin typeface="宋体" pitchFamily="2" charset="-122"/>
                <a:ea typeface="隶书" pitchFamily="49" charset="-122"/>
              </a:rPr>
              <a:t>练习</a:t>
            </a:r>
          </a:p>
        </p:txBody>
      </p:sp>
    </p:spTree>
    <p:extLst>
      <p:ext uri="{BB962C8B-B14F-4D97-AF65-F5344CB8AC3E}">
        <p14:creationId xmlns:p14="http://schemas.microsoft.com/office/powerpoint/2010/main" val="1848212959"/>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Text Box 2"/>
          <p:cNvSpPr txBox="1">
            <a:spLocks noChangeArrowheads="1"/>
          </p:cNvSpPr>
          <p:nvPr/>
        </p:nvSpPr>
        <p:spPr bwMode="auto">
          <a:xfrm>
            <a:off x="595313" y="583977"/>
            <a:ext cx="4800600" cy="3816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latin typeface="宋体" panose="02010600030101010101" pitchFamily="2" charset="-122"/>
              </a:rPr>
              <a:t>解</a:t>
            </a:r>
            <a:r>
              <a:rPr lang="en-US" altLang="zh-CN" sz="2200" dirty="0">
                <a:latin typeface="宋体" panose="02010600030101010101" pitchFamily="2" charset="-122"/>
                <a:sym typeface="Wingdings" pitchFamily="2" charset="2"/>
              </a:rPr>
              <a:t>: (1)</a:t>
            </a:r>
            <a:r>
              <a:rPr lang="zh-CN" altLang="en-US" sz="2200" dirty="0">
                <a:latin typeface="宋体" panose="02010600030101010101" pitchFamily="2" charset="-122"/>
              </a:rPr>
              <a:t>求</a:t>
            </a:r>
            <a:r>
              <a:rPr lang="en-US" altLang="zh-CN" sz="2200" dirty="0" err="1">
                <a:latin typeface="宋体" panose="02010600030101010101" pitchFamily="2" charset="-122"/>
              </a:rPr>
              <a:t>firstVT</a:t>
            </a:r>
            <a:r>
              <a:rPr lang="zh-CN" altLang="en-US" sz="2200" dirty="0">
                <a:latin typeface="宋体" panose="02010600030101010101" pitchFamily="2" charset="-122"/>
              </a:rPr>
              <a:t>和</a:t>
            </a:r>
            <a:r>
              <a:rPr lang="en-US" altLang="zh-CN" sz="2200" dirty="0" err="1">
                <a:latin typeface="宋体" panose="02010600030101010101" pitchFamily="2" charset="-122"/>
              </a:rPr>
              <a:t>lastVT</a:t>
            </a:r>
            <a:r>
              <a:rPr lang="zh-CN" altLang="en-US" sz="2200" dirty="0">
                <a:latin typeface="宋体" panose="02010600030101010101" pitchFamily="2" charset="-122"/>
              </a:rPr>
              <a:t>集</a:t>
            </a:r>
          </a:p>
          <a:p>
            <a:pPr eaLnBrk="1" hangingPunct="1">
              <a:spcBef>
                <a:spcPts val="0"/>
              </a:spcBef>
              <a:buFontTx/>
              <a:buNone/>
            </a:pPr>
            <a:r>
              <a:rPr lang="en-US" altLang="zh-CN" sz="2200" dirty="0" err="1">
                <a:latin typeface="宋体" panose="02010600030101010101" pitchFamily="2" charset="-122"/>
              </a:rPr>
              <a:t>firstVT</a:t>
            </a:r>
            <a:r>
              <a:rPr lang="en-US" altLang="zh-CN" sz="2200" dirty="0">
                <a:latin typeface="宋体" panose="02010600030101010101" pitchFamily="2" charset="-122"/>
              </a:rPr>
              <a:t>(E')={#}</a:t>
            </a:r>
          </a:p>
          <a:p>
            <a:pPr eaLnBrk="1" hangingPunct="1">
              <a:spcBef>
                <a:spcPts val="0"/>
              </a:spcBef>
              <a:buFontTx/>
              <a:buNone/>
            </a:pPr>
            <a:r>
              <a:rPr lang="en-US" altLang="zh-CN" sz="2200" dirty="0" err="1">
                <a:latin typeface="宋体" panose="02010600030101010101" pitchFamily="2" charset="-122"/>
              </a:rPr>
              <a:t>firstVT</a:t>
            </a:r>
            <a:r>
              <a:rPr lang="en-US" altLang="zh-CN" sz="2200" dirty="0">
                <a:latin typeface="宋体" panose="02010600030101010101" pitchFamily="2" charset="-122"/>
              </a:rPr>
              <a:t>(E)={+,*,↑,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firstVT</a:t>
            </a:r>
            <a:r>
              <a:rPr lang="en-US" altLang="zh-CN" sz="2200" dirty="0">
                <a:latin typeface="宋体" panose="02010600030101010101" pitchFamily="2" charset="-122"/>
              </a:rPr>
              <a:t>(T)={*,↑,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firstVT</a:t>
            </a:r>
            <a:r>
              <a:rPr lang="en-US" altLang="zh-CN" sz="2200" dirty="0">
                <a:latin typeface="宋体" panose="02010600030101010101" pitchFamily="2" charset="-122"/>
              </a:rPr>
              <a:t>(F)={↑,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firstVT</a:t>
            </a:r>
            <a:r>
              <a:rPr lang="en-US" altLang="zh-CN" sz="2200" dirty="0">
                <a:latin typeface="宋体" panose="02010600030101010101" pitchFamily="2" charset="-122"/>
              </a:rPr>
              <a:t>(P)={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lastVT</a:t>
            </a:r>
            <a:r>
              <a:rPr lang="en-US" altLang="zh-CN" sz="2200" dirty="0">
                <a:latin typeface="宋体" panose="02010600030101010101" pitchFamily="2" charset="-122"/>
              </a:rPr>
              <a:t>(E’)={#}</a:t>
            </a:r>
          </a:p>
          <a:p>
            <a:pPr eaLnBrk="1" hangingPunct="1">
              <a:spcBef>
                <a:spcPts val="0"/>
              </a:spcBef>
              <a:buFontTx/>
              <a:buNone/>
            </a:pPr>
            <a:r>
              <a:rPr lang="en-US" altLang="zh-CN" sz="2200" dirty="0" err="1">
                <a:latin typeface="宋体" panose="02010600030101010101" pitchFamily="2" charset="-122"/>
              </a:rPr>
              <a:t>lastVT</a:t>
            </a:r>
            <a:r>
              <a:rPr lang="en-US" altLang="zh-CN" sz="2200" dirty="0">
                <a:latin typeface="宋体" panose="02010600030101010101" pitchFamily="2" charset="-122"/>
              </a:rPr>
              <a:t>(E)={+,*,↑,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lastVT</a:t>
            </a:r>
            <a:r>
              <a:rPr lang="en-US" altLang="zh-CN" sz="2200" dirty="0">
                <a:latin typeface="宋体" panose="02010600030101010101" pitchFamily="2" charset="-122"/>
              </a:rPr>
              <a:t>(T)={*,↑,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lastVT</a:t>
            </a:r>
            <a:r>
              <a:rPr lang="en-US" altLang="zh-CN" sz="2200" dirty="0">
                <a:latin typeface="宋体" panose="02010600030101010101" pitchFamily="2" charset="-122"/>
              </a:rPr>
              <a:t>(F)={ ) ,↑, </a:t>
            </a:r>
            <a:r>
              <a:rPr lang="en-US" altLang="zh-CN" sz="2200" dirty="0" err="1">
                <a:latin typeface="宋体" panose="02010600030101010101" pitchFamily="2" charset="-122"/>
              </a:rPr>
              <a:t>i</a:t>
            </a:r>
            <a:r>
              <a:rPr lang="en-US" altLang="zh-CN" sz="2200" dirty="0">
                <a:latin typeface="宋体" panose="02010600030101010101" pitchFamily="2" charset="-122"/>
              </a:rPr>
              <a:t> }</a:t>
            </a:r>
          </a:p>
          <a:p>
            <a:pPr eaLnBrk="1" hangingPunct="1">
              <a:spcBef>
                <a:spcPts val="0"/>
              </a:spcBef>
              <a:buFontTx/>
              <a:buNone/>
            </a:pPr>
            <a:r>
              <a:rPr lang="en-US" altLang="zh-CN" sz="2200" dirty="0" err="1">
                <a:latin typeface="宋体" panose="02010600030101010101" pitchFamily="2" charset="-122"/>
              </a:rPr>
              <a:t>lastVT</a:t>
            </a:r>
            <a:r>
              <a:rPr lang="en-US" altLang="zh-CN" sz="2200" dirty="0">
                <a:latin typeface="宋体" panose="02010600030101010101" pitchFamily="2" charset="-122"/>
              </a:rPr>
              <a:t>(P)={ </a:t>
            </a:r>
            <a:r>
              <a:rPr lang="en-US" altLang="zh-CN" sz="2200" dirty="0" err="1">
                <a:latin typeface="宋体" panose="02010600030101010101" pitchFamily="2" charset="-122"/>
              </a:rPr>
              <a:t>i</a:t>
            </a:r>
            <a:r>
              <a:rPr lang="en-US" altLang="zh-CN" sz="2200" dirty="0">
                <a:latin typeface="宋体" panose="02010600030101010101" pitchFamily="2" charset="-122"/>
              </a:rPr>
              <a:t> , ) }</a:t>
            </a:r>
          </a:p>
        </p:txBody>
      </p:sp>
      <p:sp>
        <p:nvSpPr>
          <p:cNvPr id="179203" name="AutoShape 3"/>
          <p:cNvSpPr>
            <a:spLocks noChangeArrowheads="1"/>
          </p:cNvSpPr>
          <p:nvPr/>
        </p:nvSpPr>
        <p:spPr bwMode="auto">
          <a:xfrm>
            <a:off x="5181600" y="915566"/>
            <a:ext cx="3962400" cy="432048"/>
          </a:xfrm>
          <a:prstGeom prst="wedgeRoundRectCallout">
            <a:avLst>
              <a:gd name="adj1" fmla="val -15028"/>
              <a:gd name="adj2" fmla="val 48056"/>
              <a:gd name="adj3" fmla="val 16667"/>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err="1">
                <a:ea typeface="华文行楷" pitchFamily="2" charset="-122"/>
              </a:rPr>
              <a:t>firstVT</a:t>
            </a:r>
            <a:r>
              <a:rPr lang="en-US" altLang="zh-CN" sz="2000" dirty="0">
                <a:ea typeface="华文行楷" pitchFamily="2" charset="-122"/>
              </a:rPr>
              <a:t>(B)={</a:t>
            </a:r>
            <a:r>
              <a:rPr lang="en-US" altLang="zh-CN" sz="2000" dirty="0" err="1">
                <a:ea typeface="华文行楷" pitchFamily="2" charset="-122"/>
              </a:rPr>
              <a:t>b|B</a:t>
            </a:r>
            <a:r>
              <a:rPr lang="en-US" altLang="zh-CN" sz="2000" dirty="0" err="1">
                <a:latin typeface="宋体" pitchFamily="2" charset="-122"/>
                <a:ea typeface="华文行楷" pitchFamily="2" charset="-122"/>
                <a:sym typeface="Symbol" pitchFamily="18" charset="2"/>
              </a:rPr>
              <a:t></a:t>
            </a:r>
            <a:r>
              <a:rPr lang="en-US" altLang="zh-CN" sz="2000" dirty="0" err="1">
                <a:ea typeface="华文行楷" pitchFamily="2" charset="-122"/>
              </a:rPr>
              <a:t>b</a:t>
            </a:r>
            <a:r>
              <a:rPr lang="en-US" altLang="zh-CN" sz="2000" dirty="0">
                <a:ea typeface="华文行楷" pitchFamily="2" charset="-122"/>
              </a:rPr>
              <a:t>… </a:t>
            </a:r>
            <a:r>
              <a:rPr lang="zh-CN" altLang="en-US" sz="2000" dirty="0">
                <a:ea typeface="华文行楷" pitchFamily="2" charset="-122"/>
              </a:rPr>
              <a:t>或 </a:t>
            </a:r>
            <a:r>
              <a:rPr lang="en-US" altLang="zh-CN" sz="2000" dirty="0" err="1">
                <a:ea typeface="华文行楷" pitchFamily="2" charset="-122"/>
              </a:rPr>
              <a:t>B</a:t>
            </a:r>
            <a:r>
              <a:rPr lang="en-US" altLang="zh-CN" sz="2000" dirty="0" err="1">
                <a:latin typeface="宋体" pitchFamily="2" charset="-122"/>
                <a:ea typeface="华文行楷" pitchFamily="2" charset="-122"/>
                <a:sym typeface="Symbol" pitchFamily="18" charset="2"/>
              </a:rPr>
              <a:t></a:t>
            </a:r>
            <a:r>
              <a:rPr lang="en-US" altLang="zh-CN" sz="2000" dirty="0" err="1">
                <a:ea typeface="华文行楷" pitchFamily="2" charset="-122"/>
              </a:rPr>
              <a:t>Cb</a:t>
            </a:r>
            <a:r>
              <a:rPr lang="en-US" altLang="zh-CN" sz="2000" dirty="0">
                <a:ea typeface="华文行楷" pitchFamily="2" charset="-122"/>
              </a:rPr>
              <a:t>…}</a:t>
            </a:r>
          </a:p>
        </p:txBody>
      </p:sp>
      <p:sp>
        <p:nvSpPr>
          <p:cNvPr id="179204" name="AutoShape 4"/>
          <p:cNvSpPr>
            <a:spLocks noChangeArrowheads="1"/>
          </p:cNvSpPr>
          <p:nvPr/>
        </p:nvSpPr>
        <p:spPr bwMode="auto">
          <a:xfrm>
            <a:off x="5486400" y="1519014"/>
            <a:ext cx="1462881" cy="628650"/>
          </a:xfrm>
          <a:prstGeom prst="wedgeRoundRectCallout">
            <a:avLst>
              <a:gd name="adj1" fmla="val -207935"/>
              <a:gd name="adj2" fmla="val -101988"/>
              <a:gd name="adj3" fmla="val 16667"/>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a:ea typeface="华文行楷" pitchFamily="2" charset="-122"/>
              </a:rPr>
              <a:t>E' = #E#</a:t>
            </a:r>
          </a:p>
          <a:p>
            <a:pPr eaLnBrk="1" hangingPunct="1">
              <a:spcBef>
                <a:spcPts val="0"/>
              </a:spcBef>
              <a:buFontTx/>
              <a:buNone/>
            </a:pPr>
            <a:r>
              <a:rPr lang="en-US" altLang="zh-CN" sz="2000" dirty="0">
                <a:ea typeface="华文行楷" pitchFamily="2" charset="-122"/>
              </a:rPr>
              <a:t>E' </a:t>
            </a:r>
            <a:r>
              <a:rPr lang="en-US" altLang="zh-CN" sz="2000" dirty="0">
                <a:latin typeface="宋体" pitchFamily="2" charset="-122"/>
                <a:ea typeface="华文行楷" pitchFamily="2" charset="-122"/>
                <a:sym typeface="Symbol" pitchFamily="18" charset="2"/>
              </a:rPr>
              <a:t>#…</a:t>
            </a:r>
          </a:p>
        </p:txBody>
      </p:sp>
      <p:sp>
        <p:nvSpPr>
          <p:cNvPr id="179205" name="AutoShape 5"/>
          <p:cNvSpPr>
            <a:spLocks noChangeArrowheads="1"/>
          </p:cNvSpPr>
          <p:nvPr/>
        </p:nvSpPr>
        <p:spPr bwMode="auto">
          <a:xfrm>
            <a:off x="5181600" y="2261964"/>
            <a:ext cx="2126704" cy="1677938"/>
          </a:xfrm>
          <a:prstGeom prst="wedgeRoundRectCallout">
            <a:avLst>
              <a:gd name="adj1" fmla="val -109981"/>
              <a:gd name="adj2" fmla="val -54972"/>
              <a:gd name="adj3" fmla="val 16667"/>
            </a:avLst>
          </a:prstGeom>
          <a:ln>
            <a:headEnd/>
            <a:tailEnd/>
          </a:ln>
        </p:spPr>
        <p:style>
          <a:lnRef idx="2">
            <a:schemeClr val="accent3"/>
          </a:lnRef>
          <a:fillRef idx="1">
            <a:schemeClr val="lt1"/>
          </a:fillRef>
          <a:effectRef idx="0">
            <a:schemeClr val="accent3"/>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a:ea typeface="华文行楷" pitchFamily="2" charset="-122"/>
              </a:rPr>
              <a:t>E</a:t>
            </a:r>
            <a:r>
              <a:rPr lang="en-US" altLang="zh-CN" sz="2000" dirty="0">
                <a:latin typeface="宋体" pitchFamily="2" charset="-122"/>
                <a:ea typeface="华文行楷" pitchFamily="2" charset="-122"/>
                <a:sym typeface="Symbol" pitchFamily="18" charset="2"/>
              </a:rPr>
              <a:t>E+T</a:t>
            </a:r>
          </a:p>
          <a:p>
            <a:pPr eaLnBrk="1" hangingPunct="1">
              <a:spcBef>
                <a:spcPts val="0"/>
              </a:spcBef>
              <a:buFontTx/>
              <a:buNone/>
            </a:pPr>
            <a:r>
              <a:rPr lang="en-US" altLang="zh-CN" sz="2000" dirty="0">
                <a:latin typeface="宋体" pitchFamily="2" charset="-122"/>
                <a:ea typeface="华文行楷" pitchFamily="2" charset="-122"/>
                <a:sym typeface="Symbol" pitchFamily="18" charset="2"/>
              </a:rPr>
              <a:t>ETT*F</a:t>
            </a:r>
          </a:p>
          <a:p>
            <a:pPr eaLnBrk="1" hangingPunct="1">
              <a:spcBef>
                <a:spcPts val="0"/>
              </a:spcBef>
              <a:buFontTx/>
              <a:buNone/>
            </a:pPr>
            <a:r>
              <a:rPr lang="en-US" altLang="zh-CN" sz="2000" dirty="0">
                <a:latin typeface="宋体" pitchFamily="2" charset="-122"/>
                <a:ea typeface="华文行楷" pitchFamily="2" charset="-122"/>
                <a:sym typeface="Symbol" pitchFamily="18" charset="2"/>
              </a:rPr>
              <a:t>ETFP</a:t>
            </a:r>
            <a:r>
              <a:rPr lang="en-US" altLang="zh-CN" sz="2000" dirty="0">
                <a:ea typeface="华文行楷" pitchFamily="2" charset="-122"/>
              </a:rPr>
              <a:t>↑F</a:t>
            </a:r>
          </a:p>
          <a:p>
            <a:pPr eaLnBrk="1" hangingPunct="1">
              <a:spcBef>
                <a:spcPts val="0"/>
              </a:spcBef>
              <a:buFontTx/>
              <a:buNone/>
            </a:pPr>
            <a:r>
              <a:rPr lang="en-US" altLang="zh-CN" sz="2000" dirty="0">
                <a:ea typeface="华文行楷" pitchFamily="2" charset="-122"/>
              </a:rPr>
              <a:t>E</a:t>
            </a:r>
            <a:r>
              <a:rPr lang="en-US" altLang="zh-CN" sz="2000" dirty="0">
                <a:latin typeface="宋体" pitchFamily="2" charset="-122"/>
                <a:ea typeface="华文行楷" pitchFamily="2" charset="-122"/>
                <a:sym typeface="Symbol" pitchFamily="18" charset="2"/>
              </a:rPr>
              <a:t>TP(E)</a:t>
            </a:r>
          </a:p>
          <a:p>
            <a:pPr eaLnBrk="1" hangingPunct="1">
              <a:spcBef>
                <a:spcPts val="0"/>
              </a:spcBef>
              <a:buFontTx/>
              <a:buNone/>
            </a:pPr>
            <a:r>
              <a:rPr lang="en-US" altLang="zh-CN" sz="2000" dirty="0">
                <a:latin typeface="宋体" pitchFamily="2" charset="-122"/>
                <a:ea typeface="华文行楷" pitchFamily="2" charset="-122"/>
                <a:sym typeface="Symbol" pitchFamily="18" charset="2"/>
              </a:rPr>
              <a:t> </a:t>
            </a:r>
            <a:r>
              <a:rPr lang="en-US" altLang="zh-CN" sz="2000" dirty="0" err="1">
                <a:latin typeface="宋体" pitchFamily="2" charset="-122"/>
                <a:ea typeface="华文行楷" pitchFamily="2" charset="-122"/>
                <a:sym typeface="Symbol" pitchFamily="18" charset="2"/>
              </a:rPr>
              <a:t>i</a:t>
            </a:r>
            <a:endParaRPr lang="en-US" altLang="zh-CN" sz="2000" dirty="0">
              <a:latin typeface="宋体" pitchFamily="2" charset="-122"/>
              <a:ea typeface="华文行楷" pitchFamily="2" charset="-122"/>
              <a:sym typeface="Symbol" pitchFamily="18" charset="2"/>
            </a:endParaRPr>
          </a:p>
          <a:p>
            <a:pPr eaLnBrk="1" hangingPunct="1">
              <a:spcBef>
                <a:spcPts val="0"/>
              </a:spcBef>
              <a:buFontTx/>
              <a:buNone/>
            </a:pPr>
            <a:endParaRPr lang="en-US" altLang="zh-CN" sz="2000" dirty="0">
              <a:latin typeface="宋体" pitchFamily="2" charset="-122"/>
              <a:ea typeface="华文行楷" pitchFamily="2" charset="-122"/>
              <a:sym typeface="Symbol" pitchFamily="18" charset="2"/>
            </a:endParaRPr>
          </a:p>
        </p:txBody>
      </p:sp>
      <p:sp>
        <p:nvSpPr>
          <p:cNvPr id="179206" name="Rectangle 6"/>
          <p:cNvSpPr>
            <a:spLocks noChangeArrowheads="1"/>
          </p:cNvSpPr>
          <p:nvPr/>
        </p:nvSpPr>
        <p:spPr bwMode="auto">
          <a:xfrm>
            <a:off x="5181600" y="4547964"/>
            <a:ext cx="3962399" cy="400050"/>
          </a:xfrm>
          <a:prstGeom prst="rect">
            <a:avLst/>
          </a:prstGeom>
          <a:ln>
            <a:headEnd/>
            <a:tailEnd/>
          </a:ln>
        </p:spPr>
        <p:style>
          <a:lnRef idx="2">
            <a:schemeClr val="accent3"/>
          </a:lnRef>
          <a:fillRef idx="1">
            <a:schemeClr val="lt1"/>
          </a:fillRef>
          <a:effectRef idx="0">
            <a:schemeClr val="accent3"/>
          </a:effectRef>
          <a:fontRef idx="minor">
            <a:schemeClr val="dk1"/>
          </a:fontRef>
        </p:style>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err="1">
                <a:ea typeface="华文行楷" pitchFamily="2" charset="-122"/>
              </a:rPr>
              <a:t>lastVT</a:t>
            </a:r>
            <a:r>
              <a:rPr lang="en-US" altLang="zh-CN" sz="2000" dirty="0">
                <a:ea typeface="华文行楷" pitchFamily="2" charset="-122"/>
              </a:rPr>
              <a:t>(B)={</a:t>
            </a:r>
            <a:r>
              <a:rPr lang="en-US" altLang="zh-CN" sz="2000" dirty="0" err="1">
                <a:ea typeface="华文行楷" pitchFamily="2" charset="-122"/>
              </a:rPr>
              <a:t>a|B</a:t>
            </a:r>
            <a:r>
              <a:rPr lang="en-US" altLang="zh-CN" sz="2000" dirty="0">
                <a:latin typeface="宋体" pitchFamily="2" charset="-122"/>
                <a:ea typeface="华文行楷" pitchFamily="2" charset="-122"/>
                <a:sym typeface="Symbol" pitchFamily="18" charset="2"/>
              </a:rPr>
              <a:t></a:t>
            </a:r>
            <a:r>
              <a:rPr lang="en-US" altLang="zh-CN" sz="2000" dirty="0">
                <a:ea typeface="华文行楷" pitchFamily="2" charset="-122"/>
              </a:rPr>
              <a:t>…a </a:t>
            </a:r>
            <a:r>
              <a:rPr lang="zh-CN" altLang="en-US" sz="2000" dirty="0">
                <a:ea typeface="华文行楷" pitchFamily="2" charset="-122"/>
              </a:rPr>
              <a:t>或 </a:t>
            </a:r>
            <a:r>
              <a:rPr lang="en-US" altLang="zh-CN" sz="2000" dirty="0">
                <a:ea typeface="华文行楷" pitchFamily="2" charset="-122"/>
              </a:rPr>
              <a:t>B</a:t>
            </a:r>
            <a:r>
              <a:rPr lang="en-US" altLang="zh-CN" sz="2000" dirty="0">
                <a:latin typeface="宋体" pitchFamily="2" charset="-122"/>
                <a:ea typeface="华文行楷" pitchFamily="2" charset="-122"/>
                <a:sym typeface="Symbol" pitchFamily="18" charset="2"/>
              </a:rPr>
              <a:t></a:t>
            </a:r>
            <a:r>
              <a:rPr lang="en-US" altLang="zh-CN" sz="2000" dirty="0">
                <a:ea typeface="华文行楷" pitchFamily="2" charset="-122"/>
              </a:rPr>
              <a:t>…</a:t>
            </a:r>
            <a:r>
              <a:rPr lang="en-US" altLang="zh-CN" sz="2000" dirty="0" err="1">
                <a:ea typeface="华文行楷" pitchFamily="2" charset="-122"/>
              </a:rPr>
              <a:t>aC</a:t>
            </a:r>
            <a:r>
              <a:rPr lang="en-US" altLang="zh-CN" sz="2000" dirty="0">
                <a:ea typeface="华文行楷" pitchFamily="2" charset="-122"/>
              </a:rPr>
              <a:t>}</a:t>
            </a:r>
          </a:p>
        </p:txBody>
      </p:sp>
    </p:spTree>
    <p:extLst>
      <p:ext uri="{BB962C8B-B14F-4D97-AF65-F5344CB8AC3E}">
        <p14:creationId xmlns:p14="http://schemas.microsoft.com/office/powerpoint/2010/main" val="1900024953"/>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Text Box 2"/>
          <p:cNvSpPr txBox="1">
            <a:spLocks noChangeArrowheads="1"/>
          </p:cNvSpPr>
          <p:nvPr/>
        </p:nvSpPr>
        <p:spPr bwMode="auto">
          <a:xfrm>
            <a:off x="782638" y="857250"/>
            <a:ext cx="7467600"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spcBef>
                <a:spcPct val="50000"/>
              </a:spcBef>
              <a:buFontTx/>
              <a:buNone/>
            </a:pPr>
            <a:r>
              <a:rPr lang="en-US" altLang="zh-CN" sz="2800">
                <a:ea typeface="华文行楷" pitchFamily="2" charset="-122"/>
              </a:rPr>
              <a:t>(2) </a:t>
            </a:r>
            <a:r>
              <a:rPr lang="zh-CN" altLang="en-US" sz="2800">
                <a:ea typeface="华文行楷" pitchFamily="2" charset="-122"/>
              </a:rPr>
              <a:t>求 </a:t>
            </a:r>
            <a:r>
              <a:rPr lang="en-US" altLang="zh-CN" sz="2800">
                <a:solidFill>
                  <a:srgbClr val="FF0000"/>
                </a:solidFill>
                <a:ea typeface="华文行楷" pitchFamily="2" charset="-122"/>
              </a:rPr>
              <a:t>=</a:t>
            </a:r>
            <a:r>
              <a:rPr lang="en-US" altLang="zh-CN" sz="2800">
                <a:ea typeface="华文行楷" pitchFamily="2" charset="-122"/>
              </a:rPr>
              <a:t> </a:t>
            </a:r>
            <a:r>
              <a:rPr lang="zh-CN" altLang="en-US" sz="2800">
                <a:ea typeface="华文行楷" pitchFamily="2" charset="-122"/>
              </a:rPr>
              <a:t>关系</a:t>
            </a:r>
          </a:p>
          <a:p>
            <a:pPr algn="just" eaLnBrk="1" hangingPunct="1">
              <a:spcBef>
                <a:spcPct val="50000"/>
              </a:spcBef>
              <a:buFontTx/>
              <a:buNone/>
            </a:pPr>
            <a:r>
              <a:rPr lang="en-US" altLang="zh-CN" sz="2800">
                <a:ea typeface="华文行楷" pitchFamily="2" charset="-122"/>
              </a:rPr>
              <a:t>E' →#E#                # </a:t>
            </a:r>
            <a:r>
              <a:rPr lang="en-US" altLang="zh-CN" sz="2800">
                <a:solidFill>
                  <a:srgbClr val="FF0000"/>
                </a:solidFill>
                <a:ea typeface="华文行楷" pitchFamily="2" charset="-122"/>
                <a:sym typeface="cajcd fntaa"/>
              </a:rPr>
              <a:t>=</a:t>
            </a:r>
            <a:r>
              <a:rPr lang="en-US" altLang="zh-CN" sz="2800">
                <a:solidFill>
                  <a:srgbClr val="FF0000"/>
                </a:solidFill>
                <a:ea typeface="华文行楷" pitchFamily="2" charset="-122"/>
              </a:rPr>
              <a:t> </a:t>
            </a:r>
            <a:r>
              <a:rPr lang="en-US" altLang="zh-CN" sz="2800">
                <a:ea typeface="华文行楷" pitchFamily="2" charset="-122"/>
              </a:rPr>
              <a:t> #</a:t>
            </a:r>
          </a:p>
          <a:p>
            <a:pPr algn="just" eaLnBrk="1" hangingPunct="1">
              <a:spcBef>
                <a:spcPct val="50000"/>
              </a:spcBef>
              <a:buFontTx/>
              <a:buNone/>
            </a:pPr>
            <a:r>
              <a:rPr lang="en-US" altLang="zh-CN" sz="2800">
                <a:ea typeface="华文行楷" pitchFamily="2" charset="-122"/>
              </a:rPr>
              <a:t>P→(E)                   ( </a:t>
            </a:r>
            <a:r>
              <a:rPr lang="en-US" altLang="zh-CN" sz="2800">
                <a:solidFill>
                  <a:srgbClr val="FF0000"/>
                </a:solidFill>
                <a:ea typeface="华文行楷" pitchFamily="2" charset="-122"/>
                <a:sym typeface="cajcd fntaa"/>
              </a:rPr>
              <a:t>=</a:t>
            </a:r>
            <a:r>
              <a:rPr lang="en-US" altLang="zh-CN" sz="2800">
                <a:solidFill>
                  <a:srgbClr val="FF0000"/>
                </a:solidFill>
                <a:ea typeface="华文行楷" pitchFamily="2" charset="-122"/>
              </a:rPr>
              <a:t> </a:t>
            </a:r>
            <a:r>
              <a:rPr lang="en-US" altLang="zh-CN" sz="2800">
                <a:ea typeface="华文行楷" pitchFamily="2" charset="-122"/>
              </a:rPr>
              <a:t> )</a:t>
            </a:r>
          </a:p>
          <a:p>
            <a:pPr algn="just" eaLnBrk="1" hangingPunct="1">
              <a:spcBef>
                <a:spcPct val="50000"/>
              </a:spcBef>
              <a:buFontTx/>
              <a:buNone/>
            </a:pPr>
            <a:endParaRPr lang="en-US" altLang="zh-CN" sz="2800">
              <a:ea typeface="华文行楷" pitchFamily="2" charset="-122"/>
            </a:endParaRPr>
          </a:p>
        </p:txBody>
      </p:sp>
    </p:spTree>
    <p:extLst>
      <p:ext uri="{BB962C8B-B14F-4D97-AF65-F5344CB8AC3E}">
        <p14:creationId xmlns:p14="http://schemas.microsoft.com/office/powerpoint/2010/main" val="1940302275"/>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Text Box 2"/>
          <p:cNvSpPr txBox="1">
            <a:spLocks noChangeArrowheads="1"/>
          </p:cNvSpPr>
          <p:nvPr/>
        </p:nvSpPr>
        <p:spPr bwMode="auto">
          <a:xfrm>
            <a:off x="428625" y="220663"/>
            <a:ext cx="7924800" cy="409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2000" dirty="0">
                <a:latin typeface="宋体" panose="02010600030101010101" pitchFamily="2" charset="-122"/>
              </a:rPr>
              <a:t>(3) </a:t>
            </a:r>
            <a:r>
              <a:rPr lang="zh-CN" altLang="en-US" sz="2000" dirty="0">
                <a:latin typeface="宋体" panose="02010600030101010101" pitchFamily="2" charset="-122"/>
              </a:rPr>
              <a:t>求</a:t>
            </a:r>
            <a:r>
              <a:rPr lang="en-US" altLang="zh-CN" sz="2000" dirty="0">
                <a:solidFill>
                  <a:srgbClr val="FF0000"/>
                </a:solidFill>
                <a:latin typeface="宋体" panose="02010600030101010101" pitchFamily="2" charset="-122"/>
              </a:rPr>
              <a:t>&lt;</a:t>
            </a:r>
            <a:r>
              <a:rPr lang="zh-CN" altLang="en-US" sz="2000" dirty="0">
                <a:latin typeface="宋体" panose="02010600030101010101" pitchFamily="2" charset="-122"/>
              </a:rPr>
              <a:t>关系</a:t>
            </a:r>
          </a:p>
          <a:p>
            <a:pPr eaLnBrk="1" hangingPunct="1">
              <a:buFontTx/>
              <a:buNone/>
            </a:pPr>
            <a:r>
              <a:rPr lang="en-US" altLang="zh-CN" sz="2000" dirty="0">
                <a:latin typeface="宋体" panose="02010600030101010101" pitchFamily="2" charset="-122"/>
              </a:rPr>
              <a:t>E' → #E#    </a:t>
            </a:r>
            <a:r>
              <a:rPr lang="zh-CN" altLang="en-US" sz="2000" dirty="0">
                <a:latin typeface="宋体" panose="02010600030101010101" pitchFamily="2" charset="-122"/>
              </a:rPr>
              <a:t>则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firstVT</a:t>
            </a:r>
            <a:r>
              <a:rPr lang="en-US" altLang="zh-CN" sz="2000" dirty="0">
                <a:latin typeface="宋体" panose="02010600030101010101" pitchFamily="2" charset="-122"/>
              </a:rPr>
              <a:t>(E) </a:t>
            </a:r>
          </a:p>
          <a:p>
            <a:pPr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 </a:t>
            </a:r>
            <a:r>
              <a:rPr lang="zh-CN" altLang="en-US" sz="2000" dirty="0">
                <a:latin typeface="宋体" panose="02010600030101010101" pitchFamily="2" charset="-122"/>
              </a:rPr>
              <a:t>，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i</a:t>
            </a:r>
            <a:r>
              <a:rPr lang="en-US" altLang="zh-CN" sz="2000" dirty="0">
                <a:latin typeface="宋体" panose="02010600030101010101" pitchFamily="2" charset="-122"/>
              </a:rPr>
              <a:t> </a:t>
            </a:r>
          </a:p>
          <a:p>
            <a:pPr eaLnBrk="1" hangingPunct="1">
              <a:buFontTx/>
              <a:buNone/>
            </a:pPr>
            <a:r>
              <a:rPr lang="en-US" altLang="zh-CN" sz="2000" dirty="0">
                <a:latin typeface="宋体" panose="02010600030101010101" pitchFamily="2" charset="-122"/>
              </a:rPr>
              <a:t>E' →E+T    </a:t>
            </a:r>
            <a:r>
              <a:rPr lang="zh-CN" altLang="en-US" sz="2000" dirty="0">
                <a:latin typeface="宋体" panose="02010600030101010101" pitchFamily="2" charset="-122"/>
              </a:rPr>
              <a:t>则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firstVT</a:t>
            </a:r>
            <a:r>
              <a:rPr lang="en-US" altLang="zh-CN" sz="2000" dirty="0">
                <a:latin typeface="宋体" panose="02010600030101010101" pitchFamily="2" charset="-122"/>
              </a:rPr>
              <a:t>(T)  </a:t>
            </a:r>
          </a:p>
          <a:p>
            <a:pPr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 ,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a:t>
            </a:r>
            <a:r>
              <a:rPr lang="en-US" altLang="zh-CN" sz="2000" dirty="0" err="1">
                <a:latin typeface="宋体" panose="02010600030101010101" pitchFamily="2" charset="-122"/>
              </a:rPr>
              <a:t>i</a:t>
            </a:r>
            <a:endParaRPr lang="en-US" altLang="zh-CN" sz="2000" dirty="0">
              <a:latin typeface="宋体" panose="02010600030101010101" pitchFamily="2" charset="-122"/>
            </a:endParaRPr>
          </a:p>
          <a:p>
            <a:pPr eaLnBrk="1" hangingPunct="1">
              <a:buFontTx/>
              <a:buNone/>
            </a:pPr>
            <a:r>
              <a:rPr lang="en-US" altLang="zh-CN" sz="2000" dirty="0">
                <a:latin typeface="宋体" panose="02010600030101010101" pitchFamily="2" charset="-122"/>
              </a:rPr>
              <a:t>T→T*F     </a:t>
            </a:r>
            <a:r>
              <a:rPr lang="zh-CN" altLang="en-US" sz="2000" dirty="0">
                <a:latin typeface="宋体" panose="02010600030101010101" pitchFamily="2" charset="-122"/>
              </a:rPr>
              <a:t>则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sym typeface="cajcd fnta1"/>
              </a:rPr>
              <a:t>first</a:t>
            </a:r>
            <a:r>
              <a:rPr lang="en-US" altLang="zh-CN" sz="2000" dirty="0" err="1">
                <a:latin typeface="宋体" panose="02010600030101010101" pitchFamily="2" charset="-122"/>
              </a:rPr>
              <a:t>VT</a:t>
            </a:r>
            <a:r>
              <a:rPr lang="en-US" altLang="zh-CN" sz="2000" dirty="0">
                <a:latin typeface="宋体" panose="02010600030101010101" pitchFamily="2" charset="-122"/>
              </a:rPr>
              <a:t>(F)   </a:t>
            </a:r>
          </a:p>
          <a:p>
            <a:pPr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i</a:t>
            </a:r>
            <a:endParaRPr lang="en-US" altLang="zh-CN" sz="2000" dirty="0">
              <a:latin typeface="宋体" panose="02010600030101010101" pitchFamily="2" charset="-122"/>
            </a:endParaRPr>
          </a:p>
          <a:p>
            <a:pPr eaLnBrk="1" hangingPunct="1">
              <a:buFontTx/>
              <a:buNone/>
            </a:pPr>
            <a:r>
              <a:rPr lang="en-US" altLang="zh-CN" sz="2000" dirty="0">
                <a:latin typeface="宋体" panose="02010600030101010101" pitchFamily="2" charset="-122"/>
              </a:rPr>
              <a:t>F→P↑F   </a:t>
            </a:r>
            <a:r>
              <a:rPr lang="zh-CN" altLang="en-US" sz="2000" dirty="0">
                <a:latin typeface="宋体" panose="02010600030101010101" pitchFamily="2" charset="-122"/>
              </a:rPr>
              <a:t>则↑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sym typeface="cajcd fnta1"/>
              </a:rPr>
              <a:t>first</a:t>
            </a:r>
            <a:r>
              <a:rPr lang="en-US" altLang="zh-CN" sz="2000" dirty="0" err="1">
                <a:latin typeface="宋体" panose="02010600030101010101" pitchFamily="2" charset="-122"/>
              </a:rPr>
              <a:t>VT</a:t>
            </a:r>
            <a:r>
              <a:rPr lang="en-US" altLang="zh-CN" sz="2000" dirty="0">
                <a:latin typeface="宋体" panose="02010600030101010101" pitchFamily="2" charset="-122"/>
              </a:rPr>
              <a:t>(F)  </a:t>
            </a:r>
          </a:p>
          <a:p>
            <a:pPr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 ,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i</a:t>
            </a:r>
            <a:endParaRPr lang="en-US" altLang="zh-CN" sz="2000" dirty="0">
              <a:latin typeface="宋体" panose="02010600030101010101" pitchFamily="2" charset="-122"/>
            </a:endParaRPr>
          </a:p>
          <a:p>
            <a:pPr eaLnBrk="1" hangingPunct="1">
              <a:buFontTx/>
              <a:buNone/>
            </a:pPr>
            <a:r>
              <a:rPr lang="en-US" altLang="zh-CN" sz="2000" dirty="0">
                <a:latin typeface="宋体" panose="02010600030101010101" pitchFamily="2" charset="-122"/>
              </a:rPr>
              <a:t>P→</a:t>
            </a:r>
            <a:r>
              <a:rPr lang="zh-CN" altLang="en-US" sz="2000" dirty="0">
                <a:latin typeface="宋体" panose="02010600030101010101" pitchFamily="2" charset="-122"/>
              </a:rPr>
              <a:t>（</a:t>
            </a:r>
            <a:r>
              <a:rPr lang="en-US" altLang="zh-CN" sz="2000" dirty="0">
                <a:latin typeface="宋体" panose="02010600030101010101" pitchFamily="2" charset="-122"/>
              </a:rPr>
              <a:t>E )   </a:t>
            </a:r>
            <a:r>
              <a:rPr lang="zh-CN" altLang="en-US" sz="2000" dirty="0">
                <a:latin typeface="宋体" panose="02010600030101010101" pitchFamily="2" charset="-122"/>
              </a:rPr>
              <a:t>则（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firstVT</a:t>
            </a:r>
            <a:r>
              <a:rPr lang="en-US" altLang="zh-CN" sz="2000" dirty="0">
                <a:latin typeface="宋体" panose="02010600030101010101" pitchFamily="2" charset="-122"/>
              </a:rPr>
              <a:t>(E)   </a:t>
            </a:r>
          </a:p>
          <a:p>
            <a:pPr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rPr>
              <a:t>&lt;</a:t>
            </a:r>
            <a:r>
              <a:rPr lang="en-US" altLang="zh-CN" sz="2000" dirty="0">
                <a:latin typeface="宋体" panose="02010600030101010101" pitchFamily="2" charset="-122"/>
                <a:sym typeface="cajcd fnta1"/>
              </a:rPr>
              <a:t> </a:t>
            </a:r>
            <a:r>
              <a:rPr lang="en-US" altLang="zh-CN" sz="2000" dirty="0" err="1">
                <a:latin typeface="宋体" panose="02010600030101010101" pitchFamily="2" charset="-122"/>
              </a:rPr>
              <a:t>i</a:t>
            </a:r>
            <a:endParaRPr lang="en-US" altLang="zh-CN" sz="2000" dirty="0">
              <a:latin typeface="宋体" panose="02010600030101010101" pitchFamily="2" charset="-122"/>
            </a:endParaRPr>
          </a:p>
        </p:txBody>
      </p:sp>
    </p:spTree>
    <p:extLst>
      <p:ext uri="{BB962C8B-B14F-4D97-AF65-F5344CB8AC3E}">
        <p14:creationId xmlns:p14="http://schemas.microsoft.com/office/powerpoint/2010/main" val="2247868316"/>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Text Box 2"/>
          <p:cNvSpPr txBox="1">
            <a:spLocks noChangeArrowheads="1"/>
          </p:cNvSpPr>
          <p:nvPr/>
        </p:nvSpPr>
        <p:spPr bwMode="auto">
          <a:xfrm>
            <a:off x="442913" y="587375"/>
            <a:ext cx="7620000" cy="372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eaLnBrk="1" hangingPunct="1">
              <a:buFontTx/>
              <a:buNone/>
            </a:pPr>
            <a:r>
              <a:rPr lang="en-US" altLang="zh-CN" sz="2000" dirty="0">
                <a:latin typeface="宋体" panose="02010600030101010101" pitchFamily="2" charset="-122"/>
              </a:rPr>
              <a:t>(4) </a:t>
            </a:r>
            <a:r>
              <a:rPr lang="zh-CN" altLang="en-US" sz="2000" dirty="0">
                <a:latin typeface="宋体" panose="02010600030101010101" pitchFamily="2" charset="-122"/>
              </a:rPr>
              <a:t>求 </a:t>
            </a:r>
            <a:r>
              <a:rPr lang="en-US" altLang="zh-CN" sz="2000" dirty="0">
                <a:solidFill>
                  <a:srgbClr val="FF0000"/>
                </a:solidFill>
                <a:latin typeface="宋体" panose="02010600030101010101" pitchFamily="2" charset="-122"/>
                <a:sym typeface="cajcd fnta1"/>
              </a:rPr>
              <a:t>&gt;</a:t>
            </a:r>
            <a:r>
              <a:rPr lang="zh-CN" altLang="en-US" sz="2000" dirty="0">
                <a:latin typeface="宋体" panose="02010600030101010101" pitchFamily="2" charset="-122"/>
              </a:rPr>
              <a:t>关系</a:t>
            </a:r>
          </a:p>
          <a:p>
            <a:pPr algn="just" eaLnBrk="1" hangingPunct="1">
              <a:buFontTx/>
              <a:buNone/>
            </a:pPr>
            <a:r>
              <a:rPr lang="en-US" altLang="zh-CN" sz="2000" dirty="0">
                <a:latin typeface="宋体" panose="02010600030101010101" pitchFamily="2" charset="-122"/>
              </a:rPr>
              <a:t>E' →#E#   </a:t>
            </a:r>
            <a:r>
              <a:rPr lang="zh-CN" altLang="en-US" sz="2000" dirty="0">
                <a:latin typeface="宋体" panose="02010600030101010101" pitchFamily="2" charset="-122"/>
              </a:rPr>
              <a:t>则 </a:t>
            </a:r>
            <a:r>
              <a:rPr lang="en-US" altLang="zh-CN" sz="2000" dirty="0" err="1">
                <a:latin typeface="宋体" panose="02010600030101010101" pitchFamily="2" charset="-122"/>
              </a:rPr>
              <a:t>lastVT</a:t>
            </a:r>
            <a:r>
              <a:rPr lang="en-US" altLang="zh-CN" sz="2000" dirty="0">
                <a:latin typeface="宋体" panose="02010600030101010101" pitchFamily="2" charset="-122"/>
              </a:rPr>
              <a:t>(E)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p>
          <a:p>
            <a:pPr algn="just"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zh-CN" altLang="en-US"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en-US" altLang="zh-CN" sz="2000" dirty="0" err="1">
                <a:latin typeface="宋体" panose="02010600030101010101" pitchFamily="2" charset="-122"/>
              </a:rPr>
              <a:t>i</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a:t>
            </a:r>
          </a:p>
          <a:p>
            <a:pPr algn="just" eaLnBrk="1" hangingPunct="1">
              <a:buFontTx/>
              <a:buNone/>
            </a:pPr>
            <a:r>
              <a:rPr lang="en-US" altLang="zh-CN" sz="2000" dirty="0">
                <a:latin typeface="宋体" panose="02010600030101010101" pitchFamily="2" charset="-122"/>
              </a:rPr>
              <a:t>E→E+T  </a:t>
            </a:r>
            <a:r>
              <a:rPr lang="zh-CN" altLang="en-US" sz="2000" dirty="0">
                <a:latin typeface="宋体" panose="02010600030101010101" pitchFamily="2" charset="-122"/>
              </a:rPr>
              <a:t>则</a:t>
            </a:r>
            <a:r>
              <a:rPr lang="en-US" altLang="zh-CN" sz="2000" dirty="0" err="1">
                <a:latin typeface="宋体" panose="02010600030101010101" pitchFamily="2" charset="-122"/>
              </a:rPr>
              <a:t>lastVT</a:t>
            </a:r>
            <a:r>
              <a:rPr lang="en-US" altLang="zh-CN" sz="2000" dirty="0">
                <a:latin typeface="宋体" panose="02010600030101010101" pitchFamily="2" charset="-122"/>
              </a:rPr>
              <a:t>(E)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p>
          <a:p>
            <a:pPr algn="just"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en-US" altLang="zh-CN" sz="2000" dirty="0" err="1">
                <a:latin typeface="宋体" panose="02010600030101010101" pitchFamily="2" charset="-122"/>
              </a:rPr>
              <a:t>i</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 </a:t>
            </a:r>
            <a:r>
              <a:rPr lang="en-US" altLang="zh-CN" sz="2000" dirty="0">
                <a:latin typeface="宋体" panose="02010600030101010101" pitchFamily="2" charset="-122"/>
              </a:rPr>
              <a:t>+</a:t>
            </a:r>
          </a:p>
          <a:p>
            <a:pPr algn="just" eaLnBrk="1" hangingPunct="1">
              <a:buFontTx/>
              <a:buNone/>
            </a:pPr>
            <a:r>
              <a:rPr lang="en-US" altLang="zh-CN" sz="2000" dirty="0">
                <a:latin typeface="宋体" panose="02010600030101010101" pitchFamily="2" charset="-122"/>
              </a:rPr>
              <a:t>T→T*F  </a:t>
            </a:r>
            <a:r>
              <a:rPr lang="zh-CN" altLang="en-US" sz="2000" dirty="0">
                <a:latin typeface="宋体" panose="02010600030101010101" pitchFamily="2" charset="-122"/>
              </a:rPr>
              <a:t>则</a:t>
            </a:r>
            <a:r>
              <a:rPr lang="en-US" altLang="zh-CN" sz="2000" dirty="0" err="1">
                <a:latin typeface="宋体" panose="02010600030101010101" pitchFamily="2" charset="-122"/>
              </a:rPr>
              <a:t>lastVT</a:t>
            </a:r>
            <a:r>
              <a:rPr lang="en-US" altLang="zh-CN" sz="2000" dirty="0">
                <a:latin typeface="宋体" panose="02010600030101010101" pitchFamily="2" charset="-122"/>
              </a:rPr>
              <a:t>(T)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p>
          <a:p>
            <a:pPr algn="just"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a:t>
            </a:r>
            <a:r>
              <a:rPr lang="en-US" altLang="zh-CN" sz="2000" dirty="0" err="1">
                <a:latin typeface="宋体" panose="02010600030101010101" pitchFamily="2" charset="-122"/>
              </a:rPr>
              <a:t>i</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 </a:t>
            </a:r>
            <a:r>
              <a:rPr lang="en-US" altLang="zh-CN" sz="2000" dirty="0">
                <a:latin typeface="宋体" panose="02010600030101010101" pitchFamily="2" charset="-122"/>
              </a:rPr>
              <a:t>*</a:t>
            </a:r>
          </a:p>
          <a:p>
            <a:pPr algn="just" eaLnBrk="1" hangingPunct="1">
              <a:buFontTx/>
              <a:buNone/>
            </a:pPr>
            <a:r>
              <a:rPr lang="en-US" altLang="zh-CN" sz="2000" dirty="0">
                <a:latin typeface="宋体" panose="02010600030101010101" pitchFamily="2" charset="-122"/>
              </a:rPr>
              <a:t>F→P↑F  </a:t>
            </a:r>
            <a:r>
              <a:rPr lang="zh-CN" altLang="en-US" sz="2000" dirty="0">
                <a:latin typeface="宋体" panose="02010600030101010101" pitchFamily="2" charset="-122"/>
              </a:rPr>
              <a:t>则</a:t>
            </a:r>
            <a:r>
              <a:rPr lang="en-US" altLang="zh-CN" sz="2000" dirty="0" err="1">
                <a:latin typeface="宋体" panose="02010600030101010101" pitchFamily="2" charset="-122"/>
              </a:rPr>
              <a:t>lastVT</a:t>
            </a:r>
            <a:r>
              <a:rPr lang="en-US" altLang="zh-CN" sz="2000" dirty="0">
                <a:latin typeface="宋体" panose="02010600030101010101" pitchFamily="2" charset="-122"/>
              </a:rPr>
              <a:t>(P)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err="1">
                <a:latin typeface="宋体" panose="02010600030101010101" pitchFamily="2" charset="-122"/>
              </a:rPr>
              <a:t>i</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 </a:t>
            </a:r>
            <a:r>
              <a:rPr lang="en-US" altLang="zh-CN" sz="2000" dirty="0">
                <a:latin typeface="宋体" panose="02010600030101010101" pitchFamily="2" charset="-122"/>
              </a:rPr>
              <a:t>↑,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a:t>
            </a:r>
          </a:p>
          <a:p>
            <a:pPr algn="just" eaLnBrk="1" hangingPunct="1">
              <a:buFontTx/>
              <a:buNone/>
            </a:pPr>
            <a:r>
              <a:rPr lang="en-US" altLang="zh-CN" sz="2000" dirty="0">
                <a:latin typeface="宋体" panose="02010600030101010101" pitchFamily="2" charset="-122"/>
              </a:rPr>
              <a:t>P→(E)  </a:t>
            </a:r>
            <a:r>
              <a:rPr lang="zh-CN" altLang="en-US" sz="2000" dirty="0">
                <a:latin typeface="宋体" panose="02010600030101010101" pitchFamily="2" charset="-122"/>
              </a:rPr>
              <a:t>则</a:t>
            </a:r>
            <a:r>
              <a:rPr lang="en-US" altLang="zh-CN" sz="2000" dirty="0" err="1">
                <a:latin typeface="宋体" panose="02010600030101010101" pitchFamily="2" charset="-122"/>
              </a:rPr>
              <a:t>lastVT</a:t>
            </a:r>
            <a:r>
              <a:rPr lang="en-US" altLang="zh-CN" sz="2000" dirty="0">
                <a:latin typeface="宋体" panose="02010600030101010101" pitchFamily="2" charset="-122"/>
              </a:rPr>
              <a:t>(E)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sym typeface="cajcd fnta1"/>
              </a:rPr>
              <a:t>)</a:t>
            </a:r>
            <a:r>
              <a:rPr lang="en-US" altLang="zh-CN" sz="2000" dirty="0">
                <a:latin typeface="宋体" panose="02010600030101010101" pitchFamily="2" charset="-122"/>
              </a:rPr>
              <a:t>    </a:t>
            </a:r>
          </a:p>
          <a:p>
            <a:pPr algn="just" eaLnBrk="1" hangingPunct="1">
              <a:buFontTx/>
              <a:buNone/>
            </a:pPr>
            <a:r>
              <a:rPr lang="en-US" altLang="zh-CN" sz="2000" dirty="0">
                <a:latin typeface="宋体" panose="02010600030101010101" pitchFamily="2" charset="-122"/>
              </a:rPr>
              <a:t>      </a:t>
            </a:r>
            <a:r>
              <a:rPr lang="zh-CN" altLang="en-US" sz="2000" dirty="0">
                <a:latin typeface="宋体" panose="02010600030101010101" pitchFamily="2" charset="-122"/>
              </a:rPr>
              <a:t>所以  </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  </a:t>
            </a:r>
            <a:r>
              <a:rPr lang="en-US" altLang="zh-CN" sz="2000" dirty="0" err="1">
                <a:latin typeface="宋体" panose="02010600030101010101" pitchFamily="2" charset="-122"/>
              </a:rPr>
              <a:t>i</a:t>
            </a:r>
            <a:r>
              <a:rPr lang="en-US" altLang="zh-CN" sz="2000" dirty="0">
                <a:latin typeface="宋体" panose="02010600030101010101" pitchFamily="2" charset="-122"/>
              </a:rPr>
              <a:t>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 ,  ) </a:t>
            </a:r>
            <a:r>
              <a:rPr lang="en-US" altLang="zh-CN" sz="2000" dirty="0">
                <a:solidFill>
                  <a:srgbClr val="FF0000"/>
                </a:solidFill>
                <a:latin typeface="宋体" panose="02010600030101010101" pitchFamily="2" charset="-122"/>
                <a:sym typeface="cajcd fnta1"/>
              </a:rPr>
              <a:t>&gt;</a:t>
            </a:r>
            <a:r>
              <a:rPr lang="en-US" altLang="zh-CN" sz="2000" dirty="0">
                <a:latin typeface="宋体" panose="02010600030101010101" pitchFamily="2" charset="-122"/>
              </a:rPr>
              <a:t>)</a:t>
            </a:r>
          </a:p>
        </p:txBody>
      </p:sp>
    </p:spTree>
    <p:extLst>
      <p:ext uri="{BB962C8B-B14F-4D97-AF65-F5344CB8AC3E}">
        <p14:creationId xmlns:p14="http://schemas.microsoft.com/office/powerpoint/2010/main" val="3423061058"/>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Text Box 2"/>
          <p:cNvSpPr txBox="1">
            <a:spLocks noChangeArrowheads="1"/>
          </p:cNvSpPr>
          <p:nvPr/>
        </p:nvSpPr>
        <p:spPr bwMode="auto">
          <a:xfrm>
            <a:off x="598488" y="477838"/>
            <a:ext cx="3886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a:solidFill>
                  <a:srgbClr val="FF0000"/>
                </a:solidFill>
                <a:ea typeface="华文行楷" pitchFamily="2" charset="-122"/>
              </a:rPr>
              <a:t>算符优先关系表 </a:t>
            </a:r>
          </a:p>
        </p:txBody>
      </p:sp>
      <p:graphicFrame>
        <p:nvGraphicFramePr>
          <p:cNvPr id="87128" name="Group 88"/>
          <p:cNvGraphicFramePr>
            <a:graphicFrameLocks noGrp="1"/>
          </p:cNvGraphicFramePr>
          <p:nvPr/>
        </p:nvGraphicFramePr>
        <p:xfrm>
          <a:off x="738188" y="1003300"/>
          <a:ext cx="6818312" cy="3109912"/>
        </p:xfrm>
        <a:graphic>
          <a:graphicData uri="http://schemas.openxmlformats.org/drawingml/2006/table">
            <a:tbl>
              <a:tblPr/>
              <a:tblGrid>
                <a:gridCol w="852487">
                  <a:extLst>
                    <a:ext uri="{9D8B030D-6E8A-4147-A177-3AD203B41FA5}">
                      <a16:colId xmlns:a16="http://schemas.microsoft.com/office/drawing/2014/main" val="20000"/>
                    </a:ext>
                  </a:extLst>
                </a:gridCol>
                <a:gridCol w="852488">
                  <a:extLst>
                    <a:ext uri="{9D8B030D-6E8A-4147-A177-3AD203B41FA5}">
                      <a16:colId xmlns:a16="http://schemas.microsoft.com/office/drawing/2014/main" val="20001"/>
                    </a:ext>
                  </a:extLst>
                </a:gridCol>
                <a:gridCol w="852487">
                  <a:extLst>
                    <a:ext uri="{9D8B030D-6E8A-4147-A177-3AD203B41FA5}">
                      <a16:colId xmlns:a16="http://schemas.microsoft.com/office/drawing/2014/main" val="20002"/>
                    </a:ext>
                  </a:extLst>
                </a:gridCol>
                <a:gridCol w="852488">
                  <a:extLst>
                    <a:ext uri="{9D8B030D-6E8A-4147-A177-3AD203B41FA5}">
                      <a16:colId xmlns:a16="http://schemas.microsoft.com/office/drawing/2014/main" val="20003"/>
                    </a:ext>
                  </a:extLst>
                </a:gridCol>
                <a:gridCol w="850900">
                  <a:extLst>
                    <a:ext uri="{9D8B030D-6E8A-4147-A177-3AD203B41FA5}">
                      <a16:colId xmlns:a16="http://schemas.microsoft.com/office/drawing/2014/main" val="20004"/>
                    </a:ext>
                  </a:extLst>
                </a:gridCol>
                <a:gridCol w="852487">
                  <a:extLst>
                    <a:ext uri="{9D8B030D-6E8A-4147-A177-3AD203B41FA5}">
                      <a16:colId xmlns:a16="http://schemas.microsoft.com/office/drawing/2014/main" val="20005"/>
                    </a:ext>
                  </a:extLst>
                </a:gridCol>
                <a:gridCol w="852488">
                  <a:extLst>
                    <a:ext uri="{9D8B030D-6E8A-4147-A177-3AD203B41FA5}">
                      <a16:colId xmlns:a16="http://schemas.microsoft.com/office/drawing/2014/main" val="20006"/>
                    </a:ext>
                  </a:extLst>
                </a:gridCol>
                <a:gridCol w="852487">
                  <a:extLst>
                    <a:ext uri="{9D8B030D-6E8A-4147-A177-3AD203B41FA5}">
                      <a16:colId xmlns:a16="http://schemas.microsoft.com/office/drawing/2014/main" val="20007"/>
                    </a:ext>
                  </a:extLst>
                </a:gridCol>
              </a:tblGrid>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a"/>
                        </a:rPr>
                        <a:t>=</a:t>
                      </a: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 </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&gt;</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88739">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1" marB="342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1"/>
                        </a:rPr>
                        <a:t>&lt;</a:t>
                      </a: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1" marB="342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sym typeface="cajcd fntaa"/>
                        </a:rPr>
                        <a:t>=</a:t>
                      </a:r>
                      <a:r>
                        <a:rPr kumimoji="1" lang="en-US" altLang="zh-CN" sz="21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 </a:t>
                      </a:r>
                    </a:p>
                  </a:txBody>
                  <a:tcPr marT="34291" marB="342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3229182049"/>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769938" y="457200"/>
            <a:ext cx="7924800" cy="830263"/>
          </a:xfrm>
          <a:prstGeom prst="rect">
            <a:avLst/>
          </a:prstGeom>
          <a:noFill/>
          <a:ln w="9525">
            <a:noFill/>
            <a:miter lim="800000"/>
            <a:headEnd/>
            <a:tailEnd/>
          </a:ln>
        </p:spPr>
        <p:txBody>
          <a:bodyPr>
            <a:spAutoFit/>
          </a:bodyPr>
          <a:lstStyle/>
          <a:p>
            <a:pPr algn="ctr" eaLnBrk="1" hangingPunct="1">
              <a:spcBef>
                <a:spcPct val="50000"/>
              </a:spcBef>
              <a:defRPr/>
            </a:pPr>
            <a:r>
              <a:rPr lang="en-US" altLang="zh-CN" sz="4800" b="1" dirty="0">
                <a:solidFill>
                  <a:srgbClr val="CC0099"/>
                </a:solidFill>
                <a:ea typeface="隶书" pitchFamily="49" charset="-122"/>
                <a:cs typeface="+mj-cs"/>
              </a:rPr>
              <a:t>3.4.3 LR</a:t>
            </a:r>
            <a:r>
              <a:rPr lang="zh-CN" altLang="en-US" sz="4800" b="1" dirty="0">
                <a:solidFill>
                  <a:srgbClr val="CC0099"/>
                </a:solidFill>
                <a:ea typeface="隶书" pitchFamily="49" charset="-122"/>
                <a:cs typeface="+mj-cs"/>
              </a:rPr>
              <a:t>分析方法</a:t>
            </a:r>
          </a:p>
        </p:txBody>
      </p:sp>
      <p:sp>
        <p:nvSpPr>
          <p:cNvPr id="184323" name="Text Box 3"/>
          <p:cNvSpPr txBox="1">
            <a:spLocks noChangeArrowheads="1"/>
          </p:cNvSpPr>
          <p:nvPr/>
        </p:nvSpPr>
        <p:spPr bwMode="auto">
          <a:xfrm>
            <a:off x="466725" y="1322388"/>
            <a:ext cx="7904163"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2425" indent="-3524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pPr>
            <a:r>
              <a:rPr lang="zh-CN" altLang="en-US" sz="2200" b="1" dirty="0">
                <a:solidFill>
                  <a:srgbClr val="FF0000"/>
                </a:solidFill>
                <a:ea typeface="华文行楷" pitchFamily="2" charset="-122"/>
              </a:rPr>
              <a:t>主要内容</a:t>
            </a:r>
            <a:r>
              <a:rPr lang="zh-CN" altLang="en-US" sz="2200" dirty="0">
                <a:ea typeface="华文行楷" pitchFamily="2" charset="-122"/>
              </a:rPr>
              <a:t>： </a:t>
            </a:r>
            <a:r>
              <a:rPr lang="en-US" altLang="zh-CN" sz="2200" b="1" dirty="0">
                <a:ea typeface="华文行楷" pitchFamily="2" charset="-122"/>
              </a:rPr>
              <a:t>LR</a:t>
            </a:r>
            <a:r>
              <a:rPr lang="zh-CN" altLang="en-US" sz="2200" b="1" dirty="0">
                <a:ea typeface="华文行楷" pitchFamily="2" charset="-122"/>
              </a:rPr>
              <a:t>分析方法及其相关概念，语法分析器的自动生成，各种语法分析中的错误处理</a:t>
            </a:r>
          </a:p>
          <a:p>
            <a:pPr eaLnBrk="1" hangingPunct="1">
              <a:spcBef>
                <a:spcPct val="0"/>
              </a:spcBef>
            </a:pPr>
            <a:r>
              <a:rPr lang="zh-CN" altLang="en-US" sz="2200" b="1" dirty="0">
                <a:solidFill>
                  <a:srgbClr val="FF0000"/>
                </a:solidFill>
                <a:ea typeface="华文行楷" pitchFamily="2" charset="-122"/>
              </a:rPr>
              <a:t>重点掌握：</a:t>
            </a:r>
            <a:r>
              <a:rPr lang="en-US" altLang="zh-CN" sz="2200" b="1" dirty="0">
                <a:ea typeface="华文行楷" pitchFamily="2" charset="-122"/>
              </a:rPr>
              <a:t>LR</a:t>
            </a:r>
            <a:r>
              <a:rPr lang="zh-CN" altLang="en-US" sz="2200" b="1" dirty="0">
                <a:ea typeface="华文行楷" pitchFamily="2" charset="-122"/>
              </a:rPr>
              <a:t>分析方法与分析过程，活前缀、</a:t>
            </a:r>
            <a:r>
              <a:rPr lang="en-US" altLang="zh-CN" sz="2200" b="1" dirty="0">
                <a:ea typeface="华文行楷" pitchFamily="2" charset="-122"/>
              </a:rPr>
              <a:t>LR(0)</a:t>
            </a:r>
            <a:r>
              <a:rPr lang="zh-CN" altLang="en-US" sz="2200" b="1" dirty="0">
                <a:ea typeface="华文行楷" pitchFamily="2" charset="-122"/>
              </a:rPr>
              <a:t>项目、</a:t>
            </a:r>
            <a:r>
              <a:rPr lang="en-US" altLang="zh-CN" sz="2200" b="1" dirty="0">
                <a:ea typeface="华文行楷" pitchFamily="2" charset="-122"/>
              </a:rPr>
              <a:t>Closure </a:t>
            </a:r>
            <a:r>
              <a:rPr lang="zh-CN" altLang="en-US" sz="2200" b="1" dirty="0">
                <a:ea typeface="华文行楷" pitchFamily="2" charset="-122"/>
              </a:rPr>
              <a:t>和 </a:t>
            </a:r>
            <a:r>
              <a:rPr lang="en-US" altLang="zh-CN" sz="2200" b="1" dirty="0">
                <a:ea typeface="华文行楷" pitchFamily="2" charset="-122"/>
              </a:rPr>
              <a:t>go</a:t>
            </a:r>
            <a:r>
              <a:rPr lang="zh-CN" altLang="en-US" sz="2200" b="1" dirty="0">
                <a:ea typeface="华文行楷" pitchFamily="2" charset="-122"/>
              </a:rPr>
              <a:t>函数的定义，项目集规范族及识别活前缀的有穷自动机的构造，</a:t>
            </a:r>
            <a:r>
              <a:rPr lang="en-US" altLang="zh-CN" sz="2200" b="1" dirty="0">
                <a:ea typeface="华文行楷" pitchFamily="2" charset="-122"/>
              </a:rPr>
              <a:t>LR(0)</a:t>
            </a:r>
            <a:r>
              <a:rPr lang="zh-CN" altLang="en-US" sz="2200" b="1" dirty="0">
                <a:ea typeface="华文行楷" pitchFamily="2" charset="-122"/>
              </a:rPr>
              <a:t>分析表的构造，</a:t>
            </a:r>
            <a:r>
              <a:rPr lang="en-US" altLang="zh-CN" sz="2200" b="1" dirty="0">
                <a:ea typeface="华文行楷" pitchFamily="2" charset="-122"/>
              </a:rPr>
              <a:t>SLR</a:t>
            </a:r>
            <a:r>
              <a:rPr lang="zh-CN" altLang="en-US" sz="2200" b="1" dirty="0">
                <a:ea typeface="华文行楷" pitchFamily="2" charset="-122"/>
              </a:rPr>
              <a:t>文法及其分析表的构造。</a:t>
            </a:r>
          </a:p>
        </p:txBody>
      </p:sp>
    </p:spTree>
    <p:extLst>
      <p:ext uri="{BB962C8B-B14F-4D97-AF65-F5344CB8AC3E}">
        <p14:creationId xmlns:p14="http://schemas.microsoft.com/office/powerpoint/2010/main" val="3408261238"/>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3690434" cy="1261884"/>
          </a:xfrm>
          <a:prstGeom prst="rect">
            <a:avLst/>
          </a:prstGeom>
        </p:spPr>
        <p:txBody>
          <a:bodyPr wrap="none">
            <a:spAutoFit/>
          </a:bodyPr>
          <a:lstStyle/>
          <a:p>
            <a:r>
              <a:rPr lang="en-US" altLang="zh-CN" sz="4000" b="1" dirty="0">
                <a:solidFill>
                  <a:srgbClr val="CC0099"/>
                </a:solidFill>
                <a:ea typeface="隶书" pitchFamily="49" charset="-122"/>
              </a:rPr>
              <a:t>9</a:t>
            </a:r>
            <a:r>
              <a:rPr lang="zh-CN" altLang="en-US" sz="4000" b="1" dirty="0">
                <a:solidFill>
                  <a:srgbClr val="CC0099"/>
                </a:solidFill>
                <a:ea typeface="隶书" pitchFamily="49" charset="-122"/>
              </a:rPr>
              <a:t>、</a:t>
            </a:r>
            <a:r>
              <a:rPr lang="en-US" altLang="zh-CN" sz="4000" b="1" dirty="0">
                <a:solidFill>
                  <a:srgbClr val="CC0099"/>
                </a:solidFill>
                <a:ea typeface="隶书" pitchFamily="49" charset="-122"/>
              </a:rPr>
              <a:t>LR</a:t>
            </a:r>
            <a:r>
              <a:rPr lang="zh-CN" altLang="en-US" sz="4000" b="1" dirty="0">
                <a:solidFill>
                  <a:srgbClr val="CC0099"/>
                </a:solidFill>
                <a:ea typeface="隶书" pitchFamily="49" charset="-122"/>
              </a:rPr>
              <a:t>分析</a:t>
            </a:r>
            <a:endParaRPr lang="en-US" altLang="zh-CN" sz="4000" b="1" dirty="0">
              <a:solidFill>
                <a:srgbClr val="CC0099"/>
              </a:solidFill>
              <a:ea typeface="隶书" pitchFamily="49" charset="-122"/>
            </a:endParaRPr>
          </a:p>
          <a:p>
            <a:r>
              <a:rPr lang="en-US" altLang="zh-CN" sz="3600" b="1" dirty="0">
                <a:solidFill>
                  <a:srgbClr val="CC0099"/>
                </a:solidFill>
                <a:ea typeface="隶书" pitchFamily="49" charset="-122"/>
              </a:rPr>
              <a:t>     ——</a:t>
            </a:r>
            <a:r>
              <a:rPr lang="zh-CN" altLang="en-US" sz="3600" b="1" dirty="0">
                <a:solidFill>
                  <a:srgbClr val="CC0099"/>
                </a:solidFill>
                <a:ea typeface="隶书" pitchFamily="49" charset="-122"/>
              </a:rPr>
              <a:t>基本原理</a:t>
            </a:r>
            <a:endParaRPr lang="en-US" altLang="zh-CN" sz="3600" b="1" dirty="0">
              <a:solidFill>
                <a:srgbClr val="CC0099"/>
              </a:solidFill>
              <a:ea typeface="隶书" pitchFamily="49" charset="-122"/>
            </a:endParaRPr>
          </a:p>
        </p:txBody>
      </p:sp>
    </p:spTree>
    <p:extLst>
      <p:ext uri="{BB962C8B-B14F-4D97-AF65-F5344CB8AC3E}">
        <p14:creationId xmlns:p14="http://schemas.microsoft.com/office/powerpoint/2010/main" val="387894934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2"/>
          <p:cNvSpPr>
            <a:spLocks noGrp="1" noChangeArrowheads="1"/>
          </p:cNvSpPr>
          <p:nvPr>
            <p:ph type="title"/>
          </p:nvPr>
        </p:nvSpPr>
        <p:spPr>
          <a:xfrm>
            <a:off x="323529" y="123478"/>
            <a:ext cx="7772400" cy="628650"/>
          </a:xfrm>
        </p:spPr>
        <p:txBody>
          <a:bodyPr>
            <a:normAutofit fontScale="90000"/>
          </a:bodyPr>
          <a:lstStyle/>
          <a:p>
            <a:pPr eaLnBrk="1" hangingPunct="1"/>
            <a:r>
              <a:rPr lang="zh-CN" altLang="en-US" sz="4000" b="1" dirty="0">
                <a:latin typeface="楷体_GB2312" pitchFamily="49" charset="-122"/>
                <a:ea typeface="楷体_GB2312" pitchFamily="49" charset="-122"/>
              </a:rPr>
              <a:t>自下而上语法分析</a:t>
            </a:r>
          </a:p>
        </p:txBody>
      </p:sp>
      <p:sp>
        <p:nvSpPr>
          <p:cNvPr id="185347" name="Rectangle 3"/>
          <p:cNvSpPr>
            <a:spLocks noGrp="1" noChangeArrowheads="1"/>
          </p:cNvSpPr>
          <p:nvPr>
            <p:ph type="body" idx="1"/>
          </p:nvPr>
        </p:nvSpPr>
        <p:spPr>
          <a:xfrm>
            <a:off x="251520" y="915566"/>
            <a:ext cx="8366125" cy="648072"/>
          </a:xfrm>
        </p:spPr>
        <p:txBody>
          <a:bodyPr>
            <a:normAutofit/>
          </a:bodyPr>
          <a:lstStyle/>
          <a:p>
            <a:r>
              <a:rPr lang="zh-CN" altLang="en-US" sz="2200" dirty="0"/>
              <a:t>实现技术：采用移进</a:t>
            </a:r>
            <a:r>
              <a:rPr lang="en-US" altLang="zh-CN" sz="2200" dirty="0"/>
              <a:t>-</a:t>
            </a:r>
            <a:r>
              <a:rPr lang="zh-CN" altLang="en-US" sz="2200" dirty="0"/>
              <a:t>归约方式</a:t>
            </a:r>
            <a:endParaRPr lang="en-US" altLang="zh-CN" sz="2200" dirty="0"/>
          </a:p>
        </p:txBody>
      </p:sp>
      <p:sp>
        <p:nvSpPr>
          <p:cNvPr id="5" name="Rectangle 3"/>
          <p:cNvSpPr txBox="1">
            <a:spLocks noChangeArrowheads="1"/>
          </p:cNvSpPr>
          <p:nvPr/>
        </p:nvSpPr>
        <p:spPr>
          <a:xfrm>
            <a:off x="251521" y="1347614"/>
            <a:ext cx="8424935" cy="1368152"/>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lvl="1">
              <a:spcBef>
                <a:spcPts val="0"/>
              </a:spcBef>
            </a:pPr>
            <a:r>
              <a:rPr lang="zh-CN" altLang="en-US" dirty="0"/>
              <a:t>从输入串开始，一边移进一边归约。直到文法的开始符号</a:t>
            </a:r>
            <a:endParaRPr lang="en-US" altLang="zh-CN" dirty="0"/>
          </a:p>
          <a:p>
            <a:pPr lvl="1">
              <a:spcBef>
                <a:spcPts val="0"/>
              </a:spcBef>
            </a:pPr>
            <a:r>
              <a:rPr lang="zh-CN" altLang="en-US" dirty="0"/>
              <a:t>自下而上建立语法树</a:t>
            </a:r>
            <a:endParaRPr lang="en-US" altLang="zh-CN" dirty="0"/>
          </a:p>
          <a:p>
            <a:pPr lvl="1">
              <a:spcBef>
                <a:spcPts val="0"/>
              </a:spcBef>
            </a:pPr>
            <a:r>
              <a:rPr lang="zh-CN" altLang="en-US" dirty="0"/>
              <a:t>关键问题是确定</a:t>
            </a:r>
            <a:r>
              <a:rPr lang="zh-CN" altLang="en-US" dirty="0">
                <a:solidFill>
                  <a:schemeClr val="accent2"/>
                </a:solidFill>
              </a:rPr>
              <a:t>可归约串</a:t>
            </a:r>
            <a:endParaRPr lang="en-US" altLang="zh-CN" dirty="0"/>
          </a:p>
        </p:txBody>
      </p:sp>
      <p:sp>
        <p:nvSpPr>
          <p:cNvPr id="6" name="Rectangle 3"/>
          <p:cNvSpPr txBox="1">
            <a:spLocks noChangeArrowheads="1"/>
          </p:cNvSpPr>
          <p:nvPr/>
        </p:nvSpPr>
        <p:spPr>
          <a:xfrm>
            <a:off x="323529" y="2427734"/>
            <a:ext cx="5112568" cy="2520280"/>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zh-CN" altLang="en-US" sz="2200" dirty="0"/>
              <a:t>方法</a:t>
            </a:r>
            <a:endParaRPr lang="en-US" altLang="zh-CN" sz="2200" dirty="0"/>
          </a:p>
          <a:p>
            <a:pPr lvl="1">
              <a:spcBef>
                <a:spcPts val="0"/>
              </a:spcBef>
            </a:pPr>
            <a:r>
              <a:rPr lang="zh-CN" altLang="en-US" sz="2000" dirty="0"/>
              <a:t>规范归约（相当于一种标准的方法）</a:t>
            </a:r>
            <a:endParaRPr lang="en-US" altLang="zh-CN" sz="2000" dirty="0"/>
          </a:p>
          <a:p>
            <a:pPr lvl="2"/>
            <a:r>
              <a:rPr lang="zh-CN" altLang="en-US" sz="1800" dirty="0"/>
              <a:t>句柄</a:t>
            </a:r>
            <a:endParaRPr lang="en-US" altLang="zh-CN" sz="1800" dirty="0"/>
          </a:p>
          <a:p>
            <a:pPr lvl="1"/>
            <a:r>
              <a:rPr lang="zh-CN" altLang="en-US" dirty="0"/>
              <a:t>算符优先分析</a:t>
            </a:r>
            <a:endParaRPr lang="en-US" altLang="zh-CN" dirty="0"/>
          </a:p>
          <a:p>
            <a:pPr lvl="2"/>
            <a:r>
              <a:rPr lang="zh-CN" altLang="en-US" dirty="0"/>
              <a:t>最左素短语</a:t>
            </a:r>
            <a:endParaRPr lang="en-US" altLang="zh-CN" dirty="0"/>
          </a:p>
          <a:p>
            <a:pPr lvl="1"/>
            <a:r>
              <a:rPr lang="en-US" altLang="zh-CN" dirty="0"/>
              <a:t>LR</a:t>
            </a:r>
            <a:r>
              <a:rPr lang="zh-CN" altLang="en-US" dirty="0"/>
              <a:t>分析</a:t>
            </a:r>
            <a:endParaRPr lang="en-US" altLang="zh-CN" dirty="0"/>
          </a:p>
          <a:p>
            <a:pPr lvl="2"/>
            <a:r>
              <a:rPr lang="zh-CN" altLang="en-US" dirty="0"/>
              <a:t>严格的规范归约，使用活前缀找句柄</a:t>
            </a:r>
            <a:endParaRPr lang="en-US" altLang="zh-CN" dirty="0"/>
          </a:p>
        </p:txBody>
      </p:sp>
      <p:graphicFrame>
        <p:nvGraphicFramePr>
          <p:cNvPr id="2" name="对象 1"/>
          <p:cNvGraphicFramePr>
            <a:graphicFrameLocks noChangeAspect="1"/>
          </p:cNvGraphicFramePr>
          <p:nvPr>
            <p:extLst>
              <p:ext uri="{D42A27DB-BD31-4B8C-83A1-F6EECF244321}">
                <p14:modId xmlns:p14="http://schemas.microsoft.com/office/powerpoint/2010/main" val="543862078"/>
              </p:ext>
            </p:extLst>
          </p:nvPr>
        </p:nvGraphicFramePr>
        <p:xfrm>
          <a:off x="5399657" y="3436938"/>
          <a:ext cx="3852863" cy="1706562"/>
        </p:xfrm>
        <a:graphic>
          <a:graphicData uri="http://schemas.openxmlformats.org/presentationml/2006/ole">
            <mc:AlternateContent xmlns:mc="http://schemas.openxmlformats.org/markup-compatibility/2006">
              <mc:Choice xmlns:v="urn:schemas-microsoft-com:vml" Requires="v">
                <p:oleObj spid="_x0000_s45063" name="Visio" r:id="rId4" imgW="2215923" imgH="979992" progId="Visio.Drawing.11">
                  <p:embed/>
                </p:oleObj>
              </mc:Choice>
              <mc:Fallback>
                <p:oleObj name="Visio" r:id="rId4" imgW="2215923" imgH="979992" progId="Visio.Drawing.11">
                  <p:embed/>
                  <p:pic>
                    <p:nvPicPr>
                      <p:cNvPr id="2" name="对象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9657" y="3436938"/>
                        <a:ext cx="3852863" cy="1706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698977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162794" y="742307"/>
            <a:ext cx="3960440" cy="2388476"/>
          </a:xfrm>
        </p:spPr>
        <p:txBody>
          <a:bodyPr>
            <a:normAutofit lnSpcReduction="10000"/>
          </a:bodyPr>
          <a:lstStyle/>
          <a:p>
            <a:r>
              <a:rPr lang="zh-CN" altLang="en-US" sz="1500" dirty="0">
                <a:latin typeface="宋体" panose="02010600030101010101" pitchFamily="2" charset="-122"/>
                <a:ea typeface="宋体" panose="02010600030101010101" pitchFamily="2" charset="-122"/>
              </a:rPr>
              <a:t>自下而上语法分析，采用</a:t>
            </a:r>
            <a:r>
              <a:rPr lang="zh-CN" altLang="en-US" sz="1500" b="1" dirty="0">
                <a:solidFill>
                  <a:srgbClr val="0070C0"/>
                </a:solidFill>
                <a:latin typeface="宋体" panose="02010600030101010101" pitchFamily="2" charset="-122"/>
                <a:ea typeface="宋体" panose="02010600030101010101" pitchFamily="2" charset="-122"/>
              </a:rPr>
              <a:t>移进</a:t>
            </a:r>
            <a:r>
              <a:rPr lang="en-US" altLang="zh-CN" sz="1500" b="1" dirty="0">
                <a:solidFill>
                  <a:srgbClr val="0070C0"/>
                </a:solidFill>
                <a:latin typeface="宋体" panose="02010600030101010101" pitchFamily="2" charset="-122"/>
                <a:ea typeface="宋体" panose="02010600030101010101" pitchFamily="2" charset="-122"/>
              </a:rPr>
              <a:t>-</a:t>
            </a:r>
            <a:r>
              <a:rPr lang="zh-CN" altLang="en-US" sz="1500" b="1" dirty="0">
                <a:solidFill>
                  <a:srgbClr val="0070C0"/>
                </a:solidFill>
                <a:latin typeface="宋体" panose="02010600030101010101" pitchFamily="2" charset="-122"/>
                <a:ea typeface="宋体" panose="02010600030101010101" pitchFamily="2" charset="-122"/>
              </a:rPr>
              <a:t>归约方式</a:t>
            </a:r>
            <a:endParaRPr lang="en-US" altLang="zh-CN" sz="1500" b="1" dirty="0">
              <a:solidFill>
                <a:srgbClr val="0070C0"/>
              </a:solidFill>
              <a:latin typeface="宋体" panose="02010600030101010101" pitchFamily="2" charset="-122"/>
              <a:ea typeface="宋体" panose="02010600030101010101" pitchFamily="2" charset="-122"/>
            </a:endParaRPr>
          </a:p>
          <a:p>
            <a:pPr lvl="1"/>
            <a:r>
              <a:rPr lang="zh-CN" altLang="en-US" sz="1500" dirty="0">
                <a:latin typeface="宋体" panose="02010600030101010101" pitchFamily="2" charset="-122"/>
                <a:ea typeface="宋体" panose="02010600030101010101" pitchFamily="2" charset="-122"/>
              </a:rPr>
              <a:t>规范归约通过句柄寻找当前句型的</a:t>
            </a:r>
            <a:r>
              <a:rPr lang="zh-CN" altLang="en-US" sz="1500" b="1" dirty="0">
                <a:solidFill>
                  <a:srgbClr val="0070C0"/>
                </a:solidFill>
                <a:latin typeface="宋体" panose="02010600030101010101" pitchFamily="2" charset="-122"/>
                <a:ea typeface="宋体" panose="02010600030101010101" pitchFamily="2" charset="-122"/>
              </a:rPr>
              <a:t>可归约串</a:t>
            </a:r>
            <a:endParaRPr lang="en-US" altLang="zh-CN" sz="1500" b="1" dirty="0">
              <a:solidFill>
                <a:srgbClr val="0070C0"/>
              </a:solidFill>
              <a:latin typeface="宋体" panose="02010600030101010101" pitchFamily="2" charset="-122"/>
              <a:ea typeface="宋体" panose="02010600030101010101" pitchFamily="2" charset="-122"/>
            </a:endParaRPr>
          </a:p>
          <a:p>
            <a:pPr lvl="1"/>
            <a:r>
              <a:rPr lang="zh-CN" altLang="en-US" sz="1500" dirty="0">
                <a:latin typeface="宋体" panose="02010600030101010101" pitchFamily="2" charset="-122"/>
                <a:ea typeface="宋体" panose="02010600030101010101" pitchFamily="2" charset="-122"/>
              </a:rPr>
              <a:t>算符优先分析要求文法是</a:t>
            </a:r>
            <a:r>
              <a:rPr lang="zh-CN" altLang="en-US" sz="1500" b="1" dirty="0">
                <a:solidFill>
                  <a:srgbClr val="0070C0"/>
                </a:solidFill>
                <a:latin typeface="宋体" panose="02010600030101010101" pitchFamily="2" charset="-122"/>
                <a:ea typeface="宋体" panose="02010600030101010101" pitchFamily="2" charset="-122"/>
              </a:rPr>
              <a:t>算法优先文法</a:t>
            </a:r>
            <a:r>
              <a:rPr lang="zh-CN" altLang="en-US" sz="1500" dirty="0">
                <a:latin typeface="宋体" panose="02010600030101010101" pitchFamily="2" charset="-122"/>
                <a:ea typeface="宋体" panose="02010600030101010101" pitchFamily="2" charset="-122"/>
              </a:rPr>
              <a:t>，通过定义算符优先关系来寻找当前句型的</a:t>
            </a:r>
            <a:r>
              <a:rPr lang="zh-CN" altLang="en-US" sz="1500" b="1" dirty="0">
                <a:solidFill>
                  <a:srgbClr val="0070C0"/>
                </a:solidFill>
                <a:latin typeface="宋体" panose="02010600030101010101" pitchFamily="2" charset="-122"/>
                <a:ea typeface="宋体" panose="02010600030101010101" pitchFamily="2" charset="-122"/>
              </a:rPr>
              <a:t>可归约串</a:t>
            </a:r>
            <a:endParaRPr lang="en-US" altLang="zh-CN" sz="1500" b="1" dirty="0">
              <a:solidFill>
                <a:srgbClr val="0070C0"/>
              </a:solidFill>
              <a:latin typeface="宋体" panose="02010600030101010101" pitchFamily="2" charset="-122"/>
              <a:ea typeface="宋体" panose="02010600030101010101" pitchFamily="2" charset="-122"/>
            </a:endParaRPr>
          </a:p>
          <a:p>
            <a:pPr lvl="1"/>
            <a:r>
              <a:rPr lang="en-US" altLang="zh-CN" sz="1500" dirty="0">
                <a:latin typeface="宋体" panose="02010600030101010101" pitchFamily="2" charset="-122"/>
                <a:ea typeface="宋体" panose="02010600030101010101" pitchFamily="2" charset="-122"/>
              </a:rPr>
              <a:t>LR</a:t>
            </a:r>
            <a:r>
              <a:rPr lang="zh-CN" altLang="en-US" sz="1500" dirty="0">
                <a:latin typeface="宋体" panose="02010600030101010101" pitchFamily="2" charset="-122"/>
                <a:ea typeface="宋体" panose="02010600030101010101" pitchFamily="2" charset="-122"/>
              </a:rPr>
              <a:t>分析是一种严格的规范归约，使用</a:t>
            </a:r>
            <a:r>
              <a:rPr lang="zh-CN" altLang="en-US" sz="1500" dirty="0">
                <a:solidFill>
                  <a:srgbClr val="CC00FF"/>
                </a:solidFill>
                <a:latin typeface="宋体" panose="02010600030101010101" pitchFamily="2" charset="-122"/>
                <a:ea typeface="宋体" panose="02010600030101010101" pitchFamily="2" charset="-122"/>
              </a:rPr>
              <a:t>活前缀来找句柄</a:t>
            </a:r>
            <a:endParaRPr lang="en-US" altLang="zh-CN" sz="1500" dirty="0">
              <a:solidFill>
                <a:srgbClr val="CC00FF"/>
              </a:solidFill>
              <a:latin typeface="宋体" panose="02010600030101010101" pitchFamily="2" charset="-122"/>
              <a:ea typeface="宋体" panose="02010600030101010101" pitchFamily="2" charset="-122"/>
            </a:endParaRPr>
          </a:p>
          <a:p>
            <a:r>
              <a:rPr lang="zh-CN" altLang="en-US" sz="1500" dirty="0">
                <a:latin typeface="宋体" panose="02010600030101010101" pitchFamily="2" charset="-122"/>
                <a:ea typeface="宋体" panose="02010600030101010101" pitchFamily="2" charset="-122"/>
              </a:rPr>
              <a:t>设问：</a:t>
            </a:r>
            <a:r>
              <a:rPr lang="zh-CN" altLang="en-US" sz="1600" b="1" dirty="0">
                <a:solidFill>
                  <a:srgbClr val="FF0000"/>
                </a:solidFill>
                <a:latin typeface="宋体" panose="02010600030101010101" pitchFamily="2" charset="-122"/>
                <a:ea typeface="宋体" panose="02010600030101010101" pitchFamily="2" charset="-122"/>
              </a:rPr>
              <a:t>其他文法如何进行自下而上的语法分析？</a:t>
            </a:r>
            <a:endParaRPr lang="en-US" altLang="zh-CN" sz="1500" b="1" dirty="0">
              <a:solidFill>
                <a:srgbClr val="FF0000"/>
              </a:solidFill>
              <a:latin typeface="宋体" panose="02010600030101010101" pitchFamily="2" charset="-122"/>
              <a:ea typeface="宋体" panose="02010600030101010101" pitchFamily="2" charset="-122"/>
            </a:endParaRPr>
          </a:p>
        </p:txBody>
      </p:sp>
      <p:sp>
        <p:nvSpPr>
          <p:cNvPr id="3" name="标题 2"/>
          <p:cNvSpPr>
            <a:spLocks noGrp="1"/>
          </p:cNvSpPr>
          <p:nvPr>
            <p:ph type="title"/>
          </p:nvPr>
        </p:nvSpPr>
        <p:spPr>
          <a:xfrm>
            <a:off x="179512" y="0"/>
            <a:ext cx="4896544" cy="857250"/>
          </a:xfrm>
        </p:spPr>
        <p:txBody>
          <a:bodyPr>
            <a:normAutofit/>
          </a:bodyPr>
          <a:lstStyle/>
          <a:p>
            <a:r>
              <a:rPr lang="en-US" altLang="zh-CN" sz="3600" dirty="0">
                <a:solidFill>
                  <a:schemeClr val="accent2"/>
                </a:solidFill>
              </a:rPr>
              <a:t>LR</a:t>
            </a:r>
            <a:r>
              <a:rPr lang="zh-CN" altLang="en-US" sz="3600" dirty="0">
                <a:solidFill>
                  <a:schemeClr val="accent2"/>
                </a:solidFill>
              </a:rPr>
              <a:t>分析法</a:t>
            </a:r>
            <a:r>
              <a:rPr lang="en-US" altLang="zh-CN" sz="2800" dirty="0">
                <a:solidFill>
                  <a:schemeClr val="tx1"/>
                </a:solidFill>
                <a:latin typeface="+mn-ea"/>
                <a:ea typeface="+mn-ea"/>
              </a:rPr>
              <a:t>——</a:t>
            </a:r>
            <a:r>
              <a:rPr lang="zh-CN" altLang="en-US" sz="2800" dirty="0">
                <a:solidFill>
                  <a:schemeClr val="tx1"/>
                </a:solidFill>
                <a:latin typeface="+mn-ea"/>
                <a:ea typeface="+mn-ea"/>
              </a:rPr>
              <a:t>引出问题</a:t>
            </a:r>
            <a:endParaRPr lang="zh-CN" altLang="en-US" dirty="0">
              <a:solidFill>
                <a:schemeClr val="tx1"/>
              </a:solidFill>
              <a:latin typeface="+mn-ea"/>
              <a:ea typeface="+mn-ea"/>
            </a:endParaRPr>
          </a:p>
        </p:txBody>
      </p:sp>
      <p:sp>
        <p:nvSpPr>
          <p:cNvPr id="9" name="内容占位符 1">
            <a:extLst>
              <a:ext uri="{FF2B5EF4-FFF2-40B4-BE49-F238E27FC236}">
                <a16:creationId xmlns:a16="http://schemas.microsoft.com/office/drawing/2014/main" id="{144C6D9A-1BD1-E256-233A-63F04DED6DA8}"/>
              </a:ext>
            </a:extLst>
          </p:cNvPr>
          <p:cNvSpPr txBox="1">
            <a:spLocks/>
          </p:cNvSpPr>
          <p:nvPr/>
        </p:nvSpPr>
        <p:spPr>
          <a:xfrm>
            <a:off x="4056183" y="668148"/>
            <a:ext cx="4908305" cy="2536794"/>
          </a:xfrm>
          <a:prstGeom prst="rect">
            <a:avLst/>
          </a:prstGeom>
        </p:spPr>
        <p:txBody>
          <a:bodyPr vert="horz">
            <a:normAutofit fontScale="92500" lnSpcReduction="200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en-US" altLang="zh-CN" sz="1600" dirty="0">
                <a:latin typeface="宋体" panose="02010600030101010101" pitchFamily="2" charset="-122"/>
                <a:ea typeface="宋体" panose="02010600030101010101" pitchFamily="2" charset="-122"/>
              </a:rPr>
              <a:t>1965</a:t>
            </a:r>
            <a:r>
              <a:rPr lang="zh-CN" altLang="en-US" sz="1600" dirty="0">
                <a:latin typeface="宋体" panose="02010600030101010101" pitchFamily="2" charset="-122"/>
                <a:ea typeface="宋体" panose="02010600030101010101" pitchFamily="2" charset="-122"/>
              </a:rPr>
              <a:t>年，</a:t>
            </a:r>
            <a:r>
              <a:rPr lang="en-US" altLang="zh-CN" sz="1600" dirty="0">
                <a:latin typeface="宋体" panose="02010600030101010101" pitchFamily="2" charset="-122"/>
                <a:ea typeface="宋体" panose="02010600030101010101" pitchFamily="2" charset="-122"/>
              </a:rPr>
              <a:t> </a:t>
            </a:r>
            <a:r>
              <a:rPr lang="zh-CN" altLang="en-US" sz="1600" dirty="0">
                <a:latin typeface="宋体" panose="02010600030101010101" pitchFamily="2" charset="-122"/>
                <a:ea typeface="宋体" panose="02010600030101010101" pitchFamily="2" charset="-122"/>
              </a:rPr>
              <a:t>由高德纳</a:t>
            </a:r>
            <a:r>
              <a:rPr lang="en-US" altLang="zh-CN" sz="1600" dirty="0">
                <a:latin typeface="宋体" panose="02010600030101010101" pitchFamily="2" charset="-122"/>
                <a:ea typeface="宋体" panose="02010600030101010101" pitchFamily="2" charset="-122"/>
              </a:rPr>
              <a:t>.</a:t>
            </a:r>
            <a:r>
              <a:rPr lang="zh-CN" altLang="en-US" sz="1600" dirty="0">
                <a:latin typeface="宋体" panose="02010600030101010101" pitchFamily="2" charset="-122"/>
                <a:ea typeface="宋体" panose="02010600030101010101" pitchFamily="2" charset="-122"/>
              </a:rPr>
              <a:t>克努特</a:t>
            </a:r>
            <a:r>
              <a:rPr lang="en-US" altLang="zh-CN" sz="1600" dirty="0">
                <a:latin typeface="宋体" panose="02010600030101010101" pitchFamily="2" charset="-122"/>
                <a:ea typeface="宋体" panose="02010600030101010101" pitchFamily="2" charset="-122"/>
              </a:rPr>
              <a:t>(</a:t>
            </a:r>
            <a:r>
              <a:rPr lang="en-US" altLang="zh-CN" sz="1600" dirty="0" err="1">
                <a:latin typeface="宋体" panose="02010600030101010101" pitchFamily="2" charset="-122"/>
                <a:ea typeface="宋体" panose="02010600030101010101" pitchFamily="2" charset="-122"/>
              </a:rPr>
              <a:t>Donald.Ervin.Knuth</a:t>
            </a:r>
            <a:r>
              <a:rPr lang="en-US" altLang="zh-CN" sz="1600" dirty="0">
                <a:latin typeface="宋体" panose="02010600030101010101" pitchFamily="2" charset="-122"/>
                <a:ea typeface="宋体" panose="02010600030101010101" pitchFamily="2" charset="-122"/>
              </a:rPr>
              <a:t>)</a:t>
            </a:r>
            <a:r>
              <a:rPr lang="zh-CN" altLang="en-US" sz="1600" dirty="0">
                <a:latin typeface="宋体" panose="02010600030101010101" pitchFamily="2" charset="-122"/>
                <a:ea typeface="宋体" panose="02010600030101010101" pitchFamily="2" charset="-122"/>
              </a:rPr>
              <a:t>提出</a:t>
            </a:r>
            <a:endParaRPr lang="en-US" altLang="zh-CN" sz="1600" dirty="0">
              <a:latin typeface="宋体" panose="02010600030101010101" pitchFamily="2" charset="-122"/>
              <a:ea typeface="宋体" panose="02010600030101010101" pitchFamily="2" charset="-122"/>
            </a:endParaRPr>
          </a:p>
          <a:p>
            <a:r>
              <a:rPr lang="en-US" altLang="zh-CN" sz="1600" dirty="0">
                <a:latin typeface="宋体" panose="02010600030101010101" pitchFamily="2" charset="-122"/>
                <a:ea typeface="宋体" panose="02010600030101010101" pitchFamily="2" charset="-122"/>
              </a:rPr>
              <a:t>1974</a:t>
            </a:r>
            <a:r>
              <a:rPr lang="zh-CN" altLang="en-US" sz="1600" dirty="0">
                <a:latin typeface="宋体" panose="02010600030101010101" pitchFamily="2" charset="-122"/>
                <a:ea typeface="宋体" panose="02010600030101010101" pitchFamily="2" charset="-122"/>
              </a:rPr>
              <a:t>年获得</a:t>
            </a:r>
            <a:r>
              <a:rPr lang="zh-CN" altLang="en-US" sz="1600" b="1" dirty="0">
                <a:solidFill>
                  <a:srgbClr val="0070C0"/>
                </a:solidFill>
                <a:latin typeface="宋体" panose="02010600030101010101" pitchFamily="2" charset="-122"/>
                <a:ea typeface="宋体" panose="02010600030101010101" pitchFamily="2" charset="-122"/>
                <a:hlinkClick r:id="rId3">
                  <a:extLst>
                    <a:ext uri="{A12FA001-AC4F-418D-AE19-62706E023703}">
                      <ahyp:hlinkClr xmlns:ahyp="http://schemas.microsoft.com/office/drawing/2018/hyperlinkcolor" val="tx"/>
                    </a:ext>
                  </a:extLst>
                </a:hlinkClick>
              </a:rPr>
              <a:t>图灵奖</a:t>
            </a:r>
            <a:r>
              <a:rPr lang="zh-CN" altLang="en-US" sz="1600" dirty="0">
                <a:latin typeface="宋体" panose="02010600030101010101" pitchFamily="2" charset="-122"/>
                <a:ea typeface="宋体" panose="02010600030101010101" pitchFamily="2" charset="-122"/>
              </a:rPr>
              <a:t>，最年轻（</a:t>
            </a:r>
            <a:r>
              <a:rPr lang="en-US" altLang="zh-CN" sz="1600" dirty="0">
                <a:latin typeface="宋体" panose="02010600030101010101" pitchFamily="2" charset="-122"/>
                <a:ea typeface="宋体" panose="02010600030101010101" pitchFamily="2" charset="-122"/>
              </a:rPr>
              <a:t>36</a:t>
            </a:r>
            <a:r>
              <a:rPr lang="zh-CN" altLang="en-US" sz="1600" dirty="0">
                <a:latin typeface="宋体" panose="02010600030101010101" pitchFamily="2" charset="-122"/>
                <a:ea typeface="宋体" panose="02010600030101010101" pitchFamily="2" charset="-122"/>
              </a:rPr>
              <a:t>岁）的图灵奖获得者，</a:t>
            </a:r>
            <a:r>
              <a:rPr lang="en-US" altLang="zh-CN" sz="1600" dirty="0">
                <a:latin typeface="宋体" panose="02010600030101010101" pitchFamily="2" charset="-122"/>
                <a:ea typeface="宋体" panose="02010600030101010101" pitchFamily="2" charset="-122"/>
              </a:rPr>
              <a:t>82</a:t>
            </a:r>
            <a:r>
              <a:rPr lang="zh-CN" altLang="en-US" sz="1600" dirty="0">
                <a:latin typeface="宋体" panose="02010600030101010101" pitchFamily="2" charset="-122"/>
                <a:ea typeface="宋体" panose="02010600030101010101" pitchFamily="2" charset="-122"/>
              </a:rPr>
              <a:t>岁仍在坚持写作</a:t>
            </a:r>
            <a:endParaRPr lang="en-US" altLang="zh-CN" sz="1600" dirty="0">
              <a:latin typeface="宋体" panose="02010600030101010101" pitchFamily="2" charset="-122"/>
              <a:ea typeface="宋体" panose="02010600030101010101" pitchFamily="2" charset="-122"/>
            </a:endParaRPr>
          </a:p>
          <a:p>
            <a:r>
              <a:rPr lang="zh-CN" altLang="en-US" sz="1600" dirty="0">
                <a:latin typeface="宋体" panose="02010600030101010101" pitchFamily="2" charset="-122"/>
                <a:ea typeface="宋体" panose="02010600030101010101" pitchFamily="2" charset="-122"/>
              </a:rPr>
              <a:t>所著</a:t>
            </a:r>
            <a:r>
              <a:rPr lang="en-US" altLang="zh-CN" sz="1600" dirty="0">
                <a:latin typeface="宋体" panose="02010600030101010101" pitchFamily="2" charset="-122"/>
                <a:ea typeface="宋体" panose="02010600030101010101" pitchFamily="2" charset="-122"/>
              </a:rPr>
              <a:t>《</a:t>
            </a:r>
            <a:r>
              <a:rPr lang="zh-CN" altLang="en-US" sz="1600" b="1" dirty="0">
                <a:solidFill>
                  <a:srgbClr val="0070C0"/>
                </a:solidFill>
                <a:latin typeface="宋体" panose="02010600030101010101" pitchFamily="2" charset="-122"/>
                <a:ea typeface="宋体" panose="02010600030101010101" pitchFamily="2" charset="-122"/>
              </a:rPr>
              <a:t>计算机程序设计的艺术</a:t>
            </a:r>
            <a:r>
              <a:rPr lang="en-US" altLang="zh-CN" sz="1600" dirty="0">
                <a:latin typeface="宋体" panose="02010600030101010101" pitchFamily="2" charset="-122"/>
                <a:ea typeface="宋体" panose="02010600030101010101" pitchFamily="2" charset="-122"/>
              </a:rPr>
              <a:t>》(The Art of Computer Programming)</a:t>
            </a:r>
            <a:r>
              <a:rPr lang="zh-CN" altLang="en-US" sz="1600" dirty="0">
                <a:latin typeface="宋体" panose="02010600030101010101" pitchFamily="2" charset="-122"/>
                <a:ea typeface="宋体" panose="02010600030101010101" pitchFamily="2" charset="-122"/>
              </a:rPr>
              <a:t>堪称</a:t>
            </a:r>
            <a:r>
              <a:rPr lang="zh-CN" altLang="en-US" sz="1600" dirty="0">
                <a:solidFill>
                  <a:srgbClr val="0070C0"/>
                </a:solidFill>
                <a:latin typeface="宋体" panose="02010600030101010101" pitchFamily="2" charset="-122"/>
                <a:ea typeface="宋体" panose="02010600030101010101" pitchFamily="2" charset="-122"/>
              </a:rPr>
              <a:t>计算机科学理论与技术的经典巨著</a:t>
            </a:r>
            <a:r>
              <a:rPr lang="zh-CN" altLang="en-US" sz="1600" dirty="0">
                <a:latin typeface="宋体" panose="02010600030101010101" pitchFamily="2" charset="-122"/>
                <a:ea typeface="宋体" panose="02010600030101010101" pitchFamily="2" charset="-122"/>
              </a:rPr>
              <a:t>，有评论认为其作用与地位可与数学史上</a:t>
            </a:r>
            <a:r>
              <a:rPr lang="zh-CN" altLang="en-US" sz="1600" b="1" dirty="0">
                <a:solidFill>
                  <a:srgbClr val="0070C0"/>
                </a:solidFill>
                <a:latin typeface="宋体" panose="02010600030101010101" pitchFamily="2" charset="-122"/>
                <a:ea typeface="宋体" panose="02010600030101010101" pitchFamily="2" charset="-122"/>
                <a:hlinkClick r:id="rId4">
                  <a:extLst>
                    <a:ext uri="{A12FA001-AC4F-418D-AE19-62706E023703}">
                      <ahyp:hlinkClr xmlns:ahyp="http://schemas.microsoft.com/office/drawing/2018/hyperlinkcolor" val="tx"/>
                    </a:ext>
                  </a:extLst>
                </a:hlinkClick>
              </a:rPr>
              <a:t>欧几里得</a:t>
            </a:r>
            <a:r>
              <a:rPr lang="zh-CN" altLang="en-US" sz="1600" dirty="0">
                <a:latin typeface="宋体" panose="02010600030101010101" pitchFamily="2" charset="-122"/>
                <a:ea typeface="宋体" panose="02010600030101010101" pitchFamily="2" charset="-122"/>
              </a:rPr>
              <a:t>的</a:t>
            </a:r>
            <a:r>
              <a:rPr lang="en-US" altLang="zh-CN" sz="1600" dirty="0">
                <a:solidFill>
                  <a:srgbClr val="0070C0"/>
                </a:solidFill>
                <a:latin typeface="宋体" panose="02010600030101010101" pitchFamily="2" charset="-122"/>
                <a:ea typeface="宋体" panose="02010600030101010101" pitchFamily="2" charset="-122"/>
              </a:rPr>
              <a:t>《</a:t>
            </a:r>
            <a:r>
              <a:rPr lang="zh-CN" altLang="en-US" sz="1600" dirty="0">
                <a:solidFill>
                  <a:srgbClr val="0070C0"/>
                </a:solidFill>
                <a:latin typeface="宋体" panose="02010600030101010101" pitchFamily="2" charset="-122"/>
                <a:ea typeface="宋体" panose="02010600030101010101" pitchFamily="2" charset="-122"/>
                <a:hlinkClick r:id="rId5">
                  <a:extLst>
                    <a:ext uri="{A12FA001-AC4F-418D-AE19-62706E023703}">
                      <ahyp:hlinkClr xmlns:ahyp="http://schemas.microsoft.com/office/drawing/2018/hyperlinkcolor" val="tx"/>
                    </a:ext>
                  </a:extLst>
                </a:hlinkClick>
              </a:rPr>
              <a:t>几何原本</a:t>
            </a:r>
            <a:r>
              <a:rPr lang="en-US" altLang="zh-CN" sz="1600" dirty="0">
                <a:solidFill>
                  <a:srgbClr val="0070C0"/>
                </a:solidFill>
                <a:latin typeface="宋体" panose="02010600030101010101" pitchFamily="2" charset="-122"/>
                <a:ea typeface="宋体" panose="02010600030101010101" pitchFamily="2" charset="-122"/>
              </a:rPr>
              <a:t>》</a:t>
            </a:r>
            <a:r>
              <a:rPr lang="zh-CN" altLang="en-US" sz="1600" dirty="0">
                <a:latin typeface="宋体" panose="02010600030101010101" pitchFamily="2" charset="-122"/>
                <a:ea typeface="宋体" panose="02010600030101010101" pitchFamily="2" charset="-122"/>
              </a:rPr>
              <a:t>相比。</a:t>
            </a:r>
            <a:r>
              <a:rPr lang="zh-CN" altLang="zh-CN" sz="1600" dirty="0">
                <a:latin typeface="宋体" panose="02010600030101010101" pitchFamily="2" charset="-122"/>
                <a:ea typeface="宋体" panose="02010600030101010101" pitchFamily="2" charset="-122"/>
              </a:rPr>
              <a:t>每一版力求随着有关领域的最新进展不断更新内容，至今影响着世界上无数计算机专业工作者。</a:t>
            </a:r>
            <a:endParaRPr lang="en-US" altLang="zh-CN" sz="1600" dirty="0">
              <a:latin typeface="宋体" panose="02010600030101010101" pitchFamily="2" charset="-122"/>
              <a:ea typeface="宋体" panose="02010600030101010101" pitchFamily="2" charset="-122"/>
            </a:endParaRPr>
          </a:p>
          <a:p>
            <a:r>
              <a:rPr lang="zh-CN" altLang="en-US" sz="1600" dirty="0">
                <a:latin typeface="宋体" panose="02010600030101010101" pitchFamily="2" charset="-122"/>
                <a:ea typeface="宋体" panose="02010600030101010101" pitchFamily="2" charset="-122"/>
              </a:rPr>
              <a:t>感受</a:t>
            </a:r>
            <a:r>
              <a:rPr lang="zh-CN" altLang="en-US" sz="1600" b="1" dirty="0">
                <a:solidFill>
                  <a:srgbClr val="0070C0"/>
                </a:solidFill>
                <a:latin typeface="宋体" panose="02010600030101010101" pitchFamily="2" charset="-122"/>
                <a:ea typeface="宋体" panose="02010600030101010101" pitchFamily="2" charset="-122"/>
              </a:rPr>
              <a:t>科学思维和科学精神，严谨求实、</a:t>
            </a:r>
            <a:r>
              <a:rPr lang="zh-CN" altLang="zh-CN" sz="1600" b="1" dirty="0">
                <a:solidFill>
                  <a:srgbClr val="0070C0"/>
                </a:solidFill>
                <a:latin typeface="宋体" panose="02010600030101010101" pitchFamily="2" charset="-122"/>
                <a:ea typeface="宋体" panose="02010600030101010101" pitchFamily="2" charset="-122"/>
              </a:rPr>
              <a:t>坚忍不拔</a:t>
            </a:r>
            <a:r>
              <a:rPr lang="zh-CN" altLang="en-US" sz="1600" b="1" dirty="0">
                <a:solidFill>
                  <a:srgbClr val="0070C0"/>
                </a:solidFill>
                <a:latin typeface="宋体" panose="02010600030101010101" pitchFamily="2" charset="-122"/>
                <a:ea typeface="宋体" panose="02010600030101010101" pitchFamily="2" charset="-122"/>
              </a:rPr>
              <a:t>、</a:t>
            </a:r>
            <a:r>
              <a:rPr lang="zh-CN" altLang="zh-CN" sz="1600" b="1" dirty="0">
                <a:solidFill>
                  <a:srgbClr val="0070C0"/>
                </a:solidFill>
                <a:latin typeface="宋体" panose="02010600030101010101" pitchFamily="2" charset="-122"/>
                <a:ea typeface="宋体" panose="02010600030101010101" pitchFamily="2" charset="-122"/>
              </a:rPr>
              <a:t>持之以恒</a:t>
            </a:r>
            <a:r>
              <a:rPr lang="zh-CN" altLang="zh-CN" sz="1600" dirty="0">
                <a:latin typeface="宋体" panose="02010600030101010101" pitchFamily="2" charset="-122"/>
                <a:ea typeface="宋体" panose="02010600030101010101" pitchFamily="2" charset="-122"/>
              </a:rPr>
              <a:t>。</a:t>
            </a:r>
            <a:endParaRPr lang="en-US" altLang="zh-CN" sz="1600" dirty="0">
              <a:latin typeface="宋体" panose="02010600030101010101" pitchFamily="2" charset="-122"/>
              <a:ea typeface="宋体" panose="02010600030101010101" pitchFamily="2" charset="-122"/>
            </a:endParaRPr>
          </a:p>
          <a:p>
            <a:endParaRPr lang="en-US" altLang="zh-CN" sz="1600" dirty="0">
              <a:latin typeface="宋体" panose="02010600030101010101" pitchFamily="2" charset="-122"/>
              <a:ea typeface="宋体" panose="02010600030101010101" pitchFamily="2" charset="-122"/>
            </a:endParaRPr>
          </a:p>
          <a:p>
            <a:endParaRPr lang="zh-CN" altLang="en-US" sz="1600" dirty="0">
              <a:latin typeface="宋体" panose="02010600030101010101" pitchFamily="2" charset="-122"/>
              <a:ea typeface="宋体" panose="02010600030101010101" pitchFamily="2" charset="-122"/>
            </a:endParaRPr>
          </a:p>
        </p:txBody>
      </p:sp>
      <p:pic>
        <p:nvPicPr>
          <p:cNvPr id="10" name="Picture 38">
            <a:extLst>
              <a:ext uri="{FF2B5EF4-FFF2-40B4-BE49-F238E27FC236}">
                <a16:creationId xmlns:a16="http://schemas.microsoft.com/office/drawing/2014/main" id="{C267C15E-9C96-1B02-3050-D9F4AE423E7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211960" y="3202635"/>
            <a:ext cx="1194850" cy="1476483"/>
          </a:xfrm>
          <a:prstGeom prst="rect">
            <a:avLst/>
          </a:prstGeom>
          <a:noFill/>
          <a:extLst>
            <a:ext uri="{909E8E84-426E-40DD-AFC4-6F175D3DCCD1}">
              <a14:hiddenFill xmlns:a14="http://schemas.microsoft.com/office/drawing/2010/main">
                <a:solidFill>
                  <a:srgbClr val="FFFFFF"/>
                </a:solidFill>
              </a14:hiddenFill>
            </a:ext>
          </a:extLst>
        </p:spPr>
      </p:pic>
      <p:pic>
        <p:nvPicPr>
          <p:cNvPr id="11" name="图片 10">
            <a:extLst>
              <a:ext uri="{FF2B5EF4-FFF2-40B4-BE49-F238E27FC236}">
                <a16:creationId xmlns:a16="http://schemas.microsoft.com/office/drawing/2014/main" id="{0162A406-D146-9F41-963C-700FB2903DF3}"/>
              </a:ext>
            </a:extLst>
          </p:cNvPr>
          <p:cNvPicPr>
            <a:picLocks noChangeAspect="1"/>
          </p:cNvPicPr>
          <p:nvPr/>
        </p:nvPicPr>
        <p:blipFill>
          <a:blip r:embed="rId7"/>
          <a:stretch>
            <a:fillRect/>
          </a:stretch>
        </p:blipFill>
        <p:spPr>
          <a:xfrm>
            <a:off x="7464569" y="3213671"/>
            <a:ext cx="1194850" cy="1504698"/>
          </a:xfrm>
          <a:prstGeom prst="rect">
            <a:avLst/>
          </a:prstGeom>
          <a:ln>
            <a:solidFill>
              <a:srgbClr val="CC00FF"/>
            </a:solidFill>
          </a:ln>
        </p:spPr>
      </p:pic>
      <p:pic>
        <p:nvPicPr>
          <p:cNvPr id="12" name="Picture 46">
            <a:extLst>
              <a:ext uri="{FF2B5EF4-FFF2-40B4-BE49-F238E27FC236}">
                <a16:creationId xmlns:a16="http://schemas.microsoft.com/office/drawing/2014/main" id="{B77A9A40-AE6F-25B6-7ED6-1AC529A390F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3025" t="19760" r="1722" b="19761"/>
          <a:stretch/>
        </p:blipFill>
        <p:spPr bwMode="auto">
          <a:xfrm>
            <a:off x="5615721" y="3213670"/>
            <a:ext cx="1692583" cy="1504698"/>
          </a:xfrm>
          <a:prstGeom prst="rect">
            <a:avLst/>
          </a:prstGeom>
          <a:noFill/>
          <a:extLst>
            <a:ext uri="{909E8E84-426E-40DD-AFC4-6F175D3DCCD1}">
              <a14:hiddenFill xmlns:a14="http://schemas.microsoft.com/office/drawing/2010/main">
                <a:solidFill>
                  <a:srgbClr val="FFFFFF"/>
                </a:solidFill>
              </a14:hiddenFill>
            </a:ext>
          </a:extLst>
        </p:spPr>
      </p:pic>
      <p:sp>
        <p:nvSpPr>
          <p:cNvPr id="13" name="内容占位符 1">
            <a:extLst>
              <a:ext uri="{FF2B5EF4-FFF2-40B4-BE49-F238E27FC236}">
                <a16:creationId xmlns:a16="http://schemas.microsoft.com/office/drawing/2014/main" id="{11A470B3-4E29-1EA7-0DF4-BBFC6C3C3EF1}"/>
              </a:ext>
            </a:extLst>
          </p:cNvPr>
          <p:cNvSpPr txBox="1">
            <a:spLocks/>
          </p:cNvSpPr>
          <p:nvPr/>
        </p:nvSpPr>
        <p:spPr>
          <a:xfrm>
            <a:off x="179512" y="3075806"/>
            <a:ext cx="3600400" cy="1603312"/>
          </a:xfrm>
          <a:prstGeom prst="rect">
            <a:avLst/>
          </a:prstGeom>
          <a:ln w="19050"/>
        </p:spPr>
        <p:style>
          <a:lnRef idx="2">
            <a:schemeClr val="accent4"/>
          </a:lnRef>
          <a:fillRef idx="1">
            <a:schemeClr val="lt1"/>
          </a:fillRef>
          <a:effectRef idx="0">
            <a:schemeClr val="accent4"/>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en-US" altLang="zh-CN" sz="1500" dirty="0"/>
              <a:t>L—</a:t>
            </a:r>
            <a:r>
              <a:rPr lang="zh-CN" altLang="en-US" sz="1500" dirty="0"/>
              <a:t>从左向右扫描输入串，</a:t>
            </a:r>
            <a:r>
              <a:rPr lang="en-US" altLang="zh-CN" sz="1500" dirty="0"/>
              <a:t>R—</a:t>
            </a:r>
            <a:r>
              <a:rPr lang="zh-CN" altLang="en-US" sz="1500" dirty="0"/>
              <a:t>最右推导的逆过程</a:t>
            </a:r>
          </a:p>
          <a:p>
            <a:r>
              <a:rPr lang="zh-CN" altLang="en-US" sz="1500" dirty="0"/>
              <a:t>基本思想：</a:t>
            </a:r>
            <a:endParaRPr lang="en-US" altLang="zh-CN" sz="1500" dirty="0"/>
          </a:p>
          <a:p>
            <a:pPr lvl="1"/>
            <a:r>
              <a:rPr lang="zh-CN" altLang="en-US" sz="1500" dirty="0"/>
              <a:t>根据文法，生成</a:t>
            </a:r>
            <a:r>
              <a:rPr lang="zh-CN" altLang="en-US" sz="1500" dirty="0">
                <a:solidFill>
                  <a:srgbClr val="CC00FF"/>
                </a:solidFill>
              </a:rPr>
              <a:t>分析表</a:t>
            </a:r>
            <a:endParaRPr lang="en-US" altLang="zh-CN" sz="1500" dirty="0">
              <a:solidFill>
                <a:srgbClr val="CC00FF"/>
              </a:solidFill>
            </a:endParaRPr>
          </a:p>
          <a:p>
            <a:pPr lvl="1"/>
            <a:r>
              <a:rPr lang="zh-CN" altLang="en-US" sz="1500" dirty="0"/>
              <a:t>根据分析表确定当前的状态</a:t>
            </a:r>
            <a:endParaRPr lang="en-US" altLang="zh-CN" sz="1500" dirty="0"/>
          </a:p>
          <a:p>
            <a:pPr lvl="1"/>
            <a:r>
              <a:rPr lang="zh-CN" altLang="en-US" sz="1500" dirty="0"/>
              <a:t>如果处于</a:t>
            </a:r>
            <a:r>
              <a:rPr lang="zh-CN" altLang="en-US" sz="1500" dirty="0">
                <a:solidFill>
                  <a:srgbClr val="CC00FF"/>
                </a:solidFill>
              </a:rPr>
              <a:t>归约状态</a:t>
            </a:r>
            <a:r>
              <a:rPr lang="zh-CN" altLang="en-US" sz="1500" dirty="0"/>
              <a:t>，立即归约</a:t>
            </a:r>
          </a:p>
        </p:txBody>
      </p:sp>
    </p:spTree>
    <p:extLst>
      <p:ext uri="{BB962C8B-B14F-4D97-AF65-F5344CB8AC3E}">
        <p14:creationId xmlns:p14="http://schemas.microsoft.com/office/powerpoint/2010/main" val="2558677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grpId="0" nodeType="afterEffect">
                                  <p:stCondLst>
                                    <p:cond delay="0"/>
                                  </p:stCondLst>
                                  <p:childTnLst>
                                    <p:set>
                                      <p:cBhvr>
                                        <p:cTn id="19" dur="1" fill="hold">
                                          <p:stCondLst>
                                            <p:cond delay="0"/>
                                          </p:stCondLst>
                                        </p:cTn>
                                        <p:tgtEl>
                                          <p:spTgt spid="9">
                                            <p:txEl>
                                              <p:pRg st="0" end="0"/>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9">
                                            <p:txEl>
                                              <p:pRg st="1" end="1"/>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9">
                                            <p:txEl>
                                              <p:pRg st="2" end="2"/>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9">
                                            <p:txEl>
                                              <p:pRg st="3" end="3"/>
                                            </p:txEl>
                                          </p:spTgt>
                                        </p:tgtEl>
                                        <p:attrNameLst>
                                          <p:attrName>style.visibility</p:attrName>
                                        </p:attrNameLst>
                                      </p:cBhvr>
                                      <p:to>
                                        <p:strVal val="visible"/>
                                      </p:to>
                                    </p:set>
                                  </p:childTnLst>
                                </p:cTn>
                              </p:par>
                            </p:childTnLst>
                          </p:cTn>
                        </p:par>
                        <p:par>
                          <p:cTn id="32" fill="hold">
                            <p:stCondLst>
                              <p:cond delay="0"/>
                            </p:stCondLst>
                            <p:childTnLst>
                              <p:par>
                                <p:cTn id="33" presetID="1" presetClass="entr" presetSubtype="0" fill="hold" grpId="0" nodeType="afterEffect">
                                  <p:stCondLst>
                                    <p:cond delay="0"/>
                                  </p:stCondLst>
                                  <p:childTnLst>
                                    <p:set>
                                      <p:cBhvr>
                                        <p:cTn id="34"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3">
                                            <p:txEl>
                                              <p:pRg st="2" end="2"/>
                                            </p:txEl>
                                          </p:spTgt>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3">
                                            <p:txEl>
                                              <p:pRg st="3" end="3"/>
                                            </p:txEl>
                                          </p:spTgt>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9" grpId="0" build="p"/>
      <p:bldP spid="13" grpId="0" build="p"/>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395536" y="1063229"/>
            <a:ext cx="8229600" cy="1512168"/>
          </a:xfrm>
        </p:spPr>
        <p:txBody>
          <a:bodyPr>
            <a:normAutofit/>
          </a:bodyPr>
          <a:lstStyle/>
          <a:p>
            <a:r>
              <a:rPr lang="zh-CN" altLang="en-US" sz="1800" dirty="0"/>
              <a:t>自下而上语法分析方法，采用</a:t>
            </a:r>
            <a:r>
              <a:rPr lang="zh-CN" altLang="en-US" sz="1800" b="1" dirty="0">
                <a:solidFill>
                  <a:srgbClr val="0070C0"/>
                </a:solidFill>
              </a:rPr>
              <a:t>移进</a:t>
            </a:r>
            <a:r>
              <a:rPr lang="en-US" altLang="zh-CN" sz="1800" b="1" dirty="0">
                <a:solidFill>
                  <a:srgbClr val="0070C0"/>
                </a:solidFill>
              </a:rPr>
              <a:t>-</a:t>
            </a:r>
            <a:r>
              <a:rPr lang="zh-CN" altLang="en-US" sz="1800" b="1" dirty="0">
                <a:solidFill>
                  <a:srgbClr val="0070C0"/>
                </a:solidFill>
              </a:rPr>
              <a:t>归约方式</a:t>
            </a:r>
            <a:endParaRPr lang="en-US" altLang="zh-CN" sz="1800" b="1" dirty="0">
              <a:solidFill>
                <a:srgbClr val="0070C0"/>
              </a:solidFill>
            </a:endParaRPr>
          </a:p>
          <a:p>
            <a:pPr lvl="1"/>
            <a:r>
              <a:rPr lang="zh-CN" altLang="en-US" sz="1600" dirty="0"/>
              <a:t>规范归约要求文法遵循简单的优先关系，通过句柄来寻找当前句型的</a:t>
            </a:r>
            <a:r>
              <a:rPr lang="zh-CN" altLang="en-US" sz="1600" b="1" dirty="0">
                <a:solidFill>
                  <a:srgbClr val="0070C0"/>
                </a:solidFill>
              </a:rPr>
              <a:t>可归约串</a:t>
            </a:r>
            <a:endParaRPr lang="en-US" altLang="zh-CN" sz="1600" b="1" dirty="0">
              <a:solidFill>
                <a:srgbClr val="0070C0"/>
              </a:solidFill>
            </a:endParaRPr>
          </a:p>
          <a:p>
            <a:pPr lvl="1"/>
            <a:r>
              <a:rPr lang="zh-CN" altLang="en-US" sz="1600" dirty="0"/>
              <a:t>算符优先分析要求文法是</a:t>
            </a:r>
            <a:r>
              <a:rPr lang="zh-CN" altLang="en-US" sz="1600" b="1" dirty="0">
                <a:solidFill>
                  <a:srgbClr val="0070C0"/>
                </a:solidFill>
              </a:rPr>
              <a:t>算法优先文法</a:t>
            </a:r>
            <a:r>
              <a:rPr lang="zh-CN" altLang="en-US" sz="1600" dirty="0"/>
              <a:t>，通过定义算符优先关系来寻找当前句型的</a:t>
            </a:r>
            <a:r>
              <a:rPr lang="zh-CN" altLang="en-US" sz="1600" b="1" dirty="0">
                <a:solidFill>
                  <a:srgbClr val="0070C0"/>
                </a:solidFill>
              </a:rPr>
              <a:t>可归约串</a:t>
            </a:r>
            <a:endParaRPr lang="en-US" altLang="zh-CN" sz="1600" b="1" dirty="0">
              <a:solidFill>
                <a:srgbClr val="0070C0"/>
              </a:solidFill>
            </a:endParaRPr>
          </a:p>
          <a:p>
            <a:r>
              <a:rPr lang="zh-CN" altLang="en-US" sz="1800" dirty="0"/>
              <a:t>设问：</a:t>
            </a:r>
            <a:r>
              <a:rPr lang="zh-CN" altLang="en-US" sz="1800" b="1" dirty="0">
                <a:solidFill>
                  <a:srgbClr val="FF0000"/>
                </a:solidFill>
              </a:rPr>
              <a:t>其他文法如何进行自下而上的语法分析？</a:t>
            </a:r>
            <a:endParaRPr lang="en-US" altLang="zh-CN" sz="1800" b="1" dirty="0">
              <a:solidFill>
                <a:srgbClr val="FF0000"/>
              </a:solidFill>
            </a:endParaRPr>
          </a:p>
        </p:txBody>
      </p:sp>
      <p:sp>
        <p:nvSpPr>
          <p:cNvPr id="3" name="标题 2"/>
          <p:cNvSpPr>
            <a:spLocks noGrp="1"/>
          </p:cNvSpPr>
          <p:nvPr>
            <p:ph type="title"/>
          </p:nvPr>
        </p:nvSpPr>
        <p:spPr/>
        <p:txBody>
          <a:bodyPr>
            <a:normAutofit/>
          </a:bodyPr>
          <a:lstStyle/>
          <a:p>
            <a:r>
              <a:rPr lang="en-US" altLang="zh-CN" dirty="0">
                <a:solidFill>
                  <a:schemeClr val="accent2"/>
                </a:solidFill>
              </a:rPr>
              <a:t>LR</a:t>
            </a:r>
            <a:r>
              <a:rPr lang="zh-CN" altLang="en-US" dirty="0">
                <a:solidFill>
                  <a:schemeClr val="accent2"/>
                </a:solidFill>
              </a:rPr>
              <a:t>分析法</a:t>
            </a:r>
            <a:r>
              <a:rPr lang="en-US" altLang="zh-CN" sz="2800" dirty="0">
                <a:solidFill>
                  <a:schemeClr val="tx1"/>
                </a:solidFill>
                <a:latin typeface="+mn-ea"/>
                <a:ea typeface="+mn-ea"/>
              </a:rPr>
              <a:t>——</a:t>
            </a:r>
            <a:r>
              <a:rPr lang="zh-CN" altLang="en-US" sz="2800" dirty="0">
                <a:solidFill>
                  <a:schemeClr val="tx1"/>
                </a:solidFill>
                <a:latin typeface="+mn-ea"/>
                <a:ea typeface="+mn-ea"/>
              </a:rPr>
              <a:t>引出问题</a:t>
            </a:r>
            <a:endParaRPr lang="zh-CN" altLang="en-US" dirty="0">
              <a:solidFill>
                <a:schemeClr val="tx1"/>
              </a:solidFill>
              <a:latin typeface="+mn-ea"/>
              <a:ea typeface="+mn-ea"/>
            </a:endParaRPr>
          </a:p>
        </p:txBody>
      </p:sp>
      <p:graphicFrame>
        <p:nvGraphicFramePr>
          <p:cNvPr id="6" name="对象 5"/>
          <p:cNvGraphicFramePr>
            <a:graphicFrameLocks noChangeAspect="1"/>
          </p:cNvGraphicFramePr>
          <p:nvPr/>
        </p:nvGraphicFramePr>
        <p:xfrm>
          <a:off x="6156176" y="3221887"/>
          <a:ext cx="2808312" cy="1263187"/>
        </p:xfrm>
        <a:graphic>
          <a:graphicData uri="http://schemas.openxmlformats.org/presentationml/2006/ole">
            <mc:AlternateContent xmlns:mc="http://schemas.openxmlformats.org/markup-compatibility/2006">
              <mc:Choice xmlns:v="urn:schemas-microsoft-com:vml" Requires="v">
                <p:oleObj spid="_x0000_s46087" name="Visio" r:id="rId3" imgW="2215923" imgH="979992" progId="Visio.Drawing.11">
                  <p:embed/>
                </p:oleObj>
              </mc:Choice>
              <mc:Fallback>
                <p:oleObj name="Visio" r:id="rId3" imgW="2215923" imgH="979992" progId="Visio.Drawing.11">
                  <p:embed/>
                  <p:pic>
                    <p:nvPicPr>
                      <p:cNvPr id="6" name="对象 5"/>
                      <p:cNvPicPr>
                        <a:picLocks noChangeAspect="1" noChangeArrowheads="1"/>
                      </p:cNvPicPr>
                      <p:nvPr/>
                    </p:nvPicPr>
                    <p:blipFill>
                      <a:blip r:embed="rId4"/>
                      <a:srcRect/>
                      <a:stretch>
                        <a:fillRect/>
                      </a:stretch>
                    </p:blipFill>
                    <p:spPr bwMode="auto">
                      <a:xfrm>
                        <a:off x="6156176" y="3221887"/>
                        <a:ext cx="2808312" cy="1263187"/>
                      </a:xfrm>
                      <a:prstGeom prst="rect">
                        <a:avLst/>
                      </a:prstGeom>
                      <a:noFill/>
                      <a:ln>
                        <a:noFill/>
                      </a:ln>
                    </p:spPr>
                  </p:pic>
                </p:oleObj>
              </mc:Fallback>
            </mc:AlternateContent>
          </a:graphicData>
        </a:graphic>
      </p:graphicFrame>
      <p:sp>
        <p:nvSpPr>
          <p:cNvPr id="5" name="内容占位符 1">
            <a:extLst>
              <a:ext uri="{FF2B5EF4-FFF2-40B4-BE49-F238E27FC236}">
                <a16:creationId xmlns:a16="http://schemas.microsoft.com/office/drawing/2014/main" id="{FE2D85B1-C60F-D55D-B1C5-8B21FB7A92C0}"/>
              </a:ext>
            </a:extLst>
          </p:cNvPr>
          <p:cNvSpPr txBox="1">
            <a:spLocks/>
          </p:cNvSpPr>
          <p:nvPr/>
        </p:nvSpPr>
        <p:spPr>
          <a:xfrm>
            <a:off x="611560" y="2883774"/>
            <a:ext cx="5220146" cy="2053747"/>
          </a:xfrm>
          <a:prstGeom prst="rect">
            <a:avLst/>
          </a:prstGeom>
          <a:ln w="19050"/>
        </p:spPr>
        <p:style>
          <a:lnRef idx="2">
            <a:schemeClr val="accent4"/>
          </a:lnRef>
          <a:fillRef idx="1">
            <a:schemeClr val="lt1"/>
          </a:fillRef>
          <a:effectRef idx="0">
            <a:schemeClr val="accent4"/>
          </a:effectRef>
          <a:fontRef idx="minor">
            <a:schemeClr val="dk1"/>
          </a:fontRef>
        </p:style>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en-US" altLang="zh-CN" sz="1600" dirty="0"/>
              <a:t>L—</a:t>
            </a:r>
            <a:r>
              <a:rPr lang="zh-CN" altLang="en-US" sz="1600" dirty="0"/>
              <a:t>从左向右扫描输入串，</a:t>
            </a:r>
            <a:r>
              <a:rPr lang="en-US" altLang="zh-CN" sz="1600" dirty="0"/>
              <a:t>R—</a:t>
            </a:r>
            <a:r>
              <a:rPr lang="zh-CN" altLang="en-US" sz="1600" dirty="0"/>
              <a:t>最右推导的逆过程</a:t>
            </a:r>
          </a:p>
          <a:p>
            <a:r>
              <a:rPr lang="zh-CN" altLang="en-US" sz="1600" dirty="0"/>
              <a:t>基本思想：</a:t>
            </a:r>
            <a:endParaRPr lang="en-US" altLang="zh-CN" sz="1600" dirty="0"/>
          </a:p>
          <a:p>
            <a:pPr lvl="1"/>
            <a:r>
              <a:rPr lang="zh-CN" altLang="en-US" sz="1600" dirty="0"/>
              <a:t>根据文法，生成</a:t>
            </a:r>
            <a:r>
              <a:rPr lang="zh-CN" altLang="en-US" sz="1600" dirty="0">
                <a:solidFill>
                  <a:srgbClr val="CC00FF"/>
                </a:solidFill>
              </a:rPr>
              <a:t>分析表</a:t>
            </a:r>
            <a:endParaRPr lang="en-US" altLang="zh-CN" sz="1600" dirty="0">
              <a:solidFill>
                <a:srgbClr val="CC00FF"/>
              </a:solidFill>
            </a:endParaRPr>
          </a:p>
          <a:p>
            <a:pPr lvl="1"/>
            <a:r>
              <a:rPr lang="en-US" altLang="zh-CN" sz="1600" dirty="0"/>
              <a:t>LR</a:t>
            </a:r>
            <a:r>
              <a:rPr lang="zh-CN" altLang="en-US" sz="1600" dirty="0"/>
              <a:t>分析器用于控制整个工作过程：</a:t>
            </a:r>
            <a:endParaRPr lang="en-US" altLang="zh-CN" sz="1600" dirty="0"/>
          </a:p>
          <a:p>
            <a:pPr lvl="2"/>
            <a:r>
              <a:rPr lang="zh-CN" altLang="en-US" sz="1600" dirty="0"/>
              <a:t>一边移进一边查阅分析表，根据分析表确定栈顶是否形成可归约串</a:t>
            </a:r>
            <a:endParaRPr lang="en-US" altLang="zh-CN" sz="1600" dirty="0"/>
          </a:p>
          <a:p>
            <a:pPr lvl="2"/>
            <a:r>
              <a:rPr lang="zh-CN" altLang="en-US" sz="1600" dirty="0"/>
              <a:t>栈顶形成了</a:t>
            </a:r>
            <a:r>
              <a:rPr lang="zh-CN" altLang="en-US" sz="1600" dirty="0">
                <a:solidFill>
                  <a:srgbClr val="CC00FF"/>
                </a:solidFill>
              </a:rPr>
              <a:t>可归约串</a:t>
            </a:r>
            <a:r>
              <a:rPr lang="zh-CN" altLang="en-US" sz="1600" dirty="0"/>
              <a:t>，立即进行归约</a:t>
            </a:r>
          </a:p>
        </p:txBody>
      </p:sp>
    </p:spTree>
    <p:extLst>
      <p:ext uri="{BB962C8B-B14F-4D97-AF65-F5344CB8AC3E}">
        <p14:creationId xmlns:p14="http://schemas.microsoft.com/office/powerpoint/2010/main" val="2753046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par>
                          <p:cTn id="17" fill="hold">
                            <p:stCondLst>
                              <p:cond delay="0"/>
                            </p:stCondLst>
                            <p:childTnLst>
                              <p:par>
                                <p:cTn id="18" presetID="1" presetClass="entr" presetSubtype="0" fill="hold" grpId="0" nodeType="afterEffect">
                                  <p:stCondLst>
                                    <p:cond delay="0"/>
                                  </p:stCondLst>
                                  <p:childTnLst>
                                    <p:set>
                                      <p:cBhvr>
                                        <p:cTn id="19"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5">
                                            <p:txEl>
                                              <p:pRg st="2" end="2"/>
                                            </p:txEl>
                                          </p:spTgt>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5">
                                            <p:txEl>
                                              <p:pRg st="3" end="3"/>
                                            </p:txEl>
                                          </p:spTgt>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5">
                                            <p:txEl>
                                              <p:pRg st="4" end="4"/>
                                            </p:txEl>
                                          </p:spTgt>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5" grpId="0" build="p"/>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395536" y="980728"/>
            <a:ext cx="8229600" cy="4039294"/>
          </a:xfrm>
          <a:solidFill>
            <a:schemeClr val="bg1"/>
          </a:solidFill>
        </p:spPr>
        <p:txBody>
          <a:bodyPr>
            <a:noAutofit/>
          </a:bodyPr>
          <a:lstStyle/>
          <a:p>
            <a:pPr algn="just">
              <a:spcBef>
                <a:spcPts val="0"/>
              </a:spcBef>
            </a:pPr>
            <a:r>
              <a:rPr lang="zh-CN" altLang="en-US" sz="2200" dirty="0"/>
              <a:t>语法分析过程中，每一步动作都必须是确定的。</a:t>
            </a:r>
            <a:r>
              <a:rPr lang="en-US" altLang="zh-CN" sz="2200" dirty="0"/>
              <a:t>LR</a:t>
            </a:r>
            <a:r>
              <a:rPr lang="zh-CN" altLang="en-US" sz="2200" dirty="0"/>
              <a:t>分析中：</a:t>
            </a:r>
            <a:endParaRPr lang="en-US" altLang="zh-CN" sz="2200" dirty="0"/>
          </a:p>
          <a:p>
            <a:pPr lvl="1" algn="just">
              <a:spcBef>
                <a:spcPts val="0"/>
              </a:spcBef>
            </a:pPr>
            <a:r>
              <a:rPr lang="zh-CN" altLang="en-US" dirty="0"/>
              <a:t>信息：</a:t>
            </a:r>
            <a:endParaRPr lang="en-US" altLang="zh-CN" dirty="0"/>
          </a:p>
          <a:p>
            <a:pPr lvl="2" algn="just">
              <a:spcBef>
                <a:spcPts val="0"/>
              </a:spcBef>
            </a:pPr>
            <a:r>
              <a:rPr lang="zh-CN" altLang="en-US" sz="2200" dirty="0">
                <a:solidFill>
                  <a:srgbClr val="CC00FF"/>
                </a:solidFill>
              </a:rPr>
              <a:t>记住历史</a:t>
            </a:r>
            <a:r>
              <a:rPr lang="zh-CN" altLang="en-US" sz="2200" dirty="0"/>
              <a:t>：已移进和归约出的整个符号栈的内容</a:t>
            </a:r>
            <a:endParaRPr lang="en-US" altLang="zh-CN" sz="2200" dirty="0"/>
          </a:p>
          <a:p>
            <a:pPr lvl="2" algn="just">
              <a:spcBef>
                <a:spcPts val="0"/>
              </a:spcBef>
            </a:pPr>
            <a:r>
              <a:rPr lang="zh-CN" altLang="en-US" sz="2200" dirty="0">
                <a:solidFill>
                  <a:srgbClr val="CC00FF"/>
                </a:solidFill>
              </a:rPr>
              <a:t>展望未来</a:t>
            </a:r>
            <a:r>
              <a:rPr lang="zh-CN" altLang="en-US" sz="2200" dirty="0"/>
              <a:t>：根据所用产生式推测未来可能碰到的输入符号</a:t>
            </a:r>
          </a:p>
          <a:p>
            <a:pPr lvl="2" algn="just">
              <a:spcBef>
                <a:spcPts val="0"/>
              </a:spcBef>
            </a:pPr>
            <a:r>
              <a:rPr lang="zh-CN" altLang="en-US" sz="2200" dirty="0">
                <a:solidFill>
                  <a:srgbClr val="CC00FF"/>
                </a:solidFill>
              </a:rPr>
              <a:t>现实</a:t>
            </a:r>
            <a:r>
              <a:rPr lang="zh-CN" altLang="en-US" sz="2200" dirty="0"/>
              <a:t>：当前读入的输入符号</a:t>
            </a:r>
            <a:endParaRPr lang="en-US" altLang="zh-CN" sz="2200" dirty="0"/>
          </a:p>
          <a:p>
            <a:pPr lvl="1" algn="just">
              <a:spcBef>
                <a:spcPts val="0"/>
              </a:spcBef>
            </a:pPr>
            <a:r>
              <a:rPr lang="zh-CN" altLang="en-US" dirty="0"/>
              <a:t>判断句柄：</a:t>
            </a:r>
            <a:endParaRPr lang="en-US" altLang="zh-CN" dirty="0"/>
          </a:p>
          <a:p>
            <a:pPr lvl="2" algn="just">
              <a:spcBef>
                <a:spcPts val="0"/>
              </a:spcBef>
            </a:pPr>
            <a:r>
              <a:rPr lang="zh-CN" altLang="en-US" sz="2200" dirty="0"/>
              <a:t>当某一符号串类似于句柄出现在栈顶时，根据已记载的“历史”、“展望”和“现实”的输入符号三方面的信息来决定栈顶的符号串是否构成了真正的句柄</a:t>
            </a:r>
            <a:endParaRPr lang="en-US" altLang="zh-CN" sz="2200" dirty="0"/>
          </a:p>
          <a:p>
            <a:pPr lvl="1" algn="just">
              <a:spcBef>
                <a:spcPts val="0"/>
              </a:spcBef>
            </a:pPr>
            <a:r>
              <a:rPr lang="zh-CN" altLang="en-US" dirty="0"/>
              <a:t>实现</a:t>
            </a:r>
            <a:endParaRPr lang="en-US" altLang="zh-CN" dirty="0"/>
          </a:p>
          <a:p>
            <a:pPr lvl="2" algn="just">
              <a:spcBef>
                <a:spcPts val="0"/>
              </a:spcBef>
            </a:pPr>
            <a:r>
              <a:rPr lang="zh-CN" altLang="en-US" sz="2200" dirty="0"/>
              <a:t>把历史和展望信息，抽象为状态，每一个状态代表了唯一的历史和展望的组合</a:t>
            </a:r>
          </a:p>
          <a:p>
            <a:endParaRPr lang="zh-CN" altLang="en-US" sz="2200" dirty="0"/>
          </a:p>
        </p:txBody>
      </p:sp>
      <p:sp>
        <p:nvSpPr>
          <p:cNvPr id="3" name="标题 2"/>
          <p:cNvSpPr>
            <a:spLocks noGrp="1"/>
          </p:cNvSpPr>
          <p:nvPr>
            <p:ph type="title"/>
          </p:nvPr>
        </p:nvSpPr>
        <p:spPr>
          <a:xfrm>
            <a:off x="107504" y="123478"/>
            <a:ext cx="8229600" cy="857250"/>
          </a:xfrm>
        </p:spPr>
        <p:txBody>
          <a:bodyPr>
            <a:normAutofit/>
          </a:bodyPr>
          <a:lstStyle/>
          <a:p>
            <a:r>
              <a:rPr lang="zh-CN" altLang="en-US" dirty="0">
                <a:solidFill>
                  <a:srgbClr val="FF5050"/>
                </a:solidFill>
                <a:latin typeface="楷体_GB2312" pitchFamily="49" charset="-122"/>
                <a:ea typeface="楷体_GB2312" pitchFamily="49" charset="-122"/>
              </a:rPr>
              <a:t>（</a:t>
            </a:r>
            <a:r>
              <a:rPr lang="en-US" altLang="zh-CN" dirty="0">
                <a:solidFill>
                  <a:srgbClr val="FF5050"/>
                </a:solidFill>
                <a:latin typeface="楷体_GB2312" pitchFamily="49" charset="-122"/>
                <a:ea typeface="楷体_GB2312" pitchFamily="49" charset="-122"/>
              </a:rPr>
              <a:t>1</a:t>
            </a:r>
            <a:r>
              <a:rPr lang="zh-CN" altLang="en-US" dirty="0">
                <a:solidFill>
                  <a:srgbClr val="FF5050"/>
                </a:solidFill>
                <a:latin typeface="楷体_GB2312" pitchFamily="49" charset="-122"/>
                <a:ea typeface="楷体_GB2312" pitchFamily="49" charset="-122"/>
              </a:rPr>
              <a:t>）原理</a:t>
            </a:r>
            <a:endParaRPr lang="zh-CN" altLang="en-US" dirty="0"/>
          </a:p>
        </p:txBody>
      </p:sp>
    </p:spTree>
    <p:extLst>
      <p:ext uri="{BB962C8B-B14F-4D97-AF65-F5344CB8AC3E}">
        <p14:creationId xmlns:p14="http://schemas.microsoft.com/office/powerpoint/2010/main" val="236477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
                                            <p:txEl>
                                              <p:pRg st="1" end="1"/>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
                                            <p:txEl>
                                              <p:pRg st="5" end="5"/>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xEl>
                                              <p:pRg st="7" end="7"/>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2"/>
          <p:cNvSpPr txBox="1">
            <a:spLocks noChangeArrowheads="1"/>
          </p:cNvSpPr>
          <p:nvPr/>
        </p:nvSpPr>
        <p:spPr bwMode="auto">
          <a:xfrm>
            <a:off x="539552" y="4127837"/>
            <a:ext cx="8520112" cy="1015663"/>
          </a:xfrm>
          <a:prstGeom prst="rect">
            <a:avLst/>
          </a:prstGeom>
          <a:solidFill>
            <a:schemeClr val="bg1"/>
          </a:solidFill>
          <a:ln>
            <a:noFill/>
          </a:ln>
        </p:spPr>
        <p:txBody>
          <a:bodyPr>
            <a:spAutoFit/>
          </a:bodyPr>
          <a:lstStyle>
            <a:lvl1pPr marL="185738" indent="-185738">
              <a:spcBef>
                <a:spcPct val="20000"/>
              </a:spcBef>
              <a:buChar char="•"/>
              <a:defRPr kumimoji="1" sz="3200">
                <a:solidFill>
                  <a:schemeClr val="tx1"/>
                </a:solidFill>
                <a:latin typeface="Times New Roman" pitchFamily="18" charset="0"/>
                <a:ea typeface="宋体" pitchFamily="2" charset="-122"/>
              </a:defRPr>
            </a:lvl1pPr>
            <a:lvl2pPr marL="542925" indent="-17780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algn="just" eaLnBrk="1" hangingPunct="1">
              <a:spcBef>
                <a:spcPts val="0"/>
              </a:spcBef>
              <a:buFontTx/>
              <a:buChar char="•"/>
            </a:pPr>
            <a:r>
              <a:rPr lang="zh-CN" altLang="en-US" sz="2000" dirty="0">
                <a:solidFill>
                  <a:schemeClr val="accent2"/>
                </a:solidFill>
                <a:latin typeface="宋体" panose="02010600030101010101" pitchFamily="2" charset="-122"/>
              </a:rPr>
              <a:t>分析表</a:t>
            </a:r>
            <a:r>
              <a:rPr lang="en-US" altLang="zh-CN" sz="2000" dirty="0">
                <a:latin typeface="宋体" panose="02010600030101010101" pitchFamily="2" charset="-122"/>
              </a:rPr>
              <a:t>(</a:t>
            </a:r>
            <a:r>
              <a:rPr lang="zh-CN" altLang="en-US" sz="2000" dirty="0">
                <a:latin typeface="宋体" panose="02010600030101010101" pitchFamily="2" charset="-122"/>
              </a:rPr>
              <a:t>分析函数</a:t>
            </a:r>
            <a:r>
              <a:rPr lang="en-US" altLang="zh-CN" sz="2000" dirty="0">
                <a:latin typeface="宋体" panose="02010600030101010101" pitchFamily="2" charset="-122"/>
              </a:rPr>
              <a:t>)</a:t>
            </a:r>
            <a:r>
              <a:rPr lang="zh-CN" altLang="en-US" sz="2000" dirty="0">
                <a:latin typeface="宋体" panose="02010600030101010101" pitchFamily="2" charset="-122"/>
              </a:rPr>
              <a:t>，不同的文法分析表不同，同一个文法采用的</a:t>
            </a:r>
            <a:r>
              <a:rPr lang="en-US" altLang="zh-CN" sz="2000" dirty="0">
                <a:latin typeface="宋体" panose="02010600030101010101" pitchFamily="2" charset="-122"/>
              </a:rPr>
              <a:t>LR</a:t>
            </a:r>
            <a:r>
              <a:rPr lang="zh-CN" altLang="en-US" sz="2000" dirty="0">
                <a:latin typeface="宋体" panose="02010600030101010101" pitchFamily="2" charset="-122"/>
              </a:rPr>
              <a:t>分析器不同时，分析表也不同，分析表又可分为</a:t>
            </a:r>
            <a:r>
              <a:rPr lang="zh-CN" altLang="en-US" sz="2000" dirty="0">
                <a:solidFill>
                  <a:srgbClr val="FF5050"/>
                </a:solidFill>
                <a:latin typeface="宋体" panose="02010600030101010101" pitchFamily="2" charset="-122"/>
              </a:rPr>
              <a:t>动作表</a:t>
            </a:r>
            <a:r>
              <a:rPr lang="en-US" altLang="zh-CN" sz="2000" dirty="0">
                <a:solidFill>
                  <a:srgbClr val="FF5050"/>
                </a:solidFill>
                <a:latin typeface="宋体" panose="02010600030101010101" pitchFamily="2" charset="-122"/>
              </a:rPr>
              <a:t>(ACTION)</a:t>
            </a:r>
            <a:r>
              <a:rPr lang="zh-CN" altLang="en-US" sz="2000" dirty="0">
                <a:latin typeface="宋体" panose="02010600030101010101" pitchFamily="2" charset="-122"/>
              </a:rPr>
              <a:t>和</a:t>
            </a:r>
            <a:r>
              <a:rPr lang="zh-CN" altLang="en-US" sz="2000" dirty="0">
                <a:solidFill>
                  <a:srgbClr val="FF5050"/>
                </a:solidFill>
                <a:latin typeface="宋体" panose="02010600030101010101" pitchFamily="2" charset="-122"/>
              </a:rPr>
              <a:t>状态转换</a:t>
            </a:r>
            <a:r>
              <a:rPr lang="en-US" altLang="zh-CN" sz="2000" dirty="0">
                <a:solidFill>
                  <a:srgbClr val="FF5050"/>
                </a:solidFill>
                <a:latin typeface="宋体" panose="02010600030101010101" pitchFamily="2" charset="-122"/>
              </a:rPr>
              <a:t>(GOTO)</a:t>
            </a:r>
            <a:r>
              <a:rPr lang="zh-CN" altLang="en-US" sz="2000" dirty="0">
                <a:solidFill>
                  <a:srgbClr val="FF5050"/>
                </a:solidFill>
                <a:latin typeface="宋体" panose="02010600030101010101" pitchFamily="2" charset="-122"/>
              </a:rPr>
              <a:t>表</a:t>
            </a:r>
            <a:r>
              <a:rPr lang="zh-CN" altLang="en-US" sz="2000" dirty="0">
                <a:latin typeface="宋体" panose="02010600030101010101" pitchFamily="2" charset="-122"/>
              </a:rPr>
              <a:t>两个部分，它们都可用二维数组表示。</a:t>
            </a:r>
          </a:p>
        </p:txBody>
      </p:sp>
      <p:sp>
        <p:nvSpPr>
          <p:cNvPr id="91144" name="AutoShape 8"/>
          <p:cNvSpPr>
            <a:spLocks noChangeArrowheads="1"/>
          </p:cNvSpPr>
          <p:nvPr/>
        </p:nvSpPr>
        <p:spPr bwMode="auto">
          <a:xfrm>
            <a:off x="18316" y="1491630"/>
            <a:ext cx="3706688" cy="772666"/>
          </a:xfrm>
          <a:prstGeom prst="wedgeRoundRectCallout">
            <a:avLst>
              <a:gd name="adj1" fmla="val 63372"/>
              <a:gd name="adj2" fmla="val -77491"/>
              <a:gd name="adj3" fmla="val 16667"/>
            </a:avLst>
          </a:prstGeom>
          <a:ln>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zh-CN" altLang="en-US" sz="2000" dirty="0">
                <a:latin typeface="宋体" panose="02010600030101010101" pitchFamily="2" charset="-122"/>
              </a:rPr>
              <a:t>状态栈：存放</a:t>
            </a:r>
            <a:r>
              <a:rPr lang="zh-CN" altLang="en-US" sz="2000" dirty="0">
                <a:solidFill>
                  <a:schemeClr val="accent2"/>
                </a:solidFill>
                <a:latin typeface="宋体" panose="02010600030101010101" pitchFamily="2" charset="-122"/>
              </a:rPr>
              <a:t>状态</a:t>
            </a:r>
            <a:r>
              <a:rPr lang="zh-CN" altLang="en-US" sz="2000" dirty="0">
                <a:latin typeface="宋体" panose="02010600030101010101" pitchFamily="2" charset="-122"/>
              </a:rPr>
              <a:t>，已经综合了“历史”和“展望”信息</a:t>
            </a:r>
          </a:p>
        </p:txBody>
      </p:sp>
      <p:sp>
        <p:nvSpPr>
          <p:cNvPr id="91145" name="AutoShape 9"/>
          <p:cNvSpPr>
            <a:spLocks noChangeArrowheads="1"/>
          </p:cNvSpPr>
          <p:nvPr/>
        </p:nvSpPr>
        <p:spPr bwMode="auto">
          <a:xfrm>
            <a:off x="0" y="267494"/>
            <a:ext cx="3886200" cy="1080120"/>
          </a:xfrm>
          <a:prstGeom prst="wedgeRoundRectCallout">
            <a:avLst>
              <a:gd name="adj1" fmla="val 71073"/>
              <a:gd name="adj2" fmla="val 18145"/>
              <a:gd name="adj3" fmla="val 16667"/>
            </a:avLst>
          </a:prstGeom>
          <a:ln>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000" dirty="0">
                <a:latin typeface="宋体" panose="02010600030101010101" pitchFamily="2" charset="-122"/>
              </a:rPr>
              <a:t>文法符号：</a:t>
            </a:r>
            <a:r>
              <a:rPr lang="en-US" altLang="zh-CN" sz="2000" dirty="0">
                <a:latin typeface="宋体" panose="02010600030101010101" pitchFamily="2" charset="-122"/>
              </a:rPr>
              <a:t>X1X2…</a:t>
            </a:r>
            <a:r>
              <a:rPr lang="en-US" altLang="zh-CN" sz="2000" dirty="0" err="1">
                <a:latin typeface="宋体" panose="02010600030101010101" pitchFamily="2" charset="-122"/>
              </a:rPr>
              <a:t>Xm</a:t>
            </a:r>
            <a:r>
              <a:rPr lang="zh-CN" altLang="en-US" sz="2000" dirty="0">
                <a:latin typeface="宋体" panose="02010600030101010101" pitchFamily="2" charset="-122"/>
              </a:rPr>
              <a:t>是目前已移进并归约出的句型部分。其实它是多余的，已经概括到状态里。</a:t>
            </a:r>
          </a:p>
        </p:txBody>
      </p:sp>
      <p:sp>
        <p:nvSpPr>
          <p:cNvPr id="7" name="AutoShape 8"/>
          <p:cNvSpPr>
            <a:spLocks noChangeArrowheads="1"/>
          </p:cNvSpPr>
          <p:nvPr/>
        </p:nvSpPr>
        <p:spPr bwMode="auto">
          <a:xfrm>
            <a:off x="0" y="2211710"/>
            <a:ext cx="3706688" cy="772666"/>
          </a:xfrm>
          <a:prstGeom prst="wedgeRoundRectCallout">
            <a:avLst>
              <a:gd name="adj1" fmla="val 61578"/>
              <a:gd name="adj2" fmla="val -17243"/>
              <a:gd name="adj3" fmla="val 16667"/>
            </a:avLst>
          </a:prstGeom>
          <a:ln>
            <a:headEnd/>
            <a:tailEnd/>
          </a:ln>
        </p:spPr>
        <p:style>
          <a:lnRef idx="2">
            <a:schemeClr val="accent1"/>
          </a:lnRef>
          <a:fillRef idx="1">
            <a:schemeClr val="lt1"/>
          </a:fillRef>
          <a:effectRef idx="0">
            <a:schemeClr val="accent1"/>
          </a:effectRef>
          <a:fontRef idx="minor">
            <a:schemeClr val="dk1"/>
          </a:fontRef>
        </p:style>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en-US" altLang="zh-CN" sz="2000" dirty="0">
                <a:latin typeface="宋体" panose="02010600030101010101" pitchFamily="2" charset="-122"/>
              </a:rPr>
              <a:t>(S0,#)</a:t>
            </a:r>
            <a:r>
              <a:rPr lang="zh-CN" altLang="en-US" sz="2000" dirty="0">
                <a:latin typeface="宋体" panose="02010600030101010101" pitchFamily="2" charset="-122"/>
              </a:rPr>
              <a:t>为预先放到栈中的初始状态和符号</a:t>
            </a:r>
          </a:p>
        </p:txBody>
      </p:sp>
      <p:sp>
        <p:nvSpPr>
          <p:cNvPr id="2" name="Rectangle 17"/>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2129962928"/>
              </p:ext>
            </p:extLst>
          </p:nvPr>
        </p:nvGraphicFramePr>
        <p:xfrm>
          <a:off x="3622771" y="34441"/>
          <a:ext cx="5413725" cy="3157466"/>
        </p:xfrm>
        <a:graphic>
          <a:graphicData uri="http://schemas.openxmlformats.org/presentationml/2006/ole">
            <mc:AlternateContent xmlns:mc="http://schemas.openxmlformats.org/markup-compatibility/2006">
              <mc:Choice xmlns:v="urn:schemas-microsoft-com:vml" Requires="v">
                <p:oleObj spid="_x0000_s47111" name="Visio" r:id="rId4" imgW="2710774" imgH="1576909" progId="Visio.Drawing.11">
                  <p:embed/>
                </p:oleObj>
              </mc:Choice>
              <mc:Fallback>
                <p:oleObj name="Visio" r:id="rId4" imgW="2710774" imgH="1576909" progId="Visio.Drawing.11">
                  <p:embed/>
                  <p:pic>
                    <p:nvPicPr>
                      <p:cNvPr id="3"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22771" y="34441"/>
                        <a:ext cx="5413725" cy="3157466"/>
                      </a:xfrm>
                      <a:prstGeom prst="rect">
                        <a:avLst/>
                      </a:prstGeom>
                      <a:noFill/>
                    </p:spPr>
                  </p:pic>
                </p:oleObj>
              </mc:Fallback>
            </mc:AlternateContent>
          </a:graphicData>
        </a:graphic>
      </p:graphicFrame>
      <p:sp>
        <p:nvSpPr>
          <p:cNvPr id="10" name="Text Box 2"/>
          <p:cNvSpPr txBox="1">
            <a:spLocks noChangeArrowheads="1"/>
          </p:cNvSpPr>
          <p:nvPr/>
        </p:nvSpPr>
        <p:spPr bwMode="auto">
          <a:xfrm>
            <a:off x="539552" y="3755816"/>
            <a:ext cx="8520112" cy="400110"/>
          </a:xfrm>
          <a:prstGeom prst="rect">
            <a:avLst/>
          </a:prstGeom>
          <a:solidFill>
            <a:schemeClr val="bg1"/>
          </a:solidFill>
          <a:ln>
            <a:noFill/>
          </a:ln>
        </p:spPr>
        <p:txBody>
          <a:bodyPr>
            <a:spAutoFit/>
          </a:bodyPr>
          <a:lstStyle>
            <a:lvl1pPr marL="185738" indent="-185738">
              <a:spcBef>
                <a:spcPct val="20000"/>
              </a:spcBef>
              <a:buChar char="•"/>
              <a:defRPr kumimoji="1" sz="3200">
                <a:solidFill>
                  <a:schemeClr val="tx1"/>
                </a:solidFill>
                <a:latin typeface="Times New Roman" pitchFamily="18" charset="0"/>
                <a:ea typeface="宋体" pitchFamily="2" charset="-122"/>
              </a:defRPr>
            </a:lvl1pPr>
            <a:lvl2pPr marL="542925" indent="-17780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algn="just" eaLnBrk="1" hangingPunct="1">
              <a:spcBef>
                <a:spcPts val="0"/>
              </a:spcBef>
              <a:buFontTx/>
              <a:buChar char="•"/>
            </a:pPr>
            <a:r>
              <a:rPr lang="zh-CN" altLang="en-US" sz="2000" dirty="0">
                <a:solidFill>
                  <a:schemeClr val="accent2"/>
                </a:solidFill>
                <a:latin typeface="宋体" panose="02010600030101010101" pitchFamily="2" charset="-122"/>
              </a:rPr>
              <a:t>分析栈</a:t>
            </a:r>
            <a:r>
              <a:rPr lang="zh-CN" altLang="en-US" sz="2000" dirty="0">
                <a:latin typeface="宋体" panose="02010600030101010101" pitchFamily="2" charset="-122"/>
              </a:rPr>
              <a:t>，包括文法符号栈和相应的状态栈，它们均是先进后出栈。</a:t>
            </a:r>
            <a:endParaRPr lang="en-US" altLang="zh-CN" sz="2000" dirty="0">
              <a:latin typeface="宋体" panose="02010600030101010101" pitchFamily="2" charset="-122"/>
            </a:endParaRPr>
          </a:p>
        </p:txBody>
      </p:sp>
      <p:sp>
        <p:nvSpPr>
          <p:cNvPr id="11" name="Text Box 2"/>
          <p:cNvSpPr txBox="1">
            <a:spLocks noChangeArrowheads="1"/>
          </p:cNvSpPr>
          <p:nvPr/>
        </p:nvSpPr>
        <p:spPr bwMode="auto">
          <a:xfrm>
            <a:off x="539552" y="3075806"/>
            <a:ext cx="8520112" cy="738664"/>
          </a:xfrm>
          <a:prstGeom prst="rect">
            <a:avLst/>
          </a:prstGeom>
          <a:solidFill>
            <a:schemeClr val="bg1"/>
          </a:solidFill>
          <a:ln>
            <a:noFill/>
          </a:ln>
        </p:spPr>
        <p:txBody>
          <a:bodyPr>
            <a:spAutoFit/>
          </a:bodyPr>
          <a:lstStyle>
            <a:lvl1pPr marL="185738" indent="-185738">
              <a:spcBef>
                <a:spcPct val="20000"/>
              </a:spcBef>
              <a:buChar char="•"/>
              <a:defRPr kumimoji="1" sz="3200">
                <a:solidFill>
                  <a:schemeClr val="tx1"/>
                </a:solidFill>
                <a:latin typeface="Times New Roman" pitchFamily="18" charset="0"/>
                <a:ea typeface="宋体" pitchFamily="2" charset="-122"/>
              </a:defRPr>
            </a:lvl1pPr>
            <a:lvl2pPr marL="542925" indent="-17780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ts val="0"/>
              </a:spcBef>
            </a:pPr>
            <a:r>
              <a:rPr lang="zh-CN" altLang="en-US" sz="2200" dirty="0">
                <a:latin typeface="宋体" panose="02010600030101010101" pitchFamily="2" charset="-122"/>
              </a:rPr>
              <a:t>一个</a:t>
            </a:r>
            <a:r>
              <a:rPr lang="en-US" altLang="zh-CN" sz="2200" dirty="0">
                <a:latin typeface="宋体" panose="02010600030101010101" pitchFamily="2" charset="-122"/>
              </a:rPr>
              <a:t>LR</a:t>
            </a:r>
            <a:r>
              <a:rPr lang="zh-CN" altLang="en-US" sz="2200" dirty="0">
                <a:latin typeface="宋体" panose="02010600030101010101" pitchFamily="2" charset="-122"/>
              </a:rPr>
              <a:t>分析器由</a:t>
            </a:r>
            <a:r>
              <a:rPr lang="en-US" altLang="zh-CN" sz="2200" dirty="0">
                <a:latin typeface="宋体" panose="02010600030101010101" pitchFamily="2" charset="-122"/>
              </a:rPr>
              <a:t>3</a:t>
            </a:r>
            <a:r>
              <a:rPr lang="zh-CN" altLang="en-US" sz="2200" dirty="0">
                <a:latin typeface="宋体" panose="02010600030101010101" pitchFamily="2" charset="-122"/>
              </a:rPr>
              <a:t>个部分组成：</a:t>
            </a:r>
          </a:p>
          <a:p>
            <a:pPr lvl="1" algn="just">
              <a:spcBef>
                <a:spcPts val="0"/>
              </a:spcBef>
              <a:buFontTx/>
              <a:buChar char="•"/>
            </a:pPr>
            <a:r>
              <a:rPr lang="en-US" altLang="zh-CN" sz="2000" dirty="0">
                <a:solidFill>
                  <a:schemeClr val="accent2"/>
                </a:solidFill>
                <a:latin typeface="宋体" panose="02010600030101010101" pitchFamily="2" charset="-122"/>
              </a:rPr>
              <a:t>LR</a:t>
            </a:r>
            <a:r>
              <a:rPr lang="zh-CN" altLang="en-US" sz="2000" dirty="0">
                <a:solidFill>
                  <a:schemeClr val="accent2"/>
                </a:solidFill>
                <a:latin typeface="宋体" panose="02010600030101010101" pitchFamily="2" charset="-122"/>
              </a:rPr>
              <a:t>分析器的总控程序</a:t>
            </a:r>
            <a:r>
              <a:rPr lang="zh-CN" altLang="en-US" sz="2000" dirty="0">
                <a:latin typeface="宋体" panose="02010600030101010101" pitchFamily="2" charset="-122"/>
              </a:rPr>
              <a:t>。所有的</a:t>
            </a:r>
            <a:r>
              <a:rPr lang="en-US" altLang="zh-CN" sz="2000" dirty="0">
                <a:latin typeface="宋体" panose="02010600030101010101" pitchFamily="2" charset="-122"/>
              </a:rPr>
              <a:t>LR</a:t>
            </a:r>
            <a:r>
              <a:rPr lang="zh-CN" altLang="en-US" sz="2000" dirty="0">
                <a:latin typeface="宋体" panose="02010600030101010101" pitchFamily="2" charset="-122"/>
              </a:rPr>
              <a:t>分析器都是相同的。</a:t>
            </a:r>
          </a:p>
        </p:txBody>
      </p:sp>
      <p:sp>
        <p:nvSpPr>
          <p:cNvPr id="4" name="流程图: 过程 3"/>
          <p:cNvSpPr/>
          <p:nvPr/>
        </p:nvSpPr>
        <p:spPr>
          <a:xfrm>
            <a:off x="5940152" y="843558"/>
            <a:ext cx="1728192" cy="962397"/>
          </a:xfrm>
          <a:prstGeom prst="flowChartProcess">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流程图: 过程 16"/>
          <p:cNvSpPr/>
          <p:nvPr/>
        </p:nvSpPr>
        <p:spPr>
          <a:xfrm>
            <a:off x="3886200" y="509903"/>
            <a:ext cx="1333872" cy="2088139"/>
          </a:xfrm>
          <a:prstGeom prst="flowChartProcess">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流程图: 过程 17"/>
          <p:cNvSpPr/>
          <p:nvPr/>
        </p:nvSpPr>
        <p:spPr>
          <a:xfrm>
            <a:off x="5940152" y="2211710"/>
            <a:ext cx="1872208" cy="576064"/>
          </a:xfrm>
          <a:prstGeom prst="flowChartProcess">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6652333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trips(downLeft)">
                                      <p:cBhvr>
                                        <p:cTn id="7" dur="500"/>
                                        <p:tgtEl>
                                          <p:spTgt spid="11"/>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nodeType="withGroup">
                            <p:stCondLst>
                              <p:cond delay="0"/>
                            </p:stCondLst>
                            <p:childTnLst>
                              <p:par>
                                <p:cTn id="13" presetID="1" presetClass="exit" presetSubtype="0" fill="hold" grpId="1" nodeType="clickEffect">
                                  <p:stCondLst>
                                    <p:cond delay="0"/>
                                  </p:stCondLst>
                                  <p:childTnLst>
                                    <p:set>
                                      <p:cBhvr>
                                        <p:cTn id="14" dur="1" fill="hold">
                                          <p:stCondLst>
                                            <p:cond delay="0"/>
                                          </p:stCondLst>
                                        </p:cTn>
                                        <p:tgtEl>
                                          <p:spTgt spid="4"/>
                                        </p:tgtEl>
                                        <p:attrNameLst>
                                          <p:attrName>style.visibility</p:attrName>
                                        </p:attrNameLst>
                                      </p:cBhvr>
                                      <p:to>
                                        <p:strVal val="hidden"/>
                                      </p:to>
                                    </p:set>
                                  </p:childTnLst>
                                </p:cTn>
                              </p:par>
                            </p:childTnLst>
                          </p:cTn>
                        </p:par>
                        <p:par>
                          <p:cTn id="15" fill="hold">
                            <p:stCondLst>
                              <p:cond delay="0"/>
                            </p:stCondLst>
                            <p:childTnLst>
                              <p:par>
                                <p:cTn id="16" presetID="18" presetClass="entr" presetSubtype="12"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strips(downLeft)">
                                      <p:cBhvr>
                                        <p:cTn id="18" dur="500"/>
                                        <p:tgtEl>
                                          <p:spTgt spid="10"/>
                                        </p:tgtEl>
                                      </p:cBhvr>
                                    </p:animEffect>
                                  </p:childTnLst>
                                </p:cTn>
                              </p:par>
                            </p:childTnLst>
                          </p:cTn>
                        </p:par>
                        <p:par>
                          <p:cTn id="19" fill="hold">
                            <p:stCondLst>
                              <p:cond delay="500"/>
                            </p:stCondLst>
                            <p:childTnLst>
                              <p:par>
                                <p:cTn id="20" presetID="1" presetClass="entr" presetSubtype="0"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9114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xit" presetSubtype="0" fill="hold" grpId="1" nodeType="clickEffect">
                                  <p:stCondLst>
                                    <p:cond delay="0"/>
                                  </p:stCondLst>
                                  <p:childTnLst>
                                    <p:set>
                                      <p:cBhvr>
                                        <p:cTn id="29" dur="1" fill="hold">
                                          <p:stCondLst>
                                            <p:cond delay="0"/>
                                          </p:stCondLst>
                                        </p:cTn>
                                        <p:tgtEl>
                                          <p:spTgt spid="91145"/>
                                        </p:tgtEl>
                                        <p:attrNameLst>
                                          <p:attrName>style.visibility</p:attrName>
                                        </p:attrNameLst>
                                      </p:cBhvr>
                                      <p:to>
                                        <p:strVal val="hidden"/>
                                      </p:to>
                                    </p:set>
                                  </p:childTnLst>
                                </p:cTn>
                              </p:par>
                            </p:childTnLst>
                          </p:cTn>
                        </p:par>
                        <p:par>
                          <p:cTn id="30" fill="hold">
                            <p:stCondLst>
                              <p:cond delay="0"/>
                            </p:stCondLst>
                            <p:childTnLst>
                              <p:par>
                                <p:cTn id="31" presetID="1" presetClass="entr" presetSubtype="0" fill="hold" grpId="0" nodeType="afterEffect">
                                  <p:stCondLst>
                                    <p:cond delay="0"/>
                                  </p:stCondLst>
                                  <p:childTnLst>
                                    <p:set>
                                      <p:cBhvr>
                                        <p:cTn id="32" dur="1" fill="hold">
                                          <p:stCondLst>
                                            <p:cond delay="499"/>
                                          </p:stCondLst>
                                        </p:cTn>
                                        <p:tgtEl>
                                          <p:spTgt spid="9114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1" nodeType="clickEffect">
                                  <p:stCondLst>
                                    <p:cond delay="0"/>
                                  </p:stCondLst>
                                  <p:childTnLst>
                                    <p:set>
                                      <p:cBhvr>
                                        <p:cTn id="36" dur="1" fill="hold">
                                          <p:stCondLst>
                                            <p:cond delay="0"/>
                                          </p:stCondLst>
                                        </p:cTn>
                                        <p:tgtEl>
                                          <p:spTgt spid="91144"/>
                                        </p:tgtEl>
                                        <p:attrNameLst>
                                          <p:attrName>style.visibility</p:attrName>
                                        </p:attrNameLst>
                                      </p:cBhvr>
                                      <p:to>
                                        <p:strVal val="hidden"/>
                                      </p:to>
                                    </p:set>
                                  </p:childTnLst>
                                </p:cTn>
                              </p:par>
                            </p:childTnLst>
                          </p:cTn>
                        </p:par>
                        <p:par>
                          <p:cTn id="37" fill="hold">
                            <p:stCondLst>
                              <p:cond delay="0"/>
                            </p:stCondLst>
                            <p:childTnLst>
                              <p:par>
                                <p:cTn id="38" presetID="1" presetClass="entr" presetSubtype="0" fill="hold" grpId="0" nodeType="afterEffect">
                                  <p:stCondLst>
                                    <p:cond delay="0"/>
                                  </p:stCondLst>
                                  <p:childTnLst>
                                    <p:set>
                                      <p:cBhvr>
                                        <p:cTn id="39" dur="1" fill="hold">
                                          <p:stCondLst>
                                            <p:cond delay="499"/>
                                          </p:stCondLst>
                                        </p:cTn>
                                        <p:tgtEl>
                                          <p:spTgt spid="7"/>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7"/>
                                        </p:tgtEl>
                                        <p:attrNameLst>
                                          <p:attrName>style.visibility</p:attrName>
                                        </p:attrNameLst>
                                      </p:cBhvr>
                                      <p:to>
                                        <p:strVal val="hidden"/>
                                      </p:to>
                                    </p:set>
                                  </p:childTnLst>
                                </p:cTn>
                              </p:par>
                            </p:childTnLst>
                          </p:cTn>
                        </p:par>
                        <p:par>
                          <p:cTn id="44" fill="hold">
                            <p:stCondLst>
                              <p:cond delay="0"/>
                            </p:stCondLst>
                            <p:childTnLst>
                              <p:par>
                                <p:cTn id="45" presetID="1" presetClass="exit" presetSubtype="0" fill="hold" grpId="1" nodeType="afterEffect">
                                  <p:stCondLst>
                                    <p:cond delay="0"/>
                                  </p:stCondLst>
                                  <p:childTnLst>
                                    <p:set>
                                      <p:cBhvr>
                                        <p:cTn id="46" dur="1" fill="hold">
                                          <p:stCondLst>
                                            <p:cond delay="0"/>
                                          </p:stCondLst>
                                        </p:cTn>
                                        <p:tgtEl>
                                          <p:spTgt spid="17"/>
                                        </p:tgtEl>
                                        <p:attrNameLst>
                                          <p:attrName>style.visibility</p:attrName>
                                        </p:attrNameLst>
                                      </p:cBhvr>
                                      <p:to>
                                        <p:strVal val="hidden"/>
                                      </p:to>
                                    </p:set>
                                  </p:childTnLst>
                                </p:cTn>
                              </p:par>
                            </p:childTnLst>
                          </p:cTn>
                        </p:par>
                        <p:par>
                          <p:cTn id="47" fill="hold">
                            <p:stCondLst>
                              <p:cond delay="0"/>
                            </p:stCondLst>
                            <p:childTnLst>
                              <p:par>
                                <p:cTn id="48" presetID="18" presetClass="entr" presetSubtype="12" fill="hold" grpId="0" nodeType="afterEffect">
                                  <p:stCondLst>
                                    <p:cond delay="0"/>
                                  </p:stCondLst>
                                  <p:childTnLst>
                                    <p:set>
                                      <p:cBhvr>
                                        <p:cTn id="49" dur="1" fill="hold">
                                          <p:stCondLst>
                                            <p:cond delay="0"/>
                                          </p:stCondLst>
                                        </p:cTn>
                                        <p:tgtEl>
                                          <p:spTgt spid="91138"/>
                                        </p:tgtEl>
                                        <p:attrNameLst>
                                          <p:attrName>style.visibility</p:attrName>
                                        </p:attrNameLst>
                                      </p:cBhvr>
                                      <p:to>
                                        <p:strVal val="visible"/>
                                      </p:to>
                                    </p:set>
                                    <p:animEffect transition="in" filter="strips(downLeft)">
                                      <p:cBhvr>
                                        <p:cTn id="50" dur="500"/>
                                        <p:tgtEl>
                                          <p:spTgt spid="91138"/>
                                        </p:tgtEl>
                                      </p:cBhvr>
                                    </p:animEffect>
                                  </p:childTnLst>
                                </p:cTn>
                              </p:par>
                            </p:childTnLst>
                          </p:cTn>
                        </p:par>
                        <p:par>
                          <p:cTn id="51" fill="hold">
                            <p:stCondLst>
                              <p:cond delay="500"/>
                            </p:stCondLst>
                            <p:childTnLst>
                              <p:par>
                                <p:cTn id="52" presetID="1" presetClass="entr" presetSubtype="0" fill="hold" grpId="0" nodeType="afterEffect">
                                  <p:stCondLst>
                                    <p:cond delay="0"/>
                                  </p:stCondLst>
                                  <p:childTnLst>
                                    <p:set>
                                      <p:cBhvr>
                                        <p:cTn id="53"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8" grpId="0" animBg="1" autoUpdateAnimBg="0"/>
      <p:bldP spid="91144" grpId="0" animBg="1" autoUpdateAnimBg="0"/>
      <p:bldP spid="91144" grpId="1" animBg="1"/>
      <p:bldP spid="91145" grpId="0" animBg="1" autoUpdateAnimBg="0"/>
      <p:bldP spid="91145" grpId="1" animBg="1"/>
      <p:bldP spid="7" grpId="0" animBg="1" autoUpdateAnimBg="0"/>
      <p:bldP spid="7" grpId="1" animBg="1"/>
      <p:bldP spid="10" grpId="0" animBg="1" autoUpdateAnimBg="0"/>
      <p:bldP spid="11" grpId="0" animBg="1" autoUpdateAnimBg="0"/>
      <p:bldP spid="4" grpId="0" animBg="1"/>
      <p:bldP spid="4" grpId="1" animBg="1"/>
      <p:bldP spid="17" grpId="0" animBg="1"/>
      <p:bldP spid="17" grpId="1" animBg="1"/>
      <p:bldP spid="18"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oup 58"/>
          <p:cNvGraphicFramePr>
            <a:graphicFrameLocks noGrp="1"/>
          </p:cNvGraphicFramePr>
          <p:nvPr>
            <p:extLst>
              <p:ext uri="{D42A27DB-BD31-4B8C-83A1-F6EECF244321}">
                <p14:modId xmlns:p14="http://schemas.microsoft.com/office/powerpoint/2010/main" val="347331846"/>
              </p:ext>
            </p:extLst>
          </p:nvPr>
        </p:nvGraphicFramePr>
        <p:xfrm>
          <a:off x="4427240" y="1084550"/>
          <a:ext cx="4249217" cy="2405804"/>
        </p:xfrm>
        <a:graphic>
          <a:graphicData uri="http://schemas.openxmlformats.org/drawingml/2006/table">
            <a:tbl>
              <a:tblPr/>
              <a:tblGrid>
                <a:gridCol w="695994">
                  <a:extLst>
                    <a:ext uri="{9D8B030D-6E8A-4147-A177-3AD203B41FA5}">
                      <a16:colId xmlns:a16="http://schemas.microsoft.com/office/drawing/2014/main" val="20000"/>
                    </a:ext>
                  </a:extLst>
                </a:gridCol>
                <a:gridCol w="1004172">
                  <a:extLst>
                    <a:ext uri="{9D8B030D-6E8A-4147-A177-3AD203B41FA5}">
                      <a16:colId xmlns:a16="http://schemas.microsoft.com/office/drawing/2014/main" val="20001"/>
                    </a:ext>
                  </a:extLst>
                </a:gridCol>
                <a:gridCol w="1081415">
                  <a:extLst>
                    <a:ext uri="{9D8B030D-6E8A-4147-A177-3AD203B41FA5}">
                      <a16:colId xmlns:a16="http://schemas.microsoft.com/office/drawing/2014/main" val="20002"/>
                    </a:ext>
                  </a:extLst>
                </a:gridCol>
                <a:gridCol w="463464">
                  <a:extLst>
                    <a:ext uri="{9D8B030D-6E8A-4147-A177-3AD203B41FA5}">
                      <a16:colId xmlns:a16="http://schemas.microsoft.com/office/drawing/2014/main" val="20003"/>
                    </a:ext>
                  </a:extLst>
                </a:gridCol>
                <a:gridCol w="1004172">
                  <a:extLst>
                    <a:ext uri="{9D8B030D-6E8A-4147-A177-3AD203B41FA5}">
                      <a16:colId xmlns:a16="http://schemas.microsoft.com/office/drawing/2014/main" val="20004"/>
                    </a:ext>
                  </a:extLst>
                </a:gridCol>
              </a:tblGrid>
              <a:tr h="5040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  </a:t>
                      </a:r>
                      <a:r>
                        <a:rPr kumimoji="1" lang="zh-CN" altLang="en-US" sz="1300" b="1" i="0" u="none" strike="noStrike" cap="none" normalizeH="0" baseline="0" dirty="0">
                          <a:ln>
                            <a:noFill/>
                          </a:ln>
                          <a:solidFill>
                            <a:srgbClr val="0000FF"/>
                          </a:solidFill>
                          <a:effectLst/>
                          <a:latin typeface="Times New Roman" pitchFamily="18" charset="0"/>
                          <a:ea typeface="宋体" pitchFamily="2" charset="-122"/>
                        </a:rPr>
                        <a:t>符号</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300" b="1" i="0" u="none" strike="noStrike" cap="none" normalizeH="0" baseline="0" dirty="0">
                          <a:ln>
                            <a:noFill/>
                          </a:ln>
                          <a:solidFill>
                            <a:srgbClr val="0000FF"/>
                          </a:solidFill>
                          <a:effectLst/>
                          <a:latin typeface="Times New Roman" pitchFamily="18" charset="0"/>
                          <a:ea typeface="宋体" pitchFamily="2" charset="-122"/>
                        </a:rPr>
                        <a:t>状态</a:t>
                      </a:r>
                    </a:p>
                  </a:txBody>
                  <a:tcPr marT="34279" marB="3427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0"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0" i="0" u="none" strike="noStrike" cap="none" normalizeH="0" baseline="-25000" dirty="0">
                          <a:ln>
                            <a:noFill/>
                          </a:ln>
                          <a:solidFill>
                            <a:srgbClr val="0000FF"/>
                          </a:solidFill>
                          <a:effectLst/>
                          <a:latin typeface="Times New Roman" pitchFamily="18" charset="0"/>
                          <a:ea typeface="宋体" pitchFamily="2" charset="-122"/>
                        </a:rPr>
                        <a:t>1</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0"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0" i="0" u="none" strike="noStrike" cap="none" normalizeH="0" baseline="-25000" dirty="0">
                          <a:ln>
                            <a:noFill/>
                          </a:ln>
                          <a:solidFill>
                            <a:srgbClr val="0000FF"/>
                          </a:solidFill>
                          <a:effectLst/>
                          <a:latin typeface="Times New Roman" pitchFamily="18" charset="0"/>
                          <a:ea typeface="宋体" pitchFamily="2" charset="-122"/>
                        </a:rPr>
                        <a:t>2</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err="1">
                          <a:ln>
                            <a:noFill/>
                          </a:ln>
                          <a:solidFill>
                            <a:srgbClr val="0000FF"/>
                          </a:solidFill>
                          <a:effectLst/>
                          <a:latin typeface="Times New Roman" pitchFamily="18" charset="0"/>
                          <a:ea typeface="宋体" pitchFamily="2" charset="-122"/>
                        </a:rPr>
                        <a:t>k</a:t>
                      </a:r>
                      <a:endParaRPr kumimoji="1" lang="en-US" altLang="zh-CN" sz="1300" b="1" i="0" u="none" strike="noStrike" cap="none" normalizeH="0" baseline="-25000" dirty="0">
                        <a:ln>
                          <a:noFill/>
                        </a:ln>
                        <a:solidFill>
                          <a:srgbClr val="0000FF"/>
                        </a:solidFill>
                        <a:effectLst/>
                        <a:latin typeface="Times New Roman" pitchFamily="18" charset="0"/>
                        <a:ea typeface="宋体" pitchFamily="2" charset="-122"/>
                      </a:endParaRPr>
                    </a:p>
                  </a:txBody>
                  <a:tcPr marT="34279" marB="3427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8919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a:ln>
                            <a:noFill/>
                          </a:ln>
                          <a:solidFill>
                            <a:srgbClr val="0000FF"/>
                          </a:solidFill>
                          <a:effectLst/>
                          <a:latin typeface="Times New Roman" pitchFamily="18" charset="0"/>
                          <a:ea typeface="宋体" pitchFamily="2" charset="-122"/>
                        </a:rPr>
                        <a:t>0</a:t>
                      </a:r>
                    </a:p>
                  </a:txBody>
                  <a:tcPr marT="34279" marB="3427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0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0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2</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0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err="1">
                          <a:ln>
                            <a:noFill/>
                          </a:ln>
                          <a:solidFill>
                            <a:srgbClr val="0000FF"/>
                          </a:solidFill>
                          <a:effectLst/>
                          <a:latin typeface="Times New Roman" pitchFamily="18" charset="0"/>
                          <a:ea typeface="宋体" pitchFamily="2" charset="-122"/>
                        </a:rPr>
                        <a:t>k</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4760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a:ln>
                            <a:noFill/>
                          </a:ln>
                          <a:solidFill>
                            <a:srgbClr val="0000FF"/>
                          </a:solidFill>
                          <a:effectLst/>
                          <a:latin typeface="Times New Roman" pitchFamily="18" charset="0"/>
                          <a:ea typeface="宋体" pitchFamily="2" charset="-122"/>
                        </a:rPr>
                        <a:t>1</a:t>
                      </a:r>
                    </a:p>
                  </a:txBody>
                  <a:tcPr marT="34279" marB="3427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2</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err="1">
                          <a:ln>
                            <a:noFill/>
                          </a:ln>
                          <a:solidFill>
                            <a:srgbClr val="0000FF"/>
                          </a:solidFill>
                          <a:effectLst/>
                          <a:latin typeface="Times New Roman" pitchFamily="18" charset="0"/>
                          <a:ea typeface="宋体" pitchFamily="2" charset="-122"/>
                        </a:rPr>
                        <a:t>k</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43204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504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n</a:t>
                      </a:r>
                    </a:p>
                  </a:txBody>
                  <a:tcPr marT="34279" marB="3427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n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1</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n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2</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goto</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[S</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n </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r>
                        <a:rPr kumimoji="1" lang="en-US" altLang="zh-CN" sz="1300" b="1" i="0" u="none" strike="noStrike" cap="none" normalizeH="0" baseline="-25000" dirty="0">
                          <a:ln>
                            <a:noFill/>
                          </a:ln>
                          <a:solidFill>
                            <a:srgbClr val="0000FF"/>
                          </a:solidFill>
                          <a:effectLst/>
                          <a:latin typeface="Times New Roman" pitchFamily="18" charset="0"/>
                          <a:ea typeface="宋体" pitchFamily="2" charset="-122"/>
                        </a:rPr>
                        <a:t> </a:t>
                      </a:r>
                      <a:r>
                        <a:rPr kumimoji="1" lang="en-US" altLang="zh-CN" sz="1300" b="1" i="0" u="none" strike="noStrike" cap="none" normalizeH="0" baseline="0" dirty="0" err="1">
                          <a:ln>
                            <a:noFill/>
                          </a:ln>
                          <a:solidFill>
                            <a:srgbClr val="0000FF"/>
                          </a:solidFill>
                          <a:effectLst/>
                          <a:latin typeface="Times New Roman" pitchFamily="18" charset="0"/>
                          <a:ea typeface="宋体" pitchFamily="2" charset="-122"/>
                        </a:rPr>
                        <a:t>X</a:t>
                      </a:r>
                      <a:r>
                        <a:rPr kumimoji="1" lang="en-US" altLang="zh-CN" sz="1300" b="1" i="0" u="none" strike="noStrike" cap="none" normalizeH="0" baseline="-25000" dirty="0" err="1">
                          <a:ln>
                            <a:noFill/>
                          </a:ln>
                          <a:solidFill>
                            <a:srgbClr val="0000FF"/>
                          </a:solidFill>
                          <a:effectLst/>
                          <a:latin typeface="Times New Roman" pitchFamily="18" charset="0"/>
                          <a:ea typeface="宋体" pitchFamily="2" charset="-122"/>
                        </a:rPr>
                        <a:t>k</a:t>
                      </a:r>
                      <a:r>
                        <a:rPr kumimoji="1" lang="en-US" altLang="zh-CN" sz="1300" b="1" i="0" u="none" strike="noStrike" cap="none" normalizeH="0" baseline="0" dirty="0">
                          <a:ln>
                            <a:noFill/>
                          </a:ln>
                          <a:solidFill>
                            <a:srgbClr val="0000FF"/>
                          </a:solidFill>
                          <a:effectLst/>
                          <a:latin typeface="Times New Roman" pitchFamily="18" charset="0"/>
                          <a:ea typeface="宋体" pitchFamily="2" charset="-122"/>
                        </a:rPr>
                        <a:t>]</a:t>
                      </a:r>
                    </a:p>
                  </a:txBody>
                  <a:tcPr marT="34279" marB="3427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bl>
          </a:graphicData>
        </a:graphic>
      </p:graphicFrame>
      <p:sp>
        <p:nvSpPr>
          <p:cNvPr id="191490" name="Text Box 2"/>
          <p:cNvSpPr txBox="1">
            <a:spLocks noChangeArrowheads="1"/>
          </p:cNvSpPr>
          <p:nvPr/>
        </p:nvSpPr>
        <p:spPr bwMode="auto">
          <a:xfrm>
            <a:off x="0" y="0"/>
            <a:ext cx="889248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4000" b="1" dirty="0">
                <a:solidFill>
                  <a:srgbClr val="FF5050"/>
                </a:solidFill>
                <a:latin typeface="楷体_GB2312" pitchFamily="49" charset="-122"/>
                <a:ea typeface="楷体_GB2312" pitchFamily="49" charset="-122"/>
              </a:rPr>
              <a:t>（</a:t>
            </a:r>
            <a:r>
              <a:rPr lang="en-US" altLang="zh-CN" sz="4000" b="1" dirty="0">
                <a:solidFill>
                  <a:srgbClr val="FF5050"/>
                </a:solidFill>
                <a:latin typeface="楷体_GB2312" pitchFamily="49" charset="-122"/>
                <a:ea typeface="楷体_GB2312" pitchFamily="49" charset="-122"/>
              </a:rPr>
              <a:t>2</a:t>
            </a:r>
            <a:r>
              <a:rPr lang="zh-CN" altLang="en-US" sz="4000" b="1" dirty="0">
                <a:solidFill>
                  <a:srgbClr val="FF5050"/>
                </a:solidFill>
                <a:latin typeface="楷体_GB2312" pitchFamily="49" charset="-122"/>
                <a:ea typeface="楷体_GB2312" pitchFamily="49" charset="-122"/>
              </a:rPr>
              <a:t>）分析表的组成：</a:t>
            </a:r>
            <a:r>
              <a:rPr lang="en-US" altLang="zh-CN" sz="4000" b="1" dirty="0">
                <a:solidFill>
                  <a:srgbClr val="FF5050"/>
                </a:solidFill>
                <a:latin typeface="楷体_GB2312" pitchFamily="49" charset="-122"/>
                <a:ea typeface="楷体_GB2312" pitchFamily="49" charset="-122"/>
              </a:rPr>
              <a:t>action</a:t>
            </a:r>
            <a:r>
              <a:rPr lang="zh-CN" altLang="en-US" sz="4000" b="1" dirty="0">
                <a:solidFill>
                  <a:srgbClr val="FF5050"/>
                </a:solidFill>
                <a:latin typeface="楷体_GB2312" pitchFamily="49" charset="-122"/>
                <a:ea typeface="楷体_GB2312" pitchFamily="49" charset="-122"/>
              </a:rPr>
              <a:t>和</a:t>
            </a:r>
            <a:r>
              <a:rPr lang="en-US" altLang="zh-CN" sz="4000" b="1" dirty="0" err="1">
                <a:solidFill>
                  <a:srgbClr val="FF5050"/>
                </a:solidFill>
                <a:latin typeface="楷体_GB2312" pitchFamily="49" charset="-122"/>
                <a:ea typeface="楷体_GB2312" pitchFamily="49" charset="-122"/>
              </a:rPr>
              <a:t>goto</a:t>
            </a:r>
            <a:r>
              <a:rPr lang="zh-CN" altLang="en-US" sz="4000" b="1" dirty="0">
                <a:solidFill>
                  <a:srgbClr val="FF5050"/>
                </a:solidFill>
                <a:latin typeface="楷体_GB2312" pitchFamily="49" charset="-122"/>
                <a:ea typeface="楷体_GB2312" pitchFamily="49" charset="-122"/>
              </a:rPr>
              <a:t>表</a:t>
            </a:r>
          </a:p>
        </p:txBody>
      </p:sp>
      <p:graphicFrame>
        <p:nvGraphicFramePr>
          <p:cNvPr id="14408" name="Group 72"/>
          <p:cNvGraphicFramePr>
            <a:graphicFrameLocks noGrp="1"/>
          </p:cNvGraphicFramePr>
          <p:nvPr>
            <p:extLst>
              <p:ext uri="{D42A27DB-BD31-4B8C-83A1-F6EECF244321}">
                <p14:modId xmlns:p14="http://schemas.microsoft.com/office/powerpoint/2010/main" val="2365608558"/>
              </p:ext>
            </p:extLst>
          </p:nvPr>
        </p:nvGraphicFramePr>
        <p:xfrm>
          <a:off x="628993" y="1084549"/>
          <a:ext cx="4465115" cy="2414362"/>
        </p:xfrm>
        <a:graphic>
          <a:graphicData uri="http://schemas.openxmlformats.org/drawingml/2006/table">
            <a:tbl>
              <a:tblPr/>
              <a:tblGrid>
                <a:gridCol w="720699">
                  <a:extLst>
                    <a:ext uri="{9D8B030D-6E8A-4147-A177-3AD203B41FA5}">
                      <a16:colId xmlns:a16="http://schemas.microsoft.com/office/drawing/2014/main" val="20000"/>
                    </a:ext>
                  </a:extLst>
                </a:gridCol>
                <a:gridCol w="1080120">
                  <a:extLst>
                    <a:ext uri="{9D8B030D-6E8A-4147-A177-3AD203B41FA5}">
                      <a16:colId xmlns:a16="http://schemas.microsoft.com/office/drawing/2014/main" val="20001"/>
                    </a:ext>
                  </a:extLst>
                </a:gridCol>
                <a:gridCol w="1152128">
                  <a:extLst>
                    <a:ext uri="{9D8B030D-6E8A-4147-A177-3AD203B41FA5}">
                      <a16:colId xmlns:a16="http://schemas.microsoft.com/office/drawing/2014/main" val="20002"/>
                    </a:ext>
                  </a:extLst>
                </a:gridCol>
                <a:gridCol w="432048">
                  <a:extLst>
                    <a:ext uri="{9D8B030D-6E8A-4147-A177-3AD203B41FA5}">
                      <a16:colId xmlns:a16="http://schemas.microsoft.com/office/drawing/2014/main" val="20003"/>
                    </a:ext>
                  </a:extLst>
                </a:gridCol>
                <a:gridCol w="1080120">
                  <a:extLst>
                    <a:ext uri="{9D8B030D-6E8A-4147-A177-3AD203B41FA5}">
                      <a16:colId xmlns:a16="http://schemas.microsoft.com/office/drawing/2014/main" val="20004"/>
                    </a:ext>
                  </a:extLst>
                </a:gridCol>
              </a:tblGrid>
              <a:tr h="504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0" i="0" u="none" strike="noStrike" cap="none" normalizeH="0" baseline="0" dirty="0">
                          <a:ln>
                            <a:noFill/>
                          </a:ln>
                          <a:solidFill>
                            <a:schemeClr val="tx1"/>
                          </a:solidFill>
                          <a:effectLst/>
                          <a:latin typeface="Times New Roman" pitchFamily="18" charset="0"/>
                          <a:ea typeface="宋体" pitchFamily="2" charset="-122"/>
                        </a:rPr>
                        <a:t>    </a:t>
                      </a:r>
                      <a:r>
                        <a:rPr kumimoji="1" lang="zh-CN" altLang="en-US" sz="1300" b="1" i="0" u="none" strike="noStrike" cap="none" normalizeH="0" baseline="0" dirty="0">
                          <a:ln>
                            <a:noFill/>
                          </a:ln>
                          <a:solidFill>
                            <a:schemeClr val="tx1"/>
                          </a:solidFill>
                          <a:effectLst/>
                          <a:latin typeface="Times New Roman" pitchFamily="18" charset="0"/>
                          <a:ea typeface="宋体" pitchFamily="2" charset="-122"/>
                        </a:rPr>
                        <a:t>符号</a:t>
                      </a:r>
                    </a:p>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300" b="1" i="0" u="none" strike="noStrike" cap="none" normalizeH="0" baseline="0" dirty="0">
                          <a:ln>
                            <a:noFill/>
                          </a:ln>
                          <a:solidFill>
                            <a:schemeClr val="tx1"/>
                          </a:solidFill>
                          <a:effectLst/>
                          <a:latin typeface="Times New Roman" pitchFamily="18" charset="0"/>
                          <a:ea typeface="宋体" pitchFamily="2" charset="-122"/>
                        </a:rPr>
                        <a:t>状态</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0" i="0" u="none" strike="noStrike" cap="none" normalizeH="0" baseline="0" dirty="0">
                          <a:ln>
                            <a:noFill/>
                          </a:ln>
                          <a:solidFill>
                            <a:schemeClr val="tx1"/>
                          </a:solidFill>
                          <a:effectLst/>
                          <a:latin typeface="Times New Roman" pitchFamily="18" charset="0"/>
                          <a:ea typeface="宋体" pitchFamily="2" charset="-122"/>
                        </a:rPr>
                        <a:t>a</a:t>
                      </a:r>
                      <a:r>
                        <a:rPr kumimoji="1" lang="en-US" altLang="zh-CN" sz="1300" b="0" i="0" u="none" strike="noStrike" cap="none" normalizeH="0" baseline="-25000" dirty="0">
                          <a:ln>
                            <a:noFill/>
                          </a:ln>
                          <a:solidFill>
                            <a:schemeClr val="tx1"/>
                          </a:solidFill>
                          <a:effectLst/>
                          <a:latin typeface="Times New Roman" pitchFamily="18" charset="0"/>
                          <a:ea typeface="宋体" pitchFamily="2" charset="-122"/>
                        </a:rPr>
                        <a:t>1</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0"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0" i="0" u="none" strike="noStrike" cap="none" normalizeH="0" baseline="-25000">
                          <a:ln>
                            <a:noFill/>
                          </a:ln>
                          <a:solidFill>
                            <a:schemeClr val="tx1"/>
                          </a:solidFill>
                          <a:effectLst/>
                          <a:latin typeface="Times New Roman" pitchFamily="18" charset="0"/>
                          <a:ea typeface="宋体" pitchFamily="2" charset="-122"/>
                        </a:rPr>
                        <a:t>2</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t</a:t>
                      </a:r>
                    </a:p>
                  </a:txBody>
                  <a:tcPr marT="34290" marB="342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504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0</a:t>
                      </a: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0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1</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0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2</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0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t</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46975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1</a:t>
                      </a: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1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1</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1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2</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1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t</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43204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504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n</a:t>
                      </a:r>
                    </a:p>
                  </a:txBody>
                  <a:tcPr marT="34290" marB="342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n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1</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n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a:ln>
                            <a:noFill/>
                          </a:ln>
                          <a:solidFill>
                            <a:schemeClr val="tx1"/>
                          </a:solidFill>
                          <a:effectLst/>
                          <a:latin typeface="Times New Roman" pitchFamily="18" charset="0"/>
                          <a:ea typeface="宋体" pitchFamily="2" charset="-122"/>
                        </a:rPr>
                        <a:t>2</a:t>
                      </a: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action[S</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n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 </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a:t>
                      </a:r>
                      <a:r>
                        <a:rPr kumimoji="1" lang="en-US" altLang="zh-CN" sz="1300" b="1" i="0" u="none" strike="noStrike" cap="none" normalizeH="0" baseline="-25000" dirty="0">
                          <a:ln>
                            <a:noFill/>
                          </a:ln>
                          <a:solidFill>
                            <a:schemeClr val="tx1"/>
                          </a:solidFill>
                          <a:effectLst/>
                          <a:latin typeface="Times New Roman" pitchFamily="18" charset="0"/>
                          <a:ea typeface="宋体" pitchFamily="2" charset="-122"/>
                        </a:rPr>
                        <a:t>t</a:t>
                      </a:r>
                      <a:r>
                        <a:rPr kumimoji="1" lang="en-US" altLang="zh-CN" sz="1300" b="1" i="0" u="none" strike="noStrike" cap="none" normalizeH="0" baseline="0" dirty="0">
                          <a:ln>
                            <a:noFill/>
                          </a:ln>
                          <a:solidFill>
                            <a:schemeClr val="tx1"/>
                          </a:solidFill>
                          <a:effectLst/>
                          <a:latin typeface="Times New Roman" pitchFamily="18" charset="0"/>
                          <a:ea typeface="宋体" pitchFamily="2" charset="-122"/>
                        </a:rPr>
                        <a:t>]</a:t>
                      </a:r>
                    </a:p>
                  </a:txBody>
                  <a:tcPr marT="34290" marB="342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bl>
          </a:graphicData>
        </a:graphic>
      </p:graphicFrame>
      <p:sp>
        <p:nvSpPr>
          <p:cNvPr id="191530" name="Text Box 70"/>
          <p:cNvSpPr txBox="1">
            <a:spLocks noChangeArrowheads="1"/>
          </p:cNvSpPr>
          <p:nvPr/>
        </p:nvSpPr>
        <p:spPr bwMode="auto">
          <a:xfrm>
            <a:off x="1331640" y="3532822"/>
            <a:ext cx="3744416" cy="163121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a:ea typeface="华文行楷" pitchFamily="2" charset="-122"/>
                <a:cs typeface="Times New Roman" panose="02020603050405020304" pitchFamily="18" charset="0"/>
              </a:rPr>
              <a:t>action</a:t>
            </a:r>
            <a:r>
              <a:rPr lang="zh-CN" altLang="en-US" sz="2000" dirty="0">
                <a:ea typeface="华文行楷" pitchFamily="2" charset="-122"/>
                <a:cs typeface="Times New Roman" panose="02020603050405020304" pitchFamily="18" charset="0"/>
              </a:rPr>
              <a:t>表中</a:t>
            </a:r>
            <a:r>
              <a:rPr lang="en-US" altLang="zh-CN" sz="2000" dirty="0">
                <a:ea typeface="华文行楷" pitchFamily="2" charset="-122"/>
                <a:cs typeface="Times New Roman" panose="02020603050405020304" pitchFamily="18" charset="0"/>
              </a:rPr>
              <a:t>action[</a:t>
            </a:r>
            <a:r>
              <a:rPr lang="en-US" altLang="zh-CN" sz="2000" dirty="0" err="1">
                <a:ea typeface="华文行楷" pitchFamily="2" charset="-122"/>
                <a:cs typeface="Times New Roman" panose="02020603050405020304" pitchFamily="18" charset="0"/>
              </a:rPr>
              <a:t>S</a:t>
            </a:r>
            <a:r>
              <a:rPr lang="en-US" altLang="zh-CN" sz="2000" baseline="-25000" dirty="0" err="1">
                <a:ea typeface="华文行楷" pitchFamily="2" charset="-122"/>
                <a:cs typeface="Times New Roman" panose="02020603050405020304" pitchFamily="18" charset="0"/>
              </a:rPr>
              <a:t>i</a:t>
            </a:r>
            <a:r>
              <a:rPr lang="en-US" altLang="zh-CN" sz="2000" dirty="0" err="1">
                <a:ea typeface="华文行楷" pitchFamily="2" charset="-122"/>
                <a:cs typeface="Times New Roman" panose="02020603050405020304" pitchFamily="18" charset="0"/>
              </a:rPr>
              <a:t>,a</a:t>
            </a:r>
            <a:r>
              <a:rPr lang="en-US" altLang="zh-CN" sz="2000" baseline="-25000" dirty="0" err="1">
                <a:ea typeface="华文行楷" pitchFamily="2" charset="-122"/>
                <a:cs typeface="Times New Roman" panose="02020603050405020304" pitchFamily="18" charset="0"/>
              </a:rPr>
              <a:t>j</a:t>
            </a:r>
            <a:r>
              <a:rPr lang="en-US" altLang="zh-CN" sz="2000" dirty="0">
                <a:ea typeface="华文行楷" pitchFamily="2" charset="-122"/>
                <a:cs typeface="Times New Roman" panose="02020603050405020304" pitchFamily="18" charset="0"/>
              </a:rPr>
              <a:t>]</a:t>
            </a:r>
            <a:r>
              <a:rPr lang="zh-CN" altLang="en-US" sz="2000" dirty="0">
                <a:ea typeface="华文行楷" pitchFamily="2" charset="-122"/>
                <a:cs typeface="Times New Roman" panose="02020603050405020304" pitchFamily="18" charset="0"/>
              </a:rPr>
              <a:t>，指出如果当前栈顶为状态</a:t>
            </a:r>
            <a:r>
              <a:rPr lang="en-US" altLang="zh-CN" sz="2000" dirty="0">
                <a:ea typeface="华文行楷" pitchFamily="2" charset="-122"/>
                <a:cs typeface="Times New Roman" panose="02020603050405020304" pitchFamily="18" charset="0"/>
              </a:rPr>
              <a:t>S</a:t>
            </a:r>
            <a:r>
              <a:rPr lang="en-US" altLang="zh-CN" sz="2000" baseline="-25000" dirty="0">
                <a:ea typeface="华文行楷" pitchFamily="2" charset="-122"/>
                <a:cs typeface="Times New Roman" panose="02020603050405020304" pitchFamily="18" charset="0"/>
              </a:rPr>
              <a:t>i</a:t>
            </a:r>
            <a:r>
              <a:rPr lang="zh-CN" altLang="en-US" sz="2000" dirty="0">
                <a:ea typeface="华文行楷" pitchFamily="2" charset="-122"/>
                <a:cs typeface="Times New Roman" panose="02020603050405020304" pitchFamily="18" charset="0"/>
              </a:rPr>
              <a:t>，输入符号为</a:t>
            </a:r>
            <a:r>
              <a:rPr lang="en-US" altLang="zh-CN" sz="2000" dirty="0" err="1">
                <a:ea typeface="华文行楷" pitchFamily="2" charset="-122"/>
                <a:cs typeface="Times New Roman" panose="02020603050405020304" pitchFamily="18" charset="0"/>
              </a:rPr>
              <a:t>a</a:t>
            </a:r>
            <a:r>
              <a:rPr lang="en-US" altLang="zh-CN" sz="2000" baseline="-25000" dirty="0" err="1">
                <a:ea typeface="华文行楷" pitchFamily="2" charset="-122"/>
                <a:cs typeface="Times New Roman" panose="02020603050405020304" pitchFamily="18" charset="0"/>
              </a:rPr>
              <a:t>j</a:t>
            </a:r>
            <a:r>
              <a:rPr lang="zh-CN" altLang="en-US" sz="2000" dirty="0">
                <a:ea typeface="华文行楷" pitchFamily="2" charset="-122"/>
                <a:cs typeface="Times New Roman" panose="02020603050405020304" pitchFamily="18" charset="0"/>
              </a:rPr>
              <a:t>时应执行的动作。其动作有四种可能，分别为：</a:t>
            </a:r>
            <a:r>
              <a:rPr lang="zh-CN" altLang="en-US" sz="2000" dirty="0">
                <a:solidFill>
                  <a:srgbClr val="FF5050"/>
                </a:solidFill>
                <a:ea typeface="华文行楷" pitchFamily="2" charset="-122"/>
                <a:cs typeface="Times New Roman" panose="02020603050405020304" pitchFamily="18" charset="0"/>
              </a:rPr>
              <a:t>移进</a:t>
            </a:r>
            <a:r>
              <a:rPr lang="en-US" altLang="zh-CN" sz="2000" dirty="0">
                <a:solidFill>
                  <a:srgbClr val="FF5050"/>
                </a:solidFill>
                <a:ea typeface="华文行楷" pitchFamily="2" charset="-122"/>
                <a:cs typeface="Times New Roman" panose="02020603050405020304" pitchFamily="18" charset="0"/>
              </a:rPr>
              <a:t>(S)</a:t>
            </a:r>
            <a:r>
              <a:rPr lang="zh-CN" altLang="en-US" sz="2000" dirty="0">
                <a:solidFill>
                  <a:srgbClr val="FF5050"/>
                </a:solidFill>
                <a:ea typeface="华文行楷" pitchFamily="2" charset="-122"/>
                <a:cs typeface="Times New Roman" panose="02020603050405020304" pitchFamily="18" charset="0"/>
              </a:rPr>
              <a:t>、归约</a:t>
            </a:r>
            <a:r>
              <a:rPr lang="en-US" altLang="zh-CN" sz="2000" dirty="0">
                <a:solidFill>
                  <a:srgbClr val="FF5050"/>
                </a:solidFill>
                <a:ea typeface="华文行楷" pitchFamily="2" charset="-122"/>
                <a:cs typeface="Times New Roman" panose="02020603050405020304" pitchFamily="18" charset="0"/>
              </a:rPr>
              <a:t>(r)</a:t>
            </a:r>
            <a:r>
              <a:rPr lang="zh-CN" altLang="en-US" sz="2000" dirty="0">
                <a:solidFill>
                  <a:srgbClr val="FF5050"/>
                </a:solidFill>
                <a:ea typeface="华文行楷" pitchFamily="2" charset="-122"/>
                <a:cs typeface="Times New Roman" panose="02020603050405020304" pitchFamily="18" charset="0"/>
              </a:rPr>
              <a:t>、接受</a:t>
            </a:r>
            <a:r>
              <a:rPr lang="en-US" altLang="zh-CN" sz="2000" dirty="0">
                <a:solidFill>
                  <a:srgbClr val="FF5050"/>
                </a:solidFill>
                <a:ea typeface="华文行楷" pitchFamily="2" charset="-122"/>
                <a:cs typeface="Times New Roman" panose="02020603050405020304" pitchFamily="18" charset="0"/>
              </a:rPr>
              <a:t>(</a:t>
            </a:r>
            <a:r>
              <a:rPr lang="en-US" altLang="zh-CN" sz="2000" dirty="0" err="1">
                <a:solidFill>
                  <a:srgbClr val="FF5050"/>
                </a:solidFill>
                <a:ea typeface="华文行楷" pitchFamily="2" charset="-122"/>
                <a:cs typeface="Times New Roman" panose="02020603050405020304" pitchFamily="18" charset="0"/>
              </a:rPr>
              <a:t>acc</a:t>
            </a:r>
            <a:r>
              <a:rPr lang="en-US" altLang="zh-CN" sz="2000" dirty="0">
                <a:solidFill>
                  <a:srgbClr val="FF5050"/>
                </a:solidFill>
                <a:ea typeface="华文行楷" pitchFamily="2" charset="-122"/>
                <a:cs typeface="Times New Roman" panose="02020603050405020304" pitchFamily="18" charset="0"/>
              </a:rPr>
              <a:t>)</a:t>
            </a:r>
            <a:r>
              <a:rPr lang="zh-CN" altLang="en-US" sz="2000" dirty="0">
                <a:solidFill>
                  <a:srgbClr val="FF5050"/>
                </a:solidFill>
                <a:ea typeface="华文行楷" pitchFamily="2" charset="-122"/>
                <a:cs typeface="Times New Roman" panose="02020603050405020304" pitchFamily="18" charset="0"/>
              </a:rPr>
              <a:t>、出错</a:t>
            </a:r>
            <a:r>
              <a:rPr lang="en-US" altLang="zh-CN" sz="2000" dirty="0">
                <a:solidFill>
                  <a:srgbClr val="FF5050"/>
                </a:solidFill>
                <a:ea typeface="华文行楷" pitchFamily="2" charset="-122"/>
                <a:cs typeface="Times New Roman" panose="02020603050405020304" pitchFamily="18" charset="0"/>
              </a:rPr>
              <a:t>(error)</a:t>
            </a:r>
            <a:r>
              <a:rPr lang="zh-CN" altLang="en-US" sz="2000" dirty="0">
                <a:solidFill>
                  <a:srgbClr val="FF5050"/>
                </a:solidFill>
                <a:ea typeface="华文行楷" pitchFamily="2" charset="-122"/>
                <a:cs typeface="Times New Roman" panose="02020603050405020304" pitchFamily="18" charset="0"/>
              </a:rPr>
              <a:t>。</a:t>
            </a:r>
          </a:p>
        </p:txBody>
      </p:sp>
      <p:sp>
        <p:nvSpPr>
          <p:cNvPr id="191531" name="Rectangle 71"/>
          <p:cNvSpPr>
            <a:spLocks noChangeArrowheads="1"/>
          </p:cNvSpPr>
          <p:nvPr/>
        </p:nvSpPr>
        <p:spPr bwMode="auto">
          <a:xfrm>
            <a:off x="896894" y="676275"/>
            <a:ext cx="300595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200" b="1" dirty="0">
                <a:solidFill>
                  <a:schemeClr val="accent2"/>
                </a:solidFill>
                <a:latin typeface="宋体" pitchFamily="2" charset="-122"/>
                <a:ea typeface="华文行楷" pitchFamily="2" charset="-122"/>
              </a:rPr>
              <a:t>分析表</a:t>
            </a:r>
            <a:r>
              <a:rPr lang="zh-CN" altLang="en-US" sz="2200" b="1" dirty="0">
                <a:latin typeface="宋体" pitchFamily="2" charset="-122"/>
                <a:ea typeface="华文行楷" pitchFamily="2" charset="-122"/>
              </a:rPr>
              <a:t>是一个二维数组</a:t>
            </a:r>
          </a:p>
        </p:txBody>
      </p:sp>
      <p:sp>
        <p:nvSpPr>
          <p:cNvPr id="7" name="Text Box 43"/>
          <p:cNvSpPr txBox="1">
            <a:spLocks noChangeArrowheads="1"/>
          </p:cNvSpPr>
          <p:nvPr/>
        </p:nvSpPr>
        <p:spPr bwMode="auto">
          <a:xfrm>
            <a:off x="5076056" y="3532822"/>
            <a:ext cx="3600400" cy="1631216"/>
          </a:xfrm>
          <a:prstGeom prst="rect">
            <a:avLst/>
          </a:prstGeom>
          <a:ln/>
        </p:spPr>
        <p:style>
          <a:lnRef idx="2">
            <a:schemeClr val="accent4"/>
          </a:lnRef>
          <a:fillRef idx="1">
            <a:schemeClr val="lt1"/>
          </a:fillRef>
          <a:effectRef idx="0">
            <a:schemeClr val="accent4"/>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dirty="0" err="1">
                <a:ea typeface="华文行楷" pitchFamily="2" charset="-122"/>
              </a:rPr>
              <a:t>goto</a:t>
            </a:r>
            <a:r>
              <a:rPr lang="zh-CN" altLang="en-US" sz="2000" dirty="0">
                <a:ea typeface="华文行楷" pitchFamily="2" charset="-122"/>
              </a:rPr>
              <a:t>表中</a:t>
            </a:r>
            <a:r>
              <a:rPr lang="en-US" altLang="zh-CN" sz="2000" dirty="0" err="1">
                <a:ea typeface="华文行楷" pitchFamily="2" charset="-122"/>
              </a:rPr>
              <a:t>goto</a:t>
            </a:r>
            <a:r>
              <a:rPr lang="en-US" altLang="zh-CN" sz="2000" dirty="0">
                <a:ea typeface="华文行楷" pitchFamily="2" charset="-122"/>
              </a:rPr>
              <a:t>[</a:t>
            </a:r>
            <a:r>
              <a:rPr lang="en-US" altLang="zh-CN" sz="2000" dirty="0" err="1">
                <a:ea typeface="华文行楷" pitchFamily="2" charset="-122"/>
              </a:rPr>
              <a:t>S</a:t>
            </a:r>
            <a:r>
              <a:rPr lang="en-US" altLang="zh-CN" sz="2000" baseline="-25000" dirty="0" err="1">
                <a:ea typeface="华文行楷" pitchFamily="2" charset="-122"/>
              </a:rPr>
              <a:t>i</a:t>
            </a:r>
            <a:r>
              <a:rPr lang="en-US" altLang="zh-CN" sz="2000" dirty="0" err="1">
                <a:ea typeface="华文行楷" pitchFamily="2" charset="-122"/>
              </a:rPr>
              <a:t>,x</a:t>
            </a:r>
            <a:r>
              <a:rPr lang="en-US" altLang="zh-CN" sz="2000" baseline="-25000" dirty="0" err="1">
                <a:ea typeface="华文行楷" pitchFamily="2" charset="-122"/>
              </a:rPr>
              <a:t>j</a:t>
            </a:r>
            <a:r>
              <a:rPr lang="en-US" altLang="zh-CN" sz="2000" dirty="0">
                <a:ea typeface="华文行楷" pitchFamily="2" charset="-122"/>
              </a:rPr>
              <a:t>]</a:t>
            </a:r>
            <a:r>
              <a:rPr lang="zh-CN" altLang="en-US" sz="2000" dirty="0">
                <a:ea typeface="华文行楷" pitchFamily="2" charset="-122"/>
              </a:rPr>
              <a:t>指出状态为</a:t>
            </a:r>
            <a:r>
              <a:rPr lang="en-US" altLang="zh-CN" sz="2000" dirty="0">
                <a:ea typeface="华文行楷" pitchFamily="2" charset="-122"/>
              </a:rPr>
              <a:t>S</a:t>
            </a:r>
            <a:r>
              <a:rPr lang="en-US" altLang="zh-CN" sz="2000" baseline="-25000" dirty="0">
                <a:ea typeface="华文行楷" pitchFamily="2" charset="-122"/>
              </a:rPr>
              <a:t>i</a:t>
            </a:r>
            <a:r>
              <a:rPr lang="zh-CN" altLang="en-US" sz="2000" dirty="0">
                <a:ea typeface="华文行楷" pitchFamily="2" charset="-122"/>
              </a:rPr>
              <a:t>，遇到</a:t>
            </a:r>
            <a:r>
              <a:rPr lang="en-US" altLang="zh-CN" sz="2000" dirty="0" err="1">
                <a:ea typeface="华文行楷" pitchFamily="2" charset="-122"/>
              </a:rPr>
              <a:t>X</a:t>
            </a:r>
            <a:r>
              <a:rPr lang="en-US" altLang="zh-CN" sz="2000" baseline="-25000" dirty="0" err="1">
                <a:ea typeface="华文行楷" pitchFamily="2" charset="-122"/>
              </a:rPr>
              <a:t>j</a:t>
            </a:r>
            <a:r>
              <a:rPr lang="zh-CN" altLang="en-US" sz="2000" dirty="0">
                <a:ea typeface="华文行楷" pitchFamily="2" charset="-122"/>
              </a:rPr>
              <a:t>时应转到的</a:t>
            </a:r>
            <a:r>
              <a:rPr lang="zh-CN" altLang="en-US" sz="2000" dirty="0">
                <a:solidFill>
                  <a:srgbClr val="FF5050"/>
                </a:solidFill>
                <a:ea typeface="华文行楷" pitchFamily="2" charset="-122"/>
              </a:rPr>
              <a:t>下一状态</a:t>
            </a:r>
            <a:r>
              <a:rPr lang="zh-CN" altLang="en-US" sz="2000" dirty="0">
                <a:ea typeface="华文行楷" pitchFamily="2" charset="-122"/>
              </a:rPr>
              <a:t>。</a:t>
            </a:r>
          </a:p>
          <a:p>
            <a:pPr eaLnBrk="1" hangingPunct="1">
              <a:spcBef>
                <a:spcPts val="0"/>
              </a:spcBef>
              <a:buFontTx/>
              <a:buNone/>
            </a:pPr>
            <a:r>
              <a:rPr lang="zh-CN" altLang="en-US" sz="2000" b="1" dirty="0">
                <a:solidFill>
                  <a:srgbClr val="FF5050"/>
                </a:solidFill>
                <a:ea typeface="华文行楷" pitchFamily="2" charset="-122"/>
              </a:rPr>
              <a:t>显然：分析表定义了一个以文法符号为字母表的</a:t>
            </a:r>
            <a:r>
              <a:rPr lang="en-US" altLang="zh-CN" sz="2000" b="1" dirty="0">
                <a:solidFill>
                  <a:srgbClr val="FF5050"/>
                </a:solidFill>
                <a:ea typeface="华文行楷" pitchFamily="2" charset="-122"/>
              </a:rPr>
              <a:t>DFA </a:t>
            </a:r>
          </a:p>
        </p:txBody>
      </p:sp>
    </p:spTree>
    <p:extLst>
      <p:ext uri="{BB962C8B-B14F-4D97-AF65-F5344CB8AC3E}">
        <p14:creationId xmlns:p14="http://schemas.microsoft.com/office/powerpoint/2010/main" val="2183788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153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530" grpId="0" animBg="1"/>
      <p:bldP spid="7"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8651" name="Group 171"/>
          <p:cNvGraphicFramePr>
            <a:graphicFrameLocks noGrp="1"/>
          </p:cNvGraphicFramePr>
          <p:nvPr>
            <p:extLst>
              <p:ext uri="{D42A27DB-BD31-4B8C-83A1-F6EECF244321}">
                <p14:modId xmlns:p14="http://schemas.microsoft.com/office/powerpoint/2010/main" val="4149140029"/>
              </p:ext>
            </p:extLst>
          </p:nvPr>
        </p:nvGraphicFramePr>
        <p:xfrm>
          <a:off x="3611563" y="0"/>
          <a:ext cx="5327650" cy="4718248"/>
        </p:xfrm>
        <a:graphic>
          <a:graphicData uri="http://schemas.openxmlformats.org/drawingml/2006/table">
            <a:tbl>
              <a:tblPr/>
              <a:tblGrid>
                <a:gridCol w="504825">
                  <a:extLst>
                    <a:ext uri="{9D8B030D-6E8A-4147-A177-3AD203B41FA5}">
                      <a16:colId xmlns:a16="http://schemas.microsoft.com/office/drawing/2014/main" val="20000"/>
                    </a:ext>
                  </a:extLst>
                </a:gridCol>
                <a:gridCol w="503237">
                  <a:extLst>
                    <a:ext uri="{9D8B030D-6E8A-4147-A177-3AD203B41FA5}">
                      <a16:colId xmlns:a16="http://schemas.microsoft.com/office/drawing/2014/main" val="20001"/>
                    </a:ext>
                  </a:extLst>
                </a:gridCol>
                <a:gridCol w="576263">
                  <a:extLst>
                    <a:ext uri="{9D8B030D-6E8A-4147-A177-3AD203B41FA5}">
                      <a16:colId xmlns:a16="http://schemas.microsoft.com/office/drawing/2014/main" val="20002"/>
                    </a:ext>
                  </a:extLst>
                </a:gridCol>
                <a:gridCol w="576262">
                  <a:extLst>
                    <a:ext uri="{9D8B030D-6E8A-4147-A177-3AD203B41FA5}">
                      <a16:colId xmlns:a16="http://schemas.microsoft.com/office/drawing/2014/main" val="20003"/>
                    </a:ext>
                  </a:extLst>
                </a:gridCol>
                <a:gridCol w="576263">
                  <a:extLst>
                    <a:ext uri="{9D8B030D-6E8A-4147-A177-3AD203B41FA5}">
                      <a16:colId xmlns:a16="http://schemas.microsoft.com/office/drawing/2014/main" val="20004"/>
                    </a:ext>
                  </a:extLst>
                </a:gridCol>
                <a:gridCol w="576262">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419100">
                  <a:extLst>
                    <a:ext uri="{9D8B030D-6E8A-4147-A177-3AD203B41FA5}">
                      <a16:colId xmlns:a16="http://schemas.microsoft.com/office/drawing/2014/main" val="20007"/>
                    </a:ext>
                  </a:extLst>
                </a:gridCol>
                <a:gridCol w="419100">
                  <a:extLst>
                    <a:ext uri="{9D8B030D-6E8A-4147-A177-3AD203B41FA5}">
                      <a16:colId xmlns:a16="http://schemas.microsoft.com/office/drawing/2014/main" val="20008"/>
                    </a:ext>
                  </a:extLst>
                </a:gridCol>
                <a:gridCol w="528638">
                  <a:extLst>
                    <a:ext uri="{9D8B030D-6E8A-4147-A177-3AD203B41FA5}">
                      <a16:colId xmlns:a16="http://schemas.microsoft.com/office/drawing/2014/main" val="20009"/>
                    </a:ext>
                  </a:extLst>
                </a:gridCol>
              </a:tblGrid>
              <a:tr h="342882">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状态</a:t>
                      </a:r>
                    </a:p>
                  </a:txBody>
                  <a:tcPr marT="34288" marB="3428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action</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goto</a:t>
                      </a:r>
                      <a:endPar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42882">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0</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dirty="0" err="1">
                          <a:ln>
                            <a:noFill/>
                          </a:ln>
                          <a:solidFill>
                            <a:srgbClr val="FF5050"/>
                          </a:solidFill>
                          <a:effectLst/>
                          <a:latin typeface="Times New Roman" panose="02020603050405020304" pitchFamily="18" charset="0"/>
                          <a:ea typeface="宋体" panose="02010600030101010101" pitchFamily="2" charset="-122"/>
                        </a:rPr>
                        <a:t>acc</a:t>
                      </a:r>
                      <a:endParaRPr kumimoji="1" lang="en-US" altLang="zh-CN" sz="1800" b="1" i="0" u="none" strike="noStrike" cap="none" normalizeH="0" baseline="0" dirty="0">
                        <a:ln>
                          <a:noFill/>
                        </a:ln>
                        <a:solidFill>
                          <a:srgbClr val="FF5050"/>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2</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3</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4</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5</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6</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7</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8</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9</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10</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11</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sp>
        <p:nvSpPr>
          <p:cNvPr id="148642" name="AutoShape 162"/>
          <p:cNvSpPr>
            <a:spLocks noChangeArrowheads="1"/>
          </p:cNvSpPr>
          <p:nvPr/>
        </p:nvSpPr>
        <p:spPr bwMode="auto">
          <a:xfrm>
            <a:off x="3914775" y="4000723"/>
            <a:ext cx="2432050" cy="803275"/>
          </a:xfrm>
          <a:prstGeom prst="wedgeRoundRectCallout">
            <a:avLst>
              <a:gd name="adj1" fmla="val 56722"/>
              <a:gd name="adj2" fmla="val -68949"/>
              <a:gd name="adj3" fmla="val 16667"/>
            </a:avLst>
          </a:prstGeom>
          <a:solidFill>
            <a:srgbClr val="92D050"/>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err="1">
                <a:solidFill>
                  <a:srgbClr val="FF5050"/>
                </a:solidFill>
                <a:ea typeface="华文行楷" pitchFamily="2" charset="-122"/>
              </a:rPr>
              <a:t>r</a:t>
            </a:r>
            <a:r>
              <a:rPr lang="en-US" altLang="zh-CN" sz="2200" baseline="-25000" dirty="0" err="1">
                <a:solidFill>
                  <a:srgbClr val="FF5050"/>
                </a:solidFill>
                <a:ea typeface="华文行楷" pitchFamily="2" charset="-122"/>
              </a:rPr>
              <a:t>j</a:t>
            </a:r>
            <a:r>
              <a:rPr lang="zh-CN" altLang="en-US" sz="2200" dirty="0">
                <a:solidFill>
                  <a:srgbClr val="FF5050"/>
                </a:solidFill>
                <a:ea typeface="华文行楷" pitchFamily="2" charset="-122"/>
              </a:rPr>
              <a:t>表示按第</a:t>
            </a:r>
            <a:r>
              <a:rPr lang="en-US" altLang="zh-CN" sz="2200" dirty="0">
                <a:solidFill>
                  <a:srgbClr val="FF5050"/>
                </a:solidFill>
                <a:ea typeface="华文行楷" pitchFamily="2" charset="-122"/>
              </a:rPr>
              <a:t>j</a:t>
            </a:r>
            <a:r>
              <a:rPr lang="zh-CN" altLang="en-US" sz="2200" dirty="0">
                <a:solidFill>
                  <a:srgbClr val="FF5050"/>
                </a:solidFill>
                <a:ea typeface="华文行楷" pitchFamily="2" charset="-122"/>
              </a:rPr>
              <a:t>个产生式进行归约</a:t>
            </a:r>
          </a:p>
        </p:txBody>
      </p:sp>
      <p:sp>
        <p:nvSpPr>
          <p:cNvPr id="148643" name="AutoShape 163"/>
          <p:cNvSpPr>
            <a:spLocks noChangeArrowheads="1"/>
          </p:cNvSpPr>
          <p:nvPr/>
        </p:nvSpPr>
        <p:spPr bwMode="auto">
          <a:xfrm>
            <a:off x="5130800" y="1004411"/>
            <a:ext cx="2865437" cy="1099563"/>
          </a:xfrm>
          <a:prstGeom prst="wedgeRoundRectCallout">
            <a:avLst>
              <a:gd name="adj1" fmla="val -70995"/>
              <a:gd name="adj2" fmla="val 55838"/>
              <a:gd name="adj3" fmla="val 16667"/>
            </a:avLst>
          </a:prstGeom>
          <a:solidFill>
            <a:srgbClr val="92D050"/>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solidFill>
                  <a:srgbClr val="FF5050"/>
                </a:solidFill>
                <a:ea typeface="华文行楷" pitchFamily="2" charset="-122"/>
              </a:rPr>
              <a:t>S</a:t>
            </a:r>
            <a:r>
              <a:rPr lang="en-US" altLang="zh-CN" sz="2200" baseline="-25000" dirty="0">
                <a:solidFill>
                  <a:srgbClr val="FF5050"/>
                </a:solidFill>
                <a:ea typeface="华文行楷" pitchFamily="2" charset="-122"/>
              </a:rPr>
              <a:t>i</a:t>
            </a:r>
            <a:r>
              <a:rPr lang="zh-CN" altLang="en-US" sz="2200" dirty="0">
                <a:solidFill>
                  <a:srgbClr val="FF5050"/>
                </a:solidFill>
                <a:ea typeface="华文行楷" pitchFamily="2" charset="-122"/>
              </a:rPr>
              <a:t>表示把当前输入符号移进栈，第</a:t>
            </a:r>
            <a:r>
              <a:rPr lang="en-US" altLang="zh-CN" sz="2200" dirty="0" err="1">
                <a:solidFill>
                  <a:srgbClr val="FF5050"/>
                </a:solidFill>
                <a:ea typeface="华文行楷" pitchFamily="2" charset="-122"/>
              </a:rPr>
              <a:t>i</a:t>
            </a:r>
            <a:r>
              <a:rPr lang="zh-CN" altLang="en-US" sz="2200" dirty="0">
                <a:solidFill>
                  <a:srgbClr val="FF5050"/>
                </a:solidFill>
                <a:ea typeface="华文行楷" pitchFamily="2" charset="-122"/>
              </a:rPr>
              <a:t>个状态进状态栈。</a:t>
            </a:r>
          </a:p>
        </p:txBody>
      </p:sp>
      <p:sp>
        <p:nvSpPr>
          <p:cNvPr id="148644" name="AutoShape 164"/>
          <p:cNvSpPr>
            <a:spLocks noChangeArrowheads="1"/>
          </p:cNvSpPr>
          <p:nvPr/>
        </p:nvSpPr>
        <p:spPr bwMode="auto">
          <a:xfrm>
            <a:off x="5997575" y="2607696"/>
            <a:ext cx="2357438" cy="1082792"/>
          </a:xfrm>
          <a:prstGeom prst="wedgeRoundRectCallout">
            <a:avLst>
              <a:gd name="adj1" fmla="val 41648"/>
              <a:gd name="adj2" fmla="val -85625"/>
              <a:gd name="adj3" fmla="val 16667"/>
            </a:avLst>
          </a:prstGeom>
          <a:solidFill>
            <a:srgbClr val="92D050"/>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solidFill>
                  <a:srgbClr val="FF5050"/>
                </a:solidFill>
                <a:ea typeface="华文行楷" pitchFamily="2" charset="-122"/>
              </a:rPr>
              <a:t>k</a:t>
            </a:r>
            <a:r>
              <a:rPr lang="zh-CN" altLang="en-US" sz="2200" dirty="0">
                <a:solidFill>
                  <a:srgbClr val="FF5050"/>
                </a:solidFill>
                <a:ea typeface="华文行楷" pitchFamily="2" charset="-122"/>
              </a:rPr>
              <a:t>表示转第</a:t>
            </a:r>
            <a:r>
              <a:rPr lang="en-US" altLang="zh-CN" sz="2200" dirty="0">
                <a:solidFill>
                  <a:srgbClr val="FF5050"/>
                </a:solidFill>
                <a:ea typeface="华文行楷" pitchFamily="2" charset="-122"/>
              </a:rPr>
              <a:t>k</a:t>
            </a:r>
            <a:r>
              <a:rPr lang="zh-CN" altLang="en-US" sz="2200" dirty="0">
                <a:solidFill>
                  <a:srgbClr val="FF5050"/>
                </a:solidFill>
                <a:ea typeface="华文行楷" pitchFamily="2" charset="-122"/>
              </a:rPr>
              <a:t>个状态，即第</a:t>
            </a:r>
            <a:r>
              <a:rPr lang="en-US" altLang="zh-CN" sz="2200" dirty="0">
                <a:solidFill>
                  <a:srgbClr val="FF5050"/>
                </a:solidFill>
                <a:ea typeface="华文行楷" pitchFamily="2" charset="-122"/>
              </a:rPr>
              <a:t>k</a:t>
            </a:r>
            <a:r>
              <a:rPr lang="zh-CN" altLang="en-US" sz="2200" dirty="0">
                <a:solidFill>
                  <a:srgbClr val="FF5050"/>
                </a:solidFill>
                <a:ea typeface="华文行楷" pitchFamily="2" charset="-122"/>
              </a:rPr>
              <a:t>个状态进状态栈。</a:t>
            </a:r>
          </a:p>
        </p:txBody>
      </p:sp>
      <p:sp>
        <p:nvSpPr>
          <p:cNvPr id="148645" name="AutoShape 165"/>
          <p:cNvSpPr>
            <a:spLocks noChangeArrowheads="1"/>
          </p:cNvSpPr>
          <p:nvPr/>
        </p:nvSpPr>
        <p:spPr bwMode="auto">
          <a:xfrm>
            <a:off x="7164388" y="4185221"/>
            <a:ext cx="1979612" cy="834801"/>
          </a:xfrm>
          <a:prstGeom prst="wedgeRoundRectCallout">
            <a:avLst>
              <a:gd name="adj1" fmla="val -19394"/>
              <a:gd name="adj2" fmla="val -134995"/>
              <a:gd name="adj3" fmla="val 16667"/>
            </a:avLst>
          </a:prstGeom>
          <a:solidFill>
            <a:srgbClr val="92D050"/>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solidFill>
                  <a:srgbClr val="FF5050"/>
                </a:solidFill>
                <a:ea typeface="华文行楷" pitchFamily="2" charset="-122"/>
              </a:rPr>
              <a:t>空白表示分析动作出错</a:t>
            </a:r>
          </a:p>
        </p:txBody>
      </p:sp>
      <p:sp>
        <p:nvSpPr>
          <p:cNvPr id="193701" name="Rectangle 166"/>
          <p:cNvSpPr>
            <a:spLocks noChangeArrowheads="1"/>
          </p:cNvSpPr>
          <p:nvPr/>
        </p:nvSpPr>
        <p:spPr bwMode="auto">
          <a:xfrm>
            <a:off x="0" y="195263"/>
            <a:ext cx="377983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200" b="1">
                <a:solidFill>
                  <a:srgbClr val="FF5050"/>
                </a:solidFill>
                <a:ea typeface="华文行楷" pitchFamily="2" charset="-122"/>
              </a:rPr>
              <a:t>例：</a:t>
            </a:r>
            <a:r>
              <a:rPr lang="en-US" altLang="zh-CN" sz="2200" b="1">
                <a:solidFill>
                  <a:srgbClr val="FF5050"/>
                </a:solidFill>
                <a:ea typeface="华文行楷" pitchFamily="2" charset="-122"/>
              </a:rPr>
              <a:t>LR</a:t>
            </a:r>
            <a:r>
              <a:rPr lang="zh-CN" altLang="en-US" sz="2200" b="1">
                <a:solidFill>
                  <a:srgbClr val="FF5050"/>
                </a:solidFill>
                <a:ea typeface="华文行楷" pitchFamily="2" charset="-122"/>
              </a:rPr>
              <a:t>的</a:t>
            </a:r>
            <a:r>
              <a:rPr lang="en-US" altLang="zh-CN" sz="2200" b="1">
                <a:solidFill>
                  <a:srgbClr val="FF5050"/>
                </a:solidFill>
                <a:ea typeface="华文行楷" pitchFamily="2" charset="-122"/>
              </a:rPr>
              <a:t>Action</a:t>
            </a:r>
            <a:r>
              <a:rPr lang="zh-CN" altLang="en-US" sz="2200" b="1">
                <a:solidFill>
                  <a:srgbClr val="FF5050"/>
                </a:solidFill>
                <a:ea typeface="华文行楷" pitchFamily="2" charset="-122"/>
              </a:rPr>
              <a:t>和</a:t>
            </a:r>
            <a:r>
              <a:rPr lang="en-US" altLang="zh-CN" sz="2200" b="1">
                <a:solidFill>
                  <a:srgbClr val="FF5050"/>
                </a:solidFill>
                <a:ea typeface="华文行楷" pitchFamily="2" charset="-122"/>
              </a:rPr>
              <a:t>GoTo</a:t>
            </a:r>
            <a:r>
              <a:rPr lang="zh-CN" altLang="en-US" sz="2200" b="1">
                <a:solidFill>
                  <a:srgbClr val="FF5050"/>
                </a:solidFill>
                <a:ea typeface="华文行楷" pitchFamily="2" charset="-122"/>
              </a:rPr>
              <a:t>表</a:t>
            </a:r>
          </a:p>
        </p:txBody>
      </p:sp>
      <p:sp>
        <p:nvSpPr>
          <p:cNvPr id="193702" name="Text Box 167"/>
          <p:cNvSpPr txBox="1">
            <a:spLocks noChangeArrowheads="1"/>
          </p:cNvSpPr>
          <p:nvPr/>
        </p:nvSpPr>
        <p:spPr bwMode="auto">
          <a:xfrm>
            <a:off x="388938" y="1465263"/>
            <a:ext cx="2879725" cy="2225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200" b="1" dirty="0">
                <a:ea typeface="华文行楷" pitchFamily="2" charset="-122"/>
              </a:rPr>
              <a:t>    (1)  E </a:t>
            </a:r>
            <a:r>
              <a:rPr lang="en-US" altLang="zh-CN" sz="2200" b="1" dirty="0">
                <a:ea typeface="华文行楷" pitchFamily="2" charset="-122"/>
                <a:sym typeface="Symbol" pitchFamily="18" charset="2"/>
              </a:rPr>
              <a:t>E+T</a:t>
            </a:r>
          </a:p>
          <a:p>
            <a:pPr eaLnBrk="1" hangingPunct="1">
              <a:spcBef>
                <a:spcPct val="10000"/>
              </a:spcBef>
              <a:buFontTx/>
              <a:buNone/>
            </a:pPr>
            <a:r>
              <a:rPr lang="en-US" altLang="zh-CN" sz="2200" b="1" dirty="0">
                <a:ea typeface="华文行楷" pitchFamily="2" charset="-122"/>
                <a:sym typeface="Symbol" pitchFamily="18" charset="2"/>
              </a:rPr>
              <a:t>    (2)  E T</a:t>
            </a:r>
          </a:p>
          <a:p>
            <a:pPr eaLnBrk="1" hangingPunct="1">
              <a:spcBef>
                <a:spcPct val="10000"/>
              </a:spcBef>
              <a:buFontTx/>
              <a:buNone/>
            </a:pPr>
            <a:r>
              <a:rPr lang="en-US" altLang="zh-CN" sz="2200" b="1" dirty="0">
                <a:ea typeface="华文行楷" pitchFamily="2" charset="-122"/>
                <a:sym typeface="Symbol" pitchFamily="18" charset="2"/>
              </a:rPr>
              <a:t>    (3)  T T*F</a:t>
            </a:r>
          </a:p>
          <a:p>
            <a:pPr eaLnBrk="1" hangingPunct="1">
              <a:spcBef>
                <a:spcPct val="10000"/>
              </a:spcBef>
              <a:buFontTx/>
              <a:buNone/>
            </a:pPr>
            <a:r>
              <a:rPr lang="en-US" altLang="zh-CN" sz="2200" b="1" dirty="0">
                <a:ea typeface="华文行楷" pitchFamily="2" charset="-122"/>
                <a:sym typeface="Symbol" pitchFamily="18" charset="2"/>
              </a:rPr>
              <a:t>    (4)  T F</a:t>
            </a:r>
          </a:p>
          <a:p>
            <a:pPr eaLnBrk="1" hangingPunct="1">
              <a:spcBef>
                <a:spcPct val="0"/>
              </a:spcBef>
              <a:buFontTx/>
              <a:buNone/>
            </a:pPr>
            <a:r>
              <a:rPr lang="en-US" altLang="zh-CN" sz="2200" dirty="0">
                <a:ea typeface="华文行楷" pitchFamily="2" charset="-122"/>
                <a:sym typeface="Symbol" pitchFamily="18" charset="2"/>
              </a:rPr>
              <a:t>    </a:t>
            </a:r>
            <a:r>
              <a:rPr lang="en-US" altLang="zh-CN" sz="2200" b="1" dirty="0">
                <a:ea typeface="华文行楷" pitchFamily="2" charset="-122"/>
                <a:sym typeface="Symbol" pitchFamily="18" charset="2"/>
              </a:rPr>
              <a:t>(5)  F (F)</a:t>
            </a:r>
          </a:p>
          <a:p>
            <a:pPr eaLnBrk="1" hangingPunct="1">
              <a:spcBef>
                <a:spcPct val="0"/>
              </a:spcBef>
              <a:buFontTx/>
              <a:buNone/>
            </a:pPr>
            <a:r>
              <a:rPr lang="en-US" altLang="zh-CN" sz="2200" b="1" dirty="0">
                <a:ea typeface="华文行楷" pitchFamily="2" charset="-122"/>
                <a:sym typeface="Symbol" pitchFamily="18" charset="2"/>
              </a:rPr>
              <a:t>    (6)  F </a:t>
            </a:r>
            <a:r>
              <a:rPr lang="en-US" altLang="zh-CN" sz="2200" b="1" dirty="0" err="1">
                <a:ea typeface="华文行楷" pitchFamily="2" charset="-122"/>
                <a:sym typeface="Symbol" pitchFamily="18" charset="2"/>
              </a:rPr>
              <a:t>i</a:t>
            </a:r>
            <a:endParaRPr lang="en-US" altLang="zh-CN" sz="2200" b="1" dirty="0">
              <a:ea typeface="华文行楷" pitchFamily="2" charset="-122"/>
              <a:sym typeface="Symbol" pitchFamily="18" charset="2"/>
            </a:endParaRPr>
          </a:p>
        </p:txBody>
      </p:sp>
      <p:sp>
        <p:nvSpPr>
          <p:cNvPr id="148648" name="AutoShape 168"/>
          <p:cNvSpPr>
            <a:spLocks noChangeArrowheads="1"/>
          </p:cNvSpPr>
          <p:nvPr/>
        </p:nvSpPr>
        <p:spPr bwMode="auto">
          <a:xfrm>
            <a:off x="1403648" y="3711291"/>
            <a:ext cx="1849140" cy="489517"/>
          </a:xfrm>
          <a:prstGeom prst="wedgeRoundRectCallout">
            <a:avLst>
              <a:gd name="adj1" fmla="val -78667"/>
              <a:gd name="adj2" fmla="val -60278"/>
              <a:gd name="adj3" fmla="val 16667"/>
            </a:avLst>
          </a:prstGeom>
          <a:solidFill>
            <a:srgbClr val="92D050"/>
          </a:solidFill>
          <a:ln w="9525">
            <a:solidFill>
              <a:schemeClr val="accent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dirty="0">
                <a:solidFill>
                  <a:srgbClr val="FF5050"/>
                </a:solidFill>
                <a:ea typeface="华文行楷" pitchFamily="2" charset="-122"/>
              </a:rPr>
              <a:t>产生式序号</a:t>
            </a:r>
          </a:p>
        </p:txBody>
      </p:sp>
      <p:sp>
        <p:nvSpPr>
          <p:cNvPr id="193704" name="Rectangle 169"/>
          <p:cNvSpPr>
            <a:spLocks noChangeArrowheads="1"/>
          </p:cNvSpPr>
          <p:nvPr/>
        </p:nvSpPr>
        <p:spPr bwMode="auto">
          <a:xfrm>
            <a:off x="641706" y="990600"/>
            <a:ext cx="219162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dirty="0">
                <a:ea typeface="华文行楷" pitchFamily="2" charset="-122"/>
              </a:rPr>
              <a:t>设文法为</a:t>
            </a:r>
            <a:r>
              <a:rPr lang="en-US" altLang="zh-CN" sz="2200" b="1" dirty="0">
                <a:ea typeface="华文行楷" pitchFamily="2" charset="-122"/>
              </a:rPr>
              <a:t>G[L]</a:t>
            </a:r>
            <a:r>
              <a:rPr lang="zh-CN" altLang="en-US" sz="2200" b="1" dirty="0">
                <a:ea typeface="华文行楷" pitchFamily="2" charset="-122"/>
              </a:rPr>
              <a:t>：</a:t>
            </a:r>
          </a:p>
        </p:txBody>
      </p:sp>
    </p:spTree>
    <p:extLst>
      <p:ext uri="{BB962C8B-B14F-4D97-AF65-F5344CB8AC3E}">
        <p14:creationId xmlns:p14="http://schemas.microsoft.com/office/powerpoint/2010/main" val="255982941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48648"/>
                                        </p:tgtEl>
                                        <p:attrNameLst>
                                          <p:attrName>style.visibility</p:attrName>
                                        </p:attrNameLst>
                                      </p:cBhvr>
                                      <p:to>
                                        <p:strVal val="visible"/>
                                      </p:to>
                                    </p:set>
                                    <p:animEffect transition="in" filter="box(in)">
                                      <p:cBhvr>
                                        <p:cTn id="7" dur="500"/>
                                        <p:tgtEl>
                                          <p:spTgt spid="148648"/>
                                        </p:tgtEl>
                                      </p:cBhvr>
                                    </p:animEffect>
                                  </p:childTnLst>
                                  <p:subTnLst>
                                    <p:set>
                                      <p:cBhvr override="childStyle">
                                        <p:cTn dur="1" fill="hold" display="0" masterRel="nextClick" afterEffect="1"/>
                                        <p:tgtEl>
                                          <p:spTgt spid="148648"/>
                                        </p:tgtEl>
                                        <p:attrNameLst>
                                          <p:attrName>style.visibility</p:attrName>
                                        </p:attrNameLst>
                                      </p:cBhvr>
                                      <p:to>
                                        <p:strVal val="hidden"/>
                                      </p:to>
                                    </p:set>
                                  </p:sub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48642"/>
                                        </p:tgtEl>
                                        <p:attrNameLst>
                                          <p:attrName>style.visibility</p:attrName>
                                        </p:attrNameLst>
                                      </p:cBhvr>
                                      <p:to>
                                        <p:strVal val="visible"/>
                                      </p:to>
                                    </p:set>
                                    <p:animEffect transition="in" filter="box(in)">
                                      <p:cBhvr>
                                        <p:cTn id="12" dur="500"/>
                                        <p:tgtEl>
                                          <p:spTgt spid="148642"/>
                                        </p:tgtEl>
                                      </p:cBhvr>
                                    </p:animEffect>
                                  </p:childTnLst>
                                  <p:subTnLst>
                                    <p:set>
                                      <p:cBhvr override="childStyle">
                                        <p:cTn dur="1" fill="hold" display="0" masterRel="nextClick" afterEffect="1"/>
                                        <p:tgtEl>
                                          <p:spTgt spid="148642"/>
                                        </p:tgtEl>
                                        <p:attrNameLst>
                                          <p:attrName>style.visibility</p:attrName>
                                        </p:attrNameLst>
                                      </p:cBhvr>
                                      <p:to>
                                        <p:strVal val="hidden"/>
                                      </p:to>
                                    </p:set>
                                  </p:sub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48643"/>
                                        </p:tgtEl>
                                        <p:attrNameLst>
                                          <p:attrName>style.visibility</p:attrName>
                                        </p:attrNameLst>
                                      </p:cBhvr>
                                      <p:to>
                                        <p:strVal val="visible"/>
                                      </p:to>
                                    </p:set>
                                    <p:animEffect transition="in" filter="box(in)">
                                      <p:cBhvr>
                                        <p:cTn id="17" dur="500"/>
                                        <p:tgtEl>
                                          <p:spTgt spid="148643"/>
                                        </p:tgtEl>
                                      </p:cBhvr>
                                    </p:animEffect>
                                  </p:childTnLst>
                                  <p:subTnLst>
                                    <p:set>
                                      <p:cBhvr override="childStyle">
                                        <p:cTn dur="1" fill="hold" display="0" masterRel="nextClick" afterEffect="1"/>
                                        <p:tgtEl>
                                          <p:spTgt spid="148643"/>
                                        </p:tgtEl>
                                        <p:attrNameLst>
                                          <p:attrName>style.visibility</p:attrName>
                                        </p:attrNameLst>
                                      </p:cBhvr>
                                      <p:to>
                                        <p:strVal val="hidden"/>
                                      </p:to>
                                    </p:set>
                                  </p:sub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48644"/>
                                        </p:tgtEl>
                                        <p:attrNameLst>
                                          <p:attrName>style.visibility</p:attrName>
                                        </p:attrNameLst>
                                      </p:cBhvr>
                                      <p:to>
                                        <p:strVal val="visible"/>
                                      </p:to>
                                    </p:set>
                                    <p:animEffect transition="in" filter="box(in)">
                                      <p:cBhvr>
                                        <p:cTn id="22" dur="500"/>
                                        <p:tgtEl>
                                          <p:spTgt spid="148644"/>
                                        </p:tgtEl>
                                      </p:cBhvr>
                                    </p:animEffect>
                                  </p:childTnLst>
                                  <p:subTnLst>
                                    <p:set>
                                      <p:cBhvr override="childStyle">
                                        <p:cTn dur="1" fill="hold" display="0" masterRel="nextClick" afterEffect="1"/>
                                        <p:tgtEl>
                                          <p:spTgt spid="148644"/>
                                        </p:tgtEl>
                                        <p:attrNameLst>
                                          <p:attrName>style.visibility</p:attrName>
                                        </p:attrNameLst>
                                      </p:cBhvr>
                                      <p:to>
                                        <p:strVal val="hidden"/>
                                      </p:to>
                                    </p:set>
                                  </p:sub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48645"/>
                                        </p:tgtEl>
                                        <p:attrNameLst>
                                          <p:attrName>style.visibility</p:attrName>
                                        </p:attrNameLst>
                                      </p:cBhvr>
                                      <p:to>
                                        <p:strVal val="visible"/>
                                      </p:to>
                                    </p:set>
                                    <p:animEffect transition="in" filter="box(in)">
                                      <p:cBhvr>
                                        <p:cTn id="27" dur="500"/>
                                        <p:tgtEl>
                                          <p:spTgt spid="148645"/>
                                        </p:tgtEl>
                                      </p:cBhvr>
                                    </p:animEffect>
                                  </p:childTnLst>
                                  <p:subTnLst>
                                    <p:set>
                                      <p:cBhvr override="childStyle">
                                        <p:cTn dur="1" fill="hold" display="0" masterRel="nextClick" afterEffect="1"/>
                                        <p:tgtEl>
                                          <p:spTgt spid="14864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642" grpId="0" animBg="1" autoUpdateAnimBg="0"/>
      <p:bldP spid="148643" grpId="0" animBg="1" autoUpdateAnimBg="0"/>
      <p:bldP spid="148644" grpId="0" animBg="1" autoUpdateAnimBg="0"/>
      <p:bldP spid="148645" grpId="0" animBg="1" autoUpdateAnimBg="0"/>
      <p:bldP spid="148648" grpId="0" animBg="1" autoUpdateAnimBg="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2"/>
          <p:cNvSpPr txBox="1">
            <a:spLocks noChangeArrowheads="1"/>
          </p:cNvSpPr>
          <p:nvPr/>
        </p:nvSpPr>
        <p:spPr bwMode="auto">
          <a:xfrm>
            <a:off x="283229" y="771550"/>
            <a:ext cx="8642350" cy="4241161"/>
          </a:xfrm>
          <a:prstGeom prst="rect">
            <a:avLst/>
          </a:prstGeom>
          <a:solidFill>
            <a:schemeClr val="bg1"/>
          </a:solidFill>
          <a:ln>
            <a:noFill/>
          </a:ln>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b="1" dirty="0">
                <a:latin typeface="宋体" panose="02010600030101010101" pitchFamily="2" charset="-122"/>
              </a:rPr>
              <a:t>用三元式</a:t>
            </a:r>
            <a:r>
              <a:rPr lang="en-US" altLang="zh-CN" sz="2200" b="1" dirty="0">
                <a:latin typeface="宋体" panose="02010600030101010101" pitchFamily="2" charset="-122"/>
              </a:rPr>
              <a:t>:     </a:t>
            </a:r>
            <a:r>
              <a:rPr lang="en-US" altLang="zh-CN" sz="2200" b="1" dirty="0">
                <a:solidFill>
                  <a:schemeClr val="accent2"/>
                </a:solidFill>
                <a:latin typeface="宋体" panose="02010600030101010101" pitchFamily="2" charset="-122"/>
              </a:rPr>
              <a:t>(</a:t>
            </a:r>
            <a:r>
              <a:rPr lang="zh-CN" altLang="en-US" sz="2200" b="1" dirty="0">
                <a:solidFill>
                  <a:srgbClr val="0000FF"/>
                </a:solidFill>
                <a:latin typeface="宋体" panose="02010600030101010101" pitchFamily="2" charset="-122"/>
              </a:rPr>
              <a:t>状态栈</a:t>
            </a:r>
            <a:r>
              <a:rPr lang="zh-CN" altLang="en-US" sz="2200" b="1" dirty="0">
                <a:solidFill>
                  <a:schemeClr val="accent2"/>
                </a:solidFill>
                <a:latin typeface="宋体" panose="02010600030101010101" pitchFamily="2" charset="-122"/>
              </a:rPr>
              <a:t>，符号栈，剩余输入符号串</a:t>
            </a:r>
            <a:r>
              <a:rPr lang="en-US" altLang="zh-CN" sz="2200" b="1" dirty="0">
                <a:solidFill>
                  <a:schemeClr val="accent2"/>
                </a:solidFill>
                <a:latin typeface="宋体" panose="02010600030101010101" pitchFamily="2" charset="-122"/>
              </a:rPr>
              <a:t>) </a:t>
            </a:r>
          </a:p>
          <a:p>
            <a:pPr eaLnBrk="1" hangingPunct="1">
              <a:buFontTx/>
              <a:buNone/>
            </a:pPr>
            <a:r>
              <a:rPr lang="en-US" altLang="zh-CN" sz="2200" b="1" dirty="0">
                <a:latin typeface="宋体" panose="02010600030101010101" pitchFamily="2" charset="-122"/>
              </a:rPr>
              <a:t>  </a:t>
            </a:r>
            <a:r>
              <a:rPr lang="zh-CN" altLang="en-US" sz="2200" b="1" dirty="0">
                <a:latin typeface="宋体" panose="02010600030101010101" pitchFamily="2" charset="-122"/>
              </a:rPr>
              <a:t>表示分析过程中状态栈，符号栈，输入符号串的变化</a:t>
            </a:r>
          </a:p>
          <a:p>
            <a:pPr eaLnBrk="1" hangingPunct="1"/>
            <a:r>
              <a:rPr lang="zh-CN" altLang="en-US" sz="2200" b="1" dirty="0">
                <a:latin typeface="宋体" panose="02010600030101010101" pitchFamily="2" charset="-122"/>
              </a:rPr>
              <a:t>初始时，将状态</a:t>
            </a:r>
            <a:r>
              <a:rPr lang="en-US" altLang="zh-CN" sz="2200" b="1" dirty="0">
                <a:latin typeface="宋体" panose="02010600030101010101" pitchFamily="2" charset="-122"/>
              </a:rPr>
              <a:t>S</a:t>
            </a:r>
            <a:r>
              <a:rPr lang="en-US" altLang="zh-CN" sz="2200" b="1" baseline="-25000" dirty="0">
                <a:latin typeface="宋体" panose="02010600030101010101" pitchFamily="2" charset="-122"/>
              </a:rPr>
              <a:t>0</a:t>
            </a:r>
            <a:r>
              <a:rPr lang="zh-CN" altLang="en-US" sz="2200" b="1" dirty="0">
                <a:latin typeface="宋体" panose="02010600030101010101" pitchFamily="2" charset="-122"/>
              </a:rPr>
              <a:t>和</a:t>
            </a:r>
            <a:r>
              <a:rPr lang="en-US" altLang="zh-CN" sz="2200" b="1" dirty="0">
                <a:latin typeface="宋体" panose="02010600030101010101" pitchFamily="2" charset="-122"/>
              </a:rPr>
              <a:t>#</a:t>
            </a:r>
            <a:r>
              <a:rPr lang="zh-CN" altLang="en-US" sz="2200" b="1" dirty="0">
                <a:latin typeface="宋体" panose="02010600030101010101" pitchFamily="2" charset="-122"/>
              </a:rPr>
              <a:t>进分析栈。三元式为：</a:t>
            </a:r>
          </a:p>
          <a:p>
            <a:pPr eaLnBrk="1" hangingPunct="1">
              <a:buFontTx/>
              <a:buNone/>
            </a:pPr>
            <a:r>
              <a:rPr lang="zh-CN" altLang="en-US" sz="2200" b="1" dirty="0">
                <a:solidFill>
                  <a:schemeClr val="accent2"/>
                </a:solidFill>
                <a:latin typeface="宋体" panose="02010600030101010101" pitchFamily="2" charset="-122"/>
              </a:rPr>
              <a:t>			</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0</a:t>
            </a:r>
            <a:r>
              <a:rPr lang="en-US" altLang="zh-CN" sz="2800" b="1" dirty="0">
                <a:solidFill>
                  <a:schemeClr val="accent2"/>
                </a:solidFill>
                <a:latin typeface="宋体" panose="02010600030101010101" pitchFamily="2" charset="-122"/>
              </a:rPr>
              <a:t>, # , a</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2</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n</a:t>
            </a:r>
            <a:r>
              <a:rPr lang="en-US" altLang="zh-CN" sz="2800" b="1" dirty="0">
                <a:solidFill>
                  <a:schemeClr val="accent2"/>
                </a:solidFill>
                <a:latin typeface="宋体" panose="02010600030101010101" pitchFamily="2" charset="-122"/>
              </a:rPr>
              <a:t>#)</a:t>
            </a:r>
          </a:p>
          <a:p>
            <a:pPr eaLnBrk="1" hangingPunct="1"/>
            <a:endParaRPr lang="en-US" altLang="zh-CN" sz="2200" b="1" dirty="0">
              <a:latin typeface="宋体" panose="02010600030101010101" pitchFamily="2" charset="-122"/>
            </a:endParaRPr>
          </a:p>
          <a:p>
            <a:pPr eaLnBrk="1" hangingPunct="1"/>
            <a:endParaRPr lang="en-US" altLang="zh-CN" sz="2200" b="1" dirty="0">
              <a:latin typeface="宋体" panose="02010600030101010101" pitchFamily="2" charset="-122"/>
            </a:endParaRPr>
          </a:p>
          <a:p>
            <a:pPr eaLnBrk="1" hangingPunct="1"/>
            <a:r>
              <a:rPr lang="zh-CN" altLang="en-US" sz="2200" b="1" dirty="0">
                <a:latin typeface="宋体" panose="02010600030101010101" pitchFamily="2" charset="-122"/>
              </a:rPr>
              <a:t>任一时刻的三元式为：</a:t>
            </a:r>
          </a:p>
          <a:p>
            <a:pPr eaLnBrk="1" hangingPunct="1">
              <a:buFontTx/>
              <a:buNone/>
            </a:pPr>
            <a:r>
              <a:rPr lang="zh-CN" altLang="en-US" sz="2400" b="1" dirty="0">
                <a:solidFill>
                  <a:schemeClr val="accent2"/>
                </a:solidFill>
                <a:latin typeface="宋体" panose="02010600030101010101" pitchFamily="2" charset="-122"/>
              </a:rPr>
              <a:t>		</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0</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a:t>
            </a:r>
            <a:r>
              <a:rPr lang="en-US" altLang="zh-CN" sz="2800" b="1" dirty="0">
                <a:solidFill>
                  <a:srgbClr val="CC00FF"/>
                </a:solidFill>
                <a:latin typeface="宋体" panose="02010600030101010101" pitchFamily="2" charset="-122"/>
              </a:rPr>
              <a:t>S</a:t>
            </a:r>
            <a:r>
              <a:rPr lang="en-US" altLang="zh-CN" sz="2800" b="1" baseline="-25000" dirty="0">
                <a:solidFill>
                  <a:srgbClr val="CC00FF"/>
                </a:solidFill>
                <a:latin typeface="宋体" panose="02010600030101010101" pitchFamily="2" charset="-122"/>
              </a:rPr>
              <a:t>m</a:t>
            </a:r>
            <a:r>
              <a:rPr lang="en-US" altLang="zh-CN" sz="2800" b="1" dirty="0">
                <a:solidFill>
                  <a:schemeClr val="accent2"/>
                </a:solidFill>
                <a:latin typeface="宋体" panose="02010600030101010101" pitchFamily="2" charset="-122"/>
              </a:rPr>
              <a:t>, #X</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X</a:t>
            </a:r>
            <a:r>
              <a:rPr lang="en-US" altLang="zh-CN" sz="2800" b="1" baseline="-25000" dirty="0">
                <a:solidFill>
                  <a:schemeClr val="accent2"/>
                </a:solidFill>
                <a:latin typeface="宋体" panose="02010600030101010101" pitchFamily="2" charset="-122"/>
              </a:rPr>
              <a:t>2</a:t>
            </a:r>
            <a:r>
              <a:rPr lang="en-US" altLang="zh-CN" sz="2800" b="1" dirty="0">
                <a:solidFill>
                  <a:schemeClr val="accent2"/>
                </a:solidFill>
                <a:latin typeface="宋体" panose="02010600030101010101" pitchFamily="2" charset="-122"/>
              </a:rPr>
              <a:t>…</a:t>
            </a:r>
            <a:r>
              <a:rPr lang="en-US" altLang="zh-CN" sz="2800" b="1" dirty="0" err="1">
                <a:solidFill>
                  <a:schemeClr val="accent2"/>
                </a:solidFill>
                <a:latin typeface="宋体" panose="02010600030101010101" pitchFamily="2" charset="-122"/>
              </a:rPr>
              <a:t>X</a:t>
            </a:r>
            <a:r>
              <a:rPr lang="en-US" altLang="zh-CN" sz="2800" b="1" baseline="-25000" dirty="0" err="1">
                <a:solidFill>
                  <a:schemeClr val="accent2"/>
                </a:solidFill>
                <a:latin typeface="宋体" panose="02010600030101010101" pitchFamily="2" charset="-122"/>
              </a:rPr>
              <a:t>m</a:t>
            </a:r>
            <a:r>
              <a:rPr lang="en-US" altLang="zh-CN" sz="2800" b="1" dirty="0">
                <a:solidFill>
                  <a:schemeClr val="accent2"/>
                </a:solidFill>
                <a:latin typeface="宋体" panose="02010600030101010101" pitchFamily="2" charset="-122"/>
              </a:rPr>
              <a:t>, </a:t>
            </a:r>
            <a:r>
              <a:rPr lang="en-US" altLang="zh-CN" sz="2800" b="1" dirty="0">
                <a:solidFill>
                  <a:srgbClr val="CC00FF"/>
                </a:solidFill>
                <a:latin typeface="宋体" panose="02010600030101010101" pitchFamily="2" charset="-122"/>
              </a:rPr>
              <a:t>a</a:t>
            </a:r>
            <a:r>
              <a:rPr lang="en-US" altLang="zh-CN" sz="2800" b="1" baseline="-25000" dirty="0">
                <a:solidFill>
                  <a:srgbClr val="CC00FF"/>
                </a:solidFill>
                <a:latin typeface="宋体" panose="02010600030101010101" pitchFamily="2" charset="-122"/>
              </a:rPr>
              <a:t>i</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i+1</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n</a:t>
            </a:r>
            <a:r>
              <a:rPr lang="en-US" altLang="zh-CN" sz="2800" b="1" dirty="0">
                <a:solidFill>
                  <a:schemeClr val="accent2"/>
                </a:solidFill>
                <a:latin typeface="宋体" panose="02010600030101010101" pitchFamily="2" charset="-122"/>
              </a:rPr>
              <a:t>#)</a:t>
            </a:r>
          </a:p>
          <a:p>
            <a:pPr eaLnBrk="1" hangingPunct="1"/>
            <a:r>
              <a:rPr lang="zh-CN" altLang="en-US" sz="2200" b="1" dirty="0">
                <a:latin typeface="宋体" panose="02010600030101010101" pitchFamily="2" charset="-122"/>
              </a:rPr>
              <a:t>分析器的下一步动作是由栈顶状态</a:t>
            </a:r>
            <a:r>
              <a:rPr lang="en-US" altLang="zh-CN" sz="2200" b="1" dirty="0">
                <a:solidFill>
                  <a:schemeClr val="accent2"/>
                </a:solidFill>
                <a:latin typeface="宋体" panose="02010600030101010101" pitchFamily="2" charset="-122"/>
              </a:rPr>
              <a:t>S</a:t>
            </a:r>
            <a:r>
              <a:rPr lang="en-US" altLang="zh-CN" sz="2200" b="1" baseline="-25000" dirty="0">
                <a:solidFill>
                  <a:schemeClr val="accent2"/>
                </a:solidFill>
                <a:latin typeface="宋体" panose="02010600030101010101" pitchFamily="2" charset="-122"/>
              </a:rPr>
              <a:t>m</a:t>
            </a:r>
            <a:r>
              <a:rPr lang="zh-CN" altLang="en-US" sz="2200" b="1" dirty="0">
                <a:latin typeface="宋体" panose="02010600030101010101" pitchFamily="2" charset="-122"/>
              </a:rPr>
              <a:t>和当前面临的输入符号</a:t>
            </a:r>
            <a:r>
              <a:rPr lang="en-US" altLang="zh-CN" sz="2200" b="1" dirty="0" err="1">
                <a:solidFill>
                  <a:schemeClr val="accent2"/>
                </a:solidFill>
                <a:latin typeface="宋体" panose="02010600030101010101" pitchFamily="2" charset="-122"/>
              </a:rPr>
              <a:t>a</a:t>
            </a:r>
            <a:r>
              <a:rPr lang="en-US" altLang="zh-CN" sz="2200" b="1" baseline="-25000" dirty="0" err="1">
                <a:solidFill>
                  <a:schemeClr val="accent2"/>
                </a:solidFill>
                <a:latin typeface="宋体" panose="02010600030101010101" pitchFamily="2" charset="-122"/>
              </a:rPr>
              <a:t>i</a:t>
            </a:r>
            <a:r>
              <a:rPr lang="zh-CN" altLang="en-US" sz="2200" b="1" dirty="0">
                <a:latin typeface="宋体" panose="02010600030101010101" pitchFamily="2" charset="-122"/>
              </a:rPr>
              <a:t>唯一确定的。</a:t>
            </a:r>
          </a:p>
        </p:txBody>
      </p:sp>
      <p:graphicFrame>
        <p:nvGraphicFramePr>
          <p:cNvPr id="8" name="对象 7"/>
          <p:cNvGraphicFramePr>
            <a:graphicFrameLocks noChangeAspect="1"/>
          </p:cNvGraphicFramePr>
          <p:nvPr>
            <p:extLst>
              <p:ext uri="{D42A27DB-BD31-4B8C-83A1-F6EECF244321}">
                <p14:modId xmlns:p14="http://schemas.microsoft.com/office/powerpoint/2010/main" val="2311877084"/>
              </p:ext>
            </p:extLst>
          </p:nvPr>
        </p:nvGraphicFramePr>
        <p:xfrm>
          <a:off x="5449204" y="1635646"/>
          <a:ext cx="3703637" cy="2160588"/>
        </p:xfrm>
        <a:graphic>
          <a:graphicData uri="http://schemas.openxmlformats.org/presentationml/2006/ole">
            <mc:AlternateContent xmlns:mc="http://schemas.openxmlformats.org/markup-compatibility/2006">
              <mc:Choice xmlns:v="urn:schemas-microsoft-com:vml" Requires="v">
                <p:oleObj spid="_x0000_s48140" name="Visio" r:id="rId4" imgW="2710940" imgH="1576800" progId="Visio.Drawing.11">
                  <p:embed/>
                </p:oleObj>
              </mc:Choice>
              <mc:Fallback>
                <p:oleObj name="Visio" r:id="rId4" imgW="2710940" imgH="1576800" progId="Visio.Drawing.11">
                  <p:embed/>
                  <p:pic>
                    <p:nvPicPr>
                      <p:cNvPr id="8" name="对象 7"/>
                      <p:cNvPicPr>
                        <a:picLocks noChangeAspect="1" noChangeArrowheads="1"/>
                      </p:cNvPicPr>
                      <p:nvPr/>
                    </p:nvPicPr>
                    <p:blipFill>
                      <a:blip r:embed="rId5"/>
                      <a:srcRect/>
                      <a:stretch>
                        <a:fillRect/>
                      </a:stretch>
                    </p:blipFill>
                    <p:spPr bwMode="auto">
                      <a:xfrm>
                        <a:off x="5449204" y="1635646"/>
                        <a:ext cx="3703637" cy="2160588"/>
                      </a:xfrm>
                      <a:prstGeom prst="rect">
                        <a:avLst/>
                      </a:prstGeom>
                      <a:solidFill>
                        <a:schemeClr val="bg2"/>
                      </a:solidFill>
                      <a:ln w="9525">
                        <a:solidFill>
                          <a:srgbClr val="CC00FF"/>
                        </a:solidFill>
                        <a:miter lim="800000"/>
                        <a:headEnd/>
                        <a:tailEnd/>
                      </a:ln>
                    </p:spPr>
                  </p:pic>
                </p:oleObj>
              </mc:Fallback>
            </mc:AlternateContent>
          </a:graphicData>
        </a:graphic>
      </p:graphicFrame>
      <p:sp>
        <p:nvSpPr>
          <p:cNvPr id="194563" name="Rectangle 3"/>
          <p:cNvSpPr>
            <a:spLocks noChangeArrowheads="1"/>
          </p:cNvSpPr>
          <p:nvPr/>
        </p:nvSpPr>
        <p:spPr bwMode="auto">
          <a:xfrm>
            <a:off x="-108521" y="-26254"/>
            <a:ext cx="456086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4000" b="1" dirty="0">
                <a:solidFill>
                  <a:srgbClr val="FF5050"/>
                </a:solidFill>
                <a:latin typeface="楷体_GB2312" pitchFamily="49" charset="-122"/>
                <a:ea typeface="楷体_GB2312" pitchFamily="49" charset="-122"/>
              </a:rPr>
              <a:t>（</a:t>
            </a:r>
            <a:r>
              <a:rPr lang="en-US" altLang="zh-CN" sz="4000" b="1" dirty="0">
                <a:solidFill>
                  <a:srgbClr val="FF5050"/>
                </a:solidFill>
                <a:latin typeface="楷体_GB2312" pitchFamily="49" charset="-122"/>
                <a:ea typeface="楷体_GB2312" pitchFamily="49" charset="-122"/>
              </a:rPr>
              <a:t>3</a:t>
            </a:r>
            <a:r>
              <a:rPr lang="zh-CN" altLang="en-US" sz="4000" b="1" dirty="0">
                <a:solidFill>
                  <a:srgbClr val="FF5050"/>
                </a:solidFill>
                <a:latin typeface="楷体_GB2312" pitchFamily="49" charset="-122"/>
                <a:ea typeface="楷体_GB2312" pitchFamily="49" charset="-122"/>
              </a:rPr>
              <a:t>）</a:t>
            </a:r>
            <a:r>
              <a:rPr lang="en-US" altLang="zh-CN" sz="4000" b="1" dirty="0">
                <a:solidFill>
                  <a:srgbClr val="FF5050"/>
                </a:solidFill>
                <a:latin typeface="楷体_GB2312" pitchFamily="49" charset="-122"/>
                <a:ea typeface="楷体_GB2312" pitchFamily="49" charset="-122"/>
              </a:rPr>
              <a:t>LR</a:t>
            </a:r>
            <a:r>
              <a:rPr lang="zh-CN" altLang="en-US" sz="4000" b="1" dirty="0">
                <a:solidFill>
                  <a:srgbClr val="FF5050"/>
                </a:solidFill>
                <a:latin typeface="楷体_GB2312" pitchFamily="49" charset="-122"/>
                <a:ea typeface="楷体_GB2312" pitchFamily="49" charset="-122"/>
              </a:rPr>
              <a:t>分析过程：</a:t>
            </a:r>
          </a:p>
        </p:txBody>
      </p:sp>
      <p:grpSp>
        <p:nvGrpSpPr>
          <p:cNvPr id="4" name="组合 3"/>
          <p:cNvGrpSpPr/>
          <p:nvPr/>
        </p:nvGrpSpPr>
        <p:grpSpPr>
          <a:xfrm>
            <a:off x="2390800" y="3795886"/>
            <a:ext cx="2829272" cy="571500"/>
            <a:chOff x="2339752" y="3635664"/>
            <a:chExt cx="2829272" cy="571500"/>
          </a:xfrm>
        </p:grpSpPr>
        <p:sp>
          <p:nvSpPr>
            <p:cNvPr id="194565" name="Oval 4"/>
            <p:cNvSpPr>
              <a:spLocks noChangeArrowheads="1"/>
            </p:cNvSpPr>
            <p:nvPr/>
          </p:nvSpPr>
          <p:spPr bwMode="auto">
            <a:xfrm>
              <a:off x="2339752" y="3635664"/>
              <a:ext cx="432048"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194566" name="Oval 5"/>
            <p:cNvSpPr>
              <a:spLocks noChangeArrowheads="1"/>
            </p:cNvSpPr>
            <p:nvPr/>
          </p:nvSpPr>
          <p:spPr bwMode="auto">
            <a:xfrm>
              <a:off x="4788024" y="3692814"/>
              <a:ext cx="381000"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grpSp>
      <p:graphicFrame>
        <p:nvGraphicFramePr>
          <p:cNvPr id="7" name="对象 6"/>
          <p:cNvGraphicFramePr>
            <a:graphicFrameLocks noChangeAspect="1"/>
          </p:cNvGraphicFramePr>
          <p:nvPr>
            <p:extLst>
              <p:ext uri="{D42A27DB-BD31-4B8C-83A1-F6EECF244321}">
                <p14:modId xmlns:p14="http://schemas.microsoft.com/office/powerpoint/2010/main" val="3446141687"/>
              </p:ext>
            </p:extLst>
          </p:nvPr>
        </p:nvGraphicFramePr>
        <p:xfrm>
          <a:off x="5455695" y="1635646"/>
          <a:ext cx="3703578" cy="2160240"/>
        </p:xfrm>
        <a:graphic>
          <a:graphicData uri="http://schemas.openxmlformats.org/presentationml/2006/ole">
            <mc:AlternateContent xmlns:mc="http://schemas.openxmlformats.org/markup-compatibility/2006">
              <mc:Choice xmlns:v="urn:schemas-microsoft-com:vml" Requires="v">
                <p:oleObj spid="_x0000_s48141" name="Visio" r:id="rId6" imgW="2710774" imgH="1576909" progId="Visio.Drawing.11">
                  <p:embed/>
                </p:oleObj>
              </mc:Choice>
              <mc:Fallback>
                <p:oleObj name="Visio" r:id="rId6" imgW="2710774" imgH="1576909" progId="Visio.Drawing.11">
                  <p:embed/>
                  <p:pic>
                    <p:nvPicPr>
                      <p:cNvPr id="7" name="对象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5695" y="1635646"/>
                        <a:ext cx="3703578" cy="2160240"/>
                      </a:xfrm>
                      <a:prstGeom prst="rect">
                        <a:avLst/>
                      </a:prstGeom>
                      <a:solidFill>
                        <a:schemeClr val="bg2"/>
                      </a:solidFill>
                      <a:ln>
                        <a:solidFill>
                          <a:srgbClr val="CC00FF"/>
                        </a:solidFill>
                      </a:ln>
                    </p:spPr>
                  </p:pic>
                </p:oleObj>
              </mc:Fallback>
            </mc:AlternateContent>
          </a:graphicData>
        </a:graphic>
      </p:graphicFrame>
    </p:spTree>
    <p:extLst>
      <p:ext uri="{BB962C8B-B14F-4D97-AF65-F5344CB8AC3E}">
        <p14:creationId xmlns:p14="http://schemas.microsoft.com/office/powerpoint/2010/main" val="31454210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7410">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7410">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7410">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7410">
                                            <p:txEl>
                                              <p:pRg st="3" end="3"/>
                                            </p:txEl>
                                          </p:spTgt>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17410">
                                            <p:txEl>
                                              <p:pRg st="6" end="6"/>
                                            </p:txEl>
                                          </p:spTgt>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499"/>
                                          </p:stCondLst>
                                        </p:cTn>
                                        <p:tgtEl>
                                          <p:spTgt spid="17410">
                                            <p:txEl>
                                              <p:pRg st="7" end="7"/>
                                            </p:txEl>
                                          </p:spTgt>
                                        </p:tgtEl>
                                        <p:attrNameLst>
                                          <p:attrName>style.visibility</p:attrName>
                                        </p:attrNameLst>
                                      </p:cBhvr>
                                      <p:to>
                                        <p:strVal val="visible"/>
                                      </p:to>
                                    </p:set>
                                  </p:childTnLst>
                                </p:cTn>
                              </p:par>
                            </p:childTnLst>
                          </p:cTn>
                        </p:par>
                        <p:par>
                          <p:cTn id="24" fill="hold">
                            <p:stCondLst>
                              <p:cond delay="500"/>
                            </p:stCondLst>
                            <p:childTnLst>
                              <p:par>
                                <p:cTn id="25" presetID="1"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17410">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 grpId="0" build="p"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802" name="Rectangle 18"/>
          <p:cNvSpPr>
            <a:spLocks noChangeArrowheads="1"/>
          </p:cNvSpPr>
          <p:nvPr/>
        </p:nvSpPr>
        <p:spPr bwMode="auto">
          <a:xfrm>
            <a:off x="0" y="1032570"/>
            <a:ext cx="9144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a:buFontTx/>
              <a:buChar char="•"/>
            </a:pPr>
            <a:r>
              <a:rPr lang="zh-CN" altLang="en-US" sz="2200" dirty="0">
                <a:solidFill>
                  <a:srgbClr val="FF5050"/>
                </a:solidFill>
              </a:rPr>
              <a:t>移进：</a:t>
            </a:r>
            <a:r>
              <a:rPr lang="zh-CN" altLang="en-US" sz="2200" dirty="0"/>
              <a:t>若表中为</a:t>
            </a:r>
            <a:r>
              <a:rPr lang="en-US" altLang="zh-CN" sz="2200" dirty="0" err="1">
                <a:solidFill>
                  <a:srgbClr val="CC00FF"/>
                </a:solidFill>
              </a:rPr>
              <a:t>S</a:t>
            </a:r>
            <a:r>
              <a:rPr lang="en-US" altLang="zh-CN" sz="2200" baseline="-25000" dirty="0" err="1">
                <a:solidFill>
                  <a:srgbClr val="CC00FF"/>
                </a:solidFill>
              </a:rPr>
              <a:t>k</a:t>
            </a:r>
            <a:r>
              <a:rPr lang="zh-CN" altLang="en-US" sz="2200" dirty="0"/>
              <a:t>，当前输入符号</a:t>
            </a:r>
            <a:r>
              <a:rPr lang="en-US" altLang="zh-CN" sz="2200" dirty="0" err="1"/>
              <a:t>a</a:t>
            </a:r>
            <a:r>
              <a:rPr lang="en-US" altLang="zh-CN" sz="2200" baseline="-25000" dirty="0" err="1"/>
              <a:t>i</a:t>
            </a:r>
            <a:r>
              <a:rPr lang="zh-CN" altLang="en-US" sz="2200" dirty="0"/>
              <a:t>移进符号栈，将</a:t>
            </a:r>
            <a:r>
              <a:rPr lang="en-US" altLang="zh-CN" sz="2200" dirty="0"/>
              <a:t>action</a:t>
            </a:r>
            <a:r>
              <a:rPr lang="zh-CN" altLang="en-US" sz="2200" dirty="0"/>
              <a:t>表中指出的状态</a:t>
            </a:r>
            <a:r>
              <a:rPr lang="en-US" altLang="zh-CN" sz="2200" dirty="0"/>
              <a:t>k</a:t>
            </a:r>
            <a:r>
              <a:rPr lang="zh-CN" altLang="en-US" sz="2200" dirty="0"/>
              <a:t>进状态栈。</a:t>
            </a:r>
          </a:p>
        </p:txBody>
      </p:sp>
      <p:sp>
        <p:nvSpPr>
          <p:cNvPr id="195588" name="Rectangle 3"/>
          <p:cNvSpPr>
            <a:spLocks noGrp="1" noChangeArrowheads="1"/>
          </p:cNvSpPr>
          <p:nvPr>
            <p:ph type="body" idx="1"/>
          </p:nvPr>
        </p:nvSpPr>
        <p:spPr>
          <a:xfrm>
            <a:off x="390525" y="669057"/>
            <a:ext cx="8753475" cy="390525"/>
          </a:xfrm>
        </p:spPr>
        <p:txBody>
          <a:bodyPr>
            <a:noAutofit/>
          </a:bodyPr>
          <a:lstStyle/>
          <a:p>
            <a:pPr eaLnBrk="1" hangingPunct="1">
              <a:spcBef>
                <a:spcPct val="50000"/>
              </a:spcBef>
            </a:pPr>
            <a:r>
              <a:rPr lang="zh-CN" altLang="en-US" sz="2200" dirty="0"/>
              <a:t>根据</a:t>
            </a:r>
            <a:r>
              <a:rPr lang="en-US" altLang="zh-CN" sz="2200" dirty="0"/>
              <a:t>S</a:t>
            </a:r>
            <a:r>
              <a:rPr lang="en-US" altLang="zh-CN" sz="2200" baseline="-25000" dirty="0"/>
              <a:t>m</a:t>
            </a:r>
            <a:r>
              <a:rPr lang="zh-CN" altLang="en-US" sz="2200" dirty="0"/>
              <a:t>和</a:t>
            </a:r>
            <a:r>
              <a:rPr lang="en-US" altLang="zh-CN" sz="2200" dirty="0" err="1"/>
              <a:t>a</a:t>
            </a:r>
            <a:r>
              <a:rPr lang="en-US" altLang="zh-CN" sz="2200" baseline="-25000" dirty="0" err="1"/>
              <a:t>i</a:t>
            </a:r>
            <a:r>
              <a:rPr lang="zh-CN" altLang="en-US" sz="2200" dirty="0"/>
              <a:t>查</a:t>
            </a:r>
            <a:r>
              <a:rPr lang="en-US" altLang="zh-CN" sz="2200" dirty="0"/>
              <a:t>action</a:t>
            </a:r>
            <a:r>
              <a:rPr lang="zh-CN" altLang="en-US" sz="2200" dirty="0"/>
              <a:t>表</a:t>
            </a:r>
            <a:r>
              <a:rPr lang="en-US" altLang="zh-CN" sz="2200" dirty="0"/>
              <a:t>, action[</a:t>
            </a:r>
            <a:r>
              <a:rPr lang="en-US" altLang="zh-CN" sz="2200" dirty="0">
                <a:solidFill>
                  <a:schemeClr val="accent2"/>
                </a:solidFill>
              </a:rPr>
              <a:t>S</a:t>
            </a:r>
            <a:r>
              <a:rPr lang="en-US" altLang="zh-CN" sz="2200" baseline="-25000" dirty="0">
                <a:solidFill>
                  <a:schemeClr val="accent2"/>
                </a:solidFill>
              </a:rPr>
              <a:t>m,</a:t>
            </a:r>
            <a:r>
              <a:rPr lang="en-US" altLang="zh-CN" sz="2200" dirty="0"/>
              <a:t> </a:t>
            </a:r>
            <a:r>
              <a:rPr lang="en-US" altLang="zh-CN" sz="2200" dirty="0" err="1">
                <a:solidFill>
                  <a:schemeClr val="accent2"/>
                </a:solidFill>
              </a:rPr>
              <a:t>a</a:t>
            </a:r>
            <a:r>
              <a:rPr lang="en-US" altLang="zh-CN" sz="2200" baseline="-25000" dirty="0" err="1">
                <a:solidFill>
                  <a:schemeClr val="accent2"/>
                </a:solidFill>
              </a:rPr>
              <a:t>i</a:t>
            </a:r>
            <a:r>
              <a:rPr lang="en-US" altLang="zh-CN" sz="2200" dirty="0"/>
              <a:t>]</a:t>
            </a:r>
            <a:r>
              <a:rPr lang="zh-CN" altLang="en-US" sz="2200" dirty="0"/>
              <a:t>有</a:t>
            </a:r>
            <a:r>
              <a:rPr lang="en-US" altLang="zh-CN" sz="2200" dirty="0"/>
              <a:t>4</a:t>
            </a:r>
            <a:r>
              <a:rPr lang="zh-CN" altLang="en-US" sz="2200" dirty="0"/>
              <a:t>种情况：</a:t>
            </a:r>
            <a:endParaRPr lang="zh-CN" altLang="en-US" sz="2200" b="1" dirty="0"/>
          </a:p>
        </p:txBody>
      </p:sp>
      <p:grpSp>
        <p:nvGrpSpPr>
          <p:cNvPr id="2" name="Group 13"/>
          <p:cNvGrpSpPr>
            <a:grpSpLocks/>
          </p:cNvGrpSpPr>
          <p:nvPr/>
        </p:nvGrpSpPr>
        <p:grpSpPr bwMode="auto">
          <a:xfrm>
            <a:off x="3009900" y="1851670"/>
            <a:ext cx="2898775" cy="541337"/>
            <a:chOff x="2085" y="1410"/>
            <a:chExt cx="1826" cy="454"/>
          </a:xfrm>
        </p:grpSpPr>
        <p:sp>
          <p:nvSpPr>
            <p:cNvPr id="195597" name="Oval 6"/>
            <p:cNvSpPr>
              <a:spLocks noChangeArrowheads="1"/>
            </p:cNvSpPr>
            <p:nvPr/>
          </p:nvSpPr>
          <p:spPr bwMode="auto">
            <a:xfrm>
              <a:off x="2085" y="1410"/>
              <a:ext cx="241" cy="432"/>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000"/>
            </a:p>
          </p:txBody>
        </p:sp>
        <p:sp>
          <p:nvSpPr>
            <p:cNvPr id="195598" name="Oval 7"/>
            <p:cNvSpPr>
              <a:spLocks noChangeArrowheads="1"/>
            </p:cNvSpPr>
            <p:nvPr/>
          </p:nvSpPr>
          <p:spPr bwMode="auto">
            <a:xfrm>
              <a:off x="3671" y="1432"/>
              <a:ext cx="240" cy="432"/>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000"/>
            </a:p>
          </p:txBody>
        </p:sp>
      </p:grpSp>
      <p:grpSp>
        <p:nvGrpSpPr>
          <p:cNvPr id="16" name="组合 15"/>
          <p:cNvGrpSpPr/>
          <p:nvPr/>
        </p:nvGrpSpPr>
        <p:grpSpPr>
          <a:xfrm>
            <a:off x="-11401" y="54516"/>
            <a:ext cx="5668539" cy="571500"/>
            <a:chOff x="5169024" y="356671"/>
            <a:chExt cx="5668539" cy="571500"/>
          </a:xfrm>
        </p:grpSpPr>
        <p:sp>
          <p:nvSpPr>
            <p:cNvPr id="17" name="矩形 16"/>
            <p:cNvSpPr/>
            <p:nvPr/>
          </p:nvSpPr>
          <p:spPr>
            <a:xfrm>
              <a:off x="5169024" y="356671"/>
              <a:ext cx="5668539" cy="523220"/>
            </a:xfrm>
            <a:prstGeom prst="rect">
              <a:avLst/>
            </a:prstGeom>
          </p:spPr>
          <p:style>
            <a:lnRef idx="1">
              <a:schemeClr val="accent3"/>
            </a:lnRef>
            <a:fillRef idx="2">
              <a:schemeClr val="accent3"/>
            </a:fillRef>
            <a:effectRef idx="1">
              <a:schemeClr val="accent3"/>
            </a:effectRef>
            <a:fontRef idx="minor">
              <a:schemeClr val="dk1"/>
            </a:fontRef>
          </p:style>
          <p:txBody>
            <a:bodyPr wrap="none">
              <a:spAutoFit/>
            </a:bodyPr>
            <a:lstStyle/>
            <a:p>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0</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a:t>
              </a:r>
              <a:r>
                <a:rPr lang="en-US" altLang="zh-CN" sz="2800" b="1" dirty="0">
                  <a:solidFill>
                    <a:srgbClr val="CC00FF"/>
                  </a:solidFill>
                  <a:latin typeface="宋体" panose="02010600030101010101" pitchFamily="2" charset="-122"/>
                </a:rPr>
                <a:t>S</a:t>
              </a:r>
              <a:r>
                <a:rPr lang="en-US" altLang="zh-CN" sz="2800" b="1" baseline="-25000" dirty="0">
                  <a:solidFill>
                    <a:srgbClr val="CC00FF"/>
                  </a:solidFill>
                  <a:latin typeface="宋体" panose="02010600030101010101" pitchFamily="2" charset="-122"/>
                </a:rPr>
                <a:t>m</a:t>
              </a:r>
              <a:r>
                <a:rPr lang="en-US" altLang="zh-CN" sz="2800" b="1" dirty="0">
                  <a:solidFill>
                    <a:schemeClr val="accent2"/>
                  </a:solidFill>
                  <a:latin typeface="宋体" panose="02010600030101010101" pitchFamily="2" charset="-122"/>
                </a:rPr>
                <a:t>, #X</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X</a:t>
              </a:r>
              <a:r>
                <a:rPr lang="en-US" altLang="zh-CN" sz="2800" b="1" baseline="-25000" dirty="0">
                  <a:solidFill>
                    <a:schemeClr val="accent2"/>
                  </a:solidFill>
                  <a:latin typeface="宋体" panose="02010600030101010101" pitchFamily="2" charset="-122"/>
                </a:rPr>
                <a:t>2</a:t>
              </a:r>
              <a:r>
                <a:rPr lang="en-US" altLang="zh-CN" sz="2800" b="1" dirty="0">
                  <a:solidFill>
                    <a:schemeClr val="accent2"/>
                  </a:solidFill>
                  <a:latin typeface="宋体" panose="02010600030101010101" pitchFamily="2" charset="-122"/>
                </a:rPr>
                <a:t>…</a:t>
              </a:r>
              <a:r>
                <a:rPr lang="en-US" altLang="zh-CN" sz="2800" b="1" dirty="0" err="1">
                  <a:solidFill>
                    <a:schemeClr val="accent2"/>
                  </a:solidFill>
                  <a:latin typeface="宋体" panose="02010600030101010101" pitchFamily="2" charset="-122"/>
                </a:rPr>
                <a:t>X</a:t>
              </a:r>
              <a:r>
                <a:rPr lang="en-US" altLang="zh-CN" sz="2800" b="1" baseline="-25000" dirty="0" err="1">
                  <a:solidFill>
                    <a:schemeClr val="accent2"/>
                  </a:solidFill>
                  <a:latin typeface="宋体" panose="02010600030101010101" pitchFamily="2" charset="-122"/>
                </a:rPr>
                <a:t>m</a:t>
              </a:r>
              <a:r>
                <a:rPr lang="en-US" altLang="zh-CN" sz="2800" b="1" dirty="0">
                  <a:solidFill>
                    <a:schemeClr val="accent2"/>
                  </a:solidFill>
                  <a:latin typeface="宋体" panose="02010600030101010101" pitchFamily="2" charset="-122"/>
                </a:rPr>
                <a:t>, </a:t>
              </a:r>
              <a:r>
                <a:rPr lang="en-US" altLang="zh-CN" sz="2800" b="1" dirty="0">
                  <a:solidFill>
                    <a:srgbClr val="CC00FF"/>
                  </a:solidFill>
                  <a:latin typeface="宋体" panose="02010600030101010101" pitchFamily="2" charset="-122"/>
                </a:rPr>
                <a:t>a</a:t>
              </a:r>
              <a:r>
                <a:rPr lang="en-US" altLang="zh-CN" sz="2800" b="1" baseline="-25000" dirty="0">
                  <a:solidFill>
                    <a:srgbClr val="CC00FF"/>
                  </a:solidFill>
                  <a:latin typeface="宋体" panose="02010600030101010101" pitchFamily="2" charset="-122"/>
                </a:rPr>
                <a:t>i</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i+1</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n</a:t>
              </a:r>
              <a:r>
                <a:rPr lang="en-US" altLang="zh-CN" sz="2800" b="1" dirty="0">
                  <a:solidFill>
                    <a:schemeClr val="accent2"/>
                  </a:solidFill>
                  <a:latin typeface="宋体" panose="02010600030101010101" pitchFamily="2" charset="-122"/>
                </a:rPr>
                <a:t>#)</a:t>
              </a:r>
            </a:p>
          </p:txBody>
        </p:sp>
        <p:grpSp>
          <p:nvGrpSpPr>
            <p:cNvPr id="18" name="组合 17"/>
            <p:cNvGrpSpPr/>
            <p:nvPr/>
          </p:nvGrpSpPr>
          <p:grpSpPr>
            <a:xfrm>
              <a:off x="6372200" y="356671"/>
              <a:ext cx="2829272" cy="571500"/>
              <a:chOff x="2339752" y="3635664"/>
              <a:chExt cx="2829272" cy="571500"/>
            </a:xfrm>
          </p:grpSpPr>
          <p:sp>
            <p:nvSpPr>
              <p:cNvPr id="19" name="Oval 4"/>
              <p:cNvSpPr>
                <a:spLocks noChangeArrowheads="1"/>
              </p:cNvSpPr>
              <p:nvPr/>
            </p:nvSpPr>
            <p:spPr bwMode="auto">
              <a:xfrm>
                <a:off x="2339752" y="3635664"/>
                <a:ext cx="432048"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0" name="Oval 5"/>
              <p:cNvSpPr>
                <a:spLocks noChangeArrowheads="1"/>
              </p:cNvSpPr>
              <p:nvPr/>
            </p:nvSpPr>
            <p:spPr bwMode="auto">
              <a:xfrm>
                <a:off x="4788024" y="3692814"/>
                <a:ext cx="381000"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grpSp>
      </p:grpSp>
      <p:graphicFrame>
        <p:nvGraphicFramePr>
          <p:cNvPr id="5" name="表格 4"/>
          <p:cNvGraphicFramePr>
            <a:graphicFrameLocks noGrp="1"/>
          </p:cNvGraphicFramePr>
          <p:nvPr>
            <p:extLst>
              <p:ext uri="{D42A27DB-BD31-4B8C-83A1-F6EECF244321}">
                <p14:modId xmlns:p14="http://schemas.microsoft.com/office/powerpoint/2010/main" val="1754553137"/>
              </p:ext>
            </p:extLst>
          </p:nvPr>
        </p:nvGraphicFramePr>
        <p:xfrm>
          <a:off x="7494202" y="2844350"/>
          <a:ext cx="1614302" cy="2225040"/>
        </p:xfrm>
        <a:graphic>
          <a:graphicData uri="http://schemas.openxmlformats.org/drawingml/2006/table">
            <a:tbl>
              <a:tblPr firstRow="1" bandRow="1">
                <a:tableStyleId>{5C22544A-7EE6-4342-B048-85BDC9FD1C3A}</a:tableStyleId>
              </a:tblPr>
              <a:tblGrid>
                <a:gridCol w="807151">
                  <a:extLst>
                    <a:ext uri="{9D8B030D-6E8A-4147-A177-3AD203B41FA5}">
                      <a16:colId xmlns:a16="http://schemas.microsoft.com/office/drawing/2014/main" val="20000"/>
                    </a:ext>
                  </a:extLst>
                </a:gridCol>
                <a:gridCol w="807151">
                  <a:extLst>
                    <a:ext uri="{9D8B030D-6E8A-4147-A177-3AD203B41FA5}">
                      <a16:colId xmlns:a16="http://schemas.microsoft.com/office/drawing/2014/main" val="20001"/>
                    </a:ext>
                  </a:extLst>
                </a:gridCol>
              </a:tblGrid>
              <a:tr h="370840">
                <a:tc>
                  <a:txBody>
                    <a:bodyPr/>
                    <a:lstStyle/>
                    <a:p>
                      <a:pPr algn="ctr"/>
                      <a:r>
                        <a:rPr lang="en-US" altLang="zh-CN" b="0" dirty="0">
                          <a:solidFill>
                            <a:schemeClr val="tx1"/>
                          </a:solidFill>
                        </a:rPr>
                        <a:t>Sm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b="0" dirty="0" err="1">
                          <a:solidFill>
                            <a:schemeClr val="tx1"/>
                          </a:solidFill>
                        </a:rPr>
                        <a:t>Xm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0"/>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1"/>
                  </a:ext>
                </a:extLst>
              </a:tr>
              <a:tr h="370840">
                <a:tc>
                  <a:txBody>
                    <a:bodyPr/>
                    <a:lstStyle/>
                    <a:p>
                      <a:pPr algn="ctr"/>
                      <a:r>
                        <a:rPr lang="en-US" altLang="zh-CN" dirty="0"/>
                        <a:t>Sm-r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err="1"/>
                        <a:t>Xm</a:t>
                      </a:r>
                      <a:r>
                        <a:rPr lang="en-US" altLang="zh-CN" dirty="0"/>
                        <a:t>-r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2"/>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3"/>
                  </a:ext>
                </a:extLst>
              </a:tr>
              <a:tr h="370840">
                <a:tc>
                  <a:txBody>
                    <a:bodyPr/>
                    <a:lstStyle/>
                    <a:p>
                      <a:pPr algn="ctr"/>
                      <a:r>
                        <a:rPr lang="en-US" altLang="zh-CN" dirty="0"/>
                        <a:t>S1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X1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4"/>
                  </a:ext>
                </a:extLst>
              </a:tr>
              <a:tr h="370840">
                <a:tc>
                  <a:txBody>
                    <a:bodyPr/>
                    <a:lstStyle/>
                    <a:p>
                      <a:pPr algn="ctr"/>
                      <a:r>
                        <a:rPr lang="en-US" altLang="zh-CN" dirty="0"/>
                        <a:t>S0</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5"/>
                  </a:ext>
                </a:extLst>
              </a:tr>
            </a:tbl>
          </a:graphicData>
        </a:graphic>
      </p:graphicFrame>
      <p:graphicFrame>
        <p:nvGraphicFramePr>
          <p:cNvPr id="22" name="表格 21"/>
          <p:cNvGraphicFramePr>
            <a:graphicFrameLocks noGrp="1"/>
          </p:cNvGraphicFramePr>
          <p:nvPr>
            <p:extLst>
              <p:ext uri="{D42A27DB-BD31-4B8C-83A1-F6EECF244321}">
                <p14:modId xmlns:p14="http://schemas.microsoft.com/office/powerpoint/2010/main" val="3775202563"/>
              </p:ext>
            </p:extLst>
          </p:nvPr>
        </p:nvGraphicFramePr>
        <p:xfrm>
          <a:off x="7452320" y="2473510"/>
          <a:ext cx="1707270" cy="2595880"/>
        </p:xfrm>
        <a:graphic>
          <a:graphicData uri="http://schemas.openxmlformats.org/drawingml/2006/table">
            <a:tbl>
              <a:tblPr firstRow="1" bandRow="1">
                <a:tableStyleId>{5C22544A-7EE6-4342-B048-85BDC9FD1C3A}</a:tableStyleId>
              </a:tblPr>
              <a:tblGrid>
                <a:gridCol w="853635">
                  <a:extLst>
                    <a:ext uri="{9D8B030D-6E8A-4147-A177-3AD203B41FA5}">
                      <a16:colId xmlns:a16="http://schemas.microsoft.com/office/drawing/2014/main" val="20000"/>
                    </a:ext>
                  </a:extLst>
                </a:gridCol>
                <a:gridCol w="853635">
                  <a:extLst>
                    <a:ext uri="{9D8B030D-6E8A-4147-A177-3AD203B41FA5}">
                      <a16:colId xmlns:a16="http://schemas.microsoft.com/office/drawing/2014/main" val="20001"/>
                    </a:ext>
                  </a:extLst>
                </a:gridCol>
              </a:tblGrid>
              <a:tr h="370840">
                <a:tc>
                  <a:txBody>
                    <a:bodyPr/>
                    <a:lstStyle/>
                    <a:p>
                      <a:pPr algn="ctr"/>
                      <a:r>
                        <a:rPr lang="en-US" altLang="zh-CN" b="0" dirty="0">
                          <a:solidFill>
                            <a:srgbClr val="CC00FF"/>
                          </a:solidFill>
                        </a:rPr>
                        <a:t>k</a:t>
                      </a:r>
                      <a:endParaRPr lang="zh-CN" altLang="en-US" b="0" dirty="0">
                        <a:solidFill>
                          <a:srgbClr val="CC00FF"/>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b="0" dirty="0" err="1">
                          <a:solidFill>
                            <a:srgbClr val="CC00FF"/>
                          </a:solidFill>
                        </a:rPr>
                        <a:t>ai</a:t>
                      </a:r>
                      <a:endParaRPr lang="zh-CN" altLang="en-US" b="0" dirty="0">
                        <a:solidFill>
                          <a:srgbClr val="CC00FF"/>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0"/>
                  </a:ext>
                </a:extLst>
              </a:tr>
              <a:tr h="370840">
                <a:tc>
                  <a:txBody>
                    <a:bodyPr/>
                    <a:lstStyle/>
                    <a:p>
                      <a:pPr algn="ctr"/>
                      <a:r>
                        <a:rPr lang="en-US" altLang="zh-CN" b="0" dirty="0">
                          <a:solidFill>
                            <a:schemeClr val="tx1"/>
                          </a:solidFill>
                        </a:rPr>
                        <a:t>Sm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b="0" dirty="0" err="1">
                          <a:solidFill>
                            <a:schemeClr val="tx1"/>
                          </a:solidFill>
                        </a:rPr>
                        <a:t>Xm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1"/>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2"/>
                  </a:ext>
                </a:extLst>
              </a:tr>
              <a:tr h="370840">
                <a:tc>
                  <a:txBody>
                    <a:bodyPr/>
                    <a:lstStyle/>
                    <a:p>
                      <a:pPr algn="ctr"/>
                      <a:r>
                        <a:rPr lang="en-US" altLang="zh-CN" dirty="0"/>
                        <a:t>Sm-r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err="1"/>
                        <a:t>Xm</a:t>
                      </a:r>
                      <a:r>
                        <a:rPr lang="en-US" altLang="zh-CN" dirty="0"/>
                        <a:t>-r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3"/>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4"/>
                  </a:ext>
                </a:extLst>
              </a:tr>
              <a:tr h="370840">
                <a:tc>
                  <a:txBody>
                    <a:bodyPr/>
                    <a:lstStyle/>
                    <a:p>
                      <a:pPr algn="ctr"/>
                      <a:r>
                        <a:rPr lang="en-US" altLang="zh-CN" dirty="0"/>
                        <a:t>S1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X1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5"/>
                  </a:ext>
                </a:extLst>
              </a:tr>
              <a:tr h="370840">
                <a:tc>
                  <a:txBody>
                    <a:bodyPr/>
                    <a:lstStyle/>
                    <a:p>
                      <a:pPr algn="ctr"/>
                      <a:r>
                        <a:rPr lang="en-US" altLang="zh-CN" dirty="0"/>
                        <a:t>S0</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6"/>
                  </a:ext>
                </a:extLst>
              </a:tr>
            </a:tbl>
          </a:graphicData>
        </a:graphic>
      </p:graphicFrame>
      <p:pic>
        <p:nvPicPr>
          <p:cNvPr id="1229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30" y="3219823"/>
            <a:ext cx="5682556" cy="1897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9" name="Rectangle 18"/>
          <p:cNvSpPr>
            <a:spLocks noChangeArrowheads="1"/>
          </p:cNvSpPr>
          <p:nvPr/>
        </p:nvSpPr>
        <p:spPr bwMode="auto">
          <a:xfrm>
            <a:off x="40776" y="1779662"/>
            <a:ext cx="9144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buFontTx/>
              <a:buNone/>
            </a:pPr>
            <a:r>
              <a:rPr lang="zh-CN" altLang="en-US" dirty="0"/>
              <a:t>         </a:t>
            </a:r>
            <a:r>
              <a:rPr lang="en-US" altLang="zh-CN" sz="3200" b="1" dirty="0">
                <a:solidFill>
                  <a:schemeClr val="accent2"/>
                </a:solidFill>
              </a:rPr>
              <a:t>(S</a:t>
            </a:r>
            <a:r>
              <a:rPr lang="en-US" altLang="zh-CN" sz="3200" b="1" baseline="-25000" dirty="0">
                <a:solidFill>
                  <a:schemeClr val="accent2"/>
                </a:solidFill>
              </a:rPr>
              <a:t>0</a:t>
            </a:r>
            <a:r>
              <a:rPr lang="en-US" altLang="zh-CN" sz="3200" b="1" dirty="0">
                <a:solidFill>
                  <a:schemeClr val="accent2"/>
                </a:solidFill>
              </a:rPr>
              <a:t>S</a:t>
            </a:r>
            <a:r>
              <a:rPr lang="en-US" altLang="zh-CN" sz="3200" b="1" baseline="-25000" dirty="0">
                <a:solidFill>
                  <a:schemeClr val="accent2"/>
                </a:solidFill>
              </a:rPr>
              <a:t>1</a:t>
            </a:r>
            <a:r>
              <a:rPr lang="en-US" altLang="zh-CN" sz="3200" b="1" dirty="0">
                <a:solidFill>
                  <a:schemeClr val="accent2"/>
                </a:solidFill>
              </a:rPr>
              <a:t>…</a:t>
            </a:r>
            <a:r>
              <a:rPr lang="en-US" altLang="zh-CN" sz="3200" b="1" dirty="0" err="1">
                <a:solidFill>
                  <a:schemeClr val="accent2"/>
                </a:solidFill>
              </a:rPr>
              <a:t>S</a:t>
            </a:r>
            <a:r>
              <a:rPr lang="en-US" altLang="zh-CN" sz="3200" b="1" baseline="-25000" dirty="0" err="1">
                <a:solidFill>
                  <a:schemeClr val="accent2"/>
                </a:solidFill>
              </a:rPr>
              <a:t>m</a:t>
            </a:r>
            <a:r>
              <a:rPr lang="en-US" altLang="zh-CN" sz="3200" b="1" dirty="0" err="1">
                <a:solidFill>
                  <a:srgbClr val="CC00FF"/>
                </a:solidFill>
              </a:rPr>
              <a:t>k</a:t>
            </a:r>
            <a:r>
              <a:rPr lang="en-US" altLang="zh-CN" sz="3200" b="1" dirty="0">
                <a:solidFill>
                  <a:schemeClr val="accent2"/>
                </a:solidFill>
              </a:rPr>
              <a:t>, # X</a:t>
            </a:r>
            <a:r>
              <a:rPr lang="en-US" altLang="zh-CN" sz="3200" b="1" baseline="-25000" dirty="0">
                <a:solidFill>
                  <a:schemeClr val="accent2"/>
                </a:solidFill>
              </a:rPr>
              <a:t>1</a:t>
            </a:r>
            <a:r>
              <a:rPr lang="en-US" altLang="zh-CN" sz="3200" b="1" dirty="0">
                <a:solidFill>
                  <a:schemeClr val="accent2"/>
                </a:solidFill>
              </a:rPr>
              <a:t>X</a:t>
            </a:r>
            <a:r>
              <a:rPr lang="en-US" altLang="zh-CN" sz="3200" b="1" baseline="-25000" dirty="0">
                <a:solidFill>
                  <a:schemeClr val="accent2"/>
                </a:solidFill>
              </a:rPr>
              <a:t>2</a:t>
            </a:r>
            <a:r>
              <a:rPr lang="en-US" altLang="zh-CN" sz="3200" b="1" dirty="0">
                <a:solidFill>
                  <a:schemeClr val="accent2"/>
                </a:solidFill>
              </a:rPr>
              <a:t>…</a:t>
            </a:r>
            <a:r>
              <a:rPr lang="en-US" altLang="zh-CN" sz="3200" b="1" dirty="0" err="1">
                <a:solidFill>
                  <a:schemeClr val="accent2"/>
                </a:solidFill>
              </a:rPr>
              <a:t>X</a:t>
            </a:r>
            <a:r>
              <a:rPr lang="en-US" altLang="zh-CN" sz="3200" b="1" baseline="-25000" dirty="0" err="1">
                <a:solidFill>
                  <a:schemeClr val="accent2"/>
                </a:solidFill>
              </a:rPr>
              <a:t>m</a:t>
            </a:r>
            <a:r>
              <a:rPr lang="en-US" altLang="zh-CN" sz="3200" b="1" dirty="0" err="1">
                <a:solidFill>
                  <a:srgbClr val="CC00FF"/>
                </a:solidFill>
              </a:rPr>
              <a:t>a</a:t>
            </a:r>
            <a:r>
              <a:rPr lang="en-US" altLang="zh-CN" sz="3200" b="1" baseline="-25000" dirty="0" err="1">
                <a:solidFill>
                  <a:srgbClr val="CC00FF"/>
                </a:solidFill>
              </a:rPr>
              <a:t>i</a:t>
            </a:r>
            <a:r>
              <a:rPr lang="en-US" altLang="zh-CN" sz="3200" b="1" dirty="0">
                <a:solidFill>
                  <a:schemeClr val="accent2"/>
                </a:solidFill>
              </a:rPr>
              <a:t>, a</a:t>
            </a:r>
            <a:r>
              <a:rPr lang="en-US" altLang="zh-CN" sz="3200" b="1" baseline="-25000" dirty="0">
                <a:solidFill>
                  <a:schemeClr val="accent2"/>
                </a:solidFill>
              </a:rPr>
              <a:t>i+1</a:t>
            </a:r>
            <a:r>
              <a:rPr lang="en-US" altLang="zh-CN" sz="3200" b="1" dirty="0">
                <a:solidFill>
                  <a:schemeClr val="accent2"/>
                </a:solidFill>
              </a:rPr>
              <a:t>…a</a:t>
            </a:r>
            <a:r>
              <a:rPr lang="en-US" altLang="zh-CN" sz="3200" b="1" baseline="-25000" dirty="0">
                <a:solidFill>
                  <a:schemeClr val="accent2"/>
                </a:solidFill>
              </a:rPr>
              <a:t>n</a:t>
            </a:r>
            <a:r>
              <a:rPr lang="en-US" altLang="zh-CN" sz="3200" b="1" dirty="0">
                <a:solidFill>
                  <a:schemeClr val="accent2"/>
                </a:solidFill>
              </a:rPr>
              <a:t>#)</a:t>
            </a:r>
          </a:p>
        </p:txBody>
      </p:sp>
    </p:spTree>
    <p:extLst>
      <p:ext uri="{BB962C8B-B14F-4D97-AF65-F5344CB8AC3E}">
        <p14:creationId xmlns:p14="http://schemas.microsoft.com/office/powerpoint/2010/main" val="11978309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29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1880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9"/>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802" grpId="0" autoUpdateAnimBg="0"/>
      <p:bldP spid="29" grpId="0" autoUpdateAnimBg="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8" name="Rectangle 3"/>
          <p:cNvSpPr>
            <a:spLocks noGrp="1" noChangeArrowheads="1"/>
          </p:cNvSpPr>
          <p:nvPr>
            <p:ph type="body" idx="1"/>
          </p:nvPr>
        </p:nvSpPr>
        <p:spPr>
          <a:xfrm>
            <a:off x="390525" y="669057"/>
            <a:ext cx="8753475" cy="390525"/>
          </a:xfrm>
        </p:spPr>
        <p:txBody>
          <a:bodyPr>
            <a:noAutofit/>
          </a:bodyPr>
          <a:lstStyle/>
          <a:p>
            <a:pPr eaLnBrk="1" hangingPunct="1">
              <a:spcBef>
                <a:spcPct val="50000"/>
              </a:spcBef>
            </a:pPr>
            <a:r>
              <a:rPr lang="zh-CN" altLang="en-US" sz="2200" dirty="0"/>
              <a:t>根据</a:t>
            </a:r>
            <a:r>
              <a:rPr lang="en-US" altLang="zh-CN" sz="2200" dirty="0"/>
              <a:t>S</a:t>
            </a:r>
            <a:r>
              <a:rPr lang="en-US" altLang="zh-CN" sz="2200" baseline="-25000" dirty="0"/>
              <a:t>m</a:t>
            </a:r>
            <a:r>
              <a:rPr lang="zh-CN" altLang="en-US" sz="2200" dirty="0"/>
              <a:t>和</a:t>
            </a:r>
            <a:r>
              <a:rPr lang="en-US" altLang="zh-CN" sz="2200" dirty="0" err="1"/>
              <a:t>a</a:t>
            </a:r>
            <a:r>
              <a:rPr lang="en-US" altLang="zh-CN" sz="2200" baseline="-25000" dirty="0" err="1"/>
              <a:t>i</a:t>
            </a:r>
            <a:r>
              <a:rPr lang="zh-CN" altLang="en-US" sz="2200" dirty="0"/>
              <a:t>查</a:t>
            </a:r>
            <a:r>
              <a:rPr lang="en-US" altLang="zh-CN" sz="2200" dirty="0"/>
              <a:t>action</a:t>
            </a:r>
            <a:r>
              <a:rPr lang="zh-CN" altLang="en-US" sz="2200" dirty="0"/>
              <a:t>表</a:t>
            </a:r>
            <a:r>
              <a:rPr lang="en-US" altLang="zh-CN" sz="2200" dirty="0"/>
              <a:t>, action[</a:t>
            </a:r>
            <a:r>
              <a:rPr lang="en-US" altLang="zh-CN" sz="2200" dirty="0">
                <a:solidFill>
                  <a:schemeClr val="accent2"/>
                </a:solidFill>
              </a:rPr>
              <a:t>S</a:t>
            </a:r>
            <a:r>
              <a:rPr lang="en-US" altLang="zh-CN" sz="2200" baseline="-25000" dirty="0">
                <a:solidFill>
                  <a:schemeClr val="accent2"/>
                </a:solidFill>
              </a:rPr>
              <a:t>m,</a:t>
            </a:r>
            <a:r>
              <a:rPr lang="en-US" altLang="zh-CN" sz="2200" dirty="0"/>
              <a:t> </a:t>
            </a:r>
            <a:r>
              <a:rPr lang="en-US" altLang="zh-CN" sz="2200" dirty="0" err="1">
                <a:solidFill>
                  <a:schemeClr val="accent2"/>
                </a:solidFill>
              </a:rPr>
              <a:t>a</a:t>
            </a:r>
            <a:r>
              <a:rPr lang="en-US" altLang="zh-CN" sz="2200" baseline="-25000" dirty="0" err="1">
                <a:solidFill>
                  <a:schemeClr val="accent2"/>
                </a:solidFill>
              </a:rPr>
              <a:t>i</a:t>
            </a:r>
            <a:r>
              <a:rPr lang="en-US" altLang="zh-CN" sz="2200" dirty="0"/>
              <a:t>]</a:t>
            </a:r>
            <a:r>
              <a:rPr lang="zh-CN" altLang="en-US" sz="2200" dirty="0"/>
              <a:t>有</a:t>
            </a:r>
            <a:r>
              <a:rPr lang="en-US" altLang="zh-CN" sz="2200" dirty="0"/>
              <a:t>4</a:t>
            </a:r>
            <a:r>
              <a:rPr lang="zh-CN" altLang="en-US" sz="2200" dirty="0"/>
              <a:t>种情况：</a:t>
            </a:r>
            <a:endParaRPr lang="zh-CN" altLang="en-US" sz="2200" b="1" dirty="0"/>
          </a:p>
        </p:txBody>
      </p:sp>
      <p:grpSp>
        <p:nvGrpSpPr>
          <p:cNvPr id="3" name="Group 14"/>
          <p:cNvGrpSpPr>
            <a:grpSpLocks/>
          </p:cNvGrpSpPr>
          <p:nvPr/>
        </p:nvGrpSpPr>
        <p:grpSpPr bwMode="auto">
          <a:xfrm>
            <a:off x="2048619" y="2283718"/>
            <a:ext cx="3819525" cy="565150"/>
            <a:chOff x="1775" y="3204"/>
            <a:chExt cx="2406" cy="475"/>
          </a:xfrm>
        </p:grpSpPr>
        <p:sp>
          <p:nvSpPr>
            <p:cNvPr id="195595" name="Oval 9"/>
            <p:cNvSpPr>
              <a:spLocks noChangeArrowheads="1"/>
            </p:cNvSpPr>
            <p:nvPr/>
          </p:nvSpPr>
          <p:spPr bwMode="auto">
            <a:xfrm>
              <a:off x="1775" y="3247"/>
              <a:ext cx="396" cy="432"/>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000"/>
            </a:p>
          </p:txBody>
        </p:sp>
        <p:sp>
          <p:nvSpPr>
            <p:cNvPr id="195596" name="Oval 10"/>
            <p:cNvSpPr>
              <a:spLocks noChangeArrowheads="1"/>
            </p:cNvSpPr>
            <p:nvPr/>
          </p:nvSpPr>
          <p:spPr bwMode="auto">
            <a:xfrm>
              <a:off x="3941" y="3204"/>
              <a:ext cx="240" cy="432"/>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000"/>
            </a:p>
          </p:txBody>
        </p:sp>
      </p:grpSp>
      <p:sp>
        <p:nvSpPr>
          <p:cNvPr id="118796" name="Oval 12"/>
          <p:cNvSpPr>
            <a:spLocks noChangeArrowheads="1"/>
          </p:cNvSpPr>
          <p:nvPr/>
        </p:nvSpPr>
        <p:spPr bwMode="auto">
          <a:xfrm>
            <a:off x="2728367" y="2283718"/>
            <a:ext cx="396875" cy="514350"/>
          </a:xfrm>
          <a:prstGeom prst="ellipse">
            <a:avLst/>
          </a:prstGeom>
          <a:noFill/>
          <a:ln w="38100">
            <a:solidFill>
              <a:srgbClr val="FF505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en-US" sz="2000"/>
          </a:p>
        </p:txBody>
      </p:sp>
      <p:sp>
        <p:nvSpPr>
          <p:cNvPr id="118801" name="Rectangle 17"/>
          <p:cNvSpPr>
            <a:spLocks noChangeArrowheads="1"/>
          </p:cNvSpPr>
          <p:nvPr/>
        </p:nvSpPr>
        <p:spPr bwMode="auto">
          <a:xfrm>
            <a:off x="-108520" y="1131590"/>
            <a:ext cx="9144000" cy="167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indent="-7620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spcBef>
                <a:spcPct val="50000"/>
              </a:spcBef>
              <a:buFontTx/>
              <a:buChar char="•"/>
            </a:pPr>
            <a:r>
              <a:rPr lang="en-US" altLang="zh-CN" sz="2200" dirty="0">
                <a:solidFill>
                  <a:srgbClr val="FF5050"/>
                </a:solidFill>
              </a:rPr>
              <a:t> </a:t>
            </a:r>
          </a:p>
          <a:p>
            <a:pPr lvl="1" eaLnBrk="1" hangingPunct="1">
              <a:spcBef>
                <a:spcPct val="50000"/>
              </a:spcBef>
              <a:buFontTx/>
              <a:buChar char="•"/>
            </a:pPr>
            <a:endParaRPr lang="en-US" altLang="zh-CN" sz="2200" dirty="0">
              <a:solidFill>
                <a:srgbClr val="FF5050"/>
              </a:solidFill>
            </a:endParaRPr>
          </a:p>
          <a:p>
            <a:pPr lvl="1" eaLnBrk="1" hangingPunct="1">
              <a:spcBef>
                <a:spcPct val="50000"/>
              </a:spcBef>
              <a:buFontTx/>
              <a:buChar char="•"/>
            </a:pPr>
            <a:r>
              <a:rPr lang="zh-CN" altLang="en-US" sz="2200" dirty="0"/>
              <a:t> </a:t>
            </a:r>
            <a:r>
              <a:rPr lang="zh-CN" altLang="en-US" dirty="0">
                <a:solidFill>
                  <a:schemeClr val="accent2"/>
                </a:solidFill>
              </a:rPr>
              <a:t> </a:t>
            </a:r>
            <a:r>
              <a:rPr lang="en-US" altLang="zh-CN" sz="3200" b="1" dirty="0">
                <a:solidFill>
                  <a:schemeClr val="accent2"/>
                </a:solidFill>
              </a:rPr>
              <a:t>(S</a:t>
            </a:r>
            <a:r>
              <a:rPr lang="en-US" altLang="zh-CN" sz="3200" b="1" baseline="-25000" dirty="0">
                <a:solidFill>
                  <a:schemeClr val="accent2"/>
                </a:solidFill>
              </a:rPr>
              <a:t>0</a:t>
            </a:r>
            <a:r>
              <a:rPr lang="en-US" altLang="zh-CN" sz="3200" b="1" dirty="0">
                <a:solidFill>
                  <a:schemeClr val="accent2"/>
                </a:solidFill>
              </a:rPr>
              <a:t>S</a:t>
            </a:r>
            <a:r>
              <a:rPr lang="en-US" altLang="zh-CN" sz="3200" b="1" baseline="-25000" dirty="0">
                <a:solidFill>
                  <a:schemeClr val="accent2"/>
                </a:solidFill>
              </a:rPr>
              <a:t>1</a:t>
            </a:r>
            <a:r>
              <a:rPr lang="en-US" altLang="zh-CN" sz="3200" b="1" dirty="0">
                <a:solidFill>
                  <a:schemeClr val="accent2"/>
                </a:solidFill>
              </a:rPr>
              <a:t> … S</a:t>
            </a:r>
            <a:r>
              <a:rPr lang="en-US" altLang="zh-CN" sz="3200" b="1" baseline="-25000" dirty="0">
                <a:solidFill>
                  <a:schemeClr val="accent2"/>
                </a:solidFill>
              </a:rPr>
              <a:t>m-r </a:t>
            </a:r>
            <a:r>
              <a:rPr lang="en-US" altLang="zh-CN" sz="3200" b="1" dirty="0">
                <a:solidFill>
                  <a:schemeClr val="accent2"/>
                </a:solidFill>
              </a:rPr>
              <a:t>   ,# X</a:t>
            </a:r>
            <a:r>
              <a:rPr lang="en-US" altLang="zh-CN" sz="3200" b="1" baseline="-25000" dirty="0">
                <a:solidFill>
                  <a:schemeClr val="accent2"/>
                </a:solidFill>
              </a:rPr>
              <a:t>1</a:t>
            </a:r>
            <a:r>
              <a:rPr lang="en-US" altLang="zh-CN" sz="3200" b="1" dirty="0">
                <a:solidFill>
                  <a:schemeClr val="accent2"/>
                </a:solidFill>
              </a:rPr>
              <a:t>X</a:t>
            </a:r>
            <a:r>
              <a:rPr lang="en-US" altLang="zh-CN" sz="3200" b="1" baseline="-25000" dirty="0">
                <a:solidFill>
                  <a:schemeClr val="accent2"/>
                </a:solidFill>
              </a:rPr>
              <a:t>2</a:t>
            </a:r>
            <a:r>
              <a:rPr lang="en-US" altLang="zh-CN" sz="3200" b="1" dirty="0">
                <a:solidFill>
                  <a:schemeClr val="accent2"/>
                </a:solidFill>
              </a:rPr>
              <a:t>…</a:t>
            </a:r>
            <a:r>
              <a:rPr lang="en-US" altLang="zh-CN" sz="3200" b="1" dirty="0" err="1">
                <a:solidFill>
                  <a:schemeClr val="accent2"/>
                </a:solidFill>
              </a:rPr>
              <a:t>X</a:t>
            </a:r>
            <a:r>
              <a:rPr lang="en-US" altLang="zh-CN" sz="3200" b="1" baseline="-25000" dirty="0" err="1">
                <a:solidFill>
                  <a:schemeClr val="accent2"/>
                </a:solidFill>
              </a:rPr>
              <a:t>m-r</a:t>
            </a:r>
            <a:r>
              <a:rPr lang="en-US" altLang="zh-CN" sz="3200" b="1" dirty="0" err="1">
                <a:solidFill>
                  <a:srgbClr val="0000FF"/>
                </a:solidFill>
              </a:rPr>
              <a:t>A</a:t>
            </a:r>
            <a:r>
              <a:rPr lang="en-US" altLang="zh-CN" sz="3200" b="1" dirty="0">
                <a:solidFill>
                  <a:schemeClr val="accent2"/>
                </a:solidFill>
              </a:rPr>
              <a:t> , a</a:t>
            </a:r>
            <a:r>
              <a:rPr lang="en-US" altLang="zh-CN" sz="3200" b="1" baseline="-25000" dirty="0">
                <a:solidFill>
                  <a:schemeClr val="accent2"/>
                </a:solidFill>
              </a:rPr>
              <a:t>i</a:t>
            </a:r>
            <a:r>
              <a:rPr lang="en-US" altLang="zh-CN" sz="3200" b="1" dirty="0">
                <a:solidFill>
                  <a:schemeClr val="accent2"/>
                </a:solidFill>
              </a:rPr>
              <a:t>a</a:t>
            </a:r>
            <a:r>
              <a:rPr lang="en-US" altLang="zh-CN" sz="3200" b="1" baseline="-25000" dirty="0">
                <a:solidFill>
                  <a:schemeClr val="accent2"/>
                </a:solidFill>
              </a:rPr>
              <a:t>i+1</a:t>
            </a:r>
            <a:r>
              <a:rPr lang="en-US" altLang="zh-CN" sz="3200" b="1" dirty="0">
                <a:solidFill>
                  <a:schemeClr val="accent2"/>
                </a:solidFill>
              </a:rPr>
              <a:t>…a</a:t>
            </a:r>
            <a:r>
              <a:rPr lang="en-US" altLang="zh-CN" sz="3200" b="1" baseline="-25000" dirty="0">
                <a:solidFill>
                  <a:schemeClr val="accent2"/>
                </a:solidFill>
              </a:rPr>
              <a:t>n</a:t>
            </a:r>
            <a:r>
              <a:rPr lang="en-US" altLang="zh-CN" sz="3200" b="1" dirty="0">
                <a:solidFill>
                  <a:schemeClr val="accent2"/>
                </a:solidFill>
              </a:rPr>
              <a:t> #)</a:t>
            </a:r>
          </a:p>
        </p:txBody>
      </p:sp>
      <p:sp>
        <p:nvSpPr>
          <p:cNvPr id="4" name="矩形 3"/>
          <p:cNvSpPr/>
          <p:nvPr/>
        </p:nvSpPr>
        <p:spPr>
          <a:xfrm>
            <a:off x="2699792" y="2308057"/>
            <a:ext cx="394660" cy="523220"/>
          </a:xfrm>
          <a:prstGeom prst="rect">
            <a:avLst/>
          </a:prstGeom>
        </p:spPr>
        <p:txBody>
          <a:bodyPr wrap="none">
            <a:spAutoFit/>
          </a:bodyPr>
          <a:lstStyle/>
          <a:p>
            <a:r>
              <a:rPr lang="en-US" altLang="zh-CN" sz="2800" b="1" dirty="0">
                <a:solidFill>
                  <a:srgbClr val="CC00FF"/>
                </a:solidFill>
              </a:rPr>
              <a:t>k</a:t>
            </a:r>
            <a:endParaRPr lang="zh-CN" altLang="en-US" sz="2800" dirty="0"/>
          </a:p>
        </p:txBody>
      </p:sp>
      <p:grpSp>
        <p:nvGrpSpPr>
          <p:cNvPr id="16" name="组合 15"/>
          <p:cNvGrpSpPr/>
          <p:nvPr/>
        </p:nvGrpSpPr>
        <p:grpSpPr>
          <a:xfrm>
            <a:off x="-11401" y="54516"/>
            <a:ext cx="5668539" cy="571500"/>
            <a:chOff x="5169024" y="356671"/>
            <a:chExt cx="5668539" cy="571500"/>
          </a:xfrm>
        </p:grpSpPr>
        <p:sp>
          <p:nvSpPr>
            <p:cNvPr id="17" name="矩形 16"/>
            <p:cNvSpPr/>
            <p:nvPr/>
          </p:nvSpPr>
          <p:spPr>
            <a:xfrm>
              <a:off x="5169024" y="356671"/>
              <a:ext cx="5668539" cy="523220"/>
            </a:xfrm>
            <a:prstGeom prst="rect">
              <a:avLst/>
            </a:prstGeom>
          </p:spPr>
          <p:style>
            <a:lnRef idx="1">
              <a:schemeClr val="accent3"/>
            </a:lnRef>
            <a:fillRef idx="2">
              <a:schemeClr val="accent3"/>
            </a:fillRef>
            <a:effectRef idx="1">
              <a:schemeClr val="accent3"/>
            </a:effectRef>
            <a:fontRef idx="minor">
              <a:schemeClr val="dk1"/>
            </a:fontRef>
          </p:style>
          <p:txBody>
            <a:bodyPr wrap="none">
              <a:spAutoFit/>
            </a:bodyPr>
            <a:lstStyle/>
            <a:p>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0</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a:t>
              </a:r>
              <a:r>
                <a:rPr lang="en-US" altLang="zh-CN" sz="2800" b="1" dirty="0">
                  <a:solidFill>
                    <a:srgbClr val="CC00FF"/>
                  </a:solidFill>
                  <a:latin typeface="宋体" panose="02010600030101010101" pitchFamily="2" charset="-122"/>
                </a:rPr>
                <a:t>S</a:t>
              </a:r>
              <a:r>
                <a:rPr lang="en-US" altLang="zh-CN" sz="2800" b="1" baseline="-25000" dirty="0">
                  <a:solidFill>
                    <a:srgbClr val="CC00FF"/>
                  </a:solidFill>
                  <a:latin typeface="宋体" panose="02010600030101010101" pitchFamily="2" charset="-122"/>
                </a:rPr>
                <a:t>m</a:t>
              </a:r>
              <a:r>
                <a:rPr lang="en-US" altLang="zh-CN" sz="2800" b="1" dirty="0">
                  <a:solidFill>
                    <a:schemeClr val="accent2"/>
                  </a:solidFill>
                  <a:latin typeface="宋体" panose="02010600030101010101" pitchFamily="2" charset="-122"/>
                </a:rPr>
                <a:t>, #X</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X</a:t>
              </a:r>
              <a:r>
                <a:rPr lang="en-US" altLang="zh-CN" sz="2800" b="1" baseline="-25000" dirty="0">
                  <a:solidFill>
                    <a:schemeClr val="accent2"/>
                  </a:solidFill>
                  <a:latin typeface="宋体" panose="02010600030101010101" pitchFamily="2" charset="-122"/>
                </a:rPr>
                <a:t>2</a:t>
              </a:r>
              <a:r>
                <a:rPr lang="en-US" altLang="zh-CN" sz="2800" b="1" dirty="0">
                  <a:solidFill>
                    <a:schemeClr val="accent2"/>
                  </a:solidFill>
                  <a:latin typeface="宋体" panose="02010600030101010101" pitchFamily="2" charset="-122"/>
                </a:rPr>
                <a:t>…</a:t>
              </a:r>
              <a:r>
                <a:rPr lang="en-US" altLang="zh-CN" sz="2800" b="1" dirty="0" err="1">
                  <a:solidFill>
                    <a:schemeClr val="accent2"/>
                  </a:solidFill>
                  <a:latin typeface="宋体" panose="02010600030101010101" pitchFamily="2" charset="-122"/>
                </a:rPr>
                <a:t>X</a:t>
              </a:r>
              <a:r>
                <a:rPr lang="en-US" altLang="zh-CN" sz="2800" b="1" baseline="-25000" dirty="0" err="1">
                  <a:solidFill>
                    <a:schemeClr val="accent2"/>
                  </a:solidFill>
                  <a:latin typeface="宋体" panose="02010600030101010101" pitchFamily="2" charset="-122"/>
                </a:rPr>
                <a:t>m</a:t>
              </a:r>
              <a:r>
                <a:rPr lang="en-US" altLang="zh-CN" sz="2800" b="1" dirty="0">
                  <a:solidFill>
                    <a:schemeClr val="accent2"/>
                  </a:solidFill>
                  <a:latin typeface="宋体" panose="02010600030101010101" pitchFamily="2" charset="-122"/>
                </a:rPr>
                <a:t>, </a:t>
              </a:r>
              <a:r>
                <a:rPr lang="en-US" altLang="zh-CN" sz="2800" b="1" dirty="0">
                  <a:solidFill>
                    <a:srgbClr val="CC00FF"/>
                  </a:solidFill>
                  <a:latin typeface="宋体" panose="02010600030101010101" pitchFamily="2" charset="-122"/>
                </a:rPr>
                <a:t>a</a:t>
              </a:r>
              <a:r>
                <a:rPr lang="en-US" altLang="zh-CN" sz="2800" b="1" baseline="-25000" dirty="0">
                  <a:solidFill>
                    <a:srgbClr val="CC00FF"/>
                  </a:solidFill>
                  <a:latin typeface="宋体" panose="02010600030101010101" pitchFamily="2" charset="-122"/>
                </a:rPr>
                <a:t>i</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i+1</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n</a:t>
              </a:r>
              <a:r>
                <a:rPr lang="en-US" altLang="zh-CN" sz="2800" b="1" dirty="0">
                  <a:solidFill>
                    <a:schemeClr val="accent2"/>
                  </a:solidFill>
                  <a:latin typeface="宋体" panose="02010600030101010101" pitchFamily="2" charset="-122"/>
                </a:rPr>
                <a:t>#)</a:t>
              </a:r>
            </a:p>
          </p:txBody>
        </p:sp>
        <p:grpSp>
          <p:nvGrpSpPr>
            <p:cNvPr id="18" name="组合 17"/>
            <p:cNvGrpSpPr/>
            <p:nvPr/>
          </p:nvGrpSpPr>
          <p:grpSpPr>
            <a:xfrm>
              <a:off x="6372200" y="356671"/>
              <a:ext cx="2829272" cy="571500"/>
              <a:chOff x="2339752" y="3635664"/>
              <a:chExt cx="2829272" cy="571500"/>
            </a:xfrm>
          </p:grpSpPr>
          <p:sp>
            <p:nvSpPr>
              <p:cNvPr id="19" name="Oval 4"/>
              <p:cNvSpPr>
                <a:spLocks noChangeArrowheads="1"/>
              </p:cNvSpPr>
              <p:nvPr/>
            </p:nvSpPr>
            <p:spPr bwMode="auto">
              <a:xfrm>
                <a:off x="2339752" y="3635664"/>
                <a:ext cx="432048"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0" name="Oval 5"/>
              <p:cNvSpPr>
                <a:spLocks noChangeArrowheads="1"/>
              </p:cNvSpPr>
              <p:nvPr/>
            </p:nvSpPr>
            <p:spPr bwMode="auto">
              <a:xfrm>
                <a:off x="4788024" y="3692814"/>
                <a:ext cx="381000"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grpSp>
      </p:grpSp>
      <p:graphicFrame>
        <p:nvGraphicFramePr>
          <p:cNvPr id="23" name="表格 22"/>
          <p:cNvGraphicFramePr>
            <a:graphicFrameLocks noGrp="1"/>
          </p:cNvGraphicFramePr>
          <p:nvPr>
            <p:extLst>
              <p:ext uri="{D42A27DB-BD31-4B8C-83A1-F6EECF244321}">
                <p14:modId xmlns:p14="http://schemas.microsoft.com/office/powerpoint/2010/main" val="2297644060"/>
              </p:ext>
            </p:extLst>
          </p:nvPr>
        </p:nvGraphicFramePr>
        <p:xfrm>
          <a:off x="7469159" y="2902642"/>
          <a:ext cx="1614302" cy="2225040"/>
        </p:xfrm>
        <a:graphic>
          <a:graphicData uri="http://schemas.openxmlformats.org/drawingml/2006/table">
            <a:tbl>
              <a:tblPr firstRow="1" bandRow="1">
                <a:tableStyleId>{5C22544A-7EE6-4342-B048-85BDC9FD1C3A}</a:tableStyleId>
              </a:tblPr>
              <a:tblGrid>
                <a:gridCol w="807151">
                  <a:extLst>
                    <a:ext uri="{9D8B030D-6E8A-4147-A177-3AD203B41FA5}">
                      <a16:colId xmlns:a16="http://schemas.microsoft.com/office/drawing/2014/main" val="20000"/>
                    </a:ext>
                  </a:extLst>
                </a:gridCol>
                <a:gridCol w="807151">
                  <a:extLst>
                    <a:ext uri="{9D8B030D-6E8A-4147-A177-3AD203B41FA5}">
                      <a16:colId xmlns:a16="http://schemas.microsoft.com/office/drawing/2014/main" val="20001"/>
                    </a:ext>
                  </a:extLst>
                </a:gridCol>
              </a:tblGrid>
              <a:tr h="370840">
                <a:tc>
                  <a:txBody>
                    <a:bodyPr/>
                    <a:lstStyle/>
                    <a:p>
                      <a:pPr algn="ctr"/>
                      <a:r>
                        <a:rPr lang="en-US" altLang="zh-CN" b="0" dirty="0">
                          <a:solidFill>
                            <a:schemeClr val="tx1"/>
                          </a:solidFill>
                        </a:rPr>
                        <a:t>Sm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b="0" dirty="0" err="1">
                          <a:solidFill>
                            <a:schemeClr val="tx1"/>
                          </a:solidFill>
                        </a:rPr>
                        <a:t>Xm</a:t>
                      </a: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0"/>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1"/>
                  </a:ext>
                </a:extLst>
              </a:tr>
              <a:tr h="370840">
                <a:tc>
                  <a:txBody>
                    <a:bodyPr/>
                    <a:lstStyle/>
                    <a:p>
                      <a:pPr algn="ctr"/>
                      <a:r>
                        <a:rPr lang="en-US" altLang="zh-CN" dirty="0"/>
                        <a:t>Sm-r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err="1"/>
                        <a:t>Xm</a:t>
                      </a:r>
                      <a:r>
                        <a:rPr lang="en-US" altLang="zh-CN" dirty="0"/>
                        <a:t>-r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2"/>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3"/>
                  </a:ext>
                </a:extLst>
              </a:tr>
              <a:tr h="370840">
                <a:tc>
                  <a:txBody>
                    <a:bodyPr/>
                    <a:lstStyle/>
                    <a:p>
                      <a:pPr algn="ctr"/>
                      <a:r>
                        <a:rPr lang="en-US" altLang="zh-CN" dirty="0"/>
                        <a:t>S1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X1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4"/>
                  </a:ext>
                </a:extLst>
              </a:tr>
              <a:tr h="370840">
                <a:tc>
                  <a:txBody>
                    <a:bodyPr/>
                    <a:lstStyle/>
                    <a:p>
                      <a:pPr algn="ctr"/>
                      <a:r>
                        <a:rPr lang="en-US" altLang="zh-CN" dirty="0"/>
                        <a:t>S0</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5"/>
                  </a:ext>
                </a:extLst>
              </a:tr>
            </a:tbl>
          </a:graphicData>
        </a:graphic>
      </p:graphicFrame>
      <p:graphicFrame>
        <p:nvGraphicFramePr>
          <p:cNvPr id="24" name="表格 23"/>
          <p:cNvGraphicFramePr>
            <a:graphicFrameLocks noGrp="1"/>
          </p:cNvGraphicFramePr>
          <p:nvPr>
            <p:extLst>
              <p:ext uri="{D42A27DB-BD31-4B8C-83A1-F6EECF244321}">
                <p14:modId xmlns:p14="http://schemas.microsoft.com/office/powerpoint/2010/main" val="405590404"/>
              </p:ext>
            </p:extLst>
          </p:nvPr>
        </p:nvGraphicFramePr>
        <p:xfrm>
          <a:off x="7452320" y="2931790"/>
          <a:ext cx="1614302" cy="2225040"/>
        </p:xfrm>
        <a:graphic>
          <a:graphicData uri="http://schemas.openxmlformats.org/drawingml/2006/table">
            <a:tbl>
              <a:tblPr firstRow="1" bandRow="1">
                <a:tableStyleId>{5C22544A-7EE6-4342-B048-85BDC9FD1C3A}</a:tableStyleId>
              </a:tblPr>
              <a:tblGrid>
                <a:gridCol w="807151">
                  <a:extLst>
                    <a:ext uri="{9D8B030D-6E8A-4147-A177-3AD203B41FA5}">
                      <a16:colId xmlns:a16="http://schemas.microsoft.com/office/drawing/2014/main" val="20000"/>
                    </a:ext>
                  </a:extLst>
                </a:gridCol>
                <a:gridCol w="807151">
                  <a:extLst>
                    <a:ext uri="{9D8B030D-6E8A-4147-A177-3AD203B41FA5}">
                      <a16:colId xmlns:a16="http://schemas.microsoft.com/office/drawing/2014/main" val="20001"/>
                    </a:ext>
                  </a:extLst>
                </a:gridCol>
              </a:tblGrid>
              <a:tr h="370840">
                <a:tc>
                  <a:txBody>
                    <a:bodyPr/>
                    <a:lstStyle/>
                    <a:p>
                      <a:pPr algn="ct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endParaRPr lang="zh-CN" altLang="en-US"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0"/>
                  </a:ext>
                </a:extLst>
              </a:tr>
              <a:tr h="370840">
                <a:tc>
                  <a:txBody>
                    <a:bodyPr/>
                    <a:lstStyle/>
                    <a:p>
                      <a:pPr algn="ct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1"/>
                  </a:ext>
                </a:extLst>
              </a:tr>
              <a:tr h="370840">
                <a:tc>
                  <a:txBody>
                    <a:bodyPr/>
                    <a:lstStyle/>
                    <a:p>
                      <a:pPr algn="ctr"/>
                      <a:r>
                        <a:rPr lang="en-US" altLang="zh-CN" dirty="0"/>
                        <a:t>Sm-r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err="1"/>
                        <a:t>Xm</a:t>
                      </a:r>
                      <a:r>
                        <a:rPr lang="en-US" altLang="zh-CN" dirty="0"/>
                        <a:t>-r</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2"/>
                  </a:ext>
                </a:extLst>
              </a:tr>
              <a:tr h="370840">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3"/>
                  </a:ext>
                </a:extLst>
              </a:tr>
              <a:tr h="370840">
                <a:tc>
                  <a:txBody>
                    <a:bodyPr/>
                    <a:lstStyle/>
                    <a:p>
                      <a:pPr algn="ctr"/>
                      <a:r>
                        <a:rPr lang="en-US" altLang="zh-CN" dirty="0"/>
                        <a:t>S1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X1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4"/>
                  </a:ext>
                </a:extLst>
              </a:tr>
              <a:tr h="370840">
                <a:tc>
                  <a:txBody>
                    <a:bodyPr/>
                    <a:lstStyle/>
                    <a:p>
                      <a:pPr algn="ctr"/>
                      <a:r>
                        <a:rPr lang="en-US" altLang="zh-CN" dirty="0"/>
                        <a:t>S0</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5"/>
                  </a:ext>
                </a:extLst>
              </a:tr>
            </a:tbl>
          </a:graphicData>
        </a:graphic>
      </p:graphicFrame>
      <p:sp>
        <p:nvSpPr>
          <p:cNvPr id="6" name="TextBox 5"/>
          <p:cNvSpPr txBox="1"/>
          <p:nvPr/>
        </p:nvSpPr>
        <p:spPr>
          <a:xfrm>
            <a:off x="8471901" y="3236289"/>
            <a:ext cx="360040" cy="369332"/>
          </a:xfrm>
          <a:prstGeom prst="rect">
            <a:avLst/>
          </a:prstGeom>
          <a:noFill/>
        </p:spPr>
        <p:txBody>
          <a:bodyPr wrap="square" rtlCol="0">
            <a:spAutoFit/>
          </a:bodyPr>
          <a:lstStyle/>
          <a:p>
            <a:r>
              <a:rPr lang="en-US" altLang="zh-CN" dirty="0">
                <a:solidFill>
                  <a:srgbClr val="0000FF"/>
                </a:solidFill>
              </a:rPr>
              <a:t>A</a:t>
            </a:r>
            <a:endParaRPr lang="zh-CN" altLang="en-US" dirty="0">
              <a:solidFill>
                <a:srgbClr val="0000FF"/>
              </a:solidFill>
            </a:endParaRPr>
          </a:p>
        </p:txBody>
      </p:sp>
      <p:sp>
        <p:nvSpPr>
          <p:cNvPr id="26" name="TextBox 25"/>
          <p:cNvSpPr txBox="1"/>
          <p:nvPr/>
        </p:nvSpPr>
        <p:spPr>
          <a:xfrm>
            <a:off x="7607805" y="3224649"/>
            <a:ext cx="360040" cy="369332"/>
          </a:xfrm>
          <a:prstGeom prst="rect">
            <a:avLst/>
          </a:prstGeom>
          <a:noFill/>
        </p:spPr>
        <p:txBody>
          <a:bodyPr wrap="square" rtlCol="0">
            <a:spAutoFit/>
          </a:bodyPr>
          <a:lstStyle/>
          <a:p>
            <a:r>
              <a:rPr lang="en-US" altLang="zh-CN" dirty="0">
                <a:solidFill>
                  <a:srgbClr val="CC00FF"/>
                </a:solidFill>
              </a:rPr>
              <a:t>k</a:t>
            </a:r>
            <a:endParaRPr lang="zh-CN" altLang="en-US" dirty="0">
              <a:solidFill>
                <a:srgbClr val="CC00FF"/>
              </a:solidFill>
            </a:endParaRPr>
          </a:p>
        </p:txBody>
      </p:sp>
      <p:sp>
        <p:nvSpPr>
          <p:cNvPr id="27" name="Rectangle 17"/>
          <p:cNvSpPr>
            <a:spLocks noChangeArrowheads="1"/>
          </p:cNvSpPr>
          <p:nvPr/>
        </p:nvSpPr>
        <p:spPr bwMode="auto">
          <a:xfrm>
            <a:off x="-107504" y="1131590"/>
            <a:ext cx="914400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indent="-7620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a:spcBef>
                <a:spcPct val="50000"/>
              </a:spcBef>
              <a:buFontTx/>
              <a:buChar char="•"/>
            </a:pPr>
            <a:r>
              <a:rPr lang="en-US" altLang="zh-CN" sz="2200" dirty="0">
                <a:solidFill>
                  <a:srgbClr val="FF5050"/>
                </a:solidFill>
              </a:rPr>
              <a:t> </a:t>
            </a:r>
            <a:r>
              <a:rPr lang="zh-CN" altLang="en-US" sz="2200" dirty="0">
                <a:solidFill>
                  <a:srgbClr val="FF5050"/>
                </a:solidFill>
              </a:rPr>
              <a:t>归约：</a:t>
            </a:r>
            <a:r>
              <a:rPr lang="zh-CN" altLang="en-US" sz="2200" dirty="0"/>
              <a:t>若表中为</a:t>
            </a:r>
            <a:r>
              <a:rPr lang="en-US" altLang="zh-CN" sz="2200" dirty="0" err="1"/>
              <a:t>r</a:t>
            </a:r>
            <a:r>
              <a:rPr lang="en-US" altLang="zh-CN" sz="2200" baseline="-25000" dirty="0" err="1"/>
              <a:t>j</a:t>
            </a:r>
            <a:r>
              <a:rPr lang="zh-CN" altLang="en-US" sz="2200" dirty="0"/>
              <a:t>，第</a:t>
            </a:r>
            <a:r>
              <a:rPr lang="en-US" altLang="zh-CN" sz="2200" dirty="0"/>
              <a:t>j</a:t>
            </a:r>
            <a:r>
              <a:rPr lang="zh-CN" altLang="en-US" sz="2200" dirty="0"/>
              <a:t>个产生式为</a:t>
            </a:r>
            <a:r>
              <a:rPr lang="en-US" altLang="zh-CN" sz="2200" dirty="0">
                <a:solidFill>
                  <a:srgbClr val="0000FF"/>
                </a:solidFill>
              </a:rPr>
              <a:t>A</a:t>
            </a:r>
            <a:r>
              <a:rPr lang="en-US" altLang="zh-CN" sz="2200" dirty="0">
                <a:cs typeface="Times New Roman" pitchFamily="18" charset="0"/>
              </a:rPr>
              <a:t>→</a:t>
            </a:r>
            <a:r>
              <a:rPr lang="el-GR" altLang="zh-CN" sz="2200" dirty="0">
                <a:latin typeface="宋体" pitchFamily="2" charset="-122"/>
                <a:cs typeface="Times New Roman" pitchFamily="18" charset="0"/>
              </a:rPr>
              <a:t>β</a:t>
            </a:r>
            <a:r>
              <a:rPr lang="zh-CN" altLang="en-US" sz="2200" dirty="0">
                <a:latin typeface="宋体" pitchFamily="2" charset="-122"/>
                <a:cs typeface="Times New Roman" pitchFamily="18" charset="0"/>
              </a:rPr>
              <a:t>，</a:t>
            </a:r>
            <a:r>
              <a:rPr lang="zh-CN" altLang="en-US" sz="2200" dirty="0"/>
              <a:t>右部</a:t>
            </a:r>
            <a:r>
              <a:rPr lang="el-GR" altLang="zh-CN" sz="2200" dirty="0">
                <a:latin typeface="宋体" pitchFamily="2" charset="-122"/>
                <a:cs typeface="Times New Roman" pitchFamily="18" charset="0"/>
              </a:rPr>
              <a:t>β</a:t>
            </a:r>
            <a:r>
              <a:rPr lang="zh-CN" altLang="en-US" sz="2200" dirty="0">
                <a:latin typeface="宋体" pitchFamily="2" charset="-122"/>
                <a:cs typeface="Times New Roman" pitchFamily="18" charset="0"/>
              </a:rPr>
              <a:t>的</a:t>
            </a:r>
            <a:r>
              <a:rPr lang="zh-CN" altLang="en-US" sz="2200" dirty="0"/>
              <a:t>长度为</a:t>
            </a:r>
            <a:r>
              <a:rPr lang="en-US" altLang="zh-CN" sz="2200" dirty="0"/>
              <a:t>r</a:t>
            </a:r>
            <a:r>
              <a:rPr lang="zh-CN" altLang="en-US" sz="2200" dirty="0"/>
              <a:t>，则两个栈顶的</a:t>
            </a:r>
            <a:r>
              <a:rPr lang="en-US" altLang="zh-CN" sz="2200" dirty="0"/>
              <a:t>r</a:t>
            </a:r>
            <a:r>
              <a:rPr lang="zh-CN" altLang="en-US" sz="2200" dirty="0"/>
              <a:t>个元素同时出栈，</a:t>
            </a:r>
            <a:r>
              <a:rPr lang="en-US" altLang="zh-CN" sz="2200" dirty="0">
                <a:solidFill>
                  <a:srgbClr val="0000FF"/>
                </a:solidFill>
              </a:rPr>
              <a:t>A</a:t>
            </a:r>
            <a:r>
              <a:rPr lang="zh-CN" altLang="en-US" sz="2200" dirty="0"/>
              <a:t>进符号栈</a:t>
            </a:r>
            <a:r>
              <a:rPr lang="en-US" altLang="zh-CN" sz="2200" dirty="0"/>
              <a:t>;  </a:t>
            </a:r>
            <a:r>
              <a:rPr lang="zh-CN" altLang="en-US" sz="2200" dirty="0"/>
              <a:t>再根据</a:t>
            </a:r>
            <a:r>
              <a:rPr lang="en-US" altLang="zh-CN" sz="2200" dirty="0"/>
              <a:t>S</a:t>
            </a:r>
            <a:r>
              <a:rPr lang="en-US" altLang="zh-CN" sz="2200" baseline="-25000" dirty="0"/>
              <a:t>m-r</a:t>
            </a:r>
            <a:r>
              <a:rPr lang="zh-CN" altLang="en-US" sz="2200" dirty="0"/>
              <a:t>和</a:t>
            </a:r>
            <a:r>
              <a:rPr lang="en-US" altLang="zh-CN" sz="2200" dirty="0"/>
              <a:t>A</a:t>
            </a:r>
            <a:r>
              <a:rPr lang="zh-CN" altLang="en-US" sz="2200" dirty="0"/>
              <a:t>查</a:t>
            </a:r>
            <a:r>
              <a:rPr lang="en-US" altLang="zh-CN" sz="2200" dirty="0" err="1"/>
              <a:t>goto</a:t>
            </a:r>
            <a:r>
              <a:rPr lang="zh-CN" altLang="en-US" sz="2200" dirty="0"/>
              <a:t>表，</a:t>
            </a:r>
            <a:r>
              <a:rPr lang="en-US" altLang="zh-CN" sz="2200" dirty="0">
                <a:solidFill>
                  <a:srgbClr val="CC00FF"/>
                </a:solidFill>
              </a:rPr>
              <a:t>k</a:t>
            </a:r>
            <a:r>
              <a:rPr lang="en-US" altLang="zh-CN" sz="2200" dirty="0"/>
              <a:t>=</a:t>
            </a:r>
            <a:r>
              <a:rPr lang="en-US" altLang="zh-CN" sz="2200" dirty="0" err="1"/>
              <a:t>goto</a:t>
            </a:r>
            <a:r>
              <a:rPr lang="en-US" altLang="zh-CN" sz="2200" dirty="0"/>
              <a:t>[S</a:t>
            </a:r>
            <a:r>
              <a:rPr lang="en-US" altLang="zh-CN" sz="2200" baseline="-25000" dirty="0"/>
              <a:t>m-r</a:t>
            </a:r>
            <a:r>
              <a:rPr lang="en-US" altLang="zh-CN" sz="2200" dirty="0"/>
              <a:t>, A]</a:t>
            </a:r>
            <a:r>
              <a:rPr lang="zh-CN" altLang="en-US" sz="2200" dirty="0"/>
              <a:t>进状态栈。三元式变为： </a:t>
            </a:r>
          </a:p>
        </p:txBody>
      </p:sp>
      <p:pic>
        <p:nvPicPr>
          <p:cNvPr id="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30" y="3219823"/>
            <a:ext cx="5682556" cy="1897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28949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xit" presetSubtype="0" fill="hold" nodeType="clickEffect">
                                  <p:stCondLst>
                                    <p:cond delay="0"/>
                                  </p:stCondLst>
                                  <p:childTnLst>
                                    <p:set>
                                      <p:cBhvr>
                                        <p:cTn id="10" dur="1" fill="hold">
                                          <p:stCondLst>
                                            <p:cond delay="0"/>
                                          </p:stCondLst>
                                        </p:cTn>
                                        <p:tgtEl>
                                          <p:spTgt spid="23"/>
                                        </p:tgtEl>
                                        <p:attrNameLst>
                                          <p:attrName>style.visibility</p:attrName>
                                        </p:attrNameLst>
                                      </p:cBhvr>
                                      <p:to>
                                        <p:strVal val="hidden"/>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2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childTnLst>
                                </p:cTn>
                              </p:par>
                            </p:childTnLst>
                          </p:cTn>
                        </p:par>
                        <p:par>
                          <p:cTn id="18" fill="hold">
                            <p:stCondLst>
                              <p:cond delay="0"/>
                            </p:stCondLst>
                            <p:childTnLst>
                              <p:par>
                                <p:cTn id="19" presetID="1" presetClass="entr" presetSubtype="0" fill="hold" grpId="0" nodeType="afterEffect">
                                  <p:stCondLst>
                                    <p:cond delay="0"/>
                                  </p:stCondLst>
                                  <p:childTnLst>
                                    <p:set>
                                      <p:cBhvr>
                                        <p:cTn id="20" dur="1" fill="hold">
                                          <p:stCondLst>
                                            <p:cond delay="499"/>
                                          </p:stCondLst>
                                        </p:cTn>
                                        <p:tgtEl>
                                          <p:spTgt spid="11880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499"/>
                                          </p:stCondLst>
                                        </p:cTn>
                                        <p:tgtEl>
                                          <p:spTgt spid="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childTnLst>
                                </p:cTn>
                              </p:par>
                            </p:childTnLst>
                          </p:cTn>
                        </p:par>
                        <p:par>
                          <p:cTn id="29" fill="hold">
                            <p:stCondLst>
                              <p:cond delay="0"/>
                            </p:stCondLst>
                            <p:childTnLst>
                              <p:par>
                                <p:cTn id="30" presetID="1" presetClass="entr" presetSubtype="0" fill="hold" grpId="0" nodeType="afterEffect">
                                  <p:stCondLst>
                                    <p:cond delay="0"/>
                                  </p:stCondLst>
                                  <p:childTnLst>
                                    <p:set>
                                      <p:cBhvr>
                                        <p:cTn id="31" dur="1" fill="hold">
                                          <p:stCondLst>
                                            <p:cond delay="499"/>
                                          </p:stCondLst>
                                        </p:cTn>
                                        <p:tgtEl>
                                          <p:spTgt spid="118796"/>
                                        </p:tgtEl>
                                        <p:attrNameLst>
                                          <p:attrName>style.visibility</p:attrName>
                                        </p:attrNameLst>
                                      </p:cBhvr>
                                      <p:to>
                                        <p:strVal val="visible"/>
                                      </p:to>
                                    </p:set>
                                  </p:childTnLst>
                                </p:cTn>
                              </p:par>
                            </p:childTnLst>
                          </p:cTn>
                        </p:par>
                        <p:par>
                          <p:cTn id="32" fill="hold">
                            <p:stCondLst>
                              <p:cond delay="500"/>
                            </p:stCondLst>
                            <p:childTnLst>
                              <p:par>
                                <p:cTn id="33" presetID="1" presetClass="entr" presetSubtype="0" fill="hold" grpId="0" nodeType="after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96" grpId="0" animBg="1"/>
      <p:bldP spid="118801" grpId="0" autoUpdateAnimBg="0"/>
      <p:bldP spid="4" grpId="0"/>
      <p:bldP spid="6" grpId="0"/>
      <p:bldP spid="26" grpId="0"/>
      <p:bldP spid="27" grpId="0" autoUpdateAnimBg="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8" name="Rectangle 3"/>
          <p:cNvSpPr>
            <a:spLocks noGrp="1" noChangeArrowheads="1"/>
          </p:cNvSpPr>
          <p:nvPr>
            <p:ph type="body" idx="1"/>
          </p:nvPr>
        </p:nvSpPr>
        <p:spPr>
          <a:xfrm>
            <a:off x="390525" y="669057"/>
            <a:ext cx="8753475" cy="390525"/>
          </a:xfrm>
        </p:spPr>
        <p:txBody>
          <a:bodyPr>
            <a:noAutofit/>
          </a:bodyPr>
          <a:lstStyle/>
          <a:p>
            <a:pPr eaLnBrk="1" hangingPunct="1">
              <a:spcBef>
                <a:spcPct val="50000"/>
              </a:spcBef>
            </a:pPr>
            <a:r>
              <a:rPr lang="zh-CN" altLang="en-US" sz="2200" dirty="0"/>
              <a:t>根据</a:t>
            </a:r>
            <a:r>
              <a:rPr lang="en-US" altLang="zh-CN" sz="2200" dirty="0"/>
              <a:t>S</a:t>
            </a:r>
            <a:r>
              <a:rPr lang="en-US" altLang="zh-CN" sz="2200" baseline="-25000" dirty="0"/>
              <a:t>m</a:t>
            </a:r>
            <a:r>
              <a:rPr lang="zh-CN" altLang="en-US" sz="2200" dirty="0"/>
              <a:t>和</a:t>
            </a:r>
            <a:r>
              <a:rPr lang="en-US" altLang="zh-CN" sz="2200" dirty="0" err="1"/>
              <a:t>a</a:t>
            </a:r>
            <a:r>
              <a:rPr lang="en-US" altLang="zh-CN" sz="2200" baseline="-25000" dirty="0" err="1"/>
              <a:t>i</a:t>
            </a:r>
            <a:r>
              <a:rPr lang="zh-CN" altLang="en-US" sz="2200" dirty="0"/>
              <a:t>查</a:t>
            </a:r>
            <a:r>
              <a:rPr lang="en-US" altLang="zh-CN" sz="2200" dirty="0"/>
              <a:t>action</a:t>
            </a:r>
            <a:r>
              <a:rPr lang="zh-CN" altLang="en-US" sz="2200" dirty="0"/>
              <a:t>表</a:t>
            </a:r>
            <a:r>
              <a:rPr lang="en-US" altLang="zh-CN" sz="2200" dirty="0"/>
              <a:t>, action[</a:t>
            </a:r>
            <a:r>
              <a:rPr lang="en-US" altLang="zh-CN" sz="2200" dirty="0">
                <a:solidFill>
                  <a:schemeClr val="accent2"/>
                </a:solidFill>
              </a:rPr>
              <a:t>S</a:t>
            </a:r>
            <a:r>
              <a:rPr lang="en-US" altLang="zh-CN" sz="2200" baseline="-25000" dirty="0">
                <a:solidFill>
                  <a:schemeClr val="accent2"/>
                </a:solidFill>
              </a:rPr>
              <a:t>m,</a:t>
            </a:r>
            <a:r>
              <a:rPr lang="en-US" altLang="zh-CN" sz="2200" dirty="0"/>
              <a:t> </a:t>
            </a:r>
            <a:r>
              <a:rPr lang="en-US" altLang="zh-CN" sz="2200" dirty="0" err="1">
                <a:solidFill>
                  <a:schemeClr val="accent2"/>
                </a:solidFill>
              </a:rPr>
              <a:t>a</a:t>
            </a:r>
            <a:r>
              <a:rPr lang="en-US" altLang="zh-CN" sz="2200" baseline="-25000" dirty="0" err="1">
                <a:solidFill>
                  <a:schemeClr val="accent2"/>
                </a:solidFill>
              </a:rPr>
              <a:t>i</a:t>
            </a:r>
            <a:r>
              <a:rPr lang="en-US" altLang="zh-CN" sz="2200" dirty="0"/>
              <a:t>]</a:t>
            </a:r>
            <a:r>
              <a:rPr lang="zh-CN" altLang="en-US" sz="2200" dirty="0"/>
              <a:t>有</a:t>
            </a:r>
            <a:r>
              <a:rPr lang="en-US" altLang="zh-CN" sz="2200" dirty="0"/>
              <a:t>4</a:t>
            </a:r>
            <a:r>
              <a:rPr lang="zh-CN" altLang="en-US" sz="2200" dirty="0"/>
              <a:t>种情况：</a:t>
            </a:r>
            <a:endParaRPr lang="zh-CN" altLang="en-US" sz="2200" b="1" dirty="0"/>
          </a:p>
        </p:txBody>
      </p:sp>
      <p:sp>
        <p:nvSpPr>
          <p:cNvPr id="118799" name="Rectangle 15"/>
          <p:cNvSpPr>
            <a:spLocks noChangeArrowheads="1"/>
          </p:cNvSpPr>
          <p:nvPr/>
        </p:nvSpPr>
        <p:spPr bwMode="auto">
          <a:xfrm>
            <a:off x="174522" y="2066853"/>
            <a:ext cx="8069886" cy="397032"/>
          </a:xfrm>
          <a:prstGeom prst="rect">
            <a:avLst/>
          </a:prstGeom>
          <a:solidFill>
            <a:schemeClr val="bg1"/>
          </a:solidFill>
          <a:ln>
            <a:noFill/>
          </a:ln>
        </p:spPr>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indent="-1714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spcBef>
                <a:spcPct val="50000"/>
              </a:spcBef>
              <a:buFontTx/>
              <a:buChar char="•"/>
            </a:pPr>
            <a:r>
              <a:rPr lang="en-US" altLang="zh-CN" sz="2200" dirty="0">
                <a:solidFill>
                  <a:srgbClr val="FF5050"/>
                </a:solidFill>
              </a:rPr>
              <a:t> </a:t>
            </a:r>
            <a:r>
              <a:rPr lang="zh-CN" altLang="en-US" sz="2200" dirty="0">
                <a:solidFill>
                  <a:srgbClr val="FF5050"/>
                </a:solidFill>
              </a:rPr>
              <a:t>出错：</a:t>
            </a:r>
            <a:r>
              <a:rPr lang="zh-CN" altLang="en-US" sz="2200" dirty="0"/>
              <a:t>查表为空白，报告出错信息。三元式的变化过程终止。</a:t>
            </a:r>
          </a:p>
        </p:txBody>
      </p:sp>
      <p:sp>
        <p:nvSpPr>
          <p:cNvPr id="118800" name="Rectangle 16"/>
          <p:cNvSpPr>
            <a:spLocks noChangeArrowheads="1"/>
          </p:cNvSpPr>
          <p:nvPr/>
        </p:nvSpPr>
        <p:spPr bwMode="auto">
          <a:xfrm>
            <a:off x="174522" y="1563638"/>
            <a:ext cx="8501934" cy="397032"/>
          </a:xfrm>
          <a:prstGeom prst="rect">
            <a:avLst/>
          </a:prstGeom>
          <a:solidFill>
            <a:schemeClr val="bg1"/>
          </a:solidFill>
          <a:ln>
            <a:noFill/>
          </a:ln>
        </p:spPr>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indent="-1714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eaLnBrk="1" hangingPunct="1">
              <a:lnSpc>
                <a:spcPct val="90000"/>
              </a:lnSpc>
              <a:spcBef>
                <a:spcPct val="50000"/>
              </a:spcBef>
              <a:buFontTx/>
              <a:buChar char="•"/>
            </a:pPr>
            <a:r>
              <a:rPr lang="en-US" altLang="zh-CN" sz="2200" dirty="0">
                <a:solidFill>
                  <a:srgbClr val="FF5050"/>
                </a:solidFill>
              </a:rPr>
              <a:t> </a:t>
            </a:r>
            <a:r>
              <a:rPr lang="zh-CN" altLang="en-US" sz="2200" dirty="0">
                <a:solidFill>
                  <a:srgbClr val="FF5050"/>
                </a:solidFill>
              </a:rPr>
              <a:t>接受：</a:t>
            </a:r>
            <a:r>
              <a:rPr lang="zh-CN" altLang="en-US" sz="2200" dirty="0"/>
              <a:t>查表得到</a:t>
            </a:r>
            <a:r>
              <a:rPr lang="en-US" altLang="zh-CN" sz="2200" dirty="0" err="1"/>
              <a:t>acc</a:t>
            </a:r>
            <a:r>
              <a:rPr lang="zh-CN" altLang="en-US" sz="2200" dirty="0"/>
              <a:t>，分析成功，终止分析。三元式不再变化。</a:t>
            </a:r>
          </a:p>
        </p:txBody>
      </p:sp>
      <p:grpSp>
        <p:nvGrpSpPr>
          <p:cNvPr id="16" name="组合 15"/>
          <p:cNvGrpSpPr/>
          <p:nvPr/>
        </p:nvGrpSpPr>
        <p:grpSpPr>
          <a:xfrm>
            <a:off x="-11401" y="54516"/>
            <a:ext cx="5668539" cy="571500"/>
            <a:chOff x="5169024" y="356671"/>
            <a:chExt cx="5668539" cy="571500"/>
          </a:xfrm>
        </p:grpSpPr>
        <p:sp>
          <p:nvSpPr>
            <p:cNvPr id="17" name="矩形 16"/>
            <p:cNvSpPr/>
            <p:nvPr/>
          </p:nvSpPr>
          <p:spPr>
            <a:xfrm>
              <a:off x="5169024" y="356671"/>
              <a:ext cx="5668539" cy="523220"/>
            </a:xfrm>
            <a:prstGeom prst="rect">
              <a:avLst/>
            </a:prstGeom>
          </p:spPr>
          <p:style>
            <a:lnRef idx="1">
              <a:schemeClr val="accent3"/>
            </a:lnRef>
            <a:fillRef idx="2">
              <a:schemeClr val="accent3"/>
            </a:fillRef>
            <a:effectRef idx="1">
              <a:schemeClr val="accent3"/>
            </a:effectRef>
            <a:fontRef idx="minor">
              <a:schemeClr val="dk1"/>
            </a:fontRef>
          </p:style>
          <p:txBody>
            <a:bodyPr wrap="none">
              <a:spAutoFit/>
            </a:bodyPr>
            <a:lstStyle/>
            <a:p>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0</a:t>
              </a:r>
              <a:r>
                <a:rPr lang="en-US" altLang="zh-CN" sz="2800" b="1" dirty="0">
                  <a:solidFill>
                    <a:schemeClr val="accent2"/>
                  </a:solidFill>
                  <a:latin typeface="宋体" panose="02010600030101010101" pitchFamily="2" charset="-122"/>
                </a:rPr>
                <a:t>S</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a:t>
              </a:r>
              <a:r>
                <a:rPr lang="en-US" altLang="zh-CN" sz="2800" b="1" dirty="0">
                  <a:solidFill>
                    <a:srgbClr val="CC00FF"/>
                  </a:solidFill>
                  <a:latin typeface="宋体" panose="02010600030101010101" pitchFamily="2" charset="-122"/>
                </a:rPr>
                <a:t>S</a:t>
              </a:r>
              <a:r>
                <a:rPr lang="en-US" altLang="zh-CN" sz="2800" b="1" baseline="-25000" dirty="0">
                  <a:solidFill>
                    <a:srgbClr val="CC00FF"/>
                  </a:solidFill>
                  <a:latin typeface="宋体" panose="02010600030101010101" pitchFamily="2" charset="-122"/>
                </a:rPr>
                <a:t>m</a:t>
              </a:r>
              <a:r>
                <a:rPr lang="en-US" altLang="zh-CN" sz="2800" b="1" dirty="0">
                  <a:solidFill>
                    <a:schemeClr val="accent2"/>
                  </a:solidFill>
                  <a:latin typeface="宋体" panose="02010600030101010101" pitchFamily="2" charset="-122"/>
                </a:rPr>
                <a:t>, #X</a:t>
              </a:r>
              <a:r>
                <a:rPr lang="en-US" altLang="zh-CN" sz="2800" b="1" baseline="-25000" dirty="0">
                  <a:solidFill>
                    <a:schemeClr val="accent2"/>
                  </a:solidFill>
                  <a:latin typeface="宋体" panose="02010600030101010101" pitchFamily="2" charset="-122"/>
                </a:rPr>
                <a:t>1</a:t>
              </a:r>
              <a:r>
                <a:rPr lang="en-US" altLang="zh-CN" sz="2800" b="1" dirty="0">
                  <a:solidFill>
                    <a:schemeClr val="accent2"/>
                  </a:solidFill>
                  <a:latin typeface="宋体" panose="02010600030101010101" pitchFamily="2" charset="-122"/>
                </a:rPr>
                <a:t>X</a:t>
              </a:r>
              <a:r>
                <a:rPr lang="en-US" altLang="zh-CN" sz="2800" b="1" baseline="-25000" dirty="0">
                  <a:solidFill>
                    <a:schemeClr val="accent2"/>
                  </a:solidFill>
                  <a:latin typeface="宋体" panose="02010600030101010101" pitchFamily="2" charset="-122"/>
                </a:rPr>
                <a:t>2</a:t>
              </a:r>
              <a:r>
                <a:rPr lang="en-US" altLang="zh-CN" sz="2800" b="1" dirty="0">
                  <a:solidFill>
                    <a:schemeClr val="accent2"/>
                  </a:solidFill>
                  <a:latin typeface="宋体" panose="02010600030101010101" pitchFamily="2" charset="-122"/>
                </a:rPr>
                <a:t>…</a:t>
              </a:r>
              <a:r>
                <a:rPr lang="en-US" altLang="zh-CN" sz="2800" b="1" dirty="0" err="1">
                  <a:solidFill>
                    <a:schemeClr val="accent2"/>
                  </a:solidFill>
                  <a:latin typeface="宋体" panose="02010600030101010101" pitchFamily="2" charset="-122"/>
                </a:rPr>
                <a:t>X</a:t>
              </a:r>
              <a:r>
                <a:rPr lang="en-US" altLang="zh-CN" sz="2800" b="1" baseline="-25000" dirty="0" err="1">
                  <a:solidFill>
                    <a:schemeClr val="accent2"/>
                  </a:solidFill>
                  <a:latin typeface="宋体" panose="02010600030101010101" pitchFamily="2" charset="-122"/>
                </a:rPr>
                <a:t>m</a:t>
              </a:r>
              <a:r>
                <a:rPr lang="en-US" altLang="zh-CN" sz="2800" b="1" dirty="0">
                  <a:solidFill>
                    <a:schemeClr val="accent2"/>
                  </a:solidFill>
                  <a:latin typeface="宋体" panose="02010600030101010101" pitchFamily="2" charset="-122"/>
                </a:rPr>
                <a:t>, </a:t>
              </a:r>
              <a:r>
                <a:rPr lang="en-US" altLang="zh-CN" sz="2800" b="1" dirty="0">
                  <a:solidFill>
                    <a:srgbClr val="CC00FF"/>
                  </a:solidFill>
                  <a:latin typeface="宋体" panose="02010600030101010101" pitchFamily="2" charset="-122"/>
                </a:rPr>
                <a:t>a</a:t>
              </a:r>
              <a:r>
                <a:rPr lang="en-US" altLang="zh-CN" sz="2800" b="1" baseline="-25000" dirty="0">
                  <a:solidFill>
                    <a:srgbClr val="CC00FF"/>
                  </a:solidFill>
                  <a:latin typeface="宋体" panose="02010600030101010101" pitchFamily="2" charset="-122"/>
                </a:rPr>
                <a:t>i</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i+1</a:t>
              </a:r>
              <a:r>
                <a:rPr lang="en-US" altLang="zh-CN" sz="2800" b="1" dirty="0">
                  <a:solidFill>
                    <a:schemeClr val="accent2"/>
                  </a:solidFill>
                  <a:latin typeface="宋体" panose="02010600030101010101" pitchFamily="2" charset="-122"/>
                </a:rPr>
                <a:t>…a</a:t>
              </a:r>
              <a:r>
                <a:rPr lang="en-US" altLang="zh-CN" sz="2800" b="1" baseline="-25000" dirty="0">
                  <a:solidFill>
                    <a:schemeClr val="accent2"/>
                  </a:solidFill>
                  <a:latin typeface="宋体" panose="02010600030101010101" pitchFamily="2" charset="-122"/>
                </a:rPr>
                <a:t>n</a:t>
              </a:r>
              <a:r>
                <a:rPr lang="en-US" altLang="zh-CN" sz="2800" b="1" dirty="0">
                  <a:solidFill>
                    <a:schemeClr val="accent2"/>
                  </a:solidFill>
                  <a:latin typeface="宋体" panose="02010600030101010101" pitchFamily="2" charset="-122"/>
                </a:rPr>
                <a:t>#)</a:t>
              </a:r>
            </a:p>
          </p:txBody>
        </p:sp>
        <p:grpSp>
          <p:nvGrpSpPr>
            <p:cNvPr id="18" name="组合 17"/>
            <p:cNvGrpSpPr/>
            <p:nvPr/>
          </p:nvGrpSpPr>
          <p:grpSpPr>
            <a:xfrm>
              <a:off x="6372200" y="356671"/>
              <a:ext cx="2829272" cy="571500"/>
              <a:chOff x="2339752" y="3635664"/>
              <a:chExt cx="2829272" cy="571500"/>
            </a:xfrm>
          </p:grpSpPr>
          <p:sp>
            <p:nvSpPr>
              <p:cNvPr id="19" name="Oval 4"/>
              <p:cNvSpPr>
                <a:spLocks noChangeArrowheads="1"/>
              </p:cNvSpPr>
              <p:nvPr/>
            </p:nvSpPr>
            <p:spPr bwMode="auto">
              <a:xfrm>
                <a:off x="2339752" y="3635664"/>
                <a:ext cx="432048"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0" name="Oval 5"/>
              <p:cNvSpPr>
                <a:spLocks noChangeArrowheads="1"/>
              </p:cNvSpPr>
              <p:nvPr/>
            </p:nvSpPr>
            <p:spPr bwMode="auto">
              <a:xfrm>
                <a:off x="4788024" y="3692814"/>
                <a:ext cx="381000" cy="514350"/>
              </a:xfrm>
              <a:prstGeom prst="ellipse">
                <a:avLst/>
              </a:prstGeom>
              <a:noFill/>
              <a:ln w="381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grpSp>
      </p:grp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2931790"/>
            <a:ext cx="5682556" cy="1897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304668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87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99" grpId="0" animBg="1" autoUpdateAnimBg="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0" y="3435846"/>
            <a:ext cx="3779838"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dirty="0">
                <a:latin typeface="宋体" panose="02010600030101010101" pitchFamily="2" charset="-122"/>
              </a:rPr>
              <a:t>为了介绍</a:t>
            </a:r>
            <a:r>
              <a:rPr lang="en-US" altLang="zh-CN" sz="2200" b="1" dirty="0">
                <a:latin typeface="宋体" panose="02010600030101010101" pitchFamily="2" charset="-122"/>
              </a:rPr>
              <a:t>LR</a:t>
            </a:r>
            <a:r>
              <a:rPr lang="zh-CN" altLang="en-US" sz="2200" b="1" dirty="0">
                <a:latin typeface="宋体" panose="02010600030101010101" pitchFamily="2" charset="-122"/>
              </a:rPr>
              <a:t>分析过程，直接给出该文法的分析表，以后再介绍如何生成</a:t>
            </a:r>
          </a:p>
        </p:txBody>
      </p:sp>
      <p:graphicFrame>
        <p:nvGraphicFramePr>
          <p:cNvPr id="20325" name="Group 869"/>
          <p:cNvGraphicFramePr>
            <a:graphicFrameLocks noGrp="1"/>
          </p:cNvGraphicFramePr>
          <p:nvPr/>
        </p:nvGraphicFramePr>
        <p:xfrm>
          <a:off x="3708400" y="106363"/>
          <a:ext cx="5327650" cy="4718248"/>
        </p:xfrm>
        <a:graphic>
          <a:graphicData uri="http://schemas.openxmlformats.org/drawingml/2006/table">
            <a:tbl>
              <a:tblPr/>
              <a:tblGrid>
                <a:gridCol w="504825">
                  <a:extLst>
                    <a:ext uri="{9D8B030D-6E8A-4147-A177-3AD203B41FA5}">
                      <a16:colId xmlns:a16="http://schemas.microsoft.com/office/drawing/2014/main" val="20000"/>
                    </a:ext>
                  </a:extLst>
                </a:gridCol>
                <a:gridCol w="503238">
                  <a:extLst>
                    <a:ext uri="{9D8B030D-6E8A-4147-A177-3AD203B41FA5}">
                      <a16:colId xmlns:a16="http://schemas.microsoft.com/office/drawing/2014/main" val="20001"/>
                    </a:ext>
                  </a:extLst>
                </a:gridCol>
                <a:gridCol w="576262">
                  <a:extLst>
                    <a:ext uri="{9D8B030D-6E8A-4147-A177-3AD203B41FA5}">
                      <a16:colId xmlns:a16="http://schemas.microsoft.com/office/drawing/2014/main" val="20002"/>
                    </a:ext>
                  </a:extLst>
                </a:gridCol>
                <a:gridCol w="576263">
                  <a:extLst>
                    <a:ext uri="{9D8B030D-6E8A-4147-A177-3AD203B41FA5}">
                      <a16:colId xmlns:a16="http://schemas.microsoft.com/office/drawing/2014/main" val="20003"/>
                    </a:ext>
                  </a:extLst>
                </a:gridCol>
                <a:gridCol w="576262">
                  <a:extLst>
                    <a:ext uri="{9D8B030D-6E8A-4147-A177-3AD203B41FA5}">
                      <a16:colId xmlns:a16="http://schemas.microsoft.com/office/drawing/2014/main" val="20004"/>
                    </a:ext>
                  </a:extLst>
                </a:gridCol>
                <a:gridCol w="576263">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419100">
                  <a:extLst>
                    <a:ext uri="{9D8B030D-6E8A-4147-A177-3AD203B41FA5}">
                      <a16:colId xmlns:a16="http://schemas.microsoft.com/office/drawing/2014/main" val="20007"/>
                    </a:ext>
                  </a:extLst>
                </a:gridCol>
                <a:gridCol w="419100">
                  <a:extLst>
                    <a:ext uri="{9D8B030D-6E8A-4147-A177-3AD203B41FA5}">
                      <a16:colId xmlns:a16="http://schemas.microsoft.com/office/drawing/2014/main" val="20008"/>
                    </a:ext>
                  </a:extLst>
                </a:gridCol>
                <a:gridCol w="528637">
                  <a:extLst>
                    <a:ext uri="{9D8B030D-6E8A-4147-A177-3AD203B41FA5}">
                      <a16:colId xmlns:a16="http://schemas.microsoft.com/office/drawing/2014/main" val="20009"/>
                    </a:ext>
                  </a:extLst>
                </a:gridCol>
              </a:tblGrid>
              <a:tr h="342882">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状态</a:t>
                      </a:r>
                    </a:p>
                  </a:txBody>
                  <a:tcPr marT="34288" marB="3428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ACTION</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GoTo</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42882">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0</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rgbClr val="FF5050"/>
                          </a:solidFill>
                          <a:effectLst/>
                          <a:latin typeface="Times New Roman" panose="02020603050405020304" pitchFamily="18" charset="0"/>
                          <a:ea typeface="宋体" panose="02010600030101010101" pitchFamily="2" charset="-122"/>
                        </a:rPr>
                        <a:t>acc</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545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2</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3</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4</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5</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6</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7</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8</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9</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10</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34288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11</a:t>
                      </a:r>
                    </a:p>
                  </a:txBody>
                  <a:tcPr marT="34288" marB="3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8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sp>
        <p:nvSpPr>
          <p:cNvPr id="196770" name="Rectangle 855"/>
          <p:cNvSpPr>
            <a:spLocks noChangeArrowheads="1"/>
          </p:cNvSpPr>
          <p:nvPr/>
        </p:nvSpPr>
        <p:spPr bwMode="auto">
          <a:xfrm>
            <a:off x="0" y="195263"/>
            <a:ext cx="37798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800" b="1" dirty="0">
                <a:solidFill>
                  <a:srgbClr val="FF5050"/>
                </a:solidFill>
                <a:ea typeface="华文行楷" pitchFamily="2" charset="-122"/>
              </a:rPr>
              <a:t>例：</a:t>
            </a:r>
            <a:r>
              <a:rPr lang="en-US" altLang="zh-CN" sz="2800" b="1" dirty="0">
                <a:solidFill>
                  <a:srgbClr val="FF5050"/>
                </a:solidFill>
                <a:ea typeface="华文行楷" pitchFamily="2" charset="-122"/>
              </a:rPr>
              <a:t>LR</a:t>
            </a:r>
            <a:r>
              <a:rPr lang="zh-CN" altLang="en-US" sz="2800" b="1" dirty="0">
                <a:solidFill>
                  <a:srgbClr val="FF5050"/>
                </a:solidFill>
                <a:ea typeface="华文行楷" pitchFamily="2" charset="-122"/>
              </a:rPr>
              <a:t>的分析过程：</a:t>
            </a:r>
          </a:p>
        </p:txBody>
      </p:sp>
      <p:sp>
        <p:nvSpPr>
          <p:cNvPr id="196771" name="Text Box 856"/>
          <p:cNvSpPr txBox="1">
            <a:spLocks noChangeArrowheads="1"/>
          </p:cNvSpPr>
          <p:nvPr/>
        </p:nvSpPr>
        <p:spPr bwMode="auto">
          <a:xfrm>
            <a:off x="609600" y="1171600"/>
            <a:ext cx="2879725" cy="2225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200" b="1" dirty="0">
                <a:latin typeface="宋体" panose="02010600030101010101" pitchFamily="2" charset="-122"/>
              </a:rPr>
              <a:t>    (1)  E </a:t>
            </a:r>
            <a:r>
              <a:rPr lang="en-US" altLang="zh-CN" sz="2200" b="1" dirty="0">
                <a:latin typeface="宋体" panose="02010600030101010101" pitchFamily="2" charset="-122"/>
                <a:sym typeface="Symbol" pitchFamily="18" charset="2"/>
              </a:rPr>
              <a:t>E+T</a:t>
            </a:r>
          </a:p>
          <a:p>
            <a:pPr eaLnBrk="1" hangingPunct="1">
              <a:spcBef>
                <a:spcPct val="10000"/>
              </a:spcBef>
              <a:buFontTx/>
              <a:buNone/>
            </a:pPr>
            <a:r>
              <a:rPr lang="en-US" altLang="zh-CN" sz="2200" b="1" dirty="0">
                <a:latin typeface="宋体" panose="02010600030101010101" pitchFamily="2" charset="-122"/>
                <a:sym typeface="Symbol" pitchFamily="18" charset="2"/>
              </a:rPr>
              <a:t>    (2)  E T</a:t>
            </a:r>
          </a:p>
          <a:p>
            <a:pPr eaLnBrk="1" hangingPunct="1">
              <a:spcBef>
                <a:spcPct val="10000"/>
              </a:spcBef>
              <a:buFontTx/>
              <a:buNone/>
            </a:pPr>
            <a:r>
              <a:rPr lang="en-US" altLang="zh-CN" sz="2200" b="1" dirty="0">
                <a:latin typeface="宋体" panose="02010600030101010101" pitchFamily="2" charset="-122"/>
                <a:sym typeface="Symbol" pitchFamily="18" charset="2"/>
              </a:rPr>
              <a:t>    (3)  T T*F</a:t>
            </a:r>
          </a:p>
          <a:p>
            <a:pPr eaLnBrk="1" hangingPunct="1">
              <a:spcBef>
                <a:spcPct val="10000"/>
              </a:spcBef>
              <a:buFontTx/>
              <a:buNone/>
            </a:pPr>
            <a:r>
              <a:rPr lang="en-US" altLang="zh-CN" sz="2200" b="1" dirty="0">
                <a:latin typeface="宋体" panose="02010600030101010101" pitchFamily="2" charset="-122"/>
                <a:sym typeface="Symbol" pitchFamily="18" charset="2"/>
              </a:rPr>
              <a:t>    (4)  T F</a:t>
            </a:r>
          </a:p>
          <a:p>
            <a:pPr eaLnBrk="1" hangingPunct="1">
              <a:spcBef>
                <a:spcPct val="0"/>
              </a:spcBef>
              <a:buFontTx/>
              <a:buNone/>
            </a:pPr>
            <a:r>
              <a:rPr lang="en-US" altLang="zh-CN" sz="2200" dirty="0">
                <a:latin typeface="宋体" panose="02010600030101010101" pitchFamily="2" charset="-122"/>
                <a:sym typeface="Symbol" pitchFamily="18" charset="2"/>
              </a:rPr>
              <a:t>    </a:t>
            </a:r>
            <a:r>
              <a:rPr lang="en-US" altLang="zh-CN" sz="2200" b="1" dirty="0">
                <a:latin typeface="宋体" panose="02010600030101010101" pitchFamily="2" charset="-122"/>
                <a:sym typeface="Symbol" pitchFamily="18" charset="2"/>
              </a:rPr>
              <a:t>(5)  F (F)</a:t>
            </a:r>
          </a:p>
          <a:p>
            <a:pPr eaLnBrk="1" hangingPunct="1">
              <a:spcBef>
                <a:spcPct val="0"/>
              </a:spcBef>
              <a:buFontTx/>
              <a:buNone/>
            </a:pPr>
            <a:r>
              <a:rPr lang="en-US" altLang="zh-CN" sz="2200" b="1" dirty="0">
                <a:latin typeface="宋体" panose="02010600030101010101" pitchFamily="2" charset="-122"/>
                <a:sym typeface="Symbol" pitchFamily="18" charset="2"/>
              </a:rPr>
              <a:t>    (6)  F </a:t>
            </a:r>
            <a:r>
              <a:rPr lang="en-US" altLang="zh-CN" sz="2200" b="1" dirty="0" err="1">
                <a:latin typeface="宋体" panose="02010600030101010101" pitchFamily="2" charset="-122"/>
                <a:sym typeface="Symbol" pitchFamily="18" charset="2"/>
              </a:rPr>
              <a:t>i</a:t>
            </a:r>
            <a:endParaRPr lang="en-US" altLang="zh-CN" sz="2200" b="1" dirty="0">
              <a:latin typeface="宋体" panose="02010600030101010101" pitchFamily="2" charset="-122"/>
              <a:sym typeface="Symbol" pitchFamily="18" charset="2"/>
            </a:endParaRPr>
          </a:p>
        </p:txBody>
      </p:sp>
      <p:sp>
        <p:nvSpPr>
          <p:cNvPr id="196772" name="Rectangle 866"/>
          <p:cNvSpPr>
            <a:spLocks noChangeArrowheads="1"/>
          </p:cNvSpPr>
          <p:nvPr/>
        </p:nvSpPr>
        <p:spPr bwMode="auto">
          <a:xfrm>
            <a:off x="460731" y="771550"/>
            <a:ext cx="219162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a:latin typeface="宋体" panose="02010600030101010101" pitchFamily="2" charset="-122"/>
              </a:rPr>
              <a:t>设文法为</a:t>
            </a:r>
            <a:r>
              <a:rPr lang="en-US" altLang="zh-CN" sz="2200" b="1">
                <a:latin typeface="宋体" panose="02010600030101010101" pitchFamily="2" charset="-122"/>
              </a:rPr>
              <a:t>G[L]</a:t>
            </a:r>
            <a:r>
              <a:rPr lang="zh-CN" altLang="en-US" sz="2200" b="1">
                <a:latin typeface="宋体" panose="02010600030101010101" pitchFamily="2" charset="-122"/>
              </a:rPr>
              <a:t>：</a:t>
            </a:r>
          </a:p>
        </p:txBody>
      </p:sp>
    </p:spTree>
    <p:extLst>
      <p:ext uri="{BB962C8B-B14F-4D97-AF65-F5344CB8AC3E}">
        <p14:creationId xmlns:p14="http://schemas.microsoft.com/office/powerpoint/2010/main" val="10050014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9458"/>
                                        </p:tgtEl>
                                        <p:attrNameLst>
                                          <p:attrName>style.visibility</p:attrName>
                                        </p:attrNameLst>
                                      </p:cBhvr>
                                      <p:to>
                                        <p:strVal val="visible"/>
                                      </p:to>
                                    </p:set>
                                    <p:animEffect transition="in" filter="slide(fromBottom)">
                                      <p:cBhvr>
                                        <p:cTn id="7" dur="500"/>
                                        <p:tgtEl>
                                          <p:spTgt spid="194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528" fill="hold" nodeType="clickEffect">
                                  <p:stCondLst>
                                    <p:cond delay="0"/>
                                  </p:stCondLst>
                                  <p:childTnLst>
                                    <p:set>
                                      <p:cBhvr>
                                        <p:cTn id="11" dur="1" fill="hold">
                                          <p:stCondLst>
                                            <p:cond delay="0"/>
                                          </p:stCondLst>
                                        </p:cTn>
                                        <p:tgtEl>
                                          <p:spTgt spid="20325"/>
                                        </p:tgtEl>
                                        <p:attrNameLst>
                                          <p:attrName>style.visibility</p:attrName>
                                        </p:attrNameLst>
                                      </p:cBhvr>
                                      <p:to>
                                        <p:strVal val="visible"/>
                                      </p:to>
                                    </p:set>
                                    <p:anim calcmode="lin" valueType="num">
                                      <p:cBhvr>
                                        <p:cTn id="12" dur="500" fill="hold"/>
                                        <p:tgtEl>
                                          <p:spTgt spid="20325"/>
                                        </p:tgtEl>
                                        <p:attrNameLst>
                                          <p:attrName>ppt_w</p:attrName>
                                        </p:attrNameLst>
                                      </p:cBhvr>
                                      <p:tavLst>
                                        <p:tav tm="0">
                                          <p:val>
                                            <p:fltVal val="0"/>
                                          </p:val>
                                        </p:tav>
                                        <p:tav tm="100000">
                                          <p:val>
                                            <p:strVal val="#ppt_w"/>
                                          </p:val>
                                        </p:tav>
                                      </p:tavLst>
                                    </p:anim>
                                    <p:anim calcmode="lin" valueType="num">
                                      <p:cBhvr>
                                        <p:cTn id="13" dur="500" fill="hold"/>
                                        <p:tgtEl>
                                          <p:spTgt spid="20325"/>
                                        </p:tgtEl>
                                        <p:attrNameLst>
                                          <p:attrName>ppt_h</p:attrName>
                                        </p:attrNameLst>
                                      </p:cBhvr>
                                      <p:tavLst>
                                        <p:tav tm="0">
                                          <p:val>
                                            <p:fltVal val="0"/>
                                          </p:val>
                                        </p:tav>
                                        <p:tav tm="100000">
                                          <p:val>
                                            <p:strVal val="#ppt_h"/>
                                          </p:val>
                                        </p:tav>
                                      </p:tavLst>
                                    </p:anim>
                                    <p:anim calcmode="lin" valueType="num">
                                      <p:cBhvr>
                                        <p:cTn id="14" dur="500" fill="hold"/>
                                        <p:tgtEl>
                                          <p:spTgt spid="20325"/>
                                        </p:tgtEl>
                                        <p:attrNameLst>
                                          <p:attrName>ppt_x</p:attrName>
                                        </p:attrNameLst>
                                      </p:cBhvr>
                                      <p:tavLst>
                                        <p:tav tm="0">
                                          <p:val>
                                            <p:fltVal val="0.5"/>
                                          </p:val>
                                        </p:tav>
                                        <p:tav tm="100000">
                                          <p:val>
                                            <p:strVal val="#ppt_x"/>
                                          </p:val>
                                        </p:tav>
                                      </p:tavLst>
                                    </p:anim>
                                    <p:anim calcmode="lin" valueType="num">
                                      <p:cBhvr>
                                        <p:cTn id="15" dur="500" fill="hold"/>
                                        <p:tgtEl>
                                          <p:spTgt spid="20325"/>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8" grpId="0" autoUpdateAnimBg="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Text Box 2"/>
          <p:cNvSpPr txBox="1">
            <a:spLocks noChangeArrowheads="1"/>
          </p:cNvSpPr>
          <p:nvPr/>
        </p:nvSpPr>
        <p:spPr bwMode="auto">
          <a:xfrm>
            <a:off x="107504" y="0"/>
            <a:ext cx="5947509" cy="36933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1800" b="1" dirty="0">
                <a:latin typeface="宋体" panose="02010600030101010101" pitchFamily="2" charset="-122"/>
              </a:rPr>
              <a:t>根据上述分析表，对输入</a:t>
            </a:r>
            <a:r>
              <a:rPr lang="zh-CN" altLang="en-US" sz="1800" b="1" dirty="0">
                <a:solidFill>
                  <a:srgbClr val="FF0000"/>
                </a:solidFill>
                <a:latin typeface="宋体" panose="02010600030101010101" pitchFamily="2" charset="-122"/>
              </a:rPr>
              <a:t>串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a:t>
            </a:r>
            <a:r>
              <a:rPr lang="zh-CN" altLang="en-US" sz="1800" b="1" dirty="0">
                <a:latin typeface="宋体" panose="02010600030101010101" pitchFamily="2" charset="-122"/>
              </a:rPr>
              <a:t>的分析过程如下：</a:t>
            </a:r>
          </a:p>
        </p:txBody>
      </p:sp>
      <p:graphicFrame>
        <p:nvGraphicFramePr>
          <p:cNvPr id="22060" name="Group 556"/>
          <p:cNvGraphicFramePr>
            <a:graphicFrameLocks noGrp="1"/>
          </p:cNvGraphicFramePr>
          <p:nvPr>
            <p:extLst>
              <p:ext uri="{D42A27DB-BD31-4B8C-83A1-F6EECF244321}">
                <p14:modId xmlns:p14="http://schemas.microsoft.com/office/powerpoint/2010/main" val="1819947491"/>
              </p:ext>
            </p:extLst>
          </p:nvPr>
        </p:nvGraphicFramePr>
        <p:xfrm>
          <a:off x="323851" y="468313"/>
          <a:ext cx="6635527" cy="325437"/>
        </p:xfrm>
        <a:graphic>
          <a:graphicData uri="http://schemas.openxmlformats.org/drawingml/2006/table">
            <a:tbl>
              <a:tblPr/>
              <a:tblGrid>
                <a:gridCol w="552330">
                  <a:extLst>
                    <a:ext uri="{9D8B030D-6E8A-4147-A177-3AD203B41FA5}">
                      <a16:colId xmlns:a16="http://schemas.microsoft.com/office/drawing/2014/main" val="20000"/>
                    </a:ext>
                  </a:extLst>
                </a:gridCol>
                <a:gridCol w="800754">
                  <a:extLst>
                    <a:ext uri="{9D8B030D-6E8A-4147-A177-3AD203B41FA5}">
                      <a16:colId xmlns:a16="http://schemas.microsoft.com/office/drawing/2014/main" val="20001"/>
                    </a:ext>
                  </a:extLst>
                </a:gridCol>
                <a:gridCol w="762921">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2">
                  <a:extLst>
                    <a:ext uri="{9D8B030D-6E8A-4147-A177-3AD203B41FA5}">
                      <a16:colId xmlns:a16="http://schemas.microsoft.com/office/drawing/2014/main" val="20004"/>
                    </a:ext>
                  </a:extLst>
                </a:gridCol>
                <a:gridCol w="2841095">
                  <a:extLst>
                    <a:ext uri="{9D8B030D-6E8A-4147-A177-3AD203B41FA5}">
                      <a16:colId xmlns:a16="http://schemas.microsoft.com/office/drawing/2014/main" val="20005"/>
                    </a:ext>
                  </a:extLst>
                </a:gridCol>
              </a:tblGrid>
              <a:tr h="32543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序号</a:t>
                      </a:r>
                    </a:p>
                  </a:txBody>
                  <a:tcPr marT="34332" marB="3433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a:ln>
                            <a:noFill/>
                          </a:ln>
                          <a:solidFill>
                            <a:schemeClr val="tx1"/>
                          </a:solidFill>
                          <a:effectLst/>
                          <a:latin typeface="Times New Roman" pitchFamily="18" charset="0"/>
                          <a:ea typeface="宋体" pitchFamily="2" charset="-122"/>
                        </a:rPr>
                        <a:t>状态栈</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符号栈</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产生式</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剩余串</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说明</a:t>
                      </a:r>
                    </a:p>
                  </a:txBody>
                  <a:tcPr marT="34332" marB="3433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6" name="Group 632"/>
          <p:cNvGraphicFramePr>
            <a:graphicFrameLocks noGrp="1"/>
          </p:cNvGraphicFramePr>
          <p:nvPr>
            <p:extLst>
              <p:ext uri="{D42A27DB-BD31-4B8C-83A1-F6EECF244321}">
                <p14:modId xmlns:p14="http://schemas.microsoft.com/office/powerpoint/2010/main" val="3912187581"/>
              </p:ext>
            </p:extLst>
          </p:nvPr>
        </p:nvGraphicFramePr>
        <p:xfrm>
          <a:off x="312739" y="788988"/>
          <a:ext cx="6635525" cy="306387"/>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063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T="34201" marB="3420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i+i</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0</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01" marB="3420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3" name="Group 629"/>
          <p:cNvGraphicFramePr>
            <a:graphicFrameLocks noGrp="1"/>
          </p:cNvGraphicFramePr>
          <p:nvPr>
            <p:extLst>
              <p:ext uri="{D42A27DB-BD31-4B8C-83A1-F6EECF244321}">
                <p14:modId xmlns:p14="http://schemas.microsoft.com/office/powerpoint/2010/main" val="2875713207"/>
              </p:ext>
            </p:extLst>
          </p:nvPr>
        </p:nvGraphicFramePr>
        <p:xfrm>
          <a:off x="312739" y="1095375"/>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05</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2" name="Group 628"/>
          <p:cNvGraphicFramePr>
            <a:graphicFrameLocks noGrp="1"/>
          </p:cNvGraphicFramePr>
          <p:nvPr>
            <p:extLst>
              <p:ext uri="{D42A27DB-BD31-4B8C-83A1-F6EECF244321}">
                <p14:modId xmlns:p14="http://schemas.microsoft.com/office/powerpoint/2010/main" val="1663126459"/>
              </p:ext>
            </p:extLst>
          </p:nvPr>
        </p:nvGraphicFramePr>
        <p:xfrm>
          <a:off x="312739" y="1379538"/>
          <a:ext cx="6635525" cy="297106"/>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03</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1" name="Group 627"/>
          <p:cNvGraphicFramePr>
            <a:graphicFrameLocks noGrp="1"/>
          </p:cNvGraphicFramePr>
          <p:nvPr>
            <p:extLst>
              <p:ext uri="{D42A27DB-BD31-4B8C-83A1-F6EECF244321}">
                <p14:modId xmlns:p14="http://schemas.microsoft.com/office/powerpoint/2010/main" val="1267265899"/>
              </p:ext>
            </p:extLst>
          </p:nvPr>
        </p:nvGraphicFramePr>
        <p:xfrm>
          <a:off x="312739" y="1674813"/>
          <a:ext cx="6635525" cy="303212"/>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0321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4</a:t>
                      </a:r>
                    </a:p>
                  </a:txBody>
                  <a:tcPr marT="34245" marB="3424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245" marB="3424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0" name="Group 626"/>
          <p:cNvGraphicFramePr>
            <a:graphicFrameLocks noGrp="1"/>
          </p:cNvGraphicFramePr>
          <p:nvPr>
            <p:extLst>
              <p:ext uri="{D42A27DB-BD31-4B8C-83A1-F6EECF244321}">
                <p14:modId xmlns:p14="http://schemas.microsoft.com/office/powerpoint/2010/main" val="3074381650"/>
              </p:ext>
            </p:extLst>
          </p:nvPr>
        </p:nvGraphicFramePr>
        <p:xfrm>
          <a:off x="312739" y="1979613"/>
          <a:ext cx="6635524" cy="297106"/>
        </p:xfrm>
        <a:graphic>
          <a:graphicData uri="http://schemas.openxmlformats.org/drawingml/2006/table">
            <a:tbl>
              <a:tblPr/>
              <a:tblGrid>
                <a:gridCol w="537198">
                  <a:extLst>
                    <a:ext uri="{9D8B030D-6E8A-4147-A177-3AD203B41FA5}">
                      <a16:colId xmlns:a16="http://schemas.microsoft.com/office/drawing/2014/main" val="20000"/>
                    </a:ext>
                  </a:extLst>
                </a:gridCol>
                <a:gridCol w="815884">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S7</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16" name="Group 612"/>
          <p:cNvGraphicFramePr>
            <a:graphicFrameLocks noGrp="1"/>
          </p:cNvGraphicFramePr>
          <p:nvPr>
            <p:extLst>
              <p:ext uri="{D42A27DB-BD31-4B8C-83A1-F6EECF244321}">
                <p14:modId xmlns:p14="http://schemas.microsoft.com/office/powerpoint/2010/main" val="65228023"/>
              </p:ext>
            </p:extLst>
          </p:nvPr>
        </p:nvGraphicFramePr>
        <p:xfrm>
          <a:off x="312739" y="2274888"/>
          <a:ext cx="6635525" cy="34290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0275</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9" name="Group 625"/>
          <p:cNvGraphicFramePr>
            <a:graphicFrameLocks noGrp="1"/>
          </p:cNvGraphicFramePr>
          <p:nvPr>
            <p:extLst>
              <p:ext uri="{D42A27DB-BD31-4B8C-83A1-F6EECF244321}">
                <p14:modId xmlns:p14="http://schemas.microsoft.com/office/powerpoint/2010/main" val="3081984743"/>
              </p:ext>
            </p:extLst>
          </p:nvPr>
        </p:nvGraphicFramePr>
        <p:xfrm>
          <a:off x="312739" y="2614613"/>
          <a:ext cx="6635525" cy="3238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238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a:t>
                      </a:r>
                      <a:r>
                        <a:rPr kumimoji="1" lang="en-US" altLang="zh-CN" sz="1500" b="1" i="0" u="sng"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#T*F</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sng"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8" name="Group 624"/>
          <p:cNvGraphicFramePr>
            <a:graphicFrameLocks noGrp="1"/>
          </p:cNvGraphicFramePr>
          <p:nvPr>
            <p:extLst>
              <p:ext uri="{D42A27DB-BD31-4B8C-83A1-F6EECF244321}">
                <p14:modId xmlns:p14="http://schemas.microsoft.com/office/powerpoint/2010/main" val="1488199867"/>
              </p:ext>
            </p:extLst>
          </p:nvPr>
        </p:nvGraphicFramePr>
        <p:xfrm>
          <a:off x="312739" y="2927350"/>
          <a:ext cx="6635525" cy="360363"/>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6036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8</a:t>
                      </a:r>
                    </a:p>
                  </a:txBody>
                  <a:tcPr marT="34252" marB="3425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T*F</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sng" strike="noStrike" cap="none" normalizeH="0" baseline="0" dirty="0">
                          <a:ln>
                            <a:noFill/>
                          </a:ln>
                          <a:solidFill>
                            <a:schemeClr val="tx1"/>
                          </a:solidFill>
                          <a:effectLst/>
                          <a:latin typeface="Times New Roman" panose="02020603050405020304" pitchFamily="18" charset="0"/>
                          <a:ea typeface="宋体" panose="02010600030101010101" pitchFamily="2" charset="-122"/>
                        </a:rPr>
                        <a:t>10</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,7,2</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52" marB="3425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7" name="Group 623"/>
          <p:cNvGraphicFramePr>
            <a:graphicFrameLocks noGrp="1"/>
          </p:cNvGraphicFramePr>
          <p:nvPr>
            <p:extLst>
              <p:ext uri="{D42A27DB-BD31-4B8C-83A1-F6EECF244321}">
                <p14:modId xmlns:p14="http://schemas.microsoft.com/office/powerpoint/2010/main" val="3092572087"/>
              </p:ext>
            </p:extLst>
          </p:nvPr>
        </p:nvGraphicFramePr>
        <p:xfrm>
          <a:off x="312739" y="3298825"/>
          <a:ext cx="6635525" cy="338138"/>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381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170" marB="3417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E</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S1</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170" marB="3417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6" name="Group 622"/>
          <p:cNvGraphicFramePr>
            <a:graphicFrameLocks noGrp="1"/>
          </p:cNvGraphicFramePr>
          <p:nvPr>
            <p:extLst>
              <p:ext uri="{D42A27DB-BD31-4B8C-83A1-F6EECF244321}">
                <p14:modId xmlns:p14="http://schemas.microsoft.com/office/powerpoint/2010/main" val="14338758"/>
              </p:ext>
            </p:extLst>
          </p:nvPr>
        </p:nvGraphicFramePr>
        <p:xfrm>
          <a:off x="312739" y="3630613"/>
          <a:ext cx="6635525" cy="297106"/>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10</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016</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#E+</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itchFamily="18" charset="0"/>
                        <a:ea typeface="宋体" pitchFamily="2" charset="-122"/>
                      </a:endParaRP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a:t>
                      </a:r>
                      <a:r>
                        <a:rPr kumimoji="1" lang="zh-CN" altLang="en-US" sz="1500" b="1" i="0" u="none" strike="noStrike" cap="none" normalizeH="0" baseline="0">
                          <a:ln>
                            <a:noFill/>
                          </a:ln>
                          <a:solidFill>
                            <a:schemeClr val="tx1"/>
                          </a:solidFill>
                          <a:effectLst/>
                          <a:latin typeface="Times New Roman" pitchFamily="18" charset="0"/>
                          <a:ea typeface="宋体" pitchFamily="2" charset="-122"/>
                        </a:rPr>
                        <a:t>和</a:t>
                      </a:r>
                      <a:r>
                        <a:rPr kumimoji="1" lang="en-US" altLang="zh-CN" sz="1500" b="1" i="0" u="none" strike="noStrike" cap="none" normalizeH="0" baseline="0">
                          <a:ln>
                            <a:noFill/>
                          </a:ln>
                          <a:solidFill>
                            <a:schemeClr val="tx1"/>
                          </a:solidFill>
                          <a:effectLst/>
                          <a:latin typeface="Times New Roman" pitchFamily="18" charset="0"/>
                          <a:ea typeface="宋体" pitchFamily="2" charset="-122"/>
                        </a:rPr>
                        <a:t>S6</a:t>
                      </a:r>
                      <a:r>
                        <a:rPr kumimoji="1" lang="zh-CN" altLang="en-US" sz="1500" b="1" i="0" u="none" strike="noStrike" cap="none" normalizeH="0" baseline="0">
                          <a:ln>
                            <a:noFill/>
                          </a:ln>
                          <a:solidFill>
                            <a:schemeClr val="tx1"/>
                          </a:solidFill>
                          <a:effectLst/>
                          <a:latin typeface="Times New Roman" pitchFamily="18" charset="0"/>
                          <a:ea typeface="宋体"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5" name="Group 621"/>
          <p:cNvGraphicFramePr>
            <a:graphicFrameLocks noGrp="1"/>
          </p:cNvGraphicFramePr>
          <p:nvPr>
            <p:extLst>
              <p:ext uri="{D42A27DB-BD31-4B8C-83A1-F6EECF244321}">
                <p14:modId xmlns:p14="http://schemas.microsoft.com/office/powerpoint/2010/main" val="4079993279"/>
              </p:ext>
            </p:extLst>
          </p:nvPr>
        </p:nvGraphicFramePr>
        <p:xfrm>
          <a:off x="312739" y="3922713"/>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0165</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4" name="Group 620"/>
          <p:cNvGraphicFramePr>
            <a:graphicFrameLocks noGrp="1"/>
          </p:cNvGraphicFramePr>
          <p:nvPr>
            <p:extLst>
              <p:ext uri="{D42A27DB-BD31-4B8C-83A1-F6EECF244321}">
                <p14:modId xmlns:p14="http://schemas.microsoft.com/office/powerpoint/2010/main" val="1821017205"/>
              </p:ext>
            </p:extLst>
          </p:nvPr>
        </p:nvGraphicFramePr>
        <p:xfrm>
          <a:off x="312739" y="4217988"/>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0163</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#E+F</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22123" name="Group 619"/>
          <p:cNvGraphicFramePr>
            <a:graphicFrameLocks noGrp="1"/>
          </p:cNvGraphicFramePr>
          <p:nvPr>
            <p:extLst>
              <p:ext uri="{D42A27DB-BD31-4B8C-83A1-F6EECF244321}">
                <p14:modId xmlns:p14="http://schemas.microsoft.com/office/powerpoint/2010/main" val="3985794450"/>
              </p:ext>
            </p:extLst>
          </p:nvPr>
        </p:nvGraphicFramePr>
        <p:xfrm>
          <a:off x="312739" y="4510088"/>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13</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0169</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S9</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22122" name="Group 618"/>
          <p:cNvGraphicFramePr>
            <a:graphicFrameLocks noGrp="1"/>
          </p:cNvGraphicFramePr>
          <p:nvPr>
            <p:extLst>
              <p:ext uri="{D42A27DB-BD31-4B8C-83A1-F6EECF244321}">
                <p14:modId xmlns:p14="http://schemas.microsoft.com/office/powerpoint/2010/main" val="1460138242"/>
              </p:ext>
            </p:extLst>
          </p:nvPr>
        </p:nvGraphicFramePr>
        <p:xfrm>
          <a:off x="312739" y="4800600"/>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14</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T+E</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S9,6,1</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E</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S1</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5013" y="11812"/>
            <a:ext cx="3118580" cy="29199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Text Box 856"/>
          <p:cNvSpPr txBox="1">
            <a:spLocks noChangeArrowheads="1"/>
          </p:cNvSpPr>
          <p:nvPr/>
        </p:nvSpPr>
        <p:spPr bwMode="auto">
          <a:xfrm>
            <a:off x="7193883" y="3075806"/>
            <a:ext cx="1554581" cy="183742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1800" b="1" dirty="0">
                <a:latin typeface="宋体" panose="02010600030101010101" pitchFamily="2" charset="-122"/>
              </a:rPr>
              <a:t>(1) E </a:t>
            </a:r>
            <a:r>
              <a:rPr lang="en-US" altLang="zh-CN" sz="1800" b="1" dirty="0">
                <a:latin typeface="宋体" panose="02010600030101010101" pitchFamily="2" charset="-122"/>
                <a:sym typeface="Symbol" pitchFamily="18" charset="2"/>
              </a:rPr>
              <a:t>E+T</a:t>
            </a:r>
          </a:p>
          <a:p>
            <a:pPr eaLnBrk="1" hangingPunct="1">
              <a:spcBef>
                <a:spcPct val="10000"/>
              </a:spcBef>
              <a:buFontTx/>
              <a:buNone/>
            </a:pPr>
            <a:r>
              <a:rPr lang="en-US" altLang="zh-CN" sz="1800" b="1" dirty="0">
                <a:latin typeface="宋体" panose="02010600030101010101" pitchFamily="2" charset="-122"/>
                <a:sym typeface="Symbol" pitchFamily="18" charset="2"/>
              </a:rPr>
              <a:t>(2) E T</a:t>
            </a:r>
          </a:p>
          <a:p>
            <a:pPr eaLnBrk="1" hangingPunct="1">
              <a:spcBef>
                <a:spcPct val="10000"/>
              </a:spcBef>
              <a:buFontTx/>
              <a:buNone/>
            </a:pPr>
            <a:r>
              <a:rPr lang="en-US" altLang="zh-CN" sz="1800" b="1" dirty="0">
                <a:latin typeface="宋体" panose="02010600030101010101" pitchFamily="2" charset="-122"/>
                <a:sym typeface="Symbol" pitchFamily="18" charset="2"/>
              </a:rPr>
              <a:t>(3) T T*F</a:t>
            </a:r>
          </a:p>
          <a:p>
            <a:pPr eaLnBrk="1" hangingPunct="1">
              <a:spcBef>
                <a:spcPct val="10000"/>
              </a:spcBef>
              <a:buFontTx/>
              <a:buNone/>
            </a:pPr>
            <a:r>
              <a:rPr lang="en-US" altLang="zh-CN" sz="1800" b="1" dirty="0">
                <a:latin typeface="宋体" panose="02010600030101010101" pitchFamily="2" charset="-122"/>
                <a:sym typeface="Symbol" pitchFamily="18" charset="2"/>
              </a:rPr>
              <a:t>(4) T F</a:t>
            </a:r>
          </a:p>
          <a:p>
            <a:pPr eaLnBrk="1" hangingPunct="1">
              <a:spcBef>
                <a:spcPct val="0"/>
              </a:spcBef>
              <a:buFontTx/>
              <a:buNone/>
            </a:pPr>
            <a:r>
              <a:rPr lang="en-US" altLang="zh-CN" sz="1800" b="1" dirty="0">
                <a:latin typeface="宋体" panose="02010600030101010101" pitchFamily="2" charset="-122"/>
                <a:sym typeface="Symbol" pitchFamily="18" charset="2"/>
              </a:rPr>
              <a:t>(5) F (F)</a:t>
            </a:r>
          </a:p>
          <a:p>
            <a:pPr eaLnBrk="1" hangingPunct="1">
              <a:spcBef>
                <a:spcPct val="0"/>
              </a:spcBef>
              <a:buFontTx/>
              <a:buNone/>
            </a:pPr>
            <a:r>
              <a:rPr lang="en-US" altLang="zh-CN" sz="1800" b="1" dirty="0">
                <a:latin typeface="宋体" panose="02010600030101010101" pitchFamily="2" charset="-122"/>
                <a:sym typeface="Symbol" pitchFamily="18" charset="2"/>
              </a:rPr>
              <a:t>(6) F </a:t>
            </a:r>
            <a:r>
              <a:rPr lang="en-US" altLang="zh-CN" sz="1800" b="1" dirty="0" err="1">
                <a:latin typeface="宋体" panose="02010600030101010101" pitchFamily="2" charset="-122"/>
                <a:sym typeface="Symbol" pitchFamily="18" charset="2"/>
              </a:rPr>
              <a:t>i</a:t>
            </a:r>
            <a:endParaRPr lang="en-US" altLang="zh-CN" sz="1800" b="1" dirty="0">
              <a:latin typeface="宋体" panose="02010600030101010101" pitchFamily="2" charset="-122"/>
              <a:sym typeface="Symbol" pitchFamily="18" charset="2"/>
            </a:endParaRPr>
          </a:p>
        </p:txBody>
      </p:sp>
    </p:spTree>
    <p:extLst>
      <p:ext uri="{BB962C8B-B14F-4D97-AF65-F5344CB8AC3E}">
        <p14:creationId xmlns:p14="http://schemas.microsoft.com/office/powerpoint/2010/main" val="23694810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2060"/>
                                        </p:tgtEl>
                                        <p:attrNameLst>
                                          <p:attrName>style.visibility</p:attrName>
                                        </p:attrNameLst>
                                      </p:cBhvr>
                                      <p:to>
                                        <p:strVal val="visible"/>
                                      </p:to>
                                    </p:set>
                                    <p:animEffect transition="in" filter="wipe(left)">
                                      <p:cBhvr>
                                        <p:cTn id="7" dur="500"/>
                                        <p:tgtEl>
                                          <p:spTgt spid="220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2136"/>
                                        </p:tgtEl>
                                        <p:attrNameLst>
                                          <p:attrName>style.visibility</p:attrName>
                                        </p:attrNameLst>
                                      </p:cBhvr>
                                      <p:to>
                                        <p:strVal val="visible"/>
                                      </p:to>
                                    </p:set>
                                    <p:animEffect transition="in" filter="wipe(left)">
                                      <p:cBhvr>
                                        <p:cTn id="12" dur="500"/>
                                        <p:tgtEl>
                                          <p:spTgt spid="221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22133"/>
                                        </p:tgtEl>
                                        <p:attrNameLst>
                                          <p:attrName>style.visibility</p:attrName>
                                        </p:attrNameLst>
                                      </p:cBhvr>
                                      <p:to>
                                        <p:strVal val="visible"/>
                                      </p:to>
                                    </p:set>
                                    <p:animEffect transition="in" filter="wipe(left)">
                                      <p:cBhvr>
                                        <p:cTn id="17" dur="500"/>
                                        <p:tgtEl>
                                          <p:spTgt spid="2213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22132"/>
                                        </p:tgtEl>
                                        <p:attrNameLst>
                                          <p:attrName>style.visibility</p:attrName>
                                        </p:attrNameLst>
                                      </p:cBhvr>
                                      <p:to>
                                        <p:strVal val="visible"/>
                                      </p:to>
                                    </p:set>
                                    <p:animEffect transition="in" filter="wipe(left)">
                                      <p:cBhvr>
                                        <p:cTn id="22" dur="500"/>
                                        <p:tgtEl>
                                          <p:spTgt spid="2213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22131"/>
                                        </p:tgtEl>
                                        <p:attrNameLst>
                                          <p:attrName>style.visibility</p:attrName>
                                        </p:attrNameLst>
                                      </p:cBhvr>
                                      <p:to>
                                        <p:strVal val="visible"/>
                                      </p:to>
                                    </p:set>
                                    <p:animEffect transition="in" filter="wipe(left)">
                                      <p:cBhvr>
                                        <p:cTn id="27" dur="500"/>
                                        <p:tgtEl>
                                          <p:spTgt spid="2213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22130"/>
                                        </p:tgtEl>
                                        <p:attrNameLst>
                                          <p:attrName>style.visibility</p:attrName>
                                        </p:attrNameLst>
                                      </p:cBhvr>
                                      <p:to>
                                        <p:strVal val="visible"/>
                                      </p:to>
                                    </p:set>
                                    <p:animEffect transition="in" filter="wipe(left)">
                                      <p:cBhvr>
                                        <p:cTn id="32" dur="500"/>
                                        <p:tgtEl>
                                          <p:spTgt spid="2213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22116"/>
                                        </p:tgtEl>
                                        <p:attrNameLst>
                                          <p:attrName>style.visibility</p:attrName>
                                        </p:attrNameLst>
                                      </p:cBhvr>
                                      <p:to>
                                        <p:strVal val="visible"/>
                                      </p:to>
                                    </p:set>
                                    <p:animEffect transition="in" filter="wipe(left)">
                                      <p:cBhvr>
                                        <p:cTn id="37" dur="500"/>
                                        <p:tgtEl>
                                          <p:spTgt spid="2211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22129"/>
                                        </p:tgtEl>
                                        <p:attrNameLst>
                                          <p:attrName>style.visibility</p:attrName>
                                        </p:attrNameLst>
                                      </p:cBhvr>
                                      <p:to>
                                        <p:strVal val="visible"/>
                                      </p:to>
                                    </p:set>
                                    <p:animEffect transition="in" filter="wipe(left)">
                                      <p:cBhvr>
                                        <p:cTn id="42" dur="500"/>
                                        <p:tgtEl>
                                          <p:spTgt spid="2212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22128"/>
                                        </p:tgtEl>
                                        <p:attrNameLst>
                                          <p:attrName>style.visibility</p:attrName>
                                        </p:attrNameLst>
                                      </p:cBhvr>
                                      <p:to>
                                        <p:strVal val="visible"/>
                                      </p:to>
                                    </p:set>
                                    <p:animEffect transition="in" filter="wipe(left)">
                                      <p:cBhvr>
                                        <p:cTn id="47" dur="500"/>
                                        <p:tgtEl>
                                          <p:spTgt spid="2212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nodeType="clickEffect">
                                  <p:stCondLst>
                                    <p:cond delay="0"/>
                                  </p:stCondLst>
                                  <p:childTnLst>
                                    <p:set>
                                      <p:cBhvr>
                                        <p:cTn id="51" dur="1" fill="hold">
                                          <p:stCondLst>
                                            <p:cond delay="0"/>
                                          </p:stCondLst>
                                        </p:cTn>
                                        <p:tgtEl>
                                          <p:spTgt spid="22127"/>
                                        </p:tgtEl>
                                        <p:attrNameLst>
                                          <p:attrName>style.visibility</p:attrName>
                                        </p:attrNameLst>
                                      </p:cBhvr>
                                      <p:to>
                                        <p:strVal val="visible"/>
                                      </p:to>
                                    </p:set>
                                    <p:animEffect transition="in" filter="wipe(left)">
                                      <p:cBhvr>
                                        <p:cTn id="52" dur="500"/>
                                        <p:tgtEl>
                                          <p:spTgt spid="2212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nodeType="clickEffect">
                                  <p:stCondLst>
                                    <p:cond delay="0"/>
                                  </p:stCondLst>
                                  <p:childTnLst>
                                    <p:set>
                                      <p:cBhvr>
                                        <p:cTn id="56" dur="1" fill="hold">
                                          <p:stCondLst>
                                            <p:cond delay="0"/>
                                          </p:stCondLst>
                                        </p:cTn>
                                        <p:tgtEl>
                                          <p:spTgt spid="22126"/>
                                        </p:tgtEl>
                                        <p:attrNameLst>
                                          <p:attrName>style.visibility</p:attrName>
                                        </p:attrNameLst>
                                      </p:cBhvr>
                                      <p:to>
                                        <p:strVal val="visible"/>
                                      </p:to>
                                    </p:set>
                                    <p:animEffect transition="in" filter="wipe(left)">
                                      <p:cBhvr>
                                        <p:cTn id="57" dur="500"/>
                                        <p:tgtEl>
                                          <p:spTgt spid="2212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nodeType="clickEffect">
                                  <p:stCondLst>
                                    <p:cond delay="0"/>
                                  </p:stCondLst>
                                  <p:childTnLst>
                                    <p:set>
                                      <p:cBhvr>
                                        <p:cTn id="61" dur="1" fill="hold">
                                          <p:stCondLst>
                                            <p:cond delay="0"/>
                                          </p:stCondLst>
                                        </p:cTn>
                                        <p:tgtEl>
                                          <p:spTgt spid="22125"/>
                                        </p:tgtEl>
                                        <p:attrNameLst>
                                          <p:attrName>style.visibility</p:attrName>
                                        </p:attrNameLst>
                                      </p:cBhvr>
                                      <p:to>
                                        <p:strVal val="visible"/>
                                      </p:to>
                                    </p:set>
                                    <p:animEffect transition="in" filter="wipe(left)">
                                      <p:cBhvr>
                                        <p:cTn id="62" dur="500"/>
                                        <p:tgtEl>
                                          <p:spTgt spid="2212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nodeType="clickEffect">
                                  <p:stCondLst>
                                    <p:cond delay="0"/>
                                  </p:stCondLst>
                                  <p:childTnLst>
                                    <p:set>
                                      <p:cBhvr>
                                        <p:cTn id="66" dur="1" fill="hold">
                                          <p:stCondLst>
                                            <p:cond delay="0"/>
                                          </p:stCondLst>
                                        </p:cTn>
                                        <p:tgtEl>
                                          <p:spTgt spid="22124"/>
                                        </p:tgtEl>
                                        <p:attrNameLst>
                                          <p:attrName>style.visibility</p:attrName>
                                        </p:attrNameLst>
                                      </p:cBhvr>
                                      <p:to>
                                        <p:strVal val="visible"/>
                                      </p:to>
                                    </p:set>
                                    <p:animEffect transition="in" filter="wipe(left)">
                                      <p:cBhvr>
                                        <p:cTn id="67" dur="500"/>
                                        <p:tgtEl>
                                          <p:spTgt spid="22124"/>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8" fill="hold" nodeType="clickEffect">
                                  <p:stCondLst>
                                    <p:cond delay="0"/>
                                  </p:stCondLst>
                                  <p:childTnLst>
                                    <p:set>
                                      <p:cBhvr>
                                        <p:cTn id="71" dur="1" fill="hold">
                                          <p:stCondLst>
                                            <p:cond delay="0"/>
                                          </p:stCondLst>
                                        </p:cTn>
                                        <p:tgtEl>
                                          <p:spTgt spid="22123"/>
                                        </p:tgtEl>
                                        <p:attrNameLst>
                                          <p:attrName>style.visibility</p:attrName>
                                        </p:attrNameLst>
                                      </p:cBhvr>
                                      <p:to>
                                        <p:strVal val="visible"/>
                                      </p:to>
                                    </p:set>
                                    <p:animEffect transition="in" filter="wipe(left)">
                                      <p:cBhvr>
                                        <p:cTn id="72" dur="500"/>
                                        <p:tgtEl>
                                          <p:spTgt spid="2212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8" fill="hold" nodeType="clickEffect">
                                  <p:stCondLst>
                                    <p:cond delay="0"/>
                                  </p:stCondLst>
                                  <p:childTnLst>
                                    <p:set>
                                      <p:cBhvr>
                                        <p:cTn id="76" dur="1" fill="hold">
                                          <p:stCondLst>
                                            <p:cond delay="0"/>
                                          </p:stCondLst>
                                        </p:cTn>
                                        <p:tgtEl>
                                          <p:spTgt spid="22122"/>
                                        </p:tgtEl>
                                        <p:attrNameLst>
                                          <p:attrName>style.visibility</p:attrName>
                                        </p:attrNameLst>
                                      </p:cBhvr>
                                      <p:to>
                                        <p:strVal val="visible"/>
                                      </p:to>
                                    </p:set>
                                    <p:animEffect transition="in" filter="wipe(left)">
                                      <p:cBhvr>
                                        <p:cTn id="77" dur="500"/>
                                        <p:tgtEl>
                                          <p:spTgt spid="22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35801" y="0"/>
            <a:ext cx="3672103" cy="576064"/>
          </a:xfrm>
        </p:spPr>
        <p:txBody>
          <a:bodyPr>
            <a:normAutofit fontScale="90000"/>
          </a:bodyPr>
          <a:lstStyle/>
          <a:p>
            <a:r>
              <a:rPr lang="en-US" altLang="zh-CN" dirty="0">
                <a:solidFill>
                  <a:schemeClr val="accent2"/>
                </a:solidFill>
              </a:rPr>
              <a:t>LR</a:t>
            </a:r>
            <a:r>
              <a:rPr lang="zh-CN" altLang="en-US" dirty="0">
                <a:solidFill>
                  <a:schemeClr val="accent2"/>
                </a:solidFill>
              </a:rPr>
              <a:t>分析法</a:t>
            </a:r>
            <a:endParaRPr lang="zh-CN" altLang="en-US" dirty="0"/>
          </a:p>
        </p:txBody>
      </p:sp>
      <p:graphicFrame>
        <p:nvGraphicFramePr>
          <p:cNvPr id="4" name="对象 3"/>
          <p:cNvGraphicFramePr>
            <a:graphicFrameLocks noChangeAspect="1"/>
          </p:cNvGraphicFramePr>
          <p:nvPr>
            <p:extLst>
              <p:ext uri="{D42A27DB-BD31-4B8C-83A1-F6EECF244321}">
                <p14:modId xmlns:p14="http://schemas.microsoft.com/office/powerpoint/2010/main" val="244149164"/>
              </p:ext>
            </p:extLst>
          </p:nvPr>
        </p:nvGraphicFramePr>
        <p:xfrm>
          <a:off x="0" y="771550"/>
          <a:ext cx="3672408" cy="2142059"/>
        </p:xfrm>
        <a:graphic>
          <a:graphicData uri="http://schemas.openxmlformats.org/presentationml/2006/ole">
            <mc:AlternateContent xmlns:mc="http://schemas.openxmlformats.org/markup-compatibility/2006">
              <mc:Choice xmlns:v="urn:schemas-microsoft-com:vml" Requires="v">
                <p:oleObj spid="_x0000_s49159" name="Visio" r:id="rId3" imgW="2710774" imgH="1576909" progId="Visio.Drawing.11">
                  <p:embed/>
                </p:oleObj>
              </mc:Choice>
              <mc:Fallback>
                <p:oleObj name="Visio" r:id="rId3" imgW="2710774" imgH="1576909" progId="Visio.Drawing.11">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771550"/>
                        <a:ext cx="3672408" cy="2142059"/>
                      </a:xfrm>
                      <a:prstGeom prst="rect">
                        <a:avLst/>
                      </a:prstGeom>
                      <a:noFill/>
                      <a:ln>
                        <a:noFill/>
                      </a:ln>
                    </p:spPr>
                  </p:pic>
                </p:oleObj>
              </mc:Fallback>
            </mc:AlternateContent>
          </a:graphicData>
        </a:graphic>
      </p:graphicFrame>
      <p:sp>
        <p:nvSpPr>
          <p:cNvPr id="6" name="内容占位符 1"/>
          <p:cNvSpPr txBox="1">
            <a:spLocks/>
          </p:cNvSpPr>
          <p:nvPr/>
        </p:nvSpPr>
        <p:spPr>
          <a:xfrm>
            <a:off x="3707904" y="504056"/>
            <a:ext cx="5436096" cy="843558"/>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zh-CN" altLang="zh-CN" sz="2000" dirty="0"/>
              <a:t>在</a:t>
            </a:r>
            <a:r>
              <a:rPr lang="zh-CN" altLang="en-US" sz="2000" dirty="0"/>
              <a:t>刚才这个例子中</a:t>
            </a:r>
            <a:r>
              <a:rPr lang="zh-CN" altLang="zh-CN" sz="2000" dirty="0"/>
              <a:t>，</a:t>
            </a:r>
            <a:r>
              <a:rPr lang="zh-CN" altLang="en-US" sz="2000" dirty="0"/>
              <a:t>根据</a:t>
            </a:r>
            <a:r>
              <a:rPr lang="zh-CN" altLang="en-US" sz="2000" dirty="0">
                <a:solidFill>
                  <a:srgbClr val="FF0000"/>
                </a:solidFill>
              </a:rPr>
              <a:t>栈顶状态和当前输入符号</a:t>
            </a:r>
            <a:r>
              <a:rPr lang="zh-CN" altLang="en-US" sz="2000" dirty="0"/>
              <a:t>来查</a:t>
            </a:r>
            <a:r>
              <a:rPr lang="en-US" altLang="zh-CN" sz="2000" dirty="0"/>
              <a:t>LR</a:t>
            </a:r>
            <a:r>
              <a:rPr lang="zh-CN" altLang="en-US" sz="2000" dirty="0"/>
              <a:t>分析表，确定是否形成了</a:t>
            </a:r>
            <a:r>
              <a:rPr lang="zh-CN" altLang="en-US" sz="2000" dirty="0">
                <a:solidFill>
                  <a:srgbClr val="FF0000"/>
                </a:solidFill>
              </a:rPr>
              <a:t>句柄</a:t>
            </a:r>
            <a:r>
              <a:rPr lang="zh-CN" altLang="en-US" sz="2000" dirty="0"/>
              <a:t>。</a:t>
            </a:r>
            <a:endParaRPr lang="en-US" altLang="zh-CN" sz="2000" dirty="0"/>
          </a:p>
        </p:txBody>
      </p:sp>
      <p:sp>
        <p:nvSpPr>
          <p:cNvPr id="2" name="内容占位符 1"/>
          <p:cNvSpPr>
            <a:spLocks noGrp="1"/>
          </p:cNvSpPr>
          <p:nvPr>
            <p:ph idx="1"/>
          </p:nvPr>
        </p:nvSpPr>
        <p:spPr>
          <a:xfrm>
            <a:off x="57403" y="2885797"/>
            <a:ext cx="9086597" cy="2134225"/>
          </a:xfrm>
          <a:solidFill>
            <a:schemeClr val="bg1"/>
          </a:solidFill>
        </p:spPr>
        <p:txBody>
          <a:bodyPr>
            <a:normAutofit fontScale="92500" lnSpcReduction="10000"/>
          </a:bodyPr>
          <a:lstStyle/>
          <a:p>
            <a:pPr>
              <a:lnSpc>
                <a:spcPct val="110000"/>
              </a:lnSpc>
              <a:spcBef>
                <a:spcPts val="0"/>
              </a:spcBef>
            </a:pPr>
            <a:r>
              <a:rPr lang="en-US" altLang="zh-CN" dirty="0"/>
              <a:t>K</a:t>
            </a:r>
            <a:r>
              <a:rPr lang="zh-CN" altLang="en-US" dirty="0"/>
              <a:t>一般取</a:t>
            </a:r>
            <a:r>
              <a:rPr lang="en-US" altLang="zh-CN" dirty="0"/>
              <a:t>0</a:t>
            </a:r>
            <a:r>
              <a:rPr lang="zh-CN" altLang="zh-CN" dirty="0"/>
              <a:t>和</a:t>
            </a:r>
            <a:r>
              <a:rPr lang="en-US" altLang="zh-CN" dirty="0"/>
              <a:t>1</a:t>
            </a:r>
            <a:endParaRPr lang="zh-CN" altLang="en-US" dirty="0"/>
          </a:p>
          <a:p>
            <a:pPr lvl="1">
              <a:lnSpc>
                <a:spcPct val="110000"/>
              </a:lnSpc>
              <a:spcBef>
                <a:spcPts val="0"/>
              </a:spcBef>
            </a:pPr>
            <a:r>
              <a:rPr lang="zh-CN" altLang="en-US" dirty="0"/>
              <a:t>向前查看</a:t>
            </a:r>
            <a:r>
              <a:rPr lang="en-US" altLang="zh-CN" dirty="0"/>
              <a:t>0</a:t>
            </a:r>
            <a:r>
              <a:rPr lang="zh-CN" altLang="en-US" dirty="0"/>
              <a:t>个符号，就是</a:t>
            </a:r>
            <a:r>
              <a:rPr lang="en-US" altLang="zh-CN" dirty="0">
                <a:solidFill>
                  <a:srgbClr val="FF0000"/>
                </a:solidFill>
              </a:rPr>
              <a:t>LR(0)</a:t>
            </a:r>
            <a:r>
              <a:rPr lang="zh-CN" altLang="en-US" dirty="0">
                <a:solidFill>
                  <a:srgbClr val="FF0000"/>
                </a:solidFill>
              </a:rPr>
              <a:t>分析</a:t>
            </a:r>
            <a:endParaRPr lang="en-US" altLang="zh-CN" dirty="0">
              <a:solidFill>
                <a:srgbClr val="FF0000"/>
              </a:solidFill>
            </a:endParaRPr>
          </a:p>
          <a:p>
            <a:pPr lvl="1">
              <a:lnSpc>
                <a:spcPct val="110000"/>
              </a:lnSpc>
              <a:spcBef>
                <a:spcPts val="0"/>
              </a:spcBef>
            </a:pPr>
            <a:r>
              <a:rPr lang="zh-CN" altLang="en-US" dirty="0"/>
              <a:t>向前查看</a:t>
            </a:r>
            <a:r>
              <a:rPr lang="en-US" altLang="zh-CN" dirty="0"/>
              <a:t>1</a:t>
            </a:r>
            <a:r>
              <a:rPr lang="zh-CN" altLang="en-US" dirty="0"/>
              <a:t>个符号，就是</a:t>
            </a:r>
            <a:r>
              <a:rPr lang="en-US" altLang="zh-CN" dirty="0">
                <a:solidFill>
                  <a:srgbClr val="FF0000"/>
                </a:solidFill>
              </a:rPr>
              <a:t>LR(1)</a:t>
            </a:r>
            <a:r>
              <a:rPr lang="zh-CN" altLang="en-US" dirty="0">
                <a:solidFill>
                  <a:srgbClr val="FF0000"/>
                </a:solidFill>
              </a:rPr>
              <a:t>分析</a:t>
            </a:r>
          </a:p>
          <a:p>
            <a:pPr>
              <a:lnSpc>
                <a:spcPct val="110000"/>
              </a:lnSpc>
              <a:spcBef>
                <a:spcPts val="0"/>
              </a:spcBef>
            </a:pPr>
            <a:r>
              <a:rPr lang="zh-CN" altLang="en-US" sz="2200" dirty="0"/>
              <a:t>因此，</a:t>
            </a:r>
            <a:r>
              <a:rPr lang="en-US" altLang="zh-CN" sz="2200" b="1" dirty="0">
                <a:solidFill>
                  <a:schemeClr val="accent2"/>
                </a:solidFill>
              </a:rPr>
              <a:t>LR</a:t>
            </a:r>
            <a:r>
              <a:rPr lang="zh-CN" altLang="en-US" sz="2200" b="1" dirty="0">
                <a:solidFill>
                  <a:schemeClr val="accent2"/>
                </a:solidFill>
              </a:rPr>
              <a:t>分析</a:t>
            </a:r>
            <a:r>
              <a:rPr lang="zh-CN" altLang="en-US" sz="2200" dirty="0"/>
              <a:t>是一大类分析方法：</a:t>
            </a:r>
            <a:endParaRPr lang="en-US" altLang="zh-CN" sz="2200" dirty="0"/>
          </a:p>
          <a:p>
            <a:pPr lvl="1">
              <a:lnSpc>
                <a:spcPct val="110000"/>
              </a:lnSpc>
              <a:spcBef>
                <a:spcPts val="0"/>
              </a:spcBef>
            </a:pPr>
            <a:r>
              <a:rPr lang="zh-CN" altLang="en-US" sz="2000" dirty="0"/>
              <a:t>工作原理相同，</a:t>
            </a:r>
            <a:r>
              <a:rPr lang="zh-CN" altLang="zh-CN" sz="2000" dirty="0"/>
              <a:t>各种</a:t>
            </a:r>
            <a:r>
              <a:rPr lang="en-US" altLang="zh-CN" sz="2000" dirty="0"/>
              <a:t>LR</a:t>
            </a:r>
            <a:r>
              <a:rPr lang="zh-CN" altLang="zh-CN" sz="2000" dirty="0"/>
              <a:t>分析方法中的分析程序和分析表的形式</a:t>
            </a:r>
            <a:r>
              <a:rPr lang="zh-CN" altLang="en-US" sz="2000" dirty="0"/>
              <a:t>也</a:t>
            </a:r>
            <a:r>
              <a:rPr lang="zh-CN" altLang="zh-CN" sz="2000" dirty="0"/>
              <a:t>相同的</a:t>
            </a:r>
            <a:endParaRPr lang="en-US" altLang="zh-CN" sz="2000" dirty="0"/>
          </a:p>
          <a:p>
            <a:pPr lvl="1">
              <a:lnSpc>
                <a:spcPct val="110000"/>
              </a:lnSpc>
              <a:spcBef>
                <a:spcPts val="0"/>
              </a:spcBef>
            </a:pPr>
            <a:r>
              <a:rPr lang="zh-CN" altLang="zh-CN" sz="2000" dirty="0"/>
              <a:t>差别在于分析表的内容，不同的文法和不同的</a:t>
            </a:r>
            <a:r>
              <a:rPr lang="en-US" altLang="zh-CN" sz="2000" dirty="0"/>
              <a:t>LR</a:t>
            </a:r>
            <a:r>
              <a:rPr lang="zh-CN" altLang="zh-CN" sz="2000" dirty="0"/>
              <a:t>分析方法，其分析表都不同</a:t>
            </a:r>
            <a:endParaRPr lang="en-US" altLang="zh-CN" sz="2000" dirty="0"/>
          </a:p>
        </p:txBody>
      </p:sp>
      <p:sp>
        <p:nvSpPr>
          <p:cNvPr id="7" name="内容占位符 1"/>
          <p:cNvSpPr txBox="1">
            <a:spLocks/>
          </p:cNvSpPr>
          <p:nvPr/>
        </p:nvSpPr>
        <p:spPr>
          <a:xfrm>
            <a:off x="3707904" y="1275606"/>
            <a:ext cx="5436096" cy="1728192"/>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ts val="0"/>
              </a:spcBef>
            </a:pPr>
            <a:r>
              <a:rPr lang="zh-CN" altLang="en-US" sz="2000" dirty="0"/>
              <a:t>有的时候，仅仅根据当前输入符号还不能确定是否形成了句柄，需要</a:t>
            </a:r>
            <a:r>
              <a:rPr lang="zh-CN" altLang="zh-CN" sz="2000" dirty="0">
                <a:solidFill>
                  <a:srgbClr val="FF0000"/>
                </a:solidFill>
              </a:rPr>
              <a:t>向右顺序查看输入串的</a:t>
            </a:r>
            <a:r>
              <a:rPr lang="en-US" altLang="zh-CN" sz="2000" dirty="0">
                <a:solidFill>
                  <a:srgbClr val="FF0000"/>
                </a:solidFill>
              </a:rPr>
              <a:t>K</a:t>
            </a:r>
            <a:r>
              <a:rPr lang="zh-CN" altLang="zh-CN" sz="2000" dirty="0">
                <a:solidFill>
                  <a:srgbClr val="FF0000"/>
                </a:solidFill>
              </a:rPr>
              <a:t>个符号</a:t>
            </a:r>
            <a:r>
              <a:rPr lang="zh-CN" altLang="en-US" sz="2000" dirty="0"/>
              <a:t>才能</a:t>
            </a:r>
            <a:r>
              <a:rPr lang="zh-CN" altLang="zh-CN" sz="2000" dirty="0"/>
              <a:t>唯一地确定分析动作是移进还是归约，以及用哪个产生式</a:t>
            </a:r>
            <a:r>
              <a:rPr lang="zh-CN" altLang="en-US" sz="2000" dirty="0"/>
              <a:t>归约。称为</a:t>
            </a:r>
            <a:r>
              <a:rPr lang="en-US" altLang="zh-CN" sz="2000" dirty="0"/>
              <a:t>LR(K)</a:t>
            </a:r>
            <a:r>
              <a:rPr lang="zh-CN" altLang="en-US" sz="2000" dirty="0"/>
              <a:t>分析方法。</a:t>
            </a:r>
            <a:endParaRPr lang="en-US" altLang="zh-CN" sz="2000" dirty="0"/>
          </a:p>
        </p:txBody>
      </p:sp>
    </p:spTree>
    <p:extLst>
      <p:ext uri="{BB962C8B-B14F-4D97-AF65-F5344CB8AC3E}">
        <p14:creationId xmlns:p14="http://schemas.microsoft.com/office/powerpoint/2010/main" val="2166921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bg/>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xEl>
                                              <p:pRg st="3" end="3"/>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 grpId="0" build="p" animBg="1"/>
      <p:bldP spid="7" grpId="0" animBg="1"/>
    </p:bldLst>
  </p:timing>
</p:sld>
</file>

<file path=ppt/slides/slide2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6370" name="Rectangle 2"/>
          <p:cNvSpPr>
            <a:spLocks noGrp="1" noChangeArrowheads="1"/>
          </p:cNvSpPr>
          <p:nvPr>
            <p:ph type="title"/>
          </p:nvPr>
        </p:nvSpPr>
        <p:spPr>
          <a:xfrm>
            <a:off x="685800" y="193675"/>
            <a:ext cx="7772400" cy="628650"/>
          </a:xfrm>
        </p:spPr>
        <p:txBody>
          <a:bodyPr>
            <a:normAutofit fontScale="90000"/>
          </a:bodyPr>
          <a:lstStyle/>
          <a:p>
            <a:pPr eaLnBrk="1" hangingPunct="1"/>
            <a:r>
              <a:rPr kumimoji="0" lang="en-US" altLang="zh-CN" sz="4000" b="1">
                <a:latin typeface="楷体_GB2312" pitchFamily="49" charset="-122"/>
                <a:ea typeface="楷体_GB2312" pitchFamily="49" charset="-122"/>
              </a:rPr>
              <a:t>LR</a:t>
            </a:r>
            <a:r>
              <a:rPr kumimoji="0" lang="zh-CN" altLang="en-US" sz="4000" b="1">
                <a:latin typeface="楷体_GB2312" pitchFamily="49" charset="-122"/>
                <a:ea typeface="楷体_GB2312" pitchFamily="49" charset="-122"/>
              </a:rPr>
              <a:t>分析的优缺点</a:t>
            </a:r>
          </a:p>
        </p:txBody>
      </p:sp>
      <p:sp>
        <p:nvSpPr>
          <p:cNvPr id="117763" name="Rectangle 3"/>
          <p:cNvSpPr>
            <a:spLocks noGrp="1" noChangeArrowheads="1"/>
          </p:cNvSpPr>
          <p:nvPr>
            <p:ph type="body" idx="1"/>
          </p:nvPr>
        </p:nvSpPr>
        <p:spPr>
          <a:xfrm>
            <a:off x="685800" y="987574"/>
            <a:ext cx="7772400" cy="3927326"/>
          </a:xfrm>
        </p:spPr>
        <p:txBody>
          <a:bodyPr>
            <a:normAutofit/>
          </a:bodyPr>
          <a:lstStyle/>
          <a:p>
            <a:pPr eaLnBrk="1" hangingPunct="1"/>
            <a:r>
              <a:rPr lang="zh-CN" altLang="en-US" dirty="0"/>
              <a:t>优点：</a:t>
            </a:r>
          </a:p>
          <a:p>
            <a:pPr lvl="1"/>
            <a:r>
              <a:rPr lang="zh-CN" altLang="en-US" dirty="0"/>
              <a:t>应用广泛，对文法的限制少：大多数用上下文无关文法描述的、无二义性的高级语言的语法成分都可以用</a:t>
            </a:r>
            <a:r>
              <a:rPr lang="en-US" altLang="zh-CN" dirty="0"/>
              <a:t>LR</a:t>
            </a:r>
            <a:r>
              <a:rPr lang="zh-CN" altLang="en-US" dirty="0"/>
              <a:t>分析来进行分析。</a:t>
            </a:r>
          </a:p>
          <a:p>
            <a:pPr lvl="1"/>
            <a:r>
              <a:rPr lang="zh-CN" altLang="en-US" dirty="0"/>
              <a:t>识别率高，在扫描输入串时就能发现其中的任何错误，并能准确地指出出错位置。</a:t>
            </a:r>
          </a:p>
          <a:p>
            <a:pPr eaLnBrk="1" hangingPunct="1"/>
            <a:r>
              <a:rPr lang="zh-CN" altLang="en-US" dirty="0"/>
              <a:t>缺点：</a:t>
            </a:r>
          </a:p>
          <a:p>
            <a:pPr lvl="1" eaLnBrk="1" hangingPunct="1"/>
            <a:r>
              <a:rPr lang="zh-CN" altLang="en-US" dirty="0"/>
              <a:t>手工构造分析表工作量太大。必须使用自动生成器。</a:t>
            </a:r>
          </a:p>
        </p:txBody>
      </p:sp>
    </p:spTree>
    <p:extLst>
      <p:ext uri="{BB962C8B-B14F-4D97-AF65-F5344CB8AC3E}">
        <p14:creationId xmlns:p14="http://schemas.microsoft.com/office/powerpoint/2010/main" val="1553409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776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1776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499"/>
                                          </p:stCondLst>
                                        </p:cTn>
                                        <p:tgtEl>
                                          <p:spTgt spid="11776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1776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1776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763" grpId="0" build="p" autoUpdateAnimBg="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Grp="1" noChangeArrowheads="1"/>
          </p:cNvSpPr>
          <p:nvPr>
            <p:ph type="title"/>
          </p:nvPr>
        </p:nvSpPr>
        <p:spPr/>
        <p:txBody>
          <a:bodyPr>
            <a:normAutofit/>
          </a:bodyPr>
          <a:lstStyle/>
          <a:p>
            <a:pPr eaLnBrk="1" hangingPunct="1"/>
            <a:endParaRPr lang="zh-CN" altLang="zh-CN"/>
          </a:p>
        </p:txBody>
      </p:sp>
      <p:sp>
        <p:nvSpPr>
          <p:cNvPr id="198659" name="Rectangle 3"/>
          <p:cNvSpPr>
            <a:spLocks noGrp="1" noChangeArrowheads="1"/>
          </p:cNvSpPr>
          <p:nvPr>
            <p:ph type="body" idx="1"/>
          </p:nvPr>
        </p:nvSpPr>
        <p:spPr/>
        <p:txBody>
          <a:bodyPr/>
          <a:lstStyle/>
          <a:p>
            <a:pPr eaLnBrk="1" hangingPunct="1"/>
            <a:r>
              <a:rPr lang="en-US" altLang="zh-CN">
                <a:solidFill>
                  <a:schemeClr val="accent2"/>
                </a:solidFill>
              </a:rPr>
              <a:t>LR</a:t>
            </a:r>
            <a:r>
              <a:rPr lang="zh-CN" altLang="en-US">
                <a:solidFill>
                  <a:schemeClr val="accent2"/>
                </a:solidFill>
              </a:rPr>
              <a:t>文法</a:t>
            </a:r>
            <a:r>
              <a:rPr lang="zh-CN" altLang="en-US"/>
              <a:t>：对一个文法，如果能够构造一个分析表，且它的每个入口均是唯一的</a:t>
            </a:r>
          </a:p>
          <a:p>
            <a:pPr eaLnBrk="1" hangingPunct="1"/>
            <a:r>
              <a:rPr lang="zh-CN" altLang="en-US"/>
              <a:t>如何构造</a:t>
            </a:r>
            <a:r>
              <a:rPr lang="en-US" altLang="zh-CN"/>
              <a:t>LR</a:t>
            </a:r>
            <a:r>
              <a:rPr lang="zh-CN" altLang="en-US"/>
              <a:t>分析表？</a:t>
            </a:r>
          </a:p>
        </p:txBody>
      </p:sp>
    </p:spTree>
    <p:extLst>
      <p:ext uri="{BB962C8B-B14F-4D97-AF65-F5344CB8AC3E}">
        <p14:creationId xmlns:p14="http://schemas.microsoft.com/office/powerpoint/2010/main" val="198378435"/>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5974713" cy="1323439"/>
          </a:xfrm>
          <a:prstGeom prst="rect">
            <a:avLst/>
          </a:prstGeom>
        </p:spPr>
        <p:txBody>
          <a:bodyPr wrap="none">
            <a:spAutoFit/>
          </a:bodyPr>
          <a:lstStyle/>
          <a:p>
            <a:r>
              <a:rPr lang="en-US" altLang="zh-CN" sz="4000" b="1" dirty="0">
                <a:solidFill>
                  <a:srgbClr val="CC0099"/>
                </a:solidFill>
                <a:ea typeface="隶书" pitchFamily="49" charset="-122"/>
              </a:rPr>
              <a:t>9</a:t>
            </a:r>
            <a:r>
              <a:rPr lang="zh-CN" altLang="en-US" sz="4000" b="1" dirty="0">
                <a:solidFill>
                  <a:srgbClr val="CC0099"/>
                </a:solidFill>
                <a:ea typeface="隶书" pitchFamily="49" charset="-122"/>
              </a:rPr>
              <a:t>、</a:t>
            </a:r>
            <a:r>
              <a:rPr lang="en-US" altLang="zh-CN" sz="4000" b="1" dirty="0">
                <a:solidFill>
                  <a:srgbClr val="CC0099"/>
                </a:solidFill>
                <a:ea typeface="隶书" pitchFamily="49" charset="-122"/>
              </a:rPr>
              <a:t>LR</a:t>
            </a:r>
            <a:r>
              <a:rPr lang="zh-CN" altLang="en-US" sz="4000" b="1" dirty="0">
                <a:solidFill>
                  <a:srgbClr val="CC0099"/>
                </a:solidFill>
                <a:ea typeface="隶书" pitchFamily="49" charset="-122"/>
              </a:rPr>
              <a:t>分析</a:t>
            </a:r>
            <a:endParaRPr lang="en-US" altLang="zh-CN" sz="4000" b="1" dirty="0">
              <a:solidFill>
                <a:srgbClr val="CC0099"/>
              </a:solidFill>
              <a:ea typeface="隶书" pitchFamily="49" charset="-122"/>
            </a:endParaRPr>
          </a:p>
          <a:p>
            <a:r>
              <a:rPr lang="en-US" altLang="zh-CN" sz="4000" b="1" dirty="0">
                <a:solidFill>
                  <a:srgbClr val="CC0099"/>
                </a:solidFill>
                <a:ea typeface="隶书" pitchFamily="49" charset="-122"/>
              </a:rPr>
              <a:t>     </a:t>
            </a:r>
            <a:r>
              <a:rPr lang="en-US" altLang="zh-CN" sz="3600" b="1" dirty="0">
                <a:solidFill>
                  <a:srgbClr val="CC0099"/>
                </a:solidFill>
                <a:ea typeface="隶书" pitchFamily="49" charset="-122"/>
              </a:rPr>
              <a:t>——LR(0)</a:t>
            </a:r>
            <a:r>
              <a:rPr lang="zh-CN" altLang="en-US" sz="3600" b="1" dirty="0">
                <a:solidFill>
                  <a:srgbClr val="CC0099"/>
                </a:solidFill>
                <a:ea typeface="隶书" pitchFamily="49" charset="-122"/>
              </a:rPr>
              <a:t> 分析表的构造</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2220226333"/>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8873" name="Rectangle 3"/>
          <p:cNvSpPr>
            <a:spLocks noGrp="1" noChangeArrowheads="1"/>
          </p:cNvSpPr>
          <p:nvPr>
            <p:ph type="body" idx="1"/>
          </p:nvPr>
        </p:nvSpPr>
        <p:spPr>
          <a:xfrm>
            <a:off x="360040" y="123478"/>
            <a:ext cx="4644008" cy="4876006"/>
          </a:xfrm>
          <a:solidFill>
            <a:schemeClr val="bg1"/>
          </a:solidFill>
        </p:spPr>
        <p:txBody>
          <a:bodyPr lIns="92075" tIns="46038" rIns="92075" bIns="46038">
            <a:noAutofit/>
          </a:bodyPr>
          <a:lstStyle/>
          <a:p>
            <a:pPr>
              <a:lnSpc>
                <a:spcPct val="90000"/>
              </a:lnSpc>
              <a:buNone/>
            </a:pPr>
            <a:r>
              <a:rPr lang="en-US" altLang="zh-CN" sz="1800" u="sng" dirty="0">
                <a:latin typeface="宋体" pitchFamily="2" charset="-122"/>
                <a:ea typeface="宋体" panose="02010600030101010101" pitchFamily="2" charset="-122"/>
              </a:rPr>
              <a:t>  </a:t>
            </a:r>
            <a:r>
              <a:rPr lang="en-US" altLang="zh-CN" sz="1800" i="1" u="sng" dirty="0">
                <a:latin typeface="宋体" pitchFamily="2" charset="-122"/>
                <a:ea typeface="宋体" panose="02010600030101010101" pitchFamily="2" charset="-122"/>
              </a:rPr>
              <a:t>  </a:t>
            </a:r>
            <a:r>
              <a:rPr lang="zh-CN" altLang="en-US" sz="1800" i="1" u="sng" dirty="0">
                <a:latin typeface="宋体" pitchFamily="2" charset="-122"/>
                <a:ea typeface="宋体" panose="02010600030101010101" pitchFamily="2" charset="-122"/>
              </a:rPr>
              <a:t>动作          栈       剩余输入串</a:t>
            </a:r>
            <a:endParaRPr lang="zh-CN" altLang="en-US" sz="1800" u="sng" dirty="0">
              <a:latin typeface="宋体" pitchFamily="2" charset="-122"/>
              <a:ea typeface="宋体" panose="02010600030101010101" pitchFamily="2" charset="-122"/>
            </a:endParaRPr>
          </a:p>
          <a:p>
            <a:pPr eaLnBrk="1" hangingPunct="1">
              <a:lnSpc>
                <a:spcPct val="90000"/>
              </a:lnSpc>
              <a:buFontTx/>
              <a:buNone/>
            </a:pPr>
            <a:r>
              <a:rPr lang="en-US" altLang="zh-CN" sz="1800" u="sng" dirty="0">
                <a:latin typeface="宋体" pitchFamily="2" charset="-122"/>
                <a:ea typeface="宋体" panose="02010600030101010101" pitchFamily="2" charset="-122"/>
              </a:rPr>
              <a:t>1)  </a:t>
            </a:r>
            <a:r>
              <a:rPr lang="zh-CN" altLang="en-US" sz="1800" u="sng" dirty="0">
                <a:latin typeface="宋体" pitchFamily="2" charset="-122"/>
                <a:ea typeface="宋体" panose="02010600030101010101" pitchFamily="2" charset="-122"/>
              </a:rPr>
              <a:t>准备          </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1</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2)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1</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3)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#F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4)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T→F     #T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5)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E→T     #E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6)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          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7)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#E+i</a:t>
            </a:r>
            <a:r>
              <a:rPr lang="en-US" altLang="zh-CN" sz="1800" u="sng" baseline="-25000" dirty="0">
                <a:latin typeface="宋体" pitchFamily="2" charset="-122"/>
                <a:ea typeface="宋体" panose="02010600030101010101" pitchFamily="2" charset="-122"/>
              </a:rPr>
              <a:t>2</a:t>
            </a:r>
            <a:r>
              <a:rPr lang="en-US" altLang="zh-CN" sz="1800" u="sng" dirty="0">
                <a:latin typeface="宋体" pitchFamily="2" charset="-122"/>
                <a:ea typeface="宋体" panose="02010600030101010101" pitchFamily="2" charset="-122"/>
              </a:rPr>
              <a: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8)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#E+F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9)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T→F     #E+T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10)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#E+T*           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a:t>
            </a:r>
          </a:p>
          <a:p>
            <a:pPr eaLnBrk="1" hangingPunct="1">
              <a:lnSpc>
                <a:spcPct val="90000"/>
              </a:lnSpc>
              <a:buFontTx/>
              <a:buNone/>
            </a:pPr>
            <a:r>
              <a:rPr lang="en-US" altLang="zh-CN" sz="1800" u="sng" dirty="0">
                <a:latin typeface="宋体" pitchFamily="2" charset="-122"/>
                <a:ea typeface="宋体" panose="02010600030101010101" pitchFamily="2" charset="-122"/>
              </a:rPr>
              <a:t>11) </a:t>
            </a:r>
            <a:r>
              <a:rPr lang="zh-CN" altLang="en-US" sz="1800" u="sng" dirty="0">
                <a:latin typeface="宋体" pitchFamily="2" charset="-122"/>
                <a:ea typeface="宋体" panose="02010600030101010101" pitchFamily="2" charset="-122"/>
              </a:rPr>
              <a:t>移进          </a:t>
            </a:r>
            <a:r>
              <a:rPr lang="en-US" altLang="zh-CN" sz="1800" u="sng" dirty="0">
                <a:latin typeface="宋体" pitchFamily="2" charset="-122"/>
                <a:ea typeface="宋体" panose="02010600030101010101" pitchFamily="2" charset="-122"/>
              </a:rPr>
              <a:t>#E+T*i</a:t>
            </a:r>
            <a:r>
              <a:rPr lang="en-US" altLang="zh-CN" sz="1800" u="sng" baseline="-25000" dirty="0">
                <a:latin typeface="宋体" pitchFamily="2" charset="-122"/>
                <a:ea typeface="宋体" panose="02010600030101010101" pitchFamily="2" charset="-122"/>
              </a:rPr>
              <a:t>3</a:t>
            </a:r>
            <a:r>
              <a:rPr lang="en-US" altLang="zh-CN" sz="1800" u="sng" dirty="0">
                <a:latin typeface="宋体" pitchFamily="2" charset="-122"/>
                <a:ea typeface="宋体" panose="02010600030101010101" pitchFamily="2" charset="-122"/>
              </a:rPr>
              <a:t>           #</a:t>
            </a:r>
          </a:p>
          <a:p>
            <a:pPr eaLnBrk="1" hangingPunct="1">
              <a:lnSpc>
                <a:spcPct val="90000"/>
              </a:lnSpc>
              <a:buFontTx/>
              <a:buNone/>
            </a:pPr>
            <a:r>
              <a:rPr lang="en-US" altLang="zh-CN" sz="1800" u="sng" dirty="0">
                <a:latin typeface="宋体" pitchFamily="2" charset="-122"/>
                <a:ea typeface="宋体" panose="02010600030101010101" pitchFamily="2" charset="-122"/>
              </a:rPr>
              <a:t>12) </a:t>
            </a:r>
            <a:r>
              <a:rPr lang="zh-CN" altLang="en-US" sz="1800" u="sng" dirty="0">
                <a:latin typeface="宋体" pitchFamily="2" charset="-122"/>
                <a:ea typeface="宋体" panose="02010600030101010101" pitchFamily="2" charset="-122"/>
              </a:rPr>
              <a:t>归约 </a:t>
            </a:r>
            <a:r>
              <a:rPr lang="en-US" altLang="zh-CN" sz="1800" u="sng" dirty="0" err="1">
                <a:latin typeface="宋体" pitchFamily="2" charset="-122"/>
                <a:ea typeface="宋体" panose="02010600030101010101" pitchFamily="2" charset="-122"/>
              </a:rPr>
              <a:t>F→i</a:t>
            </a:r>
            <a:r>
              <a:rPr lang="en-US" altLang="zh-CN" sz="1800" u="sng" dirty="0">
                <a:latin typeface="宋体" pitchFamily="2" charset="-122"/>
                <a:ea typeface="宋体" panose="02010600030101010101" pitchFamily="2" charset="-122"/>
              </a:rPr>
              <a:t>     #E+T*F            #</a:t>
            </a:r>
          </a:p>
          <a:p>
            <a:pPr eaLnBrk="1" hangingPunct="1">
              <a:lnSpc>
                <a:spcPct val="90000"/>
              </a:lnSpc>
              <a:buFontTx/>
              <a:buNone/>
            </a:pPr>
            <a:r>
              <a:rPr lang="en-US" altLang="zh-CN" sz="1800" u="sng" dirty="0">
                <a:latin typeface="宋体" pitchFamily="2" charset="-122"/>
                <a:ea typeface="宋体" panose="02010600030101010101" pitchFamily="2" charset="-122"/>
              </a:rPr>
              <a:t>13)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T→T*F   #E+T              #</a:t>
            </a:r>
          </a:p>
          <a:p>
            <a:pPr eaLnBrk="1" hangingPunct="1">
              <a:lnSpc>
                <a:spcPct val="90000"/>
              </a:lnSpc>
              <a:buFontTx/>
              <a:buNone/>
            </a:pPr>
            <a:r>
              <a:rPr lang="en-US" altLang="zh-CN" sz="1800" u="sng" dirty="0">
                <a:latin typeface="宋体" pitchFamily="2" charset="-122"/>
                <a:ea typeface="宋体" panose="02010600030101010101" pitchFamily="2" charset="-122"/>
              </a:rPr>
              <a:t>14) </a:t>
            </a:r>
            <a:r>
              <a:rPr lang="zh-CN" altLang="en-US" sz="1800" u="sng" dirty="0">
                <a:latin typeface="宋体" pitchFamily="2" charset="-122"/>
                <a:ea typeface="宋体" panose="02010600030101010101" pitchFamily="2" charset="-122"/>
              </a:rPr>
              <a:t>归约 </a:t>
            </a:r>
            <a:r>
              <a:rPr lang="en-US" altLang="zh-CN" sz="1800" u="sng" dirty="0">
                <a:latin typeface="宋体" pitchFamily="2" charset="-122"/>
                <a:ea typeface="宋体" panose="02010600030101010101" pitchFamily="2" charset="-122"/>
              </a:rPr>
              <a:t>E→E+T   #E                #  </a:t>
            </a:r>
          </a:p>
          <a:p>
            <a:pPr eaLnBrk="1" hangingPunct="1">
              <a:lnSpc>
                <a:spcPct val="90000"/>
              </a:lnSpc>
              <a:buFontTx/>
              <a:buNone/>
            </a:pPr>
            <a:r>
              <a:rPr lang="en-US" altLang="zh-CN" sz="1800" u="sng" dirty="0">
                <a:latin typeface="宋体" pitchFamily="2" charset="-122"/>
                <a:ea typeface="宋体" panose="02010600030101010101" pitchFamily="2" charset="-122"/>
              </a:rPr>
              <a:t>15) </a:t>
            </a:r>
            <a:r>
              <a:rPr lang="zh-CN" altLang="en-US" sz="1800" u="sng" dirty="0">
                <a:latin typeface="宋体" pitchFamily="2" charset="-122"/>
                <a:ea typeface="宋体" panose="02010600030101010101" pitchFamily="2" charset="-122"/>
              </a:rPr>
              <a:t>接受</a:t>
            </a:r>
          </a:p>
        </p:txBody>
      </p:sp>
      <p:sp>
        <p:nvSpPr>
          <p:cNvPr id="1048874" name="Line 4"/>
          <p:cNvSpPr>
            <a:spLocks noChangeShapeType="1"/>
          </p:cNvSpPr>
          <p:nvPr/>
        </p:nvSpPr>
        <p:spPr bwMode="auto">
          <a:xfrm flipV="1">
            <a:off x="6588224" y="4152429"/>
            <a:ext cx="0" cy="363537"/>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5" name="Line 5"/>
          <p:cNvSpPr>
            <a:spLocks noChangeShapeType="1"/>
          </p:cNvSpPr>
          <p:nvPr/>
        </p:nvSpPr>
        <p:spPr bwMode="auto">
          <a:xfrm flipV="1">
            <a:off x="6670675" y="1485900"/>
            <a:ext cx="415925" cy="10541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6" name="Line 6"/>
          <p:cNvSpPr>
            <a:spLocks noChangeShapeType="1"/>
          </p:cNvSpPr>
          <p:nvPr/>
        </p:nvSpPr>
        <p:spPr bwMode="auto">
          <a:xfrm flipV="1">
            <a:off x="7086600" y="1485897"/>
            <a:ext cx="76200" cy="3030068"/>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7" name="Line 7"/>
          <p:cNvSpPr>
            <a:spLocks noChangeShapeType="1"/>
          </p:cNvSpPr>
          <p:nvPr/>
        </p:nvSpPr>
        <p:spPr bwMode="auto">
          <a:xfrm flipH="1" flipV="1">
            <a:off x="8305800" y="2343150"/>
            <a:ext cx="456604" cy="14795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8" name="Line 8"/>
          <p:cNvSpPr>
            <a:spLocks noChangeShapeType="1"/>
          </p:cNvSpPr>
          <p:nvPr/>
        </p:nvSpPr>
        <p:spPr bwMode="auto">
          <a:xfrm flipV="1">
            <a:off x="8147050" y="2400300"/>
            <a:ext cx="82550" cy="2115666"/>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79" name="Line 9"/>
          <p:cNvSpPr>
            <a:spLocks noChangeShapeType="1"/>
          </p:cNvSpPr>
          <p:nvPr/>
        </p:nvSpPr>
        <p:spPr bwMode="auto">
          <a:xfrm flipV="1">
            <a:off x="7672388" y="2343150"/>
            <a:ext cx="481012" cy="8318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0" name="Line 10"/>
          <p:cNvSpPr>
            <a:spLocks noChangeShapeType="1"/>
          </p:cNvSpPr>
          <p:nvPr/>
        </p:nvSpPr>
        <p:spPr bwMode="auto">
          <a:xfrm flipV="1">
            <a:off x="7639050" y="4141316"/>
            <a:ext cx="0" cy="3746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1" name="Line 11"/>
          <p:cNvSpPr>
            <a:spLocks noChangeShapeType="1"/>
          </p:cNvSpPr>
          <p:nvPr/>
        </p:nvSpPr>
        <p:spPr bwMode="auto">
          <a:xfrm flipH="1" flipV="1">
            <a:off x="8748464" y="4184179"/>
            <a:ext cx="6350" cy="331787"/>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2" name="Line 12"/>
          <p:cNvSpPr>
            <a:spLocks noChangeShapeType="1"/>
          </p:cNvSpPr>
          <p:nvPr/>
        </p:nvSpPr>
        <p:spPr bwMode="auto">
          <a:xfrm flipH="1" flipV="1">
            <a:off x="7315200" y="1485900"/>
            <a:ext cx="838200" cy="62865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3" name="Rectangle 13"/>
          <p:cNvSpPr>
            <a:spLocks noChangeArrowheads="1"/>
          </p:cNvSpPr>
          <p:nvPr/>
        </p:nvSpPr>
        <p:spPr bwMode="auto">
          <a:xfrm>
            <a:off x="5148064" y="4800600"/>
            <a:ext cx="3995936" cy="461665"/>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dirty="0">
                <a:ea typeface="华文行楷" pitchFamily="2" charset="-122"/>
              </a:rPr>
              <a:t>规范归约产生语法树</a:t>
            </a:r>
          </a:p>
        </p:txBody>
      </p:sp>
      <p:sp>
        <p:nvSpPr>
          <p:cNvPr id="1048884" name="Rectangle 15"/>
          <p:cNvSpPr>
            <a:spLocks noChangeArrowheads="1"/>
          </p:cNvSpPr>
          <p:nvPr/>
        </p:nvSpPr>
        <p:spPr bwMode="auto">
          <a:xfrm>
            <a:off x="6276375" y="4413250"/>
            <a:ext cx="2867625" cy="430887"/>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200" dirty="0">
                <a:solidFill>
                  <a:srgbClr val="FF0066"/>
                </a:solidFill>
                <a:latin typeface="宋体" pitchFamily="2" charset="-122"/>
                <a:ea typeface="华文行楷" pitchFamily="2" charset="-122"/>
              </a:rPr>
              <a:t>i</a:t>
            </a:r>
            <a:r>
              <a:rPr lang="en-US" altLang="zh-CN" sz="2200" baseline="-25000" dirty="0">
                <a:solidFill>
                  <a:srgbClr val="FF0066"/>
                </a:solidFill>
                <a:latin typeface="宋体" pitchFamily="2" charset="-122"/>
                <a:ea typeface="华文行楷" pitchFamily="2" charset="-122"/>
              </a:rPr>
              <a:t>1</a:t>
            </a:r>
            <a:r>
              <a:rPr lang="en-US" altLang="zh-CN" sz="2200" dirty="0">
                <a:solidFill>
                  <a:srgbClr val="FF0066"/>
                </a:solidFill>
                <a:latin typeface="宋体" pitchFamily="2" charset="-122"/>
                <a:ea typeface="华文行楷" pitchFamily="2" charset="-122"/>
              </a:rPr>
              <a:t>  +   i</a:t>
            </a:r>
            <a:r>
              <a:rPr lang="en-US" altLang="zh-CN" sz="2200" baseline="-25000" dirty="0">
                <a:solidFill>
                  <a:srgbClr val="FF0066"/>
                </a:solidFill>
                <a:latin typeface="宋体" pitchFamily="2" charset="-122"/>
                <a:ea typeface="华文行楷" pitchFamily="2" charset="-122"/>
              </a:rPr>
              <a:t>2</a:t>
            </a:r>
            <a:r>
              <a:rPr lang="en-US" altLang="zh-CN" sz="2200" dirty="0">
                <a:solidFill>
                  <a:srgbClr val="FF0066"/>
                </a:solidFill>
                <a:latin typeface="宋体" pitchFamily="2" charset="-122"/>
                <a:ea typeface="华文行楷" pitchFamily="2" charset="-122"/>
              </a:rPr>
              <a:t>  *   i</a:t>
            </a:r>
            <a:r>
              <a:rPr lang="en-US" altLang="zh-CN" sz="2200" baseline="-25000" dirty="0">
                <a:solidFill>
                  <a:srgbClr val="FF0066"/>
                </a:solidFill>
                <a:latin typeface="宋体" pitchFamily="2" charset="-122"/>
                <a:ea typeface="华文行楷" pitchFamily="2" charset="-122"/>
              </a:rPr>
              <a:t>3</a:t>
            </a:r>
          </a:p>
        </p:txBody>
      </p:sp>
      <p:sp>
        <p:nvSpPr>
          <p:cNvPr id="1048885" name="Text Box 16"/>
          <p:cNvSpPr txBox="1">
            <a:spLocks noChangeArrowheads="1"/>
          </p:cNvSpPr>
          <p:nvPr/>
        </p:nvSpPr>
        <p:spPr bwMode="auto">
          <a:xfrm>
            <a:off x="6444208" y="3746500"/>
            <a:ext cx="315912"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1048886" name="Line 17"/>
          <p:cNvSpPr>
            <a:spLocks noChangeShapeType="1"/>
          </p:cNvSpPr>
          <p:nvPr/>
        </p:nvSpPr>
        <p:spPr bwMode="auto">
          <a:xfrm flipV="1">
            <a:off x="6588224" y="3461494"/>
            <a:ext cx="0" cy="4064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7" name="Text Box 18"/>
          <p:cNvSpPr txBox="1">
            <a:spLocks noChangeArrowheads="1"/>
          </p:cNvSpPr>
          <p:nvPr/>
        </p:nvSpPr>
        <p:spPr bwMode="auto">
          <a:xfrm>
            <a:off x="6444208" y="3075806"/>
            <a:ext cx="315912"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88" name="Line 19"/>
          <p:cNvSpPr>
            <a:spLocks noChangeShapeType="1"/>
          </p:cNvSpPr>
          <p:nvPr/>
        </p:nvSpPr>
        <p:spPr bwMode="auto">
          <a:xfrm flipV="1">
            <a:off x="6602164" y="2789238"/>
            <a:ext cx="38572" cy="406400"/>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89" name="Text Box 20"/>
          <p:cNvSpPr txBox="1">
            <a:spLocks noChangeArrowheads="1"/>
          </p:cNvSpPr>
          <p:nvPr/>
        </p:nvSpPr>
        <p:spPr bwMode="auto">
          <a:xfrm>
            <a:off x="6497638" y="2427734"/>
            <a:ext cx="287337" cy="461665"/>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sp>
        <p:nvSpPr>
          <p:cNvPr id="1048890" name="Text Box 22"/>
          <p:cNvSpPr txBox="1">
            <a:spLocks noChangeArrowheads="1"/>
          </p:cNvSpPr>
          <p:nvPr/>
        </p:nvSpPr>
        <p:spPr bwMode="auto">
          <a:xfrm>
            <a:off x="7497763" y="3760788"/>
            <a:ext cx="315912" cy="460375"/>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solidFill>
                  <a:srgbClr val="FF0066"/>
                </a:solidFill>
                <a:ea typeface="华文行楷" pitchFamily="2" charset="-122"/>
              </a:rPr>
              <a:t>F</a:t>
            </a:r>
          </a:p>
        </p:txBody>
      </p:sp>
      <p:sp>
        <p:nvSpPr>
          <p:cNvPr id="1048891" name="Line 23"/>
          <p:cNvSpPr>
            <a:spLocks noChangeShapeType="1"/>
          </p:cNvSpPr>
          <p:nvPr/>
        </p:nvSpPr>
        <p:spPr bwMode="auto">
          <a:xfrm flipV="1">
            <a:off x="7626350" y="3491656"/>
            <a:ext cx="0" cy="376238"/>
          </a:xfrm>
          <a:prstGeom prst="line">
            <a:avLst/>
          </a:prstGeom>
          <a:noFill/>
          <a:ln w="28575">
            <a:solidFill>
              <a:srgbClr val="0000FF"/>
            </a:solidFill>
            <a:round/>
            <a:headEnd/>
            <a:tailEnd/>
          </a:ln>
        </p:spPr>
        <p:txBody>
          <a:bodyPr lIns="92075" tIns="46038" rIns="92075" bIns="46038"/>
          <a:lstStyle/>
          <a:p>
            <a:endParaRPr lang="zh-CN" altLang="en-US"/>
          </a:p>
        </p:txBody>
      </p:sp>
      <p:sp>
        <p:nvSpPr>
          <p:cNvPr id="1048892" name="Text Box 24"/>
          <p:cNvSpPr txBox="1">
            <a:spLocks noChangeArrowheads="1"/>
          </p:cNvSpPr>
          <p:nvPr/>
        </p:nvSpPr>
        <p:spPr bwMode="auto">
          <a:xfrm>
            <a:off x="7442200" y="3075806"/>
            <a:ext cx="315913" cy="461962"/>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93" name="Text Box 25"/>
          <p:cNvSpPr txBox="1">
            <a:spLocks noChangeArrowheads="1"/>
          </p:cNvSpPr>
          <p:nvPr/>
        </p:nvSpPr>
        <p:spPr bwMode="auto">
          <a:xfrm>
            <a:off x="8604448" y="3794125"/>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F</a:t>
            </a:r>
          </a:p>
        </p:txBody>
      </p:sp>
      <p:sp>
        <p:nvSpPr>
          <p:cNvPr id="1048894" name="Text Box 26"/>
          <p:cNvSpPr txBox="1">
            <a:spLocks noChangeArrowheads="1"/>
          </p:cNvSpPr>
          <p:nvPr/>
        </p:nvSpPr>
        <p:spPr bwMode="auto">
          <a:xfrm>
            <a:off x="8054975" y="1995686"/>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T</a:t>
            </a:r>
          </a:p>
        </p:txBody>
      </p:sp>
      <p:sp>
        <p:nvSpPr>
          <p:cNvPr id="1048895" name="Text Box 27"/>
          <p:cNvSpPr txBox="1">
            <a:spLocks noChangeArrowheads="1"/>
          </p:cNvSpPr>
          <p:nvPr/>
        </p:nvSpPr>
        <p:spPr bwMode="auto">
          <a:xfrm>
            <a:off x="7004050" y="1131590"/>
            <a:ext cx="315913" cy="461963"/>
          </a:xfrm>
          <a:prstGeom prst="rect">
            <a:avLst/>
          </a:prstGeom>
          <a:no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dirty="0">
                <a:solidFill>
                  <a:srgbClr val="FF0066"/>
                </a:solidFill>
                <a:ea typeface="华文行楷" pitchFamily="2" charset="-122"/>
              </a:rPr>
              <a:t>E</a:t>
            </a:r>
          </a:p>
        </p:txBody>
      </p:sp>
      <p:sp>
        <p:nvSpPr>
          <p:cNvPr id="1048896" name="Text Box 35"/>
          <p:cNvSpPr txBox="1">
            <a:spLocks noChangeArrowheads="1"/>
          </p:cNvSpPr>
          <p:nvPr/>
        </p:nvSpPr>
        <p:spPr bwMode="auto">
          <a:xfrm>
            <a:off x="7200240" y="0"/>
            <a:ext cx="1943760" cy="1243417"/>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457200" indent="-457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buFontTx/>
              <a:buNone/>
            </a:pPr>
            <a:r>
              <a:rPr lang="en-US" altLang="zh-CN" sz="2200" dirty="0">
                <a:ea typeface="华文行楷" pitchFamily="2" charset="-122"/>
              </a:rPr>
              <a:t>(1) E</a:t>
            </a:r>
            <a:r>
              <a:rPr lang="en-US" altLang="zh-CN" sz="2200" dirty="0">
                <a:ea typeface="华文行楷" pitchFamily="2" charset="-122"/>
                <a:sym typeface="Wingdings" pitchFamily="2" charset="2"/>
              </a:rPr>
              <a:t>T | E+T</a:t>
            </a:r>
          </a:p>
          <a:p>
            <a:pPr algn="ctr" eaLnBrk="1" hangingPunct="1">
              <a:buFontTx/>
              <a:buNone/>
            </a:pPr>
            <a:r>
              <a:rPr lang="en-US" altLang="zh-CN" sz="2200" dirty="0">
                <a:ea typeface="华文行楷" pitchFamily="2" charset="-122"/>
                <a:sym typeface="Wingdings" pitchFamily="2" charset="2"/>
              </a:rPr>
              <a:t>(2) TF | T*F</a:t>
            </a:r>
          </a:p>
          <a:p>
            <a:pPr algn="ctr" eaLnBrk="1" hangingPunct="1">
              <a:buFontTx/>
              <a:buNone/>
            </a:pPr>
            <a:r>
              <a:rPr lang="en-US" altLang="zh-CN" sz="2200" dirty="0">
                <a:ea typeface="华文行楷" pitchFamily="2" charset="-122"/>
              </a:rPr>
              <a:t>(3) </a:t>
            </a:r>
            <a:r>
              <a:rPr lang="en-US" altLang="zh-CN" sz="2200" dirty="0" err="1">
                <a:ea typeface="华文行楷" pitchFamily="2" charset="-122"/>
              </a:rPr>
              <a:t>F</a:t>
            </a:r>
            <a:r>
              <a:rPr lang="en-US" altLang="zh-CN" sz="2200" dirty="0" err="1">
                <a:ea typeface="华文行楷" pitchFamily="2" charset="-122"/>
                <a:sym typeface="Wingdings" pitchFamily="2" charset="2"/>
              </a:rPr>
              <a:t>i</a:t>
            </a:r>
            <a:r>
              <a:rPr lang="en-US" altLang="zh-CN" sz="2200" dirty="0">
                <a:ea typeface="华文行楷" pitchFamily="2" charset="-122"/>
                <a:sym typeface="Wingdings" pitchFamily="2" charset="2"/>
              </a:rPr>
              <a:t>  |  (E)</a:t>
            </a:r>
            <a:endParaRPr lang="en-US" altLang="zh-CN" sz="2200" dirty="0">
              <a:ea typeface="华文行楷" pitchFamily="2" charset="-122"/>
            </a:endParaRPr>
          </a:p>
        </p:txBody>
      </p:sp>
      <p:grpSp>
        <p:nvGrpSpPr>
          <p:cNvPr id="102" name="Group 36"/>
          <p:cNvGrpSpPr/>
          <p:nvPr/>
        </p:nvGrpSpPr>
        <p:grpSpPr bwMode="auto">
          <a:xfrm>
            <a:off x="2559447" y="411510"/>
            <a:ext cx="860425" cy="288925"/>
            <a:chOff x="2880" y="1453"/>
            <a:chExt cx="1290" cy="243"/>
          </a:xfrm>
        </p:grpSpPr>
        <p:sp>
          <p:nvSpPr>
            <p:cNvPr id="1048897" name="Line 37"/>
            <p:cNvSpPr>
              <a:spLocks noChangeShapeType="1"/>
            </p:cNvSpPr>
            <p:nvPr/>
          </p:nvSpPr>
          <p:spPr bwMode="auto">
            <a:xfrm>
              <a:off x="2880" y="1453"/>
              <a:ext cx="1290" cy="0"/>
            </a:xfrm>
            <a:prstGeom prst="line">
              <a:avLst/>
            </a:prstGeom>
            <a:noFill/>
            <a:ln w="38100">
              <a:solidFill>
                <a:srgbClr val="FF0066"/>
              </a:solidFill>
              <a:round/>
              <a:headEnd/>
              <a:tailEnd/>
            </a:ln>
          </p:spPr>
          <p:txBody>
            <a:bodyPr/>
            <a:lstStyle/>
            <a:p>
              <a:endParaRPr lang="zh-CN" altLang="en-US"/>
            </a:p>
          </p:txBody>
        </p:sp>
        <p:sp>
          <p:nvSpPr>
            <p:cNvPr id="1048898" name="Line 38"/>
            <p:cNvSpPr>
              <a:spLocks noChangeShapeType="1"/>
            </p:cNvSpPr>
            <p:nvPr/>
          </p:nvSpPr>
          <p:spPr bwMode="auto">
            <a:xfrm>
              <a:off x="2880" y="1453"/>
              <a:ext cx="0" cy="232"/>
            </a:xfrm>
            <a:prstGeom prst="line">
              <a:avLst/>
            </a:prstGeom>
            <a:noFill/>
            <a:ln w="38100">
              <a:solidFill>
                <a:srgbClr val="FF0066"/>
              </a:solidFill>
              <a:round/>
              <a:headEnd/>
              <a:tailEnd/>
            </a:ln>
          </p:spPr>
          <p:txBody>
            <a:bodyPr/>
            <a:lstStyle/>
            <a:p>
              <a:endParaRPr lang="zh-CN" altLang="en-US"/>
            </a:p>
          </p:txBody>
        </p:sp>
        <p:sp>
          <p:nvSpPr>
            <p:cNvPr id="1048899" name="Line 39"/>
            <p:cNvSpPr>
              <a:spLocks noChangeShapeType="1"/>
            </p:cNvSpPr>
            <p:nvPr/>
          </p:nvSpPr>
          <p:spPr bwMode="auto">
            <a:xfrm>
              <a:off x="2880" y="1694"/>
              <a:ext cx="1272" cy="2"/>
            </a:xfrm>
            <a:prstGeom prst="line">
              <a:avLst/>
            </a:prstGeom>
            <a:noFill/>
            <a:ln w="38100">
              <a:solidFill>
                <a:srgbClr val="FF0066"/>
              </a:solidFill>
              <a:round/>
              <a:headEnd/>
              <a:tailEnd/>
            </a:ln>
          </p:spPr>
          <p:txBody>
            <a:bodyPr/>
            <a:lstStyle/>
            <a:p>
              <a:endParaRPr lang="zh-CN" altLang="en-US"/>
            </a:p>
          </p:txBody>
        </p:sp>
      </p:grpSp>
      <p:grpSp>
        <p:nvGrpSpPr>
          <p:cNvPr id="103" name="Group 40"/>
          <p:cNvGrpSpPr/>
          <p:nvPr/>
        </p:nvGrpSpPr>
        <p:grpSpPr bwMode="auto">
          <a:xfrm>
            <a:off x="3563888" y="411510"/>
            <a:ext cx="1224136" cy="288925"/>
            <a:chOff x="4284" y="1437"/>
            <a:chExt cx="1006" cy="243"/>
          </a:xfrm>
        </p:grpSpPr>
        <p:sp>
          <p:nvSpPr>
            <p:cNvPr id="1048900" name="Line 41"/>
            <p:cNvSpPr>
              <a:spLocks noChangeShapeType="1"/>
            </p:cNvSpPr>
            <p:nvPr/>
          </p:nvSpPr>
          <p:spPr bwMode="auto">
            <a:xfrm>
              <a:off x="4284" y="1437"/>
              <a:ext cx="989" cy="0"/>
            </a:xfrm>
            <a:prstGeom prst="line">
              <a:avLst/>
            </a:prstGeom>
            <a:noFill/>
            <a:ln w="38100">
              <a:solidFill>
                <a:srgbClr val="FF0066"/>
              </a:solidFill>
              <a:round/>
              <a:headEnd/>
              <a:tailEnd/>
            </a:ln>
          </p:spPr>
          <p:txBody>
            <a:bodyPr/>
            <a:lstStyle/>
            <a:p>
              <a:endParaRPr lang="zh-CN" altLang="en-US"/>
            </a:p>
          </p:txBody>
        </p:sp>
        <p:sp>
          <p:nvSpPr>
            <p:cNvPr id="1048901" name="Line 42"/>
            <p:cNvSpPr>
              <a:spLocks noChangeShapeType="1"/>
            </p:cNvSpPr>
            <p:nvPr/>
          </p:nvSpPr>
          <p:spPr bwMode="auto">
            <a:xfrm>
              <a:off x="5290" y="1437"/>
              <a:ext cx="0" cy="232"/>
            </a:xfrm>
            <a:prstGeom prst="line">
              <a:avLst/>
            </a:prstGeom>
            <a:noFill/>
            <a:ln w="38100">
              <a:solidFill>
                <a:srgbClr val="FF0066"/>
              </a:solidFill>
              <a:round/>
              <a:headEnd/>
              <a:tailEnd/>
            </a:ln>
          </p:spPr>
          <p:txBody>
            <a:bodyPr/>
            <a:lstStyle/>
            <a:p>
              <a:endParaRPr lang="zh-CN" altLang="en-US"/>
            </a:p>
          </p:txBody>
        </p:sp>
        <p:sp>
          <p:nvSpPr>
            <p:cNvPr id="1048902" name="Line 43"/>
            <p:cNvSpPr>
              <a:spLocks noChangeShapeType="1"/>
            </p:cNvSpPr>
            <p:nvPr/>
          </p:nvSpPr>
          <p:spPr bwMode="auto">
            <a:xfrm>
              <a:off x="4284" y="1678"/>
              <a:ext cx="1006" cy="2"/>
            </a:xfrm>
            <a:prstGeom prst="line">
              <a:avLst/>
            </a:prstGeom>
            <a:noFill/>
            <a:ln w="38100">
              <a:solidFill>
                <a:srgbClr val="FF0066"/>
              </a:solidFill>
              <a:round/>
              <a:headEnd/>
              <a:tailEnd/>
            </a:ln>
          </p:spPr>
          <p:txBody>
            <a:bodyPr/>
            <a:lstStyle/>
            <a:p>
              <a:endParaRPr lang="zh-CN" altLang="en-US"/>
            </a:p>
          </p:txBody>
        </p:sp>
      </p:grpSp>
      <p:sp>
        <p:nvSpPr>
          <p:cNvPr id="1048903" name="矩形 3"/>
          <p:cNvSpPr/>
          <p:nvPr/>
        </p:nvSpPr>
        <p:spPr>
          <a:xfrm>
            <a:off x="359024" y="411510"/>
            <a:ext cx="4536504" cy="576064"/>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4" name="矩形 34"/>
          <p:cNvSpPr/>
          <p:nvPr/>
        </p:nvSpPr>
        <p:spPr>
          <a:xfrm>
            <a:off x="359024" y="987574"/>
            <a:ext cx="4536504" cy="30582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5" name="矩形 35"/>
          <p:cNvSpPr/>
          <p:nvPr/>
        </p:nvSpPr>
        <p:spPr>
          <a:xfrm>
            <a:off x="359024" y="1329818"/>
            <a:ext cx="4536504" cy="30582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6" name="矩形 36"/>
          <p:cNvSpPr/>
          <p:nvPr/>
        </p:nvSpPr>
        <p:spPr>
          <a:xfrm>
            <a:off x="359024" y="1647311"/>
            <a:ext cx="4536504" cy="810338"/>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7" name="矩形 37"/>
          <p:cNvSpPr/>
          <p:nvPr/>
        </p:nvSpPr>
        <p:spPr>
          <a:xfrm>
            <a:off x="359024" y="2439610"/>
            <a:ext cx="4536504" cy="331589"/>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8" name="矩形 38"/>
          <p:cNvSpPr/>
          <p:nvPr/>
        </p:nvSpPr>
        <p:spPr>
          <a:xfrm>
            <a:off x="359024" y="2789238"/>
            <a:ext cx="4536504" cy="875456"/>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09" name="矩形 39"/>
          <p:cNvSpPr/>
          <p:nvPr/>
        </p:nvSpPr>
        <p:spPr>
          <a:xfrm>
            <a:off x="359024" y="3672802"/>
            <a:ext cx="4536504" cy="30468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10" name="矩形 40"/>
          <p:cNvSpPr/>
          <p:nvPr/>
        </p:nvSpPr>
        <p:spPr>
          <a:xfrm>
            <a:off x="359024" y="4025107"/>
            <a:ext cx="4536504" cy="230982"/>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911" name="矩形 41"/>
          <p:cNvSpPr/>
          <p:nvPr/>
        </p:nvSpPr>
        <p:spPr>
          <a:xfrm>
            <a:off x="359024" y="4256089"/>
            <a:ext cx="4536504" cy="331885"/>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5232789" y="30150"/>
            <a:ext cx="2087173" cy="769441"/>
          </a:xfrm>
          <a:prstGeom prst="rect">
            <a:avLst/>
          </a:prstGeom>
        </p:spPr>
        <p:txBody>
          <a:bodyPr wrap="square">
            <a:spAutoFit/>
          </a:bodyPr>
          <a:lstStyle/>
          <a:p>
            <a:r>
              <a:rPr lang="zh-CN" altLang="en-US" sz="2000" dirty="0">
                <a:ea typeface="华文行楷" pitchFamily="2" charset="-122"/>
              </a:rPr>
              <a:t>例：对</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1</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2</a:t>
            </a:r>
            <a:r>
              <a:rPr lang="en-US" altLang="zh-CN" sz="2400" dirty="0">
                <a:solidFill>
                  <a:srgbClr val="FF0000"/>
                </a:solidFill>
                <a:ea typeface="华文行楷" pitchFamily="2" charset="-122"/>
              </a:rPr>
              <a:t>*i</a:t>
            </a:r>
            <a:r>
              <a:rPr lang="en-US" altLang="zh-CN" sz="2400" baseline="-25000" dirty="0">
                <a:solidFill>
                  <a:srgbClr val="FF0000"/>
                </a:solidFill>
                <a:ea typeface="华文行楷" pitchFamily="2" charset="-122"/>
              </a:rPr>
              <a:t>3</a:t>
            </a:r>
            <a:endParaRPr lang="en-US" altLang="zh-CN" baseline="-25000" dirty="0">
              <a:solidFill>
                <a:srgbClr val="FF0000"/>
              </a:solidFill>
              <a:ea typeface="华文行楷" pitchFamily="2" charset="-122"/>
            </a:endParaRPr>
          </a:p>
          <a:p>
            <a:r>
              <a:rPr lang="zh-CN" altLang="en-US" sz="2000" dirty="0">
                <a:ea typeface="华文行楷" pitchFamily="2" charset="-122"/>
              </a:rPr>
              <a:t>进行规范归约</a:t>
            </a:r>
            <a:endParaRPr lang="zh-CN" altLang="en-US" sz="2000" dirty="0"/>
          </a:p>
        </p:txBody>
      </p:sp>
      <p:sp>
        <p:nvSpPr>
          <p:cNvPr id="44" name="Text Box 17"/>
          <p:cNvSpPr txBox="1">
            <a:spLocks noChangeArrowheads="1"/>
          </p:cNvSpPr>
          <p:nvPr/>
        </p:nvSpPr>
        <p:spPr bwMode="auto">
          <a:xfrm>
            <a:off x="247859" y="177379"/>
            <a:ext cx="8286243" cy="523220"/>
          </a:xfrm>
          <a:prstGeom prst="rect">
            <a:avLst/>
          </a:prstGeom>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2800" dirty="0">
                <a:solidFill>
                  <a:schemeClr val="accent2"/>
                </a:solidFill>
                <a:ea typeface="华文行楷" pitchFamily="2" charset="-122"/>
              </a:rPr>
              <a:t>符号栈内容  </a:t>
            </a:r>
            <a:r>
              <a:rPr lang="en-US" altLang="zh-CN" sz="2800" dirty="0">
                <a:solidFill>
                  <a:schemeClr val="accent2"/>
                </a:solidFill>
                <a:ea typeface="华文行楷" pitchFamily="2" charset="-122"/>
              </a:rPr>
              <a:t>+  </a:t>
            </a:r>
            <a:r>
              <a:rPr lang="zh-CN" altLang="en-US" sz="2800" dirty="0">
                <a:solidFill>
                  <a:schemeClr val="accent2"/>
                </a:solidFill>
                <a:ea typeface="华文行楷" pitchFamily="2" charset="-122"/>
              </a:rPr>
              <a:t>剩余输入符号串内容 ＝ </a:t>
            </a:r>
            <a:r>
              <a:rPr lang="en-US" altLang="zh-CN" sz="2800" dirty="0">
                <a:solidFill>
                  <a:schemeClr val="accent2"/>
                </a:solidFill>
                <a:ea typeface="华文行楷" pitchFamily="2" charset="-122"/>
              </a:rPr>
              <a:t># </a:t>
            </a:r>
            <a:r>
              <a:rPr lang="zh-CN" altLang="en-US" sz="2800" dirty="0">
                <a:solidFill>
                  <a:schemeClr val="accent2"/>
                </a:solidFill>
                <a:ea typeface="华文行楷" pitchFamily="2" charset="-122"/>
              </a:rPr>
              <a:t>当前句型 </a:t>
            </a:r>
            <a:r>
              <a:rPr lang="en-US" altLang="zh-CN" sz="2800" dirty="0">
                <a:solidFill>
                  <a:schemeClr val="accent2"/>
                </a:solidFill>
                <a:ea typeface="华文行楷" pitchFamily="2" charset="-122"/>
              </a:rPr>
              <a:t>#</a:t>
            </a:r>
          </a:p>
        </p:txBody>
      </p:sp>
    </p:spTree>
    <p:extLst>
      <p:ext uri="{BB962C8B-B14F-4D97-AF65-F5344CB8AC3E}">
        <p14:creationId xmlns:p14="http://schemas.microsoft.com/office/powerpoint/2010/main" val="2123588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48903"/>
                                        </p:tgtEl>
                                        <p:attrNameLst>
                                          <p:attrName>style.visibility</p:attrName>
                                        </p:attrNameLst>
                                      </p:cBhvr>
                                      <p:to>
                                        <p:strVal val="visible"/>
                                      </p:to>
                                    </p:set>
                                  </p:childTnLst>
                                  <p:subTnLst>
                                    <p:set>
                                      <p:cBhvr override="childStyle">
                                        <p:cTn dur="1" fill="hold" display="0" masterRel="nextClick" afterEffect="1"/>
                                        <p:tgtEl>
                                          <p:spTgt spid="1048903"/>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48904"/>
                                        </p:tgtEl>
                                        <p:attrNameLst>
                                          <p:attrName>style.visibility</p:attrName>
                                        </p:attrNameLst>
                                      </p:cBhvr>
                                      <p:to>
                                        <p:strVal val="visible"/>
                                      </p:to>
                                    </p:set>
                                  </p:childTnLst>
                                  <p:subTnLst>
                                    <p:set>
                                      <p:cBhvr override="childStyle">
                                        <p:cTn dur="1" fill="hold" display="0" masterRel="nextClick" afterEffect="1"/>
                                        <p:tgtEl>
                                          <p:spTgt spid="1048904"/>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48905"/>
                                        </p:tgtEl>
                                        <p:attrNameLst>
                                          <p:attrName>style.visibility</p:attrName>
                                        </p:attrNameLst>
                                      </p:cBhvr>
                                      <p:to>
                                        <p:strVal val="visible"/>
                                      </p:to>
                                    </p:set>
                                  </p:childTnLst>
                                  <p:subTnLst>
                                    <p:set>
                                      <p:cBhvr override="childStyle">
                                        <p:cTn dur="1" fill="hold" display="0" masterRel="nextClick" afterEffect="1"/>
                                        <p:tgtEl>
                                          <p:spTgt spid="1048905"/>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48906"/>
                                        </p:tgtEl>
                                        <p:attrNameLst>
                                          <p:attrName>style.visibility</p:attrName>
                                        </p:attrNameLst>
                                      </p:cBhvr>
                                      <p:to>
                                        <p:strVal val="visible"/>
                                      </p:to>
                                    </p:set>
                                  </p:childTnLst>
                                  <p:subTnLst>
                                    <p:set>
                                      <p:cBhvr override="childStyle">
                                        <p:cTn dur="1" fill="hold" display="0" masterRel="nextClick" afterEffect="1"/>
                                        <p:tgtEl>
                                          <p:spTgt spid="1048906"/>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4890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48908"/>
                                        </p:tgtEl>
                                        <p:attrNameLst>
                                          <p:attrName>style.visibility</p:attrName>
                                        </p:attrNameLst>
                                      </p:cBhvr>
                                      <p:to>
                                        <p:strVal val="visible"/>
                                      </p:to>
                                    </p:set>
                                  </p:childTnLst>
                                  <p:subTnLst>
                                    <p:set>
                                      <p:cBhvr override="childStyle">
                                        <p:cTn dur="1" fill="hold" display="0" masterRel="nextClick" afterEffect="1"/>
                                        <p:tgtEl>
                                          <p:spTgt spid="1048908"/>
                                        </p:tgtEl>
                                        <p:attrNameLst>
                                          <p:attrName>style.visibility</p:attrName>
                                        </p:attrNameLst>
                                      </p:cBhvr>
                                      <p:to>
                                        <p:strVal val="hidden"/>
                                      </p:to>
                                    </p:set>
                                  </p:sub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048909"/>
                                        </p:tgtEl>
                                        <p:attrNameLst>
                                          <p:attrName>style.visibility</p:attrName>
                                        </p:attrNameLst>
                                      </p:cBhvr>
                                      <p:to>
                                        <p:strVal val="visible"/>
                                      </p:to>
                                    </p:set>
                                  </p:childTnLst>
                                  <p:subTnLst>
                                    <p:set>
                                      <p:cBhvr override="childStyle">
                                        <p:cTn dur="1" fill="hold" display="0" masterRel="nextClick" afterEffect="1"/>
                                        <p:tgtEl>
                                          <p:spTgt spid="1048909"/>
                                        </p:tgtEl>
                                        <p:attrNameLst>
                                          <p:attrName>style.visibility</p:attrName>
                                        </p:attrNameLst>
                                      </p:cBhvr>
                                      <p:to>
                                        <p:strVal val="hidden"/>
                                      </p:to>
                                    </p:set>
                                  </p:sub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048910"/>
                                        </p:tgtEl>
                                        <p:attrNameLst>
                                          <p:attrName>style.visibility</p:attrName>
                                        </p:attrNameLst>
                                      </p:cBhvr>
                                      <p:to>
                                        <p:strVal val="visible"/>
                                      </p:to>
                                    </p:set>
                                  </p:childTnLst>
                                  <p:subTnLst>
                                    <p:set>
                                      <p:cBhvr override="childStyle">
                                        <p:cTn dur="1" fill="hold" display="0" masterRel="nextClick" afterEffect="1"/>
                                        <p:tgtEl>
                                          <p:spTgt spid="1048910"/>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048911"/>
                                        </p:tgtEl>
                                        <p:attrNameLst>
                                          <p:attrName>style.visibility</p:attrName>
                                        </p:attrNameLst>
                                      </p:cBhvr>
                                      <p:to>
                                        <p:strVal val="visible"/>
                                      </p:to>
                                    </p:set>
                                  </p:childTnLst>
                                  <p:subTnLst>
                                    <p:set>
                                      <p:cBhvr override="childStyle">
                                        <p:cTn dur="1" fill="hold" display="0" masterRel="nextClick" afterEffect="1"/>
                                        <p:tgtEl>
                                          <p:spTgt spid="1048911"/>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903" grpId="0" animBg="1"/>
      <p:bldP spid="1048904" grpId="0" animBg="1"/>
      <p:bldP spid="1048905" grpId="0" animBg="1"/>
      <p:bldP spid="1048906" grpId="0" animBg="1"/>
      <p:bldP spid="1048907" grpId="0" animBg="1"/>
      <p:bldP spid="1048908" grpId="0" animBg="1"/>
      <p:bldP spid="1048909" grpId="0" animBg="1"/>
      <p:bldP spid="1048910" grpId="0" animBg="1"/>
      <p:bldP spid="1048911"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Text Box 2"/>
          <p:cNvSpPr txBox="1">
            <a:spLocks noChangeArrowheads="1"/>
          </p:cNvSpPr>
          <p:nvPr/>
        </p:nvSpPr>
        <p:spPr bwMode="auto">
          <a:xfrm>
            <a:off x="107504" y="0"/>
            <a:ext cx="5947509" cy="36933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1800" b="1" dirty="0">
                <a:latin typeface="宋体" panose="02010600030101010101" pitchFamily="2" charset="-122"/>
              </a:rPr>
              <a:t>根据上述分析表，对输入</a:t>
            </a:r>
            <a:r>
              <a:rPr lang="zh-CN" altLang="en-US" sz="1800" b="1" dirty="0">
                <a:solidFill>
                  <a:srgbClr val="FF0000"/>
                </a:solidFill>
                <a:latin typeface="宋体" panose="02010600030101010101" pitchFamily="2" charset="-122"/>
              </a:rPr>
              <a:t>串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 </a:t>
            </a:r>
            <a:r>
              <a:rPr lang="en-US" altLang="zh-CN" sz="1800" b="1" dirty="0" err="1">
                <a:solidFill>
                  <a:srgbClr val="FF0000"/>
                </a:solidFill>
                <a:latin typeface="宋体" panose="02010600030101010101" pitchFamily="2" charset="-122"/>
              </a:rPr>
              <a:t>i</a:t>
            </a:r>
            <a:r>
              <a:rPr lang="en-US" altLang="zh-CN" sz="1800" b="1" dirty="0">
                <a:solidFill>
                  <a:srgbClr val="FF0000"/>
                </a:solidFill>
                <a:latin typeface="宋体" panose="02010600030101010101" pitchFamily="2" charset="-122"/>
              </a:rPr>
              <a:t> </a:t>
            </a:r>
            <a:r>
              <a:rPr lang="zh-CN" altLang="en-US" sz="1800" b="1" dirty="0">
                <a:latin typeface="宋体" panose="02010600030101010101" pitchFamily="2" charset="-122"/>
              </a:rPr>
              <a:t>的分析过程如下：</a:t>
            </a:r>
          </a:p>
        </p:txBody>
      </p:sp>
      <p:graphicFrame>
        <p:nvGraphicFramePr>
          <p:cNvPr id="22060" name="Group 556"/>
          <p:cNvGraphicFramePr>
            <a:graphicFrameLocks noGrp="1"/>
          </p:cNvGraphicFramePr>
          <p:nvPr>
            <p:extLst>
              <p:ext uri="{D42A27DB-BD31-4B8C-83A1-F6EECF244321}">
                <p14:modId xmlns:p14="http://schemas.microsoft.com/office/powerpoint/2010/main" val="1820867561"/>
              </p:ext>
            </p:extLst>
          </p:nvPr>
        </p:nvGraphicFramePr>
        <p:xfrm>
          <a:off x="323851" y="468313"/>
          <a:ext cx="6635527" cy="325437"/>
        </p:xfrm>
        <a:graphic>
          <a:graphicData uri="http://schemas.openxmlformats.org/drawingml/2006/table">
            <a:tbl>
              <a:tblPr/>
              <a:tblGrid>
                <a:gridCol w="552330">
                  <a:extLst>
                    <a:ext uri="{9D8B030D-6E8A-4147-A177-3AD203B41FA5}">
                      <a16:colId xmlns:a16="http://schemas.microsoft.com/office/drawing/2014/main" val="20000"/>
                    </a:ext>
                  </a:extLst>
                </a:gridCol>
                <a:gridCol w="800754">
                  <a:extLst>
                    <a:ext uri="{9D8B030D-6E8A-4147-A177-3AD203B41FA5}">
                      <a16:colId xmlns:a16="http://schemas.microsoft.com/office/drawing/2014/main" val="20001"/>
                    </a:ext>
                  </a:extLst>
                </a:gridCol>
                <a:gridCol w="762921">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2">
                  <a:extLst>
                    <a:ext uri="{9D8B030D-6E8A-4147-A177-3AD203B41FA5}">
                      <a16:colId xmlns:a16="http://schemas.microsoft.com/office/drawing/2014/main" val="20004"/>
                    </a:ext>
                  </a:extLst>
                </a:gridCol>
                <a:gridCol w="2841095">
                  <a:extLst>
                    <a:ext uri="{9D8B030D-6E8A-4147-A177-3AD203B41FA5}">
                      <a16:colId xmlns:a16="http://schemas.microsoft.com/office/drawing/2014/main" val="20005"/>
                    </a:ext>
                  </a:extLst>
                </a:gridCol>
              </a:tblGrid>
              <a:tr h="32543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序号</a:t>
                      </a:r>
                    </a:p>
                  </a:txBody>
                  <a:tcPr marT="34332" marB="3433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a:ln>
                            <a:noFill/>
                          </a:ln>
                          <a:solidFill>
                            <a:schemeClr val="tx1"/>
                          </a:solidFill>
                          <a:effectLst/>
                          <a:latin typeface="Times New Roman" pitchFamily="18" charset="0"/>
                          <a:ea typeface="宋体" pitchFamily="2" charset="-122"/>
                        </a:rPr>
                        <a:t>状态栈</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符号栈</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产生式</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剩余串</a:t>
                      </a:r>
                    </a:p>
                  </a:txBody>
                  <a:tcPr marT="34332" marB="3433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200" b="1" i="0" u="none" strike="noStrike" cap="none" normalizeH="0" baseline="0" dirty="0">
                          <a:ln>
                            <a:noFill/>
                          </a:ln>
                          <a:solidFill>
                            <a:schemeClr val="tx1"/>
                          </a:solidFill>
                          <a:effectLst/>
                          <a:latin typeface="Times New Roman" pitchFamily="18" charset="0"/>
                          <a:ea typeface="宋体" pitchFamily="2" charset="-122"/>
                        </a:rPr>
                        <a:t>说明</a:t>
                      </a:r>
                    </a:p>
                  </a:txBody>
                  <a:tcPr marT="34332" marB="3433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6" name="Group 632"/>
          <p:cNvGraphicFramePr>
            <a:graphicFrameLocks noGrp="1"/>
          </p:cNvGraphicFramePr>
          <p:nvPr>
            <p:extLst>
              <p:ext uri="{D42A27DB-BD31-4B8C-83A1-F6EECF244321}">
                <p14:modId xmlns:p14="http://schemas.microsoft.com/office/powerpoint/2010/main" val="1320006110"/>
              </p:ext>
            </p:extLst>
          </p:nvPr>
        </p:nvGraphicFramePr>
        <p:xfrm>
          <a:off x="312739" y="788988"/>
          <a:ext cx="6635525" cy="306387"/>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063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T="34201" marB="3420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i+i</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01" marB="3420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0</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01" marB="3420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3" name="Group 629"/>
          <p:cNvGraphicFramePr>
            <a:graphicFrameLocks noGrp="1"/>
          </p:cNvGraphicFramePr>
          <p:nvPr>
            <p:extLst>
              <p:ext uri="{D42A27DB-BD31-4B8C-83A1-F6EECF244321}">
                <p14:modId xmlns:p14="http://schemas.microsoft.com/office/powerpoint/2010/main" val="533446662"/>
              </p:ext>
            </p:extLst>
          </p:nvPr>
        </p:nvGraphicFramePr>
        <p:xfrm>
          <a:off x="312739" y="1095375"/>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2</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05</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endPar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2" name="Group 628"/>
          <p:cNvGraphicFramePr>
            <a:graphicFrameLocks noGrp="1"/>
          </p:cNvGraphicFramePr>
          <p:nvPr>
            <p:extLst>
              <p:ext uri="{D42A27DB-BD31-4B8C-83A1-F6EECF244321}">
                <p14:modId xmlns:p14="http://schemas.microsoft.com/office/powerpoint/2010/main" val="1031491901"/>
              </p:ext>
            </p:extLst>
          </p:nvPr>
        </p:nvGraphicFramePr>
        <p:xfrm>
          <a:off x="312739" y="1379538"/>
          <a:ext cx="6635525" cy="297106"/>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03</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1" name="Group 627"/>
          <p:cNvGraphicFramePr>
            <a:graphicFrameLocks noGrp="1"/>
          </p:cNvGraphicFramePr>
          <p:nvPr>
            <p:extLst>
              <p:ext uri="{D42A27DB-BD31-4B8C-83A1-F6EECF244321}">
                <p14:modId xmlns:p14="http://schemas.microsoft.com/office/powerpoint/2010/main" val="3226487476"/>
              </p:ext>
            </p:extLst>
          </p:nvPr>
        </p:nvGraphicFramePr>
        <p:xfrm>
          <a:off x="312739" y="1674813"/>
          <a:ext cx="6635525" cy="303212"/>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0321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4</a:t>
                      </a:r>
                    </a:p>
                  </a:txBody>
                  <a:tcPr marT="34245" marB="3424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45" marB="3424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45" marB="3424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30" name="Group 626"/>
          <p:cNvGraphicFramePr>
            <a:graphicFrameLocks noGrp="1"/>
          </p:cNvGraphicFramePr>
          <p:nvPr>
            <p:extLst>
              <p:ext uri="{D42A27DB-BD31-4B8C-83A1-F6EECF244321}">
                <p14:modId xmlns:p14="http://schemas.microsoft.com/office/powerpoint/2010/main" val="2733917834"/>
              </p:ext>
            </p:extLst>
          </p:nvPr>
        </p:nvGraphicFramePr>
        <p:xfrm>
          <a:off x="312739" y="1979613"/>
          <a:ext cx="6635524" cy="297106"/>
        </p:xfrm>
        <a:graphic>
          <a:graphicData uri="http://schemas.openxmlformats.org/drawingml/2006/table">
            <a:tbl>
              <a:tblPr/>
              <a:tblGrid>
                <a:gridCol w="537198">
                  <a:extLst>
                    <a:ext uri="{9D8B030D-6E8A-4147-A177-3AD203B41FA5}">
                      <a16:colId xmlns:a16="http://schemas.microsoft.com/office/drawing/2014/main" val="20000"/>
                    </a:ext>
                  </a:extLst>
                </a:gridCol>
                <a:gridCol w="815884">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S7</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16" name="Group 612"/>
          <p:cNvGraphicFramePr>
            <a:graphicFrameLocks noGrp="1"/>
          </p:cNvGraphicFramePr>
          <p:nvPr>
            <p:extLst>
              <p:ext uri="{D42A27DB-BD31-4B8C-83A1-F6EECF244321}">
                <p14:modId xmlns:p14="http://schemas.microsoft.com/office/powerpoint/2010/main" val="3341569259"/>
              </p:ext>
            </p:extLst>
          </p:nvPr>
        </p:nvGraphicFramePr>
        <p:xfrm>
          <a:off x="312739" y="2274888"/>
          <a:ext cx="6635525" cy="34290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429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0275</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9" name="Group 625"/>
          <p:cNvGraphicFramePr>
            <a:graphicFrameLocks noGrp="1"/>
          </p:cNvGraphicFramePr>
          <p:nvPr>
            <p:extLst>
              <p:ext uri="{D42A27DB-BD31-4B8C-83A1-F6EECF244321}">
                <p14:modId xmlns:p14="http://schemas.microsoft.com/office/powerpoint/2010/main" val="324666944"/>
              </p:ext>
            </p:extLst>
          </p:nvPr>
        </p:nvGraphicFramePr>
        <p:xfrm>
          <a:off x="312739" y="2614613"/>
          <a:ext cx="6635525" cy="3238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238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T="34290" marB="3429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027</a:t>
                      </a:r>
                      <a:r>
                        <a:rPr kumimoji="1" lang="en-US" altLang="zh-CN" sz="1500" b="1" i="0" u="sng"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#T*F</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90" marB="3429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sng" strike="noStrike" cap="none" normalizeH="0" baseline="0" dirty="0">
                          <a:ln>
                            <a:noFill/>
                          </a:ln>
                          <a:solidFill>
                            <a:schemeClr val="tx1"/>
                          </a:solidFill>
                          <a:effectLst/>
                          <a:latin typeface="Times New Roman" panose="02020603050405020304" pitchFamily="18" charset="0"/>
                          <a:ea typeface="宋体" panose="02010600030101010101" pitchFamily="2" charset="-122"/>
                        </a:rPr>
                        <a:t>10</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90" marB="3429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8" name="Group 624"/>
          <p:cNvGraphicFramePr>
            <a:graphicFrameLocks noGrp="1"/>
          </p:cNvGraphicFramePr>
          <p:nvPr>
            <p:extLst>
              <p:ext uri="{D42A27DB-BD31-4B8C-83A1-F6EECF244321}">
                <p14:modId xmlns:p14="http://schemas.microsoft.com/office/powerpoint/2010/main" val="3250981907"/>
              </p:ext>
            </p:extLst>
          </p:nvPr>
        </p:nvGraphicFramePr>
        <p:xfrm>
          <a:off x="312739" y="2927350"/>
          <a:ext cx="6635525" cy="360363"/>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6036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8</a:t>
                      </a:r>
                    </a:p>
                  </a:txBody>
                  <a:tcPr marT="34252" marB="3425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02</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T*F</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252" marB="3425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sng" strike="noStrike" cap="none" normalizeH="0" baseline="0" dirty="0">
                          <a:ln>
                            <a:noFill/>
                          </a:ln>
                          <a:solidFill>
                            <a:schemeClr val="tx1"/>
                          </a:solidFill>
                          <a:effectLst/>
                          <a:latin typeface="Times New Roman" panose="02020603050405020304" pitchFamily="18" charset="0"/>
                          <a:ea typeface="宋体" panose="02010600030101010101" pitchFamily="2" charset="-122"/>
                        </a:rPr>
                        <a:t>10</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,7,2</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252" marB="3425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7" name="Group 623"/>
          <p:cNvGraphicFramePr>
            <a:graphicFrameLocks noGrp="1"/>
          </p:cNvGraphicFramePr>
          <p:nvPr>
            <p:extLst>
              <p:ext uri="{D42A27DB-BD31-4B8C-83A1-F6EECF244321}">
                <p14:modId xmlns:p14="http://schemas.microsoft.com/office/powerpoint/2010/main" val="1390495847"/>
              </p:ext>
            </p:extLst>
          </p:nvPr>
        </p:nvGraphicFramePr>
        <p:xfrm>
          <a:off x="312739" y="3298825"/>
          <a:ext cx="6635525" cy="338138"/>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33813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170" marB="3417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170" marB="3417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S2</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E</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S1</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170" marB="3417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6" name="Group 622"/>
          <p:cNvGraphicFramePr>
            <a:graphicFrameLocks noGrp="1"/>
          </p:cNvGraphicFramePr>
          <p:nvPr>
            <p:extLst>
              <p:ext uri="{D42A27DB-BD31-4B8C-83A1-F6EECF244321}">
                <p14:modId xmlns:p14="http://schemas.microsoft.com/office/powerpoint/2010/main" val="1565956823"/>
              </p:ext>
            </p:extLst>
          </p:nvPr>
        </p:nvGraphicFramePr>
        <p:xfrm>
          <a:off x="312739" y="3630613"/>
          <a:ext cx="6635525" cy="297106"/>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68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10</a:t>
                      </a:r>
                    </a:p>
                  </a:txBody>
                  <a:tcPr marT="34253" marB="3425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016</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#E+</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itchFamily="18" charset="0"/>
                        <a:ea typeface="宋体" pitchFamily="2" charset="-122"/>
                      </a:endParaRP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i#</a:t>
                      </a:r>
                    </a:p>
                  </a:txBody>
                  <a:tcPr marT="34253" marB="342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itchFamily="18" charset="0"/>
                          <a:ea typeface="宋体" pitchFamily="2" charset="-122"/>
                        </a:rPr>
                        <a:t>+</a:t>
                      </a:r>
                      <a:r>
                        <a:rPr kumimoji="1" lang="zh-CN" altLang="en-US" sz="1500" b="1" i="0" u="none" strike="noStrike" cap="none" normalizeH="0" baseline="0">
                          <a:ln>
                            <a:noFill/>
                          </a:ln>
                          <a:solidFill>
                            <a:schemeClr val="tx1"/>
                          </a:solidFill>
                          <a:effectLst/>
                          <a:latin typeface="Times New Roman" pitchFamily="18" charset="0"/>
                          <a:ea typeface="宋体" pitchFamily="2" charset="-122"/>
                        </a:rPr>
                        <a:t>和</a:t>
                      </a:r>
                      <a:r>
                        <a:rPr kumimoji="1" lang="en-US" altLang="zh-CN" sz="1500" b="1" i="0" u="none" strike="noStrike" cap="none" normalizeH="0" baseline="0">
                          <a:ln>
                            <a:noFill/>
                          </a:ln>
                          <a:solidFill>
                            <a:schemeClr val="tx1"/>
                          </a:solidFill>
                          <a:effectLst/>
                          <a:latin typeface="Times New Roman" pitchFamily="18" charset="0"/>
                          <a:ea typeface="宋体" pitchFamily="2" charset="-122"/>
                        </a:rPr>
                        <a:t>S6</a:t>
                      </a:r>
                      <a:r>
                        <a:rPr kumimoji="1" lang="zh-CN" altLang="en-US" sz="1500" b="1" i="0" u="none" strike="noStrike" cap="none" normalizeH="0" baseline="0">
                          <a:ln>
                            <a:noFill/>
                          </a:ln>
                          <a:solidFill>
                            <a:schemeClr val="tx1"/>
                          </a:solidFill>
                          <a:effectLst/>
                          <a:latin typeface="Times New Roman" pitchFamily="18" charset="0"/>
                          <a:ea typeface="宋体" pitchFamily="2" charset="-122"/>
                        </a:rPr>
                        <a:t>进栈</a:t>
                      </a:r>
                    </a:p>
                  </a:txBody>
                  <a:tcPr marT="34253" marB="3425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5" name="Group 621"/>
          <p:cNvGraphicFramePr>
            <a:graphicFrameLocks noGrp="1"/>
          </p:cNvGraphicFramePr>
          <p:nvPr>
            <p:extLst>
              <p:ext uri="{D42A27DB-BD31-4B8C-83A1-F6EECF244321}">
                <p14:modId xmlns:p14="http://schemas.microsoft.com/office/powerpoint/2010/main" val="3241032641"/>
              </p:ext>
            </p:extLst>
          </p:nvPr>
        </p:nvGraphicFramePr>
        <p:xfrm>
          <a:off x="312739" y="3922713"/>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11</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0165</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E+i</a:t>
                      </a:r>
                      <a:endPar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124" name="Group 620"/>
          <p:cNvGraphicFramePr>
            <a:graphicFrameLocks noGrp="1"/>
          </p:cNvGraphicFramePr>
          <p:nvPr>
            <p:extLst>
              <p:ext uri="{D42A27DB-BD31-4B8C-83A1-F6EECF244321}">
                <p14:modId xmlns:p14="http://schemas.microsoft.com/office/powerpoint/2010/main" val="4232810858"/>
              </p:ext>
            </p:extLst>
          </p:nvPr>
        </p:nvGraphicFramePr>
        <p:xfrm>
          <a:off x="312739" y="4217988"/>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0163</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#E+F</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i</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S5</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22123" name="Group 619"/>
          <p:cNvGraphicFramePr>
            <a:graphicFrameLocks noGrp="1"/>
          </p:cNvGraphicFramePr>
          <p:nvPr>
            <p:extLst>
              <p:ext uri="{D42A27DB-BD31-4B8C-83A1-F6EECF244321}">
                <p14:modId xmlns:p14="http://schemas.microsoft.com/office/powerpoint/2010/main" val="3844315093"/>
              </p:ext>
            </p:extLst>
          </p:nvPr>
        </p:nvGraphicFramePr>
        <p:xfrm>
          <a:off x="312739" y="4510088"/>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13</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0169</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S3</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T</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S9</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graphicFrame>
        <p:nvGraphicFramePr>
          <p:cNvPr id="22122" name="Group 618"/>
          <p:cNvGraphicFramePr>
            <a:graphicFrameLocks noGrp="1"/>
          </p:cNvGraphicFramePr>
          <p:nvPr>
            <p:extLst>
              <p:ext uri="{D42A27DB-BD31-4B8C-83A1-F6EECF244321}">
                <p14:modId xmlns:p14="http://schemas.microsoft.com/office/powerpoint/2010/main" val="1966193193"/>
              </p:ext>
            </p:extLst>
          </p:nvPr>
        </p:nvGraphicFramePr>
        <p:xfrm>
          <a:off x="312739" y="4800600"/>
          <a:ext cx="6635525" cy="298450"/>
        </p:xfrm>
        <a:graphic>
          <a:graphicData uri="http://schemas.openxmlformats.org/drawingml/2006/table">
            <a:tbl>
              <a:tblPr/>
              <a:tblGrid>
                <a:gridCol w="552330">
                  <a:extLst>
                    <a:ext uri="{9D8B030D-6E8A-4147-A177-3AD203B41FA5}">
                      <a16:colId xmlns:a16="http://schemas.microsoft.com/office/drawing/2014/main" val="20000"/>
                    </a:ext>
                  </a:extLst>
                </a:gridCol>
                <a:gridCol w="800753">
                  <a:extLst>
                    <a:ext uri="{9D8B030D-6E8A-4147-A177-3AD203B41FA5}">
                      <a16:colId xmlns:a16="http://schemas.microsoft.com/office/drawing/2014/main" val="20001"/>
                    </a:ext>
                  </a:extLst>
                </a:gridCol>
                <a:gridCol w="762922">
                  <a:extLst>
                    <a:ext uri="{9D8B030D-6E8A-4147-A177-3AD203B41FA5}">
                      <a16:colId xmlns:a16="http://schemas.microsoft.com/office/drawing/2014/main" val="20002"/>
                    </a:ext>
                  </a:extLst>
                </a:gridCol>
                <a:gridCol w="915505">
                  <a:extLst>
                    <a:ext uri="{9D8B030D-6E8A-4147-A177-3AD203B41FA5}">
                      <a16:colId xmlns:a16="http://schemas.microsoft.com/office/drawing/2014/main" val="20003"/>
                    </a:ext>
                  </a:extLst>
                </a:gridCol>
                <a:gridCol w="762921">
                  <a:extLst>
                    <a:ext uri="{9D8B030D-6E8A-4147-A177-3AD203B41FA5}">
                      <a16:colId xmlns:a16="http://schemas.microsoft.com/office/drawing/2014/main" val="20004"/>
                    </a:ext>
                  </a:extLst>
                </a:gridCol>
                <a:gridCol w="2841094">
                  <a:extLst>
                    <a:ext uri="{9D8B030D-6E8A-4147-A177-3AD203B41FA5}">
                      <a16:colId xmlns:a16="http://schemas.microsoft.com/office/drawing/2014/main" val="20005"/>
                    </a:ext>
                  </a:extLst>
                </a:gridCol>
              </a:tblGrid>
              <a:tr h="29845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14</a:t>
                      </a:r>
                    </a:p>
                  </a:txBody>
                  <a:tcPr marT="34437" marB="34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01</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#E</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437" marB="34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T+E</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S9,6,1</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退栈</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E</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和</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S1</a:t>
                      </a: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进栈</a:t>
                      </a:r>
                    </a:p>
                  </a:txBody>
                  <a:tcPr marT="34437" marB="34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5013" y="11812"/>
            <a:ext cx="3118580" cy="29199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Text Box 856"/>
          <p:cNvSpPr txBox="1">
            <a:spLocks noChangeArrowheads="1"/>
          </p:cNvSpPr>
          <p:nvPr/>
        </p:nvSpPr>
        <p:spPr bwMode="auto">
          <a:xfrm>
            <a:off x="7193883" y="3075806"/>
            <a:ext cx="1554581" cy="183742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1800" b="1" dirty="0">
                <a:latin typeface="宋体" panose="02010600030101010101" pitchFamily="2" charset="-122"/>
              </a:rPr>
              <a:t>(1) E </a:t>
            </a:r>
            <a:r>
              <a:rPr lang="en-US" altLang="zh-CN" sz="1800" b="1" dirty="0">
                <a:latin typeface="宋体" panose="02010600030101010101" pitchFamily="2" charset="-122"/>
                <a:sym typeface="Symbol" pitchFamily="18" charset="2"/>
              </a:rPr>
              <a:t>E+T</a:t>
            </a:r>
          </a:p>
          <a:p>
            <a:pPr eaLnBrk="1" hangingPunct="1">
              <a:spcBef>
                <a:spcPct val="10000"/>
              </a:spcBef>
              <a:buFontTx/>
              <a:buNone/>
            </a:pPr>
            <a:r>
              <a:rPr lang="en-US" altLang="zh-CN" sz="1800" b="1" dirty="0">
                <a:latin typeface="宋体" panose="02010600030101010101" pitchFamily="2" charset="-122"/>
                <a:sym typeface="Symbol" pitchFamily="18" charset="2"/>
              </a:rPr>
              <a:t>(2) E T</a:t>
            </a:r>
          </a:p>
          <a:p>
            <a:pPr eaLnBrk="1" hangingPunct="1">
              <a:spcBef>
                <a:spcPct val="10000"/>
              </a:spcBef>
              <a:buFontTx/>
              <a:buNone/>
            </a:pPr>
            <a:r>
              <a:rPr lang="en-US" altLang="zh-CN" sz="1800" b="1" dirty="0">
                <a:latin typeface="宋体" panose="02010600030101010101" pitchFamily="2" charset="-122"/>
                <a:sym typeface="Symbol" pitchFamily="18" charset="2"/>
              </a:rPr>
              <a:t>(3) T T*F</a:t>
            </a:r>
          </a:p>
          <a:p>
            <a:pPr eaLnBrk="1" hangingPunct="1">
              <a:spcBef>
                <a:spcPct val="10000"/>
              </a:spcBef>
              <a:buFontTx/>
              <a:buNone/>
            </a:pPr>
            <a:r>
              <a:rPr lang="en-US" altLang="zh-CN" sz="1800" b="1" dirty="0">
                <a:latin typeface="宋体" panose="02010600030101010101" pitchFamily="2" charset="-122"/>
                <a:sym typeface="Symbol" pitchFamily="18" charset="2"/>
              </a:rPr>
              <a:t>(4) T F</a:t>
            </a:r>
          </a:p>
          <a:p>
            <a:pPr eaLnBrk="1" hangingPunct="1">
              <a:spcBef>
                <a:spcPct val="0"/>
              </a:spcBef>
              <a:buFontTx/>
              <a:buNone/>
            </a:pPr>
            <a:r>
              <a:rPr lang="en-US" altLang="zh-CN" sz="1800" b="1" dirty="0">
                <a:latin typeface="宋体" panose="02010600030101010101" pitchFamily="2" charset="-122"/>
                <a:sym typeface="Symbol" pitchFamily="18" charset="2"/>
              </a:rPr>
              <a:t>(5) F (F)</a:t>
            </a:r>
          </a:p>
          <a:p>
            <a:pPr eaLnBrk="1" hangingPunct="1">
              <a:spcBef>
                <a:spcPct val="0"/>
              </a:spcBef>
              <a:buFontTx/>
              <a:buNone/>
            </a:pPr>
            <a:r>
              <a:rPr lang="en-US" altLang="zh-CN" sz="1800" b="1" dirty="0">
                <a:latin typeface="宋体" panose="02010600030101010101" pitchFamily="2" charset="-122"/>
                <a:sym typeface="Symbol" pitchFamily="18" charset="2"/>
              </a:rPr>
              <a:t>(6) F </a:t>
            </a:r>
            <a:r>
              <a:rPr lang="en-US" altLang="zh-CN" sz="1800" b="1" dirty="0" err="1">
                <a:latin typeface="宋体" panose="02010600030101010101" pitchFamily="2" charset="-122"/>
                <a:sym typeface="Symbol" pitchFamily="18" charset="2"/>
              </a:rPr>
              <a:t>i</a:t>
            </a:r>
            <a:endParaRPr lang="en-US" altLang="zh-CN" sz="1800" b="1" dirty="0">
              <a:latin typeface="宋体" panose="02010600030101010101" pitchFamily="2" charset="-122"/>
              <a:sym typeface="Symbol" pitchFamily="18" charset="2"/>
            </a:endParaRPr>
          </a:p>
        </p:txBody>
      </p:sp>
      <p:grpSp>
        <p:nvGrpSpPr>
          <p:cNvPr id="2" name="组合 1"/>
          <p:cNvGrpSpPr/>
          <p:nvPr/>
        </p:nvGrpSpPr>
        <p:grpSpPr>
          <a:xfrm>
            <a:off x="1605018" y="1707654"/>
            <a:ext cx="2549588" cy="936104"/>
            <a:chOff x="1605018" y="2292588"/>
            <a:chExt cx="2549588" cy="351170"/>
          </a:xfrm>
        </p:grpSpPr>
        <p:sp>
          <p:nvSpPr>
            <p:cNvPr id="20"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 name="组合 22"/>
          <p:cNvGrpSpPr/>
          <p:nvPr/>
        </p:nvGrpSpPr>
        <p:grpSpPr>
          <a:xfrm>
            <a:off x="1624372" y="2649411"/>
            <a:ext cx="2549588" cy="282379"/>
            <a:chOff x="1605018" y="2292588"/>
            <a:chExt cx="2549588" cy="351170"/>
          </a:xfrm>
        </p:grpSpPr>
        <p:sp>
          <p:nvSpPr>
            <p:cNvPr id="24"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 name="组合 25"/>
          <p:cNvGrpSpPr/>
          <p:nvPr/>
        </p:nvGrpSpPr>
        <p:grpSpPr>
          <a:xfrm>
            <a:off x="1605018" y="2931790"/>
            <a:ext cx="2549588" cy="302209"/>
            <a:chOff x="1605018" y="2292588"/>
            <a:chExt cx="2549588" cy="351170"/>
          </a:xfrm>
        </p:grpSpPr>
        <p:sp>
          <p:nvSpPr>
            <p:cNvPr id="27"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 name="组合 28"/>
          <p:cNvGrpSpPr/>
          <p:nvPr/>
        </p:nvGrpSpPr>
        <p:grpSpPr>
          <a:xfrm>
            <a:off x="1619906" y="771550"/>
            <a:ext cx="2549588" cy="576064"/>
            <a:chOff x="1605018" y="2292588"/>
            <a:chExt cx="2549588" cy="351170"/>
          </a:xfrm>
        </p:grpSpPr>
        <p:sp>
          <p:nvSpPr>
            <p:cNvPr id="30"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 name="组合 31"/>
          <p:cNvGrpSpPr/>
          <p:nvPr/>
        </p:nvGrpSpPr>
        <p:grpSpPr>
          <a:xfrm>
            <a:off x="1624372" y="1332012"/>
            <a:ext cx="2549588" cy="375642"/>
            <a:chOff x="1605018" y="2292588"/>
            <a:chExt cx="2549588" cy="351170"/>
          </a:xfrm>
        </p:grpSpPr>
        <p:sp>
          <p:nvSpPr>
            <p:cNvPr id="33"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 name="组合 34"/>
          <p:cNvGrpSpPr/>
          <p:nvPr/>
        </p:nvGrpSpPr>
        <p:grpSpPr>
          <a:xfrm>
            <a:off x="1605018" y="3309126"/>
            <a:ext cx="2549588" cy="918808"/>
            <a:chOff x="1605018" y="2292588"/>
            <a:chExt cx="2549588" cy="351170"/>
          </a:xfrm>
        </p:grpSpPr>
        <p:sp>
          <p:nvSpPr>
            <p:cNvPr id="36"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8" name="组合 37"/>
          <p:cNvGrpSpPr/>
          <p:nvPr/>
        </p:nvGrpSpPr>
        <p:grpSpPr>
          <a:xfrm>
            <a:off x="1605018" y="4227933"/>
            <a:ext cx="2549588" cy="225989"/>
            <a:chOff x="1605018" y="2292588"/>
            <a:chExt cx="2549588" cy="351170"/>
          </a:xfrm>
        </p:grpSpPr>
        <p:sp>
          <p:nvSpPr>
            <p:cNvPr id="39"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p:cNvGrpSpPr/>
          <p:nvPr/>
        </p:nvGrpSpPr>
        <p:grpSpPr>
          <a:xfrm>
            <a:off x="1619906" y="4515966"/>
            <a:ext cx="2549588" cy="225989"/>
            <a:chOff x="1605018" y="2292588"/>
            <a:chExt cx="2549588" cy="351170"/>
          </a:xfrm>
        </p:grpSpPr>
        <p:sp>
          <p:nvSpPr>
            <p:cNvPr id="42"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4" name="组合 43"/>
          <p:cNvGrpSpPr/>
          <p:nvPr/>
        </p:nvGrpSpPr>
        <p:grpSpPr>
          <a:xfrm>
            <a:off x="1628290" y="4803998"/>
            <a:ext cx="2549588" cy="225989"/>
            <a:chOff x="1605018" y="2292588"/>
            <a:chExt cx="2549588" cy="351170"/>
          </a:xfrm>
        </p:grpSpPr>
        <p:sp>
          <p:nvSpPr>
            <p:cNvPr id="45" name="矩形 37"/>
            <p:cNvSpPr/>
            <p:nvPr/>
          </p:nvSpPr>
          <p:spPr>
            <a:xfrm>
              <a:off x="1605018"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37"/>
            <p:cNvSpPr/>
            <p:nvPr/>
          </p:nvSpPr>
          <p:spPr>
            <a:xfrm>
              <a:off x="3275856" y="2292588"/>
              <a:ext cx="878750" cy="351170"/>
            </a:xfrm>
            <a:prstGeom prst="rect">
              <a:avLst/>
            </a:prstGeom>
            <a:noFill/>
            <a:ln w="38100">
              <a:solidFill>
                <a:srgbClr val="0000CC"/>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470266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subTnLst>
                                    <p:set>
                                      <p:cBhvr override="childStyle">
                                        <p:cTn dur="1" fill="hold" display="0" masterRel="nextClick" afterEffect="1"/>
                                        <p:tgtEl>
                                          <p:spTgt spid="29"/>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2"/>
                                        </p:tgtEl>
                                        <p:attrNameLst>
                                          <p:attrName>style.visibility</p:attrName>
                                        </p:attrNameLst>
                                      </p:cBhvr>
                                      <p:to>
                                        <p:strVal val="visible"/>
                                      </p:to>
                                    </p:set>
                                  </p:childTnLst>
                                  <p:subTnLst>
                                    <p:set>
                                      <p:cBhvr override="childStyle">
                                        <p:cTn dur="1" fill="hold" display="0" masterRel="nextClick" afterEffect="1"/>
                                        <p:tgtEl>
                                          <p:spTgt spid="32"/>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subTnLst>
                                    <p:set>
                                      <p:cBhvr override="childStyle">
                                        <p:cTn dur="1" fill="hold" display="0" masterRel="nextClick" afterEffect="1"/>
                                        <p:tgtEl>
                                          <p:spTgt spid="23"/>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6"/>
                                        </p:tgtEl>
                                        <p:attrNameLst>
                                          <p:attrName>style.visibility</p:attrName>
                                        </p:attrNameLst>
                                      </p:cBhvr>
                                      <p:to>
                                        <p:strVal val="visible"/>
                                      </p:to>
                                    </p:set>
                                  </p:childTnLst>
                                  <p:subTnLst>
                                    <p:set>
                                      <p:cBhvr override="childStyle">
                                        <p:cTn dur="1" fill="hold" display="0" masterRel="nextClick" afterEffect="1"/>
                                        <p:tgtEl>
                                          <p:spTgt spid="26"/>
                                        </p:tgtEl>
                                        <p:attrNameLst>
                                          <p:attrName>style.visibility</p:attrName>
                                        </p:attrNameLst>
                                      </p:cBhvr>
                                      <p:to>
                                        <p:strVal val="hidden"/>
                                      </p:to>
                                    </p:set>
                                  </p:sub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subTnLst>
                                    <p:set>
                                      <p:cBhvr override="childStyle">
                                        <p:cTn dur="1" fill="hold" display="0" masterRel="nextClick" afterEffect="1"/>
                                        <p:tgtEl>
                                          <p:spTgt spid="35"/>
                                        </p:tgtEl>
                                        <p:attrNameLst>
                                          <p:attrName>style.visibility</p:attrName>
                                        </p:attrNameLst>
                                      </p:cBhvr>
                                      <p:to>
                                        <p:strVal val="hidden"/>
                                      </p:to>
                                    </p:set>
                                  </p:sub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8"/>
                                        </p:tgtEl>
                                        <p:attrNameLst>
                                          <p:attrName>style.visibility</p:attrName>
                                        </p:attrNameLst>
                                      </p:cBhvr>
                                      <p:to>
                                        <p:strVal val="visible"/>
                                      </p:to>
                                    </p:set>
                                  </p:childTnLst>
                                  <p:subTnLst>
                                    <p:set>
                                      <p:cBhvr override="childStyle">
                                        <p:cTn dur="1" fill="hold" display="0" masterRel="nextClick" afterEffect="1"/>
                                        <p:tgtEl>
                                          <p:spTgt spid="38"/>
                                        </p:tgtEl>
                                        <p:attrNameLst>
                                          <p:attrName>style.visibility</p:attrName>
                                        </p:attrNameLst>
                                      </p:cBhvr>
                                      <p:to>
                                        <p:strVal val="hidden"/>
                                      </p:to>
                                    </p:set>
                                  </p:sub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1"/>
                                        </p:tgtEl>
                                        <p:attrNameLst>
                                          <p:attrName>style.visibility</p:attrName>
                                        </p:attrNameLst>
                                      </p:cBhvr>
                                      <p:to>
                                        <p:strVal val="visible"/>
                                      </p:to>
                                    </p:set>
                                  </p:childTnLst>
                                  <p:subTnLst>
                                    <p:set>
                                      <p:cBhvr override="childStyle">
                                        <p:cTn dur="1" fill="hold" display="0" masterRel="nextClick" afterEffect="1"/>
                                        <p:tgtEl>
                                          <p:spTgt spid="41"/>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44"/>
                                        </p:tgtEl>
                                        <p:attrNameLst>
                                          <p:attrName>style.visibility</p:attrName>
                                        </p:attrNameLst>
                                      </p:cBhvr>
                                      <p:to>
                                        <p:strVal val="visible"/>
                                      </p:to>
                                    </p:set>
                                  </p:childTnLst>
                                  <p:subTnLst>
                                    <p:set>
                                      <p:cBhvr override="childStyle">
                                        <p:cTn dur="1" fill="hold" display="0" masterRel="nextClick" afterEffect="1"/>
                                        <p:tgtEl>
                                          <p:spTgt spid="4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表格 24"/>
          <p:cNvGraphicFramePr>
            <a:graphicFrameLocks noGrp="1"/>
          </p:cNvGraphicFramePr>
          <p:nvPr>
            <p:extLst>
              <p:ext uri="{D42A27DB-BD31-4B8C-83A1-F6EECF244321}">
                <p14:modId xmlns:p14="http://schemas.microsoft.com/office/powerpoint/2010/main" val="1750179365"/>
              </p:ext>
            </p:extLst>
          </p:nvPr>
        </p:nvGraphicFramePr>
        <p:xfrm>
          <a:off x="3667448" y="2139702"/>
          <a:ext cx="5297040" cy="2653912"/>
        </p:xfrm>
        <a:graphic>
          <a:graphicData uri="http://schemas.openxmlformats.org/drawingml/2006/table">
            <a:tbl>
              <a:tblPr firstRow="1" bandRow="1">
                <a:tableStyleId>{5C22544A-7EE6-4342-B048-85BDC9FD1C3A}</a:tableStyleId>
              </a:tblPr>
              <a:tblGrid>
                <a:gridCol w="2648520">
                  <a:extLst>
                    <a:ext uri="{9D8B030D-6E8A-4147-A177-3AD203B41FA5}">
                      <a16:colId xmlns:a16="http://schemas.microsoft.com/office/drawing/2014/main" val="20000"/>
                    </a:ext>
                  </a:extLst>
                </a:gridCol>
                <a:gridCol w="2648520">
                  <a:extLst>
                    <a:ext uri="{9D8B030D-6E8A-4147-A177-3AD203B41FA5}">
                      <a16:colId xmlns:a16="http://schemas.microsoft.com/office/drawing/2014/main" val="20001"/>
                    </a:ext>
                  </a:extLst>
                </a:gridCol>
              </a:tblGrid>
              <a:tr h="658456">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888848">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684944">
                <a:tc>
                  <a:txBody>
                    <a:bodyPr/>
                    <a:lstStyle/>
                    <a:p>
                      <a:endParaRPr lang="zh-CN"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421664">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4" name="内容占位符 3"/>
          <p:cNvGraphicFramePr>
            <a:graphicFrameLocks noGrp="1"/>
          </p:cNvGraphicFramePr>
          <p:nvPr>
            <p:ph idx="1"/>
            <p:extLst>
              <p:ext uri="{D42A27DB-BD31-4B8C-83A1-F6EECF244321}">
                <p14:modId xmlns:p14="http://schemas.microsoft.com/office/powerpoint/2010/main" val="2831938526"/>
              </p:ext>
            </p:extLst>
          </p:nvPr>
        </p:nvGraphicFramePr>
        <p:xfrm>
          <a:off x="315607" y="1515586"/>
          <a:ext cx="504056" cy="2930624"/>
        </p:xfrm>
        <a:graphic>
          <a:graphicData uri="http://schemas.openxmlformats.org/drawingml/2006/table">
            <a:tbl>
              <a:tblPr firstRow="1" bandRow="1">
                <a:tableStyleId>{5C22544A-7EE6-4342-B048-85BDC9FD1C3A}</a:tableStyleId>
              </a:tblPr>
              <a:tblGrid>
                <a:gridCol w="504056">
                  <a:extLst>
                    <a:ext uri="{9D8B030D-6E8A-4147-A177-3AD203B41FA5}">
                      <a16:colId xmlns:a16="http://schemas.microsoft.com/office/drawing/2014/main" val="20000"/>
                    </a:ext>
                  </a:extLst>
                </a:gridCol>
              </a:tblGrid>
              <a:tr h="504056">
                <a:tc>
                  <a:txBody>
                    <a:bodyPr/>
                    <a:lstStyle/>
                    <a:p>
                      <a:pPr algn="ctr"/>
                      <a:r>
                        <a:rPr lang="en-US" altLang="zh-CN" b="0" dirty="0" err="1">
                          <a:solidFill>
                            <a:schemeClr val="tx1"/>
                          </a:solidFill>
                        </a:rPr>
                        <a:t>X</a:t>
                      </a:r>
                      <a:r>
                        <a:rPr lang="en-US" altLang="zh-CN" b="0" baseline="-25000" dirty="0" err="1">
                          <a:solidFill>
                            <a:schemeClr val="tx1"/>
                          </a:solidFill>
                        </a:rPr>
                        <a:t>m</a:t>
                      </a:r>
                      <a:endParaRPr lang="zh-CN" altLang="en-US" b="0" baseline="-2500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solidFill>
                      <a:schemeClr val="bg1"/>
                    </a:solidFill>
                  </a:tcPr>
                </a:tc>
                <a:extLst>
                  <a:ext uri="{0D108BD9-81ED-4DB2-BD59-A6C34878D82A}">
                    <a16:rowId xmlns:a16="http://schemas.microsoft.com/office/drawing/2014/main" val="10000"/>
                  </a:ext>
                </a:extLst>
              </a:tr>
              <a:tr h="504056">
                <a:tc>
                  <a:txBody>
                    <a:bodyPr/>
                    <a:lstStyle/>
                    <a:p>
                      <a:pPr algn="ctr"/>
                      <a:r>
                        <a:rPr lang="en-US" altLang="zh-CN" dirty="0"/>
                        <a:t>.</a:t>
                      </a:r>
                    </a:p>
                    <a:p>
                      <a:pPr algn="ctr"/>
                      <a:r>
                        <a:rPr lang="en-US" altLang="zh-CN" dirty="0"/>
                        <a:t>.</a:t>
                      </a:r>
                    </a:p>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extLst>
                  <a:ext uri="{0D108BD9-81ED-4DB2-BD59-A6C34878D82A}">
                    <a16:rowId xmlns:a16="http://schemas.microsoft.com/office/drawing/2014/main" val="10001"/>
                  </a:ext>
                </a:extLst>
              </a:tr>
              <a:tr h="504056">
                <a:tc>
                  <a:txBody>
                    <a:bodyPr/>
                    <a:lstStyle/>
                    <a:p>
                      <a:pPr algn="ctr"/>
                      <a:r>
                        <a:rPr lang="en-US" altLang="zh-CN" dirty="0"/>
                        <a:t>X</a:t>
                      </a:r>
                      <a:r>
                        <a:rPr lang="en-US" altLang="zh-CN" baseline="-25000" dirty="0"/>
                        <a:t>1</a:t>
                      </a:r>
                      <a:endParaRPr lang="zh-CN" altLang="en-US" baseline="-25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extLst>
                  <a:ext uri="{0D108BD9-81ED-4DB2-BD59-A6C34878D82A}">
                    <a16:rowId xmlns:a16="http://schemas.microsoft.com/office/drawing/2014/main" val="10002"/>
                  </a:ext>
                </a:extLst>
              </a:tr>
              <a:tr h="504056">
                <a:tc>
                  <a:txBody>
                    <a:bodyPr/>
                    <a:lstStyle/>
                    <a:p>
                      <a:pPr algn="ctr"/>
                      <a:r>
                        <a:rPr lang="en-US" altLang="zh-CN" dirty="0"/>
                        <a:t>X</a:t>
                      </a:r>
                      <a:r>
                        <a:rPr lang="en-US" altLang="zh-CN" baseline="-25000" dirty="0"/>
                        <a:t>0</a:t>
                      </a:r>
                      <a:endParaRPr lang="zh-CN" altLang="en-US" baseline="-25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extLst>
                  <a:ext uri="{0D108BD9-81ED-4DB2-BD59-A6C34878D82A}">
                    <a16:rowId xmlns:a16="http://schemas.microsoft.com/office/drawing/2014/main" val="10003"/>
                  </a:ext>
                </a:extLst>
              </a:tr>
              <a:tr h="504056">
                <a:tc>
                  <a:txBody>
                    <a:bodyPr/>
                    <a:lstStyle/>
                    <a:p>
                      <a:pPr algn="ctr"/>
                      <a:r>
                        <a:rPr lang="en-US" altLang="zh-CN" dirty="0"/>
                        <a:t>#</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3" name="标题 2"/>
          <p:cNvSpPr>
            <a:spLocks noGrp="1"/>
          </p:cNvSpPr>
          <p:nvPr>
            <p:ph type="title"/>
          </p:nvPr>
        </p:nvSpPr>
        <p:spPr>
          <a:xfrm>
            <a:off x="107504" y="33823"/>
            <a:ext cx="8229600" cy="576064"/>
          </a:xfrm>
        </p:spPr>
        <p:txBody>
          <a:bodyPr>
            <a:normAutofit fontScale="90000"/>
          </a:bodyPr>
          <a:lstStyle/>
          <a:p>
            <a:r>
              <a:rPr lang="zh-CN" altLang="en-US" dirty="0"/>
              <a:t>规范句型</a:t>
            </a:r>
          </a:p>
        </p:txBody>
      </p:sp>
      <p:graphicFrame>
        <p:nvGraphicFramePr>
          <p:cNvPr id="5" name="表格 4"/>
          <p:cNvGraphicFramePr>
            <a:graphicFrameLocks noGrp="1"/>
          </p:cNvGraphicFramePr>
          <p:nvPr>
            <p:extLst>
              <p:ext uri="{D42A27DB-BD31-4B8C-83A1-F6EECF244321}">
                <p14:modId xmlns:p14="http://schemas.microsoft.com/office/powerpoint/2010/main" val="2608129988"/>
              </p:ext>
            </p:extLst>
          </p:nvPr>
        </p:nvGraphicFramePr>
        <p:xfrm>
          <a:off x="1387806" y="1275024"/>
          <a:ext cx="3816422" cy="370840"/>
        </p:xfrm>
        <a:graphic>
          <a:graphicData uri="http://schemas.openxmlformats.org/drawingml/2006/table">
            <a:tbl>
              <a:tblPr firstRow="1" bandRow="1">
                <a:tableStyleId>{5C22544A-7EE6-4342-B048-85BDC9FD1C3A}</a:tableStyleId>
              </a:tblPr>
              <a:tblGrid>
                <a:gridCol w="756084">
                  <a:extLst>
                    <a:ext uri="{9D8B030D-6E8A-4147-A177-3AD203B41FA5}">
                      <a16:colId xmlns:a16="http://schemas.microsoft.com/office/drawing/2014/main" val="20000"/>
                    </a:ext>
                  </a:extLst>
                </a:gridCol>
                <a:gridCol w="468050">
                  <a:extLst>
                    <a:ext uri="{9D8B030D-6E8A-4147-A177-3AD203B41FA5}">
                      <a16:colId xmlns:a16="http://schemas.microsoft.com/office/drawing/2014/main" val="20001"/>
                    </a:ext>
                  </a:extLst>
                </a:gridCol>
                <a:gridCol w="792088">
                  <a:extLst>
                    <a:ext uri="{9D8B030D-6E8A-4147-A177-3AD203B41FA5}">
                      <a16:colId xmlns:a16="http://schemas.microsoft.com/office/drawing/2014/main" val="20002"/>
                    </a:ext>
                  </a:extLst>
                </a:gridCol>
                <a:gridCol w="720080">
                  <a:extLst>
                    <a:ext uri="{9D8B030D-6E8A-4147-A177-3AD203B41FA5}">
                      <a16:colId xmlns:a16="http://schemas.microsoft.com/office/drawing/2014/main" val="20003"/>
                    </a:ext>
                  </a:extLst>
                </a:gridCol>
                <a:gridCol w="504056">
                  <a:extLst>
                    <a:ext uri="{9D8B030D-6E8A-4147-A177-3AD203B41FA5}">
                      <a16:colId xmlns:a16="http://schemas.microsoft.com/office/drawing/2014/main" val="20004"/>
                    </a:ext>
                  </a:extLst>
                </a:gridCol>
                <a:gridCol w="576064">
                  <a:extLst>
                    <a:ext uri="{9D8B030D-6E8A-4147-A177-3AD203B41FA5}">
                      <a16:colId xmlns:a16="http://schemas.microsoft.com/office/drawing/2014/main" val="20005"/>
                    </a:ext>
                  </a:extLst>
                </a:gridCol>
              </a:tblGrid>
              <a:tr h="370840">
                <a:tc>
                  <a:txBody>
                    <a:bodyPr/>
                    <a:lstStyle/>
                    <a:p>
                      <a:endParaRPr lang="zh-CN" altLang="en-US" dirty="0">
                        <a:solidFill>
                          <a:schemeClr val="tx1"/>
                        </a:solidFill>
                      </a:endParaRPr>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dirty="0" err="1">
                          <a:solidFill>
                            <a:schemeClr val="tx1"/>
                          </a:solidFill>
                        </a:rPr>
                        <a:t>a</a:t>
                      </a:r>
                      <a:r>
                        <a:rPr lang="en-US" altLang="zh-CN" baseline="-25000" dirty="0" err="1">
                          <a:solidFill>
                            <a:schemeClr val="tx1"/>
                          </a:solidFill>
                        </a:rPr>
                        <a:t>i</a:t>
                      </a:r>
                      <a:endParaRPr lang="zh-CN" altLang="en-US" baseline="-25000" dirty="0">
                        <a:solidFill>
                          <a:schemeClr val="tx1"/>
                        </a:solidFill>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dirty="0">
                          <a:solidFill>
                            <a:schemeClr val="tx1"/>
                          </a:solidFill>
                        </a:rPr>
                        <a:t>a</a:t>
                      </a:r>
                      <a:r>
                        <a:rPr lang="en-US" altLang="zh-CN" baseline="-25000" dirty="0">
                          <a:solidFill>
                            <a:schemeClr val="tx1"/>
                          </a:solidFill>
                        </a:rPr>
                        <a:t>i+1</a:t>
                      </a:r>
                      <a:endParaRPr lang="zh-CN" altLang="en-US" baseline="-25000" dirty="0">
                        <a:solidFill>
                          <a:schemeClr val="tx1"/>
                        </a:solidFill>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dirty="0">
                          <a:solidFill>
                            <a:schemeClr val="tx1"/>
                          </a:solidFill>
                        </a:rPr>
                        <a:t>……</a:t>
                      </a:r>
                      <a:endParaRPr lang="zh-CN" altLang="en-US" dirty="0">
                        <a:solidFill>
                          <a:schemeClr val="tx1"/>
                        </a:solidFill>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dirty="0">
                          <a:solidFill>
                            <a:schemeClr val="tx1"/>
                          </a:solidFill>
                        </a:rPr>
                        <a:t>a</a:t>
                      </a:r>
                      <a:r>
                        <a:rPr lang="en-US" altLang="zh-CN" baseline="-25000" dirty="0">
                          <a:solidFill>
                            <a:schemeClr val="tx1"/>
                          </a:solidFill>
                        </a:rPr>
                        <a:t>n</a:t>
                      </a:r>
                      <a:endParaRPr lang="zh-CN" altLang="en-US" baseline="-25000" dirty="0">
                        <a:solidFill>
                          <a:schemeClr val="tx1"/>
                        </a:solidFill>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dirty="0">
                          <a:solidFill>
                            <a:schemeClr val="tx1"/>
                          </a:solidFill>
                        </a:rPr>
                        <a:t>#</a:t>
                      </a:r>
                      <a:endParaRPr lang="zh-CN" altLang="en-US" dirty="0">
                        <a:solidFill>
                          <a:schemeClr val="tx1"/>
                        </a:solidFill>
                      </a:endParaRPr>
                    </a:p>
                  </a:txBody>
                  <a:tcP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6" name="Text Box 17"/>
          <p:cNvSpPr txBox="1">
            <a:spLocks noChangeArrowheads="1"/>
          </p:cNvSpPr>
          <p:nvPr/>
        </p:nvSpPr>
        <p:spPr bwMode="auto">
          <a:xfrm>
            <a:off x="2267744" y="8420"/>
            <a:ext cx="6857968" cy="830997"/>
          </a:xfrm>
          <a:prstGeom prst="rect">
            <a:avLst/>
          </a:prstGeom>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2400" dirty="0">
                <a:ea typeface="华文行楷" pitchFamily="2" charset="-122"/>
              </a:rPr>
              <a:t>规范归约中：</a:t>
            </a:r>
            <a:endParaRPr lang="en-US" altLang="zh-CN" sz="2400" dirty="0">
              <a:ea typeface="华文行楷" pitchFamily="2" charset="-122"/>
            </a:endParaRPr>
          </a:p>
          <a:p>
            <a:pPr>
              <a:spcBef>
                <a:spcPct val="0"/>
              </a:spcBef>
              <a:buFontTx/>
              <a:buNone/>
            </a:pPr>
            <a:r>
              <a:rPr lang="zh-CN" altLang="en-US" sz="2400" dirty="0">
                <a:solidFill>
                  <a:schemeClr val="accent2"/>
                </a:solidFill>
                <a:ea typeface="华文行楷" pitchFamily="2" charset="-122"/>
              </a:rPr>
              <a:t>    </a:t>
            </a:r>
            <a:r>
              <a:rPr lang="zh-CN" altLang="en-US" sz="2200" dirty="0">
                <a:solidFill>
                  <a:schemeClr val="accent2"/>
                </a:solidFill>
                <a:ea typeface="华文行楷" pitchFamily="2" charset="-122"/>
              </a:rPr>
              <a:t>符号栈内容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剩余输入符号串内容 ＝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规范句型 </a:t>
            </a:r>
            <a:r>
              <a:rPr lang="en-US" altLang="zh-CN" sz="2200" dirty="0">
                <a:solidFill>
                  <a:schemeClr val="accent2"/>
                </a:solidFill>
                <a:ea typeface="华文行楷" pitchFamily="2" charset="-122"/>
              </a:rPr>
              <a:t>#</a:t>
            </a:r>
          </a:p>
        </p:txBody>
      </p:sp>
      <p:cxnSp>
        <p:nvCxnSpPr>
          <p:cNvPr id="8" name="直接箭头连接符 7"/>
          <p:cNvCxnSpPr/>
          <p:nvPr/>
        </p:nvCxnSpPr>
        <p:spPr>
          <a:xfrm flipV="1">
            <a:off x="971600" y="1659602"/>
            <a:ext cx="0" cy="2044552"/>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0" name="直接箭头连接符 9"/>
          <p:cNvCxnSpPr/>
          <p:nvPr/>
        </p:nvCxnSpPr>
        <p:spPr>
          <a:xfrm>
            <a:off x="2251902" y="1851088"/>
            <a:ext cx="2232248" cy="0"/>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14" name="矩形 13"/>
          <p:cNvSpPr/>
          <p:nvPr/>
        </p:nvSpPr>
        <p:spPr>
          <a:xfrm>
            <a:off x="315607" y="1559889"/>
            <a:ext cx="504056" cy="109320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dirty="0"/>
              <a:t>A</a:t>
            </a:r>
            <a:endParaRPr lang="zh-CN" altLang="en-US" sz="3200" dirty="0"/>
          </a:p>
        </p:txBody>
      </p:sp>
      <p:sp>
        <p:nvSpPr>
          <p:cNvPr id="15" name="TextBox 14"/>
          <p:cNvSpPr txBox="1"/>
          <p:nvPr/>
        </p:nvSpPr>
        <p:spPr>
          <a:xfrm>
            <a:off x="5346560" y="1698153"/>
            <a:ext cx="2808312" cy="369332"/>
          </a:xfrm>
          <a:prstGeom prst="rect">
            <a:avLst/>
          </a:prstGeom>
          <a:noFill/>
        </p:spPr>
        <p:txBody>
          <a:bodyPr wrap="square" rtlCol="0">
            <a:spAutoFit/>
          </a:bodyPr>
          <a:lstStyle/>
          <a:p>
            <a:r>
              <a:rPr lang="zh-CN" altLang="en-US" b="1" dirty="0">
                <a:solidFill>
                  <a:srgbClr val="FF0000"/>
                </a:solidFill>
              </a:rPr>
              <a:t>句柄</a:t>
            </a:r>
            <a:r>
              <a:rPr lang="zh-CN" altLang="en-US" dirty="0"/>
              <a:t>处于句型中的位置：</a:t>
            </a:r>
          </a:p>
        </p:txBody>
      </p:sp>
      <p:sp>
        <p:nvSpPr>
          <p:cNvPr id="16" name="TextBox 15"/>
          <p:cNvSpPr txBox="1"/>
          <p:nvPr/>
        </p:nvSpPr>
        <p:spPr>
          <a:xfrm>
            <a:off x="3676261" y="2283378"/>
            <a:ext cx="1926688" cy="369332"/>
          </a:xfrm>
          <a:prstGeom prst="rect">
            <a:avLst/>
          </a:prstGeom>
          <a:noFill/>
        </p:spPr>
        <p:txBody>
          <a:bodyPr wrap="square" rtlCol="0">
            <a:spAutoFit/>
          </a:bodyPr>
          <a:lstStyle/>
          <a:p>
            <a:r>
              <a:rPr lang="en-US" altLang="zh-CN" dirty="0"/>
              <a:t>A</a:t>
            </a:r>
            <a:r>
              <a:rPr lang="zh-CN" altLang="en-US" dirty="0"/>
              <a:t>：处于栈顶</a:t>
            </a:r>
          </a:p>
        </p:txBody>
      </p:sp>
      <p:sp>
        <p:nvSpPr>
          <p:cNvPr id="17" name="TextBox 16"/>
          <p:cNvSpPr txBox="1"/>
          <p:nvPr/>
        </p:nvSpPr>
        <p:spPr>
          <a:xfrm>
            <a:off x="3658546" y="2780824"/>
            <a:ext cx="2635784" cy="923330"/>
          </a:xfrm>
          <a:prstGeom prst="rect">
            <a:avLst/>
          </a:prstGeom>
          <a:noFill/>
        </p:spPr>
        <p:txBody>
          <a:bodyPr wrap="square" rtlCol="0">
            <a:spAutoFit/>
          </a:bodyPr>
          <a:lstStyle/>
          <a:p>
            <a:r>
              <a:rPr lang="en-US" altLang="zh-CN" dirty="0"/>
              <a:t>B</a:t>
            </a:r>
            <a:r>
              <a:rPr lang="zh-CN" altLang="en-US" dirty="0"/>
              <a:t>：一部分句柄已在栈顶，还有一部分在剩余输入符号串中</a:t>
            </a:r>
          </a:p>
        </p:txBody>
      </p:sp>
      <p:sp>
        <p:nvSpPr>
          <p:cNvPr id="18" name="矩形 17"/>
          <p:cNvSpPr/>
          <p:nvPr/>
        </p:nvSpPr>
        <p:spPr>
          <a:xfrm>
            <a:off x="315607" y="1563638"/>
            <a:ext cx="504056" cy="729412"/>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dirty="0"/>
              <a:t>B</a:t>
            </a:r>
            <a:endParaRPr lang="zh-CN" altLang="en-US" sz="3200" dirty="0"/>
          </a:p>
        </p:txBody>
      </p:sp>
      <p:sp>
        <p:nvSpPr>
          <p:cNvPr id="19" name="矩形 18"/>
          <p:cNvSpPr/>
          <p:nvPr/>
        </p:nvSpPr>
        <p:spPr>
          <a:xfrm>
            <a:off x="2247451" y="1283428"/>
            <a:ext cx="1368152" cy="380043"/>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dirty="0"/>
              <a:t>B</a:t>
            </a:r>
            <a:endParaRPr lang="zh-CN" altLang="en-US" sz="3200" dirty="0"/>
          </a:p>
        </p:txBody>
      </p:sp>
      <p:sp>
        <p:nvSpPr>
          <p:cNvPr id="20" name="TextBox 19"/>
          <p:cNvSpPr txBox="1"/>
          <p:nvPr/>
        </p:nvSpPr>
        <p:spPr>
          <a:xfrm>
            <a:off x="3681792" y="3775348"/>
            <a:ext cx="2612538" cy="646331"/>
          </a:xfrm>
          <a:prstGeom prst="rect">
            <a:avLst/>
          </a:prstGeom>
          <a:noFill/>
        </p:spPr>
        <p:txBody>
          <a:bodyPr wrap="square" rtlCol="0">
            <a:spAutoFit/>
          </a:bodyPr>
          <a:lstStyle/>
          <a:p>
            <a:r>
              <a:rPr lang="en-US" altLang="zh-CN" dirty="0"/>
              <a:t>C</a:t>
            </a:r>
            <a:r>
              <a:rPr lang="zh-CN" altLang="en-US" dirty="0"/>
              <a:t>：全部在剩余输入符号串中</a:t>
            </a:r>
          </a:p>
        </p:txBody>
      </p:sp>
      <p:sp>
        <p:nvSpPr>
          <p:cNvPr id="21" name="矩形 20"/>
          <p:cNvSpPr/>
          <p:nvPr/>
        </p:nvSpPr>
        <p:spPr>
          <a:xfrm>
            <a:off x="2931527" y="1275606"/>
            <a:ext cx="1116124" cy="380043"/>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dirty="0"/>
              <a:t>C</a:t>
            </a:r>
            <a:endParaRPr lang="zh-CN" altLang="en-US" sz="3200" dirty="0"/>
          </a:p>
        </p:txBody>
      </p:sp>
      <p:sp>
        <p:nvSpPr>
          <p:cNvPr id="22" name="TextBox 21"/>
          <p:cNvSpPr txBox="1"/>
          <p:nvPr/>
        </p:nvSpPr>
        <p:spPr>
          <a:xfrm>
            <a:off x="6313148" y="2283378"/>
            <a:ext cx="1800200" cy="369332"/>
          </a:xfrm>
          <a:prstGeom prst="rect">
            <a:avLst/>
          </a:prstGeom>
          <a:noFill/>
        </p:spPr>
        <p:txBody>
          <a:bodyPr wrap="square" rtlCol="0">
            <a:spAutoFit/>
          </a:bodyPr>
          <a:lstStyle/>
          <a:p>
            <a:r>
              <a:rPr lang="zh-CN" altLang="en-US" dirty="0"/>
              <a:t>应该进行归约</a:t>
            </a:r>
          </a:p>
        </p:txBody>
      </p:sp>
      <p:sp>
        <p:nvSpPr>
          <p:cNvPr id="23" name="矩形 22"/>
          <p:cNvSpPr/>
          <p:nvPr/>
        </p:nvSpPr>
        <p:spPr>
          <a:xfrm>
            <a:off x="6294330" y="2852018"/>
            <a:ext cx="2638515" cy="646331"/>
          </a:xfrm>
          <a:prstGeom prst="rect">
            <a:avLst/>
          </a:prstGeom>
        </p:spPr>
        <p:txBody>
          <a:bodyPr wrap="square">
            <a:spAutoFit/>
          </a:bodyPr>
          <a:lstStyle/>
          <a:p>
            <a:r>
              <a:rPr lang="zh-CN" altLang="en-US" dirty="0"/>
              <a:t>应该移进，等到句柄全部处于栈顶再进行归约</a:t>
            </a:r>
          </a:p>
        </p:txBody>
      </p:sp>
      <p:sp>
        <p:nvSpPr>
          <p:cNvPr id="24" name="TextBox 23"/>
          <p:cNvSpPr txBox="1"/>
          <p:nvPr/>
        </p:nvSpPr>
        <p:spPr>
          <a:xfrm>
            <a:off x="6294330" y="3729040"/>
            <a:ext cx="2638515" cy="646331"/>
          </a:xfrm>
          <a:prstGeom prst="rect">
            <a:avLst/>
          </a:prstGeom>
          <a:noFill/>
        </p:spPr>
        <p:txBody>
          <a:bodyPr wrap="square" rtlCol="0">
            <a:spAutoFit/>
          </a:bodyPr>
          <a:lstStyle/>
          <a:p>
            <a:r>
              <a:rPr lang="zh-CN" altLang="en-US" dirty="0"/>
              <a:t>应该移进，等到句柄全部处于栈顶再进行归约</a:t>
            </a:r>
          </a:p>
        </p:txBody>
      </p:sp>
      <p:sp>
        <p:nvSpPr>
          <p:cNvPr id="26" name="矩形 25"/>
          <p:cNvSpPr/>
          <p:nvPr/>
        </p:nvSpPr>
        <p:spPr>
          <a:xfrm>
            <a:off x="315607" y="1923678"/>
            <a:ext cx="504056" cy="729412"/>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dirty="0"/>
              <a:t>D</a:t>
            </a:r>
            <a:endParaRPr lang="zh-CN" altLang="en-US" sz="3200" dirty="0"/>
          </a:p>
        </p:txBody>
      </p:sp>
      <p:sp>
        <p:nvSpPr>
          <p:cNvPr id="27" name="矩形 26"/>
          <p:cNvSpPr/>
          <p:nvPr/>
        </p:nvSpPr>
        <p:spPr>
          <a:xfrm>
            <a:off x="3706941" y="4434666"/>
            <a:ext cx="1281120" cy="369332"/>
          </a:xfrm>
          <a:prstGeom prst="rect">
            <a:avLst/>
          </a:prstGeom>
        </p:spPr>
        <p:txBody>
          <a:bodyPr wrap="none">
            <a:spAutoFit/>
          </a:bodyPr>
          <a:lstStyle/>
          <a:p>
            <a:r>
              <a:rPr lang="en-US" altLang="zh-CN" dirty="0"/>
              <a:t>D</a:t>
            </a:r>
            <a:r>
              <a:rPr lang="zh-CN" altLang="en-US" dirty="0"/>
              <a:t>：在栈中</a:t>
            </a:r>
          </a:p>
        </p:txBody>
      </p:sp>
      <p:sp>
        <p:nvSpPr>
          <p:cNvPr id="28" name="矩形 27"/>
          <p:cNvSpPr/>
          <p:nvPr/>
        </p:nvSpPr>
        <p:spPr>
          <a:xfrm>
            <a:off x="6294330" y="4434666"/>
            <a:ext cx="1027041" cy="369332"/>
          </a:xfrm>
          <a:prstGeom prst="rect">
            <a:avLst/>
          </a:prstGeom>
        </p:spPr>
        <p:txBody>
          <a:bodyPr wrap="square">
            <a:spAutoFit/>
          </a:bodyPr>
          <a:lstStyle/>
          <a:p>
            <a:r>
              <a:rPr lang="zh-CN" altLang="en-US" dirty="0"/>
              <a:t>不可能</a:t>
            </a:r>
          </a:p>
        </p:txBody>
      </p:sp>
      <p:sp>
        <p:nvSpPr>
          <p:cNvPr id="32" name="Text Box 17"/>
          <p:cNvSpPr txBox="1">
            <a:spLocks noChangeArrowheads="1"/>
          </p:cNvSpPr>
          <p:nvPr/>
        </p:nvSpPr>
        <p:spPr bwMode="auto">
          <a:xfrm>
            <a:off x="4427984" y="17072"/>
            <a:ext cx="4698722" cy="430887"/>
          </a:xfrm>
          <a:prstGeom prst="rect">
            <a:avLst/>
          </a:prstGeom>
          <a:ln>
            <a:noFill/>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2200" dirty="0">
                <a:solidFill>
                  <a:srgbClr val="CC00FF"/>
                </a:solidFill>
                <a:ea typeface="华文行楷" pitchFamily="2" charset="-122"/>
              </a:rPr>
              <a:t>一旦栈顶形成句柄，就立即进行归约</a:t>
            </a:r>
            <a:endParaRPr lang="en-US" altLang="zh-CN" sz="2200" dirty="0">
              <a:solidFill>
                <a:srgbClr val="CC00FF"/>
              </a:solidFill>
              <a:ea typeface="华文行楷" pitchFamily="2" charset="-122"/>
            </a:endParaRPr>
          </a:p>
        </p:txBody>
      </p:sp>
      <p:sp>
        <p:nvSpPr>
          <p:cNvPr id="33" name="TextBox 32"/>
          <p:cNvSpPr txBox="1"/>
          <p:nvPr/>
        </p:nvSpPr>
        <p:spPr>
          <a:xfrm>
            <a:off x="243599" y="4515966"/>
            <a:ext cx="655993" cy="369332"/>
          </a:xfrm>
          <a:prstGeom prst="rect">
            <a:avLst/>
          </a:prstGeom>
          <a:solidFill>
            <a:schemeClr val="bg1"/>
          </a:solidFill>
        </p:spPr>
        <p:txBody>
          <a:bodyPr wrap="square" rtlCol="0">
            <a:spAutoFit/>
          </a:bodyPr>
          <a:lstStyle/>
          <a:p>
            <a:pPr algn="ctr"/>
            <a:r>
              <a:rPr lang="zh-CN" altLang="en-US" dirty="0">
                <a:solidFill>
                  <a:schemeClr val="accent2">
                    <a:lumMod val="60000"/>
                    <a:lumOff val="40000"/>
                  </a:schemeClr>
                </a:solidFill>
              </a:rPr>
              <a:t>栈</a:t>
            </a:r>
          </a:p>
        </p:txBody>
      </p:sp>
      <p:sp>
        <p:nvSpPr>
          <p:cNvPr id="34" name="TextBox 33"/>
          <p:cNvSpPr txBox="1"/>
          <p:nvPr/>
        </p:nvSpPr>
        <p:spPr>
          <a:xfrm>
            <a:off x="5076056" y="1273268"/>
            <a:ext cx="2568166" cy="369332"/>
          </a:xfrm>
          <a:prstGeom prst="rect">
            <a:avLst/>
          </a:prstGeom>
          <a:solidFill>
            <a:schemeClr val="bg1"/>
          </a:solidFill>
        </p:spPr>
        <p:txBody>
          <a:bodyPr wrap="square" rtlCol="0">
            <a:spAutoFit/>
          </a:bodyPr>
          <a:lstStyle/>
          <a:p>
            <a:r>
              <a:rPr lang="zh-CN" altLang="en-US" dirty="0">
                <a:solidFill>
                  <a:schemeClr val="accent2">
                    <a:lumMod val="60000"/>
                    <a:lumOff val="40000"/>
                  </a:schemeClr>
                </a:solidFill>
              </a:rPr>
              <a:t>剩余输入符号串</a:t>
            </a:r>
          </a:p>
        </p:txBody>
      </p:sp>
    </p:spTree>
    <p:extLst>
      <p:ext uri="{BB962C8B-B14F-4D97-AF65-F5344CB8AC3E}">
        <p14:creationId xmlns:p14="http://schemas.microsoft.com/office/powerpoint/2010/main" val="3949032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1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10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1" nodeType="clickEffect">
                                  <p:stCondLst>
                                    <p:cond delay="0"/>
                                  </p:stCondLst>
                                  <p:childTnLst>
                                    <p:set>
                                      <p:cBhvr>
                                        <p:cTn id="36" dur="1" fill="hold">
                                          <p:stCondLst>
                                            <p:cond delay="0"/>
                                          </p:stCondLst>
                                        </p:cTn>
                                        <p:tgtEl>
                                          <p:spTgt spid="1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childTnLst>
                          </p:cTn>
                        </p:par>
                        <p:par>
                          <p:cTn id="41" fill="hold">
                            <p:stCondLst>
                              <p:cond delay="0"/>
                            </p:stCondLst>
                            <p:childTnLst>
                              <p:par>
                                <p:cTn id="42" presetID="1" presetClass="entr" presetSubtype="0" fill="hold" grpId="0" nodeType="afterEffect">
                                  <p:stCondLst>
                                    <p:cond delay="0"/>
                                  </p:stCondLst>
                                  <p:childTnLst>
                                    <p:set>
                                      <p:cBhvr>
                                        <p:cTn id="43" dur="1" fill="hold">
                                          <p:stCondLst>
                                            <p:cond delay="0"/>
                                          </p:stCondLst>
                                        </p:cTn>
                                        <p:tgtEl>
                                          <p:spTgt spid="1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3"/>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18"/>
                                        </p:tgtEl>
                                        <p:attrNameLst>
                                          <p:attrName>style.visibility</p:attrName>
                                        </p:attrNameLst>
                                      </p:cBhvr>
                                      <p:to>
                                        <p:strVal val="hidden"/>
                                      </p:to>
                                    </p:set>
                                  </p:childTnLst>
                                </p:cTn>
                              </p:par>
                              <p:par>
                                <p:cTn id="54" presetID="1" presetClass="exit" presetSubtype="0" fill="hold" grpId="1" nodeType="withEffect">
                                  <p:stCondLst>
                                    <p:cond delay="0"/>
                                  </p:stCondLst>
                                  <p:childTnLst>
                                    <p:set>
                                      <p:cBhvr>
                                        <p:cTn id="55" dur="1" fill="hold">
                                          <p:stCondLst>
                                            <p:cond delay="0"/>
                                          </p:stCondLst>
                                        </p:cTn>
                                        <p:tgtEl>
                                          <p:spTgt spid="19"/>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20"/>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4"/>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xit" presetSubtype="0" fill="hold" grpId="1" nodeType="clickEffect">
                                  <p:stCondLst>
                                    <p:cond delay="0"/>
                                  </p:stCondLst>
                                  <p:childTnLst>
                                    <p:set>
                                      <p:cBhvr>
                                        <p:cTn id="69" dur="1" fill="hold">
                                          <p:stCondLst>
                                            <p:cond delay="0"/>
                                          </p:stCondLst>
                                        </p:cTn>
                                        <p:tgtEl>
                                          <p:spTgt spid="21"/>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26"/>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28"/>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xit" presetSubtype="0" fill="hold" grpId="1" nodeType="clickEffect">
                                  <p:stCondLst>
                                    <p:cond delay="0"/>
                                  </p:stCondLst>
                                  <p:childTnLst>
                                    <p:set>
                                      <p:cBhvr>
                                        <p:cTn id="83"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p:bldP spid="16" grpId="0"/>
      <p:bldP spid="17" grpId="0"/>
      <p:bldP spid="18" grpId="0" animBg="1"/>
      <p:bldP spid="18" grpId="1" animBg="1"/>
      <p:bldP spid="19" grpId="0" animBg="1"/>
      <p:bldP spid="19" grpId="1" animBg="1"/>
      <p:bldP spid="20" grpId="0"/>
      <p:bldP spid="21" grpId="0" animBg="1"/>
      <p:bldP spid="21" grpId="1" animBg="1"/>
      <p:bldP spid="22" grpId="0"/>
      <p:bldP spid="23" grpId="0"/>
      <p:bldP spid="24" grpId="0"/>
      <p:bldP spid="26" grpId="0" animBg="1"/>
      <p:bldP spid="26" grpId="1" animBg="1"/>
      <p:bldP spid="27" grpId="0"/>
      <p:bldP spid="28" grpId="0"/>
      <p:bldP spid="32"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3" name="Text Box 3"/>
          <p:cNvSpPr txBox="1">
            <a:spLocks noChangeArrowheads="1"/>
          </p:cNvSpPr>
          <p:nvPr/>
        </p:nvSpPr>
        <p:spPr bwMode="auto">
          <a:xfrm>
            <a:off x="197063" y="3147814"/>
            <a:ext cx="8647113" cy="1852815"/>
          </a:xfrm>
          <a:prstGeom prst="rect">
            <a:avLst/>
          </a:prstGeom>
          <a:solidFill>
            <a:schemeClr val="bg1"/>
          </a:solidFill>
          <a:ln>
            <a:noFill/>
          </a:ln>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544513">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dirty="0">
                <a:ea typeface="华文行楷" pitchFamily="2" charset="-122"/>
              </a:rPr>
              <a:t>在</a:t>
            </a:r>
            <a:r>
              <a:rPr lang="en-US" altLang="zh-CN" sz="2200" dirty="0">
                <a:ea typeface="华文行楷" pitchFamily="2" charset="-122"/>
              </a:rPr>
              <a:t>LR</a:t>
            </a:r>
            <a:r>
              <a:rPr lang="zh-CN" altLang="en-US" sz="2200" dirty="0">
                <a:ea typeface="华文行楷" pitchFamily="2" charset="-122"/>
              </a:rPr>
              <a:t>分析的过程中，假定输入串是一个句子，任何时候符号栈里的文法符号都构成活前缀，配上输入串的剩余部分，就成为规范句型。</a:t>
            </a:r>
          </a:p>
          <a:p>
            <a:pPr eaLnBrk="1" hangingPunct="1"/>
            <a:r>
              <a:rPr lang="zh-CN" altLang="en-US" sz="2200" dirty="0">
                <a:ea typeface="华文行楷" pitchFamily="2" charset="-122"/>
              </a:rPr>
              <a:t>构造一个有穷自动机来识别文法</a:t>
            </a:r>
            <a:r>
              <a:rPr lang="en-US" altLang="zh-CN" sz="2200" dirty="0">
                <a:ea typeface="华文行楷" pitchFamily="2" charset="-122"/>
              </a:rPr>
              <a:t>G</a:t>
            </a:r>
            <a:r>
              <a:rPr lang="zh-CN" altLang="en-US" sz="2200" dirty="0">
                <a:ea typeface="华文行楷" pitchFamily="2" charset="-122"/>
              </a:rPr>
              <a:t>的所有活前缀，这样就可以自动生成</a:t>
            </a:r>
            <a:r>
              <a:rPr lang="en-US" altLang="zh-CN" sz="2200" dirty="0">
                <a:ea typeface="华文行楷" pitchFamily="2" charset="-122"/>
              </a:rPr>
              <a:t>LR</a:t>
            </a:r>
            <a:r>
              <a:rPr lang="zh-CN" altLang="en-US" sz="2200" dirty="0">
                <a:ea typeface="华文行楷" pitchFamily="2" charset="-122"/>
              </a:rPr>
              <a:t>分析表。</a:t>
            </a:r>
          </a:p>
        </p:txBody>
      </p:sp>
      <p:sp>
        <p:nvSpPr>
          <p:cNvPr id="199683" name="Text Box 6"/>
          <p:cNvSpPr txBox="1">
            <a:spLocks noChangeArrowheads="1"/>
          </p:cNvSpPr>
          <p:nvPr/>
        </p:nvSpPr>
        <p:spPr bwMode="auto">
          <a:xfrm>
            <a:off x="80962" y="10279"/>
            <a:ext cx="59436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dirty="0">
                <a:solidFill>
                  <a:srgbClr val="FF5050"/>
                </a:solidFill>
                <a:latin typeface="楷体_GB2312" pitchFamily="49" charset="-122"/>
                <a:ea typeface="楷体_GB2312" pitchFamily="49" charset="-122"/>
              </a:rPr>
              <a:t>LR(0)</a:t>
            </a:r>
            <a:r>
              <a:rPr lang="zh-CN" altLang="en-US" sz="3600" b="1" dirty="0">
                <a:solidFill>
                  <a:srgbClr val="FF5050"/>
                </a:solidFill>
                <a:latin typeface="楷体_GB2312" pitchFamily="49" charset="-122"/>
                <a:ea typeface="楷体_GB2312" pitchFamily="49" charset="-122"/>
              </a:rPr>
              <a:t>项目集规范族</a:t>
            </a:r>
          </a:p>
        </p:txBody>
      </p:sp>
      <p:pic>
        <p:nvPicPr>
          <p:cNvPr id="199685"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61925" cy="1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3"/>
          <p:cNvSpPr txBox="1">
            <a:spLocks noChangeArrowheads="1"/>
          </p:cNvSpPr>
          <p:nvPr/>
        </p:nvSpPr>
        <p:spPr bwMode="auto">
          <a:xfrm>
            <a:off x="323528" y="965157"/>
            <a:ext cx="864711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544513">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r>
              <a:rPr lang="zh-CN" altLang="en-US" sz="2200" b="1" dirty="0">
                <a:ea typeface="华文行楷" pitchFamily="2" charset="-122"/>
              </a:rPr>
              <a:t>字的</a:t>
            </a:r>
            <a:r>
              <a:rPr lang="zh-CN" altLang="en-US" sz="2200" b="1" dirty="0">
                <a:solidFill>
                  <a:schemeClr val="accent2"/>
                </a:solidFill>
                <a:ea typeface="华文行楷" pitchFamily="2" charset="-122"/>
              </a:rPr>
              <a:t>前缀：</a:t>
            </a:r>
            <a:r>
              <a:rPr lang="zh-CN" altLang="en-US" sz="2200" dirty="0">
                <a:ea typeface="华文行楷" pitchFamily="2" charset="-122"/>
              </a:rPr>
              <a:t>指该字的任意首部。</a:t>
            </a:r>
          </a:p>
        </p:txBody>
      </p:sp>
      <p:grpSp>
        <p:nvGrpSpPr>
          <p:cNvPr id="2" name="组合 1"/>
          <p:cNvGrpSpPr/>
          <p:nvPr/>
        </p:nvGrpSpPr>
        <p:grpSpPr>
          <a:xfrm>
            <a:off x="265995" y="1851670"/>
            <a:ext cx="8647113" cy="1175706"/>
            <a:chOff x="1685527" y="843558"/>
            <a:chExt cx="8647113" cy="1175706"/>
          </a:xfrm>
        </p:grpSpPr>
        <p:sp>
          <p:nvSpPr>
            <p:cNvPr id="199684" name="Text Box 7"/>
            <p:cNvSpPr txBox="1">
              <a:spLocks noChangeArrowheads="1"/>
            </p:cNvSpPr>
            <p:nvPr/>
          </p:nvSpPr>
          <p:spPr bwMode="auto">
            <a:xfrm>
              <a:off x="4572000" y="1419622"/>
              <a:ext cx="36036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800" dirty="0">
                  <a:ea typeface="华文行楷" pitchFamily="2" charset="-122"/>
                </a:rPr>
                <a:t>*</a:t>
              </a:r>
            </a:p>
          </p:txBody>
        </p:sp>
        <p:sp>
          <p:nvSpPr>
            <p:cNvPr id="7" name="Text Box 3"/>
            <p:cNvSpPr txBox="1">
              <a:spLocks noChangeArrowheads="1"/>
            </p:cNvSpPr>
            <p:nvPr/>
          </p:nvSpPr>
          <p:spPr bwMode="auto">
            <a:xfrm>
              <a:off x="1685527" y="843558"/>
              <a:ext cx="8647113" cy="117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544513">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b="1" dirty="0">
                  <a:solidFill>
                    <a:schemeClr val="accent2"/>
                  </a:solidFill>
                  <a:ea typeface="华文行楷" pitchFamily="2" charset="-122"/>
                </a:rPr>
                <a:t>活前缀：</a:t>
              </a:r>
              <a:r>
                <a:rPr lang="zh-CN" altLang="en-US" sz="2200" dirty="0">
                  <a:ea typeface="华文行楷" pitchFamily="2" charset="-122"/>
                </a:rPr>
                <a:t>规范句型的一个前缀，不含句柄之后的任何符号。在它之后增添一些终结符号后，就成为规范句型。即：</a:t>
              </a:r>
            </a:p>
            <a:p>
              <a:pPr lvl="1" eaLnBrk="1" hangingPunct="1">
                <a:buFontTx/>
                <a:buChar char="•"/>
              </a:pPr>
              <a:r>
                <a:rPr lang="zh-CN" altLang="en-US" sz="2200" dirty="0">
                  <a:ea typeface="华文行楷" pitchFamily="2" charset="-122"/>
                </a:rPr>
                <a:t>  对于文法</a:t>
              </a:r>
              <a:r>
                <a:rPr lang="en-US" altLang="zh-CN" sz="2200" dirty="0">
                  <a:ea typeface="华文行楷" pitchFamily="2" charset="-122"/>
                </a:rPr>
                <a:t>G</a:t>
              </a:r>
              <a:r>
                <a:rPr lang="zh-CN" altLang="en-US" sz="2200" dirty="0">
                  <a:ea typeface="华文行楷" pitchFamily="2" charset="-122"/>
                </a:rPr>
                <a:t>，若 </a:t>
              </a:r>
              <a:r>
                <a:rPr lang="en-US" altLang="zh-CN" sz="2200" dirty="0">
                  <a:ea typeface="华文行楷" pitchFamily="2" charset="-122"/>
                </a:rPr>
                <a:t>S</a:t>
              </a:r>
              <a:r>
                <a:rPr lang="en-US" altLang="zh-CN" sz="2200" dirty="0">
                  <a:ea typeface="华文行楷" pitchFamily="2" charset="-122"/>
                  <a:sym typeface="Symbol" pitchFamily="18" charset="2"/>
                </a:rPr>
                <a:t></a:t>
              </a:r>
              <a:r>
                <a:rPr lang="zh-CN" altLang="en-US" sz="2200" dirty="0">
                  <a:ea typeface="华文行楷" pitchFamily="2" charset="-122"/>
                  <a:sym typeface="Symbol" pitchFamily="18" charset="2"/>
                </a:rPr>
                <a:t>，</a:t>
              </a:r>
              <a:r>
                <a:rPr lang="en-US" altLang="zh-CN" sz="2200" dirty="0" err="1">
                  <a:ea typeface="华文行楷" pitchFamily="2" charset="-122"/>
                  <a:sym typeface="Symbol" pitchFamily="18" charset="2"/>
                </a:rPr>
                <a:t>V</a:t>
              </a:r>
              <a:r>
                <a:rPr lang="en-US" altLang="zh-CN" sz="2200" baseline="-25000" dirty="0" err="1">
                  <a:ea typeface="华文行楷" pitchFamily="2" charset="-122"/>
                  <a:sym typeface="Symbol" pitchFamily="18" charset="2"/>
                </a:rPr>
                <a:t>t</a:t>
              </a:r>
              <a:r>
                <a:rPr lang="en-US" altLang="zh-CN" sz="2200" baseline="30000" dirty="0">
                  <a:ea typeface="华文行楷" pitchFamily="2" charset="-122"/>
                  <a:sym typeface="Symbol" pitchFamily="18" charset="2"/>
                </a:rPr>
                <a:t>* </a:t>
              </a:r>
              <a:r>
                <a:rPr lang="zh-CN" altLang="en-US" sz="2200" dirty="0">
                  <a:ea typeface="华文行楷" pitchFamily="2" charset="-122"/>
                </a:rPr>
                <a:t>，称</a:t>
              </a:r>
              <a:r>
                <a:rPr lang="zh-CN" altLang="en-US" sz="2200" dirty="0">
                  <a:ea typeface="华文行楷" pitchFamily="2" charset="-122"/>
                  <a:sym typeface="Symbol" pitchFamily="18" charset="2"/>
                </a:rPr>
                <a:t></a:t>
              </a:r>
              <a:r>
                <a:rPr lang="zh-CN" altLang="en-US" sz="2200" dirty="0">
                  <a:ea typeface="华文行楷" pitchFamily="2" charset="-122"/>
                </a:rPr>
                <a:t>为</a:t>
              </a:r>
              <a:r>
                <a:rPr lang="zh-CN" altLang="en-US" sz="2200" dirty="0">
                  <a:solidFill>
                    <a:schemeClr val="accent2"/>
                  </a:solidFill>
                  <a:ea typeface="华文行楷" pitchFamily="2" charset="-122"/>
                </a:rPr>
                <a:t>活前缀</a:t>
              </a:r>
              <a:r>
                <a:rPr lang="zh-CN" altLang="en-US" sz="2200" dirty="0">
                  <a:ea typeface="华文行楷" pitchFamily="2" charset="-122"/>
                </a:rPr>
                <a:t>。</a:t>
              </a:r>
            </a:p>
          </p:txBody>
        </p:sp>
      </p:grpSp>
      <p:sp>
        <p:nvSpPr>
          <p:cNvPr id="9" name="Text Box 3"/>
          <p:cNvSpPr txBox="1">
            <a:spLocks noChangeArrowheads="1"/>
          </p:cNvSpPr>
          <p:nvPr/>
        </p:nvSpPr>
        <p:spPr bwMode="auto">
          <a:xfrm>
            <a:off x="827584" y="1347614"/>
            <a:ext cx="81369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544513">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buFont typeface="Wingdings" panose="05000000000000000000" pitchFamily="2" charset="2"/>
              <a:buChar char="Ø"/>
            </a:pPr>
            <a:r>
              <a:rPr lang="zh-CN" altLang="en-US" sz="2200" dirty="0">
                <a:ea typeface="华文行楷" pitchFamily="2" charset="-122"/>
              </a:rPr>
              <a:t>字</a:t>
            </a:r>
            <a:r>
              <a:rPr lang="en-US" altLang="zh-CN" sz="2200" dirty="0" err="1">
                <a:ea typeface="华文行楷" pitchFamily="2" charset="-122"/>
              </a:rPr>
              <a:t>abc</a:t>
            </a:r>
            <a:r>
              <a:rPr lang="zh-CN" altLang="en-US" sz="2200" dirty="0">
                <a:ea typeface="华文行楷" pitchFamily="2" charset="-122"/>
              </a:rPr>
              <a:t>的前缀有</a:t>
            </a:r>
            <a:r>
              <a:rPr lang="el-GR" altLang="zh-CN" sz="2400" dirty="0">
                <a:ea typeface="华文行楷" pitchFamily="2" charset="-122"/>
                <a:cs typeface="Times New Roman" panose="02020603050405020304" pitchFamily="18" charset="0"/>
                <a:sym typeface="Symbol" pitchFamily="18" charset="2"/>
              </a:rPr>
              <a:t>ε</a:t>
            </a:r>
            <a:r>
              <a:rPr lang="zh-CN" altLang="en-US" sz="2400" dirty="0">
                <a:ea typeface="华文行楷" pitchFamily="2" charset="-122"/>
                <a:cs typeface="Times New Roman" panose="02020603050405020304" pitchFamily="18" charset="0"/>
                <a:sym typeface="Symbol" pitchFamily="18" charset="2"/>
              </a:rPr>
              <a:t>，</a:t>
            </a:r>
            <a:r>
              <a:rPr lang="en-US" altLang="zh-CN" sz="2200" dirty="0">
                <a:ea typeface="华文行楷" pitchFamily="2" charset="-122"/>
              </a:rPr>
              <a:t>a</a:t>
            </a:r>
            <a:r>
              <a:rPr lang="zh-CN" altLang="en-US" sz="2200" dirty="0">
                <a:ea typeface="华文行楷" pitchFamily="2" charset="-122"/>
              </a:rPr>
              <a:t>，</a:t>
            </a:r>
            <a:r>
              <a:rPr lang="en-US" altLang="zh-CN" sz="2200" dirty="0">
                <a:ea typeface="华文行楷" pitchFamily="2" charset="-122"/>
              </a:rPr>
              <a:t>ab</a:t>
            </a:r>
            <a:r>
              <a:rPr lang="zh-CN" altLang="en-US" sz="2200" dirty="0">
                <a:ea typeface="华文行楷" pitchFamily="2" charset="-122"/>
              </a:rPr>
              <a:t>，</a:t>
            </a:r>
            <a:r>
              <a:rPr lang="en-US" altLang="zh-CN" sz="2200" dirty="0" err="1">
                <a:ea typeface="华文行楷" pitchFamily="2" charset="-122"/>
              </a:rPr>
              <a:t>abc</a:t>
            </a:r>
            <a:endParaRPr lang="zh-CN" altLang="en-US" sz="2200" dirty="0">
              <a:ea typeface="华文行楷" pitchFamily="2" charset="-122"/>
            </a:endParaRPr>
          </a:p>
        </p:txBody>
      </p:sp>
      <p:sp>
        <p:nvSpPr>
          <p:cNvPr id="10" name="Text Box 17"/>
          <p:cNvSpPr txBox="1">
            <a:spLocks noChangeArrowheads="1"/>
          </p:cNvSpPr>
          <p:nvPr/>
        </p:nvSpPr>
        <p:spPr bwMode="auto">
          <a:xfrm>
            <a:off x="2263183" y="32013"/>
            <a:ext cx="6857968" cy="830997"/>
          </a:xfrm>
          <a:prstGeom prst="rect">
            <a:avLst/>
          </a:prstGeom>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2400" dirty="0">
                <a:ea typeface="华文行楷" pitchFamily="2" charset="-122"/>
              </a:rPr>
              <a:t>规范归约中：</a:t>
            </a:r>
            <a:endParaRPr lang="en-US" altLang="zh-CN" sz="2400" dirty="0">
              <a:ea typeface="华文行楷" pitchFamily="2" charset="-122"/>
            </a:endParaRPr>
          </a:p>
          <a:p>
            <a:pPr>
              <a:spcBef>
                <a:spcPct val="0"/>
              </a:spcBef>
              <a:buFontTx/>
              <a:buNone/>
            </a:pPr>
            <a:r>
              <a:rPr lang="zh-CN" altLang="en-US" sz="2400" dirty="0">
                <a:solidFill>
                  <a:schemeClr val="accent2"/>
                </a:solidFill>
                <a:ea typeface="华文行楷" pitchFamily="2" charset="-122"/>
              </a:rPr>
              <a:t>    </a:t>
            </a:r>
            <a:r>
              <a:rPr lang="zh-CN" altLang="en-US" sz="2200" dirty="0">
                <a:solidFill>
                  <a:schemeClr val="accent2"/>
                </a:solidFill>
                <a:ea typeface="华文行楷" pitchFamily="2" charset="-122"/>
              </a:rPr>
              <a:t>符号栈内容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剩余输入符号串内容 ＝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规范句型 </a:t>
            </a:r>
            <a:r>
              <a:rPr lang="en-US" altLang="zh-CN" sz="2200" dirty="0">
                <a:solidFill>
                  <a:schemeClr val="accent2"/>
                </a:solidFill>
                <a:ea typeface="华文行楷" pitchFamily="2" charset="-122"/>
              </a:rPr>
              <a:t>#</a:t>
            </a:r>
          </a:p>
        </p:txBody>
      </p:sp>
      <p:sp>
        <p:nvSpPr>
          <p:cNvPr id="11" name="Text Box 17"/>
          <p:cNvSpPr txBox="1">
            <a:spLocks noChangeArrowheads="1"/>
          </p:cNvSpPr>
          <p:nvPr/>
        </p:nvSpPr>
        <p:spPr bwMode="auto">
          <a:xfrm>
            <a:off x="3121094" y="3847266"/>
            <a:ext cx="5915402" cy="430887"/>
          </a:xfrm>
          <a:prstGeom prst="rect">
            <a:avLst/>
          </a:prstGeom>
          <a:ln/>
        </p:spPr>
        <p:style>
          <a:lnRef idx="2">
            <a:schemeClr val="accent1"/>
          </a:lnRef>
          <a:fillRef idx="1">
            <a:schemeClr val="lt1"/>
          </a:fillRef>
          <a:effectRef idx="0">
            <a:schemeClr val="accent1"/>
          </a:effectRef>
          <a:fontRef idx="minor">
            <a:schemeClr val="dk1"/>
          </a:fontRef>
        </p:style>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2200" dirty="0">
                <a:solidFill>
                  <a:schemeClr val="accent2"/>
                </a:solidFill>
                <a:ea typeface="华文行楷" pitchFamily="2" charset="-122"/>
              </a:rPr>
              <a:t>活前缀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剩余输入符号串内容 ＝ </a:t>
            </a:r>
            <a:r>
              <a:rPr lang="en-US" altLang="zh-CN" sz="2200" dirty="0">
                <a:solidFill>
                  <a:schemeClr val="accent2"/>
                </a:solidFill>
                <a:ea typeface="华文行楷" pitchFamily="2" charset="-122"/>
              </a:rPr>
              <a:t># </a:t>
            </a:r>
            <a:r>
              <a:rPr lang="zh-CN" altLang="en-US" sz="2200" dirty="0">
                <a:solidFill>
                  <a:schemeClr val="accent2"/>
                </a:solidFill>
                <a:ea typeface="华文行楷" pitchFamily="2" charset="-122"/>
              </a:rPr>
              <a:t>规范句型 </a:t>
            </a:r>
            <a:r>
              <a:rPr lang="en-US" altLang="zh-CN" sz="2200" dirty="0">
                <a:solidFill>
                  <a:schemeClr val="accent2"/>
                </a:solidFill>
                <a:ea typeface="华文行楷" pitchFamily="2" charset="-122"/>
              </a:rPr>
              <a:t>#</a:t>
            </a:r>
          </a:p>
        </p:txBody>
      </p:sp>
    </p:spTree>
    <p:extLst>
      <p:ext uri="{BB962C8B-B14F-4D97-AF65-F5344CB8AC3E}">
        <p14:creationId xmlns:p14="http://schemas.microsoft.com/office/powerpoint/2010/main" val="33601408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87043">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870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build="p" autoUpdateAnimBg="0"/>
      <p:bldP spid="6" grpId="0" build="p" autoUpdateAnimBg="0"/>
      <p:bldP spid="9" grpId="0" build="p" autoUpdateAnimBg="0"/>
      <p:bldP spid="10" grpId="0" animBg="1"/>
      <p:bldP spid="11"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Text Box 3"/>
          <p:cNvSpPr txBox="1">
            <a:spLocks noChangeArrowheads="1"/>
          </p:cNvSpPr>
          <p:nvPr/>
        </p:nvSpPr>
        <p:spPr bwMode="auto">
          <a:xfrm>
            <a:off x="217151" y="1059582"/>
            <a:ext cx="8650287" cy="2985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en-US" altLang="zh-CN" sz="2000" b="1" dirty="0">
                <a:solidFill>
                  <a:schemeClr val="accent2"/>
                </a:solidFill>
                <a:ea typeface="华文行楷" pitchFamily="2" charset="-122"/>
              </a:rPr>
              <a:t>LR(0)</a:t>
            </a:r>
            <a:r>
              <a:rPr lang="zh-CN" altLang="en-US" sz="2000" b="1" dirty="0">
                <a:solidFill>
                  <a:schemeClr val="accent2"/>
                </a:solidFill>
                <a:ea typeface="华文行楷" pitchFamily="2" charset="-122"/>
              </a:rPr>
              <a:t>项目：</a:t>
            </a:r>
            <a:r>
              <a:rPr lang="zh-CN" altLang="en-US" sz="2000" dirty="0">
                <a:ea typeface="华文行楷" pitchFamily="2" charset="-122"/>
              </a:rPr>
              <a:t>在文法</a:t>
            </a:r>
            <a:r>
              <a:rPr lang="en-US" altLang="zh-CN" sz="2000" dirty="0">
                <a:ea typeface="华文行楷" pitchFamily="2" charset="-122"/>
              </a:rPr>
              <a:t>G</a:t>
            </a:r>
            <a:r>
              <a:rPr lang="zh-CN" altLang="en-US" sz="2000" dirty="0">
                <a:ea typeface="华文行楷" pitchFamily="2" charset="-122"/>
              </a:rPr>
              <a:t>中每个产生式的右部适当位置添加一个圆点</a:t>
            </a:r>
            <a:endParaRPr lang="en-US" altLang="zh-CN" sz="2000" dirty="0">
              <a:ea typeface="华文行楷" pitchFamily="2" charset="-122"/>
            </a:endParaRPr>
          </a:p>
          <a:p>
            <a:pPr eaLnBrk="1" hangingPunct="1"/>
            <a:r>
              <a:rPr lang="zh-CN" altLang="en-US" sz="2000" dirty="0">
                <a:ea typeface="华文行楷" pitchFamily="2" charset="-122"/>
              </a:rPr>
              <a:t>例如：产生式   </a:t>
            </a:r>
            <a:r>
              <a:rPr lang="en-US" altLang="zh-CN" sz="2000" b="1" dirty="0">
                <a:solidFill>
                  <a:srgbClr val="FF5050"/>
                </a:solidFill>
                <a:ea typeface="华文行楷" pitchFamily="2" charset="-122"/>
              </a:rPr>
              <a:t>S</a:t>
            </a:r>
            <a:r>
              <a:rPr lang="en-US" altLang="zh-CN" sz="2000" b="1" dirty="0">
                <a:solidFill>
                  <a:srgbClr val="FF5050"/>
                </a:solidFill>
                <a:ea typeface="华文行楷" pitchFamily="2" charset="-122"/>
                <a:sym typeface="Symbol" pitchFamily="18" charset="2"/>
              </a:rPr>
              <a:t></a:t>
            </a:r>
            <a:r>
              <a:rPr lang="en-US" altLang="zh-CN" sz="2000" b="1" dirty="0">
                <a:solidFill>
                  <a:srgbClr val="FF5050"/>
                </a:solidFill>
                <a:ea typeface="华文行楷" pitchFamily="2" charset="-122"/>
              </a:rPr>
              <a:t>XYZ</a:t>
            </a:r>
            <a:r>
              <a:rPr lang="en-US" altLang="zh-CN" sz="2000" dirty="0">
                <a:ea typeface="华文行楷" pitchFamily="2" charset="-122"/>
              </a:rPr>
              <a:t>   </a:t>
            </a:r>
            <a:r>
              <a:rPr lang="zh-CN" altLang="en-US" sz="2000" dirty="0">
                <a:ea typeface="华文行楷" pitchFamily="2" charset="-122"/>
              </a:rPr>
              <a:t>对应有</a:t>
            </a:r>
            <a:r>
              <a:rPr lang="en-US" altLang="zh-CN" sz="2000" dirty="0">
                <a:ea typeface="华文行楷" pitchFamily="2" charset="-122"/>
              </a:rPr>
              <a:t>4</a:t>
            </a:r>
            <a:r>
              <a:rPr lang="zh-CN" altLang="en-US" sz="2000" dirty="0">
                <a:ea typeface="华文行楷" pitchFamily="2" charset="-122"/>
              </a:rPr>
              <a:t>个项目：</a:t>
            </a:r>
          </a:p>
          <a:p>
            <a:pPr eaLnBrk="1" hangingPunct="1">
              <a:buFontTx/>
              <a:buNone/>
            </a:pPr>
            <a:r>
              <a:rPr lang="zh-CN" altLang="en-US" sz="2000" dirty="0">
                <a:ea typeface="华文行楷" pitchFamily="2" charset="-122"/>
              </a:rPr>
              <a:t>   		</a:t>
            </a:r>
            <a:r>
              <a:rPr lang="en-US" altLang="zh-CN" sz="2000" b="1" dirty="0">
                <a:ea typeface="华文行楷" pitchFamily="2" charset="-122"/>
              </a:rPr>
              <a:t>[0]  S</a:t>
            </a:r>
            <a:r>
              <a:rPr lang="en-US" altLang="zh-CN" sz="2000" b="1" dirty="0">
                <a:ea typeface="华文行楷" pitchFamily="2" charset="-122"/>
                <a:sym typeface="Symbol" pitchFamily="18" charset="2"/>
              </a:rPr>
              <a:t></a:t>
            </a:r>
            <a:r>
              <a:rPr lang="en-US" altLang="zh-CN" sz="2000" b="1" dirty="0">
                <a:ea typeface="华文行楷" pitchFamily="2" charset="-122"/>
              </a:rPr>
              <a:t>·XYZ         [1]  S</a:t>
            </a:r>
            <a:r>
              <a:rPr lang="en-US" altLang="zh-CN" sz="2000" b="1" dirty="0">
                <a:ea typeface="华文行楷" pitchFamily="2" charset="-122"/>
                <a:sym typeface="Symbol" pitchFamily="18" charset="2"/>
              </a:rPr>
              <a:t>X</a:t>
            </a:r>
            <a:r>
              <a:rPr lang="en-US" altLang="zh-CN" sz="2000" b="1" dirty="0">
                <a:ea typeface="华文行楷" pitchFamily="2" charset="-122"/>
              </a:rPr>
              <a:t>·YZ</a:t>
            </a:r>
          </a:p>
          <a:p>
            <a:pPr eaLnBrk="1" hangingPunct="1">
              <a:buFontTx/>
              <a:buNone/>
            </a:pPr>
            <a:r>
              <a:rPr lang="en-US" altLang="zh-CN" sz="2000" b="1" dirty="0">
                <a:ea typeface="华文行楷" pitchFamily="2" charset="-122"/>
              </a:rPr>
              <a:t>		[2]  S</a:t>
            </a:r>
            <a:r>
              <a:rPr lang="en-US" altLang="zh-CN" sz="2000" b="1" dirty="0">
                <a:ea typeface="华文行楷" pitchFamily="2" charset="-122"/>
                <a:sym typeface="Symbol" pitchFamily="18" charset="2"/>
              </a:rPr>
              <a:t></a:t>
            </a:r>
            <a:r>
              <a:rPr lang="en-US" altLang="zh-CN" sz="2000" b="1" dirty="0">
                <a:ea typeface="华文行楷" pitchFamily="2" charset="-122"/>
              </a:rPr>
              <a:t>XY·Z         [3]  S</a:t>
            </a:r>
            <a:r>
              <a:rPr lang="en-US" altLang="zh-CN" sz="2000" b="1" dirty="0">
                <a:ea typeface="华文行楷" pitchFamily="2" charset="-122"/>
                <a:sym typeface="Symbol" pitchFamily="18" charset="2"/>
              </a:rPr>
              <a:t></a:t>
            </a:r>
            <a:r>
              <a:rPr lang="en-US" altLang="zh-CN" sz="2000" b="1" dirty="0">
                <a:ea typeface="华文行楷" pitchFamily="2" charset="-122"/>
              </a:rPr>
              <a:t>XYZ·</a:t>
            </a:r>
          </a:p>
          <a:p>
            <a:pPr eaLnBrk="1" hangingPunct="1">
              <a:buFontTx/>
              <a:buNone/>
            </a:pPr>
            <a:r>
              <a:rPr lang="en-US" altLang="zh-CN" sz="2000" b="1" dirty="0">
                <a:ea typeface="华文行楷" pitchFamily="2" charset="-122"/>
              </a:rPr>
              <a:t>          </a:t>
            </a:r>
            <a:r>
              <a:rPr lang="zh-CN" altLang="en-US" sz="2000" b="1" dirty="0">
                <a:ea typeface="华文行楷" pitchFamily="2" charset="-122"/>
              </a:rPr>
              <a:t>产生式</a:t>
            </a:r>
            <a:r>
              <a:rPr lang="en-US" altLang="zh-CN" sz="2000" b="1" dirty="0">
                <a:ea typeface="华文行楷" pitchFamily="2" charset="-122"/>
              </a:rPr>
              <a:t>A </a:t>
            </a:r>
            <a:r>
              <a:rPr lang="en-US" altLang="zh-CN" sz="2000" b="1" dirty="0">
                <a:ea typeface="华文行楷" pitchFamily="2" charset="-122"/>
                <a:sym typeface="Symbol" pitchFamily="18" charset="2"/>
              </a:rPr>
              <a:t></a:t>
            </a:r>
            <a:r>
              <a:rPr lang="el-GR" altLang="zh-CN" sz="2000" b="1" dirty="0">
                <a:latin typeface="宋体" pitchFamily="2" charset="-122"/>
                <a:ea typeface="华文行楷" pitchFamily="2" charset="-122"/>
                <a:sym typeface="Symbol" pitchFamily="18" charset="2"/>
              </a:rPr>
              <a:t>ε</a:t>
            </a:r>
            <a:r>
              <a:rPr lang="zh-CN" altLang="en-US" sz="2000" b="1" dirty="0">
                <a:latin typeface="宋体" pitchFamily="2" charset="-122"/>
                <a:ea typeface="华文行楷" pitchFamily="2" charset="-122"/>
                <a:sym typeface="Symbol" pitchFamily="18" charset="2"/>
              </a:rPr>
              <a:t>只对应一个项目： </a:t>
            </a:r>
            <a:r>
              <a:rPr lang="en-US" altLang="zh-CN" sz="2000" b="1" dirty="0">
                <a:ea typeface="华文行楷" pitchFamily="2" charset="-122"/>
              </a:rPr>
              <a:t>A </a:t>
            </a:r>
            <a:r>
              <a:rPr lang="en-US" altLang="zh-CN" sz="2000" b="1" dirty="0">
                <a:ea typeface="华文行楷" pitchFamily="2" charset="-122"/>
                <a:sym typeface="Symbol" pitchFamily="18" charset="2"/>
              </a:rPr>
              <a:t></a:t>
            </a:r>
            <a:r>
              <a:rPr lang="en-US" altLang="zh-CN" sz="2000" b="1" dirty="0">
                <a:ea typeface="华文行楷" pitchFamily="2" charset="-122"/>
              </a:rPr>
              <a:t>·</a:t>
            </a:r>
          </a:p>
          <a:p>
            <a:pPr eaLnBrk="1" hangingPunct="1"/>
            <a:r>
              <a:rPr lang="zh-CN" altLang="en-US" sz="2000" b="1" dirty="0">
                <a:solidFill>
                  <a:schemeClr val="accent2"/>
                </a:solidFill>
                <a:ea typeface="华文行楷" pitchFamily="2" charset="-122"/>
                <a:sym typeface="Symbol" pitchFamily="18" charset="2"/>
              </a:rPr>
              <a:t>项目</a:t>
            </a:r>
            <a:r>
              <a:rPr lang="zh-CN" altLang="en-US" sz="2000" dirty="0">
                <a:ea typeface="华文行楷" pitchFamily="2" charset="-122"/>
                <a:sym typeface="Symbol" pitchFamily="18" charset="2"/>
              </a:rPr>
              <a:t>指明了在分析过程的某时刻，已看到的产生式部分</a:t>
            </a:r>
          </a:p>
          <a:p>
            <a:pPr eaLnBrk="1" hangingPunct="1"/>
            <a:r>
              <a:rPr lang="zh-CN" altLang="en-US" sz="2000" b="1" dirty="0">
                <a:solidFill>
                  <a:schemeClr val="accent2"/>
                </a:solidFill>
                <a:ea typeface="华文行楷" pitchFamily="2" charset="-122"/>
              </a:rPr>
              <a:t>项目集：</a:t>
            </a:r>
            <a:r>
              <a:rPr lang="zh-CN" altLang="en-US" sz="2000" dirty="0">
                <a:ea typeface="华文行楷" pitchFamily="2" charset="-122"/>
              </a:rPr>
              <a:t>若干个项目组成的集合。 </a:t>
            </a:r>
            <a:endParaRPr lang="en-US" altLang="zh-CN" sz="2000" dirty="0">
              <a:ea typeface="华文行楷" pitchFamily="2" charset="-122"/>
            </a:endParaRPr>
          </a:p>
          <a:p>
            <a:pPr marL="457200" lvl="1" indent="0">
              <a:buNone/>
            </a:pPr>
            <a:r>
              <a:rPr lang="en-US" altLang="zh-CN" sz="1600" dirty="0">
                <a:ea typeface="华文行楷" pitchFamily="2" charset="-122"/>
              </a:rPr>
              <a:t>	</a:t>
            </a:r>
            <a:r>
              <a:rPr lang="zh-CN" altLang="en-US" sz="2000" dirty="0">
                <a:ea typeface="华文行楷" pitchFamily="2" charset="-122"/>
              </a:rPr>
              <a:t>例如：对于上述产生式的</a:t>
            </a:r>
            <a:r>
              <a:rPr lang="en-US" altLang="zh-CN" sz="2000" dirty="0">
                <a:ea typeface="华文行楷" pitchFamily="2" charset="-122"/>
              </a:rPr>
              <a:t>4</a:t>
            </a:r>
            <a:r>
              <a:rPr lang="zh-CN" altLang="en-US" sz="2000" dirty="0">
                <a:ea typeface="华文行楷" pitchFamily="2" charset="-122"/>
              </a:rPr>
              <a:t>个项目即构成一个项目集</a:t>
            </a:r>
            <a:r>
              <a:rPr lang="zh-CN" altLang="en-US" sz="1600" dirty="0">
                <a:ea typeface="华文行楷" pitchFamily="2" charset="-122"/>
              </a:rPr>
              <a:t>。</a:t>
            </a:r>
          </a:p>
        </p:txBody>
      </p:sp>
      <p:sp>
        <p:nvSpPr>
          <p:cNvPr id="3" name="Text Box 6"/>
          <p:cNvSpPr txBox="1">
            <a:spLocks noChangeArrowheads="1"/>
          </p:cNvSpPr>
          <p:nvPr/>
        </p:nvSpPr>
        <p:spPr bwMode="auto">
          <a:xfrm>
            <a:off x="80962" y="123478"/>
            <a:ext cx="59436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dirty="0">
                <a:solidFill>
                  <a:srgbClr val="FF5050"/>
                </a:solidFill>
                <a:latin typeface="楷体_GB2312" pitchFamily="49" charset="-122"/>
                <a:ea typeface="楷体_GB2312" pitchFamily="49" charset="-122"/>
              </a:rPr>
              <a:t>LR(0)</a:t>
            </a:r>
            <a:r>
              <a:rPr lang="zh-CN" altLang="en-US" sz="3600" b="1" dirty="0">
                <a:solidFill>
                  <a:srgbClr val="FF5050"/>
                </a:solidFill>
                <a:latin typeface="楷体_GB2312" pitchFamily="49" charset="-122"/>
                <a:ea typeface="楷体_GB2312" pitchFamily="49" charset="-122"/>
              </a:rPr>
              <a:t>项目</a:t>
            </a:r>
          </a:p>
        </p:txBody>
      </p:sp>
    </p:spTree>
    <p:extLst>
      <p:ext uri="{BB962C8B-B14F-4D97-AF65-F5344CB8AC3E}">
        <p14:creationId xmlns:p14="http://schemas.microsoft.com/office/powerpoint/2010/main" val="27404599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048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0483">
                                            <p:txEl>
                                              <p:pRg st="2" end="2"/>
                                            </p:txEl>
                                          </p:spTgt>
                                        </p:tgtEl>
                                        <p:attrNameLst>
                                          <p:attrName>style.visibility</p:attrName>
                                        </p:attrNameLst>
                                      </p:cBhvr>
                                      <p:to>
                                        <p:strVal val="visible"/>
                                      </p:to>
                                    </p:set>
                                  </p:childTnLst>
                                </p:cTn>
                              </p:par>
                            </p:childTnLst>
                          </p:cTn>
                        </p:par>
                        <p:par>
                          <p:cTn id="15" fill="hold" nodeType="withGroup">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20483">
                                            <p:txEl>
                                              <p:pRg st="3" end="3"/>
                                            </p:txEl>
                                          </p:spTgt>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20483">
                                            <p:txEl>
                                              <p:pRg st="4" end="4"/>
                                            </p:txEl>
                                          </p:spTgt>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20483">
                                            <p:txEl>
                                              <p:pRg st="5" end="5"/>
                                            </p:txEl>
                                          </p:spTgt>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499"/>
                                          </p:stCondLst>
                                        </p:cTn>
                                        <p:tgtEl>
                                          <p:spTgt spid="20483">
                                            <p:txEl>
                                              <p:pRg st="6" end="6"/>
                                            </p:txEl>
                                          </p:spTgt>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499"/>
                                          </p:stCondLst>
                                        </p:cTn>
                                        <p:tgtEl>
                                          <p:spTgt spid="2048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3" grpId="0" build="p" autoUpdateAnimBg="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Grp="1" noChangeArrowheads="1"/>
          </p:cNvSpPr>
          <p:nvPr>
            <p:ph type="title"/>
          </p:nvPr>
        </p:nvSpPr>
        <p:spPr>
          <a:xfrm>
            <a:off x="466725" y="506413"/>
            <a:ext cx="7772400" cy="857250"/>
          </a:xfrm>
        </p:spPr>
        <p:txBody>
          <a:bodyPr/>
          <a:lstStyle/>
          <a:p>
            <a:pPr eaLnBrk="1" hangingPunct="1"/>
            <a:r>
              <a:rPr kumimoji="0" lang="zh-CN" altLang="en-US" sz="4000" b="1">
                <a:latin typeface="楷体_GB2312" pitchFamily="49" charset="-122"/>
                <a:ea typeface="楷体_GB2312" pitchFamily="49" charset="-122"/>
              </a:rPr>
              <a:t>练    习</a:t>
            </a:r>
          </a:p>
        </p:txBody>
      </p:sp>
      <p:sp>
        <p:nvSpPr>
          <p:cNvPr id="201731" name="Rectangle 3"/>
          <p:cNvSpPr>
            <a:spLocks noGrp="1" noChangeArrowheads="1"/>
          </p:cNvSpPr>
          <p:nvPr>
            <p:ph type="body" idx="1"/>
          </p:nvPr>
        </p:nvSpPr>
        <p:spPr>
          <a:xfrm>
            <a:off x="481013" y="1497013"/>
            <a:ext cx="7772400" cy="1074737"/>
          </a:xfrm>
        </p:spPr>
        <p:txBody>
          <a:bodyPr>
            <a:normAutofit/>
          </a:bodyPr>
          <a:lstStyle/>
          <a:p>
            <a:pPr eaLnBrk="1" hangingPunct="1"/>
            <a:r>
              <a:rPr lang="zh-CN" altLang="en-US" dirty="0"/>
              <a:t>求文法：</a:t>
            </a:r>
            <a:r>
              <a:rPr lang="en-US" altLang="zh-CN" dirty="0"/>
              <a:t>S </a:t>
            </a:r>
            <a:r>
              <a:rPr lang="en-US" altLang="zh-CN" dirty="0">
                <a:sym typeface="Wingdings" pitchFamily="2" charset="2"/>
              </a:rPr>
              <a:t></a:t>
            </a:r>
            <a:r>
              <a:rPr lang="en-US" altLang="zh-CN" dirty="0" err="1">
                <a:sym typeface="Wingdings" pitchFamily="2" charset="2"/>
              </a:rPr>
              <a:t>aS</a:t>
            </a:r>
            <a:r>
              <a:rPr lang="en-US" altLang="zh-CN" dirty="0">
                <a:sym typeface="Wingdings" pitchFamily="2" charset="2"/>
              </a:rPr>
              <a:t> | </a:t>
            </a:r>
            <a:r>
              <a:rPr lang="en-US" altLang="zh-CN" dirty="0" err="1">
                <a:sym typeface="Wingdings" pitchFamily="2" charset="2"/>
              </a:rPr>
              <a:t>bS</a:t>
            </a:r>
            <a:r>
              <a:rPr lang="en-US" altLang="zh-CN" dirty="0">
                <a:sym typeface="Wingdings" pitchFamily="2" charset="2"/>
              </a:rPr>
              <a:t> |a </a:t>
            </a:r>
          </a:p>
          <a:p>
            <a:pPr eaLnBrk="1" hangingPunct="1">
              <a:buFontTx/>
              <a:buNone/>
            </a:pPr>
            <a:r>
              <a:rPr lang="en-US" altLang="zh-CN" dirty="0"/>
              <a:t>    </a:t>
            </a:r>
            <a:r>
              <a:rPr lang="zh-CN" altLang="en-US" dirty="0"/>
              <a:t>的</a:t>
            </a:r>
            <a:r>
              <a:rPr lang="en-US" altLang="zh-CN" dirty="0"/>
              <a:t>LR(0)</a:t>
            </a:r>
            <a:r>
              <a:rPr lang="zh-CN" altLang="en-US" dirty="0"/>
              <a:t>项目集</a:t>
            </a:r>
          </a:p>
        </p:txBody>
      </p:sp>
      <p:sp>
        <p:nvSpPr>
          <p:cNvPr id="131077" name="Rectangle 5"/>
          <p:cNvSpPr>
            <a:spLocks noChangeArrowheads="1"/>
          </p:cNvSpPr>
          <p:nvPr/>
        </p:nvSpPr>
        <p:spPr bwMode="auto">
          <a:xfrm>
            <a:off x="652463" y="2563813"/>
            <a:ext cx="1327249" cy="1200329"/>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a:t>
            </a:r>
            <a:r>
              <a:rPr lang="en-US" altLang="zh-CN" sz="2400" dirty="0" err="1">
                <a:ea typeface="华文行楷" pitchFamily="2" charset="-122"/>
                <a:sym typeface="Wingdings" pitchFamily="2" charset="2"/>
              </a:rPr>
              <a:t>aS</a:t>
            </a:r>
            <a:endParaRPr lang="en-US" altLang="zh-CN" sz="2400" dirty="0">
              <a:ea typeface="华文行楷" pitchFamily="2" charset="-122"/>
              <a:sym typeface="Wingdings" pitchFamily="2" charset="2"/>
            </a:endParaRPr>
          </a:p>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a:t>
            </a:r>
            <a:r>
              <a:rPr lang="en-US" altLang="zh-CN" sz="2400" dirty="0" err="1">
                <a:ea typeface="华文行楷" pitchFamily="2" charset="-122"/>
                <a:sym typeface="Wingdings" pitchFamily="2" charset="2"/>
              </a:rPr>
              <a:t>bS</a:t>
            </a:r>
            <a:r>
              <a:rPr lang="en-US" altLang="zh-CN" sz="2400" dirty="0">
                <a:ea typeface="华文行楷" pitchFamily="2" charset="-122"/>
                <a:sym typeface="Wingdings" pitchFamily="2" charset="2"/>
              </a:rPr>
              <a:t> </a:t>
            </a:r>
          </a:p>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a</a:t>
            </a:r>
          </a:p>
        </p:txBody>
      </p:sp>
      <p:sp>
        <p:nvSpPr>
          <p:cNvPr id="131078" name="Rectangle 6"/>
          <p:cNvSpPr>
            <a:spLocks noChangeArrowheads="1"/>
          </p:cNvSpPr>
          <p:nvPr/>
        </p:nvSpPr>
        <p:spPr bwMode="auto">
          <a:xfrm>
            <a:off x="2690813" y="2519363"/>
            <a:ext cx="5745162" cy="120032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 </a:t>
            </a:r>
            <a:r>
              <a:rPr lang="en-US" altLang="zh-CN" sz="2400" b="1" dirty="0">
                <a:ea typeface="华文行楷" pitchFamily="2" charset="-122"/>
              </a:rPr>
              <a:t>·</a:t>
            </a:r>
            <a:r>
              <a:rPr lang="en-US" altLang="zh-CN" sz="2400" dirty="0">
                <a:ea typeface="华文行楷" pitchFamily="2" charset="-122"/>
                <a:sym typeface="Wingdings" pitchFamily="2" charset="2"/>
              </a:rPr>
              <a:t> </a:t>
            </a:r>
            <a:r>
              <a:rPr lang="en-US" altLang="zh-CN" sz="2400" dirty="0" err="1">
                <a:ea typeface="华文行楷" pitchFamily="2" charset="-122"/>
                <a:sym typeface="Wingdings" pitchFamily="2" charset="2"/>
              </a:rPr>
              <a:t>aS</a:t>
            </a:r>
            <a:r>
              <a:rPr lang="en-US" altLang="zh-CN" sz="2400" dirty="0">
                <a:ea typeface="华文行楷" pitchFamily="2" charset="-122"/>
                <a:sym typeface="Wingdings" pitchFamily="2" charset="2"/>
              </a:rPr>
              <a:t>     </a:t>
            </a:r>
            <a:r>
              <a:rPr lang="en-US" altLang="zh-CN" sz="2400" dirty="0">
                <a:ea typeface="华文行楷" pitchFamily="2" charset="-122"/>
              </a:rPr>
              <a:t>S </a:t>
            </a:r>
            <a:r>
              <a:rPr lang="en-US" altLang="zh-CN" sz="2400" dirty="0">
                <a:ea typeface="华文行楷" pitchFamily="2" charset="-122"/>
                <a:sym typeface="Wingdings" pitchFamily="2" charset="2"/>
              </a:rPr>
              <a:t>a </a:t>
            </a:r>
            <a:r>
              <a:rPr lang="en-US" altLang="zh-CN" sz="2400" b="1" dirty="0">
                <a:ea typeface="华文行楷" pitchFamily="2" charset="-122"/>
              </a:rPr>
              <a:t>·</a:t>
            </a:r>
            <a:r>
              <a:rPr lang="en-US" altLang="zh-CN" sz="2400" dirty="0">
                <a:ea typeface="华文行楷" pitchFamily="2" charset="-122"/>
                <a:sym typeface="Wingdings" pitchFamily="2" charset="2"/>
              </a:rPr>
              <a:t> S      </a:t>
            </a:r>
            <a:r>
              <a:rPr lang="en-US" altLang="zh-CN" sz="2400" dirty="0" err="1">
                <a:ea typeface="华文行楷" pitchFamily="2" charset="-122"/>
              </a:rPr>
              <a:t>S</a:t>
            </a:r>
            <a:r>
              <a:rPr lang="en-US" altLang="zh-CN" sz="2400" dirty="0">
                <a:ea typeface="华文行楷" pitchFamily="2" charset="-122"/>
              </a:rPr>
              <a:t> </a:t>
            </a:r>
            <a:r>
              <a:rPr lang="en-US" altLang="zh-CN" sz="2400" dirty="0">
                <a:ea typeface="华文行楷" pitchFamily="2" charset="-122"/>
                <a:sym typeface="Wingdings" pitchFamily="2" charset="2"/>
              </a:rPr>
              <a:t></a:t>
            </a:r>
            <a:r>
              <a:rPr lang="en-US" altLang="zh-CN" sz="2400" dirty="0" err="1">
                <a:ea typeface="华文行楷" pitchFamily="2" charset="-122"/>
                <a:sym typeface="Wingdings" pitchFamily="2" charset="2"/>
              </a:rPr>
              <a:t>aS</a:t>
            </a:r>
            <a:r>
              <a:rPr lang="en-US" altLang="zh-CN" sz="2400" dirty="0">
                <a:ea typeface="华文行楷" pitchFamily="2" charset="-122"/>
                <a:sym typeface="Wingdings" pitchFamily="2" charset="2"/>
              </a:rPr>
              <a:t> </a:t>
            </a:r>
            <a:r>
              <a:rPr lang="en-US" altLang="zh-CN" sz="2400" b="1" dirty="0">
                <a:ea typeface="华文行楷" pitchFamily="2" charset="-122"/>
              </a:rPr>
              <a:t>·</a:t>
            </a:r>
            <a:endParaRPr lang="en-US" altLang="zh-CN" sz="2400" dirty="0">
              <a:ea typeface="华文行楷" pitchFamily="2" charset="-122"/>
              <a:sym typeface="Wingdings" pitchFamily="2" charset="2"/>
            </a:endParaRPr>
          </a:p>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 </a:t>
            </a:r>
            <a:r>
              <a:rPr lang="en-US" altLang="zh-CN" sz="2400" b="1" dirty="0">
                <a:ea typeface="华文行楷" pitchFamily="2" charset="-122"/>
              </a:rPr>
              <a:t>·</a:t>
            </a:r>
            <a:r>
              <a:rPr lang="en-US" altLang="zh-CN" sz="2400" dirty="0">
                <a:ea typeface="华文行楷" pitchFamily="2" charset="-122"/>
                <a:sym typeface="Wingdings" pitchFamily="2" charset="2"/>
              </a:rPr>
              <a:t> </a:t>
            </a:r>
            <a:r>
              <a:rPr lang="en-US" altLang="zh-CN" sz="2400" dirty="0" err="1">
                <a:ea typeface="华文行楷" pitchFamily="2" charset="-122"/>
                <a:sym typeface="Wingdings" pitchFamily="2" charset="2"/>
              </a:rPr>
              <a:t>bS</a:t>
            </a:r>
            <a:r>
              <a:rPr lang="en-US" altLang="zh-CN" sz="2400" dirty="0">
                <a:ea typeface="华文行楷" pitchFamily="2" charset="-122"/>
                <a:sym typeface="Wingdings" pitchFamily="2" charset="2"/>
              </a:rPr>
              <a:t>     </a:t>
            </a:r>
            <a:r>
              <a:rPr lang="en-US" altLang="zh-CN" sz="2400" dirty="0">
                <a:ea typeface="华文行楷" pitchFamily="2" charset="-122"/>
              </a:rPr>
              <a:t>S </a:t>
            </a:r>
            <a:r>
              <a:rPr lang="en-US" altLang="zh-CN" sz="2400" dirty="0">
                <a:ea typeface="华文行楷" pitchFamily="2" charset="-122"/>
                <a:sym typeface="Wingdings" pitchFamily="2" charset="2"/>
              </a:rPr>
              <a:t>b </a:t>
            </a:r>
            <a:r>
              <a:rPr lang="en-US" altLang="zh-CN" sz="2400" b="1" dirty="0">
                <a:ea typeface="华文行楷" pitchFamily="2" charset="-122"/>
              </a:rPr>
              <a:t>·</a:t>
            </a:r>
            <a:r>
              <a:rPr lang="en-US" altLang="zh-CN" sz="2400" dirty="0">
                <a:ea typeface="华文行楷" pitchFamily="2" charset="-122"/>
                <a:sym typeface="Wingdings" pitchFamily="2" charset="2"/>
              </a:rPr>
              <a:t> S      </a:t>
            </a:r>
            <a:r>
              <a:rPr lang="en-US" altLang="zh-CN" sz="2400" dirty="0" err="1">
                <a:ea typeface="华文行楷" pitchFamily="2" charset="-122"/>
              </a:rPr>
              <a:t>S</a:t>
            </a:r>
            <a:r>
              <a:rPr lang="en-US" altLang="zh-CN" sz="2400" dirty="0">
                <a:ea typeface="华文行楷" pitchFamily="2" charset="-122"/>
              </a:rPr>
              <a:t> </a:t>
            </a:r>
            <a:r>
              <a:rPr lang="en-US" altLang="zh-CN" sz="2400" dirty="0">
                <a:ea typeface="华文行楷" pitchFamily="2" charset="-122"/>
                <a:sym typeface="Wingdings" pitchFamily="2" charset="2"/>
              </a:rPr>
              <a:t></a:t>
            </a:r>
            <a:r>
              <a:rPr lang="en-US" altLang="zh-CN" sz="2400" dirty="0" err="1">
                <a:ea typeface="华文行楷" pitchFamily="2" charset="-122"/>
                <a:sym typeface="Wingdings" pitchFamily="2" charset="2"/>
              </a:rPr>
              <a:t>bS</a:t>
            </a:r>
            <a:r>
              <a:rPr lang="en-US" altLang="zh-CN" sz="2400" dirty="0">
                <a:ea typeface="华文行楷" pitchFamily="2" charset="-122"/>
                <a:sym typeface="Wingdings" pitchFamily="2" charset="2"/>
              </a:rPr>
              <a:t> </a:t>
            </a:r>
            <a:r>
              <a:rPr lang="en-US" altLang="zh-CN" sz="2400" b="1" dirty="0">
                <a:ea typeface="华文行楷" pitchFamily="2" charset="-122"/>
              </a:rPr>
              <a:t>·</a:t>
            </a:r>
            <a:endParaRPr lang="en-US" altLang="zh-CN" sz="2400" dirty="0">
              <a:ea typeface="华文行楷" pitchFamily="2" charset="-122"/>
              <a:sym typeface="Wingdings" pitchFamily="2" charset="2"/>
            </a:endParaRPr>
          </a:p>
          <a:p>
            <a:pPr eaLnBrk="1" hangingPunct="1">
              <a:spcBef>
                <a:spcPct val="0"/>
              </a:spcBef>
              <a:buFontTx/>
              <a:buNone/>
            </a:pPr>
            <a:r>
              <a:rPr lang="en-US" altLang="zh-CN" sz="2400" dirty="0">
                <a:ea typeface="华文行楷" pitchFamily="2" charset="-122"/>
              </a:rPr>
              <a:t>S </a:t>
            </a:r>
            <a:r>
              <a:rPr lang="en-US" altLang="zh-CN" sz="2400" dirty="0">
                <a:ea typeface="华文行楷" pitchFamily="2" charset="-122"/>
                <a:sym typeface="Wingdings" pitchFamily="2" charset="2"/>
              </a:rPr>
              <a:t> </a:t>
            </a:r>
            <a:r>
              <a:rPr lang="en-US" altLang="zh-CN" sz="2400" b="1" dirty="0">
                <a:ea typeface="华文行楷" pitchFamily="2" charset="-122"/>
              </a:rPr>
              <a:t>·</a:t>
            </a:r>
            <a:r>
              <a:rPr lang="en-US" altLang="zh-CN" sz="2400" dirty="0">
                <a:ea typeface="华文行楷" pitchFamily="2" charset="-122"/>
                <a:sym typeface="Wingdings" pitchFamily="2" charset="2"/>
              </a:rPr>
              <a:t> a       </a:t>
            </a:r>
            <a:r>
              <a:rPr lang="en-US" altLang="zh-CN" sz="2400" dirty="0">
                <a:ea typeface="华文行楷" pitchFamily="2" charset="-122"/>
              </a:rPr>
              <a:t>S </a:t>
            </a:r>
            <a:r>
              <a:rPr lang="en-US" altLang="zh-CN" sz="2400" dirty="0">
                <a:ea typeface="华文行楷" pitchFamily="2" charset="-122"/>
                <a:sym typeface="Wingdings" pitchFamily="2" charset="2"/>
              </a:rPr>
              <a:t> a </a:t>
            </a:r>
            <a:r>
              <a:rPr lang="en-US" altLang="zh-CN" sz="2400" b="1" dirty="0">
                <a:ea typeface="华文行楷" pitchFamily="2" charset="-122"/>
              </a:rPr>
              <a:t>·</a:t>
            </a:r>
          </a:p>
        </p:txBody>
      </p:sp>
    </p:spTree>
    <p:extLst>
      <p:ext uri="{BB962C8B-B14F-4D97-AF65-F5344CB8AC3E}">
        <p14:creationId xmlns:p14="http://schemas.microsoft.com/office/powerpoint/2010/main" val="328601401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3107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310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077" grpId="0" animBg="1" autoUpdateAnimBg="0"/>
      <p:bldP spid="131078" grpId="0" animBg="1" autoUpdateAnimBg="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2"/>
          <p:cNvSpPr txBox="1">
            <a:spLocks noChangeArrowheads="1"/>
          </p:cNvSpPr>
          <p:nvPr/>
        </p:nvSpPr>
        <p:spPr bwMode="auto">
          <a:xfrm>
            <a:off x="336550" y="947172"/>
            <a:ext cx="8569325" cy="2055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2200" b="1" dirty="0">
                <a:latin typeface="宋体" panose="02010600030101010101" pitchFamily="2" charset="-122"/>
              </a:rPr>
              <a:t>后继符号有多种，</a:t>
            </a:r>
            <a:r>
              <a:rPr lang="zh-CN" altLang="en-US" sz="2200" b="1" dirty="0">
                <a:solidFill>
                  <a:schemeClr val="accent2"/>
                </a:solidFill>
                <a:latin typeface="宋体" panose="02010600030101010101" pitchFamily="2" charset="-122"/>
              </a:rPr>
              <a:t>据此将项目分为多种：</a:t>
            </a:r>
          </a:p>
          <a:p>
            <a:pPr eaLnBrk="1" hangingPunct="1">
              <a:buFontTx/>
              <a:buAutoNum type="arabicParenBoth"/>
            </a:pPr>
            <a:r>
              <a:rPr lang="zh-CN" altLang="en-US" sz="2200" b="1" dirty="0">
                <a:solidFill>
                  <a:schemeClr val="accent2"/>
                </a:solidFill>
                <a:latin typeface="宋体" panose="02010600030101010101" pitchFamily="2" charset="-122"/>
                <a:sym typeface="Symbol" pitchFamily="18" charset="2"/>
              </a:rPr>
              <a:t>移进项目：</a:t>
            </a:r>
            <a:r>
              <a:rPr lang="zh-CN" altLang="en-US" sz="2200" dirty="0">
                <a:latin typeface="宋体" panose="02010600030101010101" pitchFamily="2" charset="-122"/>
              </a:rPr>
              <a:t>后继符号为终结符： </a:t>
            </a:r>
            <a:r>
              <a:rPr lang="en-US" altLang="zh-CN" sz="2200" dirty="0">
                <a:latin typeface="宋体" panose="02010600030101010101" pitchFamily="2" charset="-122"/>
              </a:rPr>
              <a:t>A</a:t>
            </a:r>
            <a:r>
              <a:rPr lang="en-US" altLang="zh-CN" sz="2200" dirty="0">
                <a:latin typeface="宋体" panose="02010600030101010101" pitchFamily="2" charset="-122"/>
                <a:sym typeface="Symbol" pitchFamily="18" charset="2"/>
              </a:rPr>
              <a:t></a:t>
            </a:r>
            <a:r>
              <a:rPr lang="el-GR" altLang="zh-CN" sz="2200" dirty="0">
                <a:sym typeface="Symbol" pitchFamily="18" charset="2"/>
              </a:rPr>
              <a:t>α</a:t>
            </a:r>
            <a:r>
              <a:rPr lang="en-US" altLang="zh-CN" sz="2200" dirty="0">
                <a:latin typeface="宋体" panose="02010600030101010101" pitchFamily="2" charset="-122"/>
                <a:sym typeface="Symbol" pitchFamily="18" charset="2"/>
              </a:rPr>
              <a:t>·a</a:t>
            </a:r>
            <a:r>
              <a:rPr lang="el-GR" altLang="zh-CN" sz="2200" dirty="0">
                <a:sym typeface="Symbol" pitchFamily="18" charset="2"/>
              </a:rPr>
              <a:t>β</a:t>
            </a:r>
            <a:endParaRPr lang="en-US" altLang="zh-CN" sz="2200" b="1" dirty="0">
              <a:latin typeface="宋体" panose="02010600030101010101" pitchFamily="2" charset="-122"/>
              <a:sym typeface="Symbol" pitchFamily="18" charset="2"/>
            </a:endParaRPr>
          </a:p>
          <a:p>
            <a:pPr eaLnBrk="1" hangingPunct="1">
              <a:buFontTx/>
              <a:buAutoNum type="arabicParenBoth"/>
            </a:pPr>
            <a:r>
              <a:rPr lang="zh-CN" altLang="en-US" sz="2200" b="1" dirty="0">
                <a:solidFill>
                  <a:schemeClr val="accent2"/>
                </a:solidFill>
                <a:latin typeface="宋体" panose="02010600030101010101" pitchFamily="2" charset="-122"/>
                <a:sym typeface="Symbol" pitchFamily="18" charset="2"/>
              </a:rPr>
              <a:t>待约项目：</a:t>
            </a:r>
            <a:r>
              <a:rPr lang="zh-CN" altLang="en-US" sz="2200" dirty="0">
                <a:latin typeface="宋体" panose="02010600030101010101" pitchFamily="2" charset="-122"/>
              </a:rPr>
              <a:t>后继符号为非终结符：</a:t>
            </a:r>
            <a:r>
              <a:rPr lang="en-US" altLang="zh-CN" sz="2200" dirty="0">
                <a:latin typeface="宋体" panose="02010600030101010101" pitchFamily="2" charset="-122"/>
              </a:rPr>
              <a:t>A</a:t>
            </a:r>
            <a:r>
              <a:rPr lang="en-US" altLang="zh-CN" sz="2200" dirty="0">
                <a:latin typeface="宋体" panose="02010600030101010101" pitchFamily="2" charset="-122"/>
                <a:sym typeface="Symbol" pitchFamily="18" charset="2"/>
              </a:rPr>
              <a:t></a:t>
            </a:r>
            <a:r>
              <a:rPr lang="el-GR" altLang="zh-CN" sz="2200" dirty="0">
                <a:latin typeface="宋体" pitchFamily="2" charset="-122"/>
                <a:sym typeface="Symbol" pitchFamily="18" charset="2"/>
              </a:rPr>
              <a:t>α</a:t>
            </a:r>
            <a:r>
              <a:rPr lang="en-US" altLang="zh-CN" sz="2200" dirty="0">
                <a:latin typeface="宋体" panose="02010600030101010101" pitchFamily="2" charset="-122"/>
                <a:sym typeface="Symbol" pitchFamily="18" charset="2"/>
              </a:rPr>
              <a:t>·B</a:t>
            </a:r>
            <a:r>
              <a:rPr lang="el-GR" altLang="zh-CN" sz="2200" dirty="0">
                <a:sym typeface="Symbol" pitchFamily="18" charset="2"/>
              </a:rPr>
              <a:t>β</a:t>
            </a:r>
            <a:endParaRPr lang="en-US" altLang="zh-CN" sz="2200" b="1" dirty="0">
              <a:latin typeface="宋体" panose="02010600030101010101" pitchFamily="2" charset="-122"/>
              <a:sym typeface="Symbol" pitchFamily="18" charset="2"/>
            </a:endParaRPr>
          </a:p>
          <a:p>
            <a:pPr eaLnBrk="1" hangingPunct="1">
              <a:buFontTx/>
              <a:buAutoNum type="arabicParenBoth"/>
            </a:pPr>
            <a:r>
              <a:rPr lang="zh-CN" altLang="en-US" sz="2200" b="1" dirty="0">
                <a:solidFill>
                  <a:schemeClr val="accent2"/>
                </a:solidFill>
                <a:latin typeface="宋体" panose="02010600030101010101" pitchFamily="2" charset="-122"/>
                <a:sym typeface="Symbol" pitchFamily="18" charset="2"/>
              </a:rPr>
              <a:t>归约项目：</a:t>
            </a:r>
            <a:r>
              <a:rPr lang="zh-CN" altLang="en-US" sz="2200" dirty="0">
                <a:latin typeface="宋体" panose="02010600030101010101" pitchFamily="2" charset="-122"/>
              </a:rPr>
              <a:t>后继符号为空：即圆点在最右边</a:t>
            </a:r>
            <a:r>
              <a:rPr lang="en-US" altLang="zh-CN" sz="2200" dirty="0">
                <a:latin typeface="宋体" panose="02010600030101010101" pitchFamily="2" charset="-122"/>
              </a:rPr>
              <a:t>A</a:t>
            </a:r>
            <a:r>
              <a:rPr lang="en-US" altLang="zh-CN" sz="2200" dirty="0">
                <a:latin typeface="宋体" panose="02010600030101010101" pitchFamily="2" charset="-122"/>
                <a:sym typeface="Symbol" pitchFamily="18" charset="2"/>
              </a:rPr>
              <a:t></a:t>
            </a:r>
            <a:r>
              <a:rPr lang="el-GR" altLang="zh-CN" sz="2200" dirty="0">
                <a:sym typeface="Symbol" pitchFamily="18" charset="2"/>
              </a:rPr>
              <a:t>α</a:t>
            </a:r>
            <a:r>
              <a:rPr lang="en-US" altLang="zh-CN" sz="2200" dirty="0">
                <a:latin typeface="宋体" panose="02010600030101010101" pitchFamily="2" charset="-122"/>
                <a:sym typeface="Symbol" pitchFamily="18" charset="2"/>
              </a:rPr>
              <a:t>· </a:t>
            </a:r>
            <a:endParaRPr lang="en-US" altLang="zh-CN" sz="2200" b="1" dirty="0">
              <a:latin typeface="宋体" panose="02010600030101010101" pitchFamily="2" charset="-122"/>
              <a:sym typeface="Symbol" pitchFamily="18" charset="2"/>
            </a:endParaRPr>
          </a:p>
          <a:p>
            <a:pPr eaLnBrk="1" hangingPunct="1">
              <a:buFontTx/>
              <a:buAutoNum type="arabicParenBoth"/>
            </a:pPr>
            <a:r>
              <a:rPr lang="zh-CN" altLang="en-US" sz="2200" b="1" dirty="0">
                <a:solidFill>
                  <a:schemeClr val="accent2"/>
                </a:solidFill>
                <a:latin typeface="宋体" panose="02010600030101010101" pitchFamily="2" charset="-122"/>
                <a:sym typeface="Symbol" pitchFamily="18" charset="2"/>
              </a:rPr>
              <a:t>接受项目：</a:t>
            </a:r>
            <a:r>
              <a:rPr lang="zh-CN" altLang="en-US" sz="2200" dirty="0">
                <a:latin typeface="宋体" panose="02010600030101010101" pitchFamily="2" charset="-122"/>
              </a:rPr>
              <a:t>归约项目的左边是文法开始符号</a:t>
            </a:r>
            <a:r>
              <a:rPr lang="en-US" altLang="zh-CN" sz="2200" dirty="0">
                <a:latin typeface="宋体" panose="02010600030101010101" pitchFamily="2" charset="-122"/>
              </a:rPr>
              <a:t>S</a:t>
            </a:r>
            <a:r>
              <a:rPr lang="en-US" altLang="zh-CN" sz="2200" dirty="0">
                <a:latin typeface="宋体" panose="02010600030101010101" pitchFamily="2" charset="-122"/>
                <a:sym typeface="Symbol" pitchFamily="18" charset="2"/>
              </a:rPr>
              <a:t></a:t>
            </a:r>
            <a:r>
              <a:rPr lang="el-GR" altLang="zh-CN" sz="2200" dirty="0">
                <a:sym typeface="Symbol" pitchFamily="18" charset="2"/>
              </a:rPr>
              <a:t>α</a:t>
            </a:r>
            <a:r>
              <a:rPr lang="en-US" altLang="zh-CN" sz="2200" dirty="0">
                <a:latin typeface="宋体" panose="02010600030101010101" pitchFamily="2" charset="-122"/>
                <a:sym typeface="Symbol" pitchFamily="18" charset="2"/>
              </a:rPr>
              <a:t>·</a:t>
            </a:r>
          </a:p>
        </p:txBody>
      </p:sp>
      <p:sp>
        <p:nvSpPr>
          <p:cNvPr id="202755" name="Rectangle 4"/>
          <p:cNvSpPr>
            <a:spLocks noChangeArrowheads="1"/>
          </p:cNvSpPr>
          <p:nvPr/>
        </p:nvSpPr>
        <p:spPr bwMode="auto">
          <a:xfrm>
            <a:off x="215900" y="262959"/>
            <a:ext cx="87122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pPr>
            <a:r>
              <a:rPr lang="zh-CN" altLang="en-US" sz="2200" b="1" dirty="0">
                <a:solidFill>
                  <a:schemeClr val="accent2"/>
                </a:solidFill>
                <a:latin typeface="宋体" panose="02010600030101010101" pitchFamily="2" charset="-122"/>
              </a:rPr>
              <a:t>后继符号</a:t>
            </a:r>
            <a:r>
              <a:rPr lang="zh-CN" altLang="en-US" sz="2200" b="1" dirty="0">
                <a:latin typeface="宋体" panose="02010600030101010101" pitchFamily="2" charset="-122"/>
              </a:rPr>
              <a:t>：</a:t>
            </a:r>
            <a:r>
              <a:rPr lang="zh-CN" altLang="en-US" sz="2200" dirty="0">
                <a:latin typeface="宋体" panose="02010600030101010101" pitchFamily="2" charset="-122"/>
              </a:rPr>
              <a:t>在项目中紧跟在符号“</a:t>
            </a:r>
            <a:r>
              <a:rPr lang="en-US" altLang="zh-CN" sz="2200" dirty="0">
                <a:latin typeface="宋体" panose="02010600030101010101" pitchFamily="2" charset="-122"/>
              </a:rPr>
              <a:t>·”</a:t>
            </a:r>
            <a:r>
              <a:rPr lang="zh-CN" altLang="en-US" sz="2200" dirty="0">
                <a:latin typeface="宋体" panose="02010600030101010101" pitchFamily="2" charset="-122"/>
              </a:rPr>
              <a:t>后面的符号称为该项目的后继符号。 表示下一时刻遇到的符号。</a:t>
            </a:r>
            <a:endParaRPr lang="zh-CN" altLang="el-GR" sz="2200" dirty="0">
              <a:latin typeface="宋体" panose="02010600030101010101" pitchFamily="2" charset="-122"/>
            </a:endParaRPr>
          </a:p>
        </p:txBody>
      </p:sp>
      <p:sp>
        <p:nvSpPr>
          <p:cNvPr id="202756" name="Rectangle 5"/>
          <p:cNvSpPr>
            <a:spLocks noChangeArrowheads="1"/>
          </p:cNvSpPr>
          <p:nvPr/>
        </p:nvSpPr>
        <p:spPr bwMode="auto">
          <a:xfrm>
            <a:off x="336551" y="3003798"/>
            <a:ext cx="8339905"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dirty="0">
                <a:solidFill>
                  <a:schemeClr val="accent2"/>
                </a:solidFill>
                <a:latin typeface="宋体" panose="02010600030101010101" pitchFamily="2" charset="-122"/>
                <a:sym typeface="Symbol" pitchFamily="18" charset="2"/>
              </a:rPr>
              <a:t>后继符号集：</a:t>
            </a:r>
            <a:r>
              <a:rPr lang="zh-CN" altLang="en-US" sz="2200" dirty="0">
                <a:latin typeface="宋体" panose="02010600030101010101" pitchFamily="2" charset="-122"/>
                <a:sym typeface="Symbol" pitchFamily="18" charset="2"/>
              </a:rPr>
              <a:t>项目集中各项目的后继符号所组成的集合称为后继符号集。</a:t>
            </a:r>
          </a:p>
          <a:p>
            <a:pPr eaLnBrk="1" hangingPunct="1">
              <a:spcBef>
                <a:spcPct val="0"/>
              </a:spcBef>
              <a:buFontTx/>
              <a:buNone/>
            </a:pPr>
            <a:r>
              <a:rPr lang="zh-CN" altLang="en-US" sz="2200" dirty="0">
                <a:latin typeface="宋体" panose="02010600030101010101" pitchFamily="2" charset="-122"/>
                <a:sym typeface="Symbol" pitchFamily="18" charset="2"/>
              </a:rPr>
              <a:t>  项目集｛ </a:t>
            </a:r>
            <a:r>
              <a:rPr lang="en-US" altLang="zh-CN" sz="2200" dirty="0">
                <a:latin typeface="宋体" panose="02010600030101010101" pitchFamily="2" charset="-122"/>
                <a:sym typeface="Symbol" pitchFamily="18" charset="2"/>
              </a:rPr>
              <a:t>EE</a:t>
            </a:r>
            <a:r>
              <a:rPr lang="en-US" altLang="zh-CN" sz="2200" dirty="0">
                <a:solidFill>
                  <a:schemeClr val="accent2"/>
                </a:solidFill>
                <a:latin typeface="宋体" panose="02010600030101010101" pitchFamily="2" charset="-122"/>
                <a:sym typeface="Symbol" pitchFamily="18" charset="2"/>
              </a:rPr>
              <a:t>·</a:t>
            </a:r>
            <a:r>
              <a:rPr lang="zh-CN" altLang="en-US" sz="2200" dirty="0">
                <a:latin typeface="宋体" panose="02010600030101010101" pitchFamily="2" charset="-122"/>
                <a:sym typeface="Symbol" pitchFamily="18" charset="2"/>
              </a:rPr>
              <a:t>＋</a:t>
            </a:r>
            <a:r>
              <a:rPr lang="en-US" altLang="zh-CN" sz="2200" dirty="0">
                <a:latin typeface="宋体" panose="02010600030101010101" pitchFamily="2" charset="-122"/>
                <a:sym typeface="Symbol" pitchFamily="18" charset="2"/>
              </a:rPr>
              <a:t>T,F</a:t>
            </a:r>
            <a:r>
              <a:rPr lang="en-US" altLang="zh-CN" sz="2200" dirty="0">
                <a:solidFill>
                  <a:schemeClr val="accent2"/>
                </a:solidFill>
                <a:latin typeface="宋体" panose="02010600030101010101" pitchFamily="2" charset="-122"/>
                <a:sym typeface="Symbol" pitchFamily="18" charset="2"/>
              </a:rPr>
              <a:t>·</a:t>
            </a:r>
            <a:r>
              <a:rPr lang="en-US" altLang="zh-CN" sz="2200" dirty="0" err="1">
                <a:latin typeface="宋体" panose="02010600030101010101" pitchFamily="2" charset="-122"/>
                <a:sym typeface="Symbol" pitchFamily="18" charset="2"/>
              </a:rPr>
              <a:t>i</a:t>
            </a:r>
            <a:r>
              <a:rPr lang="zh-CN" altLang="en-US" sz="2200" dirty="0">
                <a:latin typeface="宋体" panose="02010600030101010101" pitchFamily="2" charset="-122"/>
                <a:sym typeface="Symbol" pitchFamily="18" charset="2"/>
              </a:rPr>
              <a:t>｝的后继符号集为｛</a:t>
            </a:r>
            <a:r>
              <a:rPr lang="zh-CN" altLang="en-US" sz="2200" dirty="0">
                <a:solidFill>
                  <a:srgbClr val="FF0000"/>
                </a:solidFill>
                <a:latin typeface="宋体" panose="02010600030101010101" pitchFamily="2" charset="-122"/>
                <a:sym typeface="Symbol" pitchFamily="18" charset="2"/>
              </a:rPr>
              <a:t>＋</a:t>
            </a:r>
            <a:r>
              <a:rPr lang="en-US" altLang="zh-CN" sz="2200" dirty="0">
                <a:solidFill>
                  <a:srgbClr val="FF0000"/>
                </a:solidFill>
                <a:latin typeface="宋体" panose="02010600030101010101" pitchFamily="2" charset="-122"/>
                <a:sym typeface="Symbol" pitchFamily="18" charset="2"/>
              </a:rPr>
              <a:t>,</a:t>
            </a:r>
            <a:r>
              <a:rPr lang="en-US" altLang="zh-CN" sz="2200" dirty="0" err="1">
                <a:solidFill>
                  <a:srgbClr val="FF0000"/>
                </a:solidFill>
                <a:latin typeface="宋体" panose="02010600030101010101" pitchFamily="2" charset="-122"/>
                <a:sym typeface="Symbol" pitchFamily="18" charset="2"/>
              </a:rPr>
              <a:t>i</a:t>
            </a:r>
            <a:r>
              <a:rPr lang="zh-CN" altLang="en-US" sz="2200" dirty="0">
                <a:latin typeface="宋体" panose="02010600030101010101" pitchFamily="2" charset="-122"/>
                <a:sym typeface="Symbol" pitchFamily="18" charset="2"/>
              </a:rPr>
              <a:t>｝</a:t>
            </a:r>
          </a:p>
        </p:txBody>
      </p:sp>
      <p:sp>
        <p:nvSpPr>
          <p:cNvPr id="5" name="Rectangle 5"/>
          <p:cNvSpPr>
            <a:spLocks noChangeArrowheads="1"/>
          </p:cNvSpPr>
          <p:nvPr/>
        </p:nvSpPr>
        <p:spPr bwMode="auto">
          <a:xfrm>
            <a:off x="336551" y="4047828"/>
            <a:ext cx="8339905" cy="110799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zh-CN" altLang="en-US" sz="2200" b="1" dirty="0">
                <a:solidFill>
                  <a:schemeClr val="accent2"/>
                </a:solidFill>
                <a:latin typeface="宋体" panose="02010600030101010101" pitchFamily="2" charset="-122"/>
                <a:sym typeface="Symbol" pitchFamily="18" charset="2"/>
              </a:rPr>
              <a:t>后继项目：</a:t>
            </a:r>
            <a:r>
              <a:rPr lang="zh-CN" altLang="en-US" sz="2200" dirty="0">
                <a:latin typeface="宋体" panose="02010600030101010101" pitchFamily="2" charset="-122"/>
                <a:sym typeface="Symbol" pitchFamily="18" charset="2"/>
              </a:rPr>
              <a:t>如果项目</a:t>
            </a:r>
            <a:r>
              <a:rPr lang="en-US" altLang="zh-CN" sz="2200" dirty="0">
                <a:latin typeface="宋体" panose="02010600030101010101" pitchFamily="2" charset="-122"/>
                <a:sym typeface="Symbol" pitchFamily="18" charset="2"/>
              </a:rPr>
              <a:t>j</a:t>
            </a:r>
            <a:r>
              <a:rPr lang="zh-CN" altLang="en-US" sz="2200" dirty="0">
                <a:latin typeface="宋体" panose="02010600030101010101" pitchFamily="2" charset="-122"/>
                <a:sym typeface="Symbol" pitchFamily="18" charset="2"/>
              </a:rPr>
              <a:t>和项目</a:t>
            </a:r>
            <a:r>
              <a:rPr lang="en-US" altLang="zh-CN" sz="2200" dirty="0" err="1">
                <a:latin typeface="宋体" panose="02010600030101010101" pitchFamily="2" charset="-122"/>
                <a:sym typeface="Symbol" pitchFamily="18" charset="2"/>
              </a:rPr>
              <a:t>i</a:t>
            </a:r>
            <a:r>
              <a:rPr lang="zh-CN" altLang="en-US" sz="2200" dirty="0">
                <a:latin typeface="宋体" panose="02010600030101010101" pitchFamily="2" charset="-122"/>
                <a:sym typeface="Symbol" pitchFamily="18" charset="2"/>
              </a:rPr>
              <a:t>出自</a:t>
            </a:r>
            <a:r>
              <a:rPr lang="zh-CN" altLang="en-US" sz="2200" dirty="0">
                <a:solidFill>
                  <a:srgbClr val="FF0000"/>
                </a:solidFill>
                <a:latin typeface="宋体" panose="02010600030101010101" pitchFamily="2" charset="-122"/>
                <a:sym typeface="Symbol" pitchFamily="18" charset="2"/>
              </a:rPr>
              <a:t>同一个</a:t>
            </a:r>
            <a:r>
              <a:rPr lang="zh-CN" altLang="en-US" sz="2200" dirty="0">
                <a:latin typeface="宋体" panose="02010600030101010101" pitchFamily="2" charset="-122"/>
                <a:sym typeface="Symbol" pitchFamily="18" charset="2"/>
              </a:rPr>
              <a:t>产生式，项目</a:t>
            </a:r>
            <a:r>
              <a:rPr lang="en-US" altLang="zh-CN" sz="2200" dirty="0">
                <a:latin typeface="宋体" panose="02010600030101010101" pitchFamily="2" charset="-122"/>
                <a:sym typeface="Symbol" pitchFamily="18" charset="2"/>
              </a:rPr>
              <a:t>j</a:t>
            </a:r>
            <a:r>
              <a:rPr lang="zh-CN" altLang="en-US" sz="2200" dirty="0"/>
              <a:t>的</a:t>
            </a:r>
            <a:r>
              <a:rPr lang="zh-CN" altLang="en-US" sz="2200" dirty="0">
                <a:latin typeface="宋体" panose="02010600030101010101" pitchFamily="2" charset="-122"/>
                <a:sym typeface="Symbol" pitchFamily="18" charset="2"/>
              </a:rPr>
              <a:t>“</a:t>
            </a:r>
            <a:r>
              <a:rPr lang="en-US" altLang="zh-CN" sz="2200" dirty="0">
                <a:latin typeface="宋体" panose="02010600030101010101" pitchFamily="2" charset="-122"/>
              </a:rPr>
              <a:t>·</a:t>
            </a:r>
            <a:r>
              <a:rPr lang="zh-CN" altLang="en-US" sz="2200" dirty="0">
                <a:latin typeface="宋体" panose="02010600030101010101" pitchFamily="2" charset="-122"/>
                <a:sym typeface="Symbol" pitchFamily="18" charset="2"/>
              </a:rPr>
              <a:t>”</a:t>
            </a:r>
            <a:r>
              <a:rPr lang="zh-CN" altLang="en-US" sz="2200" dirty="0"/>
              <a:t>只落后于项目</a:t>
            </a:r>
            <a:r>
              <a:rPr lang="en-US" altLang="zh-CN" sz="2200" dirty="0" err="1"/>
              <a:t>i</a:t>
            </a:r>
            <a:r>
              <a:rPr lang="zh-CN" altLang="en-US" sz="2200" dirty="0">
                <a:solidFill>
                  <a:srgbClr val="FF0000"/>
                </a:solidFill>
              </a:rPr>
              <a:t>一个位置</a:t>
            </a:r>
            <a:r>
              <a:rPr lang="zh-CN" altLang="en-US" sz="2200" dirty="0"/>
              <a:t>，</a:t>
            </a:r>
            <a:r>
              <a:rPr lang="en-US" altLang="zh-CN" sz="2200" dirty="0"/>
              <a:t>j</a:t>
            </a:r>
            <a:r>
              <a:rPr lang="zh-CN" altLang="en-US" sz="2200" dirty="0"/>
              <a:t>称为</a:t>
            </a:r>
            <a:r>
              <a:rPr lang="en-US" altLang="zh-CN" sz="2200" dirty="0" err="1"/>
              <a:t>i</a:t>
            </a:r>
            <a:r>
              <a:rPr lang="zh-CN" altLang="en-US" sz="2200" dirty="0"/>
              <a:t>的后继项目</a:t>
            </a:r>
            <a:r>
              <a:rPr lang="zh-CN" altLang="en-US" sz="2200" dirty="0">
                <a:latin typeface="宋体" panose="02010600030101010101" pitchFamily="2" charset="-122"/>
                <a:sym typeface="Symbol" pitchFamily="18" charset="2"/>
              </a:rPr>
              <a:t>。</a:t>
            </a:r>
            <a:endParaRPr lang="en-US" altLang="zh-CN" sz="2200" dirty="0">
              <a:latin typeface="宋体" panose="02010600030101010101" pitchFamily="2" charset="-122"/>
              <a:sym typeface="Symbol" pitchFamily="18" charset="2"/>
            </a:endParaRPr>
          </a:p>
          <a:p>
            <a:pPr>
              <a:spcBef>
                <a:spcPct val="0"/>
              </a:spcBef>
              <a:buNone/>
            </a:pPr>
            <a:endParaRPr lang="zh-CN" altLang="en-US" sz="2200" dirty="0">
              <a:latin typeface="宋体" panose="02010600030101010101" pitchFamily="2" charset="-122"/>
              <a:sym typeface="Symbol" pitchFamily="18" charset="2"/>
            </a:endParaRPr>
          </a:p>
        </p:txBody>
      </p:sp>
      <p:sp>
        <p:nvSpPr>
          <p:cNvPr id="2" name="矩形 1"/>
          <p:cNvSpPr/>
          <p:nvPr/>
        </p:nvSpPr>
        <p:spPr>
          <a:xfrm>
            <a:off x="683568" y="4738092"/>
            <a:ext cx="5115503" cy="430887"/>
          </a:xfrm>
          <a:prstGeom prst="rect">
            <a:avLst/>
          </a:prstGeom>
        </p:spPr>
        <p:txBody>
          <a:bodyPr wrap="none">
            <a:spAutoFit/>
          </a:bodyPr>
          <a:lstStyle/>
          <a:p>
            <a:r>
              <a:rPr lang="zh-CN" altLang="en-US" sz="2200" dirty="0">
                <a:latin typeface="宋体" panose="02010600030101010101" pitchFamily="2" charset="-122"/>
                <a:sym typeface="Symbol" pitchFamily="18" charset="2"/>
              </a:rPr>
              <a:t> 如项目</a:t>
            </a:r>
            <a:r>
              <a:rPr lang="en-US" altLang="zh-CN" sz="2200" dirty="0">
                <a:latin typeface="宋体" panose="02010600030101010101" pitchFamily="2" charset="-122"/>
                <a:sym typeface="Symbol" pitchFamily="18" charset="2"/>
              </a:rPr>
              <a:t>i: EE</a:t>
            </a:r>
            <a:r>
              <a:rPr lang="en-US" altLang="zh-CN" sz="2200" dirty="0">
                <a:solidFill>
                  <a:schemeClr val="accent2"/>
                </a:solidFill>
                <a:latin typeface="宋体" panose="02010600030101010101" pitchFamily="2" charset="-122"/>
                <a:sym typeface="Symbol" pitchFamily="18" charset="2"/>
              </a:rPr>
              <a:t>·</a:t>
            </a:r>
            <a:r>
              <a:rPr lang="en-US" altLang="zh-CN" sz="2200" b="1" dirty="0">
                <a:latin typeface="宋体" panose="02010600030101010101" pitchFamily="2" charset="-122"/>
                <a:sym typeface="Symbol" pitchFamily="18" charset="2"/>
              </a:rPr>
              <a:t>+</a:t>
            </a:r>
            <a:r>
              <a:rPr lang="en-US" altLang="zh-CN" sz="2200" dirty="0">
                <a:latin typeface="宋体" panose="02010600030101010101" pitchFamily="2" charset="-122"/>
                <a:sym typeface="Symbol" pitchFamily="18" charset="2"/>
              </a:rPr>
              <a:t>T  </a:t>
            </a:r>
            <a:r>
              <a:rPr lang="zh-CN" altLang="en-US" sz="2200" dirty="0">
                <a:latin typeface="宋体" panose="02010600030101010101" pitchFamily="2" charset="-122"/>
                <a:sym typeface="Symbol" pitchFamily="18" charset="2"/>
              </a:rPr>
              <a:t>和 </a:t>
            </a:r>
            <a:r>
              <a:rPr lang="en-US" altLang="zh-CN" sz="2200" dirty="0">
                <a:latin typeface="宋体" panose="02010600030101010101" pitchFamily="2" charset="-122"/>
                <a:sym typeface="Symbol" pitchFamily="18" charset="2"/>
              </a:rPr>
              <a:t>j: EE</a:t>
            </a:r>
            <a:r>
              <a:rPr lang="en-US" altLang="zh-CN" sz="2200" b="1" dirty="0">
                <a:latin typeface="宋体" panose="02010600030101010101" pitchFamily="2" charset="-122"/>
                <a:sym typeface="Symbol" pitchFamily="18" charset="2"/>
              </a:rPr>
              <a:t>+</a:t>
            </a:r>
            <a:r>
              <a:rPr lang="en-US" altLang="zh-CN" sz="2200" dirty="0">
                <a:solidFill>
                  <a:schemeClr val="accent2"/>
                </a:solidFill>
                <a:latin typeface="宋体" panose="02010600030101010101" pitchFamily="2" charset="-122"/>
                <a:sym typeface="Symbol" pitchFamily="18" charset="2"/>
              </a:rPr>
              <a:t>·</a:t>
            </a:r>
            <a:r>
              <a:rPr lang="en-US" altLang="zh-CN" sz="2200" dirty="0">
                <a:latin typeface="宋体" panose="02010600030101010101" pitchFamily="2" charset="-122"/>
                <a:sym typeface="Symbol" pitchFamily="18" charset="2"/>
              </a:rPr>
              <a:t>T </a:t>
            </a:r>
            <a:endParaRPr lang="zh-CN" altLang="en-US" sz="2200" dirty="0"/>
          </a:p>
        </p:txBody>
      </p:sp>
    </p:spTree>
    <p:extLst>
      <p:ext uri="{BB962C8B-B14F-4D97-AF65-F5344CB8AC3E}">
        <p14:creationId xmlns:p14="http://schemas.microsoft.com/office/powerpoint/2010/main" val="2270637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457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4578">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4578">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4578">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4578">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275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build="p" autoUpdateAnimBg="0"/>
      <p:bldP spid="202756" grpId="0"/>
      <p:bldP spid="5" grpId="0" animBg="1"/>
      <p:bldP spid="2"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6300123" cy="707886"/>
          </a:xfrm>
          <a:prstGeom prst="rect">
            <a:avLst/>
          </a:prstGeom>
        </p:spPr>
        <p:txBody>
          <a:bodyPr wrap="none">
            <a:spAutoFit/>
          </a:bodyPr>
          <a:lstStyle/>
          <a:p>
            <a:r>
              <a:rPr lang="zh-CN" altLang="en-US" sz="4000" b="1" dirty="0">
                <a:solidFill>
                  <a:srgbClr val="CC0099"/>
                </a:solidFill>
                <a:ea typeface="隶书" pitchFamily="49" charset="-122"/>
              </a:rPr>
              <a:t>实例：求</a:t>
            </a:r>
            <a:r>
              <a:rPr lang="en-US" altLang="zh-CN" sz="3600" b="1" dirty="0">
                <a:solidFill>
                  <a:srgbClr val="CC0099"/>
                </a:solidFill>
                <a:ea typeface="隶书" pitchFamily="49" charset="-122"/>
              </a:rPr>
              <a:t>LR(0)</a:t>
            </a:r>
            <a:r>
              <a:rPr lang="zh-CN" altLang="en-US" sz="3600" b="1" dirty="0">
                <a:solidFill>
                  <a:srgbClr val="CC0099"/>
                </a:solidFill>
                <a:ea typeface="隶书" pitchFamily="49" charset="-122"/>
              </a:rPr>
              <a:t> 项目集规范族</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155251185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3"/>
          <p:cNvSpPr>
            <a:spLocks noGrp="1" noChangeArrowheads="1"/>
          </p:cNvSpPr>
          <p:nvPr>
            <p:ph type="body" idx="1"/>
          </p:nvPr>
        </p:nvSpPr>
        <p:spPr>
          <a:xfrm>
            <a:off x="539552" y="1635646"/>
            <a:ext cx="7772400" cy="2880320"/>
          </a:xfrm>
        </p:spPr>
        <p:txBody>
          <a:bodyPr>
            <a:normAutofit/>
          </a:bodyPr>
          <a:lstStyle/>
          <a:p>
            <a:pPr eaLnBrk="1" hangingPunct="1"/>
            <a:r>
              <a:rPr lang="en-US" altLang="zh-CN" b="1" dirty="0">
                <a:solidFill>
                  <a:schemeClr val="accent2"/>
                </a:solidFill>
              </a:rPr>
              <a:t>LR(0)</a:t>
            </a:r>
            <a:r>
              <a:rPr lang="zh-CN" altLang="en-US" b="1" dirty="0">
                <a:solidFill>
                  <a:schemeClr val="accent2"/>
                </a:solidFill>
              </a:rPr>
              <a:t>项目集规范族</a:t>
            </a:r>
            <a:r>
              <a:rPr lang="zh-CN" altLang="en-US" dirty="0"/>
              <a:t>的定义：构成识别一个文法活前缀的</a:t>
            </a:r>
            <a:r>
              <a:rPr lang="en-US" altLang="zh-CN" dirty="0"/>
              <a:t>DFA</a:t>
            </a:r>
            <a:r>
              <a:rPr lang="zh-CN" altLang="en-US" dirty="0"/>
              <a:t>的项目集的全体</a:t>
            </a:r>
            <a:endParaRPr lang="en-US" altLang="zh-CN" dirty="0"/>
          </a:p>
          <a:p>
            <a:pPr eaLnBrk="1" hangingPunct="1"/>
            <a:endParaRPr lang="zh-CN" altLang="en-US" dirty="0"/>
          </a:p>
          <a:p>
            <a:pPr eaLnBrk="1" hangingPunct="1"/>
            <a:r>
              <a:rPr lang="zh-CN" altLang="en-US" dirty="0"/>
              <a:t>构造方法有两种：</a:t>
            </a:r>
          </a:p>
          <a:p>
            <a:pPr lvl="1" eaLnBrk="1" hangingPunct="1"/>
            <a:r>
              <a:rPr lang="en-US" altLang="zh-CN" dirty="0"/>
              <a:t>1)</a:t>
            </a:r>
            <a:r>
              <a:rPr lang="zh-CN" altLang="en-US" dirty="0">
                <a:sym typeface="Symbol" pitchFamily="18" charset="2"/>
              </a:rPr>
              <a:t>先构造</a:t>
            </a:r>
            <a:r>
              <a:rPr lang="en-US" altLang="zh-CN" dirty="0">
                <a:sym typeface="Symbol" pitchFamily="18" charset="2"/>
              </a:rPr>
              <a:t>NFA</a:t>
            </a:r>
            <a:r>
              <a:rPr lang="zh-CN" altLang="en-US" dirty="0">
                <a:sym typeface="Symbol" pitchFamily="18" charset="2"/>
              </a:rPr>
              <a:t>，</a:t>
            </a:r>
            <a:r>
              <a:rPr lang="zh-CN" altLang="en-US" dirty="0"/>
              <a:t>使用第</a:t>
            </a:r>
            <a:r>
              <a:rPr lang="zh-CN" altLang="en-GB" dirty="0"/>
              <a:t>三</a:t>
            </a:r>
            <a:r>
              <a:rPr lang="zh-CN" altLang="en-US" dirty="0"/>
              <a:t>章的子集法将</a:t>
            </a:r>
            <a:r>
              <a:rPr lang="en-US" altLang="zh-CN" dirty="0"/>
              <a:t>NFA</a:t>
            </a:r>
            <a:r>
              <a:rPr lang="zh-CN" altLang="en-US" dirty="0"/>
              <a:t>确定化</a:t>
            </a:r>
          </a:p>
          <a:p>
            <a:pPr lvl="1" eaLnBrk="1" hangingPunct="1"/>
            <a:r>
              <a:rPr lang="en-US" altLang="zh-CN" dirty="0"/>
              <a:t>2) </a:t>
            </a:r>
            <a:r>
              <a:rPr lang="zh-CN" altLang="en-US" dirty="0"/>
              <a:t>直接使用闭包和状态转换函数进行计算</a:t>
            </a:r>
          </a:p>
        </p:txBody>
      </p:sp>
      <p:sp>
        <p:nvSpPr>
          <p:cNvPr id="206851" name="Rectangle 5"/>
          <p:cNvSpPr>
            <a:spLocks noGrp="1" noChangeArrowheads="1"/>
          </p:cNvSpPr>
          <p:nvPr>
            <p:ph type="title"/>
          </p:nvPr>
        </p:nvSpPr>
        <p:spPr>
          <a:xfrm>
            <a:off x="323528" y="483518"/>
            <a:ext cx="7826375" cy="538163"/>
          </a:xfrm>
          <a:noFill/>
        </p:spPr>
        <p:txBody>
          <a:bodyPr>
            <a:noAutofit/>
          </a:bodyPr>
          <a:lstStyle/>
          <a:p>
            <a:pPr algn="l" eaLnBrk="1" hangingPunct="1">
              <a:spcBef>
                <a:spcPct val="50000"/>
              </a:spcBef>
            </a:pPr>
            <a:r>
              <a:rPr lang="en-US" altLang="zh-CN" sz="3200" b="1" dirty="0">
                <a:solidFill>
                  <a:srgbClr val="FF5050"/>
                </a:solidFill>
                <a:latin typeface="楷体_GB2312" pitchFamily="49" charset="-122"/>
                <a:ea typeface="楷体_GB2312" pitchFamily="49" charset="-122"/>
              </a:rPr>
              <a:t>LR(0)</a:t>
            </a:r>
            <a:r>
              <a:rPr lang="zh-CN" altLang="en-US" sz="3200" b="1" dirty="0">
                <a:solidFill>
                  <a:srgbClr val="FF5050"/>
                </a:solidFill>
                <a:latin typeface="楷体_GB2312" pitchFamily="49" charset="-122"/>
                <a:ea typeface="楷体_GB2312" pitchFamily="49" charset="-122"/>
              </a:rPr>
              <a:t>项目集规范族及识别活前缀的</a:t>
            </a:r>
            <a:r>
              <a:rPr lang="en-US" altLang="zh-CN" sz="3200" b="1" dirty="0">
                <a:solidFill>
                  <a:srgbClr val="FF5050"/>
                </a:solidFill>
                <a:latin typeface="楷体_GB2312" pitchFamily="49" charset="-122"/>
                <a:ea typeface="楷体_GB2312" pitchFamily="49" charset="-122"/>
              </a:rPr>
              <a:t>DFA</a:t>
            </a:r>
            <a:r>
              <a:rPr lang="zh-CN" altLang="en-US" sz="3200" b="1" dirty="0">
                <a:solidFill>
                  <a:srgbClr val="FF5050"/>
                </a:solidFill>
                <a:latin typeface="楷体_GB2312" pitchFamily="49" charset="-122"/>
                <a:ea typeface="楷体_GB2312" pitchFamily="49" charset="-122"/>
              </a:rPr>
              <a:t>的构造方法：</a:t>
            </a:r>
          </a:p>
        </p:txBody>
      </p:sp>
    </p:spTree>
    <p:extLst>
      <p:ext uri="{BB962C8B-B14F-4D97-AF65-F5344CB8AC3E}">
        <p14:creationId xmlns:p14="http://schemas.microsoft.com/office/powerpoint/2010/main" val="374663223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3188" name="Rectangle 4"/>
          <p:cNvSpPr>
            <a:spLocks noGrp="1" noChangeArrowheads="1"/>
          </p:cNvSpPr>
          <p:nvPr>
            <p:ph type="body" idx="1"/>
          </p:nvPr>
        </p:nvSpPr>
        <p:spPr>
          <a:xfrm>
            <a:off x="467544" y="1275606"/>
            <a:ext cx="8404994" cy="2437758"/>
          </a:xfrm>
          <a:solidFill>
            <a:schemeClr val="bg1"/>
          </a:solidFill>
          <a:ln w="28575">
            <a:solidFill>
              <a:schemeClr val="accent2"/>
            </a:solidFill>
            <a:miter lim="800000"/>
            <a:headEnd/>
            <a:tailEnd/>
          </a:ln>
        </p:spPr>
        <p:txBody>
          <a:bodyPr>
            <a:normAutofit/>
          </a:bodyPr>
          <a:lstStyle/>
          <a:p>
            <a:pPr marL="365125" indent="-280988" eaLnBrk="1" hangingPunct="1">
              <a:spcBef>
                <a:spcPts val="0"/>
              </a:spcBef>
            </a:pPr>
            <a:r>
              <a:rPr lang="zh-CN" altLang="en-US" sz="2000" dirty="0"/>
              <a:t>写出文法的所有项目，每个项目是一个状态</a:t>
            </a:r>
          </a:p>
          <a:p>
            <a:pPr marL="365125" indent="-280988" eaLnBrk="1" hangingPunct="1">
              <a:spcBef>
                <a:spcPts val="0"/>
              </a:spcBef>
            </a:pPr>
            <a:r>
              <a:rPr lang="zh-CN" altLang="en-US" sz="2000" dirty="0"/>
              <a:t>若状态</a:t>
            </a:r>
            <a:r>
              <a:rPr lang="en-US" altLang="zh-CN" sz="2000" dirty="0" err="1"/>
              <a:t>i</a:t>
            </a:r>
            <a:r>
              <a:rPr lang="zh-CN" altLang="en-US" sz="2000" dirty="0"/>
              <a:t>和状态</a:t>
            </a:r>
            <a:r>
              <a:rPr lang="en-US" altLang="zh-CN" sz="2000" dirty="0"/>
              <a:t>j</a:t>
            </a:r>
            <a:r>
              <a:rPr lang="zh-CN" altLang="en-US" sz="2000" dirty="0"/>
              <a:t>出自同一产生式，而且状态</a:t>
            </a:r>
            <a:r>
              <a:rPr lang="en-US" altLang="zh-CN" sz="2000" dirty="0"/>
              <a:t>j</a:t>
            </a:r>
            <a:r>
              <a:rPr lang="zh-CN" altLang="en-US" sz="2000" dirty="0"/>
              <a:t>的圆点只落后于状态</a:t>
            </a:r>
            <a:r>
              <a:rPr lang="en-US" altLang="zh-CN" sz="2000" dirty="0" err="1"/>
              <a:t>i</a:t>
            </a:r>
            <a:r>
              <a:rPr lang="zh-CN" altLang="en-US" sz="2000" dirty="0"/>
              <a:t>一个位置</a:t>
            </a:r>
            <a:r>
              <a:rPr lang="en-US" altLang="zh-CN" sz="2000" dirty="0"/>
              <a:t>:</a:t>
            </a:r>
          </a:p>
          <a:p>
            <a:pPr marL="900113" lvl="1" indent="-355600" eaLnBrk="1" hangingPunct="1">
              <a:spcBef>
                <a:spcPts val="0"/>
              </a:spcBef>
            </a:pPr>
            <a:r>
              <a:rPr lang="zh-CN" altLang="en-US" sz="2000" dirty="0"/>
              <a:t>若</a:t>
            </a:r>
            <a:r>
              <a:rPr lang="en-US" altLang="zh-CN" sz="2000" dirty="0" err="1"/>
              <a:t>i</a:t>
            </a:r>
            <a:r>
              <a:rPr lang="zh-CN" altLang="en-US" sz="2000" dirty="0"/>
              <a:t>的圆点后是</a:t>
            </a:r>
            <a:r>
              <a:rPr lang="en-US" altLang="zh-CN" sz="2000" dirty="0">
                <a:solidFill>
                  <a:srgbClr val="FF0000"/>
                </a:solidFill>
              </a:rPr>
              <a:t>a</a:t>
            </a:r>
            <a:r>
              <a:rPr lang="zh-CN" altLang="en-US" sz="2000" dirty="0"/>
              <a:t>，从</a:t>
            </a:r>
            <a:r>
              <a:rPr lang="en-US" altLang="zh-CN" sz="2000" dirty="0" err="1"/>
              <a:t>i</a:t>
            </a:r>
            <a:r>
              <a:rPr lang="zh-CN" altLang="en-US" sz="2000" dirty="0"/>
              <a:t>到</a:t>
            </a:r>
            <a:r>
              <a:rPr lang="en-US" altLang="zh-CN" sz="2000" dirty="0"/>
              <a:t>j</a:t>
            </a:r>
            <a:r>
              <a:rPr lang="zh-CN" altLang="en-US" sz="2000" dirty="0"/>
              <a:t>画一条弧，标记为</a:t>
            </a:r>
            <a:r>
              <a:rPr lang="en-US" altLang="zh-CN" sz="2000" dirty="0"/>
              <a:t>a</a:t>
            </a:r>
          </a:p>
          <a:p>
            <a:pPr marL="900113" lvl="1" indent="-355600">
              <a:spcBef>
                <a:spcPts val="0"/>
              </a:spcBef>
            </a:pPr>
            <a:r>
              <a:rPr lang="zh-CN" altLang="en-US" sz="2000" dirty="0"/>
              <a:t>若</a:t>
            </a:r>
            <a:r>
              <a:rPr lang="en-US" altLang="zh-CN" sz="2000" dirty="0" err="1"/>
              <a:t>i</a:t>
            </a:r>
            <a:r>
              <a:rPr lang="zh-CN" altLang="en-US" sz="2000" dirty="0"/>
              <a:t>的圆点后是</a:t>
            </a:r>
            <a:r>
              <a:rPr lang="en-US" altLang="zh-CN" sz="2000" dirty="0">
                <a:solidFill>
                  <a:srgbClr val="FF0000"/>
                </a:solidFill>
              </a:rPr>
              <a:t>A</a:t>
            </a:r>
            <a:r>
              <a:rPr lang="zh-CN" altLang="en-US" sz="2000" dirty="0"/>
              <a:t>，则连两种弧：</a:t>
            </a:r>
            <a:r>
              <a:rPr lang="en-US" altLang="zh-CN" sz="2000" dirty="0"/>
              <a:t>(1)</a:t>
            </a:r>
            <a:r>
              <a:rPr lang="zh-CN" altLang="en-US" sz="2000" dirty="0"/>
              <a:t>从状态</a:t>
            </a:r>
            <a:r>
              <a:rPr lang="en-US" altLang="zh-CN" sz="2000" dirty="0" err="1"/>
              <a:t>i</a:t>
            </a:r>
            <a:r>
              <a:rPr lang="zh-CN" altLang="en-US" sz="2000" dirty="0"/>
              <a:t>画</a:t>
            </a:r>
            <a:r>
              <a:rPr lang="el-GR" altLang="zh-CN" sz="2000" dirty="0">
                <a:solidFill>
                  <a:prstClr val="black"/>
                </a:solidFill>
              </a:rPr>
              <a:t>ε</a:t>
            </a:r>
            <a:r>
              <a:rPr lang="zh-CN" altLang="en-US" sz="2000" dirty="0">
                <a:latin typeface="宋体" pitchFamily="2" charset="-122"/>
              </a:rPr>
              <a:t>弧到所有的</a:t>
            </a:r>
            <a:r>
              <a:rPr lang="en-US" altLang="zh-CN" sz="2000" dirty="0">
                <a:solidFill>
                  <a:srgbClr val="FF0000"/>
                </a:solidFill>
              </a:rPr>
              <a:t>A→·</a:t>
            </a:r>
            <a:r>
              <a:rPr lang="el-GR" altLang="zh-CN" sz="2000" dirty="0"/>
              <a:t>β</a:t>
            </a:r>
            <a:r>
              <a:rPr lang="zh-CN" altLang="en-US" sz="2000" dirty="0">
                <a:latin typeface="宋体" pitchFamily="2" charset="-122"/>
              </a:rPr>
              <a:t>的状态。</a:t>
            </a:r>
            <a:r>
              <a:rPr lang="en-US" altLang="zh-CN" sz="2000" dirty="0"/>
              <a:t>(2)</a:t>
            </a:r>
            <a:r>
              <a:rPr lang="zh-CN" altLang="en-US" sz="2000" dirty="0"/>
              <a:t>从状态</a:t>
            </a:r>
            <a:r>
              <a:rPr lang="en-US" altLang="zh-CN" sz="2000" dirty="0" err="1"/>
              <a:t>i</a:t>
            </a:r>
            <a:r>
              <a:rPr lang="zh-CN" altLang="en-US" sz="2000" dirty="0"/>
              <a:t>到</a:t>
            </a:r>
            <a:r>
              <a:rPr lang="en-US" altLang="zh-CN" sz="2000" dirty="0"/>
              <a:t>j</a:t>
            </a:r>
            <a:r>
              <a:rPr lang="zh-CN" altLang="en-US" sz="2000" dirty="0"/>
              <a:t>画弧，标记为</a:t>
            </a:r>
            <a:r>
              <a:rPr lang="en-US" altLang="zh-CN" sz="2000" dirty="0"/>
              <a:t>A</a:t>
            </a:r>
          </a:p>
          <a:p>
            <a:pPr marL="441325" indent="-349250">
              <a:spcBef>
                <a:spcPts val="0"/>
              </a:spcBef>
            </a:pPr>
            <a:r>
              <a:rPr lang="zh-CN" altLang="en-US" sz="2000" dirty="0"/>
              <a:t>规定项目</a:t>
            </a:r>
            <a:r>
              <a:rPr lang="en-US" altLang="zh-CN" sz="2000" dirty="0"/>
              <a:t>1</a:t>
            </a:r>
            <a:r>
              <a:rPr lang="zh-CN" altLang="en-US" sz="2000" dirty="0"/>
              <a:t>为</a:t>
            </a:r>
            <a:r>
              <a:rPr lang="en-US" altLang="zh-CN" sz="2000" dirty="0"/>
              <a:t>NFA</a:t>
            </a:r>
            <a:r>
              <a:rPr lang="zh-CN" altLang="en-US" sz="2000" dirty="0"/>
              <a:t>的唯一初态，归约项目表示结束状态，用双圈表示</a:t>
            </a:r>
          </a:p>
        </p:txBody>
      </p:sp>
      <p:sp>
        <p:nvSpPr>
          <p:cNvPr id="203779" name="Rectangle 6"/>
          <p:cNvSpPr>
            <a:spLocks noChangeArrowheads="1"/>
          </p:cNvSpPr>
          <p:nvPr/>
        </p:nvSpPr>
        <p:spPr bwMode="auto">
          <a:xfrm>
            <a:off x="365333" y="618823"/>
            <a:ext cx="284404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b="1" dirty="0">
                <a:solidFill>
                  <a:schemeClr val="accent2"/>
                </a:solidFill>
                <a:ea typeface="华文行楷" pitchFamily="2" charset="-122"/>
              </a:rPr>
              <a:t>1</a:t>
            </a:r>
            <a:r>
              <a:rPr lang="zh-CN" altLang="en-US" b="1" dirty="0">
                <a:solidFill>
                  <a:schemeClr val="accent2"/>
                </a:solidFill>
                <a:ea typeface="华文行楷" pitchFamily="2" charset="-122"/>
              </a:rPr>
              <a:t>）构造</a:t>
            </a:r>
            <a:r>
              <a:rPr lang="en-US" altLang="zh-CN" b="1" dirty="0">
                <a:solidFill>
                  <a:schemeClr val="accent2"/>
                </a:solidFill>
                <a:ea typeface="华文行楷" pitchFamily="2" charset="-122"/>
              </a:rPr>
              <a:t>NFA</a:t>
            </a:r>
            <a:r>
              <a:rPr lang="zh-CN" altLang="en-US" b="1" dirty="0">
                <a:solidFill>
                  <a:schemeClr val="accent2"/>
                </a:solidFill>
                <a:ea typeface="华文行楷" pitchFamily="2" charset="-122"/>
              </a:rPr>
              <a:t>：</a:t>
            </a:r>
          </a:p>
        </p:txBody>
      </p:sp>
      <p:sp>
        <p:nvSpPr>
          <p:cNvPr id="2" name="矩形 1"/>
          <p:cNvSpPr/>
          <p:nvPr/>
        </p:nvSpPr>
        <p:spPr>
          <a:xfrm>
            <a:off x="251520" y="3948608"/>
            <a:ext cx="3071675"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t>i: </a:t>
            </a:r>
            <a:r>
              <a:rPr lang="fr-FR" altLang="zh-CN" sz="2400" dirty="0"/>
              <a:t>X→X</a:t>
            </a:r>
            <a:r>
              <a:rPr lang="fr-FR" altLang="zh-CN" sz="2400" baseline="-25000" dirty="0"/>
              <a:t>1</a:t>
            </a:r>
            <a:r>
              <a:rPr lang="fr-FR" altLang="zh-CN" sz="2400" dirty="0"/>
              <a:t>…X</a:t>
            </a:r>
            <a:r>
              <a:rPr lang="fr-FR" altLang="zh-CN" sz="2400" baseline="-25000" dirty="0"/>
              <a:t>i-1</a:t>
            </a:r>
            <a:r>
              <a:rPr lang="fr-FR" altLang="zh-CN" sz="2400" dirty="0">
                <a:solidFill>
                  <a:srgbClr val="FF0000"/>
                </a:solidFill>
              </a:rPr>
              <a:t>·a</a:t>
            </a:r>
            <a:r>
              <a:rPr lang="fr-FR" altLang="zh-CN" sz="2400" dirty="0"/>
              <a:t>…X</a:t>
            </a:r>
            <a:r>
              <a:rPr lang="fr-FR" altLang="zh-CN" sz="2400" baseline="-25000" dirty="0"/>
              <a:t>n</a:t>
            </a:r>
            <a:endParaRPr lang="zh-CN" altLang="zh-CN" sz="2400" dirty="0"/>
          </a:p>
        </p:txBody>
      </p:sp>
      <p:sp>
        <p:nvSpPr>
          <p:cNvPr id="5" name="矩形 4"/>
          <p:cNvSpPr/>
          <p:nvPr/>
        </p:nvSpPr>
        <p:spPr>
          <a:xfrm>
            <a:off x="4268788" y="3934815"/>
            <a:ext cx="3074881"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t>j: </a:t>
            </a:r>
            <a:r>
              <a:rPr lang="fr-FR" altLang="zh-CN" sz="2400" dirty="0"/>
              <a:t>X→X</a:t>
            </a:r>
            <a:r>
              <a:rPr lang="fr-FR" altLang="zh-CN" sz="2400" baseline="-25000" dirty="0"/>
              <a:t>1</a:t>
            </a:r>
            <a:r>
              <a:rPr lang="fr-FR" altLang="zh-CN" sz="2400" dirty="0"/>
              <a:t>…X</a:t>
            </a:r>
            <a:r>
              <a:rPr lang="fr-FR" altLang="zh-CN" sz="2400" baseline="-25000" dirty="0"/>
              <a:t>i-1</a:t>
            </a:r>
            <a:r>
              <a:rPr lang="fr-FR" altLang="zh-CN" sz="2400" dirty="0">
                <a:solidFill>
                  <a:srgbClr val="FF0000"/>
                </a:solidFill>
              </a:rPr>
              <a:t>a·</a:t>
            </a:r>
            <a:r>
              <a:rPr lang="fr-FR" altLang="zh-CN" sz="2400" dirty="0"/>
              <a:t>…X</a:t>
            </a:r>
            <a:r>
              <a:rPr lang="fr-FR" altLang="zh-CN" sz="2400" baseline="-25000" dirty="0"/>
              <a:t>n</a:t>
            </a:r>
            <a:endParaRPr lang="zh-CN" altLang="zh-CN" sz="2400" dirty="0"/>
          </a:p>
        </p:txBody>
      </p:sp>
      <p:sp>
        <p:nvSpPr>
          <p:cNvPr id="6" name="矩形 5"/>
          <p:cNvSpPr/>
          <p:nvPr/>
        </p:nvSpPr>
        <p:spPr>
          <a:xfrm>
            <a:off x="251520" y="3932996"/>
            <a:ext cx="3113353"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t>i: </a:t>
            </a:r>
            <a:r>
              <a:rPr lang="fr-FR" altLang="zh-CN" sz="2400" dirty="0"/>
              <a:t>X→X</a:t>
            </a:r>
            <a:r>
              <a:rPr lang="fr-FR" altLang="zh-CN" sz="2400" baseline="-25000" dirty="0"/>
              <a:t>1</a:t>
            </a:r>
            <a:r>
              <a:rPr lang="fr-FR" altLang="zh-CN" sz="2400" dirty="0"/>
              <a:t>…X</a:t>
            </a:r>
            <a:r>
              <a:rPr lang="fr-FR" altLang="zh-CN" sz="2400" baseline="-25000" dirty="0"/>
              <a:t>i-1</a:t>
            </a:r>
            <a:r>
              <a:rPr lang="fr-FR" altLang="zh-CN" sz="2400" dirty="0">
                <a:solidFill>
                  <a:srgbClr val="FF0000"/>
                </a:solidFill>
              </a:rPr>
              <a:t>·</a:t>
            </a:r>
            <a:r>
              <a:rPr lang="en-US" altLang="zh-CN" sz="2400" dirty="0">
                <a:solidFill>
                  <a:srgbClr val="FF0000"/>
                </a:solidFill>
              </a:rPr>
              <a:t>A</a:t>
            </a:r>
            <a:r>
              <a:rPr lang="fr-FR" altLang="zh-CN" sz="2400" dirty="0"/>
              <a:t>…X</a:t>
            </a:r>
            <a:r>
              <a:rPr lang="fr-FR" altLang="zh-CN" sz="2400" baseline="-25000" dirty="0"/>
              <a:t>n</a:t>
            </a:r>
            <a:endParaRPr lang="zh-CN" altLang="zh-CN" sz="2400" dirty="0"/>
          </a:p>
        </p:txBody>
      </p:sp>
      <p:sp>
        <p:nvSpPr>
          <p:cNvPr id="7" name="矩形 6"/>
          <p:cNvSpPr/>
          <p:nvPr/>
        </p:nvSpPr>
        <p:spPr>
          <a:xfrm>
            <a:off x="4263753" y="3932995"/>
            <a:ext cx="3116559"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t>j: </a:t>
            </a:r>
            <a:r>
              <a:rPr lang="fr-FR" altLang="zh-CN" sz="2400" dirty="0"/>
              <a:t>X→X</a:t>
            </a:r>
            <a:r>
              <a:rPr lang="fr-FR" altLang="zh-CN" sz="2400" baseline="-25000" dirty="0"/>
              <a:t>1</a:t>
            </a:r>
            <a:r>
              <a:rPr lang="fr-FR" altLang="zh-CN" sz="2400" dirty="0"/>
              <a:t>…X</a:t>
            </a:r>
            <a:r>
              <a:rPr lang="fr-FR" altLang="zh-CN" sz="2400" baseline="-25000" dirty="0"/>
              <a:t>i-1</a:t>
            </a:r>
            <a:r>
              <a:rPr lang="en-US" altLang="zh-CN" sz="2400" dirty="0">
                <a:solidFill>
                  <a:srgbClr val="FF0000"/>
                </a:solidFill>
              </a:rPr>
              <a:t>A</a:t>
            </a:r>
            <a:r>
              <a:rPr lang="fr-FR" altLang="zh-CN" sz="2400" dirty="0">
                <a:solidFill>
                  <a:srgbClr val="FF0000"/>
                </a:solidFill>
              </a:rPr>
              <a:t>·</a:t>
            </a:r>
            <a:r>
              <a:rPr lang="fr-FR" altLang="zh-CN" sz="2400" dirty="0"/>
              <a:t>…X</a:t>
            </a:r>
            <a:r>
              <a:rPr lang="fr-FR" altLang="zh-CN" sz="2400" baseline="-25000" dirty="0"/>
              <a:t>n</a:t>
            </a:r>
            <a:endParaRPr lang="zh-CN" altLang="zh-CN" sz="2400" dirty="0"/>
          </a:p>
        </p:txBody>
      </p:sp>
      <p:sp>
        <p:nvSpPr>
          <p:cNvPr id="3" name="矩形 2"/>
          <p:cNvSpPr/>
          <p:nvPr/>
        </p:nvSpPr>
        <p:spPr>
          <a:xfrm>
            <a:off x="4216603" y="4515966"/>
            <a:ext cx="1723549"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solidFill>
                  <a:prstClr val="black"/>
                </a:solidFill>
                <a:latin typeface="宋体" pitchFamily="2" charset="-122"/>
                <a:ea typeface="宋体" panose="02010600030101010101" pitchFamily="2" charset="-122"/>
              </a:rPr>
              <a:t>k: </a:t>
            </a:r>
            <a:r>
              <a:rPr lang="en-US" altLang="zh-CN" sz="2400" dirty="0">
                <a:solidFill>
                  <a:srgbClr val="FF0000"/>
                </a:solidFill>
                <a:latin typeface="宋体" pitchFamily="2" charset="-122"/>
                <a:ea typeface="宋体" panose="02010600030101010101" pitchFamily="2" charset="-122"/>
              </a:rPr>
              <a:t>A</a:t>
            </a:r>
            <a:r>
              <a:rPr lang="en-US" altLang="zh-CN" sz="2400" dirty="0">
                <a:solidFill>
                  <a:prstClr val="black"/>
                </a:solidFill>
                <a:latin typeface="宋体" pitchFamily="2" charset="-122"/>
                <a:ea typeface="宋体" panose="02010600030101010101" pitchFamily="2" charset="-122"/>
              </a:rPr>
              <a:t>→·</a:t>
            </a:r>
            <a:r>
              <a:rPr lang="el-GR" altLang="zh-CN" sz="2400" dirty="0">
                <a:solidFill>
                  <a:prstClr val="black"/>
                </a:solidFill>
                <a:latin typeface="宋体" pitchFamily="2" charset="-122"/>
                <a:ea typeface="宋体" panose="02010600030101010101" pitchFamily="2" charset="-122"/>
              </a:rPr>
              <a:t>β</a:t>
            </a:r>
            <a:endParaRPr lang="zh-CN" altLang="en-US" dirty="0"/>
          </a:p>
        </p:txBody>
      </p:sp>
      <p:grpSp>
        <p:nvGrpSpPr>
          <p:cNvPr id="10" name="组合 9"/>
          <p:cNvGrpSpPr/>
          <p:nvPr/>
        </p:nvGrpSpPr>
        <p:grpSpPr>
          <a:xfrm>
            <a:off x="3323195" y="3867894"/>
            <a:ext cx="945593" cy="461665"/>
            <a:chOff x="3323195" y="3867894"/>
            <a:chExt cx="945593" cy="461665"/>
          </a:xfrm>
        </p:grpSpPr>
        <p:cxnSp>
          <p:nvCxnSpPr>
            <p:cNvPr id="8" name="直接箭头连接符 7"/>
            <p:cNvCxnSpPr>
              <a:stCxn id="2" idx="3"/>
              <a:endCxn id="5" idx="1"/>
            </p:cNvCxnSpPr>
            <p:nvPr/>
          </p:nvCxnSpPr>
          <p:spPr>
            <a:xfrm flipV="1">
              <a:off x="3323195" y="4165648"/>
              <a:ext cx="945593" cy="1379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3491880" y="3867894"/>
              <a:ext cx="432048" cy="461665"/>
            </a:xfrm>
            <a:prstGeom prst="rect">
              <a:avLst/>
            </a:prstGeom>
            <a:noFill/>
          </p:spPr>
          <p:txBody>
            <a:bodyPr wrap="square" rtlCol="0">
              <a:spAutoFit/>
            </a:bodyPr>
            <a:lstStyle/>
            <a:p>
              <a:r>
                <a:rPr lang="en-US" altLang="zh-CN" sz="2400" dirty="0"/>
                <a:t>a</a:t>
              </a:r>
              <a:endParaRPr lang="zh-CN" altLang="en-US" sz="2400" dirty="0"/>
            </a:p>
          </p:txBody>
        </p:sp>
      </p:grpSp>
      <p:grpSp>
        <p:nvGrpSpPr>
          <p:cNvPr id="14" name="组合 13"/>
          <p:cNvGrpSpPr/>
          <p:nvPr/>
        </p:nvGrpSpPr>
        <p:grpSpPr>
          <a:xfrm>
            <a:off x="3347864" y="3867894"/>
            <a:ext cx="945593" cy="461665"/>
            <a:chOff x="3323195" y="3867894"/>
            <a:chExt cx="945593" cy="461665"/>
          </a:xfrm>
        </p:grpSpPr>
        <p:sp>
          <p:nvSpPr>
            <p:cNvPr id="16" name="TextBox 15"/>
            <p:cNvSpPr txBox="1"/>
            <p:nvPr/>
          </p:nvSpPr>
          <p:spPr>
            <a:xfrm>
              <a:off x="3491880" y="3867894"/>
              <a:ext cx="432048" cy="461665"/>
            </a:xfrm>
            <a:prstGeom prst="rect">
              <a:avLst/>
            </a:prstGeom>
            <a:solidFill>
              <a:schemeClr val="bg1"/>
            </a:solidFill>
          </p:spPr>
          <p:txBody>
            <a:bodyPr wrap="square" rtlCol="0">
              <a:spAutoFit/>
            </a:bodyPr>
            <a:lstStyle/>
            <a:p>
              <a:r>
                <a:rPr lang="en-US" altLang="zh-CN" sz="2400" dirty="0"/>
                <a:t>A</a:t>
              </a:r>
              <a:endParaRPr lang="zh-CN" altLang="en-US" sz="2400" dirty="0"/>
            </a:p>
          </p:txBody>
        </p:sp>
        <p:cxnSp>
          <p:nvCxnSpPr>
            <p:cNvPr id="15" name="直接箭头连接符 14"/>
            <p:cNvCxnSpPr/>
            <p:nvPr/>
          </p:nvCxnSpPr>
          <p:spPr>
            <a:xfrm flipV="1">
              <a:off x="3323195" y="4165648"/>
              <a:ext cx="945593" cy="1379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grpSp>
        <p:nvGrpSpPr>
          <p:cNvPr id="17" name="组合 16"/>
          <p:cNvGrpSpPr/>
          <p:nvPr/>
        </p:nvGrpSpPr>
        <p:grpSpPr>
          <a:xfrm>
            <a:off x="2210607" y="3956629"/>
            <a:ext cx="2145773" cy="847370"/>
            <a:chOff x="2210607" y="3956628"/>
            <a:chExt cx="2145773" cy="1144113"/>
          </a:xfrm>
        </p:grpSpPr>
        <p:sp>
          <p:nvSpPr>
            <p:cNvPr id="12" name="弧形 11"/>
            <p:cNvSpPr/>
            <p:nvPr/>
          </p:nvSpPr>
          <p:spPr>
            <a:xfrm rot="1698910" flipV="1">
              <a:off x="2210607" y="3956628"/>
              <a:ext cx="2145773" cy="843196"/>
            </a:xfrm>
            <a:prstGeom prst="arc">
              <a:avLst>
                <a:gd name="adj1" fmla="val 13819415"/>
                <a:gd name="adj2" fmla="val 0"/>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矩形 12"/>
            <p:cNvSpPr/>
            <p:nvPr/>
          </p:nvSpPr>
          <p:spPr>
            <a:xfrm>
              <a:off x="3284724" y="4515966"/>
              <a:ext cx="595035" cy="584775"/>
            </a:xfrm>
            <a:prstGeom prst="rect">
              <a:avLst/>
            </a:prstGeom>
          </p:spPr>
          <p:txBody>
            <a:bodyPr wrap="none">
              <a:spAutoFit/>
            </a:bodyPr>
            <a:lstStyle/>
            <a:p>
              <a:r>
                <a:rPr lang="el-GR" altLang="zh-CN" sz="3200" dirty="0">
                  <a:solidFill>
                    <a:prstClr val="black"/>
                  </a:solidFill>
                  <a:latin typeface="宋体" pitchFamily="2" charset="-122"/>
                  <a:ea typeface="宋体" panose="02010600030101010101" pitchFamily="2" charset="-122"/>
                </a:rPr>
                <a:t>ε</a:t>
              </a:r>
              <a:endParaRPr lang="zh-CN" altLang="en-US" sz="2400" dirty="0"/>
            </a:p>
          </p:txBody>
        </p:sp>
      </p:grpSp>
      <p:sp>
        <p:nvSpPr>
          <p:cNvPr id="11" name="文本框 10">
            <a:extLst>
              <a:ext uri="{FF2B5EF4-FFF2-40B4-BE49-F238E27FC236}">
                <a16:creationId xmlns:a16="http://schemas.microsoft.com/office/drawing/2014/main" id="{1A215522-0FA1-3EBE-8C5F-8ACB289B9288}"/>
              </a:ext>
            </a:extLst>
          </p:cNvPr>
          <p:cNvSpPr txBox="1"/>
          <p:nvPr/>
        </p:nvSpPr>
        <p:spPr>
          <a:xfrm>
            <a:off x="-5711" y="168973"/>
            <a:ext cx="8956035" cy="523220"/>
          </a:xfrm>
          <a:prstGeom prst="rect">
            <a:avLst/>
          </a:prstGeom>
          <a:noFill/>
        </p:spPr>
        <p:txBody>
          <a:bodyPr wrap="square">
            <a:spAutoFit/>
          </a:bodyPr>
          <a:lstStyle/>
          <a:p>
            <a:r>
              <a:rPr lang="zh-CN" altLang="en-US" sz="2800" dirty="0">
                <a:solidFill>
                  <a:srgbClr val="FF0000"/>
                </a:solidFill>
                <a:latin typeface="楷体" panose="02010609060101010101" pitchFamily="49" charset="-122"/>
                <a:ea typeface="楷体_GB2312" pitchFamily="49" charset="-122"/>
              </a:rPr>
              <a:t>第一种方法</a:t>
            </a:r>
            <a:r>
              <a:rPr lang="zh-CN" altLang="en-US" sz="2800" dirty="0">
                <a:solidFill>
                  <a:schemeClr val="tx1"/>
                </a:solidFill>
                <a:latin typeface="楷体" panose="02010609060101010101" pitchFamily="49" charset="-122"/>
                <a:ea typeface="楷体_GB2312" pitchFamily="49" charset="-122"/>
              </a:rPr>
              <a:t>：使用第</a:t>
            </a:r>
            <a:r>
              <a:rPr lang="zh-CN" altLang="en-GB" sz="2800" dirty="0">
                <a:solidFill>
                  <a:schemeClr val="tx1"/>
                </a:solidFill>
                <a:latin typeface="楷体" panose="02010609060101010101" pitchFamily="49" charset="-122"/>
                <a:ea typeface="楷体_GB2312" pitchFamily="49" charset="-122"/>
              </a:rPr>
              <a:t>三</a:t>
            </a:r>
            <a:r>
              <a:rPr lang="zh-CN" altLang="en-US" sz="2800" dirty="0">
                <a:solidFill>
                  <a:schemeClr val="tx1"/>
                </a:solidFill>
                <a:latin typeface="楷体" panose="02010609060101010101" pitchFamily="49" charset="-122"/>
                <a:ea typeface="楷体_GB2312" pitchFamily="49" charset="-122"/>
              </a:rPr>
              <a:t>章的子集法构造</a:t>
            </a:r>
            <a:r>
              <a:rPr lang="en-US" altLang="zh-CN" sz="2800" dirty="0">
                <a:solidFill>
                  <a:schemeClr val="tx1"/>
                </a:solidFill>
                <a:latin typeface="楷体" panose="02010609060101010101" pitchFamily="49" charset="-122"/>
                <a:ea typeface="楷体_GB2312" pitchFamily="49" charset="-122"/>
              </a:rPr>
              <a:t>NFA</a:t>
            </a:r>
            <a:r>
              <a:rPr lang="zh-CN" altLang="en-US" sz="2800" dirty="0">
                <a:solidFill>
                  <a:schemeClr val="tx1"/>
                </a:solidFill>
                <a:latin typeface="楷体" panose="02010609060101010101" pitchFamily="49" charset="-122"/>
                <a:ea typeface="楷体_GB2312" pitchFamily="49" charset="-122"/>
              </a:rPr>
              <a:t>，再确定化</a:t>
            </a:r>
            <a:endParaRPr lang="zh-CN" altLang="en-US" sz="2800" dirty="0"/>
          </a:p>
        </p:txBody>
      </p:sp>
    </p:spTree>
    <p:extLst>
      <p:ext uri="{BB962C8B-B14F-4D97-AF65-F5344CB8AC3E}">
        <p14:creationId xmlns:p14="http://schemas.microsoft.com/office/powerpoint/2010/main" val="30347908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93188">
                                            <p:txEl>
                                              <p:pRg st="1" end="1"/>
                                            </p:txEl>
                                          </p:spTgt>
                                        </p:tgtEl>
                                        <p:attrNameLst>
                                          <p:attrName>style.visibility</p:attrName>
                                        </p:attrNameLst>
                                      </p:cBhvr>
                                      <p:to>
                                        <p:strVal val="visible"/>
                                      </p:to>
                                    </p:set>
                                    <p:animEffect transition="in" filter="box(out)">
                                      <p:cBhvr>
                                        <p:cTn id="7" dur="500"/>
                                        <p:tgtEl>
                                          <p:spTgt spid="93188">
                                            <p:txEl>
                                              <p:pRg st="1" end="1"/>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93188">
                                            <p:txEl>
                                              <p:pRg st="2" end="2"/>
                                            </p:txEl>
                                          </p:spTgt>
                                        </p:tgtEl>
                                        <p:attrNameLst>
                                          <p:attrName>style.visibility</p:attrName>
                                        </p:attrNameLst>
                                      </p:cBhvr>
                                      <p:to>
                                        <p:strVal val="visible"/>
                                      </p:to>
                                    </p:set>
                                    <p:animEffect transition="in" filter="box(out)">
                                      <p:cBhvr>
                                        <p:cTn id="12" dur="500"/>
                                        <p:tgtEl>
                                          <p:spTgt spid="9318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subTnLst>
                                    <p:set>
                                      <p:cBhvr override="childStyle">
                                        <p:cTn dur="1" fill="hold" display="0" masterRel="nextClick" afterEffect="1"/>
                                        <p:tgtEl>
                                          <p:spTgt spid="10"/>
                                        </p:tgtEl>
                                        <p:attrNameLst>
                                          <p:attrName>style.visibility</p:attrName>
                                        </p:attrNameLst>
                                      </p:cBhvr>
                                      <p:to>
                                        <p:strVal val="hidden"/>
                                      </p:to>
                                    </p:set>
                                  </p:sub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32" fill="hold" grpId="0" nodeType="clickEffect">
                                  <p:stCondLst>
                                    <p:cond delay="0"/>
                                  </p:stCondLst>
                                  <p:childTnLst>
                                    <p:set>
                                      <p:cBhvr>
                                        <p:cTn id="26" dur="1" fill="hold">
                                          <p:stCondLst>
                                            <p:cond delay="0"/>
                                          </p:stCondLst>
                                        </p:cTn>
                                        <p:tgtEl>
                                          <p:spTgt spid="93188">
                                            <p:txEl>
                                              <p:pRg st="3" end="3"/>
                                            </p:txEl>
                                          </p:spTgt>
                                        </p:tgtEl>
                                        <p:attrNameLst>
                                          <p:attrName>style.visibility</p:attrName>
                                        </p:attrNameLst>
                                      </p:cBhvr>
                                      <p:to>
                                        <p:strVal val="visible"/>
                                      </p:to>
                                    </p:set>
                                    <p:animEffect transition="in" filter="box(out)">
                                      <p:cBhvr>
                                        <p:cTn id="27" dur="500"/>
                                        <p:tgtEl>
                                          <p:spTgt spid="93188">
                                            <p:txEl>
                                              <p:pRg st="3" end="3"/>
                                            </p:txEl>
                                          </p:spTgt>
                                        </p:tgtEl>
                                      </p:cBhvr>
                                    </p:animEffec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4"/>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4" presetClass="entr" presetSubtype="32" fill="hold" grpId="0" nodeType="clickEffect">
                                  <p:stCondLst>
                                    <p:cond delay="0"/>
                                  </p:stCondLst>
                                  <p:childTnLst>
                                    <p:set>
                                      <p:cBhvr>
                                        <p:cTn id="48" dur="1" fill="hold">
                                          <p:stCondLst>
                                            <p:cond delay="0"/>
                                          </p:stCondLst>
                                        </p:cTn>
                                        <p:tgtEl>
                                          <p:spTgt spid="93188">
                                            <p:txEl>
                                              <p:pRg st="4" end="4"/>
                                            </p:txEl>
                                          </p:spTgt>
                                        </p:tgtEl>
                                        <p:attrNameLst>
                                          <p:attrName>style.visibility</p:attrName>
                                        </p:attrNameLst>
                                      </p:cBhvr>
                                      <p:to>
                                        <p:strVal val="visible"/>
                                      </p:to>
                                    </p:set>
                                    <p:animEffect transition="in" filter="box(out)">
                                      <p:cBhvr>
                                        <p:cTn id="49" dur="500"/>
                                        <p:tgtEl>
                                          <p:spTgt spid="9318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8" grpId="0" build="p" bldLvl="2" autoUpdateAnimBg="0"/>
      <p:bldP spid="2" grpId="0" animBg="1"/>
      <p:bldP spid="5" grpId="0" animBg="1"/>
      <p:bldP spid="6" grpId="0" animBg="1"/>
      <p:bldP spid="7" grpId="0" animBg="1"/>
      <p:bldP spid="3"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7" name="Text Box 6"/>
          <p:cNvSpPr txBox="1">
            <a:spLocks noChangeArrowheads="1"/>
          </p:cNvSpPr>
          <p:nvPr/>
        </p:nvSpPr>
        <p:spPr bwMode="auto">
          <a:xfrm>
            <a:off x="5457582" y="4515966"/>
            <a:ext cx="32766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800" b="1" dirty="0">
                <a:ea typeface="华文行楷" pitchFamily="2" charset="-122"/>
              </a:rPr>
              <a:t>识别活前缀的</a:t>
            </a:r>
            <a:r>
              <a:rPr lang="en-GB" altLang="zh-CN" sz="2800" b="1" dirty="0">
                <a:ea typeface="华文行楷" pitchFamily="2" charset="-122"/>
              </a:rPr>
              <a:t>NFA</a:t>
            </a:r>
            <a:endParaRPr lang="en-US" altLang="zh-CN" sz="2800" b="1" dirty="0">
              <a:ea typeface="华文行楷" pitchFamily="2" charset="-122"/>
            </a:endParaRPr>
          </a:p>
        </p:txBody>
      </p:sp>
      <p:sp>
        <p:nvSpPr>
          <p:cNvPr id="205829" name="Rectangle 3"/>
          <p:cNvSpPr>
            <a:spLocks noGrp="1" noChangeArrowheads="1"/>
          </p:cNvSpPr>
          <p:nvPr>
            <p:ph type="body" idx="1"/>
          </p:nvPr>
        </p:nvSpPr>
        <p:spPr>
          <a:xfrm>
            <a:off x="2920107" y="771525"/>
            <a:ext cx="1872208" cy="590550"/>
          </a:xfrm>
        </p:spPr>
        <p:txBody>
          <a:bodyPr/>
          <a:lstStyle/>
          <a:p>
            <a:pPr eaLnBrk="1" hangingPunct="1">
              <a:buFontTx/>
              <a:buNone/>
            </a:pPr>
            <a:r>
              <a:rPr lang="en-US" altLang="zh-CN" dirty="0"/>
              <a:t>2)</a:t>
            </a:r>
            <a:r>
              <a:rPr lang="zh-CN" altLang="en-US" dirty="0"/>
              <a:t>画</a:t>
            </a:r>
            <a:r>
              <a:rPr lang="en-US" altLang="zh-CN" dirty="0"/>
              <a:t>NFA </a:t>
            </a:r>
          </a:p>
        </p:txBody>
      </p:sp>
      <p:sp>
        <p:nvSpPr>
          <p:cNvPr id="7" name="Rectangle 2"/>
          <p:cNvSpPr txBox="1">
            <a:spLocks noChangeArrowheads="1"/>
          </p:cNvSpPr>
          <p:nvPr/>
        </p:nvSpPr>
        <p:spPr>
          <a:xfrm>
            <a:off x="122411" y="0"/>
            <a:ext cx="5673725" cy="1066800"/>
          </a:xfrm>
          <a:prstGeom prst="rect">
            <a:avLst/>
          </a:prstGeom>
        </p:spPr>
        <p:txBody>
          <a:bodyPr vert="horz" rtlCol="0" anchor="ctr">
            <a:normAutofit fontScale="97500"/>
            <a:scene3d>
              <a:camera prst="orthographicFront"/>
              <a:lightRig rig="soft" dir="t"/>
            </a:scene3d>
            <a:sp3d prstMaterial="softEdge">
              <a:bevelT w="25400" h="25400"/>
            </a:sp3d>
          </a:bodyPr>
          <a:lstStyle>
            <a:lvl1pPr algn="l" rtl="0" eaLnBrk="1" latinLnBrk="0" hangingPunct="1">
              <a:spcBef>
                <a:spcPct val="0"/>
              </a:spcBef>
              <a:buNone/>
              <a:defRPr kumimoji="0" sz="3600" b="1" kern="1200">
                <a:solidFill>
                  <a:schemeClr val="tx2"/>
                </a:solidFill>
                <a:effectLst>
                  <a:outerShdw blurRad="31750" dist="25400" dir="5400000" algn="tl" rotWithShape="0">
                    <a:srgbClr val="000000">
                      <a:alpha val="25000"/>
                    </a:srgbClr>
                  </a:outerShdw>
                </a:effectLst>
                <a:latin typeface="隶书" panose="02010509060101010101" pitchFamily="49" charset="-122"/>
                <a:ea typeface="隶书" panose="02010509060101010101" pitchFamily="49" charset="-122"/>
                <a:cs typeface="+mj-cs"/>
              </a:defRPr>
            </a:lvl1pPr>
            <a:extLst/>
          </a:lstStyle>
          <a:p>
            <a:pPr marL="365125" indent="-365125">
              <a:buFontTx/>
              <a:buChar char="•"/>
            </a:pPr>
            <a:endParaRPr lang="en-US" altLang="zh-CN" dirty="0">
              <a:solidFill>
                <a:schemeClr val="accent2"/>
              </a:solidFill>
            </a:endParaRPr>
          </a:p>
        </p:txBody>
      </p:sp>
      <p:sp>
        <p:nvSpPr>
          <p:cNvPr id="8" name="Rectangle 3"/>
          <p:cNvSpPr txBox="1">
            <a:spLocks noChangeArrowheads="1"/>
          </p:cNvSpPr>
          <p:nvPr/>
        </p:nvSpPr>
        <p:spPr>
          <a:xfrm>
            <a:off x="338872" y="692816"/>
            <a:ext cx="1964258" cy="1465263"/>
          </a:xfrm>
          <a:prstGeom prst="rect">
            <a:avLst/>
          </a:prstGeom>
        </p:spPr>
        <p:style>
          <a:lnRef idx="2">
            <a:schemeClr val="accent1"/>
          </a:lnRef>
          <a:fillRef idx="1">
            <a:schemeClr val="lt1"/>
          </a:fillRef>
          <a:effectRef idx="0">
            <a:schemeClr val="accent1"/>
          </a:effectRef>
          <a:fontRef idx="minor">
            <a:schemeClr val="dk1"/>
          </a:fontRef>
        </p:style>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dk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dk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a:lnSpc>
                <a:spcPct val="90000"/>
              </a:lnSpc>
              <a:spcBef>
                <a:spcPct val="0"/>
              </a:spcBef>
              <a:buFontTx/>
              <a:buNone/>
            </a:pPr>
            <a:r>
              <a:rPr lang="en-GB" altLang="zh-CN" sz="2200" dirty="0">
                <a:latin typeface="+mj-lt"/>
              </a:rPr>
              <a:t>S</a:t>
            </a:r>
            <a:r>
              <a:rPr lang="en-US" altLang="zh-CN" sz="2200" dirty="0">
                <a:latin typeface="+mj-lt"/>
              </a:rPr>
              <a:t>' </a:t>
            </a:r>
            <a:r>
              <a:rPr lang="en-GB" altLang="zh-CN" sz="2200" dirty="0">
                <a:latin typeface="+mj-lt"/>
                <a:sym typeface="Wingdings" pitchFamily="2" charset="2"/>
              </a:rPr>
              <a:t>E</a:t>
            </a:r>
          </a:p>
          <a:p>
            <a:pPr>
              <a:lnSpc>
                <a:spcPct val="90000"/>
              </a:lnSpc>
              <a:spcBef>
                <a:spcPct val="0"/>
              </a:spcBef>
              <a:buFontTx/>
              <a:buNone/>
            </a:pPr>
            <a:r>
              <a:rPr lang="en-GB" altLang="zh-CN" sz="2200" dirty="0">
                <a:latin typeface="+mj-lt"/>
              </a:rPr>
              <a:t>E </a:t>
            </a:r>
            <a:r>
              <a:rPr lang="en-GB" altLang="zh-CN" sz="2200" dirty="0">
                <a:latin typeface="+mj-lt"/>
                <a:sym typeface="Wingdings" pitchFamily="2" charset="2"/>
              </a:rPr>
              <a:t></a:t>
            </a:r>
            <a:r>
              <a:rPr lang="en-GB" altLang="zh-CN" sz="2200" dirty="0" err="1">
                <a:latin typeface="+mj-lt"/>
                <a:sym typeface="Wingdings" pitchFamily="2" charset="2"/>
              </a:rPr>
              <a:t>aA</a:t>
            </a:r>
            <a:r>
              <a:rPr lang="en-GB" altLang="zh-CN" sz="2200" dirty="0">
                <a:latin typeface="+mj-lt"/>
                <a:sym typeface="Wingdings" pitchFamily="2" charset="2"/>
              </a:rPr>
              <a:t> | </a:t>
            </a:r>
            <a:r>
              <a:rPr lang="en-GB" altLang="zh-CN" sz="2200" dirty="0" err="1">
                <a:latin typeface="+mj-lt"/>
                <a:sym typeface="Wingdings" pitchFamily="2" charset="2"/>
              </a:rPr>
              <a:t>bB</a:t>
            </a:r>
            <a:endParaRPr lang="en-GB" altLang="zh-CN" sz="2200" dirty="0">
              <a:latin typeface="+mj-lt"/>
              <a:sym typeface="Wingdings" pitchFamily="2" charset="2"/>
            </a:endParaRPr>
          </a:p>
          <a:p>
            <a:pPr>
              <a:lnSpc>
                <a:spcPct val="90000"/>
              </a:lnSpc>
              <a:spcBef>
                <a:spcPct val="0"/>
              </a:spcBef>
              <a:buFontTx/>
              <a:buNone/>
            </a:pPr>
            <a:r>
              <a:rPr lang="en-GB" altLang="zh-CN" sz="2200" dirty="0">
                <a:latin typeface="+mj-lt"/>
                <a:sym typeface="Wingdings" pitchFamily="2" charset="2"/>
              </a:rPr>
              <a:t>A </a:t>
            </a:r>
            <a:r>
              <a:rPr lang="en-GB" altLang="zh-CN" sz="2200" dirty="0" err="1">
                <a:latin typeface="+mj-lt"/>
                <a:sym typeface="Wingdings" pitchFamily="2" charset="2"/>
              </a:rPr>
              <a:t>cA</a:t>
            </a:r>
            <a:r>
              <a:rPr lang="en-GB" altLang="zh-CN" sz="2200" dirty="0">
                <a:latin typeface="+mj-lt"/>
                <a:sym typeface="Wingdings" pitchFamily="2" charset="2"/>
              </a:rPr>
              <a:t> | d</a:t>
            </a:r>
          </a:p>
          <a:p>
            <a:pPr>
              <a:lnSpc>
                <a:spcPct val="90000"/>
              </a:lnSpc>
              <a:spcBef>
                <a:spcPct val="0"/>
              </a:spcBef>
              <a:buFont typeface="Wingdings 3"/>
              <a:buNone/>
            </a:pPr>
            <a:r>
              <a:rPr lang="en-US" altLang="zh-CN" sz="2200" dirty="0">
                <a:latin typeface="+mj-lt"/>
                <a:sym typeface="Wingdings" pitchFamily="2" charset="2"/>
              </a:rPr>
              <a:t>B </a:t>
            </a:r>
            <a:r>
              <a:rPr lang="en-GB" altLang="zh-CN" sz="2200" dirty="0">
                <a:latin typeface="+mj-lt"/>
                <a:sym typeface="Wingdings" pitchFamily="2" charset="2"/>
              </a:rPr>
              <a:t>c</a:t>
            </a:r>
            <a:r>
              <a:rPr lang="en-US" altLang="zh-CN" sz="2200" dirty="0">
                <a:latin typeface="+mj-lt"/>
                <a:sym typeface="Wingdings" pitchFamily="2" charset="2"/>
              </a:rPr>
              <a:t>B </a:t>
            </a:r>
            <a:r>
              <a:rPr lang="en-GB" altLang="zh-CN" sz="2200" dirty="0">
                <a:latin typeface="+mj-lt"/>
                <a:sym typeface="Wingdings" pitchFamily="2" charset="2"/>
              </a:rPr>
              <a:t>| d</a:t>
            </a:r>
          </a:p>
        </p:txBody>
      </p:sp>
      <p:sp>
        <p:nvSpPr>
          <p:cNvPr id="9" name="Text Box 5"/>
          <p:cNvSpPr txBox="1">
            <a:spLocks noChangeArrowheads="1"/>
          </p:cNvSpPr>
          <p:nvPr/>
        </p:nvSpPr>
        <p:spPr bwMode="auto">
          <a:xfrm>
            <a:off x="122411" y="2283718"/>
            <a:ext cx="37338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GB" sz="2800" b="1" dirty="0">
                <a:ea typeface="华文行楷" pitchFamily="2" charset="-122"/>
              </a:rPr>
              <a:t>1) 该文法的项目有：</a:t>
            </a:r>
            <a:endParaRPr lang="zh-CN" altLang="en-US" sz="2800" b="1" dirty="0">
              <a:ea typeface="华文行楷" pitchFamily="2" charset="-122"/>
            </a:endParaRPr>
          </a:p>
        </p:txBody>
      </p:sp>
      <p:sp>
        <p:nvSpPr>
          <p:cNvPr id="205826" name="Rectangle 2"/>
          <p:cNvSpPr>
            <a:spLocks noGrp="1" noChangeArrowheads="1"/>
          </p:cNvSpPr>
          <p:nvPr>
            <p:ph type="title"/>
          </p:nvPr>
        </p:nvSpPr>
        <p:spPr>
          <a:xfrm>
            <a:off x="107504" y="123478"/>
            <a:ext cx="5832648" cy="576064"/>
          </a:xfrm>
        </p:spPr>
        <p:txBody>
          <a:bodyPr>
            <a:normAutofit fontScale="90000"/>
          </a:bodyPr>
          <a:lstStyle/>
          <a:p>
            <a:r>
              <a:rPr lang="zh-CN" altLang="en-US" sz="2800" dirty="0">
                <a:solidFill>
                  <a:schemeClr val="tx1"/>
                </a:solidFill>
              </a:rPr>
              <a:t>例：求识别右边文法的活前缀的</a:t>
            </a:r>
            <a:r>
              <a:rPr lang="en-US" altLang="zh-CN" sz="2800" dirty="0">
                <a:solidFill>
                  <a:schemeClr val="tx1"/>
                </a:solidFill>
              </a:rPr>
              <a:t>NFA</a:t>
            </a:r>
            <a:endParaRPr lang="zh-CN" altLang="zh-CN" sz="2800" dirty="0"/>
          </a:p>
        </p:txBody>
      </p:sp>
      <p:sp>
        <p:nvSpPr>
          <p:cNvPr id="2" name="椭圆 1"/>
          <p:cNvSpPr/>
          <p:nvPr/>
        </p:nvSpPr>
        <p:spPr>
          <a:xfrm>
            <a:off x="3779912" y="1923678"/>
            <a:ext cx="504056" cy="50405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rPr>
              <a:t>1</a:t>
            </a:r>
            <a:endParaRPr lang="zh-CN" altLang="en-US" dirty="0">
              <a:solidFill>
                <a:schemeClr val="tx1"/>
              </a:solidFill>
            </a:endParaRPr>
          </a:p>
        </p:txBody>
      </p:sp>
      <p:sp>
        <p:nvSpPr>
          <p:cNvPr id="11" name="椭圆 10"/>
          <p:cNvSpPr/>
          <p:nvPr/>
        </p:nvSpPr>
        <p:spPr>
          <a:xfrm>
            <a:off x="4860032" y="1203598"/>
            <a:ext cx="504056" cy="50405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rPr>
              <a:t>3</a:t>
            </a:r>
            <a:endParaRPr lang="zh-CN" altLang="en-US" dirty="0">
              <a:solidFill>
                <a:schemeClr val="tx1"/>
              </a:solidFill>
            </a:endParaRPr>
          </a:p>
        </p:txBody>
      </p:sp>
      <p:sp>
        <p:nvSpPr>
          <p:cNvPr id="12" name="椭圆 11"/>
          <p:cNvSpPr/>
          <p:nvPr/>
        </p:nvSpPr>
        <p:spPr>
          <a:xfrm>
            <a:off x="4860032" y="2499742"/>
            <a:ext cx="648072" cy="50405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dirty="0">
                <a:solidFill>
                  <a:schemeClr val="tx1"/>
                </a:solidFill>
              </a:rPr>
              <a:t>11</a:t>
            </a:r>
            <a:endParaRPr lang="zh-CN" altLang="en-US" sz="1600" dirty="0">
              <a:solidFill>
                <a:schemeClr val="tx1"/>
              </a:solidFill>
            </a:endParaRPr>
          </a:p>
        </p:txBody>
      </p:sp>
      <p:sp>
        <p:nvSpPr>
          <p:cNvPr id="13" name="椭圆 12"/>
          <p:cNvSpPr/>
          <p:nvPr/>
        </p:nvSpPr>
        <p:spPr>
          <a:xfrm>
            <a:off x="4860032" y="1923678"/>
            <a:ext cx="504056" cy="50405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rPr>
              <a:t>2</a:t>
            </a:r>
            <a:endParaRPr lang="zh-CN" altLang="en-US" dirty="0">
              <a:solidFill>
                <a:schemeClr val="tx1"/>
              </a:solidFill>
            </a:endParaRPr>
          </a:p>
        </p:txBody>
      </p:sp>
      <p:grpSp>
        <p:nvGrpSpPr>
          <p:cNvPr id="24" name="组合 23"/>
          <p:cNvGrpSpPr/>
          <p:nvPr/>
        </p:nvGrpSpPr>
        <p:grpSpPr>
          <a:xfrm>
            <a:off x="4210151" y="1419622"/>
            <a:ext cx="723698" cy="584775"/>
            <a:chOff x="4210151" y="1419622"/>
            <a:chExt cx="723698" cy="584775"/>
          </a:xfrm>
        </p:grpSpPr>
        <p:cxnSp>
          <p:nvCxnSpPr>
            <p:cNvPr id="4" name="直接箭头连接符 3"/>
            <p:cNvCxnSpPr>
              <a:stCxn id="2" idx="7"/>
              <a:endCxn id="11" idx="3"/>
            </p:cNvCxnSpPr>
            <p:nvPr/>
          </p:nvCxnSpPr>
          <p:spPr>
            <a:xfrm flipV="1">
              <a:off x="4210151" y="1633837"/>
              <a:ext cx="723698" cy="363658"/>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4210151" y="1419622"/>
              <a:ext cx="595035" cy="584775"/>
            </a:xfrm>
            <a:prstGeom prst="rect">
              <a:avLst/>
            </a:prstGeom>
          </p:spPr>
          <p:txBody>
            <a:bodyPr wrap="none">
              <a:spAutoFit/>
            </a:bodyPr>
            <a:lstStyle/>
            <a:p>
              <a:r>
                <a:rPr lang="el-GR" altLang="zh-CN" sz="3200" dirty="0">
                  <a:solidFill>
                    <a:prstClr val="black"/>
                  </a:solidFill>
                  <a:latin typeface="宋体" pitchFamily="2" charset="-122"/>
                  <a:ea typeface="宋体" panose="02010600030101010101" pitchFamily="2" charset="-122"/>
                </a:rPr>
                <a:t>ε</a:t>
              </a:r>
              <a:endParaRPr lang="zh-CN" altLang="en-US" sz="2400" dirty="0"/>
            </a:p>
          </p:txBody>
        </p:sp>
      </p:grpSp>
      <p:grpSp>
        <p:nvGrpSpPr>
          <p:cNvPr id="30" name="组合 29"/>
          <p:cNvGrpSpPr/>
          <p:nvPr/>
        </p:nvGrpSpPr>
        <p:grpSpPr>
          <a:xfrm>
            <a:off x="4192989" y="2353917"/>
            <a:ext cx="667043" cy="649881"/>
            <a:chOff x="4192989" y="2353917"/>
            <a:chExt cx="667043" cy="649881"/>
          </a:xfrm>
        </p:grpSpPr>
        <p:cxnSp>
          <p:nvCxnSpPr>
            <p:cNvPr id="18" name="直接箭头连接符 17"/>
            <p:cNvCxnSpPr>
              <a:stCxn id="2" idx="5"/>
              <a:endCxn id="12" idx="2"/>
            </p:cNvCxnSpPr>
            <p:nvPr/>
          </p:nvCxnSpPr>
          <p:spPr>
            <a:xfrm>
              <a:off x="4210151" y="2353917"/>
              <a:ext cx="649881" cy="397853"/>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a:off x="4192989" y="2419023"/>
              <a:ext cx="595035" cy="584775"/>
            </a:xfrm>
            <a:prstGeom prst="rect">
              <a:avLst/>
            </a:prstGeom>
          </p:spPr>
          <p:txBody>
            <a:bodyPr wrap="none">
              <a:spAutoFit/>
            </a:bodyPr>
            <a:lstStyle/>
            <a:p>
              <a:r>
                <a:rPr lang="el-GR" altLang="zh-CN" sz="3200" dirty="0">
                  <a:solidFill>
                    <a:prstClr val="black"/>
                  </a:solidFill>
                  <a:latin typeface="宋体" pitchFamily="2" charset="-122"/>
                  <a:ea typeface="宋体" panose="02010600030101010101" pitchFamily="2" charset="-122"/>
                </a:rPr>
                <a:t>ε</a:t>
              </a:r>
              <a:endParaRPr lang="zh-CN" altLang="en-US" sz="2400" dirty="0"/>
            </a:p>
          </p:txBody>
        </p:sp>
      </p:grpSp>
      <p:grpSp>
        <p:nvGrpSpPr>
          <p:cNvPr id="205824" name="组合 205823"/>
          <p:cNvGrpSpPr/>
          <p:nvPr/>
        </p:nvGrpSpPr>
        <p:grpSpPr>
          <a:xfrm>
            <a:off x="4283968" y="1916341"/>
            <a:ext cx="576064" cy="461665"/>
            <a:chOff x="4283968" y="1822053"/>
            <a:chExt cx="576064" cy="461665"/>
          </a:xfrm>
        </p:grpSpPr>
        <p:cxnSp>
          <p:nvCxnSpPr>
            <p:cNvPr id="21" name="直接箭头连接符 20"/>
            <p:cNvCxnSpPr>
              <a:stCxn id="2" idx="6"/>
              <a:endCxn id="13" idx="2"/>
            </p:cNvCxnSpPr>
            <p:nvPr/>
          </p:nvCxnSpPr>
          <p:spPr>
            <a:xfrm>
              <a:off x="4283968" y="2175706"/>
              <a:ext cx="576064" cy="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4427984" y="1822053"/>
              <a:ext cx="338554" cy="461665"/>
            </a:xfrm>
            <a:prstGeom prst="rect">
              <a:avLst/>
            </a:prstGeom>
          </p:spPr>
          <p:txBody>
            <a:bodyPr wrap="none">
              <a:spAutoFit/>
            </a:bodyPr>
            <a:lstStyle/>
            <a:p>
              <a:r>
                <a:rPr lang="en-US" altLang="zh-CN" sz="2400" dirty="0">
                  <a:solidFill>
                    <a:prstClr val="black"/>
                  </a:solidFill>
                  <a:latin typeface="宋体" pitchFamily="2" charset="-122"/>
                  <a:ea typeface="宋体" panose="02010600030101010101" pitchFamily="2" charset="-122"/>
                </a:rPr>
                <a:t>E</a:t>
              </a:r>
              <a:endParaRPr lang="zh-CN" altLang="en-US" dirty="0"/>
            </a:p>
          </p:txBody>
        </p:sp>
      </p:grpSp>
      <p:sp>
        <p:nvSpPr>
          <p:cNvPr id="28" name="椭圆 27"/>
          <p:cNvSpPr/>
          <p:nvPr/>
        </p:nvSpPr>
        <p:spPr>
          <a:xfrm>
            <a:off x="5940152" y="1203598"/>
            <a:ext cx="504056" cy="50405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rPr>
              <a:t>4</a:t>
            </a:r>
            <a:endParaRPr lang="zh-CN" altLang="en-US" dirty="0">
              <a:solidFill>
                <a:schemeClr val="tx1"/>
              </a:solidFill>
            </a:endParaRPr>
          </a:p>
        </p:txBody>
      </p:sp>
      <p:grpSp>
        <p:nvGrpSpPr>
          <p:cNvPr id="205825" name="组合 205824"/>
          <p:cNvGrpSpPr/>
          <p:nvPr/>
        </p:nvGrpSpPr>
        <p:grpSpPr>
          <a:xfrm>
            <a:off x="5364088" y="1100718"/>
            <a:ext cx="576064" cy="461665"/>
            <a:chOff x="5364088" y="1100718"/>
            <a:chExt cx="576064" cy="461665"/>
          </a:xfrm>
        </p:grpSpPr>
        <p:cxnSp>
          <p:nvCxnSpPr>
            <p:cNvPr id="29" name="直接箭头连接符 28"/>
            <p:cNvCxnSpPr>
              <a:stCxn id="11" idx="6"/>
              <a:endCxn id="28" idx="2"/>
            </p:cNvCxnSpPr>
            <p:nvPr/>
          </p:nvCxnSpPr>
          <p:spPr>
            <a:xfrm>
              <a:off x="5364088" y="1455626"/>
              <a:ext cx="576064" cy="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a:off x="5457582" y="1100718"/>
              <a:ext cx="338554" cy="461665"/>
            </a:xfrm>
            <a:prstGeom prst="rect">
              <a:avLst/>
            </a:prstGeom>
          </p:spPr>
          <p:txBody>
            <a:bodyPr wrap="none">
              <a:spAutoFit/>
            </a:bodyPr>
            <a:lstStyle/>
            <a:p>
              <a:r>
                <a:rPr lang="en-US" altLang="zh-CN" sz="2400" dirty="0">
                  <a:solidFill>
                    <a:prstClr val="black"/>
                  </a:solidFill>
                  <a:latin typeface="宋体" pitchFamily="2" charset="-122"/>
                  <a:ea typeface="宋体" panose="02010600030101010101" pitchFamily="2" charset="-122"/>
                </a:rPr>
                <a:t>a</a:t>
              </a:r>
              <a:endParaRPr lang="zh-CN" altLang="en-US" dirty="0"/>
            </a:p>
          </p:txBody>
        </p:sp>
      </p:grpSp>
      <p:sp>
        <p:nvSpPr>
          <p:cNvPr id="2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23" name="对象 22"/>
          <p:cNvGraphicFramePr>
            <a:graphicFrameLocks noChangeAspect="1"/>
          </p:cNvGraphicFramePr>
          <p:nvPr>
            <p:extLst>
              <p:ext uri="{D42A27DB-BD31-4B8C-83A1-F6EECF244321}">
                <p14:modId xmlns:p14="http://schemas.microsoft.com/office/powerpoint/2010/main" val="3748680952"/>
              </p:ext>
            </p:extLst>
          </p:nvPr>
        </p:nvGraphicFramePr>
        <p:xfrm>
          <a:off x="3532793" y="209310"/>
          <a:ext cx="5354866" cy="3906462"/>
        </p:xfrm>
        <a:graphic>
          <a:graphicData uri="http://schemas.openxmlformats.org/presentationml/2006/ole">
            <mc:AlternateContent xmlns:mc="http://schemas.openxmlformats.org/markup-compatibility/2006">
              <mc:Choice xmlns:v="urn:schemas-microsoft-com:vml" Requires="v">
                <p:oleObj spid="_x0000_s50183" name="Visio" r:id="rId4" imgW="3217261" imgH="2345307" progId="Visio.Drawing.11">
                  <p:embed/>
                </p:oleObj>
              </mc:Choice>
              <mc:Fallback>
                <p:oleObj name="Visio" r:id="rId4" imgW="3217261" imgH="2345307" progId="Visio.Drawing.11">
                  <p:embed/>
                  <p:pic>
                    <p:nvPicPr>
                      <p:cNvPr id="23" name="对象 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2793" y="209310"/>
                        <a:ext cx="5354866" cy="3906462"/>
                      </a:xfrm>
                      <a:prstGeom prst="rect">
                        <a:avLst/>
                      </a:prstGeom>
                      <a:solidFill>
                        <a:schemeClr val="bg1"/>
                      </a:solidFill>
                    </p:spPr>
                  </p:pic>
                </p:oleObj>
              </mc:Fallback>
            </mc:AlternateContent>
          </a:graphicData>
        </a:graphic>
      </p:graphicFrame>
      <p:sp>
        <p:nvSpPr>
          <p:cNvPr id="6" name="Rectangle 4"/>
          <p:cNvSpPr>
            <a:spLocks noChangeArrowheads="1"/>
          </p:cNvSpPr>
          <p:nvPr/>
        </p:nvSpPr>
        <p:spPr bwMode="auto">
          <a:xfrm>
            <a:off x="-82411" y="2986588"/>
            <a:ext cx="4798427" cy="21767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4.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6.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9. A ·d       10. A  d·</a:t>
            </a:r>
          </a:p>
          <a:p>
            <a:pPr lvl="1" indent="-457200" eaLnBrk="1" hangingPunct="1">
              <a:lnSpc>
                <a:spcPct val="90000"/>
              </a:lnSpc>
              <a:buFontTx/>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14.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16.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a:t>
            </a:r>
          </a:p>
          <a:p>
            <a:pPr lvl="1" indent="-457200" eaLnBrk="1" hangingPunct="1">
              <a:lnSpc>
                <a:spcPct val="90000"/>
              </a:lnSpc>
              <a:buFontTx/>
              <a:buNone/>
            </a:pPr>
            <a:r>
              <a:rPr lang="en-GB" altLang="zh-CN" sz="1800" dirty="0">
                <a:latin typeface="+mn-lt"/>
                <a:ea typeface="华文行楷" pitchFamily="2" charset="-122"/>
                <a:sym typeface="Wingdings" pitchFamily="2" charset="2"/>
              </a:rPr>
              <a:t>17. B ·d      18. B  d·</a:t>
            </a:r>
            <a:endParaRPr lang="en-US" altLang="zh-CN" sz="1800" dirty="0">
              <a:latin typeface="+mn-lt"/>
              <a:ea typeface="华文行楷" pitchFamily="2" charset="-122"/>
              <a:sym typeface="Wingdings" pitchFamily="2" charset="2"/>
            </a:endParaRPr>
          </a:p>
        </p:txBody>
      </p:sp>
      <p:sp>
        <p:nvSpPr>
          <p:cNvPr id="205830" name="矩形 205829"/>
          <p:cNvSpPr/>
          <p:nvPr/>
        </p:nvSpPr>
        <p:spPr>
          <a:xfrm>
            <a:off x="1520018" y="3015281"/>
            <a:ext cx="1226618" cy="348557"/>
          </a:xfrm>
          <a:prstGeom prst="rect">
            <a:avLst/>
          </a:prstGeom>
          <a:solidFill>
            <a:schemeClr val="bg1"/>
          </a:solidFill>
        </p:spPr>
        <p:txBody>
          <a:bodyPr wrap="none">
            <a:spAutoFit/>
          </a:bodyPr>
          <a:lstStyle/>
          <a:p>
            <a:pPr lvl="1" indent="-457200">
              <a:lnSpc>
                <a:spcPct val="90000"/>
              </a:lnSpc>
            </a:pPr>
            <a:r>
              <a:rPr lang="en-GB" altLang="zh-CN" dirty="0">
                <a:solidFill>
                  <a:srgbClr val="FF0000"/>
                </a:solidFill>
                <a:ea typeface="华文行楷" pitchFamily="2" charset="-122"/>
                <a:sym typeface="Wingdings" pitchFamily="2" charset="2"/>
              </a:rPr>
              <a:t>2. </a:t>
            </a:r>
            <a:r>
              <a:rPr lang="en-GB" altLang="zh-CN" dirty="0">
                <a:solidFill>
                  <a:srgbClr val="FF0000"/>
                </a:solidFill>
                <a:ea typeface="华文行楷" pitchFamily="2" charset="-122"/>
              </a:rPr>
              <a:t>S</a:t>
            </a:r>
            <a:r>
              <a:rPr lang="en-US" altLang="zh-CN" dirty="0">
                <a:solidFill>
                  <a:srgbClr val="FF0000"/>
                </a:solidFill>
                <a:ea typeface="华文行楷" pitchFamily="2" charset="-122"/>
              </a:rPr>
              <a:t>'</a:t>
            </a:r>
            <a:r>
              <a:rPr lang="en-GB" altLang="zh-CN" dirty="0">
                <a:solidFill>
                  <a:srgbClr val="FF0000"/>
                </a:solidFill>
                <a:ea typeface="华文行楷" pitchFamily="2" charset="-122"/>
              </a:rPr>
              <a:t> </a:t>
            </a:r>
            <a:r>
              <a:rPr lang="en-GB" altLang="zh-CN" dirty="0">
                <a:solidFill>
                  <a:srgbClr val="FF0000"/>
                </a:solidFill>
                <a:ea typeface="华文行楷" pitchFamily="2" charset="-122"/>
                <a:sym typeface="Wingdings" pitchFamily="2" charset="2"/>
              </a:rPr>
              <a:t>E·</a:t>
            </a:r>
          </a:p>
        </p:txBody>
      </p:sp>
      <p:sp>
        <p:nvSpPr>
          <p:cNvPr id="205831" name="矩形 205830"/>
          <p:cNvSpPr/>
          <p:nvPr/>
        </p:nvSpPr>
        <p:spPr>
          <a:xfrm>
            <a:off x="-88359" y="3282538"/>
            <a:ext cx="1409360" cy="369332"/>
          </a:xfrm>
          <a:prstGeom prst="rect">
            <a:avLst/>
          </a:prstGeom>
          <a:solidFill>
            <a:schemeClr val="bg1"/>
          </a:solidFill>
        </p:spPr>
        <p:txBody>
          <a:bodyPr wrap="none">
            <a:spAutoFit/>
          </a:bodyPr>
          <a:lstStyle/>
          <a:p>
            <a:r>
              <a:rPr lang="en-GB" altLang="zh-CN" dirty="0">
                <a:solidFill>
                  <a:srgbClr val="FF0000"/>
                </a:solidFill>
                <a:ea typeface="华文行楷" pitchFamily="2" charset="-122"/>
              </a:rPr>
              <a:t>3. E </a:t>
            </a:r>
            <a:r>
              <a:rPr lang="en-GB" altLang="zh-CN" dirty="0">
                <a:solidFill>
                  <a:srgbClr val="FF0000"/>
                </a:solidFill>
                <a:ea typeface="华文行楷" pitchFamily="2" charset="-122"/>
                <a:sym typeface="Wingdings" pitchFamily="2" charset="2"/>
              </a:rPr>
              <a:t>·</a:t>
            </a:r>
            <a:r>
              <a:rPr lang="en-GB" altLang="zh-CN" dirty="0" err="1">
                <a:solidFill>
                  <a:srgbClr val="FF0000"/>
                </a:solidFill>
                <a:ea typeface="华文行楷" pitchFamily="2" charset="-122"/>
                <a:sym typeface="Wingdings" pitchFamily="2" charset="2"/>
              </a:rPr>
              <a:t>aA</a:t>
            </a:r>
            <a:r>
              <a:rPr lang="en-GB" altLang="zh-CN" dirty="0">
                <a:solidFill>
                  <a:srgbClr val="FF0000"/>
                </a:solidFill>
                <a:ea typeface="华文行楷" pitchFamily="2" charset="-122"/>
                <a:sym typeface="Wingdings" pitchFamily="2" charset="2"/>
              </a:rPr>
              <a:t> </a:t>
            </a:r>
            <a:endParaRPr lang="zh-CN" altLang="en-US" dirty="0">
              <a:solidFill>
                <a:srgbClr val="FF0000"/>
              </a:solidFill>
            </a:endParaRPr>
          </a:p>
        </p:txBody>
      </p:sp>
      <p:sp>
        <p:nvSpPr>
          <p:cNvPr id="205832" name="矩形 205831"/>
          <p:cNvSpPr/>
          <p:nvPr/>
        </p:nvSpPr>
        <p:spPr>
          <a:xfrm>
            <a:off x="-71562" y="4146634"/>
            <a:ext cx="1547218" cy="369332"/>
          </a:xfrm>
          <a:prstGeom prst="rect">
            <a:avLst/>
          </a:prstGeom>
          <a:solidFill>
            <a:schemeClr val="bg1"/>
          </a:solidFill>
        </p:spPr>
        <p:txBody>
          <a:bodyPr wrap="none">
            <a:spAutoFit/>
          </a:bodyPr>
          <a:lstStyle/>
          <a:p>
            <a:r>
              <a:rPr lang="en-GB" altLang="zh-CN" dirty="0">
                <a:solidFill>
                  <a:srgbClr val="FF0000"/>
                </a:solidFill>
                <a:ea typeface="华文行楷" pitchFamily="2" charset="-122"/>
                <a:sym typeface="Wingdings" pitchFamily="2" charset="2"/>
              </a:rPr>
              <a:t>11. </a:t>
            </a:r>
            <a:r>
              <a:rPr lang="en-GB" altLang="zh-CN" dirty="0">
                <a:solidFill>
                  <a:srgbClr val="FF0000"/>
                </a:solidFill>
                <a:ea typeface="华文行楷" pitchFamily="2" charset="-122"/>
              </a:rPr>
              <a:t>E </a:t>
            </a:r>
            <a:r>
              <a:rPr lang="en-GB" altLang="zh-CN" dirty="0">
                <a:solidFill>
                  <a:srgbClr val="FF0000"/>
                </a:solidFill>
                <a:ea typeface="华文行楷" pitchFamily="2" charset="-122"/>
                <a:sym typeface="Wingdings" pitchFamily="2" charset="2"/>
              </a:rPr>
              <a:t>·</a:t>
            </a:r>
            <a:r>
              <a:rPr lang="en-GB" altLang="zh-CN" dirty="0" err="1">
                <a:solidFill>
                  <a:srgbClr val="FF0000"/>
                </a:solidFill>
                <a:ea typeface="华文行楷" pitchFamily="2" charset="-122"/>
                <a:sym typeface="Wingdings" pitchFamily="2" charset="2"/>
              </a:rPr>
              <a:t>bB</a:t>
            </a:r>
            <a:r>
              <a:rPr lang="en-GB" altLang="zh-CN" dirty="0">
                <a:solidFill>
                  <a:srgbClr val="FF0000"/>
                </a:solidFill>
                <a:ea typeface="华文行楷" pitchFamily="2" charset="-122"/>
                <a:sym typeface="Wingdings" pitchFamily="2" charset="2"/>
              </a:rPr>
              <a:t> </a:t>
            </a:r>
            <a:endParaRPr lang="zh-CN" altLang="en-US" dirty="0">
              <a:solidFill>
                <a:srgbClr val="FF0000"/>
              </a:solidFill>
            </a:endParaRPr>
          </a:p>
        </p:txBody>
      </p:sp>
      <p:sp>
        <p:nvSpPr>
          <p:cNvPr id="205833" name="矩形 205832"/>
          <p:cNvSpPr/>
          <p:nvPr/>
        </p:nvSpPr>
        <p:spPr>
          <a:xfrm>
            <a:off x="1506456" y="3282538"/>
            <a:ext cx="1409360" cy="369332"/>
          </a:xfrm>
          <a:prstGeom prst="rect">
            <a:avLst/>
          </a:prstGeom>
          <a:solidFill>
            <a:schemeClr val="bg1"/>
          </a:solidFill>
        </p:spPr>
        <p:txBody>
          <a:bodyPr wrap="none">
            <a:spAutoFit/>
          </a:bodyPr>
          <a:lstStyle/>
          <a:p>
            <a:r>
              <a:rPr lang="en-GB" altLang="zh-CN" dirty="0">
                <a:solidFill>
                  <a:srgbClr val="FF0000"/>
                </a:solidFill>
                <a:ea typeface="华文行楷" pitchFamily="2" charset="-122"/>
                <a:sym typeface="Wingdings" pitchFamily="2" charset="2"/>
              </a:rPr>
              <a:t>4. </a:t>
            </a:r>
            <a:r>
              <a:rPr lang="en-GB" altLang="zh-CN" dirty="0">
                <a:solidFill>
                  <a:srgbClr val="FF0000"/>
                </a:solidFill>
                <a:ea typeface="华文行楷" pitchFamily="2" charset="-122"/>
              </a:rPr>
              <a:t>E </a:t>
            </a:r>
            <a:r>
              <a:rPr lang="en-GB" altLang="zh-CN" dirty="0">
                <a:solidFill>
                  <a:srgbClr val="FF0000"/>
                </a:solidFill>
                <a:ea typeface="华文行楷" pitchFamily="2" charset="-122"/>
                <a:sym typeface="Wingdings" pitchFamily="2" charset="2"/>
              </a:rPr>
              <a:t></a:t>
            </a:r>
            <a:r>
              <a:rPr lang="en-GB" altLang="zh-CN" dirty="0" err="1">
                <a:solidFill>
                  <a:srgbClr val="FF0000"/>
                </a:solidFill>
                <a:ea typeface="华文行楷" pitchFamily="2" charset="-122"/>
                <a:sym typeface="Wingdings" pitchFamily="2" charset="2"/>
              </a:rPr>
              <a:t>a·A</a:t>
            </a:r>
            <a:r>
              <a:rPr lang="en-GB" altLang="zh-CN" dirty="0">
                <a:solidFill>
                  <a:srgbClr val="FF0000"/>
                </a:solidFill>
                <a:ea typeface="华文行楷" pitchFamily="2" charset="-122"/>
                <a:sym typeface="Wingdings" pitchFamily="2" charset="2"/>
              </a:rPr>
              <a:t> </a:t>
            </a:r>
            <a:endParaRPr lang="zh-CN" altLang="en-US" dirty="0">
              <a:solidFill>
                <a:srgbClr val="FF0000"/>
              </a:solidFill>
            </a:endParaRPr>
          </a:p>
        </p:txBody>
      </p:sp>
      <p:sp>
        <p:nvSpPr>
          <p:cNvPr id="205834" name="矩形 205833"/>
          <p:cNvSpPr/>
          <p:nvPr/>
        </p:nvSpPr>
        <p:spPr>
          <a:xfrm>
            <a:off x="-82411" y="2986588"/>
            <a:ext cx="1300356" cy="369332"/>
          </a:xfrm>
          <a:prstGeom prst="rect">
            <a:avLst/>
          </a:prstGeom>
          <a:solidFill>
            <a:schemeClr val="bg1"/>
          </a:solidFill>
        </p:spPr>
        <p:txBody>
          <a:bodyPr wrap="none">
            <a:spAutoFit/>
          </a:bodyPr>
          <a:lstStyle/>
          <a:p>
            <a:r>
              <a:rPr lang="en-GB" altLang="zh-CN" dirty="0">
                <a:solidFill>
                  <a:srgbClr val="FF0000"/>
                </a:solidFill>
                <a:ea typeface="华文行楷" pitchFamily="2" charset="-122"/>
              </a:rPr>
              <a:t>1. S</a:t>
            </a:r>
            <a:r>
              <a:rPr lang="en-US" altLang="zh-CN" dirty="0">
                <a:solidFill>
                  <a:srgbClr val="FF0000"/>
                </a:solidFill>
                <a:ea typeface="华文行楷" pitchFamily="2" charset="-122"/>
              </a:rPr>
              <a:t>'</a:t>
            </a:r>
            <a:r>
              <a:rPr lang="en-GB" altLang="zh-CN" dirty="0">
                <a:solidFill>
                  <a:srgbClr val="FF0000"/>
                </a:solidFill>
                <a:ea typeface="华文行楷" pitchFamily="2" charset="-122"/>
              </a:rPr>
              <a:t> </a:t>
            </a:r>
            <a:r>
              <a:rPr lang="en-GB" altLang="zh-CN" dirty="0">
                <a:solidFill>
                  <a:srgbClr val="FF0000"/>
                </a:solidFill>
                <a:ea typeface="华文行楷" pitchFamily="2" charset="-122"/>
                <a:sym typeface="Wingdings" pitchFamily="2" charset="2"/>
              </a:rPr>
              <a:t></a:t>
            </a:r>
            <a:r>
              <a:rPr lang="en-GB" altLang="zh-CN" dirty="0">
                <a:solidFill>
                  <a:srgbClr val="FF0000"/>
                </a:solidFill>
                <a:ea typeface="华文行楷" pitchFamily="2" charset="-122"/>
                <a:cs typeface="Times New Roman" pitchFamily="18" charset="0"/>
                <a:sym typeface="Wingdings" pitchFamily="2" charset="2"/>
              </a:rPr>
              <a:t>·</a:t>
            </a:r>
            <a:r>
              <a:rPr lang="en-GB" altLang="zh-CN" dirty="0">
                <a:solidFill>
                  <a:srgbClr val="FF0000"/>
                </a:solidFill>
                <a:ea typeface="华文行楷" pitchFamily="2" charset="-122"/>
                <a:sym typeface="Wingdings" pitchFamily="2" charset="2"/>
              </a:rPr>
              <a:t>E </a:t>
            </a:r>
            <a:endParaRPr lang="zh-CN" altLang="en-US" dirty="0">
              <a:solidFill>
                <a:srgbClr val="FF0000"/>
              </a:solidFill>
            </a:endParaRPr>
          </a:p>
        </p:txBody>
      </p:sp>
    </p:spTree>
    <p:extLst>
      <p:ext uri="{BB962C8B-B14F-4D97-AF65-F5344CB8AC3E}">
        <p14:creationId xmlns:p14="http://schemas.microsoft.com/office/powerpoint/2010/main" val="3257596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Bottom)">
                                      <p:cBhvr>
                                        <p:cTn id="7" dur="500"/>
                                        <p:tgtEl>
                                          <p:spTgt spid="9"/>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05829">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05834"/>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205830"/>
                                        </p:tgtEl>
                                        <p:attrNameLst>
                                          <p:attrName>style.visibility</p:attrName>
                                        </p:attrNameLst>
                                      </p:cBhvr>
                                      <p:to>
                                        <p:strVal val="visible"/>
                                      </p:to>
                                    </p:set>
                                  </p:childTnLst>
                                </p:cTn>
                              </p:par>
                            </p:childTnLst>
                          </p:cTn>
                        </p:par>
                        <p:par>
                          <p:cTn id="26" fill="hold">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childTnLst>
                          </p:cTn>
                        </p:par>
                        <p:par>
                          <p:cTn id="33" fill="hold">
                            <p:stCondLst>
                              <p:cond delay="0"/>
                            </p:stCondLst>
                            <p:childTnLst>
                              <p:par>
                                <p:cTn id="34" presetID="1" presetClass="entr" presetSubtype="0" fill="hold" grpId="0" nodeType="afterEffect">
                                  <p:stCondLst>
                                    <p:cond delay="0"/>
                                  </p:stCondLst>
                                  <p:childTnLst>
                                    <p:set>
                                      <p:cBhvr>
                                        <p:cTn id="35" dur="1" fill="hold">
                                          <p:stCondLst>
                                            <p:cond delay="0"/>
                                          </p:stCondLst>
                                        </p:cTn>
                                        <p:tgtEl>
                                          <p:spTgt spid="205831"/>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childTnLst>
                                </p:cTn>
                              </p:par>
                            </p:childTnLst>
                          </p:cTn>
                        </p:par>
                        <p:par>
                          <p:cTn id="40" fill="hold">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0583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left)">
                                      <p:cBhvr>
                                        <p:cTn id="47" dur="5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wipe(left)">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205824"/>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28"/>
                                        </p:tgtEl>
                                        <p:attrNameLst>
                                          <p:attrName>style.visibility</p:attrName>
                                        </p:attrNameLst>
                                      </p:cBhvr>
                                      <p:to>
                                        <p:strVal val="visible"/>
                                      </p:to>
                                    </p:set>
                                  </p:childTnLst>
                                </p:cTn>
                              </p:par>
                            </p:childTnLst>
                          </p:cTn>
                        </p:par>
                        <p:par>
                          <p:cTn id="61" fill="hold">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05833"/>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nodeType="clickEffect">
                                  <p:stCondLst>
                                    <p:cond delay="0"/>
                                  </p:stCondLst>
                                  <p:childTnLst>
                                    <p:set>
                                      <p:cBhvr>
                                        <p:cTn id="67" dur="1" fill="hold">
                                          <p:stCondLst>
                                            <p:cond delay="0"/>
                                          </p:stCondLst>
                                        </p:cTn>
                                        <p:tgtEl>
                                          <p:spTgt spid="205825"/>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23"/>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2058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827" grpId="0"/>
      <p:bldP spid="205829" grpId="0" build="p"/>
      <p:bldP spid="9" grpId="0" autoUpdateAnimBg="0"/>
      <p:bldP spid="2" grpId="0" animBg="1"/>
      <p:bldP spid="11" grpId="0" animBg="1"/>
      <p:bldP spid="12" grpId="0" animBg="1"/>
      <p:bldP spid="13" grpId="0" animBg="1"/>
      <p:bldP spid="28" grpId="0" animBg="1"/>
      <p:bldP spid="6" grpId="0" animBg="1"/>
      <p:bldP spid="205830" grpId="0" animBg="1"/>
      <p:bldP spid="205831" grpId="0" animBg="1"/>
      <p:bldP spid="205832" grpId="0" animBg="1"/>
      <p:bldP spid="205833" grpId="0" animBg="1"/>
      <p:bldP spid="205834"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对象 1">
            <a:extLst>
              <a:ext uri="{FF2B5EF4-FFF2-40B4-BE49-F238E27FC236}">
                <a16:creationId xmlns:a16="http://schemas.microsoft.com/office/drawing/2014/main" id="{A8B56207-C9DF-428D-F68D-1A0B8AEA3ACF}"/>
              </a:ext>
            </a:extLst>
          </p:cNvPr>
          <p:cNvGraphicFramePr>
            <a:graphicFrameLocks noChangeAspect="1"/>
          </p:cNvGraphicFramePr>
          <p:nvPr>
            <p:extLst>
              <p:ext uri="{D42A27DB-BD31-4B8C-83A1-F6EECF244321}">
                <p14:modId xmlns:p14="http://schemas.microsoft.com/office/powerpoint/2010/main" val="2843010467"/>
              </p:ext>
            </p:extLst>
          </p:nvPr>
        </p:nvGraphicFramePr>
        <p:xfrm>
          <a:off x="1629449" y="2355727"/>
          <a:ext cx="3206999" cy="2339558"/>
        </p:xfrm>
        <a:graphic>
          <a:graphicData uri="http://schemas.openxmlformats.org/presentationml/2006/ole">
            <mc:AlternateContent xmlns:mc="http://schemas.openxmlformats.org/markup-compatibility/2006">
              <mc:Choice xmlns:v="urn:schemas-microsoft-com:vml" Requires="v">
                <p:oleObj spid="_x0000_s51212" name="Visio" r:id="rId4" imgW="3217261" imgH="2345307" progId="Visio.Drawing.11">
                  <p:embed/>
                </p:oleObj>
              </mc:Choice>
              <mc:Fallback>
                <p:oleObj name="Visio" r:id="rId4" imgW="3217261" imgH="2345307" progId="Visio.Drawing.11">
                  <p:embed/>
                  <p:pic>
                    <p:nvPicPr>
                      <p:cNvPr id="23" name="对象 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29449" y="2355727"/>
                        <a:ext cx="3206999" cy="2339558"/>
                      </a:xfrm>
                      <a:prstGeom prst="rect">
                        <a:avLst/>
                      </a:prstGeom>
                      <a:solidFill>
                        <a:schemeClr val="bg1"/>
                      </a:solidFill>
                    </p:spPr>
                  </p:pic>
                </p:oleObj>
              </mc:Fallback>
            </mc:AlternateContent>
          </a:graphicData>
        </a:graphic>
      </p:graphicFrame>
      <p:sp>
        <p:nvSpPr>
          <p:cNvPr id="207875" name="Text Box 6"/>
          <p:cNvSpPr>
            <a:spLocks noGrp="1" noChangeArrowheads="1"/>
          </p:cNvSpPr>
          <p:nvPr>
            <p:ph type="body" idx="1"/>
          </p:nvPr>
        </p:nvSpPr>
        <p:spPr>
          <a:xfrm>
            <a:off x="113048" y="1060374"/>
            <a:ext cx="4890999" cy="934877"/>
          </a:xfrm>
          <a:noFill/>
          <a:ln>
            <a:noFill/>
          </a:ln>
        </p:spPr>
        <p:style>
          <a:lnRef idx="2">
            <a:schemeClr val="dk1"/>
          </a:lnRef>
          <a:fillRef idx="1">
            <a:schemeClr val="lt1"/>
          </a:fillRef>
          <a:effectRef idx="0">
            <a:schemeClr val="dk1"/>
          </a:effectRef>
          <a:fontRef idx="minor">
            <a:schemeClr val="dk1"/>
          </a:fontRef>
        </p:style>
        <p:txBody>
          <a:bodyPr>
            <a:normAutofit fontScale="92500" lnSpcReduction="10000"/>
          </a:bodyPr>
          <a:lstStyle/>
          <a:p>
            <a:pPr marL="0" indent="0" eaLnBrk="1" hangingPunct="1">
              <a:spcBef>
                <a:spcPct val="50000"/>
              </a:spcBef>
              <a:buFontTx/>
              <a:buNone/>
            </a:pPr>
            <a:r>
              <a:rPr lang="zh-CN" altLang="en-US" sz="2000" dirty="0">
                <a:solidFill>
                  <a:schemeClr val="tx1"/>
                </a:solidFill>
                <a:latin typeface="楷体_GB2312" pitchFamily="49" charset="-122"/>
                <a:ea typeface="楷体_GB2312" pitchFamily="49" charset="-122"/>
              </a:rPr>
              <a:t>得到一个识别该文法的确定的有穷自动机，其每个状态是项目集，后面会证明，这些状态中的项目是等价的</a:t>
            </a:r>
          </a:p>
        </p:txBody>
      </p:sp>
      <p:sp>
        <p:nvSpPr>
          <p:cNvPr id="207876" name="Rectangle 8"/>
          <p:cNvSpPr>
            <a:spLocks noChangeArrowheads="1"/>
          </p:cNvSpPr>
          <p:nvPr/>
        </p:nvSpPr>
        <p:spPr bwMode="auto">
          <a:xfrm>
            <a:off x="4479925" y="1250950"/>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07878" name="Text Box 5"/>
          <p:cNvSpPr txBox="1">
            <a:spLocks noChangeArrowheads="1"/>
          </p:cNvSpPr>
          <p:nvPr/>
        </p:nvSpPr>
        <p:spPr bwMode="auto">
          <a:xfrm>
            <a:off x="5652120" y="4582470"/>
            <a:ext cx="3276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800" b="1" dirty="0">
                <a:ea typeface="华文行楷" pitchFamily="2" charset="-122"/>
              </a:rPr>
              <a:t>识别活前缀的</a:t>
            </a:r>
            <a:r>
              <a:rPr lang="en-GB" altLang="zh-CN" sz="2800" b="1" dirty="0">
                <a:ea typeface="华文行楷" pitchFamily="2" charset="-122"/>
              </a:rPr>
              <a:t>DFA</a:t>
            </a:r>
            <a:endParaRPr lang="en-US" altLang="zh-CN" sz="2800" b="1" dirty="0">
              <a:ea typeface="华文行楷" pitchFamily="2" charset="-122"/>
            </a:endParaRPr>
          </a:p>
        </p:txBody>
      </p:sp>
      <p:sp>
        <p:nvSpPr>
          <p:cNvPr id="7" name="Rectangle 3"/>
          <p:cNvSpPr txBox="1">
            <a:spLocks noChangeArrowheads="1"/>
          </p:cNvSpPr>
          <p:nvPr/>
        </p:nvSpPr>
        <p:spPr>
          <a:xfrm>
            <a:off x="160149" y="2024908"/>
            <a:ext cx="1712230" cy="1236688"/>
          </a:xfrm>
          <a:prstGeom prst="rect">
            <a:avLst/>
          </a:prstGeom>
        </p:spPr>
        <p:style>
          <a:lnRef idx="2">
            <a:schemeClr val="accent1"/>
          </a:lnRef>
          <a:fillRef idx="1">
            <a:schemeClr val="lt1"/>
          </a:fillRef>
          <a:effectRef idx="0">
            <a:schemeClr val="accent1"/>
          </a:effectRef>
          <a:fontRef idx="minor">
            <a:schemeClr val="dk1"/>
          </a:fontRef>
        </p:style>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dk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dk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a:lnSpc>
                <a:spcPct val="90000"/>
              </a:lnSpc>
              <a:spcBef>
                <a:spcPct val="0"/>
              </a:spcBef>
              <a:buFontTx/>
              <a:buNone/>
            </a:pPr>
            <a:r>
              <a:rPr lang="en-GB" altLang="zh-CN" sz="2000" dirty="0">
                <a:latin typeface="+mj-lt"/>
              </a:rPr>
              <a:t>S</a:t>
            </a:r>
            <a:r>
              <a:rPr lang="en-US" altLang="zh-CN" sz="2000" dirty="0">
                <a:latin typeface="+mj-lt"/>
              </a:rPr>
              <a:t>' </a:t>
            </a:r>
            <a:r>
              <a:rPr lang="en-GB" altLang="zh-CN" sz="2000" dirty="0">
                <a:latin typeface="+mj-lt"/>
                <a:sym typeface="Wingdings" pitchFamily="2" charset="2"/>
              </a:rPr>
              <a:t>E</a:t>
            </a:r>
          </a:p>
          <a:p>
            <a:pPr>
              <a:lnSpc>
                <a:spcPct val="90000"/>
              </a:lnSpc>
              <a:spcBef>
                <a:spcPct val="0"/>
              </a:spcBef>
              <a:buFontTx/>
              <a:buNone/>
            </a:pPr>
            <a:r>
              <a:rPr lang="en-GB" altLang="zh-CN" sz="2000" dirty="0">
                <a:latin typeface="+mj-lt"/>
              </a:rPr>
              <a:t>E </a:t>
            </a:r>
            <a:r>
              <a:rPr lang="en-GB" altLang="zh-CN" sz="2000" dirty="0">
                <a:latin typeface="+mj-lt"/>
                <a:sym typeface="Wingdings" pitchFamily="2" charset="2"/>
              </a:rPr>
              <a:t></a:t>
            </a:r>
            <a:r>
              <a:rPr lang="en-GB" altLang="zh-CN" sz="2000" dirty="0" err="1">
                <a:latin typeface="+mj-lt"/>
                <a:sym typeface="Wingdings" pitchFamily="2" charset="2"/>
              </a:rPr>
              <a:t>aA</a:t>
            </a:r>
            <a:r>
              <a:rPr lang="en-GB" altLang="zh-CN" sz="2000" dirty="0">
                <a:latin typeface="+mj-lt"/>
                <a:sym typeface="Wingdings" pitchFamily="2" charset="2"/>
              </a:rPr>
              <a:t> | </a:t>
            </a:r>
            <a:r>
              <a:rPr lang="en-GB" altLang="zh-CN" sz="2000" dirty="0" err="1">
                <a:latin typeface="+mj-lt"/>
                <a:sym typeface="Wingdings" pitchFamily="2" charset="2"/>
              </a:rPr>
              <a:t>bB</a:t>
            </a:r>
            <a:endParaRPr lang="en-GB" altLang="zh-CN" sz="2000" dirty="0">
              <a:latin typeface="+mj-lt"/>
              <a:sym typeface="Wingdings" pitchFamily="2" charset="2"/>
            </a:endParaRPr>
          </a:p>
          <a:p>
            <a:pPr>
              <a:lnSpc>
                <a:spcPct val="90000"/>
              </a:lnSpc>
              <a:spcBef>
                <a:spcPct val="0"/>
              </a:spcBef>
              <a:buFontTx/>
              <a:buNone/>
            </a:pPr>
            <a:r>
              <a:rPr lang="en-GB" altLang="zh-CN" sz="2000" dirty="0">
                <a:latin typeface="+mj-lt"/>
                <a:sym typeface="Wingdings" pitchFamily="2" charset="2"/>
              </a:rPr>
              <a:t>A </a:t>
            </a:r>
            <a:r>
              <a:rPr lang="en-GB" altLang="zh-CN" sz="2000" dirty="0" err="1">
                <a:latin typeface="+mj-lt"/>
                <a:sym typeface="Wingdings" pitchFamily="2" charset="2"/>
              </a:rPr>
              <a:t>cA</a:t>
            </a:r>
            <a:r>
              <a:rPr lang="en-GB" altLang="zh-CN" sz="2000" dirty="0">
                <a:latin typeface="+mj-lt"/>
                <a:sym typeface="Wingdings" pitchFamily="2" charset="2"/>
              </a:rPr>
              <a:t> | d</a:t>
            </a:r>
          </a:p>
          <a:p>
            <a:pPr>
              <a:lnSpc>
                <a:spcPct val="90000"/>
              </a:lnSpc>
              <a:spcBef>
                <a:spcPct val="0"/>
              </a:spcBef>
              <a:buFont typeface="Wingdings 3"/>
              <a:buNone/>
            </a:pPr>
            <a:r>
              <a:rPr lang="en-US" altLang="zh-CN" sz="2000" dirty="0">
                <a:latin typeface="+mj-lt"/>
                <a:sym typeface="Wingdings" pitchFamily="2" charset="2"/>
              </a:rPr>
              <a:t>B </a:t>
            </a:r>
            <a:r>
              <a:rPr lang="en-GB" altLang="zh-CN" sz="2000" dirty="0">
                <a:latin typeface="+mj-lt"/>
                <a:sym typeface="Wingdings" pitchFamily="2" charset="2"/>
              </a:rPr>
              <a:t>c</a:t>
            </a:r>
            <a:r>
              <a:rPr lang="en-US" altLang="zh-CN" sz="2000" dirty="0">
                <a:latin typeface="+mj-lt"/>
                <a:sym typeface="Wingdings" pitchFamily="2" charset="2"/>
              </a:rPr>
              <a:t>B </a:t>
            </a:r>
            <a:r>
              <a:rPr lang="en-GB" altLang="zh-CN" sz="2000" dirty="0">
                <a:latin typeface="+mj-lt"/>
                <a:sym typeface="Wingdings" pitchFamily="2" charset="2"/>
              </a:rPr>
              <a:t>| d</a:t>
            </a:r>
          </a:p>
        </p:txBody>
      </p:sp>
      <p:sp>
        <p:nvSpPr>
          <p:cNvPr id="6" name="Rectangle 6">
            <a:extLst>
              <a:ext uri="{FF2B5EF4-FFF2-40B4-BE49-F238E27FC236}">
                <a16:creationId xmlns:a16="http://schemas.microsoft.com/office/drawing/2014/main" id="{3FF7229B-3A35-1B0E-F5DD-70FA76955E0C}"/>
              </a:ext>
            </a:extLst>
          </p:cNvPr>
          <p:cNvSpPr>
            <a:spLocks noChangeArrowheads="1"/>
          </p:cNvSpPr>
          <p:nvPr/>
        </p:nvSpPr>
        <p:spPr bwMode="auto">
          <a:xfrm>
            <a:off x="160149" y="475600"/>
            <a:ext cx="32544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b="1" dirty="0">
                <a:solidFill>
                  <a:schemeClr val="accent2"/>
                </a:solidFill>
                <a:ea typeface="华文行楷" pitchFamily="2" charset="-122"/>
              </a:rPr>
              <a:t>2</a:t>
            </a:r>
            <a:r>
              <a:rPr lang="zh-CN" altLang="en-US" b="1" dirty="0">
                <a:solidFill>
                  <a:schemeClr val="accent2"/>
                </a:solidFill>
                <a:ea typeface="华文行楷" pitchFamily="2" charset="-122"/>
              </a:rPr>
              <a:t>）将</a:t>
            </a:r>
            <a:r>
              <a:rPr lang="en-US" altLang="zh-CN" b="1" dirty="0">
                <a:solidFill>
                  <a:schemeClr val="accent2"/>
                </a:solidFill>
                <a:ea typeface="华文行楷" pitchFamily="2" charset="-122"/>
              </a:rPr>
              <a:t>NFA</a:t>
            </a:r>
            <a:r>
              <a:rPr lang="zh-CN" altLang="en-US" b="1" dirty="0">
                <a:solidFill>
                  <a:schemeClr val="accent2"/>
                </a:solidFill>
                <a:ea typeface="华文行楷" pitchFamily="2" charset="-122"/>
              </a:rPr>
              <a:t>确定化</a:t>
            </a:r>
          </a:p>
        </p:txBody>
      </p:sp>
      <p:graphicFrame>
        <p:nvGraphicFramePr>
          <p:cNvPr id="5" name="对象 4">
            <a:extLst>
              <a:ext uri="{FF2B5EF4-FFF2-40B4-BE49-F238E27FC236}">
                <a16:creationId xmlns:a16="http://schemas.microsoft.com/office/drawing/2014/main" id="{5D15948A-9E20-47D5-1B5A-9C7EC7AD8BA1}"/>
              </a:ext>
            </a:extLst>
          </p:cNvPr>
          <p:cNvGraphicFramePr>
            <a:graphicFrameLocks noChangeAspect="1"/>
          </p:cNvGraphicFramePr>
          <p:nvPr>
            <p:extLst>
              <p:ext uri="{D42A27DB-BD31-4B8C-83A1-F6EECF244321}">
                <p14:modId xmlns:p14="http://schemas.microsoft.com/office/powerpoint/2010/main" val="2979039688"/>
              </p:ext>
            </p:extLst>
          </p:nvPr>
        </p:nvGraphicFramePr>
        <p:xfrm>
          <a:off x="4770818" y="195486"/>
          <a:ext cx="4260134" cy="4386984"/>
        </p:xfrm>
        <a:graphic>
          <a:graphicData uri="http://schemas.openxmlformats.org/presentationml/2006/ole">
            <mc:AlternateContent xmlns:mc="http://schemas.openxmlformats.org/markup-compatibility/2006">
              <mc:Choice xmlns:v="urn:schemas-microsoft-com:vml" Requires="v">
                <p:oleObj spid="_x0000_s51213" name="Visio" r:id="rId6" imgW="3124085" imgH="3333727" progId="Visio.Drawing.15">
                  <p:embed/>
                </p:oleObj>
              </mc:Choice>
              <mc:Fallback>
                <p:oleObj name="Visio" r:id="rId6" imgW="3124085" imgH="3333727" progId="Visio.Drawing.15">
                  <p:embed/>
                  <p:pic>
                    <p:nvPicPr>
                      <p:cNvPr id="12" name="对象 11">
                        <a:extLst>
                          <a:ext uri="{FF2B5EF4-FFF2-40B4-BE49-F238E27FC236}">
                            <a16:creationId xmlns:a16="http://schemas.microsoft.com/office/drawing/2014/main" id="{812D743C-FAE0-77AC-8A6A-E67F6A901D8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70818" y="195486"/>
                        <a:ext cx="4260134" cy="4386984"/>
                      </a:xfrm>
                      <a:prstGeom prst="rect">
                        <a:avLst/>
                      </a:prstGeom>
                      <a:noFill/>
                    </p:spPr>
                  </p:pic>
                </p:oleObj>
              </mc:Fallback>
            </mc:AlternateContent>
          </a:graphicData>
        </a:graphic>
      </p:graphicFrame>
    </p:spTree>
    <p:extLst>
      <p:ext uri="{BB962C8B-B14F-4D97-AF65-F5344CB8AC3E}">
        <p14:creationId xmlns:p14="http://schemas.microsoft.com/office/powerpoint/2010/main" val="3395682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6259" name="Rectangle 3"/>
          <p:cNvSpPr>
            <a:spLocks noGrp="1" noChangeArrowheads="1"/>
          </p:cNvSpPr>
          <p:nvPr>
            <p:ph type="body" idx="1"/>
          </p:nvPr>
        </p:nvSpPr>
        <p:spPr>
          <a:xfrm>
            <a:off x="331550" y="843558"/>
            <a:ext cx="5211118" cy="2664296"/>
          </a:xfrm>
          <a:solidFill>
            <a:schemeClr val="bg1"/>
          </a:solidFill>
          <a:ln w="28575">
            <a:solidFill>
              <a:schemeClr val="accent2"/>
            </a:solidFill>
            <a:miter lim="800000"/>
            <a:headEnd/>
            <a:tailEnd/>
          </a:ln>
        </p:spPr>
        <p:txBody>
          <a:bodyPr>
            <a:noAutofit/>
          </a:bodyPr>
          <a:lstStyle/>
          <a:p>
            <a:pPr eaLnBrk="1" hangingPunct="1">
              <a:lnSpc>
                <a:spcPct val="110000"/>
              </a:lnSpc>
              <a:spcBef>
                <a:spcPts val="0"/>
              </a:spcBef>
            </a:pPr>
            <a:r>
              <a:rPr lang="zh-CN" altLang="en-US" sz="2100" b="1" dirty="0">
                <a:solidFill>
                  <a:srgbClr val="FF0000"/>
                </a:solidFill>
              </a:rPr>
              <a:t>项目集</a:t>
            </a:r>
            <a:r>
              <a:rPr lang="en-US" altLang="zh-CN" sz="2100" b="1" dirty="0">
                <a:solidFill>
                  <a:srgbClr val="FF0000"/>
                </a:solidFill>
              </a:rPr>
              <a:t>I</a:t>
            </a:r>
            <a:r>
              <a:rPr lang="zh-CN" altLang="en-US" sz="2100" b="1" dirty="0">
                <a:solidFill>
                  <a:srgbClr val="FF0000"/>
                </a:solidFill>
              </a:rPr>
              <a:t>的闭包</a:t>
            </a:r>
            <a:r>
              <a:rPr lang="en-US" altLang="zh-CN" sz="2100" b="1" dirty="0">
                <a:solidFill>
                  <a:schemeClr val="accent2"/>
                </a:solidFill>
              </a:rPr>
              <a:t>Closure(I)</a:t>
            </a:r>
            <a:r>
              <a:rPr lang="zh-CN" altLang="en-US" sz="2100" b="1" dirty="0"/>
              <a:t>定义为：</a:t>
            </a:r>
          </a:p>
          <a:p>
            <a:pPr lvl="1" eaLnBrk="1" hangingPunct="1">
              <a:lnSpc>
                <a:spcPct val="110000"/>
              </a:lnSpc>
              <a:spcBef>
                <a:spcPts val="0"/>
              </a:spcBef>
              <a:buFontTx/>
              <a:buNone/>
            </a:pPr>
            <a:r>
              <a:rPr lang="en-US" altLang="zh-CN" sz="2100" dirty="0">
                <a:sym typeface="Wingdings 2" pitchFamily="18" charset="2"/>
              </a:rPr>
              <a:t>(1) I</a:t>
            </a:r>
            <a:r>
              <a:rPr lang="zh-CN" altLang="en-US" sz="2100" dirty="0">
                <a:sym typeface="Wingdings 2" pitchFamily="18" charset="2"/>
              </a:rPr>
              <a:t>中的任何项目都</a:t>
            </a:r>
            <a:r>
              <a:rPr lang="zh-CN" altLang="en-US" sz="2100" dirty="0">
                <a:sym typeface="Symbol" pitchFamily="18" charset="2"/>
              </a:rPr>
              <a:t></a:t>
            </a:r>
            <a:r>
              <a:rPr lang="en-US" altLang="zh-CN" sz="2100" dirty="0">
                <a:sym typeface="Symbol" pitchFamily="18" charset="2"/>
              </a:rPr>
              <a:t>Closure(I)</a:t>
            </a:r>
            <a:r>
              <a:rPr lang="zh-CN" altLang="en-US" sz="2100" dirty="0">
                <a:sym typeface="Symbol" pitchFamily="18" charset="2"/>
              </a:rPr>
              <a:t>；</a:t>
            </a:r>
            <a:endParaRPr lang="en-US" altLang="zh-CN" sz="2100" dirty="0">
              <a:sym typeface="Wingdings 2" pitchFamily="18" charset="2"/>
            </a:endParaRPr>
          </a:p>
          <a:p>
            <a:pPr lvl="1">
              <a:lnSpc>
                <a:spcPct val="110000"/>
              </a:lnSpc>
              <a:spcBef>
                <a:spcPts val="0"/>
              </a:spcBef>
              <a:buNone/>
            </a:pPr>
            <a:r>
              <a:rPr lang="en-US" altLang="zh-CN" sz="2100" dirty="0">
                <a:sym typeface="Wingdings 2" pitchFamily="18" charset="2"/>
              </a:rPr>
              <a:t>(2) </a:t>
            </a:r>
            <a:r>
              <a:rPr lang="zh-CN" altLang="en-US" sz="2100" dirty="0">
                <a:sym typeface="Wingdings 2" pitchFamily="18" charset="2"/>
              </a:rPr>
              <a:t>若</a:t>
            </a:r>
            <a:r>
              <a:rPr lang="en-US" altLang="zh-CN" sz="2100" dirty="0">
                <a:sym typeface="Wingdings 2" pitchFamily="18" charset="2"/>
              </a:rPr>
              <a:t>B</a:t>
            </a:r>
            <a:r>
              <a:rPr lang="en-US" altLang="zh-CN" sz="2100" dirty="0">
                <a:sym typeface="Symbol" pitchFamily="18" charset="2"/>
              </a:rPr>
              <a:t> ·</a:t>
            </a:r>
            <a:r>
              <a:rPr lang="en-US" altLang="zh-CN" sz="2100" dirty="0" err="1">
                <a:solidFill>
                  <a:srgbClr val="FF0000"/>
                </a:solidFill>
                <a:sym typeface="Symbol" pitchFamily="18" charset="2"/>
              </a:rPr>
              <a:t>A</a:t>
            </a:r>
            <a:r>
              <a:rPr lang="en-US" altLang="zh-CN" sz="2100" dirty="0" err="1">
                <a:sym typeface="Symbol" pitchFamily="18" charset="2"/>
              </a:rPr>
              <a:t>r</a:t>
            </a:r>
            <a:r>
              <a:rPr lang="en-US" altLang="zh-CN" sz="2100" dirty="0">
                <a:sym typeface="Symbol" pitchFamily="18" charset="2"/>
              </a:rPr>
              <a:t>Closure(I), </a:t>
            </a:r>
            <a:r>
              <a:rPr lang="zh-CN" altLang="en-US" sz="2100" dirty="0">
                <a:sym typeface="Symbol" pitchFamily="18" charset="2"/>
              </a:rPr>
              <a:t>且</a:t>
            </a:r>
            <a:r>
              <a:rPr lang="en-US" altLang="zh-CN" sz="2100" dirty="0">
                <a:sym typeface="Symbol" pitchFamily="18" charset="2"/>
              </a:rPr>
              <a:t>A V</a:t>
            </a:r>
            <a:r>
              <a:rPr lang="en-US" altLang="zh-CN" sz="2100" baseline="-25000" dirty="0">
                <a:sym typeface="Symbol" pitchFamily="18" charset="2"/>
              </a:rPr>
              <a:t>N </a:t>
            </a:r>
            <a:r>
              <a:rPr lang="zh-CN" altLang="en-US" sz="2100" dirty="0">
                <a:sym typeface="Symbol" pitchFamily="18" charset="2"/>
              </a:rPr>
              <a:t>，则对任何关于</a:t>
            </a:r>
            <a:r>
              <a:rPr lang="en-US" altLang="zh-CN" sz="2100" dirty="0">
                <a:sym typeface="Symbol" pitchFamily="18" charset="2"/>
              </a:rPr>
              <a:t>A</a:t>
            </a:r>
            <a:r>
              <a:rPr lang="zh-CN" altLang="en-US" sz="2100" dirty="0">
                <a:sym typeface="Symbol" pitchFamily="18" charset="2"/>
              </a:rPr>
              <a:t>的产生式：</a:t>
            </a:r>
            <a:r>
              <a:rPr lang="en-US" altLang="zh-CN" sz="2100" dirty="0">
                <a:solidFill>
                  <a:srgbClr val="FF0000"/>
                </a:solidFill>
                <a:sym typeface="Symbol" pitchFamily="18" charset="2"/>
              </a:rPr>
              <a:t>A</a:t>
            </a:r>
            <a:r>
              <a:rPr lang="en-US" altLang="zh-CN" sz="2100" dirty="0">
                <a:sym typeface="Symbol" pitchFamily="18" charset="2"/>
              </a:rPr>
              <a:t></a:t>
            </a:r>
            <a:r>
              <a:rPr lang="en-US" altLang="zh-CN" sz="2100" dirty="0">
                <a:solidFill>
                  <a:srgbClr val="FF0000"/>
                </a:solidFill>
                <a:sym typeface="Symbol" pitchFamily="18" charset="2"/>
              </a:rPr>
              <a:t>·</a:t>
            </a:r>
            <a:r>
              <a:rPr lang="en-US" altLang="zh-CN" sz="2100" dirty="0">
                <a:sym typeface="Symbol" pitchFamily="18" charset="2"/>
              </a:rPr>
              <a:t>Closure(I)</a:t>
            </a:r>
            <a:r>
              <a:rPr lang="zh-CN" altLang="en-US" sz="2100" dirty="0">
                <a:sym typeface="Symbol" pitchFamily="18" charset="2"/>
              </a:rPr>
              <a:t>，</a:t>
            </a:r>
            <a:r>
              <a:rPr lang="en-US" altLang="zh-CN" sz="2100" dirty="0">
                <a:sym typeface="Symbol" pitchFamily="18" charset="2"/>
              </a:rPr>
              <a:t></a:t>
            </a:r>
            <a:r>
              <a:rPr lang="zh-CN" altLang="en-US" sz="2100" dirty="0">
                <a:sym typeface="Symbol" pitchFamily="18" charset="2"/>
              </a:rPr>
              <a:t>为任意符号串；</a:t>
            </a:r>
          </a:p>
          <a:p>
            <a:pPr lvl="1" eaLnBrk="1" hangingPunct="1">
              <a:lnSpc>
                <a:spcPct val="110000"/>
              </a:lnSpc>
              <a:spcBef>
                <a:spcPts val="0"/>
              </a:spcBef>
              <a:buFontTx/>
              <a:buNone/>
            </a:pPr>
            <a:r>
              <a:rPr lang="en-US" altLang="zh-CN" sz="2100" dirty="0">
                <a:sym typeface="Wingdings 2" pitchFamily="18" charset="2"/>
              </a:rPr>
              <a:t>(3) </a:t>
            </a:r>
            <a:r>
              <a:rPr lang="zh-CN" altLang="en-US" sz="2100" dirty="0">
                <a:sym typeface="Wingdings 2" pitchFamily="18" charset="2"/>
              </a:rPr>
              <a:t>重复</a:t>
            </a:r>
            <a:r>
              <a:rPr lang="en-US" altLang="zh-CN" sz="2100" dirty="0">
                <a:sym typeface="Wingdings" pitchFamily="2" charset="2"/>
              </a:rPr>
              <a:t>(2)</a:t>
            </a:r>
            <a:r>
              <a:rPr lang="zh-CN" altLang="en-US" sz="2100" dirty="0">
                <a:sym typeface="Wingdings" pitchFamily="2" charset="2"/>
              </a:rPr>
              <a:t>直到</a:t>
            </a:r>
            <a:r>
              <a:rPr lang="en-US" altLang="zh-CN" sz="2100" dirty="0">
                <a:sym typeface="Wingdings" pitchFamily="2" charset="2"/>
              </a:rPr>
              <a:t>Closure(I)</a:t>
            </a:r>
            <a:r>
              <a:rPr lang="zh-CN" altLang="en-US" sz="2100" dirty="0">
                <a:sym typeface="Wingdings" pitchFamily="2" charset="2"/>
              </a:rPr>
              <a:t>不再增加为止。</a:t>
            </a:r>
          </a:p>
        </p:txBody>
      </p:sp>
      <p:sp>
        <p:nvSpPr>
          <p:cNvPr id="96261" name="Text Box 5"/>
          <p:cNvSpPr txBox="1">
            <a:spLocks noChangeArrowheads="1"/>
          </p:cNvSpPr>
          <p:nvPr/>
        </p:nvSpPr>
        <p:spPr bwMode="auto">
          <a:xfrm>
            <a:off x="422274" y="3723878"/>
            <a:ext cx="8428038" cy="1107996"/>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None/>
            </a:pPr>
            <a:r>
              <a:rPr lang="zh-CN" altLang="en-US" sz="2200" b="1" dirty="0">
                <a:solidFill>
                  <a:schemeClr val="accent2"/>
                </a:solidFill>
                <a:ea typeface="华文行楷" pitchFamily="2" charset="-122"/>
              </a:rPr>
              <a:t>注意</a:t>
            </a:r>
            <a:r>
              <a:rPr lang="zh-CN" altLang="en-US" sz="2200" dirty="0">
                <a:ea typeface="华文行楷" pitchFamily="2" charset="-122"/>
              </a:rPr>
              <a:t>：</a:t>
            </a:r>
            <a:r>
              <a:rPr lang="en-US" altLang="zh-CN" sz="2200" dirty="0">
                <a:ea typeface="华文行楷" pitchFamily="2" charset="-122"/>
              </a:rPr>
              <a:t>(2)</a:t>
            </a:r>
            <a:r>
              <a:rPr lang="zh-CN" altLang="en-US" sz="2200" dirty="0">
                <a:ea typeface="华文行楷" pitchFamily="2" charset="-122"/>
              </a:rPr>
              <a:t>的条件表示所有项目集中右边为</a:t>
            </a:r>
            <a:r>
              <a:rPr lang="en-US" altLang="zh-CN" sz="2200" b="1" dirty="0">
                <a:solidFill>
                  <a:srgbClr val="0000FF"/>
                </a:solidFill>
                <a:ea typeface="华文行楷" pitchFamily="2" charset="-122"/>
                <a:sym typeface="Symbol" pitchFamily="18" charset="2"/>
              </a:rPr>
              <a:t>·A</a:t>
            </a:r>
            <a:r>
              <a:rPr lang="zh-CN" altLang="en-US" sz="2200" dirty="0">
                <a:ea typeface="华文行楷" pitchFamily="2" charset="-122"/>
                <a:sym typeface="Symbol" pitchFamily="18" charset="2"/>
              </a:rPr>
              <a:t>的状态与</a:t>
            </a:r>
            <a:r>
              <a:rPr lang="en-US" altLang="zh-CN" sz="2200" dirty="0">
                <a:solidFill>
                  <a:srgbClr val="0000FF"/>
                </a:solidFill>
                <a:ea typeface="华文行楷" pitchFamily="2" charset="-122"/>
                <a:sym typeface="Symbol" pitchFamily="18" charset="2"/>
              </a:rPr>
              <a:t>A</a:t>
            </a:r>
            <a:r>
              <a:rPr lang="en-US" altLang="zh-CN" sz="2200" b="1" dirty="0">
                <a:solidFill>
                  <a:srgbClr val="0000FF"/>
                </a:solidFill>
                <a:ea typeface="华文行楷" pitchFamily="2" charset="-122"/>
                <a:sym typeface="Symbol" pitchFamily="18" charset="2"/>
              </a:rPr>
              <a:t>·</a:t>
            </a:r>
            <a:r>
              <a:rPr lang="en-US" altLang="zh-CN" sz="2200" dirty="0">
                <a:solidFill>
                  <a:srgbClr val="0000FF"/>
                </a:solidFill>
                <a:ea typeface="华文行楷" pitchFamily="2" charset="-122"/>
                <a:sym typeface="Symbol" pitchFamily="18" charset="2"/>
              </a:rPr>
              <a:t> </a:t>
            </a:r>
            <a:r>
              <a:rPr lang="zh-CN" altLang="en-US" sz="2200" dirty="0">
                <a:ea typeface="华文行楷" pitchFamily="2" charset="-122"/>
                <a:sym typeface="Symbol" pitchFamily="18" charset="2"/>
              </a:rPr>
              <a:t>的状态是等价的，因此，只要</a:t>
            </a:r>
            <a:r>
              <a:rPr lang="en-US" altLang="zh-CN" sz="2200" dirty="0">
                <a:solidFill>
                  <a:srgbClr val="CC00FF"/>
                </a:solidFill>
                <a:ea typeface="华文行楷" pitchFamily="2" charset="-122"/>
                <a:sym typeface="Symbol" pitchFamily="18" charset="2"/>
              </a:rPr>
              <a:t>A ·</a:t>
            </a:r>
            <a:r>
              <a:rPr lang="el-GR" altLang="zh-CN" sz="2200" dirty="0">
                <a:solidFill>
                  <a:srgbClr val="CC00FF"/>
                </a:solidFill>
                <a:ea typeface="华文行楷" pitchFamily="2" charset="-122"/>
                <a:sym typeface="Symbol" pitchFamily="18" charset="2"/>
              </a:rPr>
              <a:t> β</a:t>
            </a:r>
            <a:r>
              <a:rPr lang="zh-CN" altLang="en-US" sz="2200" dirty="0">
                <a:latin typeface="宋体" pitchFamily="2" charset="-122"/>
                <a:ea typeface="华文行楷" pitchFamily="2" charset="-122"/>
                <a:sym typeface="Symbol" pitchFamily="18" charset="2"/>
              </a:rPr>
              <a:t>进入</a:t>
            </a:r>
            <a:r>
              <a:rPr lang="en-US" altLang="zh-CN" sz="2200" dirty="0">
                <a:ea typeface="华文行楷" pitchFamily="2" charset="-122"/>
                <a:sym typeface="Symbol" pitchFamily="18" charset="2"/>
              </a:rPr>
              <a:t>Closure(I)</a:t>
            </a:r>
            <a:r>
              <a:rPr lang="zh-CN" altLang="en-US" sz="2200" dirty="0">
                <a:ea typeface="华文行楷" pitchFamily="2" charset="-122"/>
                <a:sym typeface="Symbol" pitchFamily="18" charset="2"/>
              </a:rPr>
              <a:t>中</a:t>
            </a:r>
            <a:r>
              <a:rPr lang="en-US" altLang="zh-CN" sz="2200" dirty="0">
                <a:ea typeface="华文行楷" pitchFamily="2" charset="-122"/>
                <a:sym typeface="Symbol" pitchFamily="18" charset="2"/>
              </a:rPr>
              <a:t>, </a:t>
            </a:r>
            <a:r>
              <a:rPr lang="zh-CN" altLang="en-US" sz="2200" dirty="0">
                <a:ea typeface="华文行楷" pitchFamily="2" charset="-122"/>
                <a:sym typeface="Symbol" pitchFamily="18" charset="2"/>
              </a:rPr>
              <a:t>则所有</a:t>
            </a:r>
            <a:r>
              <a:rPr lang="en-US" altLang="zh-CN" sz="2200" dirty="0">
                <a:ea typeface="华文行楷" pitchFamily="2" charset="-122"/>
                <a:sym typeface="Symbol" pitchFamily="18" charset="2"/>
              </a:rPr>
              <a:t>A</a:t>
            </a:r>
            <a:r>
              <a:rPr lang="zh-CN" altLang="en-US" sz="2200" dirty="0">
                <a:ea typeface="华文行楷" pitchFamily="2" charset="-122"/>
                <a:sym typeface="Symbol" pitchFamily="18" charset="2"/>
              </a:rPr>
              <a:t>的圆点在左边的项目</a:t>
            </a:r>
            <a:r>
              <a:rPr lang="en-US" altLang="zh-CN" sz="2200" dirty="0">
                <a:solidFill>
                  <a:srgbClr val="CC00FF"/>
                </a:solidFill>
                <a:ea typeface="华文行楷" pitchFamily="2" charset="-122"/>
                <a:sym typeface="Symbol" pitchFamily="18" charset="2"/>
              </a:rPr>
              <a:t>A</a:t>
            </a:r>
            <a:r>
              <a:rPr lang="en-US" altLang="zh-CN" sz="2200" dirty="0">
                <a:solidFill>
                  <a:srgbClr val="CC00FF"/>
                </a:solidFill>
                <a:ea typeface="华文行楷" pitchFamily="2" charset="-122"/>
                <a:sym typeface="Wingdings 2" pitchFamily="18" charset="2"/>
              </a:rPr>
              <a:t> </a:t>
            </a:r>
            <a:r>
              <a:rPr lang="en-US" altLang="zh-CN" sz="2200" dirty="0">
                <a:solidFill>
                  <a:srgbClr val="CC00FF"/>
                </a:solidFill>
                <a:ea typeface="华文行楷" pitchFamily="2" charset="-122"/>
                <a:sym typeface="Symbol" pitchFamily="18" charset="2"/>
              </a:rPr>
              <a:t>·δ</a:t>
            </a:r>
            <a:r>
              <a:rPr lang="zh-CN" altLang="en-US" sz="2200" dirty="0">
                <a:ea typeface="华文行楷" pitchFamily="2" charset="-122"/>
                <a:sym typeface="Symbol" pitchFamily="18" charset="2"/>
              </a:rPr>
              <a:t>都应进入同一个</a:t>
            </a:r>
            <a:r>
              <a:rPr lang="en-US" altLang="zh-CN" sz="2200" dirty="0">
                <a:ea typeface="华文行楷" pitchFamily="2" charset="-122"/>
                <a:sym typeface="Symbol" pitchFamily="18" charset="2"/>
              </a:rPr>
              <a:t>Closure(I)</a:t>
            </a:r>
            <a:r>
              <a:rPr lang="zh-CN" altLang="en-US" sz="2200" dirty="0">
                <a:ea typeface="华文行楷" pitchFamily="2" charset="-122"/>
                <a:sym typeface="Symbol" pitchFamily="18" charset="2"/>
              </a:rPr>
              <a:t>中。</a:t>
            </a:r>
          </a:p>
        </p:txBody>
      </p:sp>
      <p:sp>
        <p:nvSpPr>
          <p:cNvPr id="6" name="Rectangle 4"/>
          <p:cNvSpPr txBox="1">
            <a:spLocks noChangeArrowheads="1"/>
          </p:cNvSpPr>
          <p:nvPr/>
        </p:nvSpPr>
        <p:spPr>
          <a:xfrm>
            <a:off x="5668040" y="987574"/>
            <a:ext cx="3486224" cy="1466582"/>
          </a:xfrm>
          <a:prstGeom prst="rect">
            <a:avLst/>
          </a:prstGeom>
          <a:solidFill>
            <a:schemeClr val="accent3">
              <a:lumMod val="20000"/>
              <a:lumOff val="80000"/>
            </a:schemeClr>
          </a:solidFill>
          <a:ln w="28575">
            <a:solidFill>
              <a:schemeClr val="accent2"/>
            </a:solidFill>
            <a:miter lim="800000"/>
            <a:headEnd/>
            <a:tailEnd/>
          </a:ln>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82563" indent="-182563">
              <a:spcBef>
                <a:spcPts val="0"/>
              </a:spcBef>
            </a:pPr>
            <a:r>
              <a:rPr lang="zh-CN" altLang="en-US" sz="2200" u="sng" dirty="0"/>
              <a:t>若</a:t>
            </a:r>
            <a:r>
              <a:rPr lang="en-US" altLang="zh-CN" sz="2200" u="sng" dirty="0" err="1"/>
              <a:t>i</a:t>
            </a:r>
            <a:r>
              <a:rPr lang="zh-CN" altLang="en-US" sz="2200" u="sng" dirty="0"/>
              <a:t>的圆点后是</a:t>
            </a:r>
            <a:r>
              <a:rPr lang="en-US" altLang="zh-CN" sz="2200" u="sng" dirty="0">
                <a:solidFill>
                  <a:srgbClr val="FF0000"/>
                </a:solidFill>
              </a:rPr>
              <a:t>A</a:t>
            </a:r>
            <a:r>
              <a:rPr lang="zh-CN" altLang="en-US" sz="2200" u="sng" dirty="0"/>
              <a:t>，则连两种弧：</a:t>
            </a:r>
            <a:r>
              <a:rPr lang="en-US" altLang="zh-CN" sz="2200" u="sng" dirty="0"/>
              <a:t>(1)</a:t>
            </a:r>
            <a:r>
              <a:rPr lang="zh-CN" altLang="en-US" sz="2200" u="sng" dirty="0"/>
              <a:t>从状态</a:t>
            </a:r>
            <a:r>
              <a:rPr lang="en-US" altLang="zh-CN" sz="2200" u="sng" dirty="0" err="1"/>
              <a:t>i</a:t>
            </a:r>
            <a:r>
              <a:rPr lang="zh-CN" altLang="en-US" sz="2200" u="sng" dirty="0"/>
              <a:t>画</a:t>
            </a:r>
            <a:r>
              <a:rPr lang="el-GR" altLang="zh-CN" sz="2200" u="sng" dirty="0">
                <a:solidFill>
                  <a:prstClr val="black"/>
                </a:solidFill>
              </a:rPr>
              <a:t>ε</a:t>
            </a:r>
            <a:r>
              <a:rPr lang="zh-CN" altLang="en-US" sz="2200" u="sng" dirty="0"/>
              <a:t>弧到所有的</a:t>
            </a:r>
            <a:r>
              <a:rPr lang="en-US" altLang="zh-CN" sz="2200" u="sng" dirty="0">
                <a:solidFill>
                  <a:srgbClr val="FF0000"/>
                </a:solidFill>
              </a:rPr>
              <a:t>A→·</a:t>
            </a:r>
            <a:r>
              <a:rPr lang="el-GR" altLang="zh-CN" sz="2200" u="sng" dirty="0"/>
              <a:t>β</a:t>
            </a:r>
            <a:r>
              <a:rPr lang="zh-CN" altLang="en-US" sz="2200" u="sng" dirty="0"/>
              <a:t>的状态。</a:t>
            </a:r>
            <a:r>
              <a:rPr lang="en-US" altLang="zh-CN" sz="2200" dirty="0"/>
              <a:t>……</a:t>
            </a:r>
          </a:p>
        </p:txBody>
      </p:sp>
      <p:grpSp>
        <p:nvGrpSpPr>
          <p:cNvPr id="3" name="组合 2"/>
          <p:cNvGrpSpPr/>
          <p:nvPr/>
        </p:nvGrpSpPr>
        <p:grpSpPr>
          <a:xfrm>
            <a:off x="5381250" y="2564152"/>
            <a:ext cx="3727254" cy="1144113"/>
            <a:chOff x="5381250" y="2564152"/>
            <a:chExt cx="3727254" cy="1144113"/>
          </a:xfrm>
        </p:grpSpPr>
        <p:sp>
          <p:nvSpPr>
            <p:cNvPr id="7" name="矩形 6"/>
            <p:cNvSpPr/>
            <p:nvPr/>
          </p:nvSpPr>
          <p:spPr>
            <a:xfrm>
              <a:off x="5586956" y="2643758"/>
              <a:ext cx="1972015"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t>i: </a:t>
              </a:r>
              <a:r>
                <a:rPr lang="fr-FR" altLang="zh-CN" sz="2400" dirty="0"/>
                <a:t>X→…</a:t>
              </a:r>
              <a:r>
                <a:rPr lang="fr-FR" altLang="zh-CN" sz="2400" dirty="0">
                  <a:solidFill>
                    <a:srgbClr val="FF0000"/>
                  </a:solidFill>
                </a:rPr>
                <a:t>·</a:t>
              </a:r>
              <a:r>
                <a:rPr lang="en-US" altLang="zh-CN" sz="2400" dirty="0">
                  <a:solidFill>
                    <a:srgbClr val="FF0000"/>
                  </a:solidFill>
                </a:rPr>
                <a:t>A</a:t>
              </a:r>
              <a:r>
                <a:rPr lang="fr-FR" altLang="zh-CN" sz="2400" dirty="0"/>
                <a:t>…</a:t>
              </a:r>
              <a:endParaRPr lang="zh-CN" altLang="zh-CN" sz="2400" dirty="0"/>
            </a:p>
          </p:txBody>
        </p:sp>
        <p:sp>
          <p:nvSpPr>
            <p:cNvPr id="8" name="矩形 7"/>
            <p:cNvSpPr/>
            <p:nvPr/>
          </p:nvSpPr>
          <p:spPr>
            <a:xfrm>
              <a:off x="7384955" y="3246600"/>
              <a:ext cx="1723549" cy="461665"/>
            </a:xfrm>
            <a:prstGeom prst="rect">
              <a:avLst/>
            </a:prstGeom>
            <a:ln w="6350"/>
          </p:spPr>
          <p:style>
            <a:lnRef idx="2">
              <a:schemeClr val="accent3"/>
            </a:lnRef>
            <a:fillRef idx="1">
              <a:schemeClr val="lt1"/>
            </a:fillRef>
            <a:effectRef idx="0">
              <a:schemeClr val="accent3"/>
            </a:effectRef>
            <a:fontRef idx="minor">
              <a:schemeClr val="dk1"/>
            </a:fontRef>
          </p:style>
          <p:txBody>
            <a:bodyPr wrap="none">
              <a:spAutoFit/>
            </a:bodyPr>
            <a:lstStyle/>
            <a:p>
              <a:r>
                <a:rPr lang="en-US" altLang="zh-CN" sz="2400" dirty="0">
                  <a:solidFill>
                    <a:prstClr val="black"/>
                  </a:solidFill>
                  <a:latin typeface="宋体" pitchFamily="2" charset="-122"/>
                  <a:ea typeface="宋体" panose="02010600030101010101" pitchFamily="2" charset="-122"/>
                </a:rPr>
                <a:t>k: </a:t>
              </a:r>
              <a:r>
                <a:rPr lang="en-US" altLang="zh-CN" sz="2400" dirty="0">
                  <a:solidFill>
                    <a:srgbClr val="FF0000"/>
                  </a:solidFill>
                  <a:latin typeface="宋体" pitchFamily="2" charset="-122"/>
                  <a:ea typeface="宋体" panose="02010600030101010101" pitchFamily="2" charset="-122"/>
                </a:rPr>
                <a:t>A</a:t>
              </a:r>
              <a:r>
                <a:rPr lang="en-US" altLang="zh-CN" sz="2400" dirty="0">
                  <a:solidFill>
                    <a:prstClr val="black"/>
                  </a:solidFill>
                  <a:latin typeface="宋体" pitchFamily="2" charset="-122"/>
                  <a:ea typeface="宋体" panose="02010600030101010101" pitchFamily="2" charset="-122"/>
                </a:rPr>
                <a:t>→·</a:t>
              </a:r>
              <a:r>
                <a:rPr lang="el-GR" altLang="zh-CN" sz="2400" dirty="0">
                  <a:solidFill>
                    <a:prstClr val="black"/>
                  </a:solidFill>
                  <a:latin typeface="宋体" pitchFamily="2" charset="-122"/>
                  <a:ea typeface="宋体" panose="02010600030101010101" pitchFamily="2" charset="-122"/>
                </a:rPr>
                <a:t>β</a:t>
              </a:r>
              <a:endParaRPr lang="zh-CN" altLang="en-US" dirty="0"/>
            </a:p>
          </p:txBody>
        </p:sp>
        <p:grpSp>
          <p:nvGrpSpPr>
            <p:cNvPr id="9" name="组合 8"/>
            <p:cNvGrpSpPr/>
            <p:nvPr/>
          </p:nvGrpSpPr>
          <p:grpSpPr>
            <a:xfrm>
              <a:off x="5381250" y="2564152"/>
              <a:ext cx="2145773" cy="1144113"/>
              <a:chOff x="2210607" y="3956628"/>
              <a:chExt cx="2145773" cy="1144113"/>
            </a:xfrm>
          </p:grpSpPr>
          <p:sp>
            <p:nvSpPr>
              <p:cNvPr id="10" name="弧形 9"/>
              <p:cNvSpPr/>
              <p:nvPr/>
            </p:nvSpPr>
            <p:spPr>
              <a:xfrm rot="1698910" flipV="1">
                <a:off x="2210607" y="3956628"/>
                <a:ext cx="2145773" cy="843196"/>
              </a:xfrm>
              <a:prstGeom prst="arc">
                <a:avLst>
                  <a:gd name="adj1" fmla="val 13339226"/>
                  <a:gd name="adj2" fmla="val 0"/>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 name="矩形 10"/>
              <p:cNvSpPr/>
              <p:nvPr/>
            </p:nvSpPr>
            <p:spPr>
              <a:xfrm>
                <a:off x="3284724" y="4515966"/>
                <a:ext cx="595035" cy="584775"/>
              </a:xfrm>
              <a:prstGeom prst="rect">
                <a:avLst/>
              </a:prstGeom>
            </p:spPr>
            <p:txBody>
              <a:bodyPr wrap="none">
                <a:spAutoFit/>
              </a:bodyPr>
              <a:lstStyle/>
              <a:p>
                <a:r>
                  <a:rPr lang="el-GR" altLang="zh-CN" sz="3200" dirty="0">
                    <a:solidFill>
                      <a:prstClr val="black"/>
                    </a:solidFill>
                    <a:latin typeface="宋体" pitchFamily="2" charset="-122"/>
                    <a:ea typeface="宋体" panose="02010600030101010101" pitchFamily="2" charset="-122"/>
                  </a:rPr>
                  <a:t>ε</a:t>
                </a:r>
                <a:endParaRPr lang="zh-CN" altLang="en-US" sz="2400" dirty="0"/>
              </a:p>
            </p:txBody>
          </p:sp>
        </p:grpSp>
      </p:grpSp>
      <p:sp>
        <p:nvSpPr>
          <p:cNvPr id="2" name="文本框 1">
            <a:extLst>
              <a:ext uri="{FF2B5EF4-FFF2-40B4-BE49-F238E27FC236}">
                <a16:creationId xmlns:a16="http://schemas.microsoft.com/office/drawing/2014/main" id="{0888D95D-F0A1-1E9F-A8FF-D48F35C27A02}"/>
              </a:ext>
            </a:extLst>
          </p:cNvPr>
          <p:cNvSpPr txBox="1"/>
          <p:nvPr/>
        </p:nvSpPr>
        <p:spPr>
          <a:xfrm>
            <a:off x="-17990" y="176322"/>
            <a:ext cx="8956035" cy="523220"/>
          </a:xfrm>
          <a:prstGeom prst="rect">
            <a:avLst/>
          </a:prstGeom>
          <a:noFill/>
        </p:spPr>
        <p:txBody>
          <a:bodyPr wrap="square">
            <a:spAutoFit/>
          </a:bodyPr>
          <a:lstStyle/>
          <a:p>
            <a:r>
              <a:rPr lang="zh-CN" altLang="en-US" sz="2800" dirty="0">
                <a:solidFill>
                  <a:srgbClr val="FF0000"/>
                </a:solidFill>
                <a:latin typeface="楷体" panose="02010609060101010101" pitchFamily="49" charset="-122"/>
                <a:ea typeface="楷体_GB2312" pitchFamily="49" charset="-122"/>
              </a:rPr>
              <a:t>第二种方法</a:t>
            </a:r>
            <a:r>
              <a:rPr lang="zh-CN" altLang="en-US" sz="2800" dirty="0">
                <a:solidFill>
                  <a:schemeClr val="tx1"/>
                </a:solidFill>
                <a:latin typeface="楷体" panose="02010609060101010101" pitchFamily="49" charset="-122"/>
                <a:ea typeface="楷体_GB2312" pitchFamily="49" charset="-122"/>
              </a:rPr>
              <a:t>：使用闭包和状态转换函数直接构造</a:t>
            </a:r>
            <a:r>
              <a:rPr lang="en-US" altLang="zh-CN" sz="2800" dirty="0">
                <a:solidFill>
                  <a:schemeClr val="tx1"/>
                </a:solidFill>
                <a:latin typeface="楷体" panose="02010609060101010101" pitchFamily="49" charset="-122"/>
                <a:ea typeface="楷体_GB2312" pitchFamily="49" charset="-122"/>
              </a:rPr>
              <a:t>DFA</a:t>
            </a:r>
            <a:endParaRPr lang="zh-CN" altLang="en-US" sz="2800" dirty="0"/>
          </a:p>
        </p:txBody>
      </p:sp>
    </p:spTree>
    <p:extLst>
      <p:ext uri="{BB962C8B-B14F-4D97-AF65-F5344CB8AC3E}">
        <p14:creationId xmlns:p14="http://schemas.microsoft.com/office/powerpoint/2010/main" val="4682000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625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6259">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96259">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96259">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9626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9" grpId="0" build="p" bldLvl="2" autoUpdateAnimBg="0"/>
      <p:bldP spid="96261" grpId="0" animBg="1" autoUpdateAnimBg="0"/>
      <p:bldP spid="6" grpId="0" animBg="1"/>
    </p:bldLst>
  </p:timing>
</p:sld>
</file>

<file path=ppt/slides/slide2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67923" y="134574"/>
            <a:ext cx="3602006" cy="2320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9922" name="Rectangle 2"/>
          <p:cNvSpPr>
            <a:spLocks noGrp="1" noChangeArrowheads="1"/>
          </p:cNvSpPr>
          <p:nvPr>
            <p:ph type="title"/>
          </p:nvPr>
        </p:nvSpPr>
        <p:spPr>
          <a:xfrm>
            <a:off x="0" y="85725"/>
            <a:ext cx="8458200" cy="493713"/>
          </a:xfrm>
        </p:spPr>
        <p:txBody>
          <a:bodyPr>
            <a:normAutofit fontScale="90000"/>
          </a:bodyPr>
          <a:lstStyle/>
          <a:p>
            <a:pPr algn="l" eaLnBrk="1" hangingPunct="1"/>
            <a:r>
              <a:rPr lang="zh-CN" altLang="en-US" sz="3600"/>
              <a:t>例：对于文法</a:t>
            </a:r>
            <a:r>
              <a:rPr lang="en-US" altLang="zh-CN" sz="3600"/>
              <a:t>4.6</a:t>
            </a:r>
            <a:r>
              <a:rPr lang="zh-CN" altLang="en-US" sz="3600"/>
              <a:t>有下列项目：</a:t>
            </a:r>
          </a:p>
        </p:txBody>
      </p:sp>
      <p:sp>
        <p:nvSpPr>
          <p:cNvPr id="7" name="Rectangle 4"/>
          <p:cNvSpPr>
            <a:spLocks noChangeArrowheads="1"/>
          </p:cNvSpPr>
          <p:nvPr/>
        </p:nvSpPr>
        <p:spPr bwMode="auto">
          <a:xfrm>
            <a:off x="436563" y="843558"/>
            <a:ext cx="4798427" cy="21767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r>
              <a:rPr lang="en-GB" altLang="zh-CN" sz="1800" dirty="0">
                <a:solidFill>
                  <a:srgbClr val="FF0000"/>
                </a:solidFill>
                <a:latin typeface="+mn-lt"/>
                <a:ea typeface="华文行楷" pitchFamily="2" charset="-122"/>
                <a:sym typeface="Wingdings" pitchFamily="2" charset="2"/>
              </a:rPr>
              <a:t>4. </a:t>
            </a:r>
            <a:r>
              <a:rPr lang="en-GB" altLang="zh-CN" sz="1800" dirty="0">
                <a:solidFill>
                  <a:srgbClr val="FF0000"/>
                </a:solidFill>
                <a:latin typeface="+mn-lt"/>
                <a:ea typeface="华文行楷" pitchFamily="2" charset="-122"/>
              </a:rPr>
              <a:t>E </a:t>
            </a:r>
            <a:r>
              <a:rPr lang="en-GB" altLang="zh-CN" sz="1800" dirty="0">
                <a:solidFill>
                  <a:srgbClr val="FF0000"/>
                </a:solidFill>
                <a:latin typeface="+mn-lt"/>
                <a:ea typeface="华文行楷" pitchFamily="2" charset="-122"/>
                <a:sym typeface="Wingdings" pitchFamily="2" charset="2"/>
              </a:rPr>
              <a:t></a:t>
            </a:r>
            <a:r>
              <a:rPr lang="en-GB" altLang="zh-CN" sz="1800" dirty="0" err="1">
                <a:solidFill>
                  <a:srgbClr val="FF0000"/>
                </a:solidFill>
                <a:latin typeface="+mn-lt"/>
                <a:ea typeface="华文行楷" pitchFamily="2" charset="-122"/>
                <a:sym typeface="Wingdings" pitchFamily="2" charset="2"/>
              </a:rPr>
              <a:t>a·A</a:t>
            </a:r>
            <a:r>
              <a:rPr lang="en-GB" altLang="zh-CN" sz="1800" dirty="0">
                <a:solidFill>
                  <a:srgbClr val="FF0000"/>
                </a:solidFill>
                <a:latin typeface="+mn-lt"/>
                <a:ea typeface="华文行楷" pitchFamily="2" charset="-122"/>
                <a:sym typeface="Wingdings" pitchFamily="2" charset="2"/>
              </a:rPr>
              <a:t>       </a:t>
            </a:r>
            <a:r>
              <a:rPr lang="en-GB" altLang="zh-CN" sz="1800" dirty="0">
                <a:latin typeface="+mn-lt"/>
                <a:ea typeface="华文行楷" pitchFamily="2" charset="-122"/>
                <a:sym typeface="Wingdings" pitchFamily="2" charset="2"/>
              </a:rPr>
              <a:t>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solidFill>
                  <a:srgbClr val="0000FF"/>
                </a:solidFill>
                <a:latin typeface="+mn-lt"/>
                <a:ea typeface="华文行楷" pitchFamily="2" charset="-122"/>
                <a:sym typeface="Wingdings" pitchFamily="2" charset="2"/>
              </a:rPr>
              <a:t>6. A ·</a:t>
            </a:r>
            <a:r>
              <a:rPr lang="en-GB" altLang="zh-CN" sz="1800" dirty="0" err="1">
                <a:solidFill>
                  <a:srgbClr val="0000FF"/>
                </a:solidFill>
                <a:latin typeface="+mn-lt"/>
                <a:ea typeface="华文行楷" pitchFamily="2" charset="-122"/>
                <a:sym typeface="Wingdings" pitchFamily="2" charset="2"/>
              </a:rPr>
              <a:t>cA</a:t>
            </a:r>
            <a:r>
              <a:rPr lang="en-GB" altLang="zh-CN" sz="1800" dirty="0">
                <a:solidFill>
                  <a:srgbClr val="0000FF"/>
                </a:solidFill>
                <a:latin typeface="+mn-lt"/>
                <a:ea typeface="华文行楷" pitchFamily="2" charset="-122"/>
                <a:sym typeface="Wingdings" pitchFamily="2" charset="2"/>
              </a:rPr>
              <a:t>      </a:t>
            </a:r>
            <a:r>
              <a:rPr lang="en-GB" altLang="zh-CN" sz="1800" dirty="0">
                <a:latin typeface="+mn-lt"/>
                <a:ea typeface="华文行楷" pitchFamily="2" charset="-122"/>
                <a:sym typeface="Wingdings" pitchFamily="2" charset="2"/>
              </a:rPr>
              <a:t>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solidFill>
                  <a:srgbClr val="0000FF"/>
                </a:solidFill>
                <a:latin typeface="+mn-lt"/>
                <a:ea typeface="华文行楷" pitchFamily="2" charset="-122"/>
                <a:sym typeface="Wingdings" pitchFamily="2" charset="2"/>
              </a:rPr>
              <a:t>9. A ·d       </a:t>
            </a:r>
            <a:r>
              <a:rPr lang="en-GB" altLang="zh-CN" sz="1800" dirty="0">
                <a:latin typeface="+mn-lt"/>
                <a:ea typeface="华文行楷" pitchFamily="2" charset="-122"/>
                <a:sym typeface="Wingdings" pitchFamily="2" charset="2"/>
              </a:rPr>
              <a:t>10. A  d·</a:t>
            </a:r>
          </a:p>
          <a:p>
            <a:pPr lvl="1" indent="-457200" eaLnBrk="1" hangingPunct="1">
              <a:lnSpc>
                <a:spcPct val="90000"/>
              </a:lnSpc>
              <a:buFontTx/>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14.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16.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a:t>
            </a:r>
          </a:p>
          <a:p>
            <a:pPr lvl="1" indent="-457200" eaLnBrk="1" hangingPunct="1">
              <a:lnSpc>
                <a:spcPct val="90000"/>
              </a:lnSpc>
              <a:buFontTx/>
              <a:buNone/>
            </a:pPr>
            <a:r>
              <a:rPr lang="en-GB" altLang="zh-CN" sz="1800" dirty="0">
                <a:latin typeface="+mn-lt"/>
                <a:ea typeface="华文行楷" pitchFamily="2" charset="-122"/>
                <a:sym typeface="Wingdings" pitchFamily="2" charset="2"/>
              </a:rPr>
              <a:t>17. B ·d      18. B  d·</a:t>
            </a:r>
            <a:endParaRPr lang="en-US" altLang="zh-CN" sz="1800" dirty="0">
              <a:latin typeface="+mn-lt"/>
              <a:ea typeface="华文行楷" pitchFamily="2" charset="-122"/>
              <a:sym typeface="Wingdings" pitchFamily="2" charset="2"/>
            </a:endParaRPr>
          </a:p>
        </p:txBody>
      </p:sp>
      <p:sp>
        <p:nvSpPr>
          <p:cNvPr id="4" name="椭圆 3"/>
          <p:cNvSpPr/>
          <p:nvPr/>
        </p:nvSpPr>
        <p:spPr>
          <a:xfrm>
            <a:off x="5539144" y="1685518"/>
            <a:ext cx="578977" cy="60929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0000"/>
              </a:solidFill>
            </a:endParaRPr>
          </a:p>
        </p:txBody>
      </p:sp>
      <p:sp>
        <p:nvSpPr>
          <p:cNvPr id="13" name="椭圆 12"/>
          <p:cNvSpPr/>
          <p:nvPr/>
        </p:nvSpPr>
        <p:spPr>
          <a:xfrm>
            <a:off x="8128518" y="1541502"/>
            <a:ext cx="578977" cy="609296"/>
          </a:xfrm>
          <a:prstGeom prst="ellipse">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5539144" y="533390"/>
            <a:ext cx="578977" cy="609296"/>
          </a:xfrm>
          <a:prstGeom prst="ellipse">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436563" y="4002366"/>
            <a:ext cx="5825634" cy="461665"/>
          </a:xfrm>
          <a:prstGeom prst="rect">
            <a:avLst/>
          </a:prstGeom>
        </p:spPr>
        <p:txBody>
          <a:bodyPr wrap="none">
            <a:spAutoFit/>
          </a:bodyPr>
          <a:lstStyle/>
          <a:p>
            <a:r>
              <a:rPr lang="zh-CN" altLang="en-US" sz="2400" dirty="0">
                <a:ea typeface="华文行楷" pitchFamily="2" charset="-122"/>
              </a:rPr>
              <a:t>若项目集</a:t>
            </a:r>
            <a:r>
              <a:rPr lang="en-US" altLang="zh-CN" sz="2400" dirty="0">
                <a:ea typeface="华文行楷" pitchFamily="2" charset="-122"/>
              </a:rPr>
              <a:t>I = {</a:t>
            </a:r>
            <a:r>
              <a:rPr lang="en-GB" altLang="zh-CN" sz="2400" dirty="0">
                <a:ea typeface="华文行楷" pitchFamily="2" charset="-122"/>
                <a:sym typeface="Wingdings" pitchFamily="2" charset="2"/>
              </a:rPr>
              <a:t>B </a:t>
            </a:r>
            <a:r>
              <a:rPr lang="en-GB" altLang="zh-CN" sz="2400" dirty="0" err="1">
                <a:ea typeface="华文行楷" pitchFamily="2" charset="-122"/>
                <a:sym typeface="Wingdings" pitchFamily="2" charset="2"/>
              </a:rPr>
              <a:t>c·B</a:t>
            </a:r>
            <a:r>
              <a:rPr lang="en-GB" altLang="zh-CN" sz="2400" dirty="0">
                <a:solidFill>
                  <a:schemeClr val="bg1"/>
                </a:solidFill>
                <a:ea typeface="华文行楷" pitchFamily="2" charset="-122"/>
                <a:sym typeface="Wingdings" pitchFamily="2" charset="2"/>
              </a:rPr>
              <a:t> </a:t>
            </a:r>
            <a:r>
              <a:rPr lang="en-US" altLang="zh-CN" sz="2400" dirty="0">
                <a:ea typeface="华文行楷" pitchFamily="2" charset="-122"/>
              </a:rPr>
              <a:t>}, </a:t>
            </a:r>
            <a:r>
              <a:rPr lang="zh-CN" altLang="en-US" sz="2400" dirty="0">
                <a:ea typeface="华文行楷" pitchFamily="2" charset="-122"/>
              </a:rPr>
              <a:t>求</a:t>
            </a:r>
            <a:r>
              <a:rPr lang="en-US" altLang="zh-CN" sz="2400" dirty="0">
                <a:ea typeface="华文行楷" pitchFamily="2" charset="-122"/>
                <a:sym typeface="Wingdings" pitchFamily="2" charset="2"/>
              </a:rPr>
              <a:t>Closure(I)=</a:t>
            </a:r>
            <a:r>
              <a:rPr lang="zh-CN" altLang="en-US" sz="2400" dirty="0">
                <a:ea typeface="华文行楷" pitchFamily="2" charset="-122"/>
                <a:sym typeface="Wingdings" pitchFamily="2" charset="2"/>
              </a:rPr>
              <a:t>？</a:t>
            </a:r>
          </a:p>
        </p:txBody>
      </p:sp>
      <p:sp>
        <p:nvSpPr>
          <p:cNvPr id="133126" name="Rectangle 6"/>
          <p:cNvSpPr>
            <a:spLocks noChangeArrowheads="1"/>
          </p:cNvSpPr>
          <p:nvPr/>
        </p:nvSpPr>
        <p:spPr bwMode="auto">
          <a:xfrm>
            <a:off x="436563" y="4371698"/>
            <a:ext cx="6327374" cy="461665"/>
          </a:xfrm>
          <a:prstGeom prst="rect">
            <a:avLst/>
          </a:prstGeom>
          <a:solidFill>
            <a:schemeClr val="bg1"/>
          </a:solidFill>
          <a:ln>
            <a:noFill/>
          </a:ln>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ts val="0"/>
              </a:spcBef>
              <a:buFontTx/>
              <a:buNone/>
            </a:pPr>
            <a:r>
              <a:rPr lang="en-US" altLang="zh-CN" sz="2400" dirty="0">
                <a:solidFill>
                  <a:srgbClr val="CC0000"/>
                </a:solidFill>
                <a:latin typeface="+mn-lt"/>
                <a:ea typeface="华文行楷" pitchFamily="2" charset="-122"/>
                <a:sym typeface="Wingdings" pitchFamily="2" charset="2"/>
              </a:rPr>
              <a:t>Closure(I) = </a:t>
            </a:r>
            <a:r>
              <a:rPr lang="en-US" altLang="zh-CN" sz="2400" dirty="0">
                <a:solidFill>
                  <a:srgbClr val="CC0000"/>
                </a:solidFill>
                <a:latin typeface="+mn-lt"/>
                <a:ea typeface="华文行楷" pitchFamily="2" charset="-122"/>
              </a:rPr>
              <a:t>{</a:t>
            </a:r>
            <a:r>
              <a:rPr lang="en-GB" altLang="zh-CN" sz="2400" dirty="0">
                <a:solidFill>
                  <a:srgbClr val="CC0000"/>
                </a:solidFill>
                <a:latin typeface="+mn-lt"/>
                <a:ea typeface="华文行楷" pitchFamily="2" charset="-122"/>
                <a:sym typeface="Wingdings" pitchFamily="2" charset="2"/>
              </a:rPr>
              <a:t>B </a:t>
            </a:r>
            <a:r>
              <a:rPr lang="en-GB" altLang="zh-CN" sz="2400" dirty="0" err="1">
                <a:solidFill>
                  <a:srgbClr val="CC0000"/>
                </a:solidFill>
                <a:latin typeface="+mn-lt"/>
                <a:ea typeface="华文行楷" pitchFamily="2" charset="-122"/>
                <a:sym typeface="Wingdings" pitchFamily="2" charset="2"/>
              </a:rPr>
              <a:t>c·B</a:t>
            </a:r>
            <a:r>
              <a:rPr lang="en-GB" altLang="zh-CN" sz="2400" dirty="0">
                <a:solidFill>
                  <a:srgbClr val="CC0000"/>
                </a:solidFill>
                <a:latin typeface="+mn-lt"/>
                <a:ea typeface="华文行楷" pitchFamily="2" charset="-122"/>
                <a:sym typeface="Wingdings" pitchFamily="2" charset="2"/>
              </a:rPr>
              <a:t>， B ·</a:t>
            </a:r>
            <a:r>
              <a:rPr lang="en-GB" altLang="zh-CN" sz="2400" dirty="0" err="1">
                <a:solidFill>
                  <a:srgbClr val="CC0000"/>
                </a:solidFill>
                <a:latin typeface="+mn-lt"/>
                <a:ea typeface="华文行楷" pitchFamily="2" charset="-122"/>
                <a:sym typeface="Wingdings" pitchFamily="2" charset="2"/>
              </a:rPr>
              <a:t>cB</a:t>
            </a:r>
            <a:r>
              <a:rPr lang="en-GB" altLang="zh-CN" sz="2400" dirty="0">
                <a:solidFill>
                  <a:srgbClr val="CC0000"/>
                </a:solidFill>
                <a:latin typeface="+mn-lt"/>
                <a:ea typeface="华文行楷" pitchFamily="2" charset="-122"/>
                <a:sym typeface="Wingdings" pitchFamily="2" charset="2"/>
              </a:rPr>
              <a:t>， B ·d </a:t>
            </a:r>
            <a:r>
              <a:rPr lang="en-US" altLang="zh-CN" sz="2400" dirty="0">
                <a:solidFill>
                  <a:srgbClr val="CC0000"/>
                </a:solidFill>
                <a:latin typeface="+mn-lt"/>
                <a:ea typeface="华文行楷" pitchFamily="2" charset="-122"/>
              </a:rPr>
              <a:t>}</a:t>
            </a:r>
          </a:p>
        </p:txBody>
      </p:sp>
      <p:sp>
        <p:nvSpPr>
          <p:cNvPr id="133125" name="Text Box 5"/>
          <p:cNvSpPr txBox="1">
            <a:spLocks noChangeArrowheads="1"/>
          </p:cNvSpPr>
          <p:nvPr/>
        </p:nvSpPr>
        <p:spPr bwMode="auto">
          <a:xfrm>
            <a:off x="436563" y="3187700"/>
            <a:ext cx="87074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400" dirty="0">
                <a:latin typeface="+mn-lt"/>
                <a:ea typeface="华文行楷" pitchFamily="2" charset="-122"/>
              </a:rPr>
              <a:t>若项目集</a:t>
            </a:r>
            <a:r>
              <a:rPr lang="en-US" altLang="zh-CN" sz="2400" dirty="0">
                <a:latin typeface="+mn-lt"/>
                <a:ea typeface="华文行楷" pitchFamily="2" charset="-122"/>
              </a:rPr>
              <a:t>I = {</a:t>
            </a:r>
            <a:r>
              <a:rPr lang="en-GB" altLang="zh-CN" sz="2400" dirty="0">
                <a:latin typeface="+mn-lt"/>
                <a:ea typeface="华文行楷" pitchFamily="2" charset="-122"/>
              </a:rPr>
              <a:t>E </a:t>
            </a:r>
            <a:r>
              <a:rPr lang="en-GB" altLang="zh-CN" sz="2400" dirty="0">
                <a:latin typeface="+mn-lt"/>
                <a:ea typeface="华文行楷" pitchFamily="2" charset="-122"/>
                <a:sym typeface="Wingdings" pitchFamily="2" charset="2"/>
              </a:rPr>
              <a:t></a:t>
            </a:r>
            <a:r>
              <a:rPr lang="en-GB" altLang="zh-CN" sz="2400" dirty="0" err="1">
                <a:latin typeface="+mn-lt"/>
                <a:ea typeface="华文行楷" pitchFamily="2" charset="-122"/>
                <a:sym typeface="Wingdings" pitchFamily="2" charset="2"/>
              </a:rPr>
              <a:t>a</a:t>
            </a:r>
            <a:r>
              <a:rPr lang="en-GB" altLang="zh-CN" sz="2400" dirty="0" err="1">
                <a:latin typeface="+mn-lt"/>
                <a:ea typeface="华文行楷" pitchFamily="2" charset="-122"/>
                <a:cs typeface="Times New Roman" pitchFamily="18" charset="0"/>
                <a:sym typeface="Wingdings" pitchFamily="2" charset="2"/>
              </a:rPr>
              <a:t>·</a:t>
            </a:r>
            <a:r>
              <a:rPr lang="en-GB" altLang="zh-CN" sz="2400" dirty="0" err="1">
                <a:latin typeface="+mn-lt"/>
                <a:ea typeface="华文行楷" pitchFamily="2" charset="-122"/>
                <a:sym typeface="Wingdings" pitchFamily="2" charset="2"/>
              </a:rPr>
              <a:t>A</a:t>
            </a:r>
            <a:r>
              <a:rPr lang="en-GB" altLang="zh-CN" sz="2400" dirty="0">
                <a:solidFill>
                  <a:schemeClr val="bg1"/>
                </a:solidFill>
                <a:latin typeface="+mn-lt"/>
                <a:ea typeface="华文行楷" pitchFamily="2" charset="-122"/>
                <a:sym typeface="Wingdings" pitchFamily="2" charset="2"/>
              </a:rPr>
              <a:t> </a:t>
            </a:r>
            <a:r>
              <a:rPr lang="en-US" altLang="zh-CN" sz="2400" dirty="0">
                <a:latin typeface="+mn-lt"/>
                <a:ea typeface="华文行楷" pitchFamily="2" charset="-122"/>
              </a:rPr>
              <a:t>}, </a:t>
            </a:r>
          </a:p>
          <a:p>
            <a:pPr eaLnBrk="1" hangingPunct="1">
              <a:spcBef>
                <a:spcPts val="0"/>
              </a:spcBef>
              <a:buFontTx/>
              <a:buNone/>
            </a:pPr>
            <a:r>
              <a:rPr lang="zh-CN" altLang="en-US" sz="2400" dirty="0">
                <a:latin typeface="+mn-lt"/>
                <a:ea typeface="华文行楷" pitchFamily="2" charset="-122"/>
              </a:rPr>
              <a:t>则</a:t>
            </a:r>
            <a:r>
              <a:rPr lang="en-US" altLang="zh-CN" sz="2400" dirty="0">
                <a:latin typeface="+mn-lt"/>
                <a:ea typeface="华文行楷" pitchFamily="2" charset="-122"/>
                <a:sym typeface="Wingdings" pitchFamily="2" charset="2"/>
              </a:rPr>
              <a:t>Closure(I)={</a:t>
            </a:r>
            <a:r>
              <a:rPr lang="en-GB" altLang="zh-CN" sz="2400" dirty="0">
                <a:latin typeface="+mn-lt"/>
                <a:ea typeface="华文行楷" pitchFamily="2" charset="-122"/>
              </a:rPr>
              <a:t>E </a:t>
            </a:r>
            <a:r>
              <a:rPr lang="en-GB" altLang="zh-CN" sz="2400" dirty="0">
                <a:latin typeface="+mn-lt"/>
                <a:ea typeface="华文行楷" pitchFamily="2" charset="-122"/>
                <a:sym typeface="Wingdings" pitchFamily="2" charset="2"/>
              </a:rPr>
              <a:t></a:t>
            </a:r>
            <a:r>
              <a:rPr lang="en-GB" altLang="zh-CN" sz="2400" dirty="0" err="1">
                <a:latin typeface="+mn-lt"/>
                <a:ea typeface="华文行楷" pitchFamily="2" charset="-122"/>
                <a:sym typeface="Wingdings" pitchFamily="2" charset="2"/>
              </a:rPr>
              <a:t>a·A</a:t>
            </a:r>
            <a:r>
              <a:rPr lang="en-GB" altLang="zh-CN" sz="2400" dirty="0">
                <a:latin typeface="+mn-lt"/>
                <a:ea typeface="华文行楷" pitchFamily="2" charset="-122"/>
                <a:sym typeface="Wingdings" pitchFamily="2" charset="2"/>
              </a:rPr>
              <a:t> , A ·</a:t>
            </a:r>
            <a:r>
              <a:rPr lang="en-GB" altLang="zh-CN" sz="2400" dirty="0" err="1">
                <a:latin typeface="+mn-lt"/>
                <a:ea typeface="华文行楷" pitchFamily="2" charset="-122"/>
                <a:sym typeface="Wingdings" pitchFamily="2" charset="2"/>
              </a:rPr>
              <a:t>cA</a:t>
            </a:r>
            <a:r>
              <a:rPr lang="en-GB" altLang="zh-CN" sz="2400" dirty="0">
                <a:latin typeface="+mn-lt"/>
                <a:ea typeface="华文行楷" pitchFamily="2" charset="-122"/>
                <a:sym typeface="Wingdings" pitchFamily="2" charset="2"/>
              </a:rPr>
              <a:t> , A ·d </a:t>
            </a:r>
            <a:r>
              <a:rPr lang="en-US" altLang="zh-CN" sz="2400" dirty="0">
                <a:latin typeface="+mn-lt"/>
                <a:ea typeface="华文行楷" pitchFamily="2" charset="-122"/>
                <a:sym typeface="Wingdings" pitchFamily="2" charset="2"/>
              </a:rPr>
              <a:t>}</a:t>
            </a:r>
          </a:p>
        </p:txBody>
      </p:sp>
      <p:graphicFrame>
        <p:nvGraphicFramePr>
          <p:cNvPr id="8" name="对象 7">
            <a:extLst>
              <a:ext uri="{FF2B5EF4-FFF2-40B4-BE49-F238E27FC236}">
                <a16:creationId xmlns:a16="http://schemas.microsoft.com/office/drawing/2014/main" id="{48BD8F6C-AE2A-21F6-5F31-DA7F9541D1F4}"/>
              </a:ext>
            </a:extLst>
          </p:cNvPr>
          <p:cNvGraphicFramePr>
            <a:graphicFrameLocks noChangeAspect="1"/>
          </p:cNvGraphicFramePr>
          <p:nvPr>
            <p:extLst>
              <p:ext uri="{D42A27DB-BD31-4B8C-83A1-F6EECF244321}">
                <p14:modId xmlns:p14="http://schemas.microsoft.com/office/powerpoint/2010/main" val="533274919"/>
              </p:ext>
            </p:extLst>
          </p:nvPr>
        </p:nvGraphicFramePr>
        <p:xfrm>
          <a:off x="4132974" y="133139"/>
          <a:ext cx="5011025" cy="5001900"/>
        </p:xfrm>
        <a:graphic>
          <a:graphicData uri="http://schemas.openxmlformats.org/presentationml/2006/ole">
            <mc:AlternateContent xmlns:mc="http://schemas.openxmlformats.org/markup-compatibility/2006">
              <mc:Choice xmlns:v="urn:schemas-microsoft-com:vml" Requires="v">
                <p:oleObj spid="_x0000_s52231" name="Visio" r:id="rId5" imgW="3124085" imgH="3333727" progId="Visio.Drawing.15">
                  <p:embed/>
                </p:oleObj>
              </mc:Choice>
              <mc:Fallback>
                <p:oleObj name="Visio" r:id="rId5" imgW="3124085" imgH="3333727" progId="Visio.Drawing.15">
                  <p:embed/>
                  <p:pic>
                    <p:nvPicPr>
                      <p:cNvPr id="12" name="对象 11">
                        <a:extLst>
                          <a:ext uri="{FF2B5EF4-FFF2-40B4-BE49-F238E27FC236}">
                            <a16:creationId xmlns:a16="http://schemas.microsoft.com/office/drawing/2014/main" id="{812D743C-FAE0-77AC-8A6A-E67F6A901D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32974" y="133139"/>
                        <a:ext cx="5011025" cy="5001900"/>
                      </a:xfrm>
                      <a:prstGeom prst="rect">
                        <a:avLst/>
                      </a:prstGeom>
                      <a:solidFill>
                        <a:schemeClr val="bg1"/>
                      </a:solidFill>
                    </p:spPr>
                  </p:pic>
                </p:oleObj>
              </mc:Fallback>
            </mc:AlternateContent>
          </a:graphicData>
        </a:graphic>
      </p:graphicFrame>
      <p:sp>
        <p:nvSpPr>
          <p:cNvPr id="6" name="矩形 5"/>
          <p:cNvSpPr/>
          <p:nvPr/>
        </p:nvSpPr>
        <p:spPr>
          <a:xfrm>
            <a:off x="6588224" y="626852"/>
            <a:ext cx="904371" cy="792770"/>
          </a:xfrm>
          <a:prstGeom prst="rect">
            <a:avLst/>
          </a:prstGeom>
          <a:noFill/>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a:p>
        </p:txBody>
      </p:sp>
    </p:spTree>
    <p:extLst>
      <p:ext uri="{BB962C8B-B14F-4D97-AF65-F5344CB8AC3E}">
        <p14:creationId xmlns:p14="http://schemas.microsoft.com/office/powerpoint/2010/main" val="130594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3312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45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33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animBg="1"/>
      <p:bldP spid="14" grpId="0" animBg="1"/>
      <p:bldP spid="2" grpId="0"/>
      <p:bldP spid="133126" grpId="0" animBg="1"/>
      <p:bldP spid="133125" grpId="0" build="p" autoUpdateAnimBg="0"/>
    </p:bldLst>
  </p:timing>
</p:sld>
</file>

<file path=ppt/slides/slide2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7283" name="Rectangle 3"/>
          <p:cNvSpPr>
            <a:spLocks noGrp="1" noChangeArrowheads="1"/>
          </p:cNvSpPr>
          <p:nvPr>
            <p:ph type="body" idx="1"/>
          </p:nvPr>
        </p:nvSpPr>
        <p:spPr>
          <a:xfrm>
            <a:off x="392113" y="850900"/>
            <a:ext cx="8359775" cy="1701800"/>
          </a:xfrm>
          <a:solidFill>
            <a:schemeClr val="bg1"/>
          </a:solidFill>
          <a:ln w="28575">
            <a:solidFill>
              <a:schemeClr val="accent2"/>
            </a:solidFill>
            <a:miter lim="800000"/>
            <a:headEnd/>
            <a:tailEnd/>
          </a:ln>
        </p:spPr>
        <p:txBody>
          <a:bodyPr>
            <a:normAutofit/>
          </a:bodyPr>
          <a:lstStyle/>
          <a:p>
            <a:pPr eaLnBrk="1" hangingPunct="1"/>
            <a:r>
              <a:rPr lang="zh-CN" altLang="en-US" sz="2200" b="1" dirty="0">
                <a:solidFill>
                  <a:srgbClr val="FF0000"/>
                </a:solidFill>
              </a:rPr>
              <a:t>项目集</a:t>
            </a:r>
            <a:r>
              <a:rPr lang="en-US" altLang="zh-CN" sz="2200" b="1" dirty="0">
                <a:solidFill>
                  <a:srgbClr val="FF0000"/>
                </a:solidFill>
              </a:rPr>
              <a:t>I</a:t>
            </a:r>
            <a:r>
              <a:rPr lang="zh-CN" altLang="en-US" sz="2200" b="1" dirty="0">
                <a:solidFill>
                  <a:srgbClr val="FF0000"/>
                </a:solidFill>
              </a:rPr>
              <a:t>的状态转换函数</a:t>
            </a:r>
            <a:r>
              <a:rPr lang="en-US" altLang="zh-CN" sz="2200" b="1" dirty="0">
                <a:solidFill>
                  <a:schemeClr val="accent2"/>
                </a:solidFill>
              </a:rPr>
              <a:t>GO(I,X)</a:t>
            </a:r>
            <a:r>
              <a:rPr lang="zh-CN" altLang="en-US" sz="2200" b="1" dirty="0">
                <a:solidFill>
                  <a:schemeClr val="accent2"/>
                </a:solidFill>
              </a:rPr>
              <a:t>定义为</a:t>
            </a:r>
            <a:r>
              <a:rPr lang="zh-CN" altLang="en-US" sz="2200" b="1" dirty="0"/>
              <a:t>：</a:t>
            </a:r>
          </a:p>
          <a:p>
            <a:pPr lvl="1" eaLnBrk="1" hangingPunct="1">
              <a:buFontTx/>
              <a:buNone/>
            </a:pPr>
            <a:r>
              <a:rPr lang="zh-CN" altLang="en-US" sz="2200" b="1" dirty="0"/>
              <a:t>           </a:t>
            </a:r>
            <a:r>
              <a:rPr lang="en-US" altLang="zh-CN" sz="2200" b="1" dirty="0"/>
              <a:t>GO(I,X)  = </a:t>
            </a:r>
            <a:r>
              <a:rPr lang="en-US" altLang="zh-CN" sz="2200" b="1" dirty="0">
                <a:sym typeface="Symbol" pitchFamily="18" charset="2"/>
              </a:rPr>
              <a:t>Closure(J)  </a:t>
            </a:r>
          </a:p>
          <a:p>
            <a:pPr lvl="1" eaLnBrk="1" hangingPunct="1">
              <a:buFontTx/>
              <a:buNone/>
            </a:pPr>
            <a:r>
              <a:rPr lang="en-US" altLang="zh-CN" sz="2200" b="1" dirty="0"/>
              <a:t> I</a:t>
            </a:r>
            <a:r>
              <a:rPr lang="zh-CN" altLang="en-US" sz="2200" b="1" dirty="0"/>
              <a:t>是一个项目集，</a:t>
            </a:r>
            <a:r>
              <a:rPr lang="en-US" altLang="zh-CN" sz="2200" b="1" dirty="0"/>
              <a:t>X</a:t>
            </a:r>
            <a:r>
              <a:rPr lang="zh-CN" altLang="en-US" sz="2200" b="1" dirty="0"/>
              <a:t>是一个文法符号</a:t>
            </a:r>
          </a:p>
          <a:p>
            <a:pPr lvl="1" eaLnBrk="1" hangingPunct="1">
              <a:buFontTx/>
              <a:buNone/>
            </a:pPr>
            <a:r>
              <a:rPr lang="zh-CN" altLang="en-US" sz="2200" b="1" dirty="0">
                <a:sym typeface="Wingdings 2" pitchFamily="18" charset="2"/>
              </a:rPr>
              <a:t>其中</a:t>
            </a:r>
            <a:r>
              <a:rPr lang="en-US" altLang="zh-CN" sz="2200" b="1" dirty="0">
                <a:sym typeface="Wingdings 2" pitchFamily="18" charset="2"/>
              </a:rPr>
              <a:t>J = {</a:t>
            </a:r>
            <a:r>
              <a:rPr lang="zh-CN" altLang="en-US" sz="2200" b="1" dirty="0">
                <a:sym typeface="Wingdings 2" pitchFamily="18" charset="2"/>
              </a:rPr>
              <a:t>任何形如</a:t>
            </a:r>
            <a:r>
              <a:rPr lang="en-US" altLang="zh-CN" sz="2200" b="1" dirty="0">
                <a:sym typeface="Wingdings 2" pitchFamily="18" charset="2"/>
              </a:rPr>
              <a:t>A</a:t>
            </a:r>
            <a:r>
              <a:rPr lang="en-US" altLang="zh-CN" sz="2200" b="1" dirty="0"/>
              <a:t> </a:t>
            </a:r>
            <a:r>
              <a:rPr lang="en-US" altLang="zh-CN" sz="2200" b="1" dirty="0">
                <a:sym typeface="Symbol" pitchFamily="18" charset="2"/>
              </a:rPr>
              <a:t> X·</a:t>
            </a:r>
            <a:r>
              <a:rPr lang="zh-CN" altLang="en-US" sz="2200" b="1" dirty="0">
                <a:sym typeface="Symbol" pitchFamily="18" charset="2"/>
              </a:rPr>
              <a:t>的项目</a:t>
            </a:r>
            <a:r>
              <a:rPr lang="en-US" altLang="zh-CN" sz="2200" b="1" dirty="0">
                <a:sym typeface="Symbol" pitchFamily="18" charset="2"/>
              </a:rPr>
              <a:t>| </a:t>
            </a:r>
            <a:r>
              <a:rPr lang="en-US" altLang="zh-CN" sz="2200" b="1" dirty="0">
                <a:sym typeface="Wingdings 2" pitchFamily="18" charset="2"/>
              </a:rPr>
              <a:t>A</a:t>
            </a:r>
            <a:r>
              <a:rPr lang="en-US" altLang="zh-CN" sz="2200" b="1" dirty="0">
                <a:sym typeface="Symbol" pitchFamily="18" charset="2"/>
              </a:rPr>
              <a:t>·X I</a:t>
            </a:r>
            <a:r>
              <a:rPr lang="en-US" altLang="zh-CN" sz="2200" b="1" dirty="0">
                <a:sym typeface="Wingdings 2" pitchFamily="18" charset="2"/>
              </a:rPr>
              <a:t>}</a:t>
            </a:r>
            <a:endParaRPr lang="en-US" altLang="zh-CN" sz="2200" dirty="0">
              <a:sym typeface="Wingdings 2" pitchFamily="18" charset="2"/>
            </a:endParaRPr>
          </a:p>
        </p:txBody>
      </p:sp>
      <p:sp>
        <p:nvSpPr>
          <p:cNvPr id="210947" name="Text Box 4"/>
          <p:cNvSpPr txBox="1">
            <a:spLocks noChangeArrowheads="1"/>
          </p:cNvSpPr>
          <p:nvPr/>
        </p:nvSpPr>
        <p:spPr bwMode="auto">
          <a:xfrm>
            <a:off x="473075" y="2825750"/>
            <a:ext cx="77406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1950" indent="-361950">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pPr>
            <a:r>
              <a:rPr lang="en-US" altLang="zh-CN" sz="2400" dirty="0">
                <a:ea typeface="华文行楷" pitchFamily="2" charset="-122"/>
                <a:sym typeface="Wingdings 2" pitchFamily="18" charset="2"/>
              </a:rPr>
              <a:t>GO</a:t>
            </a:r>
            <a:r>
              <a:rPr lang="zh-CN" altLang="en-US" sz="2400" dirty="0">
                <a:ea typeface="华文行楷" pitchFamily="2" charset="-122"/>
                <a:sym typeface="Wingdings 2" pitchFamily="18" charset="2"/>
              </a:rPr>
              <a:t>函数实际就是检查</a:t>
            </a:r>
            <a:r>
              <a:rPr lang="en-US" altLang="zh-CN" sz="2400" dirty="0">
                <a:ea typeface="华文行楷" pitchFamily="2" charset="-122"/>
                <a:sym typeface="Wingdings 2" pitchFamily="18" charset="2"/>
              </a:rPr>
              <a:t>I</a:t>
            </a:r>
            <a:r>
              <a:rPr lang="zh-CN" altLang="en-US" sz="2400" dirty="0">
                <a:ea typeface="华文行楷" pitchFamily="2" charset="-122"/>
                <a:sym typeface="Wingdings 2" pitchFamily="18" charset="2"/>
              </a:rPr>
              <a:t>中的每一个后继符号为</a:t>
            </a:r>
            <a:r>
              <a:rPr lang="en-US" altLang="zh-CN" sz="2400" dirty="0">
                <a:ea typeface="华文行楷" pitchFamily="2" charset="-122"/>
                <a:sym typeface="Wingdings 2" pitchFamily="18" charset="2"/>
              </a:rPr>
              <a:t>X</a:t>
            </a:r>
            <a:r>
              <a:rPr lang="zh-CN" altLang="en-US" sz="2400" dirty="0">
                <a:ea typeface="华文行楷" pitchFamily="2" charset="-122"/>
                <a:sym typeface="Wingdings 2" pitchFamily="18" charset="2"/>
              </a:rPr>
              <a:t>的项目，将这个圆点向后移动一个位置，得到项目集</a:t>
            </a:r>
            <a:r>
              <a:rPr lang="en-US" altLang="zh-CN" sz="2400" dirty="0">
                <a:ea typeface="华文行楷" pitchFamily="2" charset="-122"/>
                <a:sym typeface="Wingdings 2" pitchFamily="18" charset="2"/>
              </a:rPr>
              <a:t>J</a:t>
            </a:r>
            <a:r>
              <a:rPr lang="zh-CN" altLang="en-US" sz="2400" dirty="0">
                <a:ea typeface="华文行楷" pitchFamily="2" charset="-122"/>
                <a:sym typeface="Wingdings 2" pitchFamily="18" charset="2"/>
              </a:rPr>
              <a:t>，再对项目集</a:t>
            </a:r>
            <a:r>
              <a:rPr lang="en-US" altLang="zh-CN" sz="2400" dirty="0">
                <a:ea typeface="华文行楷" pitchFamily="2" charset="-122"/>
                <a:sym typeface="Wingdings 2" pitchFamily="18" charset="2"/>
              </a:rPr>
              <a:t>J</a:t>
            </a:r>
            <a:r>
              <a:rPr lang="zh-CN" altLang="en-US" sz="2400" dirty="0">
                <a:ea typeface="华文行楷" pitchFamily="2" charset="-122"/>
                <a:sym typeface="Wingdings 2" pitchFamily="18" charset="2"/>
              </a:rPr>
              <a:t>求闭包。</a:t>
            </a:r>
            <a:endParaRPr lang="zh-CN" altLang="en-US" sz="2400" dirty="0">
              <a:ea typeface="华文行楷" pitchFamily="2" charset="-122"/>
            </a:endParaRPr>
          </a:p>
        </p:txBody>
      </p:sp>
    </p:spTree>
    <p:extLst>
      <p:ext uri="{BB962C8B-B14F-4D97-AF65-F5344CB8AC3E}">
        <p14:creationId xmlns:p14="http://schemas.microsoft.com/office/powerpoint/2010/main" val="21820044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7283">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97283">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499"/>
                                          </p:stCondLst>
                                        </p:cTn>
                                        <p:tgtEl>
                                          <p:spTgt spid="9728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109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build="p" autoUpdateAnimBg="0"/>
      <p:bldP spid="210947" grpId="0"/>
    </p:bldLst>
  </p:timing>
</p:sld>
</file>

<file path=ppt/slides/slide2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11970" name="Rectangle 2"/>
          <p:cNvSpPr>
            <a:spLocks noGrp="1" noChangeArrowheads="1"/>
          </p:cNvSpPr>
          <p:nvPr>
            <p:ph type="title"/>
          </p:nvPr>
        </p:nvSpPr>
        <p:spPr>
          <a:xfrm>
            <a:off x="417513" y="133350"/>
            <a:ext cx="8308975" cy="514350"/>
          </a:xfrm>
        </p:spPr>
        <p:txBody>
          <a:bodyPr>
            <a:normAutofit fontScale="90000"/>
          </a:bodyPr>
          <a:lstStyle/>
          <a:p>
            <a:pPr algn="l" eaLnBrk="1" hangingPunct="1"/>
            <a:r>
              <a:rPr lang="zh-CN" altLang="en-US" sz="3600"/>
              <a:t>例：对于上面的例题文法有下列项目</a:t>
            </a:r>
          </a:p>
        </p:txBody>
      </p:sp>
      <p:sp>
        <p:nvSpPr>
          <p:cNvPr id="135173" name="Rectangle 5"/>
          <p:cNvSpPr>
            <a:spLocks noChangeArrowheads="1"/>
          </p:cNvSpPr>
          <p:nvPr/>
        </p:nvSpPr>
        <p:spPr bwMode="auto">
          <a:xfrm>
            <a:off x="323527" y="3390116"/>
            <a:ext cx="8727525" cy="1243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2200" b="1" dirty="0">
                <a:ea typeface="华文行楷" pitchFamily="2" charset="-122"/>
                <a:sym typeface="Wingdings" pitchFamily="2" charset="2"/>
              </a:rPr>
              <a:t>已知 </a:t>
            </a:r>
            <a:r>
              <a:rPr lang="en-US" altLang="zh-CN" sz="2200" b="1" dirty="0">
                <a:ea typeface="华文行楷" pitchFamily="2" charset="-122"/>
                <a:sym typeface="Wingdings" pitchFamily="2" charset="2"/>
              </a:rPr>
              <a:t>I={</a:t>
            </a:r>
            <a:r>
              <a:rPr lang="en-GB" altLang="zh-CN" sz="2200" b="1" dirty="0">
                <a:ea typeface="华文行楷" pitchFamily="2" charset="-122"/>
              </a:rPr>
              <a:t>E </a:t>
            </a:r>
            <a:r>
              <a:rPr lang="en-GB" altLang="zh-CN" sz="2200" b="1" dirty="0">
                <a:ea typeface="华文行楷" pitchFamily="2" charset="-122"/>
                <a:sym typeface="Wingdings" pitchFamily="2" charset="2"/>
              </a:rPr>
              <a:t></a:t>
            </a:r>
            <a:r>
              <a:rPr lang="en-GB" altLang="zh-CN" sz="2200" b="1" dirty="0" err="1">
                <a:ea typeface="华文行楷" pitchFamily="2" charset="-122"/>
                <a:sym typeface="Wingdings" pitchFamily="2" charset="2"/>
              </a:rPr>
              <a:t>a</a:t>
            </a:r>
            <a:r>
              <a:rPr lang="en-GB" altLang="zh-CN" sz="2200" b="1" dirty="0" err="1">
                <a:ea typeface="华文行楷" pitchFamily="2" charset="-122"/>
                <a:cs typeface="Times New Roman" pitchFamily="18" charset="0"/>
                <a:sym typeface="Wingdings" pitchFamily="2" charset="2"/>
              </a:rPr>
              <a:t>·</a:t>
            </a:r>
            <a:r>
              <a:rPr lang="en-GB" altLang="zh-CN" sz="2200" b="1" dirty="0" err="1">
                <a:ea typeface="华文行楷" pitchFamily="2" charset="-122"/>
                <a:sym typeface="Wingdings" pitchFamily="2" charset="2"/>
              </a:rPr>
              <a:t>A</a:t>
            </a:r>
            <a:r>
              <a:rPr lang="en-GB" altLang="zh-CN" sz="2200" b="1" dirty="0">
                <a:ea typeface="华文行楷" pitchFamily="2" charset="-122"/>
                <a:sym typeface="Wingdings" pitchFamily="2" charset="2"/>
              </a:rPr>
              <a:t> , A  · </a:t>
            </a:r>
            <a:r>
              <a:rPr lang="en-GB" altLang="zh-CN" sz="2200" b="1" dirty="0" err="1">
                <a:ea typeface="华文行楷" pitchFamily="2" charset="-122"/>
                <a:sym typeface="Wingdings" pitchFamily="2" charset="2"/>
              </a:rPr>
              <a:t>cA</a:t>
            </a:r>
            <a:r>
              <a:rPr lang="en-GB" altLang="zh-CN" sz="2200" b="1" dirty="0">
                <a:ea typeface="华文行楷" pitchFamily="2" charset="-122"/>
                <a:sym typeface="Wingdings" pitchFamily="2" charset="2"/>
              </a:rPr>
              <a:t> , A ·d </a:t>
            </a:r>
            <a:r>
              <a:rPr lang="en-US" altLang="zh-CN" sz="2200" b="1" dirty="0">
                <a:ea typeface="华文行楷" pitchFamily="2" charset="-122"/>
                <a:sym typeface="Wingdings" pitchFamily="2" charset="2"/>
              </a:rPr>
              <a:t>} </a:t>
            </a:r>
            <a:r>
              <a:rPr lang="zh-CN" altLang="en-US" sz="2200" b="1" dirty="0">
                <a:ea typeface="华文行楷" pitchFamily="2" charset="-122"/>
                <a:sym typeface="Wingdings" pitchFamily="2" charset="2"/>
              </a:rPr>
              <a:t>求</a:t>
            </a:r>
            <a:r>
              <a:rPr lang="en-US" altLang="zh-CN" sz="2200" b="1" dirty="0">
                <a:ea typeface="华文行楷" pitchFamily="2" charset="-122"/>
                <a:sym typeface="Wingdings" pitchFamily="2" charset="2"/>
              </a:rPr>
              <a:t>go(I,A)</a:t>
            </a:r>
            <a:r>
              <a:rPr lang="zh-CN" altLang="en-US" sz="2200" b="1" dirty="0">
                <a:ea typeface="华文行楷" pitchFamily="2" charset="-122"/>
                <a:sym typeface="Wingdings" pitchFamily="2" charset="2"/>
              </a:rPr>
              <a:t>和 </a:t>
            </a:r>
            <a:r>
              <a:rPr lang="en-US" altLang="zh-CN" sz="2200" b="1" dirty="0">
                <a:ea typeface="华文行楷" pitchFamily="2" charset="-122"/>
                <a:sym typeface="Wingdings" pitchFamily="2" charset="2"/>
              </a:rPr>
              <a:t>go(</a:t>
            </a:r>
            <a:r>
              <a:rPr lang="en-US" altLang="zh-CN" sz="2200" b="1" dirty="0" err="1">
                <a:ea typeface="华文行楷" pitchFamily="2" charset="-122"/>
                <a:sym typeface="Wingdings" pitchFamily="2" charset="2"/>
              </a:rPr>
              <a:t>I,c</a:t>
            </a:r>
            <a:r>
              <a:rPr lang="en-US" altLang="zh-CN" sz="2200" b="1" dirty="0">
                <a:ea typeface="华文行楷" pitchFamily="2" charset="-122"/>
                <a:sym typeface="Wingdings" pitchFamily="2" charset="2"/>
              </a:rPr>
              <a:t>)</a:t>
            </a:r>
          </a:p>
          <a:p>
            <a:pPr>
              <a:buNone/>
            </a:pPr>
            <a:r>
              <a:rPr lang="en-US" altLang="zh-CN" sz="2200" b="1" dirty="0">
                <a:ea typeface="华文行楷" pitchFamily="2" charset="-122"/>
                <a:sym typeface="Wingdings" pitchFamily="2" charset="2"/>
              </a:rPr>
              <a:t>       go(I,A)=closure(J</a:t>
            </a:r>
            <a:r>
              <a:rPr lang="en-US" altLang="zh-CN" sz="2200" b="1" baseline="-25000" dirty="0">
                <a:ea typeface="华文行楷" pitchFamily="2" charset="-122"/>
                <a:sym typeface="Wingdings" pitchFamily="2" charset="2"/>
              </a:rPr>
              <a:t>A</a:t>
            </a:r>
            <a:r>
              <a:rPr lang="en-US" altLang="zh-CN" sz="2200" b="1" dirty="0">
                <a:ea typeface="华文行楷" pitchFamily="2" charset="-122"/>
                <a:sym typeface="Wingdings" pitchFamily="2" charset="2"/>
              </a:rPr>
              <a:t>) = closure( {</a:t>
            </a:r>
            <a:r>
              <a:rPr lang="en-GB" altLang="zh-CN" sz="2200" b="1" dirty="0">
                <a:ea typeface="华文行楷" pitchFamily="2" charset="-122"/>
              </a:rPr>
              <a:t>E </a:t>
            </a:r>
            <a:r>
              <a:rPr lang="en-GB" altLang="zh-CN" sz="2200" b="1" dirty="0">
                <a:ea typeface="华文行楷" pitchFamily="2" charset="-122"/>
                <a:sym typeface="Wingdings" pitchFamily="2" charset="2"/>
              </a:rPr>
              <a:t> </a:t>
            </a:r>
            <a:r>
              <a:rPr lang="en-GB" altLang="zh-CN" sz="2200" b="1" dirty="0" err="1">
                <a:ea typeface="华文行楷" pitchFamily="2" charset="-122"/>
                <a:sym typeface="Wingdings" pitchFamily="2" charset="2"/>
              </a:rPr>
              <a:t>aA</a:t>
            </a:r>
            <a:r>
              <a:rPr lang="en-GB" altLang="zh-CN" sz="2200" b="1" dirty="0">
                <a:ea typeface="华文行楷" pitchFamily="2" charset="-122"/>
                <a:sym typeface="Wingdings" pitchFamily="2" charset="2"/>
              </a:rPr>
              <a:t>·</a:t>
            </a:r>
            <a:r>
              <a:rPr lang="en-US" altLang="zh-CN" sz="2200" b="1" dirty="0">
                <a:ea typeface="华文行楷" pitchFamily="2" charset="-122"/>
                <a:sym typeface="Wingdings" pitchFamily="2" charset="2"/>
              </a:rPr>
              <a:t>} ) </a:t>
            </a:r>
          </a:p>
          <a:p>
            <a:pPr>
              <a:buNone/>
            </a:pPr>
            <a:r>
              <a:rPr lang="en-US" altLang="zh-CN" sz="2200" b="1" dirty="0">
                <a:ea typeface="华文行楷" pitchFamily="2" charset="-122"/>
                <a:sym typeface="Wingdings" pitchFamily="2" charset="2"/>
              </a:rPr>
              <a:t>       go(</a:t>
            </a:r>
            <a:r>
              <a:rPr lang="en-US" altLang="zh-CN" sz="2200" b="1" dirty="0" err="1">
                <a:ea typeface="华文行楷" pitchFamily="2" charset="-122"/>
                <a:sym typeface="Wingdings" pitchFamily="2" charset="2"/>
              </a:rPr>
              <a:t>I,c</a:t>
            </a:r>
            <a:r>
              <a:rPr lang="en-US" altLang="zh-CN" sz="2200" b="1" dirty="0">
                <a:ea typeface="华文行楷" pitchFamily="2" charset="-122"/>
                <a:sym typeface="Wingdings" pitchFamily="2" charset="2"/>
              </a:rPr>
              <a:t>)=closure(</a:t>
            </a:r>
            <a:r>
              <a:rPr lang="en-US" altLang="zh-CN" sz="2200" b="1" dirty="0" err="1">
                <a:ea typeface="华文行楷" pitchFamily="2" charset="-122"/>
                <a:sym typeface="Wingdings" pitchFamily="2" charset="2"/>
              </a:rPr>
              <a:t>J</a:t>
            </a:r>
            <a:r>
              <a:rPr lang="en-US" altLang="zh-CN" sz="2200" b="1" baseline="-25000" dirty="0" err="1">
                <a:ea typeface="华文行楷" pitchFamily="2" charset="-122"/>
                <a:sym typeface="Wingdings" pitchFamily="2" charset="2"/>
              </a:rPr>
              <a:t>c</a:t>
            </a:r>
            <a:r>
              <a:rPr lang="en-US" altLang="zh-CN" sz="2200" b="1" dirty="0">
                <a:ea typeface="华文行楷" pitchFamily="2" charset="-122"/>
                <a:sym typeface="Wingdings" pitchFamily="2" charset="2"/>
              </a:rPr>
              <a:t>)=closure({</a:t>
            </a:r>
            <a:r>
              <a:rPr lang="en-GB" altLang="zh-CN" sz="2200" b="1" dirty="0">
                <a:ea typeface="华文行楷" pitchFamily="2" charset="-122"/>
                <a:sym typeface="Wingdings" pitchFamily="2" charset="2"/>
              </a:rPr>
              <a:t>A </a:t>
            </a:r>
            <a:r>
              <a:rPr lang="en-GB" altLang="zh-CN" sz="2200" b="1" dirty="0" err="1">
                <a:ea typeface="华文行楷" pitchFamily="2" charset="-122"/>
                <a:sym typeface="Wingdings" pitchFamily="2" charset="2"/>
              </a:rPr>
              <a:t>c·A</a:t>
            </a:r>
            <a:r>
              <a:rPr lang="en-US" altLang="zh-CN" sz="2200" b="1" dirty="0">
                <a:ea typeface="华文行楷" pitchFamily="2" charset="-122"/>
                <a:sym typeface="Wingdings" pitchFamily="2" charset="2"/>
              </a:rPr>
              <a:t>})</a:t>
            </a:r>
          </a:p>
        </p:txBody>
      </p:sp>
      <p:sp>
        <p:nvSpPr>
          <p:cNvPr id="135174" name="Rectangle 6"/>
          <p:cNvSpPr>
            <a:spLocks noChangeArrowheads="1"/>
          </p:cNvSpPr>
          <p:nvPr/>
        </p:nvSpPr>
        <p:spPr bwMode="auto">
          <a:xfrm>
            <a:off x="5436096" y="2003941"/>
            <a:ext cx="3407945" cy="110799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b="1" dirty="0">
                <a:ea typeface="华文行楷" pitchFamily="2" charset="-122"/>
                <a:sym typeface="Wingdings" pitchFamily="2" charset="2"/>
              </a:rPr>
              <a:t>go(I,B) = {</a:t>
            </a:r>
            <a:r>
              <a:rPr lang="en-GB" altLang="zh-CN" sz="2200" b="1" dirty="0">
                <a:ea typeface="华文行楷" pitchFamily="2" charset="-122"/>
                <a:sym typeface="Wingdings" pitchFamily="2" charset="2"/>
              </a:rPr>
              <a:t>B </a:t>
            </a:r>
            <a:r>
              <a:rPr lang="en-GB" altLang="zh-CN" sz="2200" b="1" dirty="0" err="1">
                <a:ea typeface="华文行楷" pitchFamily="2" charset="-122"/>
                <a:sym typeface="Wingdings" pitchFamily="2" charset="2"/>
              </a:rPr>
              <a:t>cB</a:t>
            </a:r>
            <a:r>
              <a:rPr lang="en-GB" altLang="zh-CN" sz="2200" b="1" dirty="0">
                <a:ea typeface="华文行楷" pitchFamily="2" charset="-122"/>
                <a:sym typeface="Wingdings" pitchFamily="2" charset="2"/>
              </a:rPr>
              <a:t>· }</a:t>
            </a:r>
          </a:p>
          <a:p>
            <a:pPr eaLnBrk="1" hangingPunct="1">
              <a:spcBef>
                <a:spcPct val="0"/>
              </a:spcBef>
              <a:buFontTx/>
              <a:buNone/>
            </a:pPr>
            <a:r>
              <a:rPr lang="en-US" altLang="zh-CN" sz="2200" b="1" dirty="0">
                <a:ea typeface="华文行楷" pitchFamily="2" charset="-122"/>
                <a:sym typeface="Wingdings" pitchFamily="2" charset="2"/>
              </a:rPr>
              <a:t>go(</a:t>
            </a:r>
            <a:r>
              <a:rPr lang="en-US" altLang="zh-CN" sz="2200" b="1" dirty="0" err="1">
                <a:ea typeface="华文行楷" pitchFamily="2" charset="-122"/>
                <a:sym typeface="Wingdings" pitchFamily="2" charset="2"/>
              </a:rPr>
              <a:t>I,c</a:t>
            </a:r>
            <a:r>
              <a:rPr lang="en-US" altLang="zh-CN" sz="2200" b="1" dirty="0">
                <a:ea typeface="华文行楷" pitchFamily="2" charset="-122"/>
                <a:sym typeface="Wingdings" pitchFamily="2" charset="2"/>
              </a:rPr>
              <a:t>) = { B</a:t>
            </a:r>
            <a:r>
              <a:rPr lang="en-GB" altLang="zh-CN" sz="2200" b="1" dirty="0">
                <a:ea typeface="华文行楷" pitchFamily="2" charset="-122"/>
                <a:sym typeface="Wingdings" pitchFamily="2" charset="2"/>
              </a:rPr>
              <a:t></a:t>
            </a:r>
            <a:r>
              <a:rPr lang="en-GB" altLang="zh-CN" sz="2200" b="1" dirty="0" err="1">
                <a:ea typeface="华文行楷" pitchFamily="2" charset="-122"/>
                <a:sym typeface="Wingdings" pitchFamily="2" charset="2"/>
              </a:rPr>
              <a:t>c·B</a:t>
            </a:r>
            <a:r>
              <a:rPr lang="en-GB" altLang="zh-CN" sz="2200" b="1" dirty="0">
                <a:ea typeface="华文行楷" pitchFamily="2" charset="-122"/>
                <a:sym typeface="Wingdings" pitchFamily="2" charset="2"/>
              </a:rPr>
              <a:t>, B  · </a:t>
            </a:r>
            <a:r>
              <a:rPr lang="en-GB" altLang="zh-CN" sz="2200" b="1" dirty="0" err="1">
                <a:ea typeface="华文行楷" pitchFamily="2" charset="-122"/>
                <a:sym typeface="Wingdings" pitchFamily="2" charset="2"/>
              </a:rPr>
              <a:t>cB</a:t>
            </a:r>
            <a:r>
              <a:rPr lang="en-GB" altLang="zh-CN" sz="2200" b="1" dirty="0">
                <a:ea typeface="华文行楷" pitchFamily="2" charset="-122"/>
                <a:sym typeface="Wingdings" pitchFamily="2" charset="2"/>
              </a:rPr>
              <a:t> , B ·d </a:t>
            </a:r>
            <a:r>
              <a:rPr lang="en-US" altLang="zh-CN" sz="2200" b="1" dirty="0">
                <a:ea typeface="华文行楷" pitchFamily="2" charset="-122"/>
                <a:sym typeface="Wingdings" pitchFamily="2" charset="2"/>
              </a:rPr>
              <a:t>}</a:t>
            </a:r>
          </a:p>
        </p:txBody>
      </p:sp>
      <p:sp>
        <p:nvSpPr>
          <p:cNvPr id="7" name="Rectangle 4"/>
          <p:cNvSpPr>
            <a:spLocks noChangeArrowheads="1"/>
          </p:cNvSpPr>
          <p:nvPr/>
        </p:nvSpPr>
        <p:spPr bwMode="auto">
          <a:xfrm>
            <a:off x="467544" y="915566"/>
            <a:ext cx="4798427" cy="21767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4.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6.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9. A ·d       10. A  d·</a:t>
            </a:r>
          </a:p>
          <a:p>
            <a:pPr lvl="1" indent="-457200" eaLnBrk="1" hangingPunct="1">
              <a:lnSpc>
                <a:spcPct val="90000"/>
              </a:lnSpc>
              <a:buFontTx/>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14.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16.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a:t>
            </a:r>
          </a:p>
          <a:p>
            <a:pPr lvl="1" indent="-457200" eaLnBrk="1" hangingPunct="1">
              <a:lnSpc>
                <a:spcPct val="90000"/>
              </a:lnSpc>
              <a:buFontTx/>
              <a:buNone/>
            </a:pPr>
            <a:r>
              <a:rPr lang="en-GB" altLang="zh-CN" sz="1800" dirty="0">
                <a:latin typeface="+mn-lt"/>
                <a:ea typeface="华文行楷" pitchFamily="2" charset="-122"/>
                <a:sym typeface="Wingdings" pitchFamily="2" charset="2"/>
              </a:rPr>
              <a:t>17. B ·d      18. B  d·</a:t>
            </a:r>
            <a:endParaRPr lang="en-US" altLang="zh-CN" sz="1800" dirty="0">
              <a:latin typeface="+mn-lt"/>
              <a:ea typeface="华文行楷" pitchFamily="2" charset="-122"/>
              <a:sym typeface="Wingdings" pitchFamily="2" charset="2"/>
            </a:endParaRPr>
          </a:p>
        </p:txBody>
      </p:sp>
      <p:sp>
        <p:nvSpPr>
          <p:cNvPr id="3" name="矩形 2"/>
          <p:cNvSpPr/>
          <p:nvPr/>
        </p:nvSpPr>
        <p:spPr>
          <a:xfrm>
            <a:off x="5265971" y="803612"/>
            <a:ext cx="3763729" cy="646331"/>
          </a:xfrm>
          <a:prstGeom prst="rect">
            <a:avLst/>
          </a:prstGeom>
        </p:spPr>
        <p:txBody>
          <a:bodyPr wrap="square">
            <a:spAutoFit/>
          </a:bodyPr>
          <a:lstStyle/>
          <a:p>
            <a:r>
              <a:rPr lang="zh-CN" altLang="en-US" b="1" dirty="0">
                <a:ea typeface="华文行楷" pitchFamily="2" charset="-122"/>
                <a:sym typeface="Wingdings" pitchFamily="2" charset="2"/>
              </a:rPr>
              <a:t>已知 </a:t>
            </a:r>
            <a:r>
              <a:rPr lang="en-US" altLang="zh-CN" b="1" dirty="0">
                <a:ea typeface="华文行楷" pitchFamily="2" charset="-122"/>
                <a:sym typeface="Wingdings" pitchFamily="2" charset="2"/>
              </a:rPr>
              <a:t>I={ </a:t>
            </a:r>
            <a:r>
              <a:rPr lang="en-GB" altLang="zh-CN" b="1" dirty="0">
                <a:ea typeface="华文行楷" pitchFamily="2" charset="-122"/>
                <a:sym typeface="Wingdings" pitchFamily="2" charset="2"/>
              </a:rPr>
              <a:t>B </a:t>
            </a:r>
            <a:r>
              <a:rPr lang="en-GB" altLang="zh-CN" b="1" dirty="0" err="1">
                <a:ea typeface="华文行楷" pitchFamily="2" charset="-122"/>
                <a:sym typeface="Wingdings" pitchFamily="2" charset="2"/>
              </a:rPr>
              <a:t>c·B，B</a:t>
            </a:r>
            <a:r>
              <a:rPr lang="en-GB" altLang="zh-CN" b="1" dirty="0">
                <a:ea typeface="华文行楷" pitchFamily="2" charset="-122"/>
                <a:sym typeface="Wingdings" pitchFamily="2" charset="2"/>
              </a:rPr>
              <a:t> ·</a:t>
            </a:r>
            <a:r>
              <a:rPr lang="en-GB" altLang="zh-CN" b="1" dirty="0" err="1">
                <a:ea typeface="华文行楷" pitchFamily="2" charset="-122"/>
                <a:sym typeface="Wingdings" pitchFamily="2" charset="2"/>
              </a:rPr>
              <a:t>cB，B</a:t>
            </a:r>
            <a:r>
              <a:rPr lang="en-GB" altLang="zh-CN" b="1" dirty="0">
                <a:ea typeface="华文行楷" pitchFamily="2" charset="-122"/>
                <a:sym typeface="Wingdings" pitchFamily="2" charset="2"/>
              </a:rPr>
              <a:t> ·d </a:t>
            </a:r>
            <a:r>
              <a:rPr lang="en-US" altLang="zh-CN" b="1" dirty="0">
                <a:ea typeface="华文行楷" pitchFamily="2" charset="-122"/>
                <a:sym typeface="Wingdings" pitchFamily="2" charset="2"/>
              </a:rPr>
              <a:t>} </a:t>
            </a:r>
            <a:r>
              <a:rPr lang="zh-CN" altLang="en-US" b="1" dirty="0">
                <a:ea typeface="华文行楷" pitchFamily="2" charset="-122"/>
                <a:sym typeface="Wingdings" pitchFamily="2" charset="2"/>
              </a:rPr>
              <a:t>求</a:t>
            </a:r>
            <a:r>
              <a:rPr lang="en-US" altLang="zh-CN" b="1" dirty="0">
                <a:ea typeface="华文行楷" pitchFamily="2" charset="-122"/>
                <a:sym typeface="Wingdings" pitchFamily="2" charset="2"/>
              </a:rPr>
              <a:t>go(I,B)</a:t>
            </a:r>
            <a:r>
              <a:rPr lang="zh-CN" altLang="en-US" b="1" dirty="0">
                <a:ea typeface="华文行楷" pitchFamily="2" charset="-122"/>
                <a:sym typeface="Wingdings" pitchFamily="2" charset="2"/>
              </a:rPr>
              <a:t>和 </a:t>
            </a:r>
            <a:r>
              <a:rPr lang="en-US" altLang="zh-CN" b="1" dirty="0">
                <a:ea typeface="华文行楷" pitchFamily="2" charset="-122"/>
                <a:sym typeface="Wingdings" pitchFamily="2" charset="2"/>
              </a:rPr>
              <a:t>go(</a:t>
            </a:r>
            <a:r>
              <a:rPr lang="en-US" altLang="zh-CN" b="1" dirty="0" err="1">
                <a:ea typeface="华文行楷" pitchFamily="2" charset="-122"/>
                <a:sym typeface="Wingdings" pitchFamily="2" charset="2"/>
              </a:rPr>
              <a:t>I,c</a:t>
            </a:r>
            <a:r>
              <a:rPr lang="en-US" altLang="zh-CN" b="1" dirty="0">
                <a:ea typeface="华文行楷" pitchFamily="2" charset="-122"/>
                <a:sym typeface="Wingdings" pitchFamily="2" charset="2"/>
              </a:rPr>
              <a:t>)</a:t>
            </a:r>
          </a:p>
        </p:txBody>
      </p:sp>
      <p:sp>
        <p:nvSpPr>
          <p:cNvPr id="4" name="矩形 3"/>
          <p:cNvSpPr/>
          <p:nvPr/>
        </p:nvSpPr>
        <p:spPr>
          <a:xfrm>
            <a:off x="5436096" y="4264201"/>
            <a:ext cx="3328155" cy="369332"/>
          </a:xfrm>
          <a:prstGeom prst="rect">
            <a:avLst/>
          </a:prstGeom>
        </p:spPr>
        <p:txBody>
          <a:bodyPr wrap="none">
            <a:spAutoFit/>
          </a:bodyPr>
          <a:lstStyle/>
          <a:p>
            <a:pPr>
              <a:buNone/>
            </a:pPr>
            <a:r>
              <a:rPr lang="en-US" altLang="zh-CN" b="1" dirty="0">
                <a:solidFill>
                  <a:srgbClr val="0000FF"/>
                </a:solidFill>
                <a:ea typeface="华文行楷" pitchFamily="2" charset="-122"/>
                <a:sym typeface="Wingdings" pitchFamily="2" charset="2"/>
              </a:rPr>
              <a:t>= {</a:t>
            </a:r>
            <a:r>
              <a:rPr lang="en-GB" altLang="zh-CN" b="1" dirty="0" err="1">
                <a:solidFill>
                  <a:srgbClr val="0000FF"/>
                </a:solidFill>
                <a:ea typeface="华文行楷" pitchFamily="2" charset="-122"/>
              </a:rPr>
              <a:t>A</a:t>
            </a:r>
            <a:r>
              <a:rPr lang="en-GB" altLang="zh-CN" b="1" dirty="0" err="1">
                <a:solidFill>
                  <a:srgbClr val="0000FF"/>
                </a:solidFill>
                <a:ea typeface="华文行楷" pitchFamily="2" charset="-122"/>
                <a:sym typeface="Wingdings" pitchFamily="2" charset="2"/>
              </a:rPr>
              <a:t>c·A</a:t>
            </a:r>
            <a:r>
              <a:rPr lang="en-GB" altLang="zh-CN" b="1" dirty="0">
                <a:solidFill>
                  <a:srgbClr val="0000FF"/>
                </a:solidFill>
                <a:ea typeface="华文行楷" pitchFamily="2" charset="-122"/>
                <a:sym typeface="Wingdings" pitchFamily="2" charset="2"/>
              </a:rPr>
              <a:t>, A·</a:t>
            </a:r>
            <a:r>
              <a:rPr lang="en-GB" altLang="zh-CN" b="1" dirty="0" err="1">
                <a:solidFill>
                  <a:srgbClr val="0000FF"/>
                </a:solidFill>
                <a:ea typeface="华文行楷" pitchFamily="2" charset="-122"/>
                <a:sym typeface="Wingdings" pitchFamily="2" charset="2"/>
              </a:rPr>
              <a:t>cA</a:t>
            </a:r>
            <a:r>
              <a:rPr lang="en-GB" altLang="zh-CN" b="1" dirty="0">
                <a:solidFill>
                  <a:srgbClr val="0000FF"/>
                </a:solidFill>
                <a:ea typeface="华文行楷" pitchFamily="2" charset="-122"/>
                <a:sym typeface="Wingdings" pitchFamily="2" charset="2"/>
              </a:rPr>
              <a:t> , A ·d</a:t>
            </a:r>
            <a:r>
              <a:rPr lang="en-US" altLang="zh-CN" b="1" dirty="0">
                <a:solidFill>
                  <a:srgbClr val="0000FF"/>
                </a:solidFill>
                <a:ea typeface="华文行楷" pitchFamily="2" charset="-122"/>
                <a:sym typeface="Wingdings" pitchFamily="2" charset="2"/>
              </a:rPr>
              <a:t>}</a:t>
            </a:r>
          </a:p>
        </p:txBody>
      </p:sp>
      <p:sp>
        <p:nvSpPr>
          <p:cNvPr id="5" name="矩形 4"/>
          <p:cNvSpPr/>
          <p:nvPr/>
        </p:nvSpPr>
        <p:spPr>
          <a:xfrm>
            <a:off x="5868144" y="3858602"/>
            <a:ext cx="1672253" cy="369332"/>
          </a:xfrm>
          <a:prstGeom prst="rect">
            <a:avLst/>
          </a:prstGeom>
        </p:spPr>
        <p:txBody>
          <a:bodyPr wrap="none">
            <a:spAutoFit/>
          </a:bodyPr>
          <a:lstStyle/>
          <a:p>
            <a:r>
              <a:rPr lang="en-US" altLang="zh-CN" b="1" dirty="0">
                <a:solidFill>
                  <a:srgbClr val="0000FF"/>
                </a:solidFill>
                <a:ea typeface="华文行楷" pitchFamily="2" charset="-122"/>
                <a:sym typeface="Wingdings" pitchFamily="2" charset="2"/>
              </a:rPr>
              <a:t> = {</a:t>
            </a:r>
            <a:r>
              <a:rPr lang="en-GB" altLang="zh-CN" b="1" dirty="0">
                <a:solidFill>
                  <a:srgbClr val="0000FF"/>
                </a:solidFill>
                <a:ea typeface="华文行楷" pitchFamily="2" charset="-122"/>
              </a:rPr>
              <a:t>E </a:t>
            </a:r>
            <a:r>
              <a:rPr lang="en-GB" altLang="zh-CN" b="1" dirty="0">
                <a:solidFill>
                  <a:srgbClr val="0000FF"/>
                </a:solidFill>
                <a:ea typeface="华文行楷" pitchFamily="2" charset="-122"/>
                <a:sym typeface="Wingdings" pitchFamily="2" charset="2"/>
              </a:rPr>
              <a:t> </a:t>
            </a:r>
            <a:r>
              <a:rPr lang="en-GB" altLang="zh-CN" b="1" dirty="0" err="1">
                <a:solidFill>
                  <a:srgbClr val="0000FF"/>
                </a:solidFill>
                <a:ea typeface="华文行楷" pitchFamily="2" charset="-122"/>
                <a:sym typeface="Wingdings" pitchFamily="2" charset="2"/>
              </a:rPr>
              <a:t>aA</a:t>
            </a:r>
            <a:r>
              <a:rPr lang="en-GB" altLang="zh-CN" b="1" dirty="0">
                <a:solidFill>
                  <a:srgbClr val="0000FF"/>
                </a:solidFill>
                <a:ea typeface="华文行楷" pitchFamily="2" charset="-122"/>
                <a:sym typeface="Wingdings" pitchFamily="2" charset="2"/>
              </a:rPr>
              <a:t>·</a:t>
            </a:r>
            <a:r>
              <a:rPr lang="en-US" altLang="zh-CN" b="1" dirty="0">
                <a:solidFill>
                  <a:srgbClr val="0000FF"/>
                </a:solidFill>
                <a:ea typeface="华文行楷" pitchFamily="2" charset="-122"/>
                <a:sym typeface="Wingdings" pitchFamily="2" charset="2"/>
              </a:rPr>
              <a:t>} </a:t>
            </a:r>
            <a:endParaRPr lang="zh-CN" altLang="en-US" dirty="0">
              <a:solidFill>
                <a:srgbClr val="0000FF"/>
              </a:solidFill>
            </a:endParaRPr>
          </a:p>
        </p:txBody>
      </p:sp>
    </p:spTree>
    <p:extLst>
      <p:ext uri="{BB962C8B-B14F-4D97-AF65-F5344CB8AC3E}">
        <p14:creationId xmlns:p14="http://schemas.microsoft.com/office/powerpoint/2010/main" val="16855660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3517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3517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35173">
                                            <p:txEl>
                                              <p:pRg st="2" end="2"/>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7" presetClass="entr" presetSubtype="2" fill="hold" grpId="0" nodeType="clickEffect">
                                  <p:stCondLst>
                                    <p:cond delay="0"/>
                                  </p:stCondLst>
                                  <p:childTnLst>
                                    <p:set>
                                      <p:cBhvr>
                                        <p:cTn id="30" dur="1" fill="hold">
                                          <p:stCondLst>
                                            <p:cond delay="0"/>
                                          </p:stCondLst>
                                        </p:cTn>
                                        <p:tgtEl>
                                          <p:spTgt spid="135174"/>
                                        </p:tgtEl>
                                        <p:attrNameLst>
                                          <p:attrName>style.visibility</p:attrName>
                                        </p:attrNameLst>
                                      </p:cBhvr>
                                      <p:to>
                                        <p:strVal val="visible"/>
                                      </p:to>
                                    </p:set>
                                    <p:anim calcmode="lin" valueType="num">
                                      <p:cBhvr>
                                        <p:cTn id="31" dur="500" fill="hold"/>
                                        <p:tgtEl>
                                          <p:spTgt spid="135174"/>
                                        </p:tgtEl>
                                        <p:attrNameLst>
                                          <p:attrName>ppt_x</p:attrName>
                                        </p:attrNameLst>
                                      </p:cBhvr>
                                      <p:tavLst>
                                        <p:tav tm="0">
                                          <p:val>
                                            <p:strVal val="#ppt_x+#ppt_w/2"/>
                                          </p:val>
                                        </p:tav>
                                        <p:tav tm="100000">
                                          <p:val>
                                            <p:strVal val="#ppt_x"/>
                                          </p:val>
                                        </p:tav>
                                      </p:tavLst>
                                    </p:anim>
                                    <p:anim calcmode="lin" valueType="num">
                                      <p:cBhvr>
                                        <p:cTn id="32" dur="500" fill="hold"/>
                                        <p:tgtEl>
                                          <p:spTgt spid="135174"/>
                                        </p:tgtEl>
                                        <p:attrNameLst>
                                          <p:attrName>ppt_y</p:attrName>
                                        </p:attrNameLst>
                                      </p:cBhvr>
                                      <p:tavLst>
                                        <p:tav tm="0">
                                          <p:val>
                                            <p:strVal val="#ppt_y"/>
                                          </p:val>
                                        </p:tav>
                                        <p:tav tm="100000">
                                          <p:val>
                                            <p:strVal val="#ppt_y"/>
                                          </p:val>
                                        </p:tav>
                                      </p:tavLst>
                                    </p:anim>
                                    <p:anim calcmode="lin" valueType="num">
                                      <p:cBhvr>
                                        <p:cTn id="33" dur="500" fill="hold"/>
                                        <p:tgtEl>
                                          <p:spTgt spid="135174"/>
                                        </p:tgtEl>
                                        <p:attrNameLst>
                                          <p:attrName>ppt_w</p:attrName>
                                        </p:attrNameLst>
                                      </p:cBhvr>
                                      <p:tavLst>
                                        <p:tav tm="0">
                                          <p:val>
                                            <p:fltVal val="0"/>
                                          </p:val>
                                        </p:tav>
                                        <p:tav tm="100000">
                                          <p:val>
                                            <p:strVal val="#ppt_w"/>
                                          </p:val>
                                        </p:tav>
                                      </p:tavLst>
                                    </p:anim>
                                    <p:anim calcmode="lin" valueType="num">
                                      <p:cBhvr>
                                        <p:cTn id="34" dur="500" fill="hold"/>
                                        <p:tgtEl>
                                          <p:spTgt spid="13517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173" grpId="0" build="p" autoUpdateAnimBg="0"/>
      <p:bldP spid="135174" grpId="0" animBg="1"/>
      <p:bldP spid="3" grpId="0"/>
      <p:bldP spid="4" grpId="0"/>
      <p:bldP spid="5" grpId="0"/>
    </p:bldLst>
  </p:timing>
</p:sld>
</file>

<file path=ppt/slides/slide2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5235" name="Rectangle 3"/>
          <p:cNvSpPr>
            <a:spLocks noGrp="1" noChangeArrowheads="1"/>
          </p:cNvSpPr>
          <p:nvPr>
            <p:ph type="body" idx="1"/>
          </p:nvPr>
        </p:nvSpPr>
        <p:spPr>
          <a:xfrm>
            <a:off x="247650" y="892175"/>
            <a:ext cx="8689975" cy="2687687"/>
          </a:xfrm>
          <a:solidFill>
            <a:schemeClr val="bg1"/>
          </a:solidFill>
          <a:ln w="28575">
            <a:solidFill>
              <a:schemeClr val="accent2"/>
            </a:solidFill>
            <a:miter lim="800000"/>
            <a:headEnd/>
            <a:tailEnd/>
          </a:ln>
        </p:spPr>
        <p:txBody>
          <a:bodyPr>
            <a:normAutofit/>
          </a:bodyPr>
          <a:lstStyle/>
          <a:p>
            <a:pPr eaLnBrk="1" hangingPunct="1"/>
            <a:r>
              <a:rPr lang="en-US" altLang="zh-CN" sz="2200" dirty="0"/>
              <a:t>1.</a:t>
            </a:r>
            <a:r>
              <a:rPr lang="zh-CN" altLang="en-US" sz="2200" dirty="0"/>
              <a:t>拓广文法：在原文法</a:t>
            </a:r>
            <a:r>
              <a:rPr lang="en-US" altLang="zh-CN" sz="2200" dirty="0"/>
              <a:t>G[S]</a:t>
            </a:r>
            <a:r>
              <a:rPr lang="zh-CN" altLang="en-US" sz="2200" dirty="0"/>
              <a:t>上增加一个产生式</a:t>
            </a:r>
            <a:r>
              <a:rPr lang="en-US" altLang="zh-CN" sz="2200" dirty="0"/>
              <a:t>S</a:t>
            </a:r>
            <a:r>
              <a:rPr lang="en-US" altLang="zh-CN" sz="2200" b="1" dirty="0"/>
              <a:t>'</a:t>
            </a:r>
            <a:r>
              <a:rPr lang="en-US" altLang="zh-CN" sz="2200" dirty="0">
                <a:cs typeface="Times New Roman" pitchFamily="18" charset="0"/>
              </a:rPr>
              <a:t>→S</a:t>
            </a:r>
            <a:r>
              <a:rPr lang="zh-CN" altLang="en-US" sz="2200" dirty="0">
                <a:cs typeface="Times New Roman" pitchFamily="18" charset="0"/>
              </a:rPr>
              <a:t>，这是为了得到唯一的接受状态</a:t>
            </a:r>
            <a:r>
              <a:rPr lang="en-US" altLang="zh-CN" sz="2200" dirty="0">
                <a:cs typeface="Times New Roman" pitchFamily="18" charset="0"/>
              </a:rPr>
              <a:t>S</a:t>
            </a:r>
            <a:r>
              <a:rPr lang="en-US" altLang="zh-CN" sz="2200" b="1" dirty="0"/>
              <a:t>'</a:t>
            </a:r>
            <a:r>
              <a:rPr lang="en-US" altLang="zh-CN" sz="2200" dirty="0">
                <a:cs typeface="Times New Roman" pitchFamily="18" charset="0"/>
              </a:rPr>
              <a:t> →S</a:t>
            </a:r>
            <a:r>
              <a:rPr lang="en-US" altLang="zh-CN" sz="2200" dirty="0">
                <a:sym typeface="Symbol" pitchFamily="18" charset="2"/>
              </a:rPr>
              <a:t>·</a:t>
            </a:r>
          </a:p>
          <a:p>
            <a:pPr eaLnBrk="1" hangingPunct="1"/>
            <a:r>
              <a:rPr lang="en-US" altLang="zh-CN" sz="2200" dirty="0">
                <a:cs typeface="Times New Roman" pitchFamily="18" charset="0"/>
              </a:rPr>
              <a:t>2.</a:t>
            </a:r>
            <a:r>
              <a:rPr lang="zh-CN" altLang="en-US" sz="2200" dirty="0">
                <a:cs typeface="Times New Roman" pitchFamily="18" charset="0"/>
              </a:rPr>
              <a:t>设项目集规范族</a:t>
            </a:r>
            <a:r>
              <a:rPr lang="en-US" altLang="zh-CN" sz="2200" dirty="0">
                <a:cs typeface="Times New Roman" pitchFamily="18" charset="0"/>
              </a:rPr>
              <a:t>C</a:t>
            </a:r>
            <a:r>
              <a:rPr lang="zh-CN" altLang="en-US" sz="2200" dirty="0">
                <a:cs typeface="Times New Roman" pitchFamily="18" charset="0"/>
              </a:rPr>
              <a:t>只包含第一个状态</a:t>
            </a:r>
            <a:r>
              <a:rPr lang="en-US" altLang="zh-CN" sz="2200" dirty="0">
                <a:cs typeface="Times New Roman" pitchFamily="18" charset="0"/>
              </a:rPr>
              <a:t>{S</a:t>
            </a:r>
            <a:r>
              <a:rPr lang="en-US" altLang="zh-CN" sz="2200" b="1" dirty="0"/>
              <a:t>'</a:t>
            </a:r>
            <a:r>
              <a:rPr lang="en-US" altLang="zh-CN" sz="2200" dirty="0">
                <a:cs typeface="Times New Roman" pitchFamily="18" charset="0"/>
              </a:rPr>
              <a:t>→</a:t>
            </a:r>
            <a:r>
              <a:rPr lang="en-US" altLang="zh-CN" sz="2200" b="1" dirty="0">
                <a:solidFill>
                  <a:schemeClr val="accent2"/>
                </a:solidFill>
                <a:sym typeface="Symbol" pitchFamily="18" charset="2"/>
              </a:rPr>
              <a:t>·</a:t>
            </a:r>
            <a:r>
              <a:rPr lang="en-US" altLang="zh-CN" sz="2200" dirty="0">
                <a:cs typeface="Times New Roman" pitchFamily="18" charset="0"/>
              </a:rPr>
              <a:t>S}</a:t>
            </a:r>
            <a:r>
              <a:rPr lang="zh-CN" altLang="en-US" sz="2200" dirty="0">
                <a:cs typeface="Times New Roman" pitchFamily="18" charset="0"/>
              </a:rPr>
              <a:t>的闭包，即</a:t>
            </a:r>
            <a:r>
              <a:rPr lang="en-US" altLang="zh-CN" sz="2200" dirty="0">
                <a:cs typeface="Times New Roman" pitchFamily="18" charset="0"/>
              </a:rPr>
              <a:t>C = { Closure({S</a:t>
            </a:r>
            <a:r>
              <a:rPr lang="en-US" altLang="zh-CN" sz="2200" b="1" dirty="0"/>
              <a:t>'</a:t>
            </a:r>
            <a:r>
              <a:rPr lang="en-US" altLang="zh-CN" sz="2200" dirty="0">
                <a:cs typeface="Times New Roman" pitchFamily="18" charset="0"/>
              </a:rPr>
              <a:t> →</a:t>
            </a:r>
            <a:r>
              <a:rPr lang="en-US" altLang="zh-CN" sz="2200" b="1" dirty="0">
                <a:solidFill>
                  <a:schemeClr val="accent2"/>
                </a:solidFill>
                <a:sym typeface="Symbol" pitchFamily="18" charset="2"/>
              </a:rPr>
              <a:t>·</a:t>
            </a:r>
            <a:r>
              <a:rPr lang="en-US" altLang="zh-CN" sz="2200" dirty="0">
                <a:cs typeface="Times New Roman" pitchFamily="18" charset="0"/>
              </a:rPr>
              <a:t>S}) }</a:t>
            </a:r>
          </a:p>
          <a:p>
            <a:pPr eaLnBrk="1" hangingPunct="1"/>
            <a:r>
              <a:rPr lang="en-US" altLang="zh-CN" sz="2200" dirty="0">
                <a:cs typeface="Times New Roman" pitchFamily="18" charset="0"/>
              </a:rPr>
              <a:t>3.</a:t>
            </a:r>
            <a:r>
              <a:rPr lang="zh-CN" altLang="en-US" sz="2200" dirty="0">
                <a:cs typeface="Times New Roman" pitchFamily="18" charset="0"/>
              </a:rPr>
              <a:t>利用</a:t>
            </a:r>
            <a:r>
              <a:rPr lang="en-US" altLang="zh-CN" sz="2200" dirty="0">
                <a:cs typeface="Times New Roman" pitchFamily="18" charset="0"/>
              </a:rPr>
              <a:t>GO</a:t>
            </a:r>
            <a:r>
              <a:rPr lang="zh-CN" altLang="en-US" sz="2200" dirty="0">
                <a:cs typeface="Times New Roman" pitchFamily="18" charset="0"/>
              </a:rPr>
              <a:t>函数对</a:t>
            </a:r>
            <a:r>
              <a:rPr lang="en-US" altLang="zh-CN" sz="2200" dirty="0">
                <a:cs typeface="Times New Roman" pitchFamily="18" charset="0"/>
              </a:rPr>
              <a:t>C</a:t>
            </a:r>
            <a:r>
              <a:rPr lang="zh-CN" altLang="en-US" sz="2200" dirty="0">
                <a:cs typeface="Times New Roman" pitchFamily="18" charset="0"/>
              </a:rPr>
              <a:t>中的每个项目集</a:t>
            </a:r>
            <a:r>
              <a:rPr lang="en-US" altLang="zh-CN" sz="2200" dirty="0">
                <a:cs typeface="Times New Roman" pitchFamily="18" charset="0"/>
              </a:rPr>
              <a:t>I</a:t>
            </a:r>
            <a:r>
              <a:rPr lang="zh-CN" altLang="en-US" sz="2200" dirty="0">
                <a:cs typeface="Times New Roman" pitchFamily="18" charset="0"/>
              </a:rPr>
              <a:t>和每个符号</a:t>
            </a:r>
            <a:r>
              <a:rPr lang="en-US" altLang="zh-CN" sz="2200" dirty="0">
                <a:cs typeface="Times New Roman" pitchFamily="18" charset="0"/>
              </a:rPr>
              <a:t>X</a:t>
            </a:r>
            <a:r>
              <a:rPr lang="zh-CN" altLang="en-US" sz="2200" dirty="0">
                <a:cs typeface="Times New Roman" pitchFamily="18" charset="0"/>
              </a:rPr>
              <a:t>计算其下一状态，并将下一状态</a:t>
            </a:r>
            <a:r>
              <a:rPr lang="en-US" altLang="zh-CN" sz="2200" dirty="0">
                <a:cs typeface="Times New Roman" pitchFamily="18" charset="0"/>
              </a:rPr>
              <a:t>GO(I,X)</a:t>
            </a:r>
            <a:r>
              <a:rPr lang="zh-CN" altLang="en-US" sz="2200" dirty="0">
                <a:cs typeface="Times New Roman" pitchFamily="18" charset="0"/>
              </a:rPr>
              <a:t>加入到</a:t>
            </a:r>
            <a:r>
              <a:rPr lang="en-US" altLang="zh-CN" sz="2200" dirty="0">
                <a:cs typeface="Times New Roman" pitchFamily="18" charset="0"/>
              </a:rPr>
              <a:t>C</a:t>
            </a:r>
            <a:r>
              <a:rPr lang="zh-CN" altLang="en-US" sz="2200" dirty="0">
                <a:cs typeface="Times New Roman" pitchFamily="18" charset="0"/>
              </a:rPr>
              <a:t>中，直到</a:t>
            </a:r>
            <a:r>
              <a:rPr lang="en-US" altLang="zh-CN" sz="2200" dirty="0">
                <a:cs typeface="Times New Roman" pitchFamily="18" charset="0"/>
              </a:rPr>
              <a:t>C</a:t>
            </a:r>
            <a:r>
              <a:rPr lang="zh-CN" altLang="en-US" sz="2200" dirty="0">
                <a:cs typeface="Times New Roman" pitchFamily="18" charset="0"/>
              </a:rPr>
              <a:t>中状态数不再增加</a:t>
            </a:r>
          </a:p>
          <a:p>
            <a:pPr eaLnBrk="1" hangingPunct="1"/>
            <a:r>
              <a:rPr lang="en-US" altLang="zh-CN" sz="2200" dirty="0">
                <a:cs typeface="Times New Roman" pitchFamily="18" charset="0"/>
              </a:rPr>
              <a:t>C</a:t>
            </a:r>
            <a:r>
              <a:rPr lang="zh-CN" altLang="en-US" sz="2200" dirty="0">
                <a:cs typeface="Times New Roman" pitchFamily="18" charset="0"/>
              </a:rPr>
              <a:t>即为文法</a:t>
            </a:r>
            <a:r>
              <a:rPr lang="en-US" altLang="zh-CN" sz="2200" dirty="0">
                <a:cs typeface="Times New Roman" pitchFamily="18" charset="0"/>
              </a:rPr>
              <a:t>G</a:t>
            </a:r>
            <a:r>
              <a:rPr lang="en-US" altLang="zh-CN" sz="2200" dirty="0"/>
              <a:t>'</a:t>
            </a:r>
            <a:r>
              <a:rPr lang="zh-CN" altLang="en-US" sz="2200" dirty="0">
                <a:cs typeface="Times New Roman" pitchFamily="18" charset="0"/>
              </a:rPr>
              <a:t>的</a:t>
            </a:r>
            <a:r>
              <a:rPr lang="en-US" altLang="zh-CN" sz="2200" dirty="0">
                <a:cs typeface="Times New Roman" pitchFamily="18" charset="0"/>
              </a:rPr>
              <a:t>LR(0)</a:t>
            </a:r>
            <a:r>
              <a:rPr lang="zh-CN" altLang="en-US" sz="2200" dirty="0">
                <a:cs typeface="Times New Roman" pitchFamily="18" charset="0"/>
              </a:rPr>
              <a:t>项目集规范族</a:t>
            </a:r>
          </a:p>
        </p:txBody>
      </p:sp>
      <p:sp>
        <p:nvSpPr>
          <p:cNvPr id="212995" name="Rectangle 7"/>
          <p:cNvSpPr>
            <a:spLocks noChangeArrowheads="1"/>
          </p:cNvSpPr>
          <p:nvPr/>
        </p:nvSpPr>
        <p:spPr bwMode="auto">
          <a:xfrm>
            <a:off x="-36355" y="136525"/>
            <a:ext cx="76498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kumimoji="0" lang="en-US" altLang="zh-CN" sz="4000" b="1" dirty="0">
                <a:solidFill>
                  <a:schemeClr val="tx2"/>
                </a:solidFill>
                <a:latin typeface="楷体_GB2312" pitchFamily="49" charset="-122"/>
                <a:ea typeface="楷体_GB2312" pitchFamily="49" charset="-122"/>
              </a:rPr>
              <a:t>LR(0)</a:t>
            </a:r>
            <a:r>
              <a:rPr kumimoji="0" lang="zh-CN" altLang="en-US" sz="4000" b="1" dirty="0">
                <a:solidFill>
                  <a:schemeClr val="tx2"/>
                </a:solidFill>
                <a:latin typeface="楷体_GB2312" pitchFamily="49" charset="-122"/>
                <a:ea typeface="楷体_GB2312" pitchFamily="49" charset="-122"/>
              </a:rPr>
              <a:t>项目集规范族的构造方法：</a:t>
            </a:r>
          </a:p>
        </p:txBody>
      </p:sp>
    </p:spTree>
    <p:extLst>
      <p:ext uri="{BB962C8B-B14F-4D97-AF65-F5344CB8AC3E}">
        <p14:creationId xmlns:p14="http://schemas.microsoft.com/office/powerpoint/2010/main" val="36661969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5235">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5235">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95235">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952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5" grpId="0" build="p" autoUpdateAnimBg="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2"/>
          <p:cNvSpPr>
            <a:spLocks noGrp="1" noChangeArrowheads="1"/>
          </p:cNvSpPr>
          <p:nvPr>
            <p:ph type="title"/>
          </p:nvPr>
        </p:nvSpPr>
        <p:spPr>
          <a:xfrm>
            <a:off x="127000" y="227013"/>
            <a:ext cx="7772400" cy="523875"/>
          </a:xfrm>
        </p:spPr>
        <p:txBody>
          <a:bodyPr>
            <a:normAutofit fontScale="90000"/>
          </a:bodyPr>
          <a:lstStyle/>
          <a:p>
            <a:pPr algn="l" eaLnBrk="1" hangingPunct="1"/>
            <a:r>
              <a:rPr lang="zh-CN" altLang="en-US" sz="3200"/>
              <a:t>前述的例子中，是已经拓广了的文法</a:t>
            </a:r>
          </a:p>
        </p:txBody>
      </p:sp>
      <p:sp>
        <p:nvSpPr>
          <p:cNvPr id="214020" name="Rectangle 5"/>
          <p:cNvSpPr>
            <a:spLocks noChangeArrowheads="1"/>
          </p:cNvSpPr>
          <p:nvPr/>
        </p:nvSpPr>
        <p:spPr bwMode="auto">
          <a:xfrm>
            <a:off x="467544" y="3435846"/>
            <a:ext cx="7146949" cy="14465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spcBef>
                <a:spcPct val="0"/>
              </a:spcBef>
            </a:pPr>
            <a:r>
              <a:rPr lang="zh-CN" altLang="en-US" sz="2200" dirty="0">
                <a:ea typeface="华文行楷" pitchFamily="2" charset="-122"/>
              </a:rPr>
              <a:t>初始时，设置 </a:t>
            </a:r>
            <a:r>
              <a:rPr lang="en-US" altLang="zh-CN" sz="2200" dirty="0">
                <a:ea typeface="华文行楷" pitchFamily="2" charset="-122"/>
              </a:rPr>
              <a:t>C = { Closure( {S' </a:t>
            </a:r>
            <a:r>
              <a:rPr lang="en-US" altLang="zh-CN" sz="2200" dirty="0">
                <a:ea typeface="华文行楷" pitchFamily="2" charset="-122"/>
                <a:sym typeface="Wingdings" pitchFamily="2" charset="2"/>
              </a:rPr>
              <a:t></a:t>
            </a:r>
            <a:r>
              <a:rPr lang="en-US" altLang="zh-CN" sz="2200" dirty="0">
                <a:ea typeface="华文行楷" pitchFamily="2" charset="-122"/>
                <a:cs typeface="Times New Roman" pitchFamily="18" charset="0"/>
                <a:sym typeface="Wingdings" pitchFamily="2" charset="2"/>
              </a:rPr>
              <a:t>·</a:t>
            </a:r>
            <a:r>
              <a:rPr lang="en-US" altLang="zh-CN" sz="2200" dirty="0">
                <a:ea typeface="华文行楷" pitchFamily="2" charset="-122"/>
                <a:sym typeface="Wingdings" pitchFamily="2" charset="2"/>
              </a:rPr>
              <a:t>E}</a:t>
            </a:r>
            <a:r>
              <a:rPr lang="en-US" altLang="zh-CN" sz="2200" dirty="0">
                <a:ea typeface="华文行楷" pitchFamily="2" charset="-122"/>
              </a:rPr>
              <a:t> ) }, </a:t>
            </a:r>
            <a:r>
              <a:rPr lang="zh-CN" altLang="en-US" sz="2200" dirty="0">
                <a:ea typeface="华文行楷" pitchFamily="2" charset="-122"/>
              </a:rPr>
              <a:t>是一个状态</a:t>
            </a:r>
            <a:r>
              <a:rPr lang="en-US" altLang="zh-CN" sz="2200" dirty="0">
                <a:ea typeface="华文行楷" pitchFamily="2" charset="-122"/>
              </a:rPr>
              <a:t>,</a:t>
            </a:r>
          </a:p>
          <a:p>
            <a:pPr>
              <a:spcBef>
                <a:spcPct val="0"/>
              </a:spcBef>
              <a:buNone/>
            </a:pPr>
            <a:r>
              <a:rPr lang="en-US" altLang="zh-CN" sz="2200" dirty="0">
                <a:ea typeface="华文行楷" pitchFamily="2" charset="-122"/>
              </a:rPr>
              <a:t>        </a:t>
            </a:r>
            <a:r>
              <a:rPr lang="zh-CN" altLang="en-US" sz="2200" dirty="0">
                <a:ea typeface="华文行楷" pitchFamily="2" charset="-122"/>
              </a:rPr>
              <a:t>即 </a:t>
            </a:r>
            <a:r>
              <a:rPr lang="en-US" altLang="zh-CN" sz="2200" dirty="0">
                <a:ea typeface="华文行楷" pitchFamily="2" charset="-122"/>
              </a:rPr>
              <a:t>C ={  {S'</a:t>
            </a:r>
            <a:r>
              <a:rPr lang="en-US" altLang="zh-CN" sz="2200" dirty="0">
                <a:ea typeface="华文行楷" pitchFamily="2" charset="-122"/>
                <a:sym typeface="Wingdings" pitchFamily="2" charset="2"/>
              </a:rPr>
              <a:t>·E, </a:t>
            </a:r>
            <a:r>
              <a:rPr lang="en-GB" altLang="zh-CN" sz="2200" dirty="0">
                <a:ea typeface="华文行楷" pitchFamily="2" charset="-122"/>
              </a:rPr>
              <a:t>E </a:t>
            </a:r>
            <a:r>
              <a:rPr lang="en-GB" altLang="zh-CN" sz="2200" dirty="0">
                <a:ea typeface="华文行楷" pitchFamily="2" charset="-122"/>
                <a:sym typeface="Wingdings" pitchFamily="2" charset="2"/>
              </a:rPr>
              <a:t>·</a:t>
            </a:r>
            <a:r>
              <a:rPr lang="en-GB" altLang="zh-CN" sz="2200" dirty="0" err="1">
                <a:ea typeface="华文行楷" pitchFamily="2" charset="-122"/>
                <a:sym typeface="Wingdings" pitchFamily="2" charset="2"/>
              </a:rPr>
              <a:t>aA</a:t>
            </a:r>
            <a:r>
              <a:rPr lang="en-US" altLang="zh-CN" sz="2200" dirty="0">
                <a:ea typeface="华文行楷" pitchFamily="2" charset="-122"/>
                <a:sym typeface="Wingdings" pitchFamily="2" charset="2"/>
              </a:rPr>
              <a:t> , </a:t>
            </a:r>
            <a:r>
              <a:rPr lang="en-GB" altLang="zh-CN" sz="2200" dirty="0">
                <a:ea typeface="华文行楷" pitchFamily="2" charset="-122"/>
              </a:rPr>
              <a:t>E </a:t>
            </a:r>
            <a:r>
              <a:rPr lang="en-GB" altLang="zh-CN" sz="2200" dirty="0">
                <a:ea typeface="华文行楷" pitchFamily="2" charset="-122"/>
                <a:sym typeface="Wingdings" pitchFamily="2" charset="2"/>
              </a:rPr>
              <a:t>·</a:t>
            </a:r>
            <a:r>
              <a:rPr lang="en-GB" altLang="zh-CN" sz="2200" dirty="0" err="1">
                <a:ea typeface="华文行楷" pitchFamily="2" charset="-122"/>
                <a:sym typeface="Wingdings" pitchFamily="2" charset="2"/>
              </a:rPr>
              <a:t>bB</a:t>
            </a:r>
            <a:r>
              <a:rPr lang="en-GB" altLang="zh-CN" sz="2200" dirty="0">
                <a:ea typeface="华文行楷" pitchFamily="2" charset="-122"/>
                <a:sym typeface="Wingdings" pitchFamily="2" charset="2"/>
              </a:rPr>
              <a:t> </a:t>
            </a:r>
            <a:r>
              <a:rPr lang="en-US" altLang="zh-CN" sz="2200" dirty="0">
                <a:ea typeface="华文行楷" pitchFamily="2" charset="-122"/>
              </a:rPr>
              <a:t>}   }</a:t>
            </a:r>
          </a:p>
          <a:p>
            <a:pPr marL="342900" indent="-342900">
              <a:spcBef>
                <a:spcPct val="0"/>
              </a:spcBef>
            </a:pPr>
            <a:r>
              <a:rPr lang="zh-CN" altLang="en-US" sz="2200" dirty="0">
                <a:ea typeface="华文行楷" pitchFamily="2" charset="-122"/>
              </a:rPr>
              <a:t>再根据</a:t>
            </a:r>
            <a:r>
              <a:rPr lang="en-US" altLang="zh-CN" sz="2200" dirty="0">
                <a:ea typeface="华文行楷" pitchFamily="2" charset="-122"/>
              </a:rPr>
              <a:t>C</a:t>
            </a:r>
            <a:r>
              <a:rPr lang="zh-CN" altLang="en-US" sz="2200" dirty="0">
                <a:ea typeface="华文行楷" pitchFamily="2" charset="-122"/>
              </a:rPr>
              <a:t>中的每个状态的</a:t>
            </a:r>
            <a:r>
              <a:rPr lang="en-US" altLang="zh-CN" sz="2200" dirty="0">
                <a:ea typeface="华文行楷" pitchFamily="2" charset="-122"/>
              </a:rPr>
              <a:t>go</a:t>
            </a:r>
            <a:r>
              <a:rPr lang="zh-CN" altLang="en-US" sz="2200" dirty="0">
                <a:ea typeface="华文行楷" pitchFamily="2" charset="-122"/>
              </a:rPr>
              <a:t>函数，求出更多的状态，</a:t>
            </a:r>
            <a:endParaRPr lang="en-US" altLang="zh-CN" sz="2200" dirty="0">
              <a:ea typeface="华文行楷" pitchFamily="2" charset="-122"/>
            </a:endParaRPr>
          </a:p>
          <a:p>
            <a:pPr>
              <a:spcBef>
                <a:spcPct val="0"/>
              </a:spcBef>
              <a:buNone/>
            </a:pPr>
            <a:r>
              <a:rPr lang="en-US" altLang="zh-CN" sz="2200" dirty="0">
                <a:ea typeface="华文行楷" pitchFamily="2" charset="-122"/>
              </a:rPr>
              <a:t>       </a:t>
            </a:r>
            <a:r>
              <a:rPr lang="zh-CN" altLang="en-US" sz="2200" dirty="0">
                <a:ea typeface="华文行楷" pitchFamily="2" charset="-122"/>
              </a:rPr>
              <a:t>直到状态数不再增多为止</a:t>
            </a:r>
          </a:p>
        </p:txBody>
      </p:sp>
      <p:sp>
        <p:nvSpPr>
          <p:cNvPr id="6" name="Rectangle 4"/>
          <p:cNvSpPr>
            <a:spLocks noChangeArrowheads="1"/>
          </p:cNvSpPr>
          <p:nvPr/>
        </p:nvSpPr>
        <p:spPr bwMode="auto">
          <a:xfrm>
            <a:off x="1115616" y="870346"/>
            <a:ext cx="4798427" cy="21767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4.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6.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9. A ·d       10. A  d·</a:t>
            </a:r>
          </a:p>
          <a:p>
            <a:pPr lvl="1" indent="-457200" eaLnBrk="1" hangingPunct="1">
              <a:lnSpc>
                <a:spcPct val="90000"/>
              </a:lnSpc>
              <a:buFontTx/>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14.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16.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a:t>
            </a:r>
          </a:p>
          <a:p>
            <a:pPr lvl="1" indent="-457200" eaLnBrk="1" hangingPunct="1">
              <a:lnSpc>
                <a:spcPct val="90000"/>
              </a:lnSpc>
              <a:buFontTx/>
              <a:buNone/>
            </a:pPr>
            <a:r>
              <a:rPr lang="en-GB" altLang="zh-CN" sz="1800" dirty="0">
                <a:latin typeface="+mn-lt"/>
                <a:ea typeface="华文行楷" pitchFamily="2" charset="-122"/>
                <a:sym typeface="Wingdings" pitchFamily="2" charset="2"/>
              </a:rPr>
              <a:t>17. B ·d      18. B  d·</a:t>
            </a:r>
            <a:endParaRPr lang="en-US" altLang="zh-CN" sz="1800" dirty="0">
              <a:latin typeface="+mn-lt"/>
              <a:ea typeface="华文行楷" pitchFamily="2" charset="-122"/>
              <a:sym typeface="Wingdings" pitchFamily="2" charset="2"/>
            </a:endParaRPr>
          </a:p>
        </p:txBody>
      </p:sp>
    </p:spTree>
    <p:extLst>
      <p:ext uri="{BB962C8B-B14F-4D97-AF65-F5344CB8AC3E}">
        <p14:creationId xmlns:p14="http://schemas.microsoft.com/office/powerpoint/2010/main" val="4624974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Text Box 2"/>
          <p:cNvSpPr txBox="1">
            <a:spLocks noChangeArrowheads="1"/>
          </p:cNvSpPr>
          <p:nvPr/>
        </p:nvSpPr>
        <p:spPr bwMode="auto">
          <a:xfrm>
            <a:off x="155575" y="0"/>
            <a:ext cx="4381500" cy="2055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2200" b="1" dirty="0">
                <a:ea typeface="华文行楷" pitchFamily="2" charset="-122"/>
              </a:rPr>
              <a:t>例：设文法</a:t>
            </a:r>
            <a:r>
              <a:rPr lang="en-US" altLang="zh-CN" sz="2200" b="1" dirty="0">
                <a:ea typeface="华文行楷" pitchFamily="2" charset="-122"/>
              </a:rPr>
              <a:t>G</a:t>
            </a:r>
            <a:r>
              <a:rPr lang="zh-CN" altLang="en-US" sz="2200" b="1" dirty="0">
                <a:ea typeface="华文行楷" pitchFamily="2" charset="-122"/>
              </a:rPr>
              <a:t>为：</a:t>
            </a:r>
          </a:p>
          <a:p>
            <a:pPr eaLnBrk="1" hangingPunct="1">
              <a:buFontTx/>
              <a:buNone/>
            </a:pPr>
            <a:r>
              <a:rPr lang="zh-CN" altLang="en-US" sz="2200" b="1" dirty="0">
                <a:solidFill>
                  <a:schemeClr val="accent2"/>
                </a:solidFill>
                <a:ea typeface="华文行楷" pitchFamily="2" charset="-122"/>
              </a:rPr>
              <a:t>	</a:t>
            </a:r>
            <a:r>
              <a:rPr lang="en-US" altLang="zh-CN" sz="2200" b="1" dirty="0">
                <a:solidFill>
                  <a:schemeClr val="accent2"/>
                </a:solidFill>
                <a:ea typeface="华文行楷" pitchFamily="2" charset="-122"/>
              </a:rPr>
              <a:t>E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sym typeface="Symbol" pitchFamily="18" charset="2"/>
              </a:rPr>
              <a:t>a</a:t>
            </a:r>
            <a:r>
              <a:rPr lang="en-US" altLang="zh-CN" sz="2200" b="1" dirty="0" err="1">
                <a:solidFill>
                  <a:schemeClr val="accent2"/>
                </a:solidFill>
                <a:ea typeface="华文行楷" pitchFamily="2" charset="-122"/>
              </a:rPr>
              <a:t>A</a:t>
            </a:r>
            <a:r>
              <a:rPr lang="zh-CN" altLang="en-US" sz="2200" b="1" dirty="0">
                <a:solidFill>
                  <a:schemeClr val="accent2"/>
                </a:solidFill>
                <a:ea typeface="华文行楷" pitchFamily="2" charset="-122"/>
              </a:rPr>
              <a:t>｜ </a:t>
            </a:r>
            <a:r>
              <a:rPr lang="en-US" altLang="zh-CN" sz="2200" b="1" dirty="0" err="1">
                <a:solidFill>
                  <a:schemeClr val="accent2"/>
                </a:solidFill>
                <a:ea typeface="华文行楷" pitchFamily="2" charset="-122"/>
                <a:sym typeface="Symbol" pitchFamily="18" charset="2"/>
              </a:rPr>
              <a:t>b</a:t>
            </a:r>
            <a:r>
              <a:rPr lang="en-US" altLang="zh-CN" sz="2200" b="1" dirty="0" err="1">
                <a:solidFill>
                  <a:schemeClr val="accent2"/>
                </a:solidFill>
                <a:ea typeface="华文行楷" pitchFamily="2" charset="-122"/>
              </a:rPr>
              <a:t>B</a:t>
            </a:r>
            <a:r>
              <a:rPr lang="en-US" altLang="zh-CN" sz="2200" b="1" dirty="0">
                <a:solidFill>
                  <a:schemeClr val="accent2"/>
                </a:solidFill>
                <a:ea typeface="华文行楷" pitchFamily="2" charset="-122"/>
              </a:rPr>
              <a:t>   </a:t>
            </a:r>
          </a:p>
          <a:p>
            <a:pPr eaLnBrk="1" hangingPunct="1">
              <a:buFontTx/>
              <a:buNone/>
            </a:pPr>
            <a:r>
              <a:rPr lang="en-US" altLang="zh-CN" sz="2200" b="1" dirty="0">
                <a:solidFill>
                  <a:schemeClr val="accent2"/>
                </a:solidFill>
                <a:ea typeface="华文行楷" pitchFamily="2" charset="-122"/>
              </a:rPr>
              <a:t>	A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rPr>
              <a:t>cA</a:t>
            </a:r>
            <a:r>
              <a:rPr lang="zh-CN" altLang="en-US" sz="2200" b="1" dirty="0">
                <a:solidFill>
                  <a:schemeClr val="accent2"/>
                </a:solidFill>
                <a:ea typeface="华文行楷" pitchFamily="2" charset="-122"/>
              </a:rPr>
              <a:t>｜</a:t>
            </a:r>
            <a:r>
              <a:rPr lang="en-US" altLang="zh-CN" sz="2200" b="1" dirty="0">
                <a:solidFill>
                  <a:schemeClr val="accent2"/>
                </a:solidFill>
                <a:ea typeface="华文行楷" pitchFamily="2" charset="-122"/>
              </a:rPr>
              <a:t>d      </a:t>
            </a:r>
          </a:p>
          <a:p>
            <a:pPr eaLnBrk="1" hangingPunct="1">
              <a:buFontTx/>
              <a:buNone/>
            </a:pPr>
            <a:r>
              <a:rPr lang="en-US" altLang="zh-CN" sz="2200" b="1" dirty="0">
                <a:solidFill>
                  <a:schemeClr val="accent2"/>
                </a:solidFill>
                <a:ea typeface="华文行楷" pitchFamily="2" charset="-122"/>
              </a:rPr>
              <a:t>	B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rPr>
              <a:t>cB</a:t>
            </a:r>
            <a:r>
              <a:rPr lang="zh-CN" altLang="en-US" sz="2200" b="1" dirty="0">
                <a:solidFill>
                  <a:schemeClr val="accent2"/>
                </a:solidFill>
                <a:ea typeface="华文行楷" pitchFamily="2" charset="-122"/>
              </a:rPr>
              <a:t>｜</a:t>
            </a:r>
            <a:r>
              <a:rPr lang="en-US" altLang="zh-CN" sz="2200" b="1" dirty="0">
                <a:solidFill>
                  <a:schemeClr val="accent2"/>
                </a:solidFill>
                <a:ea typeface="华文行楷" pitchFamily="2" charset="-122"/>
              </a:rPr>
              <a:t>d</a:t>
            </a:r>
          </a:p>
          <a:p>
            <a:pPr eaLnBrk="1" hangingPunct="1">
              <a:buFontTx/>
              <a:buNone/>
            </a:pPr>
            <a:r>
              <a:rPr lang="zh-CN" altLang="en-US" sz="2200" b="1" dirty="0">
                <a:ea typeface="华文行楷" pitchFamily="2" charset="-122"/>
              </a:rPr>
              <a:t>求该文法的</a:t>
            </a:r>
            <a:r>
              <a:rPr lang="en-US" altLang="zh-CN" sz="2200" b="1" dirty="0">
                <a:ea typeface="华文行楷" pitchFamily="2" charset="-122"/>
              </a:rPr>
              <a:t>LR(0)</a:t>
            </a:r>
            <a:r>
              <a:rPr lang="zh-CN" altLang="en-US" sz="2200" b="1" dirty="0">
                <a:ea typeface="华文行楷" pitchFamily="2" charset="-122"/>
              </a:rPr>
              <a:t>分析表。</a:t>
            </a:r>
            <a:endParaRPr lang="zh-CN" altLang="en-US" sz="2200" dirty="0">
              <a:ea typeface="华文行楷" pitchFamily="2" charset="-122"/>
            </a:endParaRPr>
          </a:p>
        </p:txBody>
      </p:sp>
      <p:sp>
        <p:nvSpPr>
          <p:cNvPr id="144387" name="Rectangle 3"/>
          <p:cNvSpPr>
            <a:spLocks noChangeArrowheads="1"/>
          </p:cNvSpPr>
          <p:nvPr/>
        </p:nvSpPr>
        <p:spPr bwMode="auto">
          <a:xfrm>
            <a:off x="898525" y="2635250"/>
            <a:ext cx="1800225" cy="2462213"/>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b="1" dirty="0">
                <a:solidFill>
                  <a:schemeClr val="accent2"/>
                </a:solidFill>
                <a:ea typeface="华文行楷" pitchFamily="2" charset="-122"/>
              </a:rPr>
              <a:t>(0)  S' </a:t>
            </a:r>
            <a:r>
              <a:rPr lang="en-US" altLang="zh-CN" sz="2200" b="1" dirty="0">
                <a:solidFill>
                  <a:schemeClr val="accent2"/>
                </a:solidFill>
                <a:ea typeface="华文行楷" pitchFamily="2" charset="-122"/>
                <a:sym typeface="Symbol" pitchFamily="18" charset="2"/>
              </a:rPr>
              <a:t>E       </a:t>
            </a:r>
          </a:p>
          <a:p>
            <a:pPr eaLnBrk="1" hangingPunct="1">
              <a:spcBef>
                <a:spcPct val="0"/>
              </a:spcBef>
              <a:buFontTx/>
              <a:buNone/>
            </a:pPr>
            <a:r>
              <a:rPr lang="en-US" altLang="zh-CN" sz="2200" b="1" dirty="0">
                <a:solidFill>
                  <a:schemeClr val="accent2"/>
                </a:solidFill>
                <a:ea typeface="华文行楷" pitchFamily="2" charset="-122"/>
              </a:rPr>
              <a:t>(1)  E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sym typeface="Symbol" pitchFamily="18" charset="2"/>
              </a:rPr>
              <a:t>a</a:t>
            </a:r>
            <a:r>
              <a:rPr lang="en-US" altLang="zh-CN" sz="2200" b="1" dirty="0" err="1">
                <a:solidFill>
                  <a:schemeClr val="accent2"/>
                </a:solidFill>
                <a:ea typeface="华文行楷" pitchFamily="2" charset="-122"/>
              </a:rPr>
              <a:t>A</a:t>
            </a:r>
            <a:r>
              <a:rPr lang="en-US" altLang="zh-CN" sz="2200" b="1" dirty="0">
                <a:solidFill>
                  <a:schemeClr val="accent2"/>
                </a:solidFill>
                <a:ea typeface="华文行楷" pitchFamily="2" charset="-122"/>
              </a:rPr>
              <a:t>     </a:t>
            </a:r>
          </a:p>
          <a:p>
            <a:pPr eaLnBrk="1" hangingPunct="1">
              <a:spcBef>
                <a:spcPct val="0"/>
              </a:spcBef>
              <a:buFontTx/>
              <a:buNone/>
            </a:pPr>
            <a:r>
              <a:rPr lang="en-US" altLang="zh-CN" sz="2200" b="1" dirty="0">
                <a:solidFill>
                  <a:schemeClr val="accent2"/>
                </a:solidFill>
                <a:ea typeface="华文行楷" pitchFamily="2" charset="-122"/>
              </a:rPr>
              <a:t>(2)  E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sym typeface="Symbol" pitchFamily="18" charset="2"/>
              </a:rPr>
              <a:t>b</a:t>
            </a:r>
            <a:r>
              <a:rPr lang="en-US" altLang="zh-CN" sz="2200" b="1" dirty="0" err="1">
                <a:solidFill>
                  <a:schemeClr val="accent2"/>
                </a:solidFill>
                <a:ea typeface="华文行楷" pitchFamily="2" charset="-122"/>
              </a:rPr>
              <a:t>B</a:t>
            </a:r>
            <a:r>
              <a:rPr lang="en-US" altLang="zh-CN" sz="2200" b="1" dirty="0">
                <a:solidFill>
                  <a:schemeClr val="accent2"/>
                </a:solidFill>
                <a:ea typeface="华文行楷" pitchFamily="2" charset="-122"/>
              </a:rPr>
              <a:t>   </a:t>
            </a:r>
          </a:p>
          <a:p>
            <a:pPr eaLnBrk="1" hangingPunct="1">
              <a:spcBef>
                <a:spcPct val="0"/>
              </a:spcBef>
              <a:buFontTx/>
              <a:buNone/>
            </a:pPr>
            <a:r>
              <a:rPr lang="en-US" altLang="zh-CN" sz="2200" b="1" dirty="0">
                <a:solidFill>
                  <a:schemeClr val="accent2"/>
                </a:solidFill>
                <a:ea typeface="华文行楷" pitchFamily="2" charset="-122"/>
              </a:rPr>
              <a:t>(3)  A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rPr>
              <a:t>cA</a:t>
            </a:r>
            <a:r>
              <a:rPr lang="en-US" altLang="zh-CN" sz="2200" b="1" dirty="0">
                <a:solidFill>
                  <a:schemeClr val="accent2"/>
                </a:solidFill>
                <a:ea typeface="华文行楷" pitchFamily="2" charset="-122"/>
              </a:rPr>
              <a:t>     </a:t>
            </a:r>
          </a:p>
          <a:p>
            <a:pPr eaLnBrk="1" hangingPunct="1">
              <a:spcBef>
                <a:spcPct val="0"/>
              </a:spcBef>
              <a:buFontTx/>
              <a:buNone/>
            </a:pPr>
            <a:r>
              <a:rPr lang="en-US" altLang="zh-CN" sz="2200" b="1" dirty="0">
                <a:solidFill>
                  <a:schemeClr val="accent2"/>
                </a:solidFill>
                <a:ea typeface="华文行楷" pitchFamily="2" charset="-122"/>
              </a:rPr>
              <a:t>(4)  A </a:t>
            </a:r>
            <a:r>
              <a:rPr lang="en-US" altLang="zh-CN" sz="2200" b="1" dirty="0">
                <a:solidFill>
                  <a:schemeClr val="accent2"/>
                </a:solidFill>
                <a:ea typeface="华文行楷" pitchFamily="2" charset="-122"/>
                <a:sym typeface="Symbol" pitchFamily="18" charset="2"/>
              </a:rPr>
              <a:t></a:t>
            </a:r>
            <a:r>
              <a:rPr lang="en-US" altLang="zh-CN" sz="2200" b="1" dirty="0">
                <a:solidFill>
                  <a:schemeClr val="accent2"/>
                </a:solidFill>
                <a:ea typeface="华文行楷" pitchFamily="2" charset="-122"/>
              </a:rPr>
              <a:t>d      </a:t>
            </a:r>
          </a:p>
          <a:p>
            <a:pPr eaLnBrk="1" hangingPunct="1">
              <a:spcBef>
                <a:spcPct val="0"/>
              </a:spcBef>
              <a:buFontTx/>
              <a:buNone/>
            </a:pPr>
            <a:r>
              <a:rPr lang="en-US" altLang="zh-CN" sz="2200" b="1" dirty="0">
                <a:solidFill>
                  <a:schemeClr val="accent2"/>
                </a:solidFill>
                <a:ea typeface="华文行楷" pitchFamily="2" charset="-122"/>
              </a:rPr>
              <a:t>(5)  B </a:t>
            </a:r>
            <a:r>
              <a:rPr lang="en-US" altLang="zh-CN" sz="2200" b="1" dirty="0">
                <a:solidFill>
                  <a:schemeClr val="accent2"/>
                </a:solidFill>
                <a:ea typeface="华文行楷" pitchFamily="2" charset="-122"/>
                <a:sym typeface="Symbol" pitchFamily="18" charset="2"/>
              </a:rPr>
              <a:t></a:t>
            </a:r>
            <a:r>
              <a:rPr lang="en-US" altLang="zh-CN" sz="2200" b="1" dirty="0" err="1">
                <a:solidFill>
                  <a:schemeClr val="accent2"/>
                </a:solidFill>
                <a:ea typeface="华文行楷" pitchFamily="2" charset="-122"/>
              </a:rPr>
              <a:t>cB</a:t>
            </a:r>
            <a:r>
              <a:rPr lang="en-US" altLang="zh-CN" sz="2200" b="1" dirty="0">
                <a:solidFill>
                  <a:schemeClr val="accent2"/>
                </a:solidFill>
                <a:ea typeface="华文行楷" pitchFamily="2" charset="-122"/>
              </a:rPr>
              <a:t>      </a:t>
            </a:r>
          </a:p>
          <a:p>
            <a:pPr eaLnBrk="1" hangingPunct="1">
              <a:spcBef>
                <a:spcPct val="0"/>
              </a:spcBef>
              <a:buFontTx/>
              <a:buNone/>
            </a:pPr>
            <a:r>
              <a:rPr lang="en-US" altLang="zh-CN" sz="2200" b="1" dirty="0">
                <a:solidFill>
                  <a:schemeClr val="accent2"/>
                </a:solidFill>
                <a:ea typeface="华文行楷" pitchFamily="2" charset="-122"/>
              </a:rPr>
              <a:t>(6)  B </a:t>
            </a:r>
            <a:r>
              <a:rPr lang="en-US" altLang="zh-CN" sz="2200" b="1" dirty="0">
                <a:solidFill>
                  <a:schemeClr val="accent2"/>
                </a:solidFill>
                <a:ea typeface="华文行楷" pitchFamily="2" charset="-122"/>
                <a:sym typeface="Symbol" pitchFamily="18" charset="2"/>
              </a:rPr>
              <a:t></a:t>
            </a:r>
            <a:r>
              <a:rPr lang="en-US" altLang="zh-CN" sz="2200" b="1" dirty="0">
                <a:solidFill>
                  <a:schemeClr val="accent2"/>
                </a:solidFill>
                <a:ea typeface="华文行楷" pitchFamily="2" charset="-122"/>
              </a:rPr>
              <a:t>d</a:t>
            </a:r>
          </a:p>
        </p:txBody>
      </p:sp>
      <p:sp>
        <p:nvSpPr>
          <p:cNvPr id="144388" name="Text Box 4"/>
          <p:cNvSpPr txBox="1">
            <a:spLocks noChangeArrowheads="1"/>
          </p:cNvSpPr>
          <p:nvPr/>
        </p:nvSpPr>
        <p:spPr bwMode="auto">
          <a:xfrm>
            <a:off x="249238" y="1878013"/>
            <a:ext cx="356552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i="1" dirty="0">
                <a:solidFill>
                  <a:srgbClr val="FF5050"/>
                </a:solidFill>
                <a:ea typeface="华文行楷" pitchFamily="2" charset="-122"/>
              </a:rPr>
              <a:t>第１步</a:t>
            </a:r>
            <a:r>
              <a:rPr lang="zh-CN" altLang="en-US" sz="2200" b="1" i="1" dirty="0">
                <a:ea typeface="华文行楷" pitchFamily="2" charset="-122"/>
              </a:rPr>
              <a:t>：拓广文法，并对产生式给予序号：</a:t>
            </a:r>
          </a:p>
        </p:txBody>
      </p:sp>
      <p:sp>
        <p:nvSpPr>
          <p:cNvPr id="144389" name="Text Box 5"/>
          <p:cNvSpPr txBox="1">
            <a:spLocks noChangeArrowheads="1"/>
          </p:cNvSpPr>
          <p:nvPr/>
        </p:nvSpPr>
        <p:spPr bwMode="auto">
          <a:xfrm>
            <a:off x="4405262" y="1027973"/>
            <a:ext cx="376713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i="1" dirty="0">
                <a:solidFill>
                  <a:srgbClr val="FF5050"/>
                </a:solidFill>
                <a:ea typeface="华文行楷" pitchFamily="2" charset="-122"/>
              </a:rPr>
              <a:t>第２步</a:t>
            </a:r>
            <a:r>
              <a:rPr lang="zh-CN" altLang="en-US" sz="2200" b="1" i="1" dirty="0">
                <a:ea typeface="华文行楷" pitchFamily="2" charset="-122"/>
              </a:rPr>
              <a:t>：写出拓广后的文法的项目集：</a:t>
            </a:r>
          </a:p>
        </p:txBody>
      </p:sp>
      <p:sp>
        <p:nvSpPr>
          <p:cNvPr id="7" name="Rectangle 4"/>
          <p:cNvSpPr>
            <a:spLocks noChangeArrowheads="1"/>
          </p:cNvSpPr>
          <p:nvPr/>
        </p:nvSpPr>
        <p:spPr bwMode="auto">
          <a:xfrm>
            <a:off x="3889617" y="2427734"/>
            <a:ext cx="4798427" cy="217675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4.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6.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9. A ·d       10. A  d·</a:t>
            </a:r>
          </a:p>
          <a:p>
            <a:pPr lvl="1" indent="-457200" eaLnBrk="1" hangingPunct="1">
              <a:lnSpc>
                <a:spcPct val="90000"/>
              </a:lnSpc>
              <a:buFontTx/>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a:t>
            </a:r>
          </a:p>
          <a:p>
            <a:pPr lvl="1" indent="-457200" eaLnBrk="1" hangingPunct="1">
              <a:lnSpc>
                <a:spcPct val="90000"/>
              </a:lnSpc>
              <a:buFontTx/>
              <a:buNone/>
            </a:pPr>
            <a:r>
              <a:rPr lang="en-GB" altLang="zh-CN" sz="1800" dirty="0">
                <a:latin typeface="+mn-lt"/>
                <a:ea typeface="华文行楷" pitchFamily="2" charset="-122"/>
                <a:sym typeface="Wingdings" pitchFamily="2" charset="2"/>
              </a:rPr>
              <a:t>14.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16. B </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a:t>
            </a:r>
          </a:p>
          <a:p>
            <a:pPr lvl="1" indent="-457200" eaLnBrk="1" hangingPunct="1">
              <a:lnSpc>
                <a:spcPct val="90000"/>
              </a:lnSpc>
              <a:buFontTx/>
              <a:buNone/>
            </a:pPr>
            <a:r>
              <a:rPr lang="en-GB" altLang="zh-CN" sz="1800" dirty="0">
                <a:latin typeface="+mn-lt"/>
                <a:ea typeface="华文行楷" pitchFamily="2" charset="-122"/>
                <a:sym typeface="Wingdings" pitchFamily="2" charset="2"/>
              </a:rPr>
              <a:t>17. B ·d      18. B  </a:t>
            </a:r>
            <a:r>
              <a:rPr lang="en-GB" altLang="zh-CN" sz="1800" dirty="0" err="1">
                <a:latin typeface="+mn-lt"/>
                <a:ea typeface="华文行楷" pitchFamily="2" charset="-122"/>
                <a:sym typeface="Wingdings" pitchFamily="2" charset="2"/>
              </a:rPr>
              <a:t>d·b</a:t>
            </a:r>
            <a:endParaRPr lang="en-US" altLang="zh-CN" sz="1800" dirty="0">
              <a:latin typeface="+mn-lt"/>
              <a:ea typeface="华文行楷" pitchFamily="2" charset="-122"/>
              <a:sym typeface="Wingdings" pitchFamily="2" charset="2"/>
            </a:endParaRPr>
          </a:p>
        </p:txBody>
      </p:sp>
    </p:spTree>
    <p:extLst>
      <p:ext uri="{BB962C8B-B14F-4D97-AF65-F5344CB8AC3E}">
        <p14:creationId xmlns:p14="http://schemas.microsoft.com/office/powerpoint/2010/main" val="14028607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44388"/>
                                        </p:tgtEl>
                                        <p:attrNameLst>
                                          <p:attrName>style.visibility</p:attrName>
                                        </p:attrNameLst>
                                      </p:cBhvr>
                                      <p:to>
                                        <p:strVal val="visible"/>
                                      </p:to>
                                    </p:set>
                                    <p:anim calcmode="lin" valueType="num">
                                      <p:cBhvr additive="base">
                                        <p:cTn id="7" dur="500" fill="hold"/>
                                        <p:tgtEl>
                                          <p:spTgt spid="144388"/>
                                        </p:tgtEl>
                                        <p:attrNameLst>
                                          <p:attrName>ppt_x</p:attrName>
                                        </p:attrNameLst>
                                      </p:cBhvr>
                                      <p:tavLst>
                                        <p:tav tm="0">
                                          <p:val>
                                            <p:strVal val="0-#ppt_w/2"/>
                                          </p:val>
                                        </p:tav>
                                        <p:tav tm="100000">
                                          <p:val>
                                            <p:strVal val="#ppt_x"/>
                                          </p:val>
                                        </p:tav>
                                      </p:tavLst>
                                    </p:anim>
                                    <p:anim calcmode="lin" valueType="num">
                                      <p:cBhvr additive="base">
                                        <p:cTn id="8" dur="500" fill="hold"/>
                                        <p:tgtEl>
                                          <p:spTgt spid="144388"/>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4438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1" fill="hold" grpId="0" nodeType="clickEffect">
                                  <p:stCondLst>
                                    <p:cond delay="0"/>
                                  </p:stCondLst>
                                  <p:childTnLst>
                                    <p:set>
                                      <p:cBhvr>
                                        <p:cTn id="16" dur="1" fill="hold">
                                          <p:stCondLst>
                                            <p:cond delay="0"/>
                                          </p:stCondLst>
                                        </p:cTn>
                                        <p:tgtEl>
                                          <p:spTgt spid="144389"/>
                                        </p:tgtEl>
                                        <p:attrNameLst>
                                          <p:attrName>style.visibility</p:attrName>
                                        </p:attrNameLst>
                                      </p:cBhvr>
                                      <p:to>
                                        <p:strVal val="visible"/>
                                      </p:to>
                                    </p:set>
                                    <p:animEffect transition="in" filter="slide(fromTop)">
                                      <p:cBhvr>
                                        <p:cTn id="17" dur="500"/>
                                        <p:tgtEl>
                                          <p:spTgt spid="144389"/>
                                        </p:tgtEl>
                                      </p:cBhvr>
                                    </p:animEffect>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387" grpId="0" animBg="1" autoUpdateAnimBg="0"/>
      <p:bldP spid="144388" grpId="0" autoUpdateAnimBg="0"/>
      <p:bldP spid="144389" grpId="0" autoUpdateAnimBg="0"/>
      <p:bldP spid="7"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p:cNvSpPr>
            <a:spLocks noChangeArrowheads="1"/>
          </p:cNvSpPr>
          <p:nvPr/>
        </p:nvSpPr>
        <p:spPr bwMode="auto">
          <a:xfrm>
            <a:off x="1" y="3103663"/>
            <a:ext cx="4355975" cy="1844351"/>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marL="342900" indent="-3429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lvl="1" indent="-457200" eaLnBrk="1" hangingPunct="1">
              <a:lnSpc>
                <a:spcPct val="90000"/>
              </a:lnSpc>
              <a:spcBef>
                <a:spcPts val="0"/>
              </a:spcBef>
              <a:buFontTx/>
              <a:buNone/>
            </a:pPr>
            <a:r>
              <a:rPr lang="en-GB" altLang="zh-CN" sz="1800" dirty="0">
                <a:latin typeface="+mn-lt"/>
                <a:ea typeface="华文行楷" pitchFamily="2" charset="-122"/>
              </a:rPr>
              <a:t>1. 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a:t>
            </a:r>
            <a:r>
              <a:rPr lang="en-GB" altLang="zh-CN" sz="1800" dirty="0">
                <a:latin typeface="+mn-lt"/>
                <a:ea typeface="华文行楷" pitchFamily="2" charset="-122"/>
                <a:cs typeface="Times New Roman" pitchFamily="18" charset="0"/>
                <a:sym typeface="Wingdings" pitchFamily="2" charset="2"/>
              </a:rPr>
              <a:t>·</a:t>
            </a:r>
            <a:r>
              <a:rPr lang="en-GB" altLang="zh-CN" sz="1800" dirty="0">
                <a:latin typeface="+mn-lt"/>
                <a:ea typeface="华文行楷" pitchFamily="2" charset="-122"/>
                <a:sym typeface="Wingdings" pitchFamily="2" charset="2"/>
              </a:rPr>
              <a:t>E       2. </a:t>
            </a:r>
            <a:r>
              <a:rPr lang="en-GB" altLang="zh-CN" sz="1800" dirty="0">
                <a:latin typeface="+mn-lt"/>
                <a:ea typeface="华文行楷" pitchFamily="2" charset="-122"/>
              </a:rPr>
              <a:t>S</a:t>
            </a:r>
            <a:r>
              <a:rPr lang="en-US" altLang="zh-CN" sz="1800" dirty="0">
                <a:latin typeface="+mn-lt"/>
                <a:ea typeface="华文行楷" pitchFamily="2" charset="-122"/>
              </a:rPr>
              <a:t>'</a:t>
            </a:r>
            <a:r>
              <a:rPr lang="en-GB" altLang="zh-CN" sz="1800" dirty="0">
                <a:latin typeface="+mn-lt"/>
                <a:ea typeface="华文行楷" pitchFamily="2" charset="-122"/>
              </a:rPr>
              <a:t> </a:t>
            </a:r>
            <a:r>
              <a:rPr lang="en-GB" altLang="zh-CN" sz="1800" dirty="0">
                <a:latin typeface="+mn-lt"/>
                <a:ea typeface="华文行楷" pitchFamily="2" charset="-122"/>
                <a:sym typeface="Wingdings" pitchFamily="2" charset="2"/>
              </a:rPr>
              <a:t>E·</a:t>
            </a:r>
          </a:p>
          <a:p>
            <a:pPr lvl="1" indent="-457200" eaLnBrk="1" hangingPunct="1">
              <a:lnSpc>
                <a:spcPct val="90000"/>
              </a:lnSpc>
              <a:spcBef>
                <a:spcPts val="0"/>
              </a:spcBef>
              <a:buFontTx/>
              <a:buNone/>
            </a:pPr>
            <a:r>
              <a:rPr lang="en-GB" altLang="zh-CN" sz="1800" dirty="0">
                <a:latin typeface="+mn-lt"/>
                <a:ea typeface="华文行楷" pitchFamily="2" charset="-122"/>
              </a:rPr>
              <a:t>3. 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4.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5. </a:t>
            </a:r>
            <a:r>
              <a:rPr lang="en-GB" altLang="zh-CN" sz="1800" dirty="0">
                <a:latin typeface="+mn-lt"/>
                <a:ea typeface="华文行楷" pitchFamily="2" charset="-122"/>
              </a:rPr>
              <a:t>E </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aA</a:t>
            </a:r>
            <a:r>
              <a:rPr lang="en-GB" altLang="zh-CN" sz="1800" dirty="0">
                <a:latin typeface="+mn-lt"/>
                <a:ea typeface="华文行楷" pitchFamily="2" charset="-122"/>
                <a:sym typeface="Wingdings" pitchFamily="2" charset="2"/>
              </a:rPr>
              <a:t>· </a:t>
            </a:r>
          </a:p>
          <a:p>
            <a:pPr lvl="1" indent="-457200" eaLnBrk="1" hangingPunct="1">
              <a:lnSpc>
                <a:spcPct val="90000"/>
              </a:lnSpc>
              <a:spcBef>
                <a:spcPts val="0"/>
              </a:spcBef>
              <a:buFontTx/>
              <a:buNone/>
            </a:pPr>
            <a:r>
              <a:rPr lang="en-GB" altLang="zh-CN" sz="1800" dirty="0">
                <a:latin typeface="+mn-lt"/>
                <a:ea typeface="华文行楷" pitchFamily="2" charset="-122"/>
                <a:sym typeface="Wingdings" pitchFamily="2" charset="2"/>
              </a:rPr>
              <a:t>6.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7.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8. A </a:t>
            </a:r>
            <a:r>
              <a:rPr lang="en-GB" altLang="zh-CN" sz="1800" dirty="0" err="1">
                <a:latin typeface="+mn-lt"/>
                <a:ea typeface="华文行楷" pitchFamily="2" charset="-122"/>
                <a:sym typeface="Wingdings" pitchFamily="2" charset="2"/>
              </a:rPr>
              <a:t>cA</a:t>
            </a:r>
            <a:r>
              <a:rPr lang="en-GB" altLang="zh-CN" sz="1800" dirty="0">
                <a:latin typeface="+mn-lt"/>
                <a:ea typeface="华文行楷" pitchFamily="2" charset="-122"/>
                <a:sym typeface="Wingdings" pitchFamily="2" charset="2"/>
              </a:rPr>
              <a:t>· </a:t>
            </a:r>
          </a:p>
          <a:p>
            <a:pPr lvl="1" indent="-457200" eaLnBrk="1" hangingPunct="1">
              <a:lnSpc>
                <a:spcPct val="90000"/>
              </a:lnSpc>
              <a:spcBef>
                <a:spcPts val="0"/>
              </a:spcBef>
              <a:buFontTx/>
              <a:buNone/>
            </a:pPr>
            <a:r>
              <a:rPr lang="en-GB" altLang="zh-CN" sz="1800" dirty="0">
                <a:latin typeface="+mn-lt"/>
                <a:ea typeface="华文行楷" pitchFamily="2" charset="-122"/>
                <a:sym typeface="Wingdings" pitchFamily="2" charset="2"/>
              </a:rPr>
              <a:t>9. A ·d      10. A  d·</a:t>
            </a:r>
          </a:p>
          <a:p>
            <a:pPr lvl="1" indent="-457200">
              <a:lnSpc>
                <a:spcPct val="90000"/>
              </a:lnSpc>
              <a:spcBef>
                <a:spcPts val="0"/>
              </a:spcBef>
              <a:buNone/>
            </a:pPr>
            <a:r>
              <a:rPr lang="en-GB" altLang="zh-CN" sz="1800" dirty="0">
                <a:latin typeface="+mn-lt"/>
                <a:ea typeface="华文行楷" pitchFamily="2" charset="-122"/>
                <a:sym typeface="Wingdings" pitchFamily="2" charset="2"/>
              </a:rPr>
              <a:t>11. </a:t>
            </a:r>
            <a:r>
              <a:rPr lang="en-GB" altLang="zh-CN" sz="1800" dirty="0">
                <a:latin typeface="+mn-lt"/>
                <a:ea typeface="华文行楷" pitchFamily="2" charset="-122"/>
              </a:rPr>
              <a:t>E</a:t>
            </a:r>
            <a:r>
              <a:rPr lang="en-GB" altLang="zh-CN" sz="1800" dirty="0">
                <a:latin typeface="+mn-lt"/>
                <a:ea typeface="华文行楷" pitchFamily="2" charset="-122"/>
                <a:sym typeface="Wingdings" pitchFamily="2" charset="2"/>
              </a:rPr>
              <a:t>·</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12. </a:t>
            </a:r>
            <a:r>
              <a:rPr lang="en-GB" altLang="zh-CN" sz="1800" dirty="0">
                <a:latin typeface="+mn-lt"/>
                <a:ea typeface="华文行楷" pitchFamily="2" charset="-122"/>
              </a:rPr>
              <a:t>E</a:t>
            </a:r>
            <a:r>
              <a:rPr lang="en-GB" altLang="zh-CN" sz="1800" dirty="0">
                <a:latin typeface="+mn-lt"/>
                <a:ea typeface="华文行楷" pitchFamily="2" charset="-122"/>
                <a:sym typeface="Wingdings" pitchFamily="2" charset="2"/>
              </a:rPr>
              <a:t> </a:t>
            </a:r>
            <a:r>
              <a:rPr lang="en-GB" altLang="zh-CN" sz="1800" dirty="0" err="1">
                <a:latin typeface="+mn-lt"/>
                <a:ea typeface="华文行楷" pitchFamily="2" charset="-122"/>
                <a:sym typeface="Wingdings" pitchFamily="2" charset="2"/>
              </a:rPr>
              <a:t>b·B</a:t>
            </a:r>
            <a:r>
              <a:rPr lang="en-GB" altLang="zh-CN" sz="1800" dirty="0">
                <a:latin typeface="+mn-lt"/>
                <a:ea typeface="华文行楷" pitchFamily="2" charset="-122"/>
                <a:sym typeface="Wingdings" pitchFamily="2" charset="2"/>
              </a:rPr>
              <a:t>  13. </a:t>
            </a:r>
            <a:r>
              <a:rPr lang="en-GB" altLang="zh-CN" sz="1800" dirty="0" err="1">
                <a:latin typeface="+mn-lt"/>
                <a:ea typeface="华文行楷" pitchFamily="2" charset="-122"/>
              </a:rPr>
              <a:t>E</a:t>
            </a:r>
            <a:r>
              <a:rPr lang="en-GB" altLang="zh-CN" sz="1800" dirty="0" err="1">
                <a:latin typeface="+mn-lt"/>
                <a:ea typeface="华文行楷" pitchFamily="2" charset="-122"/>
                <a:sym typeface="Wingdings" pitchFamily="2" charset="2"/>
              </a:rPr>
              <a:t>bB</a:t>
            </a:r>
            <a:r>
              <a:rPr lang="en-GB" altLang="zh-CN" sz="1800" dirty="0">
                <a:ea typeface="华文行楷" pitchFamily="2" charset="-122"/>
                <a:sym typeface="Wingdings" pitchFamily="2" charset="2"/>
              </a:rPr>
              <a:t>·</a:t>
            </a:r>
            <a:endParaRPr lang="en-GB" altLang="zh-CN" sz="1800" dirty="0">
              <a:latin typeface="+mn-lt"/>
              <a:ea typeface="华文行楷" pitchFamily="2" charset="-122"/>
              <a:sym typeface="Wingdings" pitchFamily="2" charset="2"/>
            </a:endParaRPr>
          </a:p>
          <a:p>
            <a:pPr lvl="1" indent="-457200" eaLnBrk="1" hangingPunct="1">
              <a:lnSpc>
                <a:spcPct val="90000"/>
              </a:lnSpc>
              <a:spcBef>
                <a:spcPts val="0"/>
              </a:spcBef>
              <a:buFontTx/>
              <a:buNone/>
            </a:pPr>
            <a:r>
              <a:rPr lang="en-GB" altLang="zh-CN" sz="1800" dirty="0">
                <a:latin typeface="+mn-lt"/>
                <a:ea typeface="华文行楷" pitchFamily="2" charset="-122"/>
                <a:sym typeface="Wingdings" pitchFamily="2" charset="2"/>
              </a:rPr>
              <a:t>14. B·</a:t>
            </a:r>
            <a:r>
              <a:rPr lang="en-GB" altLang="zh-CN" sz="1800" dirty="0" err="1">
                <a:latin typeface="+mn-lt"/>
                <a:ea typeface="华文行楷" pitchFamily="2" charset="-122"/>
                <a:sym typeface="Wingdings" pitchFamily="2" charset="2"/>
              </a:rPr>
              <a:t>cB</a:t>
            </a:r>
            <a:r>
              <a:rPr lang="en-GB" altLang="zh-CN" sz="1800" dirty="0">
                <a:latin typeface="+mn-lt"/>
                <a:ea typeface="华文行楷" pitchFamily="2" charset="-122"/>
                <a:sym typeface="Wingdings" pitchFamily="2" charset="2"/>
              </a:rPr>
              <a:t>   15. </a:t>
            </a:r>
            <a:r>
              <a:rPr lang="en-GB" altLang="zh-CN" sz="1800" dirty="0" err="1">
                <a:latin typeface="+mn-lt"/>
                <a:ea typeface="华文行楷" pitchFamily="2" charset="-122"/>
                <a:sym typeface="Wingdings" pitchFamily="2" charset="2"/>
              </a:rPr>
              <a:t>Bc·B</a:t>
            </a:r>
            <a:r>
              <a:rPr lang="en-GB" altLang="zh-CN" sz="1800" dirty="0">
                <a:latin typeface="+mn-lt"/>
                <a:ea typeface="华文行楷" pitchFamily="2" charset="-122"/>
                <a:sym typeface="Wingdings" pitchFamily="2" charset="2"/>
              </a:rPr>
              <a:t>    16. </a:t>
            </a:r>
            <a:r>
              <a:rPr lang="en-GB" altLang="zh-CN" sz="1800" dirty="0" err="1">
                <a:latin typeface="+mn-lt"/>
                <a:ea typeface="华文行楷" pitchFamily="2" charset="-122"/>
                <a:sym typeface="Wingdings" pitchFamily="2" charset="2"/>
              </a:rPr>
              <a:t>BcB</a:t>
            </a:r>
            <a:r>
              <a:rPr lang="en-GB" altLang="zh-CN" sz="1800" dirty="0">
                <a:latin typeface="+mn-lt"/>
                <a:ea typeface="华文行楷" pitchFamily="2" charset="-122"/>
                <a:sym typeface="Wingdings" pitchFamily="2" charset="2"/>
              </a:rPr>
              <a:t>·</a:t>
            </a:r>
          </a:p>
          <a:p>
            <a:pPr lvl="1" indent="-457200" eaLnBrk="1" hangingPunct="1">
              <a:lnSpc>
                <a:spcPct val="90000"/>
              </a:lnSpc>
              <a:spcBef>
                <a:spcPts val="0"/>
              </a:spcBef>
              <a:buFontTx/>
              <a:buNone/>
            </a:pPr>
            <a:r>
              <a:rPr lang="en-GB" altLang="zh-CN" sz="1800" dirty="0">
                <a:latin typeface="+mn-lt"/>
                <a:ea typeface="华文行楷" pitchFamily="2" charset="-122"/>
                <a:sym typeface="Wingdings" pitchFamily="2" charset="2"/>
              </a:rPr>
              <a:t>17. B ·d    18. B  d·</a:t>
            </a:r>
            <a:endParaRPr lang="en-US" altLang="zh-CN" sz="1800" dirty="0">
              <a:latin typeface="+mn-lt"/>
              <a:ea typeface="华文行楷" pitchFamily="2" charset="-122"/>
              <a:sym typeface="Wingdings" pitchFamily="2" charset="2"/>
            </a:endParaRPr>
          </a:p>
        </p:txBody>
      </p:sp>
      <p:grpSp>
        <p:nvGrpSpPr>
          <p:cNvPr id="19" name="组合 18"/>
          <p:cNvGrpSpPr/>
          <p:nvPr/>
        </p:nvGrpSpPr>
        <p:grpSpPr>
          <a:xfrm>
            <a:off x="4802702" y="1587445"/>
            <a:ext cx="2145562" cy="1200329"/>
            <a:chOff x="4390406" y="1578856"/>
            <a:chExt cx="2145562" cy="1200329"/>
          </a:xfrm>
        </p:grpSpPr>
        <p:sp>
          <p:nvSpPr>
            <p:cNvPr id="5" name="TextBox 4"/>
            <p:cNvSpPr txBox="1"/>
            <p:nvPr/>
          </p:nvSpPr>
          <p:spPr>
            <a:xfrm>
              <a:off x="5496901" y="1578856"/>
              <a:ext cx="1039067" cy="1200329"/>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I2</a:t>
              </a:r>
              <a:r>
                <a:rPr lang="en-GB" altLang="zh-CN"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GB" altLang="zh-CN" dirty="0">
                  <a:ea typeface="Arial Unicode MS" panose="020B0604020202020204" pitchFamily="34" charset="-122"/>
                  <a:cs typeface="Arial Unicode MS" panose="020B0604020202020204" pitchFamily="34" charset="-122"/>
                </a:rPr>
                <a:t>E </a:t>
              </a:r>
              <a:r>
                <a:rPr lang="en-GB" altLang="zh-CN" dirty="0">
                  <a:ea typeface="Arial Unicode MS" panose="020B0604020202020204" pitchFamily="34" charset="-122"/>
                  <a:cs typeface="Arial Unicode MS" panose="020B0604020202020204" pitchFamily="34" charset="-122"/>
                  <a:sym typeface="Wingdings" pitchFamily="2" charset="2"/>
                </a:rPr>
                <a:t></a:t>
              </a:r>
              <a:r>
                <a:rPr lang="en-GB" altLang="zh-CN" dirty="0" err="1">
                  <a:ea typeface="Arial Unicode MS" panose="020B0604020202020204" pitchFamily="34" charset="-122"/>
                  <a:cs typeface="Arial Unicode MS" panose="020B0604020202020204" pitchFamily="34" charset="-122"/>
                  <a:sym typeface="Wingdings" pitchFamily="2" charset="2"/>
                </a:rPr>
                <a:t>a·A</a:t>
              </a:r>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zh-CN" altLang="en-US" dirty="0">
                <a:ea typeface="Arial Unicode MS" panose="020B0604020202020204" pitchFamily="34" charset="-122"/>
                <a:cs typeface="Arial Unicode MS" panose="020B0604020202020204" pitchFamily="34" charset="-122"/>
              </a:endParaRPr>
            </a:p>
          </p:txBody>
        </p:sp>
        <p:cxnSp>
          <p:nvCxnSpPr>
            <p:cNvPr id="13" name="肘形连接符 12"/>
            <p:cNvCxnSpPr>
              <a:stCxn id="3" idx="0"/>
              <a:endCxn id="5" idx="1"/>
            </p:cNvCxnSpPr>
            <p:nvPr/>
          </p:nvCxnSpPr>
          <p:spPr>
            <a:xfrm rot="5400000" flipH="1" flipV="1">
              <a:off x="4650778" y="1918650"/>
              <a:ext cx="585751" cy="1106495"/>
            </a:xfrm>
            <a:prstGeom prst="bentConnector2">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grpSp>
        <p:nvGrpSpPr>
          <p:cNvPr id="20" name="组合 19"/>
          <p:cNvGrpSpPr/>
          <p:nvPr/>
        </p:nvGrpSpPr>
        <p:grpSpPr>
          <a:xfrm>
            <a:off x="4837166" y="3943171"/>
            <a:ext cx="2111098" cy="1200329"/>
            <a:chOff x="4510476" y="3973690"/>
            <a:chExt cx="2111098" cy="1200329"/>
          </a:xfrm>
        </p:grpSpPr>
        <p:sp>
          <p:nvSpPr>
            <p:cNvPr id="7" name="TextBox 6"/>
            <p:cNvSpPr txBox="1"/>
            <p:nvPr/>
          </p:nvSpPr>
          <p:spPr>
            <a:xfrm>
              <a:off x="5582507" y="3973690"/>
              <a:ext cx="1039067" cy="1200329"/>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a:t>
              </a:r>
              <a:r>
                <a:rPr lang="en-GB" altLang="zh-CN" dirty="0">
                  <a:ea typeface="Arial Unicode MS" panose="020B0604020202020204" pitchFamily="34" charset="-122"/>
                  <a:cs typeface="Arial Unicode MS" panose="020B0604020202020204" pitchFamily="34" charset="-122"/>
                </a:rPr>
                <a:t>3</a:t>
              </a:r>
              <a:r>
                <a:rPr lang="zh-CN" altLang="en-US"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GB" altLang="zh-CN" dirty="0" err="1">
                  <a:ea typeface="Arial Unicode MS" panose="020B0604020202020204" pitchFamily="34" charset="-122"/>
                  <a:cs typeface="Arial Unicode MS" panose="020B0604020202020204" pitchFamily="34" charset="-122"/>
                </a:rPr>
                <a:t>E</a:t>
              </a:r>
              <a:r>
                <a:rPr lang="en-GB" altLang="zh-CN" dirty="0" err="1">
                  <a:ea typeface="Arial Unicode MS" panose="020B0604020202020204" pitchFamily="34" charset="-122"/>
                  <a:cs typeface="Arial Unicode MS" panose="020B0604020202020204" pitchFamily="34" charset="-122"/>
                  <a:sym typeface="Wingdings" pitchFamily="2" charset="2"/>
                </a:rPr>
                <a:t>b·B</a:t>
              </a:r>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zh-CN" altLang="en-US" dirty="0">
                <a:ea typeface="Arial Unicode MS" panose="020B0604020202020204" pitchFamily="34" charset="-122"/>
                <a:cs typeface="Arial Unicode MS" panose="020B0604020202020204" pitchFamily="34" charset="-122"/>
              </a:endParaRPr>
            </a:p>
          </p:txBody>
        </p:sp>
        <p:cxnSp>
          <p:nvCxnSpPr>
            <p:cNvPr id="16" name="肘形连接符 15"/>
            <p:cNvCxnSpPr>
              <a:stCxn id="4" idx="2"/>
              <a:endCxn id="7" idx="1"/>
            </p:cNvCxnSpPr>
            <p:nvPr/>
          </p:nvCxnSpPr>
          <p:spPr>
            <a:xfrm rot="16200000" flipH="1">
              <a:off x="4765327" y="3756674"/>
              <a:ext cx="562329" cy="1072031"/>
            </a:xfrm>
            <a:prstGeom prst="bentConnector2">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sp>
        <p:nvSpPr>
          <p:cNvPr id="3" name="TextBox 2"/>
          <p:cNvSpPr txBox="1"/>
          <p:nvPr/>
        </p:nvSpPr>
        <p:spPr>
          <a:xfrm>
            <a:off x="4283168" y="2773361"/>
            <a:ext cx="1039067" cy="1200329"/>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a:t>
            </a:r>
            <a:r>
              <a:rPr lang="en-GB" altLang="zh-CN" dirty="0">
                <a:ea typeface="Arial Unicode MS" panose="020B0604020202020204" pitchFamily="34" charset="-122"/>
                <a:cs typeface="Arial Unicode MS" panose="020B0604020202020204" pitchFamily="34" charset="-122"/>
              </a:rPr>
              <a:t>0</a:t>
            </a:r>
            <a:r>
              <a:rPr lang="zh-CN" altLang="en-US"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GB" altLang="zh-CN" dirty="0">
                <a:ea typeface="Arial Unicode MS" panose="020B0604020202020204" pitchFamily="34" charset="-122"/>
                <a:cs typeface="Arial Unicode MS" panose="020B0604020202020204" pitchFamily="34" charset="-122"/>
              </a:rPr>
              <a:t>S</a:t>
            </a:r>
            <a:r>
              <a:rPr lang="en-US" altLang="zh-CN" dirty="0">
                <a:ea typeface="Arial Unicode MS" panose="020B0604020202020204" pitchFamily="34" charset="-122"/>
                <a:cs typeface="Arial Unicode MS" panose="020B0604020202020204" pitchFamily="34" charset="-122"/>
              </a:rPr>
              <a:t>'</a:t>
            </a:r>
            <a:r>
              <a:rPr lang="en-GB" altLang="zh-CN" dirty="0">
                <a:ea typeface="Arial Unicode MS" panose="020B0604020202020204" pitchFamily="34" charset="-122"/>
                <a:cs typeface="Arial Unicode MS" panose="020B0604020202020204" pitchFamily="34" charset="-122"/>
              </a:rPr>
              <a:t> </a:t>
            </a:r>
            <a:r>
              <a:rPr lang="en-GB" altLang="zh-CN" dirty="0">
                <a:ea typeface="Arial Unicode MS" panose="020B0604020202020204" pitchFamily="34" charset="-122"/>
                <a:cs typeface="Arial Unicode MS" panose="020B0604020202020204" pitchFamily="34" charset="-122"/>
                <a:sym typeface="Wingdings" pitchFamily="2" charset="2"/>
              </a:rPr>
              <a:t></a:t>
            </a:r>
            <a:r>
              <a:rPr lang="en-US" altLang="zh-CN" dirty="0">
                <a:ea typeface="Arial Unicode MS" panose="020B0604020202020204" pitchFamily="34" charset="-122"/>
                <a:cs typeface="Arial Unicode MS" panose="020B0604020202020204" pitchFamily="34" charset="-122"/>
                <a:sym typeface="Symbol" pitchFamily="18" charset="2"/>
              </a:rPr>
              <a:t>·</a:t>
            </a:r>
            <a:r>
              <a:rPr lang="en-GB" altLang="zh-CN" dirty="0">
                <a:ea typeface="Arial Unicode MS" panose="020B0604020202020204" pitchFamily="34" charset="-122"/>
                <a:cs typeface="Arial Unicode MS" panose="020B0604020202020204" pitchFamily="34" charset="-122"/>
                <a:sym typeface="Wingdings" pitchFamily="2" charset="2"/>
              </a:rPr>
              <a:t>E</a:t>
            </a:r>
          </a:p>
          <a:p>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zh-CN" altLang="en-US" dirty="0">
              <a:ea typeface="Arial Unicode MS" panose="020B0604020202020204" pitchFamily="34" charset="-122"/>
              <a:cs typeface="Arial Unicode MS" panose="020B0604020202020204" pitchFamily="34" charset="-122"/>
            </a:endParaRPr>
          </a:p>
        </p:txBody>
      </p:sp>
      <p:sp>
        <p:nvSpPr>
          <p:cNvPr id="4" name="矩形 3"/>
          <p:cNvSpPr/>
          <p:nvPr/>
        </p:nvSpPr>
        <p:spPr>
          <a:xfrm>
            <a:off x="4283168" y="3334676"/>
            <a:ext cx="1107996" cy="646331"/>
          </a:xfrm>
          <a:prstGeom prst="rect">
            <a:avLst/>
          </a:prstGeom>
        </p:spPr>
        <p:txBody>
          <a:bodyPr wrap="none">
            <a:spAutoFit/>
          </a:bodyPr>
          <a:lstStyle/>
          <a:p>
            <a:r>
              <a:rPr lang="en-GB" altLang="zh-CN" dirty="0">
                <a:solidFill>
                  <a:srgbClr val="0000FF"/>
                </a:solidFill>
                <a:ea typeface="Arial Unicode MS" panose="020B0604020202020204" pitchFamily="34" charset="-122"/>
                <a:cs typeface="Arial Unicode MS" panose="020B0604020202020204" pitchFamily="34" charset="-122"/>
              </a:rPr>
              <a:t>E </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t>
            </a:r>
            <a:r>
              <a:rPr lang="en-GB" altLang="zh-CN" dirty="0" err="1">
                <a:solidFill>
                  <a:srgbClr val="0000FF"/>
                </a:solidFill>
                <a:ea typeface="Arial Unicode MS" panose="020B0604020202020204" pitchFamily="34" charset="-122"/>
                <a:cs typeface="Arial Unicode MS" panose="020B0604020202020204" pitchFamily="34" charset="-122"/>
                <a:sym typeface="Wingdings" pitchFamily="2" charset="2"/>
              </a:rPr>
              <a:t>aA</a:t>
            </a:r>
            <a:endPar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endParaRPr>
          </a:p>
          <a:p>
            <a:r>
              <a:rPr lang="en-GB" altLang="zh-CN" dirty="0">
                <a:solidFill>
                  <a:srgbClr val="0000FF"/>
                </a:solidFill>
                <a:ea typeface="Arial Unicode MS" panose="020B0604020202020204" pitchFamily="34" charset="-122"/>
                <a:cs typeface="Arial Unicode MS" panose="020B0604020202020204" pitchFamily="34" charset="-122"/>
              </a:rPr>
              <a:t>E </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t>
            </a:r>
            <a:r>
              <a:rPr lang="en-GB" altLang="zh-CN" dirty="0" err="1">
                <a:solidFill>
                  <a:srgbClr val="0000FF"/>
                </a:solidFill>
                <a:ea typeface="Arial Unicode MS" panose="020B0604020202020204" pitchFamily="34" charset="-122"/>
                <a:cs typeface="Arial Unicode MS" panose="020B0604020202020204" pitchFamily="34" charset="-122"/>
                <a:sym typeface="Wingdings" pitchFamily="2" charset="2"/>
              </a:rPr>
              <a:t>bB</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 </a:t>
            </a:r>
            <a:endParaRPr lang="zh-CN" altLang="en-US" dirty="0">
              <a:solidFill>
                <a:srgbClr val="0000FF"/>
              </a:solidFill>
              <a:ea typeface="Arial Unicode MS" panose="020B0604020202020204" pitchFamily="34" charset="-122"/>
              <a:cs typeface="Arial Unicode MS" panose="020B0604020202020204" pitchFamily="34" charset="-122"/>
            </a:endParaRPr>
          </a:p>
        </p:txBody>
      </p:sp>
      <p:sp>
        <p:nvSpPr>
          <p:cNvPr id="6" name="矩形 5"/>
          <p:cNvSpPr/>
          <p:nvPr/>
        </p:nvSpPr>
        <p:spPr>
          <a:xfrm>
            <a:off x="5922021" y="2141443"/>
            <a:ext cx="1140056" cy="646331"/>
          </a:xfrm>
          <a:prstGeom prst="rect">
            <a:avLst/>
          </a:prstGeom>
        </p:spPr>
        <p:txBody>
          <a:bodyPr wrap="none">
            <a:spAutoFit/>
          </a:bodyPr>
          <a:lstStyle/>
          <a:p>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 ·</a:t>
            </a:r>
            <a:r>
              <a:rPr lang="en-GB" altLang="zh-CN" dirty="0" err="1">
                <a:solidFill>
                  <a:srgbClr val="0000FF"/>
                </a:solidFill>
                <a:ea typeface="Arial Unicode MS" panose="020B0604020202020204" pitchFamily="34" charset="-122"/>
                <a:cs typeface="Arial Unicode MS" panose="020B0604020202020204" pitchFamily="34" charset="-122"/>
                <a:sym typeface="Wingdings" pitchFamily="2" charset="2"/>
              </a:rPr>
              <a:t>cA</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 </a:t>
            </a:r>
          </a:p>
          <a:p>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 ·d </a:t>
            </a:r>
            <a:endParaRPr lang="zh-CN" altLang="en-US" dirty="0">
              <a:solidFill>
                <a:srgbClr val="0000FF"/>
              </a:solidFill>
              <a:ea typeface="Arial Unicode MS" panose="020B0604020202020204" pitchFamily="34" charset="-122"/>
              <a:cs typeface="Arial Unicode MS" panose="020B0604020202020204" pitchFamily="34" charset="-122"/>
            </a:endParaRPr>
          </a:p>
        </p:txBody>
      </p:sp>
      <p:sp>
        <p:nvSpPr>
          <p:cNvPr id="8" name="矩形 7"/>
          <p:cNvSpPr/>
          <p:nvPr/>
        </p:nvSpPr>
        <p:spPr>
          <a:xfrm>
            <a:off x="5909198" y="4486804"/>
            <a:ext cx="1045976" cy="646331"/>
          </a:xfrm>
          <a:prstGeom prst="rect">
            <a:avLst/>
          </a:prstGeom>
        </p:spPr>
        <p:txBody>
          <a:bodyPr wrap="square">
            <a:spAutoFit/>
          </a:bodyPr>
          <a:lstStyle/>
          <a:p>
            <a:r>
              <a:rPr lang="en-US" altLang="zh-CN" dirty="0">
                <a:solidFill>
                  <a:srgbClr val="0000FF"/>
                </a:solidFill>
                <a:ea typeface="Arial Unicode MS" panose="020B0604020202020204" pitchFamily="34" charset="-122"/>
                <a:cs typeface="Arial Unicode MS" panose="020B0604020202020204" pitchFamily="34" charset="-122"/>
              </a:rPr>
              <a:t>B</a:t>
            </a:r>
            <a:r>
              <a:rPr lang="en-GB" altLang="zh-CN" dirty="0">
                <a:solidFill>
                  <a:srgbClr val="0000FF"/>
                </a:solidFill>
                <a:ea typeface="Arial Unicode MS" panose="020B0604020202020204" pitchFamily="34" charset="-122"/>
                <a:cs typeface="Arial Unicode MS" panose="020B0604020202020204" pitchFamily="34" charset="-122"/>
              </a:rPr>
              <a:t> </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t>
            </a:r>
            <a:r>
              <a:rPr lang="en-GB" altLang="zh-CN" dirty="0" err="1">
                <a:solidFill>
                  <a:srgbClr val="0000FF"/>
                </a:solidFill>
                <a:ea typeface="Arial Unicode MS" panose="020B0604020202020204" pitchFamily="34" charset="-122"/>
                <a:cs typeface="Arial Unicode MS" panose="020B0604020202020204" pitchFamily="34" charset="-122"/>
                <a:sym typeface="Wingdings" pitchFamily="2" charset="2"/>
              </a:rPr>
              <a:t>cB</a:t>
            </a:r>
            <a:endPar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endParaRPr>
          </a:p>
          <a:p>
            <a:r>
              <a:rPr lang="en-US" altLang="zh-CN" dirty="0">
                <a:solidFill>
                  <a:srgbClr val="0000FF"/>
                </a:solidFill>
                <a:ea typeface="Arial Unicode MS" panose="020B0604020202020204" pitchFamily="34" charset="-122"/>
                <a:cs typeface="Arial Unicode MS" panose="020B0604020202020204" pitchFamily="34" charset="-122"/>
              </a:rPr>
              <a:t>B</a:t>
            </a:r>
            <a:r>
              <a:rPr lang="en-GB" altLang="zh-CN" dirty="0">
                <a:solidFill>
                  <a:srgbClr val="0000FF"/>
                </a:solidFill>
                <a:ea typeface="Arial Unicode MS" panose="020B0604020202020204" pitchFamily="34" charset="-122"/>
                <a:cs typeface="Arial Unicode MS" panose="020B0604020202020204" pitchFamily="34" charset="-122"/>
              </a:rPr>
              <a:t> </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·d </a:t>
            </a:r>
            <a:endParaRPr lang="zh-CN" altLang="en-US" dirty="0">
              <a:solidFill>
                <a:srgbClr val="0000FF"/>
              </a:solidFill>
              <a:ea typeface="Arial Unicode MS" panose="020B0604020202020204" pitchFamily="34" charset="-122"/>
              <a:cs typeface="Arial Unicode MS" panose="020B0604020202020204" pitchFamily="34" charset="-122"/>
            </a:endParaRPr>
          </a:p>
        </p:txBody>
      </p:sp>
      <p:grpSp>
        <p:nvGrpSpPr>
          <p:cNvPr id="21" name="组合 20"/>
          <p:cNvGrpSpPr/>
          <p:nvPr/>
        </p:nvGrpSpPr>
        <p:grpSpPr>
          <a:xfrm>
            <a:off x="5322235" y="3046644"/>
            <a:ext cx="1626029" cy="646331"/>
            <a:chOff x="4950992" y="3046644"/>
            <a:chExt cx="1626029" cy="646331"/>
          </a:xfrm>
        </p:grpSpPr>
        <p:sp>
          <p:nvSpPr>
            <p:cNvPr id="9" name="TextBox 8"/>
            <p:cNvSpPr txBox="1"/>
            <p:nvPr/>
          </p:nvSpPr>
          <p:spPr>
            <a:xfrm>
              <a:off x="5537954" y="3046644"/>
              <a:ext cx="1039067" cy="646331"/>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a:t>
              </a:r>
              <a:r>
                <a:rPr lang="en-GB" altLang="zh-CN" dirty="0">
                  <a:ea typeface="Arial Unicode MS" panose="020B0604020202020204" pitchFamily="34" charset="-122"/>
                  <a:cs typeface="Arial Unicode MS" panose="020B0604020202020204" pitchFamily="34" charset="-122"/>
                </a:rPr>
                <a:t>1:</a:t>
              </a:r>
              <a:endParaRPr lang="en-US" altLang="zh-CN" dirty="0">
                <a:ea typeface="Arial Unicode MS" panose="020B0604020202020204" pitchFamily="34" charset="-122"/>
                <a:cs typeface="Arial Unicode MS" panose="020B0604020202020204" pitchFamily="34" charset="-122"/>
              </a:endParaRPr>
            </a:p>
            <a:p>
              <a:r>
                <a:rPr lang="en-GB" altLang="zh-CN" dirty="0">
                  <a:ea typeface="Arial Unicode MS" panose="020B0604020202020204" pitchFamily="34" charset="-122"/>
                  <a:cs typeface="Arial Unicode MS" panose="020B0604020202020204" pitchFamily="34" charset="-122"/>
                </a:rPr>
                <a:t>S</a:t>
              </a:r>
              <a:r>
                <a:rPr lang="en-US" altLang="zh-CN" dirty="0">
                  <a:ea typeface="Arial Unicode MS" panose="020B0604020202020204" pitchFamily="34" charset="-122"/>
                  <a:cs typeface="Arial Unicode MS" panose="020B0604020202020204" pitchFamily="34" charset="-122"/>
                </a:rPr>
                <a:t>'</a:t>
              </a:r>
              <a:r>
                <a:rPr lang="en-GB" altLang="zh-CN" dirty="0">
                  <a:ea typeface="Arial Unicode MS" panose="020B0604020202020204" pitchFamily="34" charset="-122"/>
                  <a:cs typeface="Arial Unicode MS" panose="020B0604020202020204" pitchFamily="34" charset="-122"/>
                </a:rPr>
                <a:t> </a:t>
              </a:r>
              <a:r>
                <a:rPr lang="en-GB" altLang="zh-CN" dirty="0">
                  <a:ea typeface="Arial Unicode MS" panose="020B0604020202020204" pitchFamily="34" charset="-122"/>
                  <a:cs typeface="Arial Unicode MS" panose="020B0604020202020204" pitchFamily="34" charset="-122"/>
                  <a:sym typeface="Wingdings" pitchFamily="2" charset="2"/>
                </a:rPr>
                <a:t>E</a:t>
              </a:r>
              <a:r>
                <a:rPr lang="en-US" altLang="zh-CN" dirty="0">
                  <a:ea typeface="Arial Unicode MS" panose="020B0604020202020204" pitchFamily="34" charset="-122"/>
                  <a:cs typeface="Arial Unicode MS" panose="020B0604020202020204" pitchFamily="34" charset="-122"/>
                  <a:sym typeface="Symbol" pitchFamily="18" charset="2"/>
                </a:rPr>
                <a:t>·</a:t>
              </a:r>
              <a:endParaRPr lang="zh-CN" altLang="en-US" dirty="0">
                <a:ea typeface="Arial Unicode MS" panose="020B0604020202020204" pitchFamily="34" charset="-122"/>
                <a:cs typeface="Arial Unicode MS" panose="020B0604020202020204" pitchFamily="34" charset="-122"/>
              </a:endParaRPr>
            </a:p>
          </p:txBody>
        </p:sp>
        <p:cxnSp>
          <p:nvCxnSpPr>
            <p:cNvPr id="18" name="直接箭头连接符 17"/>
            <p:cNvCxnSpPr>
              <a:stCxn id="3" idx="3"/>
              <a:endCxn id="9" idx="1"/>
            </p:cNvCxnSpPr>
            <p:nvPr/>
          </p:nvCxnSpPr>
          <p:spPr>
            <a:xfrm flipV="1">
              <a:off x="4950992" y="3369810"/>
              <a:ext cx="586962" cy="3716"/>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sp>
        <p:nvSpPr>
          <p:cNvPr id="24" name="TextBox 23"/>
          <p:cNvSpPr txBox="1"/>
          <p:nvPr/>
        </p:nvSpPr>
        <p:spPr>
          <a:xfrm>
            <a:off x="5490089" y="3046644"/>
            <a:ext cx="185108"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E</a:t>
            </a:r>
            <a:endParaRPr lang="zh-CN" altLang="en-US" dirty="0">
              <a:ea typeface="Arial Unicode MS" panose="020B0604020202020204" pitchFamily="34" charset="-122"/>
              <a:cs typeface="Arial Unicode MS" panose="020B0604020202020204" pitchFamily="34" charset="-122"/>
            </a:endParaRPr>
          </a:p>
        </p:txBody>
      </p:sp>
      <p:sp>
        <p:nvSpPr>
          <p:cNvPr id="25" name="TextBox 24"/>
          <p:cNvSpPr txBox="1"/>
          <p:nvPr/>
        </p:nvSpPr>
        <p:spPr>
          <a:xfrm>
            <a:off x="5220072" y="1851670"/>
            <a:ext cx="362571"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a</a:t>
            </a:r>
            <a:endParaRPr lang="zh-CN" altLang="en-US" dirty="0">
              <a:ea typeface="Arial Unicode MS" panose="020B0604020202020204" pitchFamily="34" charset="-122"/>
              <a:cs typeface="Arial Unicode MS" panose="020B0604020202020204" pitchFamily="34" charset="-122"/>
            </a:endParaRPr>
          </a:p>
        </p:txBody>
      </p:sp>
      <p:sp>
        <p:nvSpPr>
          <p:cNvPr id="26" name="TextBox 25"/>
          <p:cNvSpPr txBox="1"/>
          <p:nvPr/>
        </p:nvSpPr>
        <p:spPr>
          <a:xfrm>
            <a:off x="5223136" y="4227934"/>
            <a:ext cx="284968"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b</a:t>
            </a:r>
            <a:endParaRPr lang="zh-CN" altLang="en-US" dirty="0">
              <a:ea typeface="Arial Unicode MS" panose="020B0604020202020204" pitchFamily="34" charset="-122"/>
              <a:cs typeface="Arial Unicode MS" panose="020B0604020202020204" pitchFamily="34" charset="-122"/>
            </a:endParaRPr>
          </a:p>
        </p:txBody>
      </p:sp>
      <p:grpSp>
        <p:nvGrpSpPr>
          <p:cNvPr id="34" name="组合 33"/>
          <p:cNvGrpSpPr/>
          <p:nvPr/>
        </p:nvGrpSpPr>
        <p:grpSpPr>
          <a:xfrm>
            <a:off x="6454952" y="411510"/>
            <a:ext cx="2149496" cy="1200329"/>
            <a:chOff x="4428460" y="1578856"/>
            <a:chExt cx="2149496" cy="1200329"/>
          </a:xfrm>
        </p:grpSpPr>
        <p:sp>
          <p:nvSpPr>
            <p:cNvPr id="35" name="TextBox 34"/>
            <p:cNvSpPr txBox="1"/>
            <p:nvPr/>
          </p:nvSpPr>
          <p:spPr>
            <a:xfrm>
              <a:off x="5538889" y="1578856"/>
              <a:ext cx="1039067" cy="1200329"/>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I4</a:t>
              </a:r>
              <a:r>
                <a:rPr lang="en-GB" altLang="zh-CN"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US" altLang="zh-CN" dirty="0">
                  <a:ea typeface="Arial Unicode MS" panose="020B0604020202020204" pitchFamily="34" charset="-122"/>
                  <a:cs typeface="Arial Unicode MS" panose="020B0604020202020204" pitchFamily="34" charset="-122"/>
                </a:rPr>
                <a:t>A</a:t>
              </a:r>
              <a:r>
                <a:rPr lang="en-GB" altLang="zh-CN" dirty="0">
                  <a:ea typeface="Arial Unicode MS" panose="020B0604020202020204" pitchFamily="34" charset="-122"/>
                  <a:cs typeface="Arial Unicode MS" panose="020B0604020202020204" pitchFamily="34" charset="-122"/>
                  <a:sym typeface="Wingdings" pitchFamily="2" charset="2"/>
                </a:rPr>
                <a:t></a:t>
              </a:r>
              <a:r>
                <a:rPr lang="en-US" altLang="zh-CN" dirty="0">
                  <a:ea typeface="Arial Unicode MS" panose="020B0604020202020204" pitchFamily="34" charset="-122"/>
                  <a:cs typeface="Arial Unicode MS" panose="020B0604020202020204" pitchFamily="34" charset="-122"/>
                  <a:sym typeface="Wingdings" pitchFamily="2" charset="2"/>
                </a:rPr>
                <a:t>c</a:t>
              </a:r>
              <a:r>
                <a:rPr lang="en-GB" altLang="zh-CN" dirty="0">
                  <a:ea typeface="Arial Unicode MS" panose="020B0604020202020204" pitchFamily="34" charset="-122"/>
                  <a:cs typeface="Arial Unicode MS" panose="020B0604020202020204" pitchFamily="34" charset="-122"/>
                  <a:sym typeface="Wingdings" pitchFamily="2" charset="2"/>
                </a:rPr>
                <a:t>·</a:t>
              </a:r>
              <a:r>
                <a:rPr lang="en-US" altLang="zh-CN" dirty="0">
                  <a:ea typeface="Arial Unicode MS" panose="020B0604020202020204" pitchFamily="34" charset="-122"/>
                  <a:cs typeface="Arial Unicode MS" panose="020B0604020202020204" pitchFamily="34" charset="-122"/>
                  <a:sym typeface="Wingdings" pitchFamily="2" charset="2"/>
                </a:rPr>
                <a:t>A</a:t>
              </a:r>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en-GB" altLang="zh-CN" dirty="0">
                <a:ea typeface="Arial Unicode MS" panose="020B0604020202020204" pitchFamily="34" charset="-122"/>
                <a:cs typeface="Arial Unicode MS" panose="020B0604020202020204" pitchFamily="34" charset="-122"/>
                <a:sym typeface="Wingdings" pitchFamily="2" charset="2"/>
              </a:endParaRPr>
            </a:p>
            <a:p>
              <a:endParaRPr lang="zh-CN" altLang="en-US" dirty="0">
                <a:ea typeface="Arial Unicode MS" panose="020B0604020202020204" pitchFamily="34" charset="-122"/>
                <a:cs typeface="Arial Unicode MS" panose="020B0604020202020204" pitchFamily="34" charset="-122"/>
              </a:endParaRPr>
            </a:p>
          </p:txBody>
        </p:sp>
        <p:cxnSp>
          <p:nvCxnSpPr>
            <p:cNvPr id="36" name="肘形连接符 35"/>
            <p:cNvCxnSpPr/>
            <p:nvPr/>
          </p:nvCxnSpPr>
          <p:spPr>
            <a:xfrm flipV="1">
              <a:off x="4428460" y="2169036"/>
              <a:ext cx="1106495" cy="585755"/>
            </a:xfrm>
            <a:prstGeom prst="bentConnector3">
              <a:avLst>
                <a:gd name="adj1" fmla="val 416"/>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sp>
        <p:nvSpPr>
          <p:cNvPr id="37" name="矩形 36"/>
          <p:cNvSpPr/>
          <p:nvPr/>
        </p:nvSpPr>
        <p:spPr>
          <a:xfrm>
            <a:off x="7578205" y="1042208"/>
            <a:ext cx="1140056" cy="646331"/>
          </a:xfrm>
          <a:prstGeom prst="rect">
            <a:avLst/>
          </a:prstGeom>
        </p:spPr>
        <p:txBody>
          <a:bodyPr wrap="none">
            <a:spAutoFit/>
          </a:bodyPr>
          <a:lstStyle/>
          <a:p>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 ·</a:t>
            </a:r>
            <a:r>
              <a:rPr lang="en-GB" altLang="zh-CN" dirty="0" err="1">
                <a:solidFill>
                  <a:srgbClr val="0000FF"/>
                </a:solidFill>
                <a:ea typeface="Arial Unicode MS" panose="020B0604020202020204" pitchFamily="34" charset="-122"/>
                <a:cs typeface="Arial Unicode MS" panose="020B0604020202020204" pitchFamily="34" charset="-122"/>
                <a:sym typeface="Wingdings" pitchFamily="2" charset="2"/>
              </a:rPr>
              <a:t>cA</a:t>
            </a:r>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 </a:t>
            </a:r>
          </a:p>
          <a:p>
            <a:r>
              <a:rPr lang="en-GB" altLang="zh-CN" dirty="0">
                <a:solidFill>
                  <a:srgbClr val="0000FF"/>
                </a:solidFill>
                <a:ea typeface="Arial Unicode MS" panose="020B0604020202020204" pitchFamily="34" charset="-122"/>
                <a:cs typeface="Arial Unicode MS" panose="020B0604020202020204" pitchFamily="34" charset="-122"/>
                <a:sym typeface="Wingdings" pitchFamily="2" charset="2"/>
              </a:rPr>
              <a:t>A ·d </a:t>
            </a:r>
            <a:endParaRPr lang="zh-CN" altLang="en-US" dirty="0">
              <a:solidFill>
                <a:srgbClr val="0000FF"/>
              </a:solidFill>
              <a:ea typeface="Arial Unicode MS" panose="020B0604020202020204" pitchFamily="34" charset="-122"/>
              <a:cs typeface="Arial Unicode MS" panose="020B0604020202020204" pitchFamily="34" charset="-122"/>
            </a:endParaRPr>
          </a:p>
        </p:txBody>
      </p:sp>
      <p:grpSp>
        <p:nvGrpSpPr>
          <p:cNvPr id="38" name="组合 37"/>
          <p:cNvGrpSpPr/>
          <p:nvPr/>
        </p:nvGrpSpPr>
        <p:grpSpPr>
          <a:xfrm>
            <a:off x="6948264" y="1779662"/>
            <a:ext cx="1656184" cy="646331"/>
            <a:chOff x="4962825" y="3046644"/>
            <a:chExt cx="1656184" cy="646331"/>
          </a:xfrm>
        </p:grpSpPr>
        <p:sp>
          <p:nvSpPr>
            <p:cNvPr id="39" name="TextBox 38"/>
            <p:cNvSpPr txBox="1"/>
            <p:nvPr/>
          </p:nvSpPr>
          <p:spPr>
            <a:xfrm>
              <a:off x="5579942" y="3046644"/>
              <a:ext cx="1039067" cy="646331"/>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I10</a:t>
              </a:r>
              <a:r>
                <a:rPr lang="en-GB" altLang="zh-CN"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GB" altLang="zh-CN" dirty="0">
                  <a:ea typeface="Arial Unicode MS" panose="020B0604020202020204" pitchFamily="34" charset="-122"/>
                  <a:cs typeface="Arial Unicode MS" panose="020B0604020202020204" pitchFamily="34" charset="-122"/>
                  <a:sym typeface="Wingdings" pitchFamily="2" charset="2"/>
                </a:rPr>
                <a:t>A  d·</a:t>
              </a:r>
              <a:endParaRPr lang="zh-CN" altLang="en-US" dirty="0">
                <a:ea typeface="Arial Unicode MS" panose="020B0604020202020204" pitchFamily="34" charset="-122"/>
                <a:cs typeface="Arial Unicode MS" panose="020B0604020202020204" pitchFamily="34" charset="-122"/>
              </a:endParaRPr>
            </a:p>
          </p:txBody>
        </p:sp>
        <p:cxnSp>
          <p:nvCxnSpPr>
            <p:cNvPr id="40" name="直接箭头连接符 39"/>
            <p:cNvCxnSpPr>
              <a:endCxn id="39" idx="1"/>
            </p:cNvCxnSpPr>
            <p:nvPr/>
          </p:nvCxnSpPr>
          <p:spPr>
            <a:xfrm>
              <a:off x="4962825" y="3369809"/>
              <a:ext cx="617117" cy="1"/>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sp>
        <p:nvSpPr>
          <p:cNvPr id="41" name="TextBox 40"/>
          <p:cNvSpPr txBox="1"/>
          <p:nvPr/>
        </p:nvSpPr>
        <p:spPr>
          <a:xfrm>
            <a:off x="7104285" y="1779662"/>
            <a:ext cx="185108"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d</a:t>
            </a:r>
            <a:endParaRPr lang="zh-CN" altLang="en-US" dirty="0">
              <a:ea typeface="Arial Unicode MS" panose="020B0604020202020204" pitchFamily="34" charset="-122"/>
              <a:cs typeface="Arial Unicode MS" panose="020B0604020202020204" pitchFamily="34" charset="-122"/>
            </a:endParaRPr>
          </a:p>
        </p:txBody>
      </p:sp>
      <p:sp>
        <p:nvSpPr>
          <p:cNvPr id="42" name="TextBox 41"/>
          <p:cNvSpPr txBox="1"/>
          <p:nvPr/>
        </p:nvSpPr>
        <p:spPr>
          <a:xfrm>
            <a:off x="6741714" y="719043"/>
            <a:ext cx="362571"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c</a:t>
            </a:r>
            <a:endParaRPr lang="zh-CN" altLang="en-US" dirty="0">
              <a:ea typeface="Arial Unicode MS" panose="020B0604020202020204" pitchFamily="34" charset="-122"/>
              <a:cs typeface="Arial Unicode MS" panose="020B0604020202020204" pitchFamily="34" charset="-122"/>
            </a:endParaRPr>
          </a:p>
        </p:txBody>
      </p:sp>
      <p:grpSp>
        <p:nvGrpSpPr>
          <p:cNvPr id="49" name="组合 48"/>
          <p:cNvGrpSpPr/>
          <p:nvPr/>
        </p:nvGrpSpPr>
        <p:grpSpPr>
          <a:xfrm>
            <a:off x="6948264" y="2416417"/>
            <a:ext cx="1656184" cy="806013"/>
            <a:chOff x="4818832" y="2898279"/>
            <a:chExt cx="1713103" cy="794696"/>
          </a:xfrm>
        </p:grpSpPr>
        <p:sp>
          <p:nvSpPr>
            <p:cNvPr id="50" name="TextBox 49"/>
            <p:cNvSpPr txBox="1"/>
            <p:nvPr/>
          </p:nvSpPr>
          <p:spPr>
            <a:xfrm>
              <a:off x="5457158" y="3046644"/>
              <a:ext cx="1074777" cy="646331"/>
            </a:xfrm>
            <a:prstGeom prst="rect">
              <a:avLst/>
            </a:prstGeom>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altLang="zh-CN" dirty="0">
                  <a:ea typeface="Arial Unicode MS" panose="020B0604020202020204" pitchFamily="34" charset="-122"/>
                  <a:cs typeface="Arial Unicode MS" panose="020B0604020202020204" pitchFamily="34" charset="-122"/>
                </a:rPr>
                <a:t>I6</a:t>
              </a:r>
              <a:r>
                <a:rPr lang="en-GB" altLang="zh-CN" dirty="0">
                  <a:ea typeface="Arial Unicode MS" panose="020B0604020202020204" pitchFamily="34" charset="-122"/>
                  <a:cs typeface="Arial Unicode MS" panose="020B0604020202020204" pitchFamily="34" charset="-122"/>
                </a:rPr>
                <a:t>:</a:t>
              </a:r>
              <a:endParaRPr lang="en-US" altLang="zh-CN" dirty="0">
                <a:ea typeface="Arial Unicode MS" panose="020B0604020202020204" pitchFamily="34" charset="-122"/>
                <a:cs typeface="Arial Unicode MS" panose="020B0604020202020204" pitchFamily="34" charset="-122"/>
              </a:endParaRPr>
            </a:p>
            <a:p>
              <a:r>
                <a:rPr lang="en-GB" altLang="zh-CN" dirty="0">
                  <a:ea typeface="Arial Unicode MS" panose="020B0604020202020204" pitchFamily="34" charset="-122"/>
                  <a:cs typeface="Arial Unicode MS" panose="020B0604020202020204" pitchFamily="34" charset="-122"/>
                </a:rPr>
                <a:t>E </a:t>
              </a:r>
              <a:r>
                <a:rPr lang="en-GB" altLang="zh-CN" dirty="0">
                  <a:ea typeface="Arial Unicode MS" panose="020B0604020202020204" pitchFamily="34" charset="-122"/>
                  <a:cs typeface="Arial Unicode MS" panose="020B0604020202020204" pitchFamily="34" charset="-122"/>
                  <a:sym typeface="Wingdings" pitchFamily="2" charset="2"/>
                </a:rPr>
                <a:t></a:t>
              </a:r>
              <a:r>
                <a:rPr lang="en-GB" altLang="zh-CN" dirty="0" err="1">
                  <a:ea typeface="Arial Unicode MS" panose="020B0604020202020204" pitchFamily="34" charset="-122"/>
                  <a:cs typeface="Arial Unicode MS" panose="020B0604020202020204" pitchFamily="34" charset="-122"/>
                  <a:sym typeface="Wingdings" pitchFamily="2" charset="2"/>
                </a:rPr>
                <a:t>aA</a:t>
              </a:r>
              <a:r>
                <a:rPr lang="en-GB" altLang="zh-CN" dirty="0">
                  <a:ea typeface="Arial Unicode MS" panose="020B0604020202020204" pitchFamily="34" charset="-122"/>
                  <a:cs typeface="Arial Unicode MS" panose="020B0604020202020204" pitchFamily="34" charset="-122"/>
                  <a:sym typeface="Wingdings" pitchFamily="2" charset="2"/>
                </a:rPr>
                <a:t>·</a:t>
              </a:r>
              <a:endParaRPr lang="zh-CN" altLang="en-US" dirty="0">
                <a:ea typeface="Arial Unicode MS" panose="020B0604020202020204" pitchFamily="34" charset="-122"/>
                <a:cs typeface="Arial Unicode MS" panose="020B0604020202020204" pitchFamily="34" charset="-122"/>
              </a:endParaRPr>
            </a:p>
          </p:txBody>
        </p:sp>
        <p:cxnSp>
          <p:nvCxnSpPr>
            <p:cNvPr id="51" name="直接箭头连接符 50"/>
            <p:cNvCxnSpPr>
              <a:endCxn id="50" idx="1"/>
            </p:cNvCxnSpPr>
            <p:nvPr/>
          </p:nvCxnSpPr>
          <p:spPr>
            <a:xfrm>
              <a:off x="4818832" y="2898279"/>
              <a:ext cx="638326" cy="471531"/>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sp>
        <p:nvSpPr>
          <p:cNvPr id="52" name="TextBox 51"/>
          <p:cNvSpPr txBox="1"/>
          <p:nvPr/>
        </p:nvSpPr>
        <p:spPr>
          <a:xfrm>
            <a:off x="7092280" y="2283718"/>
            <a:ext cx="185108"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A</a:t>
            </a:r>
            <a:endParaRPr lang="zh-CN" altLang="en-US" dirty="0">
              <a:ea typeface="Arial Unicode MS" panose="020B0604020202020204" pitchFamily="34" charset="-122"/>
              <a:cs typeface="Arial Unicode MS" panose="020B0604020202020204" pitchFamily="34" charset="-122"/>
            </a:endParaRPr>
          </a:p>
        </p:txBody>
      </p:sp>
      <p:grpSp>
        <p:nvGrpSpPr>
          <p:cNvPr id="106" name="组合 105"/>
          <p:cNvGrpSpPr/>
          <p:nvPr/>
        </p:nvGrpSpPr>
        <p:grpSpPr>
          <a:xfrm>
            <a:off x="6948264" y="468635"/>
            <a:ext cx="2088232" cy="4563405"/>
            <a:chOff x="6804248" y="468635"/>
            <a:chExt cx="2088232" cy="4563405"/>
          </a:xfrm>
        </p:grpSpPr>
        <p:cxnSp>
          <p:nvCxnSpPr>
            <p:cNvPr id="60" name="直接箭头连接符 59"/>
            <p:cNvCxnSpPr/>
            <p:nvPr/>
          </p:nvCxnSpPr>
          <p:spPr>
            <a:xfrm flipV="1">
              <a:off x="6804248" y="3856105"/>
              <a:ext cx="432048" cy="30753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62" name="直接箭头连接符 61"/>
            <p:cNvCxnSpPr/>
            <p:nvPr/>
          </p:nvCxnSpPr>
          <p:spPr>
            <a:xfrm>
              <a:off x="6804248" y="4456270"/>
              <a:ext cx="432048" cy="3053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64" name="直接箭头连接符 63"/>
            <p:cNvCxnSpPr/>
            <p:nvPr/>
          </p:nvCxnSpPr>
          <p:spPr>
            <a:xfrm>
              <a:off x="6804248" y="4809968"/>
              <a:ext cx="432048" cy="222072"/>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65" name="直接箭头连接符 64"/>
            <p:cNvCxnSpPr/>
            <p:nvPr/>
          </p:nvCxnSpPr>
          <p:spPr>
            <a:xfrm flipV="1">
              <a:off x="8460432" y="468635"/>
              <a:ext cx="432048" cy="30753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66" name="直接箭头连接符 65"/>
            <p:cNvCxnSpPr/>
            <p:nvPr/>
          </p:nvCxnSpPr>
          <p:spPr>
            <a:xfrm>
              <a:off x="8460432" y="1068800"/>
              <a:ext cx="432048" cy="30533"/>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grpSp>
      <p:grpSp>
        <p:nvGrpSpPr>
          <p:cNvPr id="104" name="组合 103"/>
          <p:cNvGrpSpPr/>
          <p:nvPr/>
        </p:nvGrpSpPr>
        <p:grpSpPr>
          <a:xfrm>
            <a:off x="8604449" y="1419622"/>
            <a:ext cx="216023" cy="544706"/>
            <a:chOff x="8460433" y="1419622"/>
            <a:chExt cx="216023" cy="544706"/>
          </a:xfrm>
        </p:grpSpPr>
        <p:cxnSp>
          <p:nvCxnSpPr>
            <p:cNvPr id="83" name="直接连接符 82"/>
            <p:cNvCxnSpPr/>
            <p:nvPr/>
          </p:nvCxnSpPr>
          <p:spPr>
            <a:xfrm flipH="1">
              <a:off x="8460433" y="1419622"/>
              <a:ext cx="216023"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100" name="直接箭头连接符 99"/>
            <p:cNvCxnSpPr/>
            <p:nvPr/>
          </p:nvCxnSpPr>
          <p:spPr>
            <a:xfrm flipH="1">
              <a:off x="8460434" y="1964328"/>
              <a:ext cx="216022" cy="0"/>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8676456" y="1419622"/>
              <a:ext cx="0" cy="544706"/>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grpSp>
      <p:sp>
        <p:nvSpPr>
          <p:cNvPr id="105" name="TextBox 104"/>
          <p:cNvSpPr txBox="1"/>
          <p:nvPr/>
        </p:nvSpPr>
        <p:spPr>
          <a:xfrm>
            <a:off x="8748464" y="1427173"/>
            <a:ext cx="185108" cy="369332"/>
          </a:xfrm>
          <a:prstGeom prst="rect">
            <a:avLst/>
          </a:prstGeom>
          <a:noFill/>
        </p:spPr>
        <p:txBody>
          <a:bodyPr wrap="square" rtlCol="0">
            <a:spAutoFit/>
          </a:bodyPr>
          <a:lstStyle/>
          <a:p>
            <a:r>
              <a:rPr lang="en-US" altLang="zh-CN" dirty="0">
                <a:ea typeface="Arial Unicode MS" panose="020B0604020202020204" pitchFamily="34" charset="-122"/>
                <a:cs typeface="Arial Unicode MS" panose="020B0604020202020204" pitchFamily="34" charset="-122"/>
              </a:rPr>
              <a:t>d</a:t>
            </a:r>
            <a:endParaRPr lang="zh-CN" altLang="en-US" dirty="0">
              <a:ea typeface="Arial Unicode MS" panose="020B0604020202020204" pitchFamily="34" charset="-122"/>
              <a:cs typeface="Arial Unicode MS" panose="020B0604020202020204" pitchFamily="34" charset="-122"/>
            </a:endParaRPr>
          </a:p>
        </p:txBody>
      </p:sp>
      <p:sp>
        <p:nvSpPr>
          <p:cNvPr id="107" name="Rectangle 3"/>
          <p:cNvSpPr txBox="1">
            <a:spLocks noChangeArrowheads="1"/>
          </p:cNvSpPr>
          <p:nvPr/>
        </p:nvSpPr>
        <p:spPr>
          <a:xfrm>
            <a:off x="705669" y="719043"/>
            <a:ext cx="1450033" cy="765186"/>
          </a:xfrm>
          <a:prstGeom prst="rect">
            <a:avLst/>
          </a:prstGeom>
        </p:spPr>
        <p:style>
          <a:lnRef idx="2">
            <a:schemeClr val="accent1"/>
          </a:lnRef>
          <a:fillRef idx="1">
            <a:schemeClr val="lt1"/>
          </a:fillRef>
          <a:effectRef idx="0">
            <a:schemeClr val="accent1"/>
          </a:effectRef>
          <a:fontRef idx="minor">
            <a:schemeClr val="dk1"/>
          </a:fontRef>
        </p:style>
        <p:txBody>
          <a:bodyPr vert="horz">
            <a:normAutofit fontScale="77500" lnSpcReduction="20000"/>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dk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dk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dk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dk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dk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dk1"/>
                </a:solidFill>
                <a:latin typeface="+mn-lt"/>
                <a:ea typeface="+mn-ea"/>
                <a:cs typeface="+mn-cs"/>
              </a:defRPr>
            </a:lvl9pPr>
            <a:extLst/>
          </a:lstStyle>
          <a:p>
            <a:pPr marL="365125" indent="-365125">
              <a:lnSpc>
                <a:spcPct val="110000"/>
              </a:lnSpc>
              <a:spcBef>
                <a:spcPct val="0"/>
              </a:spcBef>
              <a:buFontTx/>
              <a:buNone/>
            </a:pPr>
            <a:r>
              <a:rPr lang="en-GB" altLang="zh-CN" sz="2000" dirty="0">
                <a:latin typeface="+mj-lt"/>
              </a:rPr>
              <a:t>E </a:t>
            </a:r>
            <a:r>
              <a:rPr lang="en-GB" altLang="zh-CN" sz="2000" dirty="0">
                <a:latin typeface="+mj-lt"/>
                <a:sym typeface="Wingdings" pitchFamily="2" charset="2"/>
              </a:rPr>
              <a:t></a:t>
            </a:r>
            <a:r>
              <a:rPr lang="en-GB" altLang="zh-CN" sz="2000" dirty="0" err="1">
                <a:latin typeface="+mj-lt"/>
                <a:sym typeface="Wingdings" pitchFamily="2" charset="2"/>
              </a:rPr>
              <a:t>aA</a:t>
            </a:r>
            <a:r>
              <a:rPr lang="en-GB" altLang="zh-CN" sz="2000" dirty="0">
                <a:latin typeface="+mj-lt"/>
                <a:sym typeface="Wingdings" pitchFamily="2" charset="2"/>
              </a:rPr>
              <a:t> | </a:t>
            </a:r>
            <a:r>
              <a:rPr lang="en-GB" altLang="zh-CN" sz="2000" dirty="0" err="1">
                <a:latin typeface="+mj-lt"/>
                <a:sym typeface="Wingdings" pitchFamily="2" charset="2"/>
              </a:rPr>
              <a:t>bB</a:t>
            </a:r>
            <a:endParaRPr lang="en-GB" altLang="zh-CN" sz="2000" dirty="0">
              <a:latin typeface="+mj-lt"/>
              <a:sym typeface="Wingdings" pitchFamily="2" charset="2"/>
            </a:endParaRPr>
          </a:p>
          <a:p>
            <a:pPr marL="365125" indent="-365125">
              <a:lnSpc>
                <a:spcPct val="110000"/>
              </a:lnSpc>
              <a:spcBef>
                <a:spcPct val="0"/>
              </a:spcBef>
              <a:buFontTx/>
              <a:buNone/>
            </a:pPr>
            <a:r>
              <a:rPr lang="en-GB" altLang="zh-CN" sz="2000" dirty="0">
                <a:latin typeface="+mj-lt"/>
                <a:sym typeface="Wingdings" pitchFamily="2" charset="2"/>
              </a:rPr>
              <a:t>A </a:t>
            </a:r>
            <a:r>
              <a:rPr lang="en-GB" altLang="zh-CN" sz="2000" dirty="0" err="1">
                <a:latin typeface="+mj-lt"/>
                <a:sym typeface="Wingdings" pitchFamily="2" charset="2"/>
              </a:rPr>
              <a:t>cA</a:t>
            </a:r>
            <a:r>
              <a:rPr lang="en-GB" altLang="zh-CN" sz="2000" dirty="0">
                <a:latin typeface="+mj-lt"/>
                <a:sym typeface="Wingdings" pitchFamily="2" charset="2"/>
              </a:rPr>
              <a:t> | d</a:t>
            </a:r>
          </a:p>
          <a:p>
            <a:pPr marL="365125" indent="-365125">
              <a:lnSpc>
                <a:spcPct val="110000"/>
              </a:lnSpc>
              <a:spcBef>
                <a:spcPct val="0"/>
              </a:spcBef>
              <a:buFont typeface="Wingdings 3"/>
              <a:buNone/>
            </a:pPr>
            <a:r>
              <a:rPr lang="en-US" altLang="zh-CN" sz="2000" dirty="0">
                <a:latin typeface="+mj-lt"/>
                <a:sym typeface="Wingdings" pitchFamily="2" charset="2"/>
              </a:rPr>
              <a:t>B </a:t>
            </a:r>
            <a:r>
              <a:rPr lang="en-GB" altLang="zh-CN" sz="2000" dirty="0">
                <a:latin typeface="+mj-lt"/>
                <a:sym typeface="Wingdings" pitchFamily="2" charset="2"/>
              </a:rPr>
              <a:t>c</a:t>
            </a:r>
            <a:r>
              <a:rPr lang="en-US" altLang="zh-CN" sz="2000" dirty="0">
                <a:latin typeface="+mj-lt"/>
                <a:sym typeface="Wingdings" pitchFamily="2" charset="2"/>
              </a:rPr>
              <a:t>B </a:t>
            </a:r>
            <a:r>
              <a:rPr lang="en-GB" altLang="zh-CN" sz="2000" dirty="0">
                <a:latin typeface="+mj-lt"/>
                <a:sym typeface="Wingdings" pitchFamily="2" charset="2"/>
              </a:rPr>
              <a:t>| d</a:t>
            </a:r>
          </a:p>
        </p:txBody>
      </p:sp>
      <p:sp>
        <p:nvSpPr>
          <p:cNvPr id="108" name="矩形 107"/>
          <p:cNvSpPr/>
          <p:nvPr/>
        </p:nvSpPr>
        <p:spPr>
          <a:xfrm>
            <a:off x="144779" y="237802"/>
            <a:ext cx="4443845" cy="430887"/>
          </a:xfrm>
          <a:prstGeom prst="rect">
            <a:avLst/>
          </a:prstGeom>
        </p:spPr>
        <p:txBody>
          <a:bodyPr wrap="none">
            <a:spAutoFit/>
          </a:bodyPr>
          <a:lstStyle/>
          <a:p>
            <a:r>
              <a:rPr lang="zh-CN" altLang="en-US" sz="2200" b="1" dirty="0">
                <a:solidFill>
                  <a:schemeClr val="tx2"/>
                </a:solidFill>
                <a:latin typeface="楷体_GB2312" pitchFamily="49" charset="-122"/>
                <a:ea typeface="楷体_GB2312" pitchFamily="49" charset="-122"/>
              </a:rPr>
              <a:t>例 求下面文法的</a:t>
            </a:r>
            <a:r>
              <a:rPr lang="en-US" altLang="zh-CN" sz="2200" b="1" dirty="0">
                <a:solidFill>
                  <a:schemeClr val="tx2"/>
                </a:solidFill>
                <a:latin typeface="楷体_GB2312" pitchFamily="49" charset="-122"/>
                <a:ea typeface="楷体_GB2312" pitchFamily="49" charset="-122"/>
              </a:rPr>
              <a:t>LR0</a:t>
            </a:r>
            <a:r>
              <a:rPr lang="zh-CN" altLang="en-US" sz="2200" b="1" dirty="0">
                <a:solidFill>
                  <a:schemeClr val="tx2"/>
                </a:solidFill>
                <a:latin typeface="楷体_GB2312" pitchFamily="49" charset="-122"/>
                <a:ea typeface="楷体_GB2312" pitchFamily="49" charset="-122"/>
              </a:rPr>
              <a:t>项目集规范族</a:t>
            </a:r>
            <a:endParaRPr lang="zh-CN" altLang="en-US" sz="2200" dirty="0"/>
          </a:p>
        </p:txBody>
      </p:sp>
      <p:sp>
        <p:nvSpPr>
          <p:cNvPr id="109" name="矩形 108"/>
          <p:cNvSpPr/>
          <p:nvPr/>
        </p:nvSpPr>
        <p:spPr>
          <a:xfrm>
            <a:off x="223422" y="1562679"/>
            <a:ext cx="4222501" cy="1096454"/>
          </a:xfrm>
          <a:prstGeom prst="rect">
            <a:avLst/>
          </a:prstGeom>
        </p:spPr>
        <p:txBody>
          <a:bodyPr wrap="square">
            <a:spAutoFit/>
          </a:bodyPr>
          <a:lstStyle/>
          <a:p>
            <a:pPr>
              <a:lnSpc>
                <a:spcPct val="90000"/>
              </a:lnSpc>
              <a:spcBef>
                <a:spcPct val="0"/>
              </a:spcBef>
              <a:buFontTx/>
              <a:buNone/>
            </a:pPr>
            <a:r>
              <a:rPr lang="zh-CN" altLang="en-US" dirty="0">
                <a:solidFill>
                  <a:srgbClr val="FF0000"/>
                </a:solidFill>
              </a:rPr>
              <a:t>第</a:t>
            </a:r>
            <a:r>
              <a:rPr lang="en-US" altLang="zh-CN" dirty="0">
                <a:solidFill>
                  <a:srgbClr val="FF0000"/>
                </a:solidFill>
              </a:rPr>
              <a:t>1</a:t>
            </a:r>
            <a:r>
              <a:rPr lang="zh-CN" altLang="en-US" dirty="0">
                <a:solidFill>
                  <a:srgbClr val="FF0000"/>
                </a:solidFill>
              </a:rPr>
              <a:t>步</a:t>
            </a:r>
            <a:r>
              <a:rPr lang="zh-CN" altLang="en-US" dirty="0"/>
              <a:t>：拓广文法：</a:t>
            </a:r>
            <a:endParaRPr lang="en-US" altLang="zh-CN" dirty="0"/>
          </a:p>
          <a:p>
            <a:pPr>
              <a:lnSpc>
                <a:spcPct val="90000"/>
              </a:lnSpc>
              <a:spcBef>
                <a:spcPct val="0"/>
              </a:spcBef>
            </a:pPr>
            <a:r>
              <a:rPr lang="en-US" altLang="zh-CN" b="1" dirty="0">
                <a:solidFill>
                  <a:schemeClr val="accent2"/>
                </a:solidFill>
                <a:ea typeface="华文行楷" pitchFamily="2" charset="-122"/>
              </a:rPr>
              <a:t>(0) S' </a:t>
            </a:r>
            <a:r>
              <a:rPr lang="en-US" altLang="zh-CN" b="1" dirty="0">
                <a:solidFill>
                  <a:schemeClr val="accent2"/>
                </a:solidFill>
                <a:ea typeface="华文行楷" pitchFamily="2" charset="-122"/>
                <a:sym typeface="Symbol" pitchFamily="18" charset="2"/>
              </a:rPr>
              <a:t>E    </a:t>
            </a:r>
            <a:r>
              <a:rPr lang="en-US" altLang="zh-CN" b="1" dirty="0">
                <a:solidFill>
                  <a:schemeClr val="accent2"/>
                </a:solidFill>
                <a:ea typeface="华文行楷" pitchFamily="2" charset="-122"/>
              </a:rPr>
              <a:t>(1) E </a:t>
            </a:r>
            <a:r>
              <a:rPr lang="en-US" altLang="zh-CN" b="1" dirty="0">
                <a:solidFill>
                  <a:schemeClr val="accent2"/>
                </a:solidFill>
                <a:ea typeface="华文行楷" pitchFamily="2" charset="-122"/>
                <a:sym typeface="Symbol" pitchFamily="18" charset="2"/>
              </a:rPr>
              <a:t></a:t>
            </a:r>
            <a:r>
              <a:rPr lang="en-US" altLang="zh-CN" b="1" dirty="0" err="1">
                <a:solidFill>
                  <a:schemeClr val="accent2"/>
                </a:solidFill>
                <a:ea typeface="华文行楷" pitchFamily="2" charset="-122"/>
                <a:sym typeface="Symbol" pitchFamily="18" charset="2"/>
              </a:rPr>
              <a:t>a</a:t>
            </a:r>
            <a:r>
              <a:rPr lang="en-US" altLang="zh-CN" b="1" dirty="0" err="1">
                <a:solidFill>
                  <a:schemeClr val="accent2"/>
                </a:solidFill>
                <a:ea typeface="华文行楷" pitchFamily="2" charset="-122"/>
              </a:rPr>
              <a:t>A</a:t>
            </a:r>
            <a:r>
              <a:rPr lang="en-US" altLang="zh-CN" b="1" dirty="0">
                <a:solidFill>
                  <a:schemeClr val="accent2"/>
                </a:solidFill>
                <a:ea typeface="华文行楷" pitchFamily="2" charset="-122"/>
              </a:rPr>
              <a:t>   (2) E </a:t>
            </a:r>
            <a:r>
              <a:rPr lang="en-US" altLang="zh-CN" b="1" dirty="0">
                <a:solidFill>
                  <a:schemeClr val="accent2"/>
                </a:solidFill>
                <a:ea typeface="华文行楷" pitchFamily="2" charset="-122"/>
                <a:sym typeface="Symbol" pitchFamily="18" charset="2"/>
              </a:rPr>
              <a:t></a:t>
            </a:r>
            <a:r>
              <a:rPr lang="en-US" altLang="zh-CN" b="1" dirty="0" err="1">
                <a:solidFill>
                  <a:schemeClr val="accent2"/>
                </a:solidFill>
                <a:ea typeface="华文行楷" pitchFamily="2" charset="-122"/>
                <a:sym typeface="Symbol" pitchFamily="18" charset="2"/>
              </a:rPr>
              <a:t>b</a:t>
            </a:r>
            <a:r>
              <a:rPr lang="en-US" altLang="zh-CN" b="1" dirty="0" err="1">
                <a:solidFill>
                  <a:schemeClr val="accent2"/>
                </a:solidFill>
                <a:ea typeface="华文行楷" pitchFamily="2" charset="-122"/>
              </a:rPr>
              <a:t>B</a:t>
            </a:r>
            <a:r>
              <a:rPr lang="en-US" altLang="zh-CN" b="1" dirty="0">
                <a:solidFill>
                  <a:schemeClr val="accent2"/>
                </a:solidFill>
                <a:ea typeface="华文行楷" pitchFamily="2" charset="-122"/>
              </a:rPr>
              <a:t>   </a:t>
            </a:r>
          </a:p>
          <a:p>
            <a:pPr>
              <a:lnSpc>
                <a:spcPct val="90000"/>
              </a:lnSpc>
              <a:spcBef>
                <a:spcPct val="0"/>
              </a:spcBef>
            </a:pPr>
            <a:r>
              <a:rPr lang="en-US" altLang="zh-CN" b="1" dirty="0">
                <a:solidFill>
                  <a:schemeClr val="accent2"/>
                </a:solidFill>
                <a:ea typeface="华文行楷" pitchFamily="2" charset="-122"/>
              </a:rPr>
              <a:t>(3) A </a:t>
            </a:r>
            <a:r>
              <a:rPr lang="en-US" altLang="zh-CN" b="1" dirty="0">
                <a:solidFill>
                  <a:schemeClr val="accent2"/>
                </a:solidFill>
                <a:ea typeface="华文行楷" pitchFamily="2" charset="-122"/>
                <a:sym typeface="Symbol" pitchFamily="18" charset="2"/>
              </a:rPr>
              <a:t></a:t>
            </a:r>
            <a:r>
              <a:rPr lang="en-US" altLang="zh-CN" b="1" dirty="0" err="1">
                <a:solidFill>
                  <a:schemeClr val="accent2"/>
                </a:solidFill>
                <a:ea typeface="华文行楷" pitchFamily="2" charset="-122"/>
              </a:rPr>
              <a:t>cA</a:t>
            </a:r>
            <a:r>
              <a:rPr lang="en-US" altLang="zh-CN" b="1" dirty="0">
                <a:solidFill>
                  <a:schemeClr val="accent2"/>
                </a:solidFill>
                <a:ea typeface="华文行楷" pitchFamily="2" charset="-122"/>
              </a:rPr>
              <a:t>  (4) A </a:t>
            </a:r>
            <a:r>
              <a:rPr lang="en-US" altLang="zh-CN" b="1" dirty="0">
                <a:solidFill>
                  <a:schemeClr val="accent2"/>
                </a:solidFill>
                <a:ea typeface="华文行楷" pitchFamily="2" charset="-122"/>
                <a:sym typeface="Symbol" pitchFamily="18" charset="2"/>
              </a:rPr>
              <a:t></a:t>
            </a:r>
            <a:r>
              <a:rPr lang="en-US" altLang="zh-CN" b="1" dirty="0">
                <a:solidFill>
                  <a:schemeClr val="accent2"/>
                </a:solidFill>
                <a:ea typeface="华文行楷" pitchFamily="2" charset="-122"/>
              </a:rPr>
              <a:t>d    (5) B </a:t>
            </a:r>
            <a:r>
              <a:rPr lang="en-US" altLang="zh-CN" b="1" dirty="0">
                <a:solidFill>
                  <a:schemeClr val="accent2"/>
                </a:solidFill>
                <a:ea typeface="华文行楷" pitchFamily="2" charset="-122"/>
                <a:sym typeface="Symbol" pitchFamily="18" charset="2"/>
              </a:rPr>
              <a:t></a:t>
            </a:r>
            <a:r>
              <a:rPr lang="en-US" altLang="zh-CN" b="1" dirty="0" err="1">
                <a:solidFill>
                  <a:schemeClr val="accent2"/>
                </a:solidFill>
                <a:ea typeface="华文行楷" pitchFamily="2" charset="-122"/>
              </a:rPr>
              <a:t>cB</a:t>
            </a:r>
            <a:r>
              <a:rPr lang="en-US" altLang="zh-CN" b="1" dirty="0">
                <a:solidFill>
                  <a:schemeClr val="accent2"/>
                </a:solidFill>
                <a:ea typeface="华文行楷" pitchFamily="2" charset="-122"/>
              </a:rPr>
              <a:t>      </a:t>
            </a:r>
          </a:p>
          <a:p>
            <a:pPr>
              <a:lnSpc>
                <a:spcPct val="90000"/>
              </a:lnSpc>
              <a:spcBef>
                <a:spcPct val="0"/>
              </a:spcBef>
            </a:pPr>
            <a:r>
              <a:rPr lang="en-US" altLang="zh-CN" b="1" dirty="0">
                <a:solidFill>
                  <a:schemeClr val="accent2"/>
                </a:solidFill>
                <a:ea typeface="华文行楷" pitchFamily="2" charset="-122"/>
              </a:rPr>
              <a:t>(6) B </a:t>
            </a:r>
            <a:r>
              <a:rPr lang="en-US" altLang="zh-CN" b="1" dirty="0">
                <a:solidFill>
                  <a:schemeClr val="accent2"/>
                </a:solidFill>
                <a:ea typeface="华文行楷" pitchFamily="2" charset="-122"/>
                <a:sym typeface="Symbol" pitchFamily="18" charset="2"/>
              </a:rPr>
              <a:t></a:t>
            </a:r>
            <a:r>
              <a:rPr lang="en-US" altLang="zh-CN" b="1" dirty="0">
                <a:solidFill>
                  <a:schemeClr val="accent2"/>
                </a:solidFill>
                <a:ea typeface="华文行楷" pitchFamily="2" charset="-122"/>
              </a:rPr>
              <a:t>d</a:t>
            </a:r>
            <a:endParaRPr lang="en-GB" altLang="zh-CN" dirty="0">
              <a:sym typeface="Wingdings" pitchFamily="2" charset="2"/>
            </a:endParaRPr>
          </a:p>
        </p:txBody>
      </p:sp>
      <p:sp>
        <p:nvSpPr>
          <p:cNvPr id="111" name="矩形 110"/>
          <p:cNvSpPr/>
          <p:nvPr/>
        </p:nvSpPr>
        <p:spPr>
          <a:xfrm>
            <a:off x="195128" y="2705571"/>
            <a:ext cx="2638864" cy="341632"/>
          </a:xfrm>
          <a:prstGeom prst="rect">
            <a:avLst/>
          </a:prstGeom>
        </p:spPr>
        <p:txBody>
          <a:bodyPr wrap="none">
            <a:spAutoFit/>
          </a:bodyPr>
          <a:lstStyle/>
          <a:p>
            <a:pPr>
              <a:lnSpc>
                <a:spcPct val="90000"/>
              </a:lnSpc>
              <a:spcBef>
                <a:spcPct val="0"/>
              </a:spcBef>
              <a:buFontTx/>
              <a:buNone/>
            </a:pPr>
            <a:r>
              <a:rPr lang="zh-CN" altLang="en-US" dirty="0">
                <a:solidFill>
                  <a:srgbClr val="FF0000"/>
                </a:solidFill>
              </a:rPr>
              <a:t>第</a:t>
            </a:r>
            <a:r>
              <a:rPr lang="en-US" altLang="zh-CN" dirty="0">
                <a:solidFill>
                  <a:srgbClr val="FF0000"/>
                </a:solidFill>
              </a:rPr>
              <a:t>2</a:t>
            </a:r>
            <a:r>
              <a:rPr lang="zh-CN" altLang="en-US" dirty="0">
                <a:solidFill>
                  <a:srgbClr val="FF0000"/>
                </a:solidFill>
              </a:rPr>
              <a:t>步：</a:t>
            </a:r>
            <a:r>
              <a:rPr lang="zh-CN" altLang="en-US" dirty="0"/>
              <a:t>写出所有的状态</a:t>
            </a:r>
            <a:endParaRPr lang="en-GB" altLang="zh-CN" dirty="0">
              <a:sym typeface="Wingdings" pitchFamily="2" charset="2"/>
            </a:endParaRPr>
          </a:p>
        </p:txBody>
      </p:sp>
      <p:sp>
        <p:nvSpPr>
          <p:cNvPr id="112" name="Text Box 74"/>
          <p:cNvSpPr txBox="1">
            <a:spLocks noChangeArrowheads="1"/>
          </p:cNvSpPr>
          <p:nvPr/>
        </p:nvSpPr>
        <p:spPr bwMode="auto">
          <a:xfrm>
            <a:off x="3261482" y="651391"/>
            <a:ext cx="177519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1800" dirty="0">
                <a:solidFill>
                  <a:srgbClr val="FF5050"/>
                </a:solidFill>
                <a:latin typeface="+mn-ea"/>
                <a:ea typeface="+mn-ea"/>
              </a:rPr>
              <a:t>第</a:t>
            </a:r>
            <a:r>
              <a:rPr lang="en-US" altLang="zh-CN" sz="1800" dirty="0">
                <a:solidFill>
                  <a:srgbClr val="FF5050"/>
                </a:solidFill>
                <a:latin typeface="+mn-ea"/>
                <a:ea typeface="+mn-ea"/>
              </a:rPr>
              <a:t>3</a:t>
            </a:r>
            <a:r>
              <a:rPr lang="zh-CN" altLang="en-US" sz="1800" dirty="0">
                <a:solidFill>
                  <a:srgbClr val="FF5050"/>
                </a:solidFill>
                <a:latin typeface="+mn-ea"/>
                <a:ea typeface="+mn-ea"/>
              </a:rPr>
              <a:t>步</a:t>
            </a:r>
            <a:r>
              <a:rPr lang="zh-CN" altLang="en-US" sz="1800" dirty="0">
                <a:latin typeface="+mn-ea"/>
                <a:ea typeface="+mn-ea"/>
              </a:rPr>
              <a:t>：从</a:t>
            </a:r>
            <a:r>
              <a:rPr lang="en-US" altLang="zh-CN" sz="1800" dirty="0">
                <a:latin typeface="+mn-ea"/>
                <a:ea typeface="+mn-ea"/>
              </a:rPr>
              <a:t>S'</a:t>
            </a:r>
            <a:r>
              <a:rPr lang="en-US" altLang="zh-CN" sz="1800" dirty="0">
                <a:latin typeface="+mn-ea"/>
                <a:ea typeface="+mn-ea"/>
                <a:sym typeface="Symbol" pitchFamily="18" charset="2"/>
              </a:rPr>
              <a:t></a:t>
            </a:r>
            <a:r>
              <a:rPr lang="en-US" altLang="zh-CN" sz="1800" dirty="0">
                <a:solidFill>
                  <a:schemeClr val="accent2"/>
                </a:solidFill>
                <a:latin typeface="+mn-ea"/>
                <a:ea typeface="+mn-ea"/>
                <a:sym typeface="Symbol" pitchFamily="18" charset="2"/>
              </a:rPr>
              <a:t>·</a:t>
            </a:r>
            <a:r>
              <a:rPr lang="en-US" altLang="zh-CN" sz="1800" dirty="0">
                <a:latin typeface="+mn-ea"/>
                <a:ea typeface="+mn-ea"/>
                <a:sym typeface="Symbol" pitchFamily="18" charset="2"/>
              </a:rPr>
              <a:t>E</a:t>
            </a:r>
            <a:r>
              <a:rPr lang="zh-CN" altLang="en-US" sz="1800" dirty="0">
                <a:latin typeface="+mn-ea"/>
                <a:ea typeface="+mn-ea"/>
                <a:sym typeface="Symbol" pitchFamily="18" charset="2"/>
              </a:rPr>
              <a:t>开始</a:t>
            </a:r>
            <a:r>
              <a:rPr lang="zh-CN" altLang="en-US" sz="1800" dirty="0">
                <a:latin typeface="+mn-ea"/>
                <a:ea typeface="+mn-ea"/>
              </a:rPr>
              <a:t>求项目集规范族</a:t>
            </a:r>
          </a:p>
        </p:txBody>
      </p:sp>
      <p:graphicFrame>
        <p:nvGraphicFramePr>
          <p:cNvPr id="12" name="对象 11">
            <a:extLst>
              <a:ext uri="{FF2B5EF4-FFF2-40B4-BE49-F238E27FC236}">
                <a16:creationId xmlns:a16="http://schemas.microsoft.com/office/drawing/2014/main" id="{812D743C-FAE0-77AC-8A6A-E67F6A901D8B}"/>
              </a:ext>
            </a:extLst>
          </p:cNvPr>
          <p:cNvGraphicFramePr>
            <a:graphicFrameLocks noChangeAspect="1"/>
          </p:cNvGraphicFramePr>
          <p:nvPr>
            <p:extLst>
              <p:ext uri="{D42A27DB-BD31-4B8C-83A1-F6EECF244321}">
                <p14:modId xmlns:p14="http://schemas.microsoft.com/office/powerpoint/2010/main" val="3021341694"/>
              </p:ext>
            </p:extLst>
          </p:nvPr>
        </p:nvGraphicFramePr>
        <p:xfrm>
          <a:off x="4132974" y="133139"/>
          <a:ext cx="5011025" cy="5001900"/>
        </p:xfrm>
        <a:graphic>
          <a:graphicData uri="http://schemas.openxmlformats.org/presentationml/2006/ole">
            <mc:AlternateContent xmlns:mc="http://schemas.openxmlformats.org/markup-compatibility/2006">
              <mc:Choice xmlns:v="urn:schemas-microsoft-com:vml" Requires="v">
                <p:oleObj spid="_x0000_s53255" name="Visio" r:id="rId3" imgW="3124085" imgH="3333727" progId="Visio.Drawing.15">
                  <p:embed/>
                </p:oleObj>
              </mc:Choice>
              <mc:Fallback>
                <p:oleObj name="Visio" r:id="rId3" imgW="3124085" imgH="3333727" progId="Visio.Drawing.15">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2974" y="133139"/>
                        <a:ext cx="5011025" cy="5001900"/>
                      </a:xfrm>
                      <a:prstGeom prst="rect">
                        <a:avLst/>
                      </a:prstGeom>
                      <a:solidFill>
                        <a:schemeClr val="bg1"/>
                      </a:solidFill>
                    </p:spPr>
                  </p:pic>
                </p:oleObj>
              </mc:Fallback>
            </mc:AlternateContent>
          </a:graphicData>
        </a:graphic>
      </p:graphicFrame>
    </p:spTree>
    <p:extLst>
      <p:ext uri="{BB962C8B-B14F-4D97-AF65-F5344CB8AC3E}">
        <p14:creationId xmlns:p14="http://schemas.microsoft.com/office/powerpoint/2010/main" val="3940280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1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500"/>
                                  </p:stCondLst>
                                  <p:childTnLst>
                                    <p:set>
                                      <p:cBhvr>
                                        <p:cTn id="29" dur="1" fill="hold">
                                          <p:stCondLst>
                                            <p:cond delay="0"/>
                                          </p:stCondLst>
                                        </p:cTn>
                                        <p:tgtEl>
                                          <p:spTgt spid="21"/>
                                        </p:tgtEl>
                                        <p:attrNameLst>
                                          <p:attrName>style.visibility</p:attrName>
                                        </p:attrNameLst>
                                      </p:cBhvr>
                                      <p:to>
                                        <p:strVal val="visible"/>
                                      </p:to>
                                    </p:set>
                                    <p:animEffect transition="in" filter="wipe(left)">
                                      <p:cBhvr>
                                        <p:cTn id="30" dur="1000"/>
                                        <p:tgtEl>
                                          <p:spTgt spid="21"/>
                                        </p:tgtEl>
                                      </p:cBhvr>
                                    </p:animEffect>
                                  </p:childTnLst>
                                </p:cTn>
                              </p:par>
                            </p:childTnLst>
                          </p:cTn>
                        </p:par>
                        <p:par>
                          <p:cTn id="31" fill="hold">
                            <p:stCondLst>
                              <p:cond delay="1500"/>
                            </p:stCondLst>
                            <p:childTnLst>
                              <p:par>
                                <p:cTn id="32" presetID="1" presetClass="entr" presetSubtype="0" fill="hold" grpId="0" nodeType="afterEffect">
                                  <p:stCondLst>
                                    <p:cond delay="0"/>
                                  </p:stCondLst>
                                  <p:childTnLst>
                                    <p:set>
                                      <p:cBhvr>
                                        <p:cTn id="33" dur="1" fill="hold">
                                          <p:stCondLst>
                                            <p:cond delay="0"/>
                                          </p:stCondLst>
                                        </p:cTn>
                                        <p:tgtEl>
                                          <p:spTgt spid="24"/>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wipe(left)">
                                      <p:cBhvr>
                                        <p:cTn id="38" dur="1000"/>
                                        <p:tgtEl>
                                          <p:spTgt spid="19"/>
                                        </p:tgtEl>
                                      </p:cBhvr>
                                    </p:animEffect>
                                  </p:childTnLst>
                                </p:cTn>
                              </p:par>
                            </p:childTnLst>
                          </p:cTn>
                        </p:par>
                        <p:par>
                          <p:cTn id="39" fill="hold">
                            <p:stCondLst>
                              <p:cond delay="1000"/>
                            </p:stCondLst>
                            <p:childTnLst>
                              <p:par>
                                <p:cTn id="40" presetID="1" presetClass="entr" presetSubtype="0" fill="hold" grpId="0" nodeType="afterEffect">
                                  <p:stCondLst>
                                    <p:cond delay="0"/>
                                  </p:stCondLst>
                                  <p:childTnLst>
                                    <p:set>
                                      <p:cBhvr>
                                        <p:cTn id="41" dur="1" fill="hold">
                                          <p:stCondLst>
                                            <p:cond delay="0"/>
                                          </p:stCondLst>
                                        </p:cTn>
                                        <p:tgtEl>
                                          <p:spTgt spid="25"/>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wipe(left)">
                                      <p:cBhvr>
                                        <p:cTn id="50" dur="500"/>
                                        <p:tgtEl>
                                          <p:spTgt spid="20"/>
                                        </p:tgtEl>
                                      </p:cBhvr>
                                    </p:animEffect>
                                  </p:childTnLst>
                                </p:cTn>
                              </p:par>
                            </p:childTnLst>
                          </p:cTn>
                        </p:par>
                        <p:par>
                          <p:cTn id="51" fill="hold">
                            <p:stCondLst>
                              <p:cond delay="500"/>
                            </p:stCondLst>
                            <p:childTnLst>
                              <p:par>
                                <p:cTn id="52" presetID="1" presetClass="entr" presetSubtype="0" fill="hold" grpId="0" nodeType="afterEffect">
                                  <p:stCondLst>
                                    <p:cond delay="0"/>
                                  </p:stCondLst>
                                  <p:childTnLst>
                                    <p:set>
                                      <p:cBhvr>
                                        <p:cTn id="53" dur="1" fill="hold">
                                          <p:stCondLst>
                                            <p:cond delay="0"/>
                                          </p:stCondLst>
                                        </p:cTn>
                                        <p:tgtEl>
                                          <p:spTgt spid="2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8"/>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500"/>
                                  </p:stCondLst>
                                  <p:childTnLst>
                                    <p:set>
                                      <p:cBhvr>
                                        <p:cTn id="61" dur="1" fill="hold">
                                          <p:stCondLst>
                                            <p:cond delay="0"/>
                                          </p:stCondLst>
                                        </p:cTn>
                                        <p:tgtEl>
                                          <p:spTgt spid="49"/>
                                        </p:tgtEl>
                                        <p:attrNameLst>
                                          <p:attrName>style.visibility</p:attrName>
                                        </p:attrNameLst>
                                      </p:cBhvr>
                                      <p:to>
                                        <p:strVal val="visible"/>
                                      </p:to>
                                    </p:set>
                                    <p:animEffect transition="in" filter="wipe(left)">
                                      <p:cBhvr>
                                        <p:cTn id="62" dur="1000"/>
                                        <p:tgtEl>
                                          <p:spTgt spid="49"/>
                                        </p:tgtEl>
                                      </p:cBhvr>
                                    </p:animEffect>
                                  </p:childTnLst>
                                </p:cTn>
                              </p:par>
                            </p:childTnLst>
                          </p:cTn>
                        </p:par>
                        <p:par>
                          <p:cTn id="63" fill="hold">
                            <p:stCondLst>
                              <p:cond delay="1500"/>
                            </p:stCondLst>
                            <p:childTnLst>
                              <p:par>
                                <p:cTn id="64" presetID="1" presetClass="entr" presetSubtype="0" fill="hold" grpId="0" nodeType="afterEffect">
                                  <p:stCondLst>
                                    <p:cond delay="0"/>
                                  </p:stCondLst>
                                  <p:childTnLst>
                                    <p:set>
                                      <p:cBhvr>
                                        <p:cTn id="65" dur="1" fill="hold">
                                          <p:stCondLst>
                                            <p:cond delay="0"/>
                                          </p:stCondLst>
                                        </p:cTn>
                                        <p:tgtEl>
                                          <p:spTgt spid="52"/>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34"/>
                                        </p:tgtEl>
                                        <p:attrNameLst>
                                          <p:attrName>style.visibility</p:attrName>
                                        </p:attrNameLst>
                                      </p:cBhvr>
                                      <p:to>
                                        <p:strVal val="visible"/>
                                      </p:to>
                                    </p:set>
                                    <p:animEffect transition="in" filter="wipe(left)">
                                      <p:cBhvr>
                                        <p:cTn id="70" dur="1000"/>
                                        <p:tgtEl>
                                          <p:spTgt spid="34"/>
                                        </p:tgtEl>
                                      </p:cBhvr>
                                    </p:animEffect>
                                  </p:childTnLst>
                                </p:cTn>
                              </p:par>
                            </p:childTnLst>
                          </p:cTn>
                        </p:par>
                        <p:par>
                          <p:cTn id="71" fill="hold">
                            <p:stCondLst>
                              <p:cond delay="1000"/>
                            </p:stCondLst>
                            <p:childTnLst>
                              <p:par>
                                <p:cTn id="72" presetID="1" presetClass="entr" presetSubtype="0" fill="hold" grpId="0" nodeType="afterEffect">
                                  <p:stCondLst>
                                    <p:cond delay="0"/>
                                  </p:stCondLst>
                                  <p:childTnLst>
                                    <p:set>
                                      <p:cBhvr>
                                        <p:cTn id="73" dur="1" fill="hold">
                                          <p:stCondLst>
                                            <p:cond delay="0"/>
                                          </p:stCondLst>
                                        </p:cTn>
                                        <p:tgtEl>
                                          <p:spTgt spid="42"/>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7"/>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500"/>
                                  </p:stCondLst>
                                  <p:childTnLst>
                                    <p:set>
                                      <p:cBhvr>
                                        <p:cTn id="81" dur="1" fill="hold">
                                          <p:stCondLst>
                                            <p:cond delay="0"/>
                                          </p:stCondLst>
                                        </p:cTn>
                                        <p:tgtEl>
                                          <p:spTgt spid="38"/>
                                        </p:tgtEl>
                                        <p:attrNameLst>
                                          <p:attrName>style.visibility</p:attrName>
                                        </p:attrNameLst>
                                      </p:cBhvr>
                                      <p:to>
                                        <p:strVal val="visible"/>
                                      </p:to>
                                    </p:set>
                                    <p:animEffect transition="in" filter="wipe(left)">
                                      <p:cBhvr>
                                        <p:cTn id="82" dur="1000"/>
                                        <p:tgtEl>
                                          <p:spTgt spid="38"/>
                                        </p:tgtEl>
                                      </p:cBhvr>
                                    </p:animEffect>
                                  </p:childTnLst>
                                </p:cTn>
                              </p:par>
                            </p:childTnLst>
                          </p:cTn>
                        </p:par>
                        <p:par>
                          <p:cTn id="83" fill="hold">
                            <p:stCondLst>
                              <p:cond delay="1500"/>
                            </p:stCondLst>
                            <p:childTnLst>
                              <p:par>
                                <p:cTn id="84" presetID="1" presetClass="entr" presetSubtype="0" fill="hold" grpId="0" nodeType="afterEffect">
                                  <p:stCondLst>
                                    <p:cond delay="0"/>
                                  </p:stCondLst>
                                  <p:childTnLst>
                                    <p:set>
                                      <p:cBhvr>
                                        <p:cTn id="85" dur="1" fill="hold">
                                          <p:stCondLst>
                                            <p:cond delay="0"/>
                                          </p:stCondLst>
                                        </p:cTn>
                                        <p:tgtEl>
                                          <p:spTgt spid="41"/>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1" presetClass="entr" presetSubtype="0" fill="hold" nodeType="clickEffect">
                                  <p:stCondLst>
                                    <p:cond delay="0"/>
                                  </p:stCondLst>
                                  <p:childTnLst>
                                    <p:set>
                                      <p:cBhvr>
                                        <p:cTn id="89" dur="1" fill="hold">
                                          <p:stCondLst>
                                            <p:cond delay="0"/>
                                          </p:stCondLst>
                                        </p:cTn>
                                        <p:tgtEl>
                                          <p:spTgt spid="106"/>
                                        </p:tgtEl>
                                        <p:attrNameLst>
                                          <p:attrName>style.visibility</p:attrName>
                                        </p:attrNameLst>
                                      </p:cBhvr>
                                      <p:to>
                                        <p:strVal val="visible"/>
                                      </p:to>
                                    </p:set>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nodeType="clickEffect">
                                  <p:stCondLst>
                                    <p:cond delay="0"/>
                                  </p:stCondLst>
                                  <p:childTnLst>
                                    <p:set>
                                      <p:cBhvr>
                                        <p:cTn id="93" dur="1" fill="hold">
                                          <p:stCondLst>
                                            <p:cond delay="0"/>
                                          </p:stCondLst>
                                        </p:cTn>
                                        <p:tgtEl>
                                          <p:spTgt spid="104"/>
                                        </p:tgtEl>
                                        <p:attrNameLst>
                                          <p:attrName>style.visibility</p:attrName>
                                        </p:attrNameLst>
                                      </p:cBhvr>
                                      <p:to>
                                        <p:strVal val="visible"/>
                                      </p:to>
                                    </p:set>
                                  </p:childTnLst>
                                </p:cTn>
                              </p:par>
                            </p:childTnLst>
                          </p:cTn>
                        </p:par>
                        <p:par>
                          <p:cTn id="94" fill="hold">
                            <p:stCondLst>
                              <p:cond delay="0"/>
                            </p:stCondLst>
                            <p:childTnLst>
                              <p:par>
                                <p:cTn id="95" presetID="1" presetClass="entr" presetSubtype="0" fill="hold" grpId="0" nodeType="afterEffect">
                                  <p:stCondLst>
                                    <p:cond delay="0"/>
                                  </p:stCondLst>
                                  <p:childTnLst>
                                    <p:set>
                                      <p:cBhvr>
                                        <p:cTn id="96" dur="1" fill="hold">
                                          <p:stCondLst>
                                            <p:cond delay="0"/>
                                          </p:stCondLst>
                                        </p:cTn>
                                        <p:tgtEl>
                                          <p:spTgt spid="105"/>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nodeType="clickEffect">
                                  <p:stCondLst>
                                    <p:cond delay="0"/>
                                  </p:stCondLst>
                                  <p:childTnLst>
                                    <p:set>
                                      <p:cBhvr>
                                        <p:cTn id="10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P spid="6" grpId="0"/>
      <p:bldP spid="8" grpId="0"/>
      <p:bldP spid="24" grpId="0"/>
      <p:bldP spid="25" grpId="0"/>
      <p:bldP spid="26" grpId="0"/>
      <p:bldP spid="37" grpId="0"/>
      <p:bldP spid="41" grpId="0"/>
      <p:bldP spid="42" grpId="0"/>
      <p:bldP spid="52" grpId="0"/>
      <p:bldP spid="105" grpId="0"/>
      <p:bldP spid="109" grpId="0"/>
      <p:bldP spid="111" grpId="0"/>
      <p:bldP spid="112"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Text Box 74"/>
          <p:cNvSpPr txBox="1">
            <a:spLocks noChangeArrowheads="1"/>
          </p:cNvSpPr>
          <p:nvPr/>
        </p:nvSpPr>
        <p:spPr bwMode="auto">
          <a:xfrm>
            <a:off x="171450" y="195486"/>
            <a:ext cx="33782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b="1" i="1" dirty="0">
                <a:ea typeface="华文行楷" pitchFamily="2" charset="-122"/>
              </a:rPr>
              <a:t>计算方法</a:t>
            </a:r>
          </a:p>
        </p:txBody>
      </p:sp>
      <p:sp>
        <p:nvSpPr>
          <p:cNvPr id="145483" name="Text Box 75"/>
          <p:cNvSpPr txBox="1">
            <a:spLocks noChangeArrowheads="1"/>
          </p:cNvSpPr>
          <p:nvPr/>
        </p:nvSpPr>
        <p:spPr bwMode="auto">
          <a:xfrm>
            <a:off x="172070" y="771550"/>
            <a:ext cx="3635375"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ea typeface="华文行楷" pitchFamily="2" charset="-122"/>
              </a:rPr>
              <a:t>由 </a:t>
            </a:r>
            <a:r>
              <a:rPr lang="en-US" altLang="zh-CN" sz="2200" dirty="0">
                <a:solidFill>
                  <a:schemeClr val="accent2"/>
                </a:solidFill>
                <a:ea typeface="华文行楷" pitchFamily="2" charset="-122"/>
              </a:rPr>
              <a:t>S</a:t>
            </a:r>
            <a:r>
              <a:rPr lang="en-US" altLang="zh-CN" sz="2200" baseline="-25000" dirty="0">
                <a:solidFill>
                  <a:schemeClr val="accent2"/>
                </a:solidFill>
                <a:ea typeface="华文行楷" pitchFamily="2" charset="-122"/>
              </a:rPr>
              <a:t>0</a:t>
            </a:r>
            <a:r>
              <a:rPr lang="en-US" altLang="zh-CN" sz="2200" dirty="0">
                <a:solidFill>
                  <a:schemeClr val="accent2"/>
                </a:solidFill>
                <a:ea typeface="华文行楷" pitchFamily="2" charset="-122"/>
              </a:rPr>
              <a:t> = {</a:t>
            </a:r>
            <a:r>
              <a:rPr lang="en-US" altLang="zh-CN" sz="2200" b="1" i="1" dirty="0">
                <a:solidFill>
                  <a:schemeClr val="accent2"/>
                </a:solidFill>
                <a:ea typeface="华文行楷" pitchFamily="2" charset="-122"/>
              </a:rPr>
              <a:t>S</a:t>
            </a:r>
            <a:r>
              <a:rPr lang="en-US" altLang="zh-CN" sz="2200" b="1" dirty="0">
                <a:solidFill>
                  <a:schemeClr val="accent2"/>
                </a:solidFill>
                <a:ea typeface="华文行楷" pitchFamily="2" charset="-122"/>
              </a:rPr>
              <a:t>'</a:t>
            </a:r>
            <a:r>
              <a:rPr lang="en-US" altLang="zh-CN" sz="2200" b="1" i="1" dirty="0">
                <a:solidFill>
                  <a:schemeClr val="accent2"/>
                </a:solidFill>
                <a:ea typeface="华文行楷" pitchFamily="2" charset="-122"/>
              </a:rPr>
              <a:t> </a:t>
            </a:r>
            <a:r>
              <a:rPr lang="en-US" altLang="zh-CN" sz="2200" b="1" dirty="0">
                <a:solidFill>
                  <a:schemeClr val="accent2"/>
                </a:solidFill>
                <a:ea typeface="华文行楷" pitchFamily="2" charset="-122"/>
                <a:sym typeface="Symbol" pitchFamily="18" charset="2"/>
              </a:rPr>
              <a:t> ·</a:t>
            </a:r>
            <a:r>
              <a:rPr lang="en-US" altLang="zh-CN" sz="2200" dirty="0">
                <a:solidFill>
                  <a:schemeClr val="accent2"/>
                </a:solidFill>
                <a:ea typeface="华文行楷" pitchFamily="2" charset="-122"/>
                <a:sym typeface="Symbol" pitchFamily="18" charset="2"/>
              </a:rPr>
              <a:t> </a:t>
            </a:r>
            <a:r>
              <a:rPr lang="en-US" altLang="zh-CN" sz="2200" b="1" i="1" dirty="0">
                <a:solidFill>
                  <a:schemeClr val="accent2"/>
                </a:solidFill>
                <a:ea typeface="华文行楷" pitchFamily="2" charset="-122"/>
                <a:sym typeface="Symbol" pitchFamily="18" charset="2"/>
              </a:rPr>
              <a:t>E}</a:t>
            </a:r>
            <a:r>
              <a:rPr lang="zh-CN" altLang="en-US" sz="2200" b="1" i="1" dirty="0">
                <a:ea typeface="华文行楷" pitchFamily="2" charset="-122"/>
                <a:sym typeface="Symbol" pitchFamily="18" charset="2"/>
              </a:rPr>
              <a:t>　知：</a:t>
            </a:r>
          </a:p>
          <a:p>
            <a:pPr eaLnBrk="1" hangingPunct="1">
              <a:spcBef>
                <a:spcPts val="0"/>
              </a:spcBef>
              <a:buFontTx/>
              <a:buNone/>
            </a:pPr>
            <a:r>
              <a:rPr lang="en-US" altLang="zh-CN" sz="2200" b="1" i="1" dirty="0">
                <a:solidFill>
                  <a:schemeClr val="accent2"/>
                </a:solidFill>
                <a:ea typeface="华文行楷" pitchFamily="2" charset="-122"/>
                <a:sym typeface="Symbol" pitchFamily="18" charset="2"/>
              </a:rPr>
              <a:t>Closure(S0) = {  </a:t>
            </a:r>
            <a:r>
              <a:rPr lang="en-US" altLang="zh-CN" sz="2200" b="1" dirty="0">
                <a:solidFill>
                  <a:schemeClr val="accent2"/>
                </a:solidFill>
                <a:ea typeface="华文行楷" pitchFamily="2" charset="-122"/>
              </a:rPr>
              <a:t>S' </a:t>
            </a:r>
            <a:r>
              <a:rPr lang="en-US" altLang="zh-CN" sz="2200" b="1" dirty="0">
                <a:solidFill>
                  <a:schemeClr val="accent2"/>
                </a:solidFill>
                <a:ea typeface="华文行楷" pitchFamily="2" charset="-122"/>
                <a:sym typeface="Symbol" pitchFamily="18" charset="2"/>
              </a:rPr>
              <a:t> ·E,</a:t>
            </a:r>
          </a:p>
          <a:p>
            <a:pPr eaLnBrk="1" hangingPunct="1">
              <a:spcBef>
                <a:spcPts val="0"/>
              </a:spcBef>
              <a:buFontTx/>
              <a:buNone/>
            </a:pPr>
            <a:r>
              <a:rPr lang="en-US" altLang="zh-CN" sz="2200" b="1" dirty="0">
                <a:solidFill>
                  <a:schemeClr val="accent2"/>
                </a:solidFill>
                <a:ea typeface="华文行楷" pitchFamily="2" charset="-122"/>
                <a:sym typeface="Symbol" pitchFamily="18" charset="2"/>
              </a:rPr>
              <a:t>E ·</a:t>
            </a:r>
            <a:r>
              <a:rPr lang="en-US" altLang="zh-CN" sz="2200" b="1" dirty="0" err="1">
                <a:solidFill>
                  <a:schemeClr val="accent2"/>
                </a:solidFill>
                <a:ea typeface="华文行楷" pitchFamily="2" charset="-122"/>
                <a:sym typeface="Symbol" pitchFamily="18" charset="2"/>
              </a:rPr>
              <a:t>aA</a:t>
            </a:r>
            <a:r>
              <a:rPr lang="en-US" altLang="zh-CN" sz="2200" b="1" dirty="0">
                <a:solidFill>
                  <a:schemeClr val="accent2"/>
                </a:solidFill>
                <a:ea typeface="华文行楷" pitchFamily="2" charset="-122"/>
                <a:sym typeface="Symbol" pitchFamily="18" charset="2"/>
              </a:rPr>
              <a:t>,  E ·</a:t>
            </a:r>
            <a:r>
              <a:rPr lang="en-US" altLang="zh-CN" sz="2200" b="1" dirty="0" err="1">
                <a:solidFill>
                  <a:schemeClr val="accent2"/>
                </a:solidFill>
                <a:ea typeface="华文行楷" pitchFamily="2" charset="-122"/>
                <a:sym typeface="Symbol" pitchFamily="18" charset="2"/>
              </a:rPr>
              <a:t>bB</a:t>
            </a:r>
            <a:r>
              <a:rPr lang="en-US" altLang="zh-CN" sz="2200" b="1" dirty="0">
                <a:solidFill>
                  <a:schemeClr val="accent2"/>
                </a:solidFill>
                <a:ea typeface="华文行楷" pitchFamily="2" charset="-122"/>
                <a:sym typeface="Symbol" pitchFamily="18" charset="2"/>
              </a:rPr>
              <a:t>   </a:t>
            </a:r>
            <a:r>
              <a:rPr lang="en-US" altLang="zh-CN" sz="2200" b="1" i="1" dirty="0">
                <a:solidFill>
                  <a:schemeClr val="accent2"/>
                </a:solidFill>
                <a:ea typeface="华文行楷" pitchFamily="2" charset="-122"/>
                <a:sym typeface="Symbol" pitchFamily="18" charset="2"/>
              </a:rPr>
              <a:t>}</a:t>
            </a:r>
          </a:p>
        </p:txBody>
      </p:sp>
      <p:sp>
        <p:nvSpPr>
          <p:cNvPr id="145484" name="Text Box 76"/>
          <p:cNvSpPr txBox="1">
            <a:spLocks noChangeArrowheads="1"/>
          </p:cNvSpPr>
          <p:nvPr/>
        </p:nvSpPr>
        <p:spPr bwMode="auto">
          <a:xfrm>
            <a:off x="76819" y="2067694"/>
            <a:ext cx="382587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dirty="0">
                <a:ea typeface="华文行楷" pitchFamily="2" charset="-122"/>
              </a:rPr>
              <a:t>由此初值</a:t>
            </a:r>
            <a:r>
              <a:rPr lang="en-US" altLang="zh-CN" sz="2200" dirty="0">
                <a:ea typeface="华文行楷" pitchFamily="2" charset="-122"/>
              </a:rPr>
              <a:t>C</a:t>
            </a:r>
            <a:r>
              <a:rPr lang="zh-CN" altLang="en-US" sz="2200" dirty="0">
                <a:ea typeface="华文行楷" pitchFamily="2" charset="-122"/>
              </a:rPr>
              <a:t>＝</a:t>
            </a:r>
            <a:r>
              <a:rPr lang="en-US" altLang="zh-CN" sz="2200" dirty="0">
                <a:ea typeface="华文行楷" pitchFamily="2" charset="-122"/>
              </a:rPr>
              <a:t>{Closure(S0)}</a:t>
            </a:r>
            <a:r>
              <a:rPr lang="zh-CN" altLang="en-US" sz="2200" dirty="0">
                <a:ea typeface="华文行楷" pitchFamily="2" charset="-122"/>
              </a:rPr>
              <a:t>再根据</a:t>
            </a:r>
            <a:r>
              <a:rPr lang="en-US" altLang="zh-CN" sz="2200" dirty="0">
                <a:ea typeface="华文行楷" pitchFamily="2" charset="-122"/>
              </a:rPr>
              <a:t>GO</a:t>
            </a:r>
            <a:r>
              <a:rPr lang="zh-CN" altLang="en-US" sz="2200" dirty="0">
                <a:ea typeface="华文行楷" pitchFamily="2" charset="-122"/>
              </a:rPr>
              <a:t>函数计算后继状态</a:t>
            </a:r>
          </a:p>
        </p:txBody>
      </p:sp>
      <p:sp>
        <p:nvSpPr>
          <p:cNvPr id="145485" name="Text Box 77"/>
          <p:cNvSpPr txBox="1">
            <a:spLocks noChangeArrowheads="1"/>
          </p:cNvSpPr>
          <p:nvPr/>
        </p:nvSpPr>
        <p:spPr bwMode="auto">
          <a:xfrm>
            <a:off x="76819" y="3218160"/>
            <a:ext cx="431685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200" b="1" dirty="0">
                <a:ea typeface="华文行楷" pitchFamily="2" charset="-122"/>
              </a:rPr>
              <a:t>由此图明显看出：</a:t>
            </a:r>
          </a:p>
          <a:p>
            <a:pPr eaLnBrk="1" hangingPunct="1">
              <a:spcBef>
                <a:spcPts val="0"/>
              </a:spcBef>
              <a:buFontTx/>
              <a:buNone/>
            </a:pPr>
            <a:r>
              <a:rPr lang="en-US" altLang="zh-CN" sz="2200" b="1" dirty="0">
                <a:solidFill>
                  <a:schemeClr val="accent2"/>
                </a:solidFill>
                <a:ea typeface="华文行楷" pitchFamily="2" charset="-122"/>
              </a:rPr>
              <a:t>Go(</a:t>
            </a:r>
            <a:r>
              <a:rPr lang="zh-CN" altLang="en-US" sz="2200" b="1" dirty="0">
                <a:solidFill>
                  <a:schemeClr val="accent2"/>
                </a:solidFill>
                <a:ea typeface="华文行楷" pitchFamily="2" charset="-122"/>
              </a:rPr>
              <a:t>状态，后继符号</a:t>
            </a:r>
            <a:r>
              <a:rPr lang="en-US" altLang="zh-CN" sz="2200" b="1" dirty="0">
                <a:solidFill>
                  <a:schemeClr val="accent2"/>
                </a:solidFill>
                <a:ea typeface="华文行楷" pitchFamily="2" charset="-122"/>
              </a:rPr>
              <a:t>)</a:t>
            </a:r>
            <a:r>
              <a:rPr lang="zh-CN" altLang="en-US" sz="2200" b="1" dirty="0">
                <a:solidFill>
                  <a:schemeClr val="accent2"/>
                </a:solidFill>
                <a:ea typeface="华文行楷" pitchFamily="2" charset="-122"/>
              </a:rPr>
              <a:t>＝后继状态</a:t>
            </a:r>
          </a:p>
        </p:txBody>
      </p:sp>
      <p:pic>
        <p:nvPicPr>
          <p:cNvPr id="20482" name="图片 3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3093" y="-15995"/>
            <a:ext cx="5110907" cy="4787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矩形 78"/>
          <p:cNvSpPr/>
          <p:nvPr/>
        </p:nvSpPr>
        <p:spPr>
          <a:xfrm>
            <a:off x="15875" y="4072020"/>
            <a:ext cx="5869055" cy="923330"/>
          </a:xfrm>
          <a:prstGeom prst="rect">
            <a:avLst/>
          </a:prstGeom>
          <a:solidFill>
            <a:schemeClr val="bg1"/>
          </a:solidFill>
        </p:spPr>
        <p:txBody>
          <a:bodyPr wrap="square">
            <a:spAutoFit/>
          </a:bodyPr>
          <a:lstStyle/>
          <a:p>
            <a:pPr eaLnBrk="1" hangingPunct="1">
              <a:defRPr/>
            </a:pPr>
            <a:r>
              <a:rPr lang="zh-CN" altLang="en-US" b="1" dirty="0">
                <a:latin typeface="+mn-ea"/>
                <a:ea typeface="+mn-ea"/>
              </a:rPr>
              <a:t>当不出现新的状态时，得到</a:t>
            </a:r>
            <a:r>
              <a:rPr lang="en-US" altLang="zh-CN" b="1" dirty="0">
                <a:latin typeface="+mn-ea"/>
                <a:ea typeface="+mn-ea"/>
              </a:rPr>
              <a:t>LR(0)</a:t>
            </a:r>
            <a:r>
              <a:rPr lang="zh-CN" altLang="en-US" b="1" dirty="0">
                <a:latin typeface="+mn-ea"/>
                <a:ea typeface="+mn-ea"/>
              </a:rPr>
              <a:t>项目集规范族</a:t>
            </a:r>
            <a:endParaRPr lang="en-US" altLang="zh-CN" b="1" dirty="0">
              <a:latin typeface="+mn-ea"/>
              <a:ea typeface="+mn-ea"/>
            </a:endParaRPr>
          </a:p>
          <a:p>
            <a:pPr eaLnBrk="1" hangingPunct="1">
              <a:defRPr/>
            </a:pPr>
            <a:r>
              <a:rPr lang="zh-CN" altLang="en-US" b="1" dirty="0">
                <a:latin typeface="+mn-ea"/>
              </a:rPr>
              <a:t>其实通过</a:t>
            </a:r>
            <a:r>
              <a:rPr lang="en-US" altLang="zh-CN" b="1" dirty="0">
                <a:latin typeface="+mn-ea"/>
              </a:rPr>
              <a:t>go</a:t>
            </a:r>
            <a:r>
              <a:rPr lang="zh-CN" altLang="en-US" b="1" dirty="0">
                <a:latin typeface="+mn-ea"/>
              </a:rPr>
              <a:t>函数将各个状态和其后继状态连接起来，得到了识别活前缀的</a:t>
            </a:r>
            <a:r>
              <a:rPr lang="en-US" altLang="zh-CN" b="1" dirty="0">
                <a:latin typeface="+mn-ea"/>
              </a:rPr>
              <a:t>DFA</a:t>
            </a:r>
            <a:endParaRPr lang="zh-CN" altLang="en-US" dirty="0">
              <a:latin typeface="+mn-ea"/>
              <a:ea typeface="+mn-ea"/>
            </a:endParaRPr>
          </a:p>
        </p:txBody>
      </p:sp>
    </p:spTree>
    <p:extLst>
      <p:ext uri="{BB962C8B-B14F-4D97-AF65-F5344CB8AC3E}">
        <p14:creationId xmlns:p14="http://schemas.microsoft.com/office/powerpoint/2010/main" val="12049942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4548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5" presetClass="entr" presetSubtype="10" fill="hold" grpId="0" nodeType="clickEffect">
                                  <p:stCondLst>
                                    <p:cond delay="0"/>
                                  </p:stCondLst>
                                  <p:childTnLst>
                                    <p:set>
                                      <p:cBhvr>
                                        <p:cTn id="10" dur="1" fill="hold">
                                          <p:stCondLst>
                                            <p:cond delay="0"/>
                                          </p:stCondLst>
                                        </p:cTn>
                                        <p:tgtEl>
                                          <p:spTgt spid="145484"/>
                                        </p:tgtEl>
                                        <p:attrNameLst>
                                          <p:attrName>style.visibility</p:attrName>
                                        </p:attrNameLst>
                                      </p:cBhvr>
                                      <p:to>
                                        <p:strVal val="visible"/>
                                      </p:to>
                                    </p:set>
                                    <p:animEffect transition="in" filter="checkerboard(across)">
                                      <p:cBhvr>
                                        <p:cTn id="11" dur="500"/>
                                        <p:tgtEl>
                                          <p:spTgt spid="14548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2" presetClass="entr" presetSubtype="4" fill="hold" grpId="0" nodeType="clickEffect">
                                  <p:stCondLst>
                                    <p:cond delay="0"/>
                                  </p:stCondLst>
                                  <p:childTnLst>
                                    <p:set>
                                      <p:cBhvr>
                                        <p:cTn id="15" dur="1" fill="hold">
                                          <p:stCondLst>
                                            <p:cond delay="0"/>
                                          </p:stCondLst>
                                        </p:cTn>
                                        <p:tgtEl>
                                          <p:spTgt spid="145485"/>
                                        </p:tgtEl>
                                        <p:attrNameLst>
                                          <p:attrName>style.visibility</p:attrName>
                                        </p:attrNameLst>
                                      </p:cBhvr>
                                      <p:to>
                                        <p:strVal val="visible"/>
                                      </p:to>
                                    </p:set>
                                    <p:animEffect transition="in" filter="slide(fromBottom)">
                                      <p:cBhvr>
                                        <p:cTn id="16" dur="500"/>
                                        <p:tgtEl>
                                          <p:spTgt spid="1454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483" grpId="0" autoUpdateAnimBg="0"/>
      <p:bldP spid="145484" grpId="0" autoUpdateAnimBg="0"/>
      <p:bldP spid="145485" grpId="0" autoUpdateAnimBg="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ChangeArrowheads="1"/>
          </p:cNvSpPr>
          <p:nvPr>
            <p:ph type="title"/>
          </p:nvPr>
        </p:nvSpPr>
        <p:spPr>
          <a:xfrm>
            <a:off x="467544" y="195486"/>
            <a:ext cx="7732713" cy="1007318"/>
          </a:xfrm>
        </p:spPr>
        <p:txBody>
          <a:bodyPr>
            <a:normAutofit fontScale="90000"/>
          </a:bodyPr>
          <a:lstStyle/>
          <a:p>
            <a:pPr algn="l" eaLnBrk="1" hangingPunct="1"/>
            <a:r>
              <a:rPr lang="zh-CN" altLang="en-US" sz="3100" b="1" dirty="0">
                <a:solidFill>
                  <a:schemeClr val="tx1"/>
                </a:solidFill>
                <a:ea typeface="楷体_GB2312" pitchFamily="49" charset="-122"/>
              </a:rPr>
              <a:t>求项目集规范族和识别活前缀的</a:t>
            </a:r>
            <a:r>
              <a:rPr lang="en-US" altLang="zh-CN" sz="3100" b="1" dirty="0">
                <a:solidFill>
                  <a:schemeClr val="tx1"/>
                </a:solidFill>
                <a:ea typeface="楷体_GB2312" pitchFamily="49" charset="-122"/>
              </a:rPr>
              <a:t>DFA</a:t>
            </a:r>
            <a:br>
              <a:rPr lang="en-US" altLang="zh-CN" sz="3100" b="1" dirty="0">
                <a:solidFill>
                  <a:schemeClr val="accent2"/>
                </a:solidFill>
                <a:ea typeface="楷体_GB2312" pitchFamily="49" charset="-122"/>
              </a:rPr>
            </a:br>
            <a:r>
              <a:rPr lang="zh-CN" altLang="en-US" sz="4000" b="1" dirty="0">
                <a:solidFill>
                  <a:schemeClr val="accent2"/>
                </a:solidFill>
                <a:ea typeface="楷体_GB2312" pitchFamily="49" charset="-122"/>
              </a:rPr>
              <a:t>算法描述：</a:t>
            </a:r>
            <a:endParaRPr lang="zh-CN" altLang="en-US" sz="4800" dirty="0">
              <a:ea typeface="楷体_GB2312" pitchFamily="49" charset="-122"/>
            </a:endParaRPr>
          </a:p>
        </p:txBody>
      </p:sp>
      <p:sp>
        <p:nvSpPr>
          <p:cNvPr id="218115" name="Rectangle 3"/>
          <p:cNvSpPr>
            <a:spLocks noGrp="1" noChangeArrowheads="1"/>
          </p:cNvSpPr>
          <p:nvPr>
            <p:ph type="body" idx="1"/>
          </p:nvPr>
        </p:nvSpPr>
        <p:spPr>
          <a:xfrm>
            <a:off x="611560" y="1419622"/>
            <a:ext cx="7653337" cy="3277021"/>
          </a:xfrm>
          <a:solidFill>
            <a:schemeClr val="bg1"/>
          </a:solidFill>
          <a:ln w="28575">
            <a:solidFill>
              <a:schemeClr val="accent2"/>
            </a:solidFill>
            <a:miter lim="800000"/>
            <a:headEnd/>
            <a:tailEnd/>
          </a:ln>
        </p:spPr>
        <p:txBody>
          <a:bodyPr>
            <a:normAutofit/>
          </a:bodyPr>
          <a:lstStyle/>
          <a:p>
            <a:pPr eaLnBrk="1" hangingPunct="1">
              <a:lnSpc>
                <a:spcPct val="90000"/>
              </a:lnSpc>
              <a:buFontTx/>
              <a:buNone/>
            </a:pPr>
            <a:r>
              <a:rPr lang="en-US" altLang="zh-CN" sz="2200" dirty="0" err="1"/>
              <a:t>itemsets</a:t>
            </a:r>
            <a:r>
              <a:rPr lang="en-US" altLang="zh-CN" sz="2200" dirty="0"/>
              <a:t>(G'){</a:t>
            </a:r>
          </a:p>
          <a:p>
            <a:pPr eaLnBrk="1" hangingPunct="1">
              <a:lnSpc>
                <a:spcPct val="90000"/>
              </a:lnSpc>
              <a:buFontTx/>
              <a:buNone/>
            </a:pPr>
            <a:r>
              <a:rPr lang="en-US" altLang="zh-CN" sz="2200" dirty="0"/>
              <a:t>	C := {  CLOSURE( {S' </a:t>
            </a:r>
            <a:r>
              <a:rPr lang="en-US" altLang="zh-CN" sz="2200" dirty="0">
                <a:sym typeface="Wingdings" pitchFamily="2" charset="2"/>
              </a:rPr>
              <a:t></a:t>
            </a:r>
            <a:r>
              <a:rPr lang="en-US" altLang="zh-CN" sz="2200" dirty="0">
                <a:cs typeface="Times New Roman" pitchFamily="18" charset="0"/>
                <a:sym typeface="Wingdings" pitchFamily="2" charset="2"/>
              </a:rPr>
              <a:t>·</a:t>
            </a:r>
            <a:r>
              <a:rPr lang="en-US" altLang="zh-CN" sz="2200" dirty="0">
                <a:sym typeface="Wingdings" pitchFamily="2" charset="2"/>
              </a:rPr>
              <a:t>S</a:t>
            </a:r>
            <a:r>
              <a:rPr lang="en-US" altLang="zh-CN" sz="2200" dirty="0"/>
              <a:t>} )    };</a:t>
            </a:r>
          </a:p>
          <a:p>
            <a:pPr eaLnBrk="1" hangingPunct="1">
              <a:lnSpc>
                <a:spcPct val="90000"/>
              </a:lnSpc>
              <a:buFontTx/>
              <a:buNone/>
            </a:pPr>
            <a:r>
              <a:rPr lang="en-US" altLang="zh-CN" sz="2200" dirty="0"/>
              <a:t>	do{</a:t>
            </a:r>
          </a:p>
          <a:p>
            <a:pPr eaLnBrk="1" hangingPunct="1">
              <a:lnSpc>
                <a:spcPct val="90000"/>
              </a:lnSpc>
              <a:buFontTx/>
              <a:buNone/>
            </a:pPr>
            <a:r>
              <a:rPr lang="en-US" altLang="zh-CN" sz="2200" dirty="0"/>
              <a:t>	   for C</a:t>
            </a:r>
            <a:r>
              <a:rPr lang="zh-CN" altLang="en-US" sz="2200" dirty="0"/>
              <a:t>中的每个项目集</a:t>
            </a:r>
            <a:r>
              <a:rPr lang="en-US" altLang="zh-CN" sz="2200" dirty="0">
                <a:solidFill>
                  <a:schemeClr val="accent2"/>
                </a:solidFill>
              </a:rPr>
              <a:t>I</a:t>
            </a:r>
            <a:r>
              <a:rPr lang="zh-CN" altLang="en-US" sz="2200" dirty="0"/>
              <a:t>和每个文法符号</a:t>
            </a:r>
            <a:r>
              <a:rPr lang="en-US" altLang="zh-CN" sz="2200" dirty="0">
                <a:solidFill>
                  <a:schemeClr val="accent2"/>
                </a:solidFill>
              </a:rPr>
              <a:t>X</a:t>
            </a:r>
            <a:r>
              <a:rPr lang="en-US" altLang="zh-CN" sz="2200" dirty="0"/>
              <a:t>   do</a:t>
            </a:r>
          </a:p>
          <a:p>
            <a:pPr eaLnBrk="1" hangingPunct="1">
              <a:lnSpc>
                <a:spcPct val="90000"/>
              </a:lnSpc>
              <a:buFontTx/>
              <a:buNone/>
            </a:pPr>
            <a:r>
              <a:rPr lang="en-US" altLang="zh-CN" sz="2200" dirty="0"/>
              <a:t>		 if GO(I,X)</a:t>
            </a:r>
            <a:r>
              <a:rPr lang="zh-CN" altLang="en-US" sz="2200" dirty="0"/>
              <a:t>非空且不属于</a:t>
            </a:r>
            <a:r>
              <a:rPr lang="en-US" altLang="zh-CN" sz="2200" dirty="0"/>
              <a:t>C</a:t>
            </a:r>
          </a:p>
          <a:p>
            <a:pPr eaLnBrk="1" hangingPunct="1">
              <a:lnSpc>
                <a:spcPct val="90000"/>
              </a:lnSpc>
              <a:buFontTx/>
              <a:buNone/>
            </a:pPr>
            <a:r>
              <a:rPr lang="en-US" altLang="zh-CN" sz="2200" dirty="0"/>
              <a:t>			 </a:t>
            </a:r>
            <a:r>
              <a:rPr lang="zh-CN" altLang="en-US" sz="2200" dirty="0"/>
              <a:t>把</a:t>
            </a:r>
            <a:r>
              <a:rPr lang="en-US" altLang="zh-CN" sz="2200" dirty="0"/>
              <a:t>GO(I,X) </a:t>
            </a:r>
            <a:r>
              <a:rPr lang="zh-CN" altLang="en-US" sz="2200" dirty="0"/>
              <a:t>加入</a:t>
            </a:r>
            <a:r>
              <a:rPr lang="en-US" altLang="zh-CN" sz="2200" dirty="0"/>
              <a:t>C</a:t>
            </a:r>
            <a:r>
              <a:rPr lang="zh-CN" altLang="en-US" sz="2200" dirty="0"/>
              <a:t>中</a:t>
            </a:r>
            <a:r>
              <a:rPr lang="en-US" altLang="zh-CN" sz="2200" dirty="0"/>
              <a:t>;</a:t>
            </a:r>
          </a:p>
          <a:p>
            <a:pPr eaLnBrk="1" hangingPunct="1">
              <a:lnSpc>
                <a:spcPct val="90000"/>
              </a:lnSpc>
              <a:buFontTx/>
              <a:buNone/>
            </a:pPr>
            <a:r>
              <a:rPr lang="en-US" altLang="zh-CN" sz="2200" dirty="0"/>
              <a:t>       </a:t>
            </a:r>
            <a:r>
              <a:rPr lang="zh-CN" altLang="en-US" sz="2200" dirty="0"/>
              <a:t>在</a:t>
            </a:r>
            <a:r>
              <a:rPr lang="en-US" altLang="zh-CN" sz="2200" dirty="0"/>
              <a:t>I</a:t>
            </a:r>
            <a:r>
              <a:rPr lang="zh-CN" altLang="en-US" sz="2200" dirty="0"/>
              <a:t>和</a:t>
            </a:r>
            <a:r>
              <a:rPr lang="en-US" altLang="zh-CN" sz="2200" dirty="0"/>
              <a:t>GO(I</a:t>
            </a:r>
            <a:r>
              <a:rPr lang="zh-CN" altLang="en-US" sz="2200" dirty="0"/>
              <a:t>，</a:t>
            </a:r>
            <a:r>
              <a:rPr lang="en-US" altLang="zh-CN" sz="2200" dirty="0"/>
              <a:t>X)</a:t>
            </a:r>
            <a:r>
              <a:rPr lang="zh-CN" altLang="en-US" sz="2200" dirty="0"/>
              <a:t>之间画标记为</a:t>
            </a:r>
            <a:r>
              <a:rPr lang="en-US" altLang="zh-CN" sz="2200" dirty="0"/>
              <a:t>X</a:t>
            </a:r>
            <a:r>
              <a:rPr lang="zh-CN" altLang="en-US" sz="2200" dirty="0"/>
              <a:t>的弧</a:t>
            </a:r>
            <a:r>
              <a:rPr lang="en-US" altLang="zh-CN" sz="2200" dirty="0"/>
              <a:t>;</a:t>
            </a:r>
          </a:p>
          <a:p>
            <a:pPr eaLnBrk="1" hangingPunct="1">
              <a:lnSpc>
                <a:spcPct val="90000"/>
              </a:lnSpc>
              <a:buFontTx/>
              <a:buNone/>
            </a:pPr>
            <a:r>
              <a:rPr lang="en-US" altLang="zh-CN" sz="2200" dirty="0"/>
              <a:t>	}while( C</a:t>
            </a:r>
            <a:r>
              <a:rPr lang="zh-CN" altLang="en-US" sz="2200" dirty="0"/>
              <a:t>中还有项目集没有计算完</a:t>
            </a:r>
            <a:r>
              <a:rPr lang="en-US" altLang="zh-CN" sz="2200" dirty="0"/>
              <a:t>)</a:t>
            </a:r>
            <a:r>
              <a:rPr lang="zh-CN" altLang="en-US" sz="2200" dirty="0"/>
              <a:t>；</a:t>
            </a:r>
            <a:endParaRPr lang="en-US" altLang="zh-CN" sz="2200" dirty="0"/>
          </a:p>
          <a:p>
            <a:pPr eaLnBrk="1" hangingPunct="1">
              <a:lnSpc>
                <a:spcPct val="90000"/>
              </a:lnSpc>
              <a:buFontTx/>
              <a:buNone/>
            </a:pPr>
            <a:r>
              <a:rPr lang="en-US" altLang="zh-CN" sz="2200" dirty="0"/>
              <a:t>}</a:t>
            </a:r>
          </a:p>
        </p:txBody>
      </p:sp>
    </p:spTree>
    <p:extLst>
      <p:ext uri="{BB962C8B-B14F-4D97-AF65-F5344CB8AC3E}">
        <p14:creationId xmlns:p14="http://schemas.microsoft.com/office/powerpoint/2010/main" val="3998326554"/>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a:xfrm>
            <a:off x="258763" y="501650"/>
            <a:ext cx="2908300" cy="1494035"/>
          </a:xfrm>
        </p:spPr>
        <p:txBody>
          <a:bodyPr>
            <a:normAutofit/>
          </a:bodyPr>
          <a:lstStyle/>
          <a:p>
            <a:pPr algn="l" eaLnBrk="1" hangingPunct="1"/>
            <a:r>
              <a:rPr lang="en-US" altLang="zh-CN" sz="2800" b="1" dirty="0">
                <a:latin typeface="楷体_GB2312" pitchFamily="49" charset="-122"/>
                <a:ea typeface="楷体_GB2312" pitchFamily="49" charset="-122"/>
              </a:rPr>
              <a:t>LR(0)</a:t>
            </a:r>
            <a:r>
              <a:rPr lang="zh-CN" altLang="en-US" sz="2800" b="1" dirty="0">
                <a:latin typeface="楷体_GB2312" pitchFamily="49" charset="-122"/>
                <a:ea typeface="楷体_GB2312" pitchFamily="49" charset="-122"/>
              </a:rPr>
              <a:t>项目集规范族也可以用表格的形式表示</a:t>
            </a:r>
          </a:p>
        </p:txBody>
      </p:sp>
      <p:sp>
        <p:nvSpPr>
          <p:cNvPr id="217091" name="Rectangle 3"/>
          <p:cNvSpPr>
            <a:spLocks noGrp="1" noChangeArrowheads="1"/>
          </p:cNvSpPr>
          <p:nvPr>
            <p:ph type="body" idx="1"/>
          </p:nvPr>
        </p:nvSpPr>
        <p:spPr>
          <a:xfrm>
            <a:off x="685800" y="3797300"/>
            <a:ext cx="7772400" cy="774700"/>
          </a:xfrm>
        </p:spPr>
        <p:txBody>
          <a:bodyPr/>
          <a:lstStyle/>
          <a:p>
            <a:pPr eaLnBrk="1" hangingPunct="1"/>
            <a:endParaRPr lang="zh-CN" altLang="zh-CN"/>
          </a:p>
        </p:txBody>
      </p:sp>
      <p:graphicFrame>
        <p:nvGraphicFramePr>
          <p:cNvPr id="5" name="Group 83"/>
          <p:cNvGraphicFramePr>
            <a:graphicFrameLocks noGrp="1"/>
          </p:cNvGraphicFramePr>
          <p:nvPr/>
        </p:nvGraphicFramePr>
        <p:xfrm>
          <a:off x="3860800" y="258763"/>
          <a:ext cx="5000625" cy="4856346"/>
        </p:xfrm>
        <a:graphic>
          <a:graphicData uri="http://schemas.openxmlformats.org/drawingml/2006/table">
            <a:tbl>
              <a:tblPr/>
              <a:tblGrid>
                <a:gridCol w="719138">
                  <a:extLst>
                    <a:ext uri="{9D8B030D-6E8A-4147-A177-3AD203B41FA5}">
                      <a16:colId xmlns:a16="http://schemas.microsoft.com/office/drawing/2014/main" val="20000"/>
                    </a:ext>
                  </a:extLst>
                </a:gridCol>
                <a:gridCol w="1584325">
                  <a:extLst>
                    <a:ext uri="{9D8B030D-6E8A-4147-A177-3AD203B41FA5}">
                      <a16:colId xmlns:a16="http://schemas.microsoft.com/office/drawing/2014/main" val="20001"/>
                    </a:ext>
                  </a:extLst>
                </a:gridCol>
                <a:gridCol w="1300162">
                  <a:extLst>
                    <a:ext uri="{9D8B030D-6E8A-4147-A177-3AD203B41FA5}">
                      <a16:colId xmlns:a16="http://schemas.microsoft.com/office/drawing/2014/main" val="20002"/>
                    </a:ext>
                  </a:extLst>
                </a:gridCol>
                <a:gridCol w="1397000">
                  <a:extLst>
                    <a:ext uri="{9D8B030D-6E8A-4147-A177-3AD203B41FA5}">
                      <a16:colId xmlns:a16="http://schemas.microsoft.com/office/drawing/2014/main" val="20003"/>
                    </a:ext>
                  </a:extLst>
                </a:gridCol>
              </a:tblGrid>
              <a:tr h="24005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状态</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项目集</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后继符号</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后继状态</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8470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0</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S'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·E</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E ·aA</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E ·bB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S'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E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endPar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接受态</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470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E</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 ·A </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  · cA</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 · d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endPar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10</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470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E</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b·B</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B · </a:t>
                      </a:r>
                      <a:r>
                        <a:rPr kumimoji="1" lang="en-US" altLang="zh-CN" sz="15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cB</a:t>
                      </a:r>
                      <a:endPar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endParaRP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  B</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 d   </a:t>
                      </a:r>
                      <a:r>
                        <a:rPr kumimoji="1" lang="en-US" altLang="zh-CN" sz="15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B</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c</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d</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470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 c · A</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 · cA</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 · d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8</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10</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470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Bc · B</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B · cB</a:t>
                      </a:r>
                    </a:p>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B</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 d</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9</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E</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aA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endParaRPr kumimoji="1" lang="zh-CN" altLang="en-US"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7</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E</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bB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8</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 cA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9</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75000"/>
                        </a:lnSpc>
                        <a:spcBef>
                          <a:spcPct val="0"/>
                        </a:spcBef>
                        <a:spcAft>
                          <a:spcPct val="0"/>
                        </a:spcAft>
                        <a:buClrTx/>
                        <a:buSzTx/>
                        <a:buFontTx/>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BcB · </a:t>
                      </a:r>
                      <a:r>
                        <a:rPr kumimoji="0"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endParaRPr kumimoji="0"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10</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 Ad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endPar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241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5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294" marB="3429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75000"/>
                        </a:lnSpc>
                        <a:spcBef>
                          <a:spcPct val="0"/>
                        </a:spcBef>
                        <a:spcAft>
                          <a:spcPct val="0"/>
                        </a:spcAft>
                        <a:buClrTx/>
                        <a:buSzTx/>
                        <a:buFontTx/>
                        <a:buNone/>
                        <a:tabLst/>
                      </a:pP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B</a:t>
                      </a:r>
                      <a:r>
                        <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sym typeface="Symbol" panose="05050102010706020507" pitchFamily="18" charset="2"/>
                        </a:rPr>
                        <a:t>d · }</a:t>
                      </a: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endParaRPr kumimoji="1" lang="en-US" altLang="zh-CN"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94" marB="3429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75000"/>
                        </a:lnSpc>
                        <a:spcBef>
                          <a:spcPct val="0"/>
                        </a:spcBef>
                        <a:spcAft>
                          <a:spcPct val="0"/>
                        </a:spcAft>
                        <a:buClrTx/>
                        <a:buSzTx/>
                        <a:buFontTx/>
                        <a:buNone/>
                        <a:tabLst/>
                      </a:pPr>
                      <a:r>
                        <a:rPr kumimoji="1" lang="zh-CN" altLang="en-US" sz="15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归约</a:t>
                      </a:r>
                    </a:p>
                  </a:txBody>
                  <a:tcPr marT="34294" marB="3429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bl>
          </a:graphicData>
        </a:graphic>
      </p:graphicFrame>
    </p:spTree>
    <p:extLst>
      <p:ext uri="{BB962C8B-B14F-4D97-AF65-F5344CB8AC3E}">
        <p14:creationId xmlns:p14="http://schemas.microsoft.com/office/powerpoint/2010/main" val="18921627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title"/>
          </p:nvPr>
        </p:nvSpPr>
        <p:spPr>
          <a:xfrm>
            <a:off x="345851" y="123478"/>
            <a:ext cx="7732713" cy="515937"/>
          </a:xfrm>
        </p:spPr>
        <p:txBody>
          <a:bodyPr>
            <a:normAutofit fontScale="90000"/>
          </a:bodyPr>
          <a:lstStyle/>
          <a:p>
            <a:pPr algn="l" eaLnBrk="1" hangingPunct="1"/>
            <a:r>
              <a:rPr lang="zh-CN" altLang="en-US" sz="4000" dirty="0">
                <a:solidFill>
                  <a:schemeClr val="accent2"/>
                </a:solidFill>
                <a:ea typeface="楷体_GB2312" pitchFamily="49" charset="-122"/>
              </a:rPr>
              <a:t>几个概念</a:t>
            </a:r>
            <a:endParaRPr lang="zh-CN" altLang="en-US" sz="4800" dirty="0">
              <a:ea typeface="楷体_GB2312" pitchFamily="49" charset="-122"/>
            </a:endParaRPr>
          </a:p>
        </p:txBody>
      </p:sp>
      <p:sp>
        <p:nvSpPr>
          <p:cNvPr id="5" name="Rectangle 3"/>
          <p:cNvSpPr txBox="1">
            <a:spLocks noChangeArrowheads="1"/>
          </p:cNvSpPr>
          <p:nvPr/>
        </p:nvSpPr>
        <p:spPr>
          <a:xfrm>
            <a:off x="539552" y="771550"/>
            <a:ext cx="8353425" cy="1152128"/>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r>
              <a:rPr lang="zh-CN" altLang="en-US" sz="2200" b="1" i="1" dirty="0">
                <a:solidFill>
                  <a:schemeClr val="accent2"/>
                </a:solidFill>
              </a:rPr>
              <a:t>有效项目</a:t>
            </a:r>
            <a:r>
              <a:rPr lang="zh-CN" altLang="en-US" sz="2200" b="1" i="1" dirty="0">
                <a:solidFill>
                  <a:srgbClr val="000000"/>
                </a:solidFill>
              </a:rPr>
              <a:t>：</a:t>
            </a:r>
            <a:r>
              <a:rPr lang="zh-CN" altLang="en-US" sz="2200" dirty="0">
                <a:solidFill>
                  <a:srgbClr val="000000"/>
                </a:solidFill>
              </a:rPr>
              <a:t>项目</a:t>
            </a:r>
            <a:r>
              <a:rPr lang="en-US" altLang="zh-CN" sz="2200" dirty="0">
                <a:solidFill>
                  <a:srgbClr val="000000"/>
                </a:solidFill>
                <a:sym typeface="Symbol" pitchFamily="18" charset="2"/>
              </a:rPr>
              <a:t>A</a:t>
            </a:r>
            <a:r>
              <a:rPr lang="en-US" altLang="zh-CN" sz="2200" baseline="-25000" dirty="0">
                <a:solidFill>
                  <a:srgbClr val="000000"/>
                </a:solidFill>
                <a:sym typeface="Symbol" pitchFamily="18" charset="2"/>
              </a:rPr>
              <a:t>1</a:t>
            </a:r>
            <a:r>
              <a:rPr kumimoji="1" lang="en-US" altLang="zh-CN" sz="2000" b="1" dirty="0">
                <a:latin typeface="Times New Roman" panose="02020603050405020304" pitchFamily="18" charset="0"/>
                <a:sym typeface="Symbol" panose="05050102010706020507" pitchFamily="18" charset="2"/>
              </a:rPr>
              <a:t>·</a:t>
            </a:r>
            <a:r>
              <a:rPr lang="en-US" altLang="zh-CN" sz="2200" dirty="0">
                <a:solidFill>
                  <a:srgbClr val="000000"/>
                </a:solidFill>
                <a:sym typeface="Symbol" pitchFamily="18" charset="2"/>
              </a:rPr>
              <a:t></a:t>
            </a:r>
            <a:r>
              <a:rPr lang="en-US" altLang="zh-CN" sz="2200" baseline="-25000" dirty="0">
                <a:solidFill>
                  <a:srgbClr val="000000"/>
                </a:solidFill>
                <a:sym typeface="Symbol" pitchFamily="18" charset="2"/>
              </a:rPr>
              <a:t>2</a:t>
            </a:r>
            <a:r>
              <a:rPr lang="zh-CN" altLang="en-US" sz="2200" dirty="0">
                <a:solidFill>
                  <a:srgbClr val="000000"/>
                </a:solidFill>
                <a:sym typeface="Symbol" pitchFamily="18" charset="2"/>
              </a:rPr>
              <a:t>对活前缀</a:t>
            </a:r>
            <a:r>
              <a:rPr lang="en-US" altLang="zh-CN" sz="2200" dirty="0">
                <a:solidFill>
                  <a:srgbClr val="000000"/>
                </a:solidFill>
                <a:sym typeface="Symbol" pitchFamily="18" charset="2"/>
              </a:rPr>
              <a:t>=</a:t>
            </a:r>
            <a:r>
              <a:rPr lang="en-US" altLang="zh-CN" sz="2200" baseline="-25000" dirty="0">
                <a:solidFill>
                  <a:srgbClr val="000000"/>
                </a:solidFill>
                <a:sym typeface="Symbol" pitchFamily="18" charset="2"/>
              </a:rPr>
              <a:t>1</a:t>
            </a:r>
            <a:r>
              <a:rPr lang="zh-CN" altLang="en-US" sz="2200" dirty="0">
                <a:solidFill>
                  <a:srgbClr val="000000"/>
                </a:solidFill>
                <a:sym typeface="Symbol" pitchFamily="18" charset="2"/>
              </a:rPr>
              <a:t>是有效的</a:t>
            </a:r>
            <a:r>
              <a:rPr lang="zh-CN" altLang="en-US" sz="2200" dirty="0">
                <a:solidFill>
                  <a:schemeClr val="accent2"/>
                </a:solidFill>
                <a:sym typeface="Symbol" pitchFamily="18" charset="2"/>
              </a:rPr>
              <a:t>条件</a:t>
            </a:r>
            <a:r>
              <a:rPr lang="zh-CN" altLang="en-US" sz="2200" dirty="0">
                <a:solidFill>
                  <a:srgbClr val="000000"/>
                </a:solidFill>
                <a:sym typeface="Symbol" pitchFamily="18" charset="2"/>
              </a:rPr>
              <a:t>是：</a:t>
            </a:r>
            <a:r>
              <a:rPr lang="en-US" altLang="zh-CN" sz="2200" dirty="0">
                <a:solidFill>
                  <a:srgbClr val="000000"/>
                </a:solidFill>
                <a:sym typeface="Symbol" pitchFamily="18" charset="2"/>
              </a:rPr>
              <a:t>            </a:t>
            </a:r>
            <a:r>
              <a:rPr lang="zh-CN" altLang="en-US" sz="2200" dirty="0">
                <a:solidFill>
                  <a:srgbClr val="000000"/>
                </a:solidFill>
                <a:sym typeface="Symbol" pitchFamily="18" charset="2"/>
              </a:rPr>
              <a:t>存在规范推导</a:t>
            </a:r>
            <a:endParaRPr lang="en-US" altLang="zh-CN" sz="2200" dirty="0">
              <a:solidFill>
                <a:srgbClr val="000000"/>
              </a:solidFill>
              <a:sym typeface="Symbol" pitchFamily="18" charset="2"/>
            </a:endParaRPr>
          </a:p>
        </p:txBody>
      </p:sp>
      <p:grpSp>
        <p:nvGrpSpPr>
          <p:cNvPr id="3" name="组合 2"/>
          <p:cNvGrpSpPr/>
          <p:nvPr/>
        </p:nvGrpSpPr>
        <p:grpSpPr>
          <a:xfrm>
            <a:off x="2699792" y="1369399"/>
            <a:ext cx="2736304" cy="863377"/>
            <a:chOff x="2483768" y="4280123"/>
            <a:chExt cx="2736304" cy="863377"/>
          </a:xfrm>
        </p:grpSpPr>
        <p:sp>
          <p:nvSpPr>
            <p:cNvPr id="219139" name="Text Box 7"/>
            <p:cNvSpPr txBox="1">
              <a:spLocks noChangeArrowheads="1"/>
            </p:cNvSpPr>
            <p:nvPr/>
          </p:nvSpPr>
          <p:spPr bwMode="auto">
            <a:xfrm>
              <a:off x="2771552" y="4280123"/>
              <a:ext cx="3600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ea typeface="华文行楷" pitchFamily="2" charset="-122"/>
                </a:rPr>
                <a:t>*</a:t>
              </a:r>
            </a:p>
          </p:txBody>
        </p:sp>
        <p:sp>
          <p:nvSpPr>
            <p:cNvPr id="7" name="Rectangle 3"/>
            <p:cNvSpPr txBox="1">
              <a:spLocks noChangeArrowheads="1"/>
            </p:cNvSpPr>
            <p:nvPr/>
          </p:nvSpPr>
          <p:spPr>
            <a:xfrm>
              <a:off x="2483768" y="4458022"/>
              <a:ext cx="2736304" cy="685478"/>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buNone/>
              </a:pPr>
              <a:r>
                <a:rPr lang="en-US" altLang="zh-CN" dirty="0">
                  <a:solidFill>
                    <a:srgbClr val="000000"/>
                  </a:solidFill>
                  <a:sym typeface="Symbol" pitchFamily="18" charset="2"/>
                </a:rPr>
                <a:t>SA</a:t>
              </a:r>
              <a:r>
                <a:rPr lang="el-GR" altLang="zh-CN" dirty="0">
                  <a:solidFill>
                    <a:srgbClr val="000000"/>
                  </a:solidFill>
                  <a:sym typeface="Symbol" pitchFamily="18" charset="2"/>
                </a:rPr>
                <a:t>ω</a:t>
              </a:r>
              <a:r>
                <a:rPr lang="en-US" altLang="zh-CN" dirty="0">
                  <a:solidFill>
                    <a:srgbClr val="000000"/>
                  </a:solidFill>
                  <a:sym typeface="Symbol" pitchFamily="18" charset="2"/>
                </a:rPr>
                <a:t></a:t>
              </a:r>
              <a:r>
                <a:rPr lang="en-US" altLang="zh-CN" baseline="-25000" dirty="0">
                  <a:solidFill>
                    <a:srgbClr val="000000"/>
                  </a:solidFill>
                  <a:sym typeface="Symbol" pitchFamily="18" charset="2"/>
                </a:rPr>
                <a:t>1</a:t>
              </a:r>
              <a:r>
                <a:rPr lang="en-US" altLang="zh-CN" dirty="0">
                  <a:solidFill>
                    <a:srgbClr val="000000"/>
                  </a:solidFill>
                  <a:sym typeface="Symbol" pitchFamily="18" charset="2"/>
                </a:rPr>
                <a:t></a:t>
              </a:r>
              <a:r>
                <a:rPr lang="en-US" altLang="zh-CN" baseline="-25000" dirty="0">
                  <a:solidFill>
                    <a:srgbClr val="000000"/>
                  </a:solidFill>
                  <a:sym typeface="Symbol" pitchFamily="18" charset="2"/>
                </a:rPr>
                <a:t>2</a:t>
              </a:r>
              <a:r>
                <a:rPr lang="el-GR" altLang="zh-CN" dirty="0">
                  <a:solidFill>
                    <a:srgbClr val="000000"/>
                  </a:solidFill>
                  <a:sym typeface="Symbol" pitchFamily="18" charset="2"/>
                </a:rPr>
                <a:t>ω</a:t>
              </a:r>
              <a:endParaRPr lang="en-US" altLang="zh-CN" dirty="0">
                <a:solidFill>
                  <a:srgbClr val="000000"/>
                </a:solidFill>
                <a:sym typeface="Symbol" pitchFamily="18" charset="2"/>
              </a:endParaRPr>
            </a:p>
            <a:p>
              <a:pPr>
                <a:spcBef>
                  <a:spcPct val="30000"/>
                </a:spcBef>
              </a:pPr>
              <a:endParaRPr lang="zh-CN" altLang="en-US" dirty="0">
                <a:solidFill>
                  <a:srgbClr val="000000"/>
                </a:solidFill>
                <a:sym typeface="Symbol" pitchFamily="18" charset="2"/>
              </a:endParaRPr>
            </a:p>
          </p:txBody>
        </p:sp>
        <p:sp>
          <p:nvSpPr>
            <p:cNvPr id="2" name="TextBox 1"/>
            <p:cNvSpPr txBox="1"/>
            <p:nvPr/>
          </p:nvSpPr>
          <p:spPr>
            <a:xfrm>
              <a:off x="3780160" y="4753416"/>
              <a:ext cx="144140" cy="369332"/>
            </a:xfrm>
            <a:prstGeom prst="rect">
              <a:avLst/>
            </a:prstGeom>
            <a:noFill/>
          </p:spPr>
          <p:txBody>
            <a:bodyPr wrap="square" rtlCol="0">
              <a:spAutoFit/>
            </a:bodyPr>
            <a:lstStyle/>
            <a:p>
              <a:r>
                <a:rPr lang="en-US" altLang="zh-CN" dirty="0"/>
                <a:t>R</a:t>
              </a:r>
              <a:endParaRPr lang="zh-CN" altLang="en-US" dirty="0"/>
            </a:p>
          </p:txBody>
        </p:sp>
        <p:sp>
          <p:nvSpPr>
            <p:cNvPr id="9" name="TextBox 8"/>
            <p:cNvSpPr txBox="1"/>
            <p:nvPr/>
          </p:nvSpPr>
          <p:spPr>
            <a:xfrm>
              <a:off x="2843808" y="4753416"/>
              <a:ext cx="144140" cy="369332"/>
            </a:xfrm>
            <a:prstGeom prst="rect">
              <a:avLst/>
            </a:prstGeom>
            <a:noFill/>
          </p:spPr>
          <p:txBody>
            <a:bodyPr wrap="square" rtlCol="0">
              <a:spAutoFit/>
            </a:bodyPr>
            <a:lstStyle/>
            <a:p>
              <a:r>
                <a:rPr lang="en-US" altLang="zh-CN" dirty="0"/>
                <a:t>R</a:t>
              </a:r>
              <a:endParaRPr lang="zh-CN" altLang="en-US" dirty="0"/>
            </a:p>
          </p:txBody>
        </p:sp>
      </p:grpSp>
      <p:sp>
        <p:nvSpPr>
          <p:cNvPr id="11" name="Rectangle 3"/>
          <p:cNvSpPr txBox="1">
            <a:spLocks noChangeArrowheads="1"/>
          </p:cNvSpPr>
          <p:nvPr/>
        </p:nvSpPr>
        <p:spPr>
          <a:xfrm>
            <a:off x="539552" y="2139702"/>
            <a:ext cx="8353425" cy="1444387"/>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ct val="30000"/>
              </a:spcBef>
            </a:pPr>
            <a:r>
              <a:rPr lang="zh-CN" altLang="en-US" sz="2000" dirty="0">
                <a:solidFill>
                  <a:srgbClr val="000000"/>
                </a:solidFill>
                <a:sym typeface="Symbol" pitchFamily="18" charset="2"/>
              </a:rPr>
              <a:t>根据定义可知，若归约项目</a:t>
            </a:r>
            <a:r>
              <a:rPr lang="en-US" altLang="zh-CN" sz="2000" dirty="0">
                <a:solidFill>
                  <a:srgbClr val="000000"/>
                </a:solidFill>
                <a:sym typeface="Symbol" pitchFamily="18" charset="2"/>
              </a:rPr>
              <a:t>A</a:t>
            </a:r>
            <a:r>
              <a:rPr lang="en-US" altLang="zh-CN" sz="2000" baseline="-25000" dirty="0">
                <a:solidFill>
                  <a:srgbClr val="000000"/>
                </a:solidFill>
                <a:sym typeface="Symbol" pitchFamily="18" charset="2"/>
              </a:rPr>
              <a:t>1</a:t>
            </a:r>
            <a:r>
              <a:rPr kumimoji="1" lang="en-US" altLang="zh-CN" sz="2000" b="1" dirty="0">
                <a:latin typeface="Times New Roman" panose="02020603050405020304" pitchFamily="18" charset="0"/>
                <a:sym typeface="Symbol" panose="05050102010706020507" pitchFamily="18" charset="2"/>
              </a:rPr>
              <a:t>·</a:t>
            </a:r>
            <a:r>
              <a:rPr lang="zh-CN" altLang="en-US" sz="2000" dirty="0">
                <a:solidFill>
                  <a:srgbClr val="000000"/>
                </a:solidFill>
                <a:sym typeface="Symbol" pitchFamily="18" charset="2"/>
              </a:rPr>
              <a:t>对活前缀</a:t>
            </a:r>
            <a:r>
              <a:rPr lang="en-US" altLang="zh-CN" sz="2000" baseline="-25000" dirty="0">
                <a:solidFill>
                  <a:srgbClr val="000000"/>
                </a:solidFill>
                <a:sym typeface="Symbol" pitchFamily="18" charset="2"/>
              </a:rPr>
              <a:t>1</a:t>
            </a:r>
            <a:r>
              <a:rPr lang="zh-CN" altLang="en-US" sz="2000" dirty="0">
                <a:solidFill>
                  <a:srgbClr val="000000"/>
                </a:solidFill>
                <a:sym typeface="Symbol" pitchFamily="18" charset="2"/>
              </a:rPr>
              <a:t>是有效的，则应把符号串</a:t>
            </a:r>
            <a:r>
              <a:rPr lang="en-US" altLang="zh-CN" sz="2000" baseline="-25000" dirty="0">
                <a:solidFill>
                  <a:srgbClr val="000000"/>
                </a:solidFill>
                <a:sym typeface="Symbol" pitchFamily="18" charset="2"/>
              </a:rPr>
              <a:t>1</a:t>
            </a:r>
            <a:r>
              <a:rPr lang="zh-CN" altLang="en-US" sz="2000" dirty="0">
                <a:solidFill>
                  <a:srgbClr val="000000"/>
                </a:solidFill>
                <a:sym typeface="Symbol" pitchFamily="18" charset="2"/>
              </a:rPr>
              <a:t>归约为</a:t>
            </a:r>
            <a:r>
              <a:rPr lang="en-US" altLang="zh-CN" sz="2000" dirty="0">
                <a:solidFill>
                  <a:srgbClr val="000000"/>
                </a:solidFill>
                <a:sym typeface="Symbol" pitchFamily="18" charset="2"/>
              </a:rPr>
              <a:t>A</a:t>
            </a:r>
            <a:r>
              <a:rPr lang="zh-CN" altLang="en-US" sz="2000" dirty="0">
                <a:solidFill>
                  <a:srgbClr val="000000"/>
                </a:solidFill>
                <a:sym typeface="Symbol" pitchFamily="18" charset="2"/>
              </a:rPr>
              <a:t>，即把活前缀</a:t>
            </a:r>
            <a:r>
              <a:rPr lang="en-US" altLang="zh-CN" sz="2000" baseline="-25000" dirty="0">
                <a:solidFill>
                  <a:srgbClr val="000000"/>
                </a:solidFill>
                <a:sym typeface="Symbol" pitchFamily="18" charset="2"/>
              </a:rPr>
              <a:t>1</a:t>
            </a:r>
            <a:r>
              <a:rPr lang="zh-CN" altLang="en-US" sz="2000" dirty="0">
                <a:solidFill>
                  <a:srgbClr val="000000"/>
                </a:solidFill>
                <a:sym typeface="Symbol" pitchFamily="18" charset="2"/>
              </a:rPr>
              <a:t>变为</a:t>
            </a:r>
            <a:r>
              <a:rPr lang="en-US" altLang="zh-CN" sz="2000" dirty="0">
                <a:solidFill>
                  <a:srgbClr val="000000"/>
                </a:solidFill>
                <a:sym typeface="Symbol" pitchFamily="18" charset="2"/>
              </a:rPr>
              <a:t>A</a:t>
            </a:r>
          </a:p>
          <a:p>
            <a:r>
              <a:rPr lang="zh-CN" altLang="en-US" sz="2000" dirty="0">
                <a:solidFill>
                  <a:srgbClr val="000000"/>
                </a:solidFill>
                <a:sym typeface="Symbol" pitchFamily="18" charset="2"/>
              </a:rPr>
              <a:t>若移进项目</a:t>
            </a:r>
            <a:r>
              <a:rPr lang="en-US" altLang="zh-CN" sz="2000" dirty="0">
                <a:solidFill>
                  <a:srgbClr val="000000"/>
                </a:solidFill>
                <a:sym typeface="Symbol" pitchFamily="18" charset="2"/>
              </a:rPr>
              <a:t>A</a:t>
            </a:r>
            <a:r>
              <a:rPr lang="en-US" altLang="zh-CN" sz="2000" baseline="-25000" dirty="0">
                <a:solidFill>
                  <a:srgbClr val="000000"/>
                </a:solidFill>
                <a:sym typeface="Symbol" pitchFamily="18" charset="2"/>
              </a:rPr>
              <a:t>1</a:t>
            </a:r>
            <a:r>
              <a:rPr kumimoji="1" lang="en-US" altLang="zh-CN" sz="2000" b="1" dirty="0">
                <a:latin typeface="Times New Roman" panose="02020603050405020304" pitchFamily="18" charset="0"/>
                <a:sym typeface="Symbol" panose="05050102010706020507" pitchFamily="18" charset="2"/>
              </a:rPr>
              <a:t>·</a:t>
            </a:r>
            <a:r>
              <a:rPr lang="en-US" altLang="zh-CN" sz="2000" dirty="0">
                <a:solidFill>
                  <a:srgbClr val="000000"/>
                </a:solidFill>
                <a:sym typeface="Symbol" pitchFamily="18" charset="2"/>
              </a:rPr>
              <a:t></a:t>
            </a:r>
            <a:r>
              <a:rPr lang="en-US" altLang="zh-CN" sz="2000" baseline="-25000" dirty="0">
                <a:solidFill>
                  <a:srgbClr val="000000"/>
                </a:solidFill>
                <a:sym typeface="Symbol" pitchFamily="18" charset="2"/>
              </a:rPr>
              <a:t>2</a:t>
            </a:r>
            <a:r>
              <a:rPr lang="zh-CN" altLang="en-US" sz="2000" dirty="0">
                <a:solidFill>
                  <a:srgbClr val="000000"/>
                </a:solidFill>
                <a:sym typeface="Symbol" pitchFamily="18" charset="2"/>
              </a:rPr>
              <a:t>对活前缀</a:t>
            </a:r>
            <a:r>
              <a:rPr lang="en-US" altLang="zh-CN" sz="2000" baseline="-25000" dirty="0">
                <a:solidFill>
                  <a:srgbClr val="000000"/>
                </a:solidFill>
                <a:sym typeface="Symbol" pitchFamily="18" charset="2"/>
              </a:rPr>
              <a:t>1</a:t>
            </a:r>
            <a:r>
              <a:rPr lang="zh-CN" altLang="en-US" sz="2000" dirty="0">
                <a:solidFill>
                  <a:srgbClr val="000000"/>
                </a:solidFill>
                <a:sym typeface="Symbol" pitchFamily="18" charset="2"/>
              </a:rPr>
              <a:t>是有效的，则知，句柄尚为形成，下一步动作应是移进</a:t>
            </a:r>
            <a:endParaRPr lang="en-US" altLang="zh-CN" sz="2000" dirty="0">
              <a:solidFill>
                <a:srgbClr val="000000"/>
              </a:solidFill>
              <a:sym typeface="Symbol" pitchFamily="18" charset="2"/>
            </a:endParaRPr>
          </a:p>
          <a:p>
            <a:endParaRPr lang="en-US" altLang="zh-CN" sz="2000" dirty="0">
              <a:solidFill>
                <a:srgbClr val="000000"/>
              </a:solidFill>
              <a:sym typeface="Symbol" pitchFamily="18" charset="2"/>
            </a:endParaRPr>
          </a:p>
        </p:txBody>
      </p:sp>
      <p:sp>
        <p:nvSpPr>
          <p:cNvPr id="8" name="内容占位符 7"/>
          <p:cNvSpPr>
            <a:spLocks noGrp="1"/>
          </p:cNvSpPr>
          <p:nvPr>
            <p:ph idx="1"/>
          </p:nvPr>
        </p:nvSpPr>
        <p:spPr>
          <a:xfrm>
            <a:off x="539552" y="3507854"/>
            <a:ext cx="8229600" cy="1635646"/>
          </a:xfrm>
          <a:solidFill>
            <a:schemeClr val="bg1"/>
          </a:solidFill>
        </p:spPr>
        <p:txBody>
          <a:bodyPr>
            <a:normAutofit/>
          </a:bodyPr>
          <a:lstStyle/>
          <a:p>
            <a:r>
              <a:rPr lang="zh-CN" altLang="en-US" sz="2000" dirty="0">
                <a:solidFill>
                  <a:srgbClr val="000000"/>
                </a:solidFill>
                <a:sym typeface="Symbol" pitchFamily="18" charset="2"/>
              </a:rPr>
              <a:t>从前面的介绍可知，</a:t>
            </a:r>
            <a:r>
              <a:rPr lang="en-US" altLang="zh-CN" sz="2000" dirty="0">
                <a:solidFill>
                  <a:srgbClr val="000000"/>
                </a:solidFill>
                <a:sym typeface="Symbol" pitchFamily="18" charset="2"/>
              </a:rPr>
              <a:t>DFA</a:t>
            </a:r>
            <a:r>
              <a:rPr lang="zh-CN" altLang="en-US" sz="2000" dirty="0">
                <a:solidFill>
                  <a:srgbClr val="000000"/>
                </a:solidFill>
                <a:sym typeface="Symbol" pitchFamily="18" charset="2"/>
              </a:rPr>
              <a:t>（</a:t>
            </a:r>
            <a:r>
              <a:rPr lang="en-US" altLang="zh-CN" sz="2000" dirty="0">
                <a:solidFill>
                  <a:srgbClr val="000000"/>
                </a:solidFill>
                <a:sym typeface="Symbol" pitchFamily="18" charset="2"/>
              </a:rPr>
              <a:t>NFA</a:t>
            </a:r>
            <a:r>
              <a:rPr lang="zh-CN" altLang="en-US" sz="2000" dirty="0">
                <a:solidFill>
                  <a:srgbClr val="000000"/>
                </a:solidFill>
                <a:sym typeface="Symbol" pitchFamily="18" charset="2"/>
              </a:rPr>
              <a:t>）的每一个状态</a:t>
            </a:r>
            <a:r>
              <a:rPr lang="en-US" altLang="zh-CN" sz="2000" dirty="0">
                <a:solidFill>
                  <a:srgbClr val="000000"/>
                </a:solidFill>
                <a:sym typeface="Symbol" pitchFamily="18" charset="2"/>
              </a:rPr>
              <a:t>I</a:t>
            </a:r>
            <a:r>
              <a:rPr lang="zh-CN" altLang="en-US" sz="2000" dirty="0">
                <a:solidFill>
                  <a:srgbClr val="000000"/>
                </a:solidFill>
                <a:sym typeface="Symbol" pitchFamily="18" charset="2"/>
              </a:rPr>
              <a:t>都是活前缀的识别态，它识别的活前缀就是从</a:t>
            </a:r>
            <a:r>
              <a:rPr lang="en-US" altLang="zh-CN" sz="2000" dirty="0">
                <a:solidFill>
                  <a:srgbClr val="000000"/>
                </a:solidFill>
                <a:sym typeface="Symbol" pitchFamily="18" charset="2"/>
              </a:rPr>
              <a:t>DFA</a:t>
            </a:r>
            <a:r>
              <a:rPr lang="zh-CN" altLang="en-US" sz="2000" dirty="0">
                <a:solidFill>
                  <a:srgbClr val="000000"/>
                </a:solidFill>
                <a:sym typeface="Symbol" pitchFamily="18" charset="2"/>
              </a:rPr>
              <a:t>的初态出发，逐个读取所经过弧线上的符号，最后到达状态</a:t>
            </a:r>
            <a:r>
              <a:rPr lang="en-US" altLang="zh-CN" sz="2000" dirty="0">
                <a:solidFill>
                  <a:srgbClr val="000000"/>
                </a:solidFill>
                <a:sym typeface="Symbol" pitchFamily="18" charset="2"/>
              </a:rPr>
              <a:t>I</a:t>
            </a:r>
            <a:r>
              <a:rPr lang="zh-CN" altLang="en-US" sz="2000" dirty="0">
                <a:solidFill>
                  <a:srgbClr val="000000"/>
                </a:solidFill>
                <a:sym typeface="Symbol" pitchFamily="18" charset="2"/>
              </a:rPr>
              <a:t>，将弧线上的符号连接起来构成的符号串</a:t>
            </a:r>
            <a:r>
              <a:rPr lang="en-US" altLang="zh-CN" sz="2000" dirty="0">
                <a:solidFill>
                  <a:srgbClr val="000000"/>
                </a:solidFill>
                <a:sym typeface="Symbol" pitchFamily="18" charset="2"/>
              </a:rPr>
              <a:t>α</a:t>
            </a:r>
            <a:r>
              <a:rPr lang="zh-CN" altLang="en-US" sz="2000" dirty="0">
                <a:solidFill>
                  <a:srgbClr val="000000"/>
                </a:solidFill>
                <a:sym typeface="Symbol" pitchFamily="18" charset="2"/>
              </a:rPr>
              <a:t>。状态</a:t>
            </a:r>
            <a:r>
              <a:rPr lang="en-US" altLang="zh-CN" sz="2000" dirty="0">
                <a:solidFill>
                  <a:srgbClr val="000000"/>
                </a:solidFill>
                <a:sym typeface="Symbol" pitchFamily="18" charset="2"/>
              </a:rPr>
              <a:t>I</a:t>
            </a:r>
            <a:r>
              <a:rPr lang="zh-CN" altLang="en-US" sz="2000" dirty="0">
                <a:solidFill>
                  <a:srgbClr val="000000"/>
                </a:solidFill>
                <a:sym typeface="Symbol" pitchFamily="18" charset="2"/>
              </a:rPr>
              <a:t>中的项目对于</a:t>
            </a:r>
            <a:r>
              <a:rPr lang="en-US" altLang="zh-CN" sz="2000" dirty="0">
                <a:solidFill>
                  <a:srgbClr val="000000"/>
                </a:solidFill>
                <a:sym typeface="Symbol" pitchFamily="18" charset="2"/>
              </a:rPr>
              <a:t>α</a:t>
            </a:r>
            <a:r>
              <a:rPr lang="zh-CN" altLang="en-US" sz="2000" dirty="0">
                <a:solidFill>
                  <a:srgbClr val="000000"/>
                </a:solidFill>
                <a:sym typeface="Symbol" pitchFamily="18" charset="2"/>
              </a:rPr>
              <a:t>就是</a:t>
            </a:r>
            <a:r>
              <a:rPr lang="zh-CN" altLang="en-US" sz="2000" b="1" dirty="0">
                <a:solidFill>
                  <a:schemeClr val="accent2"/>
                </a:solidFill>
                <a:sym typeface="Symbol" pitchFamily="18" charset="2"/>
              </a:rPr>
              <a:t>有效项目。</a:t>
            </a:r>
            <a:endParaRPr lang="en-US" altLang="zh-CN" sz="2000" b="1" dirty="0">
              <a:solidFill>
                <a:schemeClr val="accent2"/>
              </a:solidFill>
              <a:sym typeface="Symbol" pitchFamily="18" charset="2"/>
            </a:endParaRPr>
          </a:p>
        </p:txBody>
      </p:sp>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3374" y="466353"/>
            <a:ext cx="3781425" cy="2914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01441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10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1">
                                            <p:bg/>
                                          </p:spTgt>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1">
                                            <p:txEl>
                                              <p:pRg st="1" end="1"/>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
                                            <p:bg/>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8">
                                            <p:txEl>
                                              <p:pRg st="0" end="0"/>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2150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1" grpId="0" build="p" animBg="1"/>
      <p:bldP spid="8" grpId="0" build="p"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title"/>
          </p:nvPr>
        </p:nvSpPr>
        <p:spPr>
          <a:xfrm>
            <a:off x="345851" y="123478"/>
            <a:ext cx="7732713" cy="515937"/>
          </a:xfrm>
        </p:spPr>
        <p:txBody>
          <a:bodyPr>
            <a:normAutofit fontScale="90000"/>
          </a:bodyPr>
          <a:lstStyle/>
          <a:p>
            <a:pPr algn="l" eaLnBrk="1" hangingPunct="1"/>
            <a:r>
              <a:rPr lang="zh-CN" altLang="en-US" sz="4000" dirty="0">
                <a:solidFill>
                  <a:schemeClr val="accent2"/>
                </a:solidFill>
                <a:ea typeface="楷体_GB2312" pitchFamily="49" charset="-122"/>
              </a:rPr>
              <a:t>几个概念</a:t>
            </a:r>
            <a:endParaRPr lang="zh-CN" altLang="en-US" sz="4800" dirty="0">
              <a:ea typeface="楷体_GB2312" pitchFamily="49" charset="-122"/>
            </a:endParaRPr>
          </a:p>
        </p:txBody>
      </p:sp>
      <p:sp>
        <p:nvSpPr>
          <p:cNvPr id="10" name="Rectangle 3"/>
          <p:cNvSpPr txBox="1">
            <a:spLocks noChangeArrowheads="1"/>
          </p:cNvSpPr>
          <p:nvPr/>
        </p:nvSpPr>
        <p:spPr>
          <a:xfrm>
            <a:off x="395536" y="843558"/>
            <a:ext cx="8353425" cy="792088"/>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spcBef>
                <a:spcPct val="30000"/>
              </a:spcBef>
            </a:pPr>
            <a:r>
              <a:rPr lang="zh-CN" altLang="en-US" sz="2200" dirty="0">
                <a:solidFill>
                  <a:srgbClr val="000000"/>
                </a:solidFill>
                <a:sym typeface="Symbol" pitchFamily="18" charset="2"/>
              </a:rPr>
              <a:t>现在来证明这样一个</a:t>
            </a:r>
            <a:r>
              <a:rPr lang="zh-CN" altLang="en-US" sz="2200" dirty="0">
                <a:solidFill>
                  <a:srgbClr val="FF0000"/>
                </a:solidFill>
                <a:sym typeface="Symbol" pitchFamily="18" charset="2"/>
              </a:rPr>
              <a:t>结论</a:t>
            </a:r>
            <a:r>
              <a:rPr lang="zh-CN" altLang="en-US" sz="2200" dirty="0">
                <a:solidFill>
                  <a:srgbClr val="000000"/>
                </a:solidFill>
                <a:sym typeface="Symbol" pitchFamily="18" charset="2"/>
              </a:rPr>
              <a:t>：若项目</a:t>
            </a:r>
            <a:r>
              <a:rPr lang="en-US" altLang="zh-CN" sz="2200" dirty="0">
                <a:solidFill>
                  <a:srgbClr val="000000"/>
                </a:solidFill>
                <a:sym typeface="Symbol" pitchFamily="18" charset="2"/>
              </a:rPr>
              <a:t>A</a:t>
            </a:r>
            <a:r>
              <a:rPr kumimoji="1" lang="en-US" altLang="zh-CN" sz="2000" b="1" dirty="0">
                <a:latin typeface="Times New Roman" panose="02020603050405020304" pitchFamily="18" charset="0"/>
                <a:sym typeface="Symbol" panose="05050102010706020507" pitchFamily="18" charset="2"/>
              </a:rPr>
              <a:t>·</a:t>
            </a:r>
            <a:r>
              <a:rPr lang="en-US" altLang="zh-CN" sz="2200" dirty="0">
                <a:solidFill>
                  <a:srgbClr val="000000"/>
                </a:solidFill>
                <a:sym typeface="Symbol" pitchFamily="18" charset="2"/>
              </a:rPr>
              <a:t>B</a:t>
            </a:r>
            <a:r>
              <a:rPr lang="zh-CN" altLang="en-US" sz="2200" dirty="0">
                <a:solidFill>
                  <a:srgbClr val="000000"/>
                </a:solidFill>
                <a:sym typeface="Symbol" pitchFamily="18" charset="2"/>
              </a:rPr>
              <a:t>对活前缀</a:t>
            </a:r>
            <a:r>
              <a:rPr lang="en-US" altLang="zh-CN" sz="2200" dirty="0">
                <a:solidFill>
                  <a:srgbClr val="000000"/>
                </a:solidFill>
                <a:sym typeface="Symbol" pitchFamily="18" charset="2"/>
              </a:rPr>
              <a:t>δ</a:t>
            </a:r>
            <a:r>
              <a:rPr lang="zh-CN" altLang="en-US" sz="2200" dirty="0">
                <a:solidFill>
                  <a:srgbClr val="000000"/>
                </a:solidFill>
                <a:sym typeface="Symbol" pitchFamily="18" charset="2"/>
              </a:rPr>
              <a:t>有效，且</a:t>
            </a:r>
            <a:r>
              <a:rPr lang="en-US" altLang="zh-CN" sz="2200" dirty="0" err="1">
                <a:solidFill>
                  <a:srgbClr val="000000"/>
                </a:solidFill>
                <a:sym typeface="Symbol" pitchFamily="18" charset="2"/>
              </a:rPr>
              <a:t>Bγ</a:t>
            </a:r>
            <a:r>
              <a:rPr lang="zh-CN" altLang="en-US" sz="2200" dirty="0">
                <a:solidFill>
                  <a:srgbClr val="000000"/>
                </a:solidFill>
                <a:sym typeface="Symbol" pitchFamily="18" charset="2"/>
              </a:rPr>
              <a:t>是一个产生式，则项目</a:t>
            </a:r>
            <a:r>
              <a:rPr lang="en-US" altLang="zh-CN" sz="2200" dirty="0">
                <a:solidFill>
                  <a:srgbClr val="000000"/>
                </a:solidFill>
                <a:sym typeface="Symbol" pitchFamily="18" charset="2"/>
              </a:rPr>
              <a:t>B</a:t>
            </a:r>
            <a:r>
              <a:rPr kumimoji="1" lang="en-US" altLang="zh-CN" sz="2000" b="1" dirty="0">
                <a:latin typeface="Times New Roman" panose="02020603050405020304" pitchFamily="18" charset="0"/>
                <a:sym typeface="Symbol" panose="05050102010706020507" pitchFamily="18" charset="2"/>
              </a:rPr>
              <a:t>·</a:t>
            </a:r>
            <a:r>
              <a:rPr lang="en-US" altLang="zh-CN" sz="2200" dirty="0">
                <a:solidFill>
                  <a:srgbClr val="000000"/>
                </a:solidFill>
                <a:sym typeface="Symbol" pitchFamily="18" charset="2"/>
              </a:rPr>
              <a:t>γ</a:t>
            </a:r>
            <a:r>
              <a:rPr lang="zh-CN" altLang="en-US" sz="2200" dirty="0">
                <a:solidFill>
                  <a:srgbClr val="000000"/>
                </a:solidFill>
                <a:sym typeface="Symbol" pitchFamily="18" charset="2"/>
              </a:rPr>
              <a:t>对活前缀</a:t>
            </a:r>
            <a:r>
              <a:rPr lang="en-US" altLang="zh-CN" sz="2200" dirty="0">
                <a:solidFill>
                  <a:srgbClr val="000000"/>
                </a:solidFill>
                <a:sym typeface="Symbol" pitchFamily="18" charset="2"/>
              </a:rPr>
              <a:t>δ</a:t>
            </a:r>
            <a:r>
              <a:rPr lang="zh-CN" altLang="en-US" sz="2200" dirty="0">
                <a:solidFill>
                  <a:srgbClr val="000000"/>
                </a:solidFill>
                <a:sym typeface="Symbol" pitchFamily="18" charset="2"/>
              </a:rPr>
              <a:t>也是有效的。</a:t>
            </a:r>
            <a:endParaRPr lang="en-US" altLang="zh-CN" sz="2200" dirty="0">
              <a:solidFill>
                <a:srgbClr val="000000"/>
              </a:solidFill>
              <a:sym typeface="Symbol" pitchFamily="18" charset="2"/>
            </a:endParaRPr>
          </a:p>
          <a:p>
            <a:endParaRPr lang="en-US" altLang="zh-CN" sz="2200" dirty="0">
              <a:solidFill>
                <a:srgbClr val="000000"/>
              </a:solidFill>
              <a:sym typeface="Symbol" pitchFamily="18" charset="2"/>
            </a:endParaRPr>
          </a:p>
        </p:txBody>
      </p:sp>
      <p:grpSp>
        <p:nvGrpSpPr>
          <p:cNvPr id="12" name="组合 11"/>
          <p:cNvGrpSpPr/>
          <p:nvPr/>
        </p:nvGrpSpPr>
        <p:grpSpPr>
          <a:xfrm>
            <a:off x="1355568" y="1705102"/>
            <a:ext cx="2736304" cy="863377"/>
            <a:chOff x="2483768" y="4280123"/>
            <a:chExt cx="2736304" cy="863377"/>
          </a:xfrm>
        </p:grpSpPr>
        <p:sp>
          <p:nvSpPr>
            <p:cNvPr id="13" name="Text Box 7"/>
            <p:cNvSpPr txBox="1">
              <a:spLocks noChangeArrowheads="1"/>
            </p:cNvSpPr>
            <p:nvPr/>
          </p:nvSpPr>
          <p:spPr bwMode="auto">
            <a:xfrm>
              <a:off x="2771552" y="4280123"/>
              <a:ext cx="3600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ea typeface="华文行楷" pitchFamily="2" charset="-122"/>
                </a:rPr>
                <a:t>*</a:t>
              </a:r>
            </a:p>
          </p:txBody>
        </p:sp>
        <p:sp>
          <p:nvSpPr>
            <p:cNvPr id="14" name="Rectangle 3"/>
            <p:cNvSpPr txBox="1">
              <a:spLocks noChangeArrowheads="1"/>
            </p:cNvSpPr>
            <p:nvPr/>
          </p:nvSpPr>
          <p:spPr>
            <a:xfrm>
              <a:off x="2483768" y="4458022"/>
              <a:ext cx="2736304" cy="685478"/>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buNone/>
              </a:pP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SδA</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δ</a:t>
              </a:r>
              <a:r>
                <a:rPr lang="en-US" altLang="zh-CN"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B</a:t>
              </a:r>
              <a:r>
                <a:rPr lang="en-US" altLang="zh-CN"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endPar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a:p>
              <a:pPr>
                <a:spcBef>
                  <a:spcPct val="30000"/>
                </a:spcBef>
              </a:pPr>
              <a:endParaRPr lang="zh-CN" altLang="en-US"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p:txBody>
        </p:sp>
        <p:sp>
          <p:nvSpPr>
            <p:cNvPr id="15" name="TextBox 14"/>
            <p:cNvSpPr txBox="1"/>
            <p:nvPr/>
          </p:nvSpPr>
          <p:spPr>
            <a:xfrm>
              <a:off x="3780160" y="4753416"/>
              <a:ext cx="144140" cy="369332"/>
            </a:xfrm>
            <a:prstGeom prst="rect">
              <a:avLst/>
            </a:prstGeom>
            <a:noFill/>
          </p:spPr>
          <p:txBody>
            <a:bodyPr wrap="square" rtlCol="0">
              <a:spAutoFit/>
            </a:bodyPr>
            <a:lstStyle/>
            <a:p>
              <a:r>
                <a:rPr lang="en-US" altLang="zh-CN" dirty="0"/>
                <a:t>R</a:t>
              </a:r>
              <a:endParaRPr lang="zh-CN" altLang="en-US" dirty="0"/>
            </a:p>
          </p:txBody>
        </p:sp>
        <p:sp>
          <p:nvSpPr>
            <p:cNvPr id="16" name="TextBox 15"/>
            <p:cNvSpPr txBox="1"/>
            <p:nvPr/>
          </p:nvSpPr>
          <p:spPr>
            <a:xfrm>
              <a:off x="2843808" y="4753416"/>
              <a:ext cx="144140" cy="369332"/>
            </a:xfrm>
            <a:prstGeom prst="rect">
              <a:avLst/>
            </a:prstGeom>
            <a:noFill/>
          </p:spPr>
          <p:txBody>
            <a:bodyPr wrap="square" rtlCol="0">
              <a:spAutoFit/>
            </a:bodyPr>
            <a:lstStyle/>
            <a:p>
              <a:r>
                <a:rPr lang="en-US" altLang="zh-CN" dirty="0"/>
                <a:t>R</a:t>
              </a:r>
              <a:endParaRPr lang="zh-CN" altLang="en-US" dirty="0"/>
            </a:p>
          </p:txBody>
        </p:sp>
      </p:grpSp>
      <p:grpSp>
        <p:nvGrpSpPr>
          <p:cNvPr id="17" name="组合 16"/>
          <p:cNvGrpSpPr/>
          <p:nvPr/>
        </p:nvGrpSpPr>
        <p:grpSpPr>
          <a:xfrm>
            <a:off x="1313871" y="2499742"/>
            <a:ext cx="2736304" cy="852962"/>
            <a:chOff x="2483768" y="4290538"/>
            <a:chExt cx="2736304" cy="852962"/>
          </a:xfrm>
        </p:grpSpPr>
        <p:sp>
          <p:nvSpPr>
            <p:cNvPr id="18" name="Text Box 7"/>
            <p:cNvSpPr txBox="1">
              <a:spLocks noChangeArrowheads="1"/>
            </p:cNvSpPr>
            <p:nvPr/>
          </p:nvSpPr>
          <p:spPr bwMode="auto">
            <a:xfrm>
              <a:off x="3293625" y="4290538"/>
              <a:ext cx="3600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a:t>
              </a:r>
            </a:p>
          </p:txBody>
        </p:sp>
        <p:sp>
          <p:nvSpPr>
            <p:cNvPr id="19" name="Rectangle 3"/>
            <p:cNvSpPr txBox="1">
              <a:spLocks noChangeArrowheads="1"/>
            </p:cNvSpPr>
            <p:nvPr/>
          </p:nvSpPr>
          <p:spPr>
            <a:xfrm>
              <a:off x="2483768" y="4458022"/>
              <a:ext cx="2736304" cy="685478"/>
            </a:xfrm>
            <a:prstGeom prst="rect">
              <a:avLst/>
            </a:prstGeom>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buNone/>
              </a:pPr>
              <a:r>
                <a:rPr lang="zh-CN" altLang="en-US"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设</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φ</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zh-CN" altLang="en-US"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那么</a:t>
              </a:r>
              <a:endPar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a:p>
              <a:pPr>
                <a:spcBef>
                  <a:spcPct val="30000"/>
                </a:spcBef>
              </a:pPr>
              <a:endParaRPr lang="zh-CN" altLang="en-US"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p:txBody>
        </p:sp>
        <p:sp>
          <p:nvSpPr>
            <p:cNvPr id="21" name="TextBox 20"/>
            <p:cNvSpPr txBox="1"/>
            <p:nvPr/>
          </p:nvSpPr>
          <p:spPr>
            <a:xfrm>
              <a:off x="3293625" y="4753416"/>
              <a:ext cx="144140" cy="369332"/>
            </a:xfrm>
            <a:prstGeom prst="rect">
              <a:avLst/>
            </a:prstGeom>
            <a:noFill/>
          </p:spPr>
          <p:txBody>
            <a:bodyPr wrap="square" rtlCol="0">
              <a:spAutoFit/>
            </a:bodyPr>
            <a:lstStyle/>
            <a:p>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R</a:t>
              </a:r>
              <a:endParaRPr lang="zh-CN" altLang="en-US"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grpSp>
      <p:sp>
        <p:nvSpPr>
          <p:cNvPr id="6" name="内容占位符 5"/>
          <p:cNvSpPr>
            <a:spLocks noGrp="1"/>
          </p:cNvSpPr>
          <p:nvPr>
            <p:ph idx="1"/>
          </p:nvPr>
        </p:nvSpPr>
        <p:spPr>
          <a:xfrm>
            <a:off x="395536" y="4010663"/>
            <a:ext cx="8229600" cy="834563"/>
          </a:xfrm>
          <a:solidFill>
            <a:schemeClr val="bg1"/>
          </a:solidFill>
        </p:spPr>
        <p:txBody>
          <a:bodyPr>
            <a:normAutofit fontScale="77500" lnSpcReduction="20000"/>
          </a:bodyPr>
          <a:lstStyle/>
          <a:p>
            <a:r>
              <a:rPr lang="zh-CN" altLang="en-US" sz="2200" dirty="0"/>
              <a:t>所以，</a:t>
            </a:r>
            <a:r>
              <a:rPr lang="zh-CN" altLang="en-US" sz="2200" dirty="0">
                <a:solidFill>
                  <a:srgbClr val="000000"/>
                </a:solidFill>
                <a:sym typeface="Symbol" pitchFamily="18" charset="2"/>
              </a:rPr>
              <a:t>项目</a:t>
            </a:r>
            <a:r>
              <a:rPr lang="en-US" altLang="zh-CN" sz="2200" dirty="0">
                <a:solidFill>
                  <a:srgbClr val="000000"/>
                </a:solidFill>
                <a:sym typeface="Symbol" pitchFamily="18" charset="2"/>
              </a:rPr>
              <a:t>B</a:t>
            </a:r>
            <a:r>
              <a:rPr kumimoji="1" lang="en-US" altLang="zh-CN" sz="2200" b="1" dirty="0">
                <a:latin typeface="Times New Roman" panose="02020603050405020304" pitchFamily="18" charset="0"/>
                <a:sym typeface="Symbol" panose="05050102010706020507" pitchFamily="18" charset="2"/>
              </a:rPr>
              <a:t>·</a:t>
            </a:r>
            <a:r>
              <a:rPr lang="en-US" altLang="zh-CN" sz="2200" dirty="0">
                <a:solidFill>
                  <a:srgbClr val="000000"/>
                </a:solidFill>
                <a:sym typeface="Symbol" pitchFamily="18" charset="2"/>
              </a:rPr>
              <a:t>γ</a:t>
            </a:r>
            <a:r>
              <a:rPr lang="zh-CN" altLang="en-US" sz="2200" dirty="0">
                <a:solidFill>
                  <a:srgbClr val="000000"/>
                </a:solidFill>
                <a:sym typeface="Symbol" pitchFamily="18" charset="2"/>
              </a:rPr>
              <a:t>对活前缀</a:t>
            </a:r>
            <a:r>
              <a:rPr lang="en-US" altLang="zh-CN" sz="2200" dirty="0">
                <a:solidFill>
                  <a:srgbClr val="000000"/>
                </a:solidFill>
                <a:sym typeface="Symbol" pitchFamily="18" charset="2"/>
              </a:rPr>
              <a:t>δ</a:t>
            </a:r>
            <a:r>
              <a:rPr lang="zh-CN" altLang="en-US" sz="2200" dirty="0">
                <a:solidFill>
                  <a:srgbClr val="000000"/>
                </a:solidFill>
                <a:sym typeface="Symbol" pitchFamily="18" charset="2"/>
              </a:rPr>
              <a:t>也是有效的</a:t>
            </a:r>
            <a:endParaRPr lang="en-US" altLang="zh-CN" sz="2200" dirty="0">
              <a:solidFill>
                <a:srgbClr val="000000"/>
              </a:solidFill>
              <a:sym typeface="Symbol" pitchFamily="18" charset="2"/>
            </a:endParaRPr>
          </a:p>
          <a:p>
            <a:r>
              <a:rPr lang="zh-CN" altLang="en-US" sz="2200" dirty="0">
                <a:solidFill>
                  <a:srgbClr val="000000"/>
                </a:solidFill>
                <a:sym typeface="Symbol" pitchFamily="18" charset="2"/>
              </a:rPr>
              <a:t>这样，在</a:t>
            </a:r>
            <a:r>
              <a:rPr lang="en-US" altLang="zh-CN" sz="2200" dirty="0">
                <a:solidFill>
                  <a:srgbClr val="000000"/>
                </a:solidFill>
                <a:sym typeface="Symbol" pitchFamily="18" charset="2"/>
              </a:rPr>
              <a:t>DFA</a:t>
            </a:r>
            <a:r>
              <a:rPr lang="zh-CN" altLang="en-US" sz="2200" dirty="0">
                <a:solidFill>
                  <a:srgbClr val="000000"/>
                </a:solidFill>
                <a:sym typeface="Symbol" pitchFamily="18" charset="2"/>
              </a:rPr>
              <a:t>的一个状态中的几个项目对活前缀都是有效的，是等价项目</a:t>
            </a:r>
            <a:endParaRPr lang="zh-CN" altLang="en-US" sz="2200" dirty="0"/>
          </a:p>
        </p:txBody>
      </p:sp>
      <p:grpSp>
        <p:nvGrpSpPr>
          <p:cNvPr id="8" name="组合 7"/>
          <p:cNvGrpSpPr/>
          <p:nvPr/>
        </p:nvGrpSpPr>
        <p:grpSpPr>
          <a:xfrm>
            <a:off x="1358754" y="3147286"/>
            <a:ext cx="5157462" cy="863377"/>
            <a:chOff x="1358754" y="3147286"/>
            <a:chExt cx="5157462" cy="863377"/>
          </a:xfrm>
        </p:grpSpPr>
        <p:grpSp>
          <p:nvGrpSpPr>
            <p:cNvPr id="23" name="组合 22"/>
            <p:cNvGrpSpPr/>
            <p:nvPr/>
          </p:nvGrpSpPr>
          <p:grpSpPr>
            <a:xfrm>
              <a:off x="1358754" y="3147286"/>
              <a:ext cx="5157462" cy="863377"/>
              <a:chOff x="2483768" y="4280123"/>
              <a:chExt cx="2736304" cy="863377"/>
            </a:xfrm>
          </p:grpSpPr>
          <p:sp>
            <p:nvSpPr>
              <p:cNvPr id="24" name="Text Box 7"/>
              <p:cNvSpPr txBox="1">
                <a:spLocks noChangeArrowheads="1"/>
              </p:cNvSpPr>
              <p:nvPr/>
            </p:nvSpPr>
            <p:spPr bwMode="auto">
              <a:xfrm>
                <a:off x="2583995" y="4280123"/>
                <a:ext cx="3600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ea typeface="华文行楷" pitchFamily="2" charset="-122"/>
                  </a:rPr>
                  <a:t>*</a:t>
                </a:r>
              </a:p>
            </p:txBody>
          </p:sp>
          <p:sp>
            <p:nvSpPr>
              <p:cNvPr id="25" name="Rectangle 3"/>
              <p:cNvSpPr txBox="1">
                <a:spLocks noChangeArrowheads="1"/>
              </p:cNvSpPr>
              <p:nvPr/>
            </p:nvSpPr>
            <p:spPr>
              <a:xfrm>
                <a:off x="2483768" y="4458022"/>
                <a:ext cx="2736304" cy="685478"/>
              </a:xfrm>
              <a:prstGeom prst="rect">
                <a:avLst/>
              </a:prstGeom>
            </p:spPr>
            <p:txBody>
              <a:bodyPr vert="horz">
                <a:normAutofit fontScale="92500"/>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109728" indent="0">
                  <a:buNone/>
                </a:pP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SδA</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δ</a:t>
                </a:r>
                <a:r>
                  <a:rPr lang="en-US" altLang="zh-CN" dirty="0" err="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B</a:t>
                </a:r>
                <a:r>
                  <a:rPr lang="en-US" altLang="zh-CN"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 </a:t>
                </a: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δB</a:t>
                </a:r>
                <a:r>
                  <a:rPr lang="en-US" altLang="zh-CN"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φ</a:t>
                </a:r>
                <a:r>
                  <a:rPr lang="el-GR" altLang="zh-CN"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r>
                  <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 </a:t>
                </a: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δ</a:t>
                </a:r>
                <a:r>
                  <a:rPr lang="en-US" altLang="zh-CN" dirty="0" err="1">
                    <a:solidFill>
                      <a:srgbClr val="CC00FF"/>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γ</a:t>
                </a:r>
                <a:r>
                  <a:rPr lang="en-US" altLang="zh-CN" dirty="0" err="1">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φ</a:t>
                </a:r>
                <a:r>
                  <a:rPr lang="el-GR"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rPr>
                  <a:t>ω</a:t>
                </a:r>
                <a:endParaRPr lang="en-US" altLang="zh-CN"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a:p>
                <a:pPr>
                  <a:spcBef>
                    <a:spcPct val="30000"/>
                  </a:spcBef>
                </a:pPr>
                <a:endParaRPr lang="zh-CN" altLang="en-US" dirty="0">
                  <a:solidFill>
                    <a:srgbClr val="000000"/>
                  </a:solidFill>
                  <a:latin typeface="Arial Unicode MS" panose="020B0604020202020204" pitchFamily="34" charset="-122"/>
                  <a:ea typeface="Arial Unicode MS" panose="020B0604020202020204" pitchFamily="34" charset="-122"/>
                  <a:cs typeface="Arial Unicode MS" panose="020B0604020202020204" pitchFamily="34" charset="-122"/>
                  <a:sym typeface="Symbol" pitchFamily="18" charset="2"/>
                </a:endParaRPr>
              </a:p>
            </p:txBody>
          </p:sp>
          <p:sp>
            <p:nvSpPr>
              <p:cNvPr id="26" name="TextBox 25"/>
              <p:cNvSpPr txBox="1"/>
              <p:nvPr/>
            </p:nvSpPr>
            <p:spPr>
              <a:xfrm>
                <a:off x="3780160" y="4753416"/>
                <a:ext cx="144140" cy="369332"/>
              </a:xfrm>
              <a:prstGeom prst="rect">
                <a:avLst/>
              </a:prstGeom>
              <a:noFill/>
            </p:spPr>
            <p:txBody>
              <a:bodyPr wrap="square" rtlCol="0">
                <a:spAutoFit/>
              </a:bodyPr>
              <a:lstStyle/>
              <a:p>
                <a:r>
                  <a:rPr lang="en-US" altLang="zh-CN" dirty="0"/>
                  <a:t>R</a:t>
                </a:r>
                <a:endParaRPr lang="zh-CN" altLang="en-US" dirty="0"/>
              </a:p>
            </p:txBody>
          </p:sp>
          <p:sp>
            <p:nvSpPr>
              <p:cNvPr id="27" name="TextBox 26"/>
              <p:cNvSpPr txBox="1"/>
              <p:nvPr/>
            </p:nvSpPr>
            <p:spPr>
              <a:xfrm>
                <a:off x="2656251" y="4753416"/>
                <a:ext cx="144140" cy="369332"/>
              </a:xfrm>
              <a:prstGeom prst="rect">
                <a:avLst/>
              </a:prstGeom>
              <a:noFill/>
            </p:spPr>
            <p:txBody>
              <a:bodyPr wrap="square" rtlCol="0">
                <a:spAutoFit/>
              </a:bodyPr>
              <a:lstStyle/>
              <a:p>
                <a:r>
                  <a:rPr lang="en-US" altLang="zh-CN" dirty="0"/>
                  <a:t>R</a:t>
                </a:r>
                <a:endParaRPr lang="zh-CN" altLang="en-US" dirty="0"/>
              </a:p>
            </p:txBody>
          </p:sp>
        </p:grpSp>
        <p:sp>
          <p:nvSpPr>
            <p:cNvPr id="28" name="Text Box 7"/>
            <p:cNvSpPr txBox="1">
              <a:spLocks noChangeArrowheads="1"/>
            </p:cNvSpPr>
            <p:nvPr/>
          </p:nvSpPr>
          <p:spPr bwMode="auto">
            <a:xfrm>
              <a:off x="3635896" y="3147814"/>
              <a:ext cx="6786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dirty="0">
                  <a:ea typeface="华文行楷" pitchFamily="2" charset="-122"/>
                </a:rPr>
                <a:t>*</a:t>
              </a:r>
            </a:p>
          </p:txBody>
        </p:sp>
        <p:sp>
          <p:nvSpPr>
            <p:cNvPr id="29" name="TextBox 28"/>
            <p:cNvSpPr txBox="1"/>
            <p:nvPr/>
          </p:nvSpPr>
          <p:spPr>
            <a:xfrm>
              <a:off x="5076056" y="3579862"/>
              <a:ext cx="271679" cy="369332"/>
            </a:xfrm>
            <a:prstGeom prst="rect">
              <a:avLst/>
            </a:prstGeom>
            <a:noFill/>
          </p:spPr>
          <p:txBody>
            <a:bodyPr wrap="square" rtlCol="0">
              <a:spAutoFit/>
            </a:bodyPr>
            <a:lstStyle/>
            <a:p>
              <a:r>
                <a:rPr lang="en-US" altLang="zh-CN" dirty="0"/>
                <a:t>R</a:t>
              </a:r>
              <a:endParaRPr lang="zh-CN" altLang="en-US" dirty="0"/>
            </a:p>
          </p:txBody>
        </p:sp>
      </p:grpSp>
      <p:pic>
        <p:nvPicPr>
          <p:cNvPr id="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8104" y="596249"/>
            <a:ext cx="3635896" cy="28024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97058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10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left)">
                                      <p:cBhvr>
                                        <p:cTn id="18" dur="1000"/>
                                        <p:tgtEl>
                                          <p:spTgt spid="17"/>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bg/>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animBg="1"/>
      <p:bldP spid="6" grpId="0" build="p"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5" name="Rectangle 3"/>
          <p:cNvSpPr>
            <a:spLocks noGrp="1" noChangeArrowheads="1"/>
          </p:cNvSpPr>
          <p:nvPr>
            <p:ph type="body" idx="1"/>
          </p:nvPr>
        </p:nvSpPr>
        <p:spPr>
          <a:xfrm>
            <a:off x="323528" y="843558"/>
            <a:ext cx="5112567" cy="4199282"/>
          </a:xfrm>
          <a:solidFill>
            <a:schemeClr val="bg1"/>
          </a:solidFill>
        </p:spPr>
        <p:txBody>
          <a:bodyPr>
            <a:normAutofit fontScale="92500"/>
          </a:bodyPr>
          <a:lstStyle/>
          <a:p>
            <a:pPr>
              <a:lnSpc>
                <a:spcPct val="110000"/>
              </a:lnSpc>
              <a:spcBef>
                <a:spcPts val="0"/>
              </a:spcBef>
            </a:pPr>
            <a:r>
              <a:rPr lang="zh-CN" altLang="en-US" sz="2200" dirty="0">
                <a:solidFill>
                  <a:srgbClr val="000000"/>
                </a:solidFill>
                <a:sym typeface="Symbol" pitchFamily="18" charset="2"/>
              </a:rPr>
              <a:t>因此，在</a:t>
            </a:r>
            <a:r>
              <a:rPr lang="en-US" altLang="zh-CN" sz="2200" dirty="0">
                <a:solidFill>
                  <a:srgbClr val="000000"/>
                </a:solidFill>
                <a:sym typeface="Symbol" pitchFamily="18" charset="2"/>
              </a:rPr>
              <a:t>DFA</a:t>
            </a:r>
            <a:r>
              <a:rPr lang="zh-CN" altLang="en-US" sz="2200" dirty="0">
                <a:solidFill>
                  <a:srgbClr val="000000"/>
                </a:solidFill>
                <a:sym typeface="Symbol" pitchFamily="18" charset="2"/>
              </a:rPr>
              <a:t>中，任何一个活前缀可能会有多个有效项目，它们构成一个</a:t>
            </a:r>
            <a:r>
              <a:rPr lang="zh-CN" altLang="en-US" sz="2200" b="1" dirty="0">
                <a:solidFill>
                  <a:schemeClr val="accent2"/>
                </a:solidFill>
                <a:sym typeface="Symbol" pitchFamily="18" charset="2"/>
              </a:rPr>
              <a:t>有效项目集，</a:t>
            </a:r>
            <a:r>
              <a:rPr lang="zh-CN" altLang="en-US" sz="2200" dirty="0">
                <a:solidFill>
                  <a:srgbClr val="000000"/>
                </a:solidFill>
                <a:sym typeface="Symbol" pitchFamily="18" charset="2"/>
              </a:rPr>
              <a:t>就是从</a:t>
            </a:r>
            <a:r>
              <a:rPr lang="en-US" altLang="zh-CN" sz="2200" dirty="0">
                <a:solidFill>
                  <a:srgbClr val="000000"/>
                </a:solidFill>
                <a:sym typeface="Symbol" pitchFamily="18" charset="2"/>
              </a:rPr>
              <a:t>DFA</a:t>
            </a:r>
            <a:r>
              <a:rPr lang="zh-CN" altLang="en-US" sz="2200" dirty="0">
                <a:solidFill>
                  <a:srgbClr val="000000"/>
                </a:solidFill>
                <a:sym typeface="Symbol" pitchFamily="18" charset="2"/>
              </a:rPr>
              <a:t>的初态出发，经读取后而能到达的那个状态中的所有项目。</a:t>
            </a:r>
            <a:r>
              <a:rPr lang="en-US" altLang="zh-CN" sz="2200" dirty="0" err="1">
                <a:solidFill>
                  <a:srgbClr val="000000"/>
                </a:solidFill>
                <a:sym typeface="Symbol" pitchFamily="18" charset="2"/>
              </a:rPr>
              <a:t>ie</a:t>
            </a:r>
            <a:r>
              <a:rPr lang="en-US" altLang="zh-CN" sz="2200" dirty="0">
                <a:solidFill>
                  <a:srgbClr val="000000"/>
                </a:solidFill>
                <a:sym typeface="Symbol" pitchFamily="18" charset="2"/>
              </a:rPr>
              <a:t>.</a:t>
            </a:r>
            <a:r>
              <a:rPr lang="zh-CN" altLang="en-US" sz="2200" dirty="0">
                <a:solidFill>
                  <a:srgbClr val="000000"/>
                </a:solidFill>
                <a:sym typeface="Symbol" pitchFamily="18" charset="2"/>
              </a:rPr>
              <a:t>分析栈中的活前缀</a:t>
            </a:r>
            <a:r>
              <a:rPr lang="en-US" altLang="zh-CN" sz="2200" dirty="0">
                <a:solidFill>
                  <a:srgbClr val="000000"/>
                </a:solidFill>
                <a:sym typeface="Symbol" pitchFamily="18" charset="2"/>
              </a:rPr>
              <a:t>X1X2…</a:t>
            </a:r>
            <a:r>
              <a:rPr lang="en-US" altLang="zh-CN" sz="2200" dirty="0" err="1">
                <a:solidFill>
                  <a:srgbClr val="000000"/>
                </a:solidFill>
                <a:sym typeface="Symbol" pitchFamily="18" charset="2"/>
              </a:rPr>
              <a:t>Xm</a:t>
            </a:r>
            <a:r>
              <a:rPr lang="zh-CN" altLang="en-US" sz="2200" dirty="0">
                <a:solidFill>
                  <a:srgbClr val="000000"/>
                </a:solidFill>
                <a:sym typeface="Symbol" pitchFamily="18" charset="2"/>
              </a:rPr>
              <a:t>的有效项目集是栈顶状态</a:t>
            </a:r>
            <a:r>
              <a:rPr lang="en-US" altLang="zh-CN" sz="2200" dirty="0">
                <a:solidFill>
                  <a:srgbClr val="000000"/>
                </a:solidFill>
                <a:sym typeface="Symbol" pitchFamily="18" charset="2"/>
              </a:rPr>
              <a:t>Sm</a:t>
            </a:r>
            <a:r>
              <a:rPr lang="zh-CN" altLang="en-US" sz="2200" dirty="0">
                <a:solidFill>
                  <a:srgbClr val="000000"/>
                </a:solidFill>
                <a:sym typeface="Symbol" pitchFamily="18" charset="2"/>
              </a:rPr>
              <a:t>所代表的状态</a:t>
            </a:r>
          </a:p>
          <a:p>
            <a:pPr>
              <a:lnSpc>
                <a:spcPct val="110000"/>
              </a:lnSpc>
              <a:spcBef>
                <a:spcPts val="0"/>
              </a:spcBef>
            </a:pPr>
            <a:r>
              <a:rPr lang="zh-CN" altLang="en-US" sz="2200" dirty="0">
                <a:solidFill>
                  <a:srgbClr val="000000"/>
                </a:solidFill>
                <a:sym typeface="Symbol" pitchFamily="18" charset="2"/>
              </a:rPr>
              <a:t>直观上，如果某个</a:t>
            </a:r>
            <a:r>
              <a:rPr lang="en-US" altLang="zh-CN" sz="2200" dirty="0">
                <a:solidFill>
                  <a:srgbClr val="000000"/>
                </a:solidFill>
                <a:sym typeface="Symbol" pitchFamily="18" charset="2"/>
              </a:rPr>
              <a:t>I</a:t>
            </a:r>
            <a:r>
              <a:rPr lang="zh-CN" altLang="en-US" sz="2200" dirty="0">
                <a:solidFill>
                  <a:srgbClr val="000000"/>
                </a:solidFill>
                <a:sym typeface="Symbol" pitchFamily="18" charset="2"/>
              </a:rPr>
              <a:t>是对于某个活前缀</a:t>
            </a:r>
            <a:r>
              <a:rPr lang="en-US" altLang="zh-CN" sz="2200" dirty="0">
                <a:solidFill>
                  <a:srgbClr val="000000"/>
                </a:solidFill>
                <a:sym typeface="Symbol" pitchFamily="18" charset="2"/>
              </a:rPr>
              <a:t>γ</a:t>
            </a:r>
            <a:r>
              <a:rPr lang="zh-CN" altLang="en-US" sz="2200" dirty="0">
                <a:solidFill>
                  <a:srgbClr val="000000"/>
                </a:solidFill>
                <a:sym typeface="Symbol" pitchFamily="18" charset="2"/>
              </a:rPr>
              <a:t>有效的项目集，</a:t>
            </a:r>
            <a:r>
              <a:rPr lang="en-US" altLang="zh-CN" sz="2200" dirty="0">
                <a:solidFill>
                  <a:srgbClr val="000000"/>
                </a:solidFill>
                <a:sym typeface="Symbol" pitchFamily="18" charset="2"/>
              </a:rPr>
              <a:t>go(I,X),</a:t>
            </a:r>
            <a:r>
              <a:rPr lang="zh-CN" altLang="en-US" sz="2200" dirty="0">
                <a:solidFill>
                  <a:srgbClr val="000000"/>
                </a:solidFill>
                <a:sym typeface="Symbol" pitchFamily="18" charset="2"/>
              </a:rPr>
              <a:t>就是对</a:t>
            </a:r>
            <a:r>
              <a:rPr lang="en-US" altLang="zh-CN" sz="2200" dirty="0" err="1">
                <a:solidFill>
                  <a:srgbClr val="000000"/>
                </a:solidFill>
                <a:sym typeface="Symbol" pitchFamily="18" charset="2"/>
              </a:rPr>
              <a:t>γX</a:t>
            </a:r>
            <a:r>
              <a:rPr lang="zh-CN" altLang="en-US" sz="2200" dirty="0">
                <a:solidFill>
                  <a:srgbClr val="000000"/>
                </a:solidFill>
                <a:sym typeface="Symbol" pitchFamily="18" charset="2"/>
              </a:rPr>
              <a:t>有效的项目，当然这个结论也是可以证明的。</a:t>
            </a:r>
            <a:endParaRPr lang="en-US" altLang="zh-CN" sz="2200" dirty="0">
              <a:solidFill>
                <a:srgbClr val="000000"/>
              </a:solidFill>
              <a:sym typeface="Symbol" pitchFamily="18" charset="2"/>
            </a:endParaRPr>
          </a:p>
          <a:p>
            <a:pPr>
              <a:lnSpc>
                <a:spcPct val="110000"/>
              </a:lnSpc>
              <a:spcBef>
                <a:spcPts val="0"/>
              </a:spcBef>
            </a:pPr>
            <a:r>
              <a:rPr lang="zh-CN" altLang="en-US" sz="2200" dirty="0">
                <a:solidFill>
                  <a:srgbClr val="000000"/>
                </a:solidFill>
                <a:sym typeface="Symbol" pitchFamily="18" charset="2"/>
              </a:rPr>
              <a:t>因此，一个符号串在识别过程中如何移进和归约全部都在这个</a:t>
            </a:r>
            <a:r>
              <a:rPr lang="en-US" altLang="zh-CN" sz="2200" dirty="0">
                <a:solidFill>
                  <a:srgbClr val="000000"/>
                </a:solidFill>
                <a:sym typeface="Symbol" pitchFamily="18" charset="2"/>
              </a:rPr>
              <a:t>DFA</a:t>
            </a:r>
            <a:r>
              <a:rPr lang="zh-CN" altLang="en-US" sz="2200" dirty="0">
                <a:solidFill>
                  <a:srgbClr val="000000"/>
                </a:solidFill>
                <a:sym typeface="Symbol" pitchFamily="18" charset="2"/>
              </a:rPr>
              <a:t>中反映出来</a:t>
            </a:r>
            <a:endParaRPr lang="en-US" altLang="zh-CN" sz="2200" dirty="0">
              <a:solidFill>
                <a:srgbClr val="000000"/>
              </a:solidFill>
              <a:sym typeface="Symbol" pitchFamily="18" charset="2"/>
            </a:endParaRPr>
          </a:p>
        </p:txBody>
      </p:sp>
      <p:sp>
        <p:nvSpPr>
          <p:cNvPr id="4" name="Rectangle 2"/>
          <p:cNvSpPr>
            <a:spLocks noGrp="1" noChangeArrowheads="1"/>
          </p:cNvSpPr>
          <p:nvPr>
            <p:ph type="title"/>
          </p:nvPr>
        </p:nvSpPr>
        <p:spPr>
          <a:xfrm>
            <a:off x="345851" y="123478"/>
            <a:ext cx="7732713" cy="515937"/>
          </a:xfrm>
        </p:spPr>
        <p:txBody>
          <a:bodyPr>
            <a:normAutofit fontScale="90000"/>
          </a:bodyPr>
          <a:lstStyle/>
          <a:p>
            <a:pPr algn="l" eaLnBrk="1" hangingPunct="1"/>
            <a:r>
              <a:rPr lang="zh-CN" altLang="en-US" sz="4000" dirty="0">
                <a:solidFill>
                  <a:schemeClr val="accent2"/>
                </a:solidFill>
                <a:ea typeface="楷体_GB2312" pitchFamily="49" charset="-122"/>
              </a:rPr>
              <a:t>几个概念</a:t>
            </a:r>
            <a:endParaRPr lang="zh-CN" altLang="en-US" sz="4800" dirty="0">
              <a:ea typeface="楷体_GB2312" pitchFamily="49" charset="-122"/>
            </a:endParaRPr>
          </a:p>
        </p:txBody>
      </p:sp>
      <p:pic>
        <p:nvPicPr>
          <p:cNvPr id="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8104" y="1491630"/>
            <a:ext cx="3635896" cy="28024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68259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0355">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0355">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0355">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035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5" grpId="0" build="p"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a:xfrm>
            <a:off x="685800" y="457200"/>
            <a:ext cx="7772400" cy="155575"/>
          </a:xfrm>
        </p:spPr>
        <p:txBody>
          <a:bodyPr>
            <a:normAutofit fontScale="90000"/>
          </a:bodyPr>
          <a:lstStyle/>
          <a:p>
            <a:pPr eaLnBrk="1" hangingPunct="1"/>
            <a:endParaRPr lang="zh-CN" altLang="zh-CN"/>
          </a:p>
        </p:txBody>
      </p:sp>
      <p:sp>
        <p:nvSpPr>
          <p:cNvPr id="220163" name="Rectangle 3"/>
          <p:cNvSpPr>
            <a:spLocks noGrp="1" noChangeArrowheads="1"/>
          </p:cNvSpPr>
          <p:nvPr>
            <p:ph type="body" idx="1"/>
          </p:nvPr>
        </p:nvSpPr>
        <p:spPr>
          <a:xfrm>
            <a:off x="387350" y="1022350"/>
            <a:ext cx="8348663" cy="3549650"/>
          </a:xfrm>
        </p:spPr>
        <p:txBody>
          <a:bodyPr>
            <a:normAutofit/>
          </a:bodyPr>
          <a:lstStyle/>
          <a:p>
            <a:pPr eaLnBrk="1" hangingPunct="1"/>
            <a:r>
              <a:rPr lang="zh-CN" altLang="en-US" sz="2200" dirty="0">
                <a:solidFill>
                  <a:srgbClr val="000000"/>
                </a:solidFill>
                <a:sym typeface="Symbol" pitchFamily="18" charset="2"/>
              </a:rPr>
              <a:t>若文法</a:t>
            </a:r>
            <a:r>
              <a:rPr lang="en-US" altLang="zh-CN" sz="2200" dirty="0">
                <a:solidFill>
                  <a:srgbClr val="000000"/>
                </a:solidFill>
                <a:sym typeface="Symbol" pitchFamily="18" charset="2"/>
              </a:rPr>
              <a:t>G = ( </a:t>
            </a:r>
            <a:r>
              <a:rPr lang="en-US" altLang="zh-CN" sz="2200" dirty="0" err="1">
                <a:solidFill>
                  <a:srgbClr val="000000"/>
                </a:solidFill>
                <a:sym typeface="Symbol" pitchFamily="18" charset="2"/>
              </a:rPr>
              <a:t>V</a:t>
            </a:r>
            <a:r>
              <a:rPr lang="en-US" altLang="zh-CN" sz="2200" baseline="-25000" dirty="0" err="1">
                <a:solidFill>
                  <a:srgbClr val="000000"/>
                </a:solidFill>
                <a:sym typeface="Symbol" pitchFamily="18" charset="2"/>
              </a:rPr>
              <a:t>t</a:t>
            </a:r>
            <a:r>
              <a:rPr lang="en-US" altLang="zh-CN" sz="2200" dirty="0">
                <a:solidFill>
                  <a:srgbClr val="000000"/>
                </a:solidFill>
                <a:sym typeface="Symbol" pitchFamily="18" charset="2"/>
              </a:rPr>
              <a:t>, </a:t>
            </a:r>
            <a:r>
              <a:rPr lang="en-US" altLang="zh-CN" sz="2200" dirty="0" err="1">
                <a:solidFill>
                  <a:srgbClr val="000000"/>
                </a:solidFill>
                <a:sym typeface="Symbol" pitchFamily="18" charset="2"/>
              </a:rPr>
              <a:t>V</a:t>
            </a:r>
            <a:r>
              <a:rPr lang="en-US" altLang="zh-CN" sz="2200" baseline="-25000" dirty="0" err="1">
                <a:solidFill>
                  <a:srgbClr val="000000"/>
                </a:solidFill>
                <a:sym typeface="Symbol" pitchFamily="18" charset="2"/>
              </a:rPr>
              <a:t>n</a:t>
            </a:r>
            <a:r>
              <a:rPr lang="en-US" altLang="zh-CN" sz="2200" dirty="0">
                <a:solidFill>
                  <a:srgbClr val="000000"/>
                </a:solidFill>
                <a:sym typeface="Symbol" pitchFamily="18" charset="2"/>
              </a:rPr>
              <a:t>, S, )</a:t>
            </a:r>
            <a:r>
              <a:rPr lang="zh-CN" altLang="en-US" sz="2200" dirty="0">
                <a:solidFill>
                  <a:srgbClr val="000000"/>
                </a:solidFill>
                <a:sym typeface="Symbol" pitchFamily="18" charset="2"/>
              </a:rPr>
              <a:t>，则</a:t>
            </a:r>
            <a:r>
              <a:rPr lang="zh-CN" altLang="en-US" sz="2200" b="1" dirty="0">
                <a:solidFill>
                  <a:schemeClr val="accent2"/>
                </a:solidFill>
                <a:sym typeface="Symbol" pitchFamily="18" charset="2"/>
              </a:rPr>
              <a:t>识别</a:t>
            </a:r>
            <a:r>
              <a:rPr lang="en-US" altLang="zh-CN" sz="2200" b="1" dirty="0">
                <a:solidFill>
                  <a:schemeClr val="accent2"/>
                </a:solidFill>
                <a:sym typeface="Symbol" pitchFamily="18" charset="2"/>
              </a:rPr>
              <a:t>G</a:t>
            </a:r>
            <a:r>
              <a:rPr lang="zh-CN" altLang="en-US" sz="2200" b="1" dirty="0">
                <a:solidFill>
                  <a:schemeClr val="accent2"/>
                </a:solidFill>
                <a:sym typeface="Symbol" pitchFamily="18" charset="2"/>
              </a:rPr>
              <a:t>的项目集规范族的自动机</a:t>
            </a:r>
            <a:r>
              <a:rPr lang="zh-CN" altLang="en-US" sz="2200" dirty="0">
                <a:solidFill>
                  <a:srgbClr val="000000"/>
                </a:solidFill>
                <a:sym typeface="Symbol" pitchFamily="18" charset="2"/>
              </a:rPr>
              <a:t>为</a:t>
            </a:r>
            <a:r>
              <a:rPr lang="en-US" altLang="zh-CN" sz="2200" dirty="0">
                <a:solidFill>
                  <a:srgbClr val="000000"/>
                </a:solidFill>
                <a:sym typeface="Symbol" pitchFamily="18" charset="2"/>
              </a:rPr>
              <a:t>DFA </a:t>
            </a:r>
          </a:p>
          <a:p>
            <a:pPr eaLnBrk="1" hangingPunct="1">
              <a:buFontTx/>
              <a:buNone/>
            </a:pPr>
            <a:r>
              <a:rPr lang="en-US" altLang="zh-CN" sz="2200" dirty="0">
                <a:solidFill>
                  <a:srgbClr val="000000"/>
                </a:solidFill>
                <a:sym typeface="Symbol" pitchFamily="18" charset="2"/>
              </a:rPr>
              <a:t>		M = ( =</a:t>
            </a:r>
            <a:r>
              <a:rPr lang="en-US" altLang="zh-CN" sz="2200" dirty="0" err="1">
                <a:solidFill>
                  <a:srgbClr val="000000"/>
                </a:solidFill>
                <a:sym typeface="Symbol" pitchFamily="18" charset="2"/>
              </a:rPr>
              <a:t>V</a:t>
            </a:r>
            <a:r>
              <a:rPr lang="en-US" altLang="zh-CN" sz="2200" baseline="-25000" dirty="0" err="1">
                <a:solidFill>
                  <a:srgbClr val="000000"/>
                </a:solidFill>
                <a:sym typeface="Symbol" pitchFamily="18" charset="2"/>
              </a:rPr>
              <a:t>t</a:t>
            </a:r>
            <a:r>
              <a:rPr lang="en-US" altLang="zh-CN" sz="2200" dirty="0" err="1">
                <a:solidFill>
                  <a:srgbClr val="000000"/>
                </a:solidFill>
                <a:sym typeface="Symbol" pitchFamily="18" charset="2"/>
              </a:rPr>
              <a:t>V</a:t>
            </a:r>
            <a:r>
              <a:rPr lang="en-US" altLang="zh-CN" sz="2200" baseline="-25000" dirty="0" err="1">
                <a:solidFill>
                  <a:srgbClr val="000000"/>
                </a:solidFill>
                <a:sym typeface="Symbol" pitchFamily="18" charset="2"/>
              </a:rPr>
              <a:t>n</a:t>
            </a:r>
            <a:r>
              <a:rPr lang="zh-CN" altLang="en-US" sz="2200" dirty="0">
                <a:solidFill>
                  <a:srgbClr val="000000"/>
                </a:solidFill>
                <a:sym typeface="Symbol" pitchFamily="18" charset="2"/>
              </a:rPr>
              <a:t>，</a:t>
            </a:r>
            <a:r>
              <a:rPr lang="en-US" altLang="zh-CN" sz="2200" dirty="0">
                <a:solidFill>
                  <a:srgbClr val="000000"/>
                </a:solidFill>
                <a:sym typeface="Symbol" pitchFamily="18" charset="2"/>
              </a:rPr>
              <a:t>Q=G</a:t>
            </a:r>
            <a:r>
              <a:rPr lang="zh-CN" altLang="en-US" sz="2200" dirty="0">
                <a:solidFill>
                  <a:srgbClr val="000000"/>
                </a:solidFill>
                <a:sym typeface="Symbol" pitchFamily="18" charset="2"/>
              </a:rPr>
              <a:t>的</a:t>
            </a:r>
            <a:r>
              <a:rPr lang="en-US" altLang="zh-CN" sz="2200" dirty="0">
                <a:solidFill>
                  <a:srgbClr val="000000"/>
                </a:solidFill>
                <a:sym typeface="Symbol" pitchFamily="18" charset="2"/>
              </a:rPr>
              <a:t>LR(0)</a:t>
            </a:r>
            <a:r>
              <a:rPr lang="zh-CN" altLang="en-US" sz="2200" dirty="0">
                <a:solidFill>
                  <a:srgbClr val="000000"/>
                </a:solidFill>
                <a:sym typeface="Symbol" pitchFamily="18" charset="2"/>
              </a:rPr>
              <a:t>项目集规范族</a:t>
            </a:r>
            <a:r>
              <a:rPr lang="en-US" altLang="zh-CN" sz="2200" dirty="0">
                <a:solidFill>
                  <a:srgbClr val="000000"/>
                </a:solidFill>
                <a:sym typeface="Symbol" pitchFamily="18" charset="2"/>
              </a:rPr>
              <a:t>, q</a:t>
            </a:r>
            <a:r>
              <a:rPr lang="en-US" altLang="zh-CN" sz="2200" baseline="-25000" dirty="0">
                <a:solidFill>
                  <a:srgbClr val="000000"/>
                </a:solidFill>
                <a:sym typeface="Symbol" pitchFamily="18" charset="2"/>
              </a:rPr>
              <a:t>0</a:t>
            </a:r>
            <a:r>
              <a:rPr lang="en-US" altLang="zh-CN" sz="2200" dirty="0">
                <a:solidFill>
                  <a:srgbClr val="000000"/>
                </a:solidFill>
                <a:sym typeface="Symbol" pitchFamily="18" charset="2"/>
              </a:rPr>
              <a:t>=closure({S</a:t>
            </a:r>
            <a:r>
              <a:rPr lang="en-US" altLang="zh-CN" sz="2200" b="1" dirty="0">
                <a:sym typeface="Symbol" pitchFamily="18" charset="2"/>
              </a:rPr>
              <a:t>·</a:t>
            </a:r>
            <a:r>
              <a:rPr lang="en-US" altLang="zh-CN" sz="2200" dirty="0">
                <a:solidFill>
                  <a:srgbClr val="000000"/>
                </a:solidFill>
                <a:sym typeface="Symbol" pitchFamily="18" charset="2"/>
              </a:rPr>
              <a:t>S})</a:t>
            </a:r>
            <a:r>
              <a:rPr lang="zh-CN" altLang="en-US" sz="2200" dirty="0">
                <a:solidFill>
                  <a:srgbClr val="000000"/>
                </a:solidFill>
                <a:sym typeface="Symbol" pitchFamily="18" charset="2"/>
              </a:rPr>
              <a:t>，</a:t>
            </a:r>
            <a:r>
              <a:rPr lang="en-US" altLang="zh-CN" sz="2200" dirty="0">
                <a:solidFill>
                  <a:srgbClr val="000000"/>
                </a:solidFill>
                <a:sym typeface="Symbol" pitchFamily="18" charset="2"/>
              </a:rPr>
              <a:t>F=</a:t>
            </a:r>
            <a:r>
              <a:rPr lang="zh-CN" altLang="en-US" sz="2200" dirty="0">
                <a:solidFill>
                  <a:srgbClr val="000000"/>
                </a:solidFill>
                <a:sym typeface="Symbol" pitchFamily="18" charset="2"/>
              </a:rPr>
              <a:t>所有含归约项目的有效项目集组成的集合，</a:t>
            </a:r>
            <a:r>
              <a:rPr lang="en-US" altLang="zh-CN" sz="2200" dirty="0">
                <a:solidFill>
                  <a:srgbClr val="000000"/>
                </a:solidFill>
                <a:sym typeface="Symbol" pitchFamily="18" charset="2"/>
              </a:rPr>
              <a:t>=go  )</a:t>
            </a:r>
          </a:p>
          <a:p>
            <a:pPr eaLnBrk="1" hangingPunct="1"/>
            <a:endParaRPr lang="en-US" altLang="zh-CN" sz="2200" dirty="0"/>
          </a:p>
        </p:txBody>
      </p:sp>
    </p:spTree>
    <p:extLst>
      <p:ext uri="{BB962C8B-B14F-4D97-AF65-F5344CB8AC3E}">
        <p14:creationId xmlns:p14="http://schemas.microsoft.com/office/powerpoint/2010/main" val="3193240866"/>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467544" y="771550"/>
            <a:ext cx="8229600" cy="4248472"/>
          </a:xfrm>
          <a:solidFill>
            <a:schemeClr val="bg1"/>
          </a:solidFill>
        </p:spPr>
        <p:txBody>
          <a:bodyPr>
            <a:noAutofit/>
          </a:bodyPr>
          <a:lstStyle/>
          <a:p>
            <a:pPr>
              <a:spcBef>
                <a:spcPts val="0"/>
              </a:spcBef>
            </a:pPr>
            <a:r>
              <a:rPr lang="en-US" altLang="zh-CN" sz="2200" dirty="0"/>
              <a:t>LR</a:t>
            </a:r>
            <a:r>
              <a:rPr lang="zh-CN" altLang="en-US" sz="2200" dirty="0"/>
              <a:t>分析是严格的规范归约，在分析过程中：</a:t>
            </a:r>
            <a:endParaRPr lang="en-US" altLang="zh-CN" sz="2200" dirty="0"/>
          </a:p>
          <a:p>
            <a:pPr lvl="1">
              <a:spcBef>
                <a:spcPts val="0"/>
              </a:spcBef>
            </a:pPr>
            <a:r>
              <a:rPr lang="zh-CN" altLang="en-US" dirty="0"/>
              <a:t>栈中的符号串加上剩余输入符号串构成一个规范句型</a:t>
            </a:r>
            <a:endParaRPr lang="en-US" altLang="zh-CN" dirty="0"/>
          </a:p>
          <a:p>
            <a:pPr lvl="1">
              <a:spcBef>
                <a:spcPts val="0"/>
              </a:spcBef>
            </a:pPr>
            <a:r>
              <a:rPr lang="zh-CN" altLang="en-US" dirty="0"/>
              <a:t>分析栈的内容是</a:t>
            </a:r>
            <a:r>
              <a:rPr lang="zh-CN" altLang="en-US" dirty="0">
                <a:solidFill>
                  <a:srgbClr val="FF0000"/>
                </a:solidFill>
              </a:rPr>
              <a:t>活前缀</a:t>
            </a:r>
            <a:endParaRPr lang="en-US" altLang="zh-CN" dirty="0">
              <a:solidFill>
                <a:srgbClr val="FF0000"/>
              </a:solidFill>
            </a:endParaRPr>
          </a:p>
          <a:p>
            <a:pPr>
              <a:spcBef>
                <a:spcPts val="0"/>
              </a:spcBef>
            </a:pPr>
            <a:r>
              <a:rPr lang="zh-CN" altLang="en-US" sz="2200" dirty="0"/>
              <a:t>因此，需要构造一个有穷自动机来识别一个文法的所有规范句型的活前缀，有两种构造识别活前缀的</a:t>
            </a:r>
            <a:r>
              <a:rPr lang="en-US" altLang="zh-CN" sz="2200" dirty="0"/>
              <a:t>DFA</a:t>
            </a:r>
          </a:p>
          <a:p>
            <a:pPr lvl="1">
              <a:spcBef>
                <a:spcPts val="0"/>
              </a:spcBef>
            </a:pPr>
            <a:r>
              <a:rPr lang="zh-CN" altLang="en-US" dirty="0"/>
              <a:t>项目</a:t>
            </a:r>
            <a:r>
              <a:rPr lang="en-US" altLang="zh-CN" dirty="0">
                <a:sym typeface="Wingdings" panose="05000000000000000000" pitchFamily="2" charset="2"/>
              </a:rPr>
              <a:t>NFADFA</a:t>
            </a:r>
          </a:p>
          <a:p>
            <a:pPr lvl="1">
              <a:spcBef>
                <a:spcPts val="0"/>
              </a:spcBef>
            </a:pPr>
            <a:r>
              <a:rPr lang="en-US" altLang="zh-CN" dirty="0" err="1">
                <a:sym typeface="Wingdings" panose="05000000000000000000" pitchFamily="2" charset="2"/>
              </a:rPr>
              <a:t>closuregoDFA</a:t>
            </a:r>
            <a:endParaRPr lang="en-US" altLang="zh-CN" dirty="0">
              <a:sym typeface="Wingdings" panose="05000000000000000000" pitchFamily="2" charset="2"/>
            </a:endParaRPr>
          </a:p>
          <a:p>
            <a:pPr>
              <a:spcBef>
                <a:spcPts val="0"/>
              </a:spcBef>
            </a:pPr>
            <a:r>
              <a:rPr lang="en-US" altLang="zh-CN" sz="2200" dirty="0"/>
              <a:t>DFA</a:t>
            </a:r>
            <a:r>
              <a:rPr lang="zh-CN" altLang="en-US" sz="2200" dirty="0"/>
              <a:t>的每一个状态，是规范句型某个活前缀的有效项目，各个项目是等价的</a:t>
            </a:r>
            <a:endParaRPr lang="en-US" altLang="zh-CN" sz="2200" dirty="0"/>
          </a:p>
          <a:p>
            <a:pPr>
              <a:spcBef>
                <a:spcPts val="0"/>
              </a:spcBef>
            </a:pPr>
            <a:r>
              <a:rPr lang="zh-CN" altLang="en-US" sz="2200" dirty="0"/>
              <a:t>在</a:t>
            </a:r>
            <a:r>
              <a:rPr lang="en-US" altLang="zh-CN" sz="2200" dirty="0"/>
              <a:t>LR</a:t>
            </a:r>
            <a:r>
              <a:rPr lang="zh-CN" altLang="en-US" sz="2200" dirty="0"/>
              <a:t>分析中，分析器按照</a:t>
            </a:r>
            <a:r>
              <a:rPr lang="en-US" altLang="zh-CN" sz="2200" dirty="0"/>
              <a:t>DFA</a:t>
            </a:r>
            <a:r>
              <a:rPr lang="zh-CN" altLang="en-US" sz="2200" dirty="0"/>
              <a:t>进行工作，从初始状态出发，</a:t>
            </a:r>
            <a:r>
              <a:rPr lang="zh-CN" altLang="en-US" sz="2200" dirty="0">
                <a:solidFill>
                  <a:srgbClr val="0000FF"/>
                </a:solidFill>
              </a:rPr>
              <a:t>每一步都能准确地进行移进和归约，保证分析栈中总是某个规范句型的活前缀</a:t>
            </a:r>
          </a:p>
        </p:txBody>
      </p:sp>
      <p:sp>
        <p:nvSpPr>
          <p:cNvPr id="3" name="标题 2"/>
          <p:cNvSpPr>
            <a:spLocks noGrp="1"/>
          </p:cNvSpPr>
          <p:nvPr>
            <p:ph type="title"/>
          </p:nvPr>
        </p:nvSpPr>
        <p:spPr>
          <a:xfrm>
            <a:off x="323528" y="123478"/>
            <a:ext cx="7869560" cy="576064"/>
          </a:xfrm>
        </p:spPr>
        <p:txBody>
          <a:bodyPr>
            <a:noAutofit/>
          </a:bodyPr>
          <a:lstStyle/>
          <a:p>
            <a:r>
              <a:rPr lang="zh-CN" altLang="en-US" dirty="0"/>
              <a:t>回顾</a:t>
            </a:r>
          </a:p>
        </p:txBody>
      </p:sp>
    </p:spTree>
    <p:extLst>
      <p:ext uri="{BB962C8B-B14F-4D97-AF65-F5344CB8AC3E}">
        <p14:creationId xmlns:p14="http://schemas.microsoft.com/office/powerpoint/2010/main" val="913246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
                                            <p:txEl>
                                              <p:pRg st="1" end="1"/>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
                                            <p:txEl>
                                              <p:pRg st="4" end="4"/>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Text Box 3"/>
          <p:cNvSpPr txBox="1">
            <a:spLocks noChangeArrowheads="1"/>
          </p:cNvSpPr>
          <p:nvPr/>
        </p:nvSpPr>
        <p:spPr bwMode="auto">
          <a:xfrm>
            <a:off x="784225" y="1047388"/>
            <a:ext cx="7772400"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66700" indent="-266700">
              <a:spcBef>
                <a:spcPct val="20000"/>
              </a:spcBef>
              <a:buChar char="•"/>
              <a:defRPr kumimoji="1" sz="3200">
                <a:solidFill>
                  <a:schemeClr val="tx1"/>
                </a:solidFill>
                <a:latin typeface="Times New Roman" pitchFamily="18" charset="0"/>
                <a:ea typeface="宋体" pitchFamily="2" charset="-122"/>
              </a:defRPr>
            </a:lvl1pPr>
            <a:lvl2pPr>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pPr>
            <a:r>
              <a:rPr lang="en-US" altLang="zh-CN" sz="2200" dirty="0">
                <a:solidFill>
                  <a:schemeClr val="accent2"/>
                </a:solidFill>
                <a:latin typeface="宋体" panose="02010600030101010101" pitchFamily="2" charset="-122"/>
              </a:rPr>
              <a:t>LR(0)</a:t>
            </a:r>
            <a:r>
              <a:rPr lang="zh-CN" altLang="en-US" sz="2200" dirty="0">
                <a:solidFill>
                  <a:schemeClr val="accent2"/>
                </a:solidFill>
                <a:latin typeface="宋体" panose="02010600030101010101" pitchFamily="2" charset="-122"/>
              </a:rPr>
              <a:t>文法：</a:t>
            </a:r>
            <a:r>
              <a:rPr lang="zh-CN" altLang="en-US" sz="2200" dirty="0">
                <a:latin typeface="宋体" panose="02010600030101010101" pitchFamily="2" charset="-122"/>
              </a:rPr>
              <a:t>若一个文法</a:t>
            </a:r>
            <a:r>
              <a:rPr lang="en-US" altLang="zh-CN" sz="2200" dirty="0">
                <a:latin typeface="宋体" panose="02010600030101010101" pitchFamily="2" charset="-122"/>
              </a:rPr>
              <a:t>G</a:t>
            </a:r>
            <a:r>
              <a:rPr lang="zh-CN" altLang="en-US" sz="2200" dirty="0">
                <a:latin typeface="宋体" panose="02010600030101010101" pitchFamily="2" charset="-122"/>
              </a:rPr>
              <a:t>的拓广文法</a:t>
            </a:r>
            <a:r>
              <a:rPr lang="en-US" altLang="zh-CN" sz="2200" dirty="0">
                <a:latin typeface="宋体" panose="02010600030101010101" pitchFamily="2" charset="-122"/>
              </a:rPr>
              <a:t>G'</a:t>
            </a:r>
            <a:r>
              <a:rPr lang="zh-CN" altLang="en-US" sz="2200" dirty="0">
                <a:latin typeface="宋体" panose="02010600030101010101" pitchFamily="2" charset="-122"/>
              </a:rPr>
              <a:t>的活前缀识别自动机中的每个状态不存在下述情况：</a:t>
            </a:r>
          </a:p>
          <a:p>
            <a:pPr lvl="1" eaLnBrk="1" hangingPunct="1">
              <a:spcBef>
                <a:spcPct val="50000"/>
              </a:spcBef>
              <a:buFontTx/>
              <a:buChar char="•"/>
            </a:pPr>
            <a:r>
              <a:rPr lang="zh-CN" altLang="en-US" sz="2200" dirty="0">
                <a:latin typeface="宋体" panose="02010600030101010101" pitchFamily="2" charset="-122"/>
              </a:rPr>
              <a:t>  既含移进又含归约的项目；</a:t>
            </a:r>
          </a:p>
          <a:p>
            <a:pPr lvl="1" eaLnBrk="1" hangingPunct="1">
              <a:spcBef>
                <a:spcPct val="50000"/>
              </a:spcBef>
              <a:buFontTx/>
              <a:buChar char="•"/>
            </a:pPr>
            <a:r>
              <a:rPr lang="zh-CN" altLang="en-US" sz="2200" dirty="0">
                <a:latin typeface="宋体" panose="02010600030101010101" pitchFamily="2" charset="-122"/>
              </a:rPr>
              <a:t>  含有多个归约项目。</a:t>
            </a:r>
          </a:p>
          <a:p>
            <a:pPr eaLnBrk="1" hangingPunct="1">
              <a:spcBef>
                <a:spcPct val="50000"/>
              </a:spcBef>
            </a:pPr>
            <a:r>
              <a:rPr lang="zh-CN" altLang="en-US" sz="2200" dirty="0">
                <a:latin typeface="宋体" panose="02010600030101010101" pitchFamily="2" charset="-122"/>
              </a:rPr>
              <a:t>对</a:t>
            </a:r>
            <a:r>
              <a:rPr lang="en-US" altLang="zh-CN" sz="2200" dirty="0">
                <a:latin typeface="宋体" panose="02010600030101010101" pitchFamily="2" charset="-122"/>
              </a:rPr>
              <a:t>LR(0)</a:t>
            </a:r>
            <a:r>
              <a:rPr lang="zh-CN" altLang="en-US" sz="2200" dirty="0">
                <a:latin typeface="宋体" panose="02010600030101010101" pitchFamily="2" charset="-122"/>
              </a:rPr>
              <a:t>文法可以直接从它的项目集规范族</a:t>
            </a:r>
            <a:r>
              <a:rPr lang="en-US" altLang="zh-CN" sz="2200" dirty="0">
                <a:latin typeface="宋体" panose="02010600030101010101" pitchFamily="2" charset="-122"/>
              </a:rPr>
              <a:t>C</a:t>
            </a:r>
            <a:r>
              <a:rPr lang="zh-CN" altLang="en-US" sz="2200" dirty="0">
                <a:latin typeface="宋体" panose="02010600030101010101" pitchFamily="2" charset="-122"/>
              </a:rPr>
              <a:t>和识别活前缀的有穷自动机的状态转换函数构造出</a:t>
            </a:r>
            <a:r>
              <a:rPr lang="en-US" altLang="zh-CN" sz="2200" dirty="0">
                <a:latin typeface="宋体" panose="02010600030101010101" pitchFamily="2" charset="-122"/>
              </a:rPr>
              <a:t>LR</a:t>
            </a:r>
            <a:r>
              <a:rPr lang="zh-CN" altLang="en-US" sz="2200" dirty="0">
                <a:latin typeface="宋体" panose="02010600030101010101" pitchFamily="2" charset="-122"/>
              </a:rPr>
              <a:t>分析表</a:t>
            </a:r>
          </a:p>
        </p:txBody>
      </p:sp>
      <p:sp>
        <p:nvSpPr>
          <p:cNvPr id="221187" name="Rectangle 5"/>
          <p:cNvSpPr>
            <a:spLocks noChangeArrowheads="1"/>
          </p:cNvSpPr>
          <p:nvPr/>
        </p:nvSpPr>
        <p:spPr bwMode="auto">
          <a:xfrm>
            <a:off x="297285" y="267494"/>
            <a:ext cx="456246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b="1" dirty="0">
                <a:solidFill>
                  <a:srgbClr val="FF5050"/>
                </a:solidFill>
                <a:latin typeface="楷体_GB2312" pitchFamily="49" charset="-122"/>
                <a:ea typeface="楷体_GB2312" pitchFamily="49" charset="-122"/>
              </a:rPr>
              <a:t>LR(0)</a:t>
            </a:r>
            <a:r>
              <a:rPr lang="zh-CN" altLang="en-US" sz="4000" b="1" dirty="0">
                <a:solidFill>
                  <a:srgbClr val="FF5050"/>
                </a:solidFill>
                <a:latin typeface="楷体_GB2312" pitchFamily="49" charset="-122"/>
                <a:ea typeface="楷体_GB2312" pitchFamily="49" charset="-122"/>
              </a:rPr>
              <a:t>分析表的构造</a:t>
            </a:r>
            <a:endParaRPr lang="zh-CN" altLang="en-US" sz="4400" b="1" dirty="0">
              <a:solidFill>
                <a:srgbClr val="FF5050"/>
              </a:solidFill>
              <a:latin typeface="楷体_GB2312" pitchFamily="49" charset="-122"/>
              <a:ea typeface="楷体_GB2312" pitchFamily="49" charset="-122"/>
            </a:endParaRPr>
          </a:p>
        </p:txBody>
      </p:sp>
    </p:spTree>
    <p:extLst>
      <p:ext uri="{BB962C8B-B14F-4D97-AF65-F5344CB8AC3E}">
        <p14:creationId xmlns:p14="http://schemas.microsoft.com/office/powerpoint/2010/main" val="3581428617"/>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4"/>
          <p:cNvSpPr txBox="1">
            <a:spLocks noChangeArrowheads="1"/>
          </p:cNvSpPr>
          <p:nvPr/>
        </p:nvSpPr>
        <p:spPr bwMode="auto">
          <a:xfrm>
            <a:off x="42974" y="258605"/>
            <a:ext cx="5441256" cy="430887"/>
          </a:xfrm>
          <a:prstGeom prst="rect">
            <a:avLst/>
          </a:prstGeom>
          <a:solidFill>
            <a:schemeClr val="bg1"/>
          </a:solidFill>
          <a:ln w="28575">
            <a:solidFill>
              <a:schemeClr val="accent2"/>
            </a:solidFill>
            <a:miter lim="800000"/>
            <a:headEnd/>
            <a:tailEnd/>
          </a:ln>
        </p:spPr>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0" indent="0" eaLnBrk="1" hangingPunct="1">
              <a:spcBef>
                <a:spcPts val="0"/>
              </a:spcBef>
              <a:buFontTx/>
              <a:buNone/>
            </a:pPr>
            <a:r>
              <a:rPr lang="zh-CN" altLang="en-US" sz="2200" b="1" dirty="0">
                <a:latin typeface="宋体" panose="02010600030101010101" pitchFamily="2" charset="-122"/>
              </a:rPr>
              <a:t>从识别文法活前缀的</a:t>
            </a:r>
            <a:r>
              <a:rPr lang="en-US" altLang="zh-CN" sz="2200" b="1" dirty="0">
                <a:latin typeface="宋体" panose="02010600030101010101" pitchFamily="2" charset="-122"/>
              </a:rPr>
              <a:t>DFA</a:t>
            </a:r>
            <a:r>
              <a:rPr lang="zh-CN" altLang="en-US" sz="2200" b="1" dirty="0">
                <a:solidFill>
                  <a:schemeClr val="accent2"/>
                </a:solidFill>
                <a:latin typeface="宋体" panose="02010600030101010101" pitchFamily="2" charset="-122"/>
              </a:rPr>
              <a:t>构造</a:t>
            </a:r>
            <a:r>
              <a:rPr lang="zh-CN" altLang="en-US" sz="2200" b="1" dirty="0">
                <a:latin typeface="宋体" panose="02010600030101010101" pitchFamily="2" charset="-122"/>
              </a:rPr>
              <a:t>分析表的</a:t>
            </a:r>
            <a:r>
              <a:rPr lang="zh-CN" altLang="en-US" sz="2200" b="1" dirty="0">
                <a:solidFill>
                  <a:schemeClr val="accent2"/>
                </a:solidFill>
                <a:latin typeface="宋体" panose="02010600030101010101" pitchFamily="2" charset="-122"/>
              </a:rPr>
              <a:t>方法</a:t>
            </a:r>
            <a:endParaRPr lang="zh-CN" altLang="en-US" sz="2200" b="1" dirty="0">
              <a:latin typeface="宋体" panose="02010600030101010101" pitchFamily="2" charset="-122"/>
            </a:endParaRPr>
          </a:p>
        </p:txBody>
      </p:sp>
      <p:graphicFrame>
        <p:nvGraphicFramePr>
          <p:cNvPr id="2" name="表格 1"/>
          <p:cNvGraphicFramePr>
            <a:graphicFrameLocks noGrp="1"/>
          </p:cNvGraphicFramePr>
          <p:nvPr>
            <p:extLst>
              <p:ext uri="{D42A27DB-BD31-4B8C-83A1-F6EECF244321}">
                <p14:modId xmlns:p14="http://schemas.microsoft.com/office/powerpoint/2010/main" val="2249154960"/>
              </p:ext>
            </p:extLst>
          </p:nvPr>
        </p:nvGraphicFramePr>
        <p:xfrm>
          <a:off x="5292080" y="2859782"/>
          <a:ext cx="3792753" cy="2258372"/>
        </p:xfrm>
        <a:graphic>
          <a:graphicData uri="http://schemas.openxmlformats.org/drawingml/2006/table">
            <a:tbl>
              <a:tblPr/>
              <a:tblGrid>
                <a:gridCol w="536258">
                  <a:extLst>
                    <a:ext uri="{9D8B030D-6E8A-4147-A177-3AD203B41FA5}">
                      <a16:colId xmlns:a16="http://schemas.microsoft.com/office/drawing/2014/main" val="20000"/>
                    </a:ext>
                  </a:extLst>
                </a:gridCol>
                <a:gridCol w="492819">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0225">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gridCol w="358004">
                  <a:extLst>
                    <a:ext uri="{9D8B030D-6E8A-4147-A177-3AD203B41FA5}">
                      <a16:colId xmlns:a16="http://schemas.microsoft.com/office/drawing/2014/main" val="20005"/>
                    </a:ext>
                  </a:extLst>
                </a:gridCol>
                <a:gridCol w="335536">
                  <a:extLst>
                    <a:ext uri="{9D8B030D-6E8A-4147-A177-3AD203B41FA5}">
                      <a16:colId xmlns:a16="http://schemas.microsoft.com/office/drawing/2014/main" val="20006"/>
                    </a:ext>
                  </a:extLst>
                </a:gridCol>
                <a:gridCol w="284606">
                  <a:extLst>
                    <a:ext uri="{9D8B030D-6E8A-4147-A177-3AD203B41FA5}">
                      <a16:colId xmlns:a16="http://schemas.microsoft.com/office/drawing/2014/main" val="20007"/>
                    </a:ext>
                  </a:extLst>
                </a:gridCol>
              </a:tblGrid>
              <a:tr h="315044">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mj-lt"/>
                          <a:ea typeface="宋体" panose="02010600030101010101" pitchFamily="2" charset="-122"/>
                        </a:rPr>
                        <a:t>状</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mj-lt"/>
                          <a:ea typeface="宋体" panose="02010600030101010101" pitchFamily="2" charset="-122"/>
                        </a:rPr>
                        <a:t>态</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ACTION</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GOTO</a:t>
                      </a:r>
                    </a:p>
                  </a:txBody>
                  <a:tcPr marT="34286" marB="34286"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15044">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a</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b</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c</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E</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A</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B</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06016">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0</a:t>
                      </a:r>
                      <a:endParaRPr kumimoji="1" lang="en-US"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1</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504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3</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7</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dirty="0"/>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endParaRPr lang="zh-CN" altLang="en-US" dirty="0"/>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22210" name="Text Box 4"/>
          <p:cNvSpPr txBox="1">
            <a:spLocks noChangeArrowheads="1"/>
          </p:cNvSpPr>
          <p:nvPr/>
        </p:nvSpPr>
        <p:spPr bwMode="auto">
          <a:xfrm>
            <a:off x="151822" y="843558"/>
            <a:ext cx="4780218" cy="3170099"/>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000" b="1" dirty="0">
                <a:latin typeface="宋体" panose="02010600030101010101" pitchFamily="2" charset="-122"/>
                <a:sym typeface="Wingdings" pitchFamily="2" charset="2"/>
              </a:rPr>
              <a:t>①  对于</a:t>
            </a:r>
            <a:r>
              <a:rPr lang="en-US" altLang="zh-CN" sz="2000" b="1" dirty="0">
                <a:latin typeface="宋体" panose="02010600030101010101" pitchFamily="2" charset="-122"/>
                <a:sym typeface="Wingdings" pitchFamily="2" charset="2"/>
              </a:rPr>
              <a:t>A </a:t>
            </a:r>
            <a:r>
              <a:rPr lang="en-US" altLang="zh-CN" sz="2000" b="1" dirty="0">
                <a:latin typeface="宋体" panose="02010600030101010101" pitchFamily="2" charset="-122"/>
                <a:sym typeface="Symbol" pitchFamily="18" charset="2"/>
              </a:rPr>
              <a:t>·X</a:t>
            </a:r>
            <a:r>
              <a:rPr lang="en-US" altLang="zh-CN" sz="2000" b="1" dirty="0" err="1">
                <a:latin typeface="宋体" panose="02010600030101010101" pitchFamily="2" charset="-122"/>
                <a:sym typeface="Symbol" pitchFamily="18" charset="2"/>
              </a:rPr>
              <a:t>I</a:t>
            </a:r>
            <a:r>
              <a:rPr lang="en-US" altLang="zh-CN" sz="2000" b="1" baseline="-25000" dirty="0" err="1">
                <a:latin typeface="宋体" panose="02010600030101010101" pitchFamily="2" charset="-122"/>
                <a:sym typeface="Symbol" pitchFamily="18" charset="2"/>
              </a:rPr>
              <a:t>k</a:t>
            </a:r>
            <a:r>
              <a:rPr lang="zh-CN" altLang="en-US" sz="2000" b="1" dirty="0">
                <a:latin typeface="宋体" panose="02010600030101010101" pitchFamily="2" charset="-122"/>
                <a:sym typeface="Symbol" pitchFamily="18" charset="2"/>
              </a:rPr>
              <a:t>，</a:t>
            </a:r>
            <a:r>
              <a:rPr lang="en-US" altLang="zh-CN" sz="2000" b="1" dirty="0">
                <a:latin typeface="宋体" panose="02010600030101010101" pitchFamily="2" charset="-122"/>
                <a:sym typeface="Symbol" pitchFamily="18" charset="2"/>
              </a:rPr>
              <a:t>GO (</a:t>
            </a:r>
            <a:r>
              <a:rPr lang="en-US" altLang="zh-CN" sz="2000" b="1" dirty="0" err="1">
                <a:latin typeface="宋体" panose="02010600030101010101" pitchFamily="2" charset="-122"/>
                <a:sym typeface="Symbol" pitchFamily="18" charset="2"/>
              </a:rPr>
              <a:t>I</a:t>
            </a:r>
            <a:r>
              <a:rPr lang="en-US" altLang="zh-CN" sz="2000" b="1" baseline="-25000" dirty="0" err="1">
                <a:latin typeface="宋体" panose="02010600030101010101" pitchFamily="2" charset="-122"/>
                <a:sym typeface="Symbol" pitchFamily="18" charset="2"/>
              </a:rPr>
              <a:t>k</a:t>
            </a:r>
            <a:r>
              <a:rPr lang="en-US" altLang="zh-CN" sz="2000" b="1" dirty="0" err="1">
                <a:latin typeface="宋体" panose="02010600030101010101" pitchFamily="2" charset="-122"/>
                <a:sym typeface="Symbol" pitchFamily="18" charset="2"/>
              </a:rPr>
              <a:t>,X</a:t>
            </a:r>
            <a:r>
              <a:rPr lang="en-US" altLang="zh-CN" sz="2000" b="1" dirty="0">
                <a:latin typeface="宋体" panose="02010600030101010101" pitchFamily="2" charset="-122"/>
                <a:sym typeface="Symbol" pitchFamily="18" charset="2"/>
              </a:rPr>
              <a:t>)=</a:t>
            </a:r>
            <a:r>
              <a:rPr lang="en-US" altLang="zh-CN" sz="2000" b="1" dirty="0" err="1">
                <a:latin typeface="宋体" panose="02010600030101010101" pitchFamily="2" charset="-122"/>
                <a:sym typeface="Symbol" pitchFamily="18" charset="2"/>
              </a:rPr>
              <a:t>I</a:t>
            </a:r>
            <a:r>
              <a:rPr lang="en-US" altLang="zh-CN" sz="2000" b="1" baseline="-25000" dirty="0" err="1">
                <a:latin typeface="宋体" panose="02010600030101010101" pitchFamily="2" charset="-122"/>
                <a:sym typeface="Symbol" pitchFamily="18" charset="2"/>
              </a:rPr>
              <a:t>j</a:t>
            </a:r>
            <a:endParaRPr lang="en-US" altLang="zh-CN" sz="2000" b="1" baseline="-25000" dirty="0">
              <a:latin typeface="宋体" panose="02010600030101010101" pitchFamily="2" charset="-122"/>
              <a:sym typeface="Wingdings" pitchFamily="2" charset="2"/>
            </a:endParaRPr>
          </a:p>
          <a:p>
            <a:pPr marL="628650" indent="-271463">
              <a:spcBef>
                <a:spcPts val="0"/>
              </a:spcBef>
            </a:pPr>
            <a:r>
              <a:rPr lang="zh-CN" altLang="en-US" sz="2000" b="1" dirty="0">
                <a:latin typeface="宋体" panose="02010600030101010101" pitchFamily="2" charset="-122"/>
              </a:rPr>
              <a:t>若</a:t>
            </a:r>
            <a:r>
              <a:rPr lang="en-US" altLang="zh-CN" sz="2000" b="1" dirty="0" err="1">
                <a:latin typeface="宋体" panose="02010600030101010101" pitchFamily="2" charset="-122"/>
              </a:rPr>
              <a:t>X</a:t>
            </a:r>
            <a:r>
              <a:rPr lang="en-US" altLang="zh-CN" sz="2000" b="1" dirty="0" err="1">
                <a:latin typeface="宋体" panose="02010600030101010101" pitchFamily="2" charset="-122"/>
                <a:sym typeface="Symbol" pitchFamily="18" charset="2"/>
              </a:rPr>
              <a:t></a:t>
            </a:r>
            <a:r>
              <a:rPr lang="en-US" altLang="zh-CN" sz="2000" b="1" dirty="0" err="1">
                <a:solidFill>
                  <a:schemeClr val="accent2"/>
                </a:solidFill>
                <a:latin typeface="宋体" panose="02010600030101010101" pitchFamily="2" charset="-122"/>
                <a:sym typeface="Symbol" pitchFamily="18" charset="2"/>
              </a:rPr>
              <a:t>V</a:t>
            </a:r>
            <a:r>
              <a:rPr lang="en-US" altLang="zh-CN" sz="2000" b="1" baseline="-25000" dirty="0" err="1">
                <a:solidFill>
                  <a:schemeClr val="accent2"/>
                </a:solidFill>
                <a:latin typeface="宋体" panose="02010600030101010101" pitchFamily="2" charset="-122"/>
                <a:sym typeface="Symbol" pitchFamily="18" charset="2"/>
              </a:rPr>
              <a:t>t</a:t>
            </a:r>
            <a:r>
              <a:rPr lang="zh-CN" altLang="en-US" sz="2000" b="1" dirty="0">
                <a:latin typeface="宋体" panose="02010600030101010101" pitchFamily="2" charset="-122"/>
                <a:sym typeface="Symbol" pitchFamily="18" charset="2"/>
              </a:rPr>
              <a:t>，则置</a:t>
            </a:r>
            <a:r>
              <a:rPr lang="en-US" altLang="zh-CN" sz="2000" b="1" dirty="0">
                <a:solidFill>
                  <a:schemeClr val="accent2"/>
                </a:solidFill>
                <a:latin typeface="宋体" panose="02010600030101010101" pitchFamily="2" charset="-122"/>
                <a:sym typeface="Symbol" pitchFamily="18" charset="2"/>
              </a:rPr>
              <a:t>action[</a:t>
            </a:r>
            <a:r>
              <a:rPr lang="en-US" altLang="zh-CN" sz="2000" b="1" dirty="0" err="1">
                <a:solidFill>
                  <a:schemeClr val="accent2"/>
                </a:solidFill>
                <a:latin typeface="宋体" panose="02010600030101010101" pitchFamily="2" charset="-122"/>
                <a:sym typeface="Symbol" pitchFamily="18" charset="2"/>
              </a:rPr>
              <a:t>k,X</a:t>
            </a:r>
            <a:r>
              <a:rPr lang="en-US" altLang="zh-CN" sz="2000" b="1" dirty="0">
                <a:solidFill>
                  <a:schemeClr val="accent2"/>
                </a:solidFill>
                <a:latin typeface="宋体" panose="02010600030101010101" pitchFamily="2" charset="-122"/>
                <a:sym typeface="Symbol" pitchFamily="18" charset="2"/>
              </a:rPr>
              <a:t>]=</a:t>
            </a:r>
            <a:r>
              <a:rPr lang="en-US" altLang="zh-CN" sz="2000" b="1" dirty="0" err="1">
                <a:solidFill>
                  <a:schemeClr val="accent2"/>
                </a:solidFill>
                <a:latin typeface="宋体" panose="02010600030101010101" pitchFamily="2" charset="-122"/>
                <a:sym typeface="Symbol" pitchFamily="18" charset="2"/>
              </a:rPr>
              <a:t>S</a:t>
            </a:r>
            <a:r>
              <a:rPr lang="en-US" altLang="zh-CN" sz="2000" b="1" baseline="-25000" dirty="0" err="1">
                <a:solidFill>
                  <a:schemeClr val="accent2"/>
                </a:solidFill>
                <a:latin typeface="宋体" panose="02010600030101010101" pitchFamily="2" charset="-122"/>
                <a:sym typeface="Symbol" pitchFamily="18" charset="2"/>
              </a:rPr>
              <a:t>j</a:t>
            </a:r>
            <a:r>
              <a:rPr lang="en-US" altLang="zh-CN" sz="2000" b="1" baseline="-25000" dirty="0">
                <a:solidFill>
                  <a:schemeClr val="accent2"/>
                </a:solidFill>
                <a:latin typeface="宋体" panose="02010600030101010101" pitchFamily="2" charset="-122"/>
                <a:sym typeface="Symbol" pitchFamily="18" charset="2"/>
              </a:rPr>
              <a:t> </a:t>
            </a:r>
            <a:r>
              <a:rPr lang="en-US" altLang="zh-CN" sz="2000" b="1" dirty="0">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即把</a:t>
            </a:r>
            <a:r>
              <a:rPr lang="en-US" altLang="zh-CN" sz="2000" b="1" dirty="0">
                <a:latin typeface="宋体" panose="02010600030101010101" pitchFamily="2" charset="-122"/>
                <a:sym typeface="Symbol" pitchFamily="18" charset="2"/>
              </a:rPr>
              <a:t>(</a:t>
            </a:r>
            <a:r>
              <a:rPr lang="en-US" altLang="zh-CN" sz="2000" b="1" dirty="0" err="1">
                <a:latin typeface="宋体" panose="02010600030101010101" pitchFamily="2" charset="-122"/>
                <a:sym typeface="Symbol" pitchFamily="18" charset="2"/>
              </a:rPr>
              <a:t>j,a</a:t>
            </a:r>
            <a:r>
              <a:rPr lang="en-US" altLang="zh-CN" sz="2000" b="1" dirty="0">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移进栈</a:t>
            </a: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a:p>
            <a:pPr eaLnBrk="1" hangingPunct="1">
              <a:spcBef>
                <a:spcPts val="0"/>
              </a:spcBef>
              <a:buFontTx/>
              <a:buNone/>
            </a:pPr>
            <a:endParaRPr lang="en-US" altLang="zh-CN" sz="2000" b="1" dirty="0">
              <a:solidFill>
                <a:schemeClr val="accent2"/>
              </a:solidFill>
              <a:latin typeface="宋体" panose="02010600030101010101" pitchFamily="2" charset="-122"/>
              <a:sym typeface="Symbol" pitchFamily="18" charset="2"/>
            </a:endParaRPr>
          </a:p>
        </p:txBody>
      </p:sp>
      <p:sp>
        <p:nvSpPr>
          <p:cNvPr id="7" name="Text Box 4"/>
          <p:cNvSpPr txBox="1">
            <a:spLocks noChangeArrowheads="1"/>
          </p:cNvSpPr>
          <p:nvPr/>
        </p:nvSpPr>
        <p:spPr bwMode="auto">
          <a:xfrm>
            <a:off x="91982" y="2067694"/>
            <a:ext cx="4744379" cy="1015663"/>
          </a:xfrm>
          <a:prstGeom prst="rect">
            <a:avLst/>
          </a:prstGeom>
          <a:noFill/>
          <a:ln w="28575">
            <a:noFill/>
            <a:miter lim="800000"/>
            <a:headEnd/>
            <a:tailEnd/>
          </a:ln>
        </p:spPr>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zh-CN" altLang="en-US" sz="2000" b="1" dirty="0">
                <a:latin typeface="宋体" panose="02010600030101010101" pitchFamily="2" charset="-122"/>
                <a:sym typeface="Wingdings" pitchFamily="2" charset="2"/>
              </a:rPr>
              <a:t>② 对于</a:t>
            </a:r>
            <a:r>
              <a:rPr lang="en-US" altLang="zh-CN" sz="2000" b="1" dirty="0">
                <a:solidFill>
                  <a:schemeClr val="accent2"/>
                </a:solidFill>
                <a:latin typeface="宋体" panose="02010600030101010101" pitchFamily="2" charset="-122"/>
                <a:sym typeface="Wingdings" pitchFamily="2" charset="2"/>
              </a:rPr>
              <a:t>A</a:t>
            </a:r>
            <a:r>
              <a:rPr lang="en-US" altLang="zh-CN" sz="2000" b="1" dirty="0">
                <a:solidFill>
                  <a:schemeClr val="accent2"/>
                </a:solidFill>
                <a:latin typeface="宋体" panose="02010600030101010101" pitchFamily="2" charset="-122"/>
                <a:sym typeface="Symbol" pitchFamily="18" charset="2"/>
              </a:rPr>
              <a:t>·</a:t>
            </a:r>
            <a:r>
              <a:rPr lang="en-US" altLang="zh-CN" sz="2000" b="1" dirty="0">
                <a:latin typeface="宋体" panose="02010600030101010101" pitchFamily="2" charset="-122"/>
                <a:sym typeface="Symbol" pitchFamily="18" charset="2"/>
              </a:rPr>
              <a:t></a:t>
            </a:r>
            <a:r>
              <a:rPr lang="en-US" altLang="zh-CN" sz="2000" b="1" dirty="0" err="1">
                <a:latin typeface="宋体" panose="02010600030101010101" pitchFamily="2" charset="-122"/>
                <a:sym typeface="Symbol" pitchFamily="18" charset="2"/>
              </a:rPr>
              <a:t>I</a:t>
            </a:r>
            <a:r>
              <a:rPr lang="en-US" altLang="zh-CN" sz="2000" b="1" baseline="-25000" dirty="0" err="1">
                <a:latin typeface="宋体" panose="02010600030101010101" pitchFamily="2" charset="-122"/>
                <a:sym typeface="Symbol" pitchFamily="18" charset="2"/>
              </a:rPr>
              <a:t>k</a:t>
            </a:r>
            <a:r>
              <a:rPr lang="en-US" altLang="zh-CN" sz="2000" dirty="0">
                <a:latin typeface="宋体" panose="02010600030101010101" pitchFamily="2" charset="-122"/>
                <a:sym typeface="Symbol" pitchFamily="18" charset="2"/>
              </a:rPr>
              <a:t> </a:t>
            </a:r>
            <a:r>
              <a:rPr lang="zh-CN" altLang="en-US" sz="2000" b="1" dirty="0">
                <a:latin typeface="宋体" panose="02010600030101010101" pitchFamily="2" charset="-122"/>
                <a:sym typeface="Symbol" pitchFamily="18" charset="2"/>
              </a:rPr>
              <a:t>，则对所有的</a:t>
            </a:r>
            <a:r>
              <a:rPr lang="en-US" altLang="zh-CN" sz="2000" b="1" dirty="0" err="1">
                <a:latin typeface="宋体" panose="02010600030101010101" pitchFamily="2" charset="-122"/>
                <a:sym typeface="Symbol" pitchFamily="18" charset="2"/>
              </a:rPr>
              <a:t>xV</a:t>
            </a:r>
            <a:r>
              <a:rPr lang="en-US" altLang="zh-CN" sz="2000" b="1" baseline="-25000" dirty="0" err="1">
                <a:latin typeface="宋体" panose="02010600030101010101" pitchFamily="2" charset="-122"/>
                <a:sym typeface="Symbol" pitchFamily="18" charset="2"/>
              </a:rPr>
              <a:t>t</a:t>
            </a:r>
            <a:r>
              <a:rPr lang="zh-CN" altLang="en-US" sz="2000" b="1" dirty="0">
                <a:latin typeface="宋体" panose="02010600030101010101" pitchFamily="2" charset="-122"/>
                <a:sym typeface="Symbol" pitchFamily="18" charset="2"/>
              </a:rPr>
              <a:t>和</a:t>
            </a:r>
            <a:r>
              <a:rPr lang="en-US" altLang="zh-CN" sz="2000" b="1" dirty="0">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，均置</a:t>
            </a:r>
            <a:r>
              <a:rPr lang="en-US" altLang="zh-CN" sz="2000" b="1" dirty="0">
                <a:solidFill>
                  <a:schemeClr val="accent2"/>
                </a:solidFill>
                <a:latin typeface="宋体" panose="02010600030101010101" pitchFamily="2" charset="-122"/>
                <a:sym typeface="Symbol" pitchFamily="18" charset="2"/>
              </a:rPr>
              <a:t>action[</a:t>
            </a:r>
            <a:r>
              <a:rPr lang="en-US" altLang="zh-CN" sz="2000" b="1" dirty="0" err="1">
                <a:solidFill>
                  <a:schemeClr val="accent2"/>
                </a:solidFill>
                <a:latin typeface="宋体" panose="02010600030101010101" pitchFamily="2" charset="-122"/>
                <a:sym typeface="Symbol" pitchFamily="18" charset="2"/>
              </a:rPr>
              <a:t>k,x</a:t>
            </a:r>
            <a:r>
              <a:rPr lang="en-US" altLang="zh-CN" sz="2000" b="1" dirty="0">
                <a:solidFill>
                  <a:schemeClr val="accent2"/>
                </a:solidFill>
                <a:latin typeface="宋体" panose="02010600030101010101" pitchFamily="2" charset="-122"/>
                <a:sym typeface="Symbol" pitchFamily="18" charset="2"/>
              </a:rPr>
              <a:t>]=</a:t>
            </a:r>
            <a:r>
              <a:rPr lang="en-US" altLang="zh-CN" sz="2000" b="1" dirty="0" err="1">
                <a:solidFill>
                  <a:schemeClr val="accent2"/>
                </a:solidFill>
                <a:latin typeface="宋体" panose="02010600030101010101" pitchFamily="2" charset="-122"/>
                <a:sym typeface="Symbol" pitchFamily="18" charset="2"/>
              </a:rPr>
              <a:t>r</a:t>
            </a:r>
            <a:r>
              <a:rPr lang="en-US" altLang="zh-CN" sz="2000" b="1" baseline="-25000" dirty="0" err="1">
                <a:solidFill>
                  <a:schemeClr val="accent2"/>
                </a:solidFill>
                <a:latin typeface="宋体" panose="02010600030101010101" pitchFamily="2" charset="-122"/>
                <a:sym typeface="Symbol" pitchFamily="18" charset="2"/>
              </a:rPr>
              <a:t>j</a:t>
            </a:r>
            <a:r>
              <a:rPr lang="en-US" altLang="zh-CN" sz="2000" b="1" baseline="-25000" dirty="0">
                <a:solidFill>
                  <a:schemeClr val="accent2"/>
                </a:solidFill>
                <a:latin typeface="宋体" panose="02010600030101010101" pitchFamily="2" charset="-122"/>
                <a:sym typeface="Symbol" pitchFamily="18" charset="2"/>
              </a:rPr>
              <a:t> </a:t>
            </a:r>
            <a:r>
              <a:rPr lang="en-US" altLang="zh-CN" sz="2000" b="1" dirty="0">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设</a:t>
            </a:r>
            <a:r>
              <a:rPr lang="en-US" altLang="zh-CN" sz="2000" b="1" dirty="0">
                <a:latin typeface="宋体" panose="02010600030101010101" pitchFamily="2" charset="-122"/>
                <a:sym typeface="Symbol" pitchFamily="18" charset="2"/>
              </a:rPr>
              <a:t>A </a:t>
            </a:r>
            <a:r>
              <a:rPr lang="zh-CN" altLang="en-US" sz="2000" b="1" dirty="0">
                <a:latin typeface="宋体" panose="02010600030101010101" pitchFamily="2" charset="-122"/>
                <a:sym typeface="Symbol" pitchFamily="18" charset="2"/>
              </a:rPr>
              <a:t>是第</a:t>
            </a:r>
            <a:r>
              <a:rPr lang="en-US" altLang="zh-CN" sz="2000" b="1" dirty="0">
                <a:latin typeface="宋体" panose="02010600030101010101" pitchFamily="2" charset="-122"/>
                <a:sym typeface="Symbol" pitchFamily="18" charset="2"/>
              </a:rPr>
              <a:t>j</a:t>
            </a:r>
            <a:r>
              <a:rPr lang="zh-CN" altLang="en-US" sz="2000" b="1" dirty="0">
                <a:latin typeface="宋体" panose="02010600030101010101" pitchFamily="2" charset="-122"/>
                <a:sym typeface="Symbol" pitchFamily="18" charset="2"/>
              </a:rPr>
              <a:t>个产生式</a:t>
            </a:r>
            <a:r>
              <a:rPr lang="en-US" altLang="zh-CN" sz="2000" b="1" dirty="0">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，即用</a:t>
            </a:r>
            <a:r>
              <a:rPr lang="en-US" altLang="zh-CN" sz="2000" b="1" dirty="0">
                <a:latin typeface="宋体" panose="02010600030101010101" pitchFamily="2" charset="-122"/>
                <a:sym typeface="Symbol" pitchFamily="18" charset="2"/>
              </a:rPr>
              <a:t>A</a:t>
            </a:r>
            <a:r>
              <a:rPr lang="zh-CN" altLang="en-US" sz="2000" b="1" dirty="0">
                <a:latin typeface="宋体" panose="02010600030101010101" pitchFamily="2" charset="-122"/>
                <a:sym typeface="Symbol" pitchFamily="18" charset="2"/>
              </a:rPr>
              <a:t>归约</a:t>
            </a:r>
            <a:endParaRPr lang="zh-CN" altLang="en-US" sz="2000" b="1" baseline="-25000" dirty="0">
              <a:solidFill>
                <a:schemeClr val="accent2"/>
              </a:solidFill>
              <a:latin typeface="宋体" panose="02010600030101010101" pitchFamily="2" charset="-122"/>
              <a:sym typeface="Symbol" pitchFamily="18" charset="2"/>
            </a:endParaRPr>
          </a:p>
        </p:txBody>
      </p:sp>
      <p:sp>
        <p:nvSpPr>
          <p:cNvPr id="8" name="Text Box 4"/>
          <p:cNvSpPr txBox="1">
            <a:spLocks noChangeArrowheads="1"/>
          </p:cNvSpPr>
          <p:nvPr/>
        </p:nvSpPr>
        <p:spPr bwMode="auto">
          <a:xfrm>
            <a:off x="91361" y="3003798"/>
            <a:ext cx="4612531" cy="707886"/>
          </a:xfrm>
          <a:prstGeom prst="rect">
            <a:avLst/>
          </a:prstGeom>
          <a:noFill/>
          <a:ln w="28575">
            <a:noFill/>
            <a:miter lim="800000"/>
            <a:headEnd/>
            <a:tailEnd/>
          </a:ln>
        </p:spPr>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714375" indent="-357188">
              <a:spcBef>
                <a:spcPts val="0"/>
              </a:spcBef>
            </a:pPr>
            <a:r>
              <a:rPr lang="zh-CN" altLang="en-US" sz="2000" b="1" dirty="0">
                <a:latin typeface="宋体" panose="02010600030101010101" pitchFamily="2" charset="-122"/>
                <a:sym typeface="Wingdings" pitchFamily="2" charset="2"/>
              </a:rPr>
              <a:t>特别的情况是，若</a:t>
            </a:r>
            <a:r>
              <a:rPr lang="en-US" altLang="zh-CN" sz="2000" b="1" dirty="0">
                <a:solidFill>
                  <a:schemeClr val="accent2"/>
                </a:solidFill>
                <a:latin typeface="宋体" panose="02010600030101010101" pitchFamily="2" charset="-122"/>
                <a:sym typeface="Wingdings" pitchFamily="2" charset="2"/>
              </a:rPr>
              <a:t>S</a:t>
            </a:r>
            <a:r>
              <a:rPr lang="en-US" altLang="zh-CN" sz="2000" b="1" dirty="0">
                <a:solidFill>
                  <a:srgbClr val="FF0000"/>
                </a:solidFill>
              </a:rPr>
              <a:t>'</a:t>
            </a:r>
            <a:r>
              <a:rPr lang="en-US" altLang="zh-CN" sz="2000" b="1" dirty="0">
                <a:solidFill>
                  <a:schemeClr val="accent2"/>
                </a:solidFill>
                <a:latin typeface="宋体" panose="02010600030101010101" pitchFamily="2" charset="-122"/>
                <a:sym typeface="Symbol" pitchFamily="18" charset="2"/>
              </a:rPr>
              <a:t>S·</a:t>
            </a:r>
            <a:r>
              <a:rPr lang="en-US" altLang="zh-CN" sz="2000" b="1" dirty="0">
                <a:latin typeface="宋体" panose="02010600030101010101" pitchFamily="2" charset="-122"/>
                <a:sym typeface="Symbol" pitchFamily="18" charset="2"/>
              </a:rPr>
              <a:t></a:t>
            </a:r>
            <a:r>
              <a:rPr lang="en-US" altLang="zh-CN" sz="2000" b="1" dirty="0" err="1">
                <a:latin typeface="宋体" panose="02010600030101010101" pitchFamily="2" charset="-122"/>
                <a:sym typeface="Symbol" pitchFamily="18" charset="2"/>
              </a:rPr>
              <a:t>I</a:t>
            </a:r>
            <a:r>
              <a:rPr lang="en-US" altLang="zh-CN" sz="2000" b="1" baseline="-25000" dirty="0" err="1">
                <a:latin typeface="宋体" panose="02010600030101010101" pitchFamily="2" charset="-122"/>
                <a:sym typeface="Symbol" pitchFamily="18" charset="2"/>
              </a:rPr>
              <a:t>k</a:t>
            </a:r>
            <a:r>
              <a:rPr lang="zh-CN" altLang="en-US" sz="2000" b="1" dirty="0">
                <a:latin typeface="宋体" panose="02010600030101010101" pitchFamily="2" charset="-122"/>
                <a:sym typeface="Symbol" pitchFamily="18" charset="2"/>
              </a:rPr>
              <a:t>，则置</a:t>
            </a:r>
            <a:r>
              <a:rPr lang="en-US" altLang="zh-CN" sz="2000" b="1" dirty="0">
                <a:solidFill>
                  <a:schemeClr val="accent2"/>
                </a:solidFill>
                <a:latin typeface="宋体" panose="02010600030101010101" pitchFamily="2" charset="-122"/>
                <a:sym typeface="Symbol" pitchFamily="18" charset="2"/>
              </a:rPr>
              <a:t>action[k,#]=</a:t>
            </a:r>
            <a:r>
              <a:rPr lang="en-US" altLang="zh-CN" sz="2000" b="1" dirty="0" err="1">
                <a:solidFill>
                  <a:schemeClr val="accent2"/>
                </a:solidFill>
                <a:latin typeface="宋体" panose="02010600030101010101" pitchFamily="2" charset="-122"/>
                <a:sym typeface="Symbol" pitchFamily="18" charset="2"/>
              </a:rPr>
              <a:t>acc</a:t>
            </a:r>
            <a:r>
              <a:rPr lang="zh-CN" altLang="en-US" sz="2000" b="1" dirty="0">
                <a:solidFill>
                  <a:schemeClr val="accent2"/>
                </a:solidFill>
                <a:latin typeface="宋体" panose="02010600030101010101" pitchFamily="2" charset="-122"/>
                <a:sym typeface="Symbol" pitchFamily="18" charset="2"/>
              </a:rPr>
              <a:t>，</a:t>
            </a:r>
            <a:r>
              <a:rPr lang="zh-CN" altLang="en-US" sz="2000" b="1" dirty="0">
                <a:latin typeface="宋体" panose="02010600030101010101" pitchFamily="2" charset="-122"/>
                <a:sym typeface="Symbol" pitchFamily="18" charset="2"/>
              </a:rPr>
              <a:t>即接受</a:t>
            </a:r>
          </a:p>
        </p:txBody>
      </p:sp>
      <p:sp>
        <p:nvSpPr>
          <p:cNvPr id="9" name="Text Box 4"/>
          <p:cNvSpPr txBox="1">
            <a:spLocks noChangeArrowheads="1"/>
          </p:cNvSpPr>
          <p:nvPr/>
        </p:nvSpPr>
        <p:spPr bwMode="auto">
          <a:xfrm>
            <a:off x="79813" y="3685409"/>
            <a:ext cx="4612531" cy="400110"/>
          </a:xfrm>
          <a:prstGeom prst="rect">
            <a:avLst/>
          </a:prstGeom>
          <a:noFill/>
          <a:ln w="28575">
            <a:noFill/>
            <a:miter lim="800000"/>
            <a:headEnd/>
            <a:tailEnd/>
          </a:ln>
        </p:spPr>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ts val="0"/>
              </a:spcBef>
              <a:buNone/>
            </a:pPr>
            <a:r>
              <a:rPr lang="zh-CN" altLang="en-US" sz="2000" b="1" dirty="0">
                <a:latin typeface="宋体" panose="02010600030101010101" pitchFamily="2" charset="-122"/>
                <a:sym typeface="Wingdings" pitchFamily="2" charset="2"/>
              </a:rPr>
              <a:t>③ 其他均置出错。</a:t>
            </a:r>
          </a:p>
        </p:txBody>
      </p:sp>
      <p:sp>
        <p:nvSpPr>
          <p:cNvPr id="6" name="矩形 5"/>
          <p:cNvSpPr/>
          <p:nvPr/>
        </p:nvSpPr>
        <p:spPr>
          <a:xfrm>
            <a:off x="6396764" y="3498562"/>
            <a:ext cx="407484" cy="369332"/>
          </a:xfrm>
          <a:prstGeom prst="rect">
            <a:avLst/>
          </a:prstGeom>
        </p:spPr>
        <p:txBody>
          <a:bodyPr wrap="none">
            <a:spAutoFit/>
          </a:bodyPr>
          <a:lstStyle/>
          <a:p>
            <a:r>
              <a:rPr kumimoji="1" lang="en-US" altLang="zh-CN" dirty="0">
                <a:solidFill>
                  <a:srgbClr val="0000FF"/>
                </a:solidFill>
                <a:ea typeface="宋体" panose="02010600030101010101" pitchFamily="2" charset="-122"/>
              </a:rPr>
              <a:t>S</a:t>
            </a:r>
            <a:r>
              <a:rPr kumimoji="1" lang="en-US" altLang="zh-CN" baseline="-25000" dirty="0">
                <a:solidFill>
                  <a:srgbClr val="0000FF"/>
                </a:solidFill>
                <a:ea typeface="宋体" panose="02010600030101010101" pitchFamily="2" charset="-122"/>
              </a:rPr>
              <a:t>3</a:t>
            </a:r>
            <a:endParaRPr lang="zh-CN" altLang="en-US" dirty="0">
              <a:solidFill>
                <a:srgbClr val="0000FF"/>
              </a:solidFill>
            </a:endParaRPr>
          </a:p>
        </p:txBody>
      </p:sp>
      <p:sp>
        <p:nvSpPr>
          <p:cNvPr id="10" name="矩形 9"/>
          <p:cNvSpPr/>
          <p:nvPr/>
        </p:nvSpPr>
        <p:spPr>
          <a:xfrm>
            <a:off x="515881" y="1796696"/>
            <a:ext cx="4168129" cy="400110"/>
          </a:xfrm>
          <a:prstGeom prst="rect">
            <a:avLst/>
          </a:prstGeom>
        </p:spPr>
        <p:txBody>
          <a:bodyPr wrap="square">
            <a:spAutoFit/>
          </a:bodyPr>
          <a:lstStyle/>
          <a:p>
            <a:pPr marL="342900" indent="-342900">
              <a:buFont typeface="Arial" panose="020B0604020202020204" pitchFamily="34" charset="0"/>
              <a:buChar char="•"/>
            </a:pPr>
            <a:r>
              <a:rPr lang="zh-CN" altLang="en-US" sz="2000" b="1" dirty="0">
                <a:latin typeface="宋体" panose="02010600030101010101" pitchFamily="2" charset="-122"/>
                <a:ea typeface="宋体" panose="02010600030101010101" pitchFamily="2" charset="-122"/>
                <a:sym typeface="Symbol" pitchFamily="18" charset="2"/>
              </a:rPr>
              <a:t>若</a:t>
            </a:r>
            <a:r>
              <a:rPr lang="en-US" altLang="zh-CN" sz="2000" b="1" dirty="0" err="1">
                <a:latin typeface="宋体" panose="02010600030101010101" pitchFamily="2" charset="-122"/>
                <a:ea typeface="宋体" panose="02010600030101010101" pitchFamily="2" charset="-122"/>
                <a:sym typeface="Symbol" pitchFamily="18" charset="2"/>
              </a:rPr>
              <a:t>X</a:t>
            </a:r>
            <a:r>
              <a:rPr lang="en-US" altLang="zh-CN" sz="2000" b="1" dirty="0" err="1">
                <a:solidFill>
                  <a:schemeClr val="accent2"/>
                </a:solidFill>
                <a:latin typeface="宋体" panose="02010600030101010101" pitchFamily="2" charset="-122"/>
                <a:ea typeface="宋体" panose="02010600030101010101" pitchFamily="2" charset="-122"/>
                <a:sym typeface="Symbol" pitchFamily="18" charset="2"/>
              </a:rPr>
              <a:t>V</a:t>
            </a:r>
            <a:r>
              <a:rPr lang="en-US" altLang="zh-CN" sz="2000" b="1" baseline="-25000" dirty="0" err="1">
                <a:solidFill>
                  <a:schemeClr val="accent2"/>
                </a:solidFill>
                <a:latin typeface="宋体" panose="02010600030101010101" pitchFamily="2" charset="-122"/>
                <a:ea typeface="宋体" panose="02010600030101010101" pitchFamily="2" charset="-122"/>
                <a:sym typeface="Symbol" pitchFamily="18" charset="2"/>
              </a:rPr>
              <a:t>n</a:t>
            </a:r>
            <a:r>
              <a:rPr lang="zh-CN" altLang="en-US" sz="2000" b="1" dirty="0">
                <a:latin typeface="宋体" panose="02010600030101010101" pitchFamily="2" charset="-122"/>
                <a:ea typeface="宋体" panose="02010600030101010101" pitchFamily="2" charset="-122"/>
                <a:sym typeface="Symbol" pitchFamily="18" charset="2"/>
              </a:rPr>
              <a:t>，则置</a:t>
            </a:r>
            <a:r>
              <a:rPr lang="en-US" altLang="zh-CN" sz="2000" b="1" dirty="0" err="1">
                <a:solidFill>
                  <a:schemeClr val="accent2"/>
                </a:solidFill>
                <a:latin typeface="宋体" panose="02010600030101010101" pitchFamily="2" charset="-122"/>
                <a:ea typeface="宋体" panose="02010600030101010101" pitchFamily="2" charset="-122"/>
                <a:sym typeface="Symbol" pitchFamily="18" charset="2"/>
              </a:rPr>
              <a:t>goto</a:t>
            </a:r>
            <a:r>
              <a:rPr lang="en-US" altLang="zh-CN" sz="2000" b="1" dirty="0">
                <a:solidFill>
                  <a:schemeClr val="accent2"/>
                </a:solidFill>
                <a:latin typeface="宋体" panose="02010600030101010101" pitchFamily="2" charset="-122"/>
                <a:ea typeface="宋体" panose="02010600030101010101" pitchFamily="2" charset="-122"/>
                <a:sym typeface="Symbol" pitchFamily="18" charset="2"/>
              </a:rPr>
              <a:t>[</a:t>
            </a:r>
            <a:r>
              <a:rPr lang="en-US" altLang="zh-CN" sz="2000" b="1" dirty="0" err="1">
                <a:solidFill>
                  <a:schemeClr val="accent2"/>
                </a:solidFill>
                <a:latin typeface="宋体" panose="02010600030101010101" pitchFamily="2" charset="-122"/>
                <a:ea typeface="宋体" panose="02010600030101010101" pitchFamily="2" charset="-122"/>
                <a:sym typeface="Symbol" pitchFamily="18" charset="2"/>
              </a:rPr>
              <a:t>k,X</a:t>
            </a:r>
            <a:r>
              <a:rPr lang="en-US" altLang="zh-CN" sz="2000" b="1" dirty="0">
                <a:solidFill>
                  <a:schemeClr val="accent2"/>
                </a:solidFill>
                <a:latin typeface="宋体" panose="02010600030101010101" pitchFamily="2" charset="-122"/>
                <a:ea typeface="宋体" panose="02010600030101010101" pitchFamily="2" charset="-122"/>
                <a:sym typeface="Symbol" pitchFamily="18" charset="2"/>
              </a:rPr>
              <a:t>]=j</a:t>
            </a:r>
          </a:p>
        </p:txBody>
      </p:sp>
      <p:pic>
        <p:nvPicPr>
          <p:cNvPr id="2355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8066" y="781230"/>
            <a:ext cx="4063925" cy="15549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1" name="表格 10"/>
          <p:cNvGraphicFramePr>
            <a:graphicFrameLocks noGrp="1"/>
          </p:cNvGraphicFramePr>
          <p:nvPr>
            <p:extLst>
              <p:ext uri="{D42A27DB-BD31-4B8C-83A1-F6EECF244321}">
                <p14:modId xmlns:p14="http://schemas.microsoft.com/office/powerpoint/2010/main" val="899204043"/>
              </p:ext>
            </p:extLst>
          </p:nvPr>
        </p:nvGraphicFramePr>
        <p:xfrm>
          <a:off x="5796136" y="4412845"/>
          <a:ext cx="2304256" cy="315044"/>
        </p:xfrm>
        <a:graphic>
          <a:graphicData uri="http://schemas.openxmlformats.org/drawingml/2006/table">
            <a:tbl>
              <a:tblPr/>
              <a:tblGrid>
                <a:gridCol w="498423">
                  <a:extLst>
                    <a:ext uri="{9D8B030D-6E8A-4147-A177-3AD203B41FA5}">
                      <a16:colId xmlns:a16="http://schemas.microsoft.com/office/drawing/2014/main" val="20000"/>
                    </a:ext>
                  </a:extLst>
                </a:gridCol>
                <a:gridCol w="566595">
                  <a:extLst>
                    <a:ext uri="{9D8B030D-6E8A-4147-A177-3AD203B41FA5}">
                      <a16:colId xmlns:a16="http://schemas.microsoft.com/office/drawing/2014/main" val="20001"/>
                    </a:ext>
                  </a:extLst>
                </a:gridCol>
                <a:gridCol w="566595">
                  <a:extLst>
                    <a:ext uri="{9D8B030D-6E8A-4147-A177-3AD203B41FA5}">
                      <a16:colId xmlns:a16="http://schemas.microsoft.com/office/drawing/2014/main" val="20002"/>
                    </a:ext>
                  </a:extLst>
                </a:gridCol>
                <a:gridCol w="672643">
                  <a:extLst>
                    <a:ext uri="{9D8B030D-6E8A-4147-A177-3AD203B41FA5}">
                      <a16:colId xmlns:a16="http://schemas.microsoft.com/office/drawing/2014/main" val="20003"/>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rgbClr val="0000FF"/>
                          </a:solidFill>
                          <a:effectLst/>
                          <a:latin typeface="+mj-lt"/>
                          <a:ea typeface="宋体" panose="02010600030101010101" pitchFamily="2" charset="-122"/>
                        </a:rPr>
                        <a:t>r</a:t>
                      </a:r>
                      <a:r>
                        <a:rPr kumimoji="1" lang="en-US" altLang="zh-CN" sz="1600" b="0" i="0" u="none" strike="noStrike" cap="none" normalizeH="0" baseline="-25000" dirty="0">
                          <a:ln>
                            <a:noFill/>
                          </a:ln>
                          <a:solidFill>
                            <a:srgbClr val="0000FF"/>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rgbClr val="0000FF"/>
                          </a:solidFill>
                          <a:effectLst/>
                          <a:latin typeface="+mj-lt"/>
                          <a:ea typeface="宋体" panose="02010600030101010101" pitchFamily="2" charset="-122"/>
                        </a:rPr>
                        <a:t>r</a:t>
                      </a:r>
                      <a:r>
                        <a:rPr kumimoji="1" lang="en-US" altLang="zh-CN" sz="1600" b="0" i="0" u="none" strike="noStrike" cap="none" normalizeH="0" baseline="-25000" dirty="0">
                          <a:ln>
                            <a:noFill/>
                          </a:ln>
                          <a:solidFill>
                            <a:srgbClr val="0000FF"/>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rgbClr val="0000FF"/>
                          </a:solidFill>
                          <a:effectLst/>
                          <a:latin typeface="+mj-lt"/>
                          <a:ea typeface="宋体" panose="02010600030101010101" pitchFamily="2" charset="-122"/>
                        </a:rPr>
                        <a:t>r</a:t>
                      </a:r>
                      <a:r>
                        <a:rPr kumimoji="1" lang="en-US" altLang="zh-CN" sz="1600" b="0" i="0" u="none" strike="noStrike" cap="none" normalizeH="0" baseline="-25000" dirty="0">
                          <a:ln>
                            <a:noFill/>
                          </a:ln>
                          <a:solidFill>
                            <a:srgbClr val="0000FF"/>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rgbClr val="0000FF"/>
                          </a:solidFill>
                          <a:effectLst/>
                          <a:latin typeface="+mj-lt"/>
                          <a:ea typeface="宋体" panose="02010600030101010101" pitchFamily="2" charset="-122"/>
                        </a:rPr>
                        <a:t>r</a:t>
                      </a:r>
                      <a:r>
                        <a:rPr kumimoji="1" lang="en-US" altLang="zh-CN" sz="1600" b="0" i="0" u="none" strike="noStrike" cap="none" normalizeH="0" baseline="-25000" dirty="0">
                          <a:ln>
                            <a:noFill/>
                          </a:ln>
                          <a:solidFill>
                            <a:srgbClr val="0000FF"/>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矩形 11"/>
          <p:cNvSpPr/>
          <p:nvPr/>
        </p:nvSpPr>
        <p:spPr>
          <a:xfrm>
            <a:off x="7524328" y="3782919"/>
            <a:ext cx="550151" cy="369332"/>
          </a:xfrm>
          <a:prstGeom prst="rect">
            <a:avLst/>
          </a:prstGeom>
        </p:spPr>
        <p:txBody>
          <a:bodyPr wrap="none">
            <a:spAutoFit/>
          </a:bodyPr>
          <a:lstStyle/>
          <a:p>
            <a:pPr lvl="0" algn="ctr" fontAlgn="base">
              <a:spcBef>
                <a:spcPct val="20000"/>
              </a:spcBef>
              <a:spcAft>
                <a:spcPct val="0"/>
              </a:spcAft>
            </a:pPr>
            <a:r>
              <a:rPr kumimoji="1" lang="en-US" altLang="zh-CN" dirty="0" err="1">
                <a:solidFill>
                  <a:srgbClr val="0000FF"/>
                </a:solidFill>
                <a:ea typeface="宋体" panose="02010600030101010101" pitchFamily="2" charset="-122"/>
              </a:rPr>
              <a:t>acc</a:t>
            </a:r>
            <a:endParaRPr kumimoji="1" lang="en-US" altLang="zh-CN" dirty="0">
              <a:solidFill>
                <a:srgbClr val="0000FF"/>
              </a:solidFill>
              <a:ea typeface="宋体" panose="02010600030101010101" pitchFamily="2" charset="-122"/>
            </a:endParaRPr>
          </a:p>
        </p:txBody>
      </p:sp>
      <p:sp>
        <p:nvSpPr>
          <p:cNvPr id="13" name="矩形 12"/>
          <p:cNvSpPr/>
          <p:nvPr/>
        </p:nvSpPr>
        <p:spPr>
          <a:xfrm>
            <a:off x="8129892" y="3498562"/>
            <a:ext cx="330540" cy="369332"/>
          </a:xfrm>
          <a:prstGeom prst="rect">
            <a:avLst/>
          </a:prstGeom>
        </p:spPr>
        <p:txBody>
          <a:bodyPr wrap="none">
            <a:spAutoFit/>
          </a:bodyPr>
          <a:lstStyle/>
          <a:p>
            <a:pPr lvl="0" algn="ctr" fontAlgn="base">
              <a:spcBef>
                <a:spcPct val="20000"/>
              </a:spcBef>
              <a:spcAft>
                <a:spcPct val="0"/>
              </a:spcAft>
            </a:pPr>
            <a:r>
              <a:rPr kumimoji="1" lang="en-US" altLang="zh-CN" dirty="0">
                <a:solidFill>
                  <a:srgbClr val="0000FF"/>
                </a:solidFill>
                <a:ea typeface="宋体" panose="02010600030101010101" pitchFamily="2" charset="-122"/>
              </a:rPr>
              <a:t>1</a:t>
            </a:r>
          </a:p>
        </p:txBody>
      </p:sp>
      <p:sp>
        <p:nvSpPr>
          <p:cNvPr id="3" name="矩形 2"/>
          <p:cNvSpPr/>
          <p:nvPr/>
        </p:nvSpPr>
        <p:spPr>
          <a:xfrm>
            <a:off x="133313" y="4035776"/>
            <a:ext cx="4798727" cy="923330"/>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Bef>
                <a:spcPts val="0"/>
              </a:spcBef>
            </a:pPr>
            <a:r>
              <a:rPr lang="zh-CN" altLang="en-US" dirty="0">
                <a:solidFill>
                  <a:srgbClr val="000000"/>
                </a:solidFill>
                <a:latin typeface="宋体" panose="02010600030101010101" pitchFamily="2" charset="-122"/>
                <a:ea typeface="宋体" panose="02010600030101010101" pitchFamily="2" charset="-122"/>
                <a:sym typeface="Symbol" pitchFamily="18" charset="2"/>
              </a:rPr>
              <a:t>分析栈中的活前缀</a:t>
            </a:r>
            <a:r>
              <a:rPr lang="en-US" altLang="zh-CN" dirty="0">
                <a:solidFill>
                  <a:srgbClr val="000000"/>
                </a:solidFill>
                <a:latin typeface="宋体" panose="02010600030101010101" pitchFamily="2" charset="-122"/>
                <a:ea typeface="宋体" panose="02010600030101010101" pitchFamily="2" charset="-122"/>
                <a:sym typeface="Symbol" pitchFamily="18" charset="2"/>
              </a:rPr>
              <a:t>X1X2…</a:t>
            </a:r>
            <a:r>
              <a:rPr lang="en-US" altLang="zh-CN" dirty="0" err="1">
                <a:solidFill>
                  <a:srgbClr val="000000"/>
                </a:solidFill>
                <a:latin typeface="宋体" panose="02010600030101010101" pitchFamily="2" charset="-122"/>
                <a:ea typeface="宋体" panose="02010600030101010101" pitchFamily="2" charset="-122"/>
                <a:sym typeface="Symbol" pitchFamily="18" charset="2"/>
              </a:rPr>
              <a:t>Xm</a:t>
            </a:r>
            <a:r>
              <a:rPr lang="zh-CN" altLang="en-US" dirty="0">
                <a:solidFill>
                  <a:srgbClr val="000000"/>
                </a:solidFill>
                <a:latin typeface="宋体" panose="02010600030101010101" pitchFamily="2" charset="-122"/>
                <a:ea typeface="宋体" panose="02010600030101010101" pitchFamily="2" charset="-122"/>
                <a:sym typeface="Symbol" pitchFamily="18" charset="2"/>
              </a:rPr>
              <a:t>的有效项目集是从</a:t>
            </a:r>
            <a:r>
              <a:rPr lang="en-US" altLang="zh-CN" dirty="0">
                <a:solidFill>
                  <a:srgbClr val="000000"/>
                </a:solidFill>
                <a:latin typeface="宋体" panose="02010600030101010101" pitchFamily="2" charset="-122"/>
                <a:ea typeface="宋体" panose="02010600030101010101" pitchFamily="2" charset="-122"/>
                <a:sym typeface="Symbol" pitchFamily="18" charset="2"/>
              </a:rPr>
              <a:t>DFA</a:t>
            </a:r>
            <a:r>
              <a:rPr lang="zh-CN" altLang="en-US" dirty="0">
                <a:solidFill>
                  <a:srgbClr val="000000"/>
                </a:solidFill>
                <a:latin typeface="宋体" panose="02010600030101010101" pitchFamily="2" charset="-122"/>
                <a:ea typeface="宋体" panose="02010600030101010101" pitchFamily="2" charset="-122"/>
                <a:sym typeface="Symbol" pitchFamily="18" charset="2"/>
              </a:rPr>
              <a:t>的初态出发，读取</a:t>
            </a:r>
            <a:r>
              <a:rPr lang="en-US" altLang="zh-CN" dirty="0">
                <a:solidFill>
                  <a:srgbClr val="000000"/>
                </a:solidFill>
                <a:latin typeface="宋体" panose="02010600030101010101" pitchFamily="2" charset="-122"/>
                <a:ea typeface="宋体" panose="02010600030101010101" pitchFamily="2" charset="-122"/>
                <a:sym typeface="Symbol" pitchFamily="18" charset="2"/>
              </a:rPr>
              <a:t>X1X2…</a:t>
            </a:r>
            <a:r>
              <a:rPr lang="en-US" altLang="zh-CN" dirty="0" err="1">
                <a:solidFill>
                  <a:srgbClr val="000000"/>
                </a:solidFill>
                <a:latin typeface="宋体" panose="02010600030101010101" pitchFamily="2" charset="-122"/>
                <a:ea typeface="宋体" panose="02010600030101010101" pitchFamily="2" charset="-122"/>
                <a:sym typeface="Symbol" pitchFamily="18" charset="2"/>
              </a:rPr>
              <a:t>Xm</a:t>
            </a:r>
            <a:r>
              <a:rPr lang="zh-CN" altLang="en-US" dirty="0">
                <a:solidFill>
                  <a:srgbClr val="000000"/>
                </a:solidFill>
                <a:latin typeface="宋体" panose="02010600030101010101" pitchFamily="2" charset="-122"/>
                <a:ea typeface="宋体" panose="02010600030101010101" pitchFamily="2" charset="-122"/>
                <a:sym typeface="Symbol" pitchFamily="18" charset="2"/>
              </a:rPr>
              <a:t>后到达的那个状态，是由栈顶状态</a:t>
            </a:r>
            <a:r>
              <a:rPr lang="en-US" altLang="zh-CN" dirty="0">
                <a:solidFill>
                  <a:srgbClr val="000000"/>
                </a:solidFill>
                <a:latin typeface="宋体" panose="02010600030101010101" pitchFamily="2" charset="-122"/>
                <a:ea typeface="宋体" panose="02010600030101010101" pitchFamily="2" charset="-122"/>
                <a:sym typeface="Symbol" pitchFamily="18" charset="2"/>
              </a:rPr>
              <a:t>Sm</a:t>
            </a:r>
            <a:r>
              <a:rPr lang="zh-CN" altLang="en-US" dirty="0">
                <a:solidFill>
                  <a:srgbClr val="000000"/>
                </a:solidFill>
                <a:latin typeface="宋体" panose="02010600030101010101" pitchFamily="2" charset="-122"/>
                <a:ea typeface="宋体" panose="02010600030101010101" pitchFamily="2" charset="-122"/>
                <a:sym typeface="Symbol" pitchFamily="18" charset="2"/>
              </a:rPr>
              <a:t>所代表的状态</a:t>
            </a:r>
          </a:p>
        </p:txBody>
      </p:sp>
      <p:sp>
        <p:nvSpPr>
          <p:cNvPr id="14" name="文本框 13">
            <a:extLst>
              <a:ext uri="{FF2B5EF4-FFF2-40B4-BE49-F238E27FC236}">
                <a16:creationId xmlns:a16="http://schemas.microsoft.com/office/drawing/2014/main" id="{1A87F97D-064F-0780-4E09-C6A2E953AB12}"/>
              </a:ext>
            </a:extLst>
          </p:cNvPr>
          <p:cNvSpPr txBox="1"/>
          <p:nvPr/>
        </p:nvSpPr>
        <p:spPr>
          <a:xfrm>
            <a:off x="7180487" y="2511750"/>
            <a:ext cx="1471338" cy="369332"/>
          </a:xfrm>
          <a:prstGeom prst="rect">
            <a:avLst/>
          </a:prstGeom>
          <a:noFill/>
        </p:spPr>
        <p:txBody>
          <a:bodyPr wrap="square">
            <a:spAutoFit/>
          </a:bodyPr>
          <a:lstStyle/>
          <a:p>
            <a:r>
              <a:rPr lang="en-US" altLang="zh-CN" b="1" dirty="0">
                <a:solidFill>
                  <a:schemeClr val="accent2"/>
                </a:solidFill>
                <a:ea typeface="华文行楷" pitchFamily="2" charset="-122"/>
              </a:rPr>
              <a:t>(2) E </a:t>
            </a:r>
            <a:r>
              <a:rPr lang="en-US" altLang="zh-CN" b="1" dirty="0">
                <a:solidFill>
                  <a:schemeClr val="accent2"/>
                </a:solidFill>
                <a:ea typeface="华文行楷" pitchFamily="2" charset="-122"/>
                <a:sym typeface="Symbol" pitchFamily="18" charset="2"/>
              </a:rPr>
              <a:t></a:t>
            </a:r>
            <a:r>
              <a:rPr lang="en-US" altLang="zh-CN" b="1" dirty="0" err="1">
                <a:solidFill>
                  <a:schemeClr val="accent2"/>
                </a:solidFill>
                <a:ea typeface="华文行楷" pitchFamily="2" charset="-122"/>
                <a:sym typeface="Symbol" pitchFamily="18" charset="2"/>
              </a:rPr>
              <a:t>b</a:t>
            </a:r>
            <a:r>
              <a:rPr lang="en-US" altLang="zh-CN" b="1" dirty="0" err="1">
                <a:solidFill>
                  <a:schemeClr val="accent2"/>
                </a:solidFill>
                <a:ea typeface="华文行楷" pitchFamily="2" charset="-122"/>
              </a:rPr>
              <a:t>B</a:t>
            </a:r>
            <a:endParaRPr lang="zh-CN" altLang="en-US" dirty="0"/>
          </a:p>
        </p:txBody>
      </p:sp>
      <p:sp>
        <p:nvSpPr>
          <p:cNvPr id="15" name="任意多边形: 形状 14">
            <a:extLst>
              <a:ext uri="{FF2B5EF4-FFF2-40B4-BE49-F238E27FC236}">
                <a16:creationId xmlns:a16="http://schemas.microsoft.com/office/drawing/2014/main" id="{43FC5A4E-7695-9815-EECE-078AAF1B68A0}"/>
              </a:ext>
            </a:extLst>
          </p:cNvPr>
          <p:cNvSpPr/>
          <p:nvPr/>
        </p:nvSpPr>
        <p:spPr>
          <a:xfrm>
            <a:off x="8074479" y="1836992"/>
            <a:ext cx="852421" cy="2750982"/>
          </a:xfrm>
          <a:custGeom>
            <a:avLst/>
            <a:gdLst>
              <a:gd name="connsiteX0" fmla="*/ 1651819 w 1682049"/>
              <a:gd name="connsiteY0" fmla="*/ 0 h 2547099"/>
              <a:gd name="connsiteX1" fmla="*/ 1681316 w 1682049"/>
              <a:gd name="connsiteY1" fmla="*/ 49161 h 2547099"/>
              <a:gd name="connsiteX2" fmla="*/ 1622323 w 1682049"/>
              <a:gd name="connsiteY2" fmla="*/ 422787 h 2547099"/>
              <a:gd name="connsiteX3" fmla="*/ 1543665 w 1682049"/>
              <a:gd name="connsiteY3" fmla="*/ 550606 h 2547099"/>
              <a:gd name="connsiteX4" fmla="*/ 1278194 w 1682049"/>
              <a:gd name="connsiteY4" fmla="*/ 953729 h 2547099"/>
              <a:gd name="connsiteX5" fmla="*/ 1170039 w 1682049"/>
              <a:gd name="connsiteY5" fmla="*/ 1081548 h 2547099"/>
              <a:gd name="connsiteX6" fmla="*/ 1061884 w 1682049"/>
              <a:gd name="connsiteY6" fmla="*/ 1189703 h 2547099"/>
              <a:gd name="connsiteX7" fmla="*/ 943897 w 1682049"/>
              <a:gd name="connsiteY7" fmla="*/ 1366684 h 2547099"/>
              <a:gd name="connsiteX8" fmla="*/ 806245 w 1682049"/>
              <a:gd name="connsiteY8" fmla="*/ 1533832 h 2547099"/>
              <a:gd name="connsiteX9" fmla="*/ 678426 w 1682049"/>
              <a:gd name="connsiteY9" fmla="*/ 1720645 h 2547099"/>
              <a:gd name="connsiteX10" fmla="*/ 304800 w 1682049"/>
              <a:gd name="connsiteY10" fmla="*/ 2123768 h 2547099"/>
              <a:gd name="connsiteX11" fmla="*/ 176981 w 1682049"/>
              <a:gd name="connsiteY11" fmla="*/ 2310580 h 2547099"/>
              <a:gd name="connsiteX12" fmla="*/ 117987 w 1682049"/>
              <a:gd name="connsiteY12" fmla="*/ 2428568 h 2547099"/>
              <a:gd name="connsiteX13" fmla="*/ 49161 w 1682049"/>
              <a:gd name="connsiteY13" fmla="*/ 2497393 h 2547099"/>
              <a:gd name="connsiteX14" fmla="*/ 9832 w 1682049"/>
              <a:gd name="connsiteY14" fmla="*/ 2546555 h 2547099"/>
              <a:gd name="connsiteX15" fmla="*/ 0 w 1682049"/>
              <a:gd name="connsiteY15" fmla="*/ 2536722 h 254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2049" h="2547099">
                <a:moveTo>
                  <a:pt x="1651819" y="0"/>
                </a:moveTo>
                <a:cubicBezTo>
                  <a:pt x="1661651" y="16387"/>
                  <a:pt x="1680700" y="30061"/>
                  <a:pt x="1681316" y="49161"/>
                </a:cubicBezTo>
                <a:cubicBezTo>
                  <a:pt x="1685064" y="165340"/>
                  <a:pt x="1675780" y="311419"/>
                  <a:pt x="1622323" y="422787"/>
                </a:cubicBezTo>
                <a:cubicBezTo>
                  <a:pt x="1600675" y="467888"/>
                  <a:pt x="1567961" y="506874"/>
                  <a:pt x="1543665" y="550606"/>
                </a:cubicBezTo>
                <a:cubicBezTo>
                  <a:pt x="1416183" y="780074"/>
                  <a:pt x="1525569" y="661377"/>
                  <a:pt x="1278194" y="953729"/>
                </a:cubicBezTo>
                <a:cubicBezTo>
                  <a:pt x="1242142" y="996335"/>
                  <a:pt x="1207753" y="1040406"/>
                  <a:pt x="1170039" y="1081548"/>
                </a:cubicBezTo>
                <a:cubicBezTo>
                  <a:pt x="1135587" y="1119132"/>
                  <a:pt x="1093566" y="1149757"/>
                  <a:pt x="1061884" y="1189703"/>
                </a:cubicBezTo>
                <a:cubicBezTo>
                  <a:pt x="1017826" y="1245254"/>
                  <a:pt x="986177" y="1309768"/>
                  <a:pt x="943897" y="1366684"/>
                </a:cubicBezTo>
                <a:cubicBezTo>
                  <a:pt x="900856" y="1424624"/>
                  <a:pt x="849552" y="1476090"/>
                  <a:pt x="806245" y="1533832"/>
                </a:cubicBezTo>
                <a:cubicBezTo>
                  <a:pt x="760974" y="1594193"/>
                  <a:pt x="728390" y="1664107"/>
                  <a:pt x="678426" y="1720645"/>
                </a:cubicBezTo>
                <a:cubicBezTo>
                  <a:pt x="277913" y="2173856"/>
                  <a:pt x="565903" y="1762240"/>
                  <a:pt x="304800" y="2123768"/>
                </a:cubicBezTo>
                <a:cubicBezTo>
                  <a:pt x="260624" y="2184935"/>
                  <a:pt x="210724" y="2243094"/>
                  <a:pt x="176981" y="2310580"/>
                </a:cubicBezTo>
                <a:cubicBezTo>
                  <a:pt x="157316" y="2349909"/>
                  <a:pt x="149080" y="2397476"/>
                  <a:pt x="117987" y="2428568"/>
                </a:cubicBezTo>
                <a:cubicBezTo>
                  <a:pt x="95045" y="2451510"/>
                  <a:pt x="71085" y="2473476"/>
                  <a:pt x="49161" y="2497393"/>
                </a:cubicBezTo>
                <a:cubicBezTo>
                  <a:pt x="34980" y="2512863"/>
                  <a:pt x="26219" y="2533445"/>
                  <a:pt x="9832" y="2546555"/>
                </a:cubicBezTo>
                <a:cubicBezTo>
                  <a:pt x="6213" y="2549451"/>
                  <a:pt x="3277" y="2540000"/>
                  <a:pt x="0" y="2536722"/>
                </a:cubicBezTo>
              </a:path>
            </a:pathLst>
          </a:custGeom>
          <a:noFill/>
          <a:ln>
            <a:solidFill>
              <a:srgbClr val="CC00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93787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5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22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10" grpId="0" animBg="1"/>
      <p:bldP spid="7" grpId="0"/>
      <p:bldP spid="8" grpId="0"/>
      <p:bldP spid="9" grpId="0"/>
      <p:bldP spid="6" grpId="0"/>
      <p:bldP spid="10" grpId="0"/>
      <p:bldP spid="12" grpId="0"/>
      <p:bldP spid="13" grpId="0"/>
      <p:bldP spid="3"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379" name="Text Box 161"/>
          <p:cNvSpPr txBox="1">
            <a:spLocks noChangeArrowheads="1"/>
          </p:cNvSpPr>
          <p:nvPr/>
        </p:nvSpPr>
        <p:spPr bwMode="auto">
          <a:xfrm>
            <a:off x="-49212" y="180975"/>
            <a:ext cx="2074863"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zh-CN" altLang="en-US" sz="2800" b="1" dirty="0">
                <a:latin typeface="宋体" panose="02010600030101010101" pitchFamily="2" charset="-122"/>
              </a:rPr>
              <a:t>求前述例题中的</a:t>
            </a:r>
            <a:r>
              <a:rPr lang="en-US" altLang="zh-CN" sz="2800" b="1" dirty="0">
                <a:latin typeface="宋体" panose="02010600030101010101" pitchFamily="2" charset="-122"/>
              </a:rPr>
              <a:t>LR(0)</a:t>
            </a:r>
            <a:r>
              <a:rPr lang="zh-CN" altLang="en-US" sz="2800" b="1" dirty="0">
                <a:latin typeface="宋体" panose="02010600030101010101" pitchFamily="2" charset="-122"/>
              </a:rPr>
              <a:t>分析表</a:t>
            </a:r>
          </a:p>
        </p:txBody>
      </p:sp>
      <p:pic>
        <p:nvPicPr>
          <p:cNvPr id="22338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1781175"/>
            <a:ext cx="4337050" cy="336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Rectangle 5"/>
          <p:cNvSpPr>
            <a:spLocks noChangeArrowheads="1"/>
          </p:cNvSpPr>
          <p:nvPr/>
        </p:nvSpPr>
        <p:spPr bwMode="auto">
          <a:xfrm>
            <a:off x="2325688" y="0"/>
            <a:ext cx="1800225" cy="183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(0)  S' </a:t>
            </a:r>
            <a:r>
              <a:rPr lang="en-US" altLang="zh-CN" sz="1800" b="1" dirty="0">
                <a:solidFill>
                  <a:schemeClr val="accent2"/>
                </a:solidFill>
                <a:latin typeface="宋体" panose="02010600030101010101" pitchFamily="2" charset="-122"/>
                <a:sym typeface="Symbol" pitchFamily="18" charset="2"/>
              </a:rPr>
              <a:t>E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(1)  E </a:t>
            </a:r>
            <a:r>
              <a:rPr lang="en-US" altLang="zh-CN" sz="1800" b="1" dirty="0">
                <a:solidFill>
                  <a:schemeClr val="accent2"/>
                </a:solidFill>
                <a:latin typeface="宋体" panose="02010600030101010101" pitchFamily="2" charset="-122"/>
                <a:sym typeface="Symbol" pitchFamily="18" charset="2"/>
              </a:rPr>
              <a:t></a:t>
            </a:r>
            <a:r>
              <a:rPr lang="en-US" altLang="zh-CN" sz="1800" b="1" dirty="0" err="1">
                <a:solidFill>
                  <a:schemeClr val="accent2"/>
                </a:solidFill>
                <a:latin typeface="宋体" panose="02010600030101010101" pitchFamily="2" charset="-122"/>
                <a:sym typeface="Symbol" pitchFamily="18" charset="2"/>
              </a:rPr>
              <a:t>a</a:t>
            </a:r>
            <a:r>
              <a:rPr lang="en-US" altLang="zh-CN" sz="1800" b="1" dirty="0" err="1">
                <a:solidFill>
                  <a:schemeClr val="accent2"/>
                </a:solidFill>
                <a:latin typeface="宋体" panose="02010600030101010101" pitchFamily="2" charset="-122"/>
              </a:rPr>
              <a:t>A</a:t>
            </a:r>
            <a:r>
              <a:rPr lang="en-US" altLang="zh-CN" sz="1800" b="1" dirty="0">
                <a:solidFill>
                  <a:schemeClr val="accent2"/>
                </a:solidFill>
                <a:latin typeface="宋体" panose="02010600030101010101" pitchFamily="2" charset="-122"/>
              </a:rPr>
              <a:t>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(2)  E </a:t>
            </a:r>
            <a:r>
              <a:rPr lang="en-US" altLang="zh-CN" sz="1800" b="1" dirty="0">
                <a:solidFill>
                  <a:schemeClr val="accent2"/>
                </a:solidFill>
                <a:latin typeface="宋体" panose="02010600030101010101" pitchFamily="2" charset="-122"/>
                <a:sym typeface="Symbol" pitchFamily="18" charset="2"/>
              </a:rPr>
              <a:t></a:t>
            </a:r>
            <a:r>
              <a:rPr lang="en-US" altLang="zh-CN" sz="1800" b="1" dirty="0" err="1">
                <a:solidFill>
                  <a:schemeClr val="accent2"/>
                </a:solidFill>
                <a:latin typeface="宋体" panose="02010600030101010101" pitchFamily="2" charset="-122"/>
                <a:sym typeface="Symbol" pitchFamily="18" charset="2"/>
              </a:rPr>
              <a:t>b</a:t>
            </a:r>
            <a:r>
              <a:rPr lang="en-US" altLang="zh-CN" sz="1800" b="1" dirty="0" err="1">
                <a:solidFill>
                  <a:schemeClr val="accent2"/>
                </a:solidFill>
                <a:latin typeface="宋体" panose="02010600030101010101" pitchFamily="2" charset="-122"/>
              </a:rPr>
              <a:t>B</a:t>
            </a:r>
            <a:r>
              <a:rPr lang="en-US" altLang="zh-CN" sz="1800" b="1" dirty="0">
                <a:solidFill>
                  <a:schemeClr val="accent2"/>
                </a:solidFill>
                <a:latin typeface="宋体" panose="02010600030101010101" pitchFamily="2" charset="-122"/>
              </a:rPr>
              <a:t>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(3)  A </a:t>
            </a:r>
            <a:r>
              <a:rPr lang="en-US" altLang="zh-CN" sz="1800" b="1" dirty="0">
                <a:solidFill>
                  <a:schemeClr val="accent2"/>
                </a:solidFill>
                <a:latin typeface="宋体" panose="02010600030101010101" pitchFamily="2" charset="-122"/>
                <a:sym typeface="Symbol" pitchFamily="18" charset="2"/>
              </a:rPr>
              <a:t></a:t>
            </a:r>
            <a:r>
              <a:rPr lang="en-US" altLang="zh-CN" sz="1800" b="1" dirty="0" err="1">
                <a:solidFill>
                  <a:schemeClr val="accent2"/>
                </a:solidFill>
                <a:latin typeface="宋体" panose="02010600030101010101" pitchFamily="2" charset="-122"/>
              </a:rPr>
              <a:t>cA</a:t>
            </a:r>
            <a:r>
              <a:rPr lang="en-US" altLang="zh-CN" sz="1800" b="1" dirty="0">
                <a:solidFill>
                  <a:schemeClr val="accent2"/>
                </a:solidFill>
                <a:latin typeface="宋体" panose="02010600030101010101" pitchFamily="2" charset="-122"/>
              </a:rPr>
              <a:t>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(4)  A </a:t>
            </a:r>
            <a:r>
              <a:rPr lang="en-US" altLang="zh-CN" sz="1800" b="1" dirty="0">
                <a:solidFill>
                  <a:schemeClr val="accent2"/>
                </a:solidFill>
                <a:latin typeface="宋体" panose="02010600030101010101" pitchFamily="2" charset="-122"/>
                <a:sym typeface="Symbol" pitchFamily="18" charset="2"/>
              </a:rPr>
              <a:t></a:t>
            </a:r>
            <a:r>
              <a:rPr lang="en-US" altLang="zh-CN" sz="1800" b="1" dirty="0">
                <a:solidFill>
                  <a:schemeClr val="accent2"/>
                </a:solidFill>
                <a:latin typeface="宋体" panose="02010600030101010101" pitchFamily="2" charset="-122"/>
              </a:rPr>
              <a:t>d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(5)  B </a:t>
            </a:r>
            <a:r>
              <a:rPr lang="en-US" altLang="zh-CN" sz="1800" b="1" dirty="0">
                <a:solidFill>
                  <a:schemeClr val="accent2"/>
                </a:solidFill>
                <a:latin typeface="宋体" panose="02010600030101010101" pitchFamily="2" charset="-122"/>
                <a:sym typeface="Symbol" pitchFamily="18" charset="2"/>
              </a:rPr>
              <a:t></a:t>
            </a:r>
            <a:r>
              <a:rPr lang="en-US" altLang="zh-CN" sz="1800" b="1" dirty="0" err="1">
                <a:solidFill>
                  <a:schemeClr val="accent2"/>
                </a:solidFill>
                <a:latin typeface="宋体" panose="02010600030101010101" pitchFamily="2" charset="-122"/>
              </a:rPr>
              <a:t>cB</a:t>
            </a:r>
            <a:r>
              <a:rPr lang="en-US" altLang="zh-CN" sz="1800" b="1" dirty="0">
                <a:solidFill>
                  <a:schemeClr val="accent2"/>
                </a:solidFill>
                <a:latin typeface="宋体" panose="02010600030101010101" pitchFamily="2" charset="-122"/>
              </a:rPr>
              <a:t>      </a:t>
            </a:r>
          </a:p>
          <a:p>
            <a:pPr eaLnBrk="1" hangingPunct="1">
              <a:lnSpc>
                <a:spcPct val="90000"/>
              </a:lnSpc>
              <a:spcBef>
                <a:spcPts val="0"/>
              </a:spcBef>
              <a:buFontTx/>
              <a:buNone/>
            </a:pPr>
            <a:r>
              <a:rPr lang="en-US" altLang="zh-CN" sz="1800" b="1" dirty="0">
                <a:solidFill>
                  <a:schemeClr val="accent2"/>
                </a:solidFill>
                <a:latin typeface="宋体" panose="02010600030101010101" pitchFamily="2" charset="-122"/>
              </a:rPr>
              <a:t>(6)  B </a:t>
            </a:r>
            <a:r>
              <a:rPr lang="en-US" altLang="zh-CN" sz="1800" b="1" dirty="0">
                <a:solidFill>
                  <a:schemeClr val="accent2"/>
                </a:solidFill>
                <a:latin typeface="宋体" panose="02010600030101010101" pitchFamily="2" charset="-122"/>
                <a:sym typeface="Symbol" pitchFamily="18" charset="2"/>
              </a:rPr>
              <a:t></a:t>
            </a:r>
            <a:r>
              <a:rPr lang="en-US" altLang="zh-CN" sz="1800" b="1" dirty="0">
                <a:solidFill>
                  <a:schemeClr val="accent2"/>
                </a:solidFill>
                <a:latin typeface="宋体" panose="02010600030101010101" pitchFamily="2" charset="-122"/>
              </a:rPr>
              <a:t>d</a:t>
            </a:r>
          </a:p>
        </p:txBody>
      </p:sp>
      <p:graphicFrame>
        <p:nvGraphicFramePr>
          <p:cNvPr id="6" name="Group 182"/>
          <p:cNvGraphicFramePr>
            <a:graphicFrameLocks noGrp="1"/>
          </p:cNvGraphicFramePr>
          <p:nvPr>
            <p:extLst>
              <p:ext uri="{D42A27DB-BD31-4B8C-83A1-F6EECF244321}">
                <p14:modId xmlns:p14="http://schemas.microsoft.com/office/powerpoint/2010/main" val="464326230"/>
              </p:ext>
            </p:extLst>
          </p:nvPr>
        </p:nvGraphicFramePr>
        <p:xfrm>
          <a:off x="4572000" y="195486"/>
          <a:ext cx="4355975" cy="4410616"/>
        </p:xfrm>
        <a:graphic>
          <a:graphicData uri="http://schemas.openxmlformats.org/drawingml/2006/table">
            <a:tbl>
              <a:tblPr/>
              <a:tblGrid>
                <a:gridCol w="504056">
                  <a:extLst>
                    <a:ext uri="{9D8B030D-6E8A-4147-A177-3AD203B41FA5}">
                      <a16:colId xmlns:a16="http://schemas.microsoft.com/office/drawing/2014/main" val="20000"/>
                    </a:ext>
                  </a:extLst>
                </a:gridCol>
                <a:gridCol w="525022">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0225">
                  <a:extLst>
                    <a:ext uri="{9D8B030D-6E8A-4147-A177-3AD203B41FA5}">
                      <a16:colId xmlns:a16="http://schemas.microsoft.com/office/drawing/2014/main" val="20003"/>
                    </a:ext>
                  </a:extLst>
                </a:gridCol>
                <a:gridCol w="563221">
                  <a:extLst>
                    <a:ext uri="{9D8B030D-6E8A-4147-A177-3AD203B41FA5}">
                      <a16:colId xmlns:a16="http://schemas.microsoft.com/office/drawing/2014/main" val="20004"/>
                    </a:ext>
                  </a:extLst>
                </a:gridCol>
                <a:gridCol w="665080">
                  <a:extLst>
                    <a:ext uri="{9D8B030D-6E8A-4147-A177-3AD203B41FA5}">
                      <a16:colId xmlns:a16="http://schemas.microsoft.com/office/drawing/2014/main" val="20005"/>
                    </a:ext>
                  </a:extLst>
                </a:gridCol>
                <a:gridCol w="358004">
                  <a:extLst>
                    <a:ext uri="{9D8B030D-6E8A-4147-A177-3AD203B41FA5}">
                      <a16:colId xmlns:a16="http://schemas.microsoft.com/office/drawing/2014/main" val="20006"/>
                    </a:ext>
                  </a:extLst>
                </a:gridCol>
                <a:gridCol w="335536">
                  <a:extLst>
                    <a:ext uri="{9D8B030D-6E8A-4147-A177-3AD203B41FA5}">
                      <a16:colId xmlns:a16="http://schemas.microsoft.com/office/drawing/2014/main" val="20007"/>
                    </a:ext>
                  </a:extLst>
                </a:gridCol>
                <a:gridCol w="284606">
                  <a:extLst>
                    <a:ext uri="{9D8B030D-6E8A-4147-A177-3AD203B41FA5}">
                      <a16:colId xmlns:a16="http://schemas.microsoft.com/office/drawing/2014/main" val="20008"/>
                    </a:ext>
                  </a:extLst>
                </a:gridCol>
              </a:tblGrid>
              <a:tr h="315044">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mj-lt"/>
                          <a:ea typeface="宋体" panose="02010600030101010101" pitchFamily="2" charset="-122"/>
                        </a:rPr>
                        <a:t>状</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1600" b="0" i="0" u="none" strike="noStrike" cap="none" normalizeH="0" baseline="0" dirty="0">
                          <a:ln>
                            <a:noFill/>
                          </a:ln>
                          <a:solidFill>
                            <a:schemeClr val="tx1"/>
                          </a:solidFill>
                          <a:effectLst/>
                          <a:latin typeface="+mj-lt"/>
                          <a:ea typeface="宋体" panose="02010600030101010101" pitchFamily="2" charset="-122"/>
                        </a:rPr>
                        <a:t>态</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action</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err="1">
                          <a:ln>
                            <a:noFill/>
                          </a:ln>
                          <a:solidFill>
                            <a:schemeClr val="tx1"/>
                          </a:solidFill>
                          <a:effectLst/>
                          <a:latin typeface="+mj-lt"/>
                          <a:ea typeface="宋体" panose="02010600030101010101" pitchFamily="2" charset="-122"/>
                        </a:rPr>
                        <a:t>goto</a:t>
                      </a: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15044">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a</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b</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c</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d</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E</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A</a:t>
                      </a: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B</a:t>
                      </a: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1" lang="en-US" altLang="zh-CN" sz="1600" b="0" i="0" u="none" strike="noStrike" kern="1200" cap="none" normalizeH="0" baseline="0" dirty="0">
                          <a:ln>
                            <a:noFill/>
                          </a:ln>
                          <a:solidFill>
                            <a:schemeClr val="tx1"/>
                          </a:solidFill>
                          <a:effectLst/>
                          <a:latin typeface="Times New Roman" panose="02020603050405020304" pitchFamily="18" charset="0"/>
                          <a:ea typeface="宋体" panose="02010600030101010101" pitchFamily="2" charset="-122"/>
                          <a:cs typeface="+mn-cs"/>
                        </a:rPr>
                        <a:t>0</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1</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2</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3</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4</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5</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6</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7</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8</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9</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10</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kern="1200" cap="none" normalizeH="0" baseline="0" dirty="0">
                          <a:ln>
                            <a:noFill/>
                          </a:ln>
                          <a:solidFill>
                            <a:schemeClr val="tx1"/>
                          </a:solidFill>
                          <a:effectLst/>
                          <a:latin typeface="+mj-lt"/>
                          <a:ea typeface="宋体" panose="02010600030101010101" pitchFamily="2" charset="-122"/>
                          <a:cs typeface="+mn-cs"/>
                        </a:rPr>
                        <a:t>11</a:t>
                      </a: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en-US"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sp>
        <p:nvSpPr>
          <p:cNvPr id="3" name="矩形 2"/>
          <p:cNvSpPr/>
          <p:nvPr/>
        </p:nvSpPr>
        <p:spPr>
          <a:xfrm>
            <a:off x="7380312" y="1122298"/>
            <a:ext cx="550151" cy="369332"/>
          </a:xfrm>
          <a:prstGeom prst="rect">
            <a:avLst/>
          </a:prstGeom>
        </p:spPr>
        <p:txBody>
          <a:bodyPr wrap="none">
            <a:spAutoFit/>
          </a:bodyPr>
          <a:lstStyle/>
          <a:p>
            <a:pPr lvl="0" algn="ctr" fontAlgn="base">
              <a:spcBef>
                <a:spcPct val="20000"/>
              </a:spcBef>
              <a:spcAft>
                <a:spcPct val="0"/>
              </a:spcAft>
            </a:pPr>
            <a:r>
              <a:rPr kumimoji="1" lang="en-US" altLang="zh-CN" dirty="0" err="1">
                <a:ea typeface="宋体" panose="02010600030101010101" pitchFamily="2" charset="-122"/>
              </a:rPr>
              <a:t>acc</a:t>
            </a:r>
            <a:endParaRPr kumimoji="1" lang="en-US" altLang="zh-CN" dirty="0">
              <a:ea typeface="宋体" panose="02010600030101010101" pitchFamily="2" charset="-122"/>
            </a:endParaRPr>
          </a:p>
        </p:txBody>
      </p:sp>
      <p:graphicFrame>
        <p:nvGraphicFramePr>
          <p:cNvPr id="5" name="表格 4"/>
          <p:cNvGraphicFramePr>
            <a:graphicFrameLocks noGrp="1"/>
          </p:cNvGraphicFramePr>
          <p:nvPr>
            <p:extLst>
              <p:ext uri="{D42A27DB-BD31-4B8C-83A1-F6EECF244321}">
                <p14:modId xmlns:p14="http://schemas.microsoft.com/office/powerpoint/2010/main" val="80158703"/>
              </p:ext>
            </p:extLst>
          </p:nvPr>
        </p:nvGraphicFramePr>
        <p:xfrm>
          <a:off x="6156176" y="1781175"/>
          <a:ext cx="2766672" cy="315044"/>
        </p:xfrm>
        <a:graphic>
          <a:graphicData uri="http://schemas.openxmlformats.org/drawingml/2006/table">
            <a:tbl>
              <a:tblPr/>
              <a:tblGrid>
                <a:gridCol w="560225">
                  <a:extLst>
                    <a:ext uri="{9D8B030D-6E8A-4147-A177-3AD203B41FA5}">
                      <a16:colId xmlns:a16="http://schemas.microsoft.com/office/drawing/2014/main" val="20000"/>
                    </a:ext>
                  </a:extLst>
                </a:gridCol>
                <a:gridCol w="563221">
                  <a:extLst>
                    <a:ext uri="{9D8B030D-6E8A-4147-A177-3AD203B41FA5}">
                      <a16:colId xmlns:a16="http://schemas.microsoft.com/office/drawing/2014/main" val="20001"/>
                    </a:ext>
                  </a:extLst>
                </a:gridCol>
                <a:gridCol w="665080">
                  <a:extLst>
                    <a:ext uri="{9D8B030D-6E8A-4147-A177-3AD203B41FA5}">
                      <a16:colId xmlns:a16="http://schemas.microsoft.com/office/drawing/2014/main" val="20002"/>
                    </a:ext>
                  </a:extLst>
                </a:gridCol>
                <a:gridCol w="358004">
                  <a:extLst>
                    <a:ext uri="{9D8B030D-6E8A-4147-A177-3AD203B41FA5}">
                      <a16:colId xmlns:a16="http://schemas.microsoft.com/office/drawing/2014/main" val="20003"/>
                    </a:ext>
                  </a:extLst>
                </a:gridCol>
                <a:gridCol w="335536">
                  <a:extLst>
                    <a:ext uri="{9D8B030D-6E8A-4147-A177-3AD203B41FA5}">
                      <a16:colId xmlns:a16="http://schemas.microsoft.com/office/drawing/2014/main" val="20004"/>
                    </a:ext>
                  </a:extLst>
                </a:gridCol>
                <a:gridCol w="284606">
                  <a:extLst>
                    <a:ext uri="{9D8B030D-6E8A-4147-A177-3AD203B41FA5}">
                      <a16:colId xmlns:a16="http://schemas.microsoft.com/office/drawing/2014/main" val="20005"/>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11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7</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1294196390"/>
              </p:ext>
            </p:extLst>
          </p:nvPr>
        </p:nvGraphicFramePr>
        <p:xfrm>
          <a:off x="6156176" y="2112690"/>
          <a:ext cx="2482066" cy="315044"/>
        </p:xfrm>
        <a:graphic>
          <a:graphicData uri="http://schemas.openxmlformats.org/drawingml/2006/table">
            <a:tbl>
              <a:tblPr/>
              <a:tblGrid>
                <a:gridCol w="560225">
                  <a:extLst>
                    <a:ext uri="{9D8B030D-6E8A-4147-A177-3AD203B41FA5}">
                      <a16:colId xmlns:a16="http://schemas.microsoft.com/office/drawing/2014/main" val="20000"/>
                    </a:ext>
                  </a:extLst>
                </a:gridCol>
                <a:gridCol w="563221">
                  <a:extLst>
                    <a:ext uri="{9D8B030D-6E8A-4147-A177-3AD203B41FA5}">
                      <a16:colId xmlns:a16="http://schemas.microsoft.com/office/drawing/2014/main" val="20001"/>
                    </a:ext>
                  </a:extLst>
                </a:gridCol>
                <a:gridCol w="665080">
                  <a:extLst>
                    <a:ext uri="{9D8B030D-6E8A-4147-A177-3AD203B41FA5}">
                      <a16:colId xmlns:a16="http://schemas.microsoft.com/office/drawing/2014/main" val="20002"/>
                    </a:ext>
                  </a:extLst>
                </a:gridCol>
                <a:gridCol w="358004">
                  <a:extLst>
                    <a:ext uri="{9D8B030D-6E8A-4147-A177-3AD203B41FA5}">
                      <a16:colId xmlns:a16="http://schemas.microsoft.com/office/drawing/2014/main" val="20003"/>
                    </a:ext>
                  </a:extLst>
                </a:gridCol>
                <a:gridCol w="335536">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4</a:t>
                      </a:r>
                      <a:endParaRPr kumimoji="1" lang="en-US"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a:ln>
                            <a:noFill/>
                          </a:ln>
                          <a:solidFill>
                            <a:schemeClr val="tx1"/>
                          </a:solidFill>
                          <a:effectLst/>
                          <a:latin typeface="+mj-lt"/>
                          <a:ea typeface="宋体" panose="02010600030101010101" pitchFamily="2" charset="-122"/>
                        </a:rPr>
                        <a:t>10</a:t>
                      </a:r>
                      <a:endParaRPr kumimoji="1" lang="en-US"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8</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409745594"/>
              </p:ext>
            </p:extLst>
          </p:nvPr>
        </p:nvGraphicFramePr>
        <p:xfrm>
          <a:off x="6156176" y="2400722"/>
          <a:ext cx="2766672" cy="315044"/>
        </p:xfrm>
        <a:graphic>
          <a:graphicData uri="http://schemas.openxmlformats.org/drawingml/2006/table">
            <a:tbl>
              <a:tblPr/>
              <a:tblGrid>
                <a:gridCol w="560225">
                  <a:extLst>
                    <a:ext uri="{9D8B030D-6E8A-4147-A177-3AD203B41FA5}">
                      <a16:colId xmlns:a16="http://schemas.microsoft.com/office/drawing/2014/main" val="20000"/>
                    </a:ext>
                  </a:extLst>
                </a:gridCol>
                <a:gridCol w="563221">
                  <a:extLst>
                    <a:ext uri="{9D8B030D-6E8A-4147-A177-3AD203B41FA5}">
                      <a16:colId xmlns:a16="http://schemas.microsoft.com/office/drawing/2014/main" val="20001"/>
                    </a:ext>
                  </a:extLst>
                </a:gridCol>
                <a:gridCol w="665080">
                  <a:extLst>
                    <a:ext uri="{9D8B030D-6E8A-4147-A177-3AD203B41FA5}">
                      <a16:colId xmlns:a16="http://schemas.microsoft.com/office/drawing/2014/main" val="20002"/>
                    </a:ext>
                  </a:extLst>
                </a:gridCol>
                <a:gridCol w="358004">
                  <a:extLst>
                    <a:ext uri="{9D8B030D-6E8A-4147-A177-3AD203B41FA5}">
                      <a16:colId xmlns:a16="http://schemas.microsoft.com/office/drawing/2014/main" val="20003"/>
                    </a:ext>
                  </a:extLst>
                </a:gridCol>
                <a:gridCol w="335536">
                  <a:extLst>
                    <a:ext uri="{9D8B030D-6E8A-4147-A177-3AD203B41FA5}">
                      <a16:colId xmlns:a16="http://schemas.microsoft.com/office/drawing/2014/main" val="20004"/>
                    </a:ext>
                  </a:extLst>
                </a:gridCol>
                <a:gridCol w="284606">
                  <a:extLst>
                    <a:ext uri="{9D8B030D-6E8A-4147-A177-3AD203B41FA5}">
                      <a16:colId xmlns:a16="http://schemas.microsoft.com/office/drawing/2014/main" val="20005"/>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S</a:t>
                      </a:r>
                      <a:r>
                        <a:rPr kumimoji="1" lang="en-US" altLang="zh-CN" sz="1600" b="0" i="0" u="none" strike="noStrike" cap="none" normalizeH="0" baseline="-25000">
                          <a:ln>
                            <a:noFill/>
                          </a:ln>
                          <a:solidFill>
                            <a:schemeClr val="tx1"/>
                          </a:solidFill>
                          <a:effectLst/>
                          <a:latin typeface="+mj-lt"/>
                          <a:ea typeface="宋体" panose="02010600030101010101" pitchFamily="2" charset="-122"/>
                        </a:rPr>
                        <a:t>11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2500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a:ln>
                          <a:noFill/>
                        </a:ln>
                        <a:solidFill>
                          <a:schemeClr val="tx1"/>
                        </a:solidFill>
                        <a:effectLst/>
                        <a:latin typeface="+mj-lt"/>
                        <a:ea typeface="宋体" panose="02010600030101010101" pitchFamily="2" charset="-122"/>
                      </a:endParaRPr>
                    </a:p>
                  </a:txBody>
                  <a:tcPr marT="34286" marB="34286"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j-lt"/>
                        <a:ea typeface="宋体" panose="02010600030101010101" pitchFamily="2" charset="-122"/>
                      </a:endParaRP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9</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表格 8"/>
          <p:cNvGraphicFramePr>
            <a:graphicFrameLocks noGrp="1"/>
          </p:cNvGraphicFramePr>
          <p:nvPr>
            <p:extLst>
              <p:ext uri="{D42A27DB-BD31-4B8C-83A1-F6EECF244321}">
                <p14:modId xmlns:p14="http://schemas.microsoft.com/office/powerpoint/2010/main" val="66444095"/>
              </p:ext>
            </p:extLst>
          </p:nvPr>
        </p:nvGraphicFramePr>
        <p:xfrm>
          <a:off x="5114806" y="2715766"/>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1</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1</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1977038564"/>
              </p:ext>
            </p:extLst>
          </p:nvPr>
        </p:nvGraphicFramePr>
        <p:xfrm>
          <a:off x="5114806" y="3003798"/>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2</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 name="表格 10"/>
          <p:cNvGraphicFramePr>
            <a:graphicFrameLocks noGrp="1"/>
          </p:cNvGraphicFramePr>
          <p:nvPr>
            <p:extLst>
              <p:ext uri="{D42A27DB-BD31-4B8C-83A1-F6EECF244321}">
                <p14:modId xmlns:p14="http://schemas.microsoft.com/office/powerpoint/2010/main" val="3246647274"/>
              </p:ext>
            </p:extLst>
          </p:nvPr>
        </p:nvGraphicFramePr>
        <p:xfrm>
          <a:off x="5088893" y="3336826"/>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3</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3</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3</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3</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3</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 name="表格 11"/>
          <p:cNvGraphicFramePr>
            <a:graphicFrameLocks noGrp="1"/>
          </p:cNvGraphicFramePr>
          <p:nvPr>
            <p:extLst>
              <p:ext uri="{D42A27DB-BD31-4B8C-83A1-F6EECF244321}">
                <p14:modId xmlns:p14="http://schemas.microsoft.com/office/powerpoint/2010/main" val="3695270218"/>
              </p:ext>
            </p:extLst>
          </p:nvPr>
        </p:nvGraphicFramePr>
        <p:xfrm>
          <a:off x="5088893" y="3651870"/>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5</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103751468"/>
              </p:ext>
            </p:extLst>
          </p:nvPr>
        </p:nvGraphicFramePr>
        <p:xfrm>
          <a:off x="5088893" y="3984898"/>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4</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4</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4</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4</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4</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3340132308"/>
              </p:ext>
            </p:extLst>
          </p:nvPr>
        </p:nvGraphicFramePr>
        <p:xfrm>
          <a:off x="5088893" y="4299942"/>
          <a:ext cx="2841570" cy="315044"/>
        </p:xfrm>
        <a:graphic>
          <a:graphicData uri="http://schemas.openxmlformats.org/drawingml/2006/table">
            <a:tbl>
              <a:tblPr/>
              <a:tblGrid>
                <a:gridCol w="492819">
                  <a:extLst>
                    <a:ext uri="{9D8B030D-6E8A-4147-A177-3AD203B41FA5}">
                      <a16:colId xmlns:a16="http://schemas.microsoft.com/office/drawing/2014/main" val="20000"/>
                    </a:ext>
                  </a:extLst>
                </a:gridCol>
                <a:gridCol w="560225">
                  <a:extLst>
                    <a:ext uri="{9D8B030D-6E8A-4147-A177-3AD203B41FA5}">
                      <a16:colId xmlns:a16="http://schemas.microsoft.com/office/drawing/2014/main" val="20001"/>
                    </a:ext>
                  </a:extLst>
                </a:gridCol>
                <a:gridCol w="560225">
                  <a:extLst>
                    <a:ext uri="{9D8B030D-6E8A-4147-A177-3AD203B41FA5}">
                      <a16:colId xmlns:a16="http://schemas.microsoft.com/office/drawing/2014/main" val="20002"/>
                    </a:ext>
                  </a:extLst>
                </a:gridCol>
                <a:gridCol w="563221">
                  <a:extLst>
                    <a:ext uri="{9D8B030D-6E8A-4147-A177-3AD203B41FA5}">
                      <a16:colId xmlns:a16="http://schemas.microsoft.com/office/drawing/2014/main" val="20003"/>
                    </a:ext>
                  </a:extLst>
                </a:gridCol>
                <a:gridCol w="665080">
                  <a:extLst>
                    <a:ext uri="{9D8B030D-6E8A-4147-A177-3AD203B41FA5}">
                      <a16:colId xmlns:a16="http://schemas.microsoft.com/office/drawing/2014/main" val="20004"/>
                    </a:ext>
                  </a:extLst>
                </a:gridCol>
              </a:tblGrid>
              <a:tr h="31504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6</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6</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6</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a:ln>
                            <a:noFill/>
                          </a:ln>
                          <a:solidFill>
                            <a:schemeClr val="tx1"/>
                          </a:solidFill>
                          <a:effectLst/>
                          <a:latin typeface="+mj-lt"/>
                          <a:ea typeface="宋体" panose="02010600030101010101" pitchFamily="2" charset="-122"/>
                        </a:rPr>
                        <a:t>6</a:t>
                      </a:r>
                    </a:p>
                  </a:txBody>
                  <a:tcPr marT="34286" marB="3428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600" b="0" i="0" u="none" strike="noStrike" cap="none" normalizeH="0" baseline="0" dirty="0">
                          <a:ln>
                            <a:noFill/>
                          </a:ln>
                          <a:solidFill>
                            <a:schemeClr val="tx1"/>
                          </a:solidFill>
                          <a:effectLst/>
                          <a:latin typeface="+mj-lt"/>
                          <a:ea typeface="宋体" panose="02010600030101010101" pitchFamily="2" charset="-122"/>
                        </a:rPr>
                        <a:t>r</a:t>
                      </a:r>
                      <a:r>
                        <a:rPr kumimoji="1" lang="en-US" altLang="zh-CN" sz="1600" b="0" i="0" u="none" strike="noStrike" cap="none" normalizeH="0" baseline="-25000" dirty="0">
                          <a:ln>
                            <a:noFill/>
                          </a:ln>
                          <a:solidFill>
                            <a:schemeClr val="tx1"/>
                          </a:solidFill>
                          <a:effectLst/>
                          <a:latin typeface="+mj-lt"/>
                          <a:ea typeface="宋体" panose="02010600030101010101" pitchFamily="2" charset="-122"/>
                        </a:rPr>
                        <a:t>6</a:t>
                      </a:r>
                    </a:p>
                  </a:txBody>
                  <a:tcPr marT="34286" marB="34286"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矩形 14"/>
          <p:cNvSpPr/>
          <p:nvPr/>
        </p:nvSpPr>
        <p:spPr>
          <a:xfrm>
            <a:off x="408236" y="3175123"/>
            <a:ext cx="995412" cy="574427"/>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连接符 16"/>
          <p:cNvCxnSpPr/>
          <p:nvPr/>
        </p:nvCxnSpPr>
        <p:spPr>
          <a:xfrm>
            <a:off x="683568" y="3363838"/>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a:off x="700187" y="3579862"/>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700187" y="3748012"/>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p:nvPr/>
        </p:nvCxnSpPr>
        <p:spPr>
          <a:xfrm>
            <a:off x="1403648" y="3462336"/>
            <a:ext cx="504056"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a:off x="1907704" y="3351455"/>
            <a:ext cx="1078924" cy="216024"/>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5" name="直接连接符 24"/>
          <p:cNvCxnSpPr/>
          <p:nvPr/>
        </p:nvCxnSpPr>
        <p:spPr>
          <a:xfrm flipH="1" flipV="1">
            <a:off x="971600" y="2931790"/>
            <a:ext cx="1" cy="28803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p:cNvCxnSpPr/>
          <p:nvPr/>
        </p:nvCxnSpPr>
        <p:spPr>
          <a:xfrm>
            <a:off x="971600" y="2931790"/>
            <a:ext cx="936104"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7" name="矩形 36"/>
          <p:cNvSpPr/>
          <p:nvPr/>
        </p:nvSpPr>
        <p:spPr>
          <a:xfrm>
            <a:off x="1907704" y="2643757"/>
            <a:ext cx="1078924" cy="531365"/>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1907704" y="3733164"/>
            <a:ext cx="1078924" cy="531365"/>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9" name="直接连接符 38"/>
          <p:cNvCxnSpPr/>
          <p:nvPr/>
        </p:nvCxnSpPr>
        <p:spPr>
          <a:xfrm flipH="1" flipV="1">
            <a:off x="967840" y="3723878"/>
            <a:ext cx="1" cy="28803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直接箭头连接符 39"/>
          <p:cNvCxnSpPr/>
          <p:nvPr/>
        </p:nvCxnSpPr>
        <p:spPr>
          <a:xfrm>
            <a:off x="988219" y="4011910"/>
            <a:ext cx="936104"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47265" name="矩形 47264"/>
          <p:cNvSpPr/>
          <p:nvPr/>
        </p:nvSpPr>
        <p:spPr>
          <a:xfrm>
            <a:off x="8001906" y="853409"/>
            <a:ext cx="314510" cy="338554"/>
          </a:xfrm>
          <a:prstGeom prst="rect">
            <a:avLst/>
          </a:prstGeom>
        </p:spPr>
        <p:txBody>
          <a:bodyPr wrap="none">
            <a:spAutoFit/>
          </a:bodyPr>
          <a:lstStyle/>
          <a:p>
            <a:pPr lvl="0" algn="ctr" fontAlgn="base">
              <a:spcBef>
                <a:spcPct val="20000"/>
              </a:spcBef>
              <a:spcAft>
                <a:spcPct val="0"/>
              </a:spcAft>
            </a:pPr>
            <a:r>
              <a:rPr kumimoji="1" lang="en-US" altLang="zh-CN" sz="1600" dirty="0">
                <a:ea typeface="宋体" panose="02010600030101010101" pitchFamily="2" charset="-122"/>
              </a:rPr>
              <a:t>1</a:t>
            </a:r>
          </a:p>
        </p:txBody>
      </p:sp>
      <p:sp>
        <p:nvSpPr>
          <p:cNvPr id="47266" name="矩形 47265"/>
          <p:cNvSpPr/>
          <p:nvPr/>
        </p:nvSpPr>
        <p:spPr>
          <a:xfrm>
            <a:off x="5736952" y="843558"/>
            <a:ext cx="381835" cy="338554"/>
          </a:xfrm>
          <a:prstGeom prst="rect">
            <a:avLst/>
          </a:prstGeom>
        </p:spPr>
        <p:txBody>
          <a:bodyPr wrap="none">
            <a:spAutoFit/>
          </a:bodyPr>
          <a:lstStyle/>
          <a:p>
            <a:pPr lvl="0" algn="ctr" fontAlgn="base">
              <a:spcBef>
                <a:spcPct val="20000"/>
              </a:spcBef>
              <a:spcAft>
                <a:spcPct val="0"/>
              </a:spcAft>
            </a:pPr>
            <a:r>
              <a:rPr kumimoji="1" lang="en-US" altLang="zh-CN" sz="1600" dirty="0">
                <a:ea typeface="宋体" panose="02010600030101010101" pitchFamily="2" charset="-122"/>
              </a:rPr>
              <a:t>S</a:t>
            </a:r>
            <a:r>
              <a:rPr kumimoji="1" lang="en-US" altLang="zh-CN" sz="1600" baseline="-25000" dirty="0">
                <a:ea typeface="宋体" panose="02010600030101010101" pitchFamily="2" charset="-122"/>
              </a:rPr>
              <a:t>3</a:t>
            </a:r>
          </a:p>
        </p:txBody>
      </p:sp>
      <p:sp>
        <p:nvSpPr>
          <p:cNvPr id="47267" name="矩形 47266"/>
          <p:cNvSpPr/>
          <p:nvPr/>
        </p:nvSpPr>
        <p:spPr>
          <a:xfrm>
            <a:off x="5160888" y="843558"/>
            <a:ext cx="381835" cy="338554"/>
          </a:xfrm>
          <a:prstGeom prst="rect">
            <a:avLst/>
          </a:prstGeom>
        </p:spPr>
        <p:txBody>
          <a:bodyPr wrap="none">
            <a:spAutoFit/>
          </a:bodyPr>
          <a:lstStyle/>
          <a:p>
            <a:pPr lvl="0" algn="ctr" fontAlgn="base">
              <a:spcBef>
                <a:spcPct val="20000"/>
              </a:spcBef>
              <a:spcAft>
                <a:spcPct val="0"/>
              </a:spcAft>
            </a:pPr>
            <a:r>
              <a:rPr kumimoji="1" lang="en-US" altLang="zh-CN" sz="1600" dirty="0">
                <a:ea typeface="宋体" panose="02010600030101010101" pitchFamily="2" charset="-122"/>
              </a:rPr>
              <a:t>S</a:t>
            </a:r>
            <a:r>
              <a:rPr kumimoji="1" lang="en-US" altLang="zh-CN" sz="1600" baseline="-25000" dirty="0">
                <a:ea typeface="宋体" panose="02010600030101010101" pitchFamily="2" charset="-122"/>
              </a:rPr>
              <a:t>2</a:t>
            </a:r>
            <a:endParaRPr kumimoji="1" lang="en-US" altLang="zh-CN" sz="1600" dirty="0">
              <a:ea typeface="宋体" panose="02010600030101010101" pitchFamily="2" charset="-122"/>
            </a:endParaRPr>
          </a:p>
        </p:txBody>
      </p:sp>
      <p:sp>
        <p:nvSpPr>
          <p:cNvPr id="44" name="矩形 43"/>
          <p:cNvSpPr/>
          <p:nvPr/>
        </p:nvSpPr>
        <p:spPr>
          <a:xfrm>
            <a:off x="1924322" y="2643757"/>
            <a:ext cx="1062305" cy="574427"/>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5" name="直接连接符 44"/>
          <p:cNvCxnSpPr/>
          <p:nvPr/>
        </p:nvCxnSpPr>
        <p:spPr>
          <a:xfrm>
            <a:off x="2276029" y="2787774"/>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p:nvPr/>
        </p:nvCxnSpPr>
        <p:spPr>
          <a:xfrm flipV="1">
            <a:off x="2986627" y="3059911"/>
            <a:ext cx="379003" cy="15895"/>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47" name="矩形 46"/>
          <p:cNvSpPr/>
          <p:nvPr/>
        </p:nvSpPr>
        <p:spPr>
          <a:xfrm>
            <a:off x="3365630" y="2949030"/>
            <a:ext cx="1078924" cy="216024"/>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9" name="直接连接符 48"/>
          <p:cNvCxnSpPr/>
          <p:nvPr/>
        </p:nvCxnSpPr>
        <p:spPr>
          <a:xfrm>
            <a:off x="2276029" y="2949030"/>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655674" y="2355724"/>
            <a:ext cx="1" cy="432049"/>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 name="直接箭头连接符 50"/>
          <p:cNvCxnSpPr/>
          <p:nvPr/>
        </p:nvCxnSpPr>
        <p:spPr>
          <a:xfrm>
            <a:off x="1655675" y="2355725"/>
            <a:ext cx="268648" cy="2575"/>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1924323" y="2044579"/>
            <a:ext cx="1062305" cy="574427"/>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6" name="直接连接符 55"/>
          <p:cNvCxnSpPr/>
          <p:nvPr/>
        </p:nvCxnSpPr>
        <p:spPr>
          <a:xfrm flipH="1">
            <a:off x="1655676" y="2759115"/>
            <a:ext cx="252028" cy="257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2230544" y="3135353"/>
            <a:ext cx="57606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矩形 61"/>
          <p:cNvSpPr/>
          <p:nvPr/>
        </p:nvSpPr>
        <p:spPr>
          <a:xfrm>
            <a:off x="3365630" y="2361207"/>
            <a:ext cx="1078924" cy="257799"/>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3" name="直接箭头连接符 62"/>
          <p:cNvCxnSpPr/>
          <p:nvPr/>
        </p:nvCxnSpPr>
        <p:spPr>
          <a:xfrm flipV="1">
            <a:off x="2968988" y="2571749"/>
            <a:ext cx="396642" cy="18994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5" name="矩形 64"/>
          <p:cNvSpPr/>
          <p:nvPr/>
        </p:nvSpPr>
        <p:spPr>
          <a:xfrm>
            <a:off x="1891571" y="3363838"/>
            <a:ext cx="1078924" cy="216024"/>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277" name="矩形 47276"/>
          <p:cNvSpPr/>
          <p:nvPr/>
        </p:nvSpPr>
        <p:spPr>
          <a:xfrm>
            <a:off x="8324431" y="1441108"/>
            <a:ext cx="314510" cy="338554"/>
          </a:xfrm>
          <a:prstGeom prst="rect">
            <a:avLst/>
          </a:prstGeom>
        </p:spPr>
        <p:txBody>
          <a:bodyPr wrap="none">
            <a:spAutoFit/>
          </a:bodyPr>
          <a:lstStyle/>
          <a:p>
            <a:pPr lvl="0" algn="ctr" fontAlgn="base">
              <a:spcBef>
                <a:spcPct val="20000"/>
              </a:spcBef>
              <a:spcAft>
                <a:spcPct val="0"/>
              </a:spcAft>
            </a:pPr>
            <a:r>
              <a:rPr kumimoji="1" lang="en-US" altLang="zh-CN" sz="1600" dirty="0">
                <a:ea typeface="宋体" panose="02010600030101010101" pitchFamily="2" charset="-122"/>
              </a:rPr>
              <a:t>6</a:t>
            </a:r>
          </a:p>
        </p:txBody>
      </p:sp>
      <p:sp>
        <p:nvSpPr>
          <p:cNvPr id="47278" name="矩形 47277"/>
          <p:cNvSpPr/>
          <p:nvPr/>
        </p:nvSpPr>
        <p:spPr>
          <a:xfrm>
            <a:off x="6180740" y="1441108"/>
            <a:ext cx="381836" cy="338554"/>
          </a:xfrm>
          <a:prstGeom prst="rect">
            <a:avLst/>
          </a:prstGeom>
        </p:spPr>
        <p:txBody>
          <a:bodyPr wrap="none">
            <a:spAutoFit/>
          </a:bodyPr>
          <a:lstStyle/>
          <a:p>
            <a:r>
              <a:rPr kumimoji="1" lang="en-US" altLang="zh-CN" sz="1600" dirty="0">
                <a:ea typeface="宋体" panose="02010600030101010101" pitchFamily="2" charset="-122"/>
              </a:rPr>
              <a:t>S</a:t>
            </a:r>
            <a:r>
              <a:rPr kumimoji="1" lang="en-US" altLang="zh-CN" sz="1600" baseline="-25000" dirty="0">
                <a:ea typeface="宋体" panose="02010600030101010101" pitchFamily="2" charset="-122"/>
              </a:rPr>
              <a:t>4</a:t>
            </a:r>
            <a:endParaRPr lang="zh-CN" altLang="en-US" sz="1600" dirty="0"/>
          </a:p>
        </p:txBody>
      </p:sp>
      <p:sp>
        <p:nvSpPr>
          <p:cNvPr id="47279" name="矩形 47278"/>
          <p:cNvSpPr/>
          <p:nvPr/>
        </p:nvSpPr>
        <p:spPr>
          <a:xfrm>
            <a:off x="6731029" y="1441108"/>
            <a:ext cx="468398" cy="338554"/>
          </a:xfrm>
          <a:prstGeom prst="rect">
            <a:avLst/>
          </a:prstGeom>
        </p:spPr>
        <p:txBody>
          <a:bodyPr wrap="none">
            <a:spAutoFit/>
          </a:bodyPr>
          <a:lstStyle/>
          <a:p>
            <a:r>
              <a:rPr kumimoji="1" lang="en-US" altLang="zh-CN" sz="1600" dirty="0">
                <a:ea typeface="宋体" panose="02010600030101010101" pitchFamily="2" charset="-122"/>
              </a:rPr>
              <a:t>S</a:t>
            </a:r>
            <a:r>
              <a:rPr kumimoji="1" lang="en-US" altLang="zh-CN" sz="1600" baseline="-25000" dirty="0">
                <a:ea typeface="宋体" panose="02010600030101010101" pitchFamily="2" charset="-122"/>
              </a:rPr>
              <a:t>10</a:t>
            </a:r>
            <a:endParaRPr lang="zh-CN" altLang="en-US" sz="1600" dirty="0"/>
          </a:p>
        </p:txBody>
      </p:sp>
      <p:sp>
        <p:nvSpPr>
          <p:cNvPr id="69" name="矩形 68"/>
          <p:cNvSpPr/>
          <p:nvPr/>
        </p:nvSpPr>
        <p:spPr>
          <a:xfrm>
            <a:off x="3365630" y="2931790"/>
            <a:ext cx="1078924" cy="216024"/>
          </a:xfrm>
          <a:prstGeom prst="rect">
            <a:avLst/>
          </a:pr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265317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left)">
                                      <p:cBhvr>
                                        <p:cTn id="15" dur="500"/>
                                        <p:tgtEl>
                                          <p:spTgt spid="17"/>
                                        </p:tgtEl>
                                      </p:cBhvr>
                                    </p:animEffect>
                                  </p:childTnLst>
                                  <p:subTnLst>
                                    <p:set>
                                      <p:cBhvr override="childStyle">
                                        <p:cTn dur="1" fill="hold" display="0" masterRel="nextClick" afterEffect="1"/>
                                        <p:tgtEl>
                                          <p:spTgt spid="17"/>
                                        </p:tgtEl>
                                        <p:attrNameLst>
                                          <p:attrName>style.visibility</p:attrName>
                                        </p:attrNameLst>
                                      </p:cBhvr>
                                      <p:to>
                                        <p:strVal val="hidden"/>
                                      </p:to>
                                    </p:set>
                                  </p:subTnLst>
                                </p:cTn>
                              </p:par>
                              <p:par>
                                <p:cTn id="16" presetID="22" presetClass="entr" presetSubtype="8" fill="hold"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left)">
                                      <p:cBhvr>
                                        <p:cTn id="18" dur="500"/>
                                        <p:tgtEl>
                                          <p:spTgt spid="19"/>
                                        </p:tgtEl>
                                      </p:cBhvr>
                                    </p:animEffect>
                                  </p:childTnLst>
                                  <p:subTnLst>
                                    <p:set>
                                      <p:cBhvr override="childStyle">
                                        <p:cTn dur="1" fill="hold" display="0" masterRel="nextClick" afterEffect="1"/>
                                        <p:tgtEl>
                                          <p:spTgt spid="19"/>
                                        </p:tgtEl>
                                        <p:attrNameLst>
                                          <p:attrName>style.visibility</p:attrName>
                                        </p:attrNameLst>
                                      </p:cBhvr>
                                      <p:to>
                                        <p:strVal val="hidden"/>
                                      </p:to>
                                    </p:set>
                                  </p:subTnLst>
                                </p:cTn>
                              </p:par>
                              <p:par>
                                <p:cTn id="19" presetID="22" presetClass="entr" presetSubtype="8" fill="hold" grpId="0" nodeType="with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left)">
                                      <p:cBhvr>
                                        <p:cTn id="21" dur="500"/>
                                        <p:tgtEl>
                                          <p:spTgt spid="26"/>
                                        </p:tgtEl>
                                      </p:cBhvr>
                                    </p:animEffect>
                                  </p:childTnLst>
                                  <p:subTnLst>
                                    <p:set>
                                      <p:cBhvr override="childStyle">
                                        <p:cTn dur="1" fill="hold" display="0" masterRel="nextClick" afterEffect="1"/>
                                        <p:tgtEl>
                                          <p:spTgt spid="2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726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left)">
                                      <p:cBhvr>
                                        <p:cTn id="30" dur="500"/>
                                        <p:tgtEl>
                                          <p:spTgt spid="37"/>
                                        </p:tgtEl>
                                      </p:cBhvr>
                                    </p:animEffect>
                                  </p:childTnLst>
                                  <p:subTnLst>
                                    <p:set>
                                      <p:cBhvr override="childStyle">
                                        <p:cTn dur="1" fill="hold" display="0" masterRel="nextClick" afterEffect="1"/>
                                        <p:tgtEl>
                                          <p:spTgt spid="37"/>
                                        </p:tgtEl>
                                        <p:attrNameLst>
                                          <p:attrName>style.visibility</p:attrName>
                                        </p:attrNameLst>
                                      </p:cBhvr>
                                      <p:to>
                                        <p:strVal val="hidden"/>
                                      </p:to>
                                    </p:set>
                                  </p:subTnLst>
                                </p:cTn>
                              </p:par>
                              <p:par>
                                <p:cTn id="31" presetID="22" presetClass="entr" presetSubtype="8"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left)">
                                      <p:cBhvr>
                                        <p:cTn id="33" dur="500"/>
                                        <p:tgtEl>
                                          <p:spTgt spid="22"/>
                                        </p:tgtEl>
                                      </p:cBhvr>
                                    </p:animEffect>
                                  </p:childTnLst>
                                  <p:subTnLst>
                                    <p:set>
                                      <p:cBhvr override="childStyle">
                                        <p:cTn dur="1" fill="hold" display="0" masterRel="nextClick" afterEffect="1"/>
                                        <p:tgtEl>
                                          <p:spTgt spid="22"/>
                                        </p:tgtEl>
                                        <p:attrNameLst>
                                          <p:attrName>style.visibility</p:attrName>
                                        </p:attrNameLst>
                                      </p:cBhvr>
                                      <p:to>
                                        <p:strVal val="hidden"/>
                                      </p:to>
                                    </p:set>
                                  </p:subTnLst>
                                </p:cTn>
                              </p:par>
                              <p:par>
                                <p:cTn id="34" presetID="22" presetClass="entr" presetSubtype="8" fill="hold" nodeType="with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wipe(left)">
                                      <p:cBhvr>
                                        <p:cTn id="36" dur="500"/>
                                        <p:tgtEl>
                                          <p:spTgt spid="25"/>
                                        </p:tgtEl>
                                      </p:cBhvr>
                                    </p:animEffect>
                                  </p:childTnLst>
                                  <p:subTnLst>
                                    <p:set>
                                      <p:cBhvr override="childStyle">
                                        <p:cTn dur="1" fill="hold" display="0" masterRel="nextClick" afterEffect="1"/>
                                        <p:tgtEl>
                                          <p:spTgt spid="25"/>
                                        </p:tgtEl>
                                        <p:attrNameLst>
                                          <p:attrName>style.visibility</p:attrName>
                                        </p:attrNameLst>
                                      </p:cBhvr>
                                      <p:to>
                                        <p:strVal val="hidden"/>
                                      </p:to>
                                    </p:set>
                                  </p:subTnLst>
                                </p:cTn>
                              </p:par>
                              <p:par>
                                <p:cTn id="37" presetID="22" presetClass="entr" presetSubtype="8" fill="hold" nodeType="with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wipe(left)">
                                      <p:cBhvr>
                                        <p:cTn id="39" dur="500"/>
                                        <p:tgtEl>
                                          <p:spTgt spid="28"/>
                                        </p:tgtEl>
                                      </p:cBhvr>
                                    </p:animEffect>
                                  </p:childTnLst>
                                  <p:subTnLst>
                                    <p:set>
                                      <p:cBhvr override="childStyle">
                                        <p:cTn dur="1" fill="hold" display="0" masterRel="nextClick" afterEffect="1"/>
                                        <p:tgtEl>
                                          <p:spTgt spid="28"/>
                                        </p:tgtEl>
                                        <p:attrNameLst>
                                          <p:attrName>style.visibility</p:attrName>
                                        </p:attrNameLst>
                                      </p:cBhvr>
                                      <p:to>
                                        <p:strVal val="hidden"/>
                                      </p:to>
                                    </p:set>
                                  </p:sub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47267"/>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wipe(left)">
                                      <p:cBhvr>
                                        <p:cTn id="48" dur="500"/>
                                        <p:tgtEl>
                                          <p:spTgt spid="38"/>
                                        </p:tgtEl>
                                      </p:cBhvr>
                                    </p:animEffect>
                                  </p:childTnLst>
                                  <p:subTnLst>
                                    <p:set>
                                      <p:cBhvr override="childStyle">
                                        <p:cTn dur="1" fill="hold" display="0" masterRel="nextClick" afterEffect="1"/>
                                        <p:tgtEl>
                                          <p:spTgt spid="38"/>
                                        </p:tgtEl>
                                        <p:attrNameLst>
                                          <p:attrName>style.visibility</p:attrName>
                                        </p:attrNameLst>
                                      </p:cBhvr>
                                      <p:to>
                                        <p:strVal val="hidden"/>
                                      </p:to>
                                    </p:set>
                                  </p:subTnLst>
                                </p:cTn>
                              </p:par>
                              <p:par>
                                <p:cTn id="49" presetID="22" presetClass="entr" presetSubtype="8" fill="hold" nodeType="withEffect">
                                  <p:stCondLst>
                                    <p:cond delay="0"/>
                                  </p:stCondLst>
                                  <p:childTnLst>
                                    <p:set>
                                      <p:cBhvr>
                                        <p:cTn id="50" dur="1" fill="hold">
                                          <p:stCondLst>
                                            <p:cond delay="0"/>
                                          </p:stCondLst>
                                        </p:cTn>
                                        <p:tgtEl>
                                          <p:spTgt spid="39"/>
                                        </p:tgtEl>
                                        <p:attrNameLst>
                                          <p:attrName>style.visibility</p:attrName>
                                        </p:attrNameLst>
                                      </p:cBhvr>
                                      <p:to>
                                        <p:strVal val="visible"/>
                                      </p:to>
                                    </p:set>
                                    <p:animEffect transition="in" filter="wipe(left)">
                                      <p:cBhvr>
                                        <p:cTn id="51" dur="500"/>
                                        <p:tgtEl>
                                          <p:spTgt spid="39"/>
                                        </p:tgtEl>
                                      </p:cBhvr>
                                    </p:animEffect>
                                  </p:childTnLst>
                                  <p:subTnLst>
                                    <p:set>
                                      <p:cBhvr override="childStyle">
                                        <p:cTn dur="1" fill="hold" display="0" masterRel="nextClick" afterEffect="1"/>
                                        <p:tgtEl>
                                          <p:spTgt spid="39"/>
                                        </p:tgtEl>
                                        <p:attrNameLst>
                                          <p:attrName>style.visibility</p:attrName>
                                        </p:attrNameLst>
                                      </p:cBhvr>
                                      <p:to>
                                        <p:strVal val="hidden"/>
                                      </p:to>
                                    </p:set>
                                  </p:subTnLst>
                                </p:cTn>
                              </p:par>
                              <p:par>
                                <p:cTn id="52" presetID="22" presetClass="entr" presetSubtype="8" fill="hold"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wipe(left)">
                                      <p:cBhvr>
                                        <p:cTn id="54" dur="500"/>
                                        <p:tgtEl>
                                          <p:spTgt spid="40"/>
                                        </p:tgtEl>
                                      </p:cBhvr>
                                    </p:animEffect>
                                  </p:childTnLst>
                                  <p:subTnLst>
                                    <p:set>
                                      <p:cBhvr override="childStyle">
                                        <p:cTn dur="1" fill="hold" display="0" masterRel="nextClick" afterEffect="1"/>
                                        <p:tgtEl>
                                          <p:spTgt spid="40"/>
                                        </p:tgtEl>
                                        <p:attrNameLst>
                                          <p:attrName>style.visibility</p:attrName>
                                        </p:attrNameLst>
                                      </p:cBhvr>
                                      <p:to>
                                        <p:strVal val="hidden"/>
                                      </p:to>
                                    </p:set>
                                  </p:subTnLst>
                                </p:cTn>
                              </p:par>
                              <p:par>
                                <p:cTn id="55" presetID="22" presetClass="entr" presetSubtype="8" fill="hold"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500"/>
                                        <p:tgtEl>
                                          <p:spTgt spid="23"/>
                                        </p:tgtEl>
                                      </p:cBhvr>
                                    </p:animEffect>
                                  </p:childTnLst>
                                  <p:subTnLst>
                                    <p:set>
                                      <p:cBhvr override="childStyle">
                                        <p:cTn dur="1" fill="hold" display="0" masterRel="nextClick" afterEffect="1"/>
                                        <p:tgtEl>
                                          <p:spTgt spid="23"/>
                                        </p:tgtEl>
                                        <p:attrNameLst>
                                          <p:attrName>style.visibility</p:attrName>
                                        </p:attrNameLst>
                                      </p:cBhvr>
                                      <p:to>
                                        <p:strVal val="hidden"/>
                                      </p:to>
                                    </p:set>
                                  </p:sub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47266"/>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xit" presetSubtype="0" fill="hold" grpId="1" nodeType="clickEffect">
                                  <p:stCondLst>
                                    <p:cond delay="0"/>
                                  </p:stCondLst>
                                  <p:childTnLst>
                                    <p:set>
                                      <p:cBhvr>
                                        <p:cTn id="65" dur="1" fill="hold">
                                          <p:stCondLst>
                                            <p:cond delay="0"/>
                                          </p:stCondLst>
                                        </p:cTn>
                                        <p:tgtEl>
                                          <p:spTgt spid="15"/>
                                        </p:tgtEl>
                                        <p:attrNameLst>
                                          <p:attrName>style.visibility</p:attrName>
                                        </p:attrNameLst>
                                      </p:cBhvr>
                                      <p:to>
                                        <p:strVal val="hidden"/>
                                      </p:to>
                                    </p:set>
                                  </p:childTnLst>
                                </p:cTn>
                              </p:par>
                            </p:childTnLst>
                          </p:cTn>
                        </p:par>
                        <p:par>
                          <p:cTn id="66" fill="hold">
                            <p:stCondLst>
                              <p:cond delay="0"/>
                            </p:stCondLst>
                            <p:childTnLst>
                              <p:par>
                                <p:cTn id="67" presetID="1" presetClass="entr" presetSubtype="0" fill="hold" grpId="0" nodeType="afterEffect">
                                  <p:stCondLst>
                                    <p:cond delay="0"/>
                                  </p:stCondLst>
                                  <p:childTnLst>
                                    <p:set>
                                      <p:cBhvr>
                                        <p:cTn id="68" dur="1" fill="hold">
                                          <p:stCondLst>
                                            <p:cond delay="0"/>
                                          </p:stCondLst>
                                        </p:cTn>
                                        <p:tgtEl>
                                          <p:spTgt spid="65"/>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grpId="1" nodeType="clickEffect">
                                  <p:stCondLst>
                                    <p:cond delay="0"/>
                                  </p:stCondLst>
                                  <p:childTnLst>
                                    <p:set>
                                      <p:cBhvr>
                                        <p:cTn id="76" dur="1" fill="hold">
                                          <p:stCondLst>
                                            <p:cond delay="0"/>
                                          </p:stCondLst>
                                        </p:cTn>
                                        <p:tgtEl>
                                          <p:spTgt spid="65"/>
                                        </p:tgtEl>
                                        <p:attrNameLst>
                                          <p:attrName>style.visibility</p:attrName>
                                        </p:attrNameLst>
                                      </p:cBhvr>
                                      <p:to>
                                        <p:strVal val="hidden"/>
                                      </p:to>
                                    </p:set>
                                  </p:childTnLst>
                                </p:cTn>
                              </p:par>
                            </p:childTnLst>
                          </p:cTn>
                        </p:par>
                        <p:par>
                          <p:cTn id="77" fill="hold">
                            <p:stCondLst>
                              <p:cond delay="0"/>
                            </p:stCondLst>
                            <p:childTnLst>
                              <p:par>
                                <p:cTn id="78" presetID="1" presetClass="entr" presetSubtype="0" fill="hold" grpId="0" nodeType="afterEffect">
                                  <p:stCondLst>
                                    <p:cond delay="0"/>
                                  </p:stCondLst>
                                  <p:childTnLst>
                                    <p:set>
                                      <p:cBhvr>
                                        <p:cTn id="79" dur="1" fill="hold">
                                          <p:stCondLst>
                                            <p:cond delay="0"/>
                                          </p:stCondLst>
                                        </p:cTn>
                                        <p:tgtEl>
                                          <p:spTgt spid="44"/>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45"/>
                                        </p:tgtEl>
                                        <p:attrNameLst>
                                          <p:attrName>style.visibility</p:attrName>
                                        </p:attrNameLst>
                                      </p:cBhvr>
                                      <p:to>
                                        <p:strVal val="visible"/>
                                      </p:to>
                                    </p:set>
                                    <p:animEffect transition="in" filter="wipe(left)">
                                      <p:cBhvr>
                                        <p:cTn id="84" dur="500"/>
                                        <p:tgtEl>
                                          <p:spTgt spid="45"/>
                                        </p:tgtEl>
                                      </p:cBhvr>
                                    </p:animEffect>
                                  </p:childTnLst>
                                  <p:subTnLst>
                                    <p:set>
                                      <p:cBhvr override="childStyle">
                                        <p:cTn dur="1" fill="hold" display="0" masterRel="nextClick" afterEffect="1"/>
                                        <p:tgtEl>
                                          <p:spTgt spid="45"/>
                                        </p:tgtEl>
                                        <p:attrNameLst>
                                          <p:attrName>style.visibility</p:attrName>
                                        </p:attrNameLst>
                                      </p:cBhvr>
                                      <p:to>
                                        <p:strVal val="hidden"/>
                                      </p:to>
                                    </p:set>
                                  </p:subTnLst>
                                </p:cTn>
                              </p:par>
                              <p:par>
                                <p:cTn id="85" presetID="22" presetClass="entr" presetSubtype="8" fill="hold" nodeType="withEffect">
                                  <p:stCondLst>
                                    <p:cond delay="0"/>
                                  </p:stCondLst>
                                  <p:childTnLst>
                                    <p:set>
                                      <p:cBhvr>
                                        <p:cTn id="86" dur="1" fill="hold">
                                          <p:stCondLst>
                                            <p:cond delay="0"/>
                                          </p:stCondLst>
                                        </p:cTn>
                                        <p:tgtEl>
                                          <p:spTgt spid="46"/>
                                        </p:tgtEl>
                                        <p:attrNameLst>
                                          <p:attrName>style.visibility</p:attrName>
                                        </p:attrNameLst>
                                      </p:cBhvr>
                                      <p:to>
                                        <p:strVal val="visible"/>
                                      </p:to>
                                    </p:set>
                                    <p:animEffect transition="in" filter="wipe(left)">
                                      <p:cBhvr>
                                        <p:cTn id="87" dur="500"/>
                                        <p:tgtEl>
                                          <p:spTgt spid="46"/>
                                        </p:tgtEl>
                                      </p:cBhvr>
                                    </p:animEffect>
                                  </p:childTnLst>
                                  <p:subTnLst>
                                    <p:set>
                                      <p:cBhvr override="childStyle">
                                        <p:cTn dur="1" fill="hold" display="0" masterRel="nextClick" afterEffect="1"/>
                                        <p:tgtEl>
                                          <p:spTgt spid="46"/>
                                        </p:tgtEl>
                                        <p:attrNameLst>
                                          <p:attrName>style.visibility</p:attrName>
                                        </p:attrNameLst>
                                      </p:cBhvr>
                                      <p:to>
                                        <p:strVal val="hidden"/>
                                      </p:to>
                                    </p:set>
                                  </p:subTnLst>
                                </p:cTn>
                              </p:par>
                              <p:par>
                                <p:cTn id="88" presetID="22" presetClass="entr" presetSubtype="8" fill="hold" grpId="0" nodeType="withEffect">
                                  <p:stCondLst>
                                    <p:cond delay="0"/>
                                  </p:stCondLst>
                                  <p:childTnLst>
                                    <p:set>
                                      <p:cBhvr>
                                        <p:cTn id="89" dur="1" fill="hold">
                                          <p:stCondLst>
                                            <p:cond delay="0"/>
                                          </p:stCondLst>
                                        </p:cTn>
                                        <p:tgtEl>
                                          <p:spTgt spid="47"/>
                                        </p:tgtEl>
                                        <p:attrNameLst>
                                          <p:attrName>style.visibility</p:attrName>
                                        </p:attrNameLst>
                                      </p:cBhvr>
                                      <p:to>
                                        <p:strVal val="visible"/>
                                      </p:to>
                                    </p:set>
                                    <p:animEffect transition="in" filter="wipe(left)">
                                      <p:cBhvr>
                                        <p:cTn id="90" dur="500"/>
                                        <p:tgtEl>
                                          <p:spTgt spid="47"/>
                                        </p:tgtEl>
                                      </p:cBhvr>
                                    </p:animEffect>
                                  </p:childTnLst>
                                  <p:subTnLst>
                                    <p:set>
                                      <p:cBhvr override="childStyle">
                                        <p:cTn dur="1" fill="hold" display="0" masterRel="nextClick" afterEffect="1"/>
                                        <p:tgtEl>
                                          <p:spTgt spid="47"/>
                                        </p:tgtEl>
                                        <p:attrNameLst>
                                          <p:attrName>style.visibility</p:attrName>
                                        </p:attrNameLst>
                                      </p:cBhvr>
                                      <p:to>
                                        <p:strVal val="hidden"/>
                                      </p:to>
                                    </p:set>
                                  </p:sub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47277"/>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22" presetClass="entr" presetSubtype="4" fill="hold" nodeType="clickEffect">
                                  <p:stCondLst>
                                    <p:cond delay="0"/>
                                  </p:stCondLst>
                                  <p:childTnLst>
                                    <p:set>
                                      <p:cBhvr>
                                        <p:cTn id="98" dur="1" fill="hold">
                                          <p:stCondLst>
                                            <p:cond delay="0"/>
                                          </p:stCondLst>
                                        </p:cTn>
                                        <p:tgtEl>
                                          <p:spTgt spid="49"/>
                                        </p:tgtEl>
                                        <p:attrNameLst>
                                          <p:attrName>style.visibility</p:attrName>
                                        </p:attrNameLst>
                                      </p:cBhvr>
                                      <p:to>
                                        <p:strVal val="visible"/>
                                      </p:to>
                                    </p:set>
                                    <p:animEffect transition="in" filter="wipe(down)">
                                      <p:cBhvr>
                                        <p:cTn id="99" dur="500"/>
                                        <p:tgtEl>
                                          <p:spTgt spid="49"/>
                                        </p:tgtEl>
                                      </p:cBhvr>
                                    </p:animEffect>
                                  </p:childTnLst>
                                  <p:subTnLst>
                                    <p:set>
                                      <p:cBhvr override="childStyle">
                                        <p:cTn dur="1" fill="hold" display="0" masterRel="nextClick" afterEffect="1"/>
                                        <p:tgtEl>
                                          <p:spTgt spid="49"/>
                                        </p:tgtEl>
                                        <p:attrNameLst>
                                          <p:attrName>style.visibility</p:attrName>
                                        </p:attrNameLst>
                                      </p:cBhvr>
                                      <p:to>
                                        <p:strVal val="hidden"/>
                                      </p:to>
                                    </p:set>
                                  </p:subTnLst>
                                </p:cTn>
                              </p:par>
                              <p:par>
                                <p:cTn id="100" presetID="22" presetClass="entr" presetSubtype="4" fill="hold" nodeType="withEffect">
                                  <p:stCondLst>
                                    <p:cond delay="0"/>
                                  </p:stCondLst>
                                  <p:childTnLst>
                                    <p:set>
                                      <p:cBhvr>
                                        <p:cTn id="101" dur="1" fill="hold">
                                          <p:stCondLst>
                                            <p:cond delay="0"/>
                                          </p:stCondLst>
                                        </p:cTn>
                                        <p:tgtEl>
                                          <p:spTgt spid="56"/>
                                        </p:tgtEl>
                                        <p:attrNameLst>
                                          <p:attrName>style.visibility</p:attrName>
                                        </p:attrNameLst>
                                      </p:cBhvr>
                                      <p:to>
                                        <p:strVal val="visible"/>
                                      </p:to>
                                    </p:set>
                                    <p:animEffect transition="in" filter="wipe(down)">
                                      <p:cBhvr>
                                        <p:cTn id="102" dur="500"/>
                                        <p:tgtEl>
                                          <p:spTgt spid="56"/>
                                        </p:tgtEl>
                                      </p:cBhvr>
                                    </p:animEffect>
                                  </p:childTnLst>
                                  <p:subTnLst>
                                    <p:set>
                                      <p:cBhvr override="childStyle">
                                        <p:cTn dur="1" fill="hold" display="0" masterRel="nextClick" afterEffect="1"/>
                                        <p:tgtEl>
                                          <p:spTgt spid="56"/>
                                        </p:tgtEl>
                                        <p:attrNameLst>
                                          <p:attrName>style.visibility</p:attrName>
                                        </p:attrNameLst>
                                      </p:cBhvr>
                                      <p:to>
                                        <p:strVal val="hidden"/>
                                      </p:to>
                                    </p:set>
                                  </p:subTnLst>
                                </p:cTn>
                              </p:par>
                              <p:par>
                                <p:cTn id="103" presetID="22" presetClass="entr" presetSubtype="4" fill="hold" nodeType="withEffect">
                                  <p:stCondLst>
                                    <p:cond delay="0"/>
                                  </p:stCondLst>
                                  <p:childTnLst>
                                    <p:set>
                                      <p:cBhvr>
                                        <p:cTn id="104" dur="1" fill="hold">
                                          <p:stCondLst>
                                            <p:cond delay="0"/>
                                          </p:stCondLst>
                                        </p:cTn>
                                        <p:tgtEl>
                                          <p:spTgt spid="50"/>
                                        </p:tgtEl>
                                        <p:attrNameLst>
                                          <p:attrName>style.visibility</p:attrName>
                                        </p:attrNameLst>
                                      </p:cBhvr>
                                      <p:to>
                                        <p:strVal val="visible"/>
                                      </p:to>
                                    </p:set>
                                    <p:animEffect transition="in" filter="wipe(down)">
                                      <p:cBhvr>
                                        <p:cTn id="105" dur="500"/>
                                        <p:tgtEl>
                                          <p:spTgt spid="50"/>
                                        </p:tgtEl>
                                      </p:cBhvr>
                                    </p:animEffect>
                                  </p:childTnLst>
                                  <p:subTnLst>
                                    <p:set>
                                      <p:cBhvr override="childStyle">
                                        <p:cTn dur="1" fill="hold" display="0" masterRel="nextClick" afterEffect="1"/>
                                        <p:tgtEl>
                                          <p:spTgt spid="50"/>
                                        </p:tgtEl>
                                        <p:attrNameLst>
                                          <p:attrName>style.visibility</p:attrName>
                                        </p:attrNameLst>
                                      </p:cBhvr>
                                      <p:to>
                                        <p:strVal val="hidden"/>
                                      </p:to>
                                    </p:set>
                                  </p:subTnLst>
                                </p:cTn>
                              </p:par>
                              <p:par>
                                <p:cTn id="106" presetID="22" presetClass="entr" presetSubtype="4" fill="hold" nodeType="withEffect">
                                  <p:stCondLst>
                                    <p:cond delay="0"/>
                                  </p:stCondLst>
                                  <p:childTnLst>
                                    <p:set>
                                      <p:cBhvr>
                                        <p:cTn id="107" dur="1" fill="hold">
                                          <p:stCondLst>
                                            <p:cond delay="0"/>
                                          </p:stCondLst>
                                        </p:cTn>
                                        <p:tgtEl>
                                          <p:spTgt spid="51"/>
                                        </p:tgtEl>
                                        <p:attrNameLst>
                                          <p:attrName>style.visibility</p:attrName>
                                        </p:attrNameLst>
                                      </p:cBhvr>
                                      <p:to>
                                        <p:strVal val="visible"/>
                                      </p:to>
                                    </p:set>
                                    <p:animEffect transition="in" filter="wipe(down)">
                                      <p:cBhvr>
                                        <p:cTn id="108" dur="500"/>
                                        <p:tgtEl>
                                          <p:spTgt spid="51"/>
                                        </p:tgtEl>
                                      </p:cBhvr>
                                    </p:animEffect>
                                  </p:childTnLst>
                                  <p:subTnLst>
                                    <p:set>
                                      <p:cBhvr override="childStyle">
                                        <p:cTn dur="1" fill="hold" display="0" masterRel="nextClick" afterEffect="1"/>
                                        <p:tgtEl>
                                          <p:spTgt spid="51"/>
                                        </p:tgtEl>
                                        <p:attrNameLst>
                                          <p:attrName>style.visibility</p:attrName>
                                        </p:attrNameLst>
                                      </p:cBhvr>
                                      <p:to>
                                        <p:strVal val="hidden"/>
                                      </p:to>
                                    </p:set>
                                  </p:subTnLst>
                                </p:cTn>
                              </p:par>
                              <p:par>
                                <p:cTn id="109" presetID="22" presetClass="entr" presetSubtype="4"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Effect transition="in" filter="wipe(down)">
                                      <p:cBhvr>
                                        <p:cTn id="111" dur="500"/>
                                        <p:tgtEl>
                                          <p:spTgt spid="52"/>
                                        </p:tgtEl>
                                      </p:cBhvr>
                                    </p:animEffect>
                                  </p:childTnLst>
                                  <p:subTnLst>
                                    <p:set>
                                      <p:cBhvr override="childStyle">
                                        <p:cTn dur="1" fill="hold" display="0" masterRel="nextClick" afterEffect="1"/>
                                        <p:tgtEl>
                                          <p:spTgt spid="52"/>
                                        </p:tgtEl>
                                        <p:attrNameLst>
                                          <p:attrName>style.visibility</p:attrName>
                                        </p:attrNameLst>
                                      </p:cBhvr>
                                      <p:to>
                                        <p:strVal val="hidden"/>
                                      </p:to>
                                    </p:set>
                                  </p:subTnLst>
                                </p:cTn>
                              </p:par>
                            </p:childTnLst>
                          </p:cTn>
                        </p:par>
                      </p:childTnLst>
                    </p:cTn>
                  </p:par>
                  <p:par>
                    <p:cTn id="112" fill="hold">
                      <p:stCondLst>
                        <p:cond delay="indefinite"/>
                      </p:stCondLst>
                      <p:childTnLst>
                        <p:par>
                          <p:cTn id="113" fill="hold">
                            <p:stCondLst>
                              <p:cond delay="0"/>
                            </p:stCondLst>
                            <p:childTnLst>
                              <p:par>
                                <p:cTn id="114" presetID="1" presetClass="entr" presetSubtype="0" fill="hold" grpId="0" nodeType="clickEffect">
                                  <p:stCondLst>
                                    <p:cond delay="0"/>
                                  </p:stCondLst>
                                  <p:childTnLst>
                                    <p:set>
                                      <p:cBhvr>
                                        <p:cTn id="115" dur="1" fill="hold">
                                          <p:stCondLst>
                                            <p:cond delay="0"/>
                                          </p:stCondLst>
                                        </p:cTn>
                                        <p:tgtEl>
                                          <p:spTgt spid="47278"/>
                                        </p:tgtEl>
                                        <p:attrNameLst>
                                          <p:attrName>style.visibility</p:attrName>
                                        </p:attrNameLst>
                                      </p:cBhvr>
                                      <p:to>
                                        <p:strVal val="visible"/>
                                      </p:to>
                                    </p:set>
                                  </p:childTnLst>
                                </p:cTn>
                              </p:par>
                            </p:childTnLst>
                          </p:cTn>
                        </p:par>
                      </p:childTnLst>
                    </p:cTn>
                  </p:par>
                  <p:par>
                    <p:cTn id="116" fill="hold">
                      <p:stCondLst>
                        <p:cond delay="indefinite"/>
                      </p:stCondLst>
                      <p:childTnLst>
                        <p:par>
                          <p:cTn id="117" fill="hold">
                            <p:stCondLst>
                              <p:cond delay="0"/>
                            </p:stCondLst>
                            <p:childTnLst>
                              <p:par>
                                <p:cTn id="118" presetID="22" presetClass="entr" presetSubtype="8" fill="hold" nodeType="clickEffect">
                                  <p:stCondLst>
                                    <p:cond delay="0"/>
                                  </p:stCondLst>
                                  <p:childTnLst>
                                    <p:set>
                                      <p:cBhvr>
                                        <p:cTn id="119" dur="1" fill="hold">
                                          <p:stCondLst>
                                            <p:cond delay="0"/>
                                          </p:stCondLst>
                                        </p:cTn>
                                        <p:tgtEl>
                                          <p:spTgt spid="61"/>
                                        </p:tgtEl>
                                        <p:attrNameLst>
                                          <p:attrName>style.visibility</p:attrName>
                                        </p:attrNameLst>
                                      </p:cBhvr>
                                      <p:to>
                                        <p:strVal val="visible"/>
                                      </p:to>
                                    </p:set>
                                    <p:animEffect transition="in" filter="wipe(left)">
                                      <p:cBhvr>
                                        <p:cTn id="120" dur="500"/>
                                        <p:tgtEl>
                                          <p:spTgt spid="61"/>
                                        </p:tgtEl>
                                      </p:cBhvr>
                                    </p:animEffect>
                                  </p:childTnLst>
                                  <p:subTnLst>
                                    <p:set>
                                      <p:cBhvr override="childStyle">
                                        <p:cTn dur="1" fill="hold" display="0" masterRel="nextClick" afterEffect="1"/>
                                        <p:tgtEl>
                                          <p:spTgt spid="61"/>
                                        </p:tgtEl>
                                        <p:attrNameLst>
                                          <p:attrName>style.visibility</p:attrName>
                                        </p:attrNameLst>
                                      </p:cBhvr>
                                      <p:to>
                                        <p:strVal val="hidden"/>
                                      </p:to>
                                    </p:set>
                                  </p:subTnLst>
                                </p:cTn>
                              </p:par>
                              <p:par>
                                <p:cTn id="121" presetID="22" presetClass="entr" presetSubtype="8" fill="hold" nodeType="withEffect">
                                  <p:stCondLst>
                                    <p:cond delay="0"/>
                                  </p:stCondLst>
                                  <p:childTnLst>
                                    <p:set>
                                      <p:cBhvr>
                                        <p:cTn id="122" dur="1" fill="hold">
                                          <p:stCondLst>
                                            <p:cond delay="0"/>
                                          </p:stCondLst>
                                        </p:cTn>
                                        <p:tgtEl>
                                          <p:spTgt spid="63"/>
                                        </p:tgtEl>
                                        <p:attrNameLst>
                                          <p:attrName>style.visibility</p:attrName>
                                        </p:attrNameLst>
                                      </p:cBhvr>
                                      <p:to>
                                        <p:strVal val="visible"/>
                                      </p:to>
                                    </p:set>
                                    <p:animEffect transition="in" filter="wipe(left)">
                                      <p:cBhvr>
                                        <p:cTn id="123" dur="500"/>
                                        <p:tgtEl>
                                          <p:spTgt spid="63"/>
                                        </p:tgtEl>
                                      </p:cBhvr>
                                    </p:animEffect>
                                  </p:childTnLst>
                                  <p:subTnLst>
                                    <p:set>
                                      <p:cBhvr override="childStyle">
                                        <p:cTn dur="1" fill="hold" display="0" masterRel="nextClick" afterEffect="1"/>
                                        <p:tgtEl>
                                          <p:spTgt spid="63"/>
                                        </p:tgtEl>
                                        <p:attrNameLst>
                                          <p:attrName>style.visibility</p:attrName>
                                        </p:attrNameLst>
                                      </p:cBhvr>
                                      <p:to>
                                        <p:strVal val="hidden"/>
                                      </p:to>
                                    </p:set>
                                  </p:subTnLst>
                                </p:cTn>
                              </p:par>
                              <p:par>
                                <p:cTn id="124" presetID="22" presetClass="entr" presetSubtype="8" fill="hold" grpId="0" nodeType="withEffect">
                                  <p:stCondLst>
                                    <p:cond delay="0"/>
                                  </p:stCondLst>
                                  <p:childTnLst>
                                    <p:set>
                                      <p:cBhvr>
                                        <p:cTn id="125" dur="1" fill="hold">
                                          <p:stCondLst>
                                            <p:cond delay="0"/>
                                          </p:stCondLst>
                                        </p:cTn>
                                        <p:tgtEl>
                                          <p:spTgt spid="62"/>
                                        </p:tgtEl>
                                        <p:attrNameLst>
                                          <p:attrName>style.visibility</p:attrName>
                                        </p:attrNameLst>
                                      </p:cBhvr>
                                      <p:to>
                                        <p:strVal val="visible"/>
                                      </p:to>
                                    </p:set>
                                    <p:animEffect transition="in" filter="wipe(left)">
                                      <p:cBhvr>
                                        <p:cTn id="126" dur="500"/>
                                        <p:tgtEl>
                                          <p:spTgt spid="62"/>
                                        </p:tgtEl>
                                      </p:cBhvr>
                                    </p:animEffect>
                                  </p:childTnLst>
                                  <p:subTnLst>
                                    <p:set>
                                      <p:cBhvr override="childStyle">
                                        <p:cTn dur="1" fill="hold" display="0" masterRel="nextClick" afterEffect="1"/>
                                        <p:tgtEl>
                                          <p:spTgt spid="62"/>
                                        </p:tgtEl>
                                        <p:attrNameLst>
                                          <p:attrName>style.visibility</p:attrName>
                                        </p:attrNameLst>
                                      </p:cBhvr>
                                      <p:to>
                                        <p:strVal val="hidden"/>
                                      </p:to>
                                    </p:set>
                                  </p:subTnLst>
                                </p:cTn>
                              </p:par>
                            </p:childTnLst>
                          </p:cTn>
                        </p:par>
                      </p:childTnLst>
                    </p:cTn>
                  </p:par>
                  <p:par>
                    <p:cTn id="127" fill="hold">
                      <p:stCondLst>
                        <p:cond delay="indefinite"/>
                      </p:stCondLst>
                      <p:childTnLst>
                        <p:par>
                          <p:cTn id="128" fill="hold">
                            <p:stCondLst>
                              <p:cond delay="0"/>
                            </p:stCondLst>
                            <p:childTnLst>
                              <p:par>
                                <p:cTn id="129" presetID="1" presetClass="entr" presetSubtype="0" fill="hold" grpId="0" nodeType="clickEffect">
                                  <p:stCondLst>
                                    <p:cond delay="0"/>
                                  </p:stCondLst>
                                  <p:childTnLst>
                                    <p:set>
                                      <p:cBhvr>
                                        <p:cTn id="130" dur="1" fill="hold">
                                          <p:stCondLst>
                                            <p:cond delay="0"/>
                                          </p:stCondLst>
                                        </p:cTn>
                                        <p:tgtEl>
                                          <p:spTgt spid="47279"/>
                                        </p:tgtEl>
                                        <p:attrNameLst>
                                          <p:attrName>style.visibility</p:attrName>
                                        </p:attrNameLst>
                                      </p:cBhvr>
                                      <p:to>
                                        <p:strVal val="visible"/>
                                      </p:to>
                                    </p:set>
                                  </p:childTnLst>
                                </p:cTn>
                              </p:par>
                            </p:childTnLst>
                          </p:cTn>
                        </p:par>
                      </p:childTnLst>
                    </p:cTn>
                  </p:par>
                  <p:par>
                    <p:cTn id="131" fill="hold">
                      <p:stCondLst>
                        <p:cond delay="indefinite"/>
                      </p:stCondLst>
                      <p:childTnLst>
                        <p:par>
                          <p:cTn id="132" fill="hold">
                            <p:stCondLst>
                              <p:cond delay="0"/>
                            </p:stCondLst>
                            <p:childTnLst>
                              <p:par>
                                <p:cTn id="133" presetID="1" presetClass="exit" presetSubtype="0" fill="hold" grpId="1" nodeType="clickEffect">
                                  <p:stCondLst>
                                    <p:cond delay="0"/>
                                  </p:stCondLst>
                                  <p:childTnLst>
                                    <p:set>
                                      <p:cBhvr>
                                        <p:cTn id="134" dur="1" fill="hold">
                                          <p:stCondLst>
                                            <p:cond delay="0"/>
                                          </p:stCondLst>
                                        </p:cTn>
                                        <p:tgtEl>
                                          <p:spTgt spid="44"/>
                                        </p:tgtEl>
                                        <p:attrNameLst>
                                          <p:attrName>style.visibility</p:attrName>
                                        </p:attrNameLst>
                                      </p:cBhvr>
                                      <p:to>
                                        <p:strVal val="hidden"/>
                                      </p:to>
                                    </p:set>
                                  </p:childTnLst>
                                </p:cTn>
                              </p:par>
                            </p:childTnLst>
                          </p:cTn>
                        </p:par>
                      </p:childTnLst>
                    </p:cTn>
                  </p:par>
                  <p:par>
                    <p:cTn id="135" fill="hold">
                      <p:stCondLst>
                        <p:cond delay="indefinite"/>
                      </p:stCondLst>
                      <p:childTnLst>
                        <p:par>
                          <p:cTn id="136" fill="hold">
                            <p:stCondLst>
                              <p:cond delay="0"/>
                            </p:stCondLst>
                            <p:childTnLst>
                              <p:par>
                                <p:cTn id="137" presetID="1" presetClass="entr" presetSubtype="0" fill="hold" nodeType="clickEffect">
                                  <p:stCondLst>
                                    <p:cond delay="0"/>
                                  </p:stCondLst>
                                  <p:childTnLst>
                                    <p:set>
                                      <p:cBhvr>
                                        <p:cTn id="138" dur="1" fill="hold">
                                          <p:stCondLst>
                                            <p:cond delay="0"/>
                                          </p:stCondLst>
                                        </p:cTn>
                                        <p:tgtEl>
                                          <p:spTgt spid="5"/>
                                        </p:tgtEl>
                                        <p:attrNameLst>
                                          <p:attrName>style.visibility</p:attrName>
                                        </p:attrNameLst>
                                      </p:cBhvr>
                                      <p:to>
                                        <p:strVal val="visible"/>
                                      </p:to>
                                    </p:set>
                                  </p:childTnLst>
                                </p:cTn>
                              </p:par>
                            </p:childTnLst>
                          </p:cTn>
                        </p:par>
                      </p:childTnLst>
                    </p:cTn>
                  </p:par>
                  <p:par>
                    <p:cTn id="139" fill="hold">
                      <p:stCondLst>
                        <p:cond delay="indefinite"/>
                      </p:stCondLst>
                      <p:childTnLst>
                        <p:par>
                          <p:cTn id="140" fill="hold">
                            <p:stCondLst>
                              <p:cond delay="0"/>
                            </p:stCondLst>
                            <p:childTnLst>
                              <p:par>
                                <p:cTn id="141" presetID="1" presetClass="entr" presetSubtype="0" fill="hold" nodeType="clickEffect">
                                  <p:stCondLst>
                                    <p:cond delay="0"/>
                                  </p:stCondLst>
                                  <p:childTnLst>
                                    <p:set>
                                      <p:cBhvr>
                                        <p:cTn id="142" dur="1" fill="hold">
                                          <p:stCondLst>
                                            <p:cond delay="0"/>
                                          </p:stCondLst>
                                        </p:cTn>
                                        <p:tgtEl>
                                          <p:spTgt spid="7"/>
                                        </p:tgtEl>
                                        <p:attrNameLst>
                                          <p:attrName>style.visibility</p:attrName>
                                        </p:attrNameLst>
                                      </p:cBhvr>
                                      <p:to>
                                        <p:strVal val="visible"/>
                                      </p:to>
                                    </p:set>
                                  </p:childTnLst>
                                </p:cTn>
                              </p:par>
                            </p:childTnLst>
                          </p:cTn>
                        </p:par>
                      </p:childTnLst>
                    </p:cTn>
                  </p:par>
                  <p:par>
                    <p:cTn id="143" fill="hold">
                      <p:stCondLst>
                        <p:cond delay="indefinite"/>
                      </p:stCondLst>
                      <p:childTnLst>
                        <p:par>
                          <p:cTn id="144" fill="hold">
                            <p:stCondLst>
                              <p:cond delay="0"/>
                            </p:stCondLst>
                            <p:childTnLst>
                              <p:par>
                                <p:cTn id="145" presetID="1" presetClass="entr" presetSubtype="0" fill="hold" nodeType="clickEffect">
                                  <p:stCondLst>
                                    <p:cond delay="0"/>
                                  </p:stCondLst>
                                  <p:childTnLst>
                                    <p:set>
                                      <p:cBhvr>
                                        <p:cTn id="146" dur="1" fill="hold">
                                          <p:stCondLst>
                                            <p:cond delay="0"/>
                                          </p:stCondLst>
                                        </p:cTn>
                                        <p:tgtEl>
                                          <p:spTgt spid="8"/>
                                        </p:tgtEl>
                                        <p:attrNameLst>
                                          <p:attrName>style.visibility</p:attrName>
                                        </p:attrNameLst>
                                      </p:cBhvr>
                                      <p:to>
                                        <p:strVal val="visible"/>
                                      </p:to>
                                    </p:set>
                                  </p:childTnLst>
                                </p:cTn>
                              </p:par>
                            </p:childTnLst>
                          </p:cTn>
                        </p:par>
                      </p:childTnLst>
                    </p:cTn>
                  </p:par>
                  <p:par>
                    <p:cTn id="147" fill="hold">
                      <p:stCondLst>
                        <p:cond delay="indefinite"/>
                      </p:stCondLst>
                      <p:childTnLst>
                        <p:par>
                          <p:cTn id="148" fill="hold">
                            <p:stCondLst>
                              <p:cond delay="0"/>
                            </p:stCondLst>
                            <p:childTnLst>
                              <p:par>
                                <p:cTn id="149" presetID="22" presetClass="entr" presetSubtype="8" fill="hold" grpId="0" nodeType="clickEffect">
                                  <p:stCondLst>
                                    <p:cond delay="0"/>
                                  </p:stCondLst>
                                  <p:childTnLst>
                                    <p:set>
                                      <p:cBhvr>
                                        <p:cTn id="150" dur="1" fill="hold">
                                          <p:stCondLst>
                                            <p:cond delay="0"/>
                                          </p:stCondLst>
                                        </p:cTn>
                                        <p:tgtEl>
                                          <p:spTgt spid="69"/>
                                        </p:tgtEl>
                                        <p:attrNameLst>
                                          <p:attrName>style.visibility</p:attrName>
                                        </p:attrNameLst>
                                      </p:cBhvr>
                                      <p:to>
                                        <p:strVal val="visible"/>
                                      </p:to>
                                    </p:set>
                                    <p:animEffect transition="in" filter="wipe(left)">
                                      <p:cBhvr>
                                        <p:cTn id="151"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2" fill="hold">
                      <p:stCondLst>
                        <p:cond delay="indefinite"/>
                      </p:stCondLst>
                      <p:childTnLst>
                        <p:par>
                          <p:cTn id="153" fill="hold">
                            <p:stCondLst>
                              <p:cond delay="0"/>
                            </p:stCondLst>
                            <p:childTnLst>
                              <p:par>
                                <p:cTn id="154" presetID="1" presetClass="entr" presetSubtype="0" fill="hold" nodeType="clickEffect">
                                  <p:stCondLst>
                                    <p:cond delay="0"/>
                                  </p:stCondLst>
                                  <p:childTnLst>
                                    <p:set>
                                      <p:cBhvr>
                                        <p:cTn id="155" dur="1" fill="hold">
                                          <p:stCondLst>
                                            <p:cond delay="0"/>
                                          </p:stCondLst>
                                        </p:cTn>
                                        <p:tgtEl>
                                          <p:spTgt spid="9"/>
                                        </p:tgtEl>
                                        <p:attrNameLst>
                                          <p:attrName>style.visibility</p:attrName>
                                        </p:attrNameLst>
                                      </p:cBhvr>
                                      <p:to>
                                        <p:strVal val="visible"/>
                                      </p:to>
                                    </p:set>
                                  </p:childTnLst>
                                </p:cTn>
                              </p:par>
                            </p:childTnLst>
                          </p:cTn>
                        </p:par>
                      </p:childTnLst>
                    </p:cTn>
                  </p:par>
                  <p:par>
                    <p:cTn id="156" fill="hold">
                      <p:stCondLst>
                        <p:cond delay="indefinite"/>
                      </p:stCondLst>
                      <p:childTnLst>
                        <p:par>
                          <p:cTn id="157" fill="hold">
                            <p:stCondLst>
                              <p:cond delay="0"/>
                            </p:stCondLst>
                            <p:childTnLst>
                              <p:par>
                                <p:cTn id="158" presetID="1" presetClass="entr" presetSubtype="0" fill="hold" nodeType="clickEffect">
                                  <p:stCondLst>
                                    <p:cond delay="0"/>
                                  </p:stCondLst>
                                  <p:childTnLst>
                                    <p:set>
                                      <p:cBhvr>
                                        <p:cTn id="159" dur="1" fill="hold">
                                          <p:stCondLst>
                                            <p:cond delay="0"/>
                                          </p:stCondLst>
                                        </p:cTn>
                                        <p:tgtEl>
                                          <p:spTgt spid="10"/>
                                        </p:tgtEl>
                                        <p:attrNameLst>
                                          <p:attrName>style.visibility</p:attrName>
                                        </p:attrNameLst>
                                      </p:cBhvr>
                                      <p:to>
                                        <p:strVal val="visible"/>
                                      </p:to>
                                    </p:set>
                                  </p:childTnLst>
                                </p:cTn>
                              </p:par>
                            </p:childTnLst>
                          </p:cTn>
                        </p:par>
                      </p:childTnLst>
                    </p:cTn>
                  </p:par>
                  <p:par>
                    <p:cTn id="160" fill="hold">
                      <p:stCondLst>
                        <p:cond delay="indefinite"/>
                      </p:stCondLst>
                      <p:childTnLst>
                        <p:par>
                          <p:cTn id="161" fill="hold">
                            <p:stCondLst>
                              <p:cond delay="0"/>
                            </p:stCondLst>
                            <p:childTnLst>
                              <p:par>
                                <p:cTn id="162" presetID="1" presetClass="entr" presetSubtype="0" fill="hold" nodeType="clickEffect">
                                  <p:stCondLst>
                                    <p:cond delay="0"/>
                                  </p:stCondLst>
                                  <p:childTnLst>
                                    <p:set>
                                      <p:cBhvr>
                                        <p:cTn id="163" dur="1" fill="hold">
                                          <p:stCondLst>
                                            <p:cond delay="0"/>
                                          </p:stCondLst>
                                        </p:cTn>
                                        <p:tgtEl>
                                          <p:spTgt spid="11"/>
                                        </p:tgtEl>
                                        <p:attrNameLst>
                                          <p:attrName>style.visibility</p:attrName>
                                        </p:attrNameLst>
                                      </p:cBhvr>
                                      <p:to>
                                        <p:strVal val="visible"/>
                                      </p:to>
                                    </p:set>
                                  </p:childTnLst>
                                </p:cTn>
                              </p:par>
                            </p:childTnLst>
                          </p:cTn>
                        </p:par>
                      </p:childTnLst>
                    </p:cTn>
                  </p:par>
                  <p:par>
                    <p:cTn id="164" fill="hold">
                      <p:stCondLst>
                        <p:cond delay="indefinite"/>
                      </p:stCondLst>
                      <p:childTnLst>
                        <p:par>
                          <p:cTn id="165" fill="hold">
                            <p:stCondLst>
                              <p:cond delay="0"/>
                            </p:stCondLst>
                            <p:childTnLst>
                              <p:par>
                                <p:cTn id="166" presetID="1" presetClass="entr" presetSubtype="0" fill="hold" nodeType="clickEffect">
                                  <p:stCondLst>
                                    <p:cond delay="0"/>
                                  </p:stCondLst>
                                  <p:childTnLst>
                                    <p:set>
                                      <p:cBhvr>
                                        <p:cTn id="167" dur="1" fill="hold">
                                          <p:stCondLst>
                                            <p:cond delay="0"/>
                                          </p:stCondLst>
                                        </p:cTn>
                                        <p:tgtEl>
                                          <p:spTgt spid="12"/>
                                        </p:tgtEl>
                                        <p:attrNameLst>
                                          <p:attrName>style.visibility</p:attrName>
                                        </p:attrNameLst>
                                      </p:cBhvr>
                                      <p:to>
                                        <p:strVal val="visible"/>
                                      </p:to>
                                    </p:set>
                                  </p:childTnLst>
                                </p:cTn>
                              </p:par>
                            </p:childTnLst>
                          </p:cTn>
                        </p:par>
                      </p:childTnLst>
                    </p:cTn>
                  </p:par>
                  <p:par>
                    <p:cTn id="168" fill="hold">
                      <p:stCondLst>
                        <p:cond delay="indefinite"/>
                      </p:stCondLst>
                      <p:childTnLst>
                        <p:par>
                          <p:cTn id="169" fill="hold">
                            <p:stCondLst>
                              <p:cond delay="0"/>
                            </p:stCondLst>
                            <p:childTnLst>
                              <p:par>
                                <p:cTn id="170" presetID="1" presetClass="entr" presetSubtype="0" fill="hold" nodeType="clickEffect">
                                  <p:stCondLst>
                                    <p:cond delay="0"/>
                                  </p:stCondLst>
                                  <p:childTnLst>
                                    <p:set>
                                      <p:cBhvr>
                                        <p:cTn id="171" dur="1" fill="hold">
                                          <p:stCondLst>
                                            <p:cond delay="0"/>
                                          </p:stCondLst>
                                        </p:cTn>
                                        <p:tgtEl>
                                          <p:spTgt spid="13"/>
                                        </p:tgtEl>
                                        <p:attrNameLst>
                                          <p:attrName>style.visibility</p:attrName>
                                        </p:attrNameLst>
                                      </p:cBhvr>
                                      <p:to>
                                        <p:strVal val="visible"/>
                                      </p:to>
                                    </p:set>
                                  </p:childTnLst>
                                </p:cTn>
                              </p:par>
                            </p:childTnLst>
                          </p:cTn>
                        </p:par>
                      </p:childTnLst>
                    </p:cTn>
                  </p:par>
                  <p:par>
                    <p:cTn id="172" fill="hold">
                      <p:stCondLst>
                        <p:cond delay="indefinite"/>
                      </p:stCondLst>
                      <p:childTnLst>
                        <p:par>
                          <p:cTn id="173" fill="hold">
                            <p:stCondLst>
                              <p:cond delay="0"/>
                            </p:stCondLst>
                            <p:childTnLst>
                              <p:par>
                                <p:cTn id="174" presetID="1" presetClass="entr" presetSubtype="0" fill="hold" nodeType="clickEffect">
                                  <p:stCondLst>
                                    <p:cond delay="0"/>
                                  </p:stCondLst>
                                  <p:childTnLst>
                                    <p:set>
                                      <p:cBhvr>
                                        <p:cTn id="175"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animBg="1"/>
      <p:bldP spid="15" grpId="1" animBg="1"/>
      <p:bldP spid="26" grpId="0" animBg="1"/>
      <p:bldP spid="37" grpId="0" animBg="1"/>
      <p:bldP spid="38" grpId="0" animBg="1"/>
      <p:bldP spid="47265" grpId="0"/>
      <p:bldP spid="47266" grpId="0"/>
      <p:bldP spid="47267" grpId="0"/>
      <p:bldP spid="44" grpId="0" animBg="1"/>
      <p:bldP spid="44" grpId="1" animBg="1"/>
      <p:bldP spid="47" grpId="0" animBg="1"/>
      <p:bldP spid="52" grpId="0" animBg="1"/>
      <p:bldP spid="62" grpId="0" animBg="1"/>
      <p:bldP spid="65" grpId="0" animBg="1"/>
      <p:bldP spid="65" grpId="1" animBg="1"/>
      <p:bldP spid="47277" grpId="0"/>
      <p:bldP spid="47278" grpId="0"/>
      <p:bldP spid="47279" grpId="0"/>
      <p:bldP spid="69"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noChangeArrowheads="1"/>
          </p:cNvSpPr>
          <p:nvPr>
            <p:ph type="title"/>
          </p:nvPr>
        </p:nvSpPr>
        <p:spPr>
          <a:xfrm>
            <a:off x="323850" y="0"/>
            <a:ext cx="7772400" cy="663575"/>
          </a:xfrm>
        </p:spPr>
        <p:txBody>
          <a:bodyPr>
            <a:normAutofit fontScale="90000"/>
          </a:bodyPr>
          <a:lstStyle/>
          <a:p>
            <a:pPr eaLnBrk="1" hangingPunct="1"/>
            <a:r>
              <a:rPr kumimoji="0" lang="zh-CN" altLang="en-US" sz="4000" b="1">
                <a:latin typeface="楷体_GB2312" pitchFamily="49" charset="-122"/>
                <a:ea typeface="楷体_GB2312" pitchFamily="49" charset="-122"/>
              </a:rPr>
              <a:t>练    习</a:t>
            </a:r>
          </a:p>
        </p:txBody>
      </p:sp>
      <p:sp>
        <p:nvSpPr>
          <p:cNvPr id="224259" name="Rectangle 3"/>
          <p:cNvSpPr>
            <a:spLocks noGrp="1" noChangeArrowheads="1"/>
          </p:cNvSpPr>
          <p:nvPr>
            <p:ph type="body" idx="1"/>
          </p:nvPr>
        </p:nvSpPr>
        <p:spPr>
          <a:xfrm>
            <a:off x="428625" y="828675"/>
            <a:ext cx="8507413" cy="1357313"/>
          </a:xfrm>
        </p:spPr>
        <p:txBody>
          <a:bodyPr>
            <a:normAutofit lnSpcReduction="10000"/>
          </a:bodyPr>
          <a:lstStyle/>
          <a:p>
            <a:pPr eaLnBrk="1" hangingPunct="1">
              <a:lnSpc>
                <a:spcPct val="90000"/>
              </a:lnSpc>
            </a:pPr>
            <a:r>
              <a:rPr lang="en-US" altLang="zh-CN" sz="2200">
                <a:latin typeface="Times New Roman" panose="02020603050405020304" pitchFamily="18" charset="0"/>
                <a:cs typeface="Times New Roman" panose="02020603050405020304" pitchFamily="18" charset="0"/>
              </a:rPr>
              <a:t> </a:t>
            </a:r>
            <a:r>
              <a:rPr lang="zh-CN" altLang="en-US" sz="2200">
                <a:latin typeface="Times New Roman" panose="02020603050405020304" pitchFamily="18" charset="0"/>
                <a:cs typeface="Times New Roman" panose="02020603050405020304" pitchFamily="18" charset="0"/>
              </a:rPr>
              <a:t>给定文法：</a:t>
            </a:r>
            <a:r>
              <a:rPr lang="en-US" altLang="zh-CN" sz="2200">
                <a:latin typeface="Times New Roman" panose="02020603050405020304" pitchFamily="18" charset="0"/>
                <a:cs typeface="Times New Roman" panose="02020603050405020304" pitchFamily="18" charset="0"/>
              </a:rPr>
              <a:t>S </a:t>
            </a:r>
            <a:r>
              <a:rPr lang="en-US" altLang="zh-CN" sz="2200">
                <a:latin typeface="Times New Roman" panose="02020603050405020304" pitchFamily="18" charset="0"/>
                <a:cs typeface="Times New Roman" panose="02020603050405020304" pitchFamily="18" charset="0"/>
                <a:sym typeface="Wingdings" pitchFamily="2" charset="2"/>
              </a:rPr>
              <a:t>aS | bS |c </a:t>
            </a:r>
          </a:p>
          <a:p>
            <a:pPr eaLnBrk="1" hangingPunct="1">
              <a:lnSpc>
                <a:spcPct val="90000"/>
              </a:lnSpc>
              <a:buFontTx/>
              <a:buNone/>
            </a:pPr>
            <a:r>
              <a:rPr lang="en-US" altLang="zh-CN" sz="2200">
                <a:latin typeface="Times New Roman" panose="02020603050405020304" pitchFamily="18" charset="0"/>
                <a:cs typeface="Times New Roman" panose="02020603050405020304" pitchFamily="18" charset="0"/>
              </a:rPr>
              <a:t>  (1) </a:t>
            </a:r>
            <a:r>
              <a:rPr lang="zh-CN" altLang="en-US" sz="2200">
                <a:latin typeface="Times New Roman" panose="02020603050405020304" pitchFamily="18" charset="0"/>
                <a:cs typeface="Times New Roman" panose="02020603050405020304" pitchFamily="18" charset="0"/>
              </a:rPr>
              <a:t>构造的</a:t>
            </a:r>
            <a:r>
              <a:rPr lang="en-US" altLang="zh-CN" sz="2200">
                <a:latin typeface="Times New Roman" panose="02020603050405020304" pitchFamily="18" charset="0"/>
                <a:cs typeface="Times New Roman" panose="02020603050405020304" pitchFamily="18" charset="0"/>
              </a:rPr>
              <a:t>LR(0)</a:t>
            </a:r>
            <a:r>
              <a:rPr lang="zh-CN" altLang="en-US" sz="2200">
                <a:latin typeface="Times New Roman" panose="02020603050405020304" pitchFamily="18" charset="0"/>
                <a:cs typeface="Times New Roman" panose="02020603050405020304" pitchFamily="18" charset="0"/>
              </a:rPr>
              <a:t>项目集规范族，</a:t>
            </a:r>
          </a:p>
          <a:p>
            <a:pPr eaLnBrk="1" hangingPunct="1">
              <a:lnSpc>
                <a:spcPct val="90000"/>
              </a:lnSpc>
              <a:buFontTx/>
              <a:buNone/>
            </a:pPr>
            <a:r>
              <a:rPr lang="zh-CN" altLang="en-US" sz="2200">
                <a:latin typeface="Times New Roman" panose="02020603050405020304" pitchFamily="18" charset="0"/>
                <a:cs typeface="Times New Roman" panose="02020603050405020304" pitchFamily="18" charset="0"/>
              </a:rPr>
              <a:t>  </a:t>
            </a:r>
            <a:r>
              <a:rPr lang="en-US" altLang="zh-CN" sz="2200">
                <a:latin typeface="Times New Roman" panose="02020603050405020304" pitchFamily="18" charset="0"/>
                <a:cs typeface="Times New Roman" panose="02020603050405020304" pitchFamily="18" charset="0"/>
              </a:rPr>
              <a:t>(2) </a:t>
            </a:r>
            <a:r>
              <a:rPr lang="zh-CN" altLang="en-US" sz="2200">
                <a:latin typeface="Times New Roman" panose="02020603050405020304" pitchFamily="18" charset="0"/>
                <a:cs typeface="Times New Roman" panose="02020603050405020304" pitchFamily="18" charset="0"/>
              </a:rPr>
              <a:t>构造识别该文法所产生的活前缀的</a:t>
            </a:r>
            <a:r>
              <a:rPr lang="en-US" altLang="zh-CN" sz="2200">
                <a:latin typeface="Times New Roman" panose="02020603050405020304" pitchFamily="18" charset="0"/>
                <a:cs typeface="Times New Roman" panose="02020603050405020304" pitchFamily="18" charset="0"/>
              </a:rPr>
              <a:t>DFA</a:t>
            </a:r>
          </a:p>
          <a:p>
            <a:pPr eaLnBrk="1" hangingPunct="1">
              <a:lnSpc>
                <a:spcPct val="90000"/>
              </a:lnSpc>
              <a:buFontTx/>
              <a:buNone/>
            </a:pPr>
            <a:r>
              <a:rPr lang="en-US" altLang="zh-CN" sz="2200">
                <a:latin typeface="Times New Roman" panose="02020603050405020304" pitchFamily="18" charset="0"/>
                <a:cs typeface="Times New Roman" panose="02020603050405020304" pitchFamily="18" charset="0"/>
              </a:rPr>
              <a:t>  (3) </a:t>
            </a:r>
            <a:r>
              <a:rPr lang="zh-CN" altLang="en-US" sz="2200">
                <a:latin typeface="Times New Roman" panose="02020603050405020304" pitchFamily="18" charset="0"/>
                <a:cs typeface="Times New Roman" panose="02020603050405020304" pitchFamily="18" charset="0"/>
              </a:rPr>
              <a:t>该文法是否是</a:t>
            </a:r>
            <a:r>
              <a:rPr lang="en-US" altLang="zh-CN" sz="2200">
                <a:latin typeface="Times New Roman" panose="02020603050405020304" pitchFamily="18" charset="0"/>
                <a:cs typeface="Times New Roman" panose="02020603050405020304" pitchFamily="18" charset="0"/>
              </a:rPr>
              <a:t>LR(0)</a:t>
            </a:r>
            <a:r>
              <a:rPr lang="zh-CN" altLang="en-US" sz="2200">
                <a:latin typeface="Times New Roman" panose="02020603050405020304" pitchFamily="18" charset="0"/>
                <a:cs typeface="Times New Roman" panose="02020603050405020304" pitchFamily="18" charset="0"/>
              </a:rPr>
              <a:t>的，若是，构造</a:t>
            </a:r>
            <a:r>
              <a:rPr lang="en-US" altLang="zh-CN" sz="2200">
                <a:latin typeface="Times New Roman" panose="02020603050405020304" pitchFamily="18" charset="0"/>
                <a:cs typeface="Times New Roman" panose="02020603050405020304" pitchFamily="18" charset="0"/>
              </a:rPr>
              <a:t>LR(0)</a:t>
            </a:r>
            <a:r>
              <a:rPr lang="zh-CN" altLang="en-US" sz="2200">
                <a:latin typeface="Times New Roman" panose="02020603050405020304" pitchFamily="18" charset="0"/>
                <a:cs typeface="Times New Roman" panose="02020603050405020304" pitchFamily="18" charset="0"/>
              </a:rPr>
              <a:t>分析表</a:t>
            </a:r>
          </a:p>
        </p:txBody>
      </p:sp>
      <p:grpSp>
        <p:nvGrpSpPr>
          <p:cNvPr id="2" name="Group 8"/>
          <p:cNvGrpSpPr>
            <a:grpSpLocks/>
          </p:cNvGrpSpPr>
          <p:nvPr/>
        </p:nvGrpSpPr>
        <p:grpSpPr bwMode="auto">
          <a:xfrm>
            <a:off x="381000" y="2466975"/>
            <a:ext cx="2238375" cy="1965722"/>
            <a:chOff x="240" y="1996"/>
            <a:chExt cx="1410" cy="1651"/>
          </a:xfrm>
        </p:grpSpPr>
        <p:sp>
          <p:nvSpPr>
            <p:cNvPr id="224264" name="Rectangle 4"/>
            <p:cNvSpPr>
              <a:spLocks noChangeArrowheads="1"/>
            </p:cNvSpPr>
            <p:nvPr/>
          </p:nvSpPr>
          <p:spPr bwMode="auto">
            <a:xfrm>
              <a:off x="253" y="2432"/>
              <a:ext cx="1039" cy="1215"/>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cs typeface="Times New Roman" panose="02020603050405020304" pitchFamily="18" charset="0"/>
                </a:rPr>
                <a:t>(0)S</a:t>
              </a:r>
              <a:r>
                <a:rPr lang="en-US" altLang="zh-CN" sz="2200" b="1" dirty="0">
                  <a:cs typeface="Times New Roman" panose="02020603050405020304" pitchFamily="18" charset="0"/>
                </a:rPr>
                <a:t>' </a:t>
              </a:r>
              <a:r>
                <a:rPr lang="en-US" altLang="zh-CN" sz="2200" dirty="0">
                  <a:cs typeface="Times New Roman" panose="02020603050405020304" pitchFamily="18" charset="0"/>
                  <a:sym typeface="Wingdings" pitchFamily="2" charset="2"/>
                </a:rPr>
                <a:t>S</a:t>
              </a:r>
              <a:endParaRPr lang="en-US" altLang="zh-CN" sz="2200" dirty="0">
                <a:cs typeface="Times New Roman" panose="02020603050405020304" pitchFamily="18" charset="0"/>
              </a:endParaRPr>
            </a:p>
            <a:p>
              <a:pPr eaLnBrk="1" hangingPunct="1">
                <a:spcBef>
                  <a:spcPct val="0"/>
                </a:spcBef>
                <a:buFontTx/>
                <a:buNone/>
              </a:pPr>
              <a:r>
                <a:rPr lang="en-US" altLang="zh-CN" sz="2200" dirty="0">
                  <a:cs typeface="Times New Roman" panose="02020603050405020304" pitchFamily="18" charset="0"/>
                </a:rPr>
                <a:t>(1)S </a:t>
              </a:r>
              <a:r>
                <a:rPr lang="en-US" altLang="zh-CN" sz="2200" dirty="0">
                  <a:cs typeface="Times New Roman" panose="02020603050405020304" pitchFamily="18" charset="0"/>
                  <a:sym typeface="Wingdings" pitchFamily="2" charset="2"/>
                </a:rPr>
                <a:t></a:t>
              </a:r>
              <a:r>
                <a:rPr lang="en-US" altLang="zh-CN" sz="2200" dirty="0" err="1">
                  <a:cs typeface="Times New Roman" panose="02020603050405020304" pitchFamily="18" charset="0"/>
                  <a:sym typeface="Wingdings" pitchFamily="2" charset="2"/>
                </a:rPr>
                <a:t>aS</a:t>
              </a:r>
              <a:endParaRPr lang="en-US" altLang="zh-CN" sz="2200" dirty="0">
                <a:cs typeface="Times New Roman" panose="02020603050405020304" pitchFamily="18" charset="0"/>
                <a:sym typeface="Wingdings" pitchFamily="2" charset="2"/>
              </a:endParaRPr>
            </a:p>
            <a:p>
              <a:pPr eaLnBrk="1" hangingPunct="1">
                <a:spcBef>
                  <a:spcPct val="0"/>
                </a:spcBef>
                <a:buFontTx/>
                <a:buNone/>
              </a:pPr>
              <a:r>
                <a:rPr lang="en-US" altLang="zh-CN" sz="2200" dirty="0">
                  <a:cs typeface="Times New Roman" panose="02020603050405020304" pitchFamily="18" charset="0"/>
                </a:rPr>
                <a:t>(2)S </a:t>
              </a:r>
              <a:r>
                <a:rPr lang="en-US" altLang="zh-CN" sz="2200" dirty="0">
                  <a:cs typeface="Times New Roman" panose="02020603050405020304" pitchFamily="18" charset="0"/>
                  <a:sym typeface="Wingdings" pitchFamily="2" charset="2"/>
                </a:rPr>
                <a:t></a:t>
              </a:r>
              <a:r>
                <a:rPr lang="en-US" altLang="zh-CN" sz="2200" dirty="0" err="1">
                  <a:cs typeface="Times New Roman" panose="02020603050405020304" pitchFamily="18" charset="0"/>
                  <a:sym typeface="Wingdings" pitchFamily="2" charset="2"/>
                </a:rPr>
                <a:t>bS</a:t>
              </a:r>
              <a:r>
                <a:rPr lang="en-US" altLang="zh-CN" sz="2200" dirty="0">
                  <a:cs typeface="Times New Roman" panose="02020603050405020304" pitchFamily="18" charset="0"/>
                  <a:sym typeface="Wingdings" pitchFamily="2" charset="2"/>
                </a:rPr>
                <a:t> </a:t>
              </a:r>
            </a:p>
            <a:p>
              <a:pPr eaLnBrk="1" hangingPunct="1">
                <a:spcBef>
                  <a:spcPct val="0"/>
                </a:spcBef>
                <a:buFontTx/>
                <a:buNone/>
              </a:pPr>
              <a:r>
                <a:rPr lang="en-US" altLang="zh-CN" sz="2200" dirty="0">
                  <a:cs typeface="Times New Roman" panose="02020603050405020304" pitchFamily="18" charset="0"/>
                </a:rPr>
                <a:t>(3)S </a:t>
              </a:r>
              <a:r>
                <a:rPr lang="en-US" altLang="zh-CN" sz="2200" dirty="0">
                  <a:cs typeface="Times New Roman" panose="02020603050405020304" pitchFamily="18" charset="0"/>
                  <a:sym typeface="Wingdings" pitchFamily="2" charset="2"/>
                </a:rPr>
                <a:t>c</a:t>
              </a:r>
            </a:p>
          </p:txBody>
        </p:sp>
        <p:sp>
          <p:nvSpPr>
            <p:cNvPr id="224265" name="Text Box 6"/>
            <p:cNvSpPr txBox="1">
              <a:spLocks noChangeArrowheads="1"/>
            </p:cNvSpPr>
            <p:nvPr/>
          </p:nvSpPr>
          <p:spPr bwMode="auto">
            <a:xfrm>
              <a:off x="240" y="1996"/>
              <a:ext cx="1410"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a:solidFill>
                    <a:srgbClr val="FF5050"/>
                  </a:solidFill>
                  <a:cs typeface="Times New Roman" panose="02020603050405020304" pitchFamily="18" charset="0"/>
                </a:rPr>
                <a:t>一</a:t>
              </a:r>
              <a:r>
                <a:rPr lang="en-US" altLang="zh-CN" sz="2200" b="1">
                  <a:solidFill>
                    <a:srgbClr val="FF5050"/>
                  </a:solidFill>
                  <a:cs typeface="Times New Roman" panose="02020603050405020304" pitchFamily="18" charset="0"/>
                </a:rPr>
                <a:t>.</a:t>
              </a:r>
              <a:r>
                <a:rPr lang="zh-CN" altLang="en-US" sz="2200" b="1">
                  <a:solidFill>
                    <a:srgbClr val="FF5050"/>
                  </a:solidFill>
                  <a:cs typeface="Times New Roman" panose="02020603050405020304" pitchFamily="18" charset="0"/>
                </a:rPr>
                <a:t>拓广文法</a:t>
              </a:r>
            </a:p>
          </p:txBody>
        </p:sp>
      </p:grpSp>
      <p:grpSp>
        <p:nvGrpSpPr>
          <p:cNvPr id="3" name="Group 9"/>
          <p:cNvGrpSpPr>
            <a:grpSpLocks/>
          </p:cNvGrpSpPr>
          <p:nvPr/>
        </p:nvGrpSpPr>
        <p:grpSpPr bwMode="auto">
          <a:xfrm>
            <a:off x="2664153" y="2497042"/>
            <a:ext cx="4787554" cy="1935655"/>
            <a:chOff x="1671" y="2005"/>
            <a:chExt cx="3554" cy="1626"/>
          </a:xfrm>
        </p:grpSpPr>
        <p:sp>
          <p:nvSpPr>
            <p:cNvPr id="224262" name="Rectangle 5"/>
            <p:cNvSpPr>
              <a:spLocks noChangeArrowheads="1"/>
            </p:cNvSpPr>
            <p:nvPr/>
          </p:nvSpPr>
          <p:spPr bwMode="auto">
            <a:xfrm>
              <a:off x="1671" y="2416"/>
              <a:ext cx="3554" cy="121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cs typeface="Times New Roman" panose="02020603050405020304" pitchFamily="18" charset="0"/>
                </a:rPr>
                <a:t>1. S</a:t>
              </a:r>
              <a:r>
                <a:rPr lang="en-US" altLang="zh-CN" sz="2200" b="1" dirty="0">
                  <a:cs typeface="Times New Roman" panose="02020603050405020304" pitchFamily="18" charset="0"/>
                </a:rPr>
                <a:t>' </a:t>
              </a:r>
              <a:r>
                <a:rPr lang="en-US" altLang="zh-CN" sz="2200" dirty="0">
                  <a:cs typeface="Times New Roman" panose="02020603050405020304" pitchFamily="18" charset="0"/>
                  <a:sym typeface="Wingdings" pitchFamily="2" charset="2"/>
                </a:rPr>
                <a:t>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S    2. </a:t>
              </a:r>
              <a:r>
                <a:rPr lang="en-US" altLang="zh-CN" sz="2200" dirty="0">
                  <a:cs typeface="Times New Roman" panose="02020603050405020304" pitchFamily="18" charset="0"/>
                </a:rPr>
                <a:t>S</a:t>
              </a:r>
              <a:r>
                <a:rPr lang="en-US" altLang="zh-CN" sz="2200" b="1" dirty="0">
                  <a:cs typeface="Times New Roman" panose="02020603050405020304" pitchFamily="18" charset="0"/>
                </a:rPr>
                <a:t>' </a:t>
              </a:r>
              <a:r>
                <a:rPr lang="en-US" altLang="zh-CN" sz="2200" dirty="0">
                  <a:cs typeface="Times New Roman" panose="02020603050405020304" pitchFamily="18" charset="0"/>
                  <a:sym typeface="Wingdings" pitchFamily="2" charset="2"/>
                </a:rPr>
                <a:t> S</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a:t>
              </a:r>
              <a:endParaRPr lang="en-US" altLang="zh-CN" sz="2200" dirty="0">
                <a:cs typeface="Times New Roman" panose="02020603050405020304" pitchFamily="18" charset="0"/>
              </a:endParaRPr>
            </a:p>
            <a:p>
              <a:pPr eaLnBrk="1" hangingPunct="1">
                <a:spcBef>
                  <a:spcPct val="0"/>
                </a:spcBef>
                <a:buFontTx/>
                <a:buNone/>
              </a:pPr>
              <a:r>
                <a:rPr lang="en-US" altLang="zh-CN" sz="2200" dirty="0">
                  <a:cs typeface="Times New Roman" panose="02020603050405020304" pitchFamily="18" charset="0"/>
                </a:rPr>
                <a:t>3. S </a:t>
              </a:r>
              <a:r>
                <a:rPr lang="en-US" altLang="zh-CN" sz="2200" dirty="0">
                  <a:cs typeface="Times New Roman" panose="02020603050405020304" pitchFamily="18" charset="0"/>
                  <a:sym typeface="Wingdings" pitchFamily="2" charset="2"/>
                </a:rPr>
                <a:t>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a:t>
              </a:r>
              <a:r>
                <a:rPr lang="en-US" altLang="zh-CN" sz="2200" dirty="0" err="1">
                  <a:cs typeface="Times New Roman" panose="02020603050405020304" pitchFamily="18" charset="0"/>
                  <a:sym typeface="Wingdings" pitchFamily="2" charset="2"/>
                </a:rPr>
                <a:t>aS</a:t>
              </a:r>
              <a:r>
                <a:rPr lang="en-US" altLang="zh-CN" sz="2200" dirty="0">
                  <a:cs typeface="Times New Roman" panose="02020603050405020304" pitchFamily="18" charset="0"/>
                  <a:sym typeface="Wingdings" pitchFamily="2" charset="2"/>
                </a:rPr>
                <a:t>   4. </a:t>
              </a:r>
              <a:r>
                <a:rPr lang="en-US" altLang="zh-CN" sz="2200" dirty="0">
                  <a:cs typeface="Times New Roman" panose="02020603050405020304" pitchFamily="18" charset="0"/>
                </a:rPr>
                <a:t>S </a:t>
              </a:r>
              <a:r>
                <a:rPr lang="en-US" altLang="zh-CN" sz="2200" dirty="0">
                  <a:cs typeface="Times New Roman" panose="02020603050405020304" pitchFamily="18" charset="0"/>
                  <a:sym typeface="Wingdings" pitchFamily="2" charset="2"/>
                </a:rPr>
                <a:t>a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S      5. </a:t>
              </a:r>
              <a:r>
                <a:rPr lang="en-US" altLang="zh-CN" sz="2200" dirty="0">
                  <a:cs typeface="Times New Roman" panose="02020603050405020304" pitchFamily="18" charset="0"/>
                </a:rPr>
                <a:t>S </a:t>
              </a:r>
              <a:r>
                <a:rPr lang="en-US" altLang="zh-CN" sz="2200" dirty="0">
                  <a:cs typeface="Times New Roman" panose="02020603050405020304" pitchFamily="18" charset="0"/>
                  <a:sym typeface="Wingdings" pitchFamily="2" charset="2"/>
                </a:rPr>
                <a:t></a:t>
              </a:r>
              <a:r>
                <a:rPr lang="en-US" altLang="zh-CN" sz="2200" dirty="0" err="1">
                  <a:cs typeface="Times New Roman" panose="02020603050405020304" pitchFamily="18" charset="0"/>
                  <a:sym typeface="Wingdings" pitchFamily="2" charset="2"/>
                </a:rPr>
                <a:t>aS</a:t>
              </a:r>
              <a:r>
                <a:rPr lang="en-US" altLang="zh-CN" sz="2200" b="1" dirty="0">
                  <a:cs typeface="Times New Roman" panose="02020603050405020304" pitchFamily="18" charset="0"/>
                </a:rPr>
                <a:t>·</a:t>
              </a:r>
              <a:endParaRPr lang="en-US" altLang="zh-CN" sz="2200" dirty="0">
                <a:cs typeface="Times New Roman" panose="02020603050405020304" pitchFamily="18" charset="0"/>
                <a:sym typeface="Wingdings" pitchFamily="2" charset="2"/>
              </a:endParaRPr>
            </a:p>
            <a:p>
              <a:pPr eaLnBrk="1" hangingPunct="1">
                <a:spcBef>
                  <a:spcPct val="0"/>
                </a:spcBef>
                <a:buFontTx/>
                <a:buNone/>
              </a:pPr>
              <a:r>
                <a:rPr lang="en-US" altLang="zh-CN" sz="2200" dirty="0">
                  <a:cs typeface="Times New Roman" panose="02020603050405020304" pitchFamily="18" charset="0"/>
                </a:rPr>
                <a:t>6. S </a:t>
              </a:r>
              <a:r>
                <a:rPr lang="en-US" altLang="zh-CN" sz="2200" dirty="0">
                  <a:cs typeface="Times New Roman" panose="02020603050405020304" pitchFamily="18" charset="0"/>
                  <a:sym typeface="Wingdings" pitchFamily="2" charset="2"/>
                </a:rPr>
                <a:t>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a:t>
              </a:r>
              <a:r>
                <a:rPr lang="en-US" altLang="zh-CN" sz="2200" dirty="0" err="1">
                  <a:cs typeface="Times New Roman" panose="02020603050405020304" pitchFamily="18" charset="0"/>
                  <a:sym typeface="Wingdings" pitchFamily="2" charset="2"/>
                </a:rPr>
                <a:t>bS</a:t>
              </a:r>
              <a:r>
                <a:rPr lang="en-US" altLang="zh-CN" sz="2200" dirty="0">
                  <a:cs typeface="Times New Roman" panose="02020603050405020304" pitchFamily="18" charset="0"/>
                  <a:sym typeface="Wingdings" pitchFamily="2" charset="2"/>
                </a:rPr>
                <a:t>   7. </a:t>
              </a:r>
              <a:r>
                <a:rPr lang="en-US" altLang="zh-CN" sz="2200" dirty="0">
                  <a:cs typeface="Times New Roman" panose="02020603050405020304" pitchFamily="18" charset="0"/>
                </a:rPr>
                <a:t>S </a:t>
              </a:r>
              <a:r>
                <a:rPr lang="en-US" altLang="zh-CN" sz="2200" dirty="0">
                  <a:cs typeface="Times New Roman" panose="02020603050405020304" pitchFamily="18" charset="0"/>
                  <a:sym typeface="Wingdings" pitchFamily="2" charset="2"/>
                </a:rPr>
                <a:t>b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S      8. </a:t>
              </a:r>
              <a:r>
                <a:rPr lang="en-US" altLang="zh-CN" sz="2200" dirty="0" err="1">
                  <a:cs typeface="Times New Roman" panose="02020603050405020304" pitchFamily="18" charset="0"/>
                </a:rPr>
                <a:t>S</a:t>
              </a:r>
              <a:r>
                <a:rPr lang="en-US" altLang="zh-CN" sz="2200" dirty="0" err="1">
                  <a:cs typeface="Times New Roman" panose="02020603050405020304" pitchFamily="18" charset="0"/>
                  <a:sym typeface="Wingdings" pitchFamily="2" charset="2"/>
                </a:rPr>
                <a:t>bS</a:t>
              </a:r>
              <a:r>
                <a:rPr lang="en-US" altLang="zh-CN" sz="2200" b="1" dirty="0">
                  <a:cs typeface="Times New Roman" panose="02020603050405020304" pitchFamily="18" charset="0"/>
                </a:rPr>
                <a:t>·</a:t>
              </a:r>
              <a:endParaRPr lang="en-US" altLang="zh-CN" sz="2200" dirty="0">
                <a:cs typeface="Times New Roman" panose="02020603050405020304" pitchFamily="18" charset="0"/>
                <a:sym typeface="Wingdings" pitchFamily="2" charset="2"/>
              </a:endParaRPr>
            </a:p>
            <a:p>
              <a:pPr eaLnBrk="1" hangingPunct="1">
                <a:spcBef>
                  <a:spcPct val="0"/>
                </a:spcBef>
                <a:buFontTx/>
                <a:buNone/>
              </a:pPr>
              <a:r>
                <a:rPr lang="en-US" altLang="zh-CN" sz="2200" dirty="0">
                  <a:cs typeface="Times New Roman" panose="02020603050405020304" pitchFamily="18" charset="0"/>
                </a:rPr>
                <a:t>9. S </a:t>
              </a:r>
              <a:r>
                <a:rPr lang="en-US" altLang="zh-CN" sz="2200" dirty="0">
                  <a:cs typeface="Times New Roman" panose="02020603050405020304" pitchFamily="18" charset="0"/>
                  <a:sym typeface="Wingdings" pitchFamily="2" charset="2"/>
                </a:rPr>
                <a:t> </a:t>
              </a:r>
              <a:r>
                <a:rPr lang="en-US" altLang="zh-CN" sz="2200" b="1" dirty="0">
                  <a:cs typeface="Times New Roman" panose="02020603050405020304" pitchFamily="18" charset="0"/>
                </a:rPr>
                <a:t>·</a:t>
              </a:r>
              <a:r>
                <a:rPr lang="en-US" altLang="zh-CN" sz="2200" dirty="0">
                  <a:cs typeface="Times New Roman" panose="02020603050405020304" pitchFamily="18" charset="0"/>
                  <a:sym typeface="Wingdings" pitchFamily="2" charset="2"/>
                </a:rPr>
                <a:t> c    10. </a:t>
              </a:r>
              <a:r>
                <a:rPr lang="en-US" altLang="zh-CN" sz="2200" dirty="0">
                  <a:cs typeface="Times New Roman" panose="02020603050405020304" pitchFamily="18" charset="0"/>
                </a:rPr>
                <a:t>S </a:t>
              </a:r>
              <a:r>
                <a:rPr lang="en-US" altLang="zh-CN" sz="2200" dirty="0">
                  <a:cs typeface="Times New Roman" panose="02020603050405020304" pitchFamily="18" charset="0"/>
                  <a:sym typeface="Wingdings" pitchFamily="2" charset="2"/>
                </a:rPr>
                <a:t> c </a:t>
              </a:r>
              <a:r>
                <a:rPr lang="en-US" altLang="zh-CN" sz="2200" b="1" dirty="0">
                  <a:cs typeface="Times New Roman" panose="02020603050405020304" pitchFamily="18" charset="0"/>
                </a:rPr>
                <a:t>·</a:t>
              </a:r>
            </a:p>
          </p:txBody>
        </p:sp>
        <p:sp>
          <p:nvSpPr>
            <p:cNvPr id="224263" name="Text Box 7"/>
            <p:cNvSpPr txBox="1">
              <a:spLocks noChangeArrowheads="1"/>
            </p:cNvSpPr>
            <p:nvPr/>
          </p:nvSpPr>
          <p:spPr bwMode="auto">
            <a:xfrm>
              <a:off x="1805" y="2005"/>
              <a:ext cx="2441"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b="1">
                  <a:solidFill>
                    <a:srgbClr val="FF5050"/>
                  </a:solidFill>
                  <a:cs typeface="Times New Roman" panose="02020603050405020304" pitchFamily="18" charset="0"/>
                </a:rPr>
                <a:t>二</a:t>
              </a:r>
              <a:r>
                <a:rPr lang="en-US" altLang="zh-CN" sz="2200" b="1">
                  <a:solidFill>
                    <a:srgbClr val="FF5050"/>
                  </a:solidFill>
                  <a:cs typeface="Times New Roman" panose="02020603050405020304" pitchFamily="18" charset="0"/>
                </a:rPr>
                <a:t>.</a:t>
              </a:r>
              <a:r>
                <a:rPr lang="zh-CN" altLang="en-US" sz="2200" b="1">
                  <a:solidFill>
                    <a:srgbClr val="FF5050"/>
                  </a:solidFill>
                  <a:cs typeface="Times New Roman" panose="02020603050405020304" pitchFamily="18" charset="0"/>
                </a:rPr>
                <a:t>写出所有的项目</a:t>
              </a:r>
            </a:p>
          </p:txBody>
        </p:sp>
      </p:grpSp>
    </p:spTree>
    <p:extLst>
      <p:ext uri="{BB962C8B-B14F-4D97-AF65-F5344CB8AC3E}">
        <p14:creationId xmlns:p14="http://schemas.microsoft.com/office/powerpoint/2010/main" val="9492559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ChangeArrowheads="1"/>
          </p:cNvSpPr>
          <p:nvPr/>
        </p:nvSpPr>
        <p:spPr bwMode="auto">
          <a:xfrm>
            <a:off x="4479925" y="-230188"/>
            <a:ext cx="184150" cy="460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graphicFrame>
        <p:nvGraphicFramePr>
          <p:cNvPr id="225283" name="Object 1"/>
          <p:cNvGraphicFramePr>
            <a:graphicFrameLocks noChangeAspect="1"/>
          </p:cNvGraphicFramePr>
          <p:nvPr>
            <p:extLst>
              <p:ext uri="{D42A27DB-BD31-4B8C-83A1-F6EECF244321}">
                <p14:modId xmlns:p14="http://schemas.microsoft.com/office/powerpoint/2010/main" val="3433885323"/>
              </p:ext>
            </p:extLst>
          </p:nvPr>
        </p:nvGraphicFramePr>
        <p:xfrm>
          <a:off x="2987823" y="458788"/>
          <a:ext cx="5843439" cy="4364037"/>
        </p:xfrm>
        <a:graphic>
          <a:graphicData uri="http://schemas.openxmlformats.org/presentationml/2006/ole">
            <mc:AlternateContent xmlns:mc="http://schemas.openxmlformats.org/markup-compatibility/2006">
              <mc:Choice xmlns:v="urn:schemas-microsoft-com:vml" Requires="v">
                <p:oleObj spid="_x0000_s54279" name="Visio" r:id="rId3" imgW="3615521" imgH="3374583" progId="Visio.Drawing.11">
                  <p:embed/>
                </p:oleObj>
              </mc:Choice>
              <mc:Fallback>
                <p:oleObj name="Visio" r:id="rId3" imgW="3615521" imgH="3374583" progId="Visio.Drawing.11">
                  <p:embed/>
                  <p:pic>
                    <p:nvPicPr>
                      <p:cNvPr id="225283"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7823" y="458788"/>
                        <a:ext cx="5843439" cy="4364037"/>
                      </a:xfrm>
                      <a:prstGeom prst="rect">
                        <a:avLst/>
                      </a:prstGeom>
                      <a:noFill/>
                      <a:ln>
                        <a:noFill/>
                      </a:ln>
                    </p:spPr>
                  </p:pic>
                </p:oleObj>
              </mc:Fallback>
            </mc:AlternateContent>
          </a:graphicData>
        </a:graphic>
      </p:graphicFrame>
      <p:sp>
        <p:nvSpPr>
          <p:cNvPr id="6" name="Rectangle 3"/>
          <p:cNvSpPr txBox="1">
            <a:spLocks noChangeArrowheads="1"/>
          </p:cNvSpPr>
          <p:nvPr/>
        </p:nvSpPr>
        <p:spPr bwMode="auto">
          <a:xfrm>
            <a:off x="0" y="712788"/>
            <a:ext cx="3582988" cy="454025"/>
          </a:xfrm>
          <a:prstGeom prst="rect">
            <a:avLst/>
          </a:prstGeom>
          <a:noFill/>
          <a:ln w="9525">
            <a:noFill/>
            <a:miter lim="800000"/>
            <a:headEnd/>
            <a:tailEnd/>
          </a:ln>
          <a:effectLst/>
        </p:spPr>
        <p:txBody>
          <a:bodyPr/>
          <a:lstStyle/>
          <a:p>
            <a:pPr marL="342900" indent="-342900" algn="ctr" eaLnBrk="1" hangingPunct="1">
              <a:spcBef>
                <a:spcPct val="20000"/>
              </a:spcBef>
              <a:defRPr/>
            </a:pPr>
            <a:r>
              <a:rPr lang="zh-CN" altLang="en-US" sz="2800" b="1" kern="0" dirty="0">
                <a:solidFill>
                  <a:srgbClr val="FF5050"/>
                </a:solidFill>
                <a:latin typeface="+mn-lt"/>
                <a:ea typeface="+mn-ea"/>
              </a:rPr>
              <a:t>三</a:t>
            </a:r>
            <a:r>
              <a:rPr lang="en-US" altLang="zh-CN" sz="2800" b="1" kern="0" dirty="0">
                <a:solidFill>
                  <a:srgbClr val="FF5050"/>
                </a:solidFill>
                <a:latin typeface="+mn-lt"/>
                <a:ea typeface="+mn-ea"/>
              </a:rPr>
              <a:t>.</a:t>
            </a:r>
            <a:r>
              <a:rPr lang="zh-CN" altLang="en-US" sz="2800" b="1" kern="0" dirty="0">
                <a:solidFill>
                  <a:srgbClr val="FF5050"/>
                </a:solidFill>
                <a:latin typeface="+mn-lt"/>
                <a:ea typeface="+mn-ea"/>
              </a:rPr>
              <a:t>求项目集规范族</a:t>
            </a:r>
          </a:p>
        </p:txBody>
      </p:sp>
    </p:spTree>
    <p:extLst>
      <p:ext uri="{BB962C8B-B14F-4D97-AF65-F5344CB8AC3E}">
        <p14:creationId xmlns:p14="http://schemas.microsoft.com/office/powerpoint/2010/main" val="84846086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2481" name="Group 145"/>
          <p:cNvGraphicFramePr>
            <a:graphicFrameLocks noGrp="1"/>
          </p:cNvGraphicFramePr>
          <p:nvPr>
            <p:extLst>
              <p:ext uri="{D42A27DB-BD31-4B8C-83A1-F6EECF244321}">
                <p14:modId xmlns:p14="http://schemas.microsoft.com/office/powerpoint/2010/main" val="1793760926"/>
              </p:ext>
            </p:extLst>
          </p:nvPr>
        </p:nvGraphicFramePr>
        <p:xfrm>
          <a:off x="3924300" y="126868"/>
          <a:ext cx="5219700" cy="4461106"/>
        </p:xfrm>
        <a:graphic>
          <a:graphicData uri="http://schemas.openxmlformats.org/drawingml/2006/table">
            <a:tbl>
              <a:tblPr/>
              <a:tblGrid>
                <a:gridCol w="719138">
                  <a:extLst>
                    <a:ext uri="{9D8B030D-6E8A-4147-A177-3AD203B41FA5}">
                      <a16:colId xmlns:a16="http://schemas.microsoft.com/office/drawing/2014/main" val="20000"/>
                    </a:ext>
                  </a:extLst>
                </a:gridCol>
                <a:gridCol w="1584325">
                  <a:extLst>
                    <a:ext uri="{9D8B030D-6E8A-4147-A177-3AD203B41FA5}">
                      <a16:colId xmlns:a16="http://schemas.microsoft.com/office/drawing/2014/main" val="20001"/>
                    </a:ext>
                  </a:extLst>
                </a:gridCol>
                <a:gridCol w="1422400">
                  <a:extLst>
                    <a:ext uri="{9D8B030D-6E8A-4147-A177-3AD203B41FA5}">
                      <a16:colId xmlns:a16="http://schemas.microsoft.com/office/drawing/2014/main" val="20002"/>
                    </a:ext>
                  </a:extLst>
                </a:gridCol>
                <a:gridCol w="1493837">
                  <a:extLst>
                    <a:ext uri="{9D8B030D-6E8A-4147-A177-3AD203B41FA5}">
                      <a16:colId xmlns:a16="http://schemas.microsoft.com/office/drawing/2014/main" val="20003"/>
                    </a:ext>
                  </a:extLst>
                </a:gridCol>
              </a:tblGrid>
              <a:tr h="34628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状态</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项目集</a:t>
                      </a:r>
                    </a:p>
                  </a:txBody>
                  <a:tcPr marT="34268" marB="3426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后继符号</a:t>
                      </a:r>
                    </a:p>
                  </a:txBody>
                  <a:tcPr marT="34268" marB="3426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后继状态</a:t>
                      </a:r>
                    </a:p>
                  </a:txBody>
                  <a:tcPr marT="34268" marB="3426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89132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0</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S'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·aS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E ·bS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c   }</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b</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c</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7423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S'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S · }</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endPar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endParaRP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接受态</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89132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S</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a ·S </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aS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bS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c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b</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c</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4</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56958">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S c·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80000"/>
                        </a:lnSpc>
                        <a:spcBef>
                          <a:spcPct val="0"/>
                        </a:spcBef>
                        <a:spcAft>
                          <a:spcPct val="0"/>
                        </a:spcAft>
                        <a:buClrTx/>
                        <a:buSzTx/>
                        <a:buFontTx/>
                        <a:buNone/>
                        <a:tabLst/>
                      </a:pPr>
                      <a:r>
                        <a:rPr kumimoji="1" lang="zh-CN" altLang="en-US"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归约</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42800">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4</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S</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aS ·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80000"/>
                        </a:lnSpc>
                        <a:spcBef>
                          <a:spcPct val="0"/>
                        </a:spcBef>
                        <a:spcAft>
                          <a:spcPct val="0"/>
                        </a:spcAft>
                        <a:buClrTx/>
                        <a:buSzTx/>
                        <a:buFontTx/>
                        <a:buNone/>
                        <a:tabLst/>
                      </a:pPr>
                      <a:r>
                        <a:rPr kumimoji="1" lang="zh-CN" altLang="en-US"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归约</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89132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S</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b ·S </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aS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bS</a:t>
                      </a:r>
                    </a:p>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  S · c    </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b</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c</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6</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274234">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18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6</a:t>
                      </a:r>
                    </a:p>
                  </a:txBody>
                  <a:tcPr marT="34268" marB="3426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 E</a:t>
                      </a: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sym typeface="Symbol" panose="05050102010706020507" pitchFamily="18" charset="2"/>
                        </a:rPr>
                        <a:t>bS · }</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68" marB="3426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Tx/>
                        <a:buSzTx/>
                        <a:buFontTx/>
                        <a:buNone/>
                        <a:tabLst/>
                      </a:pPr>
                      <a:r>
                        <a:rPr kumimoji="1" lang="zh-CN" altLang="en-US" sz="18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rPr>
                        <a:t>归约</a:t>
                      </a:r>
                      <a:endParaRPr kumimoji="1" lang="zh-CN" altLang="en-US" sz="1800" b="1" i="0" u="none" strike="noStrike" cap="none" normalizeH="0" baseline="-25000" dirty="0">
                        <a:ln>
                          <a:noFill/>
                        </a:ln>
                        <a:solidFill>
                          <a:schemeClr val="accent2"/>
                        </a:solidFill>
                        <a:effectLst/>
                        <a:latin typeface="Times New Roman" panose="02020603050405020304" pitchFamily="18" charset="0"/>
                        <a:ea typeface="宋体" panose="02010600030101010101" pitchFamily="2" charset="-122"/>
                      </a:endParaRPr>
                    </a:p>
                  </a:txBody>
                  <a:tcPr marT="34268" marB="3426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bl>
          </a:graphicData>
        </a:graphic>
      </p:graphicFrame>
      <p:sp>
        <p:nvSpPr>
          <p:cNvPr id="142439" name="Text Box 103"/>
          <p:cNvSpPr txBox="1">
            <a:spLocks noChangeArrowheads="1"/>
          </p:cNvSpPr>
          <p:nvPr/>
        </p:nvSpPr>
        <p:spPr bwMode="auto">
          <a:xfrm>
            <a:off x="0" y="423863"/>
            <a:ext cx="3644900" cy="954087"/>
          </a:xfrm>
          <a:prstGeom prst="rect">
            <a:avLst/>
          </a:prstGeom>
          <a:noFill/>
          <a:ln w="9525">
            <a:noFill/>
            <a:miter lim="800000"/>
            <a:headEnd/>
            <a:tailEnd/>
          </a:ln>
          <a:effectLst/>
        </p:spPr>
        <p:txBody>
          <a:bodyPr>
            <a:spAutoFit/>
          </a:bodyPr>
          <a:lstStyle/>
          <a:p>
            <a:pPr algn="ctr" eaLnBrk="1" hangingPunct="1">
              <a:spcBef>
                <a:spcPct val="50000"/>
              </a:spcBef>
              <a:defRPr/>
            </a:pPr>
            <a:r>
              <a:rPr lang="zh-CN" altLang="en-US" sz="2800" b="1" kern="0" dirty="0">
                <a:solidFill>
                  <a:srgbClr val="FF5050"/>
                </a:solidFill>
              </a:rPr>
              <a:t>项目集规范族也可以用表格表示</a:t>
            </a:r>
            <a:endParaRPr lang="en-US" altLang="zh-CN" sz="2800" b="1" dirty="0">
              <a:solidFill>
                <a:srgbClr val="FF5050"/>
              </a:solidFill>
            </a:endParaRPr>
          </a:p>
        </p:txBody>
      </p:sp>
      <p:grpSp>
        <p:nvGrpSpPr>
          <p:cNvPr id="2" name="Group 142"/>
          <p:cNvGrpSpPr>
            <a:grpSpLocks/>
          </p:cNvGrpSpPr>
          <p:nvPr/>
        </p:nvGrpSpPr>
        <p:grpSpPr bwMode="auto">
          <a:xfrm>
            <a:off x="220663" y="1636713"/>
            <a:ext cx="3286125" cy="2762250"/>
            <a:chOff x="9" y="1575"/>
            <a:chExt cx="2070" cy="2320"/>
          </a:xfrm>
        </p:grpSpPr>
        <p:sp>
          <p:nvSpPr>
            <p:cNvPr id="226357" name="Oval 105"/>
            <p:cNvSpPr>
              <a:spLocks noChangeArrowheads="1"/>
            </p:cNvSpPr>
            <p:nvPr/>
          </p:nvSpPr>
          <p:spPr bwMode="auto">
            <a:xfrm>
              <a:off x="258" y="2486"/>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0</a:t>
              </a:r>
            </a:p>
          </p:txBody>
        </p:sp>
        <p:sp>
          <p:nvSpPr>
            <p:cNvPr id="226358" name="Oval 106"/>
            <p:cNvSpPr>
              <a:spLocks noChangeArrowheads="1"/>
            </p:cNvSpPr>
            <p:nvPr/>
          </p:nvSpPr>
          <p:spPr bwMode="auto">
            <a:xfrm>
              <a:off x="1309" y="1997"/>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2</a:t>
              </a:r>
            </a:p>
          </p:txBody>
        </p:sp>
        <p:sp>
          <p:nvSpPr>
            <p:cNvPr id="226359" name="Oval 107"/>
            <p:cNvSpPr>
              <a:spLocks noChangeArrowheads="1"/>
            </p:cNvSpPr>
            <p:nvPr/>
          </p:nvSpPr>
          <p:spPr bwMode="auto">
            <a:xfrm>
              <a:off x="1292" y="3003"/>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5</a:t>
              </a:r>
            </a:p>
          </p:txBody>
        </p:sp>
        <p:sp>
          <p:nvSpPr>
            <p:cNvPr id="226360" name="Oval 108"/>
            <p:cNvSpPr>
              <a:spLocks noChangeArrowheads="1"/>
            </p:cNvSpPr>
            <p:nvPr/>
          </p:nvSpPr>
          <p:spPr bwMode="auto">
            <a:xfrm>
              <a:off x="757" y="2497"/>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2800">
                <a:ea typeface="华文行楷" pitchFamily="2" charset="-122"/>
              </a:endParaRPr>
            </a:p>
          </p:txBody>
        </p:sp>
        <p:sp>
          <p:nvSpPr>
            <p:cNvPr id="226361" name="Oval 109"/>
            <p:cNvSpPr>
              <a:spLocks noChangeArrowheads="1"/>
            </p:cNvSpPr>
            <p:nvPr/>
          </p:nvSpPr>
          <p:spPr bwMode="auto">
            <a:xfrm>
              <a:off x="1453" y="3570"/>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2800">
                <a:ea typeface="华文行楷" pitchFamily="2" charset="-122"/>
              </a:endParaRPr>
            </a:p>
          </p:txBody>
        </p:sp>
        <p:sp>
          <p:nvSpPr>
            <p:cNvPr id="226362" name="Oval 110"/>
            <p:cNvSpPr>
              <a:spLocks noChangeArrowheads="1"/>
            </p:cNvSpPr>
            <p:nvPr/>
          </p:nvSpPr>
          <p:spPr bwMode="auto">
            <a:xfrm>
              <a:off x="1770" y="1575"/>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2800">
                <a:ea typeface="华文行楷" pitchFamily="2" charset="-122"/>
              </a:endParaRPr>
            </a:p>
          </p:txBody>
        </p:sp>
        <p:sp>
          <p:nvSpPr>
            <p:cNvPr id="226363" name="Oval 111"/>
            <p:cNvSpPr>
              <a:spLocks noChangeArrowheads="1"/>
            </p:cNvSpPr>
            <p:nvPr/>
          </p:nvSpPr>
          <p:spPr bwMode="auto">
            <a:xfrm>
              <a:off x="275" y="1645"/>
              <a:ext cx="309" cy="32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2800">
                <a:ea typeface="华文行楷" pitchFamily="2" charset="-122"/>
              </a:endParaRPr>
            </a:p>
          </p:txBody>
        </p:sp>
        <p:sp>
          <p:nvSpPr>
            <p:cNvPr id="226364" name="AutoShape 112"/>
            <p:cNvSpPr>
              <a:spLocks noChangeArrowheads="1"/>
            </p:cNvSpPr>
            <p:nvPr/>
          </p:nvSpPr>
          <p:spPr bwMode="auto">
            <a:xfrm>
              <a:off x="9" y="2605"/>
              <a:ext cx="249" cy="86"/>
            </a:xfrm>
            <a:prstGeom prst="rightArrow">
              <a:avLst>
                <a:gd name="adj1" fmla="val 50000"/>
                <a:gd name="adj2" fmla="val 72384"/>
              </a:avLst>
            </a:prstGeom>
            <a:solidFill>
              <a:schemeClr val="accent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26365" name="Line 113"/>
            <p:cNvSpPr>
              <a:spLocks noChangeShapeType="1"/>
            </p:cNvSpPr>
            <p:nvPr/>
          </p:nvSpPr>
          <p:spPr bwMode="auto">
            <a:xfrm>
              <a:off x="567" y="2639"/>
              <a:ext cx="19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66" name="Line 114"/>
            <p:cNvSpPr>
              <a:spLocks noChangeShapeType="1"/>
            </p:cNvSpPr>
            <p:nvPr/>
          </p:nvSpPr>
          <p:spPr bwMode="auto">
            <a:xfrm flipV="1">
              <a:off x="430" y="1969"/>
              <a:ext cx="0" cy="51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67" name="Line 115"/>
            <p:cNvSpPr>
              <a:spLocks noChangeShapeType="1"/>
            </p:cNvSpPr>
            <p:nvPr/>
          </p:nvSpPr>
          <p:spPr bwMode="auto">
            <a:xfrm flipV="1">
              <a:off x="516" y="2160"/>
              <a:ext cx="799" cy="36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68" name="Line 116"/>
            <p:cNvSpPr>
              <a:spLocks noChangeShapeType="1"/>
            </p:cNvSpPr>
            <p:nvPr/>
          </p:nvSpPr>
          <p:spPr bwMode="auto">
            <a:xfrm>
              <a:off x="499" y="2777"/>
              <a:ext cx="791" cy="40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69" name="Line 117"/>
            <p:cNvSpPr>
              <a:spLocks noChangeShapeType="1"/>
            </p:cNvSpPr>
            <p:nvPr/>
          </p:nvSpPr>
          <p:spPr bwMode="auto">
            <a:xfrm>
              <a:off x="1453" y="3336"/>
              <a:ext cx="103" cy="23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0" name="Line 118"/>
            <p:cNvSpPr>
              <a:spLocks noChangeShapeType="1"/>
            </p:cNvSpPr>
            <p:nvPr/>
          </p:nvSpPr>
          <p:spPr bwMode="auto">
            <a:xfrm flipV="1">
              <a:off x="1573" y="1848"/>
              <a:ext cx="250" cy="19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1" name="Line 119"/>
            <p:cNvSpPr>
              <a:spLocks noChangeShapeType="1"/>
            </p:cNvSpPr>
            <p:nvPr/>
          </p:nvSpPr>
          <p:spPr bwMode="auto">
            <a:xfrm flipH="1">
              <a:off x="1427" y="2329"/>
              <a:ext cx="0" cy="67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2" name="Line 120"/>
            <p:cNvSpPr>
              <a:spLocks noChangeShapeType="1"/>
            </p:cNvSpPr>
            <p:nvPr/>
          </p:nvSpPr>
          <p:spPr bwMode="auto">
            <a:xfrm flipV="1">
              <a:off x="1556" y="2295"/>
              <a:ext cx="1" cy="7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3" name="Line 121"/>
            <p:cNvSpPr>
              <a:spLocks noChangeShapeType="1"/>
            </p:cNvSpPr>
            <p:nvPr/>
          </p:nvSpPr>
          <p:spPr bwMode="auto">
            <a:xfrm flipH="1" flipV="1">
              <a:off x="1005" y="2767"/>
              <a:ext cx="335" cy="28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4" name="Line 122"/>
            <p:cNvSpPr>
              <a:spLocks noChangeShapeType="1"/>
            </p:cNvSpPr>
            <p:nvPr/>
          </p:nvSpPr>
          <p:spPr bwMode="auto">
            <a:xfrm flipH="1">
              <a:off x="1023" y="2270"/>
              <a:ext cx="335" cy="2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6375" name="Freeform 126"/>
            <p:cNvSpPr>
              <a:spLocks/>
            </p:cNvSpPr>
            <p:nvPr/>
          </p:nvSpPr>
          <p:spPr bwMode="auto">
            <a:xfrm>
              <a:off x="1270" y="1770"/>
              <a:ext cx="207" cy="302"/>
            </a:xfrm>
            <a:custGeom>
              <a:avLst/>
              <a:gdLst>
                <a:gd name="T0" fmla="*/ 54 w 207"/>
                <a:gd name="T1" fmla="*/ 61 h 354"/>
                <a:gd name="T2" fmla="*/ 2 w 207"/>
                <a:gd name="T3" fmla="*/ 32 h 354"/>
                <a:gd name="T4" fmla="*/ 45 w 207"/>
                <a:gd name="T5" fmla="*/ 3 h 354"/>
                <a:gd name="T6" fmla="*/ 183 w 207"/>
                <a:gd name="T7" fmla="*/ 21 h 354"/>
                <a:gd name="T8" fmla="*/ 191 w 207"/>
                <a:gd name="T9" fmla="*/ 49 h 354"/>
                <a:gd name="T10" fmla="*/ 0 60000 65536"/>
                <a:gd name="T11" fmla="*/ 0 60000 65536"/>
                <a:gd name="T12" fmla="*/ 0 60000 65536"/>
                <a:gd name="T13" fmla="*/ 0 60000 65536"/>
                <a:gd name="T14" fmla="*/ 0 60000 65536"/>
                <a:gd name="T15" fmla="*/ 0 w 207"/>
                <a:gd name="T16" fmla="*/ 0 h 354"/>
                <a:gd name="T17" fmla="*/ 207 w 207"/>
                <a:gd name="T18" fmla="*/ 354 h 354"/>
              </a:gdLst>
              <a:ahLst/>
              <a:cxnLst>
                <a:cxn ang="T10">
                  <a:pos x="T0" y="T1"/>
                </a:cxn>
                <a:cxn ang="T11">
                  <a:pos x="T2" y="T3"/>
                </a:cxn>
                <a:cxn ang="T12">
                  <a:pos x="T4" y="T5"/>
                </a:cxn>
                <a:cxn ang="T13">
                  <a:pos x="T6" y="T7"/>
                </a:cxn>
                <a:cxn ang="T14">
                  <a:pos x="T8" y="T9"/>
                </a:cxn>
              </a:cxnLst>
              <a:rect l="T15" t="T16" r="T17" b="T18"/>
              <a:pathLst>
                <a:path w="207" h="354">
                  <a:moveTo>
                    <a:pt x="54" y="354"/>
                  </a:moveTo>
                  <a:cubicBezTo>
                    <a:pt x="45" y="325"/>
                    <a:pt x="4" y="239"/>
                    <a:pt x="2" y="182"/>
                  </a:cubicBezTo>
                  <a:cubicBezTo>
                    <a:pt x="0" y="125"/>
                    <a:pt x="15" y="20"/>
                    <a:pt x="45" y="10"/>
                  </a:cubicBezTo>
                  <a:cubicBezTo>
                    <a:pt x="75" y="0"/>
                    <a:pt x="159" y="76"/>
                    <a:pt x="183" y="122"/>
                  </a:cubicBezTo>
                  <a:cubicBezTo>
                    <a:pt x="207" y="168"/>
                    <a:pt x="189" y="251"/>
                    <a:pt x="191" y="285"/>
                  </a:cubicBez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76" name="Freeform 127"/>
            <p:cNvSpPr>
              <a:spLocks/>
            </p:cNvSpPr>
            <p:nvPr/>
          </p:nvSpPr>
          <p:spPr bwMode="auto">
            <a:xfrm>
              <a:off x="1551" y="3116"/>
              <a:ext cx="268" cy="254"/>
            </a:xfrm>
            <a:custGeom>
              <a:avLst/>
              <a:gdLst>
                <a:gd name="T0" fmla="*/ 5 w 337"/>
                <a:gd name="T1" fmla="*/ 6 h 254"/>
                <a:gd name="T2" fmla="*/ 18 w 337"/>
                <a:gd name="T3" fmla="*/ 31 h 254"/>
                <a:gd name="T4" fmla="*/ 26 w 337"/>
                <a:gd name="T5" fmla="*/ 194 h 254"/>
                <a:gd name="T6" fmla="*/ 14 w 337"/>
                <a:gd name="T7" fmla="*/ 254 h 254"/>
                <a:gd name="T8" fmla="*/ 0 w 337"/>
                <a:gd name="T9" fmla="*/ 191 h 254"/>
                <a:gd name="T10" fmla="*/ 0 60000 65536"/>
                <a:gd name="T11" fmla="*/ 0 60000 65536"/>
                <a:gd name="T12" fmla="*/ 0 60000 65536"/>
                <a:gd name="T13" fmla="*/ 0 60000 65536"/>
                <a:gd name="T14" fmla="*/ 0 60000 65536"/>
                <a:gd name="T15" fmla="*/ 0 w 337"/>
                <a:gd name="T16" fmla="*/ 0 h 254"/>
                <a:gd name="T17" fmla="*/ 337 w 337"/>
                <a:gd name="T18" fmla="*/ 254 h 254"/>
              </a:gdLst>
              <a:ahLst/>
              <a:cxnLst>
                <a:cxn ang="T10">
                  <a:pos x="T0" y="T1"/>
                </a:cxn>
                <a:cxn ang="T11">
                  <a:pos x="T2" y="T3"/>
                </a:cxn>
                <a:cxn ang="T12">
                  <a:pos x="T4" y="T5"/>
                </a:cxn>
                <a:cxn ang="T13">
                  <a:pos x="T6" y="T7"/>
                </a:cxn>
                <a:cxn ang="T14">
                  <a:pos x="T8" y="T9"/>
                </a:cxn>
              </a:cxnLst>
              <a:rect l="T15" t="T16" r="T17" b="T18"/>
              <a:pathLst>
                <a:path w="337" h="254">
                  <a:moveTo>
                    <a:pt x="55" y="6"/>
                  </a:moveTo>
                  <a:cubicBezTo>
                    <a:pt x="82" y="10"/>
                    <a:pt x="175" y="0"/>
                    <a:pt x="220" y="31"/>
                  </a:cubicBezTo>
                  <a:cubicBezTo>
                    <a:pt x="265" y="62"/>
                    <a:pt x="337" y="157"/>
                    <a:pt x="328" y="194"/>
                  </a:cubicBezTo>
                  <a:cubicBezTo>
                    <a:pt x="319" y="231"/>
                    <a:pt x="223" y="254"/>
                    <a:pt x="168" y="254"/>
                  </a:cubicBezTo>
                  <a:cubicBezTo>
                    <a:pt x="113" y="254"/>
                    <a:pt x="35" y="204"/>
                    <a:pt x="0" y="191"/>
                  </a:cubicBez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77" name="Text Box 128"/>
            <p:cNvSpPr txBox="1">
              <a:spLocks noChangeArrowheads="1"/>
            </p:cNvSpPr>
            <p:nvPr/>
          </p:nvSpPr>
          <p:spPr bwMode="auto">
            <a:xfrm>
              <a:off x="232" y="2106"/>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S</a:t>
              </a:r>
            </a:p>
          </p:txBody>
        </p:sp>
        <p:sp>
          <p:nvSpPr>
            <p:cNvPr id="226378" name="Text Box 129"/>
            <p:cNvSpPr txBox="1">
              <a:spLocks noChangeArrowheads="1"/>
            </p:cNvSpPr>
            <p:nvPr/>
          </p:nvSpPr>
          <p:spPr bwMode="auto">
            <a:xfrm>
              <a:off x="1308" y="3311"/>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S</a:t>
              </a:r>
            </a:p>
          </p:txBody>
        </p:sp>
        <p:sp>
          <p:nvSpPr>
            <p:cNvPr id="226379" name="Text Box 130"/>
            <p:cNvSpPr txBox="1">
              <a:spLocks noChangeArrowheads="1"/>
            </p:cNvSpPr>
            <p:nvPr/>
          </p:nvSpPr>
          <p:spPr bwMode="auto">
            <a:xfrm>
              <a:off x="1645" y="1884"/>
              <a:ext cx="28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S</a:t>
              </a:r>
            </a:p>
          </p:txBody>
        </p:sp>
        <p:sp>
          <p:nvSpPr>
            <p:cNvPr id="226380" name="Text Box 131"/>
            <p:cNvSpPr txBox="1">
              <a:spLocks noChangeArrowheads="1"/>
            </p:cNvSpPr>
            <p:nvPr/>
          </p:nvSpPr>
          <p:spPr bwMode="auto">
            <a:xfrm>
              <a:off x="534" y="2548"/>
              <a:ext cx="21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c</a:t>
              </a:r>
            </a:p>
          </p:txBody>
        </p:sp>
        <p:sp>
          <p:nvSpPr>
            <p:cNvPr id="226381" name="Text Box 132"/>
            <p:cNvSpPr txBox="1">
              <a:spLocks noChangeArrowheads="1"/>
            </p:cNvSpPr>
            <p:nvPr/>
          </p:nvSpPr>
          <p:spPr bwMode="auto">
            <a:xfrm>
              <a:off x="1111" y="2717"/>
              <a:ext cx="199"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c</a:t>
              </a:r>
            </a:p>
          </p:txBody>
        </p:sp>
        <p:sp>
          <p:nvSpPr>
            <p:cNvPr id="226382" name="Text Box 133"/>
            <p:cNvSpPr txBox="1">
              <a:spLocks noChangeArrowheads="1"/>
            </p:cNvSpPr>
            <p:nvPr/>
          </p:nvSpPr>
          <p:spPr bwMode="auto">
            <a:xfrm>
              <a:off x="1111" y="2313"/>
              <a:ext cx="190"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c</a:t>
              </a:r>
            </a:p>
          </p:txBody>
        </p:sp>
        <p:sp>
          <p:nvSpPr>
            <p:cNvPr id="226383" name="Text Box 134"/>
            <p:cNvSpPr txBox="1">
              <a:spLocks noChangeArrowheads="1"/>
            </p:cNvSpPr>
            <p:nvPr/>
          </p:nvSpPr>
          <p:spPr bwMode="auto">
            <a:xfrm>
              <a:off x="801" y="2115"/>
              <a:ext cx="190"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a</a:t>
              </a:r>
            </a:p>
          </p:txBody>
        </p:sp>
        <p:sp>
          <p:nvSpPr>
            <p:cNvPr id="226384" name="Text Box 135"/>
            <p:cNvSpPr txBox="1">
              <a:spLocks noChangeArrowheads="1"/>
            </p:cNvSpPr>
            <p:nvPr/>
          </p:nvSpPr>
          <p:spPr bwMode="auto">
            <a:xfrm>
              <a:off x="680" y="2882"/>
              <a:ext cx="21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b</a:t>
              </a:r>
            </a:p>
          </p:txBody>
        </p:sp>
        <p:sp>
          <p:nvSpPr>
            <p:cNvPr id="226385" name="Text Box 136"/>
            <p:cNvSpPr txBox="1">
              <a:spLocks noChangeArrowheads="1"/>
            </p:cNvSpPr>
            <p:nvPr/>
          </p:nvSpPr>
          <p:spPr bwMode="auto">
            <a:xfrm>
              <a:off x="1514" y="2502"/>
              <a:ext cx="190"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a</a:t>
              </a:r>
            </a:p>
          </p:txBody>
        </p:sp>
        <p:sp>
          <p:nvSpPr>
            <p:cNvPr id="226386" name="Text Box 137"/>
            <p:cNvSpPr txBox="1">
              <a:spLocks noChangeArrowheads="1"/>
            </p:cNvSpPr>
            <p:nvPr/>
          </p:nvSpPr>
          <p:spPr bwMode="auto">
            <a:xfrm>
              <a:off x="1264" y="2505"/>
              <a:ext cx="21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2400">
                  <a:ea typeface="华文行楷" pitchFamily="2" charset="-122"/>
                </a:rPr>
                <a:t>b</a:t>
              </a:r>
            </a:p>
          </p:txBody>
        </p:sp>
        <p:sp>
          <p:nvSpPr>
            <p:cNvPr id="226387" name="Oval 138"/>
            <p:cNvSpPr>
              <a:spLocks noChangeArrowheads="1"/>
            </p:cNvSpPr>
            <p:nvPr/>
          </p:nvSpPr>
          <p:spPr bwMode="auto">
            <a:xfrm>
              <a:off x="322" y="1689"/>
              <a:ext cx="214" cy="230"/>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1</a:t>
              </a:r>
            </a:p>
          </p:txBody>
        </p:sp>
        <p:sp>
          <p:nvSpPr>
            <p:cNvPr id="226388" name="Oval 139"/>
            <p:cNvSpPr>
              <a:spLocks noChangeArrowheads="1"/>
            </p:cNvSpPr>
            <p:nvPr/>
          </p:nvSpPr>
          <p:spPr bwMode="auto">
            <a:xfrm>
              <a:off x="1821" y="1635"/>
              <a:ext cx="206" cy="205"/>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4</a:t>
              </a:r>
            </a:p>
          </p:txBody>
        </p:sp>
        <p:sp>
          <p:nvSpPr>
            <p:cNvPr id="226389" name="Oval 140"/>
            <p:cNvSpPr>
              <a:spLocks noChangeArrowheads="1"/>
            </p:cNvSpPr>
            <p:nvPr/>
          </p:nvSpPr>
          <p:spPr bwMode="auto">
            <a:xfrm>
              <a:off x="1494" y="3622"/>
              <a:ext cx="223" cy="230"/>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6</a:t>
              </a:r>
            </a:p>
          </p:txBody>
        </p:sp>
        <p:sp>
          <p:nvSpPr>
            <p:cNvPr id="226390" name="Oval 141"/>
            <p:cNvSpPr>
              <a:spLocks noChangeArrowheads="1"/>
            </p:cNvSpPr>
            <p:nvPr/>
          </p:nvSpPr>
          <p:spPr bwMode="auto">
            <a:xfrm>
              <a:off x="802" y="2541"/>
              <a:ext cx="215" cy="231"/>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a:ea typeface="华文行楷" pitchFamily="2" charset="-122"/>
                </a:rPr>
                <a:t>3</a:t>
              </a:r>
            </a:p>
          </p:txBody>
        </p:sp>
      </p:grpSp>
      <p:sp>
        <p:nvSpPr>
          <p:cNvPr id="142480" name="Text Box 144"/>
          <p:cNvSpPr txBox="1">
            <a:spLocks noChangeArrowheads="1"/>
          </p:cNvSpPr>
          <p:nvPr/>
        </p:nvSpPr>
        <p:spPr bwMode="auto">
          <a:xfrm>
            <a:off x="105497" y="4621212"/>
            <a:ext cx="9034463" cy="522288"/>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2800" dirty="0">
                <a:ea typeface="华文行楷" pitchFamily="2" charset="-122"/>
              </a:rPr>
              <a:t>每个项目集中的各个项目不冲突</a:t>
            </a:r>
            <a:r>
              <a:rPr lang="en-US" altLang="zh-CN" sz="2800" dirty="0">
                <a:ea typeface="华文行楷" pitchFamily="2" charset="-122"/>
              </a:rPr>
              <a:t>,</a:t>
            </a:r>
            <a:r>
              <a:rPr lang="zh-CN" altLang="en-US" sz="2800" dirty="0">
                <a:ea typeface="华文行楷" pitchFamily="2" charset="-122"/>
              </a:rPr>
              <a:t>则是</a:t>
            </a:r>
            <a:r>
              <a:rPr lang="en-US" altLang="zh-CN" sz="2800" dirty="0">
                <a:ea typeface="华文行楷" pitchFamily="2" charset="-122"/>
              </a:rPr>
              <a:t>LR(0)</a:t>
            </a:r>
            <a:r>
              <a:rPr lang="zh-CN" altLang="en-US" sz="2800" dirty="0">
                <a:ea typeface="华文行楷" pitchFamily="2" charset="-122"/>
              </a:rPr>
              <a:t>文法。</a:t>
            </a:r>
          </a:p>
        </p:txBody>
      </p:sp>
    </p:spTree>
    <p:extLst>
      <p:ext uri="{BB962C8B-B14F-4D97-AF65-F5344CB8AC3E}">
        <p14:creationId xmlns:p14="http://schemas.microsoft.com/office/powerpoint/2010/main" val="25557259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4248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424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424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439" grpId="0" autoUpdateAnimBg="0"/>
      <p:bldP spid="142480"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ext Box 4"/>
          <p:cNvSpPr>
            <a:spLocks noGrp="1" noChangeArrowheads="1"/>
          </p:cNvSpPr>
          <p:nvPr>
            <p:ph type="body" idx="1"/>
          </p:nvPr>
        </p:nvSpPr>
        <p:spPr>
          <a:xfrm>
            <a:off x="515938" y="106363"/>
            <a:ext cx="3446462" cy="476250"/>
          </a:xfrm>
          <a:noFill/>
        </p:spPr>
        <p:txBody>
          <a:bodyPr>
            <a:normAutofit fontScale="92500" lnSpcReduction="10000"/>
          </a:bodyPr>
          <a:lstStyle/>
          <a:p>
            <a:pPr eaLnBrk="1" hangingPunct="1">
              <a:spcBef>
                <a:spcPct val="50000"/>
              </a:spcBef>
              <a:buFontTx/>
              <a:buNone/>
            </a:pPr>
            <a:r>
              <a:rPr lang="zh-CN" altLang="en-US" sz="2800" b="1" dirty="0">
                <a:solidFill>
                  <a:srgbClr val="FF5050"/>
                </a:solidFill>
              </a:rPr>
              <a:t>四</a:t>
            </a:r>
            <a:r>
              <a:rPr lang="en-US" altLang="zh-CN" sz="2800" b="1" dirty="0">
                <a:solidFill>
                  <a:srgbClr val="FF5050"/>
                </a:solidFill>
              </a:rPr>
              <a:t>.</a:t>
            </a:r>
            <a:r>
              <a:rPr lang="zh-CN" altLang="en-US" sz="2800" b="1" dirty="0">
                <a:solidFill>
                  <a:srgbClr val="FF5050"/>
                </a:solidFill>
              </a:rPr>
              <a:t>构造</a:t>
            </a:r>
            <a:r>
              <a:rPr lang="en-US" altLang="zh-CN" sz="2800" b="1" dirty="0">
                <a:solidFill>
                  <a:srgbClr val="FF5050"/>
                </a:solidFill>
              </a:rPr>
              <a:t>LR(0)</a:t>
            </a:r>
            <a:r>
              <a:rPr lang="zh-CN" altLang="en-US" sz="2800" b="1" dirty="0">
                <a:solidFill>
                  <a:srgbClr val="FF5050"/>
                </a:solidFill>
              </a:rPr>
              <a:t>分析表</a:t>
            </a:r>
          </a:p>
        </p:txBody>
      </p:sp>
      <p:graphicFrame>
        <p:nvGraphicFramePr>
          <p:cNvPr id="143622" name="Group 262"/>
          <p:cNvGraphicFramePr>
            <a:graphicFrameLocks noGrp="1"/>
          </p:cNvGraphicFramePr>
          <p:nvPr>
            <p:extLst>
              <p:ext uri="{D42A27DB-BD31-4B8C-83A1-F6EECF244321}">
                <p14:modId xmlns:p14="http://schemas.microsoft.com/office/powerpoint/2010/main" val="3257217691"/>
              </p:ext>
            </p:extLst>
          </p:nvPr>
        </p:nvGraphicFramePr>
        <p:xfrm>
          <a:off x="4716015" y="244475"/>
          <a:ext cx="4261298" cy="3685234"/>
        </p:xfrm>
        <a:graphic>
          <a:graphicData uri="http://schemas.openxmlformats.org/drawingml/2006/table">
            <a:tbl>
              <a:tblPr/>
              <a:tblGrid>
                <a:gridCol w="625644">
                  <a:extLst>
                    <a:ext uri="{9D8B030D-6E8A-4147-A177-3AD203B41FA5}">
                      <a16:colId xmlns:a16="http://schemas.microsoft.com/office/drawing/2014/main" val="20000"/>
                    </a:ext>
                  </a:extLst>
                </a:gridCol>
                <a:gridCol w="627085">
                  <a:extLst>
                    <a:ext uri="{9D8B030D-6E8A-4147-A177-3AD203B41FA5}">
                      <a16:colId xmlns:a16="http://schemas.microsoft.com/office/drawing/2014/main" val="20001"/>
                    </a:ext>
                  </a:extLst>
                </a:gridCol>
                <a:gridCol w="681866">
                  <a:extLst>
                    <a:ext uri="{9D8B030D-6E8A-4147-A177-3AD203B41FA5}">
                      <a16:colId xmlns:a16="http://schemas.microsoft.com/office/drawing/2014/main" val="20002"/>
                    </a:ext>
                  </a:extLst>
                </a:gridCol>
                <a:gridCol w="681865">
                  <a:extLst>
                    <a:ext uri="{9D8B030D-6E8A-4147-A177-3AD203B41FA5}">
                      <a16:colId xmlns:a16="http://schemas.microsoft.com/office/drawing/2014/main" val="20003"/>
                    </a:ext>
                  </a:extLst>
                </a:gridCol>
                <a:gridCol w="681866">
                  <a:extLst>
                    <a:ext uri="{9D8B030D-6E8A-4147-A177-3AD203B41FA5}">
                      <a16:colId xmlns:a16="http://schemas.microsoft.com/office/drawing/2014/main" val="20004"/>
                    </a:ext>
                  </a:extLst>
                </a:gridCol>
                <a:gridCol w="962972">
                  <a:extLst>
                    <a:ext uri="{9D8B030D-6E8A-4147-A177-3AD203B41FA5}">
                      <a16:colId xmlns:a16="http://schemas.microsoft.com/office/drawing/2014/main" val="20005"/>
                    </a:ext>
                  </a:extLst>
                </a:gridCol>
              </a:tblGrid>
              <a:tr h="576306">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状</a:t>
                      </a:r>
                    </a:p>
                    <a:p>
                      <a:pPr marL="0" marR="0" lvl="0" indent="0" algn="ctr" defTabSz="914400" rtl="0" eaLnBrk="1" fontAlgn="base" latinLnBrk="0" hangingPunct="1">
                        <a:lnSpc>
                          <a:spcPct val="100000"/>
                        </a:lnSpc>
                        <a:spcBef>
                          <a:spcPct val="20000"/>
                        </a:spcBef>
                        <a:spcAft>
                          <a:spcPct val="0"/>
                        </a:spcAft>
                        <a:buClrTx/>
                        <a:buSzTx/>
                        <a:buFontTx/>
                        <a:buNone/>
                        <a:tabLst/>
                      </a:pPr>
                      <a:r>
                        <a:rPr kumimoji="1" lang="zh-CN" altLang="en-US"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态</a:t>
                      </a: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4">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ACTION</a:t>
                      </a:r>
                    </a:p>
                  </a:txBody>
                  <a:tcPr marT="34288" marB="34288" horzOverflow="overflow">
                    <a:lnL w="38100" cap="flat" cmpd="sng" algn="ctr">
                      <a:solidFill>
                        <a:srgbClr val="FF5050"/>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rgbClr val="FF5050"/>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18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GOTO</a:t>
                      </a: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rgbClr val="FF5050"/>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362887">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a:t>
                      </a: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505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b</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505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c</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505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t>
                      </a: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38100" cap="flat" cmpd="sng" algn="ctr">
                      <a:solidFill>
                        <a:srgbClr val="FF505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rgbClr val="FF505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0</a:t>
                      </a: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a:t>
                      </a: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acc</a:t>
                      </a: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4</a:t>
                      </a: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4</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1</a:t>
                      </a: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5</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3</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6</a:t>
                      </a: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r h="36288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S</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6</a:t>
                      </a:r>
                      <a:endPar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28575" cap="flat" cmpd="sng" algn="ctr">
                      <a:solidFill>
                        <a:schemeClr val="tx1"/>
                      </a:solidFill>
                      <a:prstDash val="solid"/>
                      <a:round/>
                      <a:headEnd type="none" w="med" len="med"/>
                      <a:tailEnd type="none" w="med" len="med"/>
                    </a:lnL>
                    <a:lnR w="38100" cap="flat" cmpd="sng" algn="ctr">
                      <a:solidFill>
                        <a:srgbClr val="FF5050"/>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txBody>
                  <a:tcPr marT="34288" marB="34288" horzOverflow="overflow">
                    <a:lnL w="38100" cap="flat" cmpd="sng" algn="ctr">
                      <a:solidFill>
                        <a:srgbClr val="FF505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zh-CN" sz="2100" b="1"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r</a:t>
                      </a:r>
                      <a:r>
                        <a:rPr kumimoji="1" lang="en-US" altLang="zh-CN" sz="2100" b="1" i="0" u="none" strike="noStrike" cap="none" normalizeH="0" baseline="-25000">
                          <a:ln>
                            <a:noFill/>
                          </a:ln>
                          <a:solidFill>
                            <a:schemeClr val="accent2"/>
                          </a:solidFill>
                          <a:effectLst/>
                          <a:latin typeface="Times New Roman" panose="02020603050405020304" pitchFamily="18" charset="0"/>
                          <a:ea typeface="宋体" panose="02010600030101010101" pitchFamily="2" charset="-122"/>
                        </a:rPr>
                        <a:t>2</a:t>
                      </a:r>
                    </a:p>
                  </a:txBody>
                  <a:tcPr marT="34288" marB="34288" horzOverflow="overflow">
                    <a:lnL w="12700" cap="flat" cmpd="sng" algn="ctr">
                      <a:solidFill>
                        <a:schemeClr val="tx1"/>
                      </a:solidFill>
                      <a:prstDash val="solid"/>
                      <a:round/>
                      <a:headEnd type="none" w="med" len="med"/>
                      <a:tailEnd type="none" w="med" len="med"/>
                    </a:lnL>
                    <a:lnR w="38100" cap="flat" cmpd="sng" algn="ctr">
                      <a:solidFill>
                        <a:schemeClr val="accent1"/>
                      </a:solidFill>
                      <a:prstDash val="lg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1" lang="zh-CN" altLang="zh-CN" sz="2100" b="1" i="0" u="none" strike="noStrike" cap="none" normalizeH="0" baseline="0" dirty="0">
                        <a:ln>
                          <a:noFill/>
                        </a:ln>
                        <a:solidFill>
                          <a:schemeClr val="accent2"/>
                        </a:solidFill>
                        <a:effectLst/>
                        <a:latin typeface="Times New Roman" panose="02020603050405020304" pitchFamily="18" charset="0"/>
                        <a:ea typeface="宋体" panose="02010600030101010101" pitchFamily="2" charset="-122"/>
                      </a:endParaRPr>
                    </a:p>
                  </a:txBody>
                  <a:tcPr marT="34288" marB="34288" horzOverflow="overflow">
                    <a:lnL w="38100" cap="flat" cmpd="sng" algn="ctr">
                      <a:solidFill>
                        <a:schemeClr val="accent1"/>
                      </a:solidFill>
                      <a:prstDash val="lgDash"/>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bl>
          </a:graphicData>
        </a:graphic>
      </p:graphicFrame>
      <p:graphicFrame>
        <p:nvGraphicFramePr>
          <p:cNvPr id="227399" name="Object 263"/>
          <p:cNvGraphicFramePr>
            <a:graphicFrameLocks noChangeAspect="1"/>
          </p:cNvGraphicFramePr>
          <p:nvPr>
            <p:extLst>
              <p:ext uri="{D42A27DB-BD31-4B8C-83A1-F6EECF244321}">
                <p14:modId xmlns:p14="http://schemas.microsoft.com/office/powerpoint/2010/main" val="1839094989"/>
              </p:ext>
            </p:extLst>
          </p:nvPr>
        </p:nvGraphicFramePr>
        <p:xfrm>
          <a:off x="0" y="1995687"/>
          <a:ext cx="4355976" cy="3147814"/>
        </p:xfrm>
        <a:graphic>
          <a:graphicData uri="http://schemas.openxmlformats.org/presentationml/2006/ole">
            <mc:AlternateContent xmlns:mc="http://schemas.openxmlformats.org/markup-compatibility/2006">
              <mc:Choice xmlns:v="urn:schemas-microsoft-com:vml" Requires="v">
                <p:oleObj spid="_x0000_s55303" name="Visio" r:id="rId4" imgW="3615521" imgH="3374583" progId="Visio.Drawing.11">
                  <p:embed/>
                </p:oleObj>
              </mc:Choice>
              <mc:Fallback>
                <p:oleObj name="Visio" r:id="rId4" imgW="3615521" imgH="3374583" progId="Visio.Drawing.11">
                  <p:embed/>
                  <p:pic>
                    <p:nvPicPr>
                      <p:cNvPr id="227399" name="Object 26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995687"/>
                        <a:ext cx="4355976" cy="3147814"/>
                      </a:xfrm>
                      <a:prstGeom prst="rect">
                        <a:avLst/>
                      </a:prstGeom>
                      <a:solidFill>
                        <a:schemeClr val="bg1"/>
                      </a:solidFill>
                      <a:ln>
                        <a:noFill/>
                      </a:ln>
                    </p:spPr>
                  </p:pic>
                </p:oleObj>
              </mc:Fallback>
            </mc:AlternateContent>
          </a:graphicData>
        </a:graphic>
      </p:graphicFrame>
      <p:sp>
        <p:nvSpPr>
          <p:cNvPr id="227400" name="矩形 74"/>
          <p:cNvSpPr>
            <a:spLocks noChangeArrowheads="1"/>
          </p:cNvSpPr>
          <p:nvPr/>
        </p:nvSpPr>
        <p:spPr bwMode="auto">
          <a:xfrm>
            <a:off x="683568" y="483518"/>
            <a:ext cx="213042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400" dirty="0">
                <a:solidFill>
                  <a:srgbClr val="0000FF"/>
                </a:solidFill>
                <a:ea typeface="华文行楷" pitchFamily="2" charset="-122"/>
              </a:rPr>
              <a:t>(0)S</a:t>
            </a:r>
            <a:r>
              <a:rPr lang="en-US" altLang="zh-CN" sz="2400" b="1" dirty="0">
                <a:solidFill>
                  <a:srgbClr val="0000FF"/>
                </a:solidFill>
                <a:ea typeface="华文行楷" pitchFamily="2" charset="-122"/>
              </a:rPr>
              <a:t>' </a:t>
            </a:r>
            <a:r>
              <a:rPr lang="en-US" altLang="zh-CN" sz="2400" dirty="0">
                <a:solidFill>
                  <a:srgbClr val="0000FF"/>
                </a:solidFill>
                <a:ea typeface="华文行楷" pitchFamily="2" charset="-122"/>
                <a:sym typeface="Wingdings" pitchFamily="2" charset="2"/>
              </a:rPr>
              <a:t>S</a:t>
            </a:r>
            <a:endParaRPr lang="en-US" altLang="zh-CN" sz="3600" dirty="0">
              <a:solidFill>
                <a:srgbClr val="0000FF"/>
              </a:solidFill>
              <a:ea typeface="华文行楷" pitchFamily="2" charset="-122"/>
            </a:endParaRPr>
          </a:p>
          <a:p>
            <a:pPr eaLnBrk="1" hangingPunct="1">
              <a:spcBef>
                <a:spcPct val="0"/>
              </a:spcBef>
              <a:buFontTx/>
              <a:buNone/>
            </a:pPr>
            <a:r>
              <a:rPr lang="en-US" altLang="zh-CN" sz="2400" dirty="0">
                <a:solidFill>
                  <a:srgbClr val="0000FF"/>
                </a:solidFill>
                <a:ea typeface="华文行楷" pitchFamily="2" charset="-122"/>
              </a:rPr>
              <a:t>(1)S </a:t>
            </a:r>
            <a:r>
              <a:rPr lang="en-US" altLang="zh-CN" sz="2400" dirty="0">
                <a:solidFill>
                  <a:srgbClr val="0000FF"/>
                </a:solidFill>
                <a:ea typeface="华文行楷" pitchFamily="2" charset="-122"/>
                <a:sym typeface="Wingdings" pitchFamily="2" charset="2"/>
              </a:rPr>
              <a:t></a:t>
            </a:r>
            <a:r>
              <a:rPr lang="en-US" altLang="zh-CN" sz="2400" dirty="0" err="1">
                <a:solidFill>
                  <a:srgbClr val="0000FF"/>
                </a:solidFill>
                <a:ea typeface="华文行楷" pitchFamily="2" charset="-122"/>
                <a:sym typeface="Wingdings" pitchFamily="2" charset="2"/>
              </a:rPr>
              <a:t>aS</a:t>
            </a:r>
            <a:endParaRPr lang="en-US" altLang="zh-CN" sz="2400" dirty="0">
              <a:solidFill>
                <a:srgbClr val="0000FF"/>
              </a:solidFill>
              <a:ea typeface="华文行楷" pitchFamily="2" charset="-122"/>
              <a:sym typeface="Wingdings" pitchFamily="2" charset="2"/>
            </a:endParaRPr>
          </a:p>
          <a:p>
            <a:pPr eaLnBrk="1" hangingPunct="1">
              <a:spcBef>
                <a:spcPct val="0"/>
              </a:spcBef>
              <a:buFontTx/>
              <a:buNone/>
            </a:pPr>
            <a:r>
              <a:rPr lang="en-US" altLang="zh-CN" sz="2400" dirty="0">
                <a:solidFill>
                  <a:srgbClr val="0000FF"/>
                </a:solidFill>
                <a:ea typeface="华文行楷" pitchFamily="2" charset="-122"/>
              </a:rPr>
              <a:t>(2)S </a:t>
            </a:r>
            <a:r>
              <a:rPr lang="en-US" altLang="zh-CN" sz="2400" dirty="0">
                <a:solidFill>
                  <a:srgbClr val="0000FF"/>
                </a:solidFill>
                <a:ea typeface="华文行楷" pitchFamily="2" charset="-122"/>
                <a:sym typeface="Wingdings" pitchFamily="2" charset="2"/>
              </a:rPr>
              <a:t></a:t>
            </a:r>
            <a:r>
              <a:rPr lang="en-US" altLang="zh-CN" sz="2400" dirty="0" err="1">
                <a:solidFill>
                  <a:srgbClr val="0000FF"/>
                </a:solidFill>
                <a:ea typeface="华文行楷" pitchFamily="2" charset="-122"/>
                <a:sym typeface="Wingdings" pitchFamily="2" charset="2"/>
              </a:rPr>
              <a:t>bS</a:t>
            </a:r>
            <a:r>
              <a:rPr lang="en-US" altLang="zh-CN" sz="2400" dirty="0">
                <a:solidFill>
                  <a:srgbClr val="0000FF"/>
                </a:solidFill>
                <a:ea typeface="华文行楷" pitchFamily="2" charset="-122"/>
                <a:sym typeface="Wingdings" pitchFamily="2" charset="2"/>
              </a:rPr>
              <a:t> </a:t>
            </a:r>
          </a:p>
          <a:p>
            <a:pPr eaLnBrk="1" hangingPunct="1">
              <a:spcBef>
                <a:spcPct val="0"/>
              </a:spcBef>
              <a:buFontTx/>
              <a:buNone/>
            </a:pPr>
            <a:r>
              <a:rPr lang="en-US" altLang="zh-CN" sz="2400" dirty="0">
                <a:solidFill>
                  <a:srgbClr val="0000FF"/>
                </a:solidFill>
                <a:ea typeface="华文行楷" pitchFamily="2" charset="-122"/>
              </a:rPr>
              <a:t>(3)S </a:t>
            </a:r>
            <a:r>
              <a:rPr lang="en-US" altLang="zh-CN" sz="2400" dirty="0">
                <a:solidFill>
                  <a:srgbClr val="0000FF"/>
                </a:solidFill>
                <a:ea typeface="华文行楷" pitchFamily="2" charset="-122"/>
                <a:sym typeface="Wingdings" pitchFamily="2" charset="2"/>
              </a:rPr>
              <a:t>c</a:t>
            </a:r>
          </a:p>
        </p:txBody>
      </p:sp>
    </p:spTree>
    <p:extLst>
      <p:ext uri="{BB962C8B-B14F-4D97-AF65-F5344CB8AC3E}">
        <p14:creationId xmlns:p14="http://schemas.microsoft.com/office/powerpoint/2010/main" val="499218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nodeType="clickEffect">
                                  <p:stCondLst>
                                    <p:cond delay="0"/>
                                  </p:stCondLst>
                                  <p:childTnLst>
                                    <p:set>
                                      <p:cBhvr>
                                        <p:cTn id="6" dur="1" fill="hold">
                                          <p:stCondLst>
                                            <p:cond delay="0"/>
                                          </p:stCondLst>
                                        </p:cTn>
                                        <p:tgtEl>
                                          <p:spTgt spid="143622"/>
                                        </p:tgtEl>
                                        <p:attrNameLst>
                                          <p:attrName>style.visibility</p:attrName>
                                        </p:attrNameLst>
                                      </p:cBhvr>
                                      <p:to>
                                        <p:strVal val="visible"/>
                                      </p:to>
                                    </p:set>
                                    <p:animEffect transition="in" filter="strips(downLeft)">
                                      <p:cBhvr>
                                        <p:cTn id="7" dur="500"/>
                                        <p:tgtEl>
                                          <p:spTgt spid="1436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11" name="矩形 1"/>
          <p:cNvSpPr/>
          <p:nvPr/>
        </p:nvSpPr>
        <p:spPr>
          <a:xfrm>
            <a:off x="1249985" y="1971358"/>
            <a:ext cx="4224233" cy="1323439"/>
          </a:xfrm>
          <a:prstGeom prst="rect">
            <a:avLst/>
          </a:prstGeom>
        </p:spPr>
        <p:txBody>
          <a:bodyPr wrap="none">
            <a:spAutoFit/>
          </a:bodyPr>
          <a:lstStyle/>
          <a:p>
            <a:r>
              <a:rPr lang="en-US" altLang="zh-CN" sz="4000" b="1" dirty="0">
                <a:solidFill>
                  <a:srgbClr val="CC0099"/>
                </a:solidFill>
                <a:ea typeface="隶书" pitchFamily="49" charset="-122"/>
              </a:rPr>
              <a:t>10</a:t>
            </a:r>
            <a:r>
              <a:rPr lang="zh-CN" altLang="en-US" sz="4000" b="1" dirty="0">
                <a:solidFill>
                  <a:srgbClr val="CC0099"/>
                </a:solidFill>
                <a:ea typeface="隶书" pitchFamily="49" charset="-122"/>
              </a:rPr>
              <a:t>、</a:t>
            </a:r>
            <a:r>
              <a:rPr lang="en-US" altLang="zh-CN" sz="4000" b="1" dirty="0">
                <a:solidFill>
                  <a:srgbClr val="CC0099"/>
                </a:solidFill>
                <a:ea typeface="隶书" pitchFamily="49" charset="-122"/>
              </a:rPr>
              <a:t>LR</a:t>
            </a:r>
            <a:r>
              <a:rPr lang="zh-CN" altLang="en-US" sz="4000" b="1" dirty="0">
                <a:solidFill>
                  <a:srgbClr val="CC0099"/>
                </a:solidFill>
                <a:ea typeface="隶书" pitchFamily="49" charset="-122"/>
              </a:rPr>
              <a:t>分析</a:t>
            </a:r>
            <a:endParaRPr lang="en-US" altLang="zh-CN" sz="4000" b="1" dirty="0">
              <a:solidFill>
                <a:srgbClr val="CC0099"/>
              </a:solidFill>
              <a:ea typeface="隶书" pitchFamily="49" charset="-122"/>
            </a:endParaRPr>
          </a:p>
          <a:p>
            <a:r>
              <a:rPr lang="en-US" altLang="zh-CN" sz="4000" b="1" dirty="0">
                <a:solidFill>
                  <a:srgbClr val="CC0099"/>
                </a:solidFill>
                <a:ea typeface="隶书" pitchFamily="49" charset="-122"/>
              </a:rPr>
              <a:t>     </a:t>
            </a:r>
            <a:r>
              <a:rPr lang="en-US" altLang="zh-CN" sz="3600" b="1" dirty="0">
                <a:solidFill>
                  <a:srgbClr val="CC0099"/>
                </a:solidFill>
                <a:ea typeface="隶书" pitchFamily="49" charset="-122"/>
              </a:rPr>
              <a:t>——SLR(1)</a:t>
            </a:r>
            <a:r>
              <a:rPr lang="zh-CN" altLang="en-US" sz="3600" b="1" dirty="0">
                <a:solidFill>
                  <a:srgbClr val="CC0099"/>
                </a:solidFill>
                <a:ea typeface="隶书" pitchFamily="49" charset="-122"/>
              </a:rPr>
              <a:t>分析</a:t>
            </a:r>
            <a:endParaRPr lang="en-US" altLang="zh-CN" sz="4000" b="1" dirty="0">
              <a:solidFill>
                <a:srgbClr val="CC0099"/>
              </a:solidFill>
              <a:ea typeface="隶书" pitchFamily="49" charset="-122"/>
            </a:endParaRPr>
          </a:p>
        </p:txBody>
      </p:sp>
    </p:spTree>
    <p:extLst>
      <p:ext uri="{BB962C8B-B14F-4D97-AF65-F5344CB8AC3E}">
        <p14:creationId xmlns:p14="http://schemas.microsoft.com/office/powerpoint/2010/main" val="66559558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Text Box 4"/>
          <p:cNvSpPr txBox="1">
            <a:spLocks noChangeArrowheads="1"/>
          </p:cNvSpPr>
          <p:nvPr/>
        </p:nvSpPr>
        <p:spPr bwMode="auto">
          <a:xfrm>
            <a:off x="511522" y="1059582"/>
            <a:ext cx="8305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dirty="0">
                <a:latin typeface="宋体" panose="02010600030101010101" pitchFamily="2" charset="-122"/>
              </a:rPr>
              <a:t>只有当一个文法</a:t>
            </a:r>
            <a:r>
              <a:rPr lang="en-US" altLang="zh-CN" sz="2200" dirty="0">
                <a:latin typeface="宋体" panose="02010600030101010101" pitchFamily="2" charset="-122"/>
              </a:rPr>
              <a:t>G</a:t>
            </a:r>
            <a:r>
              <a:rPr lang="zh-CN" altLang="en-US" sz="2200" dirty="0">
                <a:latin typeface="宋体" panose="02010600030101010101" pitchFamily="2" charset="-122"/>
              </a:rPr>
              <a:t>是</a:t>
            </a:r>
            <a:r>
              <a:rPr lang="en-US" altLang="zh-CN" sz="2200" dirty="0">
                <a:latin typeface="宋体" panose="02010600030101010101" pitchFamily="2" charset="-122"/>
              </a:rPr>
              <a:t>LR(0)</a:t>
            </a:r>
            <a:r>
              <a:rPr lang="zh-CN" altLang="en-US" sz="2200" dirty="0">
                <a:latin typeface="宋体" panose="02010600030101010101" pitchFamily="2" charset="-122"/>
              </a:rPr>
              <a:t>文法，即</a:t>
            </a:r>
            <a:r>
              <a:rPr lang="en-US" altLang="zh-CN" sz="2200" dirty="0">
                <a:latin typeface="宋体" panose="02010600030101010101" pitchFamily="2" charset="-122"/>
              </a:rPr>
              <a:t>G</a:t>
            </a:r>
            <a:r>
              <a:rPr lang="zh-CN" altLang="en-US" sz="2200" dirty="0">
                <a:latin typeface="宋体" panose="02010600030101010101" pitchFamily="2" charset="-122"/>
              </a:rPr>
              <a:t>的每一个状态不出现冲突时，才能构造出</a:t>
            </a:r>
            <a:r>
              <a:rPr lang="en-US" altLang="zh-CN" sz="2200" dirty="0">
                <a:latin typeface="宋体" panose="02010600030101010101" pitchFamily="2" charset="-122"/>
              </a:rPr>
              <a:t>LR(0)</a:t>
            </a:r>
            <a:r>
              <a:rPr lang="zh-CN" altLang="en-US" sz="2200" dirty="0">
                <a:latin typeface="宋体" panose="02010600030101010101" pitchFamily="2" charset="-122"/>
              </a:rPr>
              <a:t>分析表。</a:t>
            </a:r>
          </a:p>
        </p:txBody>
      </p:sp>
      <p:sp>
        <p:nvSpPr>
          <p:cNvPr id="229379" name="Text Box 5"/>
          <p:cNvSpPr txBox="1">
            <a:spLocks noChangeArrowheads="1"/>
          </p:cNvSpPr>
          <p:nvPr/>
        </p:nvSpPr>
        <p:spPr bwMode="auto">
          <a:xfrm>
            <a:off x="1843088" y="207963"/>
            <a:ext cx="4910137"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b="1">
                <a:latin typeface="楷体_GB2312" pitchFamily="49" charset="-122"/>
                <a:ea typeface="楷体_GB2312" pitchFamily="49" charset="-122"/>
              </a:rPr>
              <a:t>SLR</a:t>
            </a:r>
            <a:r>
              <a:rPr lang="zh-CN" altLang="en-US" sz="4000" b="1">
                <a:latin typeface="楷体_GB2312" pitchFamily="49" charset="-122"/>
                <a:ea typeface="楷体_GB2312" pitchFamily="49" charset="-122"/>
              </a:rPr>
              <a:t>分析方法</a:t>
            </a:r>
          </a:p>
        </p:txBody>
      </p:sp>
      <p:sp>
        <p:nvSpPr>
          <p:cNvPr id="4" name="Text Box 4"/>
          <p:cNvSpPr txBox="1">
            <a:spLocks noChangeArrowheads="1"/>
          </p:cNvSpPr>
          <p:nvPr/>
        </p:nvSpPr>
        <p:spPr bwMode="auto">
          <a:xfrm>
            <a:off x="511522" y="1807917"/>
            <a:ext cx="8305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dirty="0">
                <a:latin typeface="宋体" panose="02010600030101010101" pitchFamily="2" charset="-122"/>
              </a:rPr>
              <a:t>由于大多数实用的程序设计语言的文法不能满足</a:t>
            </a:r>
            <a:r>
              <a:rPr lang="en-US" altLang="zh-CN" sz="2200" dirty="0">
                <a:latin typeface="宋体" panose="02010600030101010101" pitchFamily="2" charset="-122"/>
              </a:rPr>
              <a:t>LR(0) </a:t>
            </a:r>
            <a:r>
              <a:rPr lang="zh-CN" altLang="en-US" sz="2200" dirty="0">
                <a:latin typeface="宋体" panose="02010600030101010101" pitchFamily="2" charset="-122"/>
              </a:rPr>
              <a:t>文法的条件，因此使用向前查看一个符号的办法来处理</a:t>
            </a:r>
            <a:r>
              <a:rPr lang="zh-CN" altLang="en-US" sz="2200" dirty="0">
                <a:solidFill>
                  <a:srgbClr val="FF5050"/>
                </a:solidFill>
                <a:latin typeface="宋体" panose="02010600030101010101" pitchFamily="2" charset="-122"/>
              </a:rPr>
              <a:t>冲突</a:t>
            </a:r>
            <a:r>
              <a:rPr lang="zh-CN" altLang="en-US" sz="2200" dirty="0">
                <a:latin typeface="宋体" panose="02010600030101010101" pitchFamily="2" charset="-122"/>
              </a:rPr>
              <a:t>。</a:t>
            </a:r>
          </a:p>
        </p:txBody>
      </p:sp>
      <p:sp>
        <p:nvSpPr>
          <p:cNvPr id="5" name="Text Box 4"/>
          <p:cNvSpPr txBox="1">
            <a:spLocks noChangeArrowheads="1"/>
          </p:cNvSpPr>
          <p:nvPr/>
        </p:nvSpPr>
        <p:spPr bwMode="auto">
          <a:xfrm>
            <a:off x="511522" y="2625925"/>
            <a:ext cx="8305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dirty="0">
                <a:latin typeface="宋体" panose="02010600030101010101" pitchFamily="2" charset="-122"/>
              </a:rPr>
              <a:t>只对有冲突的状态向前查看一个符号，即查看</a:t>
            </a:r>
            <a:r>
              <a:rPr lang="en-US" altLang="zh-CN" sz="2200" dirty="0">
                <a:latin typeface="宋体" panose="02010600030101010101" pitchFamily="2" charset="-122"/>
              </a:rPr>
              <a:t>follow</a:t>
            </a:r>
            <a:r>
              <a:rPr lang="zh-CN" altLang="en-US" sz="2200" dirty="0">
                <a:latin typeface="宋体" panose="02010600030101010101" pitchFamily="2" charset="-122"/>
              </a:rPr>
              <a:t>集，以确定做哪个动作，这种分析方法为</a:t>
            </a:r>
            <a:r>
              <a:rPr lang="zh-CN" altLang="en-US" sz="2200" dirty="0">
                <a:solidFill>
                  <a:srgbClr val="FF5050"/>
                </a:solidFill>
                <a:latin typeface="宋体" panose="02010600030101010101" pitchFamily="2" charset="-122"/>
              </a:rPr>
              <a:t>简单的</a:t>
            </a:r>
            <a:r>
              <a:rPr lang="en-US" altLang="zh-CN" sz="2200" dirty="0">
                <a:solidFill>
                  <a:srgbClr val="FF5050"/>
                </a:solidFill>
                <a:latin typeface="宋体" panose="02010600030101010101" pitchFamily="2" charset="-122"/>
              </a:rPr>
              <a:t>LR</a:t>
            </a:r>
            <a:r>
              <a:rPr lang="zh-CN" altLang="en-US" sz="2200" dirty="0">
                <a:solidFill>
                  <a:srgbClr val="FF5050"/>
                </a:solidFill>
                <a:latin typeface="宋体" panose="02010600030101010101" pitchFamily="2" charset="-122"/>
              </a:rPr>
              <a:t>分析法，用</a:t>
            </a:r>
            <a:r>
              <a:rPr lang="en-US" altLang="zh-CN" sz="2200" dirty="0">
                <a:solidFill>
                  <a:srgbClr val="FF5050"/>
                </a:solidFill>
                <a:latin typeface="宋体" panose="02010600030101010101" pitchFamily="2" charset="-122"/>
              </a:rPr>
              <a:t>SLR</a:t>
            </a:r>
            <a:r>
              <a:rPr lang="zh-CN" altLang="en-US" sz="2200" dirty="0">
                <a:solidFill>
                  <a:srgbClr val="FF5050"/>
                </a:solidFill>
                <a:latin typeface="宋体" panose="02010600030101010101" pitchFamily="2" charset="-122"/>
              </a:rPr>
              <a:t>表示。</a:t>
            </a:r>
          </a:p>
        </p:txBody>
      </p:sp>
      <p:sp>
        <p:nvSpPr>
          <p:cNvPr id="6" name="Text Box 4"/>
          <p:cNvSpPr txBox="1">
            <a:spLocks noChangeArrowheads="1"/>
          </p:cNvSpPr>
          <p:nvPr/>
        </p:nvSpPr>
        <p:spPr bwMode="auto">
          <a:xfrm>
            <a:off x="520218" y="3479978"/>
            <a:ext cx="830580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65125" indent="-365125">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r>
              <a:rPr lang="zh-CN" altLang="en-US" sz="2200" dirty="0">
                <a:latin typeface="宋体" panose="02010600030101010101" pitchFamily="2" charset="-122"/>
              </a:rPr>
              <a:t>如果每个项目都附上</a:t>
            </a:r>
            <a:r>
              <a:rPr lang="en-US" altLang="zh-CN" sz="2200" dirty="0">
                <a:latin typeface="宋体" panose="02010600030101010101" pitchFamily="2" charset="-122"/>
              </a:rPr>
              <a:t>k</a:t>
            </a:r>
            <a:r>
              <a:rPr lang="zh-CN" altLang="en-US" sz="2200" dirty="0">
                <a:latin typeface="宋体" panose="02010600030101010101" pitchFamily="2" charset="-122"/>
              </a:rPr>
              <a:t>个终结符号，表示要对它进行归约时，后续的</a:t>
            </a:r>
            <a:r>
              <a:rPr lang="en-US" altLang="zh-CN" sz="2200" dirty="0">
                <a:latin typeface="宋体" panose="02010600030101010101" pitchFamily="2" charset="-122"/>
              </a:rPr>
              <a:t>k</a:t>
            </a:r>
            <a:r>
              <a:rPr lang="zh-CN" altLang="en-US" sz="2200" dirty="0">
                <a:latin typeface="宋体" panose="02010600030101010101" pitchFamily="2" charset="-122"/>
              </a:rPr>
              <a:t>个输入符号与这</a:t>
            </a:r>
            <a:r>
              <a:rPr lang="en-US" altLang="zh-CN" sz="2200" dirty="0">
                <a:latin typeface="宋体" panose="02010600030101010101" pitchFamily="2" charset="-122"/>
              </a:rPr>
              <a:t>k</a:t>
            </a:r>
            <a:r>
              <a:rPr lang="zh-CN" altLang="en-US" sz="2200" dirty="0">
                <a:latin typeface="宋体" panose="02010600030101010101" pitchFamily="2" charset="-122"/>
              </a:rPr>
              <a:t>个符号相同时，才能对栈顶进行归约。这就是</a:t>
            </a:r>
            <a:r>
              <a:rPr lang="en-US" altLang="zh-CN" sz="2200" dirty="0">
                <a:latin typeface="宋体" panose="02010600030101010101" pitchFamily="2" charset="-122"/>
              </a:rPr>
              <a:t>LR(k)</a:t>
            </a:r>
            <a:r>
              <a:rPr lang="zh-CN" altLang="en-US" sz="2200" dirty="0">
                <a:latin typeface="宋体" panose="02010600030101010101" pitchFamily="2" charset="-122"/>
              </a:rPr>
              <a:t>分析。</a:t>
            </a:r>
          </a:p>
        </p:txBody>
      </p:sp>
    </p:spTree>
    <p:extLst>
      <p:ext uri="{BB962C8B-B14F-4D97-AF65-F5344CB8AC3E}">
        <p14:creationId xmlns:p14="http://schemas.microsoft.com/office/powerpoint/2010/main" val="413024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93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78" grpId="0"/>
      <p:bldP spid="4" grpId="0"/>
      <p:bldP spid="5" grpId="0"/>
      <p:bldP spid="6" grpId="0"/>
    </p:bldLst>
  </p:timing>
</p:sld>
</file>

<file path=ppt/slides/slide2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3" name="对象 2"/>
          <p:cNvGraphicFramePr>
            <a:graphicFrameLocks noChangeAspect="1"/>
          </p:cNvGraphicFramePr>
          <p:nvPr>
            <p:extLst>
              <p:ext uri="{D42A27DB-BD31-4B8C-83A1-F6EECF244321}">
                <p14:modId xmlns:p14="http://schemas.microsoft.com/office/powerpoint/2010/main" val="1057987590"/>
              </p:ext>
            </p:extLst>
          </p:nvPr>
        </p:nvGraphicFramePr>
        <p:xfrm>
          <a:off x="2704083" y="318996"/>
          <a:ext cx="5828357" cy="4307824"/>
        </p:xfrm>
        <a:graphic>
          <a:graphicData uri="http://schemas.openxmlformats.org/presentationml/2006/ole">
            <mc:AlternateContent xmlns:mc="http://schemas.openxmlformats.org/markup-compatibility/2006">
              <mc:Choice xmlns:v="urn:schemas-microsoft-com:vml" Requires="v">
                <p:oleObj spid="_x0000_s56327" name="Visio" r:id="rId4" imgW="3453535" imgH="2830758" progId="Visio.Drawing.11">
                  <p:embed/>
                </p:oleObj>
              </mc:Choice>
              <mc:Fallback>
                <p:oleObj name="Visio" r:id="rId4" imgW="3453535" imgH="2830758" progId="Visio.Drawing.11">
                  <p:embed/>
                  <p:pic>
                    <p:nvPicPr>
                      <p:cNvPr id="3"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04083" y="318996"/>
                        <a:ext cx="5828357" cy="4307824"/>
                      </a:xfrm>
                      <a:prstGeom prst="rect">
                        <a:avLst/>
                      </a:prstGeom>
                      <a:noFill/>
                    </p:spPr>
                  </p:pic>
                </p:oleObj>
              </mc:Fallback>
            </mc:AlternateContent>
          </a:graphicData>
        </a:graphic>
      </p:graphicFrame>
      <p:sp>
        <p:nvSpPr>
          <p:cNvPr id="231426" name="Text Box 176"/>
          <p:cNvSpPr txBox="1">
            <a:spLocks noChangeArrowheads="1"/>
          </p:cNvSpPr>
          <p:nvPr/>
        </p:nvSpPr>
        <p:spPr bwMode="auto">
          <a:xfrm>
            <a:off x="0" y="1960563"/>
            <a:ext cx="2595563" cy="259763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10000"/>
              </a:spcBef>
              <a:buFontTx/>
              <a:buNone/>
            </a:pPr>
            <a:r>
              <a:rPr lang="en-US" altLang="zh-CN" sz="2200" b="1" dirty="0">
                <a:ea typeface="华文行楷" pitchFamily="2" charset="-122"/>
              </a:rPr>
              <a:t>    (0)  S'</a:t>
            </a:r>
            <a:r>
              <a:rPr lang="en-US" altLang="zh-CN" sz="2200" b="1" dirty="0">
                <a:ea typeface="华文行楷" pitchFamily="2" charset="-122"/>
                <a:sym typeface="Symbol" pitchFamily="18" charset="2"/>
              </a:rPr>
              <a:t>E</a:t>
            </a:r>
          </a:p>
          <a:p>
            <a:pPr eaLnBrk="1" hangingPunct="1">
              <a:spcBef>
                <a:spcPct val="10000"/>
              </a:spcBef>
              <a:buFontTx/>
              <a:buNone/>
            </a:pPr>
            <a:r>
              <a:rPr lang="en-US" altLang="zh-CN" sz="2200" b="1" dirty="0">
                <a:ea typeface="华文行楷" pitchFamily="2" charset="-122"/>
              </a:rPr>
              <a:t>    (1)  E </a:t>
            </a:r>
            <a:r>
              <a:rPr lang="en-US" altLang="zh-CN" sz="2200" b="1" dirty="0">
                <a:ea typeface="华文行楷" pitchFamily="2" charset="-122"/>
                <a:sym typeface="Symbol" pitchFamily="18" charset="2"/>
              </a:rPr>
              <a:t>E+T</a:t>
            </a:r>
          </a:p>
          <a:p>
            <a:pPr eaLnBrk="1" hangingPunct="1">
              <a:spcBef>
                <a:spcPct val="10000"/>
              </a:spcBef>
              <a:buFontTx/>
              <a:buNone/>
            </a:pPr>
            <a:r>
              <a:rPr lang="en-US" altLang="zh-CN" sz="2200" b="1" dirty="0">
                <a:ea typeface="华文行楷" pitchFamily="2" charset="-122"/>
                <a:sym typeface="Symbol" pitchFamily="18" charset="2"/>
              </a:rPr>
              <a:t>    (2)  E T</a:t>
            </a:r>
          </a:p>
          <a:p>
            <a:pPr eaLnBrk="1" hangingPunct="1">
              <a:spcBef>
                <a:spcPct val="10000"/>
              </a:spcBef>
              <a:buFontTx/>
              <a:buNone/>
            </a:pPr>
            <a:r>
              <a:rPr lang="en-US" altLang="zh-CN" sz="2200" b="1" dirty="0">
                <a:ea typeface="华文行楷" pitchFamily="2" charset="-122"/>
                <a:sym typeface="Symbol" pitchFamily="18" charset="2"/>
              </a:rPr>
              <a:t>    (3)  T T*F</a:t>
            </a:r>
          </a:p>
          <a:p>
            <a:pPr eaLnBrk="1" hangingPunct="1">
              <a:spcBef>
                <a:spcPct val="10000"/>
              </a:spcBef>
              <a:buFontTx/>
              <a:buNone/>
            </a:pPr>
            <a:r>
              <a:rPr lang="en-US" altLang="zh-CN" sz="2200" b="1" dirty="0">
                <a:ea typeface="华文行楷" pitchFamily="2" charset="-122"/>
                <a:sym typeface="Symbol" pitchFamily="18" charset="2"/>
              </a:rPr>
              <a:t>    (4)  T F</a:t>
            </a:r>
          </a:p>
          <a:p>
            <a:pPr eaLnBrk="1" hangingPunct="1">
              <a:spcBef>
                <a:spcPct val="0"/>
              </a:spcBef>
              <a:buFontTx/>
              <a:buNone/>
            </a:pPr>
            <a:r>
              <a:rPr lang="en-US" altLang="zh-CN" sz="2200" dirty="0">
                <a:ea typeface="华文行楷" pitchFamily="2" charset="-122"/>
                <a:sym typeface="Symbol" pitchFamily="18" charset="2"/>
              </a:rPr>
              <a:t>    </a:t>
            </a:r>
            <a:r>
              <a:rPr lang="en-US" altLang="zh-CN" sz="2200" b="1" dirty="0">
                <a:ea typeface="华文行楷" pitchFamily="2" charset="-122"/>
                <a:sym typeface="Symbol" pitchFamily="18" charset="2"/>
              </a:rPr>
              <a:t>(5)  F (F)</a:t>
            </a:r>
          </a:p>
          <a:p>
            <a:pPr eaLnBrk="1" hangingPunct="1">
              <a:spcBef>
                <a:spcPct val="0"/>
              </a:spcBef>
              <a:buFontTx/>
              <a:buNone/>
            </a:pPr>
            <a:r>
              <a:rPr lang="en-US" altLang="zh-CN" sz="2200" b="1" dirty="0">
                <a:ea typeface="华文行楷" pitchFamily="2" charset="-122"/>
                <a:sym typeface="Symbol" pitchFamily="18" charset="2"/>
              </a:rPr>
              <a:t>    (6)  F </a:t>
            </a:r>
            <a:r>
              <a:rPr lang="en-US" altLang="zh-CN" sz="2200" b="1" dirty="0" err="1">
                <a:ea typeface="华文行楷" pitchFamily="2" charset="-122"/>
                <a:sym typeface="Symbol" pitchFamily="18" charset="2"/>
              </a:rPr>
              <a:t>i</a:t>
            </a:r>
            <a:endParaRPr lang="en-US" altLang="zh-CN" sz="2200" b="1" dirty="0">
              <a:ea typeface="华文行楷" pitchFamily="2" charset="-122"/>
              <a:sym typeface="Symbol" pitchFamily="18" charset="2"/>
            </a:endParaRPr>
          </a:p>
        </p:txBody>
      </p:sp>
      <p:sp>
        <p:nvSpPr>
          <p:cNvPr id="231431" name="Oval 13"/>
          <p:cNvSpPr>
            <a:spLocks noChangeArrowheads="1"/>
          </p:cNvSpPr>
          <p:nvPr/>
        </p:nvSpPr>
        <p:spPr bwMode="auto">
          <a:xfrm>
            <a:off x="4660900" y="195486"/>
            <a:ext cx="1666875" cy="884835"/>
          </a:xfrm>
          <a:prstGeom prst="ellipse">
            <a:avLst/>
          </a:prstGeom>
          <a:noFill/>
          <a:ln w="38100">
            <a:solidFill>
              <a:srgbClr val="FF505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31432" name="Oval 14"/>
          <p:cNvSpPr>
            <a:spLocks noChangeArrowheads="1"/>
          </p:cNvSpPr>
          <p:nvPr/>
        </p:nvSpPr>
        <p:spPr bwMode="auto">
          <a:xfrm>
            <a:off x="2982912" y="2067694"/>
            <a:ext cx="1589088" cy="724064"/>
          </a:xfrm>
          <a:prstGeom prst="ellipse">
            <a:avLst/>
          </a:prstGeom>
          <a:noFill/>
          <a:ln w="38100">
            <a:solidFill>
              <a:srgbClr val="FF505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231433" name="Oval 15"/>
          <p:cNvSpPr>
            <a:spLocks noChangeArrowheads="1"/>
          </p:cNvSpPr>
          <p:nvPr/>
        </p:nvSpPr>
        <p:spPr bwMode="auto">
          <a:xfrm>
            <a:off x="6300192" y="3008933"/>
            <a:ext cx="1550988" cy="766936"/>
          </a:xfrm>
          <a:prstGeom prst="ellipse">
            <a:avLst/>
          </a:prstGeom>
          <a:noFill/>
          <a:ln w="38100">
            <a:solidFill>
              <a:srgbClr val="FF505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en-US" sz="2400">
              <a:ea typeface="华文行楷" pitchFamily="2" charset="-122"/>
            </a:endParaRPr>
          </a:p>
        </p:txBody>
      </p:sp>
      <p:sp>
        <p:nvSpPr>
          <p:cNvPr id="122886" name="AutoShape 6"/>
          <p:cNvSpPr>
            <a:spLocks noChangeArrowheads="1"/>
          </p:cNvSpPr>
          <p:nvPr/>
        </p:nvSpPr>
        <p:spPr bwMode="auto">
          <a:xfrm>
            <a:off x="249610" y="871538"/>
            <a:ext cx="2008187" cy="1089025"/>
          </a:xfrm>
          <a:prstGeom prst="wedgeEllipseCallout">
            <a:avLst>
              <a:gd name="adj1" fmla="val 86521"/>
              <a:gd name="adj2" fmla="val 84486"/>
            </a:avLst>
          </a:prstGeom>
          <a:solidFill>
            <a:schemeClr val="accent1"/>
          </a:solidFill>
          <a:ln w="9525">
            <a:solidFill>
              <a:schemeClr val="tx1"/>
            </a:solidFill>
            <a:miter lim="800000"/>
            <a:headEnd/>
            <a:tailEnd/>
          </a:ln>
        </p:spPr>
        <p:txBody>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dirty="0">
                <a:ea typeface="华文行楷" pitchFamily="2" charset="-122"/>
              </a:rPr>
              <a:t>移进</a:t>
            </a:r>
            <a:r>
              <a:rPr lang="en-US" altLang="zh-CN" sz="2800" dirty="0">
                <a:ea typeface="华文行楷" pitchFamily="2" charset="-122"/>
              </a:rPr>
              <a:t>-</a:t>
            </a:r>
            <a:r>
              <a:rPr lang="zh-CN" altLang="en-US" sz="2800" dirty="0">
                <a:ea typeface="华文行楷" pitchFamily="2" charset="-122"/>
              </a:rPr>
              <a:t>归约冲突</a:t>
            </a:r>
          </a:p>
        </p:txBody>
      </p:sp>
      <p:sp>
        <p:nvSpPr>
          <p:cNvPr id="10" name="Rectangle 2"/>
          <p:cNvSpPr>
            <a:spLocks noGrp="1" noChangeArrowheads="1"/>
          </p:cNvSpPr>
          <p:nvPr>
            <p:ph type="title"/>
          </p:nvPr>
        </p:nvSpPr>
        <p:spPr/>
        <p:txBody>
          <a:bodyPr>
            <a:normAutofit/>
          </a:bodyPr>
          <a:lstStyle/>
          <a:p>
            <a:pPr eaLnBrk="1" hangingPunct="1"/>
            <a:r>
              <a:rPr lang="zh-CN" altLang="en-US" sz="4000" b="1" dirty="0">
                <a:latin typeface="楷体_GB2312" pitchFamily="49" charset="-122"/>
                <a:ea typeface="楷体_GB2312" pitchFamily="49" charset="-122"/>
              </a:rPr>
              <a:t>非</a:t>
            </a:r>
            <a:r>
              <a:rPr lang="en-US" altLang="zh-CN" sz="4000" b="1" dirty="0">
                <a:latin typeface="楷体_GB2312" pitchFamily="49" charset="-122"/>
                <a:ea typeface="楷体_GB2312" pitchFamily="49" charset="-122"/>
              </a:rPr>
              <a:t>LR(0)</a:t>
            </a:r>
            <a:r>
              <a:rPr lang="zh-CN" altLang="en-US" sz="4000" b="1" dirty="0">
                <a:latin typeface="楷体_GB2312" pitchFamily="49" charset="-122"/>
                <a:ea typeface="楷体_GB2312" pitchFamily="49" charset="-122"/>
              </a:rPr>
              <a:t>文法</a:t>
            </a:r>
          </a:p>
        </p:txBody>
      </p:sp>
      <p:sp>
        <p:nvSpPr>
          <p:cNvPr id="11" name="Rectangle 3"/>
          <p:cNvSpPr txBox="1">
            <a:spLocks noChangeArrowheads="1"/>
          </p:cNvSpPr>
          <p:nvPr/>
        </p:nvSpPr>
        <p:spPr>
          <a:xfrm>
            <a:off x="430212" y="4513263"/>
            <a:ext cx="8425755" cy="630237"/>
          </a:xfrm>
          <a:prstGeom prst="rect">
            <a:avLst/>
          </a:prstGeom>
          <a:solidFill>
            <a:schemeClr val="bg1"/>
          </a:solidFill>
        </p:spPr>
        <p:txBody>
          <a:bodyPr vert="horz">
            <a:norm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400" kern="1200">
                <a:solidFill>
                  <a:schemeClr val="tx1"/>
                </a:solidFill>
                <a:latin typeface="宋体" panose="02010600030101010101" pitchFamily="2" charset="-122"/>
                <a:ea typeface="宋体" panose="02010600030101010101" pitchFamily="2" charset="-122"/>
                <a:cs typeface="+mn-cs"/>
              </a:defRPr>
            </a:lvl1pPr>
            <a:lvl2pPr marL="621792" indent="-228600" algn="l" rtl="0" eaLnBrk="1" latinLnBrk="0" hangingPunct="1">
              <a:spcBef>
                <a:spcPts val="324"/>
              </a:spcBef>
              <a:buClr>
                <a:schemeClr val="accent1"/>
              </a:buClr>
              <a:buFont typeface="Verdana"/>
              <a:buChar char="◦"/>
              <a:defRPr kumimoji="0" sz="2200" kern="1200">
                <a:solidFill>
                  <a:schemeClr val="tx1"/>
                </a:solidFill>
                <a:latin typeface="宋体" panose="02010600030101010101" pitchFamily="2" charset="-122"/>
                <a:ea typeface="宋体" panose="02010600030101010101" pitchFamily="2" charset="-122"/>
                <a:cs typeface="+mn-cs"/>
              </a:defRPr>
            </a:lvl2pPr>
            <a:lvl3pPr marL="859536" indent="-228600" algn="l" rtl="0" eaLnBrk="1" latinLnBrk="0" hangingPunct="1">
              <a:spcBef>
                <a:spcPts val="350"/>
              </a:spcBef>
              <a:buClr>
                <a:schemeClr val="accent2"/>
              </a:buClr>
              <a:buSzPct val="100000"/>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3pPr>
            <a:lvl4pPr marL="11430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4pPr>
            <a:lvl5pPr marL="1371600" indent="-228600" algn="l" rtl="0" eaLnBrk="1" latinLnBrk="0" hangingPunct="1">
              <a:spcBef>
                <a:spcPts val="350"/>
              </a:spcBef>
              <a:buClr>
                <a:schemeClr val="accent2"/>
              </a:buClr>
              <a:buFont typeface="Wingdings 2"/>
              <a:buChar char=""/>
              <a:defRPr kumimoji="0" sz="2000" kern="1200">
                <a:solidFill>
                  <a:schemeClr val="tx1"/>
                </a:solidFill>
                <a:latin typeface="宋体" panose="02010600030101010101" pitchFamily="2" charset="-122"/>
                <a:ea typeface="宋体" panose="02010600030101010101" pitchFamily="2" charset="-122"/>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lnSpc>
                <a:spcPct val="80000"/>
              </a:lnSpc>
            </a:pPr>
            <a:r>
              <a:rPr lang="zh-CN" altLang="en-US" sz="2200" dirty="0"/>
              <a:t>项目集规范族中</a:t>
            </a:r>
            <a:r>
              <a:rPr lang="en-US" altLang="zh-CN" sz="2200" dirty="0"/>
              <a:t>I</a:t>
            </a:r>
            <a:r>
              <a:rPr lang="en-US" altLang="zh-CN" sz="2200" baseline="-25000" dirty="0"/>
              <a:t>1</a:t>
            </a:r>
            <a:r>
              <a:rPr lang="zh-CN" altLang="en-US" sz="2200" dirty="0"/>
              <a:t>，</a:t>
            </a:r>
            <a:r>
              <a:rPr lang="en-US" altLang="zh-CN" sz="2200" dirty="0"/>
              <a:t>I</a:t>
            </a:r>
            <a:r>
              <a:rPr lang="en-US" altLang="zh-CN" sz="2200" baseline="-25000" dirty="0"/>
              <a:t>2</a:t>
            </a:r>
            <a:r>
              <a:rPr lang="zh-CN" altLang="en-US" sz="2200" dirty="0"/>
              <a:t>，</a:t>
            </a:r>
            <a:r>
              <a:rPr lang="en-US" altLang="zh-CN" sz="2200" dirty="0"/>
              <a:t>I</a:t>
            </a:r>
            <a:r>
              <a:rPr lang="en-US" altLang="zh-CN" sz="2200" baseline="-25000" dirty="0"/>
              <a:t>9</a:t>
            </a:r>
            <a:r>
              <a:rPr lang="zh-CN" altLang="en-US" sz="2200" dirty="0"/>
              <a:t>中存在移进</a:t>
            </a:r>
            <a:r>
              <a:rPr lang="en-US" altLang="zh-CN" sz="2200" dirty="0"/>
              <a:t>-</a:t>
            </a:r>
            <a:r>
              <a:rPr lang="zh-CN" altLang="en-US" sz="2200" dirty="0"/>
              <a:t>归约冲突，不能构造</a:t>
            </a:r>
            <a:r>
              <a:rPr lang="en-US" altLang="zh-CN" sz="2200" dirty="0"/>
              <a:t>LR(0)</a:t>
            </a:r>
            <a:r>
              <a:rPr lang="zh-CN" altLang="en-US" sz="2200" dirty="0"/>
              <a:t>分析表</a:t>
            </a: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Tree>
    <p:extLst>
      <p:ext uri="{BB962C8B-B14F-4D97-AF65-F5344CB8AC3E}">
        <p14:creationId xmlns:p14="http://schemas.microsoft.com/office/powerpoint/2010/main" val="4225545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143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14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143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3" presetClass="entr" presetSubtype="32" fill="hold" grpId="0" nodeType="clickEffect">
                                  <p:stCondLst>
                                    <p:cond delay="0"/>
                                  </p:stCondLst>
                                  <p:childTnLst>
                                    <p:set>
                                      <p:cBhvr>
                                        <p:cTn id="18" dur="1" fill="hold">
                                          <p:stCondLst>
                                            <p:cond delay="0"/>
                                          </p:stCondLst>
                                        </p:cTn>
                                        <p:tgtEl>
                                          <p:spTgt spid="122886"/>
                                        </p:tgtEl>
                                        <p:attrNameLst>
                                          <p:attrName>style.visibility</p:attrName>
                                        </p:attrNameLst>
                                      </p:cBhvr>
                                      <p:to>
                                        <p:strVal val="visible"/>
                                      </p:to>
                                    </p:set>
                                    <p:anim calcmode="lin" valueType="num">
                                      <p:cBhvr>
                                        <p:cTn id="19" dur="500" fill="hold"/>
                                        <p:tgtEl>
                                          <p:spTgt spid="122886"/>
                                        </p:tgtEl>
                                        <p:attrNameLst>
                                          <p:attrName>ppt_w</p:attrName>
                                        </p:attrNameLst>
                                      </p:cBhvr>
                                      <p:tavLst>
                                        <p:tav tm="0">
                                          <p:val>
                                            <p:strVal val="4*#ppt_w"/>
                                          </p:val>
                                        </p:tav>
                                        <p:tav tm="100000">
                                          <p:val>
                                            <p:strVal val="#ppt_w"/>
                                          </p:val>
                                        </p:tav>
                                      </p:tavLst>
                                    </p:anim>
                                    <p:anim calcmode="lin" valueType="num">
                                      <p:cBhvr>
                                        <p:cTn id="20" dur="500" fill="hold"/>
                                        <p:tgtEl>
                                          <p:spTgt spid="122886"/>
                                        </p:tgtEl>
                                        <p:attrNameLst>
                                          <p:attrName>ppt_h</p:attrName>
                                        </p:attrNameLst>
                                      </p:cBhvr>
                                      <p:tavLst>
                                        <p:tav tm="0">
                                          <p:val>
                                            <p:strVal val="4*#ppt_h"/>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1" grpId="0" animBg="1"/>
      <p:bldP spid="231432" grpId="0" animBg="1"/>
      <p:bldP spid="231433" grpId="0" animBg="1"/>
      <p:bldP spid="122886" grpId="0" animBg="1" autoUpdateAnimBg="0"/>
      <p:bldP spid="11"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p:cNvSpPr>
            <a:spLocks noGrp="1" noChangeArrowheads="1"/>
          </p:cNvSpPr>
          <p:nvPr>
            <p:ph type="title"/>
          </p:nvPr>
        </p:nvSpPr>
        <p:spPr>
          <a:xfrm>
            <a:off x="685800" y="0"/>
            <a:ext cx="7772400" cy="857250"/>
          </a:xfrm>
        </p:spPr>
        <p:txBody>
          <a:bodyPr/>
          <a:lstStyle/>
          <a:p>
            <a:pPr eaLnBrk="1" hangingPunct="1"/>
            <a:r>
              <a:rPr lang="en-US" altLang="zh-CN" sz="4000">
                <a:solidFill>
                  <a:schemeClr val="tx1"/>
                </a:solidFill>
                <a:latin typeface="楷体_GB2312" pitchFamily="49" charset="-122"/>
                <a:ea typeface="楷体_GB2312" pitchFamily="49" charset="-122"/>
              </a:rPr>
              <a:t>SLR(1)</a:t>
            </a:r>
            <a:r>
              <a:rPr lang="zh-CN" altLang="en-US" sz="4000">
                <a:solidFill>
                  <a:schemeClr val="tx1"/>
                </a:solidFill>
                <a:latin typeface="楷体_GB2312" pitchFamily="49" charset="-122"/>
                <a:ea typeface="楷体_GB2312" pitchFamily="49" charset="-122"/>
              </a:rPr>
              <a:t>冲突的解决办法</a:t>
            </a:r>
          </a:p>
        </p:txBody>
      </p:sp>
      <p:sp>
        <p:nvSpPr>
          <p:cNvPr id="230403" name="Rectangle 3"/>
          <p:cNvSpPr>
            <a:spLocks noGrp="1" noChangeArrowheads="1"/>
          </p:cNvSpPr>
          <p:nvPr>
            <p:ph type="body" idx="1"/>
          </p:nvPr>
        </p:nvSpPr>
        <p:spPr>
          <a:xfrm>
            <a:off x="2483769" y="893763"/>
            <a:ext cx="6660232" cy="3859212"/>
          </a:xfrm>
        </p:spPr>
        <p:txBody>
          <a:bodyPr>
            <a:normAutofit/>
          </a:bodyPr>
          <a:lstStyle/>
          <a:p>
            <a:pPr eaLnBrk="1" hangingPunct="1"/>
            <a:r>
              <a:rPr lang="zh-CN" altLang="en-US" sz="2200" dirty="0"/>
              <a:t>若一个项目集中同时含有移进和归约项目，或者含有多个归约项目，出现了冲突。</a:t>
            </a:r>
          </a:p>
          <a:p>
            <a:pPr eaLnBrk="1" hangingPunct="1"/>
            <a:r>
              <a:rPr lang="zh-CN" altLang="en-US" sz="2200" dirty="0"/>
              <a:t>解决冲突的条件：移进符号集合</a:t>
            </a:r>
            <a:r>
              <a:rPr lang="en-US" altLang="zh-CN" sz="2200" dirty="0"/>
              <a:t>{b}, Follow(A), Follow(B)</a:t>
            </a:r>
            <a:r>
              <a:rPr lang="zh-CN" altLang="en-US" sz="2200" dirty="0"/>
              <a:t>两两不相交。</a:t>
            </a:r>
          </a:p>
          <a:p>
            <a:pPr eaLnBrk="1" hangingPunct="1"/>
            <a:r>
              <a:rPr lang="zh-CN" altLang="en-US" sz="2200" dirty="0"/>
              <a:t>解决的思路：当面临的输入符号为</a:t>
            </a:r>
            <a:r>
              <a:rPr lang="en-US" altLang="zh-CN" sz="2200" dirty="0"/>
              <a:t>a</a:t>
            </a:r>
            <a:r>
              <a:rPr lang="zh-CN" altLang="en-US" sz="2200" dirty="0"/>
              <a:t>：</a:t>
            </a:r>
          </a:p>
          <a:p>
            <a:pPr lvl="1" eaLnBrk="1" hangingPunct="1"/>
            <a:r>
              <a:rPr lang="zh-CN" altLang="en-US" dirty="0"/>
              <a:t>当</a:t>
            </a:r>
            <a:r>
              <a:rPr lang="en-US" altLang="zh-CN" dirty="0"/>
              <a:t>a ∈</a:t>
            </a:r>
            <a:r>
              <a:rPr lang="zh-CN" altLang="en-US" dirty="0"/>
              <a:t>移进符合 </a:t>
            </a:r>
            <a:r>
              <a:rPr lang="en-US" altLang="zh-CN" dirty="0"/>
              <a:t>b</a:t>
            </a:r>
            <a:r>
              <a:rPr lang="zh-CN" altLang="en-US" dirty="0"/>
              <a:t>，则应移进；</a:t>
            </a:r>
          </a:p>
          <a:p>
            <a:pPr lvl="1" eaLnBrk="1" hangingPunct="1"/>
            <a:r>
              <a:rPr lang="zh-CN" altLang="en-US" dirty="0"/>
              <a:t>当</a:t>
            </a:r>
            <a:r>
              <a:rPr lang="en-US" altLang="zh-CN" dirty="0"/>
              <a:t>a ∈Follow(A)</a:t>
            </a:r>
            <a:r>
              <a:rPr lang="zh-CN" altLang="en-US" dirty="0"/>
              <a:t>，则用产生式</a:t>
            </a:r>
            <a:r>
              <a:rPr lang="en-US" altLang="zh-CN" dirty="0"/>
              <a:t>A</a:t>
            </a:r>
            <a:r>
              <a:rPr lang="en-US" altLang="zh-CN" dirty="0">
                <a:sym typeface="Wingdings" pitchFamily="2" charset="2"/>
              </a:rPr>
              <a:t></a:t>
            </a:r>
            <a:r>
              <a:rPr lang="el-GR" altLang="zh-CN" dirty="0">
                <a:sym typeface="Wingdings" pitchFamily="2" charset="2"/>
              </a:rPr>
              <a:t>β</a:t>
            </a:r>
            <a:r>
              <a:rPr lang="zh-CN" altLang="en-US" dirty="0">
                <a:sym typeface="Wingdings" pitchFamily="2" charset="2"/>
              </a:rPr>
              <a:t>进行归约；</a:t>
            </a:r>
          </a:p>
          <a:p>
            <a:pPr lvl="1" eaLnBrk="1" hangingPunct="1"/>
            <a:r>
              <a:rPr lang="zh-CN" altLang="en-US" dirty="0"/>
              <a:t>当</a:t>
            </a:r>
            <a:r>
              <a:rPr lang="en-US" altLang="zh-CN" dirty="0"/>
              <a:t>a ∈Follow(B)</a:t>
            </a:r>
            <a:r>
              <a:rPr lang="zh-CN" altLang="en-US" dirty="0"/>
              <a:t>，则用产生式</a:t>
            </a:r>
            <a:r>
              <a:rPr lang="en-US" altLang="zh-CN" dirty="0"/>
              <a:t>B</a:t>
            </a:r>
            <a:r>
              <a:rPr lang="en-US" altLang="zh-CN" dirty="0">
                <a:sym typeface="Wingdings" pitchFamily="2" charset="2"/>
              </a:rPr>
              <a:t></a:t>
            </a:r>
            <a:r>
              <a:rPr lang="el-GR" altLang="zh-CN" dirty="0">
                <a:sym typeface="Wingdings" pitchFamily="2" charset="2"/>
              </a:rPr>
              <a:t>γ</a:t>
            </a:r>
            <a:r>
              <a:rPr lang="zh-CN" altLang="en-US" dirty="0">
                <a:sym typeface="Wingdings" pitchFamily="2" charset="2"/>
              </a:rPr>
              <a:t>进行归约。</a:t>
            </a:r>
          </a:p>
        </p:txBody>
      </p:sp>
      <p:sp>
        <p:nvSpPr>
          <p:cNvPr id="230404" name="Rectangle 4"/>
          <p:cNvSpPr>
            <a:spLocks noChangeArrowheads="1"/>
          </p:cNvSpPr>
          <p:nvPr/>
        </p:nvSpPr>
        <p:spPr bwMode="auto">
          <a:xfrm>
            <a:off x="179512" y="1530350"/>
            <a:ext cx="2304256" cy="110799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200" dirty="0">
                <a:latin typeface="宋体" panose="02010600030101010101" pitchFamily="2" charset="-122"/>
              </a:rPr>
              <a:t>I={ X</a:t>
            </a:r>
            <a:r>
              <a:rPr lang="en-US" altLang="zh-CN" sz="2200" dirty="0">
                <a:latin typeface="宋体" panose="02010600030101010101" pitchFamily="2" charset="-122"/>
                <a:sym typeface="Wingdings" pitchFamily="2" charset="2"/>
              </a:rPr>
              <a:t></a:t>
            </a:r>
            <a:r>
              <a:rPr lang="en-US" altLang="zh-CN" sz="2200" dirty="0">
                <a:latin typeface="宋体" panose="02010600030101010101" pitchFamily="2" charset="-122"/>
                <a:cs typeface="Times New Roman" pitchFamily="18" charset="0"/>
                <a:sym typeface="Wingdings" pitchFamily="2" charset="2"/>
              </a:rPr>
              <a:t>α</a:t>
            </a:r>
            <a:r>
              <a:rPr lang="en-US" altLang="zh-CN" sz="2200" dirty="0">
                <a:latin typeface="宋体" panose="02010600030101010101" pitchFamily="2" charset="-122"/>
                <a:sym typeface="Symbol" pitchFamily="18" charset="2"/>
              </a:rPr>
              <a:t>·</a:t>
            </a:r>
            <a:r>
              <a:rPr lang="en-US" altLang="zh-CN" sz="2200" dirty="0" err="1">
                <a:latin typeface="宋体" panose="02010600030101010101" pitchFamily="2" charset="-122"/>
                <a:sym typeface="Symbol" pitchFamily="18" charset="2"/>
              </a:rPr>
              <a:t>bA</a:t>
            </a:r>
            <a:endParaRPr lang="en-US" altLang="zh-CN" sz="2200" dirty="0">
              <a:latin typeface="宋体" panose="02010600030101010101" pitchFamily="2" charset="-122"/>
              <a:sym typeface="Symbol" pitchFamily="18" charset="2"/>
            </a:endParaRPr>
          </a:p>
          <a:p>
            <a:pPr eaLnBrk="1" hangingPunct="1">
              <a:spcBef>
                <a:spcPts val="0"/>
              </a:spcBef>
              <a:buFontTx/>
              <a:buNone/>
            </a:pPr>
            <a:r>
              <a:rPr lang="en-US" altLang="zh-CN" sz="2200" dirty="0">
                <a:latin typeface="宋体" panose="02010600030101010101" pitchFamily="2" charset="-122"/>
              </a:rPr>
              <a:t>      A</a:t>
            </a:r>
            <a:r>
              <a:rPr lang="en-US" altLang="zh-CN" sz="2200" dirty="0">
                <a:latin typeface="宋体" panose="02010600030101010101" pitchFamily="2" charset="-122"/>
                <a:sym typeface="Wingdings" pitchFamily="2" charset="2"/>
              </a:rPr>
              <a:t></a:t>
            </a:r>
            <a:r>
              <a:rPr lang="el-GR" altLang="zh-CN" sz="2200" dirty="0">
                <a:latin typeface="宋体" pitchFamily="2" charset="-122"/>
                <a:sym typeface="Wingdings" pitchFamily="2" charset="2"/>
              </a:rPr>
              <a:t>β</a:t>
            </a:r>
            <a:r>
              <a:rPr lang="en-US" altLang="zh-CN" sz="2200" dirty="0">
                <a:latin typeface="宋体" panose="02010600030101010101" pitchFamily="2" charset="-122"/>
                <a:sym typeface="Symbol" pitchFamily="18" charset="2"/>
              </a:rPr>
              <a:t>·</a:t>
            </a:r>
          </a:p>
          <a:p>
            <a:pPr eaLnBrk="1" hangingPunct="1">
              <a:spcBef>
                <a:spcPts val="0"/>
              </a:spcBef>
              <a:buFontTx/>
              <a:buNone/>
            </a:pPr>
            <a:r>
              <a:rPr lang="en-US" altLang="zh-CN" sz="2200" dirty="0">
                <a:latin typeface="宋体" panose="02010600030101010101" pitchFamily="2" charset="-122"/>
              </a:rPr>
              <a:t>      B</a:t>
            </a:r>
            <a:r>
              <a:rPr lang="en-US" altLang="zh-CN" sz="2200" dirty="0">
                <a:latin typeface="宋体" panose="02010600030101010101" pitchFamily="2" charset="-122"/>
                <a:sym typeface="Wingdings" pitchFamily="2" charset="2"/>
              </a:rPr>
              <a:t></a:t>
            </a:r>
            <a:r>
              <a:rPr lang="el-GR" altLang="zh-CN" sz="2200" dirty="0">
                <a:latin typeface="宋体" pitchFamily="2" charset="-122"/>
                <a:sym typeface="Wingdings" pitchFamily="2" charset="2"/>
              </a:rPr>
              <a:t>γ</a:t>
            </a:r>
            <a:r>
              <a:rPr lang="en-US" altLang="zh-CN" sz="2200" dirty="0">
                <a:latin typeface="宋体" panose="02010600030101010101" pitchFamily="2" charset="-122"/>
                <a:sym typeface="Symbol" pitchFamily="18" charset="2"/>
              </a:rPr>
              <a:t>· </a:t>
            </a:r>
            <a:r>
              <a:rPr lang="en-US" altLang="zh-CN" sz="2200" dirty="0">
                <a:latin typeface="宋体" panose="02010600030101010101" pitchFamily="2" charset="-122"/>
              </a:rPr>
              <a:t>}</a:t>
            </a:r>
          </a:p>
        </p:txBody>
      </p:sp>
    </p:spTree>
    <p:extLst>
      <p:ext uri="{BB962C8B-B14F-4D97-AF65-F5344CB8AC3E}">
        <p14:creationId xmlns:p14="http://schemas.microsoft.com/office/powerpoint/2010/main" val="36505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040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040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0403">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0403">
                                            <p:txEl>
                                              <p:pRg st="2" end="2"/>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30403">
                                            <p:txEl>
                                              <p:pRg st="3" end="3"/>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040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3040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403" grpId="0" build="p"/>
      <p:bldP spid="230404"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ChangeArrowheads="1"/>
          </p:cNvSpPr>
          <p:nvPr>
            <p:ph type="title"/>
          </p:nvPr>
        </p:nvSpPr>
        <p:spPr>
          <a:xfrm>
            <a:off x="323528" y="267494"/>
            <a:ext cx="7772400" cy="857250"/>
          </a:xfrm>
        </p:spPr>
        <p:txBody>
          <a:bodyPr>
            <a:normAutofit/>
          </a:bodyPr>
          <a:lstStyle/>
          <a:p>
            <a:pPr algn="l" eaLnBrk="1" hangingPunct="1"/>
            <a:r>
              <a:rPr lang="zh-CN" altLang="en-US" sz="3200" dirty="0">
                <a:ea typeface="楷体_GB2312" pitchFamily="49" charset="-122"/>
              </a:rPr>
              <a:t>前面例子中冲突的解决方法：</a:t>
            </a:r>
          </a:p>
        </p:txBody>
      </p:sp>
      <p:sp>
        <p:nvSpPr>
          <p:cNvPr id="232451" name="Rectangle 3"/>
          <p:cNvSpPr>
            <a:spLocks noGrp="1" noChangeArrowheads="1"/>
          </p:cNvSpPr>
          <p:nvPr>
            <p:ph type="body" idx="1"/>
          </p:nvPr>
        </p:nvSpPr>
        <p:spPr>
          <a:xfrm>
            <a:off x="3441700" y="1296988"/>
            <a:ext cx="5227638" cy="3086100"/>
          </a:xfrm>
        </p:spPr>
        <p:txBody>
          <a:bodyPr>
            <a:normAutofit/>
          </a:bodyPr>
          <a:lstStyle/>
          <a:p>
            <a:r>
              <a:rPr lang="zh-CN" altLang="en-US" sz="2200" dirty="0">
                <a:latin typeface="Times New Roman" panose="02020603050405020304" pitchFamily="18" charset="0"/>
                <a:cs typeface="Times New Roman" panose="02020603050405020304" pitchFamily="18" charset="0"/>
                <a:sym typeface="Wingdings" pitchFamily="2" charset="2"/>
              </a:rPr>
              <a:t>在</a:t>
            </a:r>
            <a:r>
              <a:rPr lang="fr-FR" altLang="zh-CN" sz="2200" dirty="0">
                <a:latin typeface="Times New Roman" panose="02020603050405020304" pitchFamily="18" charset="0"/>
                <a:cs typeface="Times New Roman" panose="02020603050405020304" pitchFamily="18" charset="0"/>
                <a:sym typeface="Wingdings" pitchFamily="2" charset="2"/>
              </a:rPr>
              <a:t>I</a:t>
            </a:r>
            <a:r>
              <a:rPr lang="fr-FR" altLang="zh-CN" sz="2200" baseline="-25000" dirty="0">
                <a:latin typeface="Times New Roman" panose="02020603050405020304" pitchFamily="18" charset="0"/>
                <a:cs typeface="Times New Roman" panose="02020603050405020304" pitchFamily="18" charset="0"/>
                <a:sym typeface="Wingdings" pitchFamily="2" charset="2"/>
              </a:rPr>
              <a:t>1</a:t>
            </a:r>
            <a:r>
              <a:rPr lang="zh-CN" altLang="en-US" sz="2200" dirty="0">
                <a:latin typeface="Times New Roman" panose="02020603050405020304" pitchFamily="18" charset="0"/>
                <a:cs typeface="Times New Roman" panose="02020603050405020304" pitchFamily="18" charset="0"/>
                <a:sym typeface="Wingdings" pitchFamily="2" charset="2"/>
              </a:rPr>
              <a:t>中，</a:t>
            </a:r>
            <a:r>
              <a:rPr lang="fr-FR" altLang="zh-CN" sz="2200" dirty="0">
                <a:latin typeface="Times New Roman" panose="02020603050405020304" pitchFamily="18" charset="0"/>
                <a:cs typeface="Times New Roman" panose="02020603050405020304" pitchFamily="18" charset="0"/>
                <a:sym typeface="Wingdings" pitchFamily="2" charset="2"/>
              </a:rPr>
              <a:t>Follow(</a:t>
            </a:r>
            <a:r>
              <a:rPr lang="fr-FR" altLang="zh-CN" sz="2200" dirty="0">
                <a:latin typeface="Times New Roman" panose="02020603050405020304" pitchFamily="18" charset="0"/>
                <a:ea typeface="华文行楷" pitchFamily="2" charset="-122"/>
                <a:cs typeface="Times New Roman" panose="02020603050405020304" pitchFamily="18" charset="0"/>
              </a:rPr>
              <a:t>S'</a:t>
            </a:r>
            <a:r>
              <a:rPr lang="fr-FR" altLang="zh-CN" sz="2200" dirty="0">
                <a:latin typeface="Times New Roman" panose="02020603050405020304" pitchFamily="18" charset="0"/>
                <a:cs typeface="Times New Roman" panose="02020603050405020304" pitchFamily="18" charset="0"/>
                <a:sym typeface="Wingdings" pitchFamily="2" charset="2"/>
              </a:rPr>
              <a:t>)={#}</a:t>
            </a:r>
            <a:endParaRPr lang="en-US" altLang="zh-CN" sz="2200" dirty="0">
              <a:latin typeface="Times New Roman" panose="02020603050405020304" pitchFamily="18" charset="0"/>
              <a:cs typeface="Times New Roman" panose="02020603050405020304" pitchFamily="18" charset="0"/>
              <a:sym typeface="Wingdings" pitchFamily="2" charset="2"/>
            </a:endParaRPr>
          </a:p>
          <a:p>
            <a:r>
              <a:rPr lang="en-US" altLang="zh-CN" sz="2200" dirty="0">
                <a:latin typeface="Times New Roman" panose="02020603050405020304" pitchFamily="18" charset="0"/>
                <a:cs typeface="Times New Roman" panose="02020603050405020304" pitchFamily="18" charset="0"/>
                <a:sym typeface="Wingdings" pitchFamily="2" charset="2"/>
              </a:rPr>
              <a:t>{#}∩{+}</a:t>
            </a:r>
            <a:r>
              <a:rPr lang="zh-CN" altLang="en-US" sz="2200" dirty="0">
                <a:latin typeface="Times New Roman" panose="02020603050405020304" pitchFamily="18" charset="0"/>
                <a:cs typeface="Times New Roman" panose="02020603050405020304" pitchFamily="18" charset="0"/>
                <a:sym typeface="Wingdings" pitchFamily="2" charset="2"/>
              </a:rPr>
              <a:t>＝</a:t>
            </a:r>
            <a:r>
              <a:rPr lang="en-US" altLang="zh-CN" sz="2200" dirty="0">
                <a:latin typeface="Times New Roman" panose="02020603050405020304" pitchFamily="18" charset="0"/>
                <a:cs typeface="Times New Roman" panose="02020603050405020304" pitchFamily="18" charset="0"/>
                <a:sym typeface="Wingdings" pitchFamily="2" charset="2"/>
              </a:rPr>
              <a:t>Φ</a:t>
            </a:r>
          </a:p>
          <a:p>
            <a:r>
              <a:rPr lang="zh-CN" altLang="en-US" sz="2200" dirty="0">
                <a:latin typeface="Times New Roman" panose="02020603050405020304" pitchFamily="18" charset="0"/>
                <a:cs typeface="Times New Roman" panose="02020603050405020304" pitchFamily="18" charset="0"/>
                <a:sym typeface="Wingdings" pitchFamily="2" charset="2"/>
              </a:rPr>
              <a:t>因此</a:t>
            </a:r>
            <a:r>
              <a:rPr lang="en-US" altLang="zh-CN" sz="2200" dirty="0">
                <a:latin typeface="Times New Roman" panose="02020603050405020304" pitchFamily="18" charset="0"/>
                <a:cs typeface="Times New Roman" panose="02020603050405020304" pitchFamily="18" charset="0"/>
                <a:sym typeface="Wingdings" pitchFamily="2" charset="2"/>
              </a:rPr>
              <a:t>I</a:t>
            </a:r>
            <a:r>
              <a:rPr lang="en-US" altLang="zh-CN" sz="2200" baseline="-25000" dirty="0">
                <a:latin typeface="Times New Roman" panose="02020603050405020304" pitchFamily="18" charset="0"/>
                <a:cs typeface="Times New Roman" panose="02020603050405020304" pitchFamily="18" charset="0"/>
                <a:sym typeface="Wingdings" pitchFamily="2" charset="2"/>
              </a:rPr>
              <a:t>1</a:t>
            </a:r>
            <a:r>
              <a:rPr lang="zh-CN" altLang="en-US" sz="2200" dirty="0">
                <a:latin typeface="Times New Roman" panose="02020603050405020304" pitchFamily="18" charset="0"/>
                <a:cs typeface="Times New Roman" panose="02020603050405020304" pitchFamily="18" charset="0"/>
                <a:sym typeface="Wingdings" pitchFamily="2" charset="2"/>
              </a:rPr>
              <a:t>中的冲突可解决。</a:t>
            </a:r>
          </a:p>
          <a:p>
            <a:r>
              <a:rPr lang="zh-CN" altLang="en-US" sz="2200" dirty="0">
                <a:latin typeface="Times New Roman" panose="02020603050405020304" pitchFamily="18" charset="0"/>
                <a:cs typeface="Times New Roman" panose="02020603050405020304" pitchFamily="18" charset="0"/>
                <a:sym typeface="Wingdings" pitchFamily="2" charset="2"/>
              </a:rPr>
              <a:t>解决方法：</a:t>
            </a:r>
            <a:endParaRPr lang="en-US" altLang="zh-CN" sz="2200" dirty="0">
              <a:latin typeface="Times New Roman" panose="02020603050405020304" pitchFamily="18" charset="0"/>
              <a:cs typeface="Times New Roman" panose="02020603050405020304" pitchFamily="18" charset="0"/>
              <a:sym typeface="Wingdings" pitchFamily="2" charset="2"/>
            </a:endParaRPr>
          </a:p>
          <a:p>
            <a:pPr lvl="1"/>
            <a:r>
              <a:rPr lang="zh-CN" altLang="en-US" sz="2000" dirty="0">
                <a:latin typeface="Times New Roman" panose="02020603050405020304" pitchFamily="18" charset="0"/>
                <a:cs typeface="Times New Roman" panose="02020603050405020304" pitchFamily="18" charset="0"/>
                <a:sym typeface="Wingdings" pitchFamily="2" charset="2"/>
              </a:rPr>
              <a:t>当且仅当遇到句子的结束符</a:t>
            </a:r>
            <a:r>
              <a:rPr lang="fr-FR" altLang="zh-CN" sz="2000" dirty="0">
                <a:latin typeface="Times New Roman" panose="02020603050405020304" pitchFamily="18" charset="0"/>
                <a:cs typeface="Times New Roman" panose="02020603050405020304" pitchFamily="18" charset="0"/>
                <a:sym typeface="Wingdings" pitchFamily="2" charset="2"/>
              </a:rPr>
              <a:t>“#”</a:t>
            </a:r>
            <a:r>
              <a:rPr lang="zh-CN" altLang="en-US" sz="2000" dirty="0">
                <a:latin typeface="Times New Roman" panose="02020603050405020304" pitchFamily="18" charset="0"/>
                <a:cs typeface="Times New Roman" panose="02020603050405020304" pitchFamily="18" charset="0"/>
                <a:sym typeface="Wingdings" pitchFamily="2" charset="2"/>
              </a:rPr>
              <a:t>号时</a:t>
            </a:r>
            <a:r>
              <a:rPr lang="zh-CN" altLang="fr-FR" sz="2000" dirty="0">
                <a:latin typeface="Times New Roman" panose="02020603050405020304" pitchFamily="18" charset="0"/>
                <a:cs typeface="Times New Roman" panose="02020603050405020304" pitchFamily="18" charset="0"/>
                <a:sym typeface="Wingdings" pitchFamily="2" charset="2"/>
              </a:rPr>
              <a:t>，使用</a:t>
            </a:r>
            <a:r>
              <a:rPr lang="fr-FR" altLang="zh-CN" sz="2000" dirty="0">
                <a:latin typeface="Times New Roman" panose="02020603050405020304" pitchFamily="18" charset="0"/>
                <a:ea typeface="华文行楷" pitchFamily="2" charset="-122"/>
                <a:cs typeface="Times New Roman" panose="02020603050405020304" pitchFamily="18" charset="0"/>
              </a:rPr>
              <a:t>S'</a:t>
            </a:r>
            <a:r>
              <a:rPr lang="fr-FR" altLang="zh-CN" sz="2000" dirty="0">
                <a:latin typeface="Times New Roman" panose="02020603050405020304" pitchFamily="18" charset="0"/>
                <a:cs typeface="Times New Roman" panose="02020603050405020304" pitchFamily="18" charset="0"/>
                <a:sym typeface="Wingdings" pitchFamily="2" charset="2"/>
              </a:rPr>
              <a:t>→E</a:t>
            </a:r>
            <a:r>
              <a:rPr lang="zh-CN" altLang="fr-FR" sz="2000" dirty="0">
                <a:latin typeface="Times New Roman" panose="02020603050405020304" pitchFamily="18" charset="0"/>
                <a:cs typeface="Times New Roman" panose="02020603050405020304" pitchFamily="18" charset="0"/>
                <a:sym typeface="Wingdings" pitchFamily="2" charset="2"/>
              </a:rPr>
              <a:t>进行归约，</a:t>
            </a:r>
            <a:r>
              <a:rPr lang="zh-CN" altLang="en-US" sz="2000" dirty="0">
                <a:latin typeface="Times New Roman" panose="02020603050405020304" pitchFamily="18" charset="0"/>
                <a:cs typeface="Times New Roman" panose="02020603050405020304" pitchFamily="18" charset="0"/>
                <a:sym typeface="Wingdings" pitchFamily="2" charset="2"/>
              </a:rPr>
              <a:t>句子被接受；</a:t>
            </a:r>
            <a:endParaRPr lang="en-US" altLang="zh-CN" sz="2000" dirty="0">
              <a:latin typeface="Times New Roman" panose="02020603050405020304" pitchFamily="18" charset="0"/>
              <a:cs typeface="Times New Roman" panose="02020603050405020304" pitchFamily="18" charset="0"/>
              <a:sym typeface="Wingdings" pitchFamily="2" charset="2"/>
            </a:endParaRPr>
          </a:p>
          <a:p>
            <a:pPr lvl="1"/>
            <a:r>
              <a:rPr lang="zh-CN" altLang="en-US" sz="2000" dirty="0">
                <a:latin typeface="Times New Roman" panose="02020603050405020304" pitchFamily="18" charset="0"/>
                <a:cs typeface="Times New Roman" panose="02020603050405020304" pitchFamily="18" charset="0"/>
                <a:sym typeface="Wingdings" pitchFamily="2" charset="2"/>
              </a:rPr>
              <a:t>当遇到“</a:t>
            </a:r>
            <a:r>
              <a:rPr lang="en-US" altLang="zh-CN" sz="2000" dirty="0">
                <a:latin typeface="Times New Roman" panose="02020603050405020304" pitchFamily="18" charset="0"/>
                <a:cs typeface="Times New Roman" panose="02020603050405020304" pitchFamily="18" charset="0"/>
                <a:sym typeface="Wingdings" pitchFamily="2" charset="2"/>
              </a:rPr>
              <a:t>+”</a:t>
            </a:r>
            <a:r>
              <a:rPr lang="zh-CN" altLang="en-US" sz="2000" dirty="0">
                <a:latin typeface="Times New Roman" panose="02020603050405020304" pitchFamily="18" charset="0"/>
                <a:cs typeface="Times New Roman" panose="02020603050405020304" pitchFamily="18" charset="0"/>
                <a:sym typeface="Wingdings" pitchFamily="2" charset="2"/>
              </a:rPr>
              <a:t>时，移进；</a:t>
            </a:r>
            <a:endParaRPr lang="en-US" altLang="zh-CN" sz="2000" dirty="0">
              <a:latin typeface="Times New Roman" panose="02020603050405020304" pitchFamily="18" charset="0"/>
              <a:cs typeface="Times New Roman" panose="02020603050405020304" pitchFamily="18" charset="0"/>
              <a:sym typeface="Wingdings" pitchFamily="2" charset="2"/>
            </a:endParaRPr>
          </a:p>
          <a:p>
            <a:pPr lvl="1"/>
            <a:r>
              <a:rPr lang="zh-CN" altLang="en-US" sz="2000" dirty="0">
                <a:latin typeface="Times New Roman" panose="02020603050405020304" pitchFamily="18" charset="0"/>
                <a:cs typeface="Times New Roman" panose="02020603050405020304" pitchFamily="18" charset="0"/>
                <a:sym typeface="Wingdings" pitchFamily="2" charset="2"/>
              </a:rPr>
              <a:t>当面临其他输入符号时，出错。</a:t>
            </a:r>
          </a:p>
        </p:txBody>
      </p:sp>
      <p:sp>
        <p:nvSpPr>
          <p:cNvPr id="232452" name="Text Box 6"/>
          <p:cNvSpPr txBox="1">
            <a:spLocks noChangeArrowheads="1"/>
          </p:cNvSpPr>
          <p:nvPr/>
        </p:nvSpPr>
        <p:spPr bwMode="auto">
          <a:xfrm>
            <a:off x="722313" y="1984375"/>
            <a:ext cx="1957387" cy="1107996"/>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I1:</a:t>
            </a:r>
          </a:p>
          <a:p>
            <a:pPr eaLnBrk="1" hangingPunct="1">
              <a:spcBef>
                <a:spcPct val="0"/>
              </a:spcBef>
              <a:buFontTx/>
              <a:buNone/>
            </a:pPr>
            <a:r>
              <a:rPr lang="en-US" altLang="zh-CN" sz="2200" dirty="0">
                <a:ea typeface="华文行楷" pitchFamily="2" charset="-122"/>
              </a:rPr>
              <a:t>    </a:t>
            </a:r>
            <a:r>
              <a:rPr lang="fr-FR" altLang="zh-CN" sz="2200" dirty="0">
                <a:ea typeface="华文行楷" pitchFamily="2" charset="-122"/>
              </a:rPr>
              <a:t>S'→E·</a:t>
            </a:r>
          </a:p>
          <a:p>
            <a:pPr eaLnBrk="1" hangingPunct="1">
              <a:spcBef>
                <a:spcPct val="0"/>
              </a:spcBef>
              <a:buFontTx/>
              <a:buNone/>
            </a:pPr>
            <a:r>
              <a:rPr lang="fr-FR" altLang="zh-CN" sz="2200" dirty="0">
                <a:ea typeface="华文行楷" pitchFamily="2" charset="-122"/>
              </a:rPr>
              <a:t>    E →E·+T </a:t>
            </a:r>
            <a:endParaRPr lang="en-US" altLang="zh-CN" sz="2200" dirty="0">
              <a:ea typeface="华文行楷" pitchFamily="2" charset="-122"/>
            </a:endParaRPr>
          </a:p>
        </p:txBody>
      </p:sp>
    </p:spTree>
    <p:extLst>
      <p:ext uri="{BB962C8B-B14F-4D97-AF65-F5344CB8AC3E}">
        <p14:creationId xmlns:p14="http://schemas.microsoft.com/office/powerpoint/2010/main" val="2940435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245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245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2451">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2451">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2451">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32451">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2451">
                                            <p:txEl>
                                              <p:pRg st="5" end="5"/>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3245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1" grpId="0" build="p"/>
      <p:bldP spid="232452"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ChangeArrowheads="1"/>
          </p:cNvSpPr>
          <p:nvPr>
            <p:ph type="title"/>
          </p:nvPr>
        </p:nvSpPr>
        <p:spPr/>
        <p:txBody>
          <a:bodyPr>
            <a:normAutofit/>
          </a:bodyPr>
          <a:lstStyle/>
          <a:p>
            <a:pPr eaLnBrk="1" hangingPunct="1"/>
            <a:endParaRPr lang="zh-CN" altLang="zh-CN"/>
          </a:p>
        </p:txBody>
      </p:sp>
      <p:sp>
        <p:nvSpPr>
          <p:cNvPr id="233475" name="Rectangle 3"/>
          <p:cNvSpPr>
            <a:spLocks noGrp="1" noChangeArrowheads="1"/>
          </p:cNvSpPr>
          <p:nvPr>
            <p:ph type="body" idx="1"/>
          </p:nvPr>
        </p:nvSpPr>
        <p:spPr>
          <a:xfrm>
            <a:off x="3268663" y="1365250"/>
            <a:ext cx="5381625" cy="3086100"/>
          </a:xfrm>
        </p:spPr>
        <p:txBody>
          <a:bodyPr>
            <a:normAutofit/>
          </a:bodyPr>
          <a:lstStyle/>
          <a:p>
            <a:pPr eaLnBrk="1" hangingPunct="1"/>
            <a:r>
              <a:rPr lang="zh-CN" altLang="en-US" sz="2200" dirty="0">
                <a:latin typeface="Times New Roman" panose="02020603050405020304" pitchFamily="18" charset="0"/>
                <a:cs typeface="Times New Roman" panose="02020603050405020304" pitchFamily="18" charset="0"/>
              </a:rPr>
              <a:t>在</a:t>
            </a:r>
            <a:r>
              <a:rPr lang="en-US" altLang="zh-CN" sz="2200" dirty="0">
                <a:latin typeface="Times New Roman" panose="02020603050405020304" pitchFamily="18" charset="0"/>
                <a:cs typeface="Times New Roman" panose="02020603050405020304" pitchFamily="18" charset="0"/>
              </a:rPr>
              <a:t>I</a:t>
            </a:r>
            <a:r>
              <a:rPr lang="en-US" altLang="zh-CN" sz="2200" baseline="-25000" dirty="0">
                <a:latin typeface="Times New Roman" panose="02020603050405020304" pitchFamily="18" charset="0"/>
                <a:cs typeface="Times New Roman" panose="02020603050405020304" pitchFamily="18" charset="0"/>
              </a:rPr>
              <a:t>2</a:t>
            </a:r>
            <a:r>
              <a:rPr lang="zh-CN" altLang="en-US" sz="2200" dirty="0">
                <a:latin typeface="Times New Roman" panose="02020603050405020304" pitchFamily="18" charset="0"/>
                <a:cs typeface="Times New Roman" panose="02020603050405020304" pitchFamily="18" charset="0"/>
              </a:rPr>
              <a:t>中，</a:t>
            </a:r>
            <a:r>
              <a:rPr lang="en-US" altLang="zh-CN" sz="2200" dirty="0">
                <a:latin typeface="Times New Roman" panose="02020603050405020304" pitchFamily="18" charset="0"/>
                <a:cs typeface="Times New Roman" panose="02020603050405020304" pitchFamily="18" charset="0"/>
              </a:rPr>
              <a:t>Follow(E)={#,),+}</a:t>
            </a:r>
          </a:p>
          <a:p>
            <a:pPr eaLnBrk="1" hangingPunct="1">
              <a:buFontTx/>
              <a:buNone/>
            </a:pPr>
            <a:r>
              <a:rPr lang="en-US" altLang="zh-CN" sz="2200" dirty="0">
                <a:latin typeface="Times New Roman" panose="02020603050405020304" pitchFamily="18" charset="0"/>
                <a:cs typeface="Times New Roman" panose="02020603050405020304" pitchFamily="18" charset="0"/>
              </a:rPr>
              <a:t>Follow(E)∩{*}={+,),#}∩{*}</a:t>
            </a: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Φ</a:t>
            </a:r>
            <a:r>
              <a:rPr lang="zh-CN" altLang="en-US" sz="2200" dirty="0">
                <a:latin typeface="Times New Roman" panose="02020603050405020304" pitchFamily="18" charset="0"/>
                <a:cs typeface="Times New Roman" panose="02020603050405020304" pitchFamily="18" charset="0"/>
              </a:rPr>
              <a:t>，</a:t>
            </a:r>
            <a:endParaRPr lang="en-US" altLang="zh-CN" sz="2200" dirty="0">
              <a:latin typeface="Times New Roman" panose="02020603050405020304" pitchFamily="18" charset="0"/>
              <a:cs typeface="Times New Roman" panose="02020603050405020304" pitchFamily="18" charset="0"/>
            </a:endParaRPr>
          </a:p>
          <a:p>
            <a:pPr eaLnBrk="1" hangingPunct="1">
              <a:buFontTx/>
              <a:buNone/>
            </a:pPr>
            <a:r>
              <a:rPr lang="zh-CN" altLang="en-US" sz="2200" dirty="0">
                <a:latin typeface="Times New Roman" panose="02020603050405020304" pitchFamily="18" charset="0"/>
                <a:cs typeface="Times New Roman" panose="02020603050405020304" pitchFamily="18" charset="0"/>
              </a:rPr>
              <a:t>所以</a:t>
            </a:r>
            <a:r>
              <a:rPr lang="en-US" altLang="zh-CN" sz="2200" dirty="0">
                <a:latin typeface="Times New Roman" panose="02020603050405020304" pitchFamily="18" charset="0"/>
                <a:cs typeface="Times New Roman" panose="02020603050405020304" pitchFamily="18" charset="0"/>
              </a:rPr>
              <a:t>I</a:t>
            </a:r>
            <a:r>
              <a:rPr lang="en-US" altLang="zh-CN" sz="2200" baseline="-25000" dirty="0">
                <a:latin typeface="Times New Roman" panose="02020603050405020304" pitchFamily="18" charset="0"/>
                <a:cs typeface="Times New Roman" panose="02020603050405020304" pitchFamily="18" charset="0"/>
              </a:rPr>
              <a:t>2</a:t>
            </a:r>
            <a:r>
              <a:rPr lang="zh-CN" altLang="en-US" sz="2200" dirty="0">
                <a:latin typeface="Times New Roman" panose="02020603050405020304" pitchFamily="18" charset="0"/>
                <a:cs typeface="Times New Roman" panose="02020603050405020304" pitchFamily="18" charset="0"/>
              </a:rPr>
              <a:t>的冲突可以解决</a:t>
            </a:r>
          </a:p>
          <a:p>
            <a:pPr eaLnBrk="1" hangingPunct="1"/>
            <a:r>
              <a:rPr lang="zh-CN" altLang="en-US" sz="2200" dirty="0">
                <a:latin typeface="Times New Roman" panose="02020603050405020304" pitchFamily="18" charset="0"/>
                <a:cs typeface="Times New Roman" panose="02020603050405020304" pitchFamily="18" charset="0"/>
              </a:rPr>
              <a:t>解决方法：</a:t>
            </a:r>
            <a:endParaRPr lang="en-US" altLang="zh-CN" sz="2200" dirty="0">
              <a:latin typeface="Times New Roman" panose="02020603050405020304" pitchFamily="18" charset="0"/>
              <a:cs typeface="Times New Roman" panose="02020603050405020304" pitchFamily="18" charset="0"/>
            </a:endParaRPr>
          </a:p>
          <a:p>
            <a:pPr lvl="1"/>
            <a:r>
              <a:rPr lang="zh-CN" altLang="en-US" sz="2000" dirty="0">
                <a:latin typeface="Times New Roman" panose="02020603050405020304" pitchFamily="18" charset="0"/>
                <a:cs typeface="Times New Roman" panose="02020603050405020304" pitchFamily="18" charset="0"/>
              </a:rPr>
              <a:t>如果当前输入符号为</a:t>
            </a:r>
            <a:r>
              <a:rPr lang="en-US" altLang="zh-CN" sz="2000" dirty="0">
                <a:latin typeface="Times New Roman" panose="02020603050405020304" pitchFamily="18" charset="0"/>
                <a:cs typeface="Times New Roman" panose="02020603050405020304" pitchFamily="18" charset="0"/>
              </a:rPr>
              <a:t>#, ), +</a:t>
            </a:r>
            <a:r>
              <a:rPr lang="zh-CN" altLang="en-US" sz="2000" dirty="0">
                <a:latin typeface="Times New Roman" panose="02020603050405020304" pitchFamily="18" charset="0"/>
                <a:cs typeface="Times New Roman" panose="02020603050405020304" pitchFamily="18" charset="0"/>
              </a:rPr>
              <a:t>时，就使用</a:t>
            </a:r>
            <a:r>
              <a:rPr lang="en-US" altLang="zh-CN" sz="2000" dirty="0">
                <a:latin typeface="Times New Roman" panose="02020603050405020304" pitchFamily="18" charset="0"/>
                <a:cs typeface="Times New Roman" panose="02020603050405020304" pitchFamily="18" charset="0"/>
              </a:rPr>
              <a:t>E</a:t>
            </a:r>
            <a:r>
              <a:rPr lang="en-US" altLang="zh-CN" sz="2000" dirty="0">
                <a:latin typeface="Times New Roman" panose="02020603050405020304" pitchFamily="18" charset="0"/>
                <a:cs typeface="Times New Roman" panose="02020603050405020304" pitchFamily="18" charset="0"/>
                <a:sym typeface="Wingdings" pitchFamily="2" charset="2"/>
              </a:rPr>
              <a:t>T</a:t>
            </a:r>
            <a:r>
              <a:rPr lang="zh-CN" altLang="en-US" sz="2000" dirty="0">
                <a:latin typeface="Times New Roman" panose="02020603050405020304" pitchFamily="18" charset="0"/>
                <a:cs typeface="Times New Roman" panose="02020603050405020304" pitchFamily="18" charset="0"/>
                <a:sym typeface="Wingdings" pitchFamily="2" charset="2"/>
              </a:rPr>
              <a:t>进行归约；</a:t>
            </a:r>
            <a:endParaRPr lang="en-US" altLang="zh-CN" sz="2000" dirty="0">
              <a:latin typeface="Times New Roman" panose="02020603050405020304" pitchFamily="18" charset="0"/>
              <a:cs typeface="Times New Roman" panose="02020603050405020304" pitchFamily="18" charset="0"/>
              <a:sym typeface="Wingdings" pitchFamily="2" charset="2"/>
            </a:endParaRPr>
          </a:p>
          <a:p>
            <a:pPr lvl="1"/>
            <a:r>
              <a:rPr lang="zh-CN" altLang="en-US" sz="2000" dirty="0">
                <a:latin typeface="Times New Roman" panose="02020603050405020304" pitchFamily="18" charset="0"/>
                <a:cs typeface="Times New Roman" panose="02020603050405020304" pitchFamily="18" charset="0"/>
              </a:rPr>
              <a:t>如果当前输入符号为*时，就移进</a:t>
            </a:r>
            <a:r>
              <a:rPr lang="zh-CN" altLang="en-US" sz="2000" dirty="0">
                <a:latin typeface="Times New Roman" panose="02020603050405020304" pitchFamily="18" charset="0"/>
                <a:cs typeface="Times New Roman" panose="02020603050405020304" pitchFamily="18" charset="0"/>
                <a:sym typeface="Wingdings" pitchFamily="2" charset="2"/>
              </a:rPr>
              <a:t>；</a:t>
            </a:r>
            <a:endParaRPr lang="en-US" altLang="zh-CN" sz="2000" dirty="0">
              <a:latin typeface="Times New Roman" panose="02020603050405020304" pitchFamily="18" charset="0"/>
              <a:cs typeface="Times New Roman" panose="02020603050405020304" pitchFamily="18" charset="0"/>
              <a:sym typeface="Wingdings" pitchFamily="2" charset="2"/>
            </a:endParaRPr>
          </a:p>
          <a:p>
            <a:pPr lvl="1"/>
            <a:r>
              <a:rPr lang="zh-CN" altLang="en-US" sz="2000" dirty="0">
                <a:latin typeface="Times New Roman" panose="02020603050405020304" pitchFamily="18" charset="0"/>
                <a:cs typeface="Times New Roman" panose="02020603050405020304" pitchFamily="18" charset="0"/>
                <a:sym typeface="Wingdings" pitchFamily="2" charset="2"/>
              </a:rPr>
              <a:t>当面临其他输入符号时，出错。</a:t>
            </a:r>
          </a:p>
        </p:txBody>
      </p:sp>
      <p:sp>
        <p:nvSpPr>
          <p:cNvPr id="233476" name="Text Box 4"/>
          <p:cNvSpPr txBox="1">
            <a:spLocks noChangeArrowheads="1"/>
          </p:cNvSpPr>
          <p:nvPr/>
        </p:nvSpPr>
        <p:spPr bwMode="auto">
          <a:xfrm>
            <a:off x="625475" y="1804988"/>
            <a:ext cx="2149475" cy="1384995"/>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dirty="0">
                <a:ea typeface="华文行楷" pitchFamily="2" charset="-122"/>
              </a:rPr>
              <a:t>I2:</a:t>
            </a:r>
          </a:p>
          <a:p>
            <a:pPr eaLnBrk="1" hangingPunct="1">
              <a:spcBef>
                <a:spcPct val="0"/>
              </a:spcBef>
              <a:buFontTx/>
              <a:buNone/>
            </a:pPr>
            <a:r>
              <a:rPr lang="en-US" altLang="zh-CN" sz="2800" dirty="0">
                <a:ea typeface="华文行楷" pitchFamily="2" charset="-122"/>
              </a:rPr>
              <a:t>    E→T·</a:t>
            </a:r>
          </a:p>
          <a:p>
            <a:pPr eaLnBrk="1" hangingPunct="1">
              <a:spcBef>
                <a:spcPct val="0"/>
              </a:spcBef>
              <a:buFontTx/>
              <a:buNone/>
            </a:pPr>
            <a:r>
              <a:rPr lang="en-US" altLang="zh-CN" sz="2800" dirty="0">
                <a:ea typeface="华文行楷" pitchFamily="2" charset="-122"/>
              </a:rPr>
              <a:t>    T→T·*F </a:t>
            </a:r>
          </a:p>
        </p:txBody>
      </p:sp>
    </p:spTree>
    <p:extLst>
      <p:ext uri="{BB962C8B-B14F-4D97-AF65-F5344CB8AC3E}">
        <p14:creationId xmlns:p14="http://schemas.microsoft.com/office/powerpoint/2010/main" val="3041746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347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347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347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347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347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3347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347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75" grpId="0" build="p"/>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ChangeArrowheads="1"/>
          </p:cNvSpPr>
          <p:nvPr>
            <p:ph type="title"/>
          </p:nvPr>
        </p:nvSpPr>
        <p:spPr/>
        <p:txBody>
          <a:bodyPr>
            <a:normAutofit/>
          </a:bodyPr>
          <a:lstStyle/>
          <a:p>
            <a:pPr eaLnBrk="1" hangingPunct="1"/>
            <a:endParaRPr lang="zh-CN" altLang="zh-CN"/>
          </a:p>
        </p:txBody>
      </p:sp>
      <p:sp>
        <p:nvSpPr>
          <p:cNvPr id="234499" name="Rectangle 3"/>
          <p:cNvSpPr>
            <a:spLocks noGrp="1" noChangeArrowheads="1"/>
          </p:cNvSpPr>
          <p:nvPr>
            <p:ph type="body" idx="1"/>
          </p:nvPr>
        </p:nvSpPr>
        <p:spPr>
          <a:xfrm>
            <a:off x="3219450" y="1257300"/>
            <a:ext cx="5157788" cy="3086100"/>
          </a:xfrm>
        </p:spPr>
        <p:txBody>
          <a:bodyPr>
            <a:normAutofit/>
          </a:bodyPr>
          <a:lstStyle/>
          <a:p>
            <a:r>
              <a:rPr lang="zh-CN" altLang="en-US" sz="2200" dirty="0">
                <a:latin typeface="Times New Roman" panose="02020603050405020304" pitchFamily="18" charset="0"/>
                <a:cs typeface="Times New Roman" panose="02020603050405020304" pitchFamily="18" charset="0"/>
              </a:rPr>
              <a:t>在</a:t>
            </a:r>
            <a:r>
              <a:rPr lang="fr-FR" altLang="zh-CN" sz="2200" dirty="0">
                <a:latin typeface="Times New Roman" panose="02020603050405020304" pitchFamily="18" charset="0"/>
                <a:cs typeface="Times New Roman" panose="02020603050405020304" pitchFamily="18" charset="0"/>
              </a:rPr>
              <a:t>I</a:t>
            </a:r>
            <a:r>
              <a:rPr lang="fr-FR" altLang="zh-CN" sz="2200" baseline="-25000" dirty="0">
                <a:latin typeface="Times New Roman" panose="02020603050405020304" pitchFamily="18" charset="0"/>
                <a:cs typeface="Times New Roman" panose="02020603050405020304" pitchFamily="18" charset="0"/>
              </a:rPr>
              <a:t>9</a:t>
            </a:r>
            <a:r>
              <a:rPr lang="zh-CN" altLang="en-US" sz="2200" dirty="0">
                <a:latin typeface="Times New Roman" panose="02020603050405020304" pitchFamily="18" charset="0"/>
                <a:cs typeface="Times New Roman" panose="02020603050405020304" pitchFamily="18" charset="0"/>
              </a:rPr>
              <a:t>中，</a:t>
            </a:r>
            <a:r>
              <a:rPr lang="en-US" altLang="zh-CN" sz="2200" dirty="0">
                <a:latin typeface="Times New Roman" panose="02020603050405020304" pitchFamily="18" charset="0"/>
                <a:cs typeface="Times New Roman" panose="02020603050405020304" pitchFamily="18" charset="0"/>
              </a:rPr>
              <a:t> Follow(E)={#,),+}</a:t>
            </a:r>
          </a:p>
          <a:p>
            <a:pPr marL="109728" indent="0">
              <a:buNone/>
            </a:pPr>
            <a:r>
              <a:rPr lang="en-US" altLang="zh-CN" sz="2200" dirty="0">
                <a:latin typeface="Times New Roman" panose="02020603050405020304" pitchFamily="18" charset="0"/>
                <a:cs typeface="Times New Roman" panose="02020603050405020304" pitchFamily="18" charset="0"/>
              </a:rPr>
              <a:t>    Follow(E)∩{*}={+,),#}∩{*}</a:t>
            </a: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Φ</a:t>
            </a:r>
            <a:r>
              <a:rPr lang="zh-CN" altLang="en-US" sz="2200" dirty="0">
                <a:latin typeface="Times New Roman" panose="02020603050405020304" pitchFamily="18" charset="0"/>
                <a:cs typeface="Times New Roman" panose="02020603050405020304" pitchFamily="18" charset="0"/>
              </a:rPr>
              <a:t>，</a:t>
            </a:r>
            <a:endParaRPr lang="en-US" altLang="zh-CN" sz="2200" dirty="0">
              <a:latin typeface="Times New Roman" panose="02020603050405020304" pitchFamily="18" charset="0"/>
              <a:cs typeface="Times New Roman" panose="02020603050405020304" pitchFamily="18" charset="0"/>
            </a:endParaRPr>
          </a:p>
          <a:p>
            <a:r>
              <a:rPr lang="zh-CN" altLang="en-US" sz="2200" dirty="0">
                <a:latin typeface="Times New Roman" panose="02020603050405020304" pitchFamily="18" charset="0"/>
                <a:cs typeface="Times New Roman" panose="02020603050405020304" pitchFamily="18" charset="0"/>
              </a:rPr>
              <a:t>因此</a:t>
            </a:r>
            <a:r>
              <a:rPr lang="fr-FR" altLang="zh-CN" sz="2200" dirty="0">
                <a:latin typeface="Times New Roman" panose="02020603050405020304" pitchFamily="18" charset="0"/>
                <a:cs typeface="Times New Roman" panose="02020603050405020304" pitchFamily="18" charset="0"/>
              </a:rPr>
              <a:t>I</a:t>
            </a:r>
            <a:r>
              <a:rPr lang="fr-FR" altLang="zh-CN" sz="2200" baseline="-25000" dirty="0">
                <a:latin typeface="Times New Roman" panose="02020603050405020304" pitchFamily="18" charset="0"/>
                <a:cs typeface="Times New Roman" panose="02020603050405020304" pitchFamily="18" charset="0"/>
              </a:rPr>
              <a:t>9</a:t>
            </a:r>
            <a:r>
              <a:rPr lang="zh-CN" altLang="en-US" sz="2200" dirty="0">
                <a:latin typeface="Times New Roman" panose="02020603050405020304" pitchFamily="18" charset="0"/>
                <a:cs typeface="Times New Roman" panose="02020603050405020304" pitchFamily="18" charset="0"/>
              </a:rPr>
              <a:t>中的冲突可解决</a:t>
            </a:r>
          </a:p>
          <a:p>
            <a:pPr eaLnBrk="1" hangingPunct="1"/>
            <a:r>
              <a:rPr lang="zh-CN" altLang="en-US" sz="2200" dirty="0">
                <a:latin typeface="Times New Roman" panose="02020603050405020304" pitchFamily="18" charset="0"/>
                <a:cs typeface="Times New Roman" panose="02020603050405020304" pitchFamily="18" charset="0"/>
              </a:rPr>
              <a:t>解决方法：</a:t>
            </a:r>
            <a:endParaRPr lang="en-US" altLang="zh-CN" sz="2200" dirty="0">
              <a:latin typeface="Times New Roman" panose="02020603050405020304" pitchFamily="18" charset="0"/>
              <a:cs typeface="Times New Roman" panose="02020603050405020304" pitchFamily="18" charset="0"/>
            </a:endParaRPr>
          </a:p>
          <a:p>
            <a:pPr lvl="1"/>
            <a:r>
              <a:rPr lang="zh-CN" altLang="en-US" sz="2000" dirty="0">
                <a:latin typeface="Times New Roman" panose="02020603050405020304" pitchFamily="18" charset="0"/>
                <a:cs typeface="Times New Roman" panose="02020603050405020304" pitchFamily="18" charset="0"/>
              </a:rPr>
              <a:t>当面临的输入符为</a:t>
            </a:r>
            <a:r>
              <a:rPr lang="en-US" altLang="zh-CN" sz="2000" dirty="0">
                <a:latin typeface="Times New Roman" panose="02020603050405020304" pitchFamily="18" charset="0"/>
                <a:cs typeface="Times New Roman" panose="02020603050405020304" pitchFamily="18" charset="0"/>
              </a:rPr>
              <a:t>+</a:t>
            </a:r>
            <a:r>
              <a:rPr lang="zh-CN" altLang="en-US" sz="2000" dirty="0">
                <a:latin typeface="Times New Roman" panose="02020603050405020304" pitchFamily="18" charset="0"/>
                <a:cs typeface="Times New Roman" panose="02020603050405020304" pitchFamily="18" charset="0"/>
              </a:rPr>
              <a:t>，</a:t>
            </a:r>
            <a:r>
              <a:rPr lang="en-US" altLang="zh-CN" sz="2000" dirty="0">
                <a:latin typeface="Times New Roman" panose="02020603050405020304" pitchFamily="18" charset="0"/>
                <a:cs typeface="Times New Roman" panose="02020603050405020304" pitchFamily="18" charset="0"/>
              </a:rPr>
              <a:t>)</a:t>
            </a:r>
            <a:r>
              <a:rPr lang="zh-CN" altLang="en-US" sz="2000" dirty="0">
                <a:latin typeface="Times New Roman" panose="02020603050405020304" pitchFamily="18" charset="0"/>
                <a:cs typeface="Times New Roman" panose="02020603050405020304" pitchFamily="18" charset="0"/>
              </a:rPr>
              <a:t>或</a:t>
            </a:r>
            <a:r>
              <a:rPr lang="en-US" altLang="zh-CN" sz="2000" dirty="0">
                <a:latin typeface="Times New Roman" panose="02020603050405020304" pitchFamily="18" charset="0"/>
                <a:cs typeface="Times New Roman" panose="02020603050405020304" pitchFamily="18" charset="0"/>
              </a:rPr>
              <a:t>#</a:t>
            </a:r>
            <a:r>
              <a:rPr lang="zh-CN" altLang="en-US" sz="2000" dirty="0">
                <a:latin typeface="Times New Roman" panose="02020603050405020304" pitchFamily="18" charset="0"/>
                <a:cs typeface="Times New Roman" panose="02020603050405020304" pitchFamily="18" charset="0"/>
              </a:rPr>
              <a:t>时，用产生式</a:t>
            </a:r>
            <a:r>
              <a:rPr lang="en-US" altLang="zh-CN" sz="2000" dirty="0">
                <a:latin typeface="Times New Roman" panose="02020603050405020304" pitchFamily="18" charset="0"/>
                <a:cs typeface="Times New Roman" panose="02020603050405020304" pitchFamily="18" charset="0"/>
              </a:rPr>
              <a:t>E→E+T</a:t>
            </a:r>
            <a:r>
              <a:rPr lang="zh-CN" altLang="en-US" sz="2000" dirty="0">
                <a:latin typeface="Times New Roman" panose="02020603050405020304" pitchFamily="18" charset="0"/>
                <a:cs typeface="Times New Roman" panose="02020603050405020304" pitchFamily="18" charset="0"/>
              </a:rPr>
              <a:t>进行归约；</a:t>
            </a:r>
            <a:endParaRPr lang="en-US" altLang="zh-CN" sz="2000" dirty="0">
              <a:latin typeface="Times New Roman" panose="02020603050405020304" pitchFamily="18" charset="0"/>
              <a:cs typeface="Times New Roman" panose="02020603050405020304" pitchFamily="18" charset="0"/>
            </a:endParaRPr>
          </a:p>
          <a:p>
            <a:pPr lvl="1"/>
            <a:r>
              <a:rPr lang="zh-CN" altLang="en-US" sz="2000" dirty="0">
                <a:latin typeface="Times New Roman" panose="02020603050405020304" pitchFamily="18" charset="0"/>
                <a:cs typeface="Times New Roman" panose="02020603050405020304" pitchFamily="18" charset="0"/>
              </a:rPr>
              <a:t>当面临输入符为 * 时，移进；</a:t>
            </a:r>
            <a:endParaRPr lang="en-US" altLang="zh-CN" sz="2000" dirty="0">
              <a:latin typeface="Times New Roman" panose="02020603050405020304" pitchFamily="18" charset="0"/>
              <a:cs typeface="Times New Roman" panose="02020603050405020304" pitchFamily="18" charset="0"/>
            </a:endParaRPr>
          </a:p>
          <a:p>
            <a:pPr lvl="1"/>
            <a:r>
              <a:rPr lang="zh-CN" altLang="en-US" sz="2000" dirty="0">
                <a:latin typeface="Times New Roman" panose="02020603050405020304" pitchFamily="18" charset="0"/>
                <a:cs typeface="Times New Roman" panose="02020603050405020304" pitchFamily="18" charset="0"/>
              </a:rPr>
              <a:t>面临其它符号则报错。  </a:t>
            </a:r>
          </a:p>
        </p:txBody>
      </p:sp>
      <p:sp>
        <p:nvSpPr>
          <p:cNvPr id="234500" name="Text Box 4"/>
          <p:cNvSpPr txBox="1">
            <a:spLocks noChangeArrowheads="1"/>
          </p:cNvSpPr>
          <p:nvPr/>
        </p:nvSpPr>
        <p:spPr bwMode="auto">
          <a:xfrm>
            <a:off x="785813" y="2155825"/>
            <a:ext cx="1553939" cy="1107996"/>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dirty="0">
                <a:ea typeface="华文行楷" pitchFamily="2" charset="-122"/>
              </a:rPr>
              <a:t>I9:</a:t>
            </a:r>
          </a:p>
          <a:p>
            <a:pPr eaLnBrk="1" hangingPunct="1">
              <a:spcBef>
                <a:spcPct val="0"/>
              </a:spcBef>
              <a:buFontTx/>
              <a:buNone/>
            </a:pPr>
            <a:r>
              <a:rPr lang="en-US" altLang="zh-CN" sz="2200" dirty="0">
                <a:ea typeface="华文行楷" pitchFamily="2" charset="-122"/>
              </a:rPr>
              <a:t>    </a:t>
            </a:r>
            <a:r>
              <a:rPr lang="fr-FR" altLang="zh-CN" sz="2200" dirty="0">
                <a:ea typeface="华文行楷" pitchFamily="2" charset="-122"/>
              </a:rPr>
              <a:t>E→E+T·</a:t>
            </a:r>
          </a:p>
          <a:p>
            <a:pPr eaLnBrk="1" hangingPunct="1">
              <a:spcBef>
                <a:spcPct val="0"/>
              </a:spcBef>
              <a:buFontTx/>
              <a:buNone/>
            </a:pPr>
            <a:r>
              <a:rPr lang="fr-FR" altLang="zh-CN" sz="2200" dirty="0">
                <a:ea typeface="华文行楷" pitchFamily="2" charset="-122"/>
              </a:rPr>
              <a:t>    T→T·*F </a:t>
            </a:r>
            <a:endParaRPr lang="en-US" altLang="zh-CN" sz="2200" dirty="0">
              <a:ea typeface="华文行楷" pitchFamily="2" charset="-122"/>
            </a:endParaRPr>
          </a:p>
        </p:txBody>
      </p:sp>
    </p:spTree>
    <p:extLst>
      <p:ext uri="{BB962C8B-B14F-4D97-AF65-F5344CB8AC3E}">
        <p14:creationId xmlns:p14="http://schemas.microsoft.com/office/powerpoint/2010/main" val="868249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449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449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449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4499">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4499">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34499">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4499">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499" grpId="0" build="p"/>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p:txBody>
          <a:bodyPr>
            <a:normAutofit/>
          </a:bodyPr>
          <a:lstStyle/>
          <a:p>
            <a:r>
              <a:rPr lang="zh-CN" altLang="zh-CN" sz="2200" dirty="0"/>
              <a:t>这种解决冲突的方法</a:t>
            </a:r>
            <a:r>
              <a:rPr lang="zh-CN" altLang="en-US" sz="2200" dirty="0"/>
              <a:t>称为</a:t>
            </a:r>
            <a:r>
              <a:rPr lang="en-US" altLang="zh-CN" sz="2200" dirty="0"/>
              <a:t>SLR(1)</a:t>
            </a:r>
            <a:r>
              <a:rPr lang="zh-CN" altLang="zh-CN" sz="2200" dirty="0"/>
              <a:t>方法</a:t>
            </a:r>
            <a:r>
              <a:rPr lang="zh-CN" altLang="en-US" sz="2200" dirty="0"/>
              <a:t>，</a:t>
            </a:r>
            <a:r>
              <a:rPr lang="zh-CN" altLang="zh-CN" sz="2200" dirty="0"/>
              <a:t>数字</a:t>
            </a:r>
            <a:r>
              <a:rPr lang="en-US" altLang="zh-CN" sz="2200" dirty="0"/>
              <a:t>1</a:t>
            </a:r>
            <a:r>
              <a:rPr lang="zh-CN" altLang="en-US" sz="2200" dirty="0"/>
              <a:t>表示</a:t>
            </a:r>
            <a:r>
              <a:rPr lang="zh-CN" altLang="zh-CN" sz="2200" dirty="0"/>
              <a:t>在分析过程中最多向前看一个符号</a:t>
            </a:r>
            <a:r>
              <a:rPr lang="zh-CN" altLang="en-US" sz="2200" dirty="0"/>
              <a:t>，即需要查看归约项目左部符号的</a:t>
            </a:r>
            <a:r>
              <a:rPr lang="en-US" altLang="zh-CN" sz="2200" dirty="0"/>
              <a:t>follow</a:t>
            </a:r>
            <a:r>
              <a:rPr lang="zh-CN" altLang="en-US" sz="2200" dirty="0"/>
              <a:t>集</a:t>
            </a:r>
            <a:endParaRPr lang="en-US" altLang="zh-CN" sz="2200" dirty="0"/>
          </a:p>
          <a:p>
            <a:r>
              <a:rPr lang="zh-CN" altLang="zh-CN" sz="2200" dirty="0"/>
              <a:t>如果某文法的</a:t>
            </a:r>
            <a:r>
              <a:rPr lang="en-US" altLang="zh-CN" sz="2200" dirty="0"/>
              <a:t>LR(0)</a:t>
            </a:r>
            <a:r>
              <a:rPr lang="zh-CN" altLang="zh-CN" sz="2200" dirty="0"/>
              <a:t>项目集规范族的</a:t>
            </a:r>
            <a:r>
              <a:rPr lang="zh-CN" altLang="en-US" sz="2200" dirty="0"/>
              <a:t>状态</a:t>
            </a:r>
            <a:r>
              <a:rPr lang="zh-CN" altLang="zh-CN" sz="2200" dirty="0"/>
              <a:t>存在的冲突都能用</a:t>
            </a:r>
            <a:r>
              <a:rPr lang="en-US" altLang="zh-CN" sz="2200" dirty="0"/>
              <a:t>SLR(1)</a:t>
            </a:r>
            <a:r>
              <a:rPr lang="zh-CN" altLang="zh-CN" sz="2200" dirty="0"/>
              <a:t>方法解决，称这个文法是</a:t>
            </a:r>
            <a:r>
              <a:rPr lang="en-US" altLang="zh-CN" sz="2200" dirty="0"/>
              <a:t>SLR(1)</a:t>
            </a:r>
            <a:r>
              <a:rPr lang="zh-CN" altLang="zh-CN" sz="2200" dirty="0"/>
              <a:t>文法</a:t>
            </a:r>
            <a:endParaRPr lang="en-US" altLang="zh-CN" sz="2200" dirty="0"/>
          </a:p>
          <a:p>
            <a:r>
              <a:rPr lang="zh-CN" altLang="en-US" sz="2200" dirty="0"/>
              <a:t>对</a:t>
            </a:r>
            <a:r>
              <a:rPr lang="en-US" altLang="zh-CN" sz="2200" dirty="0"/>
              <a:t>SLR(1)</a:t>
            </a:r>
            <a:r>
              <a:rPr lang="zh-CN" altLang="en-US" sz="2200" dirty="0"/>
              <a:t>文法也可以</a:t>
            </a:r>
            <a:r>
              <a:rPr lang="zh-CN" altLang="zh-CN" sz="2200" dirty="0"/>
              <a:t>构造</a:t>
            </a:r>
            <a:r>
              <a:rPr lang="zh-CN" altLang="en-US" sz="2200" dirty="0"/>
              <a:t>一个</a:t>
            </a:r>
            <a:r>
              <a:rPr lang="zh-CN" altLang="zh-CN" sz="2200" dirty="0"/>
              <a:t>分析表</a:t>
            </a:r>
            <a:r>
              <a:rPr lang="zh-CN" altLang="en-US" sz="2200" dirty="0"/>
              <a:t>，称为</a:t>
            </a:r>
            <a:r>
              <a:rPr lang="en-US" altLang="zh-CN" sz="2200" dirty="0"/>
              <a:t>SLR(1)</a:t>
            </a:r>
            <a:r>
              <a:rPr lang="zh-CN" altLang="zh-CN" sz="2200" dirty="0"/>
              <a:t>分析表。</a:t>
            </a:r>
            <a:endParaRPr lang="en-US" altLang="zh-CN" sz="2200" dirty="0"/>
          </a:p>
          <a:p>
            <a:r>
              <a:rPr lang="zh-CN" altLang="zh-CN" sz="2200" dirty="0"/>
              <a:t>使用</a:t>
            </a:r>
            <a:r>
              <a:rPr lang="en-US" altLang="zh-CN" sz="2200" dirty="0"/>
              <a:t>SLR(1)</a:t>
            </a:r>
            <a:r>
              <a:rPr lang="zh-CN" altLang="zh-CN" sz="2200" dirty="0"/>
              <a:t>分析表的分析器称为</a:t>
            </a:r>
            <a:r>
              <a:rPr lang="en-US" altLang="zh-CN" sz="2200" dirty="0"/>
              <a:t>SLR(1)</a:t>
            </a:r>
            <a:r>
              <a:rPr lang="zh-CN" altLang="zh-CN" sz="2200" dirty="0"/>
              <a:t>分析器</a:t>
            </a:r>
          </a:p>
          <a:p>
            <a:endParaRPr lang="zh-CN" altLang="en-US" sz="2200" dirty="0"/>
          </a:p>
        </p:txBody>
      </p:sp>
      <p:sp>
        <p:nvSpPr>
          <p:cNvPr id="3" name="标题 2"/>
          <p:cNvSpPr>
            <a:spLocks noGrp="1"/>
          </p:cNvSpPr>
          <p:nvPr>
            <p:ph type="title"/>
          </p:nvPr>
        </p:nvSpPr>
        <p:spPr>
          <a:xfrm>
            <a:off x="179512" y="195486"/>
            <a:ext cx="8229600" cy="576064"/>
          </a:xfrm>
        </p:spPr>
        <p:txBody>
          <a:bodyPr>
            <a:normAutofit fontScale="90000"/>
          </a:bodyPr>
          <a:lstStyle/>
          <a:p>
            <a:r>
              <a:rPr lang="en-US" altLang="zh-CN" dirty="0"/>
              <a:t>SLR(1)</a:t>
            </a:r>
            <a:r>
              <a:rPr lang="zh-CN" altLang="en-US" dirty="0"/>
              <a:t>文法</a:t>
            </a:r>
          </a:p>
        </p:txBody>
      </p:sp>
    </p:spTree>
    <p:extLst>
      <p:ext uri="{BB962C8B-B14F-4D97-AF65-F5344CB8AC3E}">
        <p14:creationId xmlns:p14="http://schemas.microsoft.com/office/powerpoint/2010/main" val="850349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ChangeArrowheads="1"/>
          </p:cNvSpPr>
          <p:nvPr>
            <p:ph type="title"/>
          </p:nvPr>
        </p:nvSpPr>
        <p:spPr>
          <a:xfrm>
            <a:off x="701675" y="185738"/>
            <a:ext cx="7772400" cy="496887"/>
          </a:xfrm>
        </p:spPr>
        <p:txBody>
          <a:bodyPr>
            <a:normAutofit fontScale="90000"/>
          </a:bodyPr>
          <a:lstStyle/>
          <a:p>
            <a:pPr eaLnBrk="1" hangingPunct="1"/>
            <a:r>
              <a:rPr kumimoji="0" lang="en-US" altLang="zh-CN" sz="4000" b="1">
                <a:latin typeface="楷体_GB2312" pitchFamily="49" charset="-122"/>
                <a:ea typeface="楷体_GB2312" pitchFamily="49" charset="-122"/>
              </a:rPr>
              <a:t>SLR(1)</a:t>
            </a:r>
            <a:r>
              <a:rPr kumimoji="0" lang="zh-CN" altLang="en-US" sz="4000" b="1">
                <a:latin typeface="楷体_GB2312" pitchFamily="49" charset="-122"/>
                <a:ea typeface="楷体_GB2312" pitchFamily="49" charset="-122"/>
              </a:rPr>
              <a:t>分析表的构造算法</a:t>
            </a:r>
          </a:p>
        </p:txBody>
      </p:sp>
      <p:sp>
        <p:nvSpPr>
          <p:cNvPr id="235523" name="Text Box 4"/>
          <p:cNvSpPr>
            <a:spLocks noGrp="1" noChangeArrowheads="1"/>
          </p:cNvSpPr>
          <p:nvPr>
            <p:ph type="body" idx="1"/>
          </p:nvPr>
        </p:nvSpPr>
        <p:spPr>
          <a:xfrm>
            <a:off x="303213" y="776288"/>
            <a:ext cx="5780955" cy="2803574"/>
          </a:xfrm>
          <a:solidFill>
            <a:schemeClr val="bg1"/>
          </a:solidFill>
          <a:ln w="28575">
            <a:solidFill>
              <a:schemeClr val="accent2"/>
            </a:solidFill>
            <a:miter lim="800000"/>
            <a:headEnd/>
            <a:tailEnd/>
          </a:ln>
        </p:spPr>
        <p:txBody>
          <a:bodyPr>
            <a:normAutofit fontScale="92500" lnSpcReduction="10000"/>
          </a:bodyPr>
          <a:lstStyle/>
          <a:p>
            <a:pPr marL="534988" indent="-534988" eaLnBrk="1" hangingPunct="1">
              <a:buFontTx/>
              <a:buNone/>
            </a:pP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  </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rPr>
              <a:t>设有文法</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G</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rPr>
              <a:t>，则</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SLR(1)</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rPr>
              <a:t>分析表的</a:t>
            </a:r>
            <a:r>
              <a:rPr lang="zh-CN" altLang="en-US"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构造方法</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rPr>
              <a:t>为：</a:t>
            </a:r>
          </a:p>
          <a:p>
            <a:pPr marL="534988" indent="-534988" eaLnBrk="1" hangingPunct="1">
              <a:buFontTx/>
              <a:buNone/>
            </a:pP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   对于</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·X</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I</a:t>
            </a:r>
            <a:r>
              <a:rPr lang="en-US" altLang="zh-CN" sz="2000" b="1" baseline="-25000"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GO(</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I</a:t>
            </a:r>
            <a:r>
              <a:rPr lang="en-US" altLang="zh-CN" sz="2000" b="1" baseline="-25000"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,X</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I</a:t>
            </a:r>
            <a:r>
              <a:rPr lang="en-US" altLang="zh-CN" sz="2000" b="1" baseline="-25000"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t>
            </a:r>
            <a:endParaRPr lang="en-US" altLang="zh-CN" sz="2000" b="1" baseline="-25000"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endParaRPr>
          </a:p>
          <a:p>
            <a:pPr marL="542925" lvl="1" indent="-287338"/>
            <a:r>
              <a:rPr lang="zh-CN" altLang="en-US" sz="2000" b="1" dirty="0">
                <a:latin typeface="Times New Roman" panose="02020603050405020304" pitchFamily="18" charset="0"/>
                <a:ea typeface="宋体" panose="02010600030101010101" pitchFamily="2" charset="-122"/>
                <a:cs typeface="Times New Roman" panose="02020603050405020304" pitchFamily="18" charset="0"/>
              </a:rPr>
              <a:t>若</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rPr>
              <a:t>X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V</a:t>
            </a:r>
            <a:r>
              <a:rPr lang="en-US" altLang="zh-CN" sz="2000" b="1" baseline="-25000"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，则置</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action[</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k,X</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S</a:t>
            </a:r>
            <a:r>
              <a:rPr lang="en-US" altLang="zh-CN" sz="2000" b="1" baseline="-25000"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t>
            </a:r>
            <a:r>
              <a:rPr lang="en-US" altLang="zh-CN" sz="2000" b="1" baseline="-25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即把</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移进栈</a:t>
            </a:r>
          </a:p>
          <a:p>
            <a:pPr marL="542925" lvl="1" indent="-287338"/>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若</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X </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V</a:t>
            </a:r>
            <a:r>
              <a:rPr lang="en-US" altLang="zh-CN" sz="2000" b="1" baseline="-25000"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n</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，则置</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goto</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k,X</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t>
            </a:r>
          </a:p>
          <a:p>
            <a:pPr marL="534988" indent="-534988">
              <a:buNone/>
            </a:pP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 </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对于</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A</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 </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I</a:t>
            </a:r>
            <a:r>
              <a:rPr lang="en-US" altLang="zh-CN" sz="2000" b="1" baseline="-25000"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a:t>
            </a:r>
            <a:r>
              <a:rPr lang="en-US" altLang="zh-CN" sz="2000"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则对所有的</a:t>
            </a:r>
            <a:r>
              <a:rPr lang="en-US" altLang="zh-CN" sz="2000" b="1" dirty="0">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x</a:t>
            </a:r>
            <a:r>
              <a:rPr lang="zh-CN" altLang="en-US" sz="2000" b="1" dirty="0">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x</a:t>
            </a:r>
            <a:r>
              <a:rPr lang="en-US" altLang="zh-CN" sz="2000" b="1" u="dbl" dirty="0" err="1">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follow</a:t>
            </a:r>
            <a:r>
              <a:rPr lang="en-US" altLang="zh-CN" sz="2000" b="1" u="dbl" dirty="0">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a:t>
            </a:r>
            <a:r>
              <a:rPr lang="en-US" altLang="zh-CN" sz="2000" b="1" u="dbl" baseline="-25000" dirty="0">
                <a:solidFill>
                  <a:srgbClr val="0000FF"/>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zh-CN" altLang="en-US" sz="2000" b="1" dirty="0">
                <a:solidFill>
                  <a:srgbClr val="FF5050"/>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则置</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action[</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k,x</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r</a:t>
            </a:r>
            <a:r>
              <a:rPr lang="en-US" altLang="zh-CN" sz="2000" b="1" baseline="-25000"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t>
            </a:r>
            <a:r>
              <a:rPr lang="en-US" altLang="zh-CN" sz="2000" b="1" baseline="-25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设</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 </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是第</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j</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个产生式</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，即用</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 </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归约</a:t>
            </a:r>
            <a:endParaRPr lang="zh-CN" altLang="en-US" sz="2000" b="1" baseline="-25000"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endParaRPr>
          </a:p>
          <a:p>
            <a:pPr marL="542925" lvl="1" indent="-287338">
              <a:buFont typeface="Arial" panose="020B0604020202020204" pitchFamily="34" charset="0"/>
              <a:buChar char="•"/>
            </a:pP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若</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S</a:t>
            </a:r>
            <a:r>
              <a:rPr lang="en-US" altLang="zh-CN" sz="2000" b="1" dirty="0">
                <a:solidFill>
                  <a:srgbClr val="FF0000"/>
                </a:solidFill>
              </a:rPr>
              <a:t>'</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S ·</a:t>
            </a:r>
            <a:r>
              <a:rPr lang="en-US" altLang="zh-CN"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 </a:t>
            </a:r>
            <a:r>
              <a:rPr lang="en-US" altLang="zh-CN" sz="2000" b="1"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I</a:t>
            </a:r>
            <a:r>
              <a:rPr lang="en-US" altLang="zh-CN" sz="2000" b="1" baseline="-25000" dirty="0" err="1">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k</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，则置</a:t>
            </a:r>
            <a:r>
              <a:rPr lang="en-US" altLang="zh-CN"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action[k,#]=</a:t>
            </a:r>
            <a:r>
              <a:rPr lang="en-US" altLang="zh-CN" sz="2000" b="1" dirty="0" err="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acc</a:t>
            </a:r>
            <a:r>
              <a:rPr lang="zh-CN" altLang="en-US" sz="2000" b="1" dirty="0">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a:t>
            </a: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Symbol" pitchFamily="18" charset="2"/>
              </a:rPr>
              <a:t>即接受</a:t>
            </a:r>
          </a:p>
          <a:p>
            <a:pPr marL="534988" indent="-534988" eaLnBrk="1" hangingPunct="1">
              <a:buFontTx/>
              <a:buNone/>
            </a:pPr>
            <a:r>
              <a:rPr lang="zh-CN" altLang="en-US" sz="2000" b="1" dirty="0">
                <a:latin typeface="Times New Roman" panose="02020603050405020304" pitchFamily="18" charset="0"/>
                <a:ea typeface="宋体" panose="02010600030101010101" pitchFamily="2" charset="-122"/>
                <a:cs typeface="Times New Roman" panose="02020603050405020304" pitchFamily="18" charset="0"/>
                <a:sym typeface="Wingdings" pitchFamily="2" charset="2"/>
              </a:rPr>
              <a:t> 其他均置出错。</a:t>
            </a:r>
            <a:endParaRPr lang="zh-CN" altLang="en-US" sz="20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235524" name="Text Box 5"/>
          <p:cNvSpPr txBox="1">
            <a:spLocks noChangeArrowheads="1"/>
          </p:cNvSpPr>
          <p:nvPr/>
        </p:nvSpPr>
        <p:spPr bwMode="auto">
          <a:xfrm>
            <a:off x="23586" y="3723878"/>
            <a:ext cx="2532190" cy="1323439"/>
          </a:xfrm>
          <a:prstGeom prst="rect">
            <a:avLst/>
          </a:prstGeom>
          <a:solidFill>
            <a:schemeClr val="bg1"/>
          </a:solid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000" dirty="0">
                <a:ea typeface="华文行楷" pitchFamily="2" charset="-122"/>
              </a:rPr>
              <a:t>如果分析表的每个入口不含多重定义，则称为</a:t>
            </a:r>
            <a:r>
              <a:rPr lang="en-US" altLang="zh-CN" sz="2000" dirty="0">
                <a:ea typeface="华文行楷" pitchFamily="2" charset="-122"/>
              </a:rPr>
              <a:t>SLR</a:t>
            </a:r>
            <a:r>
              <a:rPr lang="zh-CN" altLang="en-US" sz="2000" dirty="0">
                <a:ea typeface="华文行楷" pitchFamily="2" charset="-122"/>
              </a:rPr>
              <a:t>表，文法</a:t>
            </a:r>
            <a:r>
              <a:rPr lang="en-US" altLang="zh-CN" sz="2000" dirty="0">
                <a:ea typeface="华文行楷" pitchFamily="2" charset="-122"/>
              </a:rPr>
              <a:t>G</a:t>
            </a:r>
            <a:r>
              <a:rPr lang="zh-CN" altLang="en-US" sz="2000" dirty="0">
                <a:ea typeface="华文行楷" pitchFamily="2" charset="-122"/>
              </a:rPr>
              <a:t>称为</a:t>
            </a:r>
            <a:r>
              <a:rPr lang="en-US" altLang="zh-CN" sz="2000" dirty="0">
                <a:ea typeface="华文行楷" pitchFamily="2" charset="-122"/>
              </a:rPr>
              <a:t>SLR(1)</a:t>
            </a:r>
            <a:r>
              <a:rPr lang="zh-CN" altLang="en-US" sz="2000" dirty="0">
                <a:ea typeface="华文行楷" pitchFamily="2" charset="-122"/>
              </a:rPr>
              <a:t>文法。</a:t>
            </a:r>
          </a:p>
        </p:txBody>
      </p:sp>
      <p:sp>
        <p:nvSpPr>
          <p:cNvPr id="5" name="Text Box 4"/>
          <p:cNvSpPr txBox="1">
            <a:spLocks noChangeArrowheads="1"/>
          </p:cNvSpPr>
          <p:nvPr/>
        </p:nvSpPr>
        <p:spPr bwMode="auto">
          <a:xfrm>
            <a:off x="6372200" y="267494"/>
            <a:ext cx="2768252" cy="1477328"/>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a:spAutoFit/>
          </a:bodyPr>
          <a:lstStyle>
            <a:lvl1pPr marL="534988" indent="-5349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265113" indent="-265113">
              <a:spcBef>
                <a:spcPts val="0"/>
              </a:spcBef>
              <a:buNone/>
            </a:pPr>
            <a:r>
              <a:rPr lang="en-US" altLang="zh-CN" sz="1800" b="1" dirty="0">
                <a:cs typeface="Times New Roman" panose="02020603050405020304" pitchFamily="18" charset="0"/>
                <a:sym typeface="Wingdings" pitchFamily="2" charset="2"/>
              </a:rPr>
              <a:t> </a:t>
            </a:r>
            <a:r>
              <a:rPr lang="zh-CN" altLang="en-US" sz="1800" b="1" dirty="0">
                <a:latin typeface="宋体" panose="02010600030101010101" pitchFamily="2" charset="-122"/>
                <a:sym typeface="Wingdings" pitchFamily="2" charset="2"/>
              </a:rPr>
              <a:t>对于</a:t>
            </a:r>
            <a:r>
              <a:rPr lang="en-US" altLang="zh-CN" sz="1800" b="1" dirty="0">
                <a:solidFill>
                  <a:schemeClr val="accent2"/>
                </a:solidFill>
                <a:latin typeface="宋体" panose="02010600030101010101" pitchFamily="2" charset="-122"/>
                <a:sym typeface="Wingdings" pitchFamily="2" charset="2"/>
              </a:rPr>
              <a:t>A</a:t>
            </a:r>
            <a:r>
              <a:rPr lang="en-US" altLang="zh-CN" sz="1800" b="1" dirty="0">
                <a:solidFill>
                  <a:schemeClr val="accent2"/>
                </a:solidFill>
                <a:latin typeface="宋体" panose="02010600030101010101" pitchFamily="2" charset="-122"/>
                <a:sym typeface="Symbol" pitchFamily="18" charset="2"/>
              </a:rPr>
              <a:t>·</a:t>
            </a:r>
            <a:r>
              <a:rPr lang="en-US" altLang="zh-CN" sz="1800" b="1" dirty="0">
                <a:latin typeface="宋体" panose="02010600030101010101" pitchFamily="2" charset="-122"/>
                <a:sym typeface="Symbol" pitchFamily="18" charset="2"/>
              </a:rPr>
              <a:t></a:t>
            </a:r>
            <a:r>
              <a:rPr lang="en-US" altLang="zh-CN" sz="1800" b="1" dirty="0" err="1">
                <a:latin typeface="宋体" panose="02010600030101010101" pitchFamily="2" charset="-122"/>
                <a:sym typeface="Symbol" pitchFamily="18" charset="2"/>
              </a:rPr>
              <a:t>I</a:t>
            </a:r>
            <a:r>
              <a:rPr lang="en-US" altLang="zh-CN" sz="1800" b="1" baseline="-25000" dirty="0" err="1">
                <a:latin typeface="宋体" panose="02010600030101010101" pitchFamily="2" charset="-122"/>
                <a:sym typeface="Symbol" pitchFamily="18" charset="2"/>
              </a:rPr>
              <a:t>k</a:t>
            </a:r>
            <a:r>
              <a:rPr lang="en-US" altLang="zh-CN" sz="1800" dirty="0">
                <a:latin typeface="宋体" panose="02010600030101010101" pitchFamily="2" charset="-122"/>
                <a:sym typeface="Symbol" pitchFamily="18" charset="2"/>
              </a:rPr>
              <a:t> </a:t>
            </a:r>
            <a:r>
              <a:rPr lang="zh-CN" altLang="en-US" sz="1800" b="1" dirty="0">
                <a:latin typeface="宋体" panose="02010600030101010101" pitchFamily="2" charset="-122"/>
                <a:sym typeface="Symbol" pitchFamily="18" charset="2"/>
              </a:rPr>
              <a:t>，则</a:t>
            </a:r>
            <a:r>
              <a:rPr lang="zh-CN" altLang="en-US" sz="1800" b="1" dirty="0">
                <a:solidFill>
                  <a:srgbClr val="0000FF"/>
                </a:solidFill>
                <a:latin typeface="宋体" panose="02010600030101010101" pitchFamily="2" charset="-122"/>
                <a:sym typeface="Symbol" pitchFamily="18" charset="2"/>
              </a:rPr>
              <a:t>对所有的</a:t>
            </a:r>
            <a:r>
              <a:rPr lang="en-US" altLang="zh-CN" sz="1800" b="1" dirty="0" err="1">
                <a:solidFill>
                  <a:srgbClr val="0000FF"/>
                </a:solidFill>
                <a:latin typeface="宋体" panose="02010600030101010101" pitchFamily="2" charset="-122"/>
                <a:sym typeface="Symbol" pitchFamily="18" charset="2"/>
              </a:rPr>
              <a:t>xV</a:t>
            </a:r>
            <a:r>
              <a:rPr lang="en-US" altLang="zh-CN" sz="1800" b="1" baseline="-25000" dirty="0" err="1">
                <a:solidFill>
                  <a:srgbClr val="0000FF"/>
                </a:solidFill>
                <a:latin typeface="宋体" panose="02010600030101010101" pitchFamily="2" charset="-122"/>
                <a:sym typeface="Symbol" pitchFamily="18" charset="2"/>
              </a:rPr>
              <a:t>t</a:t>
            </a:r>
            <a:r>
              <a:rPr lang="zh-CN" altLang="en-US" sz="1800" b="1" dirty="0">
                <a:solidFill>
                  <a:srgbClr val="0000FF"/>
                </a:solidFill>
                <a:latin typeface="宋体" panose="02010600030101010101" pitchFamily="2" charset="-122"/>
                <a:sym typeface="Symbol" pitchFamily="18" charset="2"/>
              </a:rPr>
              <a:t>和</a:t>
            </a:r>
            <a:r>
              <a:rPr lang="en-US" altLang="zh-CN" sz="1800" b="1" dirty="0">
                <a:solidFill>
                  <a:srgbClr val="0000FF"/>
                </a:solidFill>
                <a:latin typeface="宋体" panose="02010600030101010101" pitchFamily="2" charset="-122"/>
                <a:sym typeface="Symbol" pitchFamily="18" charset="2"/>
              </a:rPr>
              <a:t>#</a:t>
            </a:r>
            <a:r>
              <a:rPr lang="zh-CN" altLang="en-US" sz="1800" b="1" dirty="0">
                <a:latin typeface="宋体" panose="02010600030101010101" pitchFamily="2" charset="-122"/>
                <a:sym typeface="Symbol" pitchFamily="18" charset="2"/>
              </a:rPr>
              <a:t>，均置</a:t>
            </a:r>
            <a:r>
              <a:rPr lang="en-US" altLang="zh-CN" sz="1800" b="1" dirty="0">
                <a:solidFill>
                  <a:schemeClr val="accent2"/>
                </a:solidFill>
                <a:latin typeface="宋体" panose="02010600030101010101" pitchFamily="2" charset="-122"/>
                <a:sym typeface="Symbol" pitchFamily="18" charset="2"/>
              </a:rPr>
              <a:t>action[</a:t>
            </a:r>
            <a:r>
              <a:rPr lang="en-US" altLang="zh-CN" sz="1800" b="1" dirty="0" err="1">
                <a:solidFill>
                  <a:schemeClr val="accent2"/>
                </a:solidFill>
                <a:latin typeface="宋体" panose="02010600030101010101" pitchFamily="2" charset="-122"/>
                <a:sym typeface="Symbol" pitchFamily="18" charset="2"/>
              </a:rPr>
              <a:t>k,x</a:t>
            </a:r>
            <a:r>
              <a:rPr lang="en-US" altLang="zh-CN" sz="1800" b="1" dirty="0">
                <a:solidFill>
                  <a:schemeClr val="accent2"/>
                </a:solidFill>
                <a:latin typeface="宋体" panose="02010600030101010101" pitchFamily="2" charset="-122"/>
                <a:sym typeface="Symbol" pitchFamily="18" charset="2"/>
              </a:rPr>
              <a:t>]=</a:t>
            </a:r>
            <a:r>
              <a:rPr lang="en-US" altLang="zh-CN" sz="1800" b="1" dirty="0" err="1">
                <a:solidFill>
                  <a:schemeClr val="accent2"/>
                </a:solidFill>
                <a:latin typeface="宋体" panose="02010600030101010101" pitchFamily="2" charset="-122"/>
                <a:sym typeface="Symbol" pitchFamily="18" charset="2"/>
              </a:rPr>
              <a:t>r</a:t>
            </a:r>
            <a:r>
              <a:rPr lang="en-US" altLang="zh-CN" sz="1800" b="1" baseline="-25000" dirty="0" err="1">
                <a:solidFill>
                  <a:schemeClr val="accent2"/>
                </a:solidFill>
                <a:latin typeface="宋体" panose="02010600030101010101" pitchFamily="2" charset="-122"/>
                <a:sym typeface="Symbol" pitchFamily="18" charset="2"/>
              </a:rPr>
              <a:t>j</a:t>
            </a:r>
            <a:r>
              <a:rPr lang="en-US" altLang="zh-CN" sz="1800" b="1" baseline="-25000" dirty="0">
                <a:solidFill>
                  <a:schemeClr val="accent2"/>
                </a:solidFill>
                <a:latin typeface="宋体" panose="02010600030101010101" pitchFamily="2" charset="-122"/>
                <a:sym typeface="Symbol" pitchFamily="18" charset="2"/>
              </a:rPr>
              <a:t> </a:t>
            </a:r>
            <a:r>
              <a:rPr lang="en-US" altLang="zh-CN" sz="1800" b="1" dirty="0">
                <a:latin typeface="宋体" panose="02010600030101010101" pitchFamily="2" charset="-122"/>
                <a:sym typeface="Symbol" pitchFamily="18" charset="2"/>
              </a:rPr>
              <a:t>(</a:t>
            </a:r>
            <a:r>
              <a:rPr lang="zh-CN" altLang="en-US" sz="1800" b="1" dirty="0">
                <a:latin typeface="宋体" panose="02010600030101010101" pitchFamily="2" charset="-122"/>
                <a:sym typeface="Symbol" pitchFamily="18" charset="2"/>
              </a:rPr>
              <a:t>设</a:t>
            </a:r>
            <a:r>
              <a:rPr lang="en-US" altLang="zh-CN" sz="1800" b="1" dirty="0">
                <a:latin typeface="宋体" panose="02010600030101010101" pitchFamily="2" charset="-122"/>
                <a:sym typeface="Symbol" pitchFamily="18" charset="2"/>
              </a:rPr>
              <a:t>A </a:t>
            </a:r>
            <a:r>
              <a:rPr lang="zh-CN" altLang="en-US" sz="1800" b="1" dirty="0">
                <a:latin typeface="宋体" panose="02010600030101010101" pitchFamily="2" charset="-122"/>
                <a:sym typeface="Symbol" pitchFamily="18" charset="2"/>
              </a:rPr>
              <a:t>是第</a:t>
            </a:r>
            <a:r>
              <a:rPr lang="en-US" altLang="zh-CN" sz="1800" b="1" dirty="0">
                <a:latin typeface="宋体" panose="02010600030101010101" pitchFamily="2" charset="-122"/>
                <a:sym typeface="Symbol" pitchFamily="18" charset="2"/>
              </a:rPr>
              <a:t>j</a:t>
            </a:r>
            <a:r>
              <a:rPr lang="zh-CN" altLang="en-US" sz="1800" b="1" dirty="0">
                <a:latin typeface="宋体" panose="02010600030101010101" pitchFamily="2" charset="-122"/>
                <a:sym typeface="Symbol" pitchFamily="18" charset="2"/>
              </a:rPr>
              <a:t>个产生式</a:t>
            </a:r>
            <a:r>
              <a:rPr lang="en-US" altLang="zh-CN" sz="1800" b="1" dirty="0">
                <a:latin typeface="宋体" panose="02010600030101010101" pitchFamily="2" charset="-122"/>
                <a:sym typeface="Symbol" pitchFamily="18" charset="2"/>
              </a:rPr>
              <a:t>)</a:t>
            </a:r>
            <a:r>
              <a:rPr lang="zh-CN" altLang="en-US" sz="1800" b="1" dirty="0">
                <a:latin typeface="宋体" panose="02010600030101010101" pitchFamily="2" charset="-122"/>
                <a:sym typeface="Symbol" pitchFamily="18" charset="2"/>
              </a:rPr>
              <a:t>，即用</a:t>
            </a:r>
            <a:r>
              <a:rPr lang="en-US" altLang="zh-CN" sz="1800" b="1" dirty="0">
                <a:latin typeface="宋体" panose="02010600030101010101" pitchFamily="2" charset="-122"/>
                <a:sym typeface="Symbol" pitchFamily="18" charset="2"/>
              </a:rPr>
              <a:t>A</a:t>
            </a:r>
            <a:r>
              <a:rPr lang="zh-CN" altLang="en-US" sz="1800" b="1" dirty="0">
                <a:latin typeface="宋体" panose="02010600030101010101" pitchFamily="2" charset="-122"/>
                <a:sym typeface="Symbol" pitchFamily="18" charset="2"/>
              </a:rPr>
              <a:t>归约</a:t>
            </a:r>
            <a:endParaRPr lang="zh-CN" altLang="en-US" sz="1800" b="1" baseline="-25000" dirty="0">
              <a:solidFill>
                <a:schemeClr val="accent2"/>
              </a:solidFill>
              <a:latin typeface="宋体" panose="02010600030101010101" pitchFamily="2" charset="-122"/>
              <a:sym typeface="Symbol" pitchFamily="18" charset="2"/>
            </a:endParaRPr>
          </a:p>
        </p:txBody>
      </p:sp>
      <p:pic>
        <p:nvPicPr>
          <p:cNvPr id="3" name="图片 2">
            <a:extLst>
              <a:ext uri="{FF2B5EF4-FFF2-40B4-BE49-F238E27FC236}">
                <a16:creationId xmlns:a16="http://schemas.microsoft.com/office/drawing/2014/main" id="{643125A0-F277-5584-9FD2-0D167E67C926}"/>
              </a:ext>
            </a:extLst>
          </p:cNvPr>
          <p:cNvPicPr>
            <a:picLocks noChangeAspect="1"/>
          </p:cNvPicPr>
          <p:nvPr/>
        </p:nvPicPr>
        <p:blipFill>
          <a:blip r:embed="rId3"/>
          <a:stretch>
            <a:fillRect/>
          </a:stretch>
        </p:blipFill>
        <p:spPr>
          <a:xfrm>
            <a:off x="2411760" y="3111663"/>
            <a:ext cx="2232248" cy="1937423"/>
          </a:xfrm>
          <a:prstGeom prst="rect">
            <a:avLst/>
          </a:prstGeom>
          <a:ln>
            <a:solidFill>
              <a:srgbClr val="3333FF"/>
            </a:solidFill>
          </a:ln>
        </p:spPr>
      </p:pic>
      <p:graphicFrame>
        <p:nvGraphicFramePr>
          <p:cNvPr id="4" name="表格 3">
            <a:extLst>
              <a:ext uri="{FF2B5EF4-FFF2-40B4-BE49-F238E27FC236}">
                <a16:creationId xmlns:a16="http://schemas.microsoft.com/office/drawing/2014/main" id="{4AA4E4DE-5742-D5F6-32FE-23C785F82054}"/>
              </a:ext>
            </a:extLst>
          </p:cNvPr>
          <p:cNvGraphicFramePr>
            <a:graphicFrameLocks noGrp="1"/>
          </p:cNvGraphicFramePr>
          <p:nvPr>
            <p:extLst>
              <p:ext uri="{D42A27DB-BD31-4B8C-83A1-F6EECF244321}">
                <p14:modId xmlns:p14="http://schemas.microsoft.com/office/powerpoint/2010/main" val="1569308574"/>
              </p:ext>
            </p:extLst>
          </p:nvPr>
        </p:nvGraphicFramePr>
        <p:xfrm>
          <a:off x="5060471" y="3357086"/>
          <a:ext cx="3988301" cy="1446579"/>
        </p:xfrm>
        <a:graphic>
          <a:graphicData uri="http://schemas.openxmlformats.org/drawingml/2006/table">
            <a:tbl>
              <a:tblPr/>
              <a:tblGrid>
                <a:gridCol w="377916">
                  <a:extLst>
                    <a:ext uri="{9D8B030D-6E8A-4147-A177-3AD203B41FA5}">
                      <a16:colId xmlns:a16="http://schemas.microsoft.com/office/drawing/2014/main" val="3346572560"/>
                    </a:ext>
                  </a:extLst>
                </a:gridCol>
                <a:gridCol w="376725">
                  <a:extLst>
                    <a:ext uri="{9D8B030D-6E8A-4147-A177-3AD203B41FA5}">
                      <a16:colId xmlns:a16="http://schemas.microsoft.com/office/drawing/2014/main" val="3769109809"/>
                    </a:ext>
                  </a:extLst>
                </a:gridCol>
                <a:gridCol w="431392">
                  <a:extLst>
                    <a:ext uri="{9D8B030D-6E8A-4147-A177-3AD203B41FA5}">
                      <a16:colId xmlns:a16="http://schemas.microsoft.com/office/drawing/2014/main" val="573517231"/>
                    </a:ext>
                  </a:extLst>
                </a:gridCol>
                <a:gridCol w="431393">
                  <a:extLst>
                    <a:ext uri="{9D8B030D-6E8A-4147-A177-3AD203B41FA5}">
                      <a16:colId xmlns:a16="http://schemas.microsoft.com/office/drawing/2014/main" val="2596519315"/>
                    </a:ext>
                  </a:extLst>
                </a:gridCol>
                <a:gridCol w="431392">
                  <a:extLst>
                    <a:ext uri="{9D8B030D-6E8A-4147-A177-3AD203B41FA5}">
                      <a16:colId xmlns:a16="http://schemas.microsoft.com/office/drawing/2014/main" val="4190446855"/>
                    </a:ext>
                  </a:extLst>
                </a:gridCol>
                <a:gridCol w="431393">
                  <a:extLst>
                    <a:ext uri="{9D8B030D-6E8A-4147-A177-3AD203B41FA5}">
                      <a16:colId xmlns:a16="http://schemas.microsoft.com/office/drawing/2014/main" val="2569271830"/>
                    </a:ext>
                  </a:extLst>
                </a:gridCol>
                <a:gridCol w="484871">
                  <a:extLst>
                    <a:ext uri="{9D8B030D-6E8A-4147-A177-3AD203B41FA5}">
                      <a16:colId xmlns:a16="http://schemas.microsoft.com/office/drawing/2014/main" val="3589067622"/>
                    </a:ext>
                  </a:extLst>
                </a:gridCol>
                <a:gridCol w="313740">
                  <a:extLst>
                    <a:ext uri="{9D8B030D-6E8A-4147-A177-3AD203B41FA5}">
                      <a16:colId xmlns:a16="http://schemas.microsoft.com/office/drawing/2014/main" val="1720770893"/>
                    </a:ext>
                  </a:extLst>
                </a:gridCol>
                <a:gridCol w="313740">
                  <a:extLst>
                    <a:ext uri="{9D8B030D-6E8A-4147-A177-3AD203B41FA5}">
                      <a16:colId xmlns:a16="http://schemas.microsoft.com/office/drawing/2014/main" val="51849064"/>
                    </a:ext>
                  </a:extLst>
                </a:gridCol>
                <a:gridCol w="395739">
                  <a:extLst>
                    <a:ext uri="{9D8B030D-6E8A-4147-A177-3AD203B41FA5}">
                      <a16:colId xmlns:a16="http://schemas.microsoft.com/office/drawing/2014/main" val="4267925706"/>
                    </a:ext>
                  </a:extLst>
                </a:gridCol>
              </a:tblGrid>
              <a:tr h="303903">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状态</a:t>
                      </a:r>
                    </a:p>
                  </a:txBody>
                  <a:tcPr marT="34300" marB="343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ACTION</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GoTo</a:t>
                      </a:r>
                      <a:endParaRPr kumimoji="1" lang="en-US"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97708771"/>
                  </a:ext>
                </a:extLst>
              </a:tr>
              <a:tr h="303903">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79790198"/>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0</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70377184"/>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25000" dirty="0">
                          <a:ln>
                            <a:noFill/>
                          </a:ln>
                          <a:solidFill>
                            <a:srgbClr val="CC00FF"/>
                          </a:solidFill>
                          <a:effectLst/>
                          <a:latin typeface="宋体" panose="02010600030101010101" pitchFamily="2" charset="-122"/>
                          <a:ea typeface="宋体" panose="02010600030101010101" pitchFamily="2" charset="-122"/>
                        </a:rPr>
                        <a:t>1</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S</a:t>
                      </a:r>
                      <a:r>
                        <a:rPr kumimoji="1" lang="en-US" altLang="zh-CN" sz="1400" b="1" i="0" u="none" strike="noStrike" cap="none" normalizeH="0" baseline="-25000" dirty="0">
                          <a:ln>
                            <a:noFill/>
                          </a:ln>
                          <a:solidFill>
                            <a:srgbClr val="CC00FF"/>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dirty="0" err="1">
                          <a:ln>
                            <a:noFill/>
                          </a:ln>
                          <a:solidFill>
                            <a:srgbClr val="CC00FF"/>
                          </a:solidFill>
                          <a:effectLst/>
                          <a:latin typeface="Times New Roman" panose="02020603050405020304" pitchFamily="18" charset="0"/>
                          <a:ea typeface="宋体" panose="02010600030101010101" pitchFamily="2" charset="-122"/>
                        </a:rPr>
                        <a:t>acc</a:t>
                      </a:r>
                      <a:endParaRPr kumimoji="1" lang="en-US" altLang="zh-CN" sz="14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81188030"/>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25000" dirty="0">
                          <a:ln>
                            <a:noFill/>
                          </a:ln>
                          <a:solidFill>
                            <a:srgbClr val="CC00FF"/>
                          </a:solidFill>
                          <a:effectLst/>
                          <a:latin typeface="宋体" panose="02010600030101010101" pitchFamily="2" charset="-122"/>
                          <a:ea typeface="宋体" panose="02010600030101010101" pitchFamily="2" charset="-122"/>
                        </a:rPr>
                        <a:t>2</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4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S</a:t>
                      </a:r>
                      <a:r>
                        <a:rPr kumimoji="1" lang="en-US" altLang="zh-CN" sz="14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7</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4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4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r</a:t>
                      </a:r>
                      <a:r>
                        <a:rPr kumimoji="1" lang="en-US" altLang="zh-CN" sz="1400" b="1" i="0" u="none" strike="noStrike" cap="none" normalizeH="0" baseline="-25000" dirty="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74041848"/>
                  </a:ext>
                </a:extLst>
              </a:tr>
            </a:tbl>
          </a:graphicData>
        </a:graphic>
      </p:graphicFrame>
    </p:spTree>
    <p:extLst>
      <p:ext uri="{BB962C8B-B14F-4D97-AF65-F5344CB8AC3E}">
        <p14:creationId xmlns:p14="http://schemas.microsoft.com/office/powerpoint/2010/main" val="310527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55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4" grpId="0" animBg="1"/>
      <p:bldP spid="5"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16618" y="123478"/>
            <a:ext cx="5275462" cy="383254"/>
          </a:xfrm>
        </p:spPr>
        <p:txBody>
          <a:bodyPr>
            <a:noAutofit/>
          </a:bodyPr>
          <a:lstStyle/>
          <a:p>
            <a:pPr eaLnBrk="1" hangingPunct="1"/>
            <a:r>
              <a:rPr lang="zh-CN" altLang="en-US" sz="2800" b="1" dirty="0">
                <a:latin typeface="宋体" panose="02010600030101010101" pitchFamily="2" charset="-122"/>
                <a:ea typeface="宋体" panose="02010600030101010101" pitchFamily="2" charset="-122"/>
              </a:rPr>
              <a:t>例：求下述文法的</a:t>
            </a:r>
            <a:r>
              <a:rPr lang="en-US" altLang="zh-CN" sz="2800" b="1" dirty="0">
                <a:latin typeface="宋体" panose="02010600030101010101" pitchFamily="2" charset="-122"/>
                <a:ea typeface="宋体" panose="02010600030101010101" pitchFamily="2" charset="-122"/>
              </a:rPr>
              <a:t>SLR(1)</a:t>
            </a:r>
            <a:r>
              <a:rPr lang="zh-CN" altLang="en-US" sz="2800" b="1" dirty="0">
                <a:latin typeface="宋体" panose="02010600030101010101" pitchFamily="2" charset="-122"/>
                <a:ea typeface="宋体" panose="02010600030101010101" pitchFamily="2" charset="-122"/>
              </a:rPr>
              <a:t>分析表</a:t>
            </a:r>
          </a:p>
        </p:txBody>
      </p:sp>
      <p:sp>
        <p:nvSpPr>
          <p:cNvPr id="236707" name="Text Box 164"/>
          <p:cNvSpPr txBox="1">
            <a:spLocks noChangeArrowheads="1"/>
          </p:cNvSpPr>
          <p:nvPr/>
        </p:nvSpPr>
        <p:spPr bwMode="auto">
          <a:xfrm>
            <a:off x="250816" y="858805"/>
            <a:ext cx="2304256" cy="2246769"/>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ts val="0"/>
              </a:spcBef>
              <a:buFontTx/>
              <a:buNone/>
            </a:pPr>
            <a:r>
              <a:rPr lang="en-US" altLang="zh-CN" sz="2000" b="1" dirty="0">
                <a:cs typeface="Times New Roman" panose="02020603050405020304" pitchFamily="18" charset="0"/>
              </a:rPr>
              <a:t>    (0)  S'</a:t>
            </a:r>
            <a:r>
              <a:rPr lang="en-US" altLang="zh-CN" sz="2000" b="1" dirty="0">
                <a:cs typeface="Times New Roman" panose="02020603050405020304" pitchFamily="18" charset="0"/>
                <a:sym typeface="Symbol" pitchFamily="18" charset="2"/>
              </a:rPr>
              <a:t>E</a:t>
            </a:r>
          </a:p>
          <a:p>
            <a:pPr eaLnBrk="1" hangingPunct="1">
              <a:spcBef>
                <a:spcPts val="0"/>
              </a:spcBef>
              <a:buFontTx/>
              <a:buNone/>
            </a:pPr>
            <a:r>
              <a:rPr lang="en-US" altLang="zh-CN" sz="2000" b="1" dirty="0">
                <a:cs typeface="Times New Roman" panose="02020603050405020304" pitchFamily="18" charset="0"/>
              </a:rPr>
              <a:t>    (1)  E </a:t>
            </a:r>
            <a:r>
              <a:rPr lang="en-US" altLang="zh-CN" sz="2000" b="1" dirty="0">
                <a:cs typeface="Times New Roman" panose="02020603050405020304" pitchFamily="18" charset="0"/>
                <a:sym typeface="Symbol" pitchFamily="18" charset="2"/>
              </a:rPr>
              <a:t>E+T</a:t>
            </a:r>
          </a:p>
          <a:p>
            <a:pPr eaLnBrk="1" hangingPunct="1">
              <a:spcBef>
                <a:spcPts val="0"/>
              </a:spcBef>
              <a:buFontTx/>
              <a:buNone/>
            </a:pPr>
            <a:r>
              <a:rPr lang="en-US" altLang="zh-CN" sz="2000" b="1" dirty="0">
                <a:cs typeface="Times New Roman" panose="02020603050405020304" pitchFamily="18" charset="0"/>
                <a:sym typeface="Symbol" pitchFamily="18" charset="2"/>
              </a:rPr>
              <a:t>    (2)  E T</a:t>
            </a:r>
          </a:p>
          <a:p>
            <a:pPr eaLnBrk="1" hangingPunct="1">
              <a:spcBef>
                <a:spcPts val="0"/>
              </a:spcBef>
              <a:buFontTx/>
              <a:buNone/>
            </a:pPr>
            <a:r>
              <a:rPr lang="en-US" altLang="zh-CN" sz="2000" b="1" dirty="0">
                <a:cs typeface="Times New Roman" panose="02020603050405020304" pitchFamily="18" charset="0"/>
                <a:sym typeface="Symbol" pitchFamily="18" charset="2"/>
              </a:rPr>
              <a:t>    (3)  T T*F</a:t>
            </a:r>
          </a:p>
          <a:p>
            <a:pPr eaLnBrk="1" hangingPunct="1">
              <a:spcBef>
                <a:spcPts val="0"/>
              </a:spcBef>
              <a:buFontTx/>
              <a:buNone/>
            </a:pPr>
            <a:r>
              <a:rPr lang="en-US" altLang="zh-CN" sz="2000" b="1" dirty="0">
                <a:cs typeface="Times New Roman" panose="02020603050405020304" pitchFamily="18" charset="0"/>
                <a:sym typeface="Symbol" pitchFamily="18" charset="2"/>
              </a:rPr>
              <a:t>    (4)  T F</a:t>
            </a:r>
          </a:p>
          <a:p>
            <a:pPr eaLnBrk="1" hangingPunct="1">
              <a:spcBef>
                <a:spcPts val="0"/>
              </a:spcBef>
              <a:buFontTx/>
              <a:buNone/>
            </a:pPr>
            <a:r>
              <a:rPr lang="en-US" altLang="zh-CN" sz="2000" dirty="0">
                <a:cs typeface="Times New Roman" panose="02020603050405020304" pitchFamily="18" charset="0"/>
                <a:sym typeface="Symbol" pitchFamily="18" charset="2"/>
              </a:rPr>
              <a:t>    </a:t>
            </a:r>
            <a:r>
              <a:rPr lang="en-US" altLang="zh-CN" sz="2000" b="1" dirty="0">
                <a:cs typeface="Times New Roman" panose="02020603050405020304" pitchFamily="18" charset="0"/>
                <a:sym typeface="Symbol" pitchFamily="18" charset="2"/>
              </a:rPr>
              <a:t>(5)  F (F)</a:t>
            </a:r>
          </a:p>
          <a:p>
            <a:pPr eaLnBrk="1" hangingPunct="1">
              <a:spcBef>
                <a:spcPts val="0"/>
              </a:spcBef>
              <a:buFontTx/>
              <a:buNone/>
            </a:pPr>
            <a:r>
              <a:rPr lang="en-US" altLang="zh-CN" sz="2000" b="1" dirty="0">
                <a:cs typeface="Times New Roman" panose="02020603050405020304" pitchFamily="18" charset="0"/>
                <a:sym typeface="Symbol" pitchFamily="18" charset="2"/>
              </a:rPr>
              <a:t>    (6)  F </a:t>
            </a:r>
            <a:r>
              <a:rPr lang="en-US" altLang="zh-CN" sz="2000" b="1" dirty="0" err="1">
                <a:cs typeface="Times New Roman" panose="02020603050405020304" pitchFamily="18" charset="0"/>
                <a:sym typeface="Symbol" pitchFamily="18" charset="2"/>
              </a:rPr>
              <a:t>i</a:t>
            </a:r>
            <a:endParaRPr lang="en-US" altLang="zh-CN" sz="2000" b="1" dirty="0">
              <a:cs typeface="Times New Roman" panose="02020603050405020304" pitchFamily="18" charset="0"/>
              <a:sym typeface="Symbol" pitchFamily="18" charset="2"/>
            </a:endParaRPr>
          </a:p>
        </p:txBody>
      </p:sp>
      <p:graphicFrame>
        <p:nvGraphicFramePr>
          <p:cNvPr id="5" name="对象 4"/>
          <p:cNvGraphicFramePr>
            <a:graphicFrameLocks noChangeAspect="1"/>
          </p:cNvGraphicFramePr>
          <p:nvPr>
            <p:extLst>
              <p:ext uri="{D42A27DB-BD31-4B8C-83A1-F6EECF244321}">
                <p14:modId xmlns:p14="http://schemas.microsoft.com/office/powerpoint/2010/main" val="609272952"/>
              </p:ext>
            </p:extLst>
          </p:nvPr>
        </p:nvGraphicFramePr>
        <p:xfrm>
          <a:off x="-108520" y="771550"/>
          <a:ext cx="5066083" cy="3744416"/>
        </p:xfrm>
        <a:graphic>
          <a:graphicData uri="http://schemas.openxmlformats.org/presentationml/2006/ole">
            <mc:AlternateContent xmlns:mc="http://schemas.openxmlformats.org/markup-compatibility/2006">
              <mc:Choice xmlns:v="urn:schemas-microsoft-com:vml" Requires="v">
                <p:oleObj spid="_x0000_s57351" name="Visio" r:id="rId4" imgW="3453535" imgH="2830758" progId="Visio.Drawing.11">
                  <p:embed/>
                </p:oleObj>
              </mc:Choice>
              <mc:Fallback>
                <p:oleObj name="Visio" r:id="rId4" imgW="3453535" imgH="2830758" progId="Visio.Drawing.11">
                  <p:embed/>
                  <p:pic>
                    <p:nvPicPr>
                      <p:cNvPr id="5" name="对象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8520" y="771550"/>
                        <a:ext cx="5066083" cy="3744416"/>
                      </a:xfrm>
                      <a:prstGeom prst="rect">
                        <a:avLst/>
                      </a:prstGeom>
                      <a:solidFill>
                        <a:schemeClr val="bg1"/>
                      </a:solidFill>
                    </p:spPr>
                  </p:pic>
                </p:oleObj>
              </mc:Fallback>
            </mc:AlternateContent>
          </a:graphicData>
        </a:graphic>
      </p:graphicFrame>
      <p:grpSp>
        <p:nvGrpSpPr>
          <p:cNvPr id="3" name="组合 2"/>
          <p:cNvGrpSpPr/>
          <p:nvPr/>
        </p:nvGrpSpPr>
        <p:grpSpPr>
          <a:xfrm>
            <a:off x="539552" y="843558"/>
            <a:ext cx="3672408" cy="2867848"/>
            <a:chOff x="395536" y="1275606"/>
            <a:chExt cx="3672408" cy="2867848"/>
          </a:xfrm>
        </p:grpSpPr>
        <p:sp>
          <p:nvSpPr>
            <p:cNvPr id="2" name="矩形 1"/>
            <p:cNvSpPr/>
            <p:nvPr/>
          </p:nvSpPr>
          <p:spPr>
            <a:xfrm>
              <a:off x="1763688" y="1275606"/>
              <a:ext cx="792088" cy="49158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95536" y="2859782"/>
              <a:ext cx="864096" cy="49158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p:cNvSpPr/>
            <p:nvPr/>
          </p:nvSpPr>
          <p:spPr>
            <a:xfrm>
              <a:off x="3203848" y="3651870"/>
              <a:ext cx="864096" cy="49158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aphicFrame>
        <p:nvGraphicFramePr>
          <p:cNvPr id="150533" name="Group 5"/>
          <p:cNvGraphicFramePr>
            <a:graphicFrameLocks noGrp="1"/>
          </p:cNvGraphicFramePr>
          <p:nvPr>
            <p:extLst>
              <p:ext uri="{D42A27DB-BD31-4B8C-83A1-F6EECF244321}">
                <p14:modId xmlns:p14="http://schemas.microsoft.com/office/powerpoint/2010/main" val="118177314"/>
              </p:ext>
            </p:extLst>
          </p:nvPr>
        </p:nvGraphicFramePr>
        <p:xfrm>
          <a:off x="4860033" y="630219"/>
          <a:ext cx="4176017" cy="4317795"/>
        </p:xfrm>
        <a:graphic>
          <a:graphicData uri="http://schemas.openxmlformats.org/drawingml/2006/table">
            <a:tbl>
              <a:tblPr/>
              <a:tblGrid>
                <a:gridCol w="395702">
                  <a:extLst>
                    <a:ext uri="{9D8B030D-6E8A-4147-A177-3AD203B41FA5}">
                      <a16:colId xmlns:a16="http://schemas.microsoft.com/office/drawing/2014/main" val="20000"/>
                    </a:ext>
                  </a:extLst>
                </a:gridCol>
                <a:gridCol w="394457">
                  <a:extLst>
                    <a:ext uri="{9D8B030D-6E8A-4147-A177-3AD203B41FA5}">
                      <a16:colId xmlns:a16="http://schemas.microsoft.com/office/drawing/2014/main" val="20001"/>
                    </a:ext>
                  </a:extLst>
                </a:gridCol>
                <a:gridCol w="451696">
                  <a:extLst>
                    <a:ext uri="{9D8B030D-6E8A-4147-A177-3AD203B41FA5}">
                      <a16:colId xmlns:a16="http://schemas.microsoft.com/office/drawing/2014/main" val="20002"/>
                    </a:ext>
                  </a:extLst>
                </a:gridCol>
                <a:gridCol w="451697">
                  <a:extLst>
                    <a:ext uri="{9D8B030D-6E8A-4147-A177-3AD203B41FA5}">
                      <a16:colId xmlns:a16="http://schemas.microsoft.com/office/drawing/2014/main" val="20003"/>
                    </a:ext>
                  </a:extLst>
                </a:gridCol>
                <a:gridCol w="451696">
                  <a:extLst>
                    <a:ext uri="{9D8B030D-6E8A-4147-A177-3AD203B41FA5}">
                      <a16:colId xmlns:a16="http://schemas.microsoft.com/office/drawing/2014/main" val="20004"/>
                    </a:ext>
                  </a:extLst>
                </a:gridCol>
                <a:gridCol w="451697">
                  <a:extLst>
                    <a:ext uri="{9D8B030D-6E8A-4147-A177-3AD203B41FA5}">
                      <a16:colId xmlns:a16="http://schemas.microsoft.com/office/drawing/2014/main" val="20005"/>
                    </a:ext>
                  </a:extLst>
                </a:gridCol>
                <a:gridCol w="507692">
                  <a:extLst>
                    <a:ext uri="{9D8B030D-6E8A-4147-A177-3AD203B41FA5}">
                      <a16:colId xmlns:a16="http://schemas.microsoft.com/office/drawing/2014/main" val="20006"/>
                    </a:ext>
                  </a:extLst>
                </a:gridCol>
                <a:gridCol w="328507">
                  <a:extLst>
                    <a:ext uri="{9D8B030D-6E8A-4147-A177-3AD203B41FA5}">
                      <a16:colId xmlns:a16="http://schemas.microsoft.com/office/drawing/2014/main" val="20007"/>
                    </a:ext>
                  </a:extLst>
                </a:gridCol>
                <a:gridCol w="328507">
                  <a:extLst>
                    <a:ext uri="{9D8B030D-6E8A-4147-A177-3AD203B41FA5}">
                      <a16:colId xmlns:a16="http://schemas.microsoft.com/office/drawing/2014/main" val="20008"/>
                    </a:ext>
                  </a:extLst>
                </a:gridCol>
                <a:gridCol w="414366">
                  <a:extLst>
                    <a:ext uri="{9D8B030D-6E8A-4147-A177-3AD203B41FA5}">
                      <a16:colId xmlns:a16="http://schemas.microsoft.com/office/drawing/2014/main" val="20009"/>
                    </a:ext>
                  </a:extLst>
                </a:gridCol>
              </a:tblGrid>
              <a:tr h="303903">
                <a:tc rowSpan="2">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状态</a:t>
                      </a:r>
                    </a:p>
                  </a:txBody>
                  <a:tcPr marT="34300" marB="343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ACTION</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dirty="0" err="1">
                          <a:ln>
                            <a:noFill/>
                          </a:ln>
                          <a:solidFill>
                            <a:schemeClr val="tx1"/>
                          </a:solidFill>
                          <a:effectLst/>
                          <a:latin typeface="Times New Roman" panose="02020603050405020304" pitchFamily="18" charset="0"/>
                          <a:ea typeface="宋体" panose="02010600030101010101" pitchFamily="2" charset="-122"/>
                        </a:rPr>
                        <a:t>GoTo</a:t>
                      </a:r>
                      <a:endParaRPr kumimoji="1"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03903">
                <a:tc vMerge="1">
                  <a:txBody>
                    <a:bodyPr/>
                    <a:lstStyle/>
                    <a:p>
                      <a:endParaRPr lang="zh-CN" altLang="en-US"/>
                    </a:p>
                  </a:txBody>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F</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0</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25000" dirty="0">
                          <a:ln>
                            <a:noFill/>
                          </a:ln>
                          <a:solidFill>
                            <a:srgbClr val="CC00FF"/>
                          </a:solidFill>
                          <a:effectLst/>
                          <a:latin typeface="宋体" panose="02010600030101010101" pitchFamily="2" charset="-122"/>
                          <a:ea typeface="宋体" panose="02010600030101010101" pitchFamily="2" charset="-122"/>
                        </a:rPr>
                        <a:t>1</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dirty="0">
                          <a:ln>
                            <a:noFill/>
                          </a:ln>
                          <a:solidFill>
                            <a:srgbClr val="CC00FF"/>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dirty="0" err="1">
                          <a:ln>
                            <a:noFill/>
                          </a:ln>
                          <a:solidFill>
                            <a:srgbClr val="CC00FF"/>
                          </a:solidFill>
                          <a:effectLst/>
                          <a:latin typeface="Times New Roman" panose="02020603050405020304" pitchFamily="18" charset="0"/>
                          <a:ea typeface="宋体" panose="02010600030101010101" pitchFamily="2" charset="-122"/>
                        </a:rPr>
                        <a:t>acc</a:t>
                      </a:r>
                      <a:endParaRPr kumimoji="1" lang="en-US" altLang="zh-CN" sz="16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79591">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25000" dirty="0">
                          <a:ln>
                            <a:noFill/>
                          </a:ln>
                          <a:solidFill>
                            <a:srgbClr val="CC00FF"/>
                          </a:solidFill>
                          <a:effectLst/>
                          <a:latin typeface="宋体" panose="02010600030101010101" pitchFamily="2" charset="-122"/>
                          <a:ea typeface="宋体" panose="02010600030101010101" pitchFamily="2" charset="-122"/>
                        </a:rPr>
                        <a:t>2</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7</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r>
                        <a:rPr kumimoji="1" lang="en-US" altLang="zh-CN" sz="16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dirty="0">
                          <a:ln>
                            <a:noFill/>
                          </a:ln>
                          <a:solidFill>
                            <a:srgbClr val="CC00FF"/>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90000"/>
                        </a:lnSpc>
                        <a:spcBef>
                          <a:spcPct val="0"/>
                        </a:spcBef>
                        <a:spcAft>
                          <a:spcPct val="0"/>
                        </a:spcAft>
                        <a:buClrTx/>
                        <a:buSzTx/>
                        <a:buFontTx/>
                        <a:buNone/>
                        <a:tabLst/>
                      </a:pPr>
                      <a:endParaRPr kumimoji="1" lang="zh-CN"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29227">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3</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4</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5</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6</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7</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8</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6</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dirty="0">
                          <a:ln>
                            <a:noFill/>
                          </a:ln>
                          <a:solidFill>
                            <a:srgbClr val="CC00FF"/>
                          </a:solidFill>
                          <a:effectLst/>
                          <a:latin typeface="宋体" panose="02010600030101010101" pitchFamily="2" charset="-122"/>
                          <a:ea typeface="宋体" panose="02010600030101010101" pitchFamily="2" charset="-122"/>
                        </a:rPr>
                        <a:t>9</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S</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7</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rgbClr val="CC00FF"/>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dirty="0">
                          <a:ln>
                            <a:noFill/>
                          </a:ln>
                          <a:solidFill>
                            <a:srgbClr val="CC00FF"/>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dirty="0">
                          <a:ln>
                            <a:noFill/>
                          </a:ln>
                          <a:solidFill>
                            <a:srgbClr val="CC00FF"/>
                          </a:solidFill>
                          <a:effectLst/>
                          <a:latin typeface="Times New Roman" panose="02020603050405020304" pitchFamily="18" charset="0"/>
                          <a:ea typeface="宋体" panose="02010600030101010101" pitchFamily="2" charset="-122"/>
                        </a:rPr>
                        <a:t>1</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10</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303903">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25000">
                          <a:ln>
                            <a:noFill/>
                          </a:ln>
                          <a:solidFill>
                            <a:schemeClr val="tx1"/>
                          </a:solidFill>
                          <a:effectLst/>
                          <a:latin typeface="宋体" panose="02010600030101010101" pitchFamily="2" charset="-122"/>
                          <a:ea typeface="宋体" panose="02010600030101010101" pitchFamily="2" charset="-122"/>
                        </a:rPr>
                        <a:t>11</a:t>
                      </a:r>
                    </a:p>
                  </a:txBody>
                  <a:tcPr marT="34300" marB="343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r</a:t>
                      </a:r>
                      <a:r>
                        <a:rPr kumimoji="1" lang="en-US" altLang="zh-CN" sz="16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zh-CN" altLang="zh-CN" sz="16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300" marB="343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88991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1505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a:spLocks noGrp="1"/>
          </p:cNvSpPr>
          <p:nvPr>
            <p:ph idx="1"/>
          </p:nvPr>
        </p:nvSpPr>
        <p:spPr>
          <a:xfrm>
            <a:off x="395536" y="987574"/>
            <a:ext cx="8229600" cy="3394472"/>
          </a:xfrm>
        </p:spPr>
        <p:txBody>
          <a:bodyPr>
            <a:normAutofit/>
          </a:bodyPr>
          <a:lstStyle/>
          <a:p>
            <a:r>
              <a:rPr lang="zh-CN" altLang="zh-CN" sz="2400" dirty="0"/>
              <a:t>尽管采用</a:t>
            </a:r>
            <a:r>
              <a:rPr lang="en-US" altLang="zh-CN" sz="2400" dirty="0"/>
              <a:t>SLR(1)</a:t>
            </a:r>
            <a:r>
              <a:rPr lang="zh-CN" altLang="zh-CN" sz="2400" dirty="0"/>
              <a:t>方法能够对某些</a:t>
            </a:r>
            <a:r>
              <a:rPr lang="en-US" altLang="zh-CN" sz="2400" dirty="0"/>
              <a:t>LR(0)</a:t>
            </a:r>
            <a:r>
              <a:rPr lang="zh-CN" altLang="zh-CN" sz="2400" dirty="0"/>
              <a:t>项目集规范族中存在冲突的项目集，通过向前查看一个符号的办法得到解决</a:t>
            </a:r>
            <a:endParaRPr lang="en-US" altLang="zh-CN" sz="2400" dirty="0"/>
          </a:p>
          <a:p>
            <a:r>
              <a:rPr lang="zh-CN" altLang="zh-CN" sz="2400" dirty="0"/>
              <a:t>若按上述方法构造的分析表存在多重定义的入口（即含有动作冲突），则说明文法不是</a:t>
            </a:r>
            <a:r>
              <a:rPr lang="en-US" altLang="zh-CN" sz="2400" dirty="0"/>
              <a:t>SLR(1)</a:t>
            </a:r>
            <a:r>
              <a:rPr lang="zh-CN" altLang="zh-CN" sz="2400" dirty="0"/>
              <a:t>的。</a:t>
            </a:r>
            <a:endParaRPr lang="zh-CN" altLang="en-US" sz="2400" dirty="0"/>
          </a:p>
          <a:p>
            <a:r>
              <a:rPr lang="zh-CN" altLang="zh-CN" sz="2400" dirty="0"/>
              <a:t>但是实际上大多数实用的程序设计语言的文法也不能</a:t>
            </a:r>
            <a:r>
              <a:rPr lang="zh-CN" altLang="en-US" sz="2400" dirty="0"/>
              <a:t>用</a:t>
            </a:r>
            <a:r>
              <a:rPr lang="en-US" altLang="zh-CN" sz="2400" dirty="0"/>
              <a:t>SLR(1)</a:t>
            </a:r>
            <a:r>
              <a:rPr lang="zh-CN" altLang="en-US" sz="2400" dirty="0"/>
              <a:t>解决冲突的方法来解决，也就是说不</a:t>
            </a:r>
            <a:r>
              <a:rPr lang="zh-CN" altLang="zh-CN" sz="2400" dirty="0"/>
              <a:t>满足</a:t>
            </a:r>
            <a:r>
              <a:rPr lang="en-US" altLang="zh-CN" sz="2400" dirty="0"/>
              <a:t>SLR(1)</a:t>
            </a:r>
            <a:r>
              <a:rPr lang="zh-CN" altLang="zh-CN" sz="2400" dirty="0"/>
              <a:t>文法的条件</a:t>
            </a:r>
            <a:r>
              <a:rPr lang="zh-CN" altLang="en-US" sz="2400" dirty="0"/>
              <a:t>，就需要需求其他的解决冲突的方法</a:t>
            </a:r>
            <a:r>
              <a:rPr lang="zh-CN" altLang="zh-CN" sz="2400" dirty="0"/>
              <a:t>。</a:t>
            </a:r>
            <a:endParaRPr lang="en-US" altLang="zh-CN" sz="2400" dirty="0"/>
          </a:p>
        </p:txBody>
      </p:sp>
      <p:sp>
        <p:nvSpPr>
          <p:cNvPr id="3" name="标题 2"/>
          <p:cNvSpPr>
            <a:spLocks noGrp="1"/>
          </p:cNvSpPr>
          <p:nvPr>
            <p:ph type="title"/>
          </p:nvPr>
        </p:nvSpPr>
        <p:spPr/>
        <p:txBody>
          <a:bodyPr>
            <a:normAutofit/>
          </a:bodyPr>
          <a:lstStyle/>
          <a:p>
            <a:r>
              <a:rPr lang="en-US" altLang="zh-CN" dirty="0"/>
              <a:t>SLR</a:t>
            </a:r>
            <a:r>
              <a:rPr lang="zh-CN" altLang="en-US" dirty="0"/>
              <a:t>不能解决的问题</a:t>
            </a:r>
          </a:p>
        </p:txBody>
      </p:sp>
    </p:spTree>
    <p:extLst>
      <p:ext uri="{BB962C8B-B14F-4D97-AF65-F5344CB8AC3E}">
        <p14:creationId xmlns:p14="http://schemas.microsoft.com/office/powerpoint/2010/main" val="2801605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ChangeArrowheads="1"/>
          </p:cNvSpPr>
          <p:nvPr>
            <p:ph type="title"/>
          </p:nvPr>
        </p:nvSpPr>
        <p:spPr>
          <a:xfrm>
            <a:off x="685800" y="-14288"/>
            <a:ext cx="7772400" cy="857251"/>
          </a:xfrm>
        </p:spPr>
        <p:txBody>
          <a:bodyPr/>
          <a:lstStyle/>
          <a:p>
            <a:pPr eaLnBrk="1" hangingPunct="1"/>
            <a:r>
              <a:rPr lang="en-US" altLang="zh-CN" dirty="0"/>
              <a:t>SLR</a:t>
            </a:r>
            <a:r>
              <a:rPr lang="zh-CN" altLang="en-US" dirty="0"/>
              <a:t>不能解决的问题</a:t>
            </a:r>
          </a:p>
        </p:txBody>
      </p:sp>
      <p:sp>
        <p:nvSpPr>
          <p:cNvPr id="237571" name="Rectangle 3"/>
          <p:cNvSpPr>
            <a:spLocks noGrp="1" noChangeArrowheads="1"/>
          </p:cNvSpPr>
          <p:nvPr>
            <p:ph type="body" idx="1"/>
          </p:nvPr>
        </p:nvSpPr>
        <p:spPr>
          <a:xfrm>
            <a:off x="211138" y="696913"/>
            <a:ext cx="3471862" cy="469900"/>
          </a:xfrm>
        </p:spPr>
        <p:txBody>
          <a:bodyPr>
            <a:normAutofit fontScale="92500" lnSpcReduction="10000"/>
          </a:bodyPr>
          <a:lstStyle/>
          <a:p>
            <a:pPr eaLnBrk="1" hangingPunct="1"/>
            <a:r>
              <a:rPr lang="zh-CN" altLang="en-US" dirty="0">
                <a:latin typeface="Times New Roman" panose="02020603050405020304" pitchFamily="18" charset="0"/>
                <a:cs typeface="Times New Roman" panose="02020603050405020304" pitchFamily="18" charset="0"/>
              </a:rPr>
              <a:t>拓广文法</a:t>
            </a:r>
            <a:r>
              <a:rPr lang="en-US" altLang="zh-CN" dirty="0">
                <a:latin typeface="Times New Roman" panose="02020603050405020304" pitchFamily="18" charset="0"/>
                <a:cs typeface="Times New Roman" panose="02020603050405020304" pitchFamily="18" charset="0"/>
              </a:rPr>
              <a:t>G'</a:t>
            </a:r>
            <a:r>
              <a:rPr lang="zh-CN" altLang="en-US" dirty="0">
                <a:latin typeface="Times New Roman" panose="02020603050405020304" pitchFamily="18" charset="0"/>
                <a:cs typeface="Times New Roman" panose="02020603050405020304" pitchFamily="18" charset="0"/>
              </a:rPr>
              <a:t>为</a:t>
            </a:r>
            <a:r>
              <a:rPr lang="zh-CN" altLang="en-US" dirty="0"/>
              <a:t>：</a:t>
            </a:r>
          </a:p>
        </p:txBody>
      </p:sp>
      <p:sp>
        <p:nvSpPr>
          <p:cNvPr id="237572" name="Text Box 4"/>
          <p:cNvSpPr txBox="1">
            <a:spLocks noChangeArrowheads="1"/>
          </p:cNvSpPr>
          <p:nvPr/>
        </p:nvSpPr>
        <p:spPr bwMode="auto">
          <a:xfrm>
            <a:off x="355600" y="1179513"/>
            <a:ext cx="2624138"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0</a:t>
            </a: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S'→S</a:t>
            </a:r>
          </a:p>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1</a:t>
            </a:r>
            <a:r>
              <a:rPr lang="zh-CN" altLang="en-US" sz="2200" dirty="0">
                <a:ea typeface="华文行楷" pitchFamily="2" charset="-122"/>
                <a:cs typeface="Times New Roman" panose="02020603050405020304" pitchFamily="18" charset="0"/>
              </a:rPr>
              <a:t>）</a:t>
            </a:r>
            <a:r>
              <a:rPr lang="en-US" altLang="zh-CN" sz="2200" dirty="0" err="1">
                <a:ea typeface="华文行楷" pitchFamily="2" charset="-122"/>
                <a:cs typeface="Times New Roman" panose="02020603050405020304" pitchFamily="18" charset="0"/>
              </a:rPr>
              <a:t>S→aAd</a:t>
            </a:r>
            <a:endParaRPr lang="en-US" altLang="zh-CN" sz="2200" dirty="0">
              <a:ea typeface="华文行楷" pitchFamily="2" charset="-122"/>
              <a:cs typeface="Times New Roman" panose="02020603050405020304" pitchFamily="18" charset="0"/>
            </a:endParaRPr>
          </a:p>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2</a:t>
            </a:r>
            <a:r>
              <a:rPr lang="zh-CN" altLang="en-US" sz="2200" dirty="0">
                <a:ea typeface="华文行楷" pitchFamily="2" charset="-122"/>
                <a:cs typeface="Times New Roman" panose="02020603050405020304" pitchFamily="18" charset="0"/>
              </a:rPr>
              <a:t>）</a:t>
            </a:r>
            <a:r>
              <a:rPr lang="en-US" altLang="zh-CN" sz="2200" dirty="0" err="1">
                <a:ea typeface="华文行楷" pitchFamily="2" charset="-122"/>
                <a:cs typeface="Times New Roman" panose="02020603050405020304" pitchFamily="18" charset="0"/>
              </a:rPr>
              <a:t>S→bAc</a:t>
            </a:r>
            <a:endParaRPr lang="en-US" altLang="zh-CN" sz="2200" dirty="0">
              <a:ea typeface="华文行楷" pitchFamily="2" charset="-122"/>
              <a:cs typeface="Times New Roman" panose="02020603050405020304" pitchFamily="18" charset="0"/>
            </a:endParaRPr>
          </a:p>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3</a:t>
            </a:r>
            <a:r>
              <a:rPr lang="zh-CN" altLang="en-US" sz="2200" dirty="0">
                <a:ea typeface="华文行楷" pitchFamily="2" charset="-122"/>
                <a:cs typeface="Times New Roman" panose="02020603050405020304" pitchFamily="18" charset="0"/>
              </a:rPr>
              <a:t>）</a:t>
            </a:r>
            <a:r>
              <a:rPr lang="en-US" altLang="zh-CN" sz="2200" dirty="0" err="1">
                <a:ea typeface="华文行楷" pitchFamily="2" charset="-122"/>
                <a:cs typeface="Times New Roman" panose="02020603050405020304" pitchFamily="18" charset="0"/>
              </a:rPr>
              <a:t>S→aec</a:t>
            </a:r>
            <a:endParaRPr lang="en-US" altLang="zh-CN" sz="2200" dirty="0">
              <a:ea typeface="华文行楷" pitchFamily="2" charset="-122"/>
              <a:cs typeface="Times New Roman" panose="02020603050405020304" pitchFamily="18" charset="0"/>
            </a:endParaRPr>
          </a:p>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4</a:t>
            </a:r>
            <a:r>
              <a:rPr lang="zh-CN" altLang="en-US" sz="2200" dirty="0">
                <a:ea typeface="华文行楷" pitchFamily="2" charset="-122"/>
                <a:cs typeface="Times New Roman" panose="02020603050405020304" pitchFamily="18" charset="0"/>
              </a:rPr>
              <a:t>）</a:t>
            </a:r>
            <a:r>
              <a:rPr lang="en-US" altLang="zh-CN" sz="2200" dirty="0" err="1">
                <a:ea typeface="华文行楷" pitchFamily="2" charset="-122"/>
                <a:cs typeface="Times New Roman" panose="02020603050405020304" pitchFamily="18" charset="0"/>
              </a:rPr>
              <a:t>S→bed</a:t>
            </a:r>
            <a:endParaRPr lang="en-US" altLang="zh-CN" sz="2200" dirty="0">
              <a:ea typeface="华文行楷" pitchFamily="2" charset="-122"/>
              <a:cs typeface="Times New Roman" panose="02020603050405020304" pitchFamily="18" charset="0"/>
            </a:endParaRPr>
          </a:p>
          <a:p>
            <a:pPr eaLnBrk="1" hangingPunct="1">
              <a:spcBef>
                <a:spcPct val="0"/>
              </a:spcBef>
              <a:buFontTx/>
              <a:buNone/>
            </a:pPr>
            <a:r>
              <a:rPr lang="zh-CN" altLang="en-US" sz="2200" dirty="0">
                <a:ea typeface="华文行楷" pitchFamily="2" charset="-122"/>
                <a:cs typeface="Times New Roman" panose="02020603050405020304" pitchFamily="18" charset="0"/>
              </a:rPr>
              <a:t>（</a:t>
            </a:r>
            <a:r>
              <a:rPr lang="en-US" altLang="zh-CN" sz="2200" dirty="0">
                <a:ea typeface="华文行楷" pitchFamily="2" charset="-122"/>
                <a:cs typeface="Times New Roman" panose="02020603050405020304" pitchFamily="18" charset="0"/>
              </a:rPr>
              <a:t>5</a:t>
            </a:r>
            <a:r>
              <a:rPr lang="zh-CN" altLang="en-US" sz="2200" dirty="0">
                <a:ea typeface="华文行楷" pitchFamily="2" charset="-122"/>
                <a:cs typeface="Times New Roman" panose="02020603050405020304" pitchFamily="18" charset="0"/>
              </a:rPr>
              <a:t>）</a:t>
            </a:r>
            <a:r>
              <a:rPr lang="en-US" altLang="zh-CN" sz="2200" dirty="0" err="1">
                <a:ea typeface="华文行楷" pitchFamily="2" charset="-122"/>
                <a:cs typeface="Times New Roman" panose="02020603050405020304" pitchFamily="18" charset="0"/>
              </a:rPr>
              <a:t>A→e</a:t>
            </a:r>
            <a:r>
              <a:rPr lang="en-US" altLang="zh-CN" sz="2200" dirty="0">
                <a:ea typeface="华文行楷" pitchFamily="2" charset="-122"/>
                <a:cs typeface="Times New Roman" panose="02020603050405020304" pitchFamily="18" charset="0"/>
              </a:rPr>
              <a:t> </a:t>
            </a:r>
          </a:p>
        </p:txBody>
      </p:sp>
      <p:sp>
        <p:nvSpPr>
          <p:cNvPr id="237574" name="Text Box 6"/>
          <p:cNvSpPr txBox="1">
            <a:spLocks noChangeArrowheads="1"/>
          </p:cNvSpPr>
          <p:nvPr/>
        </p:nvSpPr>
        <p:spPr bwMode="auto">
          <a:xfrm>
            <a:off x="254001" y="3582690"/>
            <a:ext cx="3021856" cy="430887"/>
          </a:xfrm>
          <a:prstGeom prst="rect">
            <a:avLst/>
          </a:prstGeom>
          <a:solidFill>
            <a:schemeClr val="bg1"/>
          </a:solidFill>
          <a:ln>
            <a:noFill/>
          </a:ln>
        </p:spPr>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dirty="0">
                <a:ea typeface="华文行楷" pitchFamily="2" charset="-122"/>
              </a:rPr>
              <a:t>得到项目集规范族</a:t>
            </a:r>
          </a:p>
        </p:txBody>
      </p:sp>
      <p:sp>
        <p:nvSpPr>
          <p:cNvPr id="237575" name="Text Box 7"/>
          <p:cNvSpPr txBox="1">
            <a:spLocks noChangeArrowheads="1"/>
          </p:cNvSpPr>
          <p:nvPr/>
        </p:nvSpPr>
        <p:spPr bwMode="auto">
          <a:xfrm>
            <a:off x="388938" y="4083918"/>
            <a:ext cx="7654925" cy="430887"/>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None/>
            </a:pPr>
            <a:r>
              <a:rPr lang="sv-SE" altLang="zh-CN" sz="2200" dirty="0">
                <a:ea typeface="华文行楷" pitchFamily="2" charset="-122"/>
              </a:rPr>
              <a:t>Follow(A)={c</a:t>
            </a:r>
            <a:r>
              <a:rPr lang="zh-CN" altLang="sv-SE" sz="2200" dirty="0">
                <a:ea typeface="华文行楷" pitchFamily="2" charset="-122"/>
              </a:rPr>
              <a:t>，</a:t>
            </a:r>
            <a:r>
              <a:rPr lang="sv-SE" altLang="zh-CN" sz="2200" dirty="0">
                <a:ea typeface="华文行楷" pitchFamily="2" charset="-122"/>
              </a:rPr>
              <a:t>d}</a:t>
            </a: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709683041"/>
              </p:ext>
            </p:extLst>
          </p:nvPr>
        </p:nvGraphicFramePr>
        <p:xfrm>
          <a:off x="3923928" y="418114"/>
          <a:ext cx="4718025" cy="3793929"/>
        </p:xfrm>
        <a:graphic>
          <a:graphicData uri="http://schemas.openxmlformats.org/presentationml/2006/ole">
            <mc:AlternateContent xmlns:mc="http://schemas.openxmlformats.org/markup-compatibility/2006">
              <mc:Choice xmlns:v="urn:schemas-microsoft-com:vml" Requires="v">
                <p:oleObj spid="_x0000_s58375" name="Visio" r:id="rId4" imgW="2915920" imgH="2348542" progId="Visio.Drawing.11">
                  <p:embed/>
                </p:oleObj>
              </mc:Choice>
              <mc:Fallback>
                <p:oleObj name="Visio" r:id="rId4" imgW="2915920" imgH="2348542" progId="Visio.Drawing.11">
                  <p:embed/>
                  <p:pic>
                    <p:nvPicPr>
                      <p:cNvPr id="3"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928" y="418114"/>
                        <a:ext cx="4718025" cy="3793929"/>
                      </a:xfrm>
                      <a:prstGeom prst="rect">
                        <a:avLst/>
                      </a:prstGeom>
                      <a:noFill/>
                    </p:spPr>
                  </p:pic>
                </p:oleObj>
              </mc:Fallback>
            </mc:AlternateContent>
          </a:graphicData>
        </a:graphic>
      </p:graphicFrame>
      <p:grpSp>
        <p:nvGrpSpPr>
          <p:cNvPr id="10" name="组合 9"/>
          <p:cNvGrpSpPr/>
          <p:nvPr/>
        </p:nvGrpSpPr>
        <p:grpSpPr>
          <a:xfrm>
            <a:off x="4159969" y="2642895"/>
            <a:ext cx="4300463" cy="660276"/>
            <a:chOff x="395536" y="2841342"/>
            <a:chExt cx="4300463" cy="660276"/>
          </a:xfrm>
        </p:grpSpPr>
        <p:sp>
          <p:nvSpPr>
            <p:cNvPr id="12" name="矩形 11"/>
            <p:cNvSpPr/>
            <p:nvPr/>
          </p:nvSpPr>
          <p:spPr>
            <a:xfrm>
              <a:off x="395536" y="2859782"/>
              <a:ext cx="864096" cy="64183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3721025" y="2841342"/>
              <a:ext cx="974974" cy="66027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 name="Text Box 7"/>
          <p:cNvSpPr txBox="1">
            <a:spLocks noChangeArrowheads="1"/>
          </p:cNvSpPr>
          <p:nvPr/>
        </p:nvSpPr>
        <p:spPr bwMode="auto">
          <a:xfrm>
            <a:off x="373459" y="4517920"/>
            <a:ext cx="7654925" cy="430887"/>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dirty="0">
                <a:ea typeface="华文行楷" pitchFamily="2" charset="-122"/>
              </a:rPr>
              <a:t>项目集</a:t>
            </a:r>
            <a:r>
              <a:rPr lang="en-US" altLang="zh-CN" sz="2200" dirty="0">
                <a:ea typeface="华文行楷" pitchFamily="2" charset="-122"/>
              </a:rPr>
              <a:t>I5</a:t>
            </a:r>
            <a:r>
              <a:rPr lang="zh-CN" altLang="en-US" sz="2200" dirty="0">
                <a:ea typeface="华文行楷" pitchFamily="2" charset="-122"/>
              </a:rPr>
              <a:t>和</a:t>
            </a:r>
            <a:r>
              <a:rPr lang="en-US" altLang="zh-CN" sz="2200" dirty="0">
                <a:ea typeface="华文行楷" pitchFamily="2" charset="-122"/>
              </a:rPr>
              <a:t>I7</a:t>
            </a:r>
            <a:r>
              <a:rPr lang="zh-CN" altLang="en-US" sz="2200" dirty="0">
                <a:ea typeface="华文行楷" pitchFamily="2" charset="-122"/>
              </a:rPr>
              <a:t>中的冲突，不能用</a:t>
            </a:r>
            <a:r>
              <a:rPr lang="en-US" altLang="zh-CN" sz="2200" dirty="0">
                <a:ea typeface="华文行楷" pitchFamily="2" charset="-122"/>
              </a:rPr>
              <a:t>SLR(1)</a:t>
            </a:r>
            <a:r>
              <a:rPr lang="zh-CN" altLang="en-US" sz="2200" dirty="0">
                <a:ea typeface="华文行楷" pitchFamily="2" charset="-122"/>
              </a:rPr>
              <a:t>方法解决。</a:t>
            </a:r>
            <a:endParaRPr lang="sv-SE" altLang="zh-CN" sz="2200" dirty="0">
              <a:ea typeface="华文行楷" pitchFamily="2" charset="-122"/>
            </a:endParaRPr>
          </a:p>
        </p:txBody>
      </p:sp>
    </p:spTree>
    <p:extLst>
      <p:ext uri="{BB962C8B-B14F-4D97-AF65-F5344CB8AC3E}">
        <p14:creationId xmlns:p14="http://schemas.microsoft.com/office/powerpoint/2010/main" val="853672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757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14"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ChangeArrowheads="1"/>
          </p:cNvSpPr>
          <p:nvPr>
            <p:ph type="title"/>
          </p:nvPr>
        </p:nvSpPr>
        <p:spPr/>
        <p:txBody>
          <a:bodyPr>
            <a:normAutofit/>
          </a:bodyPr>
          <a:lstStyle/>
          <a:p>
            <a:pPr eaLnBrk="1" hangingPunct="1"/>
            <a:r>
              <a:rPr lang="en-US" altLang="zh-CN"/>
              <a:t> LR(1)</a:t>
            </a:r>
            <a:r>
              <a:rPr lang="zh-CN" altLang="en-US"/>
              <a:t>分析 </a:t>
            </a:r>
          </a:p>
        </p:txBody>
      </p:sp>
      <p:sp>
        <p:nvSpPr>
          <p:cNvPr id="238595" name="Rectangle 3"/>
          <p:cNvSpPr>
            <a:spLocks noGrp="1" noChangeArrowheads="1"/>
          </p:cNvSpPr>
          <p:nvPr>
            <p:ph type="body" idx="1"/>
          </p:nvPr>
        </p:nvSpPr>
        <p:spPr>
          <a:xfrm>
            <a:off x="755575" y="1203598"/>
            <a:ext cx="7450138" cy="1584176"/>
          </a:xfrm>
        </p:spPr>
        <p:txBody>
          <a:bodyPr>
            <a:normAutofit/>
          </a:bodyPr>
          <a:lstStyle/>
          <a:p>
            <a:pPr eaLnBrk="1" hangingPunct="1"/>
            <a:r>
              <a:rPr lang="en-US" altLang="zh-CN" sz="2200" b="1" dirty="0">
                <a:solidFill>
                  <a:srgbClr val="FF0000"/>
                </a:solidFill>
              </a:rPr>
              <a:t>LR(k)</a:t>
            </a:r>
            <a:r>
              <a:rPr lang="zh-CN" altLang="en-US" sz="2200" b="1" dirty="0">
                <a:solidFill>
                  <a:srgbClr val="FF0000"/>
                </a:solidFill>
              </a:rPr>
              <a:t>项目</a:t>
            </a:r>
            <a:r>
              <a:rPr lang="zh-CN" altLang="en-US" sz="2200" dirty="0"/>
              <a:t>：为</a:t>
            </a:r>
            <a:r>
              <a:rPr lang="pt-PT" altLang="zh-CN" sz="2200" dirty="0"/>
              <a:t>[A→</a:t>
            </a:r>
            <a:r>
              <a:rPr lang="en-US" altLang="zh-CN" sz="2200" dirty="0">
                <a:sym typeface="Symbol" pitchFamily="18" charset="2"/>
              </a:rPr>
              <a:t></a:t>
            </a:r>
            <a:r>
              <a:rPr lang="pt-PT" altLang="zh-CN" sz="2200" dirty="0"/>
              <a:t>·</a:t>
            </a:r>
            <a:r>
              <a:rPr lang="en-US" altLang="zh-CN" sz="2200" dirty="0"/>
              <a:t>β</a:t>
            </a:r>
            <a:r>
              <a:rPr lang="pt-PT" altLang="zh-CN" sz="2200" dirty="0"/>
              <a:t>,a</a:t>
            </a:r>
            <a:r>
              <a:rPr lang="pt-PT" altLang="zh-CN" sz="2200" baseline="-25000" dirty="0"/>
              <a:t>1</a:t>
            </a:r>
            <a:r>
              <a:rPr lang="pt-PT" altLang="zh-CN" sz="2200" dirty="0"/>
              <a:t>a</a:t>
            </a:r>
            <a:r>
              <a:rPr lang="pt-PT" altLang="zh-CN" sz="2200" baseline="-25000" dirty="0"/>
              <a:t>2</a:t>
            </a:r>
            <a:r>
              <a:rPr lang="pt-PT" altLang="zh-CN" sz="2200" dirty="0"/>
              <a:t>…a</a:t>
            </a:r>
            <a:r>
              <a:rPr lang="pt-PT" altLang="zh-CN" sz="2200" baseline="-25000" dirty="0"/>
              <a:t>k</a:t>
            </a:r>
            <a:r>
              <a:rPr lang="pt-PT" altLang="zh-CN" sz="2200" dirty="0"/>
              <a:t>]</a:t>
            </a:r>
            <a:r>
              <a:rPr lang="zh-CN" altLang="en-US" sz="2200" dirty="0"/>
              <a:t>，</a:t>
            </a:r>
            <a:r>
              <a:rPr lang="en-US" altLang="zh-CN" sz="2200" dirty="0"/>
              <a:t>A→</a:t>
            </a:r>
            <a:r>
              <a:rPr lang="en-US" altLang="zh-CN" sz="2200" dirty="0">
                <a:sym typeface="Symbol" pitchFamily="18" charset="2"/>
              </a:rPr>
              <a:t></a:t>
            </a:r>
            <a:r>
              <a:rPr lang="en-US" altLang="zh-CN" sz="2200" dirty="0"/>
              <a:t>·β</a:t>
            </a:r>
            <a:r>
              <a:rPr lang="zh-CN" altLang="en-US" sz="2200" dirty="0"/>
              <a:t>是一个</a:t>
            </a:r>
            <a:r>
              <a:rPr lang="en-US" altLang="zh-CN" sz="2200" dirty="0"/>
              <a:t>LR(0)</a:t>
            </a:r>
            <a:r>
              <a:rPr lang="zh-CN" altLang="en-US" sz="2200" dirty="0"/>
              <a:t>项目，</a:t>
            </a:r>
            <a:r>
              <a:rPr lang="en-US" altLang="zh-CN" sz="2200" dirty="0" err="1"/>
              <a:t>ai∈V</a:t>
            </a:r>
            <a:r>
              <a:rPr lang="en-US" altLang="zh-CN" sz="2200" baseline="-25000" dirty="0" err="1"/>
              <a:t>T</a:t>
            </a:r>
            <a:r>
              <a:rPr lang="en-US" altLang="zh-CN" sz="2200" dirty="0"/>
              <a:t>*</a:t>
            </a:r>
            <a:r>
              <a:rPr lang="zh-CN" altLang="en-US" sz="2200" dirty="0"/>
              <a:t>。 </a:t>
            </a:r>
          </a:p>
          <a:p>
            <a:pPr eaLnBrk="1" hangingPunct="1"/>
            <a:r>
              <a:rPr lang="pt-PT" altLang="zh-CN" sz="2200" dirty="0"/>
              <a:t>a</a:t>
            </a:r>
            <a:r>
              <a:rPr lang="pt-PT" altLang="zh-CN" sz="2200" baseline="-25000" dirty="0"/>
              <a:t>1</a:t>
            </a:r>
            <a:r>
              <a:rPr lang="pt-PT" altLang="zh-CN" sz="2200" dirty="0"/>
              <a:t>a</a:t>
            </a:r>
            <a:r>
              <a:rPr lang="pt-PT" altLang="zh-CN" sz="2200" baseline="-25000" dirty="0"/>
              <a:t>2</a:t>
            </a:r>
            <a:r>
              <a:rPr lang="pt-PT" altLang="zh-CN" sz="2200" dirty="0"/>
              <a:t>…a</a:t>
            </a:r>
            <a:r>
              <a:rPr lang="pt-PT" altLang="zh-CN" sz="2200" baseline="-25000" dirty="0"/>
              <a:t>k</a:t>
            </a:r>
            <a:r>
              <a:rPr lang="zh-CN" altLang="en-US" sz="2200" dirty="0"/>
              <a:t>称为它的</a:t>
            </a:r>
            <a:r>
              <a:rPr lang="zh-CN" altLang="en-US" sz="2200" b="1" i="1" u="sng" dirty="0">
                <a:solidFill>
                  <a:srgbClr val="FF0000"/>
                </a:solidFill>
              </a:rPr>
              <a:t>向前搜索字符串</a:t>
            </a:r>
            <a:r>
              <a:rPr lang="zh-CN" altLang="en-US" sz="2200" dirty="0"/>
              <a:t> 。</a:t>
            </a:r>
          </a:p>
          <a:p>
            <a:pPr eaLnBrk="1" hangingPunct="1"/>
            <a:r>
              <a:rPr lang="en-US" altLang="zh-CN" sz="2200" dirty="0"/>
              <a:t>K=1</a:t>
            </a:r>
            <a:r>
              <a:rPr lang="zh-CN" altLang="en-US" sz="2200" dirty="0"/>
              <a:t>，称为</a:t>
            </a:r>
            <a:r>
              <a:rPr lang="en-US" altLang="zh-CN" sz="2200" dirty="0"/>
              <a:t>LR(1)</a:t>
            </a:r>
            <a:r>
              <a:rPr lang="zh-CN" altLang="en-US" sz="2200" dirty="0"/>
              <a:t>项目</a:t>
            </a:r>
            <a:endParaRPr lang="en-US" altLang="zh-CN" sz="2200" dirty="0"/>
          </a:p>
        </p:txBody>
      </p:sp>
      <p:sp>
        <p:nvSpPr>
          <p:cNvPr id="2" name="文本框 1">
            <a:extLst>
              <a:ext uri="{FF2B5EF4-FFF2-40B4-BE49-F238E27FC236}">
                <a16:creationId xmlns:a16="http://schemas.microsoft.com/office/drawing/2014/main" id="{A3D036F5-1521-E722-3DA1-8D73454806D0}"/>
              </a:ext>
            </a:extLst>
          </p:cNvPr>
          <p:cNvSpPr txBox="1"/>
          <p:nvPr/>
        </p:nvSpPr>
        <p:spPr>
          <a:xfrm>
            <a:off x="755575" y="2928143"/>
            <a:ext cx="4699284" cy="430887"/>
          </a:xfrm>
          <a:prstGeom prst="rect">
            <a:avLst/>
          </a:prstGeom>
          <a:noFill/>
        </p:spPr>
        <p:txBody>
          <a:bodyPr wrap="square">
            <a:spAutoFit/>
          </a:bodyPr>
          <a:lstStyle/>
          <a:p>
            <a:pPr marL="342900" indent="-342900">
              <a:buFont typeface="Arial" panose="020B0604020202020204" pitchFamily="34" charset="0"/>
              <a:buChar char="•"/>
            </a:pPr>
            <a:r>
              <a:rPr lang="zh-CN" altLang="en-US"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如</a:t>
            </a:r>
            <a:r>
              <a:rPr lang="en-US" altLang="zh-CN" sz="2200" dirty="0">
                <a:solidFill>
                  <a:srgbClr val="FF0000"/>
                </a:solidFill>
                <a:latin typeface="Times New Roman" panose="02020603050405020304" pitchFamily="18" charset="0"/>
                <a:ea typeface="宋体" panose="02010600030101010101" pitchFamily="2" charset="-122"/>
                <a:cs typeface="Times New Roman" panose="02020603050405020304" pitchFamily="18" charset="0"/>
              </a:rPr>
              <a:t> [A→α·Xβ,a]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是一个</a:t>
            </a:r>
            <a:r>
              <a:rPr lang="en-US" altLang="zh-CN" sz="2200" dirty="0">
                <a:latin typeface="Times New Roman" panose="02020603050405020304" pitchFamily="18" charset="0"/>
                <a:ea typeface="宋体" panose="02010600030101010101" pitchFamily="2" charset="-122"/>
                <a:cs typeface="Times New Roman" panose="02020603050405020304" pitchFamily="18" charset="0"/>
              </a:rPr>
              <a:t>LR(1)</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项目</a:t>
            </a:r>
          </a:p>
        </p:txBody>
      </p:sp>
      <p:sp>
        <p:nvSpPr>
          <p:cNvPr id="3" name="文本框 2">
            <a:extLst>
              <a:ext uri="{FF2B5EF4-FFF2-40B4-BE49-F238E27FC236}">
                <a16:creationId xmlns:a16="http://schemas.microsoft.com/office/drawing/2014/main" id="{95C4CA73-17CA-A217-9AD6-71FCF15FE97E}"/>
              </a:ext>
            </a:extLst>
          </p:cNvPr>
          <p:cNvSpPr txBox="1"/>
          <p:nvPr/>
        </p:nvSpPr>
        <p:spPr>
          <a:xfrm>
            <a:off x="755573" y="3326738"/>
            <a:ext cx="7272809" cy="430887"/>
          </a:xfrm>
          <a:prstGeom prst="rect">
            <a:avLst/>
          </a:prstGeom>
          <a:noFill/>
        </p:spPr>
        <p:txBody>
          <a:bodyPr wrap="square">
            <a:spAutoFit/>
          </a:bodyPr>
          <a:lstStyle/>
          <a:p>
            <a:pPr marL="342900" indent="-342900">
              <a:buFont typeface="Arial" panose="020B0604020202020204" pitchFamily="34" charset="0"/>
              <a:buChar char="•"/>
            </a:pPr>
            <a:r>
              <a:rPr lang="zh-CN" altLang="en-US" sz="2200" kern="100" dirty="0">
                <a:effectLst/>
                <a:latin typeface="Times New Roman" panose="02020603050405020304" pitchFamily="18" charset="0"/>
                <a:ea typeface="宋体" panose="02010600030101010101" pitchFamily="2" charset="-122"/>
                <a:cs typeface="Times New Roman" panose="02020603050405020304" pitchFamily="18" charset="0"/>
              </a:rPr>
              <a:t>向前搜索字符串只对归约项目有</a:t>
            </a:r>
            <a:r>
              <a:rPr lang="zh-CN" altLang="en-US" sz="2200" kern="100" dirty="0">
                <a:latin typeface="Times New Roman" panose="02020603050405020304" pitchFamily="18" charset="0"/>
                <a:ea typeface="宋体" panose="02010600030101010101" pitchFamily="2" charset="-122"/>
                <a:cs typeface="Times New Roman" panose="02020603050405020304" pitchFamily="18" charset="0"/>
              </a:rPr>
              <a:t>意义</a:t>
            </a:r>
            <a:r>
              <a:rPr lang="zh-CN" altLang="en-US" sz="22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200" kern="100" dirty="0">
                <a:effectLst/>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kern="100" dirty="0">
                <a:effectLst/>
                <a:latin typeface="Times New Roman" panose="02020603050405020304" pitchFamily="18" charset="0"/>
                <a:ea typeface="微软雅黑" panose="020B0503020204020204" pitchFamily="34" charset="-122"/>
                <a:cs typeface="Times New Roman" panose="02020603050405020304" pitchFamily="18" charset="0"/>
              </a:rPr>
              <a:t>η</a:t>
            </a:r>
            <a:r>
              <a:rPr lang="en-US" altLang="zh-CN" sz="2200" kern="100" dirty="0">
                <a:effectLst/>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kern="100" baseline="-25000" dirty="0">
                <a:effectLst/>
                <a:latin typeface="Times New Roman" panose="02020603050405020304" pitchFamily="18" charset="0"/>
                <a:ea typeface="宋体" panose="02010600030101010101" pitchFamily="2" charset="-122"/>
                <a:cs typeface="Times New Roman" panose="02020603050405020304" pitchFamily="18" charset="0"/>
              </a:rPr>
              <a:t>1</a:t>
            </a:r>
            <a:r>
              <a:rPr lang="en-US" altLang="zh-CN" sz="2200" kern="100" dirty="0">
                <a:effectLst/>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kern="100" baseline="-25000" dirty="0">
                <a:effectLst/>
                <a:latin typeface="Times New Roman" panose="02020603050405020304" pitchFamily="18" charset="0"/>
                <a:ea typeface="宋体" panose="02010600030101010101" pitchFamily="2" charset="-122"/>
                <a:cs typeface="Times New Roman" panose="02020603050405020304" pitchFamily="18" charset="0"/>
              </a:rPr>
              <a:t>2</a:t>
            </a:r>
            <a:r>
              <a:rPr lang="en-US" altLang="zh-CN" sz="22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200" kern="100" dirty="0" err="1">
                <a:effectLst/>
                <a:latin typeface="Times New Roman" panose="02020603050405020304" pitchFamily="18" charset="0"/>
                <a:ea typeface="宋体" panose="02010600030101010101" pitchFamily="2" charset="-122"/>
                <a:cs typeface="Times New Roman" panose="02020603050405020304" pitchFamily="18" charset="0"/>
              </a:rPr>
              <a:t>a</a:t>
            </a:r>
            <a:r>
              <a:rPr lang="en-US" altLang="zh-CN" sz="2200" kern="100" baseline="-25000" dirty="0" err="1">
                <a:effectLst/>
                <a:latin typeface="Times New Roman" panose="02020603050405020304" pitchFamily="18" charset="0"/>
                <a:ea typeface="宋体" panose="02010600030101010101" pitchFamily="2" charset="-122"/>
                <a:cs typeface="Times New Roman" panose="02020603050405020304" pitchFamily="18" charset="0"/>
              </a:rPr>
              <a:t>k</a:t>
            </a:r>
            <a:r>
              <a:rPr lang="en-US" altLang="zh-CN" sz="22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en-US" sz="2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626853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3"/>
          <p:cNvSpPr>
            <a:spLocks noGrp="1" noChangeArrowheads="1"/>
          </p:cNvSpPr>
          <p:nvPr>
            <p:ph type="body" idx="1"/>
          </p:nvPr>
        </p:nvSpPr>
        <p:spPr>
          <a:xfrm>
            <a:off x="582613" y="823913"/>
            <a:ext cx="8280400" cy="3136900"/>
          </a:xfrm>
        </p:spPr>
        <p:txBody>
          <a:bodyPr>
            <a:normAutofit/>
          </a:bodyPr>
          <a:lstStyle/>
          <a:p>
            <a:pPr eaLnBrk="1" hangingPunct="1">
              <a:lnSpc>
                <a:spcPct val="90000"/>
              </a:lnSpc>
            </a:pPr>
            <a:r>
              <a:rPr lang="zh-CN" altLang="en-US" sz="2200" dirty="0">
                <a:latin typeface="Times New Roman" panose="02020603050405020304" pitchFamily="18" charset="0"/>
                <a:cs typeface="Times New Roman" panose="02020603050405020304" pitchFamily="18" charset="0"/>
              </a:rPr>
              <a:t>一个项目集的</a:t>
            </a:r>
            <a:r>
              <a:rPr lang="zh-CN" altLang="en-US" sz="2200" b="1" i="1" u="sng" dirty="0">
                <a:solidFill>
                  <a:srgbClr val="FF0000"/>
                </a:solidFill>
                <a:latin typeface="Times New Roman" panose="02020603050405020304" pitchFamily="18" charset="0"/>
                <a:cs typeface="Times New Roman" panose="02020603050405020304" pitchFamily="18" charset="0"/>
              </a:rPr>
              <a:t>闭包</a:t>
            </a:r>
            <a:r>
              <a:rPr lang="en-US" altLang="zh-CN" sz="2200" b="1" i="1" u="sng" dirty="0">
                <a:solidFill>
                  <a:srgbClr val="FF0000"/>
                </a:solidFill>
                <a:latin typeface="Times New Roman" panose="02020603050405020304" pitchFamily="18" charset="0"/>
                <a:cs typeface="Times New Roman" panose="02020603050405020304" pitchFamily="18" charset="0"/>
              </a:rPr>
              <a:t>Closure(I)</a:t>
            </a:r>
            <a:r>
              <a:rPr lang="zh-CN" altLang="en-US" sz="2200" dirty="0">
                <a:latin typeface="Times New Roman" panose="02020603050405020304" pitchFamily="18" charset="0"/>
                <a:cs typeface="Times New Roman" panose="02020603050405020304" pitchFamily="18" charset="0"/>
              </a:rPr>
              <a:t>：</a:t>
            </a:r>
          </a:p>
          <a:p>
            <a:pPr eaLnBrk="1" hangingPunct="1">
              <a:lnSpc>
                <a:spcPct val="90000"/>
              </a:lnSpc>
              <a:buFontTx/>
              <a:buNone/>
            </a:pP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1</a:t>
            </a:r>
            <a:r>
              <a:rPr lang="zh-CN" altLang="en-US" sz="2200" dirty="0">
                <a:latin typeface="Times New Roman" panose="02020603050405020304" pitchFamily="18" charset="0"/>
                <a:cs typeface="Times New Roman" panose="02020603050405020304" pitchFamily="18" charset="0"/>
              </a:rPr>
              <a:t>）将</a:t>
            </a:r>
            <a:r>
              <a:rPr lang="en-US" altLang="zh-CN" sz="2200" dirty="0">
                <a:latin typeface="Times New Roman" panose="02020603050405020304" pitchFamily="18" charset="0"/>
                <a:cs typeface="Times New Roman" panose="02020603050405020304" pitchFamily="18" charset="0"/>
              </a:rPr>
              <a:t>I</a:t>
            </a:r>
            <a:r>
              <a:rPr lang="zh-CN" altLang="en-US" sz="2200" dirty="0">
                <a:latin typeface="Times New Roman" panose="02020603050405020304" pitchFamily="18" charset="0"/>
                <a:cs typeface="Times New Roman" panose="02020603050405020304" pitchFamily="18" charset="0"/>
              </a:rPr>
              <a:t>中的所有项目都加入</a:t>
            </a:r>
            <a:r>
              <a:rPr lang="en-US" altLang="zh-CN" sz="2200" dirty="0">
                <a:latin typeface="Times New Roman" panose="02020603050405020304" pitchFamily="18" charset="0"/>
                <a:cs typeface="Times New Roman" panose="02020603050405020304" pitchFamily="18" charset="0"/>
              </a:rPr>
              <a:t>Closure(I)</a:t>
            </a:r>
            <a:r>
              <a:rPr lang="zh-CN" altLang="en-US" sz="2200" dirty="0">
                <a:latin typeface="Times New Roman" panose="02020603050405020304" pitchFamily="18" charset="0"/>
                <a:cs typeface="Times New Roman" panose="02020603050405020304" pitchFamily="18" charset="0"/>
              </a:rPr>
              <a:t>。</a:t>
            </a:r>
          </a:p>
          <a:p>
            <a:pPr eaLnBrk="1" hangingPunct="1">
              <a:lnSpc>
                <a:spcPct val="90000"/>
              </a:lnSpc>
              <a:buFontTx/>
              <a:buNone/>
            </a:pP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2</a:t>
            </a:r>
            <a:r>
              <a:rPr lang="zh-CN" altLang="en-US" sz="2200" dirty="0">
                <a:latin typeface="Times New Roman" panose="02020603050405020304" pitchFamily="18" charset="0"/>
                <a:cs typeface="Times New Roman" panose="02020603050405020304" pitchFamily="18" charset="0"/>
              </a:rPr>
              <a:t>）若</a:t>
            </a:r>
            <a:r>
              <a:rPr lang="zh-CN" altLang="en-US" sz="2200" dirty="0">
                <a:solidFill>
                  <a:srgbClr val="3333FF"/>
                </a:solidFill>
                <a:latin typeface="Times New Roman" panose="02020603050405020304" pitchFamily="18" charset="0"/>
                <a:cs typeface="Times New Roman" panose="02020603050405020304" pitchFamily="18" charset="0"/>
              </a:rPr>
              <a:t>项目</a:t>
            </a:r>
            <a:r>
              <a:rPr lang="en-US" altLang="zh-CN" sz="2200" dirty="0">
                <a:solidFill>
                  <a:srgbClr val="3333FF"/>
                </a:solidFill>
                <a:latin typeface="Times New Roman" panose="02020603050405020304" pitchFamily="18" charset="0"/>
                <a:cs typeface="Times New Roman" panose="02020603050405020304" pitchFamily="18" charset="0"/>
              </a:rPr>
              <a:t>[A→α·Bβ,a]∈Closure(I)</a:t>
            </a:r>
            <a:r>
              <a:rPr lang="zh-CN" altLang="en-US" sz="2200" dirty="0">
                <a:solidFill>
                  <a:srgbClr val="3333FF"/>
                </a:solidFill>
                <a:latin typeface="Times New Roman" panose="02020603050405020304" pitchFamily="18" charset="0"/>
                <a:cs typeface="Times New Roman" panose="02020603050405020304" pitchFamily="18" charset="0"/>
              </a:rPr>
              <a:t>，</a:t>
            </a:r>
            <a:r>
              <a:rPr lang="en-US" altLang="zh-CN" sz="2200" dirty="0" err="1">
                <a:solidFill>
                  <a:srgbClr val="3333FF"/>
                </a:solidFill>
                <a:latin typeface="Times New Roman" panose="02020603050405020304" pitchFamily="18" charset="0"/>
                <a:cs typeface="Times New Roman" panose="02020603050405020304" pitchFamily="18" charset="0"/>
              </a:rPr>
              <a:t>B→γ</a:t>
            </a:r>
            <a:r>
              <a:rPr lang="zh-CN" altLang="en-US" sz="2200" dirty="0">
                <a:solidFill>
                  <a:srgbClr val="3333FF"/>
                </a:solidFill>
                <a:latin typeface="Times New Roman" panose="02020603050405020304" pitchFamily="18" charset="0"/>
                <a:cs typeface="Times New Roman" panose="02020603050405020304" pitchFamily="18" charset="0"/>
              </a:rPr>
              <a:t>是一个产生式</a:t>
            </a:r>
            <a:r>
              <a:rPr lang="zh-CN" altLang="en-US" sz="2200" dirty="0">
                <a:latin typeface="Times New Roman" panose="02020603050405020304" pitchFamily="18" charset="0"/>
                <a:cs typeface="Times New Roman" panose="02020603050405020304" pitchFamily="18" charset="0"/>
              </a:rPr>
              <a:t>，那么对于</a:t>
            </a:r>
            <a:r>
              <a:rPr lang="zh-CN" altLang="en-US" sz="2200" dirty="0">
                <a:solidFill>
                  <a:srgbClr val="3333FF"/>
                </a:solidFill>
                <a:latin typeface="Times New Roman" panose="02020603050405020304" pitchFamily="18" charset="0"/>
                <a:cs typeface="Times New Roman" panose="02020603050405020304" pitchFamily="18" charset="0"/>
              </a:rPr>
              <a:t>任何</a:t>
            </a:r>
            <a:r>
              <a:rPr lang="en-US" altLang="zh-CN" sz="2200" dirty="0" err="1">
                <a:solidFill>
                  <a:srgbClr val="3333FF"/>
                </a:solidFill>
                <a:latin typeface="Times New Roman" panose="02020603050405020304" pitchFamily="18" charset="0"/>
                <a:cs typeface="Times New Roman" panose="02020603050405020304" pitchFamily="18" charset="0"/>
              </a:rPr>
              <a:t>b∈First</a:t>
            </a:r>
            <a:r>
              <a:rPr lang="en-US" altLang="zh-CN" sz="2200" dirty="0">
                <a:solidFill>
                  <a:srgbClr val="3333FF"/>
                </a:solidFill>
                <a:latin typeface="Times New Roman" panose="02020603050405020304" pitchFamily="18" charset="0"/>
                <a:cs typeface="Times New Roman" panose="02020603050405020304" pitchFamily="18" charset="0"/>
              </a:rPr>
              <a:t>(βa)</a:t>
            </a:r>
            <a:r>
              <a:rPr lang="zh-CN" altLang="en-US" sz="2200" dirty="0">
                <a:solidFill>
                  <a:srgbClr val="3333FF"/>
                </a:solidFill>
                <a:latin typeface="Times New Roman" panose="02020603050405020304" pitchFamily="18" charset="0"/>
                <a:cs typeface="Times New Roman" panose="02020603050405020304" pitchFamily="18" charset="0"/>
              </a:rPr>
              <a:t>，如果</a:t>
            </a:r>
            <a:r>
              <a:rPr lang="en-US" altLang="zh-CN" sz="2200" dirty="0">
                <a:solidFill>
                  <a:srgbClr val="3333FF"/>
                </a:solidFill>
                <a:latin typeface="Times New Roman" panose="02020603050405020304" pitchFamily="18" charset="0"/>
                <a:cs typeface="Times New Roman" panose="02020603050405020304" pitchFamily="18" charset="0"/>
              </a:rPr>
              <a:t>[B→·</a:t>
            </a:r>
            <a:r>
              <a:rPr lang="en-US" altLang="zh-CN" sz="2200" dirty="0" err="1">
                <a:solidFill>
                  <a:srgbClr val="3333FF"/>
                </a:solidFill>
                <a:latin typeface="Times New Roman" panose="02020603050405020304" pitchFamily="18" charset="0"/>
                <a:cs typeface="Times New Roman" panose="02020603050405020304" pitchFamily="18" charset="0"/>
              </a:rPr>
              <a:t>γ,b</a:t>
            </a:r>
            <a:r>
              <a:rPr lang="en-US" altLang="zh-CN" sz="2200" dirty="0">
                <a:solidFill>
                  <a:srgbClr val="3333FF"/>
                </a:solidFill>
                <a:latin typeface="Times New Roman" panose="02020603050405020304" pitchFamily="18" charset="0"/>
                <a:cs typeface="Times New Roman" panose="02020603050405020304" pitchFamily="18" charset="0"/>
              </a:rPr>
              <a:t>]</a:t>
            </a:r>
            <a:r>
              <a:rPr lang="zh-CN" altLang="en-US" sz="2200" dirty="0">
                <a:solidFill>
                  <a:srgbClr val="3333FF"/>
                </a:solidFill>
                <a:latin typeface="Times New Roman" panose="02020603050405020304" pitchFamily="18" charset="0"/>
                <a:cs typeface="Times New Roman" panose="02020603050405020304" pitchFamily="18" charset="0"/>
              </a:rPr>
              <a:t>原来不在</a:t>
            </a:r>
            <a:r>
              <a:rPr lang="en-US" altLang="zh-CN" sz="2200" dirty="0">
                <a:solidFill>
                  <a:srgbClr val="3333FF"/>
                </a:solidFill>
                <a:latin typeface="Times New Roman" panose="02020603050405020304" pitchFamily="18" charset="0"/>
                <a:cs typeface="Times New Roman" panose="02020603050405020304" pitchFamily="18" charset="0"/>
              </a:rPr>
              <a:t>Closure(I)</a:t>
            </a:r>
            <a:r>
              <a:rPr lang="zh-CN" altLang="en-US" sz="2200" dirty="0">
                <a:solidFill>
                  <a:srgbClr val="3333FF"/>
                </a:solidFill>
                <a:latin typeface="Times New Roman" panose="02020603050405020304" pitchFamily="18" charset="0"/>
                <a:cs typeface="Times New Roman" panose="02020603050405020304" pitchFamily="18" charset="0"/>
              </a:rPr>
              <a:t>中，则把它加进去</a:t>
            </a:r>
            <a:r>
              <a:rPr lang="zh-CN" altLang="en-US" sz="2200" dirty="0">
                <a:latin typeface="Times New Roman" panose="02020603050405020304" pitchFamily="18" charset="0"/>
                <a:cs typeface="Times New Roman" panose="02020603050405020304" pitchFamily="18" charset="0"/>
              </a:rPr>
              <a:t>。重复执行该过程，直到</a:t>
            </a:r>
            <a:r>
              <a:rPr lang="en-US" altLang="zh-CN" sz="2200" dirty="0">
                <a:latin typeface="Times New Roman" panose="02020603050405020304" pitchFamily="18" charset="0"/>
                <a:cs typeface="Times New Roman" panose="02020603050405020304" pitchFamily="18" charset="0"/>
              </a:rPr>
              <a:t>Closure(I)</a:t>
            </a:r>
            <a:r>
              <a:rPr lang="zh-CN" altLang="en-US" sz="2200" dirty="0">
                <a:latin typeface="Times New Roman" panose="02020603050405020304" pitchFamily="18" charset="0"/>
                <a:cs typeface="Times New Roman" panose="02020603050405020304" pitchFamily="18" charset="0"/>
              </a:rPr>
              <a:t>不再增大为止。</a:t>
            </a:r>
          </a:p>
          <a:p>
            <a:pPr eaLnBrk="1" hangingPunct="1">
              <a:lnSpc>
                <a:spcPct val="90000"/>
              </a:lnSpc>
            </a:pPr>
            <a:endParaRPr lang="en-US" altLang="zh-CN" sz="2200" dirty="0">
              <a:latin typeface="Times New Roman" panose="02020603050405020304" pitchFamily="18" charset="0"/>
              <a:cs typeface="Times New Roman" panose="02020603050405020304" pitchFamily="18" charset="0"/>
            </a:endParaRPr>
          </a:p>
          <a:p>
            <a:pPr eaLnBrk="1" hangingPunct="1">
              <a:lnSpc>
                <a:spcPct val="90000"/>
              </a:lnSpc>
            </a:pPr>
            <a:r>
              <a:rPr lang="en-US" altLang="zh-CN" sz="2200" dirty="0">
                <a:latin typeface="Times New Roman" panose="02020603050405020304" pitchFamily="18" charset="0"/>
                <a:cs typeface="Times New Roman" panose="02020603050405020304" pitchFamily="18" charset="0"/>
              </a:rPr>
              <a:t>I</a:t>
            </a:r>
            <a:r>
              <a:rPr lang="zh-CN" altLang="en-US" sz="2200" dirty="0">
                <a:latin typeface="Times New Roman" panose="02020603050405020304" pitchFamily="18" charset="0"/>
                <a:cs typeface="Times New Roman" panose="02020603050405020304" pitchFamily="18" charset="0"/>
              </a:rPr>
              <a:t>是一个项目集，</a:t>
            </a:r>
            <a:r>
              <a:rPr lang="en-US" altLang="zh-CN" sz="2200" dirty="0">
                <a:latin typeface="Times New Roman" panose="02020603050405020304" pitchFamily="18" charset="0"/>
                <a:cs typeface="Times New Roman" panose="02020603050405020304" pitchFamily="18" charset="0"/>
              </a:rPr>
              <a:t>X</a:t>
            </a:r>
            <a:r>
              <a:rPr lang="zh-CN" altLang="en-US" sz="2200" dirty="0">
                <a:latin typeface="Times New Roman" panose="02020603050405020304" pitchFamily="18" charset="0"/>
                <a:cs typeface="Times New Roman" panose="02020603050405020304" pitchFamily="18" charset="0"/>
              </a:rPr>
              <a:t>是一个文法符号，则</a:t>
            </a:r>
            <a:r>
              <a:rPr lang="zh-CN" altLang="en-US" sz="2200" b="1" i="1" u="sng" dirty="0">
                <a:solidFill>
                  <a:srgbClr val="FF0000"/>
                </a:solidFill>
                <a:latin typeface="Times New Roman" panose="02020603050405020304" pitchFamily="18" charset="0"/>
                <a:cs typeface="Times New Roman" panose="02020603050405020304" pitchFamily="18" charset="0"/>
              </a:rPr>
              <a:t>状态转换函数</a:t>
            </a:r>
            <a:r>
              <a:rPr lang="en-US" altLang="zh-CN" sz="2200" b="1" i="1" u="sng" dirty="0">
                <a:solidFill>
                  <a:srgbClr val="FF0000"/>
                </a:solidFill>
                <a:latin typeface="Times New Roman" panose="02020603050405020304" pitchFamily="18" charset="0"/>
                <a:cs typeface="Times New Roman" panose="02020603050405020304" pitchFamily="18" charset="0"/>
              </a:rPr>
              <a:t>GO(I,X)</a:t>
            </a:r>
            <a:r>
              <a:rPr lang="zh-CN" altLang="en-US" sz="2200" dirty="0">
                <a:latin typeface="Times New Roman" panose="02020603050405020304" pitchFamily="18" charset="0"/>
                <a:cs typeface="Times New Roman" panose="02020603050405020304" pitchFamily="18" charset="0"/>
              </a:rPr>
              <a:t>定义为：</a:t>
            </a:r>
            <a:r>
              <a:rPr lang="en-US" altLang="zh-CN" sz="2200" dirty="0">
                <a:latin typeface="Times New Roman" panose="02020603050405020304" pitchFamily="18" charset="0"/>
                <a:cs typeface="Times New Roman" panose="02020603050405020304" pitchFamily="18" charset="0"/>
              </a:rPr>
              <a:t>GO(I,X) = Closure(J)</a:t>
            </a: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J=</a:t>
            </a:r>
            <a:r>
              <a:rPr lang="zh-CN" altLang="en-US" sz="2200" dirty="0">
                <a:latin typeface="Times New Roman" panose="02020603050405020304" pitchFamily="18" charset="0"/>
                <a:cs typeface="Times New Roman" panose="02020603050405020304" pitchFamily="18" charset="0"/>
              </a:rPr>
              <a:t>｛任何形如</a:t>
            </a:r>
            <a:r>
              <a:rPr lang="en-US" altLang="zh-CN" sz="2200" dirty="0">
                <a:latin typeface="Times New Roman" panose="02020603050405020304" pitchFamily="18" charset="0"/>
                <a:cs typeface="Times New Roman" panose="02020603050405020304" pitchFamily="18" charset="0"/>
              </a:rPr>
              <a:t>[A→αX·β,a]</a:t>
            </a:r>
            <a:r>
              <a:rPr lang="zh-CN" altLang="en-US" sz="2200" dirty="0">
                <a:latin typeface="Times New Roman" panose="02020603050405020304" pitchFamily="18" charset="0"/>
                <a:cs typeface="Times New Roman" panose="02020603050405020304" pitchFamily="18" charset="0"/>
              </a:rPr>
              <a:t>的项目 </a:t>
            </a:r>
            <a:r>
              <a:rPr lang="en-US" altLang="zh-CN" sz="2200" dirty="0">
                <a:latin typeface="Times New Roman" panose="02020603050405020304" pitchFamily="18" charset="0"/>
                <a:cs typeface="Times New Roman" panose="02020603050405020304" pitchFamily="18" charset="0"/>
              </a:rPr>
              <a:t>| [A→α·Xβ,a]∈I</a:t>
            </a:r>
            <a:r>
              <a:rPr lang="zh-CN" altLang="en-US" sz="2200" dirty="0">
                <a:latin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1110547710"/>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ChangeArrowheads="1"/>
          </p:cNvSpPr>
          <p:nvPr>
            <p:ph type="title"/>
          </p:nvPr>
        </p:nvSpPr>
        <p:spPr>
          <a:xfrm>
            <a:off x="107504" y="339502"/>
            <a:ext cx="8229600" cy="576064"/>
          </a:xfrm>
        </p:spPr>
        <p:txBody>
          <a:bodyPr>
            <a:noAutofit/>
          </a:bodyPr>
          <a:lstStyle/>
          <a:p>
            <a:pPr algn="l" eaLnBrk="1" hangingPunct="1"/>
            <a:r>
              <a:rPr lang="zh-CN" altLang="en-US" sz="3200" b="1" dirty="0">
                <a:latin typeface="楷体_GB2312" pitchFamily="49" charset="-122"/>
                <a:ea typeface="楷体_GB2312" pitchFamily="49" charset="-122"/>
              </a:rPr>
              <a:t>构造</a:t>
            </a:r>
            <a:r>
              <a:rPr lang="en-US" altLang="zh-CN" sz="3200" b="1" dirty="0">
                <a:latin typeface="楷体_GB2312" pitchFamily="49" charset="-122"/>
                <a:ea typeface="楷体_GB2312" pitchFamily="49" charset="-122"/>
              </a:rPr>
              <a:t>LR(1)</a:t>
            </a:r>
            <a:r>
              <a:rPr lang="zh-CN" altLang="en-US" sz="3200" b="1" dirty="0">
                <a:latin typeface="楷体_GB2312" pitchFamily="49" charset="-122"/>
                <a:ea typeface="楷体_GB2312" pitchFamily="49" charset="-122"/>
              </a:rPr>
              <a:t>项目集规范族及识别活前缀的</a:t>
            </a:r>
            <a:r>
              <a:rPr lang="en-US" altLang="zh-CN" sz="3200" b="1" dirty="0">
                <a:latin typeface="楷体_GB2312" pitchFamily="49" charset="-122"/>
                <a:ea typeface="楷体_GB2312" pitchFamily="49" charset="-122"/>
              </a:rPr>
              <a:t>DFA</a:t>
            </a:r>
          </a:p>
        </p:txBody>
      </p:sp>
      <p:sp>
        <p:nvSpPr>
          <p:cNvPr id="240643" name="Rectangle 3"/>
          <p:cNvSpPr>
            <a:spLocks noGrp="1" noChangeArrowheads="1"/>
          </p:cNvSpPr>
          <p:nvPr>
            <p:ph type="body" idx="1"/>
          </p:nvPr>
        </p:nvSpPr>
        <p:spPr>
          <a:xfrm>
            <a:off x="683568" y="1347614"/>
            <a:ext cx="7772400" cy="2895600"/>
          </a:xfrm>
          <a:solidFill>
            <a:schemeClr val="bg1"/>
          </a:solidFill>
          <a:ln w="28575">
            <a:solidFill>
              <a:schemeClr val="accent2"/>
            </a:solidFill>
            <a:miter lim="800000"/>
            <a:headEnd/>
            <a:tailEnd/>
          </a:ln>
        </p:spPr>
        <p:txBody>
          <a:bodyPr>
            <a:normAutofit/>
          </a:bodyPr>
          <a:lstStyle/>
          <a:p>
            <a:pPr marL="533400" indent="-533400" eaLnBrk="1" hangingPunct="1">
              <a:lnSpc>
                <a:spcPct val="80000"/>
              </a:lnSpc>
              <a:buFontTx/>
              <a:buNone/>
            </a:pPr>
            <a:endParaRPr lang="en-US" altLang="zh-CN" sz="2200" dirty="0">
              <a:latin typeface="Times New Roman" panose="02020603050405020304" pitchFamily="18" charset="0"/>
              <a:cs typeface="Times New Roman" panose="02020603050405020304" pitchFamily="18" charset="0"/>
            </a:endParaRPr>
          </a:p>
          <a:p>
            <a:pPr marL="533400" indent="-533400" eaLnBrk="1" hangingPunct="1">
              <a:lnSpc>
                <a:spcPct val="80000"/>
              </a:lnSpc>
              <a:buFontTx/>
              <a:buNone/>
            </a:pP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1</a:t>
            </a: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C={Closure ({[S'→ ·S,#]})};</a:t>
            </a:r>
          </a:p>
          <a:p>
            <a:pPr marL="533400" indent="-533400" eaLnBrk="1" hangingPunct="1">
              <a:lnSpc>
                <a:spcPct val="80000"/>
              </a:lnSpc>
              <a:buFontTx/>
              <a:buNone/>
            </a:pP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2</a:t>
            </a:r>
            <a:r>
              <a:rPr lang="zh-CN" altLang="en-US" sz="2200" dirty="0">
                <a:latin typeface="Times New Roman" panose="02020603050405020304" pitchFamily="18" charset="0"/>
                <a:cs typeface="Times New Roman" panose="02020603050405020304" pitchFamily="18" charset="0"/>
              </a:rPr>
              <a:t>）重复执行</a:t>
            </a:r>
            <a:r>
              <a:rPr lang="en-US" altLang="zh-CN" sz="2200" dirty="0">
                <a:latin typeface="Times New Roman" panose="02020603050405020304" pitchFamily="18" charset="0"/>
                <a:cs typeface="Times New Roman" panose="02020603050405020304" pitchFamily="18" charset="0"/>
              </a:rPr>
              <a:t>(3)</a:t>
            </a:r>
            <a:r>
              <a:rPr lang="zh-CN" altLang="en-US" sz="2200" dirty="0">
                <a:latin typeface="Times New Roman" panose="02020603050405020304" pitchFamily="18" charset="0"/>
                <a:cs typeface="Times New Roman" panose="02020603050405020304" pitchFamily="18" charset="0"/>
              </a:rPr>
              <a:t>的动作，直到</a:t>
            </a:r>
            <a:r>
              <a:rPr lang="en-US" altLang="zh-CN" sz="2200" dirty="0">
                <a:latin typeface="Times New Roman" panose="02020603050405020304" pitchFamily="18" charset="0"/>
                <a:cs typeface="Times New Roman" panose="02020603050405020304" pitchFamily="18" charset="0"/>
              </a:rPr>
              <a:t>C</a:t>
            </a:r>
            <a:r>
              <a:rPr lang="zh-CN" altLang="en-US" sz="2200" dirty="0">
                <a:latin typeface="Times New Roman" panose="02020603050405020304" pitchFamily="18" charset="0"/>
                <a:cs typeface="Times New Roman" panose="02020603050405020304" pitchFamily="18" charset="0"/>
              </a:rPr>
              <a:t>不再增大</a:t>
            </a:r>
            <a:r>
              <a:rPr lang="en-US" altLang="zh-CN" sz="2200" dirty="0">
                <a:latin typeface="Times New Roman" panose="02020603050405020304" pitchFamily="18" charset="0"/>
                <a:cs typeface="Times New Roman" panose="02020603050405020304" pitchFamily="18" charset="0"/>
              </a:rPr>
              <a:t>;</a:t>
            </a:r>
          </a:p>
          <a:p>
            <a:pPr marL="533400" indent="-533400" eaLnBrk="1" hangingPunct="1">
              <a:lnSpc>
                <a:spcPct val="80000"/>
              </a:lnSpc>
              <a:buFontTx/>
              <a:buNone/>
            </a:pP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3</a:t>
            </a:r>
            <a:r>
              <a:rPr lang="zh-CN" altLang="en-US" sz="2200" dirty="0">
                <a:latin typeface="Times New Roman" panose="02020603050405020304" pitchFamily="18" charset="0"/>
                <a:cs typeface="Times New Roman" panose="02020603050405020304" pitchFamily="18" charset="0"/>
              </a:rPr>
              <a:t>）</a:t>
            </a:r>
            <a:r>
              <a:rPr lang="en-US" altLang="zh-CN" sz="2200" dirty="0">
                <a:latin typeface="Times New Roman" panose="02020603050405020304" pitchFamily="18" charset="0"/>
                <a:cs typeface="Times New Roman" panose="02020603050405020304" pitchFamily="18" charset="0"/>
              </a:rPr>
              <a:t>FOR C</a:t>
            </a:r>
            <a:r>
              <a:rPr lang="zh-CN" altLang="en-US" sz="2200" dirty="0">
                <a:latin typeface="Times New Roman" panose="02020603050405020304" pitchFamily="18" charset="0"/>
                <a:cs typeface="Times New Roman" panose="02020603050405020304" pitchFamily="18" charset="0"/>
              </a:rPr>
              <a:t>中的每个项目集</a:t>
            </a:r>
            <a:r>
              <a:rPr lang="en-US" altLang="zh-CN" sz="2200" dirty="0">
                <a:latin typeface="Times New Roman" panose="02020603050405020304" pitchFamily="18" charset="0"/>
                <a:cs typeface="Times New Roman" panose="02020603050405020304" pitchFamily="18" charset="0"/>
              </a:rPr>
              <a:t>I</a:t>
            </a:r>
            <a:r>
              <a:rPr lang="zh-CN" altLang="en-US" sz="2200" dirty="0">
                <a:latin typeface="Times New Roman" panose="02020603050405020304" pitchFamily="18" charset="0"/>
                <a:cs typeface="Times New Roman" panose="02020603050405020304" pitchFamily="18" charset="0"/>
              </a:rPr>
              <a:t>和</a:t>
            </a:r>
            <a:r>
              <a:rPr lang="en-US" altLang="zh-CN" sz="2200" dirty="0">
                <a:latin typeface="Times New Roman" panose="02020603050405020304" pitchFamily="18" charset="0"/>
                <a:cs typeface="Times New Roman" panose="02020603050405020304" pitchFamily="18" charset="0"/>
              </a:rPr>
              <a:t>G'</a:t>
            </a:r>
            <a:r>
              <a:rPr lang="zh-CN" altLang="en-US" sz="2200" dirty="0">
                <a:latin typeface="Times New Roman" panose="02020603050405020304" pitchFamily="18" charset="0"/>
                <a:cs typeface="Times New Roman" panose="02020603050405020304" pitchFamily="18" charset="0"/>
              </a:rPr>
              <a:t>的每个符号</a:t>
            </a:r>
            <a:r>
              <a:rPr lang="en-US" altLang="zh-CN" sz="2200" dirty="0">
                <a:latin typeface="Times New Roman" panose="02020603050405020304" pitchFamily="18" charset="0"/>
                <a:cs typeface="Times New Roman" panose="02020603050405020304" pitchFamily="18" charset="0"/>
              </a:rPr>
              <a:t>X  DO {</a:t>
            </a:r>
          </a:p>
          <a:p>
            <a:pPr marL="533400" indent="-533400" eaLnBrk="1" hangingPunct="1">
              <a:lnSpc>
                <a:spcPct val="80000"/>
              </a:lnSpc>
              <a:buFontTx/>
              <a:buNone/>
            </a:pPr>
            <a:r>
              <a:rPr lang="en-US" altLang="zh-CN" sz="2200" dirty="0">
                <a:latin typeface="Times New Roman" panose="02020603050405020304" pitchFamily="18" charset="0"/>
                <a:cs typeface="Times New Roman" panose="02020603050405020304" pitchFamily="18" charset="0"/>
              </a:rPr>
              <a:t>            IF GO(I,X)</a:t>
            </a:r>
            <a:r>
              <a:rPr lang="zh-CN" altLang="en-US" sz="2200" dirty="0">
                <a:latin typeface="Times New Roman" panose="02020603050405020304" pitchFamily="18" charset="0"/>
                <a:cs typeface="Times New Roman" panose="02020603050405020304" pitchFamily="18" charset="0"/>
              </a:rPr>
              <a:t>非空且不属于</a:t>
            </a:r>
            <a:r>
              <a:rPr lang="en-US" altLang="zh-CN" sz="2200" dirty="0">
                <a:latin typeface="Times New Roman" panose="02020603050405020304" pitchFamily="18" charset="0"/>
                <a:cs typeface="Times New Roman" panose="02020603050405020304" pitchFamily="18" charset="0"/>
              </a:rPr>
              <a:t>C</a:t>
            </a:r>
          </a:p>
          <a:p>
            <a:pPr marL="533400" indent="-533400" eaLnBrk="1" hangingPunct="1">
              <a:lnSpc>
                <a:spcPct val="80000"/>
              </a:lnSpc>
              <a:buFontTx/>
              <a:buNone/>
            </a:pPr>
            <a:r>
              <a:rPr lang="en-US" altLang="zh-CN" sz="2200" dirty="0">
                <a:latin typeface="Times New Roman" panose="02020603050405020304" pitchFamily="18" charset="0"/>
                <a:cs typeface="Times New Roman" panose="02020603050405020304" pitchFamily="18" charset="0"/>
              </a:rPr>
              <a:t>                 </a:t>
            </a:r>
            <a:r>
              <a:rPr lang="zh-CN" altLang="en-US" sz="2200" dirty="0">
                <a:latin typeface="Times New Roman" panose="02020603050405020304" pitchFamily="18" charset="0"/>
                <a:cs typeface="Times New Roman" panose="02020603050405020304" pitchFamily="18" charset="0"/>
              </a:rPr>
              <a:t>把</a:t>
            </a:r>
            <a:r>
              <a:rPr lang="en-US" altLang="zh-CN" sz="2200" dirty="0">
                <a:latin typeface="Times New Roman" panose="02020603050405020304" pitchFamily="18" charset="0"/>
                <a:cs typeface="Times New Roman" panose="02020603050405020304" pitchFamily="18" charset="0"/>
              </a:rPr>
              <a:t>GO(I,X)</a:t>
            </a:r>
            <a:r>
              <a:rPr lang="zh-CN" altLang="en-US" sz="2200" dirty="0">
                <a:latin typeface="Times New Roman" panose="02020603050405020304" pitchFamily="18" charset="0"/>
                <a:cs typeface="Times New Roman" panose="02020603050405020304" pitchFamily="18" charset="0"/>
              </a:rPr>
              <a:t>加入</a:t>
            </a:r>
            <a:r>
              <a:rPr lang="en-US" altLang="zh-CN" sz="2200" dirty="0">
                <a:latin typeface="Times New Roman" panose="02020603050405020304" pitchFamily="18" charset="0"/>
                <a:cs typeface="Times New Roman" panose="02020603050405020304" pitchFamily="18" charset="0"/>
              </a:rPr>
              <a:t>C</a:t>
            </a:r>
            <a:r>
              <a:rPr lang="zh-CN" altLang="en-US" sz="2200" dirty="0">
                <a:latin typeface="Times New Roman" panose="02020603050405020304" pitchFamily="18" charset="0"/>
                <a:cs typeface="Times New Roman" panose="02020603050405020304" pitchFamily="18" charset="0"/>
              </a:rPr>
              <a:t>中</a:t>
            </a:r>
            <a:r>
              <a:rPr lang="en-US" altLang="zh-CN" sz="2200" dirty="0">
                <a:latin typeface="Times New Roman" panose="02020603050405020304" pitchFamily="18" charset="0"/>
                <a:cs typeface="Times New Roman" panose="02020603050405020304" pitchFamily="18" charset="0"/>
              </a:rPr>
              <a:t>;</a:t>
            </a:r>
          </a:p>
          <a:p>
            <a:pPr marL="533400" indent="-533400" eaLnBrk="1" hangingPunct="1">
              <a:lnSpc>
                <a:spcPct val="80000"/>
              </a:lnSpc>
              <a:buFontTx/>
              <a:buNone/>
            </a:pPr>
            <a:r>
              <a:rPr lang="en-US" altLang="zh-CN" sz="2200" dirty="0">
                <a:latin typeface="Times New Roman" panose="02020603050405020304" pitchFamily="18" charset="0"/>
                <a:cs typeface="Times New Roman" panose="02020603050405020304" pitchFamily="18" charset="0"/>
              </a:rPr>
              <a:t>            </a:t>
            </a:r>
            <a:r>
              <a:rPr lang="zh-CN" altLang="en-US" sz="2200" dirty="0">
                <a:latin typeface="Times New Roman" panose="02020603050405020304" pitchFamily="18" charset="0"/>
                <a:cs typeface="Times New Roman" panose="02020603050405020304" pitchFamily="18" charset="0"/>
              </a:rPr>
              <a:t>在</a:t>
            </a:r>
            <a:r>
              <a:rPr lang="en-US" altLang="zh-CN" sz="2200" dirty="0">
                <a:latin typeface="Times New Roman" panose="02020603050405020304" pitchFamily="18" charset="0"/>
                <a:cs typeface="Times New Roman" panose="02020603050405020304" pitchFamily="18" charset="0"/>
              </a:rPr>
              <a:t>I</a:t>
            </a:r>
            <a:r>
              <a:rPr lang="zh-CN" altLang="en-US" sz="2200" dirty="0">
                <a:latin typeface="Times New Roman" panose="02020603050405020304" pitchFamily="18" charset="0"/>
                <a:cs typeface="Times New Roman" panose="02020603050405020304" pitchFamily="18" charset="0"/>
              </a:rPr>
              <a:t>和</a:t>
            </a:r>
            <a:r>
              <a:rPr lang="en-US" altLang="zh-CN" sz="2200" dirty="0">
                <a:latin typeface="Times New Roman" panose="02020603050405020304" pitchFamily="18" charset="0"/>
                <a:cs typeface="Times New Roman" panose="02020603050405020304" pitchFamily="18" charset="0"/>
              </a:rPr>
              <a:t>Go(I,X)</a:t>
            </a:r>
            <a:r>
              <a:rPr lang="zh-CN" altLang="en-US" sz="2200" dirty="0">
                <a:latin typeface="Times New Roman" panose="02020603050405020304" pitchFamily="18" charset="0"/>
                <a:cs typeface="Times New Roman" panose="02020603050405020304" pitchFamily="18" charset="0"/>
              </a:rPr>
              <a:t>之间画标记为</a:t>
            </a:r>
            <a:r>
              <a:rPr lang="en-US" altLang="zh-CN" sz="2200" dirty="0">
                <a:latin typeface="Times New Roman" panose="02020603050405020304" pitchFamily="18" charset="0"/>
                <a:cs typeface="Times New Roman" panose="02020603050405020304" pitchFamily="18" charset="0"/>
              </a:rPr>
              <a:t>X</a:t>
            </a:r>
            <a:r>
              <a:rPr lang="zh-CN" altLang="en-US" sz="2200" dirty="0">
                <a:latin typeface="Times New Roman" panose="02020603050405020304" pitchFamily="18" charset="0"/>
                <a:cs typeface="Times New Roman" panose="02020603050405020304" pitchFamily="18" charset="0"/>
              </a:rPr>
              <a:t>的弧线</a:t>
            </a:r>
            <a:r>
              <a:rPr lang="en-US" altLang="zh-CN" sz="2200" dirty="0">
                <a:latin typeface="Times New Roman" panose="02020603050405020304" pitchFamily="18" charset="0"/>
                <a:cs typeface="Times New Roman" panose="02020603050405020304" pitchFamily="18" charset="0"/>
              </a:rPr>
              <a:t>;</a:t>
            </a:r>
          </a:p>
          <a:p>
            <a:pPr marL="533400" indent="-533400" eaLnBrk="1" hangingPunct="1">
              <a:lnSpc>
                <a:spcPct val="80000"/>
              </a:lnSpc>
              <a:buFontTx/>
              <a:buNone/>
            </a:pPr>
            <a:r>
              <a:rPr lang="en-US" altLang="zh-CN" sz="2200" dirty="0">
                <a:latin typeface="Times New Roman" panose="02020603050405020304" pitchFamily="18" charset="0"/>
                <a:cs typeface="Times New Roman" panose="02020603050405020304" pitchFamily="18" charset="0"/>
              </a:rPr>
              <a:t>      } </a:t>
            </a:r>
          </a:p>
        </p:txBody>
      </p:sp>
    </p:spTree>
    <p:extLst>
      <p:ext uri="{BB962C8B-B14F-4D97-AF65-F5344CB8AC3E}">
        <p14:creationId xmlns:p14="http://schemas.microsoft.com/office/powerpoint/2010/main" val="972968104"/>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Grp="1" noChangeArrowheads="1"/>
          </p:cNvSpPr>
          <p:nvPr>
            <p:ph type="title"/>
          </p:nvPr>
        </p:nvSpPr>
        <p:spPr>
          <a:xfrm>
            <a:off x="0" y="153988"/>
            <a:ext cx="7772400" cy="857250"/>
          </a:xfrm>
        </p:spPr>
        <p:txBody>
          <a:bodyPr>
            <a:normAutofit/>
          </a:bodyPr>
          <a:lstStyle/>
          <a:p>
            <a:pPr algn="l" eaLnBrk="1" hangingPunct="1"/>
            <a:r>
              <a:rPr lang="zh-CN" altLang="en-US" sz="3200" b="1" dirty="0">
                <a:latin typeface="楷体_GB2312" pitchFamily="49" charset="-122"/>
                <a:ea typeface="楷体_GB2312" pitchFamily="49" charset="-122"/>
              </a:rPr>
              <a:t>上面的例子的</a:t>
            </a:r>
            <a:r>
              <a:rPr lang="en-US" altLang="zh-CN" sz="3200" b="1" dirty="0">
                <a:latin typeface="楷体_GB2312" pitchFamily="49" charset="-122"/>
                <a:ea typeface="楷体_GB2312" pitchFamily="49" charset="-122"/>
              </a:rPr>
              <a:t>LR(1)</a:t>
            </a:r>
            <a:r>
              <a:rPr lang="zh-CN" altLang="en-US" sz="3200" b="1" dirty="0">
                <a:latin typeface="楷体_GB2312" pitchFamily="49" charset="-122"/>
                <a:ea typeface="楷体_GB2312" pitchFamily="49" charset="-122"/>
              </a:rPr>
              <a:t>项目集规范族</a:t>
            </a:r>
          </a:p>
        </p:txBody>
      </p:sp>
      <p:pic>
        <p:nvPicPr>
          <p:cNvPr id="241668" name="Picture 4" descr="图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85882" y="2222450"/>
            <a:ext cx="4060788" cy="2782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3">
            <a:extLst>
              <a:ext uri="{FF2B5EF4-FFF2-40B4-BE49-F238E27FC236}">
                <a16:creationId xmlns:a16="http://schemas.microsoft.com/office/drawing/2014/main" id="{07ED42AB-316A-FB9D-D71C-4C38CA00C20D}"/>
              </a:ext>
            </a:extLst>
          </p:cNvPr>
          <p:cNvSpPr>
            <a:spLocks noGrp="1" noChangeArrowheads="1"/>
          </p:cNvSpPr>
          <p:nvPr>
            <p:ph type="body" idx="1"/>
          </p:nvPr>
        </p:nvSpPr>
        <p:spPr>
          <a:xfrm>
            <a:off x="179512" y="899319"/>
            <a:ext cx="4608512" cy="2309850"/>
          </a:xfrm>
          <a:ln w="28575">
            <a:solidFill>
              <a:srgbClr val="3333FF"/>
            </a:solidFill>
          </a:ln>
        </p:spPr>
        <p:txBody>
          <a:bodyPr>
            <a:normAutofit/>
          </a:bodyPr>
          <a:lstStyle/>
          <a:p>
            <a:pPr eaLnBrk="1" hangingPunct="1">
              <a:lnSpc>
                <a:spcPct val="90000"/>
              </a:lnSpc>
            </a:pPr>
            <a:r>
              <a:rPr lang="zh-CN" altLang="en-US" sz="1500" dirty="0">
                <a:latin typeface="Times New Roman" panose="02020603050405020304" pitchFamily="18" charset="0"/>
                <a:cs typeface="Times New Roman" panose="02020603050405020304" pitchFamily="18" charset="0"/>
              </a:rPr>
              <a:t>一个项目集的</a:t>
            </a:r>
            <a:r>
              <a:rPr lang="zh-CN" altLang="en-US" sz="1500" b="1" i="1" u="sng" dirty="0">
                <a:solidFill>
                  <a:srgbClr val="FF0000"/>
                </a:solidFill>
                <a:latin typeface="Times New Roman" panose="02020603050405020304" pitchFamily="18" charset="0"/>
                <a:cs typeface="Times New Roman" panose="02020603050405020304" pitchFamily="18" charset="0"/>
              </a:rPr>
              <a:t>闭包</a:t>
            </a:r>
            <a:r>
              <a:rPr lang="en-US" altLang="zh-CN" sz="1500" b="1" i="1" u="sng" dirty="0">
                <a:solidFill>
                  <a:srgbClr val="FF0000"/>
                </a:solidFill>
                <a:latin typeface="Times New Roman" panose="02020603050405020304" pitchFamily="18" charset="0"/>
                <a:cs typeface="Times New Roman" panose="02020603050405020304" pitchFamily="18" charset="0"/>
              </a:rPr>
              <a:t>Closure(I)</a:t>
            </a:r>
            <a:r>
              <a:rPr lang="zh-CN" altLang="en-US" sz="1500" dirty="0">
                <a:latin typeface="Times New Roman" panose="02020603050405020304" pitchFamily="18" charset="0"/>
                <a:cs typeface="Times New Roman" panose="02020603050405020304" pitchFamily="18" charset="0"/>
              </a:rPr>
              <a:t>：</a:t>
            </a:r>
          </a:p>
          <a:p>
            <a:pPr eaLnBrk="1" hangingPunct="1">
              <a:lnSpc>
                <a:spcPct val="90000"/>
              </a:lnSpc>
              <a:buFontTx/>
              <a:buNone/>
            </a:pPr>
            <a:r>
              <a:rPr lang="zh-CN" altLang="en-US" sz="1500" dirty="0">
                <a:latin typeface="Times New Roman" panose="02020603050405020304" pitchFamily="18" charset="0"/>
                <a:cs typeface="Times New Roman" panose="02020603050405020304" pitchFamily="18" charset="0"/>
              </a:rPr>
              <a:t>（</a:t>
            </a:r>
            <a:r>
              <a:rPr lang="en-US" altLang="zh-CN" sz="1500" dirty="0">
                <a:latin typeface="Times New Roman" panose="02020603050405020304" pitchFamily="18" charset="0"/>
                <a:cs typeface="Times New Roman" panose="02020603050405020304" pitchFamily="18" charset="0"/>
              </a:rPr>
              <a:t>1</a:t>
            </a:r>
            <a:r>
              <a:rPr lang="zh-CN" altLang="en-US" sz="1500" dirty="0">
                <a:latin typeface="Times New Roman" panose="02020603050405020304" pitchFamily="18" charset="0"/>
                <a:cs typeface="Times New Roman" panose="02020603050405020304" pitchFamily="18" charset="0"/>
              </a:rPr>
              <a:t>）将</a:t>
            </a:r>
            <a:r>
              <a:rPr lang="en-US" altLang="zh-CN" sz="1500" dirty="0">
                <a:latin typeface="Times New Roman" panose="02020603050405020304" pitchFamily="18" charset="0"/>
                <a:cs typeface="Times New Roman" panose="02020603050405020304" pitchFamily="18" charset="0"/>
              </a:rPr>
              <a:t>I</a:t>
            </a:r>
            <a:r>
              <a:rPr lang="zh-CN" altLang="en-US" sz="1500" dirty="0">
                <a:latin typeface="Times New Roman" panose="02020603050405020304" pitchFamily="18" charset="0"/>
                <a:cs typeface="Times New Roman" panose="02020603050405020304" pitchFamily="18" charset="0"/>
              </a:rPr>
              <a:t>中的所有项目都加入</a:t>
            </a:r>
            <a:r>
              <a:rPr lang="en-US" altLang="zh-CN" sz="1500" dirty="0">
                <a:latin typeface="Times New Roman" panose="02020603050405020304" pitchFamily="18" charset="0"/>
                <a:cs typeface="Times New Roman" panose="02020603050405020304" pitchFamily="18" charset="0"/>
              </a:rPr>
              <a:t>Closure(I)</a:t>
            </a:r>
            <a:r>
              <a:rPr lang="zh-CN" altLang="en-US" sz="1500" dirty="0">
                <a:latin typeface="Times New Roman" panose="02020603050405020304" pitchFamily="18" charset="0"/>
                <a:cs typeface="Times New Roman" panose="02020603050405020304" pitchFamily="18" charset="0"/>
              </a:rPr>
              <a:t>。</a:t>
            </a:r>
          </a:p>
          <a:p>
            <a:pPr eaLnBrk="1" hangingPunct="1">
              <a:lnSpc>
                <a:spcPct val="90000"/>
              </a:lnSpc>
              <a:buFontTx/>
              <a:buNone/>
            </a:pPr>
            <a:r>
              <a:rPr lang="zh-CN" altLang="en-US" sz="1500" dirty="0">
                <a:latin typeface="Times New Roman" panose="02020603050405020304" pitchFamily="18" charset="0"/>
                <a:cs typeface="Times New Roman" panose="02020603050405020304" pitchFamily="18" charset="0"/>
              </a:rPr>
              <a:t>（</a:t>
            </a:r>
            <a:r>
              <a:rPr lang="en-US" altLang="zh-CN" sz="1500" dirty="0">
                <a:latin typeface="Times New Roman" panose="02020603050405020304" pitchFamily="18" charset="0"/>
                <a:cs typeface="Times New Roman" panose="02020603050405020304" pitchFamily="18" charset="0"/>
              </a:rPr>
              <a:t>2</a:t>
            </a:r>
            <a:r>
              <a:rPr lang="zh-CN" altLang="en-US" sz="1500" dirty="0">
                <a:latin typeface="Times New Roman" panose="02020603050405020304" pitchFamily="18" charset="0"/>
                <a:cs typeface="Times New Roman" panose="02020603050405020304" pitchFamily="18" charset="0"/>
              </a:rPr>
              <a:t>）若</a:t>
            </a:r>
            <a:r>
              <a:rPr lang="zh-CN" altLang="en-US" sz="1500" dirty="0">
                <a:solidFill>
                  <a:srgbClr val="3333FF"/>
                </a:solidFill>
                <a:latin typeface="Times New Roman" panose="02020603050405020304" pitchFamily="18" charset="0"/>
                <a:cs typeface="Times New Roman" panose="02020603050405020304" pitchFamily="18" charset="0"/>
              </a:rPr>
              <a:t>项目</a:t>
            </a:r>
            <a:r>
              <a:rPr lang="en-US" altLang="zh-CN" sz="1500" dirty="0">
                <a:solidFill>
                  <a:srgbClr val="3333FF"/>
                </a:solidFill>
                <a:latin typeface="Times New Roman" panose="02020603050405020304" pitchFamily="18" charset="0"/>
                <a:cs typeface="Times New Roman" panose="02020603050405020304" pitchFamily="18" charset="0"/>
              </a:rPr>
              <a:t>[A→α·Bβ,a]∈Closure(I)</a:t>
            </a:r>
            <a:r>
              <a:rPr lang="zh-CN" altLang="en-US" sz="1500" dirty="0">
                <a:solidFill>
                  <a:srgbClr val="3333FF"/>
                </a:solidFill>
                <a:latin typeface="Times New Roman" panose="02020603050405020304" pitchFamily="18" charset="0"/>
                <a:cs typeface="Times New Roman" panose="02020603050405020304" pitchFamily="18" charset="0"/>
              </a:rPr>
              <a:t>，</a:t>
            </a:r>
            <a:r>
              <a:rPr lang="en-US" altLang="zh-CN" sz="1500" dirty="0" err="1">
                <a:solidFill>
                  <a:srgbClr val="3333FF"/>
                </a:solidFill>
                <a:latin typeface="Times New Roman" panose="02020603050405020304" pitchFamily="18" charset="0"/>
                <a:cs typeface="Times New Roman" panose="02020603050405020304" pitchFamily="18" charset="0"/>
              </a:rPr>
              <a:t>B→γ</a:t>
            </a:r>
            <a:r>
              <a:rPr lang="zh-CN" altLang="en-US" sz="1500" dirty="0">
                <a:solidFill>
                  <a:srgbClr val="3333FF"/>
                </a:solidFill>
                <a:latin typeface="Times New Roman" panose="02020603050405020304" pitchFamily="18" charset="0"/>
                <a:cs typeface="Times New Roman" panose="02020603050405020304" pitchFamily="18" charset="0"/>
              </a:rPr>
              <a:t>是一个产生式</a:t>
            </a:r>
            <a:r>
              <a:rPr lang="zh-CN" altLang="en-US" sz="1500" dirty="0">
                <a:latin typeface="Times New Roman" panose="02020603050405020304" pitchFamily="18" charset="0"/>
                <a:cs typeface="Times New Roman" panose="02020603050405020304" pitchFamily="18" charset="0"/>
              </a:rPr>
              <a:t>，那么对于</a:t>
            </a:r>
            <a:r>
              <a:rPr lang="zh-CN" altLang="en-US" sz="1500" dirty="0">
                <a:solidFill>
                  <a:srgbClr val="3333FF"/>
                </a:solidFill>
                <a:latin typeface="Times New Roman" panose="02020603050405020304" pitchFamily="18" charset="0"/>
                <a:cs typeface="Times New Roman" panose="02020603050405020304" pitchFamily="18" charset="0"/>
              </a:rPr>
              <a:t>任何</a:t>
            </a:r>
            <a:r>
              <a:rPr lang="en-US" altLang="zh-CN" sz="1500" dirty="0" err="1">
                <a:solidFill>
                  <a:srgbClr val="3333FF"/>
                </a:solidFill>
                <a:latin typeface="Times New Roman" panose="02020603050405020304" pitchFamily="18" charset="0"/>
                <a:cs typeface="Times New Roman" panose="02020603050405020304" pitchFamily="18" charset="0"/>
              </a:rPr>
              <a:t>b∈First</a:t>
            </a:r>
            <a:r>
              <a:rPr lang="en-US" altLang="zh-CN" sz="1500" dirty="0">
                <a:solidFill>
                  <a:srgbClr val="3333FF"/>
                </a:solidFill>
                <a:latin typeface="Times New Roman" panose="02020603050405020304" pitchFamily="18" charset="0"/>
                <a:cs typeface="Times New Roman" panose="02020603050405020304" pitchFamily="18" charset="0"/>
              </a:rPr>
              <a:t>(βa)</a:t>
            </a:r>
            <a:r>
              <a:rPr lang="zh-CN" altLang="en-US" sz="1500" dirty="0">
                <a:solidFill>
                  <a:srgbClr val="3333FF"/>
                </a:solidFill>
                <a:latin typeface="Times New Roman" panose="02020603050405020304" pitchFamily="18" charset="0"/>
                <a:cs typeface="Times New Roman" panose="02020603050405020304" pitchFamily="18" charset="0"/>
              </a:rPr>
              <a:t>，如果</a:t>
            </a:r>
            <a:r>
              <a:rPr lang="en-US" altLang="zh-CN" sz="1500" dirty="0">
                <a:solidFill>
                  <a:srgbClr val="3333FF"/>
                </a:solidFill>
                <a:latin typeface="Times New Roman" panose="02020603050405020304" pitchFamily="18" charset="0"/>
                <a:cs typeface="Times New Roman" panose="02020603050405020304" pitchFamily="18" charset="0"/>
              </a:rPr>
              <a:t>[B→·</a:t>
            </a:r>
            <a:r>
              <a:rPr lang="en-US" altLang="zh-CN" sz="1500" dirty="0" err="1">
                <a:solidFill>
                  <a:srgbClr val="3333FF"/>
                </a:solidFill>
                <a:latin typeface="Times New Roman" panose="02020603050405020304" pitchFamily="18" charset="0"/>
                <a:cs typeface="Times New Roman" panose="02020603050405020304" pitchFamily="18" charset="0"/>
              </a:rPr>
              <a:t>γ,b</a:t>
            </a:r>
            <a:r>
              <a:rPr lang="en-US" altLang="zh-CN" sz="1500" dirty="0">
                <a:solidFill>
                  <a:srgbClr val="3333FF"/>
                </a:solidFill>
                <a:latin typeface="Times New Roman" panose="02020603050405020304" pitchFamily="18" charset="0"/>
                <a:cs typeface="Times New Roman" panose="02020603050405020304" pitchFamily="18" charset="0"/>
              </a:rPr>
              <a:t>]</a:t>
            </a:r>
            <a:r>
              <a:rPr lang="zh-CN" altLang="en-US" sz="1500" dirty="0">
                <a:solidFill>
                  <a:srgbClr val="3333FF"/>
                </a:solidFill>
                <a:latin typeface="Times New Roman" panose="02020603050405020304" pitchFamily="18" charset="0"/>
                <a:cs typeface="Times New Roman" panose="02020603050405020304" pitchFamily="18" charset="0"/>
              </a:rPr>
              <a:t>原来不在</a:t>
            </a:r>
            <a:r>
              <a:rPr lang="en-US" altLang="zh-CN" sz="1500" dirty="0">
                <a:solidFill>
                  <a:srgbClr val="3333FF"/>
                </a:solidFill>
                <a:latin typeface="Times New Roman" panose="02020603050405020304" pitchFamily="18" charset="0"/>
                <a:cs typeface="Times New Roman" panose="02020603050405020304" pitchFamily="18" charset="0"/>
              </a:rPr>
              <a:t>Closure(I)</a:t>
            </a:r>
            <a:r>
              <a:rPr lang="zh-CN" altLang="en-US" sz="1500" dirty="0">
                <a:solidFill>
                  <a:srgbClr val="3333FF"/>
                </a:solidFill>
                <a:latin typeface="Times New Roman" panose="02020603050405020304" pitchFamily="18" charset="0"/>
                <a:cs typeface="Times New Roman" panose="02020603050405020304" pitchFamily="18" charset="0"/>
              </a:rPr>
              <a:t>中，则把它加进去</a:t>
            </a:r>
            <a:r>
              <a:rPr lang="zh-CN" altLang="en-US" sz="1500" dirty="0">
                <a:latin typeface="Times New Roman" panose="02020603050405020304" pitchFamily="18" charset="0"/>
                <a:cs typeface="Times New Roman" panose="02020603050405020304" pitchFamily="18" charset="0"/>
              </a:rPr>
              <a:t>。重复执行该过程，直到</a:t>
            </a:r>
            <a:r>
              <a:rPr lang="en-US" altLang="zh-CN" sz="1500" dirty="0">
                <a:latin typeface="Times New Roman" panose="02020603050405020304" pitchFamily="18" charset="0"/>
                <a:cs typeface="Times New Roman" panose="02020603050405020304" pitchFamily="18" charset="0"/>
              </a:rPr>
              <a:t>Closure(I)</a:t>
            </a:r>
            <a:r>
              <a:rPr lang="zh-CN" altLang="en-US" sz="1500" dirty="0">
                <a:latin typeface="Times New Roman" panose="02020603050405020304" pitchFamily="18" charset="0"/>
                <a:cs typeface="Times New Roman" panose="02020603050405020304" pitchFamily="18" charset="0"/>
              </a:rPr>
              <a:t>不再增大为止。</a:t>
            </a:r>
          </a:p>
          <a:p>
            <a:pPr eaLnBrk="1" hangingPunct="1">
              <a:lnSpc>
                <a:spcPct val="90000"/>
              </a:lnSpc>
            </a:pPr>
            <a:r>
              <a:rPr lang="en-US" altLang="zh-CN" sz="1500" dirty="0">
                <a:latin typeface="Times New Roman" panose="02020603050405020304" pitchFamily="18" charset="0"/>
                <a:cs typeface="Times New Roman" panose="02020603050405020304" pitchFamily="18" charset="0"/>
              </a:rPr>
              <a:t>I</a:t>
            </a:r>
            <a:r>
              <a:rPr lang="zh-CN" altLang="en-US" sz="1500" dirty="0">
                <a:latin typeface="Times New Roman" panose="02020603050405020304" pitchFamily="18" charset="0"/>
                <a:cs typeface="Times New Roman" panose="02020603050405020304" pitchFamily="18" charset="0"/>
              </a:rPr>
              <a:t>是一个项目集，</a:t>
            </a:r>
            <a:r>
              <a:rPr lang="en-US" altLang="zh-CN" sz="1500" dirty="0">
                <a:latin typeface="Times New Roman" panose="02020603050405020304" pitchFamily="18" charset="0"/>
                <a:cs typeface="Times New Roman" panose="02020603050405020304" pitchFamily="18" charset="0"/>
              </a:rPr>
              <a:t>X</a:t>
            </a:r>
            <a:r>
              <a:rPr lang="zh-CN" altLang="en-US" sz="1500" dirty="0">
                <a:latin typeface="Times New Roman" panose="02020603050405020304" pitchFamily="18" charset="0"/>
                <a:cs typeface="Times New Roman" panose="02020603050405020304" pitchFamily="18" charset="0"/>
              </a:rPr>
              <a:t>是一个文法符号，则</a:t>
            </a:r>
            <a:r>
              <a:rPr lang="zh-CN" altLang="en-US" sz="1500" b="1" i="1" u="sng" dirty="0">
                <a:solidFill>
                  <a:srgbClr val="FF0000"/>
                </a:solidFill>
                <a:latin typeface="Times New Roman" panose="02020603050405020304" pitchFamily="18" charset="0"/>
                <a:cs typeface="Times New Roman" panose="02020603050405020304" pitchFamily="18" charset="0"/>
              </a:rPr>
              <a:t>状态转换函数</a:t>
            </a:r>
            <a:r>
              <a:rPr lang="en-US" altLang="zh-CN" sz="1500" b="1" i="1" u="sng" dirty="0">
                <a:solidFill>
                  <a:srgbClr val="FF0000"/>
                </a:solidFill>
                <a:latin typeface="Times New Roman" panose="02020603050405020304" pitchFamily="18" charset="0"/>
                <a:cs typeface="Times New Roman" panose="02020603050405020304" pitchFamily="18" charset="0"/>
              </a:rPr>
              <a:t>GO(I,X)</a:t>
            </a:r>
            <a:r>
              <a:rPr lang="zh-CN" altLang="en-US" sz="1500" dirty="0">
                <a:latin typeface="Times New Roman" panose="02020603050405020304" pitchFamily="18" charset="0"/>
                <a:cs typeface="Times New Roman" panose="02020603050405020304" pitchFamily="18" charset="0"/>
              </a:rPr>
              <a:t>定义为：</a:t>
            </a:r>
            <a:r>
              <a:rPr lang="en-US" altLang="zh-CN" sz="1500" dirty="0">
                <a:latin typeface="Times New Roman" panose="02020603050405020304" pitchFamily="18" charset="0"/>
                <a:cs typeface="Times New Roman" panose="02020603050405020304" pitchFamily="18" charset="0"/>
              </a:rPr>
              <a:t>GO(I,X) = Closure(J)</a:t>
            </a:r>
            <a:r>
              <a:rPr lang="zh-CN" altLang="en-US" sz="1500" dirty="0">
                <a:latin typeface="Times New Roman" panose="02020603050405020304" pitchFamily="18" charset="0"/>
                <a:cs typeface="Times New Roman" panose="02020603050405020304" pitchFamily="18" charset="0"/>
              </a:rPr>
              <a:t>，</a:t>
            </a:r>
            <a:r>
              <a:rPr lang="en-US" altLang="zh-CN" sz="1500" dirty="0">
                <a:latin typeface="Times New Roman" panose="02020603050405020304" pitchFamily="18" charset="0"/>
                <a:cs typeface="Times New Roman" panose="02020603050405020304" pitchFamily="18" charset="0"/>
              </a:rPr>
              <a:t>J=</a:t>
            </a:r>
            <a:r>
              <a:rPr lang="zh-CN" altLang="en-US" sz="1500" dirty="0">
                <a:latin typeface="Times New Roman" panose="02020603050405020304" pitchFamily="18" charset="0"/>
                <a:cs typeface="Times New Roman" panose="02020603050405020304" pitchFamily="18" charset="0"/>
              </a:rPr>
              <a:t>｛任何形如</a:t>
            </a:r>
            <a:r>
              <a:rPr lang="en-US" altLang="zh-CN" sz="1500" dirty="0">
                <a:latin typeface="Times New Roman" panose="02020603050405020304" pitchFamily="18" charset="0"/>
                <a:cs typeface="Times New Roman" panose="02020603050405020304" pitchFamily="18" charset="0"/>
              </a:rPr>
              <a:t>[A→αX·β,a]</a:t>
            </a:r>
            <a:r>
              <a:rPr lang="zh-CN" altLang="en-US" sz="1500" dirty="0">
                <a:latin typeface="Times New Roman" panose="02020603050405020304" pitchFamily="18" charset="0"/>
                <a:cs typeface="Times New Roman" panose="02020603050405020304" pitchFamily="18" charset="0"/>
              </a:rPr>
              <a:t>的项目 </a:t>
            </a:r>
            <a:r>
              <a:rPr lang="en-US" altLang="zh-CN" sz="1500" dirty="0">
                <a:latin typeface="Times New Roman" panose="02020603050405020304" pitchFamily="18" charset="0"/>
                <a:cs typeface="Times New Roman" panose="02020603050405020304" pitchFamily="18" charset="0"/>
              </a:rPr>
              <a:t>| [A→α·Xβ,a]∈I</a:t>
            </a:r>
            <a:r>
              <a:rPr lang="zh-CN" altLang="en-US" sz="1500" dirty="0">
                <a:latin typeface="Times New Roman" panose="02020603050405020304" pitchFamily="18" charset="0"/>
                <a:cs typeface="Times New Roman" panose="02020603050405020304" pitchFamily="18" charset="0"/>
              </a:rPr>
              <a:t>｝</a:t>
            </a:r>
          </a:p>
        </p:txBody>
      </p:sp>
      <p:sp>
        <p:nvSpPr>
          <p:cNvPr id="3" name="Rectangle 3">
            <a:extLst>
              <a:ext uri="{FF2B5EF4-FFF2-40B4-BE49-F238E27FC236}">
                <a16:creationId xmlns:a16="http://schemas.microsoft.com/office/drawing/2014/main" id="{FF7A517E-9451-1928-EC73-1A57A1A4C75B}"/>
              </a:ext>
            </a:extLst>
          </p:cNvPr>
          <p:cNvSpPr txBox="1">
            <a:spLocks noChangeArrowheads="1"/>
          </p:cNvSpPr>
          <p:nvPr/>
        </p:nvSpPr>
        <p:spPr>
          <a:xfrm>
            <a:off x="179512" y="3209169"/>
            <a:ext cx="4608512" cy="1743472"/>
          </a:xfrm>
          <a:prstGeom prst="rect">
            <a:avLst/>
          </a:prstGeom>
          <a:solidFill>
            <a:schemeClr val="bg1"/>
          </a:solidFill>
          <a:ln w="28575">
            <a:solidFill>
              <a:schemeClr val="accent2"/>
            </a:solidFill>
            <a:miter lim="800000"/>
            <a:headEnd/>
            <a:tailEnd/>
          </a:ln>
        </p:spPr>
        <p:txBody>
          <a:bodyPr vert="horz">
            <a:normAutofit fontScale="92500"/>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marL="533400" indent="-533400">
              <a:lnSpc>
                <a:spcPct val="80000"/>
              </a:lnSpc>
              <a:buFontTx/>
              <a:buNone/>
            </a:pPr>
            <a:r>
              <a:rPr lang="zh-CN" altLang="en-US"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en-US"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C:={Closure ({[S'→ ·S,#]})};</a:t>
            </a:r>
          </a:p>
          <a:p>
            <a:pPr marL="533400" indent="-533400">
              <a:lnSpc>
                <a:spcPct val="80000"/>
              </a:lnSpc>
              <a:buFontTx/>
              <a:buNone/>
            </a:pPr>
            <a:r>
              <a:rPr lang="zh-CN" altLang="en-US"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en-US" sz="1600" dirty="0">
                <a:latin typeface="Times New Roman" panose="02020603050405020304" pitchFamily="18" charset="0"/>
                <a:cs typeface="Times New Roman" panose="02020603050405020304" pitchFamily="18" charset="0"/>
              </a:rPr>
              <a:t>）重复执行</a:t>
            </a:r>
            <a:r>
              <a:rPr lang="en-US" altLang="zh-CN" sz="1600" dirty="0">
                <a:latin typeface="Times New Roman" panose="02020603050405020304" pitchFamily="18" charset="0"/>
                <a:cs typeface="Times New Roman" panose="02020603050405020304" pitchFamily="18" charset="0"/>
              </a:rPr>
              <a:t>(3)</a:t>
            </a:r>
            <a:r>
              <a:rPr lang="zh-CN" altLang="en-US" sz="1600" dirty="0">
                <a:latin typeface="Times New Roman" panose="02020603050405020304" pitchFamily="18" charset="0"/>
                <a:cs typeface="Times New Roman" panose="02020603050405020304" pitchFamily="18" charset="0"/>
              </a:rPr>
              <a:t>的动作，直到</a:t>
            </a:r>
            <a:r>
              <a:rPr lang="en-US" altLang="zh-CN" sz="1600" dirty="0">
                <a:latin typeface="Times New Roman" panose="02020603050405020304" pitchFamily="18" charset="0"/>
                <a:cs typeface="Times New Roman" panose="02020603050405020304" pitchFamily="18" charset="0"/>
              </a:rPr>
              <a:t>C</a:t>
            </a:r>
            <a:r>
              <a:rPr lang="zh-CN" altLang="en-US" sz="1600" dirty="0">
                <a:latin typeface="Times New Roman" panose="02020603050405020304" pitchFamily="18" charset="0"/>
                <a:cs typeface="Times New Roman" panose="02020603050405020304" pitchFamily="18" charset="0"/>
              </a:rPr>
              <a:t>不再增大</a:t>
            </a:r>
            <a:r>
              <a:rPr lang="en-US" altLang="zh-CN" sz="1600" dirty="0">
                <a:latin typeface="Times New Roman" panose="02020603050405020304" pitchFamily="18" charset="0"/>
                <a:cs typeface="Times New Roman" panose="02020603050405020304" pitchFamily="18" charset="0"/>
              </a:rPr>
              <a:t>;</a:t>
            </a:r>
          </a:p>
          <a:p>
            <a:pPr marL="533400" indent="-533400">
              <a:lnSpc>
                <a:spcPct val="80000"/>
              </a:lnSpc>
              <a:buFontTx/>
              <a:buNone/>
            </a:pPr>
            <a:r>
              <a:rPr lang="zh-CN" altLang="en-US"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en-US"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FOR C</a:t>
            </a:r>
            <a:r>
              <a:rPr lang="zh-CN" altLang="en-US" sz="1600" dirty="0">
                <a:latin typeface="Times New Roman" panose="02020603050405020304" pitchFamily="18" charset="0"/>
                <a:cs typeface="Times New Roman" panose="02020603050405020304" pitchFamily="18" charset="0"/>
              </a:rPr>
              <a:t>中的每个项目集</a:t>
            </a:r>
            <a:r>
              <a:rPr lang="en-US" altLang="zh-CN" sz="1600" dirty="0">
                <a:latin typeface="Times New Roman" panose="02020603050405020304" pitchFamily="18" charset="0"/>
                <a:cs typeface="Times New Roman" panose="02020603050405020304" pitchFamily="18" charset="0"/>
              </a:rPr>
              <a:t>I</a:t>
            </a:r>
            <a:r>
              <a:rPr lang="zh-CN" altLang="en-US" sz="1600" dirty="0">
                <a:latin typeface="Times New Roman" panose="02020603050405020304" pitchFamily="18" charset="0"/>
                <a:cs typeface="Times New Roman" panose="02020603050405020304" pitchFamily="18" charset="0"/>
              </a:rPr>
              <a:t>和</a:t>
            </a:r>
            <a:r>
              <a:rPr lang="en-US" altLang="zh-CN" sz="1600" dirty="0">
                <a:latin typeface="Times New Roman" panose="02020603050405020304" pitchFamily="18" charset="0"/>
                <a:cs typeface="Times New Roman" panose="02020603050405020304" pitchFamily="18" charset="0"/>
              </a:rPr>
              <a:t>G'</a:t>
            </a:r>
            <a:r>
              <a:rPr lang="zh-CN" altLang="en-US" sz="1600" dirty="0">
                <a:latin typeface="Times New Roman" panose="02020603050405020304" pitchFamily="18" charset="0"/>
                <a:cs typeface="Times New Roman" panose="02020603050405020304" pitchFamily="18" charset="0"/>
              </a:rPr>
              <a:t>的每个符号</a:t>
            </a:r>
            <a:r>
              <a:rPr lang="en-US" altLang="zh-CN" sz="1600" dirty="0">
                <a:latin typeface="Times New Roman" panose="02020603050405020304" pitchFamily="18" charset="0"/>
                <a:cs typeface="Times New Roman" panose="02020603050405020304" pitchFamily="18" charset="0"/>
              </a:rPr>
              <a:t>X  DO {</a:t>
            </a:r>
          </a:p>
          <a:p>
            <a:pPr marL="533400" indent="-533400">
              <a:lnSpc>
                <a:spcPct val="80000"/>
              </a:lnSpc>
              <a:buFontTx/>
              <a:buNone/>
            </a:pPr>
            <a:r>
              <a:rPr lang="en-US" altLang="zh-CN" sz="1600" dirty="0">
                <a:latin typeface="Times New Roman" panose="02020603050405020304" pitchFamily="18" charset="0"/>
                <a:cs typeface="Times New Roman" panose="02020603050405020304" pitchFamily="18" charset="0"/>
              </a:rPr>
              <a:t>            IF GO(I,X)</a:t>
            </a:r>
            <a:r>
              <a:rPr lang="zh-CN" altLang="en-US" sz="1600" dirty="0">
                <a:latin typeface="Times New Roman" panose="02020603050405020304" pitchFamily="18" charset="0"/>
                <a:cs typeface="Times New Roman" panose="02020603050405020304" pitchFamily="18" charset="0"/>
              </a:rPr>
              <a:t>非空且不属于</a:t>
            </a:r>
            <a:r>
              <a:rPr lang="en-US" altLang="zh-CN" sz="1600" dirty="0">
                <a:latin typeface="Times New Roman" panose="02020603050405020304" pitchFamily="18" charset="0"/>
                <a:cs typeface="Times New Roman" panose="02020603050405020304" pitchFamily="18" charset="0"/>
              </a:rPr>
              <a:t>C</a:t>
            </a:r>
          </a:p>
          <a:p>
            <a:pPr marL="533400" indent="-533400">
              <a:lnSpc>
                <a:spcPct val="80000"/>
              </a:lnSpc>
              <a:buFontTx/>
              <a:buNone/>
            </a:pPr>
            <a:r>
              <a:rPr lang="en-US" altLang="zh-CN" sz="1600" dirty="0">
                <a:latin typeface="Times New Roman" panose="02020603050405020304" pitchFamily="18" charset="0"/>
                <a:cs typeface="Times New Roman" panose="02020603050405020304" pitchFamily="18" charset="0"/>
              </a:rPr>
              <a:t>                 </a:t>
            </a:r>
            <a:r>
              <a:rPr lang="zh-CN" altLang="en-US" sz="1600" dirty="0">
                <a:latin typeface="Times New Roman" panose="02020603050405020304" pitchFamily="18" charset="0"/>
                <a:cs typeface="Times New Roman" panose="02020603050405020304" pitchFamily="18" charset="0"/>
              </a:rPr>
              <a:t>把</a:t>
            </a:r>
            <a:r>
              <a:rPr lang="en-US" altLang="zh-CN" sz="1600" dirty="0">
                <a:latin typeface="Times New Roman" panose="02020603050405020304" pitchFamily="18" charset="0"/>
                <a:cs typeface="Times New Roman" panose="02020603050405020304" pitchFamily="18" charset="0"/>
              </a:rPr>
              <a:t>GO(I,X)</a:t>
            </a:r>
            <a:r>
              <a:rPr lang="zh-CN" altLang="en-US" sz="1600" dirty="0">
                <a:latin typeface="Times New Roman" panose="02020603050405020304" pitchFamily="18" charset="0"/>
                <a:cs typeface="Times New Roman" panose="02020603050405020304" pitchFamily="18" charset="0"/>
              </a:rPr>
              <a:t>加入</a:t>
            </a:r>
            <a:r>
              <a:rPr lang="en-US" altLang="zh-CN" sz="1600" dirty="0">
                <a:latin typeface="Times New Roman" panose="02020603050405020304" pitchFamily="18" charset="0"/>
                <a:cs typeface="Times New Roman" panose="02020603050405020304" pitchFamily="18" charset="0"/>
              </a:rPr>
              <a:t>C</a:t>
            </a:r>
            <a:r>
              <a:rPr lang="zh-CN" altLang="en-US" sz="1600" dirty="0">
                <a:latin typeface="Times New Roman" panose="02020603050405020304" pitchFamily="18" charset="0"/>
                <a:cs typeface="Times New Roman" panose="02020603050405020304" pitchFamily="18" charset="0"/>
              </a:rPr>
              <a:t>中</a:t>
            </a:r>
            <a:r>
              <a:rPr lang="en-US" altLang="zh-CN" sz="1600" dirty="0">
                <a:latin typeface="Times New Roman" panose="02020603050405020304" pitchFamily="18" charset="0"/>
                <a:cs typeface="Times New Roman" panose="02020603050405020304" pitchFamily="18" charset="0"/>
              </a:rPr>
              <a:t>;</a:t>
            </a:r>
          </a:p>
          <a:p>
            <a:pPr marL="533400" indent="-533400">
              <a:lnSpc>
                <a:spcPct val="80000"/>
              </a:lnSpc>
              <a:buFontTx/>
              <a:buNone/>
            </a:pPr>
            <a:r>
              <a:rPr lang="en-US" altLang="zh-CN" sz="1600" dirty="0">
                <a:latin typeface="Times New Roman" panose="02020603050405020304" pitchFamily="18" charset="0"/>
                <a:cs typeface="Times New Roman" panose="02020603050405020304" pitchFamily="18" charset="0"/>
              </a:rPr>
              <a:t>            </a:t>
            </a:r>
            <a:r>
              <a:rPr lang="zh-CN" altLang="en-US" sz="1600" dirty="0">
                <a:latin typeface="Times New Roman" panose="02020603050405020304" pitchFamily="18" charset="0"/>
                <a:cs typeface="Times New Roman" panose="02020603050405020304" pitchFamily="18" charset="0"/>
              </a:rPr>
              <a:t>在</a:t>
            </a:r>
            <a:r>
              <a:rPr lang="en-US" altLang="zh-CN" sz="1600" dirty="0">
                <a:latin typeface="Times New Roman" panose="02020603050405020304" pitchFamily="18" charset="0"/>
                <a:cs typeface="Times New Roman" panose="02020603050405020304" pitchFamily="18" charset="0"/>
              </a:rPr>
              <a:t>I</a:t>
            </a:r>
            <a:r>
              <a:rPr lang="zh-CN" altLang="en-US" sz="1600" dirty="0">
                <a:latin typeface="Times New Roman" panose="02020603050405020304" pitchFamily="18" charset="0"/>
                <a:cs typeface="Times New Roman" panose="02020603050405020304" pitchFamily="18" charset="0"/>
              </a:rPr>
              <a:t>和</a:t>
            </a:r>
            <a:r>
              <a:rPr lang="en-US" altLang="zh-CN" sz="1600" dirty="0">
                <a:latin typeface="Times New Roman" panose="02020603050405020304" pitchFamily="18" charset="0"/>
                <a:cs typeface="Times New Roman" panose="02020603050405020304" pitchFamily="18" charset="0"/>
              </a:rPr>
              <a:t>Go(I,X)</a:t>
            </a:r>
            <a:r>
              <a:rPr lang="zh-CN" altLang="en-US" sz="1600" dirty="0">
                <a:latin typeface="Times New Roman" panose="02020603050405020304" pitchFamily="18" charset="0"/>
                <a:cs typeface="Times New Roman" panose="02020603050405020304" pitchFamily="18" charset="0"/>
              </a:rPr>
              <a:t>之间画标记为</a:t>
            </a:r>
            <a:r>
              <a:rPr lang="en-US" altLang="zh-CN" sz="1600" dirty="0">
                <a:latin typeface="Times New Roman" panose="02020603050405020304" pitchFamily="18" charset="0"/>
                <a:cs typeface="Times New Roman" panose="02020603050405020304" pitchFamily="18" charset="0"/>
              </a:rPr>
              <a:t>X</a:t>
            </a:r>
            <a:r>
              <a:rPr lang="zh-CN" altLang="en-US" sz="1600" dirty="0">
                <a:latin typeface="Times New Roman" panose="02020603050405020304" pitchFamily="18" charset="0"/>
                <a:cs typeface="Times New Roman" panose="02020603050405020304" pitchFamily="18" charset="0"/>
              </a:rPr>
              <a:t>的弧线</a:t>
            </a:r>
            <a:r>
              <a:rPr lang="en-US" altLang="zh-CN" sz="1600" dirty="0">
                <a:latin typeface="Times New Roman" panose="02020603050405020304" pitchFamily="18" charset="0"/>
                <a:cs typeface="Times New Roman" panose="02020603050405020304" pitchFamily="18" charset="0"/>
              </a:rPr>
              <a:t>;</a:t>
            </a:r>
          </a:p>
          <a:p>
            <a:pPr marL="533400" indent="-533400">
              <a:lnSpc>
                <a:spcPct val="80000"/>
              </a:lnSpc>
              <a:buFontTx/>
              <a:buNone/>
            </a:pPr>
            <a:r>
              <a:rPr lang="en-US" altLang="zh-CN" sz="1600" dirty="0">
                <a:latin typeface="Times New Roman" panose="02020603050405020304" pitchFamily="18" charset="0"/>
                <a:cs typeface="Times New Roman" panose="02020603050405020304" pitchFamily="18" charset="0"/>
              </a:rPr>
              <a:t>      } </a:t>
            </a:r>
          </a:p>
        </p:txBody>
      </p:sp>
      <p:sp>
        <p:nvSpPr>
          <p:cNvPr id="4" name="Text Box 4">
            <a:extLst>
              <a:ext uri="{FF2B5EF4-FFF2-40B4-BE49-F238E27FC236}">
                <a16:creationId xmlns:a16="http://schemas.microsoft.com/office/drawing/2014/main" id="{AA7EDFCF-1EF5-562F-16A6-08B856C5DEC2}"/>
              </a:ext>
            </a:extLst>
          </p:cNvPr>
          <p:cNvSpPr txBox="1">
            <a:spLocks noChangeArrowheads="1"/>
          </p:cNvSpPr>
          <p:nvPr/>
        </p:nvSpPr>
        <p:spPr bwMode="auto">
          <a:xfrm>
            <a:off x="6935929" y="226408"/>
            <a:ext cx="1656184" cy="156966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0</a:t>
            </a: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S'→S</a:t>
            </a: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1</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S→aAd</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2</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S→bAc</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3</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S→aec</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4</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S→bed</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5</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A→e</a:t>
            </a:r>
            <a:r>
              <a:rPr lang="en-US" altLang="zh-CN" sz="1600" dirty="0">
                <a:ea typeface="华文行楷" pitchFamily="2" charset="-122"/>
                <a:cs typeface="Times New Roman" panose="02020603050405020304" pitchFamily="18" charset="0"/>
              </a:rPr>
              <a:t> </a:t>
            </a:r>
          </a:p>
        </p:txBody>
      </p:sp>
    </p:spTree>
    <p:extLst>
      <p:ext uri="{BB962C8B-B14F-4D97-AF65-F5344CB8AC3E}">
        <p14:creationId xmlns:p14="http://schemas.microsoft.com/office/powerpoint/2010/main" val="422702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416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ChangeArrowheads="1"/>
          </p:cNvSpPr>
          <p:nvPr>
            <p:ph type="title"/>
          </p:nvPr>
        </p:nvSpPr>
        <p:spPr>
          <a:xfrm>
            <a:off x="652463" y="241300"/>
            <a:ext cx="7772400" cy="857250"/>
          </a:xfrm>
        </p:spPr>
        <p:txBody>
          <a:bodyPr>
            <a:normAutofit/>
          </a:bodyPr>
          <a:lstStyle/>
          <a:p>
            <a:pPr eaLnBrk="1" hangingPunct="1"/>
            <a:r>
              <a:rPr lang="fr-FR" altLang="zh-CN" sz="3200" b="1" dirty="0">
                <a:latin typeface="楷体_GB2312" pitchFamily="49" charset="-122"/>
                <a:ea typeface="楷体_GB2312" pitchFamily="49" charset="-122"/>
              </a:rPr>
              <a:t>LR(1)</a:t>
            </a:r>
            <a:r>
              <a:rPr lang="zh-CN" altLang="en-US" sz="3200" b="1" dirty="0">
                <a:latin typeface="楷体_GB2312" pitchFamily="49" charset="-122"/>
                <a:ea typeface="楷体_GB2312" pitchFamily="49" charset="-122"/>
              </a:rPr>
              <a:t>分析表的构造 </a:t>
            </a:r>
          </a:p>
        </p:txBody>
      </p:sp>
      <p:sp>
        <p:nvSpPr>
          <p:cNvPr id="242691" name="Rectangle 3"/>
          <p:cNvSpPr>
            <a:spLocks noGrp="1" noChangeArrowheads="1"/>
          </p:cNvSpPr>
          <p:nvPr>
            <p:ph type="body" idx="1"/>
          </p:nvPr>
        </p:nvSpPr>
        <p:spPr>
          <a:xfrm>
            <a:off x="533400" y="1155700"/>
            <a:ext cx="7874000" cy="2928218"/>
          </a:xfrm>
          <a:solidFill>
            <a:schemeClr val="bg1"/>
          </a:solidFill>
          <a:ln w="28575">
            <a:solidFill>
              <a:schemeClr val="accent2"/>
            </a:solidFill>
            <a:miter lim="800000"/>
            <a:headEnd/>
            <a:tailEnd/>
          </a:ln>
        </p:spPr>
        <p:txBody>
          <a:bodyPr>
            <a:normAutofit/>
          </a:bodyPr>
          <a:lstStyle/>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1</a:t>
            </a:r>
            <a:r>
              <a:rPr lang="zh-CN" altLang="en-US" sz="2000" dirty="0">
                <a:latin typeface="宋体" panose="02010600030101010101" pitchFamily="2" charset="-122"/>
                <a:ea typeface="宋体" panose="02010600030101010101" pitchFamily="2" charset="-122"/>
                <a:cs typeface="Times New Roman" panose="02020603050405020304" pitchFamily="18" charset="0"/>
              </a:rPr>
              <a:t>）若项目</a:t>
            </a:r>
            <a:r>
              <a:rPr lang="en-US" altLang="zh-CN" sz="2000" dirty="0">
                <a:latin typeface="宋体" panose="02010600030101010101" pitchFamily="2" charset="-122"/>
                <a:ea typeface="宋体" panose="02010600030101010101" pitchFamily="2" charset="-122"/>
                <a:cs typeface="Times New Roman" panose="02020603050405020304" pitchFamily="18" charset="0"/>
              </a:rPr>
              <a:t>[A→α·aβ,b]∈</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Ik</a:t>
            </a:r>
            <a:r>
              <a:rPr lang="zh-CN" altLang="en-US" sz="2000" dirty="0">
                <a:latin typeface="宋体" panose="02010600030101010101" pitchFamily="2" charset="-122"/>
                <a:ea typeface="宋体" panose="02010600030101010101" pitchFamily="2" charset="-122"/>
                <a:cs typeface="Times New Roman" panose="02020603050405020304" pitchFamily="18" charset="0"/>
              </a:rPr>
              <a:t>，且</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，其中</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a∈V</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T</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k,a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S</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。即把输入符号</a:t>
            </a:r>
            <a:r>
              <a:rPr lang="en-US" altLang="zh-CN" sz="2000" dirty="0">
                <a:latin typeface="宋体" panose="02010600030101010101" pitchFamily="2" charset="-122"/>
                <a:ea typeface="宋体" panose="02010600030101010101" pitchFamily="2" charset="-122"/>
                <a:cs typeface="Times New Roman" panose="02020603050405020304" pitchFamily="18" charset="0"/>
              </a:rPr>
              <a:t>a</a:t>
            </a:r>
            <a:r>
              <a:rPr lang="zh-CN" altLang="en-US" sz="2000" dirty="0">
                <a:latin typeface="宋体" panose="02010600030101010101" pitchFamily="2" charset="-122"/>
                <a:ea typeface="宋体" panose="02010600030101010101" pitchFamily="2" charset="-122"/>
                <a:cs typeface="Times New Roman" panose="02020603050405020304" pitchFamily="18" charset="0"/>
              </a:rPr>
              <a:t>和状态</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分别移入文法符号栈和状态栈。</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2</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若项目</a:t>
            </a:r>
            <a:r>
              <a:rPr lang="en-US" altLang="zh-CN"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[A→α·,a]∈</a:t>
            </a:r>
            <a:r>
              <a:rPr lang="en-US" altLang="zh-CN" sz="2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k</a:t>
            </a:r>
            <a:r>
              <a:rPr lang="zh-CN" altLang="en-US"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，其中</a:t>
            </a:r>
            <a:r>
              <a:rPr lang="en-US" altLang="zh-CN" sz="2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a∈V</a:t>
            </a:r>
            <a:r>
              <a:rPr lang="en-US" altLang="zh-CN" sz="2000" baseline="-25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T</a:t>
            </a:r>
            <a:r>
              <a:rPr lang="zh-CN" altLang="en-US"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action[</a:t>
            </a:r>
            <a:r>
              <a:rPr lang="en-US" altLang="zh-CN" sz="2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k,a</a:t>
            </a:r>
            <a:r>
              <a:rPr lang="en-US" altLang="zh-CN"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r</a:t>
            </a:r>
            <a:r>
              <a:rPr lang="en-US" altLang="zh-CN" sz="2000" baseline="-25000" dirty="0" err="1">
                <a:solidFill>
                  <a:srgbClr val="3333FF"/>
                </a:solidFill>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，即用产生式</a:t>
            </a:r>
            <a:r>
              <a:rPr lang="en-US" altLang="zh-CN"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A→α</a:t>
            </a:r>
            <a:r>
              <a:rPr lang="zh-CN" altLang="en-US" sz="2000" dirty="0">
                <a:solidFill>
                  <a:srgbClr val="3333FF"/>
                </a:solidFill>
                <a:latin typeface="宋体" panose="02010600030101010101" pitchFamily="2" charset="-122"/>
                <a:ea typeface="宋体" panose="02010600030101010101" pitchFamily="2" charset="-122"/>
                <a:cs typeface="Times New Roman" panose="02020603050405020304" pitchFamily="18" charset="0"/>
              </a:rPr>
              <a:t>进行归约</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是在文法中对产生式</a:t>
            </a:r>
            <a:r>
              <a:rPr lang="en-US" altLang="zh-CN" sz="2000" dirty="0">
                <a:latin typeface="宋体" panose="02010600030101010101" pitchFamily="2" charset="-122"/>
                <a:ea typeface="宋体" panose="02010600030101010101" pitchFamily="2" charset="-122"/>
                <a:cs typeface="Times New Roman" panose="02020603050405020304" pitchFamily="18" charset="0"/>
              </a:rPr>
              <a:t>A→α</a:t>
            </a:r>
            <a:r>
              <a:rPr lang="zh-CN" altLang="en-US" sz="2000" dirty="0">
                <a:latin typeface="宋体" panose="02010600030101010101" pitchFamily="2" charset="-122"/>
                <a:ea typeface="宋体" panose="02010600030101010101" pitchFamily="2" charset="-122"/>
                <a:cs typeface="Times New Roman" panose="02020603050405020304" pitchFamily="18" charset="0"/>
              </a:rPr>
              <a:t>的编号。</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3</a:t>
            </a:r>
            <a:r>
              <a:rPr lang="zh-CN" altLang="en-US" sz="2000" dirty="0">
                <a:latin typeface="宋体" panose="02010600030101010101" pitchFamily="2" charset="-122"/>
                <a:ea typeface="宋体" panose="02010600030101010101" pitchFamily="2" charset="-122"/>
                <a:cs typeface="Times New Roman" panose="02020603050405020304" pitchFamily="18" charset="0"/>
              </a:rPr>
              <a:t>）若项目</a:t>
            </a:r>
            <a:r>
              <a:rPr lang="en-US" altLang="zh-CN" sz="2000" dirty="0">
                <a:latin typeface="宋体" panose="02010600030101010101" pitchFamily="2" charset="-122"/>
                <a:ea typeface="宋体" panose="02010600030101010101" pitchFamily="2" charset="-122"/>
                <a:cs typeface="Times New Roman" panose="02020603050405020304" pitchFamily="18" charset="0"/>
              </a:rPr>
              <a:t>[S'→S·,#]∈</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Ik</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action[k,#]</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"acc"</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，表示</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接受</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4</a:t>
            </a:r>
            <a:r>
              <a:rPr lang="zh-CN" altLang="en-US" sz="2000" dirty="0">
                <a:latin typeface="宋体" panose="02010600030101010101" pitchFamily="2" charset="-122"/>
                <a:ea typeface="宋体" panose="02010600030101010101" pitchFamily="2" charset="-122"/>
                <a:cs typeface="Times New Roman" panose="02020603050405020304" pitchFamily="18" charset="0"/>
              </a:rPr>
              <a:t>）若</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，其中</a:t>
            </a:r>
            <a:r>
              <a:rPr lang="en-US" altLang="zh-CN" sz="2000" dirty="0">
                <a:latin typeface="宋体" panose="02010600030101010101" pitchFamily="2" charset="-122"/>
                <a:ea typeface="宋体" panose="02010600030101010101" pitchFamily="2" charset="-122"/>
                <a:cs typeface="Times New Roman" panose="02020603050405020304" pitchFamily="18" charset="0"/>
              </a:rPr>
              <a:t>A∈V</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N</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goto</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k,A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。表示当栈顶符号为</a:t>
            </a:r>
            <a:r>
              <a:rPr lang="en-US" altLang="zh-CN" sz="2000" dirty="0">
                <a:latin typeface="宋体" panose="02010600030101010101" pitchFamily="2" charset="-122"/>
                <a:ea typeface="宋体" panose="02010600030101010101" pitchFamily="2" charset="-122"/>
                <a:cs typeface="Times New Roman" panose="02020603050405020304" pitchFamily="18" charset="0"/>
              </a:rPr>
              <a:t>A</a:t>
            </a:r>
            <a:r>
              <a:rPr lang="zh-CN" altLang="en-US" sz="2000" dirty="0">
                <a:latin typeface="宋体" panose="02010600030101010101" pitchFamily="2" charset="-122"/>
                <a:ea typeface="宋体" panose="02010600030101010101" pitchFamily="2" charset="-122"/>
                <a:cs typeface="Times New Roman" panose="02020603050405020304" pitchFamily="18" charset="0"/>
              </a:rPr>
              <a:t>时，从状态</a:t>
            </a:r>
            <a:r>
              <a:rPr lang="en-US" altLang="zh-CN" sz="2000" dirty="0">
                <a:latin typeface="宋体" panose="02010600030101010101" pitchFamily="2" charset="-122"/>
                <a:ea typeface="宋体" panose="02010600030101010101" pitchFamily="2" charset="-122"/>
                <a:cs typeface="Times New Roman" panose="02020603050405020304" pitchFamily="18" charset="0"/>
              </a:rPr>
              <a:t>k</a:t>
            </a:r>
            <a:r>
              <a:rPr lang="zh-CN" altLang="en-US" sz="2000" dirty="0">
                <a:latin typeface="宋体" panose="02010600030101010101" pitchFamily="2" charset="-122"/>
                <a:ea typeface="宋体" panose="02010600030101010101" pitchFamily="2" charset="-122"/>
                <a:cs typeface="Times New Roman" panose="02020603050405020304" pitchFamily="18" charset="0"/>
              </a:rPr>
              <a:t>转换到状态</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5</a:t>
            </a:r>
            <a:r>
              <a:rPr lang="zh-CN" altLang="en-US" sz="2000" dirty="0">
                <a:latin typeface="宋体" panose="02010600030101010101" pitchFamily="2" charset="-122"/>
                <a:ea typeface="宋体" panose="02010600030101010101" pitchFamily="2" charset="-122"/>
                <a:cs typeface="Times New Roman" panose="02020603050405020304" pitchFamily="18" charset="0"/>
              </a:rPr>
              <a:t>）凡不能用规则</a:t>
            </a:r>
            <a:r>
              <a:rPr lang="en-US" altLang="zh-CN" sz="2000" dirty="0">
                <a:latin typeface="宋体" panose="02010600030101010101" pitchFamily="2" charset="-122"/>
                <a:ea typeface="宋体" panose="02010600030101010101" pitchFamily="2" charset="-122"/>
                <a:cs typeface="Times New Roman" panose="02020603050405020304" pitchFamily="18" charset="0"/>
              </a:rPr>
              <a:t>(1)~(4)</a:t>
            </a:r>
            <a:r>
              <a:rPr lang="zh-CN" altLang="en-US" sz="2000" dirty="0">
                <a:latin typeface="宋体" panose="02010600030101010101" pitchFamily="2" charset="-122"/>
                <a:ea typeface="宋体" panose="02010600030101010101" pitchFamily="2" charset="-122"/>
                <a:cs typeface="Times New Roman" panose="02020603050405020304" pitchFamily="18" charset="0"/>
              </a:rPr>
              <a:t>填入分析表中的元素，均置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报错标志</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 </a:t>
            </a:r>
          </a:p>
        </p:txBody>
      </p:sp>
    </p:spTree>
    <p:extLst>
      <p:ext uri="{BB962C8B-B14F-4D97-AF65-F5344CB8AC3E}">
        <p14:creationId xmlns:p14="http://schemas.microsoft.com/office/powerpoint/2010/main" val="176988366"/>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825"/>
          <p:cNvSpPr>
            <a:spLocks noGrp="1" noChangeArrowheads="1"/>
          </p:cNvSpPr>
          <p:nvPr>
            <p:ph type="title"/>
          </p:nvPr>
        </p:nvSpPr>
        <p:spPr>
          <a:xfrm>
            <a:off x="305945" y="273493"/>
            <a:ext cx="1949673" cy="1330142"/>
          </a:xfrm>
        </p:spPr>
        <p:txBody>
          <a:bodyPr>
            <a:noAutofit/>
          </a:bodyPr>
          <a:lstStyle/>
          <a:p>
            <a:pPr eaLnBrk="1" hangingPunct="1"/>
            <a:r>
              <a:rPr lang="zh-CN" altLang="en-US" sz="3200" dirty="0">
                <a:ea typeface="楷体_GB2312" pitchFamily="49" charset="-122"/>
              </a:rPr>
              <a:t>其</a:t>
            </a:r>
            <a:r>
              <a:rPr lang="en-US" altLang="zh-CN" sz="3200" dirty="0">
                <a:ea typeface="楷体_GB2312" pitchFamily="49" charset="-122"/>
              </a:rPr>
              <a:t>LR(1)</a:t>
            </a:r>
            <a:r>
              <a:rPr lang="zh-CN" altLang="en-US" sz="3200" dirty="0">
                <a:ea typeface="楷体_GB2312" pitchFamily="49" charset="-122"/>
              </a:rPr>
              <a:t>分析表为：</a:t>
            </a:r>
          </a:p>
        </p:txBody>
      </p:sp>
      <p:graphicFrame>
        <p:nvGraphicFramePr>
          <p:cNvPr id="163648" name="Group 832"/>
          <p:cNvGraphicFramePr>
            <a:graphicFrameLocks noGrp="1"/>
          </p:cNvGraphicFramePr>
          <p:nvPr>
            <p:ph idx="1"/>
            <p:extLst>
              <p:ext uri="{D42A27DB-BD31-4B8C-83A1-F6EECF244321}">
                <p14:modId xmlns:p14="http://schemas.microsoft.com/office/powerpoint/2010/main" val="4097595759"/>
              </p:ext>
            </p:extLst>
          </p:nvPr>
        </p:nvGraphicFramePr>
        <p:xfrm>
          <a:off x="4572000" y="491329"/>
          <a:ext cx="4176464" cy="4160842"/>
        </p:xfrm>
        <a:graphic>
          <a:graphicData uri="http://schemas.openxmlformats.org/drawingml/2006/table">
            <a:tbl>
              <a:tblPr/>
              <a:tblGrid>
                <a:gridCol w="579395">
                  <a:extLst>
                    <a:ext uri="{9D8B030D-6E8A-4147-A177-3AD203B41FA5}">
                      <a16:colId xmlns:a16="http://schemas.microsoft.com/office/drawing/2014/main" val="20000"/>
                    </a:ext>
                  </a:extLst>
                </a:gridCol>
                <a:gridCol w="405804">
                  <a:extLst>
                    <a:ext uri="{9D8B030D-6E8A-4147-A177-3AD203B41FA5}">
                      <a16:colId xmlns:a16="http://schemas.microsoft.com/office/drawing/2014/main" val="20001"/>
                    </a:ext>
                  </a:extLst>
                </a:gridCol>
                <a:gridCol w="382953">
                  <a:extLst>
                    <a:ext uri="{9D8B030D-6E8A-4147-A177-3AD203B41FA5}">
                      <a16:colId xmlns:a16="http://schemas.microsoft.com/office/drawing/2014/main" val="20002"/>
                    </a:ext>
                  </a:extLst>
                </a:gridCol>
                <a:gridCol w="565461">
                  <a:extLst>
                    <a:ext uri="{9D8B030D-6E8A-4147-A177-3AD203B41FA5}">
                      <a16:colId xmlns:a16="http://schemas.microsoft.com/office/drawing/2014/main" val="20003"/>
                    </a:ext>
                  </a:extLst>
                </a:gridCol>
                <a:gridCol w="424199">
                  <a:extLst>
                    <a:ext uri="{9D8B030D-6E8A-4147-A177-3AD203B41FA5}">
                      <a16:colId xmlns:a16="http://schemas.microsoft.com/office/drawing/2014/main" val="20004"/>
                    </a:ext>
                  </a:extLst>
                </a:gridCol>
                <a:gridCol w="416152">
                  <a:extLst>
                    <a:ext uri="{9D8B030D-6E8A-4147-A177-3AD203B41FA5}">
                      <a16:colId xmlns:a16="http://schemas.microsoft.com/office/drawing/2014/main" val="20005"/>
                    </a:ext>
                  </a:extLst>
                </a:gridCol>
                <a:gridCol w="471332">
                  <a:extLst>
                    <a:ext uri="{9D8B030D-6E8A-4147-A177-3AD203B41FA5}">
                      <a16:colId xmlns:a16="http://schemas.microsoft.com/office/drawing/2014/main" val="20006"/>
                    </a:ext>
                  </a:extLst>
                </a:gridCol>
                <a:gridCol w="435695">
                  <a:extLst>
                    <a:ext uri="{9D8B030D-6E8A-4147-A177-3AD203B41FA5}">
                      <a16:colId xmlns:a16="http://schemas.microsoft.com/office/drawing/2014/main" val="20007"/>
                    </a:ext>
                  </a:extLst>
                </a:gridCol>
                <a:gridCol w="495473">
                  <a:extLst>
                    <a:ext uri="{9D8B030D-6E8A-4147-A177-3AD203B41FA5}">
                      <a16:colId xmlns:a16="http://schemas.microsoft.com/office/drawing/2014/main" val="20008"/>
                    </a:ext>
                  </a:extLst>
                </a:gridCol>
              </a:tblGrid>
              <a:tr h="297203">
                <a:tc rowSpan="2">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状态</a:t>
                      </a:r>
                    </a:p>
                  </a:txBody>
                  <a:tcPr marT="34282" marB="3428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6">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action</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goto</a:t>
                      </a: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00"/>
                  </a:ext>
                </a:extLst>
              </a:tr>
              <a:tr h="297203">
                <a:tc vMerge="1">
                  <a:txBody>
                    <a:bodyPr/>
                    <a:lstStyle/>
                    <a:p>
                      <a:endParaRPr lang="zh-CN" altLang="en-US"/>
                    </a:p>
                  </a:txBody>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c</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d</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e</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acc</a:t>
                      </a: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1" lang="en-US"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1" lang="en-US" altLang="zh-CN" sz="1500" b="0"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11</a:t>
                      </a:r>
                      <a:endPar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297203">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11</a:t>
                      </a:r>
                    </a:p>
                  </a:txBody>
                  <a:tcPr marT="34282" marB="34282"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r</a:t>
                      </a:r>
                      <a:r>
                        <a:rPr kumimoji="1" lang="en-US" altLang="zh-CN" sz="1500" b="0" i="0" u="none" strike="noStrike" cap="none" normalizeH="0" baseline="-3000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1" lang="en-US" altLang="zh-CN" sz="1500" b="0" i="0" u="none" strike="noStrike" cap="none" normalizeH="0" baseline="0" dirty="0">
                        <a:ln>
                          <a:noFill/>
                        </a:ln>
                        <a:solidFill>
                          <a:srgbClr val="3333FF"/>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eaLnBrk="0" hangingPunct="0">
                        <a:spcBef>
                          <a:spcPct val="20000"/>
                        </a:spcBef>
                        <a:defRPr kumimoji="1" sz="2800">
                          <a:solidFill>
                            <a:schemeClr val="tx1"/>
                          </a:solidFill>
                          <a:latin typeface="Times New Roman" panose="02020603050405020304" pitchFamily="18" charset="0"/>
                          <a:ea typeface="宋体" panose="02010600030101010101" pitchFamily="2" charset="-122"/>
                        </a:defRPr>
                      </a:lvl1pPr>
                      <a:lvl2pPr marL="742950" indent="-285750" algn="l" eaLnBrk="0" hangingPunct="0">
                        <a:spcBef>
                          <a:spcPct val="20000"/>
                        </a:spcBef>
                        <a:defRPr kumimoji="1" sz="2400">
                          <a:solidFill>
                            <a:schemeClr val="tx1"/>
                          </a:solidFill>
                          <a:latin typeface="Times New Roman" panose="02020603050405020304" pitchFamily="18" charset="0"/>
                          <a:ea typeface="宋体" panose="02010600030101010101" pitchFamily="2" charset="-122"/>
                        </a:defRPr>
                      </a:lvl2pPr>
                      <a:lvl3pPr marL="1143000" indent="-228600" algn="l" eaLnBrk="0" hangingPunct="0">
                        <a:spcBef>
                          <a:spcPct val="20000"/>
                        </a:spcBef>
                        <a:defRPr kumimoji="1" sz="2000">
                          <a:solidFill>
                            <a:schemeClr val="tx1"/>
                          </a:solidFill>
                          <a:latin typeface="Times New Roman" panose="02020603050405020304" pitchFamily="18" charset="0"/>
                          <a:ea typeface="宋体" panose="02010600030101010101" pitchFamily="2" charset="-122"/>
                        </a:defRPr>
                      </a:lvl3pPr>
                      <a:lvl4pPr marL="16002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4pPr>
                      <a:lvl5pPr marL="2057400" indent="-228600" algn="l"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zh-CN" altLang="zh-CN" sz="15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endParaRPr>
                    </a:p>
                  </a:txBody>
                  <a:tcPr marT="34282" marB="34282"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pic>
        <p:nvPicPr>
          <p:cNvPr id="2" name="Picture 4" descr="图4">
            <a:extLst>
              <a:ext uri="{FF2B5EF4-FFF2-40B4-BE49-F238E27FC236}">
                <a16:creationId xmlns:a16="http://schemas.microsoft.com/office/drawing/2014/main" id="{EE611DAB-153D-C85D-33C7-209C95475AF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1514" y="1923678"/>
            <a:ext cx="3788209" cy="293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 Box 4">
            <a:extLst>
              <a:ext uri="{FF2B5EF4-FFF2-40B4-BE49-F238E27FC236}">
                <a16:creationId xmlns:a16="http://schemas.microsoft.com/office/drawing/2014/main" id="{006EB563-2D12-5DA7-D33F-66788E32FB47}"/>
              </a:ext>
            </a:extLst>
          </p:cNvPr>
          <p:cNvSpPr txBox="1">
            <a:spLocks noChangeArrowheads="1"/>
          </p:cNvSpPr>
          <p:nvPr/>
        </p:nvSpPr>
        <p:spPr bwMode="auto">
          <a:xfrm>
            <a:off x="2507437" y="168470"/>
            <a:ext cx="1656184" cy="156966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0</a:t>
            </a: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S'→S</a:t>
            </a: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1</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S→aAd</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2</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S→bAc</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3</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S→aec</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4</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S→bed</a:t>
            </a:r>
            <a:endParaRPr lang="en-US" altLang="zh-CN" sz="1600" dirty="0">
              <a:ea typeface="华文行楷" pitchFamily="2" charset="-122"/>
              <a:cs typeface="Times New Roman" panose="02020603050405020304" pitchFamily="18" charset="0"/>
            </a:endParaRPr>
          </a:p>
          <a:p>
            <a:pPr eaLnBrk="1" hangingPunct="1">
              <a:spcBef>
                <a:spcPct val="0"/>
              </a:spcBef>
              <a:buFontTx/>
              <a:buNone/>
            </a:pPr>
            <a:r>
              <a:rPr lang="zh-CN" altLang="en-US" sz="1600" dirty="0">
                <a:ea typeface="华文行楷" pitchFamily="2" charset="-122"/>
                <a:cs typeface="Times New Roman" panose="02020603050405020304" pitchFamily="18" charset="0"/>
              </a:rPr>
              <a:t>（</a:t>
            </a:r>
            <a:r>
              <a:rPr lang="en-US" altLang="zh-CN" sz="1600" dirty="0">
                <a:ea typeface="华文行楷" pitchFamily="2" charset="-122"/>
                <a:cs typeface="Times New Roman" panose="02020603050405020304" pitchFamily="18" charset="0"/>
              </a:rPr>
              <a:t>5</a:t>
            </a:r>
            <a:r>
              <a:rPr lang="zh-CN" altLang="en-US" sz="1600" dirty="0">
                <a:ea typeface="华文行楷" pitchFamily="2" charset="-122"/>
                <a:cs typeface="Times New Roman" panose="02020603050405020304" pitchFamily="18" charset="0"/>
              </a:rPr>
              <a:t>）</a:t>
            </a:r>
            <a:r>
              <a:rPr lang="en-US" altLang="zh-CN" sz="1600" dirty="0" err="1">
                <a:ea typeface="华文行楷" pitchFamily="2" charset="-122"/>
                <a:cs typeface="Times New Roman" panose="02020603050405020304" pitchFamily="18" charset="0"/>
              </a:rPr>
              <a:t>A→e</a:t>
            </a:r>
            <a:r>
              <a:rPr lang="en-US" altLang="zh-CN" sz="1600" dirty="0">
                <a:ea typeface="华文行楷" pitchFamily="2" charset="-122"/>
                <a:cs typeface="Times New Roman" panose="02020603050405020304" pitchFamily="18" charset="0"/>
              </a:rPr>
              <a:t> </a:t>
            </a:r>
          </a:p>
        </p:txBody>
      </p:sp>
    </p:spTree>
    <p:extLst>
      <p:ext uri="{BB962C8B-B14F-4D97-AF65-F5344CB8AC3E}">
        <p14:creationId xmlns:p14="http://schemas.microsoft.com/office/powerpoint/2010/main" val="1674120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36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p:cNvSpPr>
            <a:spLocks noGrp="1" noChangeArrowheads="1"/>
          </p:cNvSpPr>
          <p:nvPr>
            <p:ph type="title"/>
          </p:nvPr>
        </p:nvSpPr>
        <p:spPr/>
        <p:txBody>
          <a:bodyPr>
            <a:normAutofit/>
          </a:bodyPr>
          <a:lstStyle/>
          <a:p>
            <a:pPr eaLnBrk="1" hangingPunct="1"/>
            <a:r>
              <a:rPr lang="en-US" altLang="zh-CN" b="1"/>
              <a:t>LALR(1)</a:t>
            </a:r>
            <a:r>
              <a:rPr lang="zh-CN" altLang="en-US" b="1"/>
              <a:t>分析</a:t>
            </a:r>
          </a:p>
        </p:txBody>
      </p:sp>
      <p:sp>
        <p:nvSpPr>
          <p:cNvPr id="244739" name="Rectangle 3"/>
          <p:cNvSpPr>
            <a:spLocks noGrp="1" noChangeArrowheads="1"/>
          </p:cNvSpPr>
          <p:nvPr>
            <p:ph type="body" idx="1"/>
          </p:nvPr>
        </p:nvSpPr>
        <p:spPr/>
        <p:txBody>
          <a:bodyPr>
            <a:normAutofit/>
          </a:bodyPr>
          <a:lstStyle/>
          <a:p>
            <a:pPr eaLnBrk="1" hangingPunct="1"/>
            <a:r>
              <a:rPr lang="en-US" altLang="zh-CN" sz="2200" dirty="0"/>
              <a:t>LALR</a:t>
            </a:r>
            <a:r>
              <a:rPr lang="zh-CN" altLang="en-US" sz="2200" dirty="0"/>
              <a:t>方法是一种折衷方法，它的分析表比</a:t>
            </a:r>
            <a:r>
              <a:rPr lang="en-US" altLang="zh-CN" sz="2200" dirty="0"/>
              <a:t>LR(1)</a:t>
            </a:r>
            <a:r>
              <a:rPr lang="zh-CN" altLang="en-US" sz="2200" dirty="0"/>
              <a:t>分析表要小得多，能力也弱一些，但它能应用在一些</a:t>
            </a:r>
            <a:r>
              <a:rPr lang="en-US" altLang="zh-CN" sz="2200" dirty="0"/>
              <a:t>SLR(1)</a:t>
            </a:r>
            <a:r>
              <a:rPr lang="zh-CN" altLang="en-US" sz="2200" dirty="0"/>
              <a:t>不能应用的场合。实际的编译器经常使用这种方法，大多数程序设计语言的语法结构能方便地由</a:t>
            </a:r>
            <a:r>
              <a:rPr lang="en-US" altLang="zh-CN" sz="2200" dirty="0"/>
              <a:t>LALR</a:t>
            </a:r>
            <a:r>
              <a:rPr lang="zh-CN" altLang="en-US" sz="2200" dirty="0"/>
              <a:t>文法表示。</a:t>
            </a:r>
          </a:p>
        </p:txBody>
      </p:sp>
    </p:spTree>
    <p:extLst>
      <p:ext uri="{BB962C8B-B14F-4D97-AF65-F5344CB8AC3E}">
        <p14:creationId xmlns:p14="http://schemas.microsoft.com/office/powerpoint/2010/main" val="2524008795"/>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ChangeArrowheads="1"/>
          </p:cNvSpPr>
          <p:nvPr>
            <p:ph type="title"/>
          </p:nvPr>
        </p:nvSpPr>
        <p:spPr/>
        <p:txBody>
          <a:bodyPr>
            <a:normAutofit/>
          </a:bodyPr>
          <a:lstStyle/>
          <a:p>
            <a:pPr eaLnBrk="1" hangingPunct="1"/>
            <a:endParaRPr lang="zh-CN" altLang="zh-CN"/>
          </a:p>
        </p:txBody>
      </p:sp>
      <p:sp>
        <p:nvSpPr>
          <p:cNvPr id="245763" name="Rectangle 3"/>
          <p:cNvSpPr>
            <a:spLocks noGrp="1" noChangeArrowheads="1"/>
          </p:cNvSpPr>
          <p:nvPr>
            <p:ph type="body" idx="1"/>
          </p:nvPr>
        </p:nvSpPr>
        <p:spPr>
          <a:xfrm>
            <a:off x="804863" y="1041400"/>
            <a:ext cx="7772400" cy="3086100"/>
          </a:xfrm>
        </p:spPr>
        <p:txBody>
          <a:bodyPr>
            <a:normAutofit/>
          </a:bodyPr>
          <a:lstStyle/>
          <a:p>
            <a:pPr eaLnBrk="1" hangingPunct="1"/>
            <a:r>
              <a:rPr lang="zh-CN" altLang="en-US" sz="2200" dirty="0">
                <a:latin typeface="Times New Roman" panose="02020603050405020304" pitchFamily="18" charset="0"/>
                <a:cs typeface="Times New Roman" panose="02020603050405020304" pitchFamily="18" charset="0"/>
              </a:rPr>
              <a:t>在</a:t>
            </a:r>
            <a:r>
              <a:rPr lang="en-US" altLang="zh-CN" sz="2200" dirty="0">
                <a:latin typeface="Times New Roman" panose="02020603050405020304" pitchFamily="18" charset="0"/>
                <a:cs typeface="Times New Roman" panose="02020603050405020304" pitchFamily="18" charset="0"/>
              </a:rPr>
              <a:t>LR(1)</a:t>
            </a:r>
            <a:r>
              <a:rPr lang="zh-CN" altLang="en-US" sz="2200" dirty="0">
                <a:latin typeface="Times New Roman" panose="02020603050405020304" pitchFamily="18" charset="0"/>
                <a:cs typeface="Times New Roman" panose="02020603050405020304" pitchFamily="18" charset="0"/>
              </a:rPr>
              <a:t>分析表中，若存在两个状态（项目集）除向前搜索符不同外，其它部分都是相同的，称这样的两个</a:t>
            </a:r>
            <a:r>
              <a:rPr lang="en-US" altLang="zh-CN" sz="2200" dirty="0">
                <a:latin typeface="Times New Roman" panose="02020603050405020304" pitchFamily="18" charset="0"/>
                <a:cs typeface="Times New Roman" panose="02020603050405020304" pitchFamily="18" charset="0"/>
              </a:rPr>
              <a:t>LR(1)</a:t>
            </a:r>
            <a:r>
              <a:rPr lang="zh-CN" altLang="en-US" sz="2200" dirty="0">
                <a:latin typeface="Times New Roman" panose="02020603050405020304" pitchFamily="18" charset="0"/>
                <a:cs typeface="Times New Roman" panose="02020603050405020304" pitchFamily="18" charset="0"/>
              </a:rPr>
              <a:t>项目集是</a:t>
            </a:r>
            <a:r>
              <a:rPr lang="zh-CN" altLang="en-US" sz="2200" b="1" i="1" u="sng" dirty="0">
                <a:solidFill>
                  <a:srgbClr val="FF0000"/>
                </a:solidFill>
                <a:latin typeface="Times New Roman" panose="02020603050405020304" pitchFamily="18" charset="0"/>
                <a:cs typeface="Times New Roman" panose="02020603050405020304" pitchFamily="18" charset="0"/>
              </a:rPr>
              <a:t>同心的</a:t>
            </a:r>
            <a:r>
              <a:rPr lang="zh-CN" altLang="en-US" sz="2200" dirty="0">
                <a:latin typeface="Times New Roman" panose="02020603050405020304" pitchFamily="18" charset="0"/>
                <a:cs typeface="Times New Roman" panose="02020603050405020304" pitchFamily="18" charset="0"/>
              </a:rPr>
              <a:t> 。</a:t>
            </a:r>
          </a:p>
          <a:p>
            <a:pPr eaLnBrk="1" hangingPunct="1"/>
            <a:r>
              <a:rPr lang="zh-CN" altLang="en-US" sz="2200" dirty="0">
                <a:latin typeface="Times New Roman" panose="02020603050405020304" pitchFamily="18" charset="0"/>
                <a:cs typeface="Times New Roman" panose="02020603050405020304" pitchFamily="18" charset="0"/>
              </a:rPr>
              <a:t>如果把同心的</a:t>
            </a:r>
            <a:r>
              <a:rPr lang="en-US" altLang="zh-CN" sz="2200" dirty="0">
                <a:latin typeface="Times New Roman" panose="02020603050405020304" pitchFamily="18" charset="0"/>
                <a:cs typeface="Times New Roman" panose="02020603050405020304" pitchFamily="18" charset="0"/>
              </a:rPr>
              <a:t>LR(1)</a:t>
            </a:r>
            <a:r>
              <a:rPr lang="zh-CN" altLang="en-US" sz="2200" dirty="0">
                <a:latin typeface="Times New Roman" panose="02020603050405020304" pitchFamily="18" charset="0"/>
                <a:cs typeface="Times New Roman" panose="02020603050405020304" pitchFamily="18" charset="0"/>
              </a:rPr>
              <a:t>项目集合并，心仍相同（心就是一个</a:t>
            </a:r>
            <a:r>
              <a:rPr lang="en-US" altLang="zh-CN" sz="2200" dirty="0">
                <a:latin typeface="Times New Roman" panose="02020603050405020304" pitchFamily="18" charset="0"/>
                <a:cs typeface="Times New Roman" panose="02020603050405020304" pitchFamily="18" charset="0"/>
              </a:rPr>
              <a:t>LR(0)</a:t>
            </a:r>
            <a:r>
              <a:rPr lang="zh-CN" altLang="en-US" sz="2200" dirty="0">
                <a:latin typeface="Times New Roman" panose="02020603050405020304" pitchFamily="18" charset="0"/>
                <a:cs typeface="Times New Roman" panose="02020603050405020304" pitchFamily="18" charset="0"/>
              </a:rPr>
              <a:t>项目集），超前搜索符集为各同心集超前搜索符的并集，合并同心集后</a:t>
            </a:r>
            <a:r>
              <a:rPr lang="en-US" altLang="zh-CN" sz="2200" dirty="0">
                <a:latin typeface="Times New Roman" panose="02020603050405020304" pitchFamily="18" charset="0"/>
                <a:cs typeface="Times New Roman" panose="02020603050405020304" pitchFamily="18" charset="0"/>
              </a:rPr>
              <a:t>go</a:t>
            </a:r>
            <a:r>
              <a:rPr lang="zh-CN" altLang="en-US" sz="2200" dirty="0">
                <a:latin typeface="Times New Roman" panose="02020603050405020304" pitchFamily="18" charset="0"/>
                <a:cs typeface="Times New Roman" panose="02020603050405020304" pitchFamily="18" charset="0"/>
              </a:rPr>
              <a:t>函数自动合并。称为</a:t>
            </a:r>
            <a:r>
              <a:rPr lang="en-US" altLang="zh-CN" sz="2200" b="1" i="1" u="sng" dirty="0">
                <a:solidFill>
                  <a:srgbClr val="FF0000"/>
                </a:solidFill>
                <a:latin typeface="Times New Roman" panose="02020603050405020304" pitchFamily="18" charset="0"/>
                <a:cs typeface="Times New Roman" panose="02020603050405020304" pitchFamily="18" charset="0"/>
              </a:rPr>
              <a:t>LALR</a:t>
            </a:r>
            <a:r>
              <a:rPr lang="zh-CN" altLang="en-US" sz="2200" b="1" i="1" u="sng" dirty="0">
                <a:solidFill>
                  <a:srgbClr val="FF0000"/>
                </a:solidFill>
                <a:latin typeface="Times New Roman" panose="02020603050405020304" pitchFamily="18" charset="0"/>
                <a:cs typeface="Times New Roman" panose="02020603050405020304" pitchFamily="18" charset="0"/>
              </a:rPr>
              <a:t>方法</a:t>
            </a:r>
            <a:r>
              <a:rPr lang="zh-CN" altLang="en-US" sz="2200" dirty="0">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988469318"/>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ChangeArrowheads="1"/>
          </p:cNvSpPr>
          <p:nvPr>
            <p:ph type="title"/>
          </p:nvPr>
        </p:nvSpPr>
        <p:spPr>
          <a:xfrm>
            <a:off x="0" y="0"/>
            <a:ext cx="5486400" cy="488950"/>
          </a:xfrm>
        </p:spPr>
        <p:txBody>
          <a:bodyPr>
            <a:normAutofit fontScale="90000"/>
          </a:bodyPr>
          <a:lstStyle/>
          <a:p>
            <a:pPr eaLnBrk="1" hangingPunct="1"/>
            <a:r>
              <a:rPr lang="zh-CN" altLang="en-US" sz="3600" b="1">
                <a:latin typeface="楷体_GB2312" pitchFamily="49" charset="-122"/>
                <a:ea typeface="楷体_GB2312" pitchFamily="49" charset="-122"/>
              </a:rPr>
              <a:t>构造</a:t>
            </a:r>
            <a:r>
              <a:rPr lang="en-US" altLang="zh-CN" sz="3600" b="1">
                <a:latin typeface="楷体_GB2312" pitchFamily="49" charset="-122"/>
                <a:ea typeface="楷体_GB2312" pitchFamily="49" charset="-122"/>
              </a:rPr>
              <a:t>LALR</a:t>
            </a:r>
            <a:r>
              <a:rPr lang="zh-CN" altLang="en-US" sz="3600" b="1">
                <a:latin typeface="楷体_GB2312" pitchFamily="49" charset="-122"/>
                <a:ea typeface="楷体_GB2312" pitchFamily="49" charset="-122"/>
              </a:rPr>
              <a:t>分析表的算法： </a:t>
            </a:r>
          </a:p>
        </p:txBody>
      </p:sp>
      <p:sp>
        <p:nvSpPr>
          <p:cNvPr id="246787" name="Rectangle 3"/>
          <p:cNvSpPr>
            <a:spLocks noGrp="1" noChangeArrowheads="1"/>
          </p:cNvSpPr>
          <p:nvPr>
            <p:ph type="body" idx="1"/>
          </p:nvPr>
        </p:nvSpPr>
        <p:spPr>
          <a:xfrm>
            <a:off x="465138" y="546100"/>
            <a:ext cx="8280400" cy="3969866"/>
          </a:xfrm>
          <a:solidFill>
            <a:schemeClr val="bg1"/>
          </a:solidFill>
          <a:ln w="28575">
            <a:solidFill>
              <a:schemeClr val="accent2"/>
            </a:solidFill>
            <a:miter lim="800000"/>
            <a:headEnd/>
            <a:tailEnd/>
          </a:ln>
        </p:spPr>
        <p:txBody>
          <a:bodyPr>
            <a:normAutofit fontScale="92500" lnSpcReduction="10000"/>
          </a:bodyPr>
          <a:lstStyle/>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1</a:t>
            </a:r>
            <a:r>
              <a:rPr lang="zh-CN" altLang="en-US" sz="2000" dirty="0">
                <a:latin typeface="宋体" panose="02010600030101010101" pitchFamily="2" charset="-122"/>
                <a:ea typeface="宋体" panose="02010600030101010101" pitchFamily="2" charset="-122"/>
                <a:cs typeface="Times New Roman" panose="02020603050405020304" pitchFamily="18" charset="0"/>
              </a:rPr>
              <a:t>）构造</a:t>
            </a:r>
            <a:r>
              <a:rPr lang="en-US" altLang="zh-CN" sz="2000" dirty="0">
                <a:latin typeface="宋体" panose="02010600030101010101" pitchFamily="2" charset="-122"/>
                <a:ea typeface="宋体" panose="02010600030101010101" pitchFamily="2" charset="-122"/>
                <a:cs typeface="Times New Roman" panose="02020603050405020304" pitchFamily="18" charset="0"/>
              </a:rPr>
              <a:t>LR(1)</a:t>
            </a:r>
            <a:r>
              <a:rPr lang="zh-CN" altLang="en-US" sz="2000" dirty="0">
                <a:latin typeface="宋体" panose="02010600030101010101" pitchFamily="2" charset="-122"/>
                <a:ea typeface="宋体" panose="02010600030101010101" pitchFamily="2" charset="-122"/>
                <a:cs typeface="Times New Roman" panose="02020603050405020304" pitchFamily="18" charset="0"/>
              </a:rPr>
              <a:t>项目集规范族，</a:t>
            </a:r>
            <a:r>
              <a:rPr lang="en-US" altLang="zh-CN" sz="2000" dirty="0">
                <a:latin typeface="宋体" panose="02010600030101010101" pitchFamily="2" charset="-122"/>
                <a:ea typeface="宋体" panose="02010600030101010101" pitchFamily="2" charset="-122"/>
                <a:cs typeface="Times New Roman" panose="02020603050405020304" pitchFamily="18" charset="0"/>
              </a:rPr>
              <a:t>C={I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0</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1</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n</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2</a:t>
            </a:r>
            <a:r>
              <a:rPr lang="zh-CN" altLang="en-US" sz="2000" dirty="0">
                <a:latin typeface="宋体" panose="02010600030101010101" pitchFamily="2" charset="-122"/>
                <a:ea typeface="宋体" panose="02010600030101010101" pitchFamily="2" charset="-122"/>
                <a:cs typeface="Times New Roman" panose="02020603050405020304" pitchFamily="18" charset="0"/>
              </a:rPr>
              <a:t>）合并所有的同心集，得到</a:t>
            </a:r>
            <a:r>
              <a:rPr lang="en-US" altLang="zh-CN" sz="2000" dirty="0">
                <a:latin typeface="宋体" panose="02010600030101010101" pitchFamily="2" charset="-122"/>
                <a:ea typeface="宋体" panose="02010600030101010101" pitchFamily="2" charset="-122"/>
                <a:cs typeface="Times New Roman" panose="02020603050405020304" pitchFamily="18" charset="0"/>
              </a:rPr>
              <a:t>LALR(1)</a:t>
            </a:r>
            <a:r>
              <a:rPr lang="zh-CN" altLang="en-US" sz="2000" dirty="0">
                <a:latin typeface="宋体" panose="02010600030101010101" pitchFamily="2" charset="-122"/>
                <a:ea typeface="宋体" panose="02010600030101010101" pitchFamily="2" charset="-122"/>
                <a:cs typeface="Times New Roman" panose="02020603050405020304" pitchFamily="18" charset="0"/>
              </a:rPr>
              <a:t>的项目集族</a:t>
            </a:r>
            <a:r>
              <a:rPr lang="en-US" altLang="zh-CN" sz="2000" dirty="0">
                <a:latin typeface="宋体" panose="02010600030101010101" pitchFamily="2" charset="-122"/>
                <a:ea typeface="宋体" panose="02010600030101010101" pitchFamily="2" charset="-122"/>
                <a:cs typeface="Times New Roman" panose="02020603050405020304" pitchFamily="18" charset="0"/>
              </a:rPr>
              <a:t>C'={J</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0</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1</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m</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。含有项目</a:t>
            </a:r>
            <a:r>
              <a:rPr lang="en-US" altLang="zh-CN" sz="2000" dirty="0">
                <a:latin typeface="宋体" panose="02010600030101010101" pitchFamily="2" charset="-122"/>
                <a:ea typeface="宋体" panose="02010600030101010101" pitchFamily="2" charset="-122"/>
                <a:cs typeface="Times New Roman" panose="02020603050405020304" pitchFamily="18" charset="0"/>
              </a:rPr>
              <a:t>[S'→·S,#] </a:t>
            </a:r>
            <a:r>
              <a:rPr lang="zh-CN" altLang="en-US" sz="2000" dirty="0">
                <a:latin typeface="宋体" panose="02010600030101010101" pitchFamily="2" charset="-122"/>
                <a:ea typeface="宋体" panose="02010600030101010101" pitchFamily="2" charset="-122"/>
                <a:cs typeface="Times New Roman" panose="02020603050405020304" pitchFamily="18" charset="0"/>
              </a:rPr>
              <a:t>为初态。</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3</a:t>
            </a:r>
            <a:r>
              <a:rPr lang="zh-CN" altLang="en-US" sz="2000" dirty="0">
                <a:latin typeface="宋体" panose="02010600030101010101" pitchFamily="2" charset="-122"/>
                <a:ea typeface="宋体" panose="02010600030101010101" pitchFamily="2" charset="-122"/>
                <a:cs typeface="Times New Roman" panose="02020603050405020304" pitchFamily="18" charset="0"/>
              </a:rPr>
              <a:t>）由</a:t>
            </a:r>
            <a:r>
              <a:rPr lang="en-US" altLang="zh-CN" sz="2000" dirty="0">
                <a:latin typeface="宋体" panose="02010600030101010101" pitchFamily="2" charset="-122"/>
                <a:ea typeface="宋体" panose="02010600030101010101" pitchFamily="2" charset="-122"/>
                <a:cs typeface="Times New Roman" panose="02020603050405020304" pitchFamily="18" charset="0"/>
              </a:rPr>
              <a:t>C‘</a:t>
            </a:r>
            <a:r>
              <a:rPr lang="zh-CN" altLang="en-US" sz="2000" dirty="0">
                <a:latin typeface="宋体" panose="02010600030101010101" pitchFamily="2" charset="-122"/>
                <a:ea typeface="宋体" panose="02010600030101010101" pitchFamily="2" charset="-122"/>
                <a:cs typeface="Times New Roman" panose="02020603050405020304" pitchFamily="18" charset="0"/>
              </a:rPr>
              <a:t>构造动作</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① 若</a:t>
            </a:r>
            <a:r>
              <a:rPr lang="en-US" altLang="zh-CN" sz="2000" dirty="0">
                <a:latin typeface="宋体" panose="02010600030101010101" pitchFamily="2" charset="-122"/>
                <a:ea typeface="宋体" panose="02010600030101010101" pitchFamily="2" charset="-122"/>
                <a:cs typeface="Times New Roman" panose="02020603050405020304" pitchFamily="18" charset="0"/>
              </a:rPr>
              <a:t>[A→α·aβ,b]∈</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zh-CN" altLang="en-US" sz="2000" dirty="0">
                <a:latin typeface="宋体" panose="02010600030101010101" pitchFamily="2" charset="-122"/>
                <a:ea typeface="宋体" panose="02010600030101010101" pitchFamily="2" charset="-122"/>
                <a:cs typeface="Times New Roman" panose="02020603050405020304" pitchFamily="18" charset="0"/>
              </a:rPr>
              <a:t>，且</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，其中</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a∈V</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T</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k,a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S</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② 若项目</a:t>
            </a:r>
            <a:r>
              <a:rPr lang="en-US" altLang="zh-CN" sz="2000" dirty="0">
                <a:latin typeface="宋体" panose="02010600030101010101" pitchFamily="2" charset="-122"/>
                <a:ea typeface="宋体" panose="02010600030101010101" pitchFamily="2" charset="-122"/>
                <a:cs typeface="Times New Roman" panose="02020603050405020304" pitchFamily="18" charset="0"/>
              </a:rPr>
              <a:t>[A→α·,a]∈</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Jk</a:t>
            </a:r>
            <a:r>
              <a:rPr lang="zh-CN" altLang="en-US" sz="2000" dirty="0">
                <a:latin typeface="宋体" panose="02010600030101010101" pitchFamily="2" charset="-122"/>
                <a:ea typeface="宋体" panose="02010600030101010101" pitchFamily="2" charset="-122"/>
                <a:cs typeface="Times New Roman" panose="02020603050405020304" pitchFamily="18" charset="0"/>
              </a:rPr>
              <a:t>，其中</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a∈V</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T</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k,a</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r</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r</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j</a:t>
            </a:r>
            <a:r>
              <a:rPr lang="zh-CN" altLang="en-US" sz="2000" dirty="0">
                <a:latin typeface="宋体" panose="02010600030101010101" pitchFamily="2" charset="-122"/>
                <a:ea typeface="宋体" panose="02010600030101010101" pitchFamily="2" charset="-122"/>
                <a:cs typeface="Times New Roman" panose="02020603050405020304" pitchFamily="18" charset="0"/>
              </a:rPr>
              <a:t>的含义是按产生式</a:t>
            </a:r>
            <a:r>
              <a:rPr lang="en-US" altLang="zh-CN" sz="2000" dirty="0">
                <a:latin typeface="宋体" panose="02010600030101010101" pitchFamily="2" charset="-122"/>
                <a:ea typeface="宋体" panose="02010600030101010101" pitchFamily="2" charset="-122"/>
                <a:cs typeface="Times New Roman" panose="02020603050405020304" pitchFamily="18" charset="0"/>
              </a:rPr>
              <a:t>A→α</a:t>
            </a:r>
            <a:r>
              <a:rPr lang="zh-CN" altLang="en-US" sz="2000" dirty="0">
                <a:latin typeface="宋体" panose="02010600030101010101" pitchFamily="2" charset="-122"/>
                <a:ea typeface="宋体" panose="02010600030101010101" pitchFamily="2" charset="-122"/>
                <a:cs typeface="Times New Roman" panose="02020603050405020304" pitchFamily="18" charset="0"/>
              </a:rPr>
              <a:t>进行归约</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③ 若项目</a:t>
            </a:r>
            <a:r>
              <a:rPr lang="en-US" altLang="zh-CN" sz="2000" dirty="0">
                <a:latin typeface="宋体" panose="02010600030101010101" pitchFamily="2" charset="-122"/>
                <a:ea typeface="宋体" panose="02010600030101010101" pitchFamily="2" charset="-122"/>
                <a:cs typeface="Times New Roman" panose="02020603050405020304" pitchFamily="18" charset="0"/>
              </a:rPr>
              <a:t>[S'→S·,#]∈</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Ik</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a:latin typeface="宋体" panose="02010600030101010101" pitchFamily="2" charset="-122"/>
                <a:ea typeface="宋体" panose="02010600030101010101" pitchFamily="2" charset="-122"/>
                <a:cs typeface="Times New Roman" panose="02020603050405020304" pitchFamily="18" charset="0"/>
              </a:rPr>
              <a:t>action[k,#]=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acc</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，表示分析成功，接受。</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4</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goto</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表的构造。若不是同心集的项目集，转换函数的构造与</a:t>
            </a:r>
            <a:r>
              <a:rPr lang="en-US" altLang="zh-CN" sz="2000" dirty="0">
                <a:latin typeface="宋体" panose="02010600030101010101" pitchFamily="2" charset="-122"/>
                <a:ea typeface="宋体" panose="02010600030101010101" pitchFamily="2" charset="-122"/>
                <a:cs typeface="Times New Roman" panose="02020603050405020304" pitchFamily="18" charset="0"/>
              </a:rPr>
              <a:t>LR(1)</a:t>
            </a:r>
            <a:r>
              <a:rPr lang="zh-CN" altLang="en-US" sz="2000" dirty="0">
                <a:latin typeface="宋体" panose="02010600030101010101" pitchFamily="2" charset="-122"/>
                <a:ea typeface="宋体" panose="02010600030101010101" pitchFamily="2" charset="-122"/>
                <a:cs typeface="Times New Roman" panose="02020603050405020304" pitchFamily="18" charset="0"/>
              </a:rPr>
              <a:t>的相同；假定</a:t>
            </a:r>
            <a:r>
              <a:rPr lang="en-US" altLang="zh-CN" sz="2000" dirty="0">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i1</a:t>
            </a:r>
            <a:r>
              <a:rPr lang="en-US" altLang="zh-CN" sz="2000" dirty="0">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i2</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in</a:t>
            </a:r>
            <a:r>
              <a:rPr lang="zh-CN" altLang="en-US" sz="2000" dirty="0">
                <a:latin typeface="宋体" panose="02010600030101010101" pitchFamily="2" charset="-122"/>
                <a:ea typeface="宋体" panose="02010600030101010101" pitchFamily="2" charset="-122"/>
                <a:cs typeface="Times New Roman" panose="02020603050405020304" pitchFamily="18" charset="0"/>
              </a:rPr>
              <a:t>是同心集，合并后的新集为</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zh-CN" altLang="en-US" sz="2000" dirty="0">
                <a:latin typeface="宋体" panose="02010600030101010101" pitchFamily="2" charset="-122"/>
                <a:ea typeface="宋体" panose="02010600030101010101" pitchFamily="2" charset="-122"/>
                <a:cs typeface="Times New Roman" panose="02020603050405020304" pitchFamily="18" charset="0"/>
              </a:rPr>
              <a:t>，转换函数</a:t>
            </a:r>
            <a:r>
              <a:rPr lang="en-US" altLang="zh-CN" sz="2000" dirty="0">
                <a:latin typeface="宋体" panose="02010600030101010101" pitchFamily="2" charset="-122"/>
                <a:ea typeface="宋体" panose="02010600030101010101" pitchFamily="2" charset="-122"/>
                <a:cs typeface="Times New Roman" panose="02020603050405020304" pitchFamily="18" charset="0"/>
              </a:rPr>
              <a:t>GO(I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i1</a:t>
            </a:r>
            <a:r>
              <a:rPr lang="en-US" altLang="zh-CN" sz="2000" dirty="0">
                <a:latin typeface="宋体" panose="02010600030101010101" pitchFamily="2" charset="-122"/>
                <a:ea typeface="宋体" panose="02010600030101010101" pitchFamily="2" charset="-122"/>
                <a:cs typeface="Times New Roman" panose="02020603050405020304" pitchFamily="18" charset="0"/>
              </a:rPr>
              <a:t>,X)</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GO(I</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i2,</a:t>
            </a:r>
            <a:r>
              <a:rPr lang="en-US" altLang="zh-CN" sz="2000" dirty="0">
                <a:latin typeface="宋体" panose="02010600030101010101" pitchFamily="2" charset="-122"/>
                <a:ea typeface="宋体" panose="02010600030101010101" pitchFamily="2" charset="-122"/>
                <a:cs typeface="Times New Roman" panose="02020603050405020304" pitchFamily="18" charset="0"/>
              </a:rPr>
              <a:t>X)</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in</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,X</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zh-CN" altLang="en-US" sz="2000" dirty="0">
                <a:latin typeface="宋体" panose="02010600030101010101" pitchFamily="2" charset="-122"/>
                <a:ea typeface="宋体" panose="02010600030101010101" pitchFamily="2" charset="-122"/>
                <a:cs typeface="Times New Roman" panose="02020603050405020304" pitchFamily="18" charset="0"/>
              </a:rPr>
              <a:t>也为同心集，将其合并后记作</a:t>
            </a:r>
            <a:r>
              <a:rPr lang="en-US" altLang="zh-CN" sz="2000" dirty="0">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a:t>
            </a:r>
            <a:r>
              <a:rPr lang="zh-CN" altLang="en-US" sz="2000" dirty="0">
                <a:latin typeface="宋体" panose="02010600030101010101" pitchFamily="2" charset="-122"/>
                <a:ea typeface="宋体" panose="02010600030101010101" pitchFamily="2" charset="-122"/>
                <a:cs typeface="Times New Roman" panose="02020603050405020304" pitchFamily="18" charset="0"/>
              </a:rPr>
              <a:t>，因此，有</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,X</a:t>
            </a:r>
            <a:r>
              <a:rPr lang="en-US" altLang="zh-CN" sz="2000" dirty="0">
                <a:latin typeface="宋体" panose="02010600030101010101" pitchFamily="2" charset="-122"/>
                <a:ea typeface="宋体" panose="02010600030101010101" pitchFamily="2" charset="-122"/>
                <a:cs typeface="Times New Roman" panose="02020603050405020304" pitchFamily="18" charset="0"/>
              </a:rPr>
              <a:t>)= J</a:t>
            </a:r>
            <a:r>
              <a:rPr lang="en-US" altLang="zh-CN" sz="2000" baseline="-25000" dirty="0">
                <a:latin typeface="宋体" panose="02010600030101010101" pitchFamily="2" charset="-122"/>
                <a:ea typeface="宋体" panose="02010600030101010101" pitchFamily="2" charset="-122"/>
                <a:cs typeface="Times New Roman" panose="02020603050405020304" pitchFamily="18" charset="0"/>
              </a:rPr>
              <a:t>i</a:t>
            </a:r>
            <a:r>
              <a:rPr lang="zh-CN" altLang="en-US" sz="2000" dirty="0">
                <a:latin typeface="宋体" panose="02010600030101010101" pitchFamily="2" charset="-122"/>
                <a:ea typeface="宋体" panose="02010600030101010101" pitchFamily="2" charset="-122"/>
                <a:cs typeface="Times New Roman" panose="02020603050405020304" pitchFamily="18" charset="0"/>
              </a:rPr>
              <a:t>，所以当</a:t>
            </a:r>
            <a:r>
              <a:rPr lang="en-US" altLang="zh-CN" sz="2000" dirty="0">
                <a:latin typeface="宋体" panose="02010600030101010101" pitchFamily="2" charset="-122"/>
                <a:ea typeface="宋体" panose="02010600030101010101" pitchFamily="2" charset="-122"/>
                <a:cs typeface="Times New Roman" panose="02020603050405020304" pitchFamily="18" charset="0"/>
              </a:rPr>
              <a:t>X</a:t>
            </a:r>
            <a:r>
              <a:rPr lang="zh-CN" altLang="en-US" sz="2000" dirty="0">
                <a:latin typeface="宋体" panose="02010600030101010101" pitchFamily="2" charset="-122"/>
                <a:ea typeface="宋体" panose="02010600030101010101" pitchFamily="2" charset="-122"/>
                <a:cs typeface="Times New Roman" panose="02020603050405020304" pitchFamily="18" charset="0"/>
              </a:rPr>
              <a:t>为非终结符时，</a:t>
            </a:r>
            <a:r>
              <a:rPr lang="en-US" altLang="zh-CN" sz="2000" dirty="0">
                <a:latin typeface="宋体" panose="02010600030101010101" pitchFamily="2" charset="-122"/>
                <a:ea typeface="宋体" panose="02010600030101010101" pitchFamily="2" charset="-122"/>
                <a:cs typeface="Times New Roman" panose="02020603050405020304" pitchFamily="18" charset="0"/>
              </a:rPr>
              <a:t>GO(</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J</a:t>
            </a:r>
            <a:r>
              <a:rPr lang="en-US" altLang="zh-CN" sz="2000" baseline="-25000" dirty="0" err="1">
                <a:latin typeface="宋体" panose="02010600030101010101" pitchFamily="2" charset="-122"/>
                <a:ea typeface="宋体" panose="02010600030101010101" pitchFamily="2" charset="-122"/>
                <a:cs typeface="Times New Roman" panose="02020603050405020304" pitchFamily="18" charset="0"/>
              </a:rPr>
              <a:t>k</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,X</a:t>
            </a:r>
            <a:r>
              <a:rPr lang="en-US" altLang="zh-CN" sz="2000" dirty="0">
                <a:latin typeface="宋体" panose="02010600030101010101" pitchFamily="2" charset="-122"/>
                <a:ea typeface="宋体" panose="02010600030101010101" pitchFamily="2" charset="-122"/>
                <a:cs typeface="Times New Roman" panose="02020603050405020304" pitchFamily="18" charset="0"/>
              </a:rPr>
              <a:t>)=Ji</a:t>
            </a:r>
            <a:r>
              <a:rPr lang="zh-CN" altLang="en-US" sz="2000" dirty="0">
                <a:latin typeface="宋体" panose="02010600030101010101" pitchFamily="2" charset="-122"/>
                <a:ea typeface="宋体" panose="02010600030101010101" pitchFamily="2" charset="-122"/>
                <a:cs typeface="Times New Roman" panose="02020603050405020304" pitchFamily="18" charset="0"/>
              </a:rPr>
              <a:t>，则置</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goto</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k,X</a:t>
            </a:r>
            <a:r>
              <a:rPr lang="en-US" altLang="zh-CN"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zh-CN" altLang="en-US" sz="2000" dirty="0">
                <a:latin typeface="宋体" panose="02010600030101010101" pitchFamily="2" charset="-122"/>
                <a:ea typeface="宋体" panose="02010600030101010101" pitchFamily="2" charset="-122"/>
                <a:cs typeface="Times New Roman" panose="02020603050405020304" pitchFamily="18" charset="0"/>
              </a:rPr>
              <a:t>，表示在</a:t>
            </a:r>
            <a:r>
              <a:rPr lang="en-US" altLang="zh-CN" sz="2000" dirty="0">
                <a:latin typeface="宋体" panose="02010600030101010101" pitchFamily="2" charset="-122"/>
                <a:ea typeface="宋体" panose="02010600030101010101" pitchFamily="2" charset="-122"/>
                <a:cs typeface="Times New Roman" panose="02020603050405020304" pitchFamily="18" charset="0"/>
              </a:rPr>
              <a:t>k</a:t>
            </a:r>
            <a:r>
              <a:rPr lang="zh-CN" altLang="en-US" sz="2000" dirty="0">
                <a:latin typeface="宋体" panose="02010600030101010101" pitchFamily="2" charset="-122"/>
                <a:ea typeface="宋体" panose="02010600030101010101" pitchFamily="2" charset="-122"/>
                <a:cs typeface="Times New Roman" panose="02020603050405020304" pitchFamily="18" charset="0"/>
              </a:rPr>
              <a:t>状态下遇到非终结符</a:t>
            </a:r>
            <a:r>
              <a:rPr lang="en-US" altLang="zh-CN" sz="2000" dirty="0">
                <a:latin typeface="宋体" panose="02010600030101010101" pitchFamily="2" charset="-122"/>
                <a:ea typeface="宋体" panose="02010600030101010101" pitchFamily="2" charset="-122"/>
                <a:cs typeface="Times New Roman" panose="02020603050405020304" pitchFamily="18" charset="0"/>
              </a:rPr>
              <a:t>X</a:t>
            </a:r>
            <a:r>
              <a:rPr lang="zh-CN" altLang="en-US" sz="2000" dirty="0">
                <a:latin typeface="宋体" panose="02010600030101010101" pitchFamily="2" charset="-122"/>
                <a:ea typeface="宋体" panose="02010600030101010101" pitchFamily="2" charset="-122"/>
                <a:cs typeface="Times New Roman" panose="02020603050405020304" pitchFamily="18" charset="0"/>
              </a:rPr>
              <a:t>时，把</a:t>
            </a:r>
            <a:r>
              <a:rPr lang="en-US" altLang="zh-CN" sz="2000" dirty="0">
                <a:latin typeface="宋体" panose="02010600030101010101" pitchFamily="2" charset="-122"/>
                <a:ea typeface="宋体" panose="02010600030101010101" pitchFamily="2" charset="-122"/>
                <a:cs typeface="Times New Roman" panose="02020603050405020304" pitchFamily="18" charset="0"/>
              </a:rPr>
              <a:t>X</a:t>
            </a:r>
            <a:r>
              <a:rPr lang="zh-CN" altLang="en-US" sz="2000" dirty="0">
                <a:latin typeface="宋体" panose="02010600030101010101" pitchFamily="2" charset="-122"/>
                <a:ea typeface="宋体" panose="02010600030101010101" pitchFamily="2" charset="-122"/>
                <a:cs typeface="Times New Roman" panose="02020603050405020304" pitchFamily="18" charset="0"/>
              </a:rPr>
              <a:t>和</a:t>
            </a:r>
            <a:r>
              <a:rPr lang="en-US" altLang="zh-CN" sz="2000" dirty="0" err="1">
                <a:latin typeface="宋体" panose="02010600030101010101" pitchFamily="2" charset="-122"/>
                <a:ea typeface="宋体" panose="02010600030101010101" pitchFamily="2" charset="-122"/>
                <a:cs typeface="Times New Roman" panose="02020603050405020304" pitchFamily="18" charset="0"/>
              </a:rPr>
              <a:t>i</a:t>
            </a:r>
            <a:r>
              <a:rPr lang="zh-CN" altLang="en-US" sz="2000" dirty="0">
                <a:latin typeface="宋体" panose="02010600030101010101" pitchFamily="2" charset="-122"/>
                <a:ea typeface="宋体" panose="02010600030101010101" pitchFamily="2" charset="-122"/>
                <a:cs typeface="Times New Roman" panose="02020603050405020304" pitchFamily="18" charset="0"/>
              </a:rPr>
              <a:t>分别移到文法符号栈和状态栈。</a:t>
            </a:r>
          </a:p>
          <a:p>
            <a:pPr eaLnBrk="1" hangingPunct="1">
              <a:lnSpc>
                <a:spcPct val="80000"/>
              </a:lnSpc>
              <a:buFontTx/>
              <a:buNone/>
            </a:pP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5</a:t>
            </a:r>
            <a:r>
              <a:rPr lang="zh-CN" altLang="en-US" sz="2000" dirty="0">
                <a:latin typeface="宋体" panose="02010600030101010101" pitchFamily="2" charset="-122"/>
                <a:ea typeface="宋体" panose="02010600030101010101" pitchFamily="2" charset="-122"/>
                <a:cs typeface="Times New Roman" panose="02020603050405020304" pitchFamily="18" charset="0"/>
              </a:rPr>
              <a:t>）分析表中凡不能用</a:t>
            </a:r>
            <a:r>
              <a:rPr lang="en-US" altLang="zh-CN" sz="2000" dirty="0">
                <a:latin typeface="宋体" panose="02010600030101010101" pitchFamily="2" charset="-122"/>
                <a:ea typeface="宋体" panose="02010600030101010101" pitchFamily="2" charset="-122"/>
                <a:cs typeface="Times New Roman" panose="02020603050405020304" pitchFamily="18" charset="0"/>
              </a:rPr>
              <a:t>(3)</a:t>
            </a:r>
            <a:r>
              <a:rPr lang="zh-CN" altLang="en-US" sz="2000" dirty="0">
                <a:latin typeface="宋体" panose="02010600030101010101" pitchFamily="2" charset="-122"/>
                <a:ea typeface="宋体" panose="02010600030101010101" pitchFamily="2" charset="-122"/>
                <a:cs typeface="Times New Roman" panose="02020603050405020304" pitchFamily="18" charset="0"/>
              </a:rPr>
              <a:t>、</a:t>
            </a:r>
            <a:r>
              <a:rPr lang="en-US" altLang="zh-CN" sz="2000" dirty="0">
                <a:latin typeface="宋体" panose="02010600030101010101" pitchFamily="2" charset="-122"/>
                <a:ea typeface="宋体" panose="02010600030101010101" pitchFamily="2" charset="-122"/>
                <a:cs typeface="Times New Roman" panose="02020603050405020304" pitchFamily="18" charset="0"/>
              </a:rPr>
              <a:t>(4)</a:t>
            </a:r>
            <a:r>
              <a:rPr lang="zh-CN" altLang="en-US" sz="2000" dirty="0">
                <a:latin typeface="宋体" panose="02010600030101010101" pitchFamily="2" charset="-122"/>
                <a:ea typeface="宋体" panose="02010600030101010101" pitchFamily="2" charset="-122"/>
                <a:cs typeface="Times New Roman" panose="02020603050405020304" pitchFamily="18" charset="0"/>
              </a:rPr>
              <a:t>填入信息的空白均填上“出错标志”。 </a:t>
            </a:r>
          </a:p>
        </p:txBody>
      </p:sp>
    </p:spTree>
    <p:extLst>
      <p:ext uri="{BB962C8B-B14F-4D97-AF65-F5344CB8AC3E}">
        <p14:creationId xmlns:p14="http://schemas.microsoft.com/office/powerpoint/2010/main" val="404066184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1" name="Rectangle 3"/>
          <p:cNvSpPr>
            <a:spLocks noGrp="1" noChangeArrowheads="1"/>
          </p:cNvSpPr>
          <p:nvPr>
            <p:ph type="body" idx="1"/>
          </p:nvPr>
        </p:nvSpPr>
        <p:spPr>
          <a:xfrm>
            <a:off x="0" y="3898900"/>
            <a:ext cx="4622800" cy="419100"/>
          </a:xfrm>
        </p:spPr>
        <p:txBody>
          <a:bodyPr>
            <a:noAutofit/>
          </a:bodyPr>
          <a:lstStyle/>
          <a:p>
            <a:pPr eaLnBrk="1" hangingPunct="1">
              <a:buFontTx/>
              <a:buNone/>
            </a:pPr>
            <a:r>
              <a:rPr lang="zh-CN" altLang="en-US" sz="2200" dirty="0"/>
              <a:t>该文法的</a:t>
            </a:r>
            <a:r>
              <a:rPr lang="en-US" altLang="zh-CN" sz="2200" dirty="0"/>
              <a:t>LR(1)</a:t>
            </a:r>
            <a:r>
              <a:rPr lang="zh-CN" altLang="en-US" sz="2200" dirty="0"/>
              <a:t>项目集规范族</a:t>
            </a:r>
          </a:p>
        </p:txBody>
      </p:sp>
      <p:sp>
        <p:nvSpPr>
          <p:cNvPr id="247812" name="Text Box 4"/>
          <p:cNvSpPr txBox="1">
            <a:spLocks noChangeArrowheads="1"/>
          </p:cNvSpPr>
          <p:nvPr/>
        </p:nvSpPr>
        <p:spPr bwMode="auto">
          <a:xfrm>
            <a:off x="0" y="1498600"/>
            <a:ext cx="2420938"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dirty="0">
                <a:ea typeface="华文行楷" pitchFamily="2" charset="-122"/>
              </a:rPr>
              <a:t>例：文法</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0</a:t>
            </a:r>
            <a:r>
              <a:rPr lang="zh-CN" altLang="en-US" sz="2200" dirty="0">
                <a:ea typeface="华文行楷" pitchFamily="2" charset="-122"/>
              </a:rPr>
              <a:t>）</a:t>
            </a:r>
            <a:r>
              <a:rPr lang="en-US" altLang="zh-CN" sz="2200" dirty="0">
                <a:ea typeface="华文行楷" pitchFamily="2" charset="-122"/>
              </a:rPr>
              <a:t>S'→S</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1</a:t>
            </a:r>
            <a:r>
              <a:rPr lang="zh-CN" altLang="en-US" sz="2200" dirty="0">
                <a:ea typeface="华文行楷" pitchFamily="2" charset="-122"/>
              </a:rPr>
              <a:t>）</a:t>
            </a:r>
            <a:r>
              <a:rPr lang="en-US" altLang="zh-CN" sz="2200" dirty="0">
                <a:ea typeface="华文行楷" pitchFamily="2" charset="-122"/>
              </a:rPr>
              <a:t>S→BB</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2</a:t>
            </a:r>
            <a:r>
              <a:rPr lang="zh-CN" altLang="en-US" sz="2200" dirty="0">
                <a:ea typeface="华文行楷" pitchFamily="2" charset="-122"/>
              </a:rPr>
              <a:t>）</a:t>
            </a:r>
            <a:r>
              <a:rPr lang="en-US" altLang="zh-CN" sz="2200" dirty="0" err="1">
                <a:ea typeface="华文行楷" pitchFamily="2" charset="-122"/>
              </a:rPr>
              <a:t>B→bB</a:t>
            </a:r>
            <a:endParaRPr lang="en-US" altLang="zh-CN" sz="2200" dirty="0">
              <a:ea typeface="华文行楷" pitchFamily="2" charset="-122"/>
            </a:endParaRP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3</a:t>
            </a:r>
            <a:r>
              <a:rPr lang="zh-CN" altLang="en-US" sz="2200" dirty="0">
                <a:ea typeface="华文行楷" pitchFamily="2" charset="-122"/>
              </a:rPr>
              <a:t>）</a:t>
            </a:r>
            <a:r>
              <a:rPr lang="en-US" altLang="zh-CN" sz="2200" dirty="0" err="1">
                <a:ea typeface="华文行楷" pitchFamily="2" charset="-122"/>
              </a:rPr>
              <a:t>B→a</a:t>
            </a:r>
            <a:r>
              <a:rPr lang="en-US" altLang="zh-CN" sz="2200" dirty="0">
                <a:ea typeface="华文行楷" pitchFamily="2" charset="-122"/>
              </a:rPr>
              <a:t> </a:t>
            </a:r>
          </a:p>
        </p:txBody>
      </p:sp>
      <p:graphicFrame>
        <p:nvGraphicFramePr>
          <p:cNvPr id="4" name="对象 3">
            <a:extLst>
              <a:ext uri="{FF2B5EF4-FFF2-40B4-BE49-F238E27FC236}">
                <a16:creationId xmlns:a16="http://schemas.microsoft.com/office/drawing/2014/main" id="{570DF0F4-DBC0-8CDE-2777-8DBFE6A795FF}"/>
              </a:ext>
            </a:extLst>
          </p:cNvPr>
          <p:cNvGraphicFramePr>
            <a:graphicFrameLocks noChangeAspect="1"/>
          </p:cNvGraphicFramePr>
          <p:nvPr>
            <p:extLst>
              <p:ext uri="{D42A27DB-BD31-4B8C-83A1-F6EECF244321}">
                <p14:modId xmlns:p14="http://schemas.microsoft.com/office/powerpoint/2010/main" val="1783042244"/>
              </p:ext>
            </p:extLst>
          </p:nvPr>
        </p:nvGraphicFramePr>
        <p:xfrm>
          <a:off x="1661601" y="0"/>
          <a:ext cx="7482399" cy="3283704"/>
        </p:xfrm>
        <a:graphic>
          <a:graphicData uri="http://schemas.openxmlformats.org/presentationml/2006/ole">
            <mc:AlternateContent xmlns:mc="http://schemas.openxmlformats.org/markup-compatibility/2006">
              <mc:Choice xmlns:v="urn:schemas-microsoft-com:vml" Requires="v">
                <p:oleObj spid="_x0000_s59399" name="Visio" r:id="rId4" imgW="4400426" imgH="1924039" progId="Visio.Drawing.11">
                  <p:embed/>
                </p:oleObj>
              </mc:Choice>
              <mc:Fallback>
                <p:oleObj name="Visio" r:id="rId4" imgW="4400426" imgH="1924039" progId="Visio.Drawing.11">
                  <p:embed/>
                  <p:pic>
                    <p:nvPicPr>
                      <p:cNvPr id="0"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61601" y="0"/>
                        <a:ext cx="7482399" cy="3283704"/>
                      </a:xfrm>
                      <a:prstGeom prst="rect">
                        <a:avLst/>
                      </a:prstGeom>
                      <a:noFill/>
                    </p:spPr>
                  </p:pic>
                </p:oleObj>
              </mc:Fallback>
            </mc:AlternateContent>
          </a:graphicData>
        </a:graphic>
      </p:graphicFrame>
    </p:spTree>
    <p:extLst>
      <p:ext uri="{BB962C8B-B14F-4D97-AF65-F5344CB8AC3E}">
        <p14:creationId xmlns:p14="http://schemas.microsoft.com/office/powerpoint/2010/main" val="67154221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1" name="Rectangle 3"/>
          <p:cNvSpPr>
            <a:spLocks noGrp="1" noChangeArrowheads="1"/>
          </p:cNvSpPr>
          <p:nvPr>
            <p:ph type="body" idx="1"/>
          </p:nvPr>
        </p:nvSpPr>
        <p:spPr>
          <a:xfrm>
            <a:off x="0" y="3003798"/>
            <a:ext cx="3708856" cy="727202"/>
          </a:xfrm>
        </p:spPr>
        <p:txBody>
          <a:bodyPr>
            <a:noAutofit/>
          </a:bodyPr>
          <a:lstStyle/>
          <a:p>
            <a:pPr eaLnBrk="1" hangingPunct="1">
              <a:buFontTx/>
              <a:buNone/>
            </a:pPr>
            <a:r>
              <a:rPr lang="zh-CN" altLang="en-US" sz="2000" dirty="0"/>
              <a:t>合并同心集后</a:t>
            </a:r>
            <a:endParaRPr lang="en-US" altLang="zh-CN" sz="2000" dirty="0"/>
          </a:p>
          <a:p>
            <a:pPr eaLnBrk="1" hangingPunct="1">
              <a:buFontTx/>
              <a:buNone/>
            </a:pPr>
            <a:r>
              <a:rPr lang="zh-CN" altLang="en-US" sz="2000" dirty="0"/>
              <a:t>对应的</a:t>
            </a:r>
            <a:r>
              <a:rPr lang="en-US" altLang="zh-CN" sz="2000" dirty="0"/>
              <a:t>LALR(1)</a:t>
            </a:r>
            <a:r>
              <a:rPr lang="zh-CN" altLang="en-US" sz="2000" dirty="0"/>
              <a:t>项目集规范族</a:t>
            </a:r>
          </a:p>
        </p:txBody>
      </p:sp>
      <p:sp>
        <p:nvSpPr>
          <p:cNvPr id="247812" name="Text Box 4"/>
          <p:cNvSpPr txBox="1">
            <a:spLocks noChangeArrowheads="1"/>
          </p:cNvSpPr>
          <p:nvPr/>
        </p:nvSpPr>
        <p:spPr bwMode="auto">
          <a:xfrm>
            <a:off x="113052" y="971227"/>
            <a:ext cx="2420938"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2200" dirty="0">
                <a:ea typeface="华文行楷" pitchFamily="2" charset="-122"/>
              </a:rPr>
              <a:t>例：文法</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0</a:t>
            </a:r>
            <a:r>
              <a:rPr lang="zh-CN" altLang="en-US" sz="2200" dirty="0">
                <a:ea typeface="华文行楷" pitchFamily="2" charset="-122"/>
              </a:rPr>
              <a:t>）</a:t>
            </a:r>
            <a:r>
              <a:rPr lang="en-US" altLang="zh-CN" sz="2200" dirty="0">
                <a:ea typeface="华文行楷" pitchFamily="2" charset="-122"/>
              </a:rPr>
              <a:t>S'→S</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1</a:t>
            </a:r>
            <a:r>
              <a:rPr lang="zh-CN" altLang="en-US" sz="2200" dirty="0">
                <a:ea typeface="华文行楷" pitchFamily="2" charset="-122"/>
              </a:rPr>
              <a:t>）</a:t>
            </a:r>
            <a:r>
              <a:rPr lang="en-US" altLang="zh-CN" sz="2200" dirty="0">
                <a:ea typeface="华文行楷" pitchFamily="2" charset="-122"/>
              </a:rPr>
              <a:t>S→BB</a:t>
            </a: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2</a:t>
            </a:r>
            <a:r>
              <a:rPr lang="zh-CN" altLang="en-US" sz="2200" dirty="0">
                <a:ea typeface="华文行楷" pitchFamily="2" charset="-122"/>
              </a:rPr>
              <a:t>）</a:t>
            </a:r>
            <a:r>
              <a:rPr lang="en-US" altLang="zh-CN" sz="2200" dirty="0" err="1">
                <a:ea typeface="华文行楷" pitchFamily="2" charset="-122"/>
              </a:rPr>
              <a:t>B→bB</a:t>
            </a:r>
            <a:endParaRPr lang="en-US" altLang="zh-CN" sz="2200" dirty="0">
              <a:ea typeface="华文行楷" pitchFamily="2" charset="-122"/>
            </a:endParaRPr>
          </a:p>
          <a:p>
            <a:pPr eaLnBrk="1" hangingPunct="1">
              <a:spcBef>
                <a:spcPct val="0"/>
              </a:spcBef>
              <a:buFontTx/>
              <a:buNone/>
            </a:pPr>
            <a:r>
              <a:rPr lang="zh-CN" altLang="en-US" sz="2200" dirty="0">
                <a:ea typeface="华文行楷" pitchFamily="2" charset="-122"/>
              </a:rPr>
              <a:t>（</a:t>
            </a:r>
            <a:r>
              <a:rPr lang="en-US" altLang="zh-CN" sz="2200" dirty="0">
                <a:ea typeface="华文行楷" pitchFamily="2" charset="-122"/>
              </a:rPr>
              <a:t>3</a:t>
            </a:r>
            <a:r>
              <a:rPr lang="zh-CN" altLang="en-US" sz="2200" dirty="0">
                <a:ea typeface="华文行楷" pitchFamily="2" charset="-122"/>
              </a:rPr>
              <a:t>）</a:t>
            </a:r>
            <a:r>
              <a:rPr lang="en-US" altLang="zh-CN" sz="2200" dirty="0" err="1">
                <a:ea typeface="华文行楷" pitchFamily="2" charset="-122"/>
              </a:rPr>
              <a:t>B→a</a:t>
            </a:r>
            <a:r>
              <a:rPr lang="en-US" altLang="zh-CN" sz="2200" dirty="0">
                <a:ea typeface="华文行楷" pitchFamily="2" charset="-122"/>
              </a:rPr>
              <a:t> </a:t>
            </a:r>
          </a:p>
        </p:txBody>
      </p:sp>
      <p:graphicFrame>
        <p:nvGraphicFramePr>
          <p:cNvPr id="4" name="对象 3">
            <a:extLst>
              <a:ext uri="{FF2B5EF4-FFF2-40B4-BE49-F238E27FC236}">
                <a16:creationId xmlns:a16="http://schemas.microsoft.com/office/drawing/2014/main" id="{F264FD37-413C-9C9A-C1B8-7697E9953498}"/>
              </a:ext>
            </a:extLst>
          </p:cNvPr>
          <p:cNvGraphicFramePr>
            <a:graphicFrameLocks noChangeAspect="1"/>
          </p:cNvGraphicFramePr>
          <p:nvPr>
            <p:extLst>
              <p:ext uri="{D42A27DB-BD31-4B8C-83A1-F6EECF244321}">
                <p14:modId xmlns:p14="http://schemas.microsoft.com/office/powerpoint/2010/main" val="1639060558"/>
              </p:ext>
            </p:extLst>
          </p:nvPr>
        </p:nvGraphicFramePr>
        <p:xfrm>
          <a:off x="3491880" y="10769"/>
          <a:ext cx="5204260" cy="2803362"/>
        </p:xfrm>
        <a:graphic>
          <a:graphicData uri="http://schemas.openxmlformats.org/presentationml/2006/ole">
            <mc:AlternateContent xmlns:mc="http://schemas.openxmlformats.org/markup-compatibility/2006">
              <mc:Choice xmlns:v="urn:schemas-microsoft-com:vml" Requires="v">
                <p:oleObj spid="_x0000_s60423" name="Visio" r:id="rId4" imgW="3562264" imgH="1924039" progId="Visio.Drawing.15">
                  <p:embed/>
                </p:oleObj>
              </mc:Choice>
              <mc:Fallback>
                <p:oleObj name="Visio" r:id="rId4" imgW="3562264" imgH="1924039" progId="Visio.Drawing.15">
                  <p:embed/>
                  <p:pic>
                    <p:nvPicPr>
                      <p:cNvPr id="4" name="对象 3">
                        <a:extLst>
                          <a:ext uri="{FF2B5EF4-FFF2-40B4-BE49-F238E27FC236}">
                            <a16:creationId xmlns:a16="http://schemas.microsoft.com/office/drawing/2014/main" id="{F264FD37-413C-9C9A-C1B8-7697E995349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91880" y="10769"/>
                        <a:ext cx="5204260" cy="2803362"/>
                      </a:xfrm>
                      <a:prstGeom prst="rect">
                        <a:avLst/>
                      </a:prstGeom>
                      <a:noFill/>
                    </p:spPr>
                  </p:pic>
                </p:oleObj>
              </mc:Fallback>
            </mc:AlternateContent>
          </a:graphicData>
        </a:graphic>
      </p:graphicFrame>
      <p:graphicFrame>
        <p:nvGraphicFramePr>
          <p:cNvPr id="2" name="表格 1">
            <a:extLst>
              <a:ext uri="{FF2B5EF4-FFF2-40B4-BE49-F238E27FC236}">
                <a16:creationId xmlns:a16="http://schemas.microsoft.com/office/drawing/2014/main" id="{21C4EFC0-FAF7-EF66-25F7-CE85603C49D0}"/>
              </a:ext>
            </a:extLst>
          </p:cNvPr>
          <p:cNvGraphicFramePr>
            <a:graphicFrameLocks noGrp="1"/>
          </p:cNvGraphicFramePr>
          <p:nvPr>
            <p:extLst>
              <p:ext uri="{D42A27DB-BD31-4B8C-83A1-F6EECF244321}">
                <p14:modId xmlns:p14="http://schemas.microsoft.com/office/powerpoint/2010/main" val="2628471161"/>
              </p:ext>
            </p:extLst>
          </p:nvPr>
        </p:nvGraphicFramePr>
        <p:xfrm>
          <a:off x="4067944" y="2788701"/>
          <a:ext cx="4464498" cy="2271573"/>
        </p:xfrm>
        <a:graphic>
          <a:graphicData uri="http://schemas.openxmlformats.org/drawingml/2006/table">
            <a:tbl>
              <a:tblPr>
                <a:tableStyleId>{5C22544A-7EE6-4342-B048-85BDC9FD1C3A}</a:tableStyleId>
              </a:tblPr>
              <a:tblGrid>
                <a:gridCol w="762910">
                  <a:extLst>
                    <a:ext uri="{9D8B030D-6E8A-4147-A177-3AD203B41FA5}">
                      <a16:colId xmlns:a16="http://schemas.microsoft.com/office/drawing/2014/main" val="655800608"/>
                    </a:ext>
                  </a:extLst>
                </a:gridCol>
                <a:gridCol w="762910">
                  <a:extLst>
                    <a:ext uri="{9D8B030D-6E8A-4147-A177-3AD203B41FA5}">
                      <a16:colId xmlns:a16="http://schemas.microsoft.com/office/drawing/2014/main" val="1937670671"/>
                    </a:ext>
                  </a:extLst>
                </a:gridCol>
                <a:gridCol w="736716">
                  <a:extLst>
                    <a:ext uri="{9D8B030D-6E8A-4147-A177-3AD203B41FA5}">
                      <a16:colId xmlns:a16="http://schemas.microsoft.com/office/drawing/2014/main" val="852364448"/>
                    </a:ext>
                  </a:extLst>
                </a:gridCol>
                <a:gridCol w="728530">
                  <a:extLst>
                    <a:ext uri="{9D8B030D-6E8A-4147-A177-3AD203B41FA5}">
                      <a16:colId xmlns:a16="http://schemas.microsoft.com/office/drawing/2014/main" val="3644749158"/>
                    </a:ext>
                  </a:extLst>
                </a:gridCol>
                <a:gridCol w="736716">
                  <a:extLst>
                    <a:ext uri="{9D8B030D-6E8A-4147-A177-3AD203B41FA5}">
                      <a16:colId xmlns:a16="http://schemas.microsoft.com/office/drawing/2014/main" val="1776190"/>
                    </a:ext>
                  </a:extLst>
                </a:gridCol>
                <a:gridCol w="736716">
                  <a:extLst>
                    <a:ext uri="{9D8B030D-6E8A-4147-A177-3AD203B41FA5}">
                      <a16:colId xmlns:a16="http://schemas.microsoft.com/office/drawing/2014/main" val="2138810849"/>
                    </a:ext>
                  </a:extLst>
                </a:gridCol>
              </a:tblGrid>
              <a:tr h="252397">
                <a:tc rowSpan="2">
                  <a:txBody>
                    <a:bodyPr/>
                    <a:lstStyle/>
                    <a:p>
                      <a:pPr algn="ctr">
                        <a:lnSpc>
                          <a:spcPts val="1700"/>
                        </a:lnSpc>
                      </a:pPr>
                      <a:r>
                        <a:rPr lang="zh-CN" sz="1600" kern="100" dirty="0">
                          <a:effectLst/>
                        </a:rPr>
                        <a:t>状态</a:t>
                      </a:r>
                      <a:endParaRPr lang="zh-CN" sz="2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3">
                  <a:txBody>
                    <a:bodyPr/>
                    <a:lstStyle/>
                    <a:p>
                      <a:pPr algn="ctr">
                        <a:lnSpc>
                          <a:spcPts val="1700"/>
                        </a:lnSpc>
                      </a:pPr>
                      <a:r>
                        <a:rPr lang="fr-FR" sz="1600" kern="100">
                          <a:effectLst/>
                        </a:rPr>
                        <a:t>action</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ltLang="en-US"/>
                    </a:p>
                  </a:txBody>
                  <a:tcPr/>
                </a:tc>
                <a:tc hMerge="1">
                  <a:txBody>
                    <a:bodyPr/>
                    <a:lstStyle/>
                    <a:p>
                      <a:endParaRPr lang="zh-CN" altLang="en-US"/>
                    </a:p>
                  </a:txBody>
                  <a:tcPr/>
                </a:tc>
                <a:tc gridSpan="2">
                  <a:txBody>
                    <a:bodyPr/>
                    <a:lstStyle/>
                    <a:p>
                      <a:pPr algn="ctr">
                        <a:lnSpc>
                          <a:spcPts val="1700"/>
                        </a:lnSpc>
                      </a:pPr>
                      <a:r>
                        <a:rPr lang="fr-FR" sz="1600" kern="100">
                          <a:effectLst/>
                        </a:rPr>
                        <a:t>goto</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ltLang="en-US"/>
                    </a:p>
                  </a:txBody>
                  <a:tcPr/>
                </a:tc>
                <a:extLst>
                  <a:ext uri="{0D108BD9-81ED-4DB2-BD59-A6C34878D82A}">
                    <a16:rowId xmlns:a16="http://schemas.microsoft.com/office/drawing/2014/main" val="1308357764"/>
                  </a:ext>
                </a:extLst>
              </a:tr>
              <a:tr h="252397">
                <a:tc vMerge="1">
                  <a:txBody>
                    <a:bodyPr/>
                    <a:lstStyle/>
                    <a:p>
                      <a:endParaRPr lang="zh-CN" altLang="en-US"/>
                    </a:p>
                  </a:txBody>
                  <a:tcPr/>
                </a:tc>
                <a:tc>
                  <a:txBody>
                    <a:bodyPr/>
                    <a:lstStyle/>
                    <a:p>
                      <a:pPr algn="ctr">
                        <a:lnSpc>
                          <a:spcPts val="1700"/>
                        </a:lnSpc>
                      </a:pPr>
                      <a:r>
                        <a:rPr lang="fr-FR" sz="1600" kern="100" dirty="0">
                          <a:effectLst/>
                        </a:rPr>
                        <a:t>b</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a</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S</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B</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3899068"/>
                  </a:ext>
                </a:extLst>
              </a:tr>
              <a:tr h="252397">
                <a:tc>
                  <a:txBody>
                    <a:bodyPr/>
                    <a:lstStyle/>
                    <a:p>
                      <a:pPr algn="ctr">
                        <a:lnSpc>
                          <a:spcPts val="1700"/>
                        </a:lnSpc>
                      </a:pPr>
                      <a:r>
                        <a:rPr lang="fr-FR" sz="1600" kern="100">
                          <a:effectLst/>
                        </a:rPr>
                        <a:t>0</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dirty="0">
                          <a:effectLst/>
                        </a:rPr>
                        <a:t>S</a:t>
                      </a:r>
                      <a:r>
                        <a:rPr lang="fr-FR" sz="1600" kern="100" baseline="-25000" dirty="0">
                          <a:effectLst/>
                        </a:rPr>
                        <a:t>3,6</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dirty="0">
                          <a:effectLst/>
                        </a:rPr>
                        <a:t>S</a:t>
                      </a:r>
                      <a:r>
                        <a:rPr lang="fr-FR" sz="1600" kern="100" baseline="-25000" dirty="0">
                          <a:effectLst/>
                        </a:rPr>
                        <a:t>4,7</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1</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2</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67346319"/>
                  </a:ext>
                </a:extLst>
              </a:tr>
              <a:tr h="252397">
                <a:tc>
                  <a:txBody>
                    <a:bodyPr/>
                    <a:lstStyle/>
                    <a:p>
                      <a:pPr algn="ctr">
                        <a:lnSpc>
                          <a:spcPts val="1700"/>
                        </a:lnSpc>
                      </a:pPr>
                      <a:r>
                        <a:rPr lang="fr-FR" sz="1600" kern="100" dirty="0">
                          <a:effectLst/>
                        </a:rPr>
                        <a:t>1</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acc</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94535038"/>
                  </a:ext>
                </a:extLst>
              </a:tr>
              <a:tr h="252397">
                <a:tc>
                  <a:txBody>
                    <a:bodyPr/>
                    <a:lstStyle/>
                    <a:p>
                      <a:pPr algn="ctr">
                        <a:lnSpc>
                          <a:spcPts val="1700"/>
                        </a:lnSpc>
                      </a:pPr>
                      <a:r>
                        <a:rPr lang="fr-FR" sz="1600" kern="100">
                          <a:effectLst/>
                        </a:rPr>
                        <a:t>2</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dirty="0">
                          <a:effectLst/>
                        </a:rPr>
                        <a:t>S</a:t>
                      </a:r>
                      <a:r>
                        <a:rPr lang="fr-FR" sz="1600" kern="100" baseline="-25000" dirty="0">
                          <a:effectLst/>
                        </a:rPr>
                        <a:t>3,6</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dirty="0">
                          <a:effectLst/>
                        </a:rPr>
                        <a:t>S</a:t>
                      </a:r>
                      <a:r>
                        <a:rPr lang="fr-FR" sz="1600" kern="100" baseline="-25000" dirty="0">
                          <a:effectLst/>
                        </a:rPr>
                        <a:t>4,7</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5</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66942714"/>
                  </a:ext>
                </a:extLst>
              </a:tr>
              <a:tr h="252397">
                <a:tc>
                  <a:txBody>
                    <a:bodyPr/>
                    <a:lstStyle/>
                    <a:p>
                      <a:pPr algn="ctr">
                        <a:lnSpc>
                          <a:spcPts val="1700"/>
                        </a:lnSpc>
                      </a:pPr>
                      <a:r>
                        <a:rPr lang="fr-FR" sz="1600" kern="100">
                          <a:effectLst/>
                        </a:rPr>
                        <a:t>3,6</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S</a:t>
                      </a:r>
                      <a:r>
                        <a:rPr lang="fr-FR" sz="1600" kern="100" baseline="-25000">
                          <a:effectLst/>
                        </a:rPr>
                        <a:t>3,6</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S</a:t>
                      </a:r>
                      <a:r>
                        <a:rPr lang="fr-FR" sz="1600" kern="100" baseline="-25000">
                          <a:effectLst/>
                        </a:rPr>
                        <a:t>4,7</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8,9</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2729821"/>
                  </a:ext>
                </a:extLst>
              </a:tr>
              <a:tr h="252397">
                <a:tc>
                  <a:txBody>
                    <a:bodyPr/>
                    <a:lstStyle/>
                    <a:p>
                      <a:pPr algn="ctr">
                        <a:lnSpc>
                          <a:spcPts val="1700"/>
                        </a:lnSpc>
                      </a:pPr>
                      <a:r>
                        <a:rPr lang="fr-FR" sz="1600" kern="100">
                          <a:effectLst/>
                        </a:rPr>
                        <a:t>4,7</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3</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3</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3</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26434186"/>
                  </a:ext>
                </a:extLst>
              </a:tr>
              <a:tr h="252397">
                <a:tc>
                  <a:txBody>
                    <a:bodyPr/>
                    <a:lstStyle/>
                    <a:p>
                      <a:pPr algn="ctr">
                        <a:lnSpc>
                          <a:spcPts val="1700"/>
                        </a:lnSpc>
                      </a:pPr>
                      <a:r>
                        <a:rPr lang="fr-FR" sz="1600" kern="100">
                          <a:effectLst/>
                        </a:rPr>
                        <a:t>5</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1</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8501108"/>
                  </a:ext>
                </a:extLst>
              </a:tr>
              <a:tr h="252397">
                <a:tc>
                  <a:txBody>
                    <a:bodyPr/>
                    <a:lstStyle/>
                    <a:p>
                      <a:pPr algn="ctr">
                        <a:lnSpc>
                          <a:spcPts val="1700"/>
                        </a:lnSpc>
                      </a:pPr>
                      <a:r>
                        <a:rPr lang="fr-FR" sz="1600" kern="100">
                          <a:effectLst/>
                        </a:rPr>
                        <a:t>8,9</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2</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2</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fr-FR" sz="1600" kern="100">
                          <a:effectLst/>
                        </a:rPr>
                        <a:t>r</a:t>
                      </a:r>
                      <a:r>
                        <a:rPr lang="fr-FR" sz="1600" kern="100" baseline="-25000">
                          <a:effectLst/>
                        </a:rPr>
                        <a:t>2</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a:effectLst/>
                        </a:rPr>
                        <a:t> </a:t>
                      </a:r>
                      <a:endParaRPr lang="zh-CN" sz="2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1700"/>
                        </a:lnSpc>
                      </a:pPr>
                      <a:r>
                        <a:rPr lang="en-US" sz="1600" kern="100" dirty="0">
                          <a:effectLst/>
                        </a:rPr>
                        <a:t> </a:t>
                      </a:r>
                      <a:endParaRPr lang="zh-CN" sz="200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1151338"/>
                  </a:ext>
                </a:extLst>
              </a:tr>
            </a:tbl>
          </a:graphicData>
        </a:graphic>
      </p:graphicFrame>
      <p:sp>
        <p:nvSpPr>
          <p:cNvPr id="3" name="Rectangle 3">
            <a:extLst>
              <a:ext uri="{FF2B5EF4-FFF2-40B4-BE49-F238E27FC236}">
                <a16:creationId xmlns:a16="http://schemas.microsoft.com/office/drawing/2014/main" id="{4C45DB88-B1E2-5441-4717-B6080E97BEB7}"/>
              </a:ext>
            </a:extLst>
          </p:cNvPr>
          <p:cNvSpPr txBox="1">
            <a:spLocks noChangeArrowheads="1"/>
          </p:cNvSpPr>
          <p:nvPr/>
        </p:nvSpPr>
        <p:spPr>
          <a:xfrm>
            <a:off x="0" y="3934597"/>
            <a:ext cx="3708856" cy="419100"/>
          </a:xfrm>
          <a:prstGeom prst="rect">
            <a:avLst/>
          </a:prstGeom>
        </p:spPr>
        <p:txBody>
          <a:bodyPr vert="horz">
            <a:noAutofit/>
          </a:bodyPr>
          <a:lstStyle>
            <a:lvl1pPr marL="365760" indent="-256032" algn="l" rtl="0" eaLnBrk="1" latinLnBrk="0" hangingPunct="1">
              <a:spcBef>
                <a:spcPts val="400"/>
              </a:spcBef>
              <a:spcAft>
                <a:spcPts val="0"/>
              </a:spcAft>
              <a:buClr>
                <a:schemeClr val="accent1"/>
              </a:buClr>
              <a:buSzPct val="68000"/>
              <a:buFont typeface="Wingdings 3"/>
              <a:buChar char=""/>
              <a:defRPr kumimoji="0" sz="2700" kern="1200">
                <a:solidFill>
                  <a:schemeClr val="tx1"/>
                </a:solidFill>
                <a:latin typeface="+mn-lt"/>
                <a:ea typeface="+mn-ea"/>
                <a:cs typeface="+mn-cs"/>
              </a:defRPr>
            </a:lvl1pPr>
            <a:lvl2pPr marL="621792" indent="-228600" algn="l" rtl="0" eaLnBrk="1" latinLnBrk="0" hangingPunct="1">
              <a:spcBef>
                <a:spcPts val="324"/>
              </a:spcBef>
              <a:buClr>
                <a:schemeClr val="accent1"/>
              </a:buClr>
              <a:buFont typeface="Verdana"/>
              <a:buChar char="◦"/>
              <a:defRPr kumimoji="0" sz="2300" kern="1200">
                <a:solidFill>
                  <a:schemeClr val="tx1"/>
                </a:solidFill>
                <a:latin typeface="+mn-lt"/>
                <a:ea typeface="+mn-ea"/>
                <a:cs typeface="+mn-cs"/>
              </a:defRPr>
            </a:lvl2pPr>
            <a:lvl3pPr marL="859536" indent="-228600" algn="l" rtl="0" eaLnBrk="1" latinLnBrk="0" hangingPunct="1">
              <a:spcBef>
                <a:spcPts val="350"/>
              </a:spcBef>
              <a:buClr>
                <a:schemeClr val="accent2"/>
              </a:buClr>
              <a:buSzPct val="100000"/>
              <a:buFont typeface="Wingdings 2"/>
              <a:buChar char=""/>
              <a:defRPr kumimoji="0" sz="2100" kern="1200">
                <a:solidFill>
                  <a:schemeClr val="tx1"/>
                </a:solidFill>
                <a:latin typeface="+mn-lt"/>
                <a:ea typeface="+mn-ea"/>
                <a:cs typeface="+mn-cs"/>
              </a:defRPr>
            </a:lvl3pPr>
            <a:lvl4pPr marL="1143000" indent="-228600" algn="l" rtl="0" eaLnBrk="1" latinLnBrk="0" hangingPunct="1">
              <a:spcBef>
                <a:spcPts val="350"/>
              </a:spcBef>
              <a:buClr>
                <a:schemeClr val="accent2"/>
              </a:buClr>
              <a:buFont typeface="Wingdings 2"/>
              <a:buChar char=""/>
              <a:defRPr kumimoji="0" sz="1900" kern="1200">
                <a:solidFill>
                  <a:schemeClr val="tx1"/>
                </a:solidFill>
                <a:latin typeface="+mn-lt"/>
                <a:ea typeface="+mn-ea"/>
                <a:cs typeface="+mn-cs"/>
              </a:defRPr>
            </a:lvl4pPr>
            <a:lvl5pPr marL="1371600" indent="-228600" algn="l" rtl="0" eaLnBrk="1" latinLnBrk="0" hangingPunct="1">
              <a:spcBef>
                <a:spcPts val="350"/>
              </a:spcBef>
              <a:buClr>
                <a:schemeClr val="accent2"/>
              </a:buClr>
              <a:buFont typeface="Wingdings 2"/>
              <a:buChar char=""/>
              <a:defRPr kumimoji="0" sz="1800" kern="1200">
                <a:solidFill>
                  <a:schemeClr val="tx1"/>
                </a:solidFill>
                <a:latin typeface="+mn-lt"/>
                <a:ea typeface="+mn-ea"/>
                <a:cs typeface="+mn-cs"/>
              </a:defRPr>
            </a:lvl5pPr>
            <a:lvl6pPr marL="1600200" indent="-228600" algn="l" rtl="0" eaLnBrk="1" latinLnBrk="0" hangingPunct="1">
              <a:spcBef>
                <a:spcPts val="350"/>
              </a:spcBef>
              <a:buClr>
                <a:schemeClr val="accent3"/>
              </a:buClr>
              <a:buFont typeface="Wingdings 2"/>
              <a:buChar char=""/>
              <a:defRPr kumimoji="0" sz="1800" kern="1200">
                <a:solidFill>
                  <a:schemeClr val="tx1"/>
                </a:solidFill>
                <a:latin typeface="+mn-lt"/>
                <a:ea typeface="+mn-ea"/>
                <a:cs typeface="+mn-cs"/>
              </a:defRPr>
            </a:lvl6pPr>
            <a:lvl7pPr marL="18288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7pPr>
            <a:lvl8pPr marL="2057400" indent="-228600" algn="l" rtl="0" eaLnBrk="1" latinLnBrk="0" hangingPunct="1">
              <a:spcBef>
                <a:spcPts val="350"/>
              </a:spcBef>
              <a:buClr>
                <a:schemeClr val="accent3"/>
              </a:buClr>
              <a:buFont typeface="Wingdings 2"/>
              <a:buChar char=""/>
              <a:defRPr kumimoji="0" sz="1600" kern="1200">
                <a:solidFill>
                  <a:schemeClr val="tx1"/>
                </a:solidFill>
                <a:latin typeface="+mn-lt"/>
                <a:ea typeface="+mn-ea"/>
                <a:cs typeface="+mn-cs"/>
              </a:defRPr>
            </a:lvl8pPr>
            <a:lvl9pPr marL="2286000" indent="-228600" algn="l" rtl="0" eaLnBrk="1" latinLnBrk="0" hangingPunct="1">
              <a:spcBef>
                <a:spcPts val="350"/>
              </a:spcBef>
              <a:buClr>
                <a:schemeClr val="accent3"/>
              </a:buClr>
              <a:buFont typeface="Wingdings 2"/>
              <a:buChar char=""/>
              <a:defRPr kumimoji="0" sz="1600" kern="1200" baseline="0">
                <a:solidFill>
                  <a:schemeClr val="tx1"/>
                </a:solidFill>
                <a:latin typeface="+mn-lt"/>
                <a:ea typeface="+mn-ea"/>
                <a:cs typeface="+mn-cs"/>
              </a:defRPr>
            </a:lvl9pPr>
            <a:extLst/>
          </a:lstStyle>
          <a:p>
            <a:pPr>
              <a:buFontTx/>
              <a:buNone/>
            </a:pPr>
            <a:r>
              <a:rPr lang="zh-CN" altLang="en-US" sz="2000" dirty="0"/>
              <a:t>对应的</a:t>
            </a:r>
            <a:r>
              <a:rPr lang="en-US" altLang="zh-CN" sz="2000" dirty="0"/>
              <a:t>LALR(1)</a:t>
            </a:r>
            <a:r>
              <a:rPr lang="zh-CN" altLang="en-US" sz="2000" dirty="0"/>
              <a:t>分析表</a:t>
            </a:r>
          </a:p>
        </p:txBody>
      </p:sp>
    </p:spTree>
    <p:extLst>
      <p:ext uri="{BB962C8B-B14F-4D97-AF65-F5344CB8AC3E}">
        <p14:creationId xmlns:p14="http://schemas.microsoft.com/office/powerpoint/2010/main" val="547371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781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47811">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1" grpId="0" uiExpand="1" build="p"/>
      <p:bldP spid="3" grpId="0" build="p"/>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txBox="1">
            <a:spLocks noChangeArrowheads="1"/>
          </p:cNvSpPr>
          <p:nvPr/>
        </p:nvSpPr>
        <p:spPr bwMode="auto">
          <a:xfrm>
            <a:off x="114300" y="292100"/>
            <a:ext cx="8839200" cy="571500"/>
          </a:xfrm>
          <a:prstGeom prst="rect">
            <a:avLst/>
          </a:prstGeom>
          <a:noFill/>
          <a:ln w="9525">
            <a:noFill/>
            <a:miter lim="800000"/>
            <a:headEnd/>
            <a:tailEnd/>
          </a:ln>
          <a:effectLst/>
        </p:spPr>
        <p:txBody>
          <a:bodyPr anchor="b" anchorCtr="1"/>
          <a:lstStyle/>
          <a:p>
            <a:pPr algn="ctr" eaLnBrk="1" hangingPunct="1">
              <a:defRPr/>
            </a:pPr>
            <a:r>
              <a:rPr lang="en-US" altLang="zh-CN" sz="4400" b="1" kern="0"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cs typeface="+mj-cs"/>
              </a:rPr>
              <a:t>3.5 </a:t>
            </a:r>
            <a:r>
              <a:rPr lang="zh-CN" altLang="en-US" sz="4400" b="1" kern="0"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cs typeface="+mj-cs"/>
              </a:rPr>
              <a:t>语法分析器自动生成工具</a:t>
            </a:r>
            <a:r>
              <a:rPr lang="en-US" altLang="zh-CN" sz="4400" b="1" kern="0"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cs typeface="+mj-cs"/>
              </a:rPr>
              <a:t>YACC</a:t>
            </a:r>
            <a:endParaRPr lang="zh-CN" altLang="en-US" sz="4400" b="1" kern="0"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cs typeface="+mj-cs"/>
            </a:endParaRPr>
          </a:p>
        </p:txBody>
      </p:sp>
      <p:sp>
        <p:nvSpPr>
          <p:cNvPr id="250883" name="矩形 5"/>
          <p:cNvSpPr>
            <a:spLocks noChangeArrowheads="1"/>
          </p:cNvSpPr>
          <p:nvPr/>
        </p:nvSpPr>
        <p:spPr bwMode="auto">
          <a:xfrm>
            <a:off x="899592" y="891541"/>
            <a:ext cx="7696200"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68288" indent="-268288">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ts val="4000"/>
              </a:lnSpc>
              <a:spcBef>
                <a:spcPct val="0"/>
              </a:spcBef>
            </a:pPr>
            <a:r>
              <a:rPr lang="fr-FR" altLang="zh-CN" sz="2200" dirty="0">
                <a:solidFill>
                  <a:srgbClr val="000000"/>
                </a:solidFill>
                <a:latin typeface="Tahoma" pitchFamily="34" charset="0"/>
              </a:rPr>
              <a:t>LR</a:t>
            </a:r>
            <a:r>
              <a:rPr lang="zh-CN" altLang="zh-CN" sz="2200" dirty="0">
                <a:solidFill>
                  <a:srgbClr val="000000"/>
                </a:solidFill>
                <a:latin typeface="Tahoma" pitchFamily="34" charset="0"/>
              </a:rPr>
              <a:t>分析方法的主要缺点是分析表很大，因此不宜手工构造分析器，必须求助于自动产生</a:t>
            </a:r>
            <a:r>
              <a:rPr lang="en-US" altLang="zh-CN" sz="2200" dirty="0">
                <a:solidFill>
                  <a:srgbClr val="000000"/>
                </a:solidFill>
                <a:latin typeface="Tahoma" pitchFamily="34" charset="0"/>
              </a:rPr>
              <a:t>LR</a:t>
            </a:r>
            <a:r>
              <a:rPr lang="zh-CN" altLang="zh-CN" sz="2200" dirty="0">
                <a:solidFill>
                  <a:srgbClr val="000000"/>
                </a:solidFill>
                <a:latin typeface="Tahoma" pitchFamily="34" charset="0"/>
              </a:rPr>
              <a:t>分析程序的生成器来辅助构造语法分析器</a:t>
            </a:r>
            <a:endParaRPr lang="en-US" altLang="zh-CN" sz="2200" dirty="0">
              <a:solidFill>
                <a:srgbClr val="000000"/>
              </a:solidFill>
              <a:latin typeface="Tahoma" pitchFamily="34" charset="0"/>
            </a:endParaRPr>
          </a:p>
          <a:p>
            <a:pPr eaLnBrk="1" hangingPunct="1">
              <a:lnSpc>
                <a:spcPts val="4000"/>
              </a:lnSpc>
              <a:spcBef>
                <a:spcPct val="0"/>
              </a:spcBef>
            </a:pPr>
            <a:r>
              <a:rPr lang="en-US" altLang="zh-CN" sz="2200" dirty="0">
                <a:solidFill>
                  <a:srgbClr val="000000"/>
                </a:solidFill>
                <a:latin typeface="Tahoma" pitchFamily="34" charset="0"/>
              </a:rPr>
              <a:t>YACC</a:t>
            </a:r>
            <a:r>
              <a:rPr lang="zh-CN" altLang="en-US" sz="2200" dirty="0">
                <a:solidFill>
                  <a:srgbClr val="000000"/>
                </a:solidFill>
                <a:latin typeface="Tahoma" pitchFamily="34" charset="0"/>
              </a:rPr>
              <a:t>基于</a:t>
            </a:r>
            <a:r>
              <a:rPr lang="en-US" altLang="zh-CN" sz="2200" dirty="0">
                <a:solidFill>
                  <a:srgbClr val="000000"/>
                </a:solidFill>
                <a:latin typeface="Tahoma" pitchFamily="34" charset="0"/>
              </a:rPr>
              <a:t>LALR(1)</a:t>
            </a:r>
            <a:r>
              <a:rPr lang="zh-CN" altLang="en-US" sz="2200" dirty="0">
                <a:solidFill>
                  <a:srgbClr val="000000"/>
                </a:solidFill>
                <a:latin typeface="Tahoma" pitchFamily="34" charset="0"/>
              </a:rPr>
              <a:t>语法分析方法</a:t>
            </a:r>
            <a:endParaRPr lang="en-US" altLang="zh-CN" sz="2200" dirty="0">
              <a:solidFill>
                <a:srgbClr val="000000"/>
              </a:solidFill>
              <a:latin typeface="Tahoma" pitchFamily="34" charset="0"/>
            </a:endParaRPr>
          </a:p>
          <a:p>
            <a:pPr eaLnBrk="1" hangingPunct="1">
              <a:lnSpc>
                <a:spcPts val="4000"/>
              </a:lnSpc>
              <a:spcBef>
                <a:spcPct val="0"/>
              </a:spcBef>
            </a:pPr>
            <a:r>
              <a:rPr lang="zh-CN" altLang="en-US" sz="2200" dirty="0">
                <a:solidFill>
                  <a:srgbClr val="000000"/>
                </a:solidFill>
                <a:latin typeface="Tahoma" pitchFamily="34" charset="0"/>
              </a:rPr>
              <a:t>学习使用</a:t>
            </a:r>
            <a:r>
              <a:rPr lang="en-US" altLang="zh-CN" sz="2200" dirty="0">
                <a:solidFill>
                  <a:srgbClr val="000000"/>
                </a:solidFill>
                <a:latin typeface="Tahoma" pitchFamily="34" charset="0"/>
              </a:rPr>
              <a:t>YACC</a:t>
            </a:r>
            <a:r>
              <a:rPr lang="zh-CN" altLang="en-US" sz="2200" dirty="0">
                <a:solidFill>
                  <a:srgbClr val="000000"/>
                </a:solidFill>
                <a:latin typeface="Tahoma" pitchFamily="34" charset="0"/>
              </a:rPr>
              <a:t>工具</a:t>
            </a:r>
            <a:endParaRPr lang="en-US" altLang="zh-CN" sz="2200" dirty="0">
              <a:solidFill>
                <a:srgbClr val="000000"/>
              </a:solidFill>
              <a:latin typeface="Tahoma" pitchFamily="34" charset="0"/>
            </a:endParaRPr>
          </a:p>
          <a:p>
            <a:pPr eaLnBrk="1" hangingPunct="1">
              <a:lnSpc>
                <a:spcPts val="4000"/>
              </a:lnSpc>
              <a:spcBef>
                <a:spcPct val="0"/>
              </a:spcBef>
            </a:pPr>
            <a:r>
              <a:rPr lang="zh-CN" altLang="en-US" sz="2200" dirty="0">
                <a:solidFill>
                  <a:srgbClr val="000000"/>
                </a:solidFill>
                <a:latin typeface="Tahoma" pitchFamily="34" charset="0"/>
              </a:rPr>
              <a:t>掌握语法分析的自动生成原理</a:t>
            </a:r>
          </a:p>
        </p:txBody>
      </p:sp>
    </p:spTree>
    <p:extLst>
      <p:ext uri="{BB962C8B-B14F-4D97-AF65-F5344CB8AC3E}">
        <p14:creationId xmlns:p14="http://schemas.microsoft.com/office/powerpoint/2010/main" val="1122832480"/>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19075"/>
            <a:ext cx="8229600" cy="466725"/>
          </a:xfrm>
        </p:spPr>
        <p:txBody>
          <a:bodyPr>
            <a:normAutofit fontScale="90000"/>
          </a:bodyPr>
          <a:lstStyle/>
          <a:p>
            <a:pPr eaLnBrk="1" hangingPunct="1">
              <a:defRPr/>
            </a:pPr>
            <a:r>
              <a:rPr lang="en-US" altLang="zh-CN" b="1"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rPr>
              <a:t>3.5.1 YACC</a:t>
            </a:r>
            <a:r>
              <a:rPr lang="zh-CN" altLang="en-US" b="1" dirty="0">
                <a:solidFill>
                  <a:srgbClr val="CC0099"/>
                </a:solidFill>
                <a:effectLst>
                  <a:outerShdw blurRad="38100" dist="38100" dir="2700000" algn="tl">
                    <a:srgbClr val="C0C0C0"/>
                  </a:outerShdw>
                </a:effectLst>
                <a:latin typeface="隶书" panose="02010509060101010101" pitchFamily="49" charset="-122"/>
                <a:ea typeface="隶书" panose="02010509060101010101" pitchFamily="49" charset="-122"/>
              </a:rPr>
              <a:t>概述</a:t>
            </a:r>
          </a:p>
        </p:txBody>
      </p:sp>
      <p:sp>
        <p:nvSpPr>
          <p:cNvPr id="251907" name="内容占位符 2"/>
          <p:cNvSpPr>
            <a:spLocks noGrp="1"/>
          </p:cNvSpPr>
          <p:nvPr>
            <p:ph idx="1"/>
          </p:nvPr>
        </p:nvSpPr>
        <p:spPr>
          <a:xfrm>
            <a:off x="457200" y="857250"/>
            <a:ext cx="8382000" cy="3010644"/>
          </a:xfrm>
          <a:solidFill>
            <a:schemeClr val="bg1"/>
          </a:solidFill>
        </p:spPr>
        <p:txBody>
          <a:bodyPr>
            <a:normAutofit/>
          </a:bodyPr>
          <a:lstStyle/>
          <a:p>
            <a:pPr eaLnBrk="1" hangingPunct="1"/>
            <a:r>
              <a:rPr lang="zh-CN" altLang="en-US" sz="2000" dirty="0"/>
              <a:t>是一个经典的生成语法分析器的工具，</a:t>
            </a:r>
            <a:r>
              <a:rPr lang="fr-FR" altLang="zh-CN" sz="2000" dirty="0"/>
              <a:t>70</a:t>
            </a:r>
            <a:r>
              <a:rPr lang="zh-CN" altLang="zh-CN" sz="2000" dirty="0"/>
              <a:t>年代初期由</a:t>
            </a:r>
            <a:r>
              <a:rPr lang="fr-FR" altLang="zh-CN" sz="2000" dirty="0"/>
              <a:t>Johnson</a:t>
            </a:r>
            <a:r>
              <a:rPr lang="zh-CN" altLang="zh-CN" sz="2000" dirty="0"/>
              <a:t>等人在美国</a:t>
            </a:r>
            <a:r>
              <a:rPr lang="fr-FR" altLang="zh-CN" sz="2000" dirty="0"/>
              <a:t>Bell</a:t>
            </a:r>
            <a:r>
              <a:rPr lang="zh-CN" altLang="zh-CN" sz="2000" dirty="0"/>
              <a:t>实验室研制开发</a:t>
            </a:r>
            <a:endParaRPr lang="en-US" altLang="zh-CN" sz="2000" dirty="0"/>
          </a:p>
          <a:p>
            <a:pPr eaLnBrk="1" hangingPunct="1"/>
            <a:r>
              <a:rPr lang="en-US" altLang="zh-CN" sz="2000" dirty="0" err="1"/>
              <a:t>yacc</a:t>
            </a:r>
            <a:r>
              <a:rPr lang="zh-CN" altLang="en-US" sz="2000" dirty="0"/>
              <a:t>生成的编译器主要是用</a:t>
            </a:r>
            <a:r>
              <a:rPr lang="en-US" altLang="zh-CN" sz="2000" dirty="0"/>
              <a:t>C</a:t>
            </a:r>
            <a:r>
              <a:rPr lang="zh-CN" altLang="en-US" sz="2000" dirty="0"/>
              <a:t>语言写成的语法解析器（</a:t>
            </a:r>
            <a:r>
              <a:rPr lang="en-US" altLang="zh-CN" sz="2000" dirty="0"/>
              <a:t>Parser</a:t>
            </a:r>
            <a:r>
              <a:rPr lang="zh-CN" altLang="en-US" sz="2000" dirty="0"/>
              <a:t>），需要与词法分析器</a:t>
            </a:r>
            <a:r>
              <a:rPr lang="en-US" altLang="zh-CN" sz="2000" dirty="0"/>
              <a:t>Lex</a:t>
            </a:r>
            <a:r>
              <a:rPr lang="zh-CN" altLang="en-US" sz="2000" dirty="0"/>
              <a:t>一起使用，再把两部份产生出来的</a:t>
            </a:r>
            <a:r>
              <a:rPr lang="en-US" altLang="zh-CN" sz="2000" dirty="0"/>
              <a:t>C</a:t>
            </a:r>
            <a:r>
              <a:rPr lang="zh-CN" altLang="en-US" sz="2000" dirty="0"/>
              <a:t>程序一并编译。</a:t>
            </a:r>
            <a:endParaRPr lang="en-US" altLang="zh-CN" sz="2000" dirty="0"/>
          </a:p>
          <a:p>
            <a:pPr eaLnBrk="1" hangingPunct="1"/>
            <a:r>
              <a:rPr lang="en-US" altLang="zh-CN" sz="2000" dirty="0" err="1"/>
              <a:t>yacc</a:t>
            </a:r>
            <a:r>
              <a:rPr lang="zh-CN" altLang="en-US" sz="2000" dirty="0"/>
              <a:t>本来只在</a:t>
            </a:r>
            <a:r>
              <a:rPr lang="en-US" altLang="zh-CN" sz="2000" dirty="0"/>
              <a:t>Unix</a:t>
            </a:r>
            <a:r>
              <a:rPr lang="zh-CN" altLang="en-US" sz="2000" dirty="0"/>
              <a:t>系统上才有，</a:t>
            </a:r>
            <a:r>
              <a:rPr lang="en-US" altLang="zh-CN" sz="2000" dirty="0"/>
              <a:t>GNU </a:t>
            </a:r>
            <a:r>
              <a:rPr lang="zh-CN" altLang="en-US" sz="2000" dirty="0"/>
              <a:t>版叫做 </a:t>
            </a:r>
            <a:r>
              <a:rPr lang="en-US" altLang="zh-CN" sz="2000" dirty="0"/>
              <a:t>Bison</a:t>
            </a:r>
            <a:r>
              <a:rPr lang="zh-CN" altLang="en-US" sz="2000" dirty="0"/>
              <a:t>。现在已普遍移植到</a:t>
            </a:r>
            <a:r>
              <a:rPr lang="en-US" altLang="zh-CN" sz="2000" dirty="0"/>
              <a:t>Windows</a:t>
            </a:r>
            <a:r>
              <a:rPr lang="zh-CN" altLang="en-US" sz="2000" dirty="0"/>
              <a:t>及其他平台。</a:t>
            </a:r>
            <a:endParaRPr lang="en-US" altLang="zh-CN" sz="2000" dirty="0"/>
          </a:p>
          <a:p>
            <a:pPr eaLnBrk="1" hangingPunct="1"/>
            <a:r>
              <a:rPr lang="en-US" altLang="zh-CN" sz="2000" dirty="0" err="1"/>
              <a:t>yacc</a:t>
            </a:r>
            <a:r>
              <a:rPr lang="zh-CN" altLang="en-US" sz="2000" dirty="0"/>
              <a:t>的输入是</a:t>
            </a:r>
            <a:r>
              <a:rPr lang="zh-CN" altLang="zh-CN" sz="2000" dirty="0"/>
              <a:t>要编写语法分析器的语言的语法描述规格说明</a:t>
            </a:r>
            <a:r>
              <a:rPr lang="en-US" altLang="zh-CN" sz="2000" dirty="0"/>
              <a:t>(</a:t>
            </a:r>
            <a:r>
              <a:rPr lang="zh-CN" altLang="en-US" sz="2000" dirty="0"/>
              <a:t>语法规则，用巴科斯范式</a:t>
            </a:r>
            <a:r>
              <a:rPr lang="en-US" altLang="zh-CN" sz="2000" dirty="0"/>
              <a:t>(BNF)</a:t>
            </a:r>
            <a:r>
              <a:rPr lang="zh-CN" altLang="en-US" sz="2000" dirty="0"/>
              <a:t>表示</a:t>
            </a:r>
            <a:r>
              <a:rPr lang="en-US" altLang="zh-CN" sz="2000" dirty="0"/>
              <a:t>)</a:t>
            </a:r>
            <a:r>
              <a:rPr lang="zh-CN" altLang="en-US" sz="2000" dirty="0"/>
              <a:t> 以及符合语法规则时的处理代码，</a:t>
            </a:r>
            <a:r>
              <a:rPr lang="en-US" altLang="zh-CN" sz="2000" dirty="0" err="1"/>
              <a:t>Yacc</a:t>
            </a:r>
            <a:r>
              <a:rPr lang="zh-CN" altLang="en-US" sz="2000" dirty="0"/>
              <a:t>输出的是基于表驱动的语法分析器，包含输入的语法规则的处理代码部分。</a:t>
            </a:r>
          </a:p>
        </p:txBody>
      </p:sp>
      <p:sp>
        <p:nvSpPr>
          <p:cNvPr id="4" name="文本框 3">
            <a:extLst>
              <a:ext uri="{FF2B5EF4-FFF2-40B4-BE49-F238E27FC236}">
                <a16:creationId xmlns:a16="http://schemas.microsoft.com/office/drawing/2014/main" id="{8BC7CDD3-E008-5517-A7E3-DCD85A899B68}"/>
              </a:ext>
            </a:extLst>
          </p:cNvPr>
          <p:cNvSpPr txBox="1"/>
          <p:nvPr/>
        </p:nvSpPr>
        <p:spPr>
          <a:xfrm>
            <a:off x="2483768" y="3963084"/>
            <a:ext cx="5976664" cy="646331"/>
          </a:xfrm>
          <a:prstGeom prst="rect">
            <a:avLst/>
          </a:prstGeom>
          <a:noFill/>
        </p:spPr>
        <p:txBody>
          <a:bodyPr wrap="square">
            <a:spAutoFit/>
          </a:bodyPr>
          <a:lstStyle/>
          <a:p>
            <a:r>
              <a:rPr lang="en-US" altLang="zh-CN" b="0" i="0" u="none" strike="noStrike" dirty="0">
                <a:solidFill>
                  <a:srgbClr val="355F7C"/>
                </a:solidFill>
                <a:effectLst/>
                <a:latin typeface="Arial" panose="020B0604020202020204" pitchFamily="34" charset="0"/>
                <a:hlinkClick r:id="rId2"/>
              </a:rPr>
              <a:t>Bison</a:t>
            </a:r>
            <a:r>
              <a:rPr lang="zh-CN" altLang="en-US" b="0" i="0" u="none" strike="noStrike" dirty="0">
                <a:solidFill>
                  <a:srgbClr val="355F7C"/>
                </a:solidFill>
                <a:effectLst/>
                <a:latin typeface="Arial" panose="020B0604020202020204" pitchFamily="34" charset="0"/>
                <a:hlinkClick r:id="rId2"/>
              </a:rPr>
              <a:t>的下载地址：</a:t>
            </a:r>
            <a:endParaRPr lang="en-US" altLang="zh-CN" b="0" i="0" u="none" strike="noStrike">
              <a:solidFill>
                <a:srgbClr val="355F7C"/>
              </a:solidFill>
              <a:effectLst/>
              <a:latin typeface="Arial" panose="020B0604020202020204" pitchFamily="34" charset="0"/>
              <a:hlinkClick r:id="rId2"/>
            </a:endParaRPr>
          </a:p>
          <a:p>
            <a:r>
              <a:rPr lang="en-US" altLang="zh-CN" b="0" i="0" u="none" strike="noStrike">
                <a:solidFill>
                  <a:srgbClr val="355F7C"/>
                </a:solidFill>
                <a:effectLst/>
                <a:latin typeface="Arial" panose="020B0604020202020204" pitchFamily="34" charset="0"/>
                <a:hlinkClick r:id="rId2"/>
              </a:rPr>
              <a:t>http</a:t>
            </a:r>
            <a:r>
              <a:rPr lang="en-US" altLang="zh-CN" b="0" i="0" u="none" strike="noStrike" dirty="0">
                <a:solidFill>
                  <a:srgbClr val="355F7C"/>
                </a:solidFill>
                <a:effectLst/>
                <a:latin typeface="Arial" panose="020B0604020202020204" pitchFamily="34" charset="0"/>
                <a:hlinkClick r:id="rId2"/>
              </a:rPr>
              <a:t>://www.delorie.com/gnu/docs/bison/bison_toc.html</a:t>
            </a:r>
            <a:endParaRPr lang="zh-CN" altLang="en-US" dirty="0"/>
          </a:p>
        </p:txBody>
      </p:sp>
    </p:spTree>
    <p:extLst>
      <p:ext uri="{BB962C8B-B14F-4D97-AF65-F5344CB8AC3E}">
        <p14:creationId xmlns:p14="http://schemas.microsoft.com/office/powerpoint/2010/main" val="85448579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标题 1"/>
          <p:cNvSpPr>
            <a:spLocks noGrp="1"/>
          </p:cNvSpPr>
          <p:nvPr>
            <p:ph type="title"/>
          </p:nvPr>
        </p:nvSpPr>
        <p:spPr/>
        <p:txBody>
          <a:bodyPr>
            <a:normAutofit/>
          </a:bodyPr>
          <a:lstStyle/>
          <a:p>
            <a:endParaRPr lang="zh-CN" altLang="en-US"/>
          </a:p>
        </p:txBody>
      </p:sp>
      <p:graphicFrame>
        <p:nvGraphicFramePr>
          <p:cNvPr id="4" name="表格 3"/>
          <p:cNvGraphicFramePr>
            <a:graphicFrameLocks noGrp="1"/>
          </p:cNvGraphicFramePr>
          <p:nvPr/>
        </p:nvGraphicFramePr>
        <p:xfrm>
          <a:off x="1949450" y="3341688"/>
          <a:ext cx="5203825" cy="768586"/>
        </p:xfrm>
        <a:graphic>
          <a:graphicData uri="http://schemas.openxmlformats.org/drawingml/2006/table">
            <a:tbl>
              <a:tblPr/>
              <a:tblGrid>
                <a:gridCol w="5203825">
                  <a:extLst>
                    <a:ext uri="{9D8B030D-6E8A-4147-A177-3AD203B41FA5}">
                      <a16:colId xmlns:a16="http://schemas.microsoft.com/office/drawing/2014/main" val="20000"/>
                    </a:ext>
                  </a:extLst>
                </a:gridCol>
              </a:tblGrid>
              <a:tr h="539986">
                <a:tc>
                  <a:txBody>
                    <a:bodyPr/>
                    <a:lstStyle/>
                    <a:p>
                      <a:pPr algn="ctr">
                        <a:spcAft>
                          <a:spcPts val="0"/>
                        </a:spcAft>
                      </a:pPr>
                      <a:endParaRPr lang="en-US" sz="1500" kern="100" dirty="0">
                        <a:effectLst/>
                        <a:latin typeface="Times New Roman" panose="02020603050405020304" pitchFamily="18" charset="0"/>
                        <a:ea typeface="宋体" panose="02010600030101010101" pitchFamily="2" charset="-122"/>
                      </a:endParaRPr>
                    </a:p>
                  </a:txBody>
                  <a:tcPr marL="68593" marR="68593" marT="0" marB="0">
                    <a:lnL>
                      <a:noFill/>
                    </a:lnL>
                    <a:lnR>
                      <a:noFill/>
                    </a:lnR>
                    <a:lnT>
                      <a:noFill/>
                    </a:lnT>
                    <a:lnB>
                      <a:noFill/>
                    </a:lnB>
                  </a:tcPr>
                </a:tc>
                <a:extLst>
                  <a:ext uri="{0D108BD9-81ED-4DB2-BD59-A6C34878D82A}">
                    <a16:rowId xmlns:a16="http://schemas.microsoft.com/office/drawing/2014/main" val="10000"/>
                  </a:ext>
                </a:extLst>
              </a:tr>
              <a:tr h="228364">
                <a:tc>
                  <a:txBody>
                    <a:bodyPr/>
                    <a:lstStyle/>
                    <a:p>
                      <a:pPr marL="266700" algn="ctr">
                        <a:spcAft>
                          <a:spcPts val="600"/>
                        </a:spcAft>
                      </a:pPr>
                      <a:r>
                        <a:rPr lang="zh-CN" sz="1500" kern="100" dirty="0">
                          <a:effectLst/>
                          <a:latin typeface="Times New Roman" panose="02020603050405020304" pitchFamily="18" charset="0"/>
                          <a:ea typeface="宋体" panose="02010600030101010101" pitchFamily="2" charset="-122"/>
                        </a:rPr>
                        <a:t>用</a:t>
                      </a:r>
                      <a:r>
                        <a:rPr lang="en-US" sz="1500" kern="100" dirty="0">
                          <a:effectLst/>
                          <a:latin typeface="Times New Roman" panose="02020603050405020304" pitchFamily="18" charset="0"/>
                          <a:ea typeface="宋体" panose="02010600030101010101" pitchFamily="2" charset="-122"/>
                        </a:rPr>
                        <a:t>YACC</a:t>
                      </a:r>
                      <a:r>
                        <a:rPr lang="zh-CN" sz="1500" kern="100" dirty="0">
                          <a:effectLst/>
                          <a:latin typeface="Times New Roman" panose="02020603050405020304" pitchFamily="18" charset="0"/>
                          <a:ea typeface="宋体" panose="02010600030101010101" pitchFamily="2" charset="-122"/>
                        </a:rPr>
                        <a:t>建立翻译器的过程</a:t>
                      </a:r>
                    </a:p>
                  </a:txBody>
                  <a:tcPr marL="68593" marR="68593" marT="0" marB="0">
                    <a:lnL>
                      <a:noFill/>
                    </a:lnL>
                    <a:lnR>
                      <a:noFill/>
                    </a:lnR>
                    <a:lnT>
                      <a:noFill/>
                    </a:lnT>
                    <a:lnB>
                      <a:noFill/>
                    </a:lnB>
                  </a:tcPr>
                </a:tc>
                <a:extLst>
                  <a:ext uri="{0D108BD9-81ED-4DB2-BD59-A6C34878D82A}">
                    <a16:rowId xmlns:a16="http://schemas.microsoft.com/office/drawing/2014/main" val="10001"/>
                  </a:ext>
                </a:extLst>
              </a:tr>
            </a:tbl>
          </a:graphicData>
        </a:graphic>
      </p:graphicFrame>
      <p:graphicFrame>
        <p:nvGraphicFramePr>
          <p:cNvPr id="252934" name="对象 4"/>
          <p:cNvGraphicFramePr>
            <a:graphicFrameLocks noChangeAspect="1"/>
          </p:cNvGraphicFramePr>
          <p:nvPr>
            <p:extLst>
              <p:ext uri="{D42A27DB-BD31-4B8C-83A1-F6EECF244321}">
                <p14:modId xmlns:p14="http://schemas.microsoft.com/office/powerpoint/2010/main" val="2409803566"/>
              </p:ext>
            </p:extLst>
          </p:nvPr>
        </p:nvGraphicFramePr>
        <p:xfrm>
          <a:off x="1115616" y="1563638"/>
          <a:ext cx="6725121" cy="1984375"/>
        </p:xfrm>
        <a:graphic>
          <a:graphicData uri="http://schemas.openxmlformats.org/presentationml/2006/ole">
            <mc:AlternateContent xmlns:mc="http://schemas.openxmlformats.org/markup-compatibility/2006">
              <mc:Choice xmlns:v="urn:schemas-microsoft-com:vml" Requires="v">
                <p:oleObj spid="_x0000_s61447" r:id="rId3" imgW="3349774" imgH="1145157" progId="Visio.Drawing.11">
                  <p:embed/>
                </p:oleObj>
              </mc:Choice>
              <mc:Fallback>
                <p:oleObj r:id="rId3" imgW="3349774" imgH="1145157" progId="Visio.Drawing.11">
                  <p:embed/>
                  <p:pic>
                    <p:nvPicPr>
                      <p:cNvPr id="252934"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1563638"/>
                        <a:ext cx="6725121" cy="1984375"/>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572928564"/>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3"/>
          <p:cNvSpPr>
            <a:spLocks noGrp="1" noChangeArrowheads="1"/>
          </p:cNvSpPr>
          <p:nvPr>
            <p:ph type="body" idx="1"/>
          </p:nvPr>
        </p:nvSpPr>
        <p:spPr>
          <a:xfrm>
            <a:off x="457200" y="457200"/>
            <a:ext cx="8229600" cy="3886200"/>
          </a:xfrm>
        </p:spPr>
        <p:txBody>
          <a:bodyPr>
            <a:noAutofit/>
          </a:bodyPr>
          <a:lstStyle/>
          <a:p>
            <a:pPr eaLnBrk="1" hangingPunct="1"/>
            <a:r>
              <a:rPr lang="zh-CN" altLang="en-US" sz="2200" dirty="0"/>
              <a:t>语法</a:t>
            </a:r>
          </a:p>
          <a:p>
            <a:pPr lvl="1" eaLnBrk="1" hangingPunct="1"/>
            <a:r>
              <a:rPr lang="zh-CN" altLang="en-US" dirty="0">
                <a:latin typeface="Arial" pitchFamily="34" charset="0"/>
              </a:rPr>
              <a:t> </a:t>
            </a:r>
            <a:r>
              <a:rPr lang="en-US" altLang="zh-CN" dirty="0"/>
              <a:t>Lex</a:t>
            </a:r>
            <a:r>
              <a:rPr lang="en-US" altLang="zh-CN" dirty="0">
                <a:latin typeface="Arial" pitchFamily="34" charset="0"/>
              </a:rPr>
              <a:t> </a:t>
            </a:r>
            <a:r>
              <a:rPr lang="zh-CN" altLang="en-US" dirty="0"/>
              <a:t>从输入序列中识别记号（单词）。如果查看单词序列，可能想在这一序列出现时执行某一动作。这种情况下有效单词序列的规范称为语法。</a:t>
            </a:r>
            <a:r>
              <a:rPr lang="en-US" altLang="zh-CN" dirty="0" err="1"/>
              <a:t>Yacc</a:t>
            </a:r>
            <a:r>
              <a:rPr lang="en-US" altLang="zh-CN" dirty="0">
                <a:latin typeface="Arial" pitchFamily="34" charset="0"/>
              </a:rPr>
              <a:t> </a:t>
            </a:r>
            <a:r>
              <a:rPr lang="zh-CN" altLang="en-US" dirty="0"/>
              <a:t>语法文件包括这一语法规范，还包含单词序列匹配时想要做的事。 </a:t>
            </a:r>
            <a:endParaRPr lang="en-US" altLang="zh-CN" dirty="0"/>
          </a:p>
          <a:p>
            <a:pPr lvl="1" eaLnBrk="1" hangingPunct="1"/>
            <a:r>
              <a:rPr lang="zh-CN" altLang="en-US" dirty="0"/>
              <a:t>以英语为例，</a:t>
            </a:r>
            <a:r>
              <a:rPr lang="zh-CN" altLang="en-US" dirty="0">
                <a:latin typeface="Arial" pitchFamily="34" charset="0"/>
              </a:rPr>
              <a:t> 单词</a:t>
            </a:r>
            <a:r>
              <a:rPr lang="zh-CN" altLang="en-US" dirty="0"/>
              <a:t>可能是：名词</a:t>
            </a:r>
            <a:r>
              <a:rPr lang="en-US" altLang="zh-CN" dirty="0"/>
              <a:t>,</a:t>
            </a:r>
            <a:r>
              <a:rPr lang="en-US" altLang="zh-CN" dirty="0">
                <a:latin typeface="Arial" pitchFamily="34" charset="0"/>
              </a:rPr>
              <a:t> </a:t>
            </a:r>
            <a:r>
              <a:rPr lang="zh-CN" altLang="en-US" dirty="0"/>
              <a:t>动词</a:t>
            </a:r>
            <a:r>
              <a:rPr lang="en-US" altLang="zh-CN" dirty="0"/>
              <a:t>,</a:t>
            </a:r>
            <a:r>
              <a:rPr lang="en-US" altLang="zh-CN" dirty="0">
                <a:latin typeface="Arial" pitchFamily="34" charset="0"/>
              </a:rPr>
              <a:t> </a:t>
            </a:r>
            <a:r>
              <a:rPr lang="zh-CN" altLang="en-US" dirty="0"/>
              <a:t>形容词等。为了使用这些单词构造一个语法正确的句子，</a:t>
            </a:r>
            <a:r>
              <a:rPr lang="zh-CN" altLang="en-US" b="1" dirty="0">
                <a:solidFill>
                  <a:srgbClr val="FFC000"/>
                </a:solidFill>
              </a:rPr>
              <a:t>结构必须符合一定的规则。</a:t>
            </a:r>
            <a:r>
              <a:rPr lang="zh-CN" altLang="en-US" dirty="0"/>
              <a:t>一个简单的句子可能是名词</a:t>
            </a:r>
            <a:r>
              <a:rPr lang="en-US" altLang="zh-CN" dirty="0"/>
              <a:t>+</a:t>
            </a:r>
            <a:r>
              <a:rPr lang="zh-CN" altLang="en-US" dirty="0"/>
              <a:t>动词或者名词</a:t>
            </a:r>
            <a:r>
              <a:rPr lang="en-US" altLang="zh-CN" dirty="0"/>
              <a:t>+</a:t>
            </a:r>
            <a:r>
              <a:rPr lang="zh-CN" altLang="en-US" dirty="0"/>
              <a:t>动词</a:t>
            </a:r>
            <a:r>
              <a:rPr lang="en-US" altLang="zh-CN" dirty="0"/>
              <a:t>+</a:t>
            </a:r>
            <a:r>
              <a:rPr lang="zh-CN" altLang="en-US" dirty="0"/>
              <a:t>名词。</a:t>
            </a:r>
          </a:p>
          <a:p>
            <a:pPr lvl="1" eaLnBrk="1" hangingPunct="1"/>
            <a:r>
              <a:rPr lang="zh-CN" altLang="en-US" dirty="0"/>
              <a:t>单词本身来自</a:t>
            </a:r>
            <a:r>
              <a:rPr lang="en-US" altLang="zh-CN" dirty="0"/>
              <a:t>Lex</a:t>
            </a:r>
            <a:r>
              <a:rPr lang="zh-CN" altLang="en-US" dirty="0"/>
              <a:t>，单词序列的结构用</a:t>
            </a:r>
            <a:r>
              <a:rPr lang="zh-CN" altLang="en-US" dirty="0">
                <a:latin typeface="Arial" pitchFamily="34" charset="0"/>
              </a:rPr>
              <a:t> </a:t>
            </a:r>
            <a:r>
              <a:rPr lang="en-US" altLang="zh-CN" dirty="0" err="1"/>
              <a:t>Yacc</a:t>
            </a:r>
            <a:r>
              <a:rPr lang="en-US" altLang="zh-CN" dirty="0">
                <a:latin typeface="Arial" pitchFamily="34" charset="0"/>
              </a:rPr>
              <a:t> </a:t>
            </a:r>
            <a:r>
              <a:rPr lang="zh-CN" altLang="en-US" dirty="0"/>
              <a:t>来指定，称为语法。 </a:t>
            </a:r>
            <a:br>
              <a:rPr lang="zh-CN" altLang="en-US" dirty="0"/>
            </a:br>
            <a:endParaRPr lang="zh-CN" altLang="en-US" dirty="0"/>
          </a:p>
        </p:txBody>
      </p:sp>
    </p:spTree>
    <p:extLst>
      <p:ext uri="{BB962C8B-B14F-4D97-AF65-F5344CB8AC3E}">
        <p14:creationId xmlns:p14="http://schemas.microsoft.com/office/powerpoint/2010/main" val="50546580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内容占位符 2"/>
          <p:cNvSpPr>
            <a:spLocks noGrp="1"/>
          </p:cNvSpPr>
          <p:nvPr>
            <p:ph idx="1"/>
          </p:nvPr>
        </p:nvSpPr>
        <p:spPr>
          <a:xfrm>
            <a:off x="457200" y="0"/>
            <a:ext cx="8229600" cy="5143500"/>
          </a:xfrm>
        </p:spPr>
        <p:txBody>
          <a:bodyPr>
            <a:normAutofit fontScale="92500"/>
          </a:bodyPr>
          <a:lstStyle/>
          <a:p>
            <a:r>
              <a:rPr lang="zh-CN" altLang="en-US" sz="2400" dirty="0"/>
              <a:t>单词</a:t>
            </a:r>
            <a:r>
              <a:rPr lang="en-US" altLang="zh-CN" sz="2400" dirty="0"/>
              <a:t>(</a:t>
            </a:r>
            <a:r>
              <a:rPr lang="zh-CN" altLang="en-US" sz="2400" dirty="0"/>
              <a:t>终结符</a:t>
            </a:r>
            <a:r>
              <a:rPr lang="en-US" altLang="zh-CN" sz="2400" dirty="0"/>
              <a:t>)</a:t>
            </a:r>
          </a:p>
          <a:p>
            <a:pPr lvl="1"/>
            <a:r>
              <a:rPr lang="zh-CN" altLang="en-US" sz="2400" dirty="0"/>
              <a:t>在</a:t>
            </a:r>
            <a:r>
              <a:rPr lang="en-US" altLang="zh-CN" sz="2400" dirty="0"/>
              <a:t>YACC</a:t>
            </a:r>
            <a:r>
              <a:rPr lang="zh-CN" altLang="en-US" sz="2400" dirty="0"/>
              <a:t>源文件中，有两种方式表示单词：</a:t>
            </a:r>
            <a:endParaRPr lang="en-US" altLang="zh-CN" sz="2400" dirty="0"/>
          </a:p>
          <a:p>
            <a:pPr lvl="2"/>
            <a:r>
              <a:rPr lang="zh-CN" altLang="en-US" dirty="0"/>
              <a:t>通过</a:t>
            </a:r>
            <a:r>
              <a:rPr lang="en-US" altLang="zh-CN" dirty="0"/>
              <a:t>YACC</a:t>
            </a:r>
            <a:r>
              <a:rPr lang="zh-CN" altLang="en-US" dirty="0"/>
              <a:t>指令</a:t>
            </a:r>
            <a:r>
              <a:rPr lang="en-US" altLang="zh-CN" dirty="0"/>
              <a:t>%token</a:t>
            </a:r>
            <a:r>
              <a:rPr lang="zh-CN" altLang="en-US" dirty="0"/>
              <a:t>定义文法中出现的单词，称为有名单词，如</a:t>
            </a:r>
            <a:r>
              <a:rPr lang="en-US" altLang="zh-CN" dirty="0"/>
              <a:t>%token NUMBER</a:t>
            </a:r>
            <a:r>
              <a:rPr lang="zh-CN" altLang="en-US" dirty="0"/>
              <a:t>；</a:t>
            </a:r>
            <a:endParaRPr lang="en-US" altLang="zh-CN" dirty="0"/>
          </a:p>
          <a:p>
            <a:pPr lvl="2"/>
            <a:r>
              <a:rPr lang="zh-CN" altLang="en-US" dirty="0"/>
              <a:t>单个字符，称为字符单词，如单个字符’</a:t>
            </a:r>
            <a:r>
              <a:rPr lang="en-US" altLang="zh-CN" dirty="0"/>
              <a:t>+’</a:t>
            </a:r>
            <a:r>
              <a:rPr lang="zh-CN" altLang="en-US" dirty="0"/>
              <a:t>、’</a:t>
            </a:r>
            <a:r>
              <a:rPr lang="en-US" altLang="zh-CN" dirty="0"/>
              <a:t>-’,’a’,’4’,’!’</a:t>
            </a:r>
            <a:r>
              <a:rPr lang="zh-CN" altLang="en-US" dirty="0"/>
              <a:t>等，不需要在定义部分说明，可直接加单引使用，如同</a:t>
            </a:r>
            <a:r>
              <a:rPr lang="en-US" altLang="zh-CN" dirty="0"/>
              <a:t>C</a:t>
            </a:r>
            <a:r>
              <a:rPr lang="zh-CN" altLang="en-US" dirty="0"/>
              <a:t>语言的字符常量。</a:t>
            </a:r>
          </a:p>
          <a:p>
            <a:r>
              <a:rPr lang="zh-CN" altLang="en-US" sz="2400" dirty="0"/>
              <a:t>非终结符</a:t>
            </a:r>
            <a:endParaRPr lang="en-US" altLang="zh-CN" sz="2400" dirty="0"/>
          </a:p>
          <a:p>
            <a:pPr lvl="1"/>
            <a:r>
              <a:rPr lang="zh-CN" altLang="en-US" dirty="0"/>
              <a:t>一般为不加引号的标识符，习惯上用小写字母组成的字符串表示。如用</a:t>
            </a:r>
            <a:r>
              <a:rPr lang="en-US" altLang="zh-CN" dirty="0" err="1"/>
              <a:t>exp</a:t>
            </a:r>
            <a:r>
              <a:rPr lang="zh-CN" altLang="en-US" dirty="0"/>
              <a:t>表示用来表示表达式的非终结符</a:t>
            </a:r>
            <a:endParaRPr lang="en-US" altLang="zh-CN" dirty="0"/>
          </a:p>
          <a:p>
            <a:pPr lvl="1"/>
            <a:r>
              <a:rPr lang="en-US" altLang="zh-CN" dirty="0"/>
              <a:t>YACC</a:t>
            </a:r>
            <a:r>
              <a:rPr lang="zh-CN" altLang="en-US" dirty="0"/>
              <a:t>在对源文件进行编译时，将对所有的单词和非终结符进行编码，并用该编码建立分析表和语法分析器。单词的编码原则是：字符单词使用其对应的</a:t>
            </a:r>
            <a:r>
              <a:rPr lang="en-US" altLang="zh-CN" dirty="0"/>
              <a:t>ASCII</a:t>
            </a:r>
            <a:r>
              <a:rPr lang="zh-CN" altLang="en-US" dirty="0"/>
              <a:t>码，有名单词则由分析器进行编码。用户在对有名单词进行命名时，一定要注意不要和使用该单词名的</a:t>
            </a:r>
            <a:r>
              <a:rPr lang="en-US" altLang="zh-CN" dirty="0"/>
              <a:t>C</a:t>
            </a:r>
            <a:r>
              <a:rPr lang="zh-CN" altLang="en-US" dirty="0"/>
              <a:t>源程序中已有的宏名相同，否则在编译该</a:t>
            </a:r>
            <a:r>
              <a:rPr lang="en-US" altLang="zh-CN" dirty="0"/>
              <a:t>C</a:t>
            </a:r>
            <a:r>
              <a:rPr lang="zh-CN" altLang="en-US" dirty="0"/>
              <a:t>模块时是会产生宏定义冲突的。</a:t>
            </a:r>
          </a:p>
          <a:p>
            <a:endParaRPr lang="zh-CN" altLang="en-US" sz="2400" dirty="0"/>
          </a:p>
        </p:txBody>
      </p:sp>
    </p:spTree>
    <p:extLst>
      <p:ext uri="{BB962C8B-B14F-4D97-AF65-F5344CB8AC3E}">
        <p14:creationId xmlns:p14="http://schemas.microsoft.com/office/powerpoint/2010/main" val="363225124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标题 1"/>
          <p:cNvSpPr>
            <a:spLocks noGrp="1"/>
          </p:cNvSpPr>
          <p:nvPr>
            <p:ph type="title"/>
          </p:nvPr>
        </p:nvSpPr>
        <p:spPr>
          <a:xfrm>
            <a:off x="457200" y="114300"/>
            <a:ext cx="8229600" cy="457200"/>
          </a:xfrm>
        </p:spPr>
        <p:txBody>
          <a:bodyPr>
            <a:normAutofit fontScale="90000"/>
          </a:bodyPr>
          <a:lstStyle/>
          <a:p>
            <a:pPr eaLnBrk="1" hangingPunct="1"/>
            <a:r>
              <a:rPr lang="zh-CN" altLang="en-US"/>
              <a:t>语法分析工具介绍</a:t>
            </a:r>
          </a:p>
        </p:txBody>
      </p:sp>
      <p:sp>
        <p:nvSpPr>
          <p:cNvPr id="256003" name="内容占位符 2"/>
          <p:cNvSpPr>
            <a:spLocks noGrp="1"/>
          </p:cNvSpPr>
          <p:nvPr>
            <p:ph idx="1"/>
          </p:nvPr>
        </p:nvSpPr>
        <p:spPr>
          <a:xfrm>
            <a:off x="381000" y="571500"/>
            <a:ext cx="8153400" cy="4400550"/>
          </a:xfrm>
        </p:spPr>
        <p:txBody>
          <a:bodyPr>
            <a:normAutofit/>
          </a:bodyPr>
          <a:lstStyle/>
          <a:p>
            <a:pPr eaLnBrk="1" hangingPunct="1"/>
            <a:r>
              <a:rPr lang="en-US" altLang="zh-CN" sz="2000" dirty="0"/>
              <a:t>Bison</a:t>
            </a:r>
            <a:r>
              <a:rPr lang="zh-CN" altLang="en-US" sz="2000" dirty="0"/>
              <a:t> </a:t>
            </a:r>
            <a:r>
              <a:rPr lang="en-US" altLang="zh-CN" sz="2000" dirty="0"/>
              <a:t>——</a:t>
            </a:r>
            <a:r>
              <a:rPr lang="zh-CN" altLang="en-US" sz="2000" dirty="0"/>
              <a:t>是一个自由软件，可用于所有常见的操作系统。把</a:t>
            </a:r>
            <a:r>
              <a:rPr lang="en-US" altLang="zh-CN" sz="2000" dirty="0"/>
              <a:t>LALR</a:t>
            </a:r>
            <a:r>
              <a:rPr lang="zh-CN" altLang="en-US" sz="2000" dirty="0"/>
              <a:t>形式的上下文无关文法描述转换为可以分析该文法的</a:t>
            </a:r>
            <a:r>
              <a:rPr lang="en-US" altLang="zh-CN" sz="2000" dirty="0"/>
              <a:t>C</a:t>
            </a:r>
            <a:r>
              <a:rPr lang="zh-CN" altLang="en-US" sz="2000" dirty="0"/>
              <a:t>或</a:t>
            </a:r>
            <a:r>
              <a:rPr lang="en-US" altLang="zh-CN" sz="2000" dirty="0"/>
              <a:t>C++</a:t>
            </a:r>
            <a:r>
              <a:rPr lang="zh-CN" altLang="en-US" sz="2000" dirty="0"/>
              <a:t>程序。在新近版本中，增加了对</a:t>
            </a:r>
            <a:r>
              <a:rPr lang="en-US" altLang="zh-CN" sz="2000" dirty="0"/>
              <a:t>GLR</a:t>
            </a:r>
            <a:r>
              <a:rPr lang="zh-CN" altLang="en-US" sz="2000" dirty="0"/>
              <a:t>（通用</a:t>
            </a:r>
            <a:r>
              <a:rPr lang="en-US" altLang="zh-CN" sz="2000" dirty="0"/>
              <a:t>LR</a:t>
            </a:r>
            <a:r>
              <a:rPr lang="zh-CN" altLang="en-US" sz="2000" dirty="0"/>
              <a:t>”）语法分析算法的支持</a:t>
            </a:r>
            <a:endParaRPr lang="en-US" altLang="zh-CN" sz="2000" dirty="0"/>
          </a:p>
          <a:p>
            <a:pPr eaLnBrk="1" hangingPunct="1"/>
            <a:r>
              <a:rPr lang="en-US" altLang="zh-CN" sz="2000" dirty="0" err="1"/>
              <a:t>JavaCC</a:t>
            </a:r>
            <a:r>
              <a:rPr lang="en-US" altLang="zh-CN" sz="2000" dirty="0"/>
              <a:t>(Java Compiler Compiler) ——</a:t>
            </a:r>
            <a:r>
              <a:rPr lang="zh-CN" altLang="en-US" sz="2000" dirty="0"/>
              <a:t>是一个用</a:t>
            </a:r>
            <a:r>
              <a:rPr lang="en-US" altLang="zh-CN" sz="2000" dirty="0"/>
              <a:t>JAVA</a:t>
            </a:r>
            <a:r>
              <a:rPr lang="zh-CN" altLang="en-US" sz="2000" dirty="0"/>
              <a:t>开发的最受欢迎的语法分析生成器</a:t>
            </a:r>
            <a:endParaRPr lang="en-US" altLang="zh-CN" sz="2000" dirty="0"/>
          </a:p>
          <a:p>
            <a:pPr eaLnBrk="1" hangingPunct="1"/>
            <a:r>
              <a:rPr lang="en-US" altLang="zh-CN" sz="2000" dirty="0" err="1"/>
              <a:t>Jflex</a:t>
            </a:r>
            <a:r>
              <a:rPr lang="en-US" altLang="zh-CN" sz="2000" dirty="0"/>
              <a:t>——</a:t>
            </a:r>
            <a:r>
              <a:rPr lang="zh-CN" altLang="en-US" sz="2000" dirty="0"/>
              <a:t>是一个</a:t>
            </a:r>
            <a:r>
              <a:rPr lang="en-US" altLang="zh-CN" sz="2000" dirty="0"/>
              <a:t>Java</a:t>
            </a:r>
            <a:r>
              <a:rPr lang="zh-CN" altLang="en-US" sz="2000" dirty="0"/>
              <a:t>的词法</a:t>
            </a:r>
            <a:r>
              <a:rPr lang="en-US" altLang="zh-CN" sz="2000" dirty="0"/>
              <a:t>/</a:t>
            </a:r>
            <a:r>
              <a:rPr lang="zh-CN" altLang="en-US" sz="2000" dirty="0"/>
              <a:t>语法分析生成器</a:t>
            </a:r>
            <a:endParaRPr lang="en-US" altLang="zh-CN" sz="2000" dirty="0"/>
          </a:p>
          <a:p>
            <a:pPr eaLnBrk="1" hangingPunct="1"/>
            <a:r>
              <a:rPr lang="en-US" altLang="zh-CN" sz="2000" dirty="0" err="1"/>
              <a:t>Jison</a:t>
            </a:r>
            <a:r>
              <a:rPr lang="zh-CN" altLang="en-US" sz="2000" dirty="0"/>
              <a:t> </a:t>
            </a:r>
            <a:r>
              <a:rPr lang="en-US" altLang="zh-CN" sz="2000" dirty="0"/>
              <a:t>——JavaScript</a:t>
            </a:r>
            <a:r>
              <a:rPr lang="zh-CN" altLang="en-US" sz="2000" dirty="0"/>
              <a:t>解析器。</a:t>
            </a:r>
            <a:r>
              <a:rPr lang="en-US" altLang="zh-CN" sz="2000" dirty="0" err="1"/>
              <a:t>Jison</a:t>
            </a:r>
            <a:r>
              <a:rPr lang="en-US" altLang="zh-CN" sz="2000" dirty="0"/>
              <a:t> </a:t>
            </a:r>
            <a:r>
              <a:rPr lang="zh-CN" altLang="en-US" sz="2000" dirty="0"/>
              <a:t>将一个上下文无关语法作为输入，输出对应的</a:t>
            </a:r>
            <a:r>
              <a:rPr lang="en-US" altLang="zh-CN" sz="2000" dirty="0"/>
              <a:t>JavaScript</a:t>
            </a:r>
            <a:r>
              <a:rPr lang="zh-CN" altLang="en-US" sz="2000" dirty="0"/>
              <a:t>代码，类似</a:t>
            </a:r>
            <a:r>
              <a:rPr lang="en-US" altLang="zh-CN" sz="2000" dirty="0" err="1"/>
              <a:t>Yacc</a:t>
            </a:r>
            <a:endParaRPr lang="en-US" altLang="zh-CN" sz="2000" dirty="0"/>
          </a:p>
          <a:p>
            <a:r>
              <a:rPr lang="en-US" altLang="zh-CN" sz="2000" dirty="0" err="1"/>
              <a:t>Grammatica</a:t>
            </a:r>
            <a:r>
              <a:rPr lang="en-US" altLang="zh-CN" sz="2000" dirty="0"/>
              <a:t>——C#</a:t>
            </a:r>
            <a:r>
              <a:rPr lang="zh-CN" altLang="en-US" sz="2000" dirty="0"/>
              <a:t>和</a:t>
            </a:r>
            <a:r>
              <a:rPr lang="en-US" altLang="zh-CN" sz="2000" dirty="0"/>
              <a:t>Java</a:t>
            </a:r>
            <a:r>
              <a:rPr lang="zh-CN" altLang="en-US" sz="2000" dirty="0"/>
              <a:t>的语法剖析器生成器。相对于其它一些类似的工具如</a:t>
            </a:r>
            <a:r>
              <a:rPr lang="en-US" altLang="zh-CN" sz="2000" dirty="0" err="1"/>
              <a:t>yacc</a:t>
            </a:r>
            <a:r>
              <a:rPr lang="zh-CN" altLang="en-US" sz="2000" dirty="0"/>
              <a:t>和</a:t>
            </a:r>
            <a:r>
              <a:rPr lang="en-US" altLang="zh-CN" sz="2000" dirty="0"/>
              <a:t>ANTLR</a:t>
            </a:r>
            <a:r>
              <a:rPr lang="zh-CN" altLang="en-US" sz="2000" dirty="0"/>
              <a:t>有了更好的改进：创建了更好的注释和易读的源代码</a:t>
            </a:r>
            <a:r>
              <a:rPr lang="en-US" altLang="zh-CN" sz="2000" dirty="0"/>
              <a:t>/</a:t>
            </a:r>
            <a:r>
              <a:rPr lang="zh-CN" altLang="en-US" sz="2000" dirty="0"/>
              <a:t>拥有错误自动恢复并能够详述错误信息</a:t>
            </a:r>
            <a:r>
              <a:rPr lang="en-US" altLang="zh-CN" sz="2000" dirty="0"/>
              <a:t>/</a:t>
            </a:r>
            <a:r>
              <a:rPr lang="zh-CN" altLang="en-US" sz="2000" dirty="0"/>
              <a:t>支持语法、词法测试与调试</a:t>
            </a:r>
            <a:r>
              <a:rPr lang="en-US" altLang="zh-CN" sz="2000" dirty="0"/>
              <a:t>. </a:t>
            </a:r>
          </a:p>
          <a:p>
            <a:pPr eaLnBrk="1" hangingPunct="1"/>
            <a:endParaRPr lang="zh-CN" altLang="en-US" sz="2000" dirty="0"/>
          </a:p>
        </p:txBody>
      </p:sp>
    </p:spTree>
    <p:extLst>
      <p:ext uri="{BB962C8B-B14F-4D97-AF65-F5344CB8AC3E}">
        <p14:creationId xmlns:p14="http://schemas.microsoft.com/office/powerpoint/2010/main" val="3350392882"/>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标题 1"/>
          <p:cNvSpPr>
            <a:spLocks noGrp="1"/>
          </p:cNvSpPr>
          <p:nvPr>
            <p:ph type="title"/>
          </p:nvPr>
        </p:nvSpPr>
        <p:spPr>
          <a:xfrm>
            <a:off x="457200" y="219075"/>
            <a:ext cx="8229600" cy="352425"/>
          </a:xfrm>
        </p:spPr>
        <p:txBody>
          <a:bodyPr>
            <a:normAutofit fontScale="90000"/>
          </a:bodyPr>
          <a:lstStyle/>
          <a:p>
            <a:r>
              <a:rPr lang="zh-CN" altLang="en-US"/>
              <a:t>语法分析工具介绍</a:t>
            </a:r>
          </a:p>
        </p:txBody>
      </p:sp>
      <p:sp>
        <p:nvSpPr>
          <p:cNvPr id="257027" name="内容占位符 2"/>
          <p:cNvSpPr>
            <a:spLocks noGrp="1"/>
          </p:cNvSpPr>
          <p:nvPr>
            <p:ph idx="1"/>
          </p:nvPr>
        </p:nvSpPr>
        <p:spPr>
          <a:xfrm>
            <a:off x="533400" y="742950"/>
            <a:ext cx="8229600" cy="4171950"/>
          </a:xfrm>
        </p:spPr>
        <p:txBody>
          <a:bodyPr>
            <a:normAutofit/>
          </a:bodyPr>
          <a:lstStyle/>
          <a:p>
            <a:pPr eaLnBrk="1" hangingPunct="1"/>
            <a:r>
              <a:rPr lang="en-US" altLang="zh-CN" sz="2000" dirty="0"/>
              <a:t>Chrysanthemum (</a:t>
            </a:r>
            <a:r>
              <a:rPr lang="zh-CN" altLang="en-US" sz="2000" dirty="0"/>
              <a:t>菊花</a:t>
            </a:r>
            <a:r>
              <a:rPr lang="en-US" altLang="zh-CN" sz="2000" dirty="0"/>
              <a:t>)——</a:t>
            </a:r>
            <a:r>
              <a:rPr lang="zh-CN" altLang="en-US" sz="2000" dirty="0"/>
              <a:t>是一个由</a:t>
            </a:r>
            <a:r>
              <a:rPr lang="en-US" altLang="zh-CN" sz="2000" dirty="0"/>
              <a:t>C++</a:t>
            </a:r>
            <a:r>
              <a:rPr lang="zh-CN" altLang="en-US" sz="2000" dirty="0"/>
              <a:t>写成的小巧灵活、高度可伸缩、模块化、高性能的词法</a:t>
            </a:r>
            <a:r>
              <a:rPr lang="en-US" altLang="zh-CN" sz="2000" dirty="0"/>
              <a:t>/</a:t>
            </a:r>
            <a:r>
              <a:rPr lang="zh-CN" altLang="en-US" sz="2000" dirty="0"/>
              <a:t>语法分析框架。 是一个纯模板库，包含头文件即可使用，且无任何第三方依赖，利用</a:t>
            </a:r>
            <a:r>
              <a:rPr lang="en-US" altLang="zh-CN" sz="2000" dirty="0"/>
              <a:t>C++</a:t>
            </a:r>
            <a:r>
              <a:rPr lang="zh-CN" altLang="en-US" sz="2000" dirty="0"/>
              <a:t>的表达式模板，模板元编程等技术，使用一系列简介、小巧、灵活的核心类，自动推导并构建出任意复杂的文本解析对象，而且</a:t>
            </a:r>
            <a:r>
              <a:rPr lang="en-US" altLang="zh-CN" sz="2000" dirty="0"/>
              <a:t>chrysanthemum </a:t>
            </a:r>
            <a:r>
              <a:rPr lang="zh-CN" altLang="en-US" sz="2000" dirty="0"/>
              <a:t>允许灵活的嵌入</a:t>
            </a:r>
            <a:r>
              <a:rPr lang="en-US" altLang="zh-CN" sz="2000" dirty="0"/>
              <a:t>C++</a:t>
            </a:r>
            <a:r>
              <a:rPr lang="zh-CN" altLang="en-US" sz="2000" dirty="0"/>
              <a:t>函数对象作为语义动作，因此具有很好的灵活性和伸缩性。</a:t>
            </a:r>
            <a:endParaRPr lang="en-US" altLang="zh-CN" sz="2000" dirty="0"/>
          </a:p>
          <a:p>
            <a:pPr eaLnBrk="1" hangingPunct="1"/>
            <a:r>
              <a:rPr lang="en-US" altLang="zh-CN" sz="2000" dirty="0" err="1"/>
              <a:t>SableCC</a:t>
            </a:r>
            <a:r>
              <a:rPr lang="en-US" altLang="zh-CN" sz="2000" dirty="0"/>
              <a:t>——</a:t>
            </a:r>
            <a:r>
              <a:rPr lang="zh-CN" altLang="en-US" sz="2000" dirty="0"/>
              <a:t>是一个用来生成编译器和分析器的面向对象的框架。这个框架基于两个基本的设计决策：利用面向对象技术自动构建精确的典型的抽象语法树；使用经过扩展的</a:t>
            </a:r>
            <a:r>
              <a:rPr lang="en-US" altLang="zh-CN" sz="2000" dirty="0"/>
              <a:t>Visitor</a:t>
            </a:r>
            <a:r>
              <a:rPr lang="zh-CN" altLang="en-US" sz="2000" dirty="0"/>
              <a:t>访问者模式来生成</a:t>
            </a:r>
            <a:r>
              <a:rPr lang="en-US" altLang="zh-CN" sz="2000" dirty="0"/>
              <a:t>tree-walker</a:t>
            </a:r>
            <a:r>
              <a:rPr lang="zh-CN" altLang="en-US" sz="2000" dirty="0"/>
              <a:t>类。</a:t>
            </a:r>
            <a:endParaRPr lang="en-US" altLang="zh-CN" sz="2000" dirty="0"/>
          </a:p>
          <a:p>
            <a:pPr eaLnBrk="1" hangingPunct="1"/>
            <a:r>
              <a:rPr lang="zh-CN" altLang="en-US" sz="2000" dirty="0"/>
              <a:t>还有很多语法分析器生成工具，比如</a:t>
            </a:r>
            <a:r>
              <a:rPr lang="en-US" altLang="zh-CN" sz="2000" dirty="0"/>
              <a:t>GOLD</a:t>
            </a:r>
            <a:r>
              <a:rPr lang="zh-CN" altLang="en-US" sz="2000" dirty="0"/>
              <a:t>、</a:t>
            </a:r>
            <a:r>
              <a:rPr lang="en-US" altLang="zh-CN" sz="2000" dirty="0" err="1"/>
              <a:t>CoCo</a:t>
            </a:r>
            <a:r>
              <a:rPr lang="en-US" altLang="zh-CN" sz="2000" dirty="0"/>
              <a:t>/R</a:t>
            </a:r>
            <a:r>
              <a:rPr lang="zh-CN" altLang="en-US" sz="2000" dirty="0"/>
              <a:t>、</a:t>
            </a:r>
            <a:r>
              <a:rPr lang="en-US" altLang="zh-CN" sz="2000" dirty="0"/>
              <a:t>Beaver</a:t>
            </a:r>
            <a:r>
              <a:rPr lang="zh-CN" altLang="en-US" sz="2000" dirty="0"/>
              <a:t>、</a:t>
            </a:r>
            <a:r>
              <a:rPr lang="en-US" altLang="zh-CN" sz="2000" dirty="0" err="1"/>
              <a:t>JTopas</a:t>
            </a:r>
            <a:r>
              <a:rPr lang="zh-CN" altLang="en-US" sz="2000" dirty="0"/>
              <a:t>、</a:t>
            </a:r>
            <a:r>
              <a:rPr lang="en-US" altLang="zh-CN" sz="2000" dirty="0" err="1"/>
              <a:t>Runcc</a:t>
            </a:r>
            <a:r>
              <a:rPr lang="zh-CN" altLang="en-US" sz="2000" dirty="0"/>
              <a:t>、</a:t>
            </a:r>
            <a:r>
              <a:rPr lang="en-US" altLang="zh-CN" sz="2000" dirty="0"/>
              <a:t>CUP</a:t>
            </a:r>
            <a:r>
              <a:rPr lang="zh-CN" altLang="en-US" sz="2000" dirty="0"/>
              <a:t>、</a:t>
            </a:r>
            <a:r>
              <a:rPr lang="en-US" altLang="zh-CN" sz="2000" dirty="0"/>
              <a:t>SJPT</a:t>
            </a:r>
            <a:r>
              <a:rPr lang="zh-CN" altLang="en-US" sz="2000" dirty="0"/>
              <a:t>、</a:t>
            </a:r>
            <a:r>
              <a:rPr lang="en-US" altLang="zh-CN" sz="2000" dirty="0"/>
              <a:t>Chaperon</a:t>
            </a:r>
          </a:p>
          <a:p>
            <a:endParaRPr lang="zh-CN" altLang="en-US" sz="2000" dirty="0"/>
          </a:p>
        </p:txBody>
      </p:sp>
    </p:spTree>
    <p:extLst>
      <p:ext uri="{BB962C8B-B14F-4D97-AF65-F5344CB8AC3E}">
        <p14:creationId xmlns:p14="http://schemas.microsoft.com/office/powerpoint/2010/main" val="3391718995"/>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Grp="1" noChangeArrowheads="1"/>
          </p:cNvSpPr>
          <p:nvPr>
            <p:ph type="title"/>
          </p:nvPr>
        </p:nvSpPr>
        <p:spPr>
          <a:xfrm>
            <a:off x="228600" y="0"/>
            <a:ext cx="8229600" cy="685800"/>
          </a:xfrm>
        </p:spPr>
        <p:txBody>
          <a:bodyPr>
            <a:normAutofit fontScale="90000"/>
          </a:bodyPr>
          <a:lstStyle/>
          <a:p>
            <a:pPr eaLnBrk="1" hangingPunct="1"/>
            <a:r>
              <a:rPr lang="zh-CN" altLang="en-US"/>
              <a:t>用</a:t>
            </a:r>
            <a:r>
              <a:rPr lang="en-US" altLang="zh-CN"/>
              <a:t>Yacc</a:t>
            </a:r>
            <a:r>
              <a:rPr lang="zh-CN" altLang="en-US"/>
              <a:t>生成语法分析器</a:t>
            </a:r>
          </a:p>
        </p:txBody>
      </p:sp>
      <p:sp>
        <p:nvSpPr>
          <p:cNvPr id="258051" name="Rectangle 3"/>
          <p:cNvSpPr>
            <a:spLocks noGrp="1" noChangeArrowheads="1"/>
          </p:cNvSpPr>
          <p:nvPr>
            <p:ph type="body" idx="1"/>
          </p:nvPr>
        </p:nvSpPr>
        <p:spPr>
          <a:xfrm>
            <a:off x="533400" y="685800"/>
            <a:ext cx="8229600" cy="1813942"/>
          </a:xfrm>
        </p:spPr>
        <p:txBody>
          <a:bodyPr>
            <a:normAutofit/>
          </a:bodyPr>
          <a:lstStyle/>
          <a:p>
            <a:pPr eaLnBrk="1" hangingPunct="1"/>
            <a:r>
              <a:rPr lang="zh-CN" altLang="en-US" sz="2000" dirty="0"/>
              <a:t>分为三步： </a:t>
            </a:r>
          </a:p>
          <a:p>
            <a:pPr lvl="1" eaLnBrk="1" hangingPunct="1"/>
            <a:r>
              <a:rPr lang="zh-CN" altLang="en-US" sz="2000" dirty="0"/>
              <a:t>用</a:t>
            </a:r>
            <a:r>
              <a:rPr lang="en-US" altLang="zh-CN" sz="2000" dirty="0" err="1"/>
              <a:t>yacc</a:t>
            </a:r>
            <a:r>
              <a:rPr lang="en-US" altLang="zh-CN" sz="2000" dirty="0">
                <a:latin typeface="Arial" pitchFamily="34" charset="0"/>
              </a:rPr>
              <a:t> </a:t>
            </a:r>
            <a:r>
              <a:rPr lang="zh-CN" altLang="en-US" sz="2000" dirty="0">
                <a:latin typeface="Arial" pitchFamily="34" charset="0"/>
              </a:rPr>
              <a:t>语言</a:t>
            </a:r>
            <a:r>
              <a:rPr lang="zh-CN" altLang="en-US" sz="2000" dirty="0"/>
              <a:t>编写</a:t>
            </a:r>
            <a:r>
              <a:rPr lang="en-US" altLang="zh-CN" sz="2000" dirty="0"/>
              <a:t>L</a:t>
            </a:r>
            <a:r>
              <a:rPr lang="zh-CN" altLang="en-US" sz="2000" dirty="0"/>
              <a:t>语言的源程序，将语法规则及其相关的动作编写在</a:t>
            </a:r>
            <a:r>
              <a:rPr lang="en-US" altLang="zh-CN" sz="2000" dirty="0" err="1"/>
              <a:t>yacc</a:t>
            </a:r>
            <a:r>
              <a:rPr lang="zh-CN" altLang="en-US" sz="2000" dirty="0"/>
              <a:t>的源程序</a:t>
            </a:r>
            <a:r>
              <a:rPr lang="en-US" altLang="zh-CN" sz="2000" dirty="0" err="1"/>
              <a:t>trans.y</a:t>
            </a:r>
            <a:r>
              <a:rPr lang="zh-CN" altLang="en-US" sz="2000" dirty="0"/>
              <a:t>中。</a:t>
            </a:r>
            <a:r>
              <a:rPr lang="zh-CN" altLang="en-US" sz="2000" dirty="0">
                <a:latin typeface="Arial" pitchFamily="34" charset="0"/>
              </a:rPr>
              <a:t> </a:t>
            </a:r>
            <a:endParaRPr lang="zh-CN" altLang="en-US" sz="2000" dirty="0"/>
          </a:p>
          <a:p>
            <a:pPr lvl="1" eaLnBrk="1" hangingPunct="1"/>
            <a:r>
              <a:rPr lang="zh-CN" altLang="en-US" sz="2000" dirty="0"/>
              <a:t>用</a:t>
            </a:r>
            <a:r>
              <a:rPr lang="zh-CN" altLang="en-US" sz="2000" dirty="0">
                <a:latin typeface="Arial" pitchFamily="34" charset="0"/>
              </a:rPr>
              <a:t> </a:t>
            </a:r>
            <a:r>
              <a:rPr lang="en-US" altLang="zh-CN" sz="2000" dirty="0" err="1">
                <a:latin typeface="Arial" pitchFamily="34" charset="0"/>
              </a:rPr>
              <a:t>yacc</a:t>
            </a:r>
            <a:r>
              <a:rPr lang="zh-CN" altLang="en-US" sz="2000" dirty="0"/>
              <a:t>编译器编译</a:t>
            </a:r>
            <a:r>
              <a:rPr lang="en-US" altLang="zh-CN" sz="2000" dirty="0" err="1"/>
              <a:t>yacc</a:t>
            </a:r>
            <a:r>
              <a:rPr lang="zh-CN" altLang="en-US" sz="2000" dirty="0"/>
              <a:t>源程序，生成</a:t>
            </a:r>
            <a:r>
              <a:rPr lang="en-US" altLang="zh-CN" sz="2000" dirty="0" err="1"/>
              <a:t>trans_tab.c</a:t>
            </a:r>
            <a:r>
              <a:rPr lang="zh-CN" altLang="en-US" sz="2000" dirty="0"/>
              <a:t>的</a:t>
            </a:r>
            <a:r>
              <a:rPr lang="zh-CN" altLang="en-US" sz="2000" dirty="0">
                <a:latin typeface="Arial" pitchFamily="34" charset="0"/>
              </a:rPr>
              <a:t> </a:t>
            </a:r>
            <a:r>
              <a:rPr lang="en-US" altLang="zh-CN" sz="2000" dirty="0"/>
              <a:t>C</a:t>
            </a:r>
            <a:r>
              <a:rPr lang="en-US" altLang="zh-CN" sz="2000" dirty="0">
                <a:latin typeface="Arial" pitchFamily="34" charset="0"/>
              </a:rPr>
              <a:t> </a:t>
            </a:r>
            <a:r>
              <a:rPr lang="zh-CN" altLang="en-US" sz="2000" dirty="0"/>
              <a:t>代码。</a:t>
            </a:r>
          </a:p>
          <a:p>
            <a:pPr lvl="1" eaLnBrk="1" hangingPunct="1"/>
            <a:r>
              <a:rPr lang="zh-CN" altLang="en-US" sz="2000" dirty="0"/>
              <a:t>编译和链接</a:t>
            </a:r>
            <a:r>
              <a:rPr lang="zh-CN" altLang="en-US" sz="2000" dirty="0">
                <a:latin typeface="Arial" pitchFamily="34" charset="0"/>
              </a:rPr>
              <a:t> </a:t>
            </a:r>
            <a:r>
              <a:rPr lang="en-US" altLang="zh-CN" sz="2000" dirty="0"/>
              <a:t>C</a:t>
            </a:r>
            <a:r>
              <a:rPr lang="en-US" altLang="zh-CN" sz="2000" dirty="0">
                <a:latin typeface="Arial" pitchFamily="34" charset="0"/>
              </a:rPr>
              <a:t> </a:t>
            </a:r>
            <a:r>
              <a:rPr lang="zh-CN" altLang="en-US" sz="2000" dirty="0"/>
              <a:t>代码，生成可执行的语法分析器。</a:t>
            </a:r>
          </a:p>
        </p:txBody>
      </p:sp>
      <p:grpSp>
        <p:nvGrpSpPr>
          <p:cNvPr id="258052" name="组合 24"/>
          <p:cNvGrpSpPr>
            <a:grpSpLocks/>
          </p:cNvGrpSpPr>
          <p:nvPr/>
        </p:nvGrpSpPr>
        <p:grpSpPr bwMode="auto">
          <a:xfrm>
            <a:off x="61060" y="2793108"/>
            <a:ext cx="8327364" cy="2154906"/>
            <a:chOff x="0" y="3733800"/>
            <a:chExt cx="8139323" cy="3042441"/>
          </a:xfrm>
        </p:grpSpPr>
        <p:sp>
          <p:nvSpPr>
            <p:cNvPr id="7" name="Rectangle 5"/>
            <p:cNvSpPr>
              <a:spLocks noChangeArrowheads="1"/>
            </p:cNvSpPr>
            <p:nvPr/>
          </p:nvSpPr>
          <p:spPr bwMode="auto">
            <a:xfrm>
              <a:off x="3733133" y="4038622"/>
              <a:ext cx="1981049" cy="45723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lIns="79200" tIns="7200" rIns="90000" bIns="10800"/>
            <a:lstStyle/>
            <a:p>
              <a:pPr algn="ctr">
                <a:defRPr/>
              </a:pPr>
              <a:r>
                <a:rPr lang="en-US" altLang="zh-CN" sz="2000" b="1" dirty="0">
                  <a:solidFill>
                    <a:srgbClr val="000000"/>
                  </a:solidFill>
                </a:rPr>
                <a:t>Yacc</a:t>
              </a:r>
              <a:r>
                <a:rPr lang="zh-CN" altLang="en-US" sz="2000" b="1" dirty="0">
                  <a:solidFill>
                    <a:srgbClr val="000000"/>
                  </a:solidFill>
                </a:rPr>
                <a:t>编译器</a:t>
              </a:r>
            </a:p>
          </p:txBody>
        </p:sp>
        <p:sp>
          <p:nvSpPr>
            <p:cNvPr id="258054" name="Line 6"/>
            <p:cNvSpPr>
              <a:spLocks noChangeShapeType="1"/>
            </p:cNvSpPr>
            <p:nvPr/>
          </p:nvSpPr>
          <p:spPr bwMode="auto">
            <a:xfrm flipV="1">
              <a:off x="2743201" y="4267200"/>
              <a:ext cx="990600" cy="0"/>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55" name="Line 7"/>
            <p:cNvSpPr>
              <a:spLocks noChangeShapeType="1"/>
            </p:cNvSpPr>
            <p:nvPr/>
          </p:nvSpPr>
          <p:spPr bwMode="auto">
            <a:xfrm>
              <a:off x="5715000" y="4267200"/>
              <a:ext cx="762000" cy="0"/>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56" name="Rectangle 8"/>
            <p:cNvSpPr>
              <a:spLocks noChangeArrowheads="1"/>
            </p:cNvSpPr>
            <p:nvPr/>
          </p:nvSpPr>
          <p:spPr bwMode="auto">
            <a:xfrm>
              <a:off x="637121" y="3814488"/>
              <a:ext cx="2120053" cy="88757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79200" tIns="28800" rIns="90000" bIns="46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ct val="0"/>
                </a:spcBef>
                <a:buFontTx/>
                <a:buNone/>
              </a:pPr>
              <a:r>
                <a:rPr lang="en-US" altLang="zh-CN" sz="2000" b="1" dirty="0">
                  <a:solidFill>
                    <a:srgbClr val="000000"/>
                  </a:solidFill>
                </a:rPr>
                <a:t>L</a:t>
              </a:r>
              <a:r>
                <a:rPr lang="zh-CN" altLang="en-US" sz="2000" b="1" dirty="0">
                  <a:solidFill>
                    <a:srgbClr val="000000"/>
                  </a:solidFill>
                </a:rPr>
                <a:t>语言的</a:t>
              </a:r>
              <a:r>
                <a:rPr lang="en-US" altLang="zh-CN" sz="2000" b="1" dirty="0" err="1">
                  <a:solidFill>
                    <a:srgbClr val="000000"/>
                  </a:solidFill>
                </a:rPr>
                <a:t>Yacc</a:t>
              </a:r>
              <a:r>
                <a:rPr lang="zh-CN" altLang="en-US" sz="2000" b="1" dirty="0">
                  <a:solidFill>
                    <a:srgbClr val="000000"/>
                  </a:solidFill>
                </a:rPr>
                <a:t>源程序</a:t>
              </a:r>
              <a:r>
                <a:rPr lang="en-US" altLang="zh-CN" sz="2000" b="1" dirty="0" err="1">
                  <a:solidFill>
                    <a:srgbClr val="000000"/>
                  </a:solidFill>
                </a:rPr>
                <a:t>trans.y</a:t>
              </a:r>
              <a:endParaRPr lang="en-US" altLang="zh-CN" sz="2000" b="1" dirty="0">
                <a:solidFill>
                  <a:srgbClr val="000000"/>
                </a:solidFill>
              </a:endParaRPr>
            </a:p>
          </p:txBody>
        </p:sp>
        <p:sp>
          <p:nvSpPr>
            <p:cNvPr id="258057" name="Rectangle 9"/>
            <p:cNvSpPr>
              <a:spLocks noChangeArrowheads="1"/>
            </p:cNvSpPr>
            <p:nvPr/>
          </p:nvSpPr>
          <p:spPr bwMode="auto">
            <a:xfrm>
              <a:off x="6529219" y="4025252"/>
              <a:ext cx="1398958" cy="447175"/>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79200" tIns="28800" rIns="90000" bIns="46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ct val="0"/>
                </a:spcBef>
                <a:buFontTx/>
                <a:buNone/>
              </a:pPr>
              <a:r>
                <a:rPr lang="en-US" altLang="zh-CN" sz="2000" b="1" dirty="0" err="1">
                  <a:solidFill>
                    <a:srgbClr val="000000"/>
                  </a:solidFill>
                </a:rPr>
                <a:t>trans_tab.c</a:t>
              </a:r>
              <a:endParaRPr lang="en-US" altLang="zh-CN" sz="2000" b="1" dirty="0">
                <a:solidFill>
                  <a:srgbClr val="000000"/>
                </a:solidFill>
              </a:endParaRPr>
            </a:p>
          </p:txBody>
        </p:sp>
        <p:sp>
          <p:nvSpPr>
            <p:cNvPr id="258058" name="Rectangle 10"/>
            <p:cNvSpPr>
              <a:spLocks noChangeArrowheads="1"/>
            </p:cNvSpPr>
            <p:nvPr/>
          </p:nvSpPr>
          <p:spPr bwMode="auto">
            <a:xfrm>
              <a:off x="3962400" y="5029200"/>
              <a:ext cx="1705969" cy="433361"/>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79200" tIns="7200" rIns="90000" bIns="10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en-US" altLang="zh-CN" sz="2000" b="1">
                  <a:solidFill>
                    <a:srgbClr val="000000"/>
                  </a:solidFill>
                </a:rPr>
                <a:t>C</a:t>
              </a:r>
              <a:r>
                <a:rPr lang="zh-CN" altLang="en-US" sz="2000" b="1">
                  <a:solidFill>
                    <a:srgbClr val="000000"/>
                  </a:solidFill>
                </a:rPr>
                <a:t>编译器</a:t>
              </a:r>
            </a:p>
          </p:txBody>
        </p:sp>
        <p:sp>
          <p:nvSpPr>
            <p:cNvPr id="258059" name="Line 11"/>
            <p:cNvSpPr>
              <a:spLocks noChangeShapeType="1"/>
            </p:cNvSpPr>
            <p:nvPr/>
          </p:nvSpPr>
          <p:spPr bwMode="auto">
            <a:xfrm>
              <a:off x="4724400" y="5486400"/>
              <a:ext cx="1" cy="533400"/>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60" name="Line 12"/>
            <p:cNvSpPr>
              <a:spLocks noChangeShapeType="1"/>
            </p:cNvSpPr>
            <p:nvPr/>
          </p:nvSpPr>
          <p:spPr bwMode="auto">
            <a:xfrm flipH="1">
              <a:off x="5715000" y="4495800"/>
              <a:ext cx="1650122" cy="762000"/>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61" name="Rectangle 14"/>
            <p:cNvSpPr>
              <a:spLocks noChangeArrowheads="1"/>
            </p:cNvSpPr>
            <p:nvPr/>
          </p:nvSpPr>
          <p:spPr bwMode="auto">
            <a:xfrm>
              <a:off x="3822729" y="6019800"/>
              <a:ext cx="2229925" cy="447175"/>
            </a:xfrm>
            <a:prstGeom prst="rect">
              <a:avLst/>
            </a:prstGeom>
            <a:gradFill rotWithShape="0">
              <a:gsLst>
                <a:gs pos="0">
                  <a:srgbClr val="FBEAC7"/>
                </a:gs>
                <a:gs pos="17999">
                  <a:srgbClr val="FEE7F2"/>
                </a:gs>
                <a:gs pos="36000">
                  <a:srgbClr val="FAC77D"/>
                </a:gs>
                <a:gs pos="61000">
                  <a:srgbClr val="FBA97D"/>
                </a:gs>
                <a:gs pos="82001">
                  <a:srgbClr val="FBD49C"/>
                </a:gs>
                <a:gs pos="100000">
                  <a:srgbClr val="FEE7F2"/>
                </a:gs>
              </a:gsLst>
              <a:lin ang="5400000"/>
            </a:gradFill>
            <a:ln w="25400">
              <a:solidFill>
                <a:schemeClr val="tx1"/>
              </a:solidFill>
              <a:miter lim="800000"/>
              <a:headEnd/>
              <a:tailEnd/>
            </a:ln>
          </p:spPr>
          <p:txBody>
            <a:bodyPr lIns="79200" tIns="28800" rIns="90000" bIns="46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ct val="0"/>
                </a:spcBef>
                <a:buFontTx/>
                <a:buNone/>
              </a:pPr>
              <a:r>
                <a:rPr lang="en-US" altLang="zh-CN" sz="2000" b="1" dirty="0">
                  <a:solidFill>
                    <a:srgbClr val="000000"/>
                  </a:solidFill>
                </a:rPr>
                <a:t>Trans_tab.exe</a:t>
              </a:r>
            </a:p>
          </p:txBody>
        </p:sp>
        <p:sp>
          <p:nvSpPr>
            <p:cNvPr id="258062" name="Line 16"/>
            <p:cNvSpPr>
              <a:spLocks noChangeShapeType="1"/>
            </p:cNvSpPr>
            <p:nvPr/>
          </p:nvSpPr>
          <p:spPr bwMode="auto">
            <a:xfrm flipV="1">
              <a:off x="3048000" y="6235134"/>
              <a:ext cx="774729" cy="13266"/>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63" name="Line 17"/>
            <p:cNvSpPr>
              <a:spLocks noChangeShapeType="1"/>
            </p:cNvSpPr>
            <p:nvPr/>
          </p:nvSpPr>
          <p:spPr bwMode="auto">
            <a:xfrm>
              <a:off x="6052654" y="6235134"/>
              <a:ext cx="573305" cy="13266"/>
            </a:xfrm>
            <a:prstGeom prst="line">
              <a:avLst/>
            </a:prstGeom>
            <a:noFill/>
            <a:ln w="25400">
              <a:solidFill>
                <a:schemeClr val="tx1"/>
              </a:solidFill>
              <a:round/>
              <a:headEnd/>
              <a:tailEnd type="stealth" w="lg" len="med"/>
            </a:ln>
            <a:extLst>
              <a:ext uri="{909E8E84-426E-40DD-AFC4-6F175D3DCCD1}">
                <a14:hiddenFill xmlns:a14="http://schemas.microsoft.com/office/drawing/2010/main">
                  <a:noFill/>
                </a14:hiddenFill>
              </a:ext>
            </a:extLst>
          </p:spPr>
          <p:txBody>
            <a:bodyPr lIns="79200" tIns="28800" rIns="90000" bIns="46800"/>
            <a:lstStyle/>
            <a:p>
              <a:endParaRPr lang="zh-CN" altLang="en-US" sz="2000"/>
            </a:p>
          </p:txBody>
        </p:sp>
        <p:sp>
          <p:nvSpPr>
            <p:cNvPr id="258064" name="Rectangle 18"/>
            <p:cNvSpPr>
              <a:spLocks noChangeArrowheads="1"/>
            </p:cNvSpPr>
            <p:nvPr/>
          </p:nvSpPr>
          <p:spPr bwMode="auto">
            <a:xfrm>
              <a:off x="1101125" y="5928966"/>
              <a:ext cx="1937831" cy="542275"/>
            </a:xfrm>
            <a:prstGeom prst="rect">
              <a:avLst/>
            </a:prstGeom>
            <a:noFill/>
            <a:ln w="25400">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lIns="79200" tIns="28800" rIns="90000" bIns="46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ct val="0"/>
                </a:spcBef>
                <a:buFontTx/>
                <a:buNone/>
              </a:pPr>
              <a:r>
                <a:rPr lang="en-US" altLang="zh-CN" sz="2000" b="1" dirty="0">
                  <a:solidFill>
                    <a:srgbClr val="000000"/>
                  </a:solidFill>
                </a:rPr>
                <a:t>L</a:t>
              </a:r>
              <a:r>
                <a:rPr lang="zh-CN" altLang="en-US" sz="2000" b="1" dirty="0">
                  <a:solidFill>
                    <a:srgbClr val="000000"/>
                  </a:solidFill>
                </a:rPr>
                <a:t>语言的源程序</a:t>
              </a:r>
            </a:p>
          </p:txBody>
        </p:sp>
        <p:sp>
          <p:nvSpPr>
            <p:cNvPr id="258065" name="Rectangle 19"/>
            <p:cNvSpPr>
              <a:spLocks noChangeArrowheads="1"/>
            </p:cNvSpPr>
            <p:nvPr/>
          </p:nvSpPr>
          <p:spPr bwMode="auto">
            <a:xfrm>
              <a:off x="6681619" y="5795582"/>
              <a:ext cx="1457704" cy="980659"/>
            </a:xfrm>
            <a:prstGeom prst="rect">
              <a:avLst/>
            </a:prstGeom>
            <a:noFill/>
            <a:ln w="25400">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lIns="79200" tIns="28800" rIns="90000" bIns="46800"/>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just">
                <a:spcBef>
                  <a:spcPct val="0"/>
                </a:spcBef>
                <a:buFontTx/>
                <a:buNone/>
              </a:pPr>
              <a:r>
                <a:rPr lang="zh-CN" altLang="en-US" sz="2000" b="1" dirty="0">
                  <a:solidFill>
                    <a:srgbClr val="000000"/>
                  </a:solidFill>
                </a:rPr>
                <a:t>关于源程序的语法树</a:t>
              </a:r>
            </a:p>
          </p:txBody>
        </p:sp>
        <p:sp>
          <p:nvSpPr>
            <p:cNvPr id="22" name="椭圆 21"/>
            <p:cNvSpPr/>
            <p:nvPr/>
          </p:nvSpPr>
          <p:spPr>
            <a:xfrm>
              <a:off x="3505828" y="3733800"/>
              <a:ext cx="608915" cy="381028"/>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000" b="1" dirty="0"/>
                <a:t>2</a:t>
              </a:r>
              <a:endParaRPr lang="zh-CN" altLang="en-US" sz="2000" b="1" dirty="0"/>
            </a:p>
          </p:txBody>
        </p:sp>
        <p:sp>
          <p:nvSpPr>
            <p:cNvPr id="23" name="椭圆 22"/>
            <p:cNvSpPr/>
            <p:nvPr/>
          </p:nvSpPr>
          <p:spPr>
            <a:xfrm>
              <a:off x="0" y="3733800"/>
              <a:ext cx="608916" cy="381028"/>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000" b="1" dirty="0"/>
                <a:t>1</a:t>
              </a:r>
              <a:endParaRPr lang="zh-CN" altLang="en-US" sz="2000" b="1" dirty="0"/>
            </a:p>
          </p:txBody>
        </p:sp>
        <p:sp>
          <p:nvSpPr>
            <p:cNvPr id="24" name="椭圆 23"/>
            <p:cNvSpPr/>
            <p:nvPr/>
          </p:nvSpPr>
          <p:spPr>
            <a:xfrm>
              <a:off x="5394426" y="4724472"/>
              <a:ext cx="608915" cy="381028"/>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000" b="1" dirty="0"/>
                <a:t>3</a:t>
              </a:r>
              <a:endParaRPr lang="zh-CN" altLang="en-US" sz="2000" b="1" dirty="0"/>
            </a:p>
          </p:txBody>
        </p:sp>
      </p:grpSp>
    </p:spTree>
    <p:extLst>
      <p:ext uri="{BB962C8B-B14F-4D97-AF65-F5344CB8AC3E}">
        <p14:creationId xmlns:p14="http://schemas.microsoft.com/office/powerpoint/2010/main" val="694884300"/>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3"/>
          <p:cNvSpPr>
            <a:spLocks noGrp="1" noChangeArrowheads="1"/>
          </p:cNvSpPr>
          <p:nvPr>
            <p:ph type="body" idx="1"/>
          </p:nvPr>
        </p:nvSpPr>
        <p:spPr>
          <a:xfrm>
            <a:off x="685800" y="685800"/>
            <a:ext cx="5257800" cy="742950"/>
          </a:xfrm>
        </p:spPr>
        <p:txBody>
          <a:bodyPr>
            <a:noAutofit/>
          </a:bodyPr>
          <a:lstStyle/>
          <a:p>
            <a:pPr eaLnBrk="1" hangingPunct="1">
              <a:spcBef>
                <a:spcPct val="0"/>
              </a:spcBef>
            </a:pPr>
            <a:r>
              <a:rPr lang="zh-CN" altLang="en-US" sz="2200" dirty="0">
                <a:solidFill>
                  <a:srgbClr val="003300"/>
                </a:solidFill>
                <a:latin typeface="宋体" pitchFamily="2" charset="-122"/>
              </a:rPr>
              <a:t>用来描述语法规则及其动作</a:t>
            </a:r>
            <a:endParaRPr lang="en-US" altLang="zh-CN" sz="2200" dirty="0">
              <a:solidFill>
                <a:srgbClr val="003300"/>
              </a:solidFill>
              <a:latin typeface="宋体" pitchFamily="2" charset="-122"/>
            </a:endParaRPr>
          </a:p>
          <a:p>
            <a:pPr eaLnBrk="1" hangingPunct="1">
              <a:spcBef>
                <a:spcPct val="0"/>
              </a:spcBef>
            </a:pPr>
            <a:r>
              <a:rPr lang="zh-CN" altLang="en-US" sz="2200" dirty="0">
                <a:solidFill>
                  <a:srgbClr val="003300"/>
                </a:solidFill>
                <a:latin typeface="宋体" pitchFamily="2" charset="-122"/>
              </a:rPr>
              <a:t>格式（包括三个部分）</a:t>
            </a:r>
          </a:p>
          <a:p>
            <a:pPr algn="just" eaLnBrk="1" hangingPunct="1">
              <a:spcBef>
                <a:spcPct val="0"/>
              </a:spcBef>
              <a:buFontTx/>
              <a:buNone/>
            </a:pPr>
            <a:endParaRPr lang="en-US" altLang="zh-CN" sz="2200" dirty="0">
              <a:latin typeface="宋体" pitchFamily="2" charset="-122"/>
            </a:endParaRPr>
          </a:p>
        </p:txBody>
      </p:sp>
      <p:sp>
        <p:nvSpPr>
          <p:cNvPr id="56324" name="Rectangle 4"/>
          <p:cNvSpPr>
            <a:spLocks noChangeArrowheads="1"/>
          </p:cNvSpPr>
          <p:nvPr/>
        </p:nvSpPr>
        <p:spPr bwMode="auto">
          <a:xfrm>
            <a:off x="661988" y="1466850"/>
            <a:ext cx="2790825" cy="193899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spAutoFit/>
          </a:bodyPr>
          <a:lstStyle/>
          <a:p>
            <a:pPr algn="ctr" eaLnBrk="1" hangingPunct="1">
              <a:defRPr/>
            </a:pPr>
            <a:r>
              <a:rPr lang="en-US" altLang="zh-CN" sz="2400" b="1" dirty="0">
                <a:solidFill>
                  <a:srgbClr val="000000"/>
                </a:solidFill>
                <a:latin typeface="Arial" charset="0"/>
              </a:rPr>
              <a:t> </a:t>
            </a:r>
            <a:r>
              <a:rPr lang="zh-CN" altLang="en-US" sz="2400" b="1" dirty="0">
                <a:solidFill>
                  <a:srgbClr val="000000"/>
                </a:solidFill>
                <a:latin typeface="Arial" charset="0"/>
              </a:rPr>
              <a:t>说明部分</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翻译规则</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辅助过程</a:t>
            </a:r>
          </a:p>
        </p:txBody>
      </p:sp>
      <p:sp>
        <p:nvSpPr>
          <p:cNvPr id="56325" name="AutoShape 5"/>
          <p:cNvSpPr>
            <a:spLocks/>
          </p:cNvSpPr>
          <p:nvPr/>
        </p:nvSpPr>
        <p:spPr bwMode="auto">
          <a:xfrm>
            <a:off x="3786471" y="1291293"/>
            <a:ext cx="5334000" cy="2133971"/>
          </a:xfrm>
          <a:prstGeom prst="borderCallout1">
            <a:avLst>
              <a:gd name="adj1" fmla="val 15531"/>
              <a:gd name="adj2" fmla="val 478"/>
              <a:gd name="adj3" fmla="val 17549"/>
              <a:gd name="adj4" fmla="val -17524"/>
            </a:avLst>
          </a:prstGeom>
          <a:ln>
            <a:headEnd/>
            <a:tailEnd/>
          </a:ln>
        </p:spPr>
        <p:style>
          <a:lnRef idx="2">
            <a:schemeClr val="accent4"/>
          </a:lnRef>
          <a:fillRef idx="1">
            <a:schemeClr val="lt1"/>
          </a:fillRef>
          <a:effectRef idx="0">
            <a:schemeClr val="accent4"/>
          </a:effectRef>
          <a:fontRef idx="minor">
            <a:schemeClr val="dk1"/>
          </a:fontRef>
        </p:style>
        <p:txBody>
          <a:bodyPr/>
          <a:lstStyle/>
          <a:p>
            <a:pPr marL="268288" indent="-268288" eaLnBrk="1" hangingPunct="1">
              <a:buFont typeface="Arial" pitchFamily="34" charset="0"/>
              <a:buChar char="•"/>
              <a:defRPr/>
            </a:pPr>
            <a:r>
              <a:rPr lang="zh-CN" altLang="en-US" dirty="0">
                <a:solidFill>
                  <a:schemeClr val="tx1"/>
                </a:solidFill>
                <a:latin typeface="宋体" panose="02010600030101010101" pitchFamily="2" charset="-122"/>
                <a:ea typeface="宋体" panose="02010600030101010101" pitchFamily="2" charset="-122"/>
              </a:rPr>
              <a:t>有任选的两节：</a:t>
            </a:r>
          </a:p>
          <a:p>
            <a:pPr marL="725488" lvl="1" indent="-268288" eaLnBrk="1" hangingPunct="1">
              <a:buFont typeface="Arial" pitchFamily="34" charset="0"/>
              <a:buChar char="•"/>
              <a:defRPr/>
            </a:pPr>
            <a:r>
              <a:rPr lang="zh-CN" altLang="en-US" dirty="0">
                <a:solidFill>
                  <a:schemeClr val="tx1"/>
                </a:solidFill>
                <a:latin typeface="宋体" panose="02010600030101010101" pitchFamily="2" charset="-122"/>
                <a:ea typeface="宋体" panose="02010600030101010101" pitchFamily="2" charset="-122"/>
              </a:rPr>
              <a:t>第一节是处于</a:t>
            </a:r>
            <a:r>
              <a:rPr lang="en-US" altLang="zh-CN" dirty="0">
                <a:solidFill>
                  <a:schemeClr val="tx1"/>
                </a:solidFill>
                <a:latin typeface="宋体" panose="02010600030101010101" pitchFamily="2" charset="-122"/>
                <a:ea typeface="宋体" panose="02010600030101010101" pitchFamily="2" charset="-122"/>
              </a:rPr>
              <a:t>%{</a:t>
            </a:r>
            <a:r>
              <a:rPr lang="zh-CN" altLang="en-US" dirty="0">
                <a:solidFill>
                  <a:schemeClr val="tx1"/>
                </a:solidFill>
                <a:latin typeface="宋体" panose="02010600030101010101" pitchFamily="2" charset="-122"/>
                <a:ea typeface="宋体" panose="02010600030101010101" pitchFamily="2" charset="-122"/>
              </a:rPr>
              <a:t>和</a:t>
            </a:r>
            <a:r>
              <a:rPr lang="en-US" altLang="zh-CN" dirty="0">
                <a:solidFill>
                  <a:schemeClr val="tx1"/>
                </a:solidFill>
                <a:latin typeface="宋体" panose="02010600030101010101" pitchFamily="2" charset="-122"/>
                <a:ea typeface="宋体" panose="02010600030101010101" pitchFamily="2" charset="-122"/>
              </a:rPr>
              <a:t>%}</a:t>
            </a:r>
            <a:r>
              <a:rPr lang="zh-CN" altLang="en-US" dirty="0">
                <a:solidFill>
                  <a:schemeClr val="tx1"/>
                </a:solidFill>
                <a:latin typeface="宋体" panose="02010600030101010101" pitchFamily="2" charset="-122"/>
                <a:ea typeface="宋体" panose="02010600030101010101" pitchFamily="2" charset="-122"/>
              </a:rPr>
              <a:t>之间的部分，是一些普通的</a:t>
            </a:r>
            <a:r>
              <a:rPr lang="en-US" altLang="zh-CN" dirty="0">
                <a:solidFill>
                  <a:schemeClr val="tx1"/>
                </a:solidFill>
                <a:latin typeface="宋体" panose="02010600030101010101" pitchFamily="2" charset="-122"/>
                <a:ea typeface="宋体" panose="02010600030101010101" pitchFamily="2" charset="-122"/>
              </a:rPr>
              <a:t>C</a:t>
            </a:r>
            <a:r>
              <a:rPr lang="zh-CN" altLang="en-US" dirty="0">
                <a:solidFill>
                  <a:schemeClr val="tx1"/>
                </a:solidFill>
                <a:latin typeface="宋体" panose="02010600030101010101" pitchFamily="2" charset="-122"/>
                <a:ea typeface="宋体" panose="02010600030101010101" pitchFamily="2" charset="-122"/>
              </a:rPr>
              <a:t>语言的声明。</a:t>
            </a:r>
            <a:endParaRPr lang="en-US" altLang="zh-CN" dirty="0">
              <a:solidFill>
                <a:schemeClr val="tx1"/>
              </a:solidFill>
              <a:latin typeface="宋体" panose="02010600030101010101" pitchFamily="2" charset="-122"/>
              <a:ea typeface="宋体" panose="02010600030101010101" pitchFamily="2" charset="-122"/>
            </a:endParaRPr>
          </a:p>
          <a:p>
            <a:pPr marL="725488" lvl="1" indent="-268288" eaLnBrk="1" hangingPunct="1">
              <a:buFont typeface="Arial" pitchFamily="34" charset="0"/>
              <a:buChar char="•"/>
              <a:defRPr/>
            </a:pPr>
            <a:r>
              <a:rPr lang="zh-CN" altLang="en-US" dirty="0">
                <a:solidFill>
                  <a:schemeClr val="tx1"/>
                </a:solidFill>
                <a:latin typeface="宋体" panose="02010600030101010101" pitchFamily="2" charset="-122"/>
                <a:ea typeface="宋体" panose="02010600030101010101" pitchFamily="2" charset="-122"/>
              </a:rPr>
              <a:t>第二节是文法记号的声明，一般以</a:t>
            </a:r>
            <a:r>
              <a:rPr lang="en-US" altLang="zh-CN" dirty="0">
                <a:solidFill>
                  <a:schemeClr val="tx1"/>
                </a:solidFill>
                <a:latin typeface="宋体" panose="02010600030101010101" pitchFamily="2" charset="-122"/>
                <a:ea typeface="宋体" panose="02010600030101010101" pitchFamily="2" charset="-122"/>
              </a:rPr>
              <a:t>%start S </a:t>
            </a:r>
            <a:r>
              <a:rPr lang="zh-CN" altLang="en-US" dirty="0">
                <a:solidFill>
                  <a:schemeClr val="tx1"/>
                </a:solidFill>
                <a:latin typeface="宋体" panose="02010600030101010101" pitchFamily="2" charset="-122"/>
                <a:ea typeface="宋体" panose="02010600030101010101" pitchFamily="2" charset="-122"/>
              </a:rPr>
              <a:t>的形式说明文法的开始符号，用</a:t>
            </a:r>
            <a:r>
              <a:rPr lang="en-US" altLang="zh-CN" dirty="0">
                <a:solidFill>
                  <a:schemeClr val="tx1"/>
                </a:solidFill>
                <a:latin typeface="宋体" panose="02010600030101010101" pitchFamily="2" charset="-122"/>
                <a:ea typeface="宋体" panose="02010600030101010101" pitchFamily="2" charset="-122"/>
              </a:rPr>
              <a:t>%token IF</a:t>
            </a:r>
            <a:r>
              <a:rPr lang="zh-CN" altLang="en-US" dirty="0">
                <a:solidFill>
                  <a:schemeClr val="tx1"/>
                </a:solidFill>
                <a:latin typeface="宋体" panose="02010600030101010101" pitchFamily="2" charset="-122"/>
                <a:ea typeface="宋体" panose="02010600030101010101" pitchFamily="2" charset="-122"/>
              </a:rPr>
              <a:t>、</a:t>
            </a:r>
            <a:r>
              <a:rPr lang="en-US" altLang="zh-CN" dirty="0">
                <a:solidFill>
                  <a:schemeClr val="tx1"/>
                </a:solidFill>
                <a:latin typeface="宋体" panose="02010600030101010101" pitchFamily="2" charset="-122"/>
                <a:ea typeface="宋体" panose="02010600030101010101" pitchFamily="2" charset="-122"/>
              </a:rPr>
              <a:t>DO</a:t>
            </a:r>
            <a:r>
              <a:rPr lang="zh-CN" altLang="en-US" dirty="0">
                <a:solidFill>
                  <a:schemeClr val="tx1"/>
                </a:solidFill>
                <a:latin typeface="宋体" panose="02010600030101010101" pitchFamily="2" charset="-122"/>
                <a:ea typeface="宋体" panose="02010600030101010101" pitchFamily="2" charset="-122"/>
              </a:rPr>
              <a:t>、</a:t>
            </a:r>
            <a:r>
              <a:rPr lang="en-US" altLang="zh-CN" dirty="0">
                <a:solidFill>
                  <a:schemeClr val="tx1"/>
                </a:solidFill>
                <a:latin typeface="宋体" panose="02010600030101010101" pitchFamily="2" charset="-122"/>
                <a:ea typeface="宋体" panose="02010600030101010101" pitchFamily="2" charset="-122"/>
              </a:rPr>
              <a:t>…</a:t>
            </a:r>
            <a:r>
              <a:rPr lang="zh-CN" altLang="en-US" dirty="0">
                <a:solidFill>
                  <a:schemeClr val="tx1"/>
                </a:solidFill>
                <a:latin typeface="宋体" panose="02010600030101010101" pitchFamily="2" charset="-122"/>
                <a:ea typeface="宋体" panose="02010600030101010101" pitchFamily="2" charset="-122"/>
              </a:rPr>
              <a:t>、</a:t>
            </a:r>
            <a:r>
              <a:rPr lang="en-US" altLang="zh-CN" dirty="0">
                <a:solidFill>
                  <a:schemeClr val="tx1"/>
                </a:solidFill>
                <a:latin typeface="宋体" panose="02010600030101010101" pitchFamily="2" charset="-122"/>
                <a:ea typeface="宋体" panose="02010600030101010101" pitchFamily="2" charset="-122"/>
              </a:rPr>
              <a:t>ID</a:t>
            </a:r>
            <a:r>
              <a:rPr lang="zh-CN" altLang="en-US" dirty="0">
                <a:solidFill>
                  <a:schemeClr val="tx1"/>
                </a:solidFill>
                <a:latin typeface="宋体" panose="02010600030101010101" pitchFamily="2" charset="-122"/>
                <a:ea typeface="宋体" panose="02010600030101010101" pitchFamily="2" charset="-122"/>
              </a:rPr>
              <a:t>、</a:t>
            </a:r>
            <a:r>
              <a:rPr lang="en-US" altLang="zh-CN" dirty="0">
                <a:solidFill>
                  <a:schemeClr val="tx1"/>
                </a:solidFill>
                <a:latin typeface="宋体" panose="02010600030101010101" pitchFamily="2" charset="-122"/>
                <a:ea typeface="宋体" panose="02010600030101010101" pitchFamily="2" charset="-122"/>
              </a:rPr>
              <a:t>… </a:t>
            </a:r>
            <a:r>
              <a:rPr lang="zh-CN" altLang="en-US" dirty="0">
                <a:solidFill>
                  <a:schemeClr val="tx1"/>
                </a:solidFill>
                <a:latin typeface="宋体" panose="02010600030101010101" pitchFamily="2" charset="-122"/>
                <a:ea typeface="宋体" panose="02010600030101010101" pitchFamily="2" charset="-122"/>
              </a:rPr>
              <a:t>的形式说明记号。记号被</a:t>
            </a:r>
            <a:r>
              <a:rPr lang="en-US" altLang="zh-CN" dirty="0">
                <a:solidFill>
                  <a:schemeClr val="tx1"/>
                </a:solidFill>
                <a:latin typeface="宋体" panose="02010600030101010101" pitchFamily="2" charset="-122"/>
                <a:ea typeface="宋体" panose="02010600030101010101" pitchFamily="2" charset="-122"/>
              </a:rPr>
              <a:t>YACC</a:t>
            </a:r>
            <a:r>
              <a:rPr lang="zh-CN" altLang="en-US" dirty="0">
                <a:solidFill>
                  <a:schemeClr val="tx1"/>
                </a:solidFill>
                <a:latin typeface="宋体" panose="02010600030101010101" pitchFamily="2" charset="-122"/>
                <a:ea typeface="宋体" panose="02010600030101010101" pitchFamily="2" charset="-122"/>
              </a:rPr>
              <a:t>赋予了不会与任何字符值冲突的数字值</a:t>
            </a:r>
          </a:p>
        </p:txBody>
      </p:sp>
      <p:sp>
        <p:nvSpPr>
          <p:cNvPr id="7" name="Rectangle 2"/>
          <p:cNvSpPr>
            <a:spLocks noGrp="1" noChangeArrowheads="1"/>
          </p:cNvSpPr>
          <p:nvPr>
            <p:ph type="title"/>
          </p:nvPr>
        </p:nvSpPr>
        <p:spPr>
          <a:xfrm>
            <a:off x="228600" y="0"/>
            <a:ext cx="8229600" cy="685800"/>
          </a:xfrm>
        </p:spPr>
        <p:txBody>
          <a:bodyPr>
            <a:normAutofit fontScale="90000"/>
          </a:bodyPr>
          <a:lstStyle/>
          <a:p>
            <a:pPr>
              <a:lnSpc>
                <a:spcPct val="172000"/>
              </a:lnSpc>
              <a:spcBef>
                <a:spcPts val="800"/>
              </a:spcBef>
              <a:spcAft>
                <a:spcPts val="300"/>
              </a:spcAft>
              <a:defRPr/>
            </a:pPr>
            <a:r>
              <a:rPr lang="x-none" altLang="zh-CN" b="1" kern="100" dirty="0">
                <a:solidFill>
                  <a:srgbClr val="D60093"/>
                </a:solidFill>
                <a:latin typeface="隶书" panose="02010509060101010101" pitchFamily="49" charset="-122"/>
                <a:ea typeface="隶书" panose="02010509060101010101" pitchFamily="49" charset="-122"/>
              </a:rPr>
              <a:t>3.5.2 YACC源文件的格式</a:t>
            </a:r>
            <a:endParaRPr lang="zh-CN" altLang="zh-CN" sz="4800" b="1" kern="100" dirty="0">
              <a:solidFill>
                <a:srgbClr val="D60093"/>
              </a:solidFill>
              <a:latin typeface="隶书" panose="02010509060101010101" pitchFamily="49" charset="-122"/>
              <a:ea typeface="隶书" panose="02010509060101010101" pitchFamily="49" charset="-122"/>
            </a:endParaRPr>
          </a:p>
        </p:txBody>
      </p:sp>
      <p:sp>
        <p:nvSpPr>
          <p:cNvPr id="8" name="椭圆 7"/>
          <p:cNvSpPr/>
          <p:nvPr/>
        </p:nvSpPr>
        <p:spPr>
          <a:xfrm>
            <a:off x="251520" y="1466850"/>
            <a:ext cx="685800" cy="4000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t>1</a:t>
            </a:r>
            <a:endParaRPr lang="zh-CN" altLang="en-US" sz="2800" b="1" dirty="0"/>
          </a:p>
        </p:txBody>
      </p:sp>
      <p:sp>
        <p:nvSpPr>
          <p:cNvPr id="9" name="矩形 8"/>
          <p:cNvSpPr/>
          <p:nvPr/>
        </p:nvSpPr>
        <p:spPr>
          <a:xfrm>
            <a:off x="3962400" y="4572000"/>
            <a:ext cx="5181600" cy="327782"/>
          </a:xfrm>
          <a:prstGeom prst="rect">
            <a:avLst/>
          </a:prstGeom>
        </p:spPr>
        <p:style>
          <a:lnRef idx="1">
            <a:schemeClr val="accent1"/>
          </a:lnRef>
          <a:fillRef idx="2">
            <a:schemeClr val="accent1"/>
          </a:fillRef>
          <a:effectRef idx="1">
            <a:schemeClr val="accent1"/>
          </a:effectRef>
          <a:fontRef idx="minor">
            <a:schemeClr val="dk1"/>
          </a:fontRef>
        </p:style>
        <p:txBody>
          <a:bodyPr>
            <a:spAutoFit/>
          </a:bodyPr>
          <a:lstStyle/>
          <a:p>
            <a:pPr eaLnBrk="1" hangingPunct="1">
              <a:lnSpc>
                <a:spcPct val="80000"/>
              </a:lnSpc>
              <a:defRPr/>
            </a:pPr>
            <a:r>
              <a:rPr lang="en-US" altLang="zh-CN" dirty="0">
                <a:solidFill>
                  <a:srgbClr val="FF0000"/>
                </a:solidFill>
              </a:rPr>
              <a:t>%token DIGIT</a:t>
            </a:r>
          </a:p>
        </p:txBody>
      </p:sp>
      <p:sp>
        <p:nvSpPr>
          <p:cNvPr id="10" name="矩形 9"/>
          <p:cNvSpPr/>
          <p:nvPr/>
        </p:nvSpPr>
        <p:spPr>
          <a:xfrm>
            <a:off x="251520" y="4379962"/>
            <a:ext cx="3558480" cy="770980"/>
          </a:xfrm>
          <a:prstGeom prst="rect">
            <a:avLst/>
          </a:prstGeom>
        </p:spPr>
        <p:style>
          <a:lnRef idx="2">
            <a:schemeClr val="dk1"/>
          </a:lnRef>
          <a:fillRef idx="1">
            <a:schemeClr val="lt1"/>
          </a:fillRef>
          <a:effectRef idx="0">
            <a:schemeClr val="dk1"/>
          </a:effectRef>
          <a:fontRef idx="minor">
            <a:schemeClr val="dk1"/>
          </a:fontRef>
        </p:style>
        <p:txBody>
          <a:bodyPr wrap="square">
            <a:spAutoFit/>
          </a:bodyPr>
          <a:lstStyle/>
          <a:p>
            <a:pPr marL="268288" indent="-268288" eaLnBrk="1" hangingPunct="1">
              <a:lnSpc>
                <a:spcPct val="80000"/>
              </a:lnSpc>
              <a:buFont typeface="Arial" pitchFamily="34" charset="0"/>
              <a:buChar char="•"/>
              <a:defRPr/>
            </a:pPr>
            <a:r>
              <a:rPr lang="zh-CN" altLang="zh-CN" dirty="0">
                <a:latin typeface="宋体" panose="02010600030101010101" pitchFamily="2" charset="-122"/>
                <a:ea typeface="宋体" panose="02010600030101010101" pitchFamily="2" charset="-122"/>
              </a:rPr>
              <a:t>有关记号、数据类型以及文法规则的</a:t>
            </a:r>
            <a:r>
              <a:rPr lang="zh-CN" altLang="en-US" dirty="0">
                <a:latin typeface="宋体" panose="02010600030101010101" pitchFamily="2" charset="-122"/>
                <a:ea typeface="宋体" panose="02010600030101010101" pitchFamily="2" charset="-122"/>
              </a:rPr>
              <a:t>定义，用</a:t>
            </a:r>
            <a:r>
              <a:rPr lang="zh-CN" altLang="zh-CN" dirty="0">
                <a:latin typeface="宋体" panose="02010600030101010101" pitchFamily="2" charset="-122"/>
                <a:ea typeface="宋体" panose="02010600030101010101" pitchFamily="2" charset="-122"/>
              </a:rPr>
              <a:t>“</a:t>
            </a:r>
            <a:r>
              <a:rPr lang="en-US" altLang="zh-CN" dirty="0">
                <a:latin typeface="宋体" panose="02010600030101010101" pitchFamily="2" charset="-122"/>
                <a:ea typeface="宋体" panose="02010600030101010101" pitchFamily="2" charset="-122"/>
              </a:rPr>
              <a:t>%token</a:t>
            </a:r>
            <a:r>
              <a:rPr lang="zh-CN" altLang="zh-CN" dirty="0">
                <a:latin typeface="宋体" panose="02010600030101010101" pitchFamily="2" charset="-122"/>
                <a:ea typeface="宋体" panose="02010600030101010101" pitchFamily="2" charset="-122"/>
              </a:rPr>
              <a:t>”开头</a:t>
            </a:r>
            <a:endParaRPr lang="en-US" altLang="zh-CN" dirty="0">
              <a:solidFill>
                <a:srgbClr val="003300"/>
              </a:solidFill>
              <a:effectLst>
                <a:outerShdw blurRad="38100" dist="38100" dir="2700000" algn="tl">
                  <a:srgbClr val="C0C0C0"/>
                </a:outerShdw>
              </a:effectLst>
              <a:latin typeface="宋体" pitchFamily="2" charset="-122"/>
              <a:ea typeface="宋体" panose="02010600030101010101" pitchFamily="2" charset="-122"/>
            </a:endParaRPr>
          </a:p>
        </p:txBody>
      </p:sp>
      <p:sp>
        <p:nvSpPr>
          <p:cNvPr id="11" name="矩形 10"/>
          <p:cNvSpPr/>
          <p:nvPr/>
        </p:nvSpPr>
        <p:spPr>
          <a:xfrm>
            <a:off x="257442" y="3579862"/>
            <a:ext cx="3558480" cy="757130"/>
          </a:xfrm>
          <a:prstGeom prst="rect">
            <a:avLst/>
          </a:prstGeom>
        </p:spPr>
        <p:style>
          <a:lnRef idx="2">
            <a:schemeClr val="dk1"/>
          </a:lnRef>
          <a:fillRef idx="1">
            <a:schemeClr val="lt1"/>
          </a:fillRef>
          <a:effectRef idx="0">
            <a:schemeClr val="dk1"/>
          </a:effectRef>
          <a:fontRef idx="minor">
            <a:schemeClr val="dk1"/>
          </a:fontRef>
        </p:style>
        <p:txBody>
          <a:bodyPr wrap="square">
            <a:spAutoFit/>
          </a:bodyPr>
          <a:lstStyle/>
          <a:p>
            <a:pPr marL="268288" indent="-268288" eaLnBrk="1" hangingPunct="1">
              <a:lnSpc>
                <a:spcPct val="80000"/>
              </a:lnSpc>
              <a:buFont typeface="Arial" pitchFamily="34" charset="0"/>
              <a:buChar char="•"/>
              <a:defRPr/>
            </a:pPr>
            <a:r>
              <a:rPr lang="zh-CN" altLang="zh-CN" dirty="0">
                <a:solidFill>
                  <a:srgbClr val="000000"/>
                </a:solidFill>
                <a:latin typeface="宋体" panose="02010600030101010101" pitchFamily="2" charset="-122"/>
                <a:ea typeface="宋体" panose="02010600030101010101" pitchFamily="2" charset="-122"/>
              </a:rPr>
              <a:t>数据类型、全局变量</a:t>
            </a:r>
            <a:r>
              <a:rPr lang="zh-CN" altLang="en-US" dirty="0">
                <a:solidFill>
                  <a:srgbClr val="000000"/>
                </a:solidFill>
                <a:latin typeface="宋体" panose="02010600030101010101" pitchFamily="2" charset="-122"/>
                <a:ea typeface="宋体" panose="02010600030101010101" pitchFamily="2" charset="-122"/>
              </a:rPr>
              <a:t>等遵循</a:t>
            </a:r>
            <a:r>
              <a:rPr lang="en-US" altLang="zh-CN" dirty="0">
                <a:solidFill>
                  <a:srgbClr val="000000"/>
                </a:solidFill>
                <a:latin typeface="宋体" panose="02010600030101010101" pitchFamily="2" charset="-122"/>
                <a:ea typeface="宋体" panose="02010600030101010101" pitchFamily="2" charset="-122"/>
              </a:rPr>
              <a:t>C</a:t>
            </a:r>
            <a:r>
              <a:rPr lang="zh-CN" altLang="en-US" dirty="0">
                <a:solidFill>
                  <a:srgbClr val="000000"/>
                </a:solidFill>
                <a:latin typeface="宋体" panose="02010600030101010101" pitchFamily="2" charset="-122"/>
                <a:ea typeface="宋体" panose="02010600030101010101" pitchFamily="2" charset="-122"/>
              </a:rPr>
              <a:t>语言的定义，可包含</a:t>
            </a:r>
            <a:r>
              <a:rPr lang="zh-CN" altLang="en-US" dirty="0">
                <a:solidFill>
                  <a:srgbClr val="003300"/>
                </a:solidFill>
                <a:effectLst>
                  <a:outerShdw blurRad="38100" dist="38100" dir="2700000" algn="tl">
                    <a:srgbClr val="C0C0C0"/>
                  </a:outerShdw>
                </a:effectLst>
                <a:latin typeface="宋体" pitchFamily="2" charset="-122"/>
                <a:ea typeface="宋体" panose="02010600030101010101" pitchFamily="2" charset="-122"/>
              </a:rPr>
              <a:t>预处理语句等，需要用</a:t>
            </a:r>
            <a:r>
              <a:rPr lang="en-US" altLang="zh-CN" dirty="0">
                <a:solidFill>
                  <a:srgbClr val="003300"/>
                </a:solidFill>
                <a:effectLst>
                  <a:outerShdw blurRad="38100" dist="38100" dir="2700000" algn="tl">
                    <a:srgbClr val="C0C0C0"/>
                  </a:outerShdw>
                </a:effectLst>
                <a:latin typeface="宋体" pitchFamily="2" charset="-122"/>
                <a:ea typeface="宋体" panose="02010600030101010101" pitchFamily="2" charset="-122"/>
              </a:rPr>
              <a:t>%{</a:t>
            </a:r>
            <a:r>
              <a:rPr lang="zh-CN" altLang="en-US" dirty="0">
                <a:solidFill>
                  <a:srgbClr val="003300"/>
                </a:solidFill>
                <a:effectLst>
                  <a:outerShdw blurRad="38100" dist="38100" dir="2700000" algn="tl">
                    <a:srgbClr val="C0C0C0"/>
                  </a:outerShdw>
                </a:effectLst>
                <a:latin typeface="宋体" pitchFamily="2" charset="-122"/>
                <a:ea typeface="宋体" panose="02010600030101010101" pitchFamily="2" charset="-122"/>
              </a:rPr>
              <a:t>和</a:t>
            </a:r>
            <a:r>
              <a:rPr lang="en-US" altLang="zh-CN" dirty="0">
                <a:solidFill>
                  <a:srgbClr val="003300"/>
                </a:solidFill>
                <a:effectLst>
                  <a:outerShdw blurRad="38100" dist="38100" dir="2700000" algn="tl">
                    <a:srgbClr val="C0C0C0"/>
                  </a:outerShdw>
                </a:effectLst>
                <a:latin typeface="宋体" pitchFamily="2" charset="-122"/>
                <a:ea typeface="宋体" panose="02010600030101010101" pitchFamily="2" charset="-122"/>
              </a:rPr>
              <a:t>%}</a:t>
            </a:r>
            <a:r>
              <a:rPr lang="zh-CN" altLang="en-US" dirty="0">
                <a:solidFill>
                  <a:srgbClr val="003300"/>
                </a:solidFill>
                <a:effectLst>
                  <a:outerShdw blurRad="38100" dist="38100" dir="2700000" algn="tl">
                    <a:srgbClr val="C0C0C0"/>
                  </a:outerShdw>
                </a:effectLst>
                <a:latin typeface="宋体" pitchFamily="2" charset="-122"/>
                <a:ea typeface="宋体" panose="02010600030101010101" pitchFamily="2" charset="-122"/>
              </a:rPr>
              <a:t>括起来</a:t>
            </a:r>
            <a:endParaRPr lang="en-US" altLang="zh-CN" dirty="0">
              <a:solidFill>
                <a:srgbClr val="003300"/>
              </a:solidFill>
              <a:effectLst>
                <a:outerShdw blurRad="38100" dist="38100" dir="2700000" algn="tl">
                  <a:srgbClr val="C0C0C0"/>
                </a:outerShdw>
              </a:effectLst>
              <a:latin typeface="宋体" pitchFamily="2" charset="-122"/>
              <a:ea typeface="宋体" panose="02010600030101010101" pitchFamily="2" charset="-122"/>
            </a:endParaRPr>
          </a:p>
        </p:txBody>
      </p:sp>
      <p:sp>
        <p:nvSpPr>
          <p:cNvPr id="12" name="矩形 11"/>
          <p:cNvSpPr/>
          <p:nvPr/>
        </p:nvSpPr>
        <p:spPr>
          <a:xfrm>
            <a:off x="3962400" y="3657600"/>
            <a:ext cx="5181600" cy="770980"/>
          </a:xfrm>
          <a:prstGeom prst="rect">
            <a:avLst/>
          </a:prstGeom>
        </p:spPr>
        <p:style>
          <a:lnRef idx="1">
            <a:schemeClr val="accent1"/>
          </a:lnRef>
          <a:fillRef idx="2">
            <a:schemeClr val="accent1"/>
          </a:fillRef>
          <a:effectRef idx="1">
            <a:schemeClr val="accent1"/>
          </a:effectRef>
          <a:fontRef idx="minor">
            <a:schemeClr val="dk1"/>
          </a:fontRef>
        </p:style>
        <p:txBody>
          <a:bodyPr>
            <a:spAutoFit/>
          </a:bodyPr>
          <a:lstStyle/>
          <a:p>
            <a:pPr eaLnBrk="1" hangingPunct="1">
              <a:lnSpc>
                <a:spcPct val="80000"/>
              </a:lnSpc>
              <a:defRPr/>
            </a:pPr>
            <a:r>
              <a:rPr lang="en-US" altLang="zh-CN" dirty="0">
                <a:solidFill>
                  <a:srgbClr val="FF0000"/>
                </a:solidFill>
              </a:rPr>
              <a:t>%{</a:t>
            </a:r>
          </a:p>
          <a:p>
            <a:pPr eaLnBrk="1" hangingPunct="1">
              <a:lnSpc>
                <a:spcPct val="80000"/>
              </a:lnSpc>
              <a:defRPr/>
            </a:pPr>
            <a:r>
              <a:rPr lang="en-US" altLang="zh-CN" dirty="0">
                <a:solidFill>
                  <a:srgbClr val="FF0000"/>
                </a:solidFill>
              </a:rPr>
              <a:t>    #include&lt;</a:t>
            </a:r>
            <a:r>
              <a:rPr lang="en-US" altLang="zh-CN" dirty="0" err="1">
                <a:solidFill>
                  <a:srgbClr val="FF0000"/>
                </a:solidFill>
              </a:rPr>
              <a:t>stdio.h</a:t>
            </a:r>
            <a:r>
              <a:rPr lang="en-US" altLang="zh-CN" dirty="0">
                <a:solidFill>
                  <a:srgbClr val="FF0000"/>
                </a:solidFill>
              </a:rPr>
              <a:t>&gt;</a:t>
            </a:r>
          </a:p>
          <a:p>
            <a:pPr eaLnBrk="1" hangingPunct="1">
              <a:lnSpc>
                <a:spcPct val="80000"/>
              </a:lnSpc>
              <a:defRPr/>
            </a:pPr>
            <a:r>
              <a:rPr lang="en-US" altLang="zh-CN" dirty="0">
                <a:solidFill>
                  <a:srgbClr val="FF0000"/>
                </a:solidFill>
              </a:rPr>
              <a:t>%}</a:t>
            </a:r>
          </a:p>
        </p:txBody>
      </p:sp>
    </p:spTree>
    <p:extLst>
      <p:ext uri="{BB962C8B-B14F-4D97-AF65-F5344CB8AC3E}">
        <p14:creationId xmlns:p14="http://schemas.microsoft.com/office/powerpoint/2010/main" val="28822990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3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5" grpId="0" animBg="1"/>
      <p:bldP spid="9" grpId="0" animBg="1"/>
      <p:bldP spid="10" grpId="0" animBg="1"/>
      <p:bldP spid="11" grpId="0" animBg="1"/>
      <p:bldP spid="12"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85800" y="180975"/>
            <a:ext cx="7772400" cy="769938"/>
          </a:xfrm>
        </p:spPr>
        <p:txBody>
          <a:bodyPr>
            <a:normAutofit fontScale="90000"/>
          </a:bodyPr>
          <a:lstStyle/>
          <a:p>
            <a:pPr>
              <a:lnSpc>
                <a:spcPct val="172000"/>
              </a:lnSpc>
              <a:spcBef>
                <a:spcPts val="800"/>
              </a:spcBef>
              <a:spcAft>
                <a:spcPts val="300"/>
              </a:spcAft>
              <a:defRPr/>
            </a:pPr>
            <a:r>
              <a:rPr lang="x-none" altLang="zh-CN" b="1" kern="100" dirty="0">
                <a:solidFill>
                  <a:srgbClr val="D60093"/>
                </a:solidFill>
                <a:latin typeface="隶书" panose="02010509060101010101" pitchFamily="49" charset="-122"/>
                <a:ea typeface="隶书" panose="02010509060101010101" pitchFamily="49" charset="-122"/>
              </a:rPr>
              <a:t>3.5.3 YACC的翻译规则</a:t>
            </a:r>
            <a:endParaRPr lang="zh-CN" altLang="en-US" b="1" kern="100" dirty="0">
              <a:solidFill>
                <a:srgbClr val="D60093"/>
              </a:solidFill>
              <a:latin typeface="隶书" panose="02010509060101010101" pitchFamily="49" charset="-122"/>
              <a:ea typeface="隶书" panose="02010509060101010101" pitchFamily="49" charset="-122"/>
            </a:endParaRPr>
          </a:p>
        </p:txBody>
      </p:sp>
      <p:sp>
        <p:nvSpPr>
          <p:cNvPr id="4" name="Rectangle 3"/>
          <p:cNvSpPr>
            <a:spLocks noGrp="1" noChangeArrowheads="1"/>
          </p:cNvSpPr>
          <p:nvPr>
            <p:ph idx="1"/>
          </p:nvPr>
        </p:nvSpPr>
        <p:spPr>
          <a:xfrm>
            <a:off x="685800" y="1028700"/>
            <a:ext cx="7772400" cy="3543300"/>
          </a:xfrm>
        </p:spPr>
        <p:txBody>
          <a:bodyPr>
            <a:normAutofit/>
          </a:bodyPr>
          <a:lstStyle/>
          <a:p>
            <a:pPr algn="just" eaLnBrk="1" hangingPunct="1">
              <a:spcBef>
                <a:spcPct val="0"/>
              </a:spcBef>
            </a:pPr>
            <a:r>
              <a:rPr lang="zh-CN" altLang="en-US" sz="2200" b="1" dirty="0">
                <a:solidFill>
                  <a:srgbClr val="C00000"/>
                </a:solidFill>
              </a:rPr>
              <a:t>翻译规则</a:t>
            </a:r>
            <a:r>
              <a:rPr lang="zh-CN" altLang="zh-CN" sz="2200" dirty="0"/>
              <a:t>完全决定了最后生成的</a:t>
            </a:r>
            <a:r>
              <a:rPr lang="zh-CN" altLang="en-US" sz="2200" dirty="0"/>
              <a:t>语法</a:t>
            </a:r>
            <a:r>
              <a:rPr lang="zh-CN" altLang="zh-CN" sz="2200" dirty="0"/>
              <a:t>分析器的功能，分析器只能</a:t>
            </a:r>
            <a:r>
              <a:rPr lang="zh-CN" altLang="en-US" sz="2200" dirty="0"/>
              <a:t>分析</a:t>
            </a:r>
            <a:r>
              <a:rPr lang="zh-CN" altLang="zh-CN" sz="2200" dirty="0"/>
              <a:t>符合</a:t>
            </a:r>
            <a:r>
              <a:rPr lang="zh-CN" altLang="en-US" sz="2200" dirty="0"/>
              <a:t>每条规则单词符号串</a:t>
            </a:r>
            <a:endParaRPr lang="en-US" altLang="zh-CN" sz="2200" dirty="0"/>
          </a:p>
        </p:txBody>
      </p:sp>
      <p:sp>
        <p:nvSpPr>
          <p:cNvPr id="6" name="Rectangle 4"/>
          <p:cNvSpPr>
            <a:spLocks noChangeArrowheads="1"/>
          </p:cNvSpPr>
          <p:nvPr/>
        </p:nvSpPr>
        <p:spPr bwMode="auto">
          <a:xfrm>
            <a:off x="6428432" y="1849928"/>
            <a:ext cx="2518916" cy="193899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wrap="square">
            <a:spAutoFit/>
          </a:bodyPr>
          <a:lstStyle/>
          <a:p>
            <a:pPr algn="ctr" eaLnBrk="1" hangingPunct="1">
              <a:defRPr/>
            </a:pPr>
            <a:r>
              <a:rPr lang="en-US" altLang="zh-CN" sz="2400" dirty="0">
                <a:solidFill>
                  <a:srgbClr val="000000"/>
                </a:solidFill>
                <a:latin typeface="Arial" charset="0"/>
              </a:rPr>
              <a:t> </a:t>
            </a:r>
            <a:r>
              <a:rPr lang="en-US" altLang="zh-CN" sz="2400" b="1" dirty="0">
                <a:solidFill>
                  <a:srgbClr val="000000"/>
                </a:solidFill>
                <a:latin typeface="Arial" charset="0"/>
              </a:rPr>
              <a:t> </a:t>
            </a:r>
            <a:r>
              <a:rPr lang="zh-CN" altLang="en-US" sz="2400" b="1" dirty="0">
                <a:solidFill>
                  <a:srgbClr val="000000"/>
                </a:solidFill>
                <a:latin typeface="Arial" charset="0"/>
              </a:rPr>
              <a:t>说明部分</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翻译规则</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辅助过程</a:t>
            </a:r>
          </a:p>
        </p:txBody>
      </p:sp>
      <p:sp>
        <p:nvSpPr>
          <p:cNvPr id="7" name="椭圆 6"/>
          <p:cNvSpPr/>
          <p:nvPr/>
        </p:nvSpPr>
        <p:spPr>
          <a:xfrm>
            <a:off x="8458200" y="2619399"/>
            <a:ext cx="685800" cy="4000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t>2</a:t>
            </a:r>
            <a:endParaRPr lang="zh-CN" altLang="en-US" sz="2800" b="1" dirty="0"/>
          </a:p>
        </p:txBody>
      </p:sp>
      <p:sp>
        <p:nvSpPr>
          <p:cNvPr id="5" name="AutoShape 5"/>
          <p:cNvSpPr>
            <a:spLocks/>
          </p:cNvSpPr>
          <p:nvPr/>
        </p:nvSpPr>
        <p:spPr bwMode="auto">
          <a:xfrm>
            <a:off x="899592" y="2195513"/>
            <a:ext cx="4967288" cy="1247822"/>
          </a:xfrm>
          <a:prstGeom prst="borderCallout1">
            <a:avLst>
              <a:gd name="adj1" fmla="val 54217"/>
              <a:gd name="adj2" fmla="val 100918"/>
              <a:gd name="adj3" fmla="val 54217"/>
              <a:gd name="adj4" fmla="val 123721"/>
            </a:avLst>
          </a:prstGeom>
          <a:ln>
            <a:headEnd/>
            <a:tailEnd/>
          </a:ln>
        </p:spPr>
        <p:style>
          <a:lnRef idx="2">
            <a:schemeClr val="accent4"/>
          </a:lnRef>
          <a:fillRef idx="1">
            <a:schemeClr val="lt1"/>
          </a:fillRef>
          <a:effectRef idx="0">
            <a:schemeClr val="accent4"/>
          </a:effectRef>
          <a:fontRef idx="minor">
            <a:schemeClr val="dk1"/>
          </a:fontRef>
        </p:style>
        <p:txBody>
          <a:bodyPr/>
          <a:lstStyle/>
          <a:p>
            <a:pPr eaLnBrk="1" hangingPunct="1">
              <a:defRPr/>
            </a:pPr>
            <a:r>
              <a:rPr lang="zh-CN" altLang="en-US" dirty="0">
                <a:solidFill>
                  <a:schemeClr val="tx1"/>
                </a:solidFill>
                <a:latin typeface="宋体" panose="02010600030101010101" pitchFamily="2" charset="-122"/>
                <a:ea typeface="宋体" panose="02010600030101010101" pitchFamily="2" charset="-122"/>
              </a:rPr>
              <a:t>由一组</a:t>
            </a:r>
            <a:r>
              <a:rPr lang="zh-CN" altLang="zh-CN" dirty="0">
                <a:solidFill>
                  <a:schemeClr val="tx1"/>
                </a:solidFill>
                <a:latin typeface="宋体" panose="02010600030101010101" pitchFamily="2" charset="-122"/>
                <a:ea typeface="宋体" panose="02010600030101010101" pitchFamily="2" charset="-122"/>
              </a:rPr>
              <a:t>规则</a:t>
            </a:r>
            <a:r>
              <a:rPr lang="en-US" altLang="zh-CN" dirty="0">
                <a:solidFill>
                  <a:schemeClr val="tx1"/>
                </a:solidFill>
                <a:latin typeface="宋体" panose="02010600030101010101" pitchFamily="2" charset="-122"/>
                <a:ea typeface="宋体" panose="02010600030101010101" pitchFamily="2" charset="-122"/>
              </a:rPr>
              <a:t>(</a:t>
            </a:r>
            <a:r>
              <a:rPr lang="zh-CN" altLang="zh-CN" dirty="0">
                <a:solidFill>
                  <a:schemeClr val="tx1"/>
                </a:solidFill>
                <a:latin typeface="宋体" panose="02010600030101010101" pitchFamily="2" charset="-122"/>
                <a:ea typeface="宋体" panose="02010600030101010101" pitchFamily="2" charset="-122"/>
              </a:rPr>
              <a:t>修改的</a:t>
            </a:r>
            <a:r>
              <a:rPr lang="en-US" altLang="zh-CN" dirty="0">
                <a:solidFill>
                  <a:schemeClr val="tx1"/>
                </a:solidFill>
                <a:latin typeface="宋体" panose="02010600030101010101" pitchFamily="2" charset="-122"/>
                <a:ea typeface="宋体" panose="02010600030101010101" pitchFamily="2" charset="-122"/>
              </a:rPr>
              <a:t>BNF</a:t>
            </a:r>
            <a:r>
              <a:rPr lang="zh-CN" altLang="zh-CN" dirty="0">
                <a:solidFill>
                  <a:schemeClr val="tx1"/>
                </a:solidFill>
                <a:latin typeface="宋体" panose="02010600030101010101" pitchFamily="2" charset="-122"/>
                <a:ea typeface="宋体" panose="02010600030101010101" pitchFamily="2" charset="-122"/>
              </a:rPr>
              <a:t>格式的文法产生式</a:t>
            </a:r>
            <a:r>
              <a:rPr lang="en-US" altLang="zh-CN" dirty="0">
                <a:solidFill>
                  <a:schemeClr val="tx1"/>
                </a:solidFill>
                <a:latin typeface="宋体" panose="02010600030101010101" pitchFamily="2" charset="-122"/>
                <a:ea typeface="宋体" panose="02010600030101010101" pitchFamily="2" charset="-122"/>
              </a:rPr>
              <a:t>)</a:t>
            </a:r>
            <a:r>
              <a:rPr lang="zh-CN" altLang="en-US" dirty="0">
                <a:solidFill>
                  <a:schemeClr val="tx1"/>
                </a:solidFill>
                <a:latin typeface="宋体" panose="02010600030101010101" pitchFamily="2" charset="-122"/>
                <a:ea typeface="宋体" panose="02010600030101010101" pitchFamily="2" charset="-122"/>
              </a:rPr>
              <a:t>以及当每个规则被匹配时所采取的动作，用</a:t>
            </a:r>
            <a:r>
              <a:rPr lang="en-US" altLang="zh-CN" dirty="0">
                <a:solidFill>
                  <a:schemeClr val="tx1"/>
                </a:solidFill>
                <a:latin typeface="宋体" panose="02010600030101010101" pitchFamily="2" charset="-122"/>
                <a:ea typeface="宋体" panose="02010600030101010101" pitchFamily="2" charset="-122"/>
              </a:rPr>
              <a:t>C</a:t>
            </a:r>
            <a:r>
              <a:rPr lang="zh-CN" altLang="en-US" dirty="0">
                <a:solidFill>
                  <a:schemeClr val="tx1"/>
                </a:solidFill>
                <a:latin typeface="宋体" panose="02010600030101010101" pitchFamily="2" charset="-122"/>
                <a:ea typeface="宋体" panose="02010600030101010101" pitchFamily="2" charset="-122"/>
              </a:rPr>
              <a:t>语言的代码来书写</a:t>
            </a:r>
            <a:r>
              <a:rPr lang="zh-CN" altLang="zh-CN" dirty="0">
                <a:solidFill>
                  <a:schemeClr val="tx1"/>
                </a:solidFill>
                <a:latin typeface="宋体" panose="02010600030101010101" pitchFamily="2" charset="-122"/>
                <a:ea typeface="宋体" panose="02010600030101010101" pitchFamily="2" charset="-122"/>
              </a:rPr>
              <a:t>（即根据</a:t>
            </a:r>
            <a:r>
              <a:rPr lang="en-US" altLang="zh-CN" dirty="0">
                <a:solidFill>
                  <a:schemeClr val="tx1"/>
                </a:solidFill>
                <a:latin typeface="宋体" panose="02010600030101010101" pitchFamily="2" charset="-122"/>
                <a:ea typeface="宋体" panose="02010600030101010101" pitchFamily="2" charset="-122"/>
              </a:rPr>
              <a:t>LALR(1)</a:t>
            </a:r>
            <a:r>
              <a:rPr lang="zh-CN" altLang="zh-CN" dirty="0">
                <a:solidFill>
                  <a:schemeClr val="tx1"/>
                </a:solidFill>
                <a:latin typeface="宋体" panose="02010600030101010101" pitchFamily="2" charset="-122"/>
                <a:ea typeface="宋体" panose="02010600030101010101" pitchFamily="2" charset="-122"/>
              </a:rPr>
              <a:t>分析算法，在归约时使用的动作）</a:t>
            </a:r>
            <a:endParaRPr lang="zh-CN" altLang="en-US" dirty="0">
              <a:solidFill>
                <a:schemeClr val="tx1"/>
              </a:solidFill>
              <a:latin typeface="宋体" panose="02010600030101010101" pitchFamily="2" charset="-122"/>
              <a:ea typeface="宋体" panose="02010600030101010101" pitchFamily="2" charset="-122"/>
            </a:endParaRPr>
          </a:p>
        </p:txBody>
      </p:sp>
    </p:spTree>
    <p:extLst>
      <p:ext uri="{BB962C8B-B14F-4D97-AF65-F5344CB8AC3E}">
        <p14:creationId xmlns:p14="http://schemas.microsoft.com/office/powerpoint/2010/main" val="39903992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autoUpdateAnimBg="0"/>
      <p:bldP spid="5" grpId="0" animBg="1" autoUpdateAnimBg="0"/>
    </p:bldLst>
  </p:timing>
</p:sld>
</file>

<file path=ppt/slides/slide28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 name="矩形 9"/>
          <p:cNvSpPr/>
          <p:nvPr/>
        </p:nvSpPr>
        <p:spPr>
          <a:xfrm>
            <a:off x="452438" y="1127125"/>
            <a:ext cx="3255466" cy="1323439"/>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eaLnBrk="1" hangingPunct="1">
              <a:defRPr/>
            </a:pPr>
            <a:r>
              <a:rPr lang="en-US" altLang="zh-CN" sz="1600" b="1" dirty="0"/>
              <a:t>A : </a:t>
            </a:r>
            <a:r>
              <a:rPr lang="el-GR" altLang="zh-CN" sz="1600" b="1" dirty="0"/>
              <a:t>α1 { </a:t>
            </a:r>
            <a:r>
              <a:rPr lang="zh-CN" altLang="en-US" sz="1600" b="1" dirty="0"/>
              <a:t>语义动作</a:t>
            </a:r>
            <a:r>
              <a:rPr lang="en-US" altLang="zh-CN" sz="1600" b="1" dirty="0"/>
              <a:t>1 }</a:t>
            </a:r>
          </a:p>
          <a:p>
            <a:pPr algn="ctr" eaLnBrk="1" hangingPunct="1">
              <a:defRPr/>
            </a:pPr>
            <a:r>
              <a:rPr lang="en-US" altLang="zh-CN" sz="1600" b="1" dirty="0"/>
              <a:t>   </a:t>
            </a:r>
            <a:r>
              <a:rPr lang="el-GR" altLang="zh-CN" sz="1600" b="1" dirty="0"/>
              <a:t>| α2 { </a:t>
            </a:r>
            <a:r>
              <a:rPr lang="zh-CN" altLang="en-US" sz="1600" b="1" dirty="0"/>
              <a:t>语义动作</a:t>
            </a:r>
            <a:r>
              <a:rPr lang="en-US" altLang="zh-CN" sz="1600" b="1" dirty="0"/>
              <a:t>2 }</a:t>
            </a:r>
          </a:p>
          <a:p>
            <a:pPr algn="ctr" eaLnBrk="1" hangingPunct="1">
              <a:defRPr/>
            </a:pPr>
            <a:r>
              <a:rPr lang="en-US" altLang="zh-CN" sz="1600" b="1" dirty="0"/>
              <a:t>   …</a:t>
            </a:r>
          </a:p>
          <a:p>
            <a:pPr algn="ctr" eaLnBrk="1" hangingPunct="1">
              <a:defRPr/>
            </a:pPr>
            <a:r>
              <a:rPr lang="en-US" altLang="zh-CN" sz="1600" b="1" dirty="0"/>
              <a:t>   </a:t>
            </a:r>
            <a:r>
              <a:rPr lang="el-GR" altLang="zh-CN" sz="1600" b="1" dirty="0"/>
              <a:t>| α</a:t>
            </a:r>
            <a:r>
              <a:rPr lang="en-US" altLang="zh-CN" sz="1600" b="1" dirty="0"/>
              <a:t>n { </a:t>
            </a:r>
            <a:r>
              <a:rPr lang="zh-CN" altLang="en-US" sz="1600" b="1" dirty="0"/>
              <a:t>语义动作</a:t>
            </a:r>
            <a:r>
              <a:rPr lang="en-US" altLang="zh-CN" sz="1600" b="1" dirty="0"/>
              <a:t>n }</a:t>
            </a:r>
          </a:p>
          <a:p>
            <a:pPr algn="ctr" eaLnBrk="1" hangingPunct="1">
              <a:defRPr/>
            </a:pPr>
            <a:r>
              <a:rPr lang="zh-CN" altLang="en-US" sz="1600" dirty="0"/>
              <a:t>   ；</a:t>
            </a:r>
            <a:endParaRPr lang="zh-CN" altLang="zh-CN" sz="1600" dirty="0"/>
          </a:p>
        </p:txBody>
      </p:sp>
      <p:sp>
        <p:nvSpPr>
          <p:cNvPr id="60422" name="Rectangle 6"/>
          <p:cNvSpPr>
            <a:spLocks noChangeArrowheads="1"/>
          </p:cNvSpPr>
          <p:nvPr/>
        </p:nvSpPr>
        <p:spPr bwMode="auto">
          <a:xfrm>
            <a:off x="228600" y="280928"/>
            <a:ext cx="3810000" cy="800219"/>
          </a:xfrm>
          <a:prstGeom prst="rect">
            <a:avLst/>
          </a:prstGeom>
          <a:noFill/>
          <a:ln w="9525">
            <a:noFill/>
            <a:miter lim="800000"/>
            <a:headEnd/>
            <a:tailEnd/>
          </a:ln>
          <a:effectLst/>
        </p:spPr>
        <p:txBody>
          <a:bodyPr anchor="ctr">
            <a:spAutoFit/>
          </a:bodyPr>
          <a:lstStyle/>
          <a:p>
            <a:pPr marL="268288" indent="-268288" eaLnBrk="1" hangingPunct="1">
              <a:buFont typeface="Arial" pitchFamily="34" charset="0"/>
              <a:buChar char="•"/>
              <a:defRPr/>
            </a:pPr>
            <a:r>
              <a:rPr lang="zh-CN" altLang="en-US" b="1" dirty="0">
                <a:solidFill>
                  <a:srgbClr val="000000"/>
                </a:solidFill>
                <a:effectLst>
                  <a:outerShdw blurRad="38100" dist="38100" dir="2700000" algn="tl">
                    <a:srgbClr val="C0C0C0"/>
                  </a:outerShdw>
                </a:effectLst>
                <a:latin typeface="+mn-lt"/>
                <a:ea typeface="+mn-ea"/>
              </a:rPr>
              <a:t>产生式形式为：</a:t>
            </a:r>
            <a:endParaRPr lang="zh-CN" altLang="en-US" dirty="0">
              <a:solidFill>
                <a:srgbClr val="000000"/>
              </a:solidFill>
            </a:endParaRPr>
          </a:p>
          <a:p>
            <a:pPr eaLnBrk="1" hangingPunct="1">
              <a:defRPr/>
            </a:pPr>
            <a:r>
              <a:rPr lang="en-US" altLang="zh-CN" sz="2800" b="1" dirty="0">
                <a:solidFill>
                  <a:srgbClr val="000000"/>
                </a:solidFill>
              </a:rPr>
              <a:t>   A→</a:t>
            </a:r>
            <a:r>
              <a:rPr lang="el-GR" altLang="zh-CN" sz="2800" b="1" dirty="0">
                <a:solidFill>
                  <a:srgbClr val="000000"/>
                </a:solidFill>
              </a:rPr>
              <a:t>α1|α2|…|α</a:t>
            </a:r>
            <a:r>
              <a:rPr lang="en-US" altLang="zh-CN" sz="2800" b="1" dirty="0">
                <a:solidFill>
                  <a:srgbClr val="000000"/>
                </a:solidFill>
              </a:rPr>
              <a:t>n</a:t>
            </a:r>
          </a:p>
        </p:txBody>
      </p:sp>
      <p:sp>
        <p:nvSpPr>
          <p:cNvPr id="11" name="矩形 10"/>
          <p:cNvSpPr>
            <a:spLocks noChangeArrowheads="1"/>
          </p:cNvSpPr>
          <p:nvPr/>
        </p:nvSpPr>
        <p:spPr bwMode="auto">
          <a:xfrm>
            <a:off x="228600" y="2695575"/>
            <a:ext cx="8915400" cy="2246769"/>
          </a:xfrm>
          <a:prstGeom prst="rect">
            <a:avLst/>
          </a:prstGeom>
          <a:solidFill>
            <a:schemeClr val="bg1"/>
          </a:solidFill>
          <a:ln>
            <a:noFill/>
          </a:ln>
        </p:spPr>
        <p:txBody>
          <a:bodyPr>
            <a:spAutoFit/>
          </a:bodyPr>
          <a:lstStyle>
            <a:lvl1pPr>
              <a:spcBef>
                <a:spcPct val="20000"/>
              </a:spcBef>
              <a:buChar char="•"/>
              <a:defRPr kumimoji="1" sz="3200">
                <a:solidFill>
                  <a:schemeClr val="tx1"/>
                </a:solidFill>
                <a:latin typeface="Times New Roman" pitchFamily="18" charset="0"/>
                <a:ea typeface="宋体" pitchFamily="2" charset="-122"/>
              </a:defRPr>
            </a:lvl1pPr>
            <a:lvl2pPr marL="742950" indent="-285750">
              <a:spcBef>
                <a:spcPct val="20000"/>
              </a:spcBef>
              <a:buChar char="–"/>
              <a:defRPr kumimoji="1" sz="2800">
                <a:solidFill>
                  <a:schemeClr val="tx1"/>
                </a:solidFill>
                <a:latin typeface="Times New Roman" pitchFamily="18" charset="0"/>
                <a:ea typeface="宋体" pitchFamily="2" charset="-122"/>
              </a:defRPr>
            </a:lvl2pPr>
            <a:lvl3pPr marL="1143000" indent="-228600">
              <a:spcBef>
                <a:spcPct val="20000"/>
              </a:spcBef>
              <a:buChar char="•"/>
              <a:defRPr kumimoji="1" sz="2400">
                <a:solidFill>
                  <a:schemeClr val="tx1"/>
                </a:solidFill>
                <a:latin typeface="Times New Roman" pitchFamily="18" charset="0"/>
                <a:ea typeface="宋体" pitchFamily="2" charset="-122"/>
              </a:defRPr>
            </a:lvl3pPr>
            <a:lvl4pPr marL="1600200" indent="-228600">
              <a:spcBef>
                <a:spcPct val="20000"/>
              </a:spcBef>
              <a:buChar char="–"/>
              <a:defRPr kumimoji="1" sz="2000">
                <a:solidFill>
                  <a:schemeClr val="tx1"/>
                </a:solidFill>
                <a:latin typeface="Times New Roman" pitchFamily="18" charset="0"/>
                <a:ea typeface="宋体" pitchFamily="2" charset="-122"/>
              </a:defRPr>
            </a:lvl4pPr>
            <a:lvl5pPr marL="2057400" indent="-228600">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marL="342900" indent="-342900">
              <a:spcBef>
                <a:spcPct val="0"/>
              </a:spcBef>
            </a:pPr>
            <a:r>
              <a:rPr lang="zh-CN" altLang="en-US" sz="2000" dirty="0">
                <a:solidFill>
                  <a:srgbClr val="000000"/>
                </a:solidFill>
                <a:latin typeface="Tahoma" pitchFamily="34" charset="0"/>
              </a:rPr>
              <a:t>用单引号括起来的单个字符，如‘</a:t>
            </a:r>
            <a:r>
              <a:rPr lang="en-US" altLang="zh-CN" sz="2000" dirty="0">
                <a:solidFill>
                  <a:srgbClr val="000000"/>
                </a:solidFill>
                <a:latin typeface="Tahoma" pitchFamily="34" charset="0"/>
              </a:rPr>
              <a:t>c’</a:t>
            </a:r>
            <a:r>
              <a:rPr lang="zh-CN" altLang="en-US" sz="2000" dirty="0">
                <a:solidFill>
                  <a:srgbClr val="000000"/>
                </a:solidFill>
                <a:latin typeface="Tahoma" pitchFamily="34" charset="0"/>
              </a:rPr>
              <a:t>，是由终结符号</a:t>
            </a:r>
            <a:r>
              <a:rPr lang="en-US" altLang="zh-CN" sz="2000" dirty="0">
                <a:solidFill>
                  <a:srgbClr val="000000"/>
                </a:solidFill>
                <a:latin typeface="Tahoma" pitchFamily="34" charset="0"/>
              </a:rPr>
              <a:t>c</a:t>
            </a:r>
            <a:r>
              <a:rPr lang="zh-CN" altLang="en-US" sz="2000" dirty="0">
                <a:solidFill>
                  <a:srgbClr val="000000"/>
                </a:solidFill>
                <a:latin typeface="Tahoma" pitchFamily="34" charset="0"/>
              </a:rPr>
              <a:t>组成的记号</a:t>
            </a:r>
            <a:endParaRPr lang="en-US" altLang="zh-CN" sz="2000" dirty="0">
              <a:solidFill>
                <a:srgbClr val="000000"/>
              </a:solidFill>
              <a:latin typeface="Tahoma" pitchFamily="34" charset="0"/>
            </a:endParaRPr>
          </a:p>
          <a:p>
            <a:pPr marL="342900" indent="-342900">
              <a:spcBef>
                <a:spcPct val="0"/>
              </a:spcBef>
            </a:pPr>
            <a:r>
              <a:rPr lang="zh-CN" altLang="en-US" sz="2000" dirty="0">
                <a:solidFill>
                  <a:srgbClr val="000000"/>
                </a:solidFill>
                <a:latin typeface="Tahoma" pitchFamily="34" charset="0"/>
              </a:rPr>
              <a:t>没有用引号括起来、也没有被说明成</a:t>
            </a:r>
            <a:r>
              <a:rPr lang="en-US" altLang="zh-CN" sz="2000" dirty="0">
                <a:solidFill>
                  <a:srgbClr val="000000"/>
                </a:solidFill>
                <a:latin typeface="Tahoma" pitchFamily="34" charset="0"/>
              </a:rPr>
              <a:t>token</a:t>
            </a:r>
            <a:r>
              <a:rPr lang="zh-CN" altLang="en-US" sz="2000" dirty="0">
                <a:solidFill>
                  <a:srgbClr val="000000"/>
                </a:solidFill>
                <a:latin typeface="Tahoma" pitchFamily="34" charset="0"/>
              </a:rPr>
              <a:t>类型的字母数字串是非终结符号</a:t>
            </a:r>
          </a:p>
          <a:p>
            <a:pPr marL="342900" indent="-342900">
              <a:spcBef>
                <a:spcPct val="0"/>
              </a:spcBef>
            </a:pPr>
            <a:r>
              <a:rPr lang="en-US" altLang="zh-CN" sz="2000" dirty="0">
                <a:solidFill>
                  <a:srgbClr val="000000"/>
                </a:solidFill>
                <a:latin typeface="Tahoma" pitchFamily="34" charset="0"/>
              </a:rPr>
              <a:t>YACC</a:t>
            </a:r>
            <a:r>
              <a:rPr lang="zh-CN" altLang="zh-CN" sz="2000" dirty="0">
                <a:solidFill>
                  <a:srgbClr val="000000"/>
                </a:solidFill>
                <a:latin typeface="Tahoma" pitchFamily="34" charset="0"/>
              </a:rPr>
              <a:t>的语义动作是</a:t>
            </a:r>
            <a:r>
              <a:rPr lang="en-US" altLang="zh-CN" sz="2000" dirty="0">
                <a:solidFill>
                  <a:srgbClr val="000000"/>
                </a:solidFill>
                <a:latin typeface="Tahoma" pitchFamily="34" charset="0"/>
              </a:rPr>
              <a:t>C</a:t>
            </a:r>
            <a:r>
              <a:rPr lang="zh-CN" altLang="zh-CN" sz="2000" dirty="0">
                <a:solidFill>
                  <a:srgbClr val="000000"/>
                </a:solidFill>
                <a:latin typeface="Tahoma" pitchFamily="34" charset="0"/>
              </a:rPr>
              <a:t>语句序列</a:t>
            </a:r>
            <a:endParaRPr lang="en-US" altLang="zh-CN" sz="2000" dirty="0">
              <a:solidFill>
                <a:srgbClr val="000000"/>
              </a:solidFill>
              <a:latin typeface="Tahoma" pitchFamily="34" charset="0"/>
            </a:endParaRPr>
          </a:p>
          <a:p>
            <a:pPr marL="342900" indent="-342900">
              <a:spcBef>
                <a:spcPct val="0"/>
              </a:spcBef>
            </a:pPr>
            <a:r>
              <a:rPr lang="zh-CN" altLang="zh-CN" sz="2000" dirty="0">
                <a:solidFill>
                  <a:srgbClr val="000000"/>
                </a:solidFill>
                <a:latin typeface="Tahoma" pitchFamily="34" charset="0"/>
              </a:rPr>
              <a:t>每当归约一个产生式时，执行与之关联的语义动作，</a:t>
            </a:r>
            <a:endParaRPr lang="en-US" altLang="zh-CN" sz="2000" dirty="0">
              <a:solidFill>
                <a:srgbClr val="000000"/>
              </a:solidFill>
              <a:latin typeface="Tahoma" pitchFamily="34" charset="0"/>
            </a:endParaRPr>
          </a:p>
          <a:p>
            <a:pPr marL="342900" indent="-342900">
              <a:spcBef>
                <a:spcPct val="0"/>
              </a:spcBef>
            </a:pPr>
            <a:r>
              <a:rPr lang="zh-CN" altLang="zh-CN" sz="2000" dirty="0">
                <a:solidFill>
                  <a:srgbClr val="000000"/>
                </a:solidFill>
                <a:latin typeface="Tahoma" pitchFamily="34" charset="0"/>
              </a:rPr>
              <a:t>符号</a:t>
            </a:r>
            <a:r>
              <a:rPr lang="en-US" altLang="zh-CN" sz="2000" dirty="0">
                <a:solidFill>
                  <a:srgbClr val="000000"/>
                </a:solidFill>
                <a:latin typeface="Tahoma" pitchFamily="34" charset="0"/>
              </a:rPr>
              <a:t>$$</a:t>
            </a:r>
            <a:r>
              <a:rPr lang="zh-CN" altLang="zh-CN" sz="2000" dirty="0">
                <a:solidFill>
                  <a:srgbClr val="000000"/>
                </a:solidFill>
                <a:latin typeface="Tahoma" pitchFamily="34" charset="0"/>
              </a:rPr>
              <a:t>表示引用左部非终结符的属性值</a:t>
            </a:r>
            <a:r>
              <a:rPr lang="zh-CN" altLang="en-US" sz="2000" dirty="0">
                <a:solidFill>
                  <a:srgbClr val="000000"/>
                </a:solidFill>
                <a:latin typeface="Tahoma" pitchFamily="34" charset="0"/>
              </a:rPr>
              <a:t>，</a:t>
            </a:r>
            <a:r>
              <a:rPr lang="en-US" altLang="zh-CN" sz="2000" dirty="0">
                <a:solidFill>
                  <a:srgbClr val="000000"/>
                </a:solidFill>
                <a:latin typeface="Tahoma" pitchFamily="34" charset="0"/>
              </a:rPr>
              <a:t>$</a:t>
            </a:r>
            <a:r>
              <a:rPr lang="en-US" altLang="zh-CN" sz="2000" dirty="0" err="1">
                <a:solidFill>
                  <a:srgbClr val="000000"/>
                </a:solidFill>
                <a:latin typeface="Tahoma" pitchFamily="34" charset="0"/>
              </a:rPr>
              <a:t>i</a:t>
            </a:r>
            <a:r>
              <a:rPr lang="zh-CN" altLang="zh-CN" sz="2000" dirty="0">
                <a:solidFill>
                  <a:srgbClr val="000000"/>
                </a:solidFill>
                <a:latin typeface="Tahoma" pitchFamily="34" charset="0"/>
              </a:rPr>
              <a:t>表示引用右部第</a:t>
            </a:r>
            <a:r>
              <a:rPr lang="en-US" altLang="zh-CN" sz="2000" dirty="0" err="1">
                <a:solidFill>
                  <a:srgbClr val="000000"/>
                </a:solidFill>
                <a:latin typeface="Tahoma" pitchFamily="34" charset="0"/>
              </a:rPr>
              <a:t>i</a:t>
            </a:r>
            <a:r>
              <a:rPr lang="zh-CN" altLang="zh-CN" sz="2000" dirty="0">
                <a:solidFill>
                  <a:srgbClr val="000000"/>
                </a:solidFill>
                <a:latin typeface="Tahoma" pitchFamily="34" charset="0"/>
              </a:rPr>
              <a:t>个文法符号的属性值</a:t>
            </a:r>
            <a:endParaRPr lang="en-US" altLang="zh-CN" sz="2000" dirty="0">
              <a:solidFill>
                <a:srgbClr val="000000"/>
              </a:solidFill>
              <a:latin typeface="Tahoma" pitchFamily="34" charset="0"/>
            </a:endParaRPr>
          </a:p>
          <a:p>
            <a:pPr marL="342900" indent="-342900">
              <a:spcBef>
                <a:spcPct val="0"/>
              </a:spcBef>
            </a:pPr>
            <a:r>
              <a:rPr lang="zh-CN" altLang="zh-CN" sz="2000" dirty="0">
                <a:solidFill>
                  <a:srgbClr val="000000"/>
                </a:solidFill>
                <a:latin typeface="Tahoma" pitchFamily="34" charset="0"/>
              </a:rPr>
              <a:t>语义动作一般是从各</a:t>
            </a:r>
            <a:r>
              <a:rPr lang="en-US" altLang="zh-CN" sz="2000" dirty="0">
                <a:solidFill>
                  <a:srgbClr val="000000"/>
                </a:solidFill>
                <a:latin typeface="Tahoma" pitchFamily="34" charset="0"/>
              </a:rPr>
              <a:t>$</a:t>
            </a:r>
            <a:r>
              <a:rPr lang="en-US" altLang="zh-CN" sz="2000" dirty="0" err="1">
                <a:solidFill>
                  <a:srgbClr val="000000"/>
                </a:solidFill>
                <a:latin typeface="Tahoma" pitchFamily="34" charset="0"/>
              </a:rPr>
              <a:t>i</a:t>
            </a:r>
            <a:r>
              <a:rPr lang="zh-CN" altLang="zh-CN" sz="2000" dirty="0">
                <a:solidFill>
                  <a:srgbClr val="000000"/>
                </a:solidFill>
                <a:latin typeface="Tahoma" pitchFamily="34" charset="0"/>
              </a:rPr>
              <a:t>的值决定</a:t>
            </a:r>
            <a:r>
              <a:rPr lang="en-US" altLang="zh-CN" sz="2000" dirty="0">
                <a:solidFill>
                  <a:srgbClr val="000000"/>
                </a:solidFill>
                <a:latin typeface="Tahoma" pitchFamily="34" charset="0"/>
              </a:rPr>
              <a:t>$$</a:t>
            </a:r>
            <a:r>
              <a:rPr lang="zh-CN" altLang="zh-CN" sz="2000" dirty="0">
                <a:solidFill>
                  <a:srgbClr val="000000"/>
                </a:solidFill>
                <a:latin typeface="Tahoma" pitchFamily="34" charset="0"/>
              </a:rPr>
              <a:t>的值</a:t>
            </a:r>
            <a:endParaRPr lang="zh-CN" altLang="en-US" sz="2000" dirty="0">
              <a:solidFill>
                <a:srgbClr val="000000"/>
              </a:solidFill>
              <a:latin typeface="Tahoma" pitchFamily="34" charset="0"/>
            </a:endParaRPr>
          </a:p>
        </p:txBody>
      </p:sp>
    </p:spTree>
    <p:extLst>
      <p:ext uri="{BB962C8B-B14F-4D97-AF65-F5344CB8AC3E}">
        <p14:creationId xmlns:p14="http://schemas.microsoft.com/office/powerpoint/2010/main" val="8918124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60422"/>
                                        </p:tgtEl>
                                        <p:attrNameLst>
                                          <p:attrName>style.visibility</p:attrName>
                                        </p:attrNameLst>
                                      </p:cBhvr>
                                      <p:to>
                                        <p:strVal val="visible"/>
                                      </p:to>
                                    </p:set>
                                    <p:anim to="" calcmode="lin" valueType="num">
                                      <p:cBhvr>
                                        <p:cTn id="7" dur="1" fill="hold"/>
                                        <p:tgtEl>
                                          <p:spTgt spid="60422"/>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 to="" calcmode="lin" valueType="num">
                                      <p:cBhvr>
                                        <p:cTn id="12" dur="1" fill="hold"/>
                                        <p:tgtEl>
                                          <p:spTgt spid="10"/>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to="" calcmode="lin" valueType="num">
                                      <p:cBhvr>
                                        <p:cTn id="17" dur="1" fill="hold"/>
                                        <p:tgtEl>
                                          <p:spTgt spid="1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60422" grpId="0"/>
      <p:bldP spid="11"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Grp="1" noChangeArrowheads="1"/>
          </p:cNvSpPr>
          <p:nvPr>
            <p:ph type="title"/>
          </p:nvPr>
        </p:nvSpPr>
        <p:spPr>
          <a:xfrm>
            <a:off x="457200" y="1362075"/>
            <a:ext cx="8229600" cy="1038225"/>
          </a:xfrm>
        </p:spPr>
        <p:txBody>
          <a:bodyPr/>
          <a:lstStyle/>
          <a:p>
            <a:pPr eaLnBrk="1" hangingPunct="1"/>
            <a:endParaRPr lang="zh-CN" altLang="zh-CN"/>
          </a:p>
        </p:txBody>
      </p:sp>
      <p:sp>
        <p:nvSpPr>
          <p:cNvPr id="262147" name="Rectangle 3"/>
          <p:cNvSpPr>
            <a:spLocks noGrp="1" noChangeArrowheads="1"/>
          </p:cNvSpPr>
          <p:nvPr>
            <p:ph type="body" idx="1"/>
          </p:nvPr>
        </p:nvSpPr>
        <p:spPr>
          <a:xfrm>
            <a:off x="457200" y="3362325"/>
            <a:ext cx="8229600" cy="1714500"/>
          </a:xfrm>
        </p:spPr>
        <p:txBody>
          <a:bodyPr>
            <a:normAutofit/>
          </a:bodyPr>
          <a:lstStyle/>
          <a:p>
            <a:pPr eaLnBrk="1" hangingPunct="1">
              <a:lnSpc>
                <a:spcPct val="80000"/>
              </a:lnSpc>
            </a:pPr>
            <a:r>
              <a:rPr lang="zh-CN" altLang="en-US" sz="2200" dirty="0"/>
              <a:t>为了生成直接可运行的程序，包含一个函数如</a:t>
            </a:r>
            <a:r>
              <a:rPr lang="zh-CN" altLang="en-US" sz="2200" dirty="0">
                <a:latin typeface="Arial" pitchFamily="34" charset="0"/>
              </a:rPr>
              <a:t> </a:t>
            </a:r>
            <a:r>
              <a:rPr lang="en-US" altLang="zh-CN" sz="2200" dirty="0"/>
              <a:t>main()</a:t>
            </a:r>
            <a:r>
              <a:rPr lang="en-US" altLang="zh-CN" sz="2200" dirty="0">
                <a:latin typeface="Arial" pitchFamily="34" charset="0"/>
              </a:rPr>
              <a:t> </a:t>
            </a:r>
            <a:r>
              <a:rPr lang="zh-CN" altLang="en-US" sz="2200" dirty="0"/>
              <a:t>调用</a:t>
            </a:r>
            <a:r>
              <a:rPr lang="zh-CN" altLang="en-US" sz="2200" dirty="0">
                <a:latin typeface="Arial" pitchFamily="34" charset="0"/>
              </a:rPr>
              <a:t> </a:t>
            </a:r>
            <a:r>
              <a:rPr lang="en-US" altLang="zh-CN" sz="2200" dirty="0" err="1"/>
              <a:t>yyparse</a:t>
            </a:r>
            <a:r>
              <a:rPr lang="en-US" altLang="zh-CN" sz="2200" dirty="0"/>
              <a:t>()</a:t>
            </a:r>
            <a:r>
              <a:rPr lang="en-US" altLang="zh-CN" sz="2200" dirty="0">
                <a:latin typeface="Arial" pitchFamily="34" charset="0"/>
              </a:rPr>
              <a:t> </a:t>
            </a:r>
            <a:r>
              <a:rPr lang="zh-CN" altLang="en-US" sz="2200" dirty="0"/>
              <a:t>函数。</a:t>
            </a:r>
            <a:r>
              <a:rPr lang="zh-CN" altLang="en-US" sz="2200" dirty="0">
                <a:latin typeface="Arial" pitchFamily="34" charset="0"/>
              </a:rPr>
              <a:t>  </a:t>
            </a:r>
            <a:endParaRPr lang="zh-CN" altLang="en-US" sz="2200" dirty="0"/>
          </a:p>
          <a:p>
            <a:pPr eaLnBrk="1" hangingPunct="1">
              <a:lnSpc>
                <a:spcPct val="80000"/>
              </a:lnSpc>
            </a:pPr>
            <a:r>
              <a:rPr lang="zh-CN" altLang="en-US" sz="2200" dirty="0"/>
              <a:t>当遇到错误时调</a:t>
            </a:r>
            <a:r>
              <a:rPr lang="zh-CN" altLang="en-US" sz="2200" dirty="0">
                <a:latin typeface="Arial" pitchFamily="34" charset="0"/>
              </a:rPr>
              <a:t> </a:t>
            </a:r>
            <a:r>
              <a:rPr lang="en-US" altLang="zh-CN" sz="2200" dirty="0" err="1"/>
              <a:t>yyerror</a:t>
            </a:r>
            <a:r>
              <a:rPr lang="en-US" altLang="zh-CN" sz="2200" dirty="0"/>
              <a:t>(char</a:t>
            </a:r>
            <a:r>
              <a:rPr lang="en-US" altLang="zh-CN" sz="2200" dirty="0">
                <a:latin typeface="Arial" pitchFamily="34" charset="0"/>
              </a:rPr>
              <a:t> </a:t>
            </a:r>
            <a:r>
              <a:rPr lang="en-US" altLang="zh-CN" sz="2200" dirty="0" err="1"/>
              <a:t>msg</a:t>
            </a:r>
            <a:r>
              <a:rPr lang="en-US" altLang="zh-CN" sz="2200" dirty="0"/>
              <a:t>)</a:t>
            </a:r>
            <a:r>
              <a:rPr lang="zh-CN" altLang="en-US" sz="2200" dirty="0"/>
              <a:t>。错误消息作为参数来传递。</a:t>
            </a:r>
          </a:p>
        </p:txBody>
      </p:sp>
      <p:sp>
        <p:nvSpPr>
          <p:cNvPr id="61444" name="Rectangle 4"/>
          <p:cNvSpPr>
            <a:spLocks noChangeArrowheads="1"/>
          </p:cNvSpPr>
          <p:nvPr/>
        </p:nvSpPr>
        <p:spPr bwMode="auto">
          <a:xfrm>
            <a:off x="6313488" y="825500"/>
            <a:ext cx="2717800" cy="193899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spAutoFit/>
          </a:bodyPr>
          <a:lstStyle/>
          <a:p>
            <a:pPr algn="ctr" eaLnBrk="1" hangingPunct="1">
              <a:defRPr/>
            </a:pPr>
            <a:r>
              <a:rPr lang="en-US" altLang="zh-CN" sz="2400" dirty="0">
                <a:solidFill>
                  <a:srgbClr val="000000"/>
                </a:solidFill>
                <a:latin typeface="Arial" charset="0"/>
              </a:rPr>
              <a:t> </a:t>
            </a:r>
            <a:r>
              <a:rPr lang="en-US" altLang="zh-CN" sz="2400" b="1" dirty="0">
                <a:solidFill>
                  <a:srgbClr val="000000"/>
                </a:solidFill>
                <a:latin typeface="Arial" charset="0"/>
              </a:rPr>
              <a:t> </a:t>
            </a:r>
            <a:r>
              <a:rPr lang="zh-CN" altLang="en-US" sz="2400" b="1" dirty="0">
                <a:solidFill>
                  <a:srgbClr val="000000"/>
                </a:solidFill>
                <a:latin typeface="Arial" charset="0"/>
              </a:rPr>
              <a:t>说明部分</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翻译规则</a:t>
            </a:r>
          </a:p>
          <a:p>
            <a:pPr algn="ctr" eaLnBrk="1" hangingPunct="1">
              <a:defRPr/>
            </a:pPr>
            <a:r>
              <a:rPr lang="zh-CN" altLang="en-US" sz="2400" b="1" dirty="0">
                <a:solidFill>
                  <a:srgbClr val="000000"/>
                </a:solidFill>
                <a:latin typeface="Arial" charset="0"/>
              </a:rPr>
              <a:t>  ％％</a:t>
            </a:r>
          </a:p>
          <a:p>
            <a:pPr algn="ctr" eaLnBrk="1" hangingPunct="1">
              <a:defRPr/>
            </a:pPr>
            <a:r>
              <a:rPr lang="zh-CN" altLang="en-US" sz="2400" b="1" dirty="0">
                <a:solidFill>
                  <a:srgbClr val="000000"/>
                </a:solidFill>
                <a:latin typeface="Arial" charset="0"/>
              </a:rPr>
              <a:t>  辅助过程</a:t>
            </a:r>
          </a:p>
        </p:txBody>
      </p:sp>
      <p:sp>
        <p:nvSpPr>
          <p:cNvPr id="61445" name="AutoShape 5"/>
          <p:cNvSpPr>
            <a:spLocks/>
          </p:cNvSpPr>
          <p:nvPr/>
        </p:nvSpPr>
        <p:spPr bwMode="auto">
          <a:xfrm>
            <a:off x="323528" y="915566"/>
            <a:ext cx="5544616" cy="2067347"/>
          </a:xfrm>
          <a:prstGeom prst="borderCallout1">
            <a:avLst>
              <a:gd name="adj1" fmla="val 81677"/>
              <a:gd name="adj2" fmla="val 99683"/>
              <a:gd name="adj3" fmla="val 81451"/>
              <a:gd name="adj4" fmla="val 119569"/>
            </a:avLst>
          </a:prstGeom>
          <a:ln>
            <a:headEnd/>
            <a:tailEnd/>
          </a:ln>
        </p:spPr>
        <p:style>
          <a:lnRef idx="2">
            <a:schemeClr val="accent4"/>
          </a:lnRef>
          <a:fillRef idx="1">
            <a:schemeClr val="lt1"/>
          </a:fillRef>
          <a:effectRef idx="0">
            <a:schemeClr val="accent4"/>
          </a:effectRef>
          <a:fontRef idx="minor">
            <a:schemeClr val="dk1"/>
          </a:fontRef>
        </p:style>
        <p:txBody>
          <a:bodyPr/>
          <a:lstStyle/>
          <a:p>
            <a:pPr marL="268288" indent="-268288" eaLnBrk="1" hangingPunct="1">
              <a:buFont typeface="Arial" pitchFamily="34" charset="0"/>
              <a:buChar char="•"/>
              <a:defRPr/>
            </a:pPr>
            <a:r>
              <a:rPr lang="en-US" altLang="zh-CN" dirty="0">
                <a:solidFill>
                  <a:schemeClr val="tx1"/>
                </a:solidFill>
                <a:latin typeface="宋体" panose="02010600030101010101" pitchFamily="2" charset="-122"/>
                <a:ea typeface="宋体" panose="02010600030101010101" pitchFamily="2" charset="-122"/>
              </a:rPr>
              <a:t>C</a:t>
            </a:r>
            <a:r>
              <a:rPr lang="zh-CN" altLang="zh-CN" dirty="0">
                <a:solidFill>
                  <a:schemeClr val="tx1"/>
                </a:solidFill>
                <a:latin typeface="宋体" panose="02010600030101010101" pitchFamily="2" charset="-122"/>
                <a:ea typeface="宋体" panose="02010600030101010101" pitchFamily="2" charset="-122"/>
              </a:rPr>
              <a:t>语言写的支持例程</a:t>
            </a:r>
            <a:endParaRPr lang="en-US" altLang="zh-CN" dirty="0">
              <a:solidFill>
                <a:schemeClr val="tx1"/>
              </a:solidFill>
              <a:latin typeface="宋体" panose="02010600030101010101" pitchFamily="2" charset="-122"/>
              <a:ea typeface="宋体" panose="02010600030101010101" pitchFamily="2" charset="-122"/>
            </a:endParaRPr>
          </a:p>
          <a:p>
            <a:pPr marL="268288" indent="-268288" eaLnBrk="1" hangingPunct="1">
              <a:buFont typeface="Arial" pitchFamily="34" charset="0"/>
              <a:buChar char="•"/>
              <a:defRPr/>
            </a:pPr>
            <a:r>
              <a:rPr lang="zh-CN" altLang="zh-CN" dirty="0">
                <a:solidFill>
                  <a:schemeClr val="tx1"/>
                </a:solidFill>
                <a:latin typeface="宋体" panose="02010600030101010101" pitchFamily="2" charset="-122"/>
                <a:ea typeface="宋体" panose="02010600030101010101" pitchFamily="2" charset="-122"/>
              </a:rPr>
              <a:t>必须提供名字为</a:t>
            </a:r>
            <a:r>
              <a:rPr lang="en-US" altLang="zh-CN" dirty="0" err="1">
                <a:solidFill>
                  <a:schemeClr val="tx1"/>
                </a:solidFill>
                <a:latin typeface="宋体" panose="02010600030101010101" pitchFamily="2" charset="-122"/>
                <a:ea typeface="宋体" panose="02010600030101010101" pitchFamily="2" charset="-122"/>
              </a:rPr>
              <a:t>yylex</a:t>
            </a:r>
            <a:r>
              <a:rPr lang="en-US" altLang="zh-CN" dirty="0">
                <a:solidFill>
                  <a:schemeClr val="tx1"/>
                </a:solidFill>
                <a:latin typeface="宋体" panose="02010600030101010101" pitchFamily="2" charset="-122"/>
                <a:ea typeface="宋体" panose="02010600030101010101" pitchFamily="2" charset="-122"/>
              </a:rPr>
              <a:t>( )</a:t>
            </a:r>
            <a:r>
              <a:rPr lang="zh-CN" altLang="zh-CN" dirty="0">
                <a:solidFill>
                  <a:schemeClr val="tx1"/>
                </a:solidFill>
                <a:latin typeface="宋体" panose="02010600030101010101" pitchFamily="2" charset="-122"/>
                <a:ea typeface="宋体" panose="02010600030101010101" pitchFamily="2" charset="-122"/>
              </a:rPr>
              <a:t>的词法分析器</a:t>
            </a:r>
            <a:r>
              <a:rPr lang="zh-CN" altLang="en-US" dirty="0">
                <a:solidFill>
                  <a:schemeClr val="tx1"/>
                </a:solidFill>
                <a:latin typeface="宋体" panose="02010600030101010101" pitchFamily="2" charset="-122"/>
                <a:ea typeface="宋体" panose="02010600030101010101" pitchFamily="2" charset="-122"/>
              </a:rPr>
              <a:t>，用来</a:t>
            </a:r>
            <a:r>
              <a:rPr lang="zh-CN" altLang="zh-CN" dirty="0">
                <a:solidFill>
                  <a:schemeClr val="tx1"/>
                </a:solidFill>
                <a:latin typeface="宋体" panose="02010600030101010101" pitchFamily="2" charset="-122"/>
                <a:ea typeface="宋体" panose="02010600030101010101" pitchFamily="2" charset="-122"/>
              </a:rPr>
              <a:t>返回记号和属性</a:t>
            </a:r>
            <a:r>
              <a:rPr lang="zh-CN" altLang="en-US" dirty="0">
                <a:solidFill>
                  <a:schemeClr val="tx1"/>
                </a:solidFill>
                <a:latin typeface="宋体" panose="02010600030101010101" pitchFamily="2" charset="-122"/>
                <a:ea typeface="宋体" panose="02010600030101010101" pitchFamily="2" charset="-122"/>
              </a:rPr>
              <a:t>，</a:t>
            </a:r>
            <a:r>
              <a:rPr lang="zh-CN" altLang="zh-CN" dirty="0">
                <a:solidFill>
                  <a:schemeClr val="tx1"/>
                </a:solidFill>
                <a:latin typeface="宋体" panose="02010600030101010101" pitchFamily="2" charset="-122"/>
                <a:ea typeface="宋体" panose="02010600030101010101" pitchFamily="2" charset="-122"/>
              </a:rPr>
              <a:t>可以用</a:t>
            </a:r>
            <a:r>
              <a:rPr lang="en-US" altLang="zh-CN" dirty="0" err="1">
                <a:solidFill>
                  <a:schemeClr val="tx1"/>
                </a:solidFill>
                <a:latin typeface="宋体" panose="02010600030101010101" pitchFamily="2" charset="-122"/>
                <a:ea typeface="宋体" panose="02010600030101010101" pitchFamily="2" charset="-122"/>
              </a:rPr>
              <a:t>Lex</a:t>
            </a:r>
            <a:r>
              <a:rPr lang="zh-CN" altLang="en-US" dirty="0">
                <a:solidFill>
                  <a:schemeClr val="tx1"/>
                </a:solidFill>
                <a:latin typeface="宋体" panose="02010600030101010101" pitchFamily="2" charset="-122"/>
                <a:ea typeface="宋体" panose="02010600030101010101" pitchFamily="2" charset="-122"/>
              </a:rPr>
              <a:t>词法分析器</a:t>
            </a:r>
            <a:r>
              <a:rPr lang="zh-CN" altLang="zh-CN" dirty="0">
                <a:solidFill>
                  <a:schemeClr val="tx1"/>
                </a:solidFill>
                <a:latin typeface="宋体" panose="02010600030101010101" pitchFamily="2" charset="-122"/>
                <a:ea typeface="宋体" panose="02010600030101010101" pitchFamily="2" charset="-122"/>
              </a:rPr>
              <a:t>来产生</a:t>
            </a:r>
            <a:r>
              <a:rPr lang="en-US" altLang="zh-CN" dirty="0" err="1">
                <a:solidFill>
                  <a:schemeClr val="tx1"/>
                </a:solidFill>
                <a:latin typeface="宋体" panose="02010600030101010101" pitchFamily="2" charset="-122"/>
                <a:ea typeface="宋体" panose="02010600030101010101" pitchFamily="2" charset="-122"/>
              </a:rPr>
              <a:t>yylex</a:t>
            </a:r>
            <a:r>
              <a:rPr lang="en-US" altLang="zh-CN" dirty="0">
                <a:solidFill>
                  <a:schemeClr val="tx1"/>
                </a:solidFill>
                <a:latin typeface="宋体" panose="02010600030101010101" pitchFamily="2" charset="-122"/>
                <a:ea typeface="宋体" panose="02010600030101010101" pitchFamily="2" charset="-122"/>
              </a:rPr>
              <a:t>( )</a:t>
            </a:r>
            <a:r>
              <a:rPr lang="zh-CN" altLang="en-US" dirty="0">
                <a:solidFill>
                  <a:schemeClr val="tx1"/>
                </a:solidFill>
                <a:latin typeface="宋体" panose="02010600030101010101" pitchFamily="2" charset="-122"/>
                <a:ea typeface="宋体" panose="02010600030101010101" pitchFamily="2" charset="-122"/>
              </a:rPr>
              <a:t>，</a:t>
            </a:r>
            <a:r>
              <a:rPr lang="zh-CN" altLang="zh-CN" dirty="0">
                <a:solidFill>
                  <a:schemeClr val="tx1"/>
                </a:solidFill>
                <a:latin typeface="宋体" panose="02010600030101010101" pitchFamily="2" charset="-122"/>
                <a:ea typeface="宋体" panose="02010600030101010101" pitchFamily="2" charset="-122"/>
              </a:rPr>
              <a:t>返回的记号类别，如</a:t>
            </a:r>
            <a:r>
              <a:rPr lang="en-US" altLang="zh-CN" dirty="0">
                <a:solidFill>
                  <a:schemeClr val="tx1"/>
                </a:solidFill>
                <a:latin typeface="宋体" panose="02010600030101010101" pitchFamily="2" charset="-122"/>
                <a:ea typeface="宋体" panose="02010600030101010101" pitchFamily="2" charset="-122"/>
              </a:rPr>
              <a:t>DIGIT</a:t>
            </a:r>
            <a:r>
              <a:rPr lang="zh-CN" altLang="zh-CN" dirty="0">
                <a:solidFill>
                  <a:schemeClr val="tx1"/>
                </a:solidFill>
                <a:latin typeface="宋体" panose="02010600030101010101" pitchFamily="2" charset="-122"/>
                <a:ea typeface="宋体" panose="02010600030101010101" pitchFamily="2" charset="-122"/>
              </a:rPr>
              <a:t>，必须在</a:t>
            </a:r>
            <a:r>
              <a:rPr lang="en-US" altLang="zh-CN" dirty="0">
                <a:solidFill>
                  <a:schemeClr val="tx1"/>
                </a:solidFill>
                <a:latin typeface="宋体" panose="02010600030101010101" pitchFamily="2" charset="-122"/>
                <a:ea typeface="宋体" panose="02010600030101010101" pitchFamily="2" charset="-122"/>
              </a:rPr>
              <a:t>YACC</a:t>
            </a:r>
            <a:r>
              <a:rPr lang="zh-CN" altLang="zh-CN" dirty="0">
                <a:solidFill>
                  <a:schemeClr val="tx1"/>
                </a:solidFill>
                <a:latin typeface="宋体" panose="02010600030101010101" pitchFamily="2" charset="-122"/>
                <a:ea typeface="宋体" panose="02010600030101010101" pitchFamily="2" charset="-122"/>
              </a:rPr>
              <a:t>程序的第一部分声明；属性值必须通过</a:t>
            </a:r>
            <a:r>
              <a:rPr lang="en-US" altLang="zh-CN" dirty="0">
                <a:solidFill>
                  <a:schemeClr val="tx1"/>
                </a:solidFill>
                <a:latin typeface="宋体" panose="02010600030101010101" pitchFamily="2" charset="-122"/>
                <a:ea typeface="宋体" panose="02010600030101010101" pitchFamily="2" charset="-122"/>
              </a:rPr>
              <a:t>YACC</a:t>
            </a:r>
            <a:r>
              <a:rPr lang="zh-CN" altLang="zh-CN" dirty="0">
                <a:solidFill>
                  <a:schemeClr val="tx1"/>
                </a:solidFill>
                <a:latin typeface="宋体" panose="02010600030101010101" pitchFamily="2" charset="-122"/>
                <a:ea typeface="宋体" panose="02010600030101010101" pitchFamily="2" charset="-122"/>
              </a:rPr>
              <a:t>定义的变量</a:t>
            </a:r>
            <a:r>
              <a:rPr lang="en-US" altLang="zh-CN" dirty="0" err="1">
                <a:solidFill>
                  <a:schemeClr val="tx1"/>
                </a:solidFill>
                <a:latin typeface="宋体" panose="02010600030101010101" pitchFamily="2" charset="-122"/>
                <a:ea typeface="宋体" panose="02010600030101010101" pitchFamily="2" charset="-122"/>
              </a:rPr>
              <a:t>yylval</a:t>
            </a:r>
            <a:r>
              <a:rPr lang="zh-CN" altLang="zh-CN" dirty="0">
                <a:solidFill>
                  <a:schemeClr val="tx1"/>
                </a:solidFill>
                <a:latin typeface="宋体" panose="02010600030101010101" pitchFamily="2" charset="-122"/>
                <a:ea typeface="宋体" panose="02010600030101010101" pitchFamily="2" charset="-122"/>
              </a:rPr>
              <a:t>传给分析器</a:t>
            </a:r>
            <a:endParaRPr lang="en-US" altLang="zh-CN" dirty="0">
              <a:solidFill>
                <a:schemeClr val="tx1"/>
              </a:solidFill>
              <a:latin typeface="宋体" panose="02010600030101010101" pitchFamily="2" charset="-122"/>
              <a:ea typeface="宋体" panose="02010600030101010101" pitchFamily="2" charset="-122"/>
            </a:endParaRPr>
          </a:p>
          <a:p>
            <a:pPr marL="268288" indent="-268288" eaLnBrk="1" hangingPunct="1">
              <a:buFont typeface="Arial" pitchFamily="34" charset="0"/>
              <a:buChar char="•"/>
              <a:defRPr/>
            </a:pPr>
            <a:r>
              <a:rPr lang="zh-CN" altLang="zh-CN" dirty="0">
                <a:solidFill>
                  <a:schemeClr val="tx1"/>
                </a:solidFill>
                <a:latin typeface="宋体" panose="02010600030101010101" pitchFamily="2" charset="-122"/>
                <a:ea typeface="宋体" panose="02010600030101010101" pitchFamily="2" charset="-122"/>
              </a:rPr>
              <a:t>可以加上其它过程，如错误恢复例程</a:t>
            </a:r>
            <a:r>
              <a:rPr lang="en-US" altLang="zh-CN" dirty="0">
                <a:solidFill>
                  <a:schemeClr val="tx1"/>
                </a:solidFill>
                <a:latin typeface="宋体" panose="02010600030101010101" pitchFamily="2" charset="-122"/>
                <a:ea typeface="宋体" panose="02010600030101010101" pitchFamily="2" charset="-122"/>
              </a:rPr>
              <a:t> </a:t>
            </a:r>
            <a:endParaRPr lang="zh-CN" altLang="zh-CN" dirty="0">
              <a:solidFill>
                <a:schemeClr val="tx1"/>
              </a:solidFill>
              <a:latin typeface="宋体" panose="02010600030101010101" pitchFamily="2" charset="-122"/>
              <a:ea typeface="宋体" panose="02010600030101010101" pitchFamily="2" charset="-122"/>
            </a:endParaRPr>
          </a:p>
        </p:txBody>
      </p:sp>
      <p:sp>
        <p:nvSpPr>
          <p:cNvPr id="8" name="椭圆 7"/>
          <p:cNvSpPr/>
          <p:nvPr/>
        </p:nvSpPr>
        <p:spPr>
          <a:xfrm>
            <a:off x="8458200" y="2364442"/>
            <a:ext cx="685800" cy="4000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zh-CN" sz="2800" b="1" dirty="0"/>
              <a:t>3</a:t>
            </a:r>
            <a:endParaRPr lang="zh-CN" altLang="en-US" sz="2800" b="1" dirty="0"/>
          </a:p>
        </p:txBody>
      </p:sp>
    </p:spTree>
    <p:extLst>
      <p:ext uri="{BB962C8B-B14F-4D97-AF65-F5344CB8AC3E}">
        <p14:creationId xmlns:p14="http://schemas.microsoft.com/office/powerpoint/2010/main" val="37321393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4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5"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3"/>
          <p:cNvSpPr>
            <a:spLocks noGrp="1" noChangeArrowheads="1"/>
          </p:cNvSpPr>
          <p:nvPr>
            <p:ph type="body" idx="1"/>
          </p:nvPr>
        </p:nvSpPr>
        <p:spPr>
          <a:xfrm>
            <a:off x="533400" y="742950"/>
            <a:ext cx="4974704" cy="4400550"/>
          </a:xfrm>
        </p:spPr>
        <p:style>
          <a:lnRef idx="2">
            <a:schemeClr val="accent6"/>
          </a:lnRef>
          <a:fillRef idx="1">
            <a:schemeClr val="lt1"/>
          </a:fillRef>
          <a:effectRef idx="0">
            <a:schemeClr val="accent6"/>
          </a:effectRef>
          <a:fontRef idx="minor">
            <a:schemeClr val="dk1"/>
          </a:fontRef>
        </p:style>
        <p:txBody>
          <a:bodyPr>
            <a:noAutofit/>
          </a:bodyPr>
          <a:lstStyle/>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a:t>
            </a:r>
            <a:r>
              <a:rPr lang="zh-CN" altLang="en-US" sz="1800" dirty="0">
                <a:latin typeface="Times New Roman" panose="02020603050405020304" pitchFamily="18" charset="0"/>
                <a:cs typeface="Times New Roman" panose="02020603050405020304" pitchFamily="18" charset="0"/>
              </a:rPr>
              <a:t>第一部分：*</a:t>
            </a:r>
            <a:r>
              <a:rPr lang="en-US" altLang="zh-CN" sz="1800" dirty="0">
                <a:latin typeface="Times New Roman" panose="02020603050405020304" pitchFamily="18" charset="0"/>
                <a:cs typeface="Times New Roman" panose="02020603050405020304" pitchFamily="18" charset="0"/>
              </a:rPr>
              <a: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#include &lt;</a:t>
            </a:r>
            <a:r>
              <a:rPr lang="en-US" altLang="zh-CN" sz="1800" dirty="0" err="1">
                <a:latin typeface="Times New Roman" panose="02020603050405020304" pitchFamily="18" charset="0"/>
                <a:cs typeface="Times New Roman" panose="02020603050405020304" pitchFamily="18" charset="0"/>
              </a:rPr>
              <a:t>ctype.h</a:t>
            </a:r>
            <a:r>
              <a:rPr lang="en-US" altLang="zh-CN" sz="1800" dirty="0">
                <a:latin typeface="Times New Roman" panose="02020603050405020304" pitchFamily="18" charset="0"/>
                <a:cs typeface="Times New Roman" panose="02020603050405020304" pitchFamily="18" charset="0"/>
              </a:rPr>
              <a:t>&gt;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%token DIGIT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a:t>
            </a:r>
            <a:r>
              <a:rPr lang="zh-CN" altLang="en-US" sz="1800" dirty="0">
                <a:latin typeface="Times New Roman" panose="02020603050405020304" pitchFamily="18" charset="0"/>
                <a:cs typeface="Times New Roman" panose="02020603050405020304" pitchFamily="18" charset="0"/>
              </a:rPr>
              <a:t>第二部分：*</a:t>
            </a:r>
            <a:r>
              <a:rPr lang="en-US" altLang="zh-CN" sz="1800" dirty="0">
                <a:latin typeface="Times New Roman" panose="02020603050405020304" pitchFamily="18" charset="0"/>
                <a:cs typeface="Times New Roman" panose="02020603050405020304" pitchFamily="18" charset="0"/>
              </a:rPr>
              <a:t>/</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line	:</a:t>
            </a:r>
            <a:r>
              <a:rPr lang="en-US" altLang="zh-CN" sz="1800" dirty="0" err="1">
                <a:latin typeface="Times New Roman" panose="02020603050405020304" pitchFamily="18" charset="0"/>
                <a:cs typeface="Times New Roman" panose="02020603050405020304" pitchFamily="18" charset="0"/>
              </a:rPr>
              <a:t>expr</a:t>
            </a:r>
            <a:r>
              <a:rPr lang="en-US" altLang="zh-CN" sz="1800" dirty="0">
                <a:latin typeface="Times New Roman" panose="02020603050405020304" pitchFamily="18" charset="0"/>
                <a:cs typeface="Times New Roman" panose="02020603050405020304" pitchFamily="18" charset="0"/>
              </a:rPr>
              <a:t> '\n'         {</a:t>
            </a:r>
            <a:r>
              <a:rPr lang="en-US" altLang="zh-CN" sz="1800" dirty="0" err="1">
                <a:latin typeface="Times New Roman" panose="02020603050405020304" pitchFamily="18" charset="0"/>
                <a:cs typeface="Times New Roman" panose="02020603050405020304" pitchFamily="18" charset="0"/>
              </a:rPr>
              <a:t>printf</a:t>
            </a:r>
            <a:r>
              <a:rPr lang="en-US" altLang="zh-CN" sz="1800" dirty="0">
                <a:latin typeface="Times New Roman" panose="02020603050405020304" pitchFamily="18" charset="0"/>
                <a:cs typeface="Times New Roman" panose="02020603050405020304" pitchFamily="18" charset="0"/>
              </a:rPr>
              <a:t>("%d\n",$1);}</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a:t>
            </a:r>
          </a:p>
          <a:p>
            <a:pPr eaLnBrk="1" hangingPunct="1">
              <a:lnSpc>
                <a:spcPct val="80000"/>
              </a:lnSpc>
              <a:spcBef>
                <a:spcPct val="0"/>
              </a:spcBef>
              <a:buFontTx/>
              <a:buNone/>
              <a:defRPr/>
            </a:pPr>
            <a:r>
              <a:rPr lang="en-US" altLang="zh-CN" sz="1800" dirty="0" err="1">
                <a:latin typeface="Times New Roman" panose="02020603050405020304" pitchFamily="18" charset="0"/>
                <a:cs typeface="Times New Roman" panose="02020603050405020304" pitchFamily="18" charset="0"/>
              </a:rPr>
              <a:t>expr</a:t>
            </a: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expr</a:t>
            </a:r>
            <a:r>
              <a:rPr lang="en-US" altLang="zh-CN" sz="1800" dirty="0">
                <a:latin typeface="Times New Roman" panose="02020603050405020304" pitchFamily="18" charset="0"/>
                <a:cs typeface="Times New Roman" panose="02020603050405020304" pitchFamily="18" charset="0"/>
              </a:rPr>
              <a:t> '+' term  {$$=$1+$3;}</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expr</a:t>
            </a:r>
            <a:r>
              <a:rPr lang="en-US" altLang="zh-CN" sz="1800" dirty="0">
                <a:latin typeface="Times New Roman" panose="02020603050405020304" pitchFamily="18" charset="0"/>
                <a:cs typeface="Times New Roman" panose="02020603050405020304" pitchFamily="18" charset="0"/>
              </a:rPr>
              <a:t> '-' term   {$$=$1-$3;}</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|term</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term	:term '*' factor  {$$=$1*$3}</a:t>
            </a:r>
          </a:p>
          <a:p>
            <a:pPr eaLnBrk="1" hangingPunct="1">
              <a:lnSpc>
                <a:spcPct val="80000"/>
              </a:lnSpc>
              <a:spcBef>
                <a:spcPct val="0"/>
              </a:spcBef>
              <a:buFontTx/>
              <a:buNone/>
              <a:defRPr/>
            </a:pPr>
            <a:r>
              <a:rPr lang="en-US" altLang="zh-CN" sz="1800" dirty="0">
                <a:latin typeface="Times New Roman" panose="02020603050405020304" pitchFamily="18" charset="0"/>
                <a:cs typeface="Times New Roman" panose="02020603050405020304" pitchFamily="18" charset="0"/>
              </a:rPr>
              <a:t>		</a:t>
            </a:r>
            <a:r>
              <a:rPr lang="pt-PT" altLang="zh-CN" sz="1800" dirty="0">
                <a:latin typeface="Times New Roman" panose="02020603050405020304" pitchFamily="18" charset="0"/>
                <a:cs typeface="Times New Roman" panose="02020603050405020304" pitchFamily="18" charset="0"/>
              </a:rPr>
              <a:t>|factor</a:t>
            </a:r>
          </a:p>
          <a:p>
            <a:pPr eaLnBrk="1" hangingPunct="1">
              <a:lnSpc>
                <a:spcPct val="80000"/>
              </a:lnSpc>
              <a:spcBef>
                <a:spcPct val="0"/>
              </a:spcBef>
              <a:buFontTx/>
              <a:buNone/>
              <a:defRPr/>
            </a:pPr>
            <a:r>
              <a:rPr lang="pt-PT" altLang="zh-CN" sz="1800" dirty="0">
                <a:latin typeface="Times New Roman" panose="02020603050405020304" pitchFamily="18" charset="0"/>
                <a:cs typeface="Times New Roman" panose="02020603050405020304" pitchFamily="18" charset="0"/>
              </a:rPr>
              <a:t>		;</a:t>
            </a:r>
          </a:p>
          <a:p>
            <a:pPr eaLnBrk="1" hangingPunct="1">
              <a:lnSpc>
                <a:spcPct val="80000"/>
              </a:lnSpc>
              <a:spcBef>
                <a:spcPct val="0"/>
              </a:spcBef>
              <a:buFontTx/>
              <a:buNone/>
              <a:defRPr/>
            </a:pPr>
            <a:r>
              <a:rPr lang="pt-PT" altLang="zh-CN" sz="1800" dirty="0">
                <a:latin typeface="Times New Roman" panose="02020603050405020304" pitchFamily="18" charset="0"/>
                <a:cs typeface="Times New Roman" panose="02020603050405020304" pitchFamily="18" charset="0"/>
              </a:rPr>
              <a:t>factor	:'('expr')'	{$$=$2;}</a:t>
            </a:r>
          </a:p>
          <a:p>
            <a:pPr eaLnBrk="1" hangingPunct="1">
              <a:lnSpc>
                <a:spcPct val="80000"/>
              </a:lnSpc>
              <a:spcBef>
                <a:spcPct val="0"/>
              </a:spcBef>
              <a:buFontTx/>
              <a:buNone/>
              <a:defRPr/>
            </a:pPr>
            <a:r>
              <a:rPr lang="pt-PT" altLang="zh-CN" sz="1800" dirty="0">
                <a:latin typeface="Times New Roman" panose="02020603050405020304" pitchFamily="18" charset="0"/>
                <a:cs typeface="Times New Roman" panose="02020603050405020304" pitchFamily="18" charset="0"/>
              </a:rPr>
              <a:t>		|DIGIT</a:t>
            </a:r>
          </a:p>
          <a:p>
            <a:pPr eaLnBrk="1" hangingPunct="1">
              <a:lnSpc>
                <a:spcPct val="80000"/>
              </a:lnSpc>
              <a:spcBef>
                <a:spcPct val="0"/>
              </a:spcBef>
              <a:buFontTx/>
              <a:buNone/>
              <a:defRPr/>
            </a:pPr>
            <a:r>
              <a:rPr lang="pt-PT" altLang="zh-CN" sz="1800" dirty="0">
                <a:latin typeface="Times New Roman" panose="02020603050405020304" pitchFamily="18" charset="0"/>
                <a:cs typeface="Times New Roman" panose="02020603050405020304" pitchFamily="18" charset="0"/>
              </a:rPr>
              <a:t>		;</a:t>
            </a:r>
          </a:p>
          <a:p>
            <a:pPr eaLnBrk="1" hangingPunct="1">
              <a:lnSpc>
                <a:spcPct val="80000"/>
              </a:lnSpc>
              <a:spcBef>
                <a:spcPct val="0"/>
              </a:spcBef>
              <a:buFontTx/>
              <a:buNone/>
              <a:defRPr/>
            </a:pPr>
            <a:r>
              <a:rPr lang="pt-PT" altLang="zh-CN" sz="1800" dirty="0">
                <a:latin typeface="Times New Roman" panose="02020603050405020304" pitchFamily="18" charset="0"/>
                <a:cs typeface="Times New Roman" panose="02020603050405020304" pitchFamily="18" charset="0"/>
              </a:rPr>
              <a:t>%% </a:t>
            </a:r>
            <a:endParaRPr lang="en-US" altLang="zh-CN" sz="1800" dirty="0">
              <a:latin typeface="Times New Roman" panose="02020603050405020304" pitchFamily="18" charset="0"/>
              <a:cs typeface="Times New Roman" panose="02020603050405020304" pitchFamily="18" charset="0"/>
            </a:endParaRPr>
          </a:p>
        </p:txBody>
      </p:sp>
      <p:sp>
        <p:nvSpPr>
          <p:cNvPr id="89092" name="Rectangle 4"/>
          <p:cNvSpPr>
            <a:spLocks noChangeArrowheads="1"/>
          </p:cNvSpPr>
          <p:nvPr/>
        </p:nvSpPr>
        <p:spPr bwMode="auto">
          <a:xfrm>
            <a:off x="5724128" y="800100"/>
            <a:ext cx="3191272" cy="1107996"/>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a:spAutoFit/>
          </a:bodyPr>
          <a:lstStyle/>
          <a:p>
            <a:pPr marL="0" lvl="2" eaLnBrk="1" hangingPunct="1">
              <a:defRPr/>
            </a:pPr>
            <a:r>
              <a:rPr lang="de-DE" altLang="zh-CN" sz="2200" dirty="0">
                <a:solidFill>
                  <a:srgbClr val="000000"/>
                </a:solidFill>
                <a:effectLst>
                  <a:outerShdw blurRad="38100" dist="38100" dir="2700000" algn="tl">
                    <a:srgbClr val="C0C0C0"/>
                  </a:outerShdw>
                </a:effectLst>
              </a:rPr>
              <a:t>E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E + T | E - T | T</a:t>
            </a:r>
          </a:p>
          <a:p>
            <a:pPr marL="0" lvl="2" eaLnBrk="1" hangingPunct="1">
              <a:defRPr/>
            </a:pPr>
            <a:r>
              <a:rPr lang="de-DE" altLang="zh-CN" sz="2200" dirty="0">
                <a:solidFill>
                  <a:srgbClr val="000000"/>
                </a:solidFill>
                <a:effectLst>
                  <a:outerShdw blurRad="38100" dist="38100" dir="2700000" algn="tl">
                    <a:srgbClr val="C0C0C0"/>
                  </a:outerShdw>
                </a:effectLst>
              </a:rPr>
              <a:t>T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T * F | F</a:t>
            </a:r>
          </a:p>
          <a:p>
            <a:pPr marL="0" lvl="2" eaLnBrk="1" hangingPunct="1">
              <a:defRPr/>
            </a:pPr>
            <a:r>
              <a:rPr lang="de-DE" altLang="zh-CN" sz="2200" dirty="0">
                <a:solidFill>
                  <a:srgbClr val="000000"/>
                </a:solidFill>
                <a:effectLst>
                  <a:outerShdw blurRad="38100" dist="38100" dir="2700000" algn="tl">
                    <a:srgbClr val="C0C0C0"/>
                  </a:outerShdw>
                </a:effectLst>
              </a:rPr>
              <a:t>F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(E) | DIGIT</a:t>
            </a:r>
            <a:endParaRPr lang="en-US" altLang="zh-CN" sz="2200" dirty="0">
              <a:solidFill>
                <a:srgbClr val="000000"/>
              </a:solidFill>
              <a:effectLst>
                <a:outerShdw blurRad="38100" dist="38100" dir="2700000" algn="tl">
                  <a:srgbClr val="C0C0C0"/>
                </a:outerShdw>
              </a:effectLst>
            </a:endParaRPr>
          </a:p>
        </p:txBody>
      </p:sp>
      <p:sp>
        <p:nvSpPr>
          <p:cNvPr id="263172" name="Rectangle 2"/>
          <p:cNvSpPr>
            <a:spLocks noGrp="1" noChangeArrowheads="1"/>
          </p:cNvSpPr>
          <p:nvPr>
            <p:ph type="title"/>
          </p:nvPr>
        </p:nvSpPr>
        <p:spPr>
          <a:xfrm>
            <a:off x="533400" y="0"/>
            <a:ext cx="8229600" cy="685800"/>
          </a:xfrm>
        </p:spPr>
        <p:txBody>
          <a:bodyPr>
            <a:noAutofit/>
          </a:bodyPr>
          <a:lstStyle/>
          <a:p>
            <a:pPr eaLnBrk="1" hangingPunct="1"/>
            <a:r>
              <a:rPr lang="zh-CN" altLang="en-US" sz="2400" dirty="0"/>
              <a:t>例：构造台式计算器的翻译程序，读入一行算术表达式，求值后打印结果。 </a:t>
            </a:r>
          </a:p>
        </p:txBody>
      </p:sp>
    </p:spTree>
    <p:extLst>
      <p:ext uri="{BB962C8B-B14F-4D97-AF65-F5344CB8AC3E}">
        <p14:creationId xmlns:p14="http://schemas.microsoft.com/office/powerpoint/2010/main" val="3082890540"/>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3"/>
          <p:cNvSpPr>
            <a:spLocks noGrp="1" noChangeArrowheads="1"/>
          </p:cNvSpPr>
          <p:nvPr>
            <p:ph type="body" idx="1"/>
          </p:nvPr>
        </p:nvSpPr>
        <p:spPr>
          <a:xfrm>
            <a:off x="457200" y="171450"/>
            <a:ext cx="5482952" cy="4800600"/>
          </a:xfrm>
        </p:spPr>
        <p:style>
          <a:lnRef idx="2">
            <a:schemeClr val="accent6"/>
          </a:lnRef>
          <a:fillRef idx="1">
            <a:schemeClr val="lt1"/>
          </a:fillRef>
          <a:effectRef idx="0">
            <a:schemeClr val="accent6"/>
          </a:effectRef>
          <a:fontRef idx="minor">
            <a:schemeClr val="dk1"/>
          </a:fontRef>
        </p:style>
        <p:txBody>
          <a:bodyPr>
            <a:noAutofit/>
          </a:bodyPr>
          <a:lstStyle/>
          <a:p>
            <a:pPr eaLnBrk="1" hangingPunct="1">
              <a:lnSpc>
                <a:spcPct val="80000"/>
              </a:lnSpc>
              <a:buFontTx/>
              <a:buNone/>
            </a:pPr>
            <a:r>
              <a:rPr lang="pt-PT" altLang="zh-CN" sz="1800" dirty="0">
                <a:solidFill>
                  <a:srgbClr val="FF0000"/>
                </a:solidFill>
                <a:latin typeface="Times New Roman" panose="02020603050405020304" pitchFamily="18" charset="0"/>
                <a:cs typeface="Times New Roman" panose="02020603050405020304" pitchFamily="18" charset="0"/>
              </a:rPr>
              <a:t>/*</a:t>
            </a:r>
            <a:r>
              <a:rPr lang="zh-CN" altLang="pt-PT" sz="1800" dirty="0">
                <a:solidFill>
                  <a:srgbClr val="FF0000"/>
                </a:solidFill>
                <a:latin typeface="Times New Roman" panose="02020603050405020304" pitchFamily="18" charset="0"/>
                <a:cs typeface="Times New Roman" panose="02020603050405020304" pitchFamily="18" charset="0"/>
              </a:rPr>
              <a:t>第三部分</a:t>
            </a:r>
            <a:r>
              <a:rPr lang="pt-PT" altLang="zh-CN" sz="1800" dirty="0">
                <a:solidFill>
                  <a:srgbClr val="FF0000"/>
                </a:solidFill>
                <a:latin typeface="Times New Roman" panose="02020603050405020304" pitchFamily="18" charset="0"/>
                <a:cs typeface="Times New Roman" panose="02020603050405020304" pitchFamily="18" charset="0"/>
              </a:rPr>
              <a:t>*/</a:t>
            </a:r>
          </a:p>
          <a:p>
            <a:pPr eaLnBrk="1" hangingPunct="1">
              <a:lnSpc>
                <a:spcPct val="80000"/>
              </a:lnSpc>
              <a:buFontTx/>
              <a:buNone/>
            </a:pPr>
            <a:r>
              <a:rPr lang="pt-PT" altLang="zh-CN" sz="1800" dirty="0">
                <a:latin typeface="Times New Roman" panose="02020603050405020304" pitchFamily="18" charset="0"/>
                <a:cs typeface="Times New Roman" panose="02020603050405020304" pitchFamily="18" charset="0"/>
              </a:rPr>
              <a:t>main() {</a:t>
            </a:r>
          </a:p>
          <a:p>
            <a:pPr eaLnBrk="1" hangingPunct="1">
              <a:lnSpc>
                <a:spcPct val="80000"/>
              </a:lnSpc>
              <a:buFontTx/>
              <a:buNone/>
            </a:pPr>
            <a:r>
              <a:rPr lang="pt-PT" altLang="zh-CN" sz="1800" dirty="0">
                <a:latin typeface="Times New Roman" panose="02020603050405020304" pitchFamily="18" charset="0"/>
                <a:cs typeface="Times New Roman" panose="02020603050405020304" pitchFamily="18" charset="0"/>
              </a:rPr>
              <a:t>   return yyparse();</a:t>
            </a:r>
          </a:p>
          <a:p>
            <a:pPr eaLnBrk="1" hangingPunct="1">
              <a:lnSpc>
                <a:spcPct val="80000"/>
              </a:lnSpc>
              <a:buFontTx/>
              <a:buNone/>
            </a:pPr>
            <a:r>
              <a:rPr lang="pt-PT" altLang="zh-CN" sz="1800" dirty="0">
                <a:latin typeface="Times New Roman" panose="02020603050405020304" pitchFamily="18" charset="0"/>
                <a:cs typeface="Times New Roman" panose="02020603050405020304" pitchFamily="18" charset="0"/>
              </a:rPr>
              <a:t> }</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int yylex() {</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	int c;</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	while((c=getchar())==' ');/*</a:t>
            </a:r>
            <a:r>
              <a:rPr lang="zh-CN" altLang="pt-PT" sz="1800" dirty="0">
                <a:solidFill>
                  <a:srgbClr val="000000"/>
                </a:solidFill>
                <a:latin typeface="Times New Roman" panose="02020603050405020304" pitchFamily="18" charset="0"/>
                <a:cs typeface="Times New Roman" panose="02020603050405020304" pitchFamily="18" charset="0"/>
              </a:rPr>
              <a:t>跳过空格*</a:t>
            </a:r>
            <a:r>
              <a:rPr lang="pt-PT" altLang="zh-CN" sz="1800" dirty="0">
                <a:solidFill>
                  <a:srgbClr val="000000"/>
                </a:solidFill>
                <a:latin typeface="Times New Roman" panose="02020603050405020304" pitchFamily="18" charset="0"/>
                <a:cs typeface="Times New Roman" panose="02020603050405020304" pitchFamily="18" charset="0"/>
              </a:rPr>
              <a:t>/</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	if (isdigit(c)) {</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		yylval=c-'0';</a:t>
            </a:r>
          </a:p>
          <a:p>
            <a:pPr eaLnBrk="1" hangingPunct="1">
              <a:lnSpc>
                <a:spcPct val="80000"/>
              </a:lnSpc>
              <a:buFontTx/>
              <a:buNone/>
            </a:pPr>
            <a:r>
              <a:rPr lang="pt-PT" altLang="zh-CN" sz="1800" dirty="0">
                <a:solidFill>
                  <a:srgbClr val="000000"/>
                </a:solidFill>
                <a:latin typeface="Times New Roman" panose="02020603050405020304" pitchFamily="18" charset="0"/>
                <a:cs typeface="Times New Roman" panose="02020603050405020304" pitchFamily="18" charset="0"/>
              </a:rPr>
              <a:t>		</a:t>
            </a:r>
            <a:r>
              <a:rPr lang="en-US" altLang="zh-CN" sz="1800" dirty="0">
                <a:solidFill>
                  <a:srgbClr val="000000"/>
                </a:solidFill>
                <a:latin typeface="Times New Roman" panose="02020603050405020304" pitchFamily="18" charset="0"/>
                <a:cs typeface="Times New Roman" panose="02020603050405020304" pitchFamily="18" charset="0"/>
              </a:rPr>
              <a:t>return DIGIT;</a:t>
            </a:r>
          </a:p>
          <a:p>
            <a:pPr eaLnBrk="1" hangingPunct="1">
              <a:lnSpc>
                <a:spcPct val="80000"/>
              </a:lnSpc>
              <a:buFontTx/>
              <a:buNone/>
            </a:pPr>
            <a:r>
              <a:rPr lang="en-US" altLang="zh-CN" sz="1800" dirty="0">
                <a:solidFill>
                  <a:srgbClr val="000000"/>
                </a:solidFill>
                <a:latin typeface="Times New Roman" panose="02020603050405020304" pitchFamily="18" charset="0"/>
                <a:cs typeface="Times New Roman" panose="02020603050405020304" pitchFamily="18" charset="0"/>
              </a:rPr>
              <a:t>	   }</a:t>
            </a:r>
          </a:p>
          <a:p>
            <a:pPr eaLnBrk="1" hangingPunct="1">
              <a:lnSpc>
                <a:spcPct val="80000"/>
              </a:lnSpc>
              <a:buFontTx/>
              <a:buNone/>
            </a:pPr>
            <a:r>
              <a:rPr lang="en-US" altLang="zh-CN" sz="1800" dirty="0">
                <a:solidFill>
                  <a:srgbClr val="000000"/>
                </a:solidFill>
                <a:latin typeface="Times New Roman" panose="02020603050405020304" pitchFamily="18" charset="0"/>
                <a:cs typeface="Times New Roman" panose="02020603050405020304" pitchFamily="18" charset="0"/>
              </a:rPr>
              <a:t>   if (c=='\n') return 0;</a:t>
            </a:r>
          </a:p>
          <a:p>
            <a:pPr eaLnBrk="1" hangingPunct="1">
              <a:lnSpc>
                <a:spcPct val="80000"/>
              </a:lnSpc>
              <a:buFontTx/>
              <a:buNone/>
            </a:pPr>
            <a:r>
              <a:rPr lang="en-US" altLang="zh-CN" sz="1800" dirty="0">
                <a:solidFill>
                  <a:srgbClr val="000000"/>
                </a:solidFill>
                <a:latin typeface="Times New Roman" panose="02020603050405020304" pitchFamily="18" charset="0"/>
                <a:cs typeface="Times New Roman" panose="02020603050405020304" pitchFamily="18" charset="0"/>
              </a:rPr>
              <a:t>   return c;</a:t>
            </a:r>
          </a:p>
          <a:p>
            <a:pPr eaLnBrk="1" hangingPunct="1">
              <a:lnSpc>
                <a:spcPct val="80000"/>
              </a:lnSpc>
              <a:buFontTx/>
              <a:buNone/>
            </a:pPr>
            <a:r>
              <a:rPr lang="en-US" altLang="zh-CN" sz="1800" dirty="0">
                <a:solidFill>
                  <a:srgbClr val="000000"/>
                </a:solidFill>
                <a:latin typeface="Times New Roman" panose="02020603050405020304" pitchFamily="18" charset="0"/>
                <a:cs typeface="Times New Roman" panose="02020603050405020304" pitchFamily="18" charset="0"/>
              </a:rPr>
              <a:t>}</a:t>
            </a:r>
          </a:p>
          <a:p>
            <a:pPr eaLnBrk="1" hangingPunct="1">
              <a:lnSpc>
                <a:spcPct val="80000"/>
              </a:lnSpc>
              <a:buFontTx/>
              <a:buNone/>
            </a:pPr>
            <a:r>
              <a:rPr lang="en-US" altLang="zh-CN" sz="1800" dirty="0" err="1">
                <a:latin typeface="Times New Roman" panose="02020603050405020304" pitchFamily="18" charset="0"/>
                <a:cs typeface="Times New Roman" panose="02020603050405020304" pitchFamily="18" charset="0"/>
              </a:rPr>
              <a:t>int</a:t>
            </a: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yyerror</a:t>
            </a:r>
            <a:r>
              <a:rPr lang="en-US" altLang="zh-CN" sz="1800" dirty="0">
                <a:latin typeface="Times New Roman" panose="02020603050405020304" pitchFamily="18" charset="0"/>
                <a:cs typeface="Times New Roman" panose="02020603050405020304" pitchFamily="18" charset="0"/>
              </a:rPr>
              <a:t>(char *s) {</a:t>
            </a:r>
          </a:p>
          <a:p>
            <a:pPr eaLnBrk="1" hangingPunct="1">
              <a:lnSpc>
                <a:spcPct val="80000"/>
              </a:lnSpc>
              <a:buFontTx/>
              <a:buNone/>
            </a:pP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fprintf</a:t>
            </a:r>
            <a:r>
              <a:rPr lang="en-US" altLang="zh-CN" sz="1800" dirty="0">
                <a:latin typeface="Times New Roman" panose="02020603050405020304" pitchFamily="18" charset="0"/>
                <a:cs typeface="Times New Roman" panose="02020603050405020304" pitchFamily="18" charset="0"/>
              </a:rPr>
              <a:t>(</a:t>
            </a:r>
            <a:r>
              <a:rPr lang="en-US" altLang="zh-CN" sz="1800" dirty="0" err="1">
                <a:latin typeface="Times New Roman" panose="02020603050405020304" pitchFamily="18" charset="0"/>
                <a:cs typeface="Times New Roman" panose="02020603050405020304" pitchFamily="18" charset="0"/>
              </a:rPr>
              <a:t>stderr</a:t>
            </a:r>
            <a:r>
              <a:rPr lang="en-US" altLang="zh-CN" sz="1800" dirty="0">
                <a:latin typeface="Times New Roman" panose="02020603050405020304" pitchFamily="18" charset="0"/>
                <a:cs typeface="Times New Roman" panose="02020603050405020304" pitchFamily="18" charset="0"/>
              </a:rPr>
              <a:t>,"%s\</a:t>
            </a:r>
            <a:r>
              <a:rPr lang="en-US" altLang="zh-CN" sz="1800" dirty="0" err="1">
                <a:latin typeface="Times New Roman" panose="02020603050405020304" pitchFamily="18" charset="0"/>
                <a:cs typeface="Times New Roman" panose="02020603050405020304" pitchFamily="18" charset="0"/>
              </a:rPr>
              <a:t>n",s</a:t>
            </a:r>
            <a:r>
              <a:rPr lang="en-US" altLang="zh-CN" sz="1800" dirty="0">
                <a:latin typeface="Times New Roman" panose="02020603050405020304" pitchFamily="18" charset="0"/>
                <a:cs typeface="Times New Roman" panose="02020603050405020304" pitchFamily="18" charset="0"/>
              </a:rPr>
              <a:t>);/*printing the error message*/</a:t>
            </a:r>
          </a:p>
          <a:p>
            <a:pPr eaLnBrk="1" hangingPunct="1">
              <a:lnSpc>
                <a:spcPct val="80000"/>
              </a:lnSpc>
              <a:buFontTx/>
              <a:buNone/>
            </a:pPr>
            <a:r>
              <a:rPr lang="en-US" altLang="zh-CN" sz="1800" dirty="0">
                <a:latin typeface="Times New Roman" panose="02020603050405020304" pitchFamily="18" charset="0"/>
                <a:cs typeface="Times New Roman" panose="02020603050405020304" pitchFamily="18" charset="0"/>
              </a:rPr>
              <a:t>   return 1;</a:t>
            </a:r>
          </a:p>
          <a:p>
            <a:pPr eaLnBrk="1" hangingPunct="1">
              <a:lnSpc>
                <a:spcPct val="80000"/>
              </a:lnSpc>
              <a:buFontTx/>
              <a:buNone/>
            </a:pPr>
            <a:r>
              <a:rPr lang="en-US" altLang="zh-CN" sz="1800" dirty="0">
                <a:latin typeface="Times New Roman" panose="02020603050405020304" pitchFamily="18" charset="0"/>
                <a:cs typeface="Times New Roman" panose="02020603050405020304" pitchFamily="18" charset="0"/>
              </a:rPr>
              <a:t>} </a:t>
            </a:r>
          </a:p>
        </p:txBody>
      </p:sp>
      <p:sp>
        <p:nvSpPr>
          <p:cNvPr id="4" name="Rectangle 4"/>
          <p:cNvSpPr>
            <a:spLocks noChangeArrowheads="1"/>
          </p:cNvSpPr>
          <p:nvPr/>
        </p:nvSpPr>
        <p:spPr bwMode="auto">
          <a:xfrm>
            <a:off x="5580112" y="173083"/>
            <a:ext cx="3367608" cy="1107996"/>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a:spAutoFit/>
          </a:bodyPr>
          <a:lstStyle/>
          <a:p>
            <a:pPr marL="0" lvl="2" eaLnBrk="1" hangingPunct="1">
              <a:defRPr/>
            </a:pPr>
            <a:r>
              <a:rPr lang="de-DE" altLang="zh-CN" sz="2200" dirty="0">
                <a:solidFill>
                  <a:srgbClr val="000000"/>
                </a:solidFill>
                <a:effectLst>
                  <a:outerShdw blurRad="38100" dist="38100" dir="2700000" algn="tl">
                    <a:srgbClr val="C0C0C0"/>
                  </a:outerShdw>
                </a:effectLst>
              </a:rPr>
              <a:t>E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E + T | E - T | T</a:t>
            </a:r>
          </a:p>
          <a:p>
            <a:pPr marL="0" lvl="2" eaLnBrk="1" hangingPunct="1">
              <a:defRPr/>
            </a:pPr>
            <a:r>
              <a:rPr lang="de-DE" altLang="zh-CN" sz="2200" dirty="0">
                <a:solidFill>
                  <a:srgbClr val="000000"/>
                </a:solidFill>
                <a:effectLst>
                  <a:outerShdw blurRad="38100" dist="38100" dir="2700000" algn="tl">
                    <a:srgbClr val="C0C0C0"/>
                  </a:outerShdw>
                </a:effectLst>
              </a:rPr>
              <a:t>T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T * F | F</a:t>
            </a:r>
          </a:p>
          <a:p>
            <a:pPr marL="0" lvl="2" eaLnBrk="1" hangingPunct="1">
              <a:defRPr/>
            </a:pPr>
            <a:r>
              <a:rPr lang="de-DE" altLang="zh-CN" sz="2200" dirty="0">
                <a:solidFill>
                  <a:srgbClr val="000000"/>
                </a:solidFill>
                <a:effectLst>
                  <a:outerShdw blurRad="38100" dist="38100" dir="2700000" algn="tl">
                    <a:srgbClr val="C0C0C0"/>
                  </a:outerShdw>
                </a:effectLst>
              </a:rPr>
              <a:t>F </a:t>
            </a:r>
            <a:r>
              <a:rPr lang="en-US" altLang="zh-CN" sz="2200" dirty="0">
                <a:solidFill>
                  <a:srgbClr val="000000"/>
                </a:solidFill>
                <a:effectLst>
                  <a:outerShdw blurRad="38100" dist="38100" dir="2700000" algn="tl">
                    <a:srgbClr val="C0C0C0"/>
                  </a:outerShdw>
                </a:effectLst>
                <a:sym typeface="Symbol" pitchFamily="18" charset="2"/>
              </a:rPr>
              <a:t></a:t>
            </a:r>
            <a:r>
              <a:rPr lang="de-DE" altLang="zh-CN" sz="2200" dirty="0">
                <a:solidFill>
                  <a:srgbClr val="000000"/>
                </a:solidFill>
                <a:effectLst>
                  <a:outerShdw blurRad="38100" dist="38100" dir="2700000" algn="tl">
                    <a:srgbClr val="C0C0C0"/>
                  </a:outerShdw>
                </a:effectLst>
              </a:rPr>
              <a:t> (E) | DIGIT</a:t>
            </a:r>
            <a:endParaRPr lang="en-US" altLang="zh-CN" sz="2200" dirty="0">
              <a:solidFill>
                <a:srgbClr val="000000"/>
              </a:solidFill>
              <a:effectLst>
                <a:outerShdw blurRad="38100" dist="38100" dir="2700000" algn="tl">
                  <a:srgbClr val="C0C0C0"/>
                </a:outerShdw>
              </a:effectLst>
            </a:endParaRPr>
          </a:p>
        </p:txBody>
      </p:sp>
    </p:spTree>
    <p:extLst>
      <p:ext uri="{BB962C8B-B14F-4D97-AF65-F5344CB8AC3E}">
        <p14:creationId xmlns:p14="http://schemas.microsoft.com/office/powerpoint/2010/main" val="4218931427"/>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ChangeArrowheads="1"/>
          </p:cNvSpPr>
          <p:nvPr>
            <p:ph type="title"/>
          </p:nvPr>
        </p:nvSpPr>
        <p:spPr>
          <a:xfrm>
            <a:off x="304800" y="400050"/>
            <a:ext cx="8540750" cy="857250"/>
          </a:xfrm>
        </p:spPr>
        <p:txBody>
          <a:bodyPr/>
          <a:lstStyle/>
          <a:p>
            <a:pPr eaLnBrk="1" hangingPunct="1"/>
            <a:r>
              <a:rPr lang="zh-CN" altLang="en-US"/>
              <a:t>练习</a:t>
            </a:r>
          </a:p>
        </p:txBody>
      </p:sp>
      <p:sp>
        <p:nvSpPr>
          <p:cNvPr id="265219" name="Rectangle 3"/>
          <p:cNvSpPr>
            <a:spLocks noGrp="1" noChangeArrowheads="1"/>
          </p:cNvSpPr>
          <p:nvPr>
            <p:ph type="body" idx="1"/>
          </p:nvPr>
        </p:nvSpPr>
        <p:spPr>
          <a:xfrm>
            <a:off x="323850" y="1428750"/>
            <a:ext cx="8540750" cy="3465513"/>
          </a:xfrm>
        </p:spPr>
        <p:txBody>
          <a:bodyPr>
            <a:normAutofit/>
          </a:bodyPr>
          <a:lstStyle/>
          <a:p>
            <a:pPr eaLnBrk="1" hangingPunct="1">
              <a:lnSpc>
                <a:spcPct val="90000"/>
              </a:lnSpc>
            </a:pPr>
            <a:r>
              <a:rPr lang="en-US" altLang="zh-CN" sz="2400" dirty="0"/>
              <a:t>1</a:t>
            </a:r>
            <a:r>
              <a:rPr lang="zh-CN" altLang="en-US" sz="2400" dirty="0"/>
              <a:t>．编写一个</a:t>
            </a:r>
            <a:r>
              <a:rPr lang="en-US" altLang="zh-CN" sz="2400" dirty="0" err="1"/>
              <a:t>yacc</a:t>
            </a:r>
            <a:r>
              <a:rPr lang="zh-CN" altLang="en-US" sz="2400" dirty="0"/>
              <a:t>源程序，其功能是输入算术表达式，输出为相应的后缀表达式。 </a:t>
            </a:r>
          </a:p>
          <a:p>
            <a:pPr eaLnBrk="1" hangingPunct="1">
              <a:lnSpc>
                <a:spcPct val="90000"/>
              </a:lnSpc>
            </a:pPr>
            <a:r>
              <a:rPr lang="en-US" altLang="zh-CN" sz="2400" dirty="0"/>
              <a:t>2</a:t>
            </a:r>
            <a:r>
              <a:rPr lang="zh-CN" altLang="en-US" sz="2400" dirty="0"/>
              <a:t>．试编写一个计算布尔表达式的台式计算器的</a:t>
            </a:r>
            <a:r>
              <a:rPr lang="en-US" altLang="zh-CN" sz="2400" dirty="0"/>
              <a:t>YACC</a:t>
            </a:r>
            <a:r>
              <a:rPr lang="zh-CN" altLang="en-US" sz="2400" dirty="0"/>
              <a:t>程序。</a:t>
            </a:r>
          </a:p>
          <a:p>
            <a:pPr eaLnBrk="1" hangingPunct="1">
              <a:lnSpc>
                <a:spcPct val="90000"/>
              </a:lnSpc>
            </a:pPr>
            <a:r>
              <a:rPr lang="en-US" altLang="zh-CN" sz="2400" dirty="0"/>
              <a:t>3</a:t>
            </a:r>
            <a:r>
              <a:rPr lang="zh-CN" altLang="en-US" sz="2400" dirty="0"/>
              <a:t>．编写一个</a:t>
            </a:r>
            <a:r>
              <a:rPr lang="en-US" altLang="zh-CN" sz="2400" dirty="0" err="1"/>
              <a:t>yacc</a:t>
            </a:r>
            <a:r>
              <a:rPr lang="zh-CN" altLang="en-US" sz="2400" dirty="0"/>
              <a:t>源程序，其功能是计算算术表达式的值的程序。</a:t>
            </a:r>
          </a:p>
        </p:txBody>
      </p:sp>
    </p:spTree>
    <p:extLst>
      <p:ext uri="{BB962C8B-B14F-4D97-AF65-F5344CB8AC3E}">
        <p14:creationId xmlns:p14="http://schemas.microsoft.com/office/powerpoint/2010/main" val="1312103612"/>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标题 5"/>
          <p:cNvSpPr>
            <a:spLocks noGrp="1"/>
          </p:cNvSpPr>
          <p:nvPr>
            <p:ph type="title"/>
          </p:nvPr>
        </p:nvSpPr>
        <p:spPr/>
        <p:txBody>
          <a:bodyPr>
            <a:normAutofit/>
          </a:bodyPr>
          <a:lstStyle/>
          <a:p>
            <a:r>
              <a:rPr lang="zh-CN" altLang="zh-CN" sz="4800" b="1">
                <a:solidFill>
                  <a:srgbClr val="CC0099"/>
                </a:solidFill>
                <a:ea typeface="隶书" pitchFamily="49" charset="-122"/>
              </a:rPr>
              <a:t>3.6 语法分析中的错误处理</a:t>
            </a:r>
            <a:endParaRPr lang="zh-CN" altLang="en-US" sz="4800" b="1">
              <a:solidFill>
                <a:srgbClr val="CC0099"/>
              </a:solidFill>
              <a:ea typeface="隶书" pitchFamily="49" charset="-122"/>
            </a:endParaRPr>
          </a:p>
        </p:txBody>
      </p:sp>
      <p:sp>
        <p:nvSpPr>
          <p:cNvPr id="266243" name="内容占位符 6"/>
          <p:cNvSpPr>
            <a:spLocks noGrp="1"/>
          </p:cNvSpPr>
          <p:nvPr>
            <p:ph idx="1"/>
          </p:nvPr>
        </p:nvSpPr>
        <p:spPr>
          <a:xfrm>
            <a:off x="755576" y="1059582"/>
            <a:ext cx="7772400" cy="3402013"/>
          </a:xfrm>
        </p:spPr>
        <p:txBody>
          <a:bodyPr>
            <a:normAutofit/>
          </a:bodyPr>
          <a:lstStyle/>
          <a:p>
            <a:pPr>
              <a:buFontTx/>
              <a:buNone/>
            </a:pPr>
            <a:r>
              <a:rPr lang="zh-CN" altLang="zh-CN" sz="2200"/>
              <a:t>语法分析中的错误处理应遵循以下原则</a:t>
            </a:r>
            <a:r>
              <a:rPr lang="en-US" altLang="zh-CN" sz="2200"/>
              <a:t>:</a:t>
            </a:r>
          </a:p>
          <a:p>
            <a:pPr>
              <a:buFontTx/>
              <a:buNone/>
            </a:pPr>
            <a:r>
              <a:rPr lang="zh-CN" altLang="zh-CN" sz="2200"/>
              <a:t>（</a:t>
            </a:r>
            <a:r>
              <a:rPr lang="en-US" altLang="zh-CN" sz="2200"/>
              <a:t>1</a:t>
            </a:r>
            <a:r>
              <a:rPr lang="zh-CN" altLang="zh-CN" sz="2200"/>
              <a:t>）发现错误为主，校正错误为辅。</a:t>
            </a:r>
          </a:p>
          <a:p>
            <a:pPr>
              <a:buFontTx/>
              <a:buNone/>
            </a:pPr>
            <a:r>
              <a:rPr lang="zh-CN" altLang="zh-CN" sz="2200"/>
              <a:t>（</a:t>
            </a:r>
            <a:r>
              <a:rPr lang="en-US" altLang="zh-CN" sz="2200"/>
              <a:t>2</a:t>
            </a:r>
            <a:r>
              <a:rPr lang="zh-CN" altLang="zh-CN" sz="2200"/>
              <a:t>）错误局部化，选择一个适当的位置恢复分析过程。</a:t>
            </a:r>
          </a:p>
          <a:p>
            <a:pPr>
              <a:buFontTx/>
              <a:buNone/>
            </a:pPr>
            <a:r>
              <a:rPr lang="zh-CN" altLang="zh-CN" sz="2200"/>
              <a:t>（</a:t>
            </a:r>
            <a:r>
              <a:rPr lang="en-US" altLang="zh-CN" sz="2200"/>
              <a:t>3</a:t>
            </a:r>
            <a:r>
              <a:rPr lang="zh-CN" altLang="zh-CN" sz="2200"/>
              <a:t>）准确报告，应尽早给出错误发生的位置，否则错误位置可能会丢失；减少重复信息与株连信息，应避免出现错误级联问题（</a:t>
            </a:r>
            <a:r>
              <a:rPr lang="en-US" altLang="zh-CN" sz="2200"/>
              <a:t>error cascade</a:t>
            </a:r>
            <a:r>
              <a:rPr lang="zh-CN" altLang="zh-CN" sz="2200"/>
              <a:t>），这有可能会产生一个冗长的虚假的出错信息；还应避免错误的无限循环，此时即使没有任何输入也会产生一个错误信息的无限级联。</a:t>
            </a:r>
          </a:p>
          <a:p>
            <a:pPr>
              <a:buFontTx/>
              <a:buNone/>
            </a:pPr>
            <a:endParaRPr lang="zh-CN" altLang="en-US" sz="2200"/>
          </a:p>
        </p:txBody>
      </p:sp>
    </p:spTree>
    <p:extLst>
      <p:ext uri="{BB962C8B-B14F-4D97-AF65-F5344CB8AC3E}">
        <p14:creationId xmlns:p14="http://schemas.microsoft.com/office/powerpoint/2010/main" val="360666411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内容占位符 2"/>
          <p:cNvSpPr>
            <a:spLocks noGrp="1"/>
          </p:cNvSpPr>
          <p:nvPr>
            <p:ph idx="1"/>
          </p:nvPr>
        </p:nvSpPr>
        <p:spPr>
          <a:xfrm>
            <a:off x="539552" y="771550"/>
            <a:ext cx="8229600" cy="3394472"/>
          </a:xfrm>
        </p:spPr>
        <p:txBody>
          <a:bodyPr>
            <a:normAutofit/>
          </a:bodyPr>
          <a:lstStyle/>
          <a:p>
            <a:pPr>
              <a:buFontTx/>
              <a:buNone/>
            </a:pPr>
            <a:r>
              <a:rPr lang="zh-CN" altLang="zh-CN" sz="2200"/>
              <a:t>语法分析中的错误恢复策略通常有以下几种：</a:t>
            </a:r>
            <a:endParaRPr lang="en-US" altLang="zh-CN" sz="2200"/>
          </a:p>
          <a:p>
            <a:pPr>
              <a:buFontTx/>
              <a:buNone/>
            </a:pPr>
            <a:r>
              <a:rPr lang="zh-CN" altLang="zh-CN" sz="2200"/>
              <a:t>（</a:t>
            </a:r>
            <a:r>
              <a:rPr lang="en-US" altLang="zh-CN" sz="2200"/>
              <a:t>1</a:t>
            </a:r>
            <a:r>
              <a:rPr lang="zh-CN" altLang="zh-CN" sz="2200"/>
              <a:t>）应急模式（</a:t>
            </a:r>
            <a:r>
              <a:rPr lang="en-US" altLang="zh-CN" sz="2200"/>
              <a:t>Panic Mode</a:t>
            </a:r>
            <a:r>
              <a:rPr lang="zh-CN" altLang="zh-CN" sz="2200"/>
              <a:t>）的恢复，即删除符号的方法。</a:t>
            </a:r>
            <a:endParaRPr lang="en-US" altLang="zh-CN" sz="2200"/>
          </a:p>
          <a:p>
            <a:pPr>
              <a:buFontTx/>
              <a:buNone/>
            </a:pPr>
            <a:r>
              <a:rPr lang="zh-CN" altLang="zh-CN" sz="2200"/>
              <a:t>（2）短语层次的错误恢复，即通过插入、忽略、删除某个符号，使余下的输入串的某个前缀替换为另一个串，使语法分析器可以继续分析。</a:t>
            </a:r>
            <a:endParaRPr lang="en-US" altLang="zh-CN" sz="2200"/>
          </a:p>
          <a:p>
            <a:pPr>
              <a:buFontTx/>
              <a:buNone/>
            </a:pPr>
            <a:r>
              <a:rPr lang="zh-CN" altLang="zh-CN" sz="2200"/>
              <a:t>（3）添加错误产生式（</a:t>
            </a:r>
            <a:r>
              <a:rPr lang="en-US" altLang="zh-CN" sz="2200"/>
              <a:t>error production</a:t>
            </a:r>
            <a:r>
              <a:rPr lang="zh-CN" altLang="zh-CN" sz="2200"/>
              <a:t>）。这种方法是通过预测可能会碰到的常见错误，在当前语言的文法中加入特殊的产生式。</a:t>
            </a:r>
          </a:p>
        </p:txBody>
      </p:sp>
    </p:spTree>
    <p:extLst>
      <p:ext uri="{BB962C8B-B14F-4D97-AF65-F5344CB8AC3E}">
        <p14:creationId xmlns:p14="http://schemas.microsoft.com/office/powerpoint/2010/main" val="53950148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内容占位符 2"/>
          <p:cNvSpPr>
            <a:spLocks noGrp="1"/>
          </p:cNvSpPr>
          <p:nvPr>
            <p:ph idx="1"/>
          </p:nvPr>
        </p:nvSpPr>
        <p:spPr>
          <a:xfrm>
            <a:off x="685800" y="654050"/>
            <a:ext cx="7772400" cy="3917950"/>
          </a:xfrm>
        </p:spPr>
        <p:txBody>
          <a:bodyPr>
            <a:normAutofit fontScale="92500" lnSpcReduction="20000"/>
          </a:bodyPr>
          <a:lstStyle/>
          <a:p>
            <a:pPr>
              <a:buFontTx/>
              <a:buNone/>
            </a:pPr>
            <a:r>
              <a:rPr lang="zh-CN" altLang="zh-CN" sz="2400" b="1" dirty="0"/>
              <a:t>自上而下语法分析错误处理的一般方法</a:t>
            </a:r>
            <a:endParaRPr lang="en-US" altLang="zh-CN" sz="2400" b="1" dirty="0"/>
          </a:p>
          <a:p>
            <a:pPr>
              <a:buFontTx/>
              <a:buNone/>
            </a:pPr>
            <a:r>
              <a:rPr lang="zh-CN" altLang="zh-CN" sz="2400" dirty="0"/>
              <a:t>（</a:t>
            </a:r>
            <a:r>
              <a:rPr lang="en-US" altLang="zh-CN" sz="2400" dirty="0"/>
              <a:t>1</a:t>
            </a:r>
            <a:r>
              <a:rPr lang="zh-CN" altLang="zh-CN" sz="2400" dirty="0"/>
              <a:t>）把</a:t>
            </a:r>
            <a:r>
              <a:rPr lang="en-US" altLang="zh-CN" sz="2400" dirty="0"/>
              <a:t>Follow(A)</a:t>
            </a:r>
            <a:r>
              <a:rPr lang="zh-CN" altLang="zh-CN" sz="2400" dirty="0"/>
              <a:t>中的所有符号放入非终结符</a:t>
            </a:r>
            <a:r>
              <a:rPr lang="en-US" altLang="zh-CN" sz="2400" dirty="0"/>
              <a:t>A</a:t>
            </a:r>
            <a:r>
              <a:rPr lang="zh-CN" altLang="zh-CN" sz="2400" dirty="0"/>
              <a:t>的同步符号集。如果在遇到错误时跳过输入符号直到出现</a:t>
            </a:r>
            <a:r>
              <a:rPr lang="en-US" altLang="zh-CN" sz="2400" dirty="0"/>
              <a:t>Follow(A)</a:t>
            </a:r>
            <a:r>
              <a:rPr lang="zh-CN" altLang="zh-CN" sz="2400" dirty="0"/>
              <a:t>中的符号，就把</a:t>
            </a:r>
            <a:r>
              <a:rPr lang="en-US" altLang="zh-CN" sz="2400" dirty="0"/>
              <a:t>A</a:t>
            </a:r>
            <a:r>
              <a:rPr lang="zh-CN" altLang="zh-CN" sz="2400" dirty="0"/>
              <a:t>从栈中弹出，继续分析。</a:t>
            </a:r>
          </a:p>
          <a:p>
            <a:pPr>
              <a:buFontTx/>
              <a:buNone/>
            </a:pPr>
            <a:r>
              <a:rPr lang="zh-CN" altLang="zh-CN" sz="2400" dirty="0"/>
              <a:t>（</a:t>
            </a:r>
            <a:r>
              <a:rPr lang="en-US" altLang="zh-CN" sz="2400" dirty="0"/>
              <a:t>2</a:t>
            </a:r>
            <a:r>
              <a:rPr lang="zh-CN" altLang="zh-CN" sz="2400" dirty="0"/>
              <a:t>）加入相应语句开头的关键字。这样，如果在某个语句后少了一个分号，下一个语句开头的关键字就会被跳过，就会导致跳过很多个符号。</a:t>
            </a:r>
          </a:p>
          <a:p>
            <a:pPr>
              <a:buFontTx/>
              <a:buNone/>
            </a:pPr>
            <a:r>
              <a:rPr lang="zh-CN" altLang="zh-CN" sz="2400" dirty="0"/>
              <a:t>（</a:t>
            </a:r>
            <a:r>
              <a:rPr lang="en-US" altLang="zh-CN" sz="2400" dirty="0"/>
              <a:t>3</a:t>
            </a:r>
            <a:r>
              <a:rPr lang="zh-CN" altLang="zh-CN" sz="2400" dirty="0"/>
              <a:t>）把</a:t>
            </a:r>
            <a:r>
              <a:rPr lang="en-US" altLang="zh-CN" sz="2400" dirty="0"/>
              <a:t>First</a:t>
            </a:r>
            <a:r>
              <a:rPr lang="zh-CN" altLang="zh-CN" sz="2400" dirty="0"/>
              <a:t>集中的符号也加入到同步集合中，这样递归下降分析程序在看到输入符号串中出现了</a:t>
            </a:r>
            <a:r>
              <a:rPr lang="en-US" altLang="zh-CN" sz="2400" dirty="0"/>
              <a:t>First</a:t>
            </a:r>
            <a:r>
              <a:rPr lang="zh-CN" altLang="zh-CN" sz="2400" dirty="0"/>
              <a:t>集中的符号时就可以恢复错误。</a:t>
            </a:r>
          </a:p>
          <a:p>
            <a:pPr>
              <a:buFontTx/>
              <a:buNone/>
            </a:pPr>
            <a:r>
              <a:rPr lang="zh-CN" altLang="zh-CN" sz="2400" dirty="0"/>
              <a:t>（</a:t>
            </a:r>
            <a:r>
              <a:rPr lang="en-US" altLang="zh-CN" sz="2400" dirty="0"/>
              <a:t>4</a:t>
            </a:r>
            <a:r>
              <a:rPr lang="zh-CN" altLang="zh-CN" sz="2400" dirty="0"/>
              <a:t>）如果某个非终结符有</a:t>
            </a:r>
            <a:r>
              <a:rPr lang="en-US" altLang="zh-CN" sz="2400" dirty="0">
                <a:sym typeface="Symbol" pitchFamily="18" charset="2"/>
              </a:rPr>
              <a:t></a:t>
            </a:r>
            <a:r>
              <a:rPr lang="zh-CN" altLang="zh-CN" sz="2400" dirty="0"/>
              <a:t>产生式，就可以将</a:t>
            </a:r>
            <a:r>
              <a:rPr lang="en-US" altLang="zh-CN" sz="2400" dirty="0">
                <a:sym typeface="Symbol" pitchFamily="18" charset="2"/>
              </a:rPr>
              <a:t></a:t>
            </a:r>
            <a:r>
              <a:rPr lang="zh-CN" altLang="zh-CN" sz="2400" dirty="0"/>
              <a:t>作为缺省情况，这样可以推迟错误的检测，但不能导致错误丢失。</a:t>
            </a:r>
          </a:p>
        </p:txBody>
      </p:sp>
    </p:spTree>
    <p:extLst>
      <p:ext uri="{BB962C8B-B14F-4D97-AF65-F5344CB8AC3E}">
        <p14:creationId xmlns:p14="http://schemas.microsoft.com/office/powerpoint/2010/main" val="255186072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内容占位符 2"/>
          <p:cNvSpPr>
            <a:spLocks noGrp="1"/>
          </p:cNvSpPr>
          <p:nvPr>
            <p:ph idx="1"/>
          </p:nvPr>
        </p:nvSpPr>
        <p:spPr>
          <a:xfrm>
            <a:off x="744538" y="163513"/>
            <a:ext cx="7772400" cy="4408487"/>
          </a:xfrm>
        </p:spPr>
        <p:txBody>
          <a:bodyPr>
            <a:normAutofit fontScale="92500" lnSpcReduction="20000"/>
          </a:bodyPr>
          <a:lstStyle/>
          <a:p>
            <a:pPr>
              <a:buFontTx/>
              <a:buNone/>
            </a:pPr>
            <a:r>
              <a:rPr lang="zh-CN" altLang="zh-CN" sz="2400" dirty="0"/>
              <a:t>自下而上语法分析的错误处理</a:t>
            </a:r>
            <a:endParaRPr lang="en-US" altLang="zh-CN" sz="2400" dirty="0"/>
          </a:p>
          <a:p>
            <a:pPr>
              <a:buFontTx/>
              <a:buNone/>
            </a:pPr>
            <a:r>
              <a:rPr lang="zh-CN" altLang="zh-CN" sz="2400" dirty="0"/>
              <a:t>对算符优先关系表中的空白项，实际是没有优先关系的错误，所以必须指定一个错误恢复子程序，同一程序可用在多个地方。这样在语法分析器发现两个符号之间没有优先关系，就调用相应的错误恢复子程序进行错误处理。</a:t>
            </a:r>
          </a:p>
          <a:p>
            <a:pPr>
              <a:buFontTx/>
              <a:buNone/>
            </a:pPr>
            <a:r>
              <a:rPr lang="zh-CN" altLang="zh-CN" sz="2400" dirty="0"/>
              <a:t>在</a:t>
            </a:r>
            <a:r>
              <a:rPr lang="en-US" altLang="zh-CN" sz="2400" dirty="0"/>
              <a:t>LR</a:t>
            </a:r>
            <a:r>
              <a:rPr lang="zh-CN" altLang="zh-CN" sz="2400" dirty="0"/>
              <a:t>分析中遇到出错时，有可能输入符号不能移进栈，又不能对栈顶符号串进行归约。处理方法有两类：第一类是使用插入、删除或修改输入符号的方法。第二类包括检测到某一个不合适的短语时，它不能与任何产生式匹配。</a:t>
            </a:r>
            <a:endParaRPr lang="en-US" altLang="zh-CN" sz="2400" dirty="0"/>
          </a:p>
          <a:p>
            <a:pPr>
              <a:buFontTx/>
              <a:buNone/>
            </a:pPr>
            <a:r>
              <a:rPr lang="en-US" altLang="zh-CN" sz="2400" dirty="0"/>
              <a:t>LR</a:t>
            </a:r>
            <a:r>
              <a:rPr lang="zh-CN" altLang="zh-CN" sz="2400" dirty="0"/>
              <a:t>语法分析器主要采用短语级层次的错误恢复方式</a:t>
            </a:r>
            <a:r>
              <a:rPr lang="zh-CN" altLang="en-US" sz="2400" dirty="0"/>
              <a:t>。</a:t>
            </a:r>
            <a:r>
              <a:rPr lang="zh-CN" altLang="zh-CN" sz="2400" dirty="0"/>
              <a:t>实现方式是通过检查</a:t>
            </a:r>
            <a:r>
              <a:rPr lang="en-US" altLang="zh-CN" sz="2400" dirty="0"/>
              <a:t>LR</a:t>
            </a:r>
            <a:r>
              <a:rPr lang="zh-CN" altLang="zh-CN" sz="2400" dirty="0"/>
              <a:t>分析表的每个出错表项，并根据语言的使用情况确定最可能引起的错误、以及程序员最容易犯的错误，然后为其编写一个适当的错误处理程序。只要在分析表的空项中填上适当的错误处理程序的指针即可。</a:t>
            </a:r>
          </a:p>
          <a:p>
            <a:pPr>
              <a:buFontTx/>
              <a:buNone/>
            </a:pPr>
            <a:endParaRPr lang="zh-CN" altLang="en-US" sz="2400" dirty="0"/>
          </a:p>
        </p:txBody>
      </p:sp>
    </p:spTree>
    <p:extLst>
      <p:ext uri="{BB962C8B-B14F-4D97-AF65-F5344CB8AC3E}">
        <p14:creationId xmlns:p14="http://schemas.microsoft.com/office/powerpoint/2010/main" val="2011815372"/>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D76ED75-E030-E6F5-4B01-78B98E62E8B9}"/>
              </a:ext>
            </a:extLst>
          </p:cNvPr>
          <p:cNvSpPr>
            <a:spLocks noGrp="1"/>
          </p:cNvSpPr>
          <p:nvPr>
            <p:ph type="title"/>
          </p:nvPr>
        </p:nvSpPr>
        <p:spPr/>
        <p:txBody>
          <a:bodyPr/>
          <a:lstStyle/>
          <a:p>
            <a:r>
              <a:rPr lang="zh-CN" altLang="en-US" dirty="0"/>
              <a:t>总结</a:t>
            </a:r>
          </a:p>
        </p:txBody>
      </p:sp>
      <p:graphicFrame>
        <p:nvGraphicFramePr>
          <p:cNvPr id="6" name="对象 5">
            <a:extLst>
              <a:ext uri="{FF2B5EF4-FFF2-40B4-BE49-F238E27FC236}">
                <a16:creationId xmlns:a16="http://schemas.microsoft.com/office/drawing/2014/main" id="{6E063AA5-73B0-6D03-C84F-283A4AEBA519}"/>
              </a:ext>
            </a:extLst>
          </p:cNvPr>
          <p:cNvGraphicFramePr>
            <a:graphicFrameLocks noChangeAspect="1"/>
          </p:cNvGraphicFramePr>
          <p:nvPr>
            <p:extLst>
              <p:ext uri="{D42A27DB-BD31-4B8C-83A1-F6EECF244321}">
                <p14:modId xmlns:p14="http://schemas.microsoft.com/office/powerpoint/2010/main" val="3234010167"/>
              </p:ext>
            </p:extLst>
          </p:nvPr>
        </p:nvGraphicFramePr>
        <p:xfrm>
          <a:off x="2051720" y="24523"/>
          <a:ext cx="5760640" cy="5147581"/>
        </p:xfrm>
        <a:graphic>
          <a:graphicData uri="http://schemas.openxmlformats.org/presentationml/2006/ole">
            <mc:AlternateContent xmlns:mc="http://schemas.openxmlformats.org/markup-compatibility/2006">
              <mc:Choice xmlns:v="urn:schemas-microsoft-com:vml" Requires="v">
                <p:oleObj spid="_x0000_s62471" name="Visio" r:id="rId3" imgW="5191225" imgH="4638698" progId="Visio.Drawing.15">
                  <p:embed/>
                </p:oleObj>
              </mc:Choice>
              <mc:Fallback>
                <p:oleObj name="Visio" r:id="rId3" imgW="5191225" imgH="4638698" progId="Visio.Drawing.15">
                  <p:embed/>
                  <p:pic>
                    <p:nvPicPr>
                      <p:cNvPr id="0" name="Object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1720" y="24523"/>
                        <a:ext cx="5760640" cy="5147581"/>
                      </a:xfrm>
                      <a:prstGeom prst="rect">
                        <a:avLst/>
                      </a:prstGeom>
                      <a:noFill/>
                    </p:spPr>
                  </p:pic>
                </p:oleObj>
              </mc:Fallback>
            </mc:AlternateContent>
          </a:graphicData>
        </a:graphic>
      </p:graphicFrame>
    </p:spTree>
    <p:extLst>
      <p:ext uri="{BB962C8B-B14F-4D97-AF65-F5344CB8AC3E}">
        <p14:creationId xmlns:p14="http://schemas.microsoft.com/office/powerpoint/2010/main" val="259358439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0.4|0"/>
</p:tagLst>
</file>

<file path=ppt/tags/tag2.xml><?xml version="1.0" encoding="utf-8"?>
<p:tagLst xmlns:a="http://schemas.openxmlformats.org/drawingml/2006/main" xmlns:r="http://schemas.openxmlformats.org/officeDocument/2006/relationships" xmlns:p="http://schemas.openxmlformats.org/presentationml/2006/main">
  <p:tag name="TIMING" val="|6.1|0.8|3.9|3.8"/>
</p:tagLst>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模板">
  <a:themeElements>
    <a:clrScheme name="聚合">
      <a:dk1>
        <a:sysClr val="windowText" lastClr="000000"/>
      </a:dk1>
      <a:lt1>
        <a:sysClr val="window" lastClr="FFFFFF"/>
      </a:lt1>
      <a:dk2>
        <a:srgbClr val="464646"/>
      </a:dk2>
      <a:lt2>
        <a:srgbClr val="DEF5FA"/>
      </a:lt2>
      <a:accent1>
        <a:srgbClr val="2DA2BF"/>
      </a:accent1>
      <a:accent2>
        <a:srgbClr val="DA1F28"/>
      </a:accent2>
      <a:accent3>
        <a:srgbClr val="EB641B"/>
      </a:accent3>
      <a:accent4>
        <a:srgbClr val="39639D"/>
      </a:accent4>
      <a:accent5>
        <a:srgbClr val="474B78"/>
      </a:accent5>
      <a:accent6>
        <a:srgbClr val="7D3C4A"/>
      </a:accent6>
      <a:hlink>
        <a:srgbClr val="FF8119"/>
      </a:hlink>
      <a:folHlink>
        <a:srgbClr val="44B9E8"/>
      </a:folHlink>
    </a:clrScheme>
    <a:fontScheme name="聚合">
      <a:majorFont>
        <a:latin typeface="Lucida Sans Unicode"/>
        <a:ea typeface=""/>
        <a:cs typeface=""/>
        <a:font script="Jpan" typeface="ＭＳ Ｐゴシック"/>
        <a:font script="Hang" typeface="맑은 고딕"/>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Uigh" typeface="Microsoft Uighur"/>
        <a:font script="Geor" typeface="Sylfaen"/>
      </a:majorFont>
      <a:minorFont>
        <a:latin typeface="Lucida Sans Unicode"/>
        <a:ea typeface=""/>
        <a:cs typeface=""/>
        <a:font script="Jpan" typeface="ＭＳ Ｐゴシック"/>
        <a:font script="Hang" typeface="맑은 고딕"/>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Uigh" typeface="Microsoft Uighur"/>
        <a:font script="Geor" typeface="Sylfaen"/>
      </a:minorFont>
    </a:fontScheme>
    <a:fmtScheme name="聚合">
      <a:fillStyleLst>
        <a:solidFill>
          <a:schemeClr val="phClr"/>
        </a:solidFill>
        <a:gradFill rotWithShape="1">
          <a:gsLst>
            <a:gs pos="0">
              <a:schemeClr val="phClr">
                <a:tint val="62000"/>
                <a:satMod val="180000"/>
              </a:schemeClr>
            </a:gs>
            <a:gs pos="65000">
              <a:schemeClr val="phClr">
                <a:tint val="32000"/>
                <a:satMod val="250000"/>
              </a:schemeClr>
            </a:gs>
            <a:gs pos="100000">
              <a:schemeClr val="phClr">
                <a:tint val="23000"/>
                <a:satMod val="300000"/>
              </a:schemeClr>
            </a:gs>
          </a:gsLst>
          <a:lin ang="16200000" scaled="0"/>
        </a:gradFill>
        <a:gradFill rotWithShape="1">
          <a:gsLst>
            <a:gs pos="0">
              <a:schemeClr val="phClr">
                <a:shade val="15000"/>
                <a:satMod val="180000"/>
              </a:schemeClr>
            </a:gs>
            <a:gs pos="50000">
              <a:schemeClr val="phClr">
                <a:shade val="45000"/>
                <a:satMod val="170000"/>
              </a:schemeClr>
            </a:gs>
            <a:gs pos="70000">
              <a:schemeClr val="phClr">
                <a:tint val="99000"/>
                <a:shade val="65000"/>
                <a:satMod val="155000"/>
              </a:schemeClr>
            </a:gs>
            <a:gs pos="100000">
              <a:schemeClr val="phClr">
                <a:tint val="95500"/>
                <a:shade val="100000"/>
                <a:satMod val="155000"/>
              </a:schemeClr>
            </a:gs>
          </a:gsLst>
          <a:lin ang="16200000" scaled="0"/>
        </a:gradFill>
      </a:fillStyleLst>
      <a:lnStyleLst>
        <a:ln w="9525" cap="flat" cmpd="sng" algn="ctr">
          <a:solidFill>
            <a:schemeClr val="phClr"/>
          </a:solidFill>
          <a:prstDash val="solid"/>
        </a:ln>
        <a:ln w="55000" cap="flat" cmpd="thickThin" algn="ctr">
          <a:solidFill>
            <a:schemeClr val="phClr"/>
          </a:solidFill>
          <a:prstDash val="solid"/>
        </a:ln>
        <a:ln w="63500" cap="flat" cmpd="thickThin" algn="ctr">
          <a:solidFill>
            <a:schemeClr val="phClr"/>
          </a:solidFill>
          <a:prstDash val="solid"/>
        </a:ln>
      </a:lnStyleLst>
      <a:effectStyleLst>
        <a:effectStyle>
          <a:effectLst>
            <a:outerShdw blurRad="50800" dist="38100" dir="5400000" rotWithShape="0">
              <a:srgbClr val="000000">
                <a:alpha val="35000"/>
              </a:srgbClr>
            </a:outerShdw>
          </a:effectLst>
        </a:effectStyle>
        <a:effectStyle>
          <a:effectLst>
            <a:outerShdw blurRad="50800" dist="38100" dir="5400000" rotWithShape="0">
              <a:srgbClr val="000000">
                <a:alpha val="35000"/>
              </a:srgbClr>
            </a:outerShdw>
          </a:effectLst>
        </a:effectStyle>
        <a:effectStyle>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chemeClr val="phClr">
                <a:satMod val="300000"/>
              </a:schemeClr>
            </a:contourClr>
          </a:sp3d>
        </a:effectStyle>
      </a:effectStyleLst>
      <a:bgFillStyleLst>
        <a:solidFill>
          <a:schemeClr val="phClr"/>
        </a:solidFill>
        <a:gradFill rotWithShape="1">
          <a:gsLst>
            <a:gs pos="0">
              <a:schemeClr val="phClr">
                <a:tint val="55000"/>
                <a:satMod val="300000"/>
              </a:schemeClr>
            </a:gs>
            <a:gs pos="40000">
              <a:schemeClr val="phClr">
                <a:tint val="65000"/>
                <a:satMod val="300000"/>
              </a:schemeClr>
            </a:gs>
            <a:gs pos="100000">
              <a:schemeClr val="phClr">
                <a:shade val="65000"/>
                <a:satMod val="300000"/>
              </a:schemeClr>
            </a:gs>
          </a:gsLst>
          <a:path path="circle">
            <a:fillToRect l="65000" b="98000"/>
          </a:path>
        </a:gradFill>
        <a:blipFill>
          <a:blip xmlns:r="http://schemas.openxmlformats.org/officeDocument/2006/relationships" r:embed="rId1">
            <a:duotone>
              <a:schemeClr val="phClr">
                <a:shade val="60000"/>
                <a:satMod val="110000"/>
              </a:schemeClr>
              <a:schemeClr val="phClr">
                <a:tint val="95000"/>
              </a:schemeClr>
            </a:duotone>
          </a:blip>
          <a:tile tx="0" ty="0" sx="50000" sy="50000" flip="none" algn="tl"/>
        </a:blip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聚合">
    <a:dk1>
      <a:sysClr val="windowText" lastClr="000000"/>
    </a:dk1>
    <a:lt1>
      <a:sysClr val="window" lastClr="FFFFFF"/>
    </a:lt1>
    <a:dk2>
      <a:srgbClr val="464646"/>
    </a:dk2>
    <a:lt2>
      <a:srgbClr val="DEF5FA"/>
    </a:lt2>
    <a:accent1>
      <a:srgbClr val="2DA2BF"/>
    </a:accent1>
    <a:accent2>
      <a:srgbClr val="DA1F28"/>
    </a:accent2>
    <a:accent3>
      <a:srgbClr val="EB641B"/>
    </a:accent3>
    <a:accent4>
      <a:srgbClr val="39639D"/>
    </a:accent4>
    <a:accent5>
      <a:srgbClr val="474B78"/>
    </a:accent5>
    <a:accent6>
      <a:srgbClr val="7D3C4A"/>
    </a:accent6>
    <a:hlink>
      <a:srgbClr val="FF8119"/>
    </a:hlink>
    <a:folHlink>
      <a:srgbClr val="44B9E8"/>
    </a:folHlink>
  </a:clrScheme>
</a:themeOverride>
</file>

<file path=ppt/theme/themeOverride2.xml><?xml version="1.0" encoding="utf-8"?>
<a:themeOverride xmlns:a="http://schemas.openxmlformats.org/drawingml/2006/main">
  <a:clrScheme name="聚合">
    <a:dk1>
      <a:sysClr val="windowText" lastClr="000000"/>
    </a:dk1>
    <a:lt1>
      <a:sysClr val="window" lastClr="FFFFFF"/>
    </a:lt1>
    <a:dk2>
      <a:srgbClr val="464646"/>
    </a:dk2>
    <a:lt2>
      <a:srgbClr val="DEF5FA"/>
    </a:lt2>
    <a:accent1>
      <a:srgbClr val="2DA2BF"/>
    </a:accent1>
    <a:accent2>
      <a:srgbClr val="DA1F28"/>
    </a:accent2>
    <a:accent3>
      <a:srgbClr val="EB641B"/>
    </a:accent3>
    <a:accent4>
      <a:srgbClr val="39639D"/>
    </a:accent4>
    <a:accent5>
      <a:srgbClr val="474B78"/>
    </a:accent5>
    <a:accent6>
      <a:srgbClr val="7D3C4A"/>
    </a:accent6>
    <a:hlink>
      <a:srgbClr val="FF8119"/>
    </a:hlink>
    <a:folHlink>
      <a:srgbClr val="44B9E8"/>
    </a:folHlink>
  </a:clrScheme>
</a:themeOverride>
</file>

<file path=docProps/app.xml><?xml version="1.0" encoding="utf-8"?>
<Properties xmlns="http://schemas.openxmlformats.org/officeDocument/2006/extended-properties" xmlns:vt="http://schemas.openxmlformats.org/officeDocument/2006/docPropsVTypes">
  <Template/>
  <TotalTime>44038</TotalTime>
  <Words>37012</Words>
  <Application>Microsoft Office PowerPoint</Application>
  <PresentationFormat>全屏显示(16:9)</PresentationFormat>
  <Paragraphs>5213</Paragraphs>
  <Slides>296</Slides>
  <Notes>183</Notes>
  <HiddenSlides>0</HiddenSlides>
  <MMClips>0</MMClips>
  <ScaleCrop>false</ScaleCrop>
  <HeadingPairs>
    <vt:vector size="8" baseType="variant">
      <vt:variant>
        <vt:lpstr>已用的字体</vt:lpstr>
      </vt:variant>
      <vt:variant>
        <vt:i4>27</vt:i4>
      </vt:variant>
      <vt:variant>
        <vt:lpstr>主题</vt:lpstr>
      </vt:variant>
      <vt:variant>
        <vt:i4>1</vt:i4>
      </vt:variant>
      <vt:variant>
        <vt:lpstr>嵌入 OLE 服务器</vt:lpstr>
      </vt:variant>
      <vt:variant>
        <vt:i4>6</vt:i4>
      </vt:variant>
      <vt:variant>
        <vt:lpstr>幻灯片标题</vt:lpstr>
      </vt:variant>
      <vt:variant>
        <vt:i4>296</vt:i4>
      </vt:variant>
    </vt:vector>
  </HeadingPairs>
  <TitlesOfParts>
    <vt:vector size="330" baseType="lpstr">
      <vt:lpstr>Arial Unicode MS</vt:lpstr>
      <vt:lpstr>BatangChe</vt:lpstr>
      <vt:lpstr>cajcd fnta1</vt:lpstr>
      <vt:lpstr>cajcd fntaa</vt:lpstr>
      <vt:lpstr>Helvetica Neue</vt:lpstr>
      <vt:lpstr>MS Gothic</vt:lpstr>
      <vt:lpstr>Pingfang SC</vt:lpstr>
      <vt:lpstr>等线</vt:lpstr>
      <vt:lpstr>仿宋_GB2312</vt:lpstr>
      <vt:lpstr>黑体</vt:lpstr>
      <vt:lpstr>华文行楷</vt:lpstr>
      <vt:lpstr>楷体</vt:lpstr>
      <vt:lpstr>楷体_GB2312</vt:lpstr>
      <vt:lpstr>隶书</vt:lpstr>
      <vt:lpstr>宋体</vt:lpstr>
      <vt:lpstr>微软雅黑</vt:lpstr>
      <vt:lpstr>Arial</vt:lpstr>
      <vt:lpstr>Calibri</vt:lpstr>
      <vt:lpstr>Cambria Math</vt:lpstr>
      <vt:lpstr>Lucida Sans Unicode</vt:lpstr>
      <vt:lpstr>Symbol</vt:lpstr>
      <vt:lpstr>Tahoma</vt:lpstr>
      <vt:lpstr>Times New Roman</vt:lpstr>
      <vt:lpstr>Verdana</vt:lpstr>
      <vt:lpstr>Wingdings</vt:lpstr>
      <vt:lpstr>Wingdings 2</vt:lpstr>
      <vt:lpstr>Wingdings 3</vt:lpstr>
      <vt:lpstr>模板</vt:lpstr>
      <vt:lpstr>Visio</vt:lpstr>
      <vt:lpstr>位图图像</vt:lpstr>
      <vt:lpstr>Microsoft 公式 3.0</vt:lpstr>
      <vt:lpstr>VISIO</vt:lpstr>
      <vt:lpstr>Equation</vt:lpstr>
      <vt:lpstr>Microsoft Visio 绘图</vt:lpstr>
      <vt:lpstr>第三章 语法分析</vt:lpstr>
      <vt:lpstr>本章要求</vt:lpstr>
      <vt:lpstr>PowerPoint 演示文稿</vt:lpstr>
      <vt:lpstr>语法分析程序所处的位置</vt:lpstr>
      <vt:lpstr>PowerPoint 演示文稿</vt:lpstr>
      <vt:lpstr>PowerPoint 演示文稿</vt:lpstr>
      <vt:lpstr>PowerPoint 演示文稿</vt:lpstr>
      <vt:lpstr>解决方法</vt:lpstr>
      <vt:lpstr>PowerPoint 演示文稿</vt:lpstr>
      <vt:lpstr>PowerPoint 演示文稿</vt:lpstr>
      <vt:lpstr>PowerPoint 演示文稿</vt:lpstr>
      <vt:lpstr>上下文无关文法</vt:lpstr>
      <vt:lpstr>上下文无关文法</vt:lpstr>
      <vt:lpstr>文法的形式定义</vt:lpstr>
      <vt:lpstr>PowerPoint 演示文稿</vt:lpstr>
      <vt:lpstr>PowerPoint 演示文稿</vt:lpstr>
      <vt:lpstr>PowerPoint 演示文稿</vt:lpstr>
      <vt:lpstr>例：简单算术表达式的文法定义</vt:lpstr>
      <vt:lpstr>PowerPoint 演示文稿</vt:lpstr>
      <vt:lpstr>PowerPoint 演示文稿</vt:lpstr>
      <vt:lpstr>推导和归约</vt:lpstr>
      <vt:lpstr>形式化</vt:lpstr>
      <vt:lpstr>句型和句子</vt:lpstr>
      <vt:lpstr>推导中的问题</vt:lpstr>
      <vt:lpstr>PowerPoint 演示文稿</vt:lpstr>
      <vt:lpstr>PowerPoint 演示文稿</vt:lpstr>
      <vt:lpstr>文法产生的语言</vt:lpstr>
      <vt:lpstr>PowerPoint 演示文稿</vt:lpstr>
      <vt:lpstr>PowerPoint 演示文稿</vt:lpstr>
      <vt:lpstr>PowerPoint 演示文稿</vt:lpstr>
      <vt:lpstr>PowerPoint 演示文稿</vt:lpstr>
      <vt:lpstr>文法等价</vt:lpstr>
      <vt:lpstr>PowerPoint 演示文稿</vt:lpstr>
      <vt:lpstr>语法树</vt:lpstr>
      <vt:lpstr>语法树</vt:lpstr>
      <vt:lpstr>语法树的生成过程</vt:lpstr>
      <vt:lpstr>例：对文法G = ({E}, {i, +, *, (, ) } , P , E)             P： E  E + E | E * E  | ( E ) | i         句子(i+i)*i 的语法树：</vt:lpstr>
      <vt:lpstr>PowerPoint 演示文稿</vt:lpstr>
      <vt:lpstr>PowerPoint 演示文稿</vt:lpstr>
      <vt:lpstr>文法的二义性 </vt:lpstr>
      <vt:lpstr>例：证明下述文法是二义文法。 </vt:lpstr>
      <vt:lpstr>消除二义性</vt:lpstr>
      <vt:lpstr>消除二义性</vt:lpstr>
      <vt:lpstr>Sample语言文法描述</vt:lpstr>
      <vt:lpstr>3.3 自上而下语法分析</vt:lpstr>
      <vt:lpstr>PowerPoint 演示文稿</vt:lpstr>
      <vt:lpstr>自上而下语法分析</vt:lpstr>
      <vt:lpstr>问题1：分析器不稳定（回溯）</vt:lpstr>
      <vt:lpstr>  问题2：无限循环（左递归）</vt:lpstr>
      <vt:lpstr>结论</vt:lpstr>
      <vt:lpstr>问题的解决方法</vt:lpstr>
      <vt:lpstr>消除回溯</vt:lpstr>
      <vt:lpstr>PowerPoint 演示文稿</vt:lpstr>
      <vt:lpstr>练习</vt:lpstr>
      <vt:lpstr>消除左递归</vt:lpstr>
      <vt:lpstr>PowerPoint 演示文稿</vt:lpstr>
      <vt:lpstr>PowerPoint 演示文稿</vt:lpstr>
      <vt:lpstr>练  习</vt:lpstr>
      <vt:lpstr>2. 间接左递归的消除</vt:lpstr>
      <vt:lpstr>PowerPoint 演示文稿</vt:lpstr>
      <vt:lpstr>探究:        文法满足怎样的条件才不会产生回溯？</vt:lpstr>
      <vt:lpstr>文法符号串α的首终结符集</vt:lpstr>
      <vt:lpstr>PowerPoint 演示文稿</vt:lpstr>
      <vt:lpstr>PowerPoint 演示文稿</vt:lpstr>
      <vt:lpstr>PowerPoint 演示文稿</vt:lpstr>
      <vt:lpstr>PowerPoint 演示文稿</vt:lpstr>
      <vt:lpstr>PowerPoint 演示文稿</vt:lpstr>
      <vt:lpstr>文法符号A的首终结符集First(A)</vt:lpstr>
      <vt:lpstr>PowerPoint 演示文稿</vt:lpstr>
      <vt:lpstr>求文法符号A的First集的算法 </vt:lpstr>
      <vt:lpstr>求候选式 = X1X2..Xn的First集的算法 </vt:lpstr>
      <vt:lpstr>PowerPoint 演示文稿</vt:lpstr>
      <vt:lpstr>思考题</vt:lpstr>
      <vt:lpstr>PowerPoint 演示文稿</vt:lpstr>
      <vt:lpstr>PowerPoint 演示文稿</vt:lpstr>
      <vt:lpstr>例：</vt:lpstr>
      <vt:lpstr>求非终结符A的Follow集的算法 </vt:lpstr>
      <vt:lpstr>例:求下述文法中每个非终结符的Follow集 </vt:lpstr>
      <vt:lpstr>练   习</vt:lpstr>
      <vt:lpstr>PowerPoint 演示文稿</vt:lpstr>
      <vt:lpstr>PowerPoint 演示文稿</vt:lpstr>
      <vt:lpstr>PowerPoint 演示文稿</vt:lpstr>
      <vt:lpstr>LL(1)文法的判别 </vt:lpstr>
      <vt:lpstr>PowerPoint 演示文稿</vt:lpstr>
      <vt:lpstr>练   习</vt:lpstr>
      <vt:lpstr>LL(1)文法的分析过程（总结）</vt:lpstr>
      <vt:lpstr>PowerPoint 演示文稿</vt:lpstr>
      <vt:lpstr>递归下降分析方法</vt:lpstr>
      <vt:lpstr>递归分析程序的基本架构(1)</vt:lpstr>
      <vt:lpstr>基本架构(2)</vt:lpstr>
      <vt:lpstr>PowerPoint 演示文稿</vt:lpstr>
      <vt:lpstr>PowerPoint 演示文稿</vt:lpstr>
      <vt:lpstr>PowerPoint 演示文稿</vt:lpstr>
      <vt:lpstr>PowerPoint 演示文稿</vt:lpstr>
      <vt:lpstr>递归分析程序的优点</vt:lpstr>
      <vt:lpstr>练习</vt:lpstr>
      <vt:lpstr>PowerPoint 演示文稿</vt:lpstr>
      <vt:lpstr>递归下降的语法分析程序的设计 </vt:lpstr>
      <vt:lpstr>PowerPoint 演示文稿</vt:lpstr>
      <vt:lpstr>总控程序的框架 </vt:lpstr>
      <vt:lpstr>MAIN函数处理</vt:lpstr>
      <vt:lpstr>复合语句处理：分类</vt:lpstr>
      <vt:lpstr>语句分类函数FirstWordClasify(token)</vt:lpstr>
      <vt:lpstr>PowerPoint 演示文稿</vt:lpstr>
      <vt:lpstr>PowerPoint 演示文稿</vt:lpstr>
      <vt:lpstr>假定找到的相应于非终结符&lt;表达式&gt;，有产生式：           &lt;表达式&gt; → &lt;变量&gt;&lt;关系符&gt;&lt;变量&gt;           &lt;关系符&gt; → &lt; | &gt; | &lt;&gt; | &lt;= |  &gt;= | =  &lt;表达式&gt;的函数可描述为：</vt:lpstr>
      <vt:lpstr>PowerPoint 演示文稿</vt:lpstr>
      <vt:lpstr>PowerPoint 演示文稿</vt:lpstr>
      <vt:lpstr>递归下降分析</vt:lpstr>
      <vt:lpstr>预测分析方法</vt:lpstr>
      <vt:lpstr>PowerPoint 演示文稿</vt:lpstr>
      <vt:lpstr>总控程序:</vt:lpstr>
      <vt:lpstr>预测分析过程</vt:lpstr>
      <vt:lpstr>PowerPoint 演示文稿</vt:lpstr>
      <vt:lpstr>LL(1)预测分析程序设计</vt:lpstr>
      <vt:lpstr>PowerPoint 演示文稿</vt:lpstr>
      <vt:lpstr>构造预测分析表</vt:lpstr>
      <vt:lpstr>预测分析表的构造算法</vt:lpstr>
      <vt:lpstr>例：求对应于下述文法的预测分析表。</vt:lpstr>
      <vt:lpstr>选择</vt:lpstr>
      <vt:lpstr>二义文法和左递归</vt:lpstr>
      <vt:lpstr>递归下降分析VS.非递归的预测分析</vt:lpstr>
      <vt:lpstr>PowerPoint 演示文稿</vt:lpstr>
      <vt:lpstr>PowerPoint 演示文稿</vt:lpstr>
      <vt:lpstr>PowerPoint 演示文稿</vt:lpstr>
      <vt:lpstr>PowerPoint 演示文稿</vt:lpstr>
      <vt:lpstr>PowerPoint 演示文稿</vt:lpstr>
      <vt:lpstr>综合练习</vt:lpstr>
      <vt:lpstr>预测分析表</vt:lpstr>
      <vt:lpstr>JavaCC</vt:lpstr>
      <vt:lpstr>javaCC</vt:lpstr>
      <vt:lpstr>PowerPoint 演示文稿</vt:lpstr>
      <vt:lpstr>自下而上的语法分析</vt:lpstr>
      <vt:lpstr>PowerPoint 演示文稿</vt:lpstr>
      <vt:lpstr>PowerPoint 演示文稿</vt:lpstr>
      <vt:lpstr>PowerPoint 演示文稿</vt:lpstr>
      <vt:lpstr>PowerPoint 演示文稿</vt:lpstr>
      <vt:lpstr>PowerPoint 演示文稿</vt:lpstr>
      <vt:lpstr>句柄的概念</vt:lpstr>
      <vt:lpstr>例：考虑如下文法：</vt:lpstr>
      <vt:lpstr>PowerPoint 演示文稿</vt:lpstr>
      <vt:lpstr>规范归约的定义：</vt:lpstr>
      <vt:lpstr>PowerPoint 演示文稿</vt:lpstr>
      <vt:lpstr>规范归约中的句型——规范句型</vt:lpstr>
      <vt:lpstr>PowerPoint 演示文稿</vt:lpstr>
      <vt:lpstr>PowerPoint 演示文稿</vt:lpstr>
      <vt:lpstr>PowerPoint 演示文稿</vt:lpstr>
      <vt:lpstr>移进-归约分析中的问题</vt:lpstr>
      <vt:lpstr>语法分析树的表示</vt:lpstr>
      <vt:lpstr>PowerPoint 演示文稿</vt:lpstr>
      <vt:lpstr>算符优先分析</vt:lpstr>
      <vt:lpstr>优先关系的定义：</vt:lpstr>
      <vt:lpstr>算符优先文法的定义</vt:lpstr>
      <vt:lpstr>PowerPoint 演示文稿</vt:lpstr>
      <vt:lpstr>练   习</vt:lpstr>
      <vt:lpstr>算符优先关系表</vt:lpstr>
      <vt:lpstr>练习</vt:lpstr>
      <vt:lpstr>PowerPoint 演示文稿</vt:lpstr>
      <vt:lpstr>PowerPoint 演示文稿</vt:lpstr>
      <vt:lpstr>注意：</vt:lpstr>
      <vt:lpstr>算符优先关系表的自动构造算法 </vt:lpstr>
      <vt:lpstr>PowerPoint 演示文稿</vt:lpstr>
      <vt:lpstr>构造FirstVT集算法:</vt:lpstr>
      <vt:lpstr>例：求文法各非终结符的FirstVT：</vt:lpstr>
      <vt:lpstr>练习</vt:lpstr>
      <vt:lpstr>求FirstVT集的算法描述:</vt:lpstr>
      <vt:lpstr>练习</vt:lpstr>
      <vt:lpstr>PowerPoint 演示文稿</vt:lpstr>
      <vt:lpstr>优先关系表构造算法</vt:lpstr>
      <vt:lpstr>PowerPoint 演示文稿</vt:lpstr>
      <vt:lpstr>例:给定文法G的FirstVT和LastVT集,构造算符优先关系表。 </vt:lpstr>
      <vt:lpstr>例</vt:lpstr>
      <vt:lpstr>PowerPoint 演示文稿</vt:lpstr>
      <vt:lpstr>算符优先分析方法</vt:lpstr>
      <vt:lpstr>几个定义</vt:lpstr>
      <vt:lpstr>例：给定右边文法的一个句型：          T * F + i     求其短语、素短语、最左素短语？</vt:lpstr>
      <vt:lpstr>PowerPoint 演示文稿</vt:lpstr>
      <vt:lpstr>定  理</vt:lpstr>
      <vt:lpstr>PowerPoint 演示文稿</vt:lpstr>
      <vt:lpstr>分析过程:</vt:lpstr>
      <vt:lpstr>PowerPoint 演示文稿</vt:lpstr>
      <vt:lpstr>PowerPoint 演示文稿</vt:lpstr>
      <vt:lpstr>PowerPoint 演示文稿</vt:lpstr>
      <vt:lpstr>PowerPoint 演示文稿</vt:lpstr>
      <vt:lpstr>PowerPoint 演示文稿</vt:lpstr>
      <vt:lpstr>算符优先分析法小结</vt:lpstr>
      <vt:lpstr>算符优先</vt:lpstr>
      <vt:lpstr>优先函数</vt:lpstr>
      <vt:lpstr>PowerPoint 演示文稿</vt:lpstr>
      <vt:lpstr>如果优先函数存在，从优先关系表可以构造优先函数。步骤如下：</vt:lpstr>
      <vt:lpstr>例：根据优先关系表构造优先函数：</vt:lpstr>
      <vt:lpstr>练习</vt:lpstr>
      <vt:lpstr>算符优先分析中的错误处理</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自下而上语法分析</vt:lpstr>
      <vt:lpstr>LR分析法——引出问题</vt:lpstr>
      <vt:lpstr>LR分析法——引出问题</vt:lpstr>
      <vt:lpstr>（1）原理</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LR分析法</vt:lpstr>
      <vt:lpstr>LR分析的优缺点</vt:lpstr>
      <vt:lpstr>PowerPoint 演示文稿</vt:lpstr>
      <vt:lpstr>PowerPoint 演示文稿</vt:lpstr>
      <vt:lpstr>PowerPoint 演示文稿</vt:lpstr>
      <vt:lpstr>PowerPoint 演示文稿</vt:lpstr>
      <vt:lpstr>规范句型</vt:lpstr>
      <vt:lpstr>PowerPoint 演示文稿</vt:lpstr>
      <vt:lpstr>PowerPoint 演示文稿</vt:lpstr>
      <vt:lpstr>练    习</vt:lpstr>
      <vt:lpstr>PowerPoint 演示文稿</vt:lpstr>
      <vt:lpstr>PowerPoint 演示文稿</vt:lpstr>
      <vt:lpstr>LR(0)项目集规范族及识别活前缀的DFA的构造方法：</vt:lpstr>
      <vt:lpstr>PowerPoint 演示文稿</vt:lpstr>
      <vt:lpstr>例：求识别右边文法的活前缀的NFA</vt:lpstr>
      <vt:lpstr>PowerPoint 演示文稿</vt:lpstr>
      <vt:lpstr>PowerPoint 演示文稿</vt:lpstr>
      <vt:lpstr>例：对于文法4.6有下列项目：</vt:lpstr>
      <vt:lpstr>PowerPoint 演示文稿</vt:lpstr>
      <vt:lpstr>例：对于上面的例题文法有下列项目</vt:lpstr>
      <vt:lpstr>PowerPoint 演示文稿</vt:lpstr>
      <vt:lpstr>前述的例子中，是已经拓广了的文法</vt:lpstr>
      <vt:lpstr>PowerPoint 演示文稿</vt:lpstr>
      <vt:lpstr>PowerPoint 演示文稿</vt:lpstr>
      <vt:lpstr>PowerPoint 演示文稿</vt:lpstr>
      <vt:lpstr>求项目集规范族和识别活前缀的DFA 算法描述：</vt:lpstr>
      <vt:lpstr>LR(0)项目集规范族也可以用表格的形式表示</vt:lpstr>
      <vt:lpstr>几个概念</vt:lpstr>
      <vt:lpstr>几个概念</vt:lpstr>
      <vt:lpstr>几个概念</vt:lpstr>
      <vt:lpstr>PowerPoint 演示文稿</vt:lpstr>
      <vt:lpstr>回顾</vt:lpstr>
      <vt:lpstr>PowerPoint 演示文稿</vt:lpstr>
      <vt:lpstr>PowerPoint 演示文稿</vt:lpstr>
      <vt:lpstr>PowerPoint 演示文稿</vt:lpstr>
      <vt:lpstr>练    习</vt:lpstr>
      <vt:lpstr>PowerPoint 演示文稿</vt:lpstr>
      <vt:lpstr>PowerPoint 演示文稿</vt:lpstr>
      <vt:lpstr>PowerPoint 演示文稿</vt:lpstr>
      <vt:lpstr>PowerPoint 演示文稿</vt:lpstr>
      <vt:lpstr>PowerPoint 演示文稿</vt:lpstr>
      <vt:lpstr>非LR(0)文法</vt:lpstr>
      <vt:lpstr>SLR(1)冲突的解决办法</vt:lpstr>
      <vt:lpstr>前面例子中冲突的解决方法：</vt:lpstr>
      <vt:lpstr>PowerPoint 演示文稿</vt:lpstr>
      <vt:lpstr>PowerPoint 演示文稿</vt:lpstr>
      <vt:lpstr>SLR(1)文法</vt:lpstr>
      <vt:lpstr>SLR(1)分析表的构造算法</vt:lpstr>
      <vt:lpstr>例：求下述文法的SLR(1)分析表</vt:lpstr>
      <vt:lpstr>SLR不能解决的问题</vt:lpstr>
      <vt:lpstr>SLR不能解决的问题</vt:lpstr>
      <vt:lpstr> LR(1)分析 </vt:lpstr>
      <vt:lpstr>PowerPoint 演示文稿</vt:lpstr>
      <vt:lpstr>构造LR(1)项目集规范族及识别活前缀的DFA</vt:lpstr>
      <vt:lpstr>上面的例子的LR(1)项目集规范族</vt:lpstr>
      <vt:lpstr>LR(1)分析表的构造 </vt:lpstr>
      <vt:lpstr>其LR(1)分析表为：</vt:lpstr>
      <vt:lpstr>LALR(1)分析</vt:lpstr>
      <vt:lpstr>PowerPoint 演示文稿</vt:lpstr>
      <vt:lpstr>构造LALR分析表的算法： </vt:lpstr>
      <vt:lpstr>PowerPoint 演示文稿</vt:lpstr>
      <vt:lpstr>PowerPoint 演示文稿</vt:lpstr>
      <vt:lpstr>PowerPoint 演示文稿</vt:lpstr>
      <vt:lpstr>3.5.1 YACC概述</vt:lpstr>
      <vt:lpstr>PowerPoint 演示文稿</vt:lpstr>
      <vt:lpstr>PowerPoint 演示文稿</vt:lpstr>
      <vt:lpstr>PowerPoint 演示文稿</vt:lpstr>
      <vt:lpstr>语法分析工具介绍</vt:lpstr>
      <vt:lpstr>语法分析工具介绍</vt:lpstr>
      <vt:lpstr>用Yacc生成语法分析器</vt:lpstr>
      <vt:lpstr>3.5.2 YACC源文件的格式</vt:lpstr>
      <vt:lpstr>3.5.3 YACC的翻译规则</vt:lpstr>
      <vt:lpstr>PowerPoint 演示文稿</vt:lpstr>
      <vt:lpstr>PowerPoint 演示文稿</vt:lpstr>
      <vt:lpstr>例：构造台式计算器的翻译程序，读入一行算术表达式，求值后打印结果。 </vt:lpstr>
      <vt:lpstr>PowerPoint 演示文稿</vt:lpstr>
      <vt:lpstr>练习</vt:lpstr>
      <vt:lpstr>3.6 语法分析中的错误处理</vt:lpstr>
      <vt:lpstr>PowerPoint 演示文稿</vt:lpstr>
      <vt:lpstr>PowerPoint 演示文稿</vt:lpstr>
      <vt:lpstr>PowerPoint 演示文稿</vt:lpstr>
      <vt:lpstr>总结</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第三章 语法分析</dc:title>
  <dc:creator>hxy</dc:creator>
  <cp:lastModifiedBy>Administrator</cp:lastModifiedBy>
  <cp:revision>391</cp:revision>
  <dcterms:created xsi:type="dcterms:W3CDTF">2020-02-14T04:59:42Z</dcterms:created>
  <dcterms:modified xsi:type="dcterms:W3CDTF">2026-03-23T12:39:58Z</dcterms:modified>
</cp:coreProperties>
</file>