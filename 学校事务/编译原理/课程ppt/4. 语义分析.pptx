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06"/>
  </p:notesMasterIdLst>
  <p:sldIdLst>
    <p:sldId id="256" r:id="rId2"/>
    <p:sldId id="341" r:id="rId3"/>
    <p:sldId id="307" r:id="rId4"/>
    <p:sldId id="308" r:id="rId5"/>
    <p:sldId id="309" r:id="rId6"/>
    <p:sldId id="310" r:id="rId7"/>
    <p:sldId id="312" r:id="rId8"/>
    <p:sldId id="313" r:id="rId9"/>
    <p:sldId id="339" r:id="rId10"/>
    <p:sldId id="314" r:id="rId11"/>
    <p:sldId id="335" r:id="rId12"/>
    <p:sldId id="315" r:id="rId13"/>
    <p:sldId id="316" r:id="rId14"/>
    <p:sldId id="317" r:id="rId15"/>
    <p:sldId id="318" r:id="rId16"/>
    <p:sldId id="319" r:id="rId17"/>
    <p:sldId id="320" r:id="rId18"/>
    <p:sldId id="321" r:id="rId19"/>
    <p:sldId id="342" r:id="rId20"/>
    <p:sldId id="322" r:id="rId21"/>
    <p:sldId id="323" r:id="rId22"/>
    <p:sldId id="324" r:id="rId23"/>
    <p:sldId id="325" r:id="rId24"/>
    <p:sldId id="326" r:id="rId25"/>
    <p:sldId id="337" r:id="rId26"/>
    <p:sldId id="336" r:id="rId27"/>
    <p:sldId id="327" r:id="rId28"/>
    <p:sldId id="328" r:id="rId29"/>
    <p:sldId id="338" r:id="rId30"/>
    <p:sldId id="329" r:id="rId31"/>
    <p:sldId id="343" r:id="rId32"/>
    <p:sldId id="344" r:id="rId33"/>
    <p:sldId id="330" r:id="rId34"/>
    <p:sldId id="331" r:id="rId35"/>
    <p:sldId id="332" r:id="rId36"/>
    <p:sldId id="333" r:id="rId37"/>
    <p:sldId id="345" r:id="rId38"/>
    <p:sldId id="434" r:id="rId39"/>
    <p:sldId id="433" r:id="rId40"/>
    <p:sldId id="435" r:id="rId41"/>
    <p:sldId id="436" r:id="rId42"/>
    <p:sldId id="444" r:id="rId43"/>
    <p:sldId id="445" r:id="rId44"/>
    <p:sldId id="446" r:id="rId45"/>
    <p:sldId id="447" r:id="rId46"/>
    <p:sldId id="448" r:id="rId47"/>
    <p:sldId id="449" r:id="rId48"/>
    <p:sldId id="450" r:id="rId49"/>
    <p:sldId id="451" r:id="rId50"/>
    <p:sldId id="452" r:id="rId51"/>
    <p:sldId id="453" r:id="rId52"/>
    <p:sldId id="454" r:id="rId53"/>
    <p:sldId id="455" r:id="rId54"/>
    <p:sldId id="456" r:id="rId55"/>
    <p:sldId id="340" r:id="rId56"/>
    <p:sldId id="457" r:id="rId57"/>
    <p:sldId id="458" r:id="rId58"/>
    <p:sldId id="459" r:id="rId59"/>
    <p:sldId id="460" r:id="rId60"/>
    <p:sldId id="461" r:id="rId61"/>
    <p:sldId id="462" r:id="rId62"/>
    <p:sldId id="463" r:id="rId63"/>
    <p:sldId id="464" r:id="rId64"/>
    <p:sldId id="465" r:id="rId65"/>
    <p:sldId id="466" r:id="rId66"/>
    <p:sldId id="346" r:id="rId67"/>
    <p:sldId id="347" r:id="rId68"/>
    <p:sldId id="348" r:id="rId69"/>
    <p:sldId id="467" r:id="rId70"/>
    <p:sldId id="468" r:id="rId71"/>
    <p:sldId id="469" r:id="rId72"/>
    <p:sldId id="470" r:id="rId73"/>
    <p:sldId id="471" r:id="rId74"/>
    <p:sldId id="472" r:id="rId75"/>
    <p:sldId id="473" r:id="rId76"/>
    <p:sldId id="349" r:id="rId77"/>
    <p:sldId id="350" r:id="rId78"/>
    <p:sldId id="474" r:id="rId79"/>
    <p:sldId id="352" r:id="rId80"/>
    <p:sldId id="357" r:id="rId81"/>
    <p:sldId id="358" r:id="rId82"/>
    <p:sldId id="359" r:id="rId83"/>
    <p:sldId id="475" r:id="rId84"/>
    <p:sldId id="476" r:id="rId85"/>
    <p:sldId id="360" r:id="rId86"/>
    <p:sldId id="477" r:id="rId87"/>
    <p:sldId id="478" r:id="rId88"/>
    <p:sldId id="362" r:id="rId89"/>
    <p:sldId id="479" r:id="rId90"/>
    <p:sldId id="480" r:id="rId91"/>
    <p:sldId id="481" r:id="rId92"/>
    <p:sldId id="365" r:id="rId93"/>
    <p:sldId id="366" r:id="rId94"/>
    <p:sldId id="367" r:id="rId95"/>
    <p:sldId id="368" r:id="rId96"/>
    <p:sldId id="482" r:id="rId97"/>
    <p:sldId id="370" r:id="rId98"/>
    <p:sldId id="504" r:id="rId99"/>
    <p:sldId id="371" r:id="rId100"/>
    <p:sldId id="483" r:id="rId101"/>
    <p:sldId id="378" r:id="rId102"/>
    <p:sldId id="380" r:id="rId103"/>
    <p:sldId id="379" r:id="rId104"/>
    <p:sldId id="334" r:id="rId105"/>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008000"/>
    <a:srgbClr val="0000CC"/>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8" autoAdjust="0"/>
  </p:normalViewPr>
  <p:slideViewPr>
    <p:cSldViewPr>
      <p:cViewPr varScale="1">
        <p:scale>
          <a:sx n="99" d="100"/>
          <a:sy n="99" d="100"/>
        </p:scale>
        <p:origin x="90" y="7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B6CE-4A83-4EA5-8A28-5A2599315B17}" type="datetimeFigureOut">
              <a:rPr lang="zh-CN" altLang="en-US" smtClean="0"/>
              <a:t>2023/8/24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9E8391-A7AA-438B-8953-8185EA502C58}" type="slidenum">
              <a:rPr lang="zh-CN" altLang="en-US" smtClean="0"/>
              <a:t>‹#›</a:t>
            </a:fld>
            <a:endParaRPr lang="zh-CN" altLang="en-US"/>
          </a:p>
        </p:txBody>
      </p:sp>
    </p:spTree>
    <p:extLst>
      <p:ext uri="{BB962C8B-B14F-4D97-AF65-F5344CB8AC3E}">
        <p14:creationId xmlns:p14="http://schemas.microsoft.com/office/powerpoint/2010/main" val="353989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25FFBB6-1B3D-4A91-BFDF-80FE1CC5DF94}" type="slidenum">
              <a:rPr lang="en-US" altLang="zh-CN" smtClean="0"/>
              <a:pPr>
                <a:spcBef>
                  <a:spcPct val="0"/>
                </a:spcBef>
              </a:pPr>
              <a:t>3</a:t>
            </a:fld>
            <a:endParaRPr lang="en-US" altLang="zh-CN"/>
          </a:p>
        </p:txBody>
      </p:sp>
      <p:sp>
        <p:nvSpPr>
          <p:cNvPr id="33795" name="Rectangle 2"/>
          <p:cNvSpPr>
            <a:spLocks noGrp="1" noRot="1" noChangeAspect="1" noChangeArrowheads="1" noTextEdit="1"/>
          </p:cNvSpPr>
          <p:nvPr>
            <p:ph type="sldImg"/>
          </p:nvPr>
        </p:nvSpPr>
        <p:spPr>
          <a:ln cap="flat"/>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A40C2763-60E8-4964-915B-C360C0B9077F}" type="slidenum">
              <a:rPr lang="en-US" altLang="zh-CN" smtClean="0"/>
              <a:pPr>
                <a:spcBef>
                  <a:spcPct val="0"/>
                </a:spcBef>
              </a:pPr>
              <a:t>4</a:t>
            </a:fld>
            <a:endParaRPr lang="en-US" altLang="zh-CN"/>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664CA64-C3E4-4A30-9809-DA54EA109FE3}" type="slidenum">
              <a:rPr lang="en-US" altLang="zh-CN" smtClean="0"/>
              <a:pPr>
                <a:spcBef>
                  <a:spcPct val="0"/>
                </a:spcBef>
              </a:pPr>
              <a:t>6</a:t>
            </a:fld>
            <a:endParaRPr lang="en-US" altLang="zh-CN"/>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C5485E2-496A-4006-9115-58075B1AF599}" type="slidenum">
              <a:rPr lang="en-US" altLang="zh-CN" smtClean="0"/>
              <a:pPr>
                <a:spcBef>
                  <a:spcPct val="0"/>
                </a:spcBef>
              </a:pPr>
              <a:t>40</a:t>
            </a:fld>
            <a:endParaRPr lang="en-US" altLang="zh-CN"/>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1F2AF22-D6DD-4415-A993-4A77EBD1F736}" type="slidenum">
              <a:rPr lang="en-US" altLang="zh-CN" smtClean="0"/>
              <a:pPr>
                <a:spcBef>
                  <a:spcPct val="0"/>
                </a:spcBef>
              </a:pPr>
              <a:t>41</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1F2AF22-D6DD-4415-A993-4A77EBD1F736}" type="slidenum">
              <a:rPr lang="en-US" altLang="zh-CN" smtClean="0"/>
              <a:pPr>
                <a:spcBef>
                  <a:spcPct val="0"/>
                </a:spcBef>
              </a:pPr>
              <a:t>42</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4E07915-BCA4-447B-9F30-7E99381A8CC6}" type="slidenum">
              <a:rPr lang="en-US" altLang="zh-CN" smtClean="0"/>
              <a:pPr>
                <a:spcBef>
                  <a:spcPct val="0"/>
                </a:spcBef>
              </a:pPr>
              <a:t>43</a:t>
            </a:fld>
            <a:endParaRPr lang="en-US" altLang="zh-CN"/>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F94CA32-BA95-4AEE-956D-FC93842E0300}" type="slidenum">
              <a:rPr lang="en-US" altLang="zh-CN" smtClean="0"/>
              <a:pPr>
                <a:spcBef>
                  <a:spcPct val="0"/>
                </a:spcBef>
              </a:pPr>
              <a:t>48</a:t>
            </a:fld>
            <a:endParaRPr lang="en-US" altLang="zh-CN"/>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674B059-8BD1-4BA0-8DB6-B2DB9D5056FA}" type="slidenum">
              <a:rPr lang="en-US" altLang="zh-CN" smtClean="0"/>
              <a:pPr>
                <a:spcBef>
                  <a:spcPct val="0"/>
                </a:spcBef>
              </a:pPr>
              <a:t>49</a:t>
            </a:fld>
            <a:endParaRPr lang="en-US" altLang="zh-CN"/>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A9263C3-BA45-4011-AA09-0DC899C3F4F3}" type="slidenum">
              <a:rPr lang="en-US" altLang="zh-CN" smtClean="0"/>
              <a:pPr>
                <a:spcBef>
                  <a:spcPct val="0"/>
                </a:spcBef>
              </a:pPr>
              <a:t>52</a:t>
            </a:fld>
            <a:endParaRPr lang="en-US" altLang="zh-CN"/>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A65DA25-267B-4DB2-9C48-2D7A2C90CDB9}" type="slidenum">
              <a:rPr lang="en-US" altLang="zh-CN" smtClean="0"/>
              <a:pPr>
                <a:spcBef>
                  <a:spcPct val="0"/>
                </a:spcBef>
              </a:pPr>
              <a:t>55</a:t>
            </a:fld>
            <a:endParaRPr lang="en-US" altLang="zh-CN"/>
          </a:p>
        </p:txBody>
      </p:sp>
      <p:sp>
        <p:nvSpPr>
          <p:cNvPr id="153603" name="Rectangle 2"/>
          <p:cNvSpPr>
            <a:spLocks noGrp="1" noRot="1" noChangeAspect="1" noChangeArrowheads="1" noTextEdit="1"/>
          </p:cNvSpPr>
          <p:nvPr>
            <p:ph type="sldImg"/>
          </p:nvPr>
        </p:nvSpPr>
        <p:spPr>
          <a:ln cap="flat"/>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411EF59-74FB-47AF-8C52-F8190B51314F}" type="slidenum">
              <a:rPr lang="en-US" altLang="zh-CN" smtClean="0"/>
              <a:pPr>
                <a:spcBef>
                  <a:spcPct val="0"/>
                </a:spcBef>
              </a:pPr>
              <a:t>56</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E1B3ACA-72D2-46BD-802B-F89ECF01A84E}" type="slidenum">
              <a:rPr lang="en-US" altLang="zh-CN" smtClean="0"/>
              <a:pPr>
                <a:spcBef>
                  <a:spcPct val="0"/>
                </a:spcBef>
              </a:pPr>
              <a:t>68</a:t>
            </a:fld>
            <a:endParaRPr lang="en-US" altLang="zh-CN"/>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0CE8D8D-0E07-4343-80BD-26269748C42A}" type="slidenum">
              <a:rPr lang="en-US" altLang="zh-CN" smtClean="0"/>
              <a:pPr>
                <a:spcBef>
                  <a:spcPct val="0"/>
                </a:spcBef>
              </a:pPr>
              <a:t>76</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B07A128-CDD5-462B-BAF1-E8A1D9063002}" type="slidenum">
              <a:rPr lang="en-US" altLang="zh-CN" smtClean="0"/>
              <a:pPr>
                <a:spcBef>
                  <a:spcPct val="0"/>
                </a:spcBef>
              </a:pPr>
              <a:t>77</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64CB77DC-56FC-4F82-9F25-53AFB121024E}" type="slidenum">
              <a:rPr lang="en-US" altLang="zh-CN" smtClean="0"/>
              <a:pPr>
                <a:spcBef>
                  <a:spcPct val="0"/>
                </a:spcBef>
              </a:pPr>
              <a:t>78</a:t>
            </a:fld>
            <a:endParaRPr lang="en-US" altLang="zh-CN"/>
          </a:p>
        </p:txBody>
      </p:sp>
      <p:sp>
        <p:nvSpPr>
          <p:cNvPr id="1048913" name="Rectangle 2"/>
          <p:cNvSpPr>
            <a:spLocks noGrp="1" noRot="1" noChangeAspect="1" noChangeArrowheads="1" noTextEdit="1"/>
          </p:cNvSpPr>
          <p:nvPr>
            <p:ph type="sldImg"/>
          </p:nvPr>
        </p:nvSpPr>
        <p:spPr/>
      </p:sp>
      <p:sp>
        <p:nvSpPr>
          <p:cNvPr id="104891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B32C406-DA73-4F16-9309-6375F28043B2}" type="slidenum">
              <a:rPr lang="en-US" altLang="zh-CN" smtClean="0"/>
              <a:pPr>
                <a:spcBef>
                  <a:spcPct val="0"/>
                </a:spcBef>
              </a:pPr>
              <a:t>79</a:t>
            </a:fld>
            <a:endParaRPr lang="en-US" altLang="zh-CN"/>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B059F46-FE73-4661-9093-4341DAC58B2D}" type="slidenum">
              <a:rPr lang="en-US" altLang="zh-CN" smtClean="0"/>
              <a:pPr>
                <a:spcBef>
                  <a:spcPct val="0"/>
                </a:spcBef>
              </a:pPr>
              <a:t>80</a:t>
            </a:fld>
            <a:endParaRPr lang="en-US" altLang="zh-CN"/>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D8F1EBF-9964-4749-B734-2BF2BB3A9E92}" type="slidenum">
              <a:rPr lang="en-US" altLang="zh-CN" smtClean="0"/>
              <a:pPr>
                <a:spcBef>
                  <a:spcPct val="0"/>
                </a:spcBef>
              </a:pPr>
              <a:t>81</a:t>
            </a:fld>
            <a:endParaRPr lang="en-US" altLang="zh-CN"/>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8A71607-1480-4B88-B455-AFC54F6D7341}" type="slidenum">
              <a:rPr lang="en-US" altLang="zh-CN" smtClean="0"/>
              <a:pPr>
                <a:spcBef>
                  <a:spcPct val="0"/>
                </a:spcBef>
              </a:pPr>
              <a:t>82</a:t>
            </a:fld>
            <a:endParaRPr lang="en-US" altLang="zh-CN"/>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A3FF4E0-F13E-486F-8DE8-CB2FD1B992FE}" type="slidenum">
              <a:rPr lang="en-US" altLang="zh-CN" smtClean="0"/>
              <a:pPr>
                <a:spcBef>
                  <a:spcPct val="0"/>
                </a:spcBef>
              </a:pPr>
              <a:t>92</a:t>
            </a:fld>
            <a:endParaRPr lang="en-US" altLang="zh-CN"/>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E2635EE-09B6-40AB-B045-8468DAE943B5}" type="slidenum">
              <a:rPr lang="en-US" altLang="zh-CN" smtClean="0"/>
              <a:pPr>
                <a:spcBef>
                  <a:spcPct val="0"/>
                </a:spcBef>
              </a:pPr>
              <a:t>93</a:t>
            </a:fld>
            <a:endParaRPr lang="en-US" altLang="zh-CN"/>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7655910-244C-46CD-B6F8-D24D5BE9D335}" type="slidenum">
              <a:rPr lang="en-US" altLang="zh-CN" smtClean="0"/>
              <a:pPr>
                <a:spcBef>
                  <a:spcPct val="0"/>
                </a:spcBef>
              </a:pPr>
              <a:t>95</a:t>
            </a:fld>
            <a:endParaRPr lang="en-US" altLang="zh-CN"/>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6120AD1-EAAC-45F1-B81B-F966BF4D46F7}" type="slidenum">
              <a:rPr lang="en-US" altLang="zh-CN" smtClean="0"/>
              <a:pPr>
                <a:spcBef>
                  <a:spcPct val="0"/>
                </a:spcBef>
              </a:pPr>
              <a:t>97</a:t>
            </a:fld>
            <a:endParaRPr lang="en-US" altLang="zh-CN"/>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99E8391-A7AA-438B-8953-8185EA502C58}" type="slidenum">
              <a:rPr lang="zh-CN" altLang="en-US" smtClean="0"/>
              <a:t>102</a:t>
            </a:fld>
            <a:endParaRPr lang="zh-CN" altLang="en-US"/>
          </a:p>
        </p:txBody>
      </p:sp>
    </p:spTree>
    <p:extLst>
      <p:ext uri="{BB962C8B-B14F-4D97-AF65-F5344CB8AC3E}">
        <p14:creationId xmlns:p14="http://schemas.microsoft.com/office/powerpoint/2010/main" val="3178705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dirty="0"/>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2023/8/24</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defRPr sz="2400">
                <a:latin typeface="宋体" panose="02010600030101010101" pitchFamily="2" charset="-122"/>
                <a:ea typeface="宋体" panose="02010600030101010101" pitchFamily="2" charset="-122"/>
              </a:defRPr>
            </a:lvl1pPr>
            <a:lvl2pPr>
              <a:defRPr sz="2200">
                <a:latin typeface="宋体" panose="02010600030101010101" pitchFamily="2" charset="-122"/>
                <a:ea typeface="宋体" panose="02010600030101010101" pitchFamily="2" charset="-122"/>
              </a:defRPr>
            </a:lvl2pPr>
            <a:lvl3pPr>
              <a:defRPr sz="2000">
                <a:latin typeface="宋体" panose="02010600030101010101" pitchFamily="2" charset="-122"/>
                <a:ea typeface="宋体" panose="02010600030101010101" pitchFamily="2" charset="-122"/>
              </a:defRPr>
            </a:lvl3pPr>
            <a:lvl4pPr>
              <a:defRPr sz="2000">
                <a:latin typeface="宋体" panose="02010600030101010101" pitchFamily="2" charset="-122"/>
                <a:ea typeface="宋体" panose="02010600030101010101" pitchFamily="2" charset="-122"/>
              </a:defRPr>
            </a:lvl4pPr>
            <a:lvl5pPr>
              <a:defRPr sz="2000">
                <a:latin typeface="宋体" panose="02010600030101010101" pitchFamily="2" charset="-122"/>
                <a:ea typeface="宋体" panose="02010600030101010101" pitchFamily="2" charset="-122"/>
              </a:defRPr>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a:lstStyle/>
          <a:p>
            <a:fld id="{222983CD-40B6-4A0F-A754-6514ADAC0847}" type="datetimeFigureOut">
              <a:rPr lang="zh-CN" altLang="en-US" smtClean="0"/>
              <a:t>2023/8/24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a:xfrm>
            <a:off x="107504" y="123478"/>
            <a:ext cx="8229600" cy="576064"/>
          </a:xfrm>
        </p:spPr>
        <p:txBody>
          <a:bodyPr rtlCol="0">
            <a:normAutofit/>
          </a:bodyPr>
          <a:lstStyle>
            <a:lvl1pPr>
              <a:defRPr sz="3600">
                <a:latin typeface="隶书" panose="02010509060101010101" pitchFamily="49" charset="-122"/>
                <a:ea typeface="隶书" panose="02010509060101010101" pitchFamily="49" charset="-122"/>
              </a:defRPr>
            </a:lvl1pPr>
            <a:extLst/>
          </a:lstStyle>
          <a:p>
            <a:r>
              <a:rPr kumimoji="0" lang="zh-CN" altLang="en-US"/>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normAutofit/>
          </a:bodyPr>
          <a:lstStyle>
            <a:lvl1pPr>
              <a:defRPr sz="3600"/>
            </a:lvl1pPr>
            <a:extLst/>
          </a:lstStyle>
          <a:p>
            <a:r>
              <a:rPr kumimoji="0" lang="zh-CN" altLang="en-US"/>
              <a:t>单击此处编辑母版标题样式</a:t>
            </a:r>
            <a:endParaRPr kumimoji="0" lang="en-US" dirty="0"/>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a:lstStyle/>
          <a:p>
            <a:fld id="{222983CD-40B6-4A0F-A754-6514ADAC0847}" type="datetimeFigureOut">
              <a:rPr lang="zh-CN" altLang="en-US" smtClean="0"/>
              <a:t>2023/8/24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B3A3C1E4-C39D-4DE5-A470-92666D0601DC}" type="slidenum">
              <a:rPr lang="en-US" altLang="zh-CN"/>
              <a:pPr>
                <a:defRPr/>
              </a:pPr>
              <a:t>‹#›</a:t>
            </a:fld>
            <a:endParaRPr lang="en-US" altLang="zh-CN"/>
          </a:p>
        </p:txBody>
      </p:sp>
    </p:spTree>
    <p:extLst>
      <p:ext uri="{BB962C8B-B14F-4D97-AF65-F5344CB8AC3E}">
        <p14:creationId xmlns:p14="http://schemas.microsoft.com/office/powerpoint/2010/main" val="3555976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7E09A14-47B4-4687-AAD4-ADF11DA55541}" type="slidenum">
              <a:rPr lang="en-US" altLang="zh-CN"/>
              <a:pPr>
                <a:defRPr/>
              </a:pPr>
              <a:t>‹#›</a:t>
            </a:fld>
            <a:endParaRPr lang="en-US" altLang="zh-CN"/>
          </a:p>
        </p:txBody>
      </p:sp>
    </p:spTree>
    <p:extLst>
      <p:ext uri="{BB962C8B-B14F-4D97-AF65-F5344CB8AC3E}">
        <p14:creationId xmlns:p14="http://schemas.microsoft.com/office/powerpoint/2010/main" val="1825208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979"/>
            <a:ext cx="8229600" cy="43886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01B3803-90B0-47D7-A26B-35F313672F49}" type="slidenum">
              <a:rPr lang="en-US" altLang="zh-CN"/>
              <a:pPr>
                <a:defRPr/>
              </a:pPr>
              <a:t>‹#›</a:t>
            </a:fld>
            <a:endParaRPr lang="en-US" altLang="zh-CN"/>
          </a:p>
        </p:txBody>
      </p:sp>
    </p:spTree>
    <p:extLst>
      <p:ext uri="{BB962C8B-B14F-4D97-AF65-F5344CB8AC3E}">
        <p14:creationId xmlns:p14="http://schemas.microsoft.com/office/powerpoint/2010/main" val="3857673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F8235B0-6C2E-420F-B3B3-DB02510B741C}" type="slidenum">
              <a:rPr lang="en-US" altLang="zh-CN"/>
              <a:pPr>
                <a:defRPr/>
              </a:pPr>
              <a:t>‹#›</a:t>
            </a:fld>
            <a:endParaRPr lang="en-US" altLang="zh-CN"/>
          </a:p>
        </p:txBody>
      </p:sp>
    </p:spTree>
    <p:extLst>
      <p:ext uri="{BB962C8B-B14F-4D97-AF65-F5344CB8AC3E}">
        <p14:creationId xmlns:p14="http://schemas.microsoft.com/office/powerpoint/2010/main" val="3636167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9">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2023/8/24</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5" r:id="rId3"/>
    <p:sldLayoutId id="2147483726" r:id="rId4"/>
    <p:sldLayoutId id="2147483727" r:id="rId5"/>
    <p:sldLayoutId id="2147483728" r:id="rId6"/>
    <p:sldLayoutId id="2147483729" r:id="rId7"/>
  </p:sldLayoutIdLst>
  <p:txStyles>
    <p:title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5.bin"/><Relationship Id="rId1" Type="http://schemas.openxmlformats.org/officeDocument/2006/relationships/slideLayout" Target="../slideLayouts/slideLayout4.x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8.bin"/><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9.bin"/><Relationship Id="rId1" Type="http://schemas.openxmlformats.org/officeDocument/2006/relationships/slideLayout" Target="../slideLayouts/slideLayout4.xml"/><Relationship Id="rId5" Type="http://schemas.openxmlformats.org/officeDocument/2006/relationships/image" Target="../media/image9.emf"/><Relationship Id="rId4" Type="http://schemas.openxmlformats.org/officeDocument/2006/relationships/oleObject" Target="../embeddings/oleObject10.bin"/></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14.emf"/><Relationship Id="rId7" Type="http://schemas.openxmlformats.org/officeDocument/2006/relationships/image" Target="../media/image6.emf"/><Relationship Id="rId2" Type="http://schemas.openxmlformats.org/officeDocument/2006/relationships/oleObject" Target="../embeddings/oleObject13.bin"/><Relationship Id="rId1" Type="http://schemas.openxmlformats.org/officeDocument/2006/relationships/slideLayout" Target="../slideLayouts/slideLayout4.xml"/><Relationship Id="rId6" Type="http://schemas.openxmlformats.org/officeDocument/2006/relationships/oleObject" Target="../embeddings/oleObject15.bin"/><Relationship Id="rId5" Type="http://schemas.openxmlformats.org/officeDocument/2006/relationships/image" Target="../media/image8.emf"/><Relationship Id="rId4" Type="http://schemas.openxmlformats.org/officeDocument/2006/relationships/oleObject" Target="../embeddings/oleObject14.bin"/><Relationship Id="rId9" Type="http://schemas.openxmlformats.org/officeDocument/2006/relationships/image" Target="../media/image12.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jp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4.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package" Target="../embeddings/Microsoft_Visio___.vsdx"/><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24.bin"/><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5.bin"/><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package" Target="../embeddings/Microsoft_Visio___1.vsdx"/><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package" Target="../embeddings/Microsoft_Visio___2.vsdx"/><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7584" y="1995686"/>
            <a:ext cx="5904656" cy="742950"/>
          </a:xfrm>
        </p:spPr>
        <p:txBody>
          <a:bodyPr>
            <a:noAutofit/>
          </a:bodyPr>
          <a:lstStyle/>
          <a:p>
            <a:r>
              <a:rPr lang="zh-CN" altLang="en-US" dirty="0"/>
              <a:t>第四章  语义分析</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64638" cy="1621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39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矩形 1"/>
          <p:cNvSpPr/>
          <p:nvPr/>
        </p:nvSpPr>
        <p:spPr>
          <a:xfrm>
            <a:off x="1249985" y="1971358"/>
            <a:ext cx="4112023" cy="707886"/>
          </a:xfrm>
          <a:prstGeom prst="rect">
            <a:avLst/>
          </a:prstGeom>
        </p:spPr>
        <p:txBody>
          <a:bodyPr wrap="none">
            <a:spAutoFit/>
          </a:bodyPr>
          <a:lstStyle/>
          <a:p>
            <a:r>
              <a:rPr lang="en-US" altLang="zh-CN" sz="4000" b="1" dirty="0">
                <a:solidFill>
                  <a:srgbClr val="CC0099"/>
                </a:solidFill>
                <a:ea typeface="隶书" pitchFamily="49" charset="-122"/>
              </a:rPr>
              <a:t>1</a:t>
            </a:r>
            <a:r>
              <a:rPr lang="zh-CN" altLang="en-US" sz="4000" b="1" dirty="0">
                <a:solidFill>
                  <a:srgbClr val="CC0099"/>
                </a:solidFill>
                <a:ea typeface="隶书" pitchFamily="49" charset="-122"/>
              </a:rPr>
              <a:t>、语义分析概述</a:t>
            </a:r>
            <a:endParaRPr lang="en-US" altLang="zh-CN" sz="3600" b="1" dirty="0">
              <a:solidFill>
                <a:srgbClr val="CC0099"/>
              </a:solidFill>
              <a:ea typeface="隶书" pitchFamily="49" charset="-122"/>
            </a:endParaRPr>
          </a:p>
        </p:txBody>
      </p:sp>
    </p:spTree>
    <p:extLst>
      <p:ext uri="{BB962C8B-B14F-4D97-AF65-F5344CB8AC3E}">
        <p14:creationId xmlns:p14="http://schemas.microsoft.com/office/powerpoint/2010/main" val="168991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536" y="267494"/>
            <a:ext cx="8229600" cy="857250"/>
          </a:xfrm>
          <a:noFill/>
        </p:spPr>
        <p:txBody>
          <a:bodyPr>
            <a:normAutofit fontScale="90000"/>
          </a:bodyPr>
          <a:lstStyle/>
          <a:p>
            <a:pPr eaLnBrk="1" hangingPunct="1"/>
            <a:r>
              <a:rPr lang="zh-CN" altLang="en-US" sz="5400" b="1" dirty="0">
                <a:solidFill>
                  <a:srgbClr val="663399"/>
                </a:solidFill>
                <a:ea typeface="隶书" pitchFamily="49" charset="-122"/>
              </a:rPr>
              <a:t>本章要求</a:t>
            </a:r>
            <a:endParaRPr lang="zh-CN" altLang="en-US" sz="5400" dirty="0">
              <a:solidFill>
                <a:srgbClr val="000000"/>
              </a:solidFill>
            </a:endParaRPr>
          </a:p>
        </p:txBody>
      </p:sp>
      <p:sp>
        <p:nvSpPr>
          <p:cNvPr id="3075" name="Rectangle 3"/>
          <p:cNvSpPr>
            <a:spLocks noGrp="1" noChangeArrowheads="1"/>
          </p:cNvSpPr>
          <p:nvPr>
            <p:ph type="body" idx="1"/>
          </p:nvPr>
        </p:nvSpPr>
        <p:spPr>
          <a:xfrm>
            <a:off x="683568" y="1203598"/>
            <a:ext cx="7705725" cy="3132460"/>
          </a:xfrm>
          <a:noFill/>
        </p:spPr>
        <p:txBody>
          <a:bodyPr>
            <a:normAutofit/>
          </a:bodyPr>
          <a:lstStyle/>
          <a:p>
            <a:pPr eaLnBrk="1" hangingPunct="1">
              <a:lnSpc>
                <a:spcPct val="120000"/>
              </a:lnSpc>
              <a:spcBef>
                <a:spcPts val="0"/>
              </a:spcBef>
            </a:pPr>
            <a:r>
              <a:rPr kumimoji="1" lang="zh-CN" altLang="en-US" sz="2800" dirty="0">
                <a:solidFill>
                  <a:srgbClr val="FF0000"/>
                </a:solidFill>
              </a:rPr>
              <a:t>主要内容</a:t>
            </a:r>
            <a:r>
              <a:rPr lang="zh-CN" altLang="en-US" sz="2800" dirty="0"/>
              <a:t>：</a:t>
            </a:r>
            <a:endParaRPr lang="en-US" altLang="zh-CN" sz="2800" dirty="0"/>
          </a:p>
          <a:p>
            <a:pPr lvl="1" eaLnBrk="1" hangingPunct="1">
              <a:lnSpc>
                <a:spcPct val="120000"/>
              </a:lnSpc>
              <a:spcBef>
                <a:spcPts val="0"/>
              </a:spcBef>
            </a:pPr>
            <a:r>
              <a:rPr kumimoji="1" lang="zh-CN" altLang="en-US" dirty="0"/>
              <a:t>语义分析的任务和方法</a:t>
            </a:r>
            <a:endParaRPr kumimoji="1" lang="en-US" altLang="zh-CN" dirty="0"/>
          </a:p>
          <a:p>
            <a:pPr lvl="1" eaLnBrk="1" hangingPunct="1">
              <a:lnSpc>
                <a:spcPct val="120000"/>
              </a:lnSpc>
              <a:spcBef>
                <a:spcPts val="0"/>
              </a:spcBef>
            </a:pPr>
            <a:r>
              <a:rPr kumimoji="1" lang="zh-CN" altLang="en-US" dirty="0"/>
              <a:t>各种程序结构语义的定义</a:t>
            </a:r>
            <a:endParaRPr kumimoji="1" lang="en-US" altLang="zh-CN" dirty="0"/>
          </a:p>
          <a:p>
            <a:pPr lvl="1" eaLnBrk="1" hangingPunct="1">
              <a:lnSpc>
                <a:spcPct val="120000"/>
              </a:lnSpc>
              <a:spcBef>
                <a:spcPts val="0"/>
              </a:spcBef>
            </a:pPr>
            <a:r>
              <a:rPr kumimoji="1" lang="zh-CN" altLang="en-US" dirty="0"/>
              <a:t>符号表的组织管理等</a:t>
            </a:r>
          </a:p>
          <a:p>
            <a:pPr eaLnBrk="1" hangingPunct="1">
              <a:lnSpc>
                <a:spcPct val="120000"/>
              </a:lnSpc>
              <a:spcBef>
                <a:spcPts val="0"/>
              </a:spcBef>
            </a:pPr>
            <a:r>
              <a:rPr kumimoji="1" lang="zh-CN" altLang="en-US" sz="2800" dirty="0">
                <a:solidFill>
                  <a:srgbClr val="FF0000"/>
                </a:solidFill>
              </a:rPr>
              <a:t>重点掌握：</a:t>
            </a:r>
            <a:endParaRPr kumimoji="1" lang="en-US" altLang="zh-CN" sz="2800" dirty="0">
              <a:solidFill>
                <a:srgbClr val="FF0000"/>
              </a:solidFill>
            </a:endParaRPr>
          </a:p>
          <a:p>
            <a:pPr lvl="1" eaLnBrk="1" hangingPunct="1">
              <a:lnSpc>
                <a:spcPct val="120000"/>
              </a:lnSpc>
              <a:spcBef>
                <a:spcPts val="0"/>
              </a:spcBef>
            </a:pPr>
            <a:r>
              <a:rPr lang="zh-CN" altLang="en-US" dirty="0"/>
              <a:t>语义分析与处理的方法</a:t>
            </a:r>
            <a:endParaRPr lang="en-US" altLang="zh-CN" dirty="0"/>
          </a:p>
          <a:p>
            <a:pPr lvl="1" eaLnBrk="1" hangingPunct="1">
              <a:lnSpc>
                <a:spcPct val="120000"/>
              </a:lnSpc>
              <a:spcBef>
                <a:spcPts val="0"/>
              </a:spcBef>
            </a:pPr>
            <a:r>
              <a:rPr lang="zh-CN" altLang="en-US" dirty="0"/>
              <a:t>符号表的管理</a:t>
            </a:r>
          </a:p>
        </p:txBody>
      </p:sp>
    </p:spTree>
    <p:extLst>
      <p:ext uri="{BB962C8B-B14F-4D97-AF65-F5344CB8AC3E}">
        <p14:creationId xmlns:p14="http://schemas.microsoft.com/office/powerpoint/2010/main" val="334152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7342188" cy="628650"/>
          </a:xfrm>
        </p:spPr>
        <p:txBody>
          <a:bodyPr>
            <a:normAutofit fontScale="90000"/>
          </a:bodyPr>
          <a:lstStyle/>
          <a:p>
            <a:pPr algn="l" eaLnBrk="1" hangingPunct="1"/>
            <a:r>
              <a:rPr lang="zh-CN" altLang="en-US" sz="4000" b="1">
                <a:solidFill>
                  <a:srgbClr val="0000CC"/>
                </a:solidFill>
                <a:ea typeface="楷体_GB2312" pitchFamily="49" charset="-122"/>
              </a:rPr>
              <a:t>语义分析程序所处的位置：</a:t>
            </a:r>
          </a:p>
        </p:txBody>
      </p:sp>
      <p:sp>
        <p:nvSpPr>
          <p:cNvPr id="4099" name="Rectangle 3"/>
          <p:cNvSpPr>
            <a:spLocks noGrp="1" noChangeArrowheads="1"/>
          </p:cNvSpPr>
          <p:nvPr>
            <p:ph type="body" idx="1"/>
          </p:nvPr>
        </p:nvSpPr>
        <p:spPr>
          <a:xfrm>
            <a:off x="457200" y="4473624"/>
            <a:ext cx="8229600" cy="258366"/>
          </a:xfrm>
        </p:spPr>
        <p:txBody>
          <a:bodyPr>
            <a:normAutofit fontScale="55000" lnSpcReduction="20000"/>
          </a:bodyPr>
          <a:lstStyle/>
          <a:p>
            <a:pPr eaLnBrk="1" hangingPunct="1"/>
            <a:endParaRPr lang="zh-CN" altLang="zh-CN"/>
          </a:p>
        </p:txBody>
      </p:sp>
      <p:sp>
        <p:nvSpPr>
          <p:cNvPr id="4100" name="Rectangle 21"/>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800"/>
          </a:p>
        </p:txBody>
      </p:sp>
      <p:sp>
        <p:nvSpPr>
          <p:cNvPr id="4101" name="Rectangle 23"/>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800"/>
          </a:p>
        </p:txBody>
      </p:sp>
      <p:graphicFrame>
        <p:nvGraphicFramePr>
          <p:cNvPr id="4102" name="对象 5"/>
          <p:cNvGraphicFramePr>
            <a:graphicFrameLocks noChangeAspect="1"/>
          </p:cNvGraphicFramePr>
          <p:nvPr>
            <p:extLst>
              <p:ext uri="{D42A27DB-BD31-4B8C-83A1-F6EECF244321}">
                <p14:modId xmlns:p14="http://schemas.microsoft.com/office/powerpoint/2010/main" val="2557347444"/>
              </p:ext>
            </p:extLst>
          </p:nvPr>
        </p:nvGraphicFramePr>
        <p:xfrm>
          <a:off x="58739" y="838647"/>
          <a:ext cx="8670925" cy="3380184"/>
        </p:xfrm>
        <a:graphic>
          <a:graphicData uri="http://schemas.openxmlformats.org/presentationml/2006/ole">
            <mc:AlternateContent xmlns:mc="http://schemas.openxmlformats.org/markup-compatibility/2006">
              <mc:Choice xmlns:v="urn:schemas-microsoft-com:vml" Requires="v">
                <p:oleObj name="Visio" r:id="rId3" imgW="3775629" imgH="1962078" progId="Visio.Drawing.11">
                  <p:embed/>
                </p:oleObj>
              </mc:Choice>
              <mc:Fallback>
                <p:oleObj name="Visio" r:id="rId3" imgW="3775629" imgH="196207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9" y="838647"/>
                        <a:ext cx="8670925" cy="338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a:grpSpLocks/>
          </p:cNvGrpSpPr>
          <p:nvPr/>
        </p:nvGrpSpPr>
        <p:grpSpPr bwMode="auto">
          <a:xfrm>
            <a:off x="20638" y="1305372"/>
            <a:ext cx="8755062" cy="2430065"/>
            <a:chOff x="20340" y="1556792"/>
            <a:chExt cx="8755360" cy="3240360"/>
          </a:xfrm>
        </p:grpSpPr>
        <p:sp>
          <p:nvSpPr>
            <p:cNvPr id="4104" name="Rectangle 20"/>
            <p:cNvSpPr>
              <a:spLocks noChangeArrowheads="1"/>
            </p:cNvSpPr>
            <p:nvPr/>
          </p:nvSpPr>
          <p:spPr bwMode="auto">
            <a:xfrm>
              <a:off x="4283968" y="1725613"/>
              <a:ext cx="4491732" cy="3071539"/>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sp>
          <p:nvSpPr>
            <p:cNvPr id="4105" name="Rectangle 20"/>
            <p:cNvSpPr>
              <a:spLocks noChangeArrowheads="1"/>
            </p:cNvSpPr>
            <p:nvPr/>
          </p:nvSpPr>
          <p:spPr bwMode="auto">
            <a:xfrm>
              <a:off x="20340" y="1556792"/>
              <a:ext cx="2751460" cy="3096344"/>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FontTx/>
                <a:buNone/>
              </a:pPr>
              <a:endParaRPr lang="zh-CN" altLang="en-US" sz="2800"/>
            </a:p>
          </p:txBody>
        </p:sp>
      </p:grpSp>
      <p:pic>
        <p:nvPicPr>
          <p:cNvPr id="4" name="图片 3">
            <a:extLst>
              <a:ext uri="{FF2B5EF4-FFF2-40B4-BE49-F238E27FC236}">
                <a16:creationId xmlns:a16="http://schemas.microsoft.com/office/drawing/2014/main" id="{6DD1E28E-1877-035E-4556-F8B615F43855}"/>
              </a:ext>
            </a:extLst>
          </p:cNvPr>
          <p:cNvPicPr>
            <a:picLocks noChangeAspect="1"/>
          </p:cNvPicPr>
          <p:nvPr/>
        </p:nvPicPr>
        <p:blipFill>
          <a:blip r:embed="rId5"/>
          <a:stretch>
            <a:fillRect/>
          </a:stretch>
        </p:blipFill>
        <p:spPr>
          <a:xfrm>
            <a:off x="25253" y="4439486"/>
            <a:ext cx="8822708" cy="381456"/>
          </a:xfrm>
          <a:prstGeom prst="rect">
            <a:avLst/>
          </a:prstGeom>
        </p:spPr>
      </p:pic>
    </p:spTree>
    <p:extLst>
      <p:ext uri="{BB962C8B-B14F-4D97-AF65-F5344CB8AC3E}">
        <p14:creationId xmlns:p14="http://schemas.microsoft.com/office/powerpoint/2010/main" val="284075699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normAutofit fontScale="90000"/>
          </a:bodyPr>
          <a:lstStyle/>
          <a:p>
            <a:r>
              <a:rPr kumimoji="1" lang="zh-CN" altLang="zh-CN" b="1" dirty="0">
                <a:solidFill>
                  <a:srgbClr val="CC0099"/>
                </a:solidFill>
                <a:latin typeface="Times New Roman" pitchFamily="18" charset="0"/>
                <a:ea typeface="隶书" pitchFamily="49" charset="-122"/>
              </a:rPr>
              <a:t>4.1语义分析概述</a:t>
            </a:r>
            <a:endParaRPr lang="zh-CN" altLang="en-US" dirty="0"/>
          </a:p>
        </p:txBody>
      </p:sp>
      <p:sp>
        <p:nvSpPr>
          <p:cNvPr id="5123" name="内容占位符 2"/>
          <p:cNvSpPr>
            <a:spLocks noGrp="1"/>
          </p:cNvSpPr>
          <p:nvPr>
            <p:ph idx="1"/>
          </p:nvPr>
        </p:nvSpPr>
        <p:spPr>
          <a:xfrm>
            <a:off x="251520" y="771550"/>
            <a:ext cx="3744416" cy="864096"/>
          </a:xfrm>
        </p:spPr>
        <p:txBody>
          <a:bodyPr>
            <a:noAutofit/>
          </a:bodyPr>
          <a:lstStyle/>
          <a:p>
            <a:pPr>
              <a:lnSpc>
                <a:spcPct val="120000"/>
              </a:lnSpc>
              <a:spcBef>
                <a:spcPts val="0"/>
              </a:spcBef>
            </a:pPr>
            <a:r>
              <a:rPr lang="zh-CN" altLang="zh-CN" sz="2000" dirty="0"/>
              <a:t>语法上正确的程序，其语义不一定正确</a:t>
            </a:r>
            <a:endParaRPr lang="zh-CN" altLang="en-US" sz="2000" dirty="0"/>
          </a:p>
        </p:txBody>
      </p:sp>
      <p:graphicFrame>
        <p:nvGraphicFramePr>
          <p:cNvPr id="4" name="表格 3"/>
          <p:cNvGraphicFramePr>
            <a:graphicFrameLocks noGrp="1"/>
          </p:cNvGraphicFramePr>
          <p:nvPr>
            <p:extLst>
              <p:ext uri="{D42A27DB-BD31-4B8C-83A1-F6EECF244321}">
                <p14:modId xmlns:p14="http://schemas.microsoft.com/office/powerpoint/2010/main" val="500383188"/>
              </p:ext>
            </p:extLst>
          </p:nvPr>
        </p:nvGraphicFramePr>
        <p:xfrm>
          <a:off x="251520" y="1707654"/>
          <a:ext cx="3744913" cy="2743200"/>
        </p:xfrm>
        <a:graphic>
          <a:graphicData uri="http://schemas.openxmlformats.org/drawingml/2006/table">
            <a:tbl>
              <a:tblPr firstRow="1" firstCol="1" bandRow="1">
                <a:tableStyleId>{5C22544A-7EE6-4342-B048-85BDC9FD1C3A}</a:tableStyleId>
              </a:tblPr>
              <a:tblGrid>
                <a:gridCol w="3744913">
                  <a:extLst>
                    <a:ext uri="{9D8B030D-6E8A-4147-A177-3AD203B41FA5}">
                      <a16:colId xmlns:a16="http://schemas.microsoft.com/office/drawing/2014/main" val="20000"/>
                    </a:ext>
                  </a:extLst>
                </a:gridCol>
              </a:tblGrid>
              <a:tr h="2469356">
                <a:tc>
                  <a:txBody>
                    <a:bodyPr/>
                    <a:lstStyle/>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  </a:t>
                      </a:r>
                      <a:r>
                        <a:rPr lang="zh-CN" sz="2000" b="0" kern="100" dirty="0">
                          <a:solidFill>
                            <a:schemeClr val="tx1"/>
                          </a:solidFill>
                          <a:effectLst/>
                          <a:latin typeface="宋体" panose="02010600030101010101" pitchFamily="2" charset="-122"/>
                          <a:ea typeface="宋体" panose="02010600030101010101" pitchFamily="2" charset="-122"/>
                        </a:rPr>
                        <a:t>程序段</a:t>
                      </a:r>
                      <a:r>
                        <a:rPr lang="en-US" sz="2000" b="0" kern="100" dirty="0">
                          <a:solidFill>
                            <a:schemeClr val="tx1"/>
                          </a:solidFill>
                          <a:effectLst/>
                          <a:latin typeface="宋体" panose="02010600030101010101" pitchFamily="2" charset="-122"/>
                          <a:ea typeface="宋体" panose="02010600030101010101" pitchFamily="2" charset="-122"/>
                        </a:rPr>
                        <a:t>4.1    */</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err="1">
                          <a:solidFill>
                            <a:schemeClr val="tx1"/>
                          </a:solidFill>
                          <a:effectLst/>
                          <a:latin typeface="宋体" panose="02010600030101010101" pitchFamily="2" charset="-122"/>
                          <a:ea typeface="宋体" panose="02010600030101010101" pitchFamily="2" charset="-122"/>
                        </a:rPr>
                        <a:t>int</a:t>
                      </a:r>
                      <a:r>
                        <a:rPr lang="en-US" sz="2000" b="0" kern="100" dirty="0">
                          <a:solidFill>
                            <a:schemeClr val="tx1"/>
                          </a:solidFill>
                          <a:effectLst/>
                          <a:latin typeface="宋体" panose="02010600030101010101" pitchFamily="2" charset="-122"/>
                          <a:ea typeface="宋体" panose="02010600030101010101" pitchFamily="2" charset="-122"/>
                        </a:rPr>
                        <a:t> x=0, z;</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float y() { ……     };</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main()</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   z = x() + t;</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   z /= x;</a:t>
                      </a:r>
                      <a:endParaRPr lang="zh-CN" sz="2000" b="0" kern="100" dirty="0">
                        <a:solidFill>
                          <a:schemeClr val="tx1"/>
                        </a:solidFill>
                        <a:effectLst/>
                        <a:latin typeface="宋体" panose="02010600030101010101" pitchFamily="2" charset="-122"/>
                        <a:ea typeface="宋体" panose="02010600030101010101" pitchFamily="2" charset="-122"/>
                      </a:endParaRP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   x = y();</a:t>
                      </a:r>
                    </a:p>
                    <a:p>
                      <a:pPr algn="l">
                        <a:spcAft>
                          <a:spcPts val="0"/>
                        </a:spcAft>
                      </a:pPr>
                      <a:r>
                        <a:rPr lang="en-US" sz="2000" b="0" kern="100" dirty="0">
                          <a:solidFill>
                            <a:schemeClr val="tx1"/>
                          </a:solidFill>
                          <a:effectLst/>
                          <a:latin typeface="宋体" panose="02010600030101010101" pitchFamily="2" charset="-122"/>
                          <a:ea typeface="宋体" panose="02010600030101010101" pitchFamily="2" charset="-122"/>
                        </a:rPr>
                        <a:t>}</a:t>
                      </a:r>
                      <a:endParaRPr lang="zh-CN" sz="2000" b="0" kern="100" dirty="0">
                        <a:solidFill>
                          <a:schemeClr val="tx1"/>
                        </a:solidFill>
                        <a:effectLst/>
                        <a:latin typeface="宋体" panose="02010600030101010101" pitchFamily="2" charset="-122"/>
                        <a:ea typeface="宋体" panose="02010600030101010101" pitchFamily="2" charset="-122"/>
                      </a:endParaRPr>
                    </a:p>
                  </a:txBody>
                  <a:tcPr marL="68589" marR="68589" marT="0" marB="0">
                    <a:solidFill>
                      <a:schemeClr val="accent2">
                        <a:lumMod val="20000"/>
                        <a:lumOff val="80000"/>
                      </a:schemeClr>
                    </a:solidFill>
                  </a:tcPr>
                </a:tc>
                <a:extLst>
                  <a:ext uri="{0D108BD9-81ED-4DB2-BD59-A6C34878D82A}">
                    <a16:rowId xmlns:a16="http://schemas.microsoft.com/office/drawing/2014/main" val="10000"/>
                  </a:ext>
                </a:extLst>
              </a:tr>
            </a:tbl>
          </a:graphicData>
        </a:graphic>
      </p:graphicFrame>
      <p:sp>
        <p:nvSpPr>
          <p:cNvPr id="5" name="内容占位符 2"/>
          <p:cNvSpPr txBox="1">
            <a:spLocks/>
          </p:cNvSpPr>
          <p:nvPr/>
        </p:nvSpPr>
        <p:spPr>
          <a:xfrm>
            <a:off x="4211960" y="699543"/>
            <a:ext cx="4557390" cy="3888432"/>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en-US" sz="2000" dirty="0"/>
              <a:t>静态语义和动态语义</a:t>
            </a:r>
            <a:endParaRPr lang="en-US" altLang="zh-CN" sz="2000" dirty="0"/>
          </a:p>
          <a:p>
            <a:pPr lvl="1"/>
            <a:r>
              <a:rPr lang="zh-CN" altLang="zh-CN" sz="2000" dirty="0">
                <a:solidFill>
                  <a:srgbClr val="FF0000"/>
                </a:solidFill>
              </a:rPr>
              <a:t>静态语义</a:t>
            </a:r>
            <a:r>
              <a:rPr lang="zh-CN" altLang="zh-CN" sz="2000" dirty="0"/>
              <a:t>是指在编译阶段能够检查的语义，比如标识符未</a:t>
            </a:r>
            <a:r>
              <a:rPr lang="zh-CN" altLang="en-US" sz="2000" dirty="0"/>
              <a:t>声明</a:t>
            </a:r>
            <a:r>
              <a:rPr lang="zh-CN" altLang="zh-CN" sz="2000" dirty="0"/>
              <a:t>、类型不匹配等</a:t>
            </a:r>
            <a:endParaRPr lang="en-US" altLang="zh-CN" sz="2000" dirty="0"/>
          </a:p>
          <a:p>
            <a:pPr lvl="1"/>
            <a:r>
              <a:rPr lang="zh-CN" altLang="zh-CN" sz="2000" dirty="0">
                <a:solidFill>
                  <a:srgbClr val="FF0000"/>
                </a:solidFill>
              </a:rPr>
              <a:t>动态语义</a:t>
            </a:r>
            <a:r>
              <a:rPr lang="zh-CN" altLang="zh-CN" sz="2000" dirty="0"/>
              <a:t>是指在目标程序运行阶段能够检查的语义，如除数为</a:t>
            </a:r>
            <a:r>
              <a:rPr lang="en-US" altLang="zh-CN" sz="2000" dirty="0"/>
              <a:t>0</a:t>
            </a:r>
            <a:r>
              <a:rPr lang="zh-CN" altLang="zh-CN" sz="2000" dirty="0"/>
              <a:t>、无效指针、数组下标越界等。动态语义主要是指逻辑含义，一般是在运行时检查的</a:t>
            </a:r>
            <a:endParaRPr lang="zh-CN" altLang="en-US" sz="2000" dirty="0"/>
          </a:p>
          <a:p>
            <a:r>
              <a:rPr lang="zh-CN" altLang="en-US" sz="2000" dirty="0"/>
              <a:t>编译阶段只进行程序的</a:t>
            </a:r>
            <a:r>
              <a:rPr lang="zh-CN" altLang="zh-CN" sz="2000" dirty="0">
                <a:solidFill>
                  <a:srgbClr val="FF0000"/>
                </a:solidFill>
              </a:rPr>
              <a:t>静态语义检查</a:t>
            </a:r>
            <a:r>
              <a:rPr lang="zh-CN" altLang="zh-CN" sz="2000" dirty="0"/>
              <a:t>。</a:t>
            </a:r>
            <a:endParaRPr lang="zh-CN" altLang="en-US" sz="2000" dirty="0"/>
          </a:p>
        </p:txBody>
      </p:sp>
    </p:spTree>
    <p:extLst>
      <p:ext uri="{BB962C8B-B14F-4D97-AF65-F5344CB8AC3E}">
        <p14:creationId xmlns:p14="http://schemas.microsoft.com/office/powerpoint/2010/main" val="94234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kumimoji="1" lang="zh-CN" altLang="zh-CN" sz="4800" b="1" dirty="0">
                <a:solidFill>
                  <a:srgbClr val="CC0099"/>
                </a:solidFill>
                <a:latin typeface="Times New Roman" pitchFamily="18" charset="0"/>
                <a:ea typeface="隶书" pitchFamily="49" charset="-122"/>
              </a:rPr>
              <a:t>语义分析概述</a:t>
            </a:r>
            <a:endParaRPr kumimoji="1" lang="zh-CN" altLang="en-US" sz="4800" b="1" dirty="0">
              <a:solidFill>
                <a:srgbClr val="CC0099"/>
              </a:solidFill>
              <a:latin typeface="Times New Roman" pitchFamily="18" charset="0"/>
              <a:ea typeface="隶书" pitchFamily="49" charset="-122"/>
            </a:endParaRPr>
          </a:p>
        </p:txBody>
      </p:sp>
      <p:sp>
        <p:nvSpPr>
          <p:cNvPr id="22531" name="Rectangle 3"/>
          <p:cNvSpPr>
            <a:spLocks noGrp="1" noChangeArrowheads="1"/>
          </p:cNvSpPr>
          <p:nvPr>
            <p:ph idx="1"/>
          </p:nvPr>
        </p:nvSpPr>
        <p:spPr>
          <a:xfrm>
            <a:off x="449481" y="851297"/>
            <a:ext cx="8229600" cy="856357"/>
          </a:xfrm>
        </p:spPr>
        <p:txBody>
          <a:bodyPr>
            <a:normAutofit lnSpcReduction="10000"/>
          </a:bodyPr>
          <a:lstStyle/>
          <a:p>
            <a:pPr marL="0" indent="0" eaLnBrk="1" hangingPunct="1">
              <a:lnSpc>
                <a:spcPct val="120000"/>
              </a:lnSpc>
              <a:buFontTx/>
              <a:buNone/>
              <a:defRPr/>
            </a:pPr>
            <a:r>
              <a:rPr lang="zh-CN" altLang="zh-CN" sz="2200" dirty="0"/>
              <a:t>语义分析</a:t>
            </a:r>
            <a:r>
              <a:rPr lang="zh-CN" altLang="en-US" sz="2200" dirty="0"/>
              <a:t>：</a:t>
            </a:r>
            <a:r>
              <a:rPr lang="zh-CN" altLang="zh-CN" sz="2200" dirty="0"/>
              <a:t>在进行翻译之前，必须对这些语法上正确的语法单位的内部逻辑含义是否正确进行检查</a:t>
            </a:r>
            <a:r>
              <a:rPr lang="zh-CN" altLang="en-US" sz="2200" dirty="0"/>
              <a:t>。</a:t>
            </a:r>
            <a:endParaRPr lang="en-US" altLang="zh-CN" sz="2200" dirty="0">
              <a:solidFill>
                <a:srgbClr val="0033CC"/>
              </a:solidFill>
            </a:endParaRPr>
          </a:p>
          <a:p>
            <a:pPr eaLnBrk="1" hangingPunct="1">
              <a:lnSpc>
                <a:spcPct val="120000"/>
              </a:lnSpc>
              <a:buFontTx/>
              <a:buNone/>
              <a:defRPr/>
            </a:pPr>
            <a:endParaRPr lang="en-US" altLang="zh-CN" sz="2200" dirty="0">
              <a:solidFill>
                <a:srgbClr val="0033CC"/>
              </a:solidFill>
            </a:endParaRPr>
          </a:p>
          <a:p>
            <a:pPr eaLnBrk="1" hangingPunct="1">
              <a:lnSpc>
                <a:spcPct val="80000"/>
              </a:lnSpc>
              <a:buFontTx/>
              <a:buNone/>
              <a:defRPr/>
            </a:pPr>
            <a:endParaRPr lang="en-US" altLang="zh-CN" sz="2200" dirty="0">
              <a:solidFill>
                <a:srgbClr val="0033CC"/>
              </a:solidFill>
            </a:endParaRPr>
          </a:p>
          <a:p>
            <a:pPr eaLnBrk="1" hangingPunct="1">
              <a:lnSpc>
                <a:spcPct val="80000"/>
              </a:lnSpc>
              <a:buFontTx/>
              <a:buNone/>
              <a:defRPr/>
            </a:pPr>
            <a:endParaRPr lang="en-US" altLang="zh-CN" sz="2200" dirty="0">
              <a:solidFill>
                <a:srgbClr val="0033CC"/>
              </a:solidFill>
            </a:endParaRPr>
          </a:p>
          <a:p>
            <a:pPr eaLnBrk="1" hangingPunct="1">
              <a:lnSpc>
                <a:spcPct val="80000"/>
              </a:lnSpc>
              <a:buFontTx/>
              <a:buNone/>
              <a:defRPr/>
            </a:pPr>
            <a:endParaRPr lang="en-US" altLang="zh-CN" sz="2200" dirty="0">
              <a:solidFill>
                <a:srgbClr val="0033CC"/>
              </a:solidFill>
            </a:endParaRPr>
          </a:p>
          <a:p>
            <a:pPr eaLnBrk="1" hangingPunct="1">
              <a:lnSpc>
                <a:spcPct val="80000"/>
              </a:lnSpc>
              <a:buFontTx/>
              <a:buNone/>
              <a:defRPr/>
            </a:pPr>
            <a:endParaRPr lang="en-US" altLang="zh-CN" sz="2200" dirty="0">
              <a:solidFill>
                <a:srgbClr val="0033CC"/>
              </a:solidFill>
            </a:endParaRPr>
          </a:p>
          <a:p>
            <a:pPr eaLnBrk="1" hangingPunct="1">
              <a:lnSpc>
                <a:spcPct val="80000"/>
              </a:lnSpc>
              <a:buFontTx/>
              <a:buNone/>
              <a:defRPr/>
            </a:pPr>
            <a:endParaRPr lang="en-US" altLang="zh-CN" sz="2200" dirty="0">
              <a:solidFill>
                <a:srgbClr val="0033CC"/>
              </a:solidFill>
            </a:endParaRPr>
          </a:p>
          <a:p>
            <a:pPr eaLnBrk="1" hangingPunct="1">
              <a:lnSpc>
                <a:spcPct val="80000"/>
              </a:lnSpc>
              <a:buFontTx/>
              <a:buNone/>
              <a:defRPr/>
            </a:pPr>
            <a:endParaRPr lang="en-US" altLang="zh-CN" sz="2200" dirty="0">
              <a:solidFill>
                <a:srgbClr val="0033CC"/>
              </a:solidFill>
            </a:endParaRPr>
          </a:p>
        </p:txBody>
      </p:sp>
      <p:sp>
        <p:nvSpPr>
          <p:cNvPr id="22540" name="Rectangle 12"/>
          <p:cNvSpPr>
            <a:spLocks noChangeArrowheads="1"/>
          </p:cNvSpPr>
          <p:nvPr/>
        </p:nvSpPr>
        <p:spPr bwMode="auto">
          <a:xfrm>
            <a:off x="571500" y="4125517"/>
            <a:ext cx="7786688"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800" b="1">
              <a:solidFill>
                <a:srgbClr val="0033CC"/>
              </a:solidFill>
            </a:endParaRPr>
          </a:p>
        </p:txBody>
      </p:sp>
      <p:sp>
        <p:nvSpPr>
          <p:cNvPr id="6149" name="Rectangle 16"/>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6150" name="Object 15"/>
          <p:cNvGraphicFramePr>
            <a:graphicFrameLocks noChangeAspect="1"/>
          </p:cNvGraphicFramePr>
          <p:nvPr>
            <p:extLst>
              <p:ext uri="{D42A27DB-BD31-4B8C-83A1-F6EECF244321}">
                <p14:modId xmlns:p14="http://schemas.microsoft.com/office/powerpoint/2010/main" val="1865225298"/>
              </p:ext>
            </p:extLst>
          </p:nvPr>
        </p:nvGraphicFramePr>
        <p:xfrm>
          <a:off x="1481932" y="3790653"/>
          <a:ext cx="6876256" cy="1285875"/>
        </p:xfrm>
        <a:graphic>
          <a:graphicData uri="http://schemas.openxmlformats.org/presentationml/2006/ole">
            <mc:AlternateContent xmlns:mc="http://schemas.openxmlformats.org/markup-compatibility/2006">
              <mc:Choice xmlns:v="urn:schemas-microsoft-com:vml" Requires="v">
                <p:oleObj name="Visio" r:id="rId3" imgW="4688487" imgH="976314" progId="Visio.Drawing.11">
                  <p:embed/>
                </p:oleObj>
              </mc:Choice>
              <mc:Fallback>
                <p:oleObj name="Visio" r:id="rId3" imgW="4688487" imgH="976314"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1932" y="3790653"/>
                        <a:ext cx="6876256" cy="1285875"/>
                      </a:xfrm>
                      <a:prstGeom prst="rect">
                        <a:avLst/>
                      </a:prstGeom>
                      <a:solidFill>
                        <a:schemeClr val="bg1"/>
                      </a:solidFill>
                      <a:ln>
                        <a:noFill/>
                      </a:ln>
                    </p:spPr>
                  </p:pic>
                </p:oleObj>
              </mc:Fallback>
            </mc:AlternateContent>
          </a:graphicData>
        </a:graphic>
      </p:graphicFrame>
      <p:sp>
        <p:nvSpPr>
          <p:cNvPr id="17" name="矩形 16"/>
          <p:cNvSpPr/>
          <p:nvPr/>
        </p:nvSpPr>
        <p:spPr>
          <a:xfrm>
            <a:off x="469704" y="1851670"/>
            <a:ext cx="8215312" cy="1311128"/>
          </a:xfrm>
          <a:prstGeom prst="rect">
            <a:avLst/>
          </a:prstGeom>
        </p:spPr>
        <p:txBody>
          <a:bodyPr>
            <a:spAutoFit/>
          </a:bodyPr>
          <a:lstStyle/>
          <a:p>
            <a:pPr eaLnBrk="1" hangingPunct="1">
              <a:lnSpc>
                <a:spcPct val="120000"/>
              </a:lnSpc>
              <a:defRPr/>
            </a:pPr>
            <a:r>
              <a:rPr lang="zh-CN" altLang="zh-CN" sz="2200" b="1" dirty="0">
                <a:solidFill>
                  <a:srgbClr val="0033CC"/>
                </a:solidFill>
              </a:rPr>
              <a:t>语义分析的任务</a:t>
            </a:r>
            <a:endParaRPr lang="en-US" altLang="zh-CN" sz="2200" dirty="0">
              <a:latin typeface="Arial" pitchFamily="34" charset="0"/>
            </a:endParaRPr>
          </a:p>
          <a:p>
            <a:pPr eaLnBrk="1" hangingPunct="1">
              <a:lnSpc>
                <a:spcPct val="120000"/>
              </a:lnSpc>
              <a:defRPr/>
            </a:pPr>
            <a:r>
              <a:rPr lang="zh-CN" altLang="zh-CN" sz="2200" dirty="0">
                <a:latin typeface="Arial" pitchFamily="34" charset="0"/>
              </a:rPr>
              <a:t>对结构上正确的源程序进行</a:t>
            </a:r>
            <a:r>
              <a:rPr lang="zh-CN" altLang="zh-CN" sz="2200" dirty="0">
                <a:solidFill>
                  <a:srgbClr val="FF0000"/>
                </a:solidFill>
                <a:latin typeface="Arial" pitchFamily="34" charset="0"/>
              </a:rPr>
              <a:t>上下文有关</a:t>
            </a:r>
            <a:r>
              <a:rPr lang="zh-CN" altLang="zh-CN" sz="2200" dirty="0">
                <a:latin typeface="Arial" pitchFamily="34" charset="0"/>
              </a:rPr>
              <a:t>性质的审查，审查源程序有无语义错误，为代码生成阶段</a:t>
            </a:r>
            <a:r>
              <a:rPr lang="zh-CN" altLang="zh-CN" sz="2200" dirty="0">
                <a:solidFill>
                  <a:srgbClr val="FF0000"/>
                </a:solidFill>
                <a:latin typeface="Arial" pitchFamily="34" charset="0"/>
              </a:rPr>
              <a:t>收集类型</a:t>
            </a:r>
            <a:r>
              <a:rPr lang="zh-CN" altLang="en-US" sz="2200" dirty="0">
                <a:solidFill>
                  <a:srgbClr val="FF0000"/>
                </a:solidFill>
                <a:latin typeface="Arial" pitchFamily="34" charset="0"/>
              </a:rPr>
              <a:t>等</a:t>
            </a:r>
            <a:r>
              <a:rPr lang="zh-CN" altLang="zh-CN" sz="2200" dirty="0">
                <a:solidFill>
                  <a:srgbClr val="FF0000"/>
                </a:solidFill>
                <a:latin typeface="Arial" pitchFamily="34" charset="0"/>
              </a:rPr>
              <a:t>信息</a:t>
            </a:r>
            <a:r>
              <a:rPr lang="zh-CN" altLang="zh-CN" sz="2200" dirty="0">
                <a:latin typeface="Arial" pitchFamily="34" charset="0"/>
              </a:rPr>
              <a:t>。</a:t>
            </a:r>
            <a:endParaRPr lang="zh-CN" altLang="en-US" sz="2200" dirty="0">
              <a:latin typeface="Arial" pitchFamily="34" charset="0"/>
            </a:endParaRPr>
          </a:p>
        </p:txBody>
      </p:sp>
      <p:sp>
        <p:nvSpPr>
          <p:cNvPr id="6152" name="矩形 1"/>
          <p:cNvSpPr>
            <a:spLocks noChangeArrowheads="1"/>
          </p:cNvSpPr>
          <p:nvPr/>
        </p:nvSpPr>
        <p:spPr bwMode="auto">
          <a:xfrm>
            <a:off x="468314" y="3328988"/>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pPr>
            <a:r>
              <a:rPr lang="zh-CN" altLang="en-US" sz="2400" b="1" dirty="0">
                <a:solidFill>
                  <a:srgbClr val="0033CC"/>
                </a:solidFill>
              </a:rPr>
              <a:t>语义分析的</a:t>
            </a:r>
            <a:r>
              <a:rPr lang="zh-CN" altLang="zh-CN" sz="2400" b="1" dirty="0">
                <a:solidFill>
                  <a:srgbClr val="0033CC"/>
                </a:solidFill>
              </a:rPr>
              <a:t>地位和作用</a:t>
            </a:r>
            <a:endParaRPr lang="zh-CN" altLang="en-US" sz="2400" dirty="0"/>
          </a:p>
        </p:txBody>
      </p:sp>
    </p:spTree>
    <p:extLst>
      <p:ext uri="{BB962C8B-B14F-4D97-AF65-F5344CB8AC3E}">
        <p14:creationId xmlns:p14="http://schemas.microsoft.com/office/powerpoint/2010/main" val="9151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1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428625" y="214313"/>
            <a:ext cx="8229600" cy="857250"/>
          </a:xfrm>
        </p:spPr>
        <p:txBody>
          <a:bodyPr/>
          <a:lstStyle/>
          <a:p>
            <a:r>
              <a:rPr kumimoji="1" lang="zh-CN" altLang="zh-CN" sz="4800" b="1" dirty="0">
                <a:solidFill>
                  <a:srgbClr val="CC0099"/>
                </a:solidFill>
                <a:latin typeface="Times New Roman" pitchFamily="18" charset="0"/>
                <a:ea typeface="隶书" pitchFamily="49" charset="-122"/>
              </a:rPr>
              <a:t>4.2 Sample语言的语义描述</a:t>
            </a:r>
            <a:endParaRPr kumimoji="1" lang="zh-CN" altLang="en-US" sz="4800" b="1" dirty="0">
              <a:solidFill>
                <a:srgbClr val="CC0099"/>
              </a:solidFill>
              <a:latin typeface="Times New Roman" pitchFamily="18" charset="0"/>
              <a:ea typeface="隶书" pitchFamily="49" charset="-122"/>
            </a:endParaRPr>
          </a:p>
        </p:txBody>
      </p:sp>
      <p:sp>
        <p:nvSpPr>
          <p:cNvPr id="8195" name="内容占位符 2"/>
          <p:cNvSpPr>
            <a:spLocks noGrp="1"/>
          </p:cNvSpPr>
          <p:nvPr>
            <p:ph idx="1"/>
          </p:nvPr>
        </p:nvSpPr>
        <p:spPr>
          <a:xfrm>
            <a:off x="1258888" y="1383506"/>
            <a:ext cx="7427912" cy="3211116"/>
          </a:xfrm>
        </p:spPr>
        <p:txBody>
          <a:bodyPr/>
          <a:lstStyle/>
          <a:p>
            <a:r>
              <a:rPr lang="zh-CN" altLang="zh-CN" dirty="0"/>
              <a:t>程序的语义</a:t>
            </a:r>
            <a:endParaRPr lang="en-US" altLang="zh-CN" dirty="0"/>
          </a:p>
          <a:p>
            <a:r>
              <a:rPr lang="zh-CN" altLang="zh-CN" dirty="0"/>
              <a:t>函数的语义</a:t>
            </a:r>
            <a:endParaRPr lang="en-US" altLang="zh-CN" dirty="0"/>
          </a:p>
          <a:p>
            <a:r>
              <a:rPr lang="zh-CN" altLang="zh-CN" dirty="0"/>
              <a:t>各种语句的语义</a:t>
            </a:r>
            <a:endParaRPr lang="en-US" altLang="zh-CN" dirty="0"/>
          </a:p>
          <a:p>
            <a:r>
              <a:rPr lang="zh-CN" altLang="en-US" dirty="0"/>
              <a:t>各种</a:t>
            </a:r>
            <a:r>
              <a:rPr lang="zh-CN" altLang="zh-CN" dirty="0"/>
              <a:t>表达式的语义</a:t>
            </a:r>
            <a:endParaRPr lang="en-US" altLang="zh-CN" dirty="0"/>
          </a:p>
          <a:p>
            <a:r>
              <a:rPr lang="zh-CN" altLang="en-US" dirty="0"/>
              <a:t>各种名字的语义</a:t>
            </a:r>
          </a:p>
        </p:txBody>
      </p:sp>
    </p:spTree>
    <p:extLst>
      <p:ext uri="{BB962C8B-B14F-4D97-AF65-F5344CB8AC3E}">
        <p14:creationId xmlns:p14="http://schemas.microsoft.com/office/powerpoint/2010/main" val="228153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251520" y="267494"/>
            <a:ext cx="8229600" cy="576064"/>
          </a:xfrm>
        </p:spPr>
        <p:txBody>
          <a:bodyPr>
            <a:normAutofit fontScale="90000"/>
          </a:bodyPr>
          <a:lstStyle/>
          <a:p>
            <a:r>
              <a:rPr lang="zh-CN" altLang="zh-CN" dirty="0"/>
              <a:t>程序的语义</a:t>
            </a:r>
            <a:endParaRPr lang="zh-CN" altLang="en-US" dirty="0"/>
          </a:p>
        </p:txBody>
      </p:sp>
      <p:sp>
        <p:nvSpPr>
          <p:cNvPr id="9219" name="内容占位符 2"/>
          <p:cNvSpPr>
            <a:spLocks noGrp="1"/>
          </p:cNvSpPr>
          <p:nvPr>
            <p:ph idx="1"/>
          </p:nvPr>
        </p:nvSpPr>
        <p:spPr>
          <a:xfrm>
            <a:off x="465138" y="2625329"/>
            <a:ext cx="8229600" cy="1807369"/>
          </a:xfrm>
        </p:spPr>
        <p:txBody>
          <a:bodyPr/>
          <a:lstStyle/>
          <a:p>
            <a:r>
              <a:rPr lang="zh-CN" altLang="zh-CN" sz="2800" dirty="0"/>
              <a:t>每个程序必须有一个</a:t>
            </a:r>
            <a:r>
              <a:rPr lang="en-US" altLang="zh-CN" sz="2800" dirty="0"/>
              <a:t>main</a:t>
            </a:r>
            <a:r>
              <a:rPr lang="zh-CN" altLang="zh-CN" sz="2800" dirty="0"/>
              <a:t>函数，其含义是定义程序的入口和结构。</a:t>
            </a:r>
            <a:endParaRPr lang="zh-CN" altLang="en-US" sz="2800" dirty="0"/>
          </a:p>
        </p:txBody>
      </p:sp>
      <p:sp>
        <p:nvSpPr>
          <p:cNvPr id="4" name="矩形 3"/>
          <p:cNvSpPr/>
          <p:nvPr/>
        </p:nvSpPr>
        <p:spPr>
          <a:xfrm>
            <a:off x="473076" y="1059582"/>
            <a:ext cx="8221662" cy="92333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a:spAutoFit/>
          </a:bodyPr>
          <a:lstStyle/>
          <a:p>
            <a:pPr indent="266700" algn="just"/>
            <a:r>
              <a:rPr lang="en-US" altLang="zh-CN" kern="100" dirty="0">
                <a:solidFill>
                  <a:srgbClr val="000000"/>
                </a:solidFill>
                <a:effectLst/>
                <a:latin typeface="Times New Roman" panose="02020603050405020304" pitchFamily="18" charset="0"/>
                <a:ea typeface="宋体" panose="02010600030101010101" pitchFamily="2" charset="-122"/>
              </a:rPr>
              <a:t>&lt;</a:t>
            </a:r>
            <a:r>
              <a:rPr lang="zh-CN" altLang="zh-CN" kern="100" dirty="0">
                <a:solidFill>
                  <a:srgbClr val="000000"/>
                </a:solidFill>
                <a:effectLst/>
                <a:latin typeface="Times New Roman" panose="02020603050405020304" pitchFamily="18" charset="0"/>
                <a:ea typeface="宋体" panose="02010600030101010101" pitchFamily="2" charset="-122"/>
              </a:rPr>
              <a:t>程序</a:t>
            </a:r>
            <a:r>
              <a:rPr lang="en-US" altLang="zh-CN" kern="100" dirty="0">
                <a:solidFill>
                  <a:srgbClr val="000000"/>
                </a:solidFill>
                <a:effectLst/>
                <a:latin typeface="Times New Roman" panose="02020603050405020304" pitchFamily="18" charset="0"/>
                <a:ea typeface="宋体" panose="02010600030101010101" pitchFamily="2" charset="-122"/>
              </a:rPr>
              <a:t>&gt;→&lt;</a:t>
            </a:r>
            <a:r>
              <a:rPr lang="zh-CN" altLang="zh-CN" kern="100" dirty="0">
                <a:solidFill>
                  <a:srgbClr val="000000"/>
                </a:solidFill>
                <a:effectLst/>
                <a:latin typeface="Times New Roman" panose="02020603050405020304" pitchFamily="18" charset="0"/>
                <a:ea typeface="宋体" panose="02010600030101010101" pitchFamily="2" charset="-122"/>
              </a:rPr>
              <a:t>全局声明列表</a:t>
            </a:r>
            <a:r>
              <a:rPr lang="en-US" altLang="zh-CN" kern="100" dirty="0">
                <a:solidFill>
                  <a:srgbClr val="000000"/>
                </a:solidFill>
                <a:effectLst/>
                <a:latin typeface="Times New Roman" panose="02020603050405020304" pitchFamily="18" charset="0"/>
                <a:ea typeface="宋体" panose="02010600030101010101" pitchFamily="2" charset="-122"/>
              </a:rPr>
              <a:t>&gt; &lt;MAIN</a:t>
            </a:r>
            <a:r>
              <a:rPr lang="zh-CN" altLang="zh-CN" kern="100" dirty="0">
                <a:solidFill>
                  <a:srgbClr val="000000"/>
                </a:solidFill>
                <a:effectLst/>
                <a:latin typeface="Times New Roman" panose="02020603050405020304" pitchFamily="18" charset="0"/>
                <a:ea typeface="宋体" panose="02010600030101010101" pitchFamily="2" charset="-122"/>
              </a:rPr>
              <a:t>函数定义</a:t>
            </a:r>
            <a:r>
              <a:rPr lang="en-US" altLang="zh-CN" kern="100" dirty="0">
                <a:solidFill>
                  <a:srgbClr val="000000"/>
                </a:solidFill>
                <a:effectLst/>
                <a:latin typeface="Times New Roman" panose="02020603050405020304" pitchFamily="18" charset="0"/>
                <a:ea typeface="宋体" panose="02010600030101010101" pitchFamily="2" charset="-122"/>
              </a:rPr>
              <a:t>&gt;&lt;</a:t>
            </a:r>
            <a:r>
              <a:rPr lang="zh-CN" altLang="zh-CN" kern="100" dirty="0">
                <a:solidFill>
                  <a:srgbClr val="000000"/>
                </a:solidFill>
                <a:effectLst/>
                <a:latin typeface="Times New Roman" panose="02020603050405020304" pitchFamily="18" charset="0"/>
                <a:ea typeface="宋体" panose="02010600030101010101" pitchFamily="2" charset="-122"/>
              </a:rPr>
              <a:t>函数定义列表</a:t>
            </a:r>
            <a:r>
              <a:rPr lang="en-US" altLang="zh-CN" kern="100" dirty="0">
                <a:solidFill>
                  <a:srgbClr val="000000"/>
                </a:solidFill>
                <a:effectLst/>
                <a:latin typeface="Times New Roman" panose="02020603050405020304" pitchFamily="18" charset="0"/>
                <a:ea typeface="宋体" panose="02010600030101010101" pitchFamily="2" charset="-122"/>
              </a:rPr>
              <a:t>&gt;</a:t>
            </a:r>
            <a:endParaRPr lang="zh-CN" altLang="zh-CN" kern="100" dirty="0">
              <a:effectLst/>
              <a:latin typeface="Times New Roman" panose="02020603050405020304" pitchFamily="18" charset="0"/>
              <a:ea typeface="宋体" panose="02010600030101010101" pitchFamily="2" charset="-122"/>
            </a:endParaRPr>
          </a:p>
          <a:p>
            <a:pPr marL="266700" algn="just"/>
            <a:r>
              <a:rPr lang="en-US" altLang="zh-CN" kern="100" dirty="0">
                <a:solidFill>
                  <a:srgbClr val="000000"/>
                </a:solidFill>
                <a:effectLst/>
                <a:latin typeface="Times New Roman" panose="02020603050405020304" pitchFamily="18" charset="0"/>
                <a:ea typeface="宋体" panose="02010600030101010101" pitchFamily="2" charset="-122"/>
              </a:rPr>
              <a:t>&lt;</a:t>
            </a:r>
            <a:r>
              <a:rPr lang="zh-CN" altLang="zh-CN" kern="100" dirty="0">
                <a:solidFill>
                  <a:srgbClr val="000000"/>
                </a:solidFill>
                <a:effectLst/>
                <a:latin typeface="Times New Roman" panose="02020603050405020304" pitchFamily="18" charset="0"/>
                <a:ea typeface="宋体" panose="02010600030101010101" pitchFamily="2" charset="-122"/>
              </a:rPr>
              <a:t>全局声明列表</a:t>
            </a:r>
            <a:r>
              <a:rPr lang="en-US" altLang="zh-CN" kern="100" dirty="0">
                <a:solidFill>
                  <a:srgbClr val="000000"/>
                </a:solidFill>
                <a:effectLst/>
                <a:latin typeface="Times New Roman" panose="02020603050405020304" pitchFamily="18" charset="0"/>
                <a:ea typeface="宋体" panose="02010600030101010101" pitchFamily="2" charset="-122"/>
              </a:rPr>
              <a:t>&gt;→&lt;</a:t>
            </a:r>
            <a:r>
              <a:rPr lang="zh-CN" altLang="zh-CN" kern="100" dirty="0">
                <a:solidFill>
                  <a:srgbClr val="000000"/>
                </a:solidFill>
                <a:effectLst/>
                <a:latin typeface="Times New Roman" panose="02020603050405020304" pitchFamily="18" charset="0"/>
                <a:ea typeface="宋体" panose="02010600030101010101" pitchFamily="2" charset="-122"/>
              </a:rPr>
              <a:t>全局声明</a:t>
            </a:r>
            <a:r>
              <a:rPr lang="en-US" altLang="zh-CN" kern="100" dirty="0">
                <a:solidFill>
                  <a:srgbClr val="000000"/>
                </a:solidFill>
                <a:effectLst/>
                <a:latin typeface="Times New Roman" panose="02020603050405020304" pitchFamily="18" charset="0"/>
                <a:ea typeface="宋体" panose="02010600030101010101" pitchFamily="2" charset="-122"/>
              </a:rPr>
              <a:t>&gt;&lt;</a:t>
            </a:r>
            <a:r>
              <a:rPr lang="zh-CN" altLang="zh-CN" kern="100" dirty="0">
                <a:solidFill>
                  <a:srgbClr val="000000"/>
                </a:solidFill>
                <a:effectLst/>
                <a:latin typeface="Times New Roman" panose="02020603050405020304" pitchFamily="18" charset="0"/>
                <a:ea typeface="宋体" panose="02010600030101010101" pitchFamily="2" charset="-122"/>
              </a:rPr>
              <a:t>全局声明列表</a:t>
            </a:r>
            <a:r>
              <a:rPr lang="en-US" altLang="zh-CN" kern="100" dirty="0">
                <a:solidFill>
                  <a:srgbClr val="000000"/>
                </a:solidFill>
                <a:effectLst/>
                <a:latin typeface="Times New Roman" panose="02020603050405020304" pitchFamily="18" charset="0"/>
                <a:ea typeface="宋体" panose="02010600030101010101" pitchFamily="2" charset="-122"/>
              </a:rPr>
              <a:t>&gt;|</a:t>
            </a:r>
            <a:r>
              <a:rPr lang="en-US" altLang="zh-CN"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kern="100" dirty="0">
              <a:effectLst/>
              <a:latin typeface="Times New Roman" panose="02020603050405020304" pitchFamily="18" charset="0"/>
              <a:ea typeface="宋体" panose="02010600030101010101" pitchFamily="2" charset="-122"/>
            </a:endParaRPr>
          </a:p>
          <a:p>
            <a:pPr marL="266700" algn="just"/>
            <a:r>
              <a:rPr lang="en-US" altLang="zh-CN" kern="100" dirty="0">
                <a:solidFill>
                  <a:srgbClr val="000000"/>
                </a:solidFill>
                <a:effectLst/>
                <a:latin typeface="Times New Roman" panose="02020603050405020304" pitchFamily="18" charset="0"/>
                <a:ea typeface="宋体" panose="02010600030101010101" pitchFamily="2" charset="-122"/>
              </a:rPr>
              <a:t>&lt;</a:t>
            </a:r>
            <a:r>
              <a:rPr lang="zh-CN" altLang="zh-CN" kern="100" dirty="0">
                <a:solidFill>
                  <a:srgbClr val="000000"/>
                </a:solidFill>
                <a:effectLst/>
                <a:latin typeface="Times New Roman" panose="02020603050405020304" pitchFamily="18" charset="0"/>
                <a:ea typeface="宋体" panose="02010600030101010101" pitchFamily="2" charset="-122"/>
              </a:rPr>
              <a:t>函数定义列表</a:t>
            </a:r>
            <a:r>
              <a:rPr lang="en-US" altLang="zh-CN" kern="100" dirty="0">
                <a:solidFill>
                  <a:srgbClr val="000000"/>
                </a:solidFill>
                <a:effectLst/>
                <a:latin typeface="Times New Roman" panose="02020603050405020304" pitchFamily="18" charset="0"/>
                <a:ea typeface="宋体" panose="02010600030101010101" pitchFamily="2" charset="-122"/>
              </a:rPr>
              <a:t>&gt;→&lt;</a:t>
            </a:r>
            <a:r>
              <a:rPr lang="zh-CN" altLang="zh-CN" kern="100" dirty="0">
                <a:solidFill>
                  <a:srgbClr val="000000"/>
                </a:solidFill>
                <a:effectLst/>
                <a:latin typeface="Times New Roman" panose="02020603050405020304" pitchFamily="18" charset="0"/>
                <a:ea typeface="宋体" panose="02010600030101010101" pitchFamily="2" charset="-122"/>
              </a:rPr>
              <a:t>函数定义</a:t>
            </a:r>
            <a:r>
              <a:rPr lang="en-US" altLang="zh-CN" kern="100" dirty="0">
                <a:solidFill>
                  <a:srgbClr val="000000"/>
                </a:solidFill>
                <a:effectLst/>
                <a:latin typeface="Times New Roman" panose="02020603050405020304" pitchFamily="18" charset="0"/>
                <a:ea typeface="宋体" panose="02010600030101010101" pitchFamily="2" charset="-122"/>
              </a:rPr>
              <a:t>&gt;&lt;</a:t>
            </a:r>
            <a:r>
              <a:rPr lang="zh-CN" altLang="zh-CN" kern="100" dirty="0">
                <a:solidFill>
                  <a:srgbClr val="000000"/>
                </a:solidFill>
                <a:effectLst/>
                <a:latin typeface="Times New Roman" panose="02020603050405020304" pitchFamily="18" charset="0"/>
                <a:ea typeface="宋体" panose="02010600030101010101" pitchFamily="2" charset="-122"/>
              </a:rPr>
              <a:t>函数定义列表</a:t>
            </a:r>
            <a:r>
              <a:rPr lang="en-US" altLang="zh-CN" kern="100" dirty="0">
                <a:solidFill>
                  <a:srgbClr val="000000"/>
                </a:solidFill>
                <a:effectLst/>
                <a:latin typeface="Times New Roman" panose="02020603050405020304" pitchFamily="18" charset="0"/>
                <a:ea typeface="宋体" panose="02010600030101010101" pitchFamily="2" charset="-122"/>
              </a:rPr>
              <a:t>&gt;|</a:t>
            </a:r>
            <a:r>
              <a:rPr lang="en-US" altLang="zh-CN"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026704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8248" y="114186"/>
            <a:ext cx="8229600" cy="576064"/>
          </a:xfrm>
        </p:spPr>
        <p:txBody>
          <a:bodyPr>
            <a:normAutofit fontScale="90000"/>
          </a:bodyPr>
          <a:lstStyle/>
          <a:p>
            <a:r>
              <a:rPr lang="zh-CN" altLang="en-US" dirty="0"/>
              <a:t>函数</a:t>
            </a:r>
          </a:p>
        </p:txBody>
      </p:sp>
      <p:sp>
        <p:nvSpPr>
          <p:cNvPr id="4" name="矩形 3"/>
          <p:cNvSpPr/>
          <p:nvPr/>
        </p:nvSpPr>
        <p:spPr>
          <a:xfrm>
            <a:off x="3754379" y="2606590"/>
            <a:ext cx="5210109" cy="1661993"/>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700" dirty="0"/>
              <a:t>&lt;</a:t>
            </a:r>
            <a:r>
              <a:rPr lang="zh-CN" altLang="en-US" sz="1700" dirty="0"/>
              <a:t>函数定义</a:t>
            </a:r>
            <a:r>
              <a:rPr lang="en-US" altLang="zh-CN" sz="1700" dirty="0"/>
              <a:t>&gt;→&lt;</a:t>
            </a:r>
            <a:r>
              <a:rPr lang="zh-CN" altLang="en-US" sz="1700" dirty="0"/>
              <a:t>函数类型</a:t>
            </a:r>
            <a:r>
              <a:rPr lang="en-US" altLang="zh-CN" sz="1700" dirty="0"/>
              <a:t>&gt; &lt;</a:t>
            </a:r>
            <a:r>
              <a:rPr lang="zh-CN" altLang="en-US" sz="1700" dirty="0"/>
              <a:t>函数名</a:t>
            </a:r>
            <a:r>
              <a:rPr lang="en-US" altLang="zh-CN" sz="1700" dirty="0"/>
              <a:t>&gt;(&lt;</a:t>
            </a:r>
            <a:r>
              <a:rPr lang="zh-CN" altLang="en-US" sz="1700" dirty="0"/>
              <a:t>函数定义形参列表</a:t>
            </a:r>
            <a:r>
              <a:rPr lang="en-US" altLang="zh-CN" sz="1700" dirty="0"/>
              <a:t>&gt;) &lt;</a:t>
            </a:r>
            <a:r>
              <a:rPr lang="zh-CN" altLang="en-US" sz="1700" dirty="0"/>
              <a:t>复合语句</a:t>
            </a:r>
            <a:r>
              <a:rPr lang="en-US" altLang="zh-CN" sz="1700" dirty="0"/>
              <a:t>&gt;</a:t>
            </a:r>
          </a:p>
          <a:p>
            <a:r>
              <a:rPr lang="en-US" altLang="zh-CN" sz="1700" dirty="0"/>
              <a:t>&lt;</a:t>
            </a:r>
            <a:r>
              <a:rPr lang="zh-CN" altLang="en-US" sz="1700" dirty="0"/>
              <a:t>函数定义形参列表</a:t>
            </a:r>
            <a:r>
              <a:rPr lang="en-US" altLang="zh-CN" sz="1700" dirty="0"/>
              <a:t>&gt;→&lt;</a:t>
            </a:r>
            <a:r>
              <a:rPr lang="zh-CN" altLang="en-US" sz="1700" dirty="0"/>
              <a:t>函数定义形参</a:t>
            </a:r>
            <a:r>
              <a:rPr lang="en-US" altLang="zh-CN" sz="1700" dirty="0"/>
              <a:t>&gt;|</a:t>
            </a:r>
            <a:r>
              <a:rPr lang="en-US" altLang="zh-CN" sz="1600" kern="0"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700" dirty="0"/>
          </a:p>
          <a:p>
            <a:r>
              <a:rPr lang="en-US" altLang="zh-CN" sz="1700" dirty="0"/>
              <a:t>&lt;</a:t>
            </a:r>
            <a:r>
              <a:rPr lang="zh-CN" altLang="en-US" sz="1700" dirty="0"/>
              <a:t>函数定义形参</a:t>
            </a:r>
            <a:r>
              <a:rPr lang="en-US" altLang="zh-CN" sz="1700" dirty="0"/>
              <a:t>&gt;→&lt;</a:t>
            </a:r>
            <a:r>
              <a:rPr lang="zh-CN" altLang="en-US" sz="1700" dirty="0"/>
              <a:t>单形参声明</a:t>
            </a:r>
            <a:r>
              <a:rPr lang="en-US" altLang="zh-CN" sz="1700" dirty="0"/>
              <a:t>&gt;|&lt;</a:t>
            </a:r>
            <a:r>
              <a:rPr lang="zh-CN" altLang="en-US" sz="1700" dirty="0"/>
              <a:t>单形参声明</a:t>
            </a:r>
            <a:r>
              <a:rPr lang="en-US" altLang="zh-CN" sz="1700" dirty="0"/>
              <a:t>&gt;,&lt;</a:t>
            </a:r>
            <a:r>
              <a:rPr lang="zh-CN" altLang="en-US" sz="1700" dirty="0"/>
              <a:t>函数定义形参</a:t>
            </a:r>
            <a:r>
              <a:rPr lang="en-US" altLang="zh-CN" sz="1700" dirty="0"/>
              <a:t>&gt;</a:t>
            </a:r>
          </a:p>
          <a:p>
            <a:r>
              <a:rPr lang="en-US" altLang="zh-CN" sz="1700" dirty="0"/>
              <a:t>&lt;</a:t>
            </a:r>
            <a:r>
              <a:rPr lang="zh-CN" altLang="en-US" sz="1700" dirty="0"/>
              <a:t>单形参声明</a:t>
            </a:r>
            <a:r>
              <a:rPr lang="en-US" altLang="zh-CN" sz="1700" dirty="0"/>
              <a:t>&gt;→&lt;</a:t>
            </a:r>
            <a:r>
              <a:rPr lang="zh-CN" altLang="en-US" sz="1700" dirty="0"/>
              <a:t>数据类型</a:t>
            </a:r>
            <a:r>
              <a:rPr lang="en-US" altLang="zh-CN" sz="1700" dirty="0"/>
              <a:t>&gt; &lt;</a:t>
            </a:r>
            <a:r>
              <a:rPr lang="zh-CN" altLang="en-US" sz="1700" dirty="0"/>
              <a:t>形参名</a:t>
            </a:r>
            <a:r>
              <a:rPr lang="en-US" altLang="zh-CN" sz="1700" dirty="0"/>
              <a:t>&gt;</a:t>
            </a:r>
          </a:p>
        </p:txBody>
      </p:sp>
      <p:sp>
        <p:nvSpPr>
          <p:cNvPr id="5" name="矩形 4"/>
          <p:cNvSpPr/>
          <p:nvPr/>
        </p:nvSpPr>
        <p:spPr>
          <a:xfrm>
            <a:off x="3745035" y="4300741"/>
            <a:ext cx="5217730" cy="369332"/>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&lt;</a:t>
            </a:r>
            <a:r>
              <a:rPr lang="zh-CN" altLang="en-US" dirty="0"/>
              <a:t>函数调用</a:t>
            </a:r>
            <a:r>
              <a:rPr lang="en-US" altLang="zh-CN" dirty="0"/>
              <a:t>&gt;→&lt;</a:t>
            </a:r>
            <a:r>
              <a:rPr lang="zh-CN" altLang="en-US" dirty="0"/>
              <a:t>函数名</a:t>
            </a:r>
            <a:r>
              <a:rPr lang="en-US" altLang="zh-CN" dirty="0"/>
              <a:t>&gt;(&lt;</a:t>
            </a:r>
            <a:r>
              <a:rPr lang="zh-CN" altLang="en-US" dirty="0"/>
              <a:t>实参列表</a:t>
            </a:r>
            <a:r>
              <a:rPr lang="en-US" altLang="zh-CN" dirty="0"/>
              <a:t>&gt;)</a:t>
            </a:r>
            <a:endParaRPr lang="zh-CN" altLang="zh-CN" dirty="0"/>
          </a:p>
        </p:txBody>
      </p:sp>
      <p:sp>
        <p:nvSpPr>
          <p:cNvPr id="6" name="矩形 5"/>
          <p:cNvSpPr/>
          <p:nvPr/>
        </p:nvSpPr>
        <p:spPr>
          <a:xfrm>
            <a:off x="3746758" y="690250"/>
            <a:ext cx="5217730" cy="1754326"/>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&lt;</a:t>
            </a:r>
            <a:r>
              <a:rPr lang="zh-CN" altLang="en-US" dirty="0"/>
              <a:t>函数声明</a:t>
            </a:r>
            <a:r>
              <a:rPr lang="en-US" altLang="zh-CN" dirty="0"/>
              <a:t>&gt;→&lt;</a:t>
            </a:r>
            <a:r>
              <a:rPr lang="zh-CN" altLang="en-US" dirty="0"/>
              <a:t>函数类型</a:t>
            </a:r>
            <a:r>
              <a:rPr lang="en-US" altLang="zh-CN" dirty="0"/>
              <a:t>&gt; &lt;</a:t>
            </a:r>
            <a:r>
              <a:rPr lang="zh-CN" altLang="en-US" dirty="0"/>
              <a:t>函数名</a:t>
            </a:r>
            <a:r>
              <a:rPr lang="en-US" altLang="zh-CN" dirty="0"/>
              <a:t>&gt;(&lt;</a:t>
            </a:r>
            <a:r>
              <a:rPr lang="zh-CN" altLang="en-US" dirty="0"/>
              <a:t>函数声明形参列表</a:t>
            </a:r>
            <a:r>
              <a:rPr lang="en-US" altLang="zh-CN" dirty="0"/>
              <a:t>&gt;);</a:t>
            </a:r>
          </a:p>
          <a:p>
            <a:r>
              <a:rPr lang="en-US" altLang="zh-CN" dirty="0"/>
              <a:t>&lt;</a:t>
            </a:r>
            <a:r>
              <a:rPr lang="zh-CN" altLang="en-US" dirty="0"/>
              <a:t>函数类型</a:t>
            </a:r>
            <a:r>
              <a:rPr lang="en-US" altLang="zh-CN" dirty="0"/>
              <a:t>&gt;→&lt;</a:t>
            </a:r>
            <a:r>
              <a:rPr lang="zh-CN" altLang="en-US" dirty="0"/>
              <a:t>数据类型</a:t>
            </a:r>
            <a:r>
              <a:rPr lang="en-US" altLang="zh-CN" dirty="0"/>
              <a:t>&gt;|void</a:t>
            </a:r>
          </a:p>
          <a:p>
            <a:r>
              <a:rPr lang="en-US" altLang="zh-CN" dirty="0"/>
              <a:t>&lt;</a:t>
            </a:r>
            <a:r>
              <a:rPr lang="zh-CN" altLang="en-US" dirty="0"/>
              <a:t>函数声明形参列表</a:t>
            </a:r>
            <a:r>
              <a:rPr lang="en-US" altLang="zh-CN" dirty="0"/>
              <a:t>&gt;→&lt;</a:t>
            </a:r>
            <a:r>
              <a:rPr lang="zh-CN" altLang="en-US" dirty="0"/>
              <a:t>函数声明形参</a:t>
            </a:r>
            <a:r>
              <a:rPr lang="en-US" altLang="zh-CN" dirty="0"/>
              <a:t>&gt;|</a:t>
            </a:r>
            <a:r>
              <a:rPr lang="en-US" altLang="zh-CN" kern="0"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p>
          <a:p>
            <a:r>
              <a:rPr lang="en-US" altLang="zh-CN" dirty="0"/>
              <a:t>&lt;</a:t>
            </a:r>
            <a:r>
              <a:rPr lang="zh-CN" altLang="en-US" dirty="0"/>
              <a:t>函数声明形参</a:t>
            </a:r>
            <a:r>
              <a:rPr lang="en-US" altLang="zh-CN" dirty="0"/>
              <a:t>&gt;→&lt;</a:t>
            </a:r>
            <a:r>
              <a:rPr lang="zh-CN" altLang="en-US" dirty="0"/>
              <a:t>数据类型</a:t>
            </a:r>
            <a:r>
              <a:rPr lang="en-US" altLang="zh-CN" dirty="0"/>
              <a:t>&gt;|&lt;</a:t>
            </a:r>
            <a:r>
              <a:rPr lang="zh-CN" altLang="en-US" dirty="0"/>
              <a:t>数据类型</a:t>
            </a:r>
            <a:r>
              <a:rPr lang="en-US" altLang="zh-CN" dirty="0"/>
              <a:t>&gt;,&lt;</a:t>
            </a:r>
            <a:r>
              <a:rPr lang="zh-CN" altLang="en-US" dirty="0"/>
              <a:t>函数声明形参</a:t>
            </a:r>
            <a:r>
              <a:rPr lang="en-US" altLang="zh-CN" dirty="0"/>
              <a:t>&gt;</a:t>
            </a:r>
          </a:p>
        </p:txBody>
      </p:sp>
      <p:sp>
        <p:nvSpPr>
          <p:cNvPr id="7" name="矩形 6"/>
          <p:cNvSpPr/>
          <p:nvPr/>
        </p:nvSpPr>
        <p:spPr>
          <a:xfrm>
            <a:off x="28248" y="690250"/>
            <a:ext cx="3581921" cy="646331"/>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altLang="zh-CN" dirty="0" err="1"/>
              <a:t>int</a:t>
            </a:r>
            <a:r>
              <a:rPr lang="en-US" altLang="zh-CN" dirty="0"/>
              <a:t> a = 1 ;</a:t>
            </a:r>
          </a:p>
          <a:p>
            <a:pPr>
              <a:defRPr/>
            </a:pPr>
            <a:r>
              <a:rPr lang="en-US" altLang="zh-CN" dirty="0" err="1"/>
              <a:t>int</a:t>
            </a:r>
            <a:r>
              <a:rPr lang="en-US" altLang="zh-CN" dirty="0"/>
              <a:t> </a:t>
            </a:r>
            <a:r>
              <a:rPr lang="en-US" altLang="zh-CN" b="1" dirty="0">
                <a:solidFill>
                  <a:srgbClr val="0000CC"/>
                </a:solidFill>
              </a:rPr>
              <a:t>sum(</a:t>
            </a:r>
            <a:r>
              <a:rPr lang="en-US" altLang="zh-CN" b="1" dirty="0" err="1">
                <a:solidFill>
                  <a:srgbClr val="0000CC"/>
                </a:solidFill>
              </a:rPr>
              <a:t>int,int</a:t>
            </a:r>
            <a:r>
              <a:rPr lang="en-US" altLang="zh-CN" b="1" dirty="0">
                <a:solidFill>
                  <a:srgbClr val="0000CC"/>
                </a:solidFill>
              </a:rPr>
              <a:t>)</a:t>
            </a:r>
            <a:r>
              <a:rPr lang="en-US" altLang="zh-CN" dirty="0"/>
              <a:t>;</a:t>
            </a:r>
          </a:p>
        </p:txBody>
      </p:sp>
      <p:sp>
        <p:nvSpPr>
          <p:cNvPr id="8" name="矩形 7"/>
          <p:cNvSpPr/>
          <p:nvPr/>
        </p:nvSpPr>
        <p:spPr>
          <a:xfrm>
            <a:off x="28248" y="1526470"/>
            <a:ext cx="3581921" cy="1477328"/>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altLang="zh-CN" dirty="0"/>
              <a:t>main(){</a:t>
            </a:r>
          </a:p>
          <a:p>
            <a:pPr>
              <a:defRPr/>
            </a:pPr>
            <a:r>
              <a:rPr lang="en-US" altLang="zh-CN" dirty="0"/>
              <a:t>    </a:t>
            </a:r>
            <a:r>
              <a:rPr lang="en-US" altLang="zh-CN" dirty="0" err="1"/>
              <a:t>int</a:t>
            </a:r>
            <a:r>
              <a:rPr lang="en-US" altLang="zh-CN" dirty="0"/>
              <a:t> N = read() ;</a:t>
            </a:r>
          </a:p>
          <a:p>
            <a:pPr>
              <a:defRPr/>
            </a:pPr>
            <a:r>
              <a:rPr lang="en-US" altLang="zh-CN" dirty="0"/>
              <a:t>    a = </a:t>
            </a:r>
            <a:r>
              <a:rPr lang="en-US" altLang="zh-CN" b="1" dirty="0">
                <a:solidFill>
                  <a:srgbClr val="CC00FF"/>
                </a:solidFill>
              </a:rPr>
              <a:t>sum(sum(3,4),N)</a:t>
            </a:r>
            <a:r>
              <a:rPr lang="en-US" altLang="zh-CN" dirty="0"/>
              <a:t> ;</a:t>
            </a:r>
          </a:p>
          <a:p>
            <a:pPr>
              <a:defRPr/>
            </a:pPr>
            <a:r>
              <a:rPr lang="en-US" altLang="zh-CN" dirty="0"/>
              <a:t>    write(a);</a:t>
            </a:r>
          </a:p>
          <a:p>
            <a:pPr>
              <a:defRPr/>
            </a:pPr>
            <a:r>
              <a:rPr lang="en-US" altLang="zh-CN" dirty="0"/>
              <a:t>}</a:t>
            </a:r>
          </a:p>
        </p:txBody>
      </p:sp>
      <p:sp>
        <p:nvSpPr>
          <p:cNvPr id="9" name="矩形 8"/>
          <p:cNvSpPr/>
          <p:nvPr/>
        </p:nvSpPr>
        <p:spPr>
          <a:xfrm>
            <a:off x="28248" y="3192745"/>
            <a:ext cx="3581921" cy="1477328"/>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altLang="zh-CN" b="1" dirty="0" err="1">
                <a:solidFill>
                  <a:srgbClr val="00B050"/>
                </a:solidFill>
              </a:rPr>
              <a:t>int</a:t>
            </a:r>
            <a:r>
              <a:rPr lang="en-US" altLang="zh-CN" b="1" dirty="0">
                <a:solidFill>
                  <a:srgbClr val="00B050"/>
                </a:solidFill>
              </a:rPr>
              <a:t> sum(</a:t>
            </a:r>
            <a:r>
              <a:rPr lang="en-US" altLang="zh-CN" b="1" dirty="0" err="1">
                <a:solidFill>
                  <a:srgbClr val="00B050"/>
                </a:solidFill>
              </a:rPr>
              <a:t>int</a:t>
            </a:r>
            <a:r>
              <a:rPr lang="en-US" altLang="zh-CN" b="1" dirty="0">
                <a:solidFill>
                  <a:srgbClr val="00B050"/>
                </a:solidFill>
              </a:rPr>
              <a:t> </a:t>
            </a:r>
            <a:r>
              <a:rPr lang="en-US" altLang="zh-CN" b="1" dirty="0" err="1">
                <a:solidFill>
                  <a:srgbClr val="00B050"/>
                </a:solidFill>
              </a:rPr>
              <a:t>sum_x,int</a:t>
            </a:r>
            <a:r>
              <a:rPr lang="en-US" altLang="zh-CN" b="1" dirty="0">
                <a:solidFill>
                  <a:srgbClr val="00B050"/>
                </a:solidFill>
              </a:rPr>
              <a:t> </a:t>
            </a:r>
            <a:r>
              <a:rPr lang="en-US" altLang="zh-CN" b="1" dirty="0" err="1">
                <a:solidFill>
                  <a:srgbClr val="00B050"/>
                </a:solidFill>
              </a:rPr>
              <a:t>sum_y</a:t>
            </a:r>
            <a:r>
              <a:rPr lang="en-US" altLang="zh-CN" b="1" dirty="0">
                <a:solidFill>
                  <a:srgbClr val="00B050"/>
                </a:solidFill>
              </a:rPr>
              <a:t>)</a:t>
            </a:r>
            <a:r>
              <a:rPr lang="en-US" altLang="zh-CN" dirty="0"/>
              <a:t>{</a:t>
            </a:r>
          </a:p>
          <a:p>
            <a:pPr>
              <a:defRPr/>
            </a:pPr>
            <a:r>
              <a:rPr lang="en-US" altLang="zh-CN" dirty="0"/>
              <a:t>    </a:t>
            </a:r>
            <a:r>
              <a:rPr lang="en-US" altLang="zh-CN" dirty="0" err="1"/>
              <a:t>int</a:t>
            </a:r>
            <a:r>
              <a:rPr lang="en-US" altLang="zh-CN" dirty="0"/>
              <a:t> result ;</a:t>
            </a:r>
          </a:p>
          <a:p>
            <a:pPr>
              <a:defRPr/>
            </a:pPr>
            <a:r>
              <a:rPr lang="en-US" altLang="zh-CN" dirty="0"/>
              <a:t>    result = </a:t>
            </a:r>
            <a:r>
              <a:rPr lang="en-US" altLang="zh-CN" dirty="0" err="1"/>
              <a:t>sum_x</a:t>
            </a:r>
            <a:r>
              <a:rPr lang="en-US" altLang="zh-CN" dirty="0"/>
              <a:t> + </a:t>
            </a:r>
            <a:r>
              <a:rPr lang="en-US" altLang="zh-CN" dirty="0" err="1"/>
              <a:t>sum_y</a:t>
            </a:r>
            <a:r>
              <a:rPr lang="en-US" altLang="zh-CN" dirty="0"/>
              <a:t> ;</a:t>
            </a:r>
          </a:p>
          <a:p>
            <a:pPr>
              <a:defRPr/>
            </a:pPr>
            <a:r>
              <a:rPr lang="en-US" altLang="zh-CN" dirty="0"/>
              <a:t>    return result ;</a:t>
            </a:r>
          </a:p>
          <a:p>
            <a:pPr>
              <a:defRPr/>
            </a:pPr>
            <a:r>
              <a:rPr lang="en-US" altLang="zh-CN" dirty="0"/>
              <a:t>}</a:t>
            </a:r>
            <a:endParaRPr lang="zh-CN" altLang="en-US" dirty="0"/>
          </a:p>
        </p:txBody>
      </p:sp>
      <p:sp>
        <p:nvSpPr>
          <p:cNvPr id="12" name="椭圆 11"/>
          <p:cNvSpPr/>
          <p:nvPr/>
        </p:nvSpPr>
        <p:spPr>
          <a:xfrm>
            <a:off x="4235197" y="660544"/>
            <a:ext cx="4248472" cy="1656184"/>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zh-CN" dirty="0"/>
              <a:t>函数定义的函数名、返回值类型、参数个数、参数类型必须和函数声明一致，形式参数必须包含参数名字</a:t>
            </a:r>
            <a:endParaRPr lang="zh-CN" altLang="en-US" dirty="0"/>
          </a:p>
        </p:txBody>
      </p:sp>
      <p:sp>
        <p:nvSpPr>
          <p:cNvPr id="13" name="椭圆 12"/>
          <p:cNvSpPr/>
          <p:nvPr/>
        </p:nvSpPr>
        <p:spPr>
          <a:xfrm>
            <a:off x="4190503" y="2517162"/>
            <a:ext cx="4248472" cy="1656184"/>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函数声明的语义</a:t>
            </a:r>
            <a:r>
              <a:rPr lang="zh-CN" altLang="zh-CN" dirty="0"/>
              <a:t>，声明了这个名字是一个函数，其返回值类型、参数个数及类型</a:t>
            </a:r>
          </a:p>
        </p:txBody>
      </p:sp>
      <p:sp>
        <p:nvSpPr>
          <p:cNvPr id="14" name="椭圆 13"/>
          <p:cNvSpPr/>
          <p:nvPr/>
        </p:nvSpPr>
        <p:spPr>
          <a:xfrm>
            <a:off x="4204115" y="1437042"/>
            <a:ext cx="4248472" cy="1656184"/>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zh-CN" dirty="0"/>
              <a:t>函数调用</a:t>
            </a:r>
            <a:r>
              <a:rPr lang="zh-CN" altLang="en-US" dirty="0"/>
              <a:t>要求</a:t>
            </a:r>
            <a:r>
              <a:rPr lang="zh-CN" altLang="zh-CN" dirty="0"/>
              <a:t>，函数名、参数个数、必须和函数声明一致，实参类型必须和形参类型兼容</a:t>
            </a:r>
            <a:endParaRPr lang="zh-CN" altLang="en-US" dirty="0"/>
          </a:p>
        </p:txBody>
      </p:sp>
      <p:sp>
        <p:nvSpPr>
          <p:cNvPr id="15" name="内容占位符 14"/>
          <p:cNvSpPr>
            <a:spLocks noGrp="1"/>
          </p:cNvSpPr>
          <p:nvPr>
            <p:ph idx="1"/>
          </p:nvPr>
        </p:nvSpPr>
        <p:spPr>
          <a:xfrm>
            <a:off x="467544" y="4758523"/>
            <a:ext cx="8229600" cy="421551"/>
          </a:xfrm>
        </p:spPr>
        <p:txBody>
          <a:bodyPr>
            <a:normAutofit lnSpcReduction="10000"/>
          </a:bodyPr>
          <a:lstStyle/>
          <a:p>
            <a:endParaRPr lang="zh-CN" altLang="en-US"/>
          </a:p>
        </p:txBody>
      </p:sp>
      <p:sp>
        <p:nvSpPr>
          <p:cNvPr id="16" name="椭圆 15"/>
          <p:cNvSpPr/>
          <p:nvPr/>
        </p:nvSpPr>
        <p:spPr>
          <a:xfrm>
            <a:off x="4044842" y="782867"/>
            <a:ext cx="4248472" cy="1656184"/>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函数定义的语义：把这个名字和下面这段代码联系起来，以后这个名字就代表了这段代码</a:t>
            </a:r>
            <a:endParaRPr lang="zh-CN" altLang="zh-CN" dirty="0"/>
          </a:p>
        </p:txBody>
      </p:sp>
    </p:spTree>
    <p:extLst>
      <p:ext uri="{BB962C8B-B14F-4D97-AF65-F5344CB8AC3E}">
        <p14:creationId xmlns:p14="http://schemas.microsoft.com/office/powerpoint/2010/main" val="376121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2" grpId="0" animBg="1"/>
      <p:bldP spid="13" grpId="0" animBg="1"/>
      <p:bldP spid="14"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493713" y="0"/>
            <a:ext cx="8229600" cy="857250"/>
          </a:xfrm>
        </p:spPr>
        <p:txBody>
          <a:bodyPr/>
          <a:lstStyle/>
          <a:p>
            <a:r>
              <a:rPr lang="zh-CN" altLang="zh-CN"/>
              <a:t>函数的语义</a:t>
            </a:r>
            <a:endParaRPr lang="zh-CN" altLang="en-US"/>
          </a:p>
        </p:txBody>
      </p:sp>
      <p:sp>
        <p:nvSpPr>
          <p:cNvPr id="10243" name="内容占位符 2"/>
          <p:cNvSpPr>
            <a:spLocks noGrp="1"/>
          </p:cNvSpPr>
          <p:nvPr>
            <p:ph idx="1"/>
          </p:nvPr>
        </p:nvSpPr>
        <p:spPr>
          <a:xfrm>
            <a:off x="153989" y="735806"/>
            <a:ext cx="8739187" cy="4320779"/>
          </a:xfrm>
          <a:solidFill>
            <a:schemeClr val="bg1"/>
          </a:solidFill>
          <a:ln>
            <a:solidFill>
              <a:schemeClr val="bg1"/>
            </a:solidFill>
          </a:ln>
        </p:spPr>
        <p:txBody>
          <a:bodyPr>
            <a:normAutofit fontScale="92500" lnSpcReduction="20000"/>
          </a:bodyPr>
          <a:lstStyle/>
          <a:p>
            <a:r>
              <a:rPr lang="zh-CN" altLang="zh-CN" sz="2400" dirty="0">
                <a:solidFill>
                  <a:srgbClr val="FF0000"/>
                </a:solidFill>
              </a:rPr>
              <a:t>函数声明语句必须出现在</a:t>
            </a:r>
            <a:r>
              <a:rPr lang="en-US" altLang="zh-CN" sz="2400" dirty="0">
                <a:solidFill>
                  <a:srgbClr val="FF0000"/>
                </a:solidFill>
              </a:rPr>
              <a:t>main</a:t>
            </a:r>
            <a:r>
              <a:rPr lang="zh-CN" altLang="zh-CN" sz="2400" dirty="0">
                <a:solidFill>
                  <a:srgbClr val="FF0000"/>
                </a:solidFill>
              </a:rPr>
              <a:t>函数前面</a:t>
            </a:r>
            <a:r>
              <a:rPr lang="zh-CN" altLang="zh-CN" sz="2400" dirty="0"/>
              <a:t>，其含义是</a:t>
            </a:r>
            <a:r>
              <a:rPr lang="zh-CN" altLang="en-US" sz="2400" dirty="0"/>
              <a:t>声明</a:t>
            </a:r>
            <a:r>
              <a:rPr lang="zh-CN" altLang="zh-CN" sz="2400" dirty="0"/>
              <a:t>该函数的</a:t>
            </a:r>
            <a:r>
              <a:rPr lang="zh-CN" altLang="zh-CN" sz="2400" dirty="0">
                <a:solidFill>
                  <a:srgbClr val="FF0000"/>
                </a:solidFill>
              </a:rPr>
              <a:t>函数名、返回值类型、参数个数及类型</a:t>
            </a:r>
            <a:r>
              <a:rPr lang="zh-CN" altLang="zh-CN" sz="2400" dirty="0"/>
              <a:t>。函数声明中如果包含参数，放到括号中，只说明类型，不能有变量名。</a:t>
            </a:r>
          </a:p>
          <a:p>
            <a:r>
              <a:rPr lang="zh-CN" altLang="zh-CN" sz="2400" dirty="0">
                <a:solidFill>
                  <a:srgbClr val="FF0000"/>
                </a:solidFill>
              </a:rPr>
              <a:t>函数定义</a:t>
            </a:r>
            <a:r>
              <a:rPr lang="zh-CN" altLang="zh-CN" sz="2400" dirty="0"/>
              <a:t>直接将</a:t>
            </a:r>
            <a:r>
              <a:rPr lang="zh-CN" altLang="zh-CN" sz="2400" dirty="0">
                <a:solidFill>
                  <a:srgbClr val="FF0000"/>
                </a:solidFill>
              </a:rPr>
              <a:t>函数的名字和函数定义的代码</a:t>
            </a:r>
            <a:r>
              <a:rPr lang="zh-CN" altLang="zh-CN" sz="2400" dirty="0"/>
              <a:t>联系起来，它是对代码的抽象。函数定义必须出现在</a:t>
            </a:r>
            <a:r>
              <a:rPr lang="en-US" altLang="zh-CN" sz="2400" dirty="0"/>
              <a:t>main</a:t>
            </a:r>
            <a:r>
              <a:rPr lang="zh-CN" altLang="zh-CN" sz="2400" dirty="0"/>
              <a:t>函数后，函数定义的</a:t>
            </a:r>
            <a:r>
              <a:rPr lang="zh-CN" altLang="zh-CN" sz="2400" dirty="0">
                <a:solidFill>
                  <a:srgbClr val="FF0000"/>
                </a:solidFill>
              </a:rPr>
              <a:t>函数名、返回值类型、参数个数、参数类型必须和函数声明一致</a:t>
            </a:r>
            <a:r>
              <a:rPr lang="zh-CN" altLang="zh-CN" sz="2400" dirty="0"/>
              <a:t>，形式参数必须包含参数名字，这些参数当作函数的局部变量使用。</a:t>
            </a:r>
          </a:p>
          <a:p>
            <a:r>
              <a:rPr lang="zh-CN" altLang="zh-CN" sz="2400" dirty="0">
                <a:solidFill>
                  <a:srgbClr val="FF0000"/>
                </a:solidFill>
              </a:rPr>
              <a:t>函数不能重复定义，函数名也不能和变量、数组等重名</a:t>
            </a:r>
            <a:r>
              <a:rPr lang="zh-CN" altLang="zh-CN" sz="2400" dirty="0"/>
              <a:t>。</a:t>
            </a:r>
          </a:p>
          <a:p>
            <a:r>
              <a:rPr lang="zh-CN" altLang="zh-CN" sz="2400" dirty="0"/>
              <a:t>函数调用可以在任何表达式中使用，只需要给出</a:t>
            </a:r>
            <a:r>
              <a:rPr lang="zh-CN" altLang="zh-CN" sz="2400" dirty="0">
                <a:solidFill>
                  <a:srgbClr val="FF0000"/>
                </a:solidFill>
              </a:rPr>
              <a:t>函数名加上实参</a:t>
            </a:r>
            <a:r>
              <a:rPr lang="zh-CN" altLang="zh-CN" sz="2400" dirty="0"/>
              <a:t>就可以了，实参可以是任何表达式，</a:t>
            </a:r>
            <a:r>
              <a:rPr lang="zh-CN" altLang="zh-CN" sz="2400" dirty="0">
                <a:solidFill>
                  <a:srgbClr val="FF0000"/>
                </a:solidFill>
              </a:rPr>
              <a:t>函数名、参数个数、必须和函数声明一致</a:t>
            </a:r>
            <a:r>
              <a:rPr lang="zh-CN" altLang="zh-CN" sz="2400" dirty="0"/>
              <a:t>，实参类型必须和形参</a:t>
            </a:r>
            <a:r>
              <a:rPr lang="zh-CN" altLang="zh-CN" sz="2400" dirty="0">
                <a:solidFill>
                  <a:srgbClr val="FF0000"/>
                </a:solidFill>
              </a:rPr>
              <a:t>类型兼容</a:t>
            </a:r>
            <a:r>
              <a:rPr lang="zh-CN" altLang="zh-CN" sz="2400" dirty="0"/>
              <a:t>。函数调用的含义就是在程序执行时，如果执行到函数调用处，将转向函数定义的代码处执行，执行到</a:t>
            </a:r>
            <a:r>
              <a:rPr lang="en-US" altLang="zh-CN" sz="2400" dirty="0">
                <a:solidFill>
                  <a:srgbClr val="FF0000"/>
                </a:solidFill>
              </a:rPr>
              <a:t>return</a:t>
            </a:r>
            <a:r>
              <a:rPr lang="zh-CN" altLang="zh-CN" sz="2400" dirty="0">
                <a:solidFill>
                  <a:srgbClr val="FF0000"/>
                </a:solidFill>
              </a:rPr>
              <a:t>语句</a:t>
            </a:r>
            <a:r>
              <a:rPr lang="zh-CN" altLang="zh-CN" sz="2400" dirty="0"/>
              <a:t>、或执行到函数结束再返回调用的下一条语句继续执行。</a:t>
            </a:r>
            <a:endParaRPr lang="zh-CN" altLang="en-US" sz="2400" dirty="0"/>
          </a:p>
        </p:txBody>
      </p:sp>
    </p:spTree>
    <p:extLst>
      <p:ext uri="{BB962C8B-B14F-4D97-AF65-F5344CB8AC3E}">
        <p14:creationId xmlns:p14="http://schemas.microsoft.com/office/powerpoint/2010/main" val="66594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normAutofit fontScale="90000"/>
          </a:bodyPr>
          <a:lstStyle/>
          <a:p>
            <a:r>
              <a:rPr lang="zh-CN" altLang="zh-CN"/>
              <a:t>各种语句的语义</a:t>
            </a:r>
            <a:endParaRPr lang="zh-CN" altLang="en-US"/>
          </a:p>
        </p:txBody>
      </p:sp>
      <p:sp>
        <p:nvSpPr>
          <p:cNvPr id="12291" name="内容占位符 2"/>
          <p:cNvSpPr>
            <a:spLocks noGrp="1"/>
          </p:cNvSpPr>
          <p:nvPr>
            <p:ph idx="1"/>
          </p:nvPr>
        </p:nvSpPr>
        <p:spPr>
          <a:xfrm>
            <a:off x="457199" y="954807"/>
            <a:ext cx="8229600" cy="3129111"/>
          </a:xfrm>
        </p:spPr>
        <p:txBody>
          <a:bodyPr>
            <a:normAutofit/>
          </a:bodyPr>
          <a:lstStyle/>
          <a:p>
            <a:r>
              <a:rPr lang="zh-CN" altLang="en-US" sz="2200" dirty="0"/>
              <a:t>表达式语句的含义是：表达式加上分号，进行数据处理</a:t>
            </a:r>
            <a:endParaRPr lang="en-US" altLang="zh-CN" sz="2200" dirty="0"/>
          </a:p>
          <a:p>
            <a:r>
              <a:rPr lang="zh-CN" altLang="zh-CN" sz="2200" dirty="0"/>
              <a:t>赋值语句的含义是：赋值语句其实就是一个</a:t>
            </a:r>
            <a:r>
              <a:rPr lang="zh-CN" altLang="zh-CN" sz="2200" dirty="0">
                <a:solidFill>
                  <a:srgbClr val="FF0000"/>
                </a:solidFill>
              </a:rPr>
              <a:t>赋值表达式加上分号</a:t>
            </a:r>
            <a:r>
              <a:rPr lang="zh-CN" altLang="zh-CN" sz="2200" dirty="0"/>
              <a:t>，赋值表达式是将右侧的布尔表达式的值赋值给左侧的标识符</a:t>
            </a:r>
            <a:r>
              <a:rPr lang="zh-CN" altLang="en-US" sz="2200" dirty="0"/>
              <a:t>；</a:t>
            </a:r>
            <a:endParaRPr lang="en-US" altLang="zh-CN" sz="2200" dirty="0"/>
          </a:p>
          <a:p>
            <a:endParaRPr lang="en-US" altLang="zh-CN" sz="2200" dirty="0"/>
          </a:p>
          <a:p>
            <a:endParaRPr lang="en-US" altLang="zh-CN" sz="2200" dirty="0"/>
          </a:p>
          <a:p>
            <a:r>
              <a:rPr lang="zh-CN" altLang="zh-CN" sz="2200" dirty="0"/>
              <a:t>复合语句是用｛｝括起来的语句序列，看成一个语句，语句之间顺序执行</a:t>
            </a:r>
            <a:endParaRPr lang="en-US" altLang="zh-CN" sz="2200" dirty="0"/>
          </a:p>
        </p:txBody>
      </p:sp>
      <p:sp>
        <p:nvSpPr>
          <p:cNvPr id="2" name="矩形 1"/>
          <p:cNvSpPr/>
          <p:nvPr/>
        </p:nvSpPr>
        <p:spPr>
          <a:xfrm>
            <a:off x="4283968" y="2148210"/>
            <a:ext cx="3629520" cy="40011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wrap="none">
            <a:spAutoFit/>
          </a:bodyPr>
          <a:lstStyle/>
          <a:p>
            <a:r>
              <a:rPr lang="en-US" altLang="zh-CN" sz="2000" dirty="0"/>
              <a:t>&lt;</a:t>
            </a:r>
            <a:r>
              <a:rPr lang="zh-CN" altLang="zh-CN" sz="2000" dirty="0"/>
              <a:t>赋值语句</a:t>
            </a:r>
            <a:r>
              <a:rPr lang="en-US" altLang="zh-CN" sz="2000" dirty="0"/>
              <a:t>&gt;</a:t>
            </a:r>
            <a:r>
              <a:rPr lang="zh-CN" altLang="zh-CN" sz="2000" dirty="0"/>
              <a:t>→</a:t>
            </a:r>
            <a:r>
              <a:rPr lang="en-US" altLang="zh-CN" sz="2000" dirty="0"/>
              <a:t>&lt;</a:t>
            </a:r>
            <a:r>
              <a:rPr lang="zh-CN" altLang="zh-CN" sz="2000" dirty="0"/>
              <a:t>赋值表达式</a:t>
            </a:r>
            <a:r>
              <a:rPr lang="en-US" altLang="zh-CN" sz="2000" dirty="0"/>
              <a:t>&gt;;</a:t>
            </a:r>
            <a:endParaRPr lang="zh-CN" altLang="zh-CN" sz="2000" dirty="0"/>
          </a:p>
        </p:txBody>
      </p:sp>
      <p:sp>
        <p:nvSpPr>
          <p:cNvPr id="3" name="矩形 2"/>
          <p:cNvSpPr/>
          <p:nvPr/>
        </p:nvSpPr>
        <p:spPr>
          <a:xfrm>
            <a:off x="4283968" y="2603688"/>
            <a:ext cx="4671472" cy="40011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wrap="none">
            <a:spAutoFit/>
          </a:bodyPr>
          <a:lstStyle/>
          <a:p>
            <a:r>
              <a:rPr lang="en-US" altLang="zh-CN" sz="2000" dirty="0"/>
              <a:t>&lt;</a:t>
            </a:r>
            <a:r>
              <a:rPr lang="zh-CN" altLang="zh-CN" sz="2000" dirty="0"/>
              <a:t>赋值表达式</a:t>
            </a:r>
            <a:r>
              <a:rPr lang="en-US" altLang="zh-CN" sz="2000" dirty="0"/>
              <a:t>&gt;</a:t>
            </a:r>
            <a:r>
              <a:rPr lang="zh-CN" altLang="zh-CN" sz="2000" dirty="0"/>
              <a:t>→</a:t>
            </a:r>
            <a:r>
              <a:rPr lang="en-US" altLang="zh-CN" sz="2000" dirty="0"/>
              <a:t>&lt;</a:t>
            </a:r>
            <a:r>
              <a:rPr lang="zh-CN" altLang="zh-CN" sz="2000" dirty="0"/>
              <a:t>标识符</a:t>
            </a:r>
            <a:r>
              <a:rPr lang="en-US" altLang="zh-CN" sz="2000" dirty="0"/>
              <a:t>&gt;=&lt;</a:t>
            </a:r>
            <a:r>
              <a:rPr lang="zh-CN" altLang="zh-CN" sz="2000" dirty="0"/>
              <a:t>表达式</a:t>
            </a:r>
            <a:r>
              <a:rPr lang="en-US" altLang="zh-CN" sz="2000" dirty="0"/>
              <a:t>&gt;</a:t>
            </a:r>
            <a:endParaRPr lang="zh-CN" altLang="zh-CN" sz="2000" dirty="0"/>
          </a:p>
        </p:txBody>
      </p:sp>
      <p:sp>
        <p:nvSpPr>
          <p:cNvPr id="4" name="矩形 3"/>
          <p:cNvSpPr/>
          <p:nvPr/>
        </p:nvSpPr>
        <p:spPr>
          <a:xfrm>
            <a:off x="4317112" y="3683808"/>
            <a:ext cx="4634602" cy="40011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wrap="none">
            <a:spAutoFit/>
          </a:bodyPr>
          <a:lstStyle/>
          <a:p>
            <a:r>
              <a:rPr lang="en-US" altLang="zh-CN" sz="2000" dirty="0"/>
              <a:t>&lt;</a:t>
            </a:r>
            <a:r>
              <a:rPr lang="zh-CN" altLang="en-US" sz="2000" dirty="0"/>
              <a:t>复合语句</a:t>
            </a:r>
            <a:r>
              <a:rPr lang="en-US" altLang="zh-CN" sz="2000" dirty="0"/>
              <a:t>&gt;→{&lt;</a:t>
            </a:r>
            <a:r>
              <a:rPr lang="zh-CN" altLang="en-US" sz="2000" dirty="0"/>
              <a:t>局部声明</a:t>
            </a:r>
            <a:r>
              <a:rPr lang="en-US" altLang="zh-CN" sz="2000" dirty="0"/>
              <a:t>&gt;&lt;</a:t>
            </a:r>
            <a:r>
              <a:rPr lang="zh-CN" altLang="en-US" sz="2000" dirty="0"/>
              <a:t>语句表</a:t>
            </a:r>
            <a:r>
              <a:rPr lang="en-US" altLang="zh-CN" sz="2000" dirty="0"/>
              <a:t>&gt;}</a:t>
            </a:r>
            <a:endParaRPr lang="zh-CN" altLang="zh-CN" sz="2000" dirty="0"/>
          </a:p>
        </p:txBody>
      </p:sp>
    </p:spTree>
    <p:extLst>
      <p:ext uri="{BB962C8B-B14F-4D97-AF65-F5344CB8AC3E}">
        <p14:creationId xmlns:p14="http://schemas.microsoft.com/office/powerpoint/2010/main" val="345765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P spid="2" grpId="0" animBg="1"/>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468313" y="1192"/>
            <a:ext cx="8229600" cy="1058465"/>
          </a:xfrm>
        </p:spPr>
        <p:txBody>
          <a:bodyPr/>
          <a:lstStyle/>
          <a:p>
            <a:r>
              <a:rPr lang="zh-CN" altLang="zh-CN" dirty="0"/>
              <a:t>各种名字的声明和使用的语义</a:t>
            </a:r>
            <a:endParaRPr lang="zh-CN" altLang="en-US" dirty="0"/>
          </a:p>
        </p:txBody>
      </p:sp>
      <p:sp>
        <p:nvSpPr>
          <p:cNvPr id="11267" name="内容占位符 2"/>
          <p:cNvSpPr>
            <a:spLocks noGrp="1"/>
          </p:cNvSpPr>
          <p:nvPr>
            <p:ph idx="1"/>
          </p:nvPr>
        </p:nvSpPr>
        <p:spPr>
          <a:xfrm>
            <a:off x="395536" y="1131590"/>
            <a:ext cx="8374063" cy="3618309"/>
          </a:xfrm>
        </p:spPr>
        <p:txBody>
          <a:bodyPr>
            <a:normAutofit/>
          </a:bodyPr>
          <a:lstStyle/>
          <a:p>
            <a:r>
              <a:rPr lang="zh-CN" altLang="zh-CN" sz="2200" dirty="0"/>
              <a:t>名字都是通过</a:t>
            </a:r>
            <a:r>
              <a:rPr lang="zh-CN" altLang="zh-CN" sz="2200" dirty="0">
                <a:solidFill>
                  <a:srgbClr val="FF0000"/>
                </a:solidFill>
              </a:rPr>
              <a:t>声明语句</a:t>
            </a:r>
            <a:r>
              <a:rPr lang="zh-CN" altLang="zh-CN" sz="2200" dirty="0"/>
              <a:t>来</a:t>
            </a:r>
            <a:r>
              <a:rPr lang="zh-CN" altLang="en-US" sz="2200" dirty="0"/>
              <a:t>声明，</a:t>
            </a:r>
            <a:r>
              <a:rPr lang="zh-CN" altLang="en-US" sz="2200" dirty="0">
                <a:solidFill>
                  <a:srgbClr val="FF0000"/>
                </a:solidFill>
              </a:rPr>
              <a:t>先声明后使用</a:t>
            </a:r>
            <a:endParaRPr lang="en-US" altLang="zh-CN" sz="2200" dirty="0">
              <a:solidFill>
                <a:srgbClr val="FF0000"/>
              </a:solidFill>
            </a:endParaRPr>
          </a:p>
          <a:p>
            <a:r>
              <a:rPr lang="zh-CN" altLang="zh-CN" sz="2200" dirty="0"/>
              <a:t>主要有：变量声明、常量声明和函数声明</a:t>
            </a:r>
            <a:endParaRPr lang="en-US" altLang="zh-CN" sz="2200" dirty="0"/>
          </a:p>
          <a:p>
            <a:r>
              <a:rPr lang="zh-CN" altLang="zh-CN" sz="2200" dirty="0"/>
              <a:t>变量声明的含义是定义一个存储空间、并规定该存储空间的大小、存放数据的类型、取值范围、以及该数据能进行的操作</a:t>
            </a:r>
            <a:r>
              <a:rPr lang="zh-CN" altLang="en-US" sz="2200" dirty="0"/>
              <a:t>。</a:t>
            </a:r>
            <a:r>
              <a:rPr lang="zh-CN" altLang="zh-CN" sz="2200" dirty="0"/>
              <a:t>变量声明也可以给变量赋初值，但</a:t>
            </a:r>
            <a:r>
              <a:rPr lang="zh-CN" altLang="zh-CN" sz="2200" dirty="0">
                <a:solidFill>
                  <a:srgbClr val="FF0000"/>
                </a:solidFill>
              </a:rPr>
              <a:t>声明中的表达式中不能包含有未知值的变量</a:t>
            </a:r>
            <a:r>
              <a:rPr lang="zh-CN" altLang="en-US" sz="2200" dirty="0"/>
              <a:t>。</a:t>
            </a:r>
            <a:endParaRPr lang="en-US" altLang="zh-CN" sz="2200" dirty="0"/>
          </a:p>
          <a:p>
            <a:r>
              <a:rPr lang="zh-CN" altLang="zh-CN" sz="2200" dirty="0"/>
              <a:t>常量声明定义一个名字，常量的类型和值。常量也是当作变量一样使用，</a:t>
            </a:r>
            <a:r>
              <a:rPr lang="zh-CN" altLang="en-US" sz="2200" dirty="0">
                <a:solidFill>
                  <a:srgbClr val="FF0000"/>
                </a:solidFill>
              </a:rPr>
              <a:t>常量</a:t>
            </a:r>
            <a:r>
              <a:rPr lang="zh-CN" altLang="zh-CN" sz="2200" dirty="0">
                <a:solidFill>
                  <a:srgbClr val="FF0000"/>
                </a:solidFill>
              </a:rPr>
              <a:t>不能放在赋值号的左边</a:t>
            </a:r>
            <a:r>
              <a:rPr lang="zh-CN" altLang="zh-CN" sz="2200" dirty="0"/>
              <a:t>给它赋值。</a:t>
            </a:r>
            <a:endParaRPr lang="zh-CN" altLang="en-US" sz="2200" dirty="0"/>
          </a:p>
        </p:txBody>
      </p:sp>
    </p:spTree>
    <p:extLst>
      <p:ext uri="{BB962C8B-B14F-4D97-AF65-F5344CB8AC3E}">
        <p14:creationId xmlns:p14="http://schemas.microsoft.com/office/powerpoint/2010/main" val="401016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normAutofit fontScale="90000"/>
          </a:bodyPr>
          <a:lstStyle/>
          <a:p>
            <a:r>
              <a:rPr lang="zh-CN" altLang="zh-CN"/>
              <a:t>各种语句的语义</a:t>
            </a:r>
            <a:endParaRPr lang="zh-CN" altLang="en-US"/>
          </a:p>
        </p:txBody>
      </p:sp>
      <p:sp>
        <p:nvSpPr>
          <p:cNvPr id="12291" name="内容占位符 2"/>
          <p:cNvSpPr>
            <a:spLocks noGrp="1"/>
          </p:cNvSpPr>
          <p:nvPr>
            <p:ph idx="1"/>
          </p:nvPr>
        </p:nvSpPr>
        <p:spPr>
          <a:xfrm>
            <a:off x="438944" y="987575"/>
            <a:ext cx="8525544" cy="2736304"/>
          </a:xfrm>
        </p:spPr>
        <p:txBody>
          <a:bodyPr>
            <a:normAutofit/>
          </a:bodyPr>
          <a:lstStyle/>
          <a:p>
            <a:r>
              <a:rPr lang="en-US" altLang="zh-CN" sz="2200" dirty="0"/>
              <a:t>if</a:t>
            </a:r>
            <a:r>
              <a:rPr lang="zh-CN" altLang="zh-CN" sz="2200" dirty="0"/>
              <a:t>语句</a:t>
            </a:r>
            <a:r>
              <a:rPr lang="zh-CN" altLang="en-US" sz="2200" dirty="0"/>
              <a:t>有两种形式</a:t>
            </a:r>
            <a:r>
              <a:rPr lang="zh-CN" altLang="zh-CN" sz="2200" dirty="0"/>
              <a:t>：</a:t>
            </a:r>
            <a:endParaRPr lang="en-US" altLang="zh-CN" sz="2200" dirty="0"/>
          </a:p>
          <a:p>
            <a:pPr lvl="1"/>
            <a:r>
              <a:rPr lang="zh-CN" altLang="zh-CN" sz="2000" dirty="0"/>
              <a:t>第一个语句形式的含义</a:t>
            </a:r>
            <a:r>
              <a:rPr lang="en-US" altLang="zh-CN" sz="2000" dirty="0"/>
              <a:t>:</a:t>
            </a:r>
            <a:r>
              <a:rPr lang="zh-CN" altLang="zh-CN" sz="1800" dirty="0"/>
              <a:t>根据表达式的值来选择执行或不执行后面的语句</a:t>
            </a:r>
            <a:endParaRPr lang="en-US" altLang="zh-CN" sz="1800" dirty="0"/>
          </a:p>
          <a:p>
            <a:pPr lvl="2"/>
            <a:r>
              <a:rPr lang="zh-CN" altLang="zh-CN" sz="1800" dirty="0"/>
              <a:t>如果</a:t>
            </a:r>
            <a:r>
              <a:rPr lang="zh-CN" altLang="en-US" sz="1800" dirty="0"/>
              <a:t>表达式的值</a:t>
            </a:r>
            <a:r>
              <a:rPr lang="zh-CN" altLang="zh-CN" sz="1800" dirty="0"/>
              <a:t>为真，执行后面的语句</a:t>
            </a:r>
            <a:endParaRPr lang="en-US" altLang="zh-CN" sz="1800" dirty="0"/>
          </a:p>
          <a:p>
            <a:pPr lvl="2"/>
            <a:r>
              <a:rPr lang="zh-CN" altLang="zh-CN" sz="1800" dirty="0"/>
              <a:t>否则不执行；</a:t>
            </a:r>
            <a:endParaRPr lang="en-US" altLang="zh-CN" sz="1800" dirty="0"/>
          </a:p>
          <a:p>
            <a:pPr lvl="1"/>
            <a:r>
              <a:rPr lang="zh-CN" altLang="zh-CN" sz="2000" dirty="0"/>
              <a:t>第二个语句形式的含义</a:t>
            </a:r>
            <a:r>
              <a:rPr lang="en-US" altLang="zh-CN" sz="2000" dirty="0"/>
              <a:t>:</a:t>
            </a:r>
          </a:p>
          <a:p>
            <a:pPr lvl="2"/>
            <a:r>
              <a:rPr lang="zh-CN" altLang="zh-CN" sz="1800" dirty="0"/>
              <a:t>如果表达式的值为真，执行第一个语句</a:t>
            </a:r>
            <a:endParaRPr lang="en-US" altLang="zh-CN" sz="1800" dirty="0"/>
          </a:p>
          <a:p>
            <a:pPr lvl="2"/>
            <a:r>
              <a:rPr lang="zh-CN" altLang="zh-CN" sz="1800" dirty="0"/>
              <a:t>否则执行第二个语句</a:t>
            </a:r>
            <a:endParaRPr lang="zh-CN" altLang="en-US" sz="1800" dirty="0"/>
          </a:p>
        </p:txBody>
      </p:sp>
      <p:sp>
        <p:nvSpPr>
          <p:cNvPr id="5" name="矩形 4"/>
          <p:cNvSpPr/>
          <p:nvPr/>
        </p:nvSpPr>
        <p:spPr>
          <a:xfrm>
            <a:off x="827584" y="4179675"/>
            <a:ext cx="7739062" cy="707886"/>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a:spAutoFit/>
          </a:bodyPr>
          <a:lstStyle/>
          <a:p>
            <a:pPr marL="266700" algn="just">
              <a:spcAft>
                <a:spcPts val="0"/>
              </a:spcAft>
              <a:defRPr/>
            </a:pPr>
            <a:r>
              <a:rPr lang="en-US" altLang="zh-CN" sz="2000" kern="100" dirty="0">
                <a:latin typeface="Times New Roman" panose="02020603050405020304" pitchFamily="18" charset="0"/>
              </a:rPr>
              <a:t>&lt;if</a:t>
            </a:r>
            <a:r>
              <a:rPr lang="zh-CN" altLang="zh-CN" sz="2000" kern="100" dirty="0">
                <a:latin typeface="Times New Roman" panose="02020603050405020304" pitchFamily="18" charset="0"/>
              </a:rPr>
              <a:t>语句</a:t>
            </a:r>
            <a:r>
              <a:rPr lang="en-US" altLang="zh-CN" sz="2000" kern="100" dirty="0">
                <a:latin typeface="Times New Roman" panose="02020603050405020304" pitchFamily="18" charset="0"/>
              </a:rPr>
              <a:t>&gt;</a:t>
            </a: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if (&lt;</a:t>
            </a:r>
            <a:r>
              <a:rPr lang="zh-CN" altLang="zh-CN" sz="2000" kern="100" dirty="0">
                <a:latin typeface="Times New Roman" panose="02020603050405020304" pitchFamily="18" charset="0"/>
              </a:rPr>
              <a:t>表达式</a:t>
            </a:r>
            <a:r>
              <a:rPr lang="en-US" altLang="zh-CN" sz="2000" kern="100" dirty="0">
                <a:latin typeface="Times New Roman" panose="02020603050405020304" pitchFamily="18" charset="0"/>
              </a:rPr>
              <a:t>&gt;)&lt;</a:t>
            </a:r>
            <a:r>
              <a:rPr lang="zh-CN" altLang="zh-CN" sz="2000" kern="100" dirty="0">
                <a:latin typeface="Times New Roman" panose="02020603050405020304" pitchFamily="18" charset="0"/>
              </a:rPr>
              <a:t>语句</a:t>
            </a:r>
            <a:r>
              <a:rPr lang="en-US" altLang="zh-CN" sz="2000" kern="100" dirty="0">
                <a:latin typeface="Times New Roman" panose="02020603050405020304" pitchFamily="18" charset="0"/>
              </a:rPr>
              <a:t>&gt;</a:t>
            </a:r>
          </a:p>
          <a:p>
            <a:pPr marL="266700" algn="just">
              <a:spcAft>
                <a:spcPts val="0"/>
              </a:spcAft>
              <a:defRPr/>
            </a:pPr>
            <a:r>
              <a:rPr lang="en-US" altLang="zh-CN" sz="2000" kern="100" dirty="0">
                <a:latin typeface="Times New Roman" panose="02020603050405020304" pitchFamily="18" charset="0"/>
              </a:rPr>
              <a:t>&lt;if</a:t>
            </a:r>
            <a:r>
              <a:rPr lang="zh-CN" altLang="zh-CN" sz="2000" kern="100" dirty="0">
                <a:latin typeface="Times New Roman" panose="02020603050405020304" pitchFamily="18" charset="0"/>
              </a:rPr>
              <a:t>语句</a:t>
            </a:r>
            <a:r>
              <a:rPr lang="en-US" altLang="zh-CN" sz="2000" kern="100" dirty="0">
                <a:latin typeface="Times New Roman" panose="02020603050405020304" pitchFamily="18" charset="0"/>
              </a:rPr>
              <a:t>&gt;</a:t>
            </a:r>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if (&lt;</a:t>
            </a:r>
            <a:r>
              <a:rPr lang="zh-CN" altLang="zh-CN" sz="2000" kern="100" dirty="0">
                <a:latin typeface="Times New Roman" panose="02020603050405020304" pitchFamily="18" charset="0"/>
              </a:rPr>
              <a:t>表达式</a:t>
            </a:r>
            <a:r>
              <a:rPr lang="en-US" altLang="zh-CN" sz="2000" kern="100" dirty="0">
                <a:latin typeface="Times New Roman" panose="02020603050405020304" pitchFamily="18" charset="0"/>
              </a:rPr>
              <a:t>&gt;) &lt;</a:t>
            </a:r>
            <a:r>
              <a:rPr lang="zh-CN" altLang="zh-CN" sz="2000" kern="100" dirty="0">
                <a:latin typeface="Times New Roman" panose="02020603050405020304" pitchFamily="18" charset="0"/>
              </a:rPr>
              <a:t>语句</a:t>
            </a:r>
            <a:r>
              <a:rPr lang="en-US" altLang="zh-CN" sz="2000" kern="100" dirty="0">
                <a:latin typeface="Times New Roman" panose="02020603050405020304" pitchFamily="18" charset="0"/>
              </a:rPr>
              <a:t>&gt; else &lt;</a:t>
            </a:r>
            <a:r>
              <a:rPr lang="zh-CN" altLang="zh-CN" sz="2000" kern="100" dirty="0">
                <a:latin typeface="Times New Roman" panose="02020603050405020304" pitchFamily="18" charset="0"/>
              </a:rPr>
              <a:t>语句</a:t>
            </a:r>
            <a:r>
              <a:rPr lang="en-US" altLang="zh-CN" sz="2000" kern="100" dirty="0">
                <a:latin typeface="Times New Roman" panose="02020603050405020304" pitchFamily="18" charset="0"/>
              </a:rPr>
              <a:t>&gt;</a:t>
            </a:r>
            <a:endParaRPr lang="zh-CN" altLang="zh-CN" sz="2000" kern="100" dirty="0">
              <a:latin typeface="Times New Roman" panose="02020603050405020304" pitchFamily="18" charset="0"/>
            </a:endParaRPr>
          </a:p>
        </p:txBody>
      </p:sp>
    </p:spTree>
    <p:extLst>
      <p:ext uri="{BB962C8B-B14F-4D97-AF65-F5344CB8AC3E}">
        <p14:creationId xmlns:p14="http://schemas.microsoft.com/office/powerpoint/2010/main" val="393103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5974472" y="0"/>
            <a:ext cx="3168352" cy="538857"/>
          </a:xfrm>
        </p:spPr>
        <p:txBody>
          <a:bodyPr>
            <a:normAutofit fontScale="90000"/>
          </a:bodyPr>
          <a:lstStyle/>
          <a:p>
            <a:r>
              <a:rPr lang="zh-CN" altLang="zh-CN" dirty="0"/>
              <a:t>各种语句的语义</a:t>
            </a:r>
            <a:endParaRPr lang="zh-CN" altLang="en-US" dirty="0"/>
          </a:p>
        </p:txBody>
      </p:sp>
      <p:sp>
        <p:nvSpPr>
          <p:cNvPr id="13315" name="内容占位符 2"/>
          <p:cNvSpPr>
            <a:spLocks noGrp="1"/>
          </p:cNvSpPr>
          <p:nvPr>
            <p:ph idx="1"/>
          </p:nvPr>
        </p:nvSpPr>
        <p:spPr>
          <a:xfrm>
            <a:off x="179512" y="346495"/>
            <a:ext cx="8537575" cy="2495674"/>
          </a:xfrm>
        </p:spPr>
        <p:txBody>
          <a:bodyPr>
            <a:noAutofit/>
          </a:bodyPr>
          <a:lstStyle/>
          <a:p>
            <a:pPr>
              <a:spcBef>
                <a:spcPts val="0"/>
              </a:spcBef>
            </a:pPr>
            <a:r>
              <a:rPr lang="en-US" altLang="zh-CN" sz="2200" dirty="0"/>
              <a:t>for</a:t>
            </a:r>
            <a:r>
              <a:rPr lang="zh-CN" altLang="zh-CN" sz="2200" dirty="0"/>
              <a:t>语句是一种循环执行语句，其语义描述为：</a:t>
            </a:r>
            <a:endParaRPr lang="en-US" altLang="zh-CN" sz="2200" dirty="0"/>
          </a:p>
          <a:p>
            <a:pPr lvl="1">
              <a:spcBef>
                <a:spcPts val="0"/>
              </a:spcBef>
            </a:pPr>
            <a:r>
              <a:rPr lang="zh-CN" altLang="zh-CN" dirty="0"/>
              <a:t>先执行第一个表达式；</a:t>
            </a:r>
            <a:endParaRPr lang="en-US" altLang="zh-CN" dirty="0"/>
          </a:p>
          <a:p>
            <a:pPr lvl="1">
              <a:spcBef>
                <a:spcPts val="0"/>
              </a:spcBef>
            </a:pPr>
            <a:r>
              <a:rPr lang="zh-CN" altLang="zh-CN" dirty="0"/>
              <a:t>然后执行第二个表达式</a:t>
            </a:r>
            <a:r>
              <a:rPr lang="en-US" altLang="zh-CN" dirty="0"/>
              <a:t>:</a:t>
            </a:r>
          </a:p>
          <a:p>
            <a:pPr lvl="2">
              <a:spcBef>
                <a:spcPts val="0"/>
              </a:spcBef>
            </a:pPr>
            <a:r>
              <a:rPr lang="zh-CN" altLang="zh-CN" sz="2200" dirty="0"/>
              <a:t>如果第二个表达式的结果为真，执行后面的语句</a:t>
            </a:r>
            <a:endParaRPr lang="en-US" altLang="zh-CN" sz="2200" dirty="0"/>
          </a:p>
          <a:p>
            <a:pPr lvl="2">
              <a:spcBef>
                <a:spcPts val="0"/>
              </a:spcBef>
            </a:pPr>
            <a:r>
              <a:rPr lang="zh-CN" altLang="zh-CN" sz="2200" dirty="0"/>
              <a:t>若结果为假，退出循环</a:t>
            </a:r>
            <a:endParaRPr lang="en-US" altLang="zh-CN" sz="2200" dirty="0"/>
          </a:p>
          <a:p>
            <a:pPr lvl="1">
              <a:spcBef>
                <a:spcPts val="0"/>
              </a:spcBef>
            </a:pPr>
            <a:r>
              <a:rPr lang="zh-CN" altLang="zh-CN" dirty="0"/>
              <a:t>然后执行第三个表达式；</a:t>
            </a:r>
            <a:endParaRPr lang="en-US" altLang="zh-CN" dirty="0"/>
          </a:p>
          <a:p>
            <a:pPr lvl="1">
              <a:spcBef>
                <a:spcPts val="0"/>
              </a:spcBef>
            </a:pPr>
            <a:r>
              <a:rPr lang="zh-CN" altLang="zh-CN" dirty="0"/>
              <a:t>循环</a:t>
            </a:r>
            <a:r>
              <a:rPr lang="zh-CN" altLang="en-US" dirty="0"/>
              <a:t>，返回到第二步</a:t>
            </a:r>
          </a:p>
        </p:txBody>
      </p:sp>
      <p:sp>
        <p:nvSpPr>
          <p:cNvPr id="5" name="矩形 4"/>
          <p:cNvSpPr/>
          <p:nvPr/>
        </p:nvSpPr>
        <p:spPr>
          <a:xfrm>
            <a:off x="827584" y="3075806"/>
            <a:ext cx="8118475" cy="1200329"/>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a:spAutoFit/>
          </a:bodyPr>
          <a:lstStyle/>
          <a:p>
            <a:pPr>
              <a:defRPr/>
            </a:pPr>
            <a:r>
              <a:rPr lang="en-US" altLang="zh-CN" dirty="0">
                <a:solidFill>
                  <a:srgbClr val="FF0000"/>
                </a:solidFill>
              </a:rPr>
              <a:t>&lt;for</a:t>
            </a:r>
            <a:r>
              <a:rPr lang="zh-CN" altLang="zh-CN" dirty="0">
                <a:solidFill>
                  <a:srgbClr val="FF0000"/>
                </a:solidFill>
              </a:rPr>
              <a:t>语句</a:t>
            </a:r>
            <a:r>
              <a:rPr lang="en-US" altLang="zh-CN" dirty="0">
                <a:solidFill>
                  <a:srgbClr val="FF0000"/>
                </a:solidFill>
              </a:rPr>
              <a:t>&gt;</a:t>
            </a:r>
            <a:r>
              <a:rPr lang="zh-CN" altLang="zh-CN" dirty="0">
                <a:solidFill>
                  <a:srgbClr val="FF0000"/>
                </a:solidFill>
              </a:rPr>
              <a:t>→</a:t>
            </a:r>
            <a:r>
              <a:rPr lang="en-US" altLang="zh-CN" dirty="0">
                <a:solidFill>
                  <a:srgbClr val="FF0000"/>
                </a:solidFill>
              </a:rPr>
              <a:t>for (&lt;</a:t>
            </a:r>
            <a:r>
              <a:rPr lang="zh-CN" altLang="zh-CN" dirty="0">
                <a:solidFill>
                  <a:srgbClr val="FF0000"/>
                </a:solidFill>
              </a:rPr>
              <a:t>表达式</a:t>
            </a:r>
            <a:r>
              <a:rPr lang="en-US" altLang="zh-CN" dirty="0">
                <a:solidFill>
                  <a:srgbClr val="FF0000"/>
                </a:solidFill>
              </a:rPr>
              <a:t>1&gt;;&lt;</a:t>
            </a:r>
            <a:r>
              <a:rPr lang="zh-CN" altLang="zh-CN" dirty="0">
                <a:solidFill>
                  <a:srgbClr val="FF0000"/>
                </a:solidFill>
              </a:rPr>
              <a:t>表达式</a:t>
            </a:r>
            <a:r>
              <a:rPr lang="en-US" altLang="zh-CN" dirty="0">
                <a:solidFill>
                  <a:srgbClr val="FF0000"/>
                </a:solidFill>
              </a:rPr>
              <a:t>2&gt;;&lt;</a:t>
            </a:r>
            <a:r>
              <a:rPr lang="zh-CN" altLang="zh-CN" dirty="0">
                <a:solidFill>
                  <a:srgbClr val="FF0000"/>
                </a:solidFill>
              </a:rPr>
              <a:t>表达式</a:t>
            </a:r>
            <a:r>
              <a:rPr lang="en-US" altLang="zh-CN" dirty="0">
                <a:solidFill>
                  <a:srgbClr val="FF0000"/>
                </a:solidFill>
              </a:rPr>
              <a:t>3&gt;)&lt;</a:t>
            </a:r>
            <a:r>
              <a:rPr lang="zh-CN" altLang="zh-CN" dirty="0">
                <a:solidFill>
                  <a:srgbClr val="FF0000"/>
                </a:solidFill>
              </a:rPr>
              <a:t>语句</a:t>
            </a:r>
            <a:r>
              <a:rPr lang="en-US" altLang="zh-CN" dirty="0">
                <a:solidFill>
                  <a:srgbClr val="FF0000"/>
                </a:solidFill>
              </a:rPr>
              <a:t>&gt;</a:t>
            </a:r>
          </a:p>
          <a:p>
            <a:pPr marL="266700" algn="just"/>
            <a:r>
              <a:rPr lang="en-US" altLang="zh-CN" sz="1800" kern="100" dirty="0">
                <a:solidFill>
                  <a:srgbClr val="000000"/>
                </a:solidFill>
                <a:effectLst/>
                <a:latin typeface="Times New Roman" panose="02020603050405020304" pitchFamily="18" charset="0"/>
                <a:ea typeface="宋体" panose="02010600030101010101" pitchFamily="2" charset="-122"/>
              </a:rPr>
              <a:t>&lt;</a:t>
            </a:r>
            <a:r>
              <a:rPr lang="zh-CN" altLang="zh-CN" sz="1800" kern="100" dirty="0">
                <a:solidFill>
                  <a:srgbClr val="000000"/>
                </a:solidFill>
                <a:effectLst/>
                <a:latin typeface="Times New Roman" panose="02020603050405020304" pitchFamily="18" charset="0"/>
                <a:ea typeface="宋体" panose="02010600030101010101" pitchFamily="2" charset="-122"/>
              </a:rPr>
              <a:t>表达式</a:t>
            </a:r>
            <a:r>
              <a:rPr lang="en-US" altLang="zh-CN" sz="1800" kern="100" dirty="0">
                <a:solidFill>
                  <a:srgbClr val="000000"/>
                </a:solidFill>
                <a:effectLst/>
                <a:latin typeface="Times New Roman" panose="02020603050405020304" pitchFamily="18" charset="0"/>
                <a:ea typeface="宋体" panose="02010600030101010101" pitchFamily="2" charset="-122"/>
              </a:rPr>
              <a:t>1&gt;→&lt;</a:t>
            </a:r>
            <a:r>
              <a:rPr lang="zh-CN" altLang="zh-CN" sz="1800" kern="100" dirty="0">
                <a:solidFill>
                  <a:srgbClr val="000000"/>
                </a:solidFill>
                <a:effectLst/>
                <a:latin typeface="Times New Roman" panose="02020603050405020304" pitchFamily="18" charset="0"/>
                <a:ea typeface="宋体" panose="02010600030101010101" pitchFamily="2" charset="-122"/>
              </a:rPr>
              <a:t>表达式</a:t>
            </a:r>
            <a:r>
              <a:rPr lang="en-US" altLang="zh-CN" sz="1800" kern="100" dirty="0">
                <a:solidFill>
                  <a:srgbClr val="000000"/>
                </a:solidFill>
                <a:effectLst/>
                <a:latin typeface="Times New Roman" panose="02020603050405020304" pitchFamily="18" charset="0"/>
                <a:ea typeface="宋体" panose="02010600030101010101" pitchFamily="2" charset="-122"/>
              </a:rPr>
              <a:t>&gt;|</a:t>
            </a:r>
            <a:r>
              <a:rPr lang="en-US" altLang="zh-CN" sz="18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solidFill>
                  <a:srgbClr val="000000"/>
                </a:solidFill>
                <a:effectLst/>
                <a:latin typeface="Times New Roman" panose="02020603050405020304" pitchFamily="18" charset="0"/>
                <a:ea typeface="宋体" panose="02010600030101010101" pitchFamily="2" charset="-122"/>
              </a:rPr>
              <a:t>&lt;</a:t>
            </a:r>
            <a:r>
              <a:rPr lang="zh-CN" altLang="zh-CN" sz="1800" kern="100" dirty="0">
                <a:solidFill>
                  <a:srgbClr val="000000"/>
                </a:solidFill>
                <a:effectLst/>
                <a:latin typeface="Times New Roman" panose="02020603050405020304" pitchFamily="18" charset="0"/>
                <a:ea typeface="宋体" panose="02010600030101010101" pitchFamily="2" charset="-122"/>
              </a:rPr>
              <a:t>表达式</a:t>
            </a:r>
            <a:r>
              <a:rPr lang="en-US" altLang="zh-CN" sz="1800" kern="100" dirty="0">
                <a:solidFill>
                  <a:srgbClr val="000000"/>
                </a:solidFill>
                <a:effectLst/>
                <a:latin typeface="Times New Roman" panose="02020603050405020304" pitchFamily="18" charset="0"/>
                <a:ea typeface="宋体" panose="02010600030101010101" pitchFamily="2" charset="-122"/>
              </a:rPr>
              <a:t>2&gt;→&lt;</a:t>
            </a:r>
            <a:r>
              <a:rPr lang="zh-CN" altLang="zh-CN" sz="1800" kern="100" dirty="0">
                <a:solidFill>
                  <a:srgbClr val="000000"/>
                </a:solidFill>
                <a:effectLst/>
                <a:latin typeface="Times New Roman" panose="02020603050405020304" pitchFamily="18" charset="0"/>
                <a:ea typeface="宋体" panose="02010600030101010101" pitchFamily="2" charset="-122"/>
              </a:rPr>
              <a:t>表达式</a:t>
            </a:r>
            <a:r>
              <a:rPr lang="en-US" altLang="zh-CN" sz="1800" kern="100" dirty="0">
                <a:solidFill>
                  <a:srgbClr val="000000"/>
                </a:solidFill>
                <a:effectLst/>
                <a:latin typeface="Times New Roman" panose="02020603050405020304" pitchFamily="18" charset="0"/>
                <a:ea typeface="宋体" panose="02010600030101010101" pitchFamily="2" charset="-122"/>
              </a:rPr>
              <a:t>&gt;|</a:t>
            </a:r>
            <a:r>
              <a:rPr lang="en-US" altLang="zh-CN" sz="18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solidFill>
                  <a:srgbClr val="000000"/>
                </a:solidFill>
                <a:effectLst/>
                <a:latin typeface="Times New Roman" panose="02020603050405020304" pitchFamily="18" charset="0"/>
                <a:ea typeface="宋体" panose="02010600030101010101" pitchFamily="2" charset="-122"/>
              </a:rPr>
              <a:t>&lt;</a:t>
            </a:r>
            <a:r>
              <a:rPr lang="zh-CN" altLang="zh-CN" sz="1800" kern="100" dirty="0">
                <a:solidFill>
                  <a:srgbClr val="000000"/>
                </a:solidFill>
                <a:effectLst/>
                <a:latin typeface="Times New Roman" panose="02020603050405020304" pitchFamily="18" charset="0"/>
                <a:ea typeface="宋体" panose="02010600030101010101" pitchFamily="2" charset="-122"/>
              </a:rPr>
              <a:t>表达式</a:t>
            </a:r>
            <a:r>
              <a:rPr lang="en-US" altLang="zh-CN" sz="1800" kern="100" dirty="0">
                <a:solidFill>
                  <a:srgbClr val="000000"/>
                </a:solidFill>
                <a:effectLst/>
                <a:latin typeface="Times New Roman" panose="02020603050405020304" pitchFamily="18" charset="0"/>
                <a:ea typeface="宋体" panose="02010600030101010101" pitchFamily="2" charset="-122"/>
              </a:rPr>
              <a:t>3&gt;→&lt;</a:t>
            </a:r>
            <a:r>
              <a:rPr lang="zh-CN" altLang="zh-CN" sz="1800" kern="100" dirty="0">
                <a:solidFill>
                  <a:srgbClr val="000000"/>
                </a:solidFill>
                <a:effectLst/>
                <a:latin typeface="Times New Roman" panose="02020603050405020304" pitchFamily="18" charset="0"/>
                <a:ea typeface="宋体" panose="02010600030101010101" pitchFamily="2" charset="-122"/>
              </a:rPr>
              <a:t>表达式</a:t>
            </a:r>
            <a:r>
              <a:rPr lang="en-US" altLang="zh-CN" sz="1800" kern="100" dirty="0">
                <a:solidFill>
                  <a:srgbClr val="000000"/>
                </a:solidFill>
                <a:effectLst/>
                <a:latin typeface="Times New Roman" panose="02020603050405020304" pitchFamily="18" charset="0"/>
                <a:ea typeface="宋体" panose="02010600030101010101" pitchFamily="2" charset="-122"/>
              </a:rPr>
              <a:t>&gt;|</a:t>
            </a:r>
            <a:r>
              <a:rPr lang="en-US" altLang="zh-CN" sz="18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5551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normAutofit fontScale="90000"/>
          </a:bodyPr>
          <a:lstStyle/>
          <a:p>
            <a:r>
              <a:rPr lang="zh-CN" altLang="zh-CN"/>
              <a:t>各种语句的语义</a:t>
            </a:r>
            <a:endParaRPr lang="zh-CN" altLang="en-US"/>
          </a:p>
        </p:txBody>
      </p:sp>
      <p:sp>
        <p:nvSpPr>
          <p:cNvPr id="14339" name="内容占位符 2"/>
          <p:cNvSpPr>
            <a:spLocks noGrp="1"/>
          </p:cNvSpPr>
          <p:nvPr>
            <p:ph idx="1"/>
          </p:nvPr>
        </p:nvSpPr>
        <p:spPr>
          <a:xfrm>
            <a:off x="323850" y="1168004"/>
            <a:ext cx="8229600" cy="2267842"/>
          </a:xfrm>
        </p:spPr>
        <p:txBody>
          <a:bodyPr>
            <a:normAutofit lnSpcReduction="10000"/>
          </a:bodyPr>
          <a:lstStyle/>
          <a:p>
            <a:r>
              <a:rPr lang="en-US" altLang="zh-CN" sz="2400" dirty="0"/>
              <a:t>while</a:t>
            </a:r>
            <a:r>
              <a:rPr lang="zh-CN" altLang="zh-CN" sz="2400" dirty="0"/>
              <a:t>语句的语义：</a:t>
            </a:r>
            <a:endParaRPr lang="en-US" altLang="zh-CN" sz="2400" dirty="0"/>
          </a:p>
          <a:p>
            <a:pPr lvl="1"/>
            <a:r>
              <a:rPr lang="zh-CN" altLang="en-US" sz="2200" dirty="0"/>
              <a:t>先执行表达式</a:t>
            </a:r>
            <a:endParaRPr lang="en-US" altLang="zh-CN" sz="2200" dirty="0"/>
          </a:p>
          <a:p>
            <a:pPr lvl="1"/>
            <a:r>
              <a:rPr lang="zh-CN" altLang="zh-CN" sz="2200" dirty="0"/>
              <a:t>如果表达式的结果为真</a:t>
            </a:r>
            <a:endParaRPr lang="en-US" altLang="zh-CN" sz="2200" dirty="0"/>
          </a:p>
          <a:p>
            <a:pPr lvl="2"/>
            <a:r>
              <a:rPr lang="zh-CN" altLang="zh-CN" sz="2000" dirty="0"/>
              <a:t>执行后面的循环语句</a:t>
            </a:r>
            <a:endParaRPr lang="en-US" altLang="zh-CN" sz="2000" dirty="0"/>
          </a:p>
          <a:p>
            <a:pPr lvl="2"/>
            <a:r>
              <a:rPr lang="zh-CN" altLang="en-US" sz="2000" dirty="0"/>
              <a:t>否则</a:t>
            </a:r>
            <a:r>
              <a:rPr lang="zh-CN" altLang="zh-CN" sz="2000" dirty="0"/>
              <a:t>退出</a:t>
            </a:r>
            <a:endParaRPr lang="en-US" altLang="zh-CN" sz="2000" dirty="0"/>
          </a:p>
          <a:p>
            <a:pPr lvl="1"/>
            <a:r>
              <a:rPr lang="zh-CN" altLang="en-US" dirty="0"/>
              <a:t>返回第一步</a:t>
            </a:r>
            <a:endParaRPr lang="zh-CN" altLang="zh-CN" sz="2200" dirty="0"/>
          </a:p>
        </p:txBody>
      </p:sp>
      <p:sp>
        <p:nvSpPr>
          <p:cNvPr id="5" name="矩形 4"/>
          <p:cNvSpPr/>
          <p:nvPr/>
        </p:nvSpPr>
        <p:spPr>
          <a:xfrm>
            <a:off x="512764" y="3759994"/>
            <a:ext cx="8118475" cy="40011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a:spAutoFit/>
          </a:bodyPr>
          <a:lstStyle/>
          <a:p>
            <a:pPr>
              <a:defRPr/>
            </a:pPr>
            <a:r>
              <a:rPr lang="en-US" altLang="zh-CN" sz="2000" dirty="0"/>
              <a:t>&lt;while</a:t>
            </a:r>
            <a:r>
              <a:rPr lang="zh-CN" altLang="zh-CN" sz="2000" dirty="0"/>
              <a:t>语句</a:t>
            </a:r>
            <a:r>
              <a:rPr lang="en-US" altLang="zh-CN" sz="2000" dirty="0"/>
              <a:t>&gt;</a:t>
            </a:r>
            <a:r>
              <a:rPr lang="zh-CN" altLang="zh-CN" sz="2000" dirty="0"/>
              <a:t>→</a:t>
            </a:r>
            <a:r>
              <a:rPr lang="en-US" altLang="zh-CN" sz="2000" dirty="0"/>
              <a:t>while (&lt;</a:t>
            </a:r>
            <a:r>
              <a:rPr lang="zh-CN" altLang="zh-CN" sz="2000" dirty="0"/>
              <a:t>表达式</a:t>
            </a:r>
            <a:r>
              <a:rPr lang="en-US" altLang="zh-CN" sz="2000" dirty="0"/>
              <a:t>&gt;)&lt;</a:t>
            </a:r>
            <a:r>
              <a:rPr lang="zh-CN" altLang="zh-CN" sz="2000" dirty="0"/>
              <a:t>语句</a:t>
            </a:r>
            <a:r>
              <a:rPr lang="en-US" altLang="zh-CN" sz="2000" dirty="0"/>
              <a:t>&gt;</a:t>
            </a:r>
            <a:endParaRPr lang="zh-CN" altLang="zh-CN" sz="2000" dirty="0"/>
          </a:p>
        </p:txBody>
      </p:sp>
    </p:spTree>
    <p:extLst>
      <p:ext uri="{BB962C8B-B14F-4D97-AF65-F5344CB8AC3E}">
        <p14:creationId xmlns:p14="http://schemas.microsoft.com/office/powerpoint/2010/main" val="1970827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normAutofit fontScale="90000"/>
          </a:bodyPr>
          <a:lstStyle/>
          <a:p>
            <a:r>
              <a:rPr lang="zh-CN" altLang="zh-CN"/>
              <a:t>各种语句的语义</a:t>
            </a:r>
            <a:endParaRPr lang="zh-CN" altLang="en-US"/>
          </a:p>
        </p:txBody>
      </p:sp>
      <p:sp>
        <p:nvSpPr>
          <p:cNvPr id="15363" name="内容占位符 2"/>
          <p:cNvSpPr>
            <a:spLocks noGrp="1"/>
          </p:cNvSpPr>
          <p:nvPr>
            <p:ph idx="1"/>
          </p:nvPr>
        </p:nvSpPr>
        <p:spPr>
          <a:xfrm>
            <a:off x="179512" y="915566"/>
            <a:ext cx="8712968" cy="3384376"/>
          </a:xfrm>
        </p:spPr>
        <p:txBody>
          <a:bodyPr>
            <a:normAutofit/>
          </a:bodyPr>
          <a:lstStyle/>
          <a:p>
            <a:r>
              <a:rPr lang="en-US" altLang="zh-CN" sz="2200" dirty="0"/>
              <a:t>do while</a:t>
            </a:r>
            <a:r>
              <a:rPr lang="zh-CN" altLang="zh-CN" sz="2200" dirty="0"/>
              <a:t>语句是循环语句的第三种形式，其语义</a:t>
            </a:r>
            <a:r>
              <a:rPr lang="zh-CN" altLang="en-US" sz="2200" dirty="0"/>
              <a:t>：</a:t>
            </a:r>
            <a:endParaRPr lang="en-US" altLang="zh-CN" sz="2200" dirty="0"/>
          </a:p>
          <a:p>
            <a:pPr lvl="1"/>
            <a:r>
              <a:rPr lang="zh-CN" altLang="zh-CN" dirty="0"/>
              <a:t>先执行语句</a:t>
            </a:r>
            <a:endParaRPr lang="en-US" altLang="zh-CN" dirty="0"/>
          </a:p>
          <a:p>
            <a:pPr lvl="1"/>
            <a:r>
              <a:rPr lang="zh-CN" altLang="zh-CN" dirty="0"/>
              <a:t>再执行表达式</a:t>
            </a:r>
            <a:endParaRPr lang="en-US" altLang="zh-CN" dirty="0"/>
          </a:p>
          <a:p>
            <a:pPr lvl="2"/>
            <a:r>
              <a:rPr lang="zh-CN" altLang="zh-CN" sz="2200" dirty="0"/>
              <a:t>如果表达式的结果为真，</a:t>
            </a:r>
            <a:r>
              <a:rPr lang="zh-CN" altLang="en-US" sz="2200" dirty="0"/>
              <a:t>返回第一步，</a:t>
            </a:r>
            <a:r>
              <a:rPr lang="zh-CN" altLang="zh-CN" sz="2200" dirty="0"/>
              <a:t>再执行语句</a:t>
            </a:r>
            <a:endParaRPr lang="en-US" altLang="zh-CN" sz="2200" dirty="0"/>
          </a:p>
          <a:p>
            <a:pPr lvl="2"/>
            <a:r>
              <a:rPr lang="zh-CN" altLang="en-US" sz="2200" dirty="0"/>
              <a:t>否则</a:t>
            </a:r>
            <a:r>
              <a:rPr lang="zh-CN" altLang="zh-CN" sz="2200" dirty="0"/>
              <a:t>退出循环</a:t>
            </a:r>
            <a:endParaRPr lang="en-US" altLang="zh-CN" sz="2200" dirty="0"/>
          </a:p>
          <a:p>
            <a:endParaRPr lang="en-US" altLang="zh-CN" dirty="0"/>
          </a:p>
          <a:p>
            <a:r>
              <a:rPr lang="en-US" altLang="zh-CN" dirty="0"/>
              <a:t>do while</a:t>
            </a:r>
            <a:r>
              <a:rPr lang="zh-CN" altLang="zh-CN" dirty="0"/>
              <a:t>语句和</a:t>
            </a:r>
            <a:r>
              <a:rPr lang="en-US" altLang="zh-CN" dirty="0"/>
              <a:t>while</a:t>
            </a:r>
            <a:r>
              <a:rPr lang="zh-CN" altLang="zh-CN" dirty="0"/>
              <a:t>语句的差别在于</a:t>
            </a:r>
            <a:r>
              <a:rPr lang="en-US" altLang="zh-CN" dirty="0"/>
              <a:t>do while</a:t>
            </a:r>
            <a:r>
              <a:rPr lang="zh-CN" altLang="zh-CN" dirty="0"/>
              <a:t>语句先执行再判断，因此语句至少会执行一次。</a:t>
            </a:r>
            <a:endParaRPr lang="zh-CN" altLang="en-US" dirty="0"/>
          </a:p>
        </p:txBody>
      </p:sp>
      <p:sp>
        <p:nvSpPr>
          <p:cNvPr id="5" name="矩形 4"/>
          <p:cNvSpPr/>
          <p:nvPr/>
        </p:nvSpPr>
        <p:spPr>
          <a:xfrm>
            <a:off x="512762" y="4315911"/>
            <a:ext cx="8118475" cy="40011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a:spAutoFit/>
          </a:bodyPr>
          <a:lstStyle/>
          <a:p>
            <a:pPr>
              <a:defRPr/>
            </a:pPr>
            <a:r>
              <a:rPr lang="en-US" altLang="zh-CN" sz="2000" dirty="0"/>
              <a:t>&lt;do while</a:t>
            </a:r>
            <a:r>
              <a:rPr lang="zh-CN" altLang="en-US" sz="2000" dirty="0"/>
              <a:t>语句</a:t>
            </a:r>
            <a:r>
              <a:rPr lang="en-US" altLang="zh-CN" sz="2000" dirty="0"/>
              <a:t>&gt;→do &lt;</a:t>
            </a:r>
            <a:r>
              <a:rPr lang="zh-CN" altLang="en-US" sz="2000" dirty="0"/>
              <a:t>语句</a:t>
            </a:r>
            <a:r>
              <a:rPr lang="en-US" altLang="zh-CN" sz="2000" dirty="0"/>
              <a:t>&gt; while (&lt;</a:t>
            </a:r>
            <a:r>
              <a:rPr lang="zh-CN" altLang="en-US" sz="2000" dirty="0"/>
              <a:t>表达式</a:t>
            </a:r>
            <a:r>
              <a:rPr lang="en-US" altLang="zh-CN" sz="2000" dirty="0"/>
              <a:t>&gt;);</a:t>
            </a:r>
          </a:p>
        </p:txBody>
      </p:sp>
    </p:spTree>
    <p:extLst>
      <p:ext uri="{BB962C8B-B14F-4D97-AF65-F5344CB8AC3E}">
        <p14:creationId xmlns:p14="http://schemas.microsoft.com/office/powerpoint/2010/main" val="220594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normAutofit fontScale="90000"/>
          </a:bodyPr>
          <a:lstStyle/>
          <a:p>
            <a:r>
              <a:rPr lang="zh-CN" altLang="zh-CN" dirty="0"/>
              <a:t>各种语句的语义</a:t>
            </a:r>
            <a:endParaRPr lang="zh-CN" altLang="en-US" dirty="0"/>
          </a:p>
        </p:txBody>
      </p:sp>
      <p:sp>
        <p:nvSpPr>
          <p:cNvPr id="16387" name="内容占位符 2"/>
          <p:cNvSpPr>
            <a:spLocks noGrp="1"/>
          </p:cNvSpPr>
          <p:nvPr>
            <p:ph idx="1"/>
          </p:nvPr>
        </p:nvSpPr>
        <p:spPr>
          <a:xfrm>
            <a:off x="323850" y="1063228"/>
            <a:ext cx="8229600" cy="2012577"/>
          </a:xfrm>
        </p:spPr>
        <p:txBody>
          <a:bodyPr>
            <a:normAutofit/>
          </a:bodyPr>
          <a:lstStyle/>
          <a:p>
            <a:r>
              <a:rPr lang="en-US" altLang="zh-CN" sz="2200" dirty="0"/>
              <a:t>return</a:t>
            </a:r>
            <a:r>
              <a:rPr lang="zh-CN" altLang="zh-CN" sz="2200" dirty="0"/>
              <a:t>语句只能出现在</a:t>
            </a:r>
            <a:r>
              <a:rPr lang="zh-CN" altLang="zh-CN" sz="2200" dirty="0">
                <a:solidFill>
                  <a:srgbClr val="FF0000"/>
                </a:solidFill>
              </a:rPr>
              <a:t>函数</a:t>
            </a:r>
            <a:r>
              <a:rPr lang="zh-CN" altLang="zh-CN" sz="2200" dirty="0"/>
              <a:t>中</a:t>
            </a:r>
            <a:endParaRPr lang="en-US" altLang="zh-CN" sz="2200" dirty="0"/>
          </a:p>
          <a:p>
            <a:r>
              <a:rPr lang="zh-CN" altLang="zh-CN" sz="2200" dirty="0"/>
              <a:t>其后的表达式必须和函数声明中的返回值类型</a:t>
            </a:r>
            <a:r>
              <a:rPr lang="zh-CN" altLang="zh-CN" sz="2200" dirty="0">
                <a:solidFill>
                  <a:srgbClr val="FF0000"/>
                </a:solidFill>
              </a:rPr>
              <a:t>兼容</a:t>
            </a:r>
            <a:endParaRPr lang="en-US" altLang="zh-CN" sz="2200" dirty="0">
              <a:solidFill>
                <a:srgbClr val="FF0000"/>
              </a:solidFill>
            </a:endParaRPr>
          </a:p>
          <a:p>
            <a:r>
              <a:rPr lang="zh-CN" altLang="zh-CN" sz="2200" dirty="0"/>
              <a:t>在函数返回值类型为</a:t>
            </a:r>
            <a:r>
              <a:rPr lang="en-US" altLang="zh-CN" sz="2200" dirty="0"/>
              <a:t>void</a:t>
            </a:r>
            <a:r>
              <a:rPr lang="zh-CN" altLang="zh-CN" sz="2200" dirty="0"/>
              <a:t>时</a:t>
            </a:r>
            <a:r>
              <a:rPr lang="zh-CN" altLang="zh-CN" sz="2200" dirty="0">
                <a:solidFill>
                  <a:srgbClr val="FF0000"/>
                </a:solidFill>
              </a:rPr>
              <a:t>没有返回值表达式</a:t>
            </a:r>
            <a:r>
              <a:rPr lang="zh-CN" altLang="zh-CN" sz="2200" dirty="0"/>
              <a:t>。</a:t>
            </a:r>
            <a:endParaRPr lang="en-US" altLang="zh-CN" sz="2200" dirty="0"/>
          </a:p>
          <a:p>
            <a:r>
              <a:rPr lang="zh-CN" altLang="zh-CN" sz="2200" dirty="0"/>
              <a:t>没有返回值的函数中的</a:t>
            </a:r>
            <a:r>
              <a:rPr lang="en-US" altLang="zh-CN" sz="2200" dirty="0"/>
              <a:t>return</a:t>
            </a:r>
            <a:r>
              <a:rPr lang="zh-CN" altLang="zh-CN" sz="2200" dirty="0"/>
              <a:t>语句不能有返回值表达式，有返回值的函数中的</a:t>
            </a:r>
            <a:r>
              <a:rPr lang="en-US" altLang="zh-CN" sz="2200" dirty="0"/>
              <a:t>return</a:t>
            </a:r>
            <a:r>
              <a:rPr lang="zh-CN" altLang="zh-CN" sz="2200" dirty="0"/>
              <a:t>语句必须有返回值。</a:t>
            </a:r>
            <a:endParaRPr lang="zh-CN" altLang="en-US" sz="2200" dirty="0"/>
          </a:p>
        </p:txBody>
      </p:sp>
      <p:sp>
        <p:nvSpPr>
          <p:cNvPr id="5" name="矩形 4"/>
          <p:cNvSpPr/>
          <p:nvPr/>
        </p:nvSpPr>
        <p:spPr>
          <a:xfrm>
            <a:off x="568326" y="3759994"/>
            <a:ext cx="8118475" cy="400110"/>
          </a:xfrm>
          <a:prstGeom prst="rect">
            <a:avLst/>
          </a:prstGeom>
          <a:solidFill>
            <a:srgbClr val="FDF3ED"/>
          </a:solidFill>
          <a:ln>
            <a:noFill/>
          </a:ln>
        </p:spPr>
        <p:style>
          <a:lnRef idx="1">
            <a:schemeClr val="dk1"/>
          </a:lnRef>
          <a:fillRef idx="2">
            <a:schemeClr val="dk1"/>
          </a:fillRef>
          <a:effectRef idx="1">
            <a:schemeClr val="dk1"/>
          </a:effectRef>
          <a:fontRef idx="minor">
            <a:schemeClr val="dk1"/>
          </a:fontRef>
        </p:style>
        <p:txBody>
          <a:bodyPr>
            <a:spAutoFit/>
          </a:bodyPr>
          <a:lstStyle/>
          <a:p>
            <a:pPr>
              <a:defRPr/>
            </a:pPr>
            <a:r>
              <a:rPr lang="en-US" altLang="zh-CN" sz="2000" dirty="0"/>
              <a:t>&lt;return</a:t>
            </a:r>
            <a:r>
              <a:rPr lang="zh-CN" altLang="zh-CN" sz="2000" dirty="0"/>
              <a:t>语句</a:t>
            </a:r>
            <a:r>
              <a:rPr lang="en-US" altLang="zh-CN" sz="2000" dirty="0"/>
              <a:t>&gt;</a:t>
            </a:r>
            <a:r>
              <a:rPr lang="zh-CN" altLang="zh-CN" sz="2000" dirty="0"/>
              <a:t>→</a:t>
            </a:r>
            <a:r>
              <a:rPr lang="en-US" altLang="zh-CN" sz="2000" dirty="0"/>
              <a:t>return;| return &lt;</a:t>
            </a:r>
            <a:r>
              <a:rPr lang="zh-CN" altLang="zh-CN" sz="2000" dirty="0"/>
              <a:t>表达式</a:t>
            </a:r>
            <a:r>
              <a:rPr lang="en-US" altLang="zh-CN" sz="2000" dirty="0"/>
              <a:t>&gt;;</a:t>
            </a:r>
            <a:endParaRPr lang="zh-CN" altLang="zh-CN" sz="2000" dirty="0"/>
          </a:p>
        </p:txBody>
      </p:sp>
    </p:spTree>
    <p:extLst>
      <p:ext uri="{BB962C8B-B14F-4D97-AF65-F5344CB8AC3E}">
        <p14:creationId xmlns:p14="http://schemas.microsoft.com/office/powerpoint/2010/main" val="16502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normAutofit fontScale="90000"/>
          </a:bodyPr>
          <a:lstStyle/>
          <a:p>
            <a:r>
              <a:rPr lang="zh-CN" altLang="en-US"/>
              <a:t>表达式</a:t>
            </a:r>
            <a:r>
              <a:rPr lang="zh-CN" altLang="zh-CN"/>
              <a:t>的语义</a:t>
            </a:r>
            <a:endParaRPr lang="zh-CN" altLang="en-US"/>
          </a:p>
        </p:txBody>
      </p:sp>
      <p:sp>
        <p:nvSpPr>
          <p:cNvPr id="17411" name="内容占位符 2"/>
          <p:cNvSpPr>
            <a:spLocks noGrp="1"/>
          </p:cNvSpPr>
          <p:nvPr>
            <p:ph idx="1"/>
          </p:nvPr>
        </p:nvSpPr>
        <p:spPr>
          <a:xfrm>
            <a:off x="323850" y="1063228"/>
            <a:ext cx="8229600" cy="2372617"/>
          </a:xfrm>
        </p:spPr>
        <p:txBody>
          <a:bodyPr>
            <a:normAutofit/>
          </a:bodyPr>
          <a:lstStyle/>
          <a:p>
            <a:r>
              <a:rPr lang="zh-CN" altLang="zh-CN" sz="2200" dirty="0"/>
              <a:t>表达式由运算对象（数据引用或函数调用）和运算符组成</a:t>
            </a:r>
            <a:endParaRPr lang="en-US" altLang="zh-CN" sz="2200" dirty="0"/>
          </a:p>
          <a:p>
            <a:r>
              <a:rPr lang="zh-CN" altLang="en-US" sz="2200" dirty="0"/>
              <a:t>规定数据类型的兼容性，如</a:t>
            </a:r>
            <a:r>
              <a:rPr lang="en-US" altLang="zh-CN" sz="2200" dirty="0">
                <a:solidFill>
                  <a:srgbClr val="FF0000"/>
                </a:solidFill>
              </a:rPr>
              <a:t>%</a:t>
            </a:r>
            <a:r>
              <a:rPr lang="zh-CN" altLang="en-US" sz="2200" dirty="0">
                <a:solidFill>
                  <a:srgbClr val="FF0000"/>
                </a:solidFill>
              </a:rPr>
              <a:t>两边必须是整型兼容的</a:t>
            </a:r>
            <a:endParaRPr lang="en-US" altLang="zh-CN" sz="2200" dirty="0">
              <a:solidFill>
                <a:srgbClr val="FF0000"/>
              </a:solidFill>
            </a:endParaRPr>
          </a:p>
          <a:p>
            <a:r>
              <a:rPr lang="zh-CN" altLang="en-US" sz="2200" dirty="0"/>
              <a:t>规定优先级和结合性</a:t>
            </a:r>
            <a:endParaRPr lang="en-US" altLang="zh-CN" sz="2200" dirty="0"/>
          </a:p>
          <a:p>
            <a:r>
              <a:rPr lang="zh-CN" altLang="zh-CN" sz="2200" dirty="0"/>
              <a:t>有</a:t>
            </a:r>
            <a:r>
              <a:rPr lang="en-US" altLang="zh-CN" sz="2200" dirty="0">
                <a:solidFill>
                  <a:srgbClr val="FF0000"/>
                </a:solidFill>
              </a:rPr>
              <a:t>void</a:t>
            </a:r>
            <a:r>
              <a:rPr lang="zh-CN" altLang="zh-CN" sz="2200" dirty="0"/>
              <a:t>返回值的</a:t>
            </a:r>
            <a:r>
              <a:rPr lang="zh-CN" altLang="zh-CN" sz="2200" dirty="0">
                <a:solidFill>
                  <a:srgbClr val="FF0000"/>
                </a:solidFill>
              </a:rPr>
              <a:t>函数不能参与表达式运算</a:t>
            </a:r>
            <a:endParaRPr lang="en-US" altLang="zh-CN" sz="2200" dirty="0"/>
          </a:p>
          <a:p>
            <a:r>
              <a:rPr lang="zh-CN" altLang="zh-CN" sz="2200" dirty="0"/>
              <a:t>赋值表达式的左侧不能是</a:t>
            </a:r>
            <a:r>
              <a:rPr lang="zh-CN" altLang="zh-CN" sz="2200" dirty="0">
                <a:solidFill>
                  <a:srgbClr val="FF0000"/>
                </a:solidFill>
              </a:rPr>
              <a:t>带运算的表达式</a:t>
            </a:r>
            <a:r>
              <a:rPr lang="zh-CN" altLang="en-US" sz="2200" dirty="0"/>
              <a:t>和</a:t>
            </a:r>
            <a:r>
              <a:rPr lang="zh-CN" altLang="en-US" sz="2200" dirty="0">
                <a:solidFill>
                  <a:srgbClr val="FF0000"/>
                </a:solidFill>
              </a:rPr>
              <a:t>常量</a:t>
            </a:r>
            <a:r>
              <a:rPr lang="zh-CN" altLang="zh-CN" sz="2200" dirty="0"/>
              <a:t>等等。</a:t>
            </a:r>
            <a:endParaRPr lang="zh-CN" altLang="en-US" sz="2200" dirty="0"/>
          </a:p>
        </p:txBody>
      </p:sp>
    </p:spTree>
    <p:extLst>
      <p:ext uri="{BB962C8B-B14F-4D97-AF65-F5344CB8AC3E}">
        <p14:creationId xmlns:p14="http://schemas.microsoft.com/office/powerpoint/2010/main" val="1314730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矩形 1"/>
          <p:cNvSpPr/>
          <p:nvPr/>
        </p:nvSpPr>
        <p:spPr>
          <a:xfrm>
            <a:off x="1249985" y="1971358"/>
            <a:ext cx="4626588" cy="707886"/>
          </a:xfrm>
          <a:prstGeom prst="rect">
            <a:avLst/>
          </a:prstGeom>
        </p:spPr>
        <p:txBody>
          <a:bodyPr wrap="none">
            <a:spAutoFit/>
          </a:bodyPr>
          <a:lstStyle/>
          <a:p>
            <a:r>
              <a:rPr lang="en-US" altLang="zh-CN" sz="4000" b="1" dirty="0">
                <a:solidFill>
                  <a:srgbClr val="CC0099"/>
                </a:solidFill>
                <a:ea typeface="隶书" pitchFamily="49" charset="-122"/>
              </a:rPr>
              <a:t>2</a:t>
            </a:r>
            <a:r>
              <a:rPr lang="zh-CN" altLang="en-US" sz="4000" b="1" dirty="0">
                <a:solidFill>
                  <a:srgbClr val="CC0099"/>
                </a:solidFill>
                <a:ea typeface="隶书" pitchFamily="49" charset="-122"/>
              </a:rPr>
              <a:t>、</a:t>
            </a:r>
            <a:r>
              <a:rPr kumimoji="1" lang="zh-CN" altLang="zh-CN" sz="4000" b="1">
                <a:solidFill>
                  <a:srgbClr val="CC0099"/>
                </a:solidFill>
                <a:latin typeface="Times New Roman" pitchFamily="18" charset="0"/>
                <a:ea typeface="隶书" pitchFamily="49" charset="-122"/>
              </a:rPr>
              <a:t>符号表管理技术</a:t>
            </a:r>
            <a:endParaRPr lang="en-US" altLang="zh-CN" sz="3600" b="1" dirty="0">
              <a:solidFill>
                <a:srgbClr val="CC0099"/>
              </a:solidFill>
              <a:ea typeface="隶书" pitchFamily="49" charset="-122"/>
            </a:endParaRPr>
          </a:p>
        </p:txBody>
      </p:sp>
    </p:spTree>
    <p:extLst>
      <p:ext uri="{BB962C8B-B14F-4D97-AF65-F5344CB8AC3E}">
        <p14:creationId xmlns:p14="http://schemas.microsoft.com/office/powerpoint/2010/main" val="168036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normAutofit fontScale="90000"/>
          </a:bodyPr>
          <a:lstStyle/>
          <a:p>
            <a:r>
              <a:rPr kumimoji="1" lang="zh-CN" altLang="zh-CN" sz="4800" b="1" dirty="0">
                <a:solidFill>
                  <a:srgbClr val="CC0099"/>
                </a:solidFill>
                <a:latin typeface="Times New Roman" pitchFamily="18" charset="0"/>
                <a:ea typeface="隶书" pitchFamily="49" charset="-122"/>
              </a:rPr>
              <a:t>4.3 符号表</a:t>
            </a:r>
            <a:endParaRPr kumimoji="1" lang="zh-CN" altLang="en-US" sz="4800" b="1" dirty="0">
              <a:solidFill>
                <a:srgbClr val="CC0099"/>
              </a:solidFill>
              <a:latin typeface="Times New Roman" pitchFamily="18" charset="0"/>
              <a:ea typeface="隶书" pitchFamily="49" charset="-122"/>
            </a:endParaRPr>
          </a:p>
        </p:txBody>
      </p:sp>
      <p:sp>
        <p:nvSpPr>
          <p:cNvPr id="18435" name="内容占位符 2"/>
          <p:cNvSpPr>
            <a:spLocks noGrp="1"/>
          </p:cNvSpPr>
          <p:nvPr>
            <p:ph idx="1"/>
          </p:nvPr>
        </p:nvSpPr>
        <p:spPr>
          <a:xfrm>
            <a:off x="457200" y="1200150"/>
            <a:ext cx="8229600" cy="3531394"/>
          </a:xfrm>
        </p:spPr>
        <p:txBody>
          <a:bodyPr>
            <a:normAutofit/>
          </a:bodyPr>
          <a:lstStyle/>
          <a:p>
            <a:pPr marL="0" indent="0">
              <a:buFontTx/>
              <a:buNone/>
            </a:pPr>
            <a:r>
              <a:rPr lang="zh-CN" altLang="zh-CN" sz="2200" dirty="0"/>
              <a:t>符号表其实是一种数据结构，记录了源程序中出现的名字及其相关的属性信息，这些信息集中反映了各个名字的语义特性信息。</a:t>
            </a:r>
            <a:endParaRPr lang="en-US" altLang="zh-CN" sz="2200" dirty="0"/>
          </a:p>
          <a:p>
            <a:pPr marL="0" indent="0">
              <a:buFontTx/>
              <a:buNone/>
            </a:pPr>
            <a:r>
              <a:rPr lang="zh-CN" altLang="zh-CN" sz="2200" dirty="0"/>
              <a:t>符号表的功能</a:t>
            </a:r>
            <a:r>
              <a:rPr lang="zh-CN" altLang="en-US" sz="2200" dirty="0"/>
              <a:t>：</a:t>
            </a:r>
            <a:endParaRPr lang="en-US" altLang="zh-CN" sz="2200" dirty="0"/>
          </a:p>
          <a:p>
            <a:pPr marL="0" indent="0">
              <a:buFontTx/>
              <a:buNone/>
            </a:pPr>
            <a:r>
              <a:rPr lang="zh-CN" altLang="zh-CN" sz="2200" dirty="0"/>
              <a:t>（1）收集符号信息。在分析阶段分析高级语言的声明语句时，将相关声明信息收集起来，登记到符号表中；</a:t>
            </a:r>
          </a:p>
          <a:p>
            <a:pPr marL="0" indent="0">
              <a:buFontTx/>
              <a:buNone/>
            </a:pPr>
            <a:r>
              <a:rPr lang="zh-CN" altLang="zh-CN" sz="2200" dirty="0"/>
              <a:t>（2）</a:t>
            </a:r>
            <a:r>
              <a:rPr lang="zh-CN" altLang="en-US" sz="2200" dirty="0"/>
              <a:t>检查和使用</a:t>
            </a:r>
            <a:r>
              <a:rPr lang="zh-CN" altLang="zh-CN" sz="2200" dirty="0"/>
              <a:t>。根据符号表中登记的名字及其相关属性信息来检查名字使用的合法性</a:t>
            </a:r>
            <a:r>
              <a:rPr lang="zh-CN" altLang="en-US" sz="2200" dirty="0"/>
              <a:t>，</a:t>
            </a:r>
            <a:r>
              <a:rPr lang="zh-CN" altLang="zh-CN" sz="2200" dirty="0"/>
              <a:t>此时只需要查询符号表即可。</a:t>
            </a:r>
            <a:endParaRPr lang="zh-CN" altLang="en-US" sz="2200" dirty="0"/>
          </a:p>
        </p:txBody>
      </p:sp>
    </p:spTree>
    <p:extLst>
      <p:ext uri="{BB962C8B-B14F-4D97-AF65-F5344CB8AC3E}">
        <p14:creationId xmlns:p14="http://schemas.microsoft.com/office/powerpoint/2010/main" val="106954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0" y="0"/>
            <a:ext cx="8229600" cy="576064"/>
          </a:xfrm>
        </p:spPr>
        <p:txBody>
          <a:bodyPr>
            <a:normAutofit fontScale="90000"/>
          </a:bodyPr>
          <a:lstStyle/>
          <a:p>
            <a:r>
              <a:rPr lang="zh-CN" altLang="zh-CN" dirty="0"/>
              <a:t>符号表</a:t>
            </a:r>
            <a:r>
              <a:rPr lang="zh-CN" altLang="en-US" dirty="0"/>
              <a:t>中的信息及存放方式</a:t>
            </a:r>
          </a:p>
        </p:txBody>
      </p:sp>
      <p:sp>
        <p:nvSpPr>
          <p:cNvPr id="19459" name="内容占位符 2"/>
          <p:cNvSpPr>
            <a:spLocks noGrp="1"/>
          </p:cNvSpPr>
          <p:nvPr>
            <p:ph idx="1"/>
          </p:nvPr>
        </p:nvSpPr>
        <p:spPr>
          <a:xfrm>
            <a:off x="179512" y="627534"/>
            <a:ext cx="8229600" cy="1512168"/>
          </a:xfrm>
        </p:spPr>
        <p:txBody>
          <a:bodyPr>
            <a:normAutofit/>
          </a:bodyPr>
          <a:lstStyle/>
          <a:p>
            <a:r>
              <a:rPr lang="zh-CN" altLang="zh-CN" sz="2200" dirty="0"/>
              <a:t>程序设计语言中</a:t>
            </a:r>
            <a:r>
              <a:rPr lang="zh-CN" altLang="en-US" sz="2200" dirty="0"/>
              <a:t>的名字：</a:t>
            </a:r>
            <a:endParaRPr lang="en-US" altLang="zh-CN" sz="2200" dirty="0"/>
          </a:p>
          <a:p>
            <a:pPr lvl="1"/>
            <a:r>
              <a:rPr lang="zh-CN" altLang="zh-CN" sz="2000" dirty="0"/>
              <a:t>有很多不同种类的名字</a:t>
            </a:r>
            <a:r>
              <a:rPr lang="zh-CN" altLang="en-US" sz="2000" dirty="0"/>
              <a:t>，</a:t>
            </a:r>
            <a:r>
              <a:rPr lang="zh-CN" altLang="zh-CN" sz="2000" dirty="0"/>
              <a:t>如常量、变量、函数、字符串、标号、类型等，以及在面向对象程序设计中的类</a:t>
            </a:r>
            <a:r>
              <a:rPr lang="zh-CN" altLang="en-US" sz="2000" dirty="0"/>
              <a:t>、对象</a:t>
            </a:r>
            <a:endParaRPr lang="en-US" altLang="zh-CN" sz="2000" dirty="0"/>
          </a:p>
          <a:p>
            <a:pPr lvl="1"/>
            <a:r>
              <a:rPr lang="zh-CN" altLang="zh-CN" sz="2000" dirty="0"/>
              <a:t>不同类型的名字具有不同的属性</a:t>
            </a:r>
            <a:endParaRPr lang="en-US" altLang="zh-CN" sz="2000" dirty="0"/>
          </a:p>
        </p:txBody>
      </p:sp>
      <p:graphicFrame>
        <p:nvGraphicFramePr>
          <p:cNvPr id="2" name="表格 1"/>
          <p:cNvGraphicFramePr>
            <a:graphicFrameLocks noGrp="1"/>
          </p:cNvGraphicFramePr>
          <p:nvPr>
            <p:extLst>
              <p:ext uri="{D42A27DB-BD31-4B8C-83A1-F6EECF244321}">
                <p14:modId xmlns:p14="http://schemas.microsoft.com/office/powerpoint/2010/main" val="1683131057"/>
              </p:ext>
            </p:extLst>
          </p:nvPr>
        </p:nvGraphicFramePr>
        <p:xfrm>
          <a:off x="323529" y="3003798"/>
          <a:ext cx="4536503" cy="1923678"/>
        </p:xfrm>
        <a:graphic>
          <a:graphicData uri="http://schemas.openxmlformats.org/drawingml/2006/table">
            <a:tbl>
              <a:tblPr firstRow="1" bandRow="1">
                <a:tableStyleId>{5C22544A-7EE6-4342-B048-85BDC9FD1C3A}</a:tableStyleId>
              </a:tblPr>
              <a:tblGrid>
                <a:gridCol w="617211">
                  <a:extLst>
                    <a:ext uri="{9D8B030D-6E8A-4147-A177-3AD203B41FA5}">
                      <a16:colId xmlns:a16="http://schemas.microsoft.com/office/drawing/2014/main" val="20000"/>
                    </a:ext>
                  </a:extLst>
                </a:gridCol>
                <a:gridCol w="689219">
                  <a:extLst>
                    <a:ext uri="{9D8B030D-6E8A-4147-A177-3AD203B41FA5}">
                      <a16:colId xmlns:a16="http://schemas.microsoft.com/office/drawing/2014/main" val="20001"/>
                    </a:ext>
                  </a:extLst>
                </a:gridCol>
                <a:gridCol w="689219">
                  <a:extLst>
                    <a:ext uri="{9D8B030D-6E8A-4147-A177-3AD203B41FA5}">
                      <a16:colId xmlns:a16="http://schemas.microsoft.com/office/drawing/2014/main" val="20002"/>
                    </a:ext>
                  </a:extLst>
                </a:gridCol>
                <a:gridCol w="689219">
                  <a:extLst>
                    <a:ext uri="{9D8B030D-6E8A-4147-A177-3AD203B41FA5}">
                      <a16:colId xmlns:a16="http://schemas.microsoft.com/office/drawing/2014/main" val="20003"/>
                    </a:ext>
                  </a:extLst>
                </a:gridCol>
                <a:gridCol w="689219">
                  <a:extLst>
                    <a:ext uri="{9D8B030D-6E8A-4147-A177-3AD203B41FA5}">
                      <a16:colId xmlns:a16="http://schemas.microsoft.com/office/drawing/2014/main" val="20004"/>
                    </a:ext>
                  </a:extLst>
                </a:gridCol>
                <a:gridCol w="689219">
                  <a:extLst>
                    <a:ext uri="{9D8B030D-6E8A-4147-A177-3AD203B41FA5}">
                      <a16:colId xmlns:a16="http://schemas.microsoft.com/office/drawing/2014/main" val="20005"/>
                    </a:ext>
                  </a:extLst>
                </a:gridCol>
                <a:gridCol w="473197">
                  <a:extLst>
                    <a:ext uri="{9D8B030D-6E8A-4147-A177-3AD203B41FA5}">
                      <a16:colId xmlns:a16="http://schemas.microsoft.com/office/drawing/2014/main" val="20006"/>
                    </a:ext>
                  </a:extLst>
                </a:gridCol>
              </a:tblGrid>
              <a:tr h="320613">
                <a:tc>
                  <a:txBody>
                    <a:bodyPr/>
                    <a:lstStyle/>
                    <a:p>
                      <a:r>
                        <a:rPr lang="zh-CN" altLang="en-US" sz="1500" b="0" dirty="0">
                          <a:solidFill>
                            <a:schemeClr val="tx1"/>
                          </a:solidFill>
                          <a:latin typeface="宋体" panose="02010600030101010101" pitchFamily="2" charset="-122"/>
                          <a:ea typeface="宋体" panose="02010600030101010101" pitchFamily="2" charset="-122"/>
                        </a:rPr>
                        <a:t>名字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属性</a:t>
                      </a:r>
                      <a:r>
                        <a:rPr lang="en-US" altLang="zh-CN" sz="1500" b="0" dirty="0">
                          <a:solidFill>
                            <a:schemeClr val="tx1"/>
                          </a:solidFill>
                          <a:latin typeface="宋体" panose="02010600030101010101" pitchFamily="2" charset="-122"/>
                          <a:ea typeface="宋体" panose="02010600030101010101" pitchFamily="2" charset="-122"/>
                        </a:rPr>
                        <a:t>1</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属性</a:t>
                      </a:r>
                      <a:r>
                        <a:rPr lang="en-US" altLang="zh-CN" sz="1500" b="0" dirty="0">
                          <a:solidFill>
                            <a:schemeClr val="tx1"/>
                          </a:solidFill>
                          <a:latin typeface="宋体" panose="02010600030101010101" pitchFamily="2" charset="-122"/>
                          <a:ea typeface="宋体" panose="02010600030101010101" pitchFamily="2" charset="-122"/>
                        </a:rPr>
                        <a:t>2</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属性</a:t>
                      </a:r>
                      <a:r>
                        <a:rPr lang="en-US" altLang="zh-CN" sz="1500" b="0" dirty="0">
                          <a:solidFill>
                            <a:schemeClr val="tx1"/>
                          </a:solidFill>
                          <a:latin typeface="宋体" panose="02010600030101010101" pitchFamily="2" charset="-122"/>
                          <a:ea typeface="宋体" panose="02010600030101010101" pitchFamily="2" charset="-122"/>
                        </a:rPr>
                        <a:t>3</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属性</a:t>
                      </a:r>
                      <a:r>
                        <a:rPr lang="en-US" altLang="zh-CN" sz="1500" b="0" dirty="0">
                          <a:solidFill>
                            <a:schemeClr val="tx1"/>
                          </a:solidFill>
                          <a:latin typeface="宋体" panose="02010600030101010101" pitchFamily="2" charset="-122"/>
                          <a:ea typeface="宋体" panose="02010600030101010101" pitchFamily="2" charset="-122"/>
                        </a:rPr>
                        <a:t>4</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20613">
                <a:tc>
                  <a:txBody>
                    <a:bodyPr/>
                    <a:lstStyle/>
                    <a:p>
                      <a:r>
                        <a:rPr lang="en-US" altLang="zh-CN" sz="1500" b="0" dirty="0">
                          <a:solidFill>
                            <a:schemeClr val="tx1"/>
                          </a:solidFill>
                          <a:latin typeface="宋体" panose="02010600030101010101" pitchFamily="2" charset="-122"/>
                          <a:ea typeface="宋体" panose="02010600030101010101" pitchFamily="2" charset="-122"/>
                        </a:rPr>
                        <a:t>A</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chemeClr val="tx1"/>
                          </a:solidFill>
                          <a:latin typeface="宋体" panose="02010600030101010101" pitchFamily="2" charset="-122"/>
                          <a:ea typeface="宋体" panose="02010600030101010101" pitchFamily="2" charset="-122"/>
                        </a:rPr>
                        <a:t>…</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0613">
                <a:tc>
                  <a:txBody>
                    <a:bodyPr/>
                    <a:lstStyle/>
                    <a:p>
                      <a:r>
                        <a:rPr lang="en-US" altLang="zh-CN" sz="1500" b="0" dirty="0">
                          <a:solidFill>
                            <a:schemeClr val="tx1"/>
                          </a:solidFill>
                          <a:latin typeface="宋体" panose="02010600030101010101" pitchFamily="2" charset="-122"/>
                          <a:ea typeface="宋体" panose="02010600030101010101" pitchFamily="2" charset="-122"/>
                        </a:rPr>
                        <a:t>B</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chemeClr val="tx1"/>
                          </a:solidFill>
                          <a:latin typeface="宋体" panose="02010600030101010101" pitchFamily="2" charset="-122"/>
                          <a:ea typeface="宋体" panose="02010600030101010101" pitchFamily="2" charset="-122"/>
                        </a:rPr>
                        <a:t>…</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0613">
                <a:tc>
                  <a:txBody>
                    <a:bodyPr/>
                    <a:lstStyle/>
                    <a:p>
                      <a:r>
                        <a:rPr lang="en-US" altLang="zh-CN" sz="1500" b="0" dirty="0">
                          <a:solidFill>
                            <a:schemeClr val="tx1"/>
                          </a:solidFill>
                          <a:latin typeface="宋体" panose="02010600030101010101" pitchFamily="2" charset="-122"/>
                          <a:ea typeface="宋体" panose="02010600030101010101" pitchFamily="2" charset="-122"/>
                        </a:rPr>
                        <a:t>C</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常量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chemeClr val="tx1"/>
                          </a:solidFill>
                          <a:latin typeface="宋体" panose="02010600030101010101" pitchFamily="2" charset="-122"/>
                          <a:ea typeface="宋体" panose="02010600030101010101" pitchFamily="2" charset="-122"/>
                        </a:rPr>
                        <a:t>…</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0613">
                <a:tc>
                  <a:txBody>
                    <a:bodyPr/>
                    <a:lstStyle/>
                    <a:p>
                      <a:r>
                        <a:rPr lang="en-US" altLang="zh-CN" sz="1500" b="0" dirty="0">
                          <a:solidFill>
                            <a:schemeClr val="tx1"/>
                          </a:solidFill>
                          <a:latin typeface="宋体" panose="02010600030101010101" pitchFamily="2" charset="-122"/>
                          <a:ea typeface="宋体" panose="02010600030101010101" pitchFamily="2" charset="-122"/>
                        </a:rPr>
                        <a:t>D</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函数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chemeClr val="tx1"/>
                          </a:solidFill>
                          <a:latin typeface="宋体" panose="02010600030101010101" pitchFamily="2" charset="-122"/>
                          <a:ea typeface="宋体" panose="02010600030101010101" pitchFamily="2" charset="-122"/>
                        </a:rPr>
                        <a:t>…</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0613">
                <a:tc>
                  <a:txBody>
                    <a:bodyPr/>
                    <a:lstStyle/>
                    <a:p>
                      <a:r>
                        <a:rPr lang="en-US" altLang="zh-CN" sz="1500" b="0" dirty="0">
                          <a:solidFill>
                            <a:schemeClr val="tx1"/>
                          </a:solidFill>
                          <a:latin typeface="宋体" panose="02010600030101010101" pitchFamily="2" charset="-122"/>
                          <a:ea typeface="宋体" panose="02010600030101010101" pitchFamily="2" charset="-122"/>
                        </a:rPr>
                        <a:t>E</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标号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chemeClr val="tx1"/>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chemeClr val="tx1"/>
                          </a:solidFill>
                          <a:latin typeface="宋体" panose="02010600030101010101" pitchFamily="2" charset="-122"/>
                          <a:ea typeface="宋体" panose="02010600030101010101" pitchFamily="2" charset="-122"/>
                        </a:rPr>
                        <a:t>…</a:t>
                      </a:r>
                      <a:endParaRPr lang="zh-CN" altLang="en-US" sz="15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531909772"/>
              </p:ext>
            </p:extLst>
          </p:nvPr>
        </p:nvGraphicFramePr>
        <p:xfrm>
          <a:off x="6412499" y="1995686"/>
          <a:ext cx="2674136" cy="1045850"/>
        </p:xfrm>
        <a:graphic>
          <a:graphicData uri="http://schemas.openxmlformats.org/drawingml/2006/table">
            <a:tbl>
              <a:tblPr firstRow="1" bandRow="1">
                <a:tableStyleId>{5C22544A-7EE6-4342-B048-85BDC9FD1C3A}</a:tableStyleId>
              </a:tblPr>
              <a:tblGrid>
                <a:gridCol w="668534">
                  <a:extLst>
                    <a:ext uri="{9D8B030D-6E8A-4147-A177-3AD203B41FA5}">
                      <a16:colId xmlns:a16="http://schemas.microsoft.com/office/drawing/2014/main" val="20000"/>
                    </a:ext>
                  </a:extLst>
                </a:gridCol>
                <a:gridCol w="668534">
                  <a:extLst>
                    <a:ext uri="{9D8B030D-6E8A-4147-A177-3AD203B41FA5}">
                      <a16:colId xmlns:a16="http://schemas.microsoft.com/office/drawing/2014/main" val="20001"/>
                    </a:ext>
                  </a:extLst>
                </a:gridCol>
                <a:gridCol w="668534">
                  <a:extLst>
                    <a:ext uri="{9D8B030D-6E8A-4147-A177-3AD203B41FA5}">
                      <a16:colId xmlns:a16="http://schemas.microsoft.com/office/drawing/2014/main" val="20002"/>
                    </a:ext>
                  </a:extLst>
                </a:gridCol>
                <a:gridCol w="668534">
                  <a:extLst>
                    <a:ext uri="{9D8B030D-6E8A-4147-A177-3AD203B41FA5}">
                      <a16:colId xmlns:a16="http://schemas.microsoft.com/office/drawing/2014/main" val="20003"/>
                    </a:ext>
                  </a:extLst>
                </a:gridCol>
              </a:tblGrid>
              <a:tr h="404624">
                <a:tc>
                  <a:txBody>
                    <a:bodyPr/>
                    <a:lstStyle/>
                    <a:p>
                      <a:r>
                        <a:rPr lang="zh-CN" altLang="en-US" sz="1500" b="0" dirty="0">
                          <a:solidFill>
                            <a:srgbClr val="0000CC"/>
                          </a:solidFill>
                          <a:latin typeface="宋体" panose="02010600030101010101" pitchFamily="2" charset="-122"/>
                          <a:ea typeface="宋体" panose="02010600030101010101" pitchFamily="2" charset="-122"/>
                        </a:rPr>
                        <a:t>名字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0000CC"/>
                          </a:solidFill>
                          <a:latin typeface="宋体" panose="02010600030101010101" pitchFamily="2" charset="-122"/>
                          <a:ea typeface="宋体" panose="02010600030101010101" pitchFamily="2" charset="-122"/>
                        </a:rPr>
                        <a:t>属性</a:t>
                      </a:r>
                      <a:r>
                        <a:rPr lang="en-US" altLang="zh-CN" sz="1500" b="0" dirty="0">
                          <a:solidFill>
                            <a:srgbClr val="0000CC"/>
                          </a:solidFill>
                          <a:latin typeface="宋体" panose="02010600030101010101" pitchFamily="2" charset="-122"/>
                          <a:ea typeface="宋体" panose="02010600030101010101" pitchFamily="2" charset="-122"/>
                        </a:rPr>
                        <a:t>1</a:t>
                      </a:r>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0000CC"/>
                          </a:solidFill>
                          <a:latin typeface="宋体" panose="02010600030101010101" pitchFamily="2" charset="-122"/>
                          <a:ea typeface="宋体" panose="02010600030101010101" pitchFamily="2" charset="-122"/>
                        </a:rPr>
                        <a:t>属性</a:t>
                      </a:r>
                      <a:r>
                        <a:rPr lang="en-US" altLang="zh-CN" sz="1500" b="0" dirty="0">
                          <a:solidFill>
                            <a:srgbClr val="0000CC"/>
                          </a:solidFill>
                          <a:latin typeface="宋体" panose="02010600030101010101" pitchFamily="2" charset="-122"/>
                          <a:ea typeface="宋体" panose="02010600030101010101" pitchFamily="2" charset="-122"/>
                        </a:rPr>
                        <a:t>2</a:t>
                      </a:r>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20613">
                <a:tc>
                  <a:txBody>
                    <a:bodyPr/>
                    <a:lstStyle/>
                    <a:p>
                      <a:r>
                        <a:rPr lang="en-US" altLang="zh-CN" sz="1500" b="0" dirty="0">
                          <a:solidFill>
                            <a:srgbClr val="0000CC"/>
                          </a:solidFill>
                          <a:latin typeface="宋体" panose="02010600030101010101" pitchFamily="2" charset="-122"/>
                          <a:ea typeface="宋体" panose="02010600030101010101" pitchFamily="2" charset="-122"/>
                        </a:rPr>
                        <a:t>A</a:t>
                      </a:r>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0000CC"/>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0000CC"/>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rgbClr val="0000CC"/>
                          </a:solidFill>
                          <a:latin typeface="宋体" panose="02010600030101010101" pitchFamily="2" charset="-122"/>
                          <a:ea typeface="宋体" panose="02010600030101010101" pitchFamily="2" charset="-122"/>
                        </a:rPr>
                        <a:t>…</a:t>
                      </a:r>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0613">
                <a:tc>
                  <a:txBody>
                    <a:bodyPr/>
                    <a:lstStyle/>
                    <a:p>
                      <a:r>
                        <a:rPr lang="en-US" altLang="zh-CN" sz="1500" b="0" dirty="0">
                          <a:solidFill>
                            <a:srgbClr val="0000CC"/>
                          </a:solidFill>
                          <a:latin typeface="宋体" panose="02010600030101010101" pitchFamily="2" charset="-122"/>
                          <a:ea typeface="宋体" panose="02010600030101010101" pitchFamily="2" charset="-122"/>
                        </a:rPr>
                        <a:t>B</a:t>
                      </a:r>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0000CC"/>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0000CC"/>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rgbClr val="0000CC"/>
                          </a:solidFill>
                          <a:latin typeface="宋体" panose="02010600030101010101" pitchFamily="2" charset="-122"/>
                          <a:ea typeface="宋体" panose="02010600030101010101" pitchFamily="2" charset="-122"/>
                        </a:rPr>
                        <a:t>…</a:t>
                      </a:r>
                      <a:endParaRPr lang="zh-CN" altLang="en-US" sz="1500" b="0" dirty="0">
                        <a:solidFill>
                          <a:srgbClr val="0000CC"/>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531995772"/>
              </p:ext>
            </p:extLst>
          </p:nvPr>
        </p:nvGraphicFramePr>
        <p:xfrm>
          <a:off x="7018978" y="3245825"/>
          <a:ext cx="2067657" cy="640653"/>
        </p:xfrm>
        <a:graphic>
          <a:graphicData uri="http://schemas.openxmlformats.org/drawingml/2006/table">
            <a:tbl>
              <a:tblPr firstRow="1" bandRow="1">
                <a:tableStyleId>{5C22544A-7EE6-4342-B048-85BDC9FD1C3A}</a:tableStyleId>
              </a:tblPr>
              <a:tblGrid>
                <a:gridCol w="689219">
                  <a:extLst>
                    <a:ext uri="{9D8B030D-6E8A-4147-A177-3AD203B41FA5}">
                      <a16:colId xmlns:a16="http://schemas.microsoft.com/office/drawing/2014/main" val="20000"/>
                    </a:ext>
                  </a:extLst>
                </a:gridCol>
                <a:gridCol w="689219">
                  <a:extLst>
                    <a:ext uri="{9D8B030D-6E8A-4147-A177-3AD203B41FA5}">
                      <a16:colId xmlns:a16="http://schemas.microsoft.com/office/drawing/2014/main" val="20001"/>
                    </a:ext>
                  </a:extLst>
                </a:gridCol>
                <a:gridCol w="689219">
                  <a:extLst>
                    <a:ext uri="{9D8B030D-6E8A-4147-A177-3AD203B41FA5}">
                      <a16:colId xmlns:a16="http://schemas.microsoft.com/office/drawing/2014/main" val="20002"/>
                    </a:ext>
                  </a:extLst>
                </a:gridCol>
              </a:tblGrid>
              <a:tr h="320040">
                <a:tc>
                  <a:txBody>
                    <a:bodyPr/>
                    <a:lstStyle/>
                    <a:p>
                      <a:r>
                        <a:rPr lang="zh-CN" altLang="en-US" sz="1500" b="0" dirty="0">
                          <a:solidFill>
                            <a:srgbClr val="FF0000"/>
                          </a:solidFill>
                          <a:latin typeface="宋体" panose="02010600030101010101" pitchFamily="2" charset="-122"/>
                          <a:ea typeface="宋体" panose="02010600030101010101" pitchFamily="2" charset="-122"/>
                        </a:rPr>
                        <a:t>名字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FF0000"/>
                          </a:solidFill>
                          <a:latin typeface="宋体" panose="02010600030101010101" pitchFamily="2" charset="-122"/>
                          <a:ea typeface="宋体" panose="02010600030101010101" pitchFamily="2" charset="-122"/>
                        </a:rPr>
                        <a:t>属性</a:t>
                      </a:r>
                      <a:r>
                        <a:rPr lang="en-US" altLang="zh-CN" sz="1500" b="0" dirty="0">
                          <a:solidFill>
                            <a:srgbClr val="FF0000"/>
                          </a:solidFill>
                          <a:latin typeface="宋体" panose="02010600030101010101" pitchFamily="2" charset="-122"/>
                          <a:ea typeface="宋体" panose="02010600030101010101" pitchFamily="2" charset="-122"/>
                        </a:rPr>
                        <a:t>3</a:t>
                      </a:r>
                      <a:endParaRPr lang="zh-CN" altLang="en-US" sz="1500" b="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20613">
                <a:tc>
                  <a:txBody>
                    <a:bodyPr/>
                    <a:lstStyle/>
                    <a:p>
                      <a:r>
                        <a:rPr lang="en-US" altLang="zh-CN" sz="1500" b="0" dirty="0">
                          <a:solidFill>
                            <a:srgbClr val="FF0000"/>
                          </a:solidFill>
                          <a:latin typeface="宋体" panose="02010600030101010101" pitchFamily="2" charset="-122"/>
                          <a:ea typeface="宋体" panose="02010600030101010101" pitchFamily="2" charset="-122"/>
                        </a:rPr>
                        <a:t>C</a:t>
                      </a:r>
                      <a:endParaRPr lang="zh-CN" altLang="en-US" sz="1500" b="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FF0000"/>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rgbClr val="FF0000"/>
                          </a:solidFill>
                          <a:latin typeface="宋体" panose="02010600030101010101" pitchFamily="2" charset="-122"/>
                          <a:ea typeface="宋体" panose="02010600030101010101" pitchFamily="2" charset="-122"/>
                        </a:rPr>
                        <a:t>…</a:t>
                      </a:r>
                      <a:endParaRPr lang="zh-CN" altLang="en-US" sz="1500" b="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507101760"/>
              </p:ext>
            </p:extLst>
          </p:nvPr>
        </p:nvGraphicFramePr>
        <p:xfrm>
          <a:off x="7020272" y="4155926"/>
          <a:ext cx="2067657" cy="961839"/>
        </p:xfrm>
        <a:graphic>
          <a:graphicData uri="http://schemas.openxmlformats.org/drawingml/2006/table">
            <a:tbl>
              <a:tblPr firstRow="1" bandRow="1">
                <a:tableStyleId>{5C22544A-7EE6-4342-B048-85BDC9FD1C3A}</a:tableStyleId>
              </a:tblPr>
              <a:tblGrid>
                <a:gridCol w="689219">
                  <a:extLst>
                    <a:ext uri="{9D8B030D-6E8A-4147-A177-3AD203B41FA5}">
                      <a16:colId xmlns:a16="http://schemas.microsoft.com/office/drawing/2014/main" val="20000"/>
                    </a:ext>
                  </a:extLst>
                </a:gridCol>
                <a:gridCol w="689219">
                  <a:extLst>
                    <a:ext uri="{9D8B030D-6E8A-4147-A177-3AD203B41FA5}">
                      <a16:colId xmlns:a16="http://schemas.microsoft.com/office/drawing/2014/main" val="20001"/>
                    </a:ext>
                  </a:extLst>
                </a:gridCol>
                <a:gridCol w="689219">
                  <a:extLst>
                    <a:ext uri="{9D8B030D-6E8A-4147-A177-3AD203B41FA5}">
                      <a16:colId xmlns:a16="http://schemas.microsoft.com/office/drawing/2014/main" val="20002"/>
                    </a:ext>
                  </a:extLst>
                </a:gridCol>
              </a:tblGrid>
              <a:tr h="320613">
                <a:tc>
                  <a:txBody>
                    <a:bodyPr/>
                    <a:lstStyle/>
                    <a:p>
                      <a:r>
                        <a:rPr lang="zh-CN" altLang="en-US" sz="1500" b="0" dirty="0">
                          <a:solidFill>
                            <a:srgbClr val="CC00FF"/>
                          </a:solidFill>
                          <a:latin typeface="宋体" panose="02010600030101010101" pitchFamily="2" charset="-122"/>
                          <a:ea typeface="宋体" panose="02010600030101010101" pitchFamily="2" charset="-122"/>
                        </a:rPr>
                        <a:t>名字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CC00FF"/>
                          </a:solidFill>
                          <a:latin typeface="宋体" panose="02010600030101010101" pitchFamily="2" charset="-122"/>
                          <a:ea typeface="宋体" panose="02010600030101010101" pitchFamily="2" charset="-122"/>
                        </a:rPr>
                        <a:t>属性</a:t>
                      </a:r>
                      <a:r>
                        <a:rPr lang="en-US" altLang="zh-CN" sz="1500" b="0" dirty="0">
                          <a:solidFill>
                            <a:srgbClr val="CC00FF"/>
                          </a:solidFill>
                          <a:latin typeface="宋体" panose="02010600030101010101" pitchFamily="2" charset="-122"/>
                          <a:ea typeface="宋体" panose="02010600030101010101" pitchFamily="2" charset="-122"/>
                        </a:rPr>
                        <a:t>4</a:t>
                      </a:r>
                      <a:endParaRPr lang="zh-CN" altLang="en-US" sz="1500" b="0" dirty="0">
                        <a:solidFill>
                          <a:srgbClr val="CC00FF"/>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500" b="0" dirty="0">
                        <a:solidFill>
                          <a:srgbClr val="CC00FF"/>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20613">
                <a:tc>
                  <a:txBody>
                    <a:bodyPr/>
                    <a:lstStyle/>
                    <a:p>
                      <a:r>
                        <a:rPr lang="en-US" altLang="zh-CN" sz="1500" b="0" dirty="0">
                          <a:solidFill>
                            <a:srgbClr val="CC00FF"/>
                          </a:solidFill>
                          <a:latin typeface="宋体" panose="02010600030101010101" pitchFamily="2" charset="-122"/>
                          <a:ea typeface="宋体" panose="02010600030101010101" pitchFamily="2" charset="-122"/>
                        </a:rPr>
                        <a:t>D</a:t>
                      </a:r>
                      <a:endParaRPr lang="zh-CN" altLang="en-US" sz="1500" b="0" dirty="0">
                        <a:solidFill>
                          <a:srgbClr val="CC00FF"/>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CC00FF"/>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rgbClr val="CC00FF"/>
                          </a:solidFill>
                          <a:latin typeface="宋体" panose="02010600030101010101" pitchFamily="2" charset="-122"/>
                          <a:ea typeface="宋体" panose="02010600030101010101" pitchFamily="2" charset="-122"/>
                        </a:rPr>
                        <a:t>…</a:t>
                      </a:r>
                      <a:endParaRPr lang="zh-CN" altLang="en-US" sz="1500" b="0" dirty="0">
                        <a:solidFill>
                          <a:srgbClr val="CC00FF"/>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0613">
                <a:tc>
                  <a:txBody>
                    <a:bodyPr/>
                    <a:lstStyle/>
                    <a:p>
                      <a:r>
                        <a:rPr lang="en-US" altLang="zh-CN" sz="1500" b="0" dirty="0">
                          <a:solidFill>
                            <a:srgbClr val="CC00FF"/>
                          </a:solidFill>
                          <a:latin typeface="宋体" panose="02010600030101010101" pitchFamily="2" charset="-122"/>
                          <a:ea typeface="宋体" panose="02010600030101010101" pitchFamily="2" charset="-122"/>
                        </a:rPr>
                        <a:t>E</a:t>
                      </a:r>
                      <a:endParaRPr lang="zh-CN" altLang="en-US" sz="1500" b="0" dirty="0">
                        <a:solidFill>
                          <a:srgbClr val="CC00FF"/>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500" b="0" dirty="0">
                          <a:solidFill>
                            <a:srgbClr val="CC00FF"/>
                          </a:solidFill>
                          <a:latin typeface="宋体" panose="02010600030101010101" pitchFamily="2" charset="-122"/>
                          <a:ea typeface="宋体" panose="02010600030101010101" pitchFamily="2"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500" b="0" dirty="0">
                          <a:solidFill>
                            <a:srgbClr val="CC00FF"/>
                          </a:solidFill>
                          <a:latin typeface="宋体" panose="02010600030101010101" pitchFamily="2" charset="-122"/>
                          <a:ea typeface="宋体" panose="02010600030101010101" pitchFamily="2" charset="-122"/>
                        </a:rPr>
                        <a:t>…</a:t>
                      </a:r>
                      <a:endParaRPr lang="zh-CN" altLang="en-US" sz="1500" b="0" dirty="0">
                        <a:solidFill>
                          <a:srgbClr val="CC00FF"/>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 name="TextBox 2"/>
          <p:cNvSpPr txBox="1"/>
          <p:nvPr/>
        </p:nvSpPr>
        <p:spPr>
          <a:xfrm>
            <a:off x="7297267" y="1635646"/>
            <a:ext cx="1008112" cy="369332"/>
          </a:xfrm>
          <a:prstGeom prst="rect">
            <a:avLst/>
          </a:prstGeom>
          <a:noFill/>
        </p:spPr>
        <p:txBody>
          <a:bodyPr wrap="square" rtlCol="0">
            <a:spAutoFit/>
          </a:bodyPr>
          <a:lstStyle/>
          <a:p>
            <a:r>
              <a:rPr lang="zh-CN" altLang="en-US" dirty="0">
                <a:solidFill>
                  <a:srgbClr val="0000CC"/>
                </a:solidFill>
              </a:rPr>
              <a:t>变量表</a:t>
            </a:r>
          </a:p>
        </p:txBody>
      </p:sp>
      <p:sp>
        <p:nvSpPr>
          <p:cNvPr id="9" name="TextBox 8"/>
          <p:cNvSpPr txBox="1"/>
          <p:nvPr/>
        </p:nvSpPr>
        <p:spPr>
          <a:xfrm>
            <a:off x="6156176" y="3344426"/>
            <a:ext cx="1008112" cy="369332"/>
          </a:xfrm>
          <a:prstGeom prst="rect">
            <a:avLst/>
          </a:prstGeom>
          <a:noFill/>
        </p:spPr>
        <p:txBody>
          <a:bodyPr wrap="square" rtlCol="0">
            <a:spAutoFit/>
          </a:bodyPr>
          <a:lstStyle/>
          <a:p>
            <a:r>
              <a:rPr lang="zh-CN" altLang="en-US" dirty="0">
                <a:solidFill>
                  <a:srgbClr val="FF0000"/>
                </a:solidFill>
              </a:rPr>
              <a:t>常量表</a:t>
            </a:r>
          </a:p>
        </p:txBody>
      </p:sp>
      <p:sp>
        <p:nvSpPr>
          <p:cNvPr id="10" name="TextBox 9"/>
          <p:cNvSpPr txBox="1"/>
          <p:nvPr/>
        </p:nvSpPr>
        <p:spPr>
          <a:xfrm>
            <a:off x="6156176" y="4443958"/>
            <a:ext cx="1008112" cy="369332"/>
          </a:xfrm>
          <a:prstGeom prst="rect">
            <a:avLst/>
          </a:prstGeom>
          <a:noFill/>
        </p:spPr>
        <p:txBody>
          <a:bodyPr wrap="square" rtlCol="0">
            <a:spAutoFit/>
          </a:bodyPr>
          <a:lstStyle/>
          <a:p>
            <a:r>
              <a:rPr lang="zh-CN" altLang="en-US" dirty="0">
                <a:solidFill>
                  <a:srgbClr val="CC00FF"/>
                </a:solidFill>
              </a:rPr>
              <a:t>函数表</a:t>
            </a:r>
          </a:p>
        </p:txBody>
      </p:sp>
      <p:sp>
        <p:nvSpPr>
          <p:cNvPr id="11" name="内容占位符 2"/>
          <p:cNvSpPr txBox="1">
            <a:spLocks/>
          </p:cNvSpPr>
          <p:nvPr/>
        </p:nvSpPr>
        <p:spPr>
          <a:xfrm>
            <a:off x="158824" y="1985735"/>
            <a:ext cx="8229600" cy="41081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lvl="1"/>
            <a:r>
              <a:rPr lang="zh-CN" altLang="zh-CN" sz="2000" dirty="0">
                <a:solidFill>
                  <a:srgbClr val="0000CC"/>
                </a:solidFill>
              </a:rPr>
              <a:t>可以将各种名字的属性统一起来，放到一张表中</a:t>
            </a:r>
            <a:endParaRPr lang="en-US" altLang="zh-CN" sz="2000" dirty="0">
              <a:solidFill>
                <a:srgbClr val="0000CC"/>
              </a:solidFill>
            </a:endParaRPr>
          </a:p>
        </p:txBody>
      </p:sp>
      <p:sp>
        <p:nvSpPr>
          <p:cNvPr id="12" name="内容占位符 2"/>
          <p:cNvSpPr txBox="1">
            <a:spLocks/>
          </p:cNvSpPr>
          <p:nvPr/>
        </p:nvSpPr>
        <p:spPr>
          <a:xfrm>
            <a:off x="158824" y="2417185"/>
            <a:ext cx="8229600" cy="379452"/>
          </a:xfrm>
          <a:prstGeom prst="rect">
            <a:avLst/>
          </a:prstGeom>
        </p:spPr>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lvl="1"/>
            <a:r>
              <a:rPr lang="zh-CN" altLang="zh-CN" sz="2000" dirty="0">
                <a:solidFill>
                  <a:srgbClr val="008000"/>
                </a:solidFill>
              </a:rPr>
              <a:t>可以单独为每类名字建立一个符号表</a:t>
            </a:r>
            <a:endParaRPr lang="en-US" altLang="zh-CN" sz="2000" dirty="0">
              <a:solidFill>
                <a:srgbClr val="008000"/>
              </a:solidFill>
            </a:endParaRPr>
          </a:p>
        </p:txBody>
      </p:sp>
    </p:spTree>
    <p:extLst>
      <p:ext uri="{BB962C8B-B14F-4D97-AF65-F5344CB8AC3E}">
        <p14:creationId xmlns:p14="http://schemas.microsoft.com/office/powerpoint/2010/main" val="255504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6" name="矩形 5"/>
          <p:cNvSpPr/>
          <p:nvPr/>
        </p:nvSpPr>
        <p:spPr>
          <a:xfrm>
            <a:off x="197347" y="555526"/>
            <a:ext cx="3571875" cy="101566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eaLnBrk="1" hangingPunct="1">
              <a:defRPr/>
            </a:pPr>
            <a:r>
              <a:rPr lang="zh-CN" altLang="zh-CN" sz="2000" b="1" dirty="0">
                <a:solidFill>
                  <a:srgbClr val="C00000"/>
                </a:solidFill>
              </a:rPr>
              <a:t>常量表</a:t>
            </a:r>
            <a:endParaRPr lang="en-US" altLang="zh-CN" sz="2000" b="1" dirty="0">
              <a:solidFill>
                <a:srgbClr val="C00000"/>
              </a:solidFill>
            </a:endParaRPr>
          </a:p>
          <a:p>
            <a:pPr eaLnBrk="1" hangingPunct="1">
              <a:defRPr/>
            </a:pPr>
            <a:r>
              <a:rPr lang="zh-CN" altLang="zh-CN" sz="2000" dirty="0"/>
              <a:t>入口、常量名、常量类型、值等几项</a:t>
            </a:r>
            <a:r>
              <a:rPr lang="zh-CN" altLang="en-US" sz="2000" dirty="0"/>
              <a:t>信息</a:t>
            </a:r>
          </a:p>
        </p:txBody>
      </p:sp>
      <p:sp>
        <p:nvSpPr>
          <p:cNvPr id="20485"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17414" name="Object 3"/>
          <p:cNvGraphicFramePr>
            <a:graphicFrameLocks noChangeAspect="1"/>
          </p:cNvGraphicFramePr>
          <p:nvPr>
            <p:extLst>
              <p:ext uri="{D42A27DB-BD31-4B8C-83A1-F6EECF244321}">
                <p14:modId xmlns:p14="http://schemas.microsoft.com/office/powerpoint/2010/main" val="2887985913"/>
              </p:ext>
            </p:extLst>
          </p:nvPr>
        </p:nvGraphicFramePr>
        <p:xfrm>
          <a:off x="92366" y="2250281"/>
          <a:ext cx="3908136" cy="1703948"/>
        </p:xfrm>
        <a:graphic>
          <a:graphicData uri="http://schemas.openxmlformats.org/presentationml/2006/ole">
            <mc:AlternateContent xmlns:mc="http://schemas.openxmlformats.org/markup-compatibility/2006">
              <mc:Choice xmlns:v="urn:schemas-microsoft-com:vml" Requires="v">
                <p:oleObj name="Visio" r:id="rId2" imgW="2161329" imgH="1255608" progId="Visio.Drawing.11">
                  <p:embed/>
                </p:oleObj>
              </mc:Choice>
              <mc:Fallback>
                <p:oleObj name="Visio" r:id="rId2" imgW="2161329" imgH="1255608" progId="Visio.Drawing.11">
                  <p:embed/>
                  <p:pic>
                    <p:nvPicPr>
                      <p:cNvPr id="0" name=""/>
                      <p:cNvPicPr>
                        <a:picLocks noChangeAspect="1" noChangeArrowheads="1"/>
                      </p:cNvPicPr>
                      <p:nvPr/>
                    </p:nvPicPr>
                    <p:blipFill>
                      <a:blip r:embed="rId3"/>
                      <a:srcRect/>
                      <a:stretch>
                        <a:fillRect/>
                      </a:stretch>
                    </p:blipFill>
                    <p:spPr bwMode="auto">
                      <a:xfrm>
                        <a:off x="92366" y="2250281"/>
                        <a:ext cx="3908136" cy="1703948"/>
                      </a:xfrm>
                      <a:prstGeom prst="rect">
                        <a:avLst/>
                      </a:prstGeom>
                      <a:noFill/>
                      <a:ln>
                        <a:noFill/>
                      </a:ln>
                    </p:spPr>
                  </p:pic>
                </p:oleObj>
              </mc:Fallback>
            </mc:AlternateContent>
          </a:graphicData>
        </a:graphic>
      </p:graphicFrame>
      <p:grpSp>
        <p:nvGrpSpPr>
          <p:cNvPr id="4" name="组合 3"/>
          <p:cNvGrpSpPr/>
          <p:nvPr/>
        </p:nvGrpSpPr>
        <p:grpSpPr>
          <a:xfrm>
            <a:off x="4175126" y="0"/>
            <a:ext cx="4968875" cy="4982766"/>
            <a:chOff x="4175126" y="0"/>
            <a:chExt cx="4968875" cy="4982766"/>
          </a:xfrm>
        </p:grpSpPr>
        <p:graphicFrame>
          <p:nvGraphicFramePr>
            <p:cNvPr id="20483" name="Object 1"/>
            <p:cNvGraphicFramePr>
              <a:graphicFrameLocks noChangeAspect="1"/>
            </p:cNvGraphicFramePr>
            <p:nvPr>
              <p:extLst>
                <p:ext uri="{D42A27DB-BD31-4B8C-83A1-F6EECF244321}">
                  <p14:modId xmlns:p14="http://schemas.microsoft.com/office/powerpoint/2010/main" val="3749420411"/>
                </p:ext>
              </p:extLst>
            </p:nvPr>
          </p:nvGraphicFramePr>
          <p:xfrm>
            <a:off x="4175126" y="0"/>
            <a:ext cx="4968875" cy="4982766"/>
          </p:xfrm>
          <a:graphic>
            <a:graphicData uri="http://schemas.openxmlformats.org/presentationml/2006/ole">
              <mc:AlternateContent xmlns:mc="http://schemas.openxmlformats.org/markup-compatibility/2006">
                <mc:Choice xmlns:v="urn:schemas-microsoft-com:vml" Requires="v">
                  <p:oleObj name="Visio" r:id="rId4" imgW="3251632" imgH="4343616" progId="Visio.Drawing.11">
                    <p:embed/>
                  </p:oleObj>
                </mc:Choice>
                <mc:Fallback>
                  <p:oleObj name="Visio" r:id="rId4" imgW="3251632" imgH="4343616"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5126" y="0"/>
                          <a:ext cx="4968875" cy="498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连接符 2"/>
            <p:cNvCxnSpPr/>
            <p:nvPr/>
          </p:nvCxnSpPr>
          <p:spPr>
            <a:xfrm>
              <a:off x="4211960" y="555526"/>
              <a:ext cx="21602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211960" y="699542"/>
              <a:ext cx="21602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8358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517" name="Object 5"/>
          <p:cNvGraphicFramePr>
            <a:graphicFrameLocks noChangeAspect="1"/>
          </p:cNvGraphicFramePr>
          <p:nvPr>
            <p:extLst>
              <p:ext uri="{D42A27DB-BD31-4B8C-83A1-F6EECF244321}">
                <p14:modId xmlns:p14="http://schemas.microsoft.com/office/powerpoint/2010/main" val="152522928"/>
              </p:ext>
            </p:extLst>
          </p:nvPr>
        </p:nvGraphicFramePr>
        <p:xfrm>
          <a:off x="-15129" y="2427734"/>
          <a:ext cx="4515121" cy="2188369"/>
        </p:xfrm>
        <a:graphic>
          <a:graphicData uri="http://schemas.openxmlformats.org/presentationml/2006/ole">
            <mc:AlternateContent xmlns:mc="http://schemas.openxmlformats.org/markup-compatibility/2006">
              <mc:Choice xmlns:v="urn:schemas-microsoft-com:vml" Requires="v">
                <p:oleObj name="Visio" r:id="rId2" imgW="3170352" imgH="1865678" progId="Visio.Drawing.11">
                  <p:embed/>
                </p:oleObj>
              </mc:Choice>
              <mc:Fallback>
                <p:oleObj name="Visio" r:id="rId2" imgW="3170352" imgH="1865678"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9" y="2427734"/>
                        <a:ext cx="4515121" cy="2188369"/>
                      </a:xfrm>
                      <a:prstGeom prst="rect">
                        <a:avLst/>
                      </a:prstGeom>
                      <a:noFill/>
                      <a:ln>
                        <a:noFill/>
                      </a:ln>
                    </p:spPr>
                  </p:pic>
                </p:oleObj>
              </mc:Fallback>
            </mc:AlternateContent>
          </a:graphicData>
        </a:graphic>
      </p:graphicFrame>
      <p:sp>
        <p:nvSpPr>
          <p:cNvPr id="4" name="矩形 3"/>
          <p:cNvSpPr/>
          <p:nvPr/>
        </p:nvSpPr>
        <p:spPr>
          <a:xfrm>
            <a:off x="285751" y="239168"/>
            <a:ext cx="3926209" cy="193899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eaLnBrk="1" hangingPunct="1">
              <a:defRPr/>
            </a:pPr>
            <a:r>
              <a:rPr lang="zh-CN" altLang="zh-CN" sz="2000" b="1" dirty="0">
                <a:solidFill>
                  <a:srgbClr val="C00000"/>
                </a:solidFill>
              </a:rPr>
              <a:t>变量表</a:t>
            </a:r>
            <a:endParaRPr lang="en-US" altLang="zh-CN" sz="2000" b="1" dirty="0">
              <a:solidFill>
                <a:srgbClr val="C00000"/>
              </a:solidFill>
            </a:endParaRPr>
          </a:p>
          <a:p>
            <a:pPr marL="342900" indent="-342900" eaLnBrk="1" hangingPunct="1">
              <a:buFont typeface="Arial" panose="020B0604020202020204" pitchFamily="34" charset="0"/>
              <a:buChar char="•"/>
              <a:defRPr/>
            </a:pPr>
            <a:r>
              <a:rPr lang="zh-CN" altLang="zh-CN" sz="2000" dirty="0"/>
              <a:t>保存源程序中</a:t>
            </a:r>
            <a:r>
              <a:rPr lang="zh-CN" altLang="en-US" sz="2000" dirty="0"/>
              <a:t>声明</a:t>
            </a:r>
            <a:r>
              <a:rPr lang="zh-CN" altLang="zh-CN" sz="2000" dirty="0"/>
              <a:t>的所有变量</a:t>
            </a:r>
            <a:endParaRPr lang="en-US" altLang="zh-CN" sz="2000" dirty="0"/>
          </a:p>
          <a:p>
            <a:pPr marL="342900" indent="-342900" eaLnBrk="1" hangingPunct="1">
              <a:buFont typeface="Arial" panose="020B0604020202020204" pitchFamily="34" charset="0"/>
              <a:buChar char="•"/>
              <a:defRPr/>
            </a:pPr>
            <a:r>
              <a:rPr lang="zh-CN" altLang="zh-CN" sz="2000" dirty="0"/>
              <a:t>如果语言</a:t>
            </a:r>
            <a:r>
              <a:rPr lang="zh-CN" altLang="zh-CN" sz="2000" b="1" dirty="0">
                <a:solidFill>
                  <a:srgbClr val="C00000"/>
                </a:solidFill>
              </a:rPr>
              <a:t>没有作用域的限制</a:t>
            </a:r>
            <a:r>
              <a:rPr lang="zh-CN" altLang="zh-CN" sz="2000" dirty="0"/>
              <a:t>，就可以</a:t>
            </a:r>
            <a:r>
              <a:rPr lang="zh-CN" altLang="en-US" sz="2000" dirty="0"/>
              <a:t>用一张变量表记录</a:t>
            </a:r>
            <a:r>
              <a:rPr lang="zh-CN" altLang="zh-CN" sz="2000" dirty="0"/>
              <a:t>所有变量</a:t>
            </a:r>
            <a:endParaRPr lang="en-US" altLang="zh-CN" sz="2000" dirty="0"/>
          </a:p>
          <a:p>
            <a:pPr marL="342900" indent="-342900" eaLnBrk="1" hangingPunct="1">
              <a:buFont typeface="Arial" panose="020B0604020202020204" pitchFamily="34" charset="0"/>
              <a:buChar char="•"/>
              <a:defRPr/>
            </a:pPr>
            <a:r>
              <a:rPr lang="zh-CN" altLang="zh-CN" sz="2000" b="1" dirty="0">
                <a:solidFill>
                  <a:srgbClr val="C00000"/>
                </a:solidFill>
              </a:rPr>
              <a:t>不允许</a:t>
            </a:r>
            <a:r>
              <a:rPr lang="zh-CN" altLang="en-US" sz="2000" b="1" dirty="0">
                <a:solidFill>
                  <a:srgbClr val="C00000"/>
                </a:solidFill>
              </a:rPr>
              <a:t>使用</a:t>
            </a:r>
            <a:r>
              <a:rPr lang="zh-CN" altLang="zh-CN" sz="2000" b="1" dirty="0">
                <a:solidFill>
                  <a:srgbClr val="C00000"/>
                </a:solidFill>
              </a:rPr>
              <a:t>同名变量</a:t>
            </a:r>
            <a:endParaRPr lang="en-US" altLang="zh-CN" sz="2000" b="1" dirty="0">
              <a:solidFill>
                <a:srgbClr val="C00000"/>
              </a:solidFill>
            </a:endParaRPr>
          </a:p>
        </p:txBody>
      </p:sp>
      <p:sp>
        <p:nvSpPr>
          <p:cNvPr id="21508"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21509"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21510" name="Rectangle 6"/>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2" name="对象 1"/>
          <p:cNvGraphicFramePr>
            <a:graphicFrameLocks noChangeAspect="1"/>
          </p:cNvGraphicFramePr>
          <p:nvPr>
            <p:extLst>
              <p:ext uri="{D42A27DB-BD31-4B8C-83A1-F6EECF244321}">
                <p14:modId xmlns:p14="http://schemas.microsoft.com/office/powerpoint/2010/main" val="1950107117"/>
              </p:ext>
            </p:extLst>
          </p:nvPr>
        </p:nvGraphicFramePr>
        <p:xfrm>
          <a:off x="4427984" y="160735"/>
          <a:ext cx="4716017" cy="4982765"/>
        </p:xfrm>
        <a:graphic>
          <a:graphicData uri="http://schemas.openxmlformats.org/presentationml/2006/ole">
            <mc:AlternateContent xmlns:mc="http://schemas.openxmlformats.org/markup-compatibility/2006">
              <mc:Choice xmlns:v="urn:schemas-microsoft-com:vml" Requires="v">
                <p:oleObj name="Visio" r:id="rId4" imgW="3251704" imgH="4343544" progId="Visio.Drawing.11">
                  <p:embed/>
                </p:oleObj>
              </mc:Choice>
              <mc:Fallback>
                <p:oleObj name="Visio" r:id="rId4" imgW="3251704" imgH="4343544" progId="Visio.Drawing.11">
                  <p:embed/>
                  <p:pic>
                    <p:nvPicPr>
                      <p:cNvPr id="0" name=""/>
                      <p:cNvPicPr>
                        <a:picLocks noChangeAspect="1" noChangeArrowheads="1"/>
                      </p:cNvPicPr>
                      <p:nvPr/>
                    </p:nvPicPr>
                    <p:blipFill>
                      <a:blip r:embed="rId5"/>
                      <a:srcRect/>
                      <a:stretch>
                        <a:fillRect/>
                      </a:stretch>
                    </p:blipFill>
                    <p:spPr bwMode="auto">
                      <a:xfrm>
                        <a:off x="4427984" y="160735"/>
                        <a:ext cx="4716017" cy="498276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1514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5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22532"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22534" name="Rectangle 6"/>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3" name="对象 2"/>
          <p:cNvGraphicFramePr>
            <a:graphicFrameLocks noChangeAspect="1"/>
          </p:cNvGraphicFramePr>
          <p:nvPr>
            <p:extLst>
              <p:ext uri="{D42A27DB-BD31-4B8C-83A1-F6EECF244321}">
                <p14:modId xmlns:p14="http://schemas.microsoft.com/office/powerpoint/2010/main" val="811066080"/>
              </p:ext>
            </p:extLst>
          </p:nvPr>
        </p:nvGraphicFramePr>
        <p:xfrm>
          <a:off x="5259310" y="351"/>
          <a:ext cx="3888878" cy="4983162"/>
        </p:xfrm>
        <a:graphic>
          <a:graphicData uri="http://schemas.openxmlformats.org/presentationml/2006/ole">
            <mc:AlternateContent xmlns:mc="http://schemas.openxmlformats.org/markup-compatibility/2006">
              <mc:Choice xmlns:v="urn:schemas-microsoft-com:vml" Requires="v">
                <p:oleObj name="Visio" r:id="rId2" imgW="3251704" imgH="4343544" progId="Visio.Drawing.11">
                  <p:embed/>
                </p:oleObj>
              </mc:Choice>
              <mc:Fallback>
                <p:oleObj name="Visio" r:id="rId2" imgW="3251704" imgH="4343544" progId="Visio.Drawing.11">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310" y="351"/>
                        <a:ext cx="3888878" cy="4983162"/>
                      </a:xfrm>
                      <a:prstGeom prst="rect">
                        <a:avLst/>
                      </a:prstGeom>
                      <a:noFill/>
                      <a:ln>
                        <a:noFill/>
                      </a:ln>
                    </p:spPr>
                  </p:pic>
                </p:oleObj>
              </mc:Fallback>
            </mc:AlternateContent>
          </a:graphicData>
        </a:graphic>
      </p:graphicFrame>
      <p:sp>
        <p:nvSpPr>
          <p:cNvPr id="9" name="矩形 8"/>
          <p:cNvSpPr/>
          <p:nvPr/>
        </p:nvSpPr>
        <p:spPr>
          <a:xfrm>
            <a:off x="170667" y="411510"/>
            <a:ext cx="4738212" cy="347787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marL="274638" indent="-274638">
              <a:buFont typeface="Arial" panose="020B0604020202020204" pitchFamily="34" charset="0"/>
              <a:buChar char="•"/>
              <a:defRPr/>
            </a:pPr>
            <a:r>
              <a:rPr lang="zh-CN" altLang="zh-CN" sz="2000" dirty="0">
                <a:latin typeface="宋体" panose="02010600030101010101" pitchFamily="2" charset="-122"/>
                <a:ea typeface="宋体" panose="02010600030101010101" pitchFamily="2" charset="-122"/>
              </a:rPr>
              <a:t>大多数高级语言是</a:t>
            </a:r>
            <a:r>
              <a:rPr lang="zh-CN" altLang="zh-CN" sz="2000" dirty="0">
                <a:solidFill>
                  <a:srgbClr val="FF0000"/>
                </a:solidFill>
                <a:latin typeface="宋体" panose="02010600030101010101" pitchFamily="2" charset="-122"/>
                <a:ea typeface="宋体" panose="02010600030101010101" pitchFamily="2" charset="-122"/>
              </a:rPr>
              <a:t>有作用域</a:t>
            </a:r>
            <a:r>
              <a:rPr lang="zh-CN" altLang="zh-CN" sz="2000" dirty="0">
                <a:latin typeface="宋体" panose="02010600030101010101" pitchFamily="2" charset="-122"/>
                <a:ea typeface="宋体" panose="02010600030101010101" pitchFamily="2" charset="-122"/>
              </a:rPr>
              <a:t>限制的，每个变量只在一定范围内可以使用</a:t>
            </a:r>
            <a:endParaRPr lang="en-US" altLang="zh-CN" sz="2000" dirty="0">
              <a:latin typeface="宋体" panose="02010600030101010101" pitchFamily="2" charset="-122"/>
              <a:ea typeface="宋体" panose="02010600030101010101" pitchFamily="2" charset="-122"/>
            </a:endParaRPr>
          </a:p>
          <a:p>
            <a:pPr marL="274638" indent="-274638">
              <a:buFont typeface="Arial" panose="020B0604020202020204" pitchFamily="34" charset="0"/>
              <a:buChar char="•"/>
              <a:defRPr/>
            </a:pPr>
            <a:r>
              <a:rPr lang="zh-CN" altLang="en-US" sz="2000" dirty="0">
                <a:latin typeface="宋体" panose="02010600030101010101" pitchFamily="2" charset="-122"/>
                <a:ea typeface="宋体" panose="02010600030101010101" pitchFamily="2" charset="-122"/>
              </a:rPr>
              <a:t>作用域的特征：</a:t>
            </a:r>
            <a:endParaRPr lang="en-US" altLang="zh-CN" sz="2000" dirty="0">
              <a:latin typeface="宋体" panose="02010600030101010101" pitchFamily="2" charset="-122"/>
              <a:ea typeface="宋体" panose="02010600030101010101" pitchFamily="2" charset="-122"/>
            </a:endParaRPr>
          </a:p>
          <a:p>
            <a:pPr marL="625475" lvl="1" indent="-260350">
              <a:buFont typeface="Arial" panose="020B0604020202020204" pitchFamily="34" charset="0"/>
              <a:buChar char="•"/>
              <a:defRPr/>
            </a:pPr>
            <a:r>
              <a:rPr lang="zh-CN" altLang="zh-CN" sz="2000" dirty="0">
                <a:latin typeface="宋体" panose="02010600030101010101" pitchFamily="2" charset="-122"/>
                <a:ea typeface="宋体" panose="02010600030101010101" pitchFamily="2" charset="-122"/>
              </a:rPr>
              <a:t>使用花括弧对“{}”表示进入一个新的作用域</a:t>
            </a:r>
            <a:endParaRPr lang="en-US" altLang="zh-CN" sz="2000" dirty="0">
              <a:latin typeface="宋体" panose="02010600030101010101" pitchFamily="2" charset="-122"/>
              <a:ea typeface="宋体" panose="02010600030101010101" pitchFamily="2" charset="-122"/>
            </a:endParaRPr>
          </a:p>
          <a:p>
            <a:pPr marL="625475" lvl="1" indent="-260350">
              <a:buFont typeface="Arial" panose="020B0604020202020204" pitchFamily="34" charset="0"/>
              <a:buChar char="•"/>
              <a:defRPr/>
            </a:pPr>
            <a:r>
              <a:rPr lang="zh-CN" altLang="zh-CN" sz="2000" dirty="0">
                <a:latin typeface="宋体" panose="02010600030101010101" pitchFamily="2" charset="-122"/>
                <a:ea typeface="宋体" panose="02010600030101010101" pitchFamily="2" charset="-122"/>
              </a:rPr>
              <a:t>作用域允许嵌套；作用域内声明的变量在作用域外不可见</a:t>
            </a:r>
            <a:endParaRPr lang="en-US" altLang="zh-CN" sz="2000" dirty="0">
              <a:latin typeface="宋体" panose="02010600030101010101" pitchFamily="2" charset="-122"/>
              <a:ea typeface="宋体" panose="02010600030101010101" pitchFamily="2" charset="-122"/>
            </a:endParaRPr>
          </a:p>
          <a:p>
            <a:pPr marL="625475" lvl="1" indent="-260350">
              <a:buFont typeface="Arial" panose="020B0604020202020204" pitchFamily="34" charset="0"/>
              <a:buChar char="•"/>
              <a:defRPr/>
            </a:pPr>
            <a:r>
              <a:rPr lang="zh-CN" altLang="zh-CN" sz="2000" dirty="0">
                <a:latin typeface="宋体" panose="02010600030101010101" pitchFamily="2" charset="-122"/>
                <a:ea typeface="宋体" panose="02010600030101010101" pitchFamily="2" charset="-122"/>
              </a:rPr>
              <a:t>对于嵌套作用域，外</a:t>
            </a:r>
            <a:r>
              <a:rPr lang="zh-CN" altLang="en-US" sz="2000" dirty="0">
                <a:latin typeface="宋体" panose="02010600030101010101" pitchFamily="2" charset="-122"/>
                <a:ea typeface="宋体" panose="02010600030101010101" pitchFamily="2" charset="-122"/>
              </a:rPr>
              <a:t>层</a:t>
            </a:r>
            <a:r>
              <a:rPr lang="zh-CN" altLang="zh-CN" sz="2000" dirty="0">
                <a:latin typeface="宋体" panose="02010600030101010101" pitchFamily="2" charset="-122"/>
                <a:ea typeface="宋体" panose="02010600030101010101" pitchFamily="2" charset="-122"/>
              </a:rPr>
              <a:t>作用域声明的变量在内</a:t>
            </a:r>
            <a:r>
              <a:rPr lang="zh-CN" altLang="en-US" sz="2000" dirty="0">
                <a:latin typeface="宋体" panose="02010600030101010101" pitchFamily="2" charset="-122"/>
                <a:ea typeface="宋体" panose="02010600030101010101" pitchFamily="2" charset="-122"/>
              </a:rPr>
              <a:t>层</a:t>
            </a:r>
            <a:r>
              <a:rPr lang="zh-CN" altLang="zh-CN" sz="2000" dirty="0">
                <a:latin typeface="宋体" panose="02010600030101010101" pitchFamily="2" charset="-122"/>
                <a:ea typeface="宋体" panose="02010600030101010101" pitchFamily="2" charset="-122"/>
              </a:rPr>
              <a:t>作用域</a:t>
            </a:r>
            <a:r>
              <a:rPr lang="zh-CN" altLang="en-US" sz="2000" dirty="0">
                <a:latin typeface="宋体" panose="02010600030101010101" pitchFamily="2" charset="-122"/>
                <a:ea typeface="宋体" panose="02010600030101010101" pitchFamily="2" charset="-122"/>
              </a:rPr>
              <a:t>中</a:t>
            </a:r>
            <a:r>
              <a:rPr lang="zh-CN" altLang="zh-CN" sz="2000" dirty="0">
                <a:latin typeface="宋体" panose="02010600030101010101" pitchFamily="2" charset="-122"/>
                <a:ea typeface="宋体" panose="02010600030101010101" pitchFamily="2" charset="-122"/>
              </a:rPr>
              <a:t>可见</a:t>
            </a:r>
            <a:endParaRPr lang="en-US" altLang="zh-CN" sz="2000" dirty="0">
              <a:latin typeface="宋体" panose="02010600030101010101" pitchFamily="2" charset="-122"/>
              <a:ea typeface="宋体" panose="02010600030101010101" pitchFamily="2" charset="-122"/>
            </a:endParaRPr>
          </a:p>
          <a:p>
            <a:pPr marL="625475" lvl="1" indent="-260350">
              <a:buFont typeface="Arial" panose="020B0604020202020204" pitchFamily="34" charset="0"/>
              <a:buChar char="•"/>
              <a:defRPr/>
            </a:pPr>
            <a:r>
              <a:rPr lang="zh-CN" altLang="zh-CN" sz="2000" dirty="0">
                <a:latin typeface="宋体" panose="02010600030101010101" pitchFamily="2" charset="-122"/>
                <a:ea typeface="宋体" panose="02010600030101010101" pitchFamily="2" charset="-122"/>
              </a:rPr>
              <a:t>内</a:t>
            </a:r>
            <a:r>
              <a:rPr lang="zh-CN" altLang="en-US" sz="2000" dirty="0">
                <a:latin typeface="宋体" panose="02010600030101010101" pitchFamily="2" charset="-122"/>
                <a:ea typeface="宋体" panose="02010600030101010101" pitchFamily="2" charset="-122"/>
              </a:rPr>
              <a:t>层</a:t>
            </a:r>
            <a:r>
              <a:rPr lang="zh-CN" altLang="zh-CN" sz="2000" dirty="0">
                <a:latin typeface="宋体" panose="02010600030101010101" pitchFamily="2" charset="-122"/>
                <a:ea typeface="宋体" panose="02010600030101010101" pitchFamily="2" charset="-122"/>
              </a:rPr>
              <a:t>作用域声明的变量覆盖外</a:t>
            </a:r>
            <a:r>
              <a:rPr lang="zh-CN" altLang="en-US" sz="2000" dirty="0">
                <a:latin typeface="宋体" panose="02010600030101010101" pitchFamily="2" charset="-122"/>
                <a:ea typeface="宋体" panose="02010600030101010101" pitchFamily="2" charset="-122"/>
              </a:rPr>
              <a:t>层</a:t>
            </a:r>
            <a:r>
              <a:rPr lang="zh-CN" altLang="zh-CN" sz="2000" dirty="0">
                <a:latin typeface="宋体" panose="02010600030101010101" pitchFamily="2" charset="-122"/>
                <a:ea typeface="宋体" panose="02010600030101010101" pitchFamily="2" charset="-122"/>
              </a:rPr>
              <a:t>作用域声明的同名变量</a:t>
            </a:r>
            <a:endParaRPr lang="en-US" altLang="zh-CN"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62893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604145217"/>
              </p:ext>
            </p:extLst>
          </p:nvPr>
        </p:nvGraphicFramePr>
        <p:xfrm>
          <a:off x="4572000" y="195486"/>
          <a:ext cx="4387701" cy="4752528"/>
        </p:xfrm>
        <a:graphic>
          <a:graphicData uri="http://schemas.openxmlformats.org/presentationml/2006/ole">
            <mc:AlternateContent xmlns:mc="http://schemas.openxmlformats.org/markup-compatibility/2006">
              <mc:Choice xmlns:v="urn:schemas-microsoft-com:vml" Requires="v">
                <p:oleObj name="Visio" r:id="rId2" imgW="2800923" imgH="2764800" progId="Visio.Drawing.11">
                  <p:embed/>
                </p:oleObj>
              </mc:Choice>
              <mc:Fallback>
                <p:oleObj name="Visio" r:id="rId2" imgW="2800923" imgH="2764800" progId="Visio.Drawing.11">
                  <p:embed/>
                  <p:pic>
                    <p:nvPicPr>
                      <p:cNvPr id="0" name="Object 1"/>
                      <p:cNvPicPr>
                        <a:picLocks noChangeAspect="1" noChangeArrowheads="1"/>
                      </p:cNvPicPr>
                      <p:nvPr/>
                    </p:nvPicPr>
                    <p:blipFill>
                      <a:blip r:embed="rId3"/>
                      <a:srcRect/>
                      <a:stretch>
                        <a:fillRect/>
                      </a:stretch>
                    </p:blipFill>
                    <p:spPr bwMode="auto">
                      <a:xfrm>
                        <a:off x="4572000" y="195486"/>
                        <a:ext cx="4387701" cy="4752528"/>
                      </a:xfrm>
                      <a:prstGeom prst="rect">
                        <a:avLst/>
                      </a:prstGeom>
                      <a:noFill/>
                    </p:spPr>
                  </p:pic>
                </p:oleObj>
              </mc:Fallback>
            </mc:AlternateContent>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940145819"/>
              </p:ext>
            </p:extLst>
          </p:nvPr>
        </p:nvGraphicFramePr>
        <p:xfrm>
          <a:off x="395536" y="1275606"/>
          <a:ext cx="3636404" cy="1645920"/>
        </p:xfrm>
        <a:graphic>
          <a:graphicData uri="http://schemas.openxmlformats.org/drawingml/2006/table">
            <a:tbl>
              <a:tblPr firstRow="1" firstCol="1" bandRow="1">
                <a:tableStyleId>{5C22544A-7EE6-4342-B048-85BDC9FD1C3A}</a:tableStyleId>
              </a:tblPr>
              <a:tblGrid>
                <a:gridCol w="1382601">
                  <a:extLst>
                    <a:ext uri="{9D8B030D-6E8A-4147-A177-3AD203B41FA5}">
                      <a16:colId xmlns:a16="http://schemas.microsoft.com/office/drawing/2014/main" val="20000"/>
                    </a:ext>
                  </a:extLst>
                </a:gridCol>
                <a:gridCol w="2253803">
                  <a:extLst>
                    <a:ext uri="{9D8B030D-6E8A-4147-A177-3AD203B41FA5}">
                      <a16:colId xmlns:a16="http://schemas.microsoft.com/office/drawing/2014/main" val="20001"/>
                    </a:ext>
                  </a:extLst>
                </a:gridCol>
              </a:tblGrid>
              <a:tr h="0">
                <a:tc>
                  <a:txBody>
                    <a:bodyPr/>
                    <a:lstStyle/>
                    <a:p>
                      <a:pPr algn="just">
                        <a:spcAft>
                          <a:spcPts val="0"/>
                        </a:spcAft>
                      </a:pPr>
                      <a:r>
                        <a:rPr lang="zh-CN" sz="1800" b="0" kern="0" dirty="0">
                          <a:solidFill>
                            <a:schemeClr val="tx1"/>
                          </a:solidFill>
                          <a:effectLst/>
                          <a:latin typeface="宋体" panose="02010600030101010101" pitchFamily="2" charset="-122"/>
                          <a:ea typeface="宋体" panose="02010600030101010101" pitchFamily="2" charset="-122"/>
                        </a:rPr>
                        <a:t>声明</a:t>
                      </a:r>
                      <a:endParaRPr lang="zh-CN" sz="1800" b="0" kern="100" dirty="0">
                        <a:solidFill>
                          <a:schemeClr val="tx1"/>
                        </a:solidFill>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spcAft>
                          <a:spcPts val="0"/>
                        </a:spcAft>
                      </a:pPr>
                      <a:r>
                        <a:rPr lang="zh-CN" sz="1800" b="0" kern="0">
                          <a:solidFill>
                            <a:schemeClr val="tx1"/>
                          </a:solidFill>
                          <a:effectLst/>
                          <a:latin typeface="宋体" panose="02010600030101010101" pitchFamily="2" charset="-122"/>
                          <a:ea typeface="宋体" panose="02010600030101010101" pitchFamily="2" charset="-122"/>
                        </a:rPr>
                        <a:t>作用域</a:t>
                      </a:r>
                      <a:endParaRPr lang="zh-CN" sz="1800" b="0" kern="100">
                        <a:solidFill>
                          <a:schemeClr val="tx1"/>
                        </a:solidFill>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0">
                <a:tc>
                  <a:txBody>
                    <a:bodyPr/>
                    <a:lstStyle/>
                    <a:p>
                      <a:pPr marL="0" indent="0" algn="l">
                        <a:spcAft>
                          <a:spcPts val="0"/>
                        </a:spcAft>
                      </a:pPr>
                      <a:r>
                        <a:rPr lang="en-US" sz="1800" b="0" kern="0" dirty="0" err="1">
                          <a:solidFill>
                            <a:schemeClr val="tx1"/>
                          </a:solidFill>
                          <a:effectLst/>
                          <a:latin typeface="宋体" panose="02010600030101010101" pitchFamily="2" charset="-122"/>
                          <a:ea typeface="宋体" panose="02010600030101010101" pitchFamily="2" charset="-122"/>
                        </a:rPr>
                        <a:t>int</a:t>
                      </a:r>
                      <a:r>
                        <a:rPr lang="en-US" sz="1800" b="0" kern="0" dirty="0">
                          <a:solidFill>
                            <a:schemeClr val="tx1"/>
                          </a:solidFill>
                          <a:effectLst/>
                          <a:latin typeface="宋体" panose="02010600030101010101" pitchFamily="2" charset="-122"/>
                          <a:ea typeface="宋体" panose="02010600030101010101" pitchFamily="2" charset="-122"/>
                        </a:rPr>
                        <a:t> a=1;</a:t>
                      </a:r>
                      <a:endParaRPr lang="zh-CN" sz="1800" b="0" kern="100" dirty="0">
                        <a:solidFill>
                          <a:schemeClr val="tx1"/>
                        </a:solidFill>
                        <a:effectLst/>
                        <a:latin typeface="宋体" panose="02010600030101010101" pitchFamily="2" charset="-122"/>
                        <a:ea typeface="宋体" panose="02010600030101010101" pitchFamily="2" charset="-122"/>
                      </a:endParaRPr>
                    </a:p>
                    <a:p>
                      <a:pPr marL="0" indent="0" algn="just">
                        <a:spcAft>
                          <a:spcPts val="0"/>
                        </a:spcAft>
                      </a:pPr>
                      <a:r>
                        <a:rPr lang="en-US" sz="1800" b="0" kern="0" dirty="0" err="1">
                          <a:solidFill>
                            <a:schemeClr val="tx1"/>
                          </a:solidFill>
                          <a:effectLst/>
                          <a:latin typeface="宋体" panose="02010600030101010101" pitchFamily="2" charset="-122"/>
                          <a:ea typeface="宋体" panose="02010600030101010101" pitchFamily="2" charset="-122"/>
                        </a:rPr>
                        <a:t>int</a:t>
                      </a:r>
                      <a:r>
                        <a:rPr lang="en-US" sz="1800" b="0" kern="0" dirty="0">
                          <a:solidFill>
                            <a:schemeClr val="tx1"/>
                          </a:solidFill>
                          <a:effectLst/>
                          <a:latin typeface="宋体" panose="02010600030101010101" pitchFamily="2" charset="-122"/>
                          <a:ea typeface="宋体" panose="02010600030101010101" pitchFamily="2" charset="-122"/>
                        </a:rPr>
                        <a:t> b=1;</a:t>
                      </a:r>
                      <a:endParaRPr lang="zh-CN" sz="1800" b="0" kern="100" dirty="0">
                        <a:solidFill>
                          <a:schemeClr val="tx1"/>
                        </a:solidFill>
                        <a:effectLst/>
                        <a:latin typeface="宋体" panose="02010600030101010101" pitchFamily="2" charset="-122"/>
                        <a:ea typeface="宋体" panose="02010600030101010101" pitchFamily="2" charset="-122"/>
                      </a:endParaRPr>
                    </a:p>
                    <a:p>
                      <a:pPr marL="0" indent="0" algn="just">
                        <a:spcAft>
                          <a:spcPts val="0"/>
                        </a:spcAft>
                      </a:pPr>
                      <a:r>
                        <a:rPr lang="en-US" sz="1800" b="0" kern="0" dirty="0" err="1">
                          <a:solidFill>
                            <a:schemeClr val="tx1"/>
                          </a:solidFill>
                          <a:effectLst/>
                          <a:latin typeface="宋体" panose="02010600030101010101" pitchFamily="2" charset="-122"/>
                          <a:ea typeface="宋体" panose="02010600030101010101" pitchFamily="2" charset="-122"/>
                        </a:rPr>
                        <a:t>int</a:t>
                      </a:r>
                      <a:r>
                        <a:rPr lang="en-US" sz="1800" b="0" kern="0" dirty="0">
                          <a:solidFill>
                            <a:schemeClr val="tx1"/>
                          </a:solidFill>
                          <a:effectLst/>
                          <a:latin typeface="宋体" panose="02010600030101010101" pitchFamily="2" charset="-122"/>
                          <a:ea typeface="宋体" panose="02010600030101010101" pitchFamily="2" charset="-122"/>
                        </a:rPr>
                        <a:t> b=2;</a:t>
                      </a:r>
                      <a:endParaRPr lang="zh-CN" sz="1800" b="0" kern="100" dirty="0">
                        <a:solidFill>
                          <a:schemeClr val="tx1"/>
                        </a:solidFill>
                        <a:effectLst/>
                        <a:latin typeface="宋体" panose="02010600030101010101" pitchFamily="2" charset="-122"/>
                        <a:ea typeface="宋体" panose="02010600030101010101" pitchFamily="2" charset="-122"/>
                      </a:endParaRPr>
                    </a:p>
                    <a:p>
                      <a:pPr marL="0" indent="0" algn="just">
                        <a:spcAft>
                          <a:spcPts val="0"/>
                        </a:spcAft>
                      </a:pPr>
                      <a:r>
                        <a:rPr lang="zh-CN" sz="1800" b="0" kern="0" dirty="0">
                          <a:solidFill>
                            <a:schemeClr val="tx1"/>
                          </a:solidFill>
                          <a:effectLst/>
                          <a:latin typeface="宋体" panose="02010600030101010101" pitchFamily="2" charset="-122"/>
                          <a:ea typeface="宋体" panose="02010600030101010101" pitchFamily="2" charset="-122"/>
                        </a:rPr>
                        <a:t>int a=3;</a:t>
                      </a:r>
                      <a:endParaRPr lang="zh-CN" sz="1800" b="0" kern="100" dirty="0">
                        <a:solidFill>
                          <a:schemeClr val="tx1"/>
                        </a:solidFill>
                        <a:effectLst/>
                        <a:latin typeface="宋体" panose="02010600030101010101" pitchFamily="2" charset="-122"/>
                        <a:ea typeface="宋体" panose="02010600030101010101" pitchFamily="2" charset="-122"/>
                      </a:endParaRPr>
                    </a:p>
                    <a:p>
                      <a:pPr marL="0" indent="0" algn="just">
                        <a:spcAft>
                          <a:spcPts val="0"/>
                        </a:spcAft>
                      </a:pPr>
                      <a:r>
                        <a:rPr lang="zh-CN" sz="1800" b="0" kern="0" dirty="0">
                          <a:solidFill>
                            <a:schemeClr val="tx1"/>
                          </a:solidFill>
                          <a:effectLst/>
                          <a:latin typeface="宋体" panose="02010600030101010101" pitchFamily="2" charset="-122"/>
                          <a:ea typeface="宋体" panose="02010600030101010101" pitchFamily="2" charset="-122"/>
                        </a:rPr>
                        <a:t>int b=4;</a:t>
                      </a:r>
                      <a:endParaRPr lang="zh-CN" sz="1800" b="0" kern="100" dirty="0">
                        <a:solidFill>
                          <a:schemeClr val="tx1"/>
                        </a:solidFill>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spcAft>
                          <a:spcPts val="0"/>
                        </a:spcAft>
                      </a:pPr>
                      <a:endParaRPr lang="zh-CN" sz="1800" b="0" kern="100" dirty="0">
                        <a:solidFill>
                          <a:schemeClr val="tx1"/>
                        </a:solidFill>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
        <p:nvSpPr>
          <p:cNvPr id="6" name="矩形 5"/>
          <p:cNvSpPr/>
          <p:nvPr/>
        </p:nvSpPr>
        <p:spPr>
          <a:xfrm>
            <a:off x="1151620" y="3557581"/>
            <a:ext cx="2556284" cy="400110"/>
          </a:xfrm>
          <a:prstGeom prst="rect">
            <a:avLst/>
          </a:prstGeom>
          <a:solidFill>
            <a:schemeClr val="bg1"/>
          </a:solidFill>
        </p:spPr>
        <p:txBody>
          <a:bodyPr wrap="square">
            <a:spAutoFit/>
          </a:bodyPr>
          <a:lstStyle/>
          <a:p>
            <a:r>
              <a:rPr lang="zh-CN" altLang="zh-CN" sz="2000" dirty="0"/>
              <a:t>3,2</a:t>
            </a:r>
            <a:r>
              <a:rPr lang="en-US" altLang="zh-CN" sz="2000" dirty="0"/>
              <a:t>  </a:t>
            </a:r>
            <a:r>
              <a:rPr lang="zh-CN" altLang="zh-CN" sz="2000" dirty="0"/>
              <a:t>1,4</a:t>
            </a:r>
            <a:r>
              <a:rPr lang="en-US" altLang="zh-CN" sz="2000" dirty="0"/>
              <a:t>  </a:t>
            </a:r>
            <a:r>
              <a:rPr lang="zh-CN" altLang="zh-CN" sz="2000" dirty="0"/>
              <a:t>1,2</a:t>
            </a:r>
            <a:r>
              <a:rPr lang="en-US" altLang="zh-CN" sz="2000" dirty="0"/>
              <a:t>  </a:t>
            </a:r>
            <a:r>
              <a:rPr lang="zh-CN" altLang="zh-CN" sz="2000" dirty="0"/>
              <a:t>1,1</a:t>
            </a:r>
            <a:endParaRPr lang="zh-CN" altLang="en-US" sz="2000" dirty="0"/>
          </a:p>
        </p:txBody>
      </p:sp>
      <p:sp>
        <p:nvSpPr>
          <p:cNvPr id="7" name="TextBox 6"/>
          <p:cNvSpPr txBox="1"/>
          <p:nvPr/>
        </p:nvSpPr>
        <p:spPr>
          <a:xfrm>
            <a:off x="395536" y="3147520"/>
            <a:ext cx="1512168" cy="400110"/>
          </a:xfrm>
          <a:prstGeom prst="rect">
            <a:avLst/>
          </a:prstGeom>
          <a:solidFill>
            <a:schemeClr val="bg1"/>
          </a:solidFill>
        </p:spPr>
        <p:txBody>
          <a:bodyPr wrap="square" rtlCol="0">
            <a:spAutoFit/>
          </a:bodyPr>
          <a:lstStyle/>
          <a:p>
            <a:r>
              <a:rPr lang="zh-CN" altLang="en-US" sz="2000" dirty="0"/>
              <a:t>程序输出：</a:t>
            </a:r>
          </a:p>
        </p:txBody>
      </p:sp>
      <p:sp>
        <p:nvSpPr>
          <p:cNvPr id="8" name="矩形 7"/>
          <p:cNvSpPr/>
          <p:nvPr/>
        </p:nvSpPr>
        <p:spPr>
          <a:xfrm>
            <a:off x="179512" y="267494"/>
            <a:ext cx="4248472" cy="707886"/>
          </a:xfrm>
          <a:prstGeom prst="rect">
            <a:avLst/>
          </a:prstGeom>
        </p:spPr>
        <p:txBody>
          <a:bodyPr wrap="square">
            <a:spAutoFit/>
          </a:bodyPr>
          <a:lstStyle/>
          <a:p>
            <a:r>
              <a:rPr lang="zh-CN" altLang="zh-CN" sz="2000" dirty="0">
                <a:latin typeface="宋体" panose="02010600030101010101" pitchFamily="2" charset="-122"/>
                <a:ea typeface="宋体" panose="02010600030101010101" pitchFamily="2" charset="-122"/>
              </a:rPr>
              <a:t>例4.1 说明图4.5中的C语言程序的运行结果及其每个声明的作用域范围。</a:t>
            </a:r>
          </a:p>
        </p:txBody>
      </p:sp>
      <p:sp>
        <p:nvSpPr>
          <p:cNvPr id="4" name="矩形 3"/>
          <p:cNvSpPr/>
          <p:nvPr/>
        </p:nvSpPr>
        <p:spPr>
          <a:xfrm>
            <a:off x="1813309" y="1491630"/>
            <a:ext cx="2448272" cy="369332"/>
          </a:xfrm>
          <a:prstGeom prst="rect">
            <a:avLst/>
          </a:prstGeom>
        </p:spPr>
        <p:txBody>
          <a:bodyPr wrap="square">
            <a:spAutoFit/>
          </a:bodyPr>
          <a:lstStyle/>
          <a:p>
            <a:pPr algn="just">
              <a:spcAft>
                <a:spcPts val="0"/>
              </a:spcAft>
            </a:pPr>
            <a:r>
              <a:rPr lang="en-US" altLang="zh-CN" kern="0" dirty="0">
                <a:latin typeface="宋体" panose="02010600030101010101" pitchFamily="2" charset="-122"/>
                <a:ea typeface="宋体" panose="02010600030101010101" pitchFamily="2" charset="-122"/>
              </a:rPr>
              <a:t>B1,B2,B4,</a:t>
            </a:r>
            <a:r>
              <a:rPr lang="zh-CN" altLang="zh-CN" kern="0" dirty="0">
                <a:latin typeface="宋体" panose="02010600030101010101" pitchFamily="2" charset="-122"/>
                <a:ea typeface="宋体" panose="02010600030101010101" pitchFamily="2" charset="-122"/>
              </a:rPr>
              <a:t>不包含</a:t>
            </a:r>
            <a:r>
              <a:rPr lang="en-US" altLang="zh-CN" kern="0" dirty="0">
                <a:latin typeface="宋体" panose="02010600030101010101" pitchFamily="2" charset="-122"/>
                <a:ea typeface="宋体" panose="02010600030101010101" pitchFamily="2" charset="-122"/>
              </a:rPr>
              <a:t>B3</a:t>
            </a:r>
            <a:endParaRPr lang="zh-CN" altLang="zh-CN" kern="100" dirty="0">
              <a:latin typeface="宋体" panose="02010600030101010101" pitchFamily="2" charset="-122"/>
              <a:ea typeface="宋体" panose="02010600030101010101" pitchFamily="2" charset="-122"/>
            </a:endParaRPr>
          </a:p>
        </p:txBody>
      </p:sp>
      <p:sp>
        <p:nvSpPr>
          <p:cNvPr id="9" name="矩形 8"/>
          <p:cNvSpPr/>
          <p:nvPr/>
        </p:nvSpPr>
        <p:spPr>
          <a:xfrm>
            <a:off x="1813309" y="1779662"/>
            <a:ext cx="2448272" cy="369332"/>
          </a:xfrm>
          <a:prstGeom prst="rect">
            <a:avLst/>
          </a:prstGeom>
        </p:spPr>
        <p:txBody>
          <a:bodyPr wrap="square">
            <a:spAutoFit/>
          </a:bodyPr>
          <a:lstStyle/>
          <a:p>
            <a:pPr algn="just">
              <a:spcAft>
                <a:spcPts val="0"/>
              </a:spcAft>
            </a:pPr>
            <a:r>
              <a:rPr lang="en-US" altLang="zh-CN" kern="0" dirty="0">
                <a:latin typeface="宋体" panose="02010600030101010101" pitchFamily="2" charset="-122"/>
                <a:ea typeface="宋体" panose="02010600030101010101" pitchFamily="2" charset="-122"/>
              </a:rPr>
              <a:t>B1,</a:t>
            </a:r>
            <a:r>
              <a:rPr lang="zh-CN" altLang="zh-CN" kern="0" dirty="0">
                <a:latin typeface="宋体" panose="02010600030101010101" pitchFamily="2" charset="-122"/>
                <a:ea typeface="宋体" panose="02010600030101010101" pitchFamily="2" charset="-122"/>
              </a:rPr>
              <a:t>不包含</a:t>
            </a:r>
            <a:r>
              <a:rPr lang="en-US" altLang="zh-CN" kern="0" dirty="0">
                <a:latin typeface="宋体" panose="02010600030101010101" pitchFamily="2" charset="-122"/>
                <a:ea typeface="宋体" panose="02010600030101010101" pitchFamily="2" charset="-122"/>
              </a:rPr>
              <a:t>B2</a:t>
            </a:r>
            <a:endParaRPr lang="zh-CN" altLang="zh-CN" kern="100" dirty="0">
              <a:latin typeface="宋体" panose="02010600030101010101" pitchFamily="2" charset="-122"/>
              <a:ea typeface="宋体" panose="02010600030101010101" pitchFamily="2" charset="-122"/>
            </a:endParaRPr>
          </a:p>
        </p:txBody>
      </p:sp>
      <p:sp>
        <p:nvSpPr>
          <p:cNvPr id="10" name="矩形 9"/>
          <p:cNvSpPr/>
          <p:nvPr/>
        </p:nvSpPr>
        <p:spPr>
          <a:xfrm>
            <a:off x="1813309" y="2067694"/>
            <a:ext cx="2448272" cy="369332"/>
          </a:xfrm>
          <a:prstGeom prst="rect">
            <a:avLst/>
          </a:prstGeom>
        </p:spPr>
        <p:txBody>
          <a:bodyPr wrap="square">
            <a:spAutoFit/>
          </a:bodyPr>
          <a:lstStyle/>
          <a:p>
            <a:pPr algn="just">
              <a:spcAft>
                <a:spcPts val="0"/>
              </a:spcAft>
            </a:pPr>
            <a:r>
              <a:rPr lang="en-US" altLang="zh-CN" kern="0" dirty="0">
                <a:latin typeface="宋体" panose="02010600030101010101" pitchFamily="2" charset="-122"/>
                <a:ea typeface="宋体" panose="02010600030101010101" pitchFamily="2" charset="-122"/>
              </a:rPr>
              <a:t>B2,B3,</a:t>
            </a:r>
            <a:r>
              <a:rPr lang="zh-CN" altLang="zh-CN" kern="0" dirty="0">
                <a:latin typeface="宋体" panose="02010600030101010101" pitchFamily="2" charset="-122"/>
                <a:ea typeface="宋体" panose="02010600030101010101" pitchFamily="2" charset="-122"/>
              </a:rPr>
              <a:t>不包含</a:t>
            </a:r>
            <a:r>
              <a:rPr lang="en-US" altLang="zh-CN" kern="0" dirty="0">
                <a:latin typeface="宋体" panose="02010600030101010101" pitchFamily="2" charset="-122"/>
                <a:ea typeface="宋体" panose="02010600030101010101" pitchFamily="2" charset="-122"/>
              </a:rPr>
              <a:t>B4</a:t>
            </a:r>
            <a:endParaRPr lang="zh-CN" altLang="zh-CN" kern="100" dirty="0">
              <a:latin typeface="宋体" panose="02010600030101010101" pitchFamily="2" charset="-122"/>
              <a:ea typeface="宋体" panose="02010600030101010101" pitchFamily="2" charset="-122"/>
            </a:endParaRPr>
          </a:p>
        </p:txBody>
      </p:sp>
      <p:sp>
        <p:nvSpPr>
          <p:cNvPr id="11" name="矩形 10"/>
          <p:cNvSpPr/>
          <p:nvPr/>
        </p:nvSpPr>
        <p:spPr>
          <a:xfrm>
            <a:off x="1813309" y="2321692"/>
            <a:ext cx="2448272" cy="369332"/>
          </a:xfrm>
          <a:prstGeom prst="rect">
            <a:avLst/>
          </a:prstGeom>
        </p:spPr>
        <p:txBody>
          <a:bodyPr wrap="square">
            <a:spAutoFit/>
          </a:bodyPr>
          <a:lstStyle/>
          <a:p>
            <a:pPr algn="just">
              <a:spcAft>
                <a:spcPts val="0"/>
              </a:spcAft>
            </a:pPr>
            <a:r>
              <a:rPr lang="en-US" altLang="zh-CN" kern="0" dirty="0">
                <a:latin typeface="宋体" panose="02010600030101010101" pitchFamily="2" charset="-122"/>
                <a:ea typeface="宋体" panose="02010600030101010101" pitchFamily="2" charset="-122"/>
              </a:rPr>
              <a:t>B3</a:t>
            </a:r>
            <a:endParaRPr lang="zh-CN" altLang="zh-CN" kern="100" dirty="0">
              <a:latin typeface="宋体" panose="02010600030101010101" pitchFamily="2" charset="-122"/>
              <a:ea typeface="宋体" panose="02010600030101010101" pitchFamily="2" charset="-122"/>
            </a:endParaRPr>
          </a:p>
        </p:txBody>
      </p:sp>
      <p:sp>
        <p:nvSpPr>
          <p:cNvPr id="12" name="矩形 11"/>
          <p:cNvSpPr/>
          <p:nvPr/>
        </p:nvSpPr>
        <p:spPr>
          <a:xfrm>
            <a:off x="1813309" y="2562458"/>
            <a:ext cx="2448272" cy="369332"/>
          </a:xfrm>
          <a:prstGeom prst="rect">
            <a:avLst/>
          </a:prstGeom>
        </p:spPr>
        <p:txBody>
          <a:bodyPr wrap="square">
            <a:spAutoFit/>
          </a:bodyPr>
          <a:lstStyle/>
          <a:p>
            <a:pPr algn="just">
              <a:spcAft>
                <a:spcPts val="0"/>
              </a:spcAft>
            </a:pPr>
            <a:r>
              <a:rPr lang="en-US" altLang="zh-CN" kern="0" dirty="0">
                <a:latin typeface="宋体" panose="02010600030101010101" pitchFamily="2" charset="-122"/>
                <a:ea typeface="宋体" panose="02010600030101010101" pitchFamily="2" charset="-122"/>
              </a:rPr>
              <a:t>B4</a:t>
            </a:r>
            <a:endParaRPr lang="zh-CN" altLang="zh-CN" kern="100" dirty="0">
              <a:latin typeface="宋体" panose="02010600030101010101" pitchFamily="2" charset="-122"/>
              <a:ea typeface="宋体" panose="02010600030101010101" pitchFamily="2" charset="-122"/>
            </a:endParaRPr>
          </a:p>
        </p:txBody>
      </p:sp>
      <p:sp>
        <p:nvSpPr>
          <p:cNvPr id="13" name="线形标注 1 12"/>
          <p:cNvSpPr/>
          <p:nvPr/>
        </p:nvSpPr>
        <p:spPr>
          <a:xfrm>
            <a:off x="323528" y="4344840"/>
            <a:ext cx="864096" cy="387149"/>
          </a:xfrm>
          <a:prstGeom prst="borderCallout1">
            <a:avLst>
              <a:gd name="adj1" fmla="val -4482"/>
              <a:gd name="adj2" fmla="val 28097"/>
              <a:gd name="adj3" fmla="val -125624"/>
              <a:gd name="adj4" fmla="val 124737"/>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B3</a:t>
            </a:r>
            <a:endParaRPr lang="zh-CN" altLang="en-US" dirty="0"/>
          </a:p>
        </p:txBody>
      </p:sp>
      <p:sp>
        <p:nvSpPr>
          <p:cNvPr id="15" name="线形标注 1 14"/>
          <p:cNvSpPr/>
          <p:nvPr/>
        </p:nvSpPr>
        <p:spPr>
          <a:xfrm>
            <a:off x="1259632" y="4344840"/>
            <a:ext cx="864096" cy="387149"/>
          </a:xfrm>
          <a:prstGeom prst="borderCallout1">
            <a:avLst>
              <a:gd name="adj1" fmla="val -4482"/>
              <a:gd name="adj2" fmla="val 28097"/>
              <a:gd name="adj3" fmla="val -121752"/>
              <a:gd name="adj4" fmla="val 84837"/>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B4</a:t>
            </a:r>
            <a:endParaRPr lang="zh-CN" altLang="en-US" dirty="0"/>
          </a:p>
        </p:txBody>
      </p:sp>
      <p:sp>
        <p:nvSpPr>
          <p:cNvPr id="16" name="线形标注 1 15"/>
          <p:cNvSpPr/>
          <p:nvPr/>
        </p:nvSpPr>
        <p:spPr>
          <a:xfrm>
            <a:off x="2303748" y="4342532"/>
            <a:ext cx="864096" cy="387149"/>
          </a:xfrm>
          <a:prstGeom prst="borderCallout1">
            <a:avLst>
              <a:gd name="adj1" fmla="val -4482"/>
              <a:gd name="adj2" fmla="val 28097"/>
              <a:gd name="adj3" fmla="val -121752"/>
              <a:gd name="adj4" fmla="val 31059"/>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B2</a:t>
            </a:r>
            <a:endParaRPr lang="zh-CN" altLang="en-US" dirty="0"/>
          </a:p>
        </p:txBody>
      </p:sp>
      <p:sp>
        <p:nvSpPr>
          <p:cNvPr id="17" name="线形标注 1 16"/>
          <p:cNvSpPr/>
          <p:nvPr/>
        </p:nvSpPr>
        <p:spPr>
          <a:xfrm>
            <a:off x="3275856" y="4344840"/>
            <a:ext cx="864096" cy="387149"/>
          </a:xfrm>
          <a:prstGeom prst="borderCallout1">
            <a:avLst>
              <a:gd name="adj1" fmla="val -4482"/>
              <a:gd name="adj2" fmla="val 28097"/>
              <a:gd name="adj3" fmla="val -125624"/>
              <a:gd name="adj4" fmla="val -10576"/>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B1</a:t>
            </a:r>
            <a:endParaRPr lang="zh-CN" altLang="en-US" dirty="0"/>
          </a:p>
        </p:txBody>
      </p:sp>
    </p:spTree>
    <p:extLst>
      <p:ext uri="{BB962C8B-B14F-4D97-AF65-F5344CB8AC3E}">
        <p14:creationId xmlns:p14="http://schemas.microsoft.com/office/powerpoint/2010/main" val="14509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4" grpId="0"/>
      <p:bldP spid="9" grpId="0"/>
      <p:bldP spid="10" grpId="0"/>
      <p:bldP spid="11" grpId="0"/>
      <p:bldP spid="12" grpId="0"/>
      <p:bldP spid="13" grpId="0" animBg="1"/>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21820" y="123478"/>
            <a:ext cx="5026244" cy="213904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marL="342900" indent="-342900">
              <a:buFont typeface="Arial" panose="020B0604020202020204" pitchFamily="34" charset="0"/>
              <a:buChar char="•"/>
              <a:defRPr/>
            </a:pPr>
            <a:r>
              <a:rPr lang="zh-CN" altLang="en-US" sz="1900" dirty="0">
                <a:latin typeface="宋体" panose="02010600030101010101" pitchFamily="2" charset="-122"/>
                <a:ea typeface="宋体" panose="02010600030101010101" pitchFamily="2" charset="-122"/>
              </a:rPr>
              <a:t>变量表需要区分不同作用域下的同名变量</a:t>
            </a:r>
          </a:p>
          <a:p>
            <a:pPr marL="342900" indent="-342900">
              <a:buFont typeface="Arial" panose="020B0604020202020204" pitchFamily="34" charset="0"/>
              <a:buChar char="•"/>
              <a:defRPr/>
            </a:pPr>
            <a:r>
              <a:rPr lang="zh-CN" altLang="en-US" sz="1900" dirty="0">
                <a:latin typeface="宋体" panose="02010600030101010101" pitchFamily="2" charset="-122"/>
                <a:ea typeface="宋体" panose="02010600030101010101" pitchFamily="2" charset="-122"/>
              </a:rPr>
              <a:t>方法：</a:t>
            </a:r>
            <a:endParaRPr lang="en-US" altLang="zh-CN" sz="1900" dirty="0">
              <a:latin typeface="宋体" panose="02010600030101010101" pitchFamily="2" charset="-122"/>
              <a:ea typeface="宋体" panose="02010600030101010101" pitchFamily="2" charset="-122"/>
            </a:endParaRPr>
          </a:p>
          <a:p>
            <a:pPr marL="800100" lvl="1" indent="-342900">
              <a:buFont typeface="Arial" panose="020B0604020202020204" pitchFamily="34" charset="0"/>
              <a:buChar char="•"/>
              <a:defRPr/>
            </a:pPr>
            <a:r>
              <a:rPr lang="zh-CN" altLang="en-US" sz="1900" dirty="0">
                <a:latin typeface="宋体" panose="02010600030101010101" pitchFamily="2" charset="-122"/>
                <a:ea typeface="宋体" panose="02010600030101010101" pitchFamily="2" charset="-122"/>
              </a:rPr>
              <a:t>一般对作用域编号，</a:t>
            </a:r>
            <a:r>
              <a:rPr lang="zh-CN" altLang="zh-CN" sz="1900" dirty="0">
                <a:latin typeface="宋体" panose="02010600030101010101" pitchFamily="2" charset="-122"/>
                <a:ea typeface="宋体" panose="02010600030101010101" pitchFamily="2" charset="-122"/>
              </a:rPr>
              <a:t>将从最外层开始到当前作用域的编号组合起来，其内部元素是每个作用域的编号，</a:t>
            </a:r>
            <a:r>
              <a:rPr lang="zh-CN" altLang="en-US" sz="1900" dirty="0">
                <a:latin typeface="宋体" panose="02010600030101010101" pitchFamily="2" charset="-122"/>
                <a:ea typeface="宋体" panose="02010600030101010101" pitchFamily="2" charset="-122"/>
              </a:rPr>
              <a:t>即：</a:t>
            </a:r>
            <a:r>
              <a:rPr lang="zh-CN" altLang="zh-CN" sz="1900" b="1" dirty="0">
                <a:solidFill>
                  <a:srgbClr val="C00000"/>
                </a:solidFill>
                <a:latin typeface="宋体" panose="02010600030101010101" pitchFamily="2" charset="-122"/>
                <a:ea typeface="宋体" panose="02010600030101010101" pitchFamily="2" charset="-122"/>
              </a:rPr>
              <a:t>作用域路径</a:t>
            </a:r>
            <a:endParaRPr lang="en-US" altLang="zh-CN" sz="1900" b="1" dirty="0">
              <a:solidFill>
                <a:srgbClr val="C00000"/>
              </a:solidFill>
              <a:latin typeface="宋体" panose="02010600030101010101" pitchFamily="2" charset="-122"/>
              <a:ea typeface="宋体" panose="02010600030101010101" pitchFamily="2" charset="-122"/>
            </a:endParaRPr>
          </a:p>
          <a:p>
            <a:pPr marL="800100" lvl="1" indent="-342900">
              <a:buFont typeface="Arial" panose="020B0604020202020204" pitchFamily="34" charset="0"/>
              <a:buChar char="•"/>
              <a:defRPr/>
            </a:pPr>
            <a:r>
              <a:rPr lang="zh-CN" altLang="en-US" sz="1900" dirty="0">
                <a:latin typeface="宋体" panose="02010600030101010101" pitchFamily="2" charset="-122"/>
                <a:ea typeface="宋体" panose="02010600030101010101" pitchFamily="2" charset="-122"/>
              </a:rPr>
              <a:t>允许同名变量，用链表链接相同名字</a:t>
            </a:r>
            <a:endParaRPr lang="zh-CN" altLang="en-US" sz="1900" dirty="0"/>
          </a:p>
        </p:txBody>
      </p:sp>
      <p:sp>
        <p:nvSpPr>
          <p:cNvPr id="22531"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22532"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192515" name="Object 3"/>
          <p:cNvGraphicFramePr>
            <a:graphicFrameLocks noChangeAspect="1"/>
          </p:cNvGraphicFramePr>
          <p:nvPr>
            <p:extLst>
              <p:ext uri="{D42A27DB-BD31-4B8C-83A1-F6EECF244321}">
                <p14:modId xmlns:p14="http://schemas.microsoft.com/office/powerpoint/2010/main" val="2525530493"/>
              </p:ext>
            </p:extLst>
          </p:nvPr>
        </p:nvGraphicFramePr>
        <p:xfrm>
          <a:off x="87796" y="2715766"/>
          <a:ext cx="5564324" cy="2160240"/>
        </p:xfrm>
        <a:graphic>
          <a:graphicData uri="http://schemas.openxmlformats.org/presentationml/2006/ole">
            <mc:AlternateContent xmlns:mc="http://schemas.openxmlformats.org/markup-compatibility/2006">
              <mc:Choice xmlns:v="urn:schemas-microsoft-com:vml" Requires="v">
                <p:oleObj name="Visio" r:id="rId2" imgW="5330286" imgH="2423614" progId="Visio.Drawing.11">
                  <p:embed/>
                </p:oleObj>
              </mc:Choice>
              <mc:Fallback>
                <p:oleObj name="Visio" r:id="rId2" imgW="5330286" imgH="2423614"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96" y="2715766"/>
                        <a:ext cx="5564324" cy="2160240"/>
                      </a:xfrm>
                      <a:prstGeom prst="rect">
                        <a:avLst/>
                      </a:prstGeom>
                      <a:solidFill>
                        <a:schemeClr val="bg1"/>
                      </a:solidFill>
                      <a:ln>
                        <a:noFill/>
                      </a:ln>
                    </p:spPr>
                  </p:pic>
                </p:oleObj>
              </mc:Fallback>
            </mc:AlternateContent>
          </a:graphicData>
        </a:graphic>
      </p:graphicFrame>
      <p:sp>
        <p:nvSpPr>
          <p:cNvPr id="22534" name="Rectangle 6"/>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3" name="对象 2"/>
          <p:cNvGraphicFramePr>
            <a:graphicFrameLocks noChangeAspect="1"/>
          </p:cNvGraphicFramePr>
          <p:nvPr>
            <p:extLst>
              <p:ext uri="{D42A27DB-BD31-4B8C-83A1-F6EECF244321}">
                <p14:modId xmlns:p14="http://schemas.microsoft.com/office/powerpoint/2010/main" val="2797171255"/>
              </p:ext>
            </p:extLst>
          </p:nvPr>
        </p:nvGraphicFramePr>
        <p:xfrm>
          <a:off x="5259310" y="351"/>
          <a:ext cx="3888878" cy="4983162"/>
        </p:xfrm>
        <a:graphic>
          <a:graphicData uri="http://schemas.openxmlformats.org/presentationml/2006/ole">
            <mc:AlternateContent xmlns:mc="http://schemas.openxmlformats.org/markup-compatibility/2006">
              <mc:Choice xmlns:v="urn:schemas-microsoft-com:vml" Requires="v">
                <p:oleObj name="Visio" r:id="rId4" imgW="3251704" imgH="4343544" progId="Visio.Drawing.11">
                  <p:embed/>
                </p:oleObj>
              </mc:Choice>
              <mc:Fallback>
                <p:oleObj name="Visio" r:id="rId4" imgW="3251704" imgH="4343544"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9310" y="351"/>
                        <a:ext cx="3888878" cy="498316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671582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5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3"/>
          <p:cNvSpPr>
            <a:spLocks noChangeArrowheads="1"/>
          </p:cNvSpPr>
          <p:nvPr/>
        </p:nvSpPr>
        <p:spPr bwMode="auto">
          <a:xfrm>
            <a:off x="357189" y="339502"/>
            <a:ext cx="8358187" cy="1631216"/>
          </a:xfrm>
          <a:prstGeom prst="rect">
            <a:avLst/>
          </a:prstGeom>
          <a:ln/>
        </p:spPr>
        <p:style>
          <a:lnRef idx="1">
            <a:schemeClr val="accent5"/>
          </a:lnRef>
          <a:fillRef idx="2">
            <a:schemeClr val="accent5"/>
          </a:fillRef>
          <a:effectRef idx="1">
            <a:schemeClr val="accent5"/>
          </a:effectRef>
          <a:fontRef idx="minor">
            <a:schemeClr val="dk1"/>
          </a:fontRef>
        </p:style>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zh-CN" sz="2000" b="1" dirty="0">
                <a:solidFill>
                  <a:srgbClr val="C00000"/>
                </a:solidFill>
              </a:rPr>
              <a:t>函数</a:t>
            </a:r>
            <a:r>
              <a:rPr lang="zh-CN" altLang="en-US" sz="2000" b="1" dirty="0">
                <a:solidFill>
                  <a:srgbClr val="C00000"/>
                </a:solidFill>
              </a:rPr>
              <a:t>名表</a:t>
            </a:r>
            <a:endParaRPr lang="en-US" altLang="zh-CN" sz="2000" b="1" dirty="0">
              <a:solidFill>
                <a:srgbClr val="C00000"/>
              </a:solidFill>
            </a:endParaRPr>
          </a:p>
          <a:p>
            <a:pPr marL="342900" indent="-342900">
              <a:spcBef>
                <a:spcPct val="0"/>
              </a:spcBef>
            </a:pPr>
            <a:r>
              <a:rPr lang="zh-CN" altLang="zh-CN" sz="2000" dirty="0"/>
              <a:t>需要保存</a:t>
            </a:r>
            <a:r>
              <a:rPr lang="zh-CN" altLang="en-US" sz="2000" dirty="0"/>
              <a:t>函数的属性</a:t>
            </a:r>
            <a:r>
              <a:rPr lang="zh-CN" altLang="zh-CN" sz="2000" dirty="0"/>
              <a:t>信息</a:t>
            </a:r>
            <a:r>
              <a:rPr lang="zh-CN" altLang="en-US" sz="2000" dirty="0"/>
              <a:t>，如</a:t>
            </a:r>
            <a:r>
              <a:rPr lang="zh-CN" altLang="zh-CN" sz="2000" dirty="0"/>
              <a:t>函数名、返回值类型、多少个参数、</a:t>
            </a:r>
            <a:r>
              <a:rPr lang="zh-CN" altLang="en-US" sz="2000" dirty="0"/>
              <a:t>每个</a:t>
            </a:r>
            <a:r>
              <a:rPr lang="zh-CN" altLang="zh-CN" sz="2000" dirty="0"/>
              <a:t>参数</a:t>
            </a:r>
            <a:r>
              <a:rPr lang="zh-CN" altLang="en-US" sz="2000" dirty="0"/>
              <a:t>的</a:t>
            </a:r>
            <a:r>
              <a:rPr lang="zh-CN" altLang="zh-CN" sz="2000" dirty="0"/>
              <a:t>类型，各个参数分配的偏移地址、函数代码对应的位置、目标代码的大小等</a:t>
            </a:r>
            <a:endParaRPr lang="en-US" altLang="zh-CN" sz="2000" dirty="0"/>
          </a:p>
          <a:p>
            <a:pPr marL="342900" indent="-342900">
              <a:spcBef>
                <a:spcPct val="0"/>
              </a:spcBef>
            </a:pPr>
            <a:r>
              <a:rPr lang="zh-CN" altLang="en-US" sz="2000" dirty="0"/>
              <a:t>不可能有同名</a:t>
            </a:r>
          </a:p>
        </p:txBody>
      </p:sp>
      <p:sp>
        <p:nvSpPr>
          <p:cNvPr id="23555"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23556" name="Object 1"/>
          <p:cNvGraphicFramePr>
            <a:graphicFrameLocks noChangeAspect="1"/>
          </p:cNvGraphicFramePr>
          <p:nvPr>
            <p:extLst>
              <p:ext uri="{D42A27DB-BD31-4B8C-83A1-F6EECF244321}">
                <p14:modId xmlns:p14="http://schemas.microsoft.com/office/powerpoint/2010/main" val="3446434381"/>
              </p:ext>
            </p:extLst>
          </p:nvPr>
        </p:nvGraphicFramePr>
        <p:xfrm>
          <a:off x="684213" y="2091258"/>
          <a:ext cx="4672012" cy="2786063"/>
        </p:xfrm>
        <a:graphic>
          <a:graphicData uri="http://schemas.openxmlformats.org/presentationml/2006/ole">
            <mc:AlternateContent xmlns:mc="http://schemas.openxmlformats.org/markup-compatibility/2006">
              <mc:Choice xmlns:v="urn:schemas-microsoft-com:vml" Requires="v">
                <p:oleObj name="Visio" r:id="rId2" imgW="2378305" imgH="1883578" progId="Visio.Drawing.11">
                  <p:embed/>
                </p:oleObj>
              </mc:Choice>
              <mc:Fallback>
                <p:oleObj name="Visio" r:id="rId2" imgW="2378305" imgH="1883578"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091258"/>
                        <a:ext cx="4672012"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7" name="矩形 1"/>
          <p:cNvSpPr>
            <a:spLocks noChangeArrowheads="1"/>
          </p:cNvSpPr>
          <p:nvPr/>
        </p:nvSpPr>
        <p:spPr bwMode="auto">
          <a:xfrm>
            <a:off x="5775804" y="2145655"/>
            <a:ext cx="290560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defRPr sz="2400">
                <a:solidFill>
                  <a:schemeClr val="tx1"/>
                </a:solidFill>
                <a:latin typeface="Arial" charset="0"/>
                <a:ea typeface="宋体" pitchFamily="2" charset="-122"/>
              </a:defRPr>
            </a:lvl4pPr>
            <a:lvl5pPr marL="2057400" indent="-22860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r>
              <a:rPr lang="zh-CN" altLang="en-US" dirty="0">
                <a:solidFill>
                  <a:srgbClr val="FF0000"/>
                </a:solidFill>
              </a:rPr>
              <a:t>比如：</a:t>
            </a:r>
            <a:endParaRPr lang="en-US" altLang="zh-CN" dirty="0">
              <a:solidFill>
                <a:srgbClr val="FF0000"/>
              </a:solidFill>
            </a:endParaRPr>
          </a:p>
          <a:p>
            <a:r>
              <a:rPr lang="en-US" altLang="zh-CN" dirty="0" err="1">
                <a:solidFill>
                  <a:srgbClr val="000000"/>
                </a:solidFill>
              </a:rPr>
              <a:t>int</a:t>
            </a:r>
            <a:r>
              <a:rPr lang="en-US" altLang="zh-CN" dirty="0">
                <a:solidFill>
                  <a:srgbClr val="000000"/>
                </a:solidFill>
              </a:rPr>
              <a:t> func1(</a:t>
            </a:r>
            <a:r>
              <a:rPr lang="en-US" altLang="zh-CN" dirty="0" err="1">
                <a:solidFill>
                  <a:srgbClr val="000000"/>
                </a:solidFill>
              </a:rPr>
              <a:t>int,int</a:t>
            </a:r>
            <a:r>
              <a:rPr lang="en-US" altLang="zh-CN" dirty="0">
                <a:solidFill>
                  <a:srgbClr val="000000"/>
                </a:solidFill>
              </a:rPr>
              <a:t>);</a:t>
            </a:r>
          </a:p>
          <a:p>
            <a:r>
              <a:rPr lang="en-US" altLang="zh-CN" dirty="0" err="1"/>
              <a:t>int</a:t>
            </a:r>
            <a:r>
              <a:rPr lang="en-US" altLang="zh-CN" dirty="0"/>
              <a:t> func2();</a:t>
            </a:r>
          </a:p>
          <a:p>
            <a:r>
              <a:rPr lang="en-US" altLang="zh-CN" dirty="0"/>
              <a:t>char func3(</a:t>
            </a:r>
            <a:r>
              <a:rPr lang="en-US" altLang="zh-CN" dirty="0" err="1"/>
              <a:t>char,int</a:t>
            </a:r>
            <a:r>
              <a:rPr lang="en-US" altLang="zh-CN" dirty="0"/>
              <a:t>);</a:t>
            </a:r>
            <a:endParaRPr lang="zh-CN" altLang="en-US" dirty="0"/>
          </a:p>
        </p:txBody>
      </p:sp>
    </p:spTree>
    <p:extLst>
      <p:ext uri="{BB962C8B-B14F-4D97-AF65-F5344CB8AC3E}">
        <p14:creationId xmlns:p14="http://schemas.microsoft.com/office/powerpoint/2010/main" val="1526636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1"/>
          <p:cNvSpPr>
            <a:spLocks noChangeArrowheads="1"/>
          </p:cNvSpPr>
          <p:nvPr/>
        </p:nvSpPr>
        <p:spPr bwMode="auto">
          <a:xfrm>
            <a:off x="428625" y="418326"/>
            <a:ext cx="8286750" cy="1938992"/>
          </a:xfrm>
          <a:prstGeom prst="rect">
            <a:avLst/>
          </a:prstGeom>
          <a:ln/>
        </p:spPr>
        <p:style>
          <a:lnRef idx="1">
            <a:schemeClr val="accent5"/>
          </a:lnRef>
          <a:fillRef idx="2">
            <a:schemeClr val="accent5"/>
          </a:fillRef>
          <a:effectRef idx="1">
            <a:schemeClr val="accent5"/>
          </a:effectRef>
          <a:fontRef idx="minor">
            <a:schemeClr val="dk1"/>
          </a:fontRef>
        </p:style>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zh-CN" sz="2000" b="1" dirty="0">
                <a:solidFill>
                  <a:srgbClr val="C00000"/>
                </a:solidFill>
              </a:rPr>
              <a:t>字符串</a:t>
            </a:r>
            <a:r>
              <a:rPr lang="zh-CN" altLang="en-US" sz="2000" b="1" dirty="0">
                <a:solidFill>
                  <a:srgbClr val="C00000"/>
                </a:solidFill>
              </a:rPr>
              <a:t>常数表</a:t>
            </a:r>
            <a:endParaRPr lang="en-US" altLang="zh-CN" sz="2000" b="1" dirty="0">
              <a:solidFill>
                <a:srgbClr val="C00000"/>
              </a:solidFill>
            </a:endParaRPr>
          </a:p>
          <a:p>
            <a:pPr marL="342900" indent="-342900">
              <a:spcBef>
                <a:spcPct val="0"/>
              </a:spcBef>
            </a:pPr>
            <a:r>
              <a:rPr lang="zh-CN" altLang="zh-CN" sz="2000" dirty="0"/>
              <a:t>程序中用双引号(“”)括起来的0个或者多个字符组成的序列</a:t>
            </a:r>
            <a:endParaRPr lang="en-US" altLang="zh-CN" sz="2000" dirty="0"/>
          </a:p>
          <a:p>
            <a:pPr marL="342900" indent="-342900">
              <a:spcBef>
                <a:spcPct val="0"/>
              </a:spcBef>
            </a:pPr>
            <a:r>
              <a:rPr lang="zh-CN" altLang="zh-CN" sz="2000" dirty="0"/>
              <a:t>存储时在每个字符串尾自动加一个‘\0’作为字符串结束标志</a:t>
            </a:r>
            <a:endParaRPr lang="en-US" altLang="zh-CN" sz="2000" dirty="0"/>
          </a:p>
          <a:p>
            <a:pPr marL="342900" indent="-342900">
              <a:spcBef>
                <a:spcPct val="0"/>
              </a:spcBef>
            </a:pPr>
            <a:r>
              <a:rPr lang="zh-CN" altLang="zh-CN" sz="2000" dirty="0"/>
              <a:t>在最终程序运行时</a:t>
            </a:r>
            <a:r>
              <a:rPr lang="zh-CN" altLang="en-US" sz="2000" dirty="0"/>
              <a:t>，</a:t>
            </a:r>
            <a:r>
              <a:rPr lang="zh-CN" altLang="zh-CN" sz="2000" dirty="0"/>
              <a:t>字符串存放在数据段中，因此，可以单独存放，源程序中的字符串常量可以存放在一起。</a:t>
            </a:r>
            <a:endParaRPr lang="en-US" altLang="zh-CN" sz="2000" dirty="0"/>
          </a:p>
          <a:p>
            <a:pPr marL="342900" indent="-342900">
              <a:spcBef>
                <a:spcPct val="0"/>
              </a:spcBef>
            </a:pPr>
            <a:r>
              <a:rPr lang="zh-CN" altLang="zh-CN" sz="2000" dirty="0"/>
              <a:t>字符串常量的存放可以使用链表</a:t>
            </a:r>
            <a:endParaRPr lang="zh-CN" altLang="en-US" sz="2000" dirty="0"/>
          </a:p>
        </p:txBody>
      </p:sp>
      <p:sp>
        <p:nvSpPr>
          <p:cNvPr id="24579"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21508" name="Object 1"/>
          <p:cNvGraphicFramePr>
            <a:graphicFrameLocks noChangeAspect="1"/>
          </p:cNvGraphicFramePr>
          <p:nvPr>
            <p:extLst>
              <p:ext uri="{D42A27DB-BD31-4B8C-83A1-F6EECF244321}">
                <p14:modId xmlns:p14="http://schemas.microsoft.com/office/powerpoint/2010/main" val="2488081375"/>
              </p:ext>
            </p:extLst>
          </p:nvPr>
        </p:nvGraphicFramePr>
        <p:xfrm>
          <a:off x="436563" y="3157538"/>
          <a:ext cx="7912100" cy="1131887"/>
        </p:xfrm>
        <a:graphic>
          <a:graphicData uri="http://schemas.openxmlformats.org/presentationml/2006/ole">
            <mc:AlternateContent xmlns:mc="http://schemas.openxmlformats.org/markup-compatibility/2006">
              <mc:Choice xmlns:v="urn:schemas-microsoft-com:vml" Requires="v">
                <p:oleObj name="Visio" r:id="rId2" imgW="5848493" imgH="657259" progId="Visio.Drawing.11">
                  <p:embed/>
                </p:oleObj>
              </mc:Choice>
              <mc:Fallback>
                <p:oleObj name="Visio" r:id="rId2" imgW="5848493" imgH="657259" progId="Visio.Drawing.11">
                  <p:embed/>
                  <p:pic>
                    <p:nvPicPr>
                      <p:cNvPr id="0" name=""/>
                      <p:cNvPicPr>
                        <a:picLocks noChangeAspect="1" noChangeArrowheads="1"/>
                      </p:cNvPicPr>
                      <p:nvPr/>
                    </p:nvPicPr>
                    <p:blipFill>
                      <a:blip r:embed="rId3"/>
                      <a:srcRect/>
                      <a:stretch>
                        <a:fillRect/>
                      </a:stretch>
                    </p:blipFill>
                    <p:spPr bwMode="auto">
                      <a:xfrm>
                        <a:off x="436563" y="3157538"/>
                        <a:ext cx="7912100" cy="1131887"/>
                      </a:xfrm>
                      <a:prstGeom prst="rect">
                        <a:avLst/>
                      </a:prstGeom>
                      <a:noFill/>
                      <a:ln>
                        <a:noFill/>
                      </a:ln>
                    </p:spPr>
                  </p:pic>
                </p:oleObj>
              </mc:Fallback>
            </mc:AlternateContent>
          </a:graphicData>
        </a:graphic>
      </p:graphicFrame>
      <p:sp>
        <p:nvSpPr>
          <p:cNvPr id="24581"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2964769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23274466"/>
              </p:ext>
            </p:extLst>
          </p:nvPr>
        </p:nvGraphicFramePr>
        <p:xfrm>
          <a:off x="2592288" y="3116039"/>
          <a:ext cx="6372200" cy="1831975"/>
        </p:xfrm>
        <a:graphic>
          <a:graphicData uri="http://schemas.openxmlformats.org/presentationml/2006/ole">
            <mc:AlternateContent xmlns:mc="http://schemas.openxmlformats.org/markup-compatibility/2006">
              <mc:Choice xmlns:v="urn:schemas-microsoft-com:vml" Requires="v">
                <p:oleObj name="Visio" r:id="rId2" imgW="5546279" imgH="1577556" progId="Visio.Drawing.11">
                  <p:embed/>
                </p:oleObj>
              </mc:Choice>
              <mc:Fallback>
                <p:oleObj name="Visio" r:id="rId2" imgW="5546279" imgH="1577556"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288" y="3116039"/>
                        <a:ext cx="6372200" cy="1831975"/>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21915613"/>
              </p:ext>
            </p:extLst>
          </p:nvPr>
        </p:nvGraphicFramePr>
        <p:xfrm>
          <a:off x="3995936" y="123478"/>
          <a:ext cx="4248472" cy="2189162"/>
        </p:xfrm>
        <a:graphic>
          <a:graphicData uri="http://schemas.openxmlformats.org/presentationml/2006/ole">
            <mc:AlternateContent xmlns:mc="http://schemas.openxmlformats.org/markup-compatibility/2006">
              <mc:Choice xmlns:v="urn:schemas-microsoft-com:vml" Requires="v">
                <p:oleObj name="Visio" r:id="rId4" imgW="3170352" imgH="1865678" progId="Visio.Drawing.11">
                  <p:embed/>
                </p:oleObj>
              </mc:Choice>
              <mc:Fallback>
                <p:oleObj name="Visio" r:id="rId4" imgW="3170352" imgH="1865678"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936" y="123478"/>
                        <a:ext cx="4248472" cy="2189162"/>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17680226"/>
              </p:ext>
            </p:extLst>
          </p:nvPr>
        </p:nvGraphicFramePr>
        <p:xfrm>
          <a:off x="28248" y="123479"/>
          <a:ext cx="3268568" cy="1425850"/>
        </p:xfrm>
        <a:graphic>
          <a:graphicData uri="http://schemas.openxmlformats.org/presentationml/2006/ole">
            <mc:AlternateContent xmlns:mc="http://schemas.openxmlformats.org/markup-compatibility/2006">
              <mc:Choice xmlns:v="urn:schemas-microsoft-com:vml" Requires="v">
                <p:oleObj name="Visio" r:id="rId6" imgW="2161329" imgH="1255608" progId="Visio.Drawing.11">
                  <p:embed/>
                </p:oleObj>
              </mc:Choice>
              <mc:Fallback>
                <p:oleObj name="Visio" r:id="rId6" imgW="2161329" imgH="1255608"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48" y="123479"/>
                        <a:ext cx="3268568" cy="1425850"/>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211519886"/>
              </p:ext>
            </p:extLst>
          </p:nvPr>
        </p:nvGraphicFramePr>
        <p:xfrm>
          <a:off x="28248" y="1563638"/>
          <a:ext cx="3198088" cy="1633140"/>
        </p:xfrm>
        <a:graphic>
          <a:graphicData uri="http://schemas.openxmlformats.org/presentationml/2006/ole">
            <mc:AlternateContent xmlns:mc="http://schemas.openxmlformats.org/markup-compatibility/2006">
              <mc:Choice xmlns:v="urn:schemas-microsoft-com:vml" Requires="v">
                <p:oleObj name="Visio" r:id="rId8" imgW="2378305" imgH="1883578" progId="Visio.Drawing.11">
                  <p:embed/>
                </p:oleObj>
              </mc:Choice>
              <mc:Fallback>
                <p:oleObj name="Visio" r:id="rId8" imgW="2378305" imgH="1883578" progId="Visio.Drawing.11">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48" y="1563638"/>
                        <a:ext cx="3198088" cy="163314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2880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normAutofit fontScale="90000"/>
          </a:bodyPr>
          <a:lstStyle/>
          <a:p>
            <a:pPr eaLnBrk="1" hangingPunct="1"/>
            <a:r>
              <a:rPr kumimoji="1" lang="zh-CN" altLang="en-US" sz="4800" b="1">
                <a:solidFill>
                  <a:srgbClr val="CC0099"/>
                </a:solidFill>
                <a:latin typeface="Times New Roman" pitchFamily="18" charset="0"/>
                <a:ea typeface="隶书" pitchFamily="49" charset="-122"/>
              </a:rPr>
              <a:t>符号表的操作</a:t>
            </a:r>
          </a:p>
        </p:txBody>
      </p:sp>
      <p:sp>
        <p:nvSpPr>
          <p:cNvPr id="25603" name="内容占位符 2"/>
          <p:cNvSpPr>
            <a:spLocks noGrp="1"/>
          </p:cNvSpPr>
          <p:nvPr>
            <p:ph idx="1"/>
          </p:nvPr>
        </p:nvSpPr>
        <p:spPr>
          <a:xfrm>
            <a:off x="323528" y="915566"/>
            <a:ext cx="8472488" cy="2232248"/>
          </a:xfrm>
        </p:spPr>
        <p:txBody>
          <a:bodyPr>
            <a:noAutofit/>
          </a:bodyPr>
          <a:lstStyle/>
          <a:p>
            <a:r>
              <a:rPr lang="zh-CN" altLang="en-US" sz="2000" dirty="0"/>
              <a:t>符号表主要有以下几种操作：</a:t>
            </a:r>
            <a:endParaRPr lang="en-US" altLang="zh-CN" sz="2000" dirty="0"/>
          </a:p>
          <a:p>
            <a:pPr lvl="1"/>
            <a:r>
              <a:rPr lang="zh-CN" altLang="zh-CN" sz="2000" dirty="0"/>
              <a:t>插入操作: 将名字及其属性值登记到相应符号表中</a:t>
            </a:r>
            <a:endParaRPr lang="en-US" altLang="zh-CN" sz="2000" dirty="0"/>
          </a:p>
          <a:p>
            <a:pPr lvl="1"/>
            <a:r>
              <a:rPr lang="zh-CN" altLang="zh-CN" sz="2000" dirty="0"/>
              <a:t>查找操作: 查找符号表是否存在给定名字的表项，如果找到，则返回相应的入口，否则返回0</a:t>
            </a:r>
            <a:endParaRPr lang="en-US" altLang="zh-CN" sz="2000" dirty="0"/>
          </a:p>
          <a:p>
            <a:pPr lvl="1"/>
            <a:r>
              <a:rPr lang="zh-CN" altLang="zh-CN" dirty="0"/>
              <a:t>访问给定名字的相关信息</a:t>
            </a:r>
            <a:endParaRPr lang="en-US" altLang="zh-CN" dirty="0"/>
          </a:p>
          <a:p>
            <a:pPr lvl="1"/>
            <a:r>
              <a:rPr lang="zh-CN" altLang="zh-CN" dirty="0"/>
              <a:t>更新给定名字的信息</a:t>
            </a:r>
            <a:endParaRPr lang="en-US" altLang="zh-CN" dirty="0"/>
          </a:p>
          <a:p>
            <a:pPr lvl="1"/>
            <a:r>
              <a:rPr lang="zh-CN" altLang="zh-CN" dirty="0"/>
              <a:t>删除无用名字</a:t>
            </a:r>
            <a:endParaRPr lang="en-US" altLang="zh-CN" sz="2000" dirty="0"/>
          </a:p>
          <a:p>
            <a:r>
              <a:rPr lang="zh-CN" altLang="zh-CN" sz="2000" dirty="0"/>
              <a:t>存储符号表的数据结构应支持快速查找和快速</a:t>
            </a:r>
            <a:r>
              <a:rPr lang="zh-CN" altLang="en-US" sz="2000" dirty="0"/>
              <a:t>插入，</a:t>
            </a:r>
            <a:r>
              <a:rPr lang="zh-CN" altLang="en-US" sz="2000" dirty="0">
                <a:solidFill>
                  <a:srgbClr val="FF0000"/>
                </a:solidFill>
              </a:rPr>
              <a:t>按名查找</a:t>
            </a:r>
            <a:r>
              <a:rPr lang="zh-CN" altLang="zh-CN" sz="2000" dirty="0"/>
              <a:t>。</a:t>
            </a:r>
            <a:endParaRPr lang="zh-CN" altLang="en-US" sz="2000" dirty="0"/>
          </a:p>
        </p:txBody>
      </p:sp>
      <p:sp>
        <p:nvSpPr>
          <p:cNvPr id="25604" name="矩形 1"/>
          <p:cNvSpPr>
            <a:spLocks noChangeArrowheads="1"/>
          </p:cNvSpPr>
          <p:nvPr/>
        </p:nvSpPr>
        <p:spPr bwMode="auto">
          <a:xfrm>
            <a:off x="3345374" y="3813571"/>
            <a:ext cx="5651500" cy="955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50000"/>
              </a:lnSpc>
              <a:spcBef>
                <a:spcPct val="0"/>
              </a:spcBef>
              <a:buFontTx/>
              <a:buNone/>
            </a:pPr>
            <a:r>
              <a:rPr lang="zh-CN" altLang="en-US" sz="2000" b="1" dirty="0"/>
              <a:t>符号表的存储结构：</a:t>
            </a:r>
            <a:endParaRPr lang="en-US" altLang="zh-CN" sz="2000" b="1" dirty="0"/>
          </a:p>
          <a:p>
            <a:pPr algn="ctr">
              <a:lnSpc>
                <a:spcPct val="150000"/>
              </a:lnSpc>
              <a:spcBef>
                <a:spcPct val="0"/>
              </a:spcBef>
              <a:buFontTx/>
              <a:buNone/>
            </a:pPr>
            <a:r>
              <a:rPr lang="zh-CN" altLang="en-US" sz="2000" b="1" dirty="0"/>
              <a:t>无序表、有序表、散列表和二叉树</a:t>
            </a:r>
          </a:p>
        </p:txBody>
      </p:sp>
    </p:spTree>
    <p:extLst>
      <p:ext uri="{BB962C8B-B14F-4D97-AF65-F5344CB8AC3E}">
        <p14:creationId xmlns:p14="http://schemas.microsoft.com/office/powerpoint/2010/main" val="349638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0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60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60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6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P spid="2560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1859055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矩形 1"/>
          <p:cNvSpPr/>
          <p:nvPr/>
        </p:nvSpPr>
        <p:spPr>
          <a:xfrm>
            <a:off x="1249985" y="1971358"/>
            <a:ext cx="4112023" cy="707886"/>
          </a:xfrm>
          <a:prstGeom prst="rect">
            <a:avLst/>
          </a:prstGeom>
        </p:spPr>
        <p:txBody>
          <a:bodyPr wrap="none">
            <a:spAutoFit/>
          </a:bodyPr>
          <a:lstStyle/>
          <a:p>
            <a:r>
              <a:rPr lang="en-US" altLang="zh-CN" sz="4000" b="1" dirty="0">
                <a:solidFill>
                  <a:srgbClr val="CC0099"/>
                </a:solidFill>
                <a:ea typeface="隶书" pitchFamily="49" charset="-122"/>
              </a:rPr>
              <a:t>3</a:t>
            </a:r>
            <a:r>
              <a:rPr lang="zh-CN" altLang="en-US" sz="4000" b="1" dirty="0">
                <a:solidFill>
                  <a:srgbClr val="CC0099"/>
                </a:solidFill>
                <a:ea typeface="隶书" pitchFamily="49" charset="-122"/>
              </a:rPr>
              <a:t>、静态语义检查</a:t>
            </a:r>
            <a:endParaRPr lang="en-US" altLang="zh-CN" sz="3600" b="1" dirty="0">
              <a:solidFill>
                <a:srgbClr val="CC0099"/>
              </a:solidFill>
              <a:ea typeface="隶书" pitchFamily="49" charset="-122"/>
            </a:endParaRPr>
          </a:p>
        </p:txBody>
      </p:sp>
    </p:spTree>
    <p:extLst>
      <p:ext uri="{BB962C8B-B14F-4D97-AF65-F5344CB8AC3E}">
        <p14:creationId xmlns:p14="http://schemas.microsoft.com/office/powerpoint/2010/main" val="3203197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normAutofit fontScale="90000"/>
          </a:bodyPr>
          <a:lstStyle/>
          <a:p>
            <a:pPr eaLnBrk="1" hangingPunct="1"/>
            <a:r>
              <a:rPr kumimoji="1" lang="zh-CN" altLang="zh-CN" sz="4800" b="1" dirty="0">
                <a:solidFill>
                  <a:srgbClr val="CC0099"/>
                </a:solidFill>
                <a:latin typeface="Times New Roman" pitchFamily="18" charset="0"/>
                <a:ea typeface="隶书" pitchFamily="49" charset="-122"/>
              </a:rPr>
              <a:t>静态语义检查</a:t>
            </a:r>
            <a:endParaRPr kumimoji="1" lang="zh-CN" altLang="en-US" sz="4800" b="1" dirty="0">
              <a:solidFill>
                <a:srgbClr val="CC0099"/>
              </a:solidFill>
              <a:latin typeface="Times New Roman" pitchFamily="18" charset="0"/>
              <a:ea typeface="隶书" pitchFamily="49" charset="-122"/>
            </a:endParaRPr>
          </a:p>
        </p:txBody>
      </p:sp>
      <p:sp>
        <p:nvSpPr>
          <p:cNvPr id="3" name="内容占位符 2"/>
          <p:cNvSpPr>
            <a:spLocks noGrp="1"/>
          </p:cNvSpPr>
          <p:nvPr>
            <p:ph idx="1"/>
          </p:nvPr>
        </p:nvSpPr>
        <p:spPr>
          <a:xfrm>
            <a:off x="467544" y="915566"/>
            <a:ext cx="8472488" cy="3960440"/>
          </a:xfrm>
          <a:solidFill>
            <a:schemeClr val="bg1"/>
          </a:solidFill>
        </p:spPr>
        <p:txBody>
          <a:bodyPr>
            <a:normAutofit fontScale="92500" lnSpcReduction="10000"/>
          </a:bodyPr>
          <a:lstStyle/>
          <a:p>
            <a:pPr marL="0" indent="0">
              <a:lnSpc>
                <a:spcPct val="110000"/>
              </a:lnSpc>
              <a:spcBef>
                <a:spcPts val="0"/>
              </a:spcBef>
              <a:buFontTx/>
              <a:buNone/>
              <a:defRPr/>
            </a:pPr>
            <a:r>
              <a:rPr lang="zh-CN" altLang="zh-CN" sz="2000" dirty="0"/>
              <a:t>静态语义检查主要涉及到检查每个使用的名字是否定义、类型是否兼容、使用是否恰当，语法上正确的程序是否真正具有意义等几个方面。</a:t>
            </a:r>
          </a:p>
          <a:p>
            <a:pPr marL="0" indent="0">
              <a:lnSpc>
                <a:spcPct val="110000"/>
              </a:lnSpc>
              <a:spcBef>
                <a:spcPts val="0"/>
              </a:spcBef>
              <a:buFontTx/>
              <a:buNone/>
              <a:defRPr/>
            </a:pPr>
            <a:r>
              <a:rPr lang="zh-CN" altLang="zh-CN" sz="2000" dirty="0"/>
              <a:t>（</a:t>
            </a:r>
            <a:r>
              <a:rPr lang="en-US" altLang="zh-CN" sz="2000" dirty="0"/>
              <a:t>1</a:t>
            </a:r>
            <a:r>
              <a:rPr lang="zh-CN" altLang="zh-CN" sz="2000" dirty="0"/>
              <a:t>）</a:t>
            </a:r>
            <a:r>
              <a:rPr lang="zh-CN" altLang="zh-CN" sz="2000" b="1" dirty="0">
                <a:solidFill>
                  <a:srgbClr val="C00000"/>
                </a:solidFill>
              </a:rPr>
              <a:t>名字检查。</a:t>
            </a:r>
            <a:r>
              <a:rPr lang="zh-CN" altLang="en-US" sz="2100" dirty="0"/>
              <a:t>变量、常量和函数遵循“先声明后使用”，在使用前检查它是否声明或定义过，是否符合语言对名字使用的要求，如不能重名等</a:t>
            </a:r>
            <a:r>
              <a:rPr lang="zh-CN" altLang="en-US" sz="2000" dirty="0"/>
              <a:t>。</a:t>
            </a:r>
            <a:endParaRPr lang="zh-CN" altLang="zh-CN" sz="2000" dirty="0"/>
          </a:p>
          <a:p>
            <a:pPr marL="0" indent="0">
              <a:lnSpc>
                <a:spcPct val="110000"/>
              </a:lnSpc>
              <a:spcBef>
                <a:spcPts val="0"/>
              </a:spcBef>
              <a:buNone/>
              <a:defRPr/>
            </a:pPr>
            <a:r>
              <a:rPr lang="zh-CN" altLang="zh-CN" sz="2000" dirty="0"/>
              <a:t>（</a:t>
            </a:r>
            <a:r>
              <a:rPr lang="en-US" altLang="zh-CN" sz="2000" dirty="0"/>
              <a:t>2</a:t>
            </a:r>
            <a:r>
              <a:rPr lang="zh-CN" altLang="zh-CN" sz="2000" dirty="0"/>
              <a:t>）</a:t>
            </a:r>
            <a:r>
              <a:rPr lang="zh-CN" altLang="zh-CN" sz="2000" b="1" dirty="0">
                <a:solidFill>
                  <a:srgbClr val="C00000"/>
                </a:solidFill>
              </a:rPr>
              <a:t>类型检查。</a:t>
            </a:r>
            <a:r>
              <a:rPr lang="zh-CN" altLang="en-US" sz="2000" dirty="0"/>
              <a:t>运算是和类型相关的，函数的参数和返回值也对类型有要求，因此，在运算前要查找符号表，检查类型是否一致或兼容、函数参数和返回类型是否匹配</a:t>
            </a:r>
            <a:r>
              <a:rPr lang="zh-CN" altLang="zh-CN" sz="2000" dirty="0"/>
              <a:t>。</a:t>
            </a:r>
          </a:p>
          <a:p>
            <a:pPr marL="0" indent="0">
              <a:lnSpc>
                <a:spcPct val="110000"/>
              </a:lnSpc>
              <a:spcBef>
                <a:spcPts val="0"/>
              </a:spcBef>
              <a:buFontTx/>
              <a:buNone/>
              <a:defRPr/>
            </a:pPr>
            <a:r>
              <a:rPr lang="zh-CN" altLang="zh-CN" sz="2000" dirty="0"/>
              <a:t>（</a:t>
            </a:r>
            <a:r>
              <a:rPr lang="en-US" altLang="zh-CN" sz="2000" dirty="0"/>
              <a:t>3</a:t>
            </a:r>
            <a:r>
              <a:rPr lang="zh-CN" altLang="zh-CN" sz="2000" dirty="0"/>
              <a:t>）</a:t>
            </a:r>
            <a:r>
              <a:rPr lang="zh-CN" altLang="zh-CN" sz="2000" b="1" dirty="0">
                <a:solidFill>
                  <a:srgbClr val="C00000"/>
                </a:solidFill>
              </a:rPr>
              <a:t>控制流检查。</a:t>
            </a:r>
            <a:r>
              <a:rPr lang="zh-CN" altLang="zh-CN" sz="2000" dirty="0"/>
              <a:t>用以保证</a:t>
            </a:r>
            <a:r>
              <a:rPr lang="zh-CN" altLang="zh-CN" sz="2000" dirty="0">
                <a:solidFill>
                  <a:srgbClr val="FF0000"/>
                </a:solidFill>
              </a:rPr>
              <a:t>控制语句有合法的转向点</a:t>
            </a:r>
            <a:r>
              <a:rPr lang="zh-CN" altLang="zh-CN" sz="2000" dirty="0"/>
              <a:t>。例如，在</a:t>
            </a:r>
            <a:r>
              <a:rPr lang="en-US" altLang="zh-CN" sz="2000" dirty="0"/>
              <a:t>C</a:t>
            </a:r>
            <a:r>
              <a:rPr lang="zh-CN" altLang="zh-CN" sz="2000" dirty="0"/>
              <a:t>语言中</a:t>
            </a:r>
            <a:r>
              <a:rPr lang="en-US" altLang="zh-CN" sz="2000" dirty="0"/>
              <a:t>break</a:t>
            </a:r>
            <a:r>
              <a:rPr lang="zh-CN" altLang="zh-CN" sz="2000" dirty="0"/>
              <a:t>语句没有出现在循环或</a:t>
            </a:r>
            <a:r>
              <a:rPr lang="en-US" altLang="zh-CN" sz="2000" dirty="0"/>
              <a:t>switch-case</a:t>
            </a:r>
            <a:r>
              <a:rPr lang="zh-CN" altLang="zh-CN" sz="2000" dirty="0"/>
              <a:t>语句内部、</a:t>
            </a:r>
            <a:r>
              <a:rPr lang="en-US" altLang="zh-CN" sz="2000" dirty="0"/>
              <a:t>continue</a:t>
            </a:r>
            <a:r>
              <a:rPr lang="zh-CN" altLang="zh-CN" sz="2000" dirty="0"/>
              <a:t>语句没有出现在循环内部都需要检查出来。</a:t>
            </a:r>
          </a:p>
          <a:p>
            <a:pPr marL="0" indent="0">
              <a:lnSpc>
                <a:spcPct val="110000"/>
              </a:lnSpc>
              <a:spcBef>
                <a:spcPts val="0"/>
              </a:spcBef>
              <a:buFontTx/>
              <a:buNone/>
              <a:defRPr/>
            </a:pPr>
            <a:r>
              <a:rPr lang="zh-CN" altLang="zh-CN" sz="2000" dirty="0"/>
              <a:t>（</a:t>
            </a:r>
            <a:r>
              <a:rPr lang="en-US" altLang="zh-CN" sz="2000" dirty="0"/>
              <a:t>4</a:t>
            </a:r>
            <a:r>
              <a:rPr lang="zh-CN" altLang="zh-CN" sz="2000" dirty="0"/>
              <a:t>）</a:t>
            </a:r>
            <a:r>
              <a:rPr lang="zh-CN" altLang="zh-CN" sz="2000" b="1" dirty="0">
                <a:solidFill>
                  <a:srgbClr val="C00000"/>
                </a:solidFill>
              </a:rPr>
              <a:t>一致性检查。</a:t>
            </a:r>
            <a:r>
              <a:rPr lang="zh-CN" altLang="en-US" sz="2000" dirty="0"/>
              <a:t>一些对一致性有要求的地方是否一致等等。</a:t>
            </a:r>
            <a:r>
              <a:rPr lang="zh-CN" altLang="zh-CN" sz="2000" dirty="0"/>
              <a:t>如</a:t>
            </a:r>
            <a:r>
              <a:rPr lang="zh-CN" altLang="en-US" sz="2000" dirty="0"/>
              <a:t>跳转语句的标号是否存在，</a:t>
            </a:r>
            <a:r>
              <a:rPr lang="en-US" altLang="zh-CN" sz="2000" dirty="0"/>
              <a:t>case</a:t>
            </a:r>
            <a:r>
              <a:rPr lang="zh-CN" altLang="zh-CN" sz="2000" dirty="0"/>
              <a:t>语句的标号不能</a:t>
            </a:r>
            <a:r>
              <a:rPr lang="zh-CN" altLang="en-US" sz="2000" dirty="0"/>
              <a:t>重复</a:t>
            </a:r>
            <a:r>
              <a:rPr lang="zh-CN" altLang="zh-CN" sz="2000" dirty="0"/>
              <a:t>、枚举类型的元素不能重复出现</a:t>
            </a:r>
            <a:r>
              <a:rPr lang="zh-CN" altLang="en-US" sz="2000" dirty="0"/>
              <a:t>、有些语言如</a:t>
            </a:r>
            <a:r>
              <a:rPr lang="en-US" altLang="zh-CN" sz="2000" dirty="0" err="1"/>
              <a:t>ada</a:t>
            </a:r>
            <a:r>
              <a:rPr lang="zh-CN" altLang="en-US" sz="2000" dirty="0"/>
              <a:t>，要求函数名或程序名同时出现在函数的开始和结束</a:t>
            </a:r>
            <a:r>
              <a:rPr lang="zh-CN" altLang="zh-CN" sz="2000" dirty="0"/>
              <a:t>等。</a:t>
            </a:r>
          </a:p>
          <a:p>
            <a:pPr>
              <a:lnSpc>
                <a:spcPct val="110000"/>
              </a:lnSpc>
              <a:spcBef>
                <a:spcPts val="0"/>
              </a:spcBef>
              <a:defRPr/>
            </a:pPr>
            <a:endParaRPr lang="zh-CN" altLang="en-US" dirty="0"/>
          </a:p>
        </p:txBody>
      </p:sp>
    </p:spTree>
    <p:extLst>
      <p:ext uri="{BB962C8B-B14F-4D97-AF65-F5344CB8AC3E}">
        <p14:creationId xmlns:p14="http://schemas.microsoft.com/office/powerpoint/2010/main" val="401662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normAutofit fontScale="90000"/>
          </a:bodyPr>
          <a:lstStyle/>
          <a:p>
            <a:r>
              <a:rPr kumimoji="1" lang="zh-CN" altLang="zh-CN" sz="4800" b="1" dirty="0">
                <a:solidFill>
                  <a:srgbClr val="CC0099"/>
                </a:solidFill>
                <a:latin typeface="Times New Roman" pitchFamily="18" charset="0"/>
                <a:ea typeface="隶书" pitchFamily="49" charset="-122"/>
              </a:rPr>
              <a:t>声明与定义语义检查</a:t>
            </a:r>
            <a:endParaRPr kumimoji="1" lang="zh-CN" altLang="en-US" sz="4800" b="1" dirty="0">
              <a:solidFill>
                <a:srgbClr val="CC0099"/>
              </a:solidFill>
              <a:latin typeface="Times New Roman" pitchFamily="18" charset="0"/>
              <a:ea typeface="隶书" pitchFamily="49" charset="-122"/>
            </a:endParaRPr>
          </a:p>
        </p:txBody>
      </p:sp>
      <p:sp>
        <p:nvSpPr>
          <p:cNvPr id="27651" name="内容占位符 2"/>
          <p:cNvSpPr>
            <a:spLocks noGrp="1"/>
          </p:cNvSpPr>
          <p:nvPr>
            <p:ph idx="1"/>
          </p:nvPr>
        </p:nvSpPr>
        <p:spPr>
          <a:xfrm>
            <a:off x="467544" y="843558"/>
            <a:ext cx="8472488" cy="3888432"/>
          </a:xfrm>
        </p:spPr>
        <p:txBody>
          <a:bodyPr>
            <a:normAutofit/>
          </a:bodyPr>
          <a:lstStyle/>
          <a:p>
            <a:pPr>
              <a:lnSpc>
                <a:spcPct val="120000"/>
              </a:lnSpc>
              <a:spcBef>
                <a:spcPts val="0"/>
              </a:spcBef>
            </a:pPr>
            <a:r>
              <a:rPr lang="zh-CN" altLang="zh-CN" sz="2000" dirty="0"/>
              <a:t>（</a:t>
            </a:r>
            <a:r>
              <a:rPr lang="en-US" altLang="zh-CN" sz="2000" dirty="0"/>
              <a:t>1</a:t>
            </a:r>
            <a:r>
              <a:rPr lang="zh-CN" altLang="zh-CN" sz="2000" dirty="0"/>
              <a:t>）变量未声明就使用、变量</a:t>
            </a:r>
            <a:r>
              <a:rPr lang="zh-CN" altLang="en-US" sz="2000" dirty="0"/>
              <a:t>重复声明、</a:t>
            </a:r>
            <a:r>
              <a:rPr lang="zh-CN" altLang="zh-CN" sz="2000" dirty="0"/>
              <a:t>声明的常量类型和常量的值的类型不一致；常量和变量重名；</a:t>
            </a:r>
          </a:p>
          <a:p>
            <a:pPr>
              <a:lnSpc>
                <a:spcPct val="120000"/>
              </a:lnSpc>
              <a:spcBef>
                <a:spcPts val="0"/>
              </a:spcBef>
            </a:pPr>
            <a:r>
              <a:rPr lang="zh-CN" altLang="zh-CN" sz="2000" dirty="0"/>
              <a:t>（</a:t>
            </a:r>
            <a:r>
              <a:rPr lang="en-US" altLang="zh-CN" sz="2000" dirty="0"/>
              <a:t>2</a:t>
            </a:r>
            <a:r>
              <a:rPr lang="zh-CN" altLang="zh-CN" sz="2000" dirty="0"/>
              <a:t>）变量声明时初始化值包含一个不知道其值的变量、全局变量初始值不是常量、变量初始化类型错误。</a:t>
            </a:r>
          </a:p>
          <a:p>
            <a:pPr>
              <a:lnSpc>
                <a:spcPct val="120000"/>
              </a:lnSpc>
              <a:spcBef>
                <a:spcPts val="0"/>
              </a:spcBef>
            </a:pPr>
            <a:r>
              <a:rPr lang="zh-CN" altLang="zh-CN" sz="2000" dirty="0"/>
              <a:t>（</a:t>
            </a:r>
            <a:r>
              <a:rPr lang="en-US" altLang="zh-CN" sz="2000" dirty="0"/>
              <a:t>3</a:t>
            </a:r>
            <a:r>
              <a:rPr lang="zh-CN" altLang="zh-CN" sz="2000" dirty="0"/>
              <a:t>）函数未声明就定义和调用、函数重定义、函数声明与定义不匹配、函数调用与声明不匹配、函数和变量重名等；</a:t>
            </a:r>
          </a:p>
          <a:p>
            <a:pPr>
              <a:lnSpc>
                <a:spcPct val="120000"/>
              </a:lnSpc>
              <a:spcBef>
                <a:spcPts val="0"/>
              </a:spcBef>
            </a:pPr>
            <a:r>
              <a:rPr lang="zh-CN" altLang="zh-CN" sz="2000" dirty="0"/>
              <a:t>（</a:t>
            </a:r>
            <a:r>
              <a:rPr lang="en-US" altLang="zh-CN" sz="2000" dirty="0"/>
              <a:t>4</a:t>
            </a:r>
            <a:r>
              <a:rPr lang="zh-CN" altLang="zh-CN" sz="2000" dirty="0"/>
              <a:t>）数组长度必须是正整数、数组名不能和变量名、函数名同名；</a:t>
            </a:r>
          </a:p>
          <a:p>
            <a:pPr>
              <a:lnSpc>
                <a:spcPct val="120000"/>
              </a:lnSpc>
              <a:spcBef>
                <a:spcPts val="0"/>
              </a:spcBef>
            </a:pPr>
            <a:r>
              <a:rPr lang="zh-CN" altLang="zh-CN" sz="2000" dirty="0"/>
              <a:t>（</a:t>
            </a:r>
            <a:r>
              <a:rPr lang="en-US" altLang="zh-CN" sz="2000" dirty="0"/>
              <a:t>5</a:t>
            </a:r>
            <a:r>
              <a:rPr lang="zh-CN" altLang="zh-CN" sz="2000" dirty="0"/>
              <a:t>）有些语言（如</a:t>
            </a:r>
            <a:r>
              <a:rPr lang="en-US" altLang="zh-CN" sz="2000" dirty="0"/>
              <a:t>Ada</a:t>
            </a:r>
            <a:r>
              <a:rPr lang="zh-CN" altLang="zh-CN" sz="2000" dirty="0"/>
              <a:t>语言）要求程序中循环或程序块的名字必须同时出现在这些结构的开头或结尾，编译程序必须检查这两个地方用的名字是否相同。这需要查看语言的规定。</a:t>
            </a:r>
          </a:p>
          <a:p>
            <a:pPr>
              <a:lnSpc>
                <a:spcPct val="120000"/>
              </a:lnSpc>
              <a:spcBef>
                <a:spcPts val="0"/>
              </a:spcBef>
            </a:pPr>
            <a:endParaRPr lang="zh-CN" altLang="en-US" sz="2000" dirty="0"/>
          </a:p>
        </p:txBody>
      </p:sp>
    </p:spTree>
    <p:extLst>
      <p:ext uri="{BB962C8B-B14F-4D97-AF65-F5344CB8AC3E}">
        <p14:creationId xmlns:p14="http://schemas.microsoft.com/office/powerpoint/2010/main" val="36349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normAutofit fontScale="90000"/>
          </a:bodyPr>
          <a:lstStyle/>
          <a:p>
            <a:r>
              <a:rPr kumimoji="1" lang="zh-CN" altLang="zh-CN" sz="4800" b="1">
                <a:solidFill>
                  <a:srgbClr val="CC0099"/>
                </a:solidFill>
                <a:latin typeface="Times New Roman" pitchFamily="18" charset="0"/>
                <a:ea typeface="隶书" pitchFamily="49" charset="-122"/>
              </a:rPr>
              <a:t>表达式语义检查</a:t>
            </a:r>
            <a:endParaRPr kumimoji="1" lang="zh-CN" altLang="en-US" sz="4800" b="1">
              <a:solidFill>
                <a:srgbClr val="CC0099"/>
              </a:solidFill>
              <a:latin typeface="Times New Roman" pitchFamily="18" charset="0"/>
              <a:ea typeface="隶书" pitchFamily="49" charset="-122"/>
            </a:endParaRPr>
          </a:p>
        </p:txBody>
      </p:sp>
      <p:sp>
        <p:nvSpPr>
          <p:cNvPr id="28675" name="内容占位符 2"/>
          <p:cNvSpPr>
            <a:spLocks noGrp="1"/>
          </p:cNvSpPr>
          <p:nvPr>
            <p:ph idx="1"/>
          </p:nvPr>
        </p:nvSpPr>
        <p:spPr>
          <a:xfrm>
            <a:off x="425609" y="771550"/>
            <a:ext cx="8715375" cy="4248472"/>
          </a:xfrm>
          <a:solidFill>
            <a:schemeClr val="bg1"/>
          </a:solidFill>
        </p:spPr>
        <p:txBody>
          <a:bodyPr>
            <a:noAutofit/>
          </a:bodyPr>
          <a:lstStyle/>
          <a:p>
            <a:pPr>
              <a:spcBef>
                <a:spcPts val="0"/>
              </a:spcBef>
              <a:buFontTx/>
              <a:buNone/>
            </a:pPr>
            <a:r>
              <a:rPr lang="zh-CN" altLang="zh-CN" sz="2000" dirty="0"/>
              <a:t>（</a:t>
            </a:r>
            <a:r>
              <a:rPr lang="en-US" altLang="zh-CN" sz="2000" dirty="0"/>
              <a:t>1</a:t>
            </a:r>
            <a:r>
              <a:rPr lang="zh-CN" altLang="zh-CN" sz="2000" dirty="0"/>
              <a:t>）在函数调用时实参与形参的类型</a:t>
            </a:r>
            <a:r>
              <a:rPr lang="zh-CN" altLang="en-US" sz="2000" dirty="0"/>
              <a:t>是否</a:t>
            </a:r>
            <a:r>
              <a:rPr lang="zh-CN" altLang="zh-CN" sz="2000" dirty="0"/>
              <a:t>匹配、参数个数</a:t>
            </a:r>
            <a:r>
              <a:rPr lang="zh-CN" altLang="en-US" sz="2000" dirty="0"/>
              <a:t>是否</a:t>
            </a:r>
            <a:r>
              <a:rPr lang="zh-CN" altLang="zh-CN" sz="2000" dirty="0"/>
              <a:t>相等</a:t>
            </a:r>
          </a:p>
          <a:p>
            <a:pPr>
              <a:spcBef>
                <a:spcPts val="0"/>
              </a:spcBef>
              <a:buFontTx/>
              <a:buNone/>
            </a:pPr>
            <a:r>
              <a:rPr lang="zh-CN" altLang="zh-CN" sz="2000" dirty="0"/>
              <a:t>（</a:t>
            </a:r>
            <a:r>
              <a:rPr lang="en-US" altLang="zh-CN" sz="2000" dirty="0"/>
              <a:t>2</a:t>
            </a:r>
            <a:r>
              <a:rPr lang="zh-CN" altLang="zh-CN" sz="2000" dirty="0"/>
              <a:t>）有</a:t>
            </a:r>
            <a:r>
              <a:rPr lang="en-US" altLang="zh-CN" sz="2000" dirty="0"/>
              <a:t>void</a:t>
            </a:r>
            <a:r>
              <a:rPr lang="zh-CN" altLang="zh-CN" sz="2000" dirty="0"/>
              <a:t>返回值的函数不能参与表达式运算；</a:t>
            </a:r>
          </a:p>
          <a:p>
            <a:pPr>
              <a:spcBef>
                <a:spcPts val="0"/>
              </a:spcBef>
              <a:buFontTx/>
              <a:buNone/>
            </a:pPr>
            <a:r>
              <a:rPr lang="zh-CN" altLang="zh-CN" sz="2000" dirty="0"/>
              <a:t>（</a:t>
            </a:r>
            <a:r>
              <a:rPr lang="en-US" altLang="zh-CN" sz="2000" dirty="0"/>
              <a:t>3</a:t>
            </a:r>
            <a:r>
              <a:rPr lang="zh-CN" altLang="zh-CN" sz="2000" dirty="0"/>
              <a:t>）表达式运算中，如果操作符作用于不相容的操作数，编译程序必须报告出错信息。例如，</a:t>
            </a:r>
            <a:r>
              <a:rPr lang="en-US" altLang="zh-CN" sz="2000" dirty="0"/>
              <a:t>C</a:t>
            </a:r>
            <a:r>
              <a:rPr lang="zh-CN" altLang="zh-CN" sz="2000" dirty="0"/>
              <a:t>语言中的算术运算符</a:t>
            </a:r>
            <a:r>
              <a:rPr lang="en-US" altLang="zh-CN" sz="2000" dirty="0"/>
              <a:t>%</a:t>
            </a:r>
            <a:r>
              <a:rPr lang="zh-CN" altLang="zh-CN" sz="2000" dirty="0"/>
              <a:t>；在表达式的语义处理中还就要进行类型的转换。</a:t>
            </a:r>
          </a:p>
          <a:p>
            <a:pPr>
              <a:spcBef>
                <a:spcPts val="0"/>
              </a:spcBef>
              <a:buFontTx/>
              <a:buNone/>
            </a:pPr>
            <a:r>
              <a:rPr lang="zh-CN" altLang="zh-CN" sz="2000" dirty="0"/>
              <a:t>（</a:t>
            </a:r>
            <a:r>
              <a:rPr lang="en-US" altLang="zh-CN" sz="2000" dirty="0"/>
              <a:t>4</a:t>
            </a:r>
            <a:r>
              <a:rPr lang="zh-CN" altLang="zh-CN" sz="2000" dirty="0"/>
              <a:t>）数组下标运算错误，下标运算只能作用于数组，指针地址访问只作用于指针等； </a:t>
            </a:r>
          </a:p>
          <a:p>
            <a:pPr>
              <a:spcBef>
                <a:spcPts val="0"/>
              </a:spcBef>
              <a:buFontTx/>
              <a:buNone/>
            </a:pPr>
            <a:r>
              <a:rPr lang="zh-CN" altLang="zh-CN" sz="2000" dirty="0"/>
              <a:t>（</a:t>
            </a:r>
            <a:r>
              <a:rPr lang="en-US" altLang="zh-CN" sz="2000" dirty="0"/>
              <a:t>5</a:t>
            </a:r>
            <a:r>
              <a:rPr lang="zh-CN" altLang="zh-CN" sz="2000" dirty="0"/>
              <a:t>）赋值表达式中，表达式不能作为左值（赋值符号左边的符号），如赋值表达式左边只能是变量、数组下标或指针，其余表达式是不允许的。有些语言，前缀自加自减（</a:t>
            </a:r>
            <a:r>
              <a:rPr lang="en-US" altLang="zh-CN" sz="2000" dirty="0"/>
              <a:t>++</a:t>
            </a:r>
            <a:r>
              <a:rPr lang="en-US" altLang="zh-CN" sz="2000" dirty="0" err="1"/>
              <a:t>i</a:t>
            </a:r>
            <a:r>
              <a:rPr lang="zh-CN" altLang="zh-CN" sz="2000" dirty="0"/>
              <a:t>）、后缀自加自减（</a:t>
            </a:r>
            <a:r>
              <a:rPr lang="en-US" altLang="zh-CN" sz="2000" dirty="0" err="1"/>
              <a:t>i</a:t>
            </a:r>
            <a:r>
              <a:rPr lang="en-US" altLang="zh-CN" sz="2000" dirty="0"/>
              <a:t>++</a:t>
            </a:r>
            <a:r>
              <a:rPr lang="zh-CN" altLang="zh-CN" sz="2000" dirty="0"/>
              <a:t>）和取址运算（</a:t>
            </a:r>
            <a:r>
              <a:rPr lang="en-US" altLang="zh-CN" sz="2000" dirty="0"/>
              <a:t>&amp;</a:t>
            </a:r>
            <a:r>
              <a:rPr lang="zh-CN" altLang="zh-CN" sz="2000" dirty="0"/>
              <a:t>）也要求运算对象是左值</a:t>
            </a:r>
          </a:p>
          <a:p>
            <a:pPr>
              <a:spcBef>
                <a:spcPts val="0"/>
              </a:spcBef>
              <a:buFontTx/>
              <a:buNone/>
            </a:pPr>
            <a:r>
              <a:rPr lang="zh-CN" altLang="zh-CN" sz="2000" dirty="0"/>
              <a:t>（</a:t>
            </a:r>
            <a:r>
              <a:rPr lang="en-US" altLang="zh-CN" sz="2000" dirty="0"/>
              <a:t>6</a:t>
            </a:r>
            <a:r>
              <a:rPr lang="zh-CN" altLang="zh-CN" sz="2000" dirty="0"/>
              <a:t>）赋值表达式的类型不匹配，在赋值运算中，允许兼容的赋值，这就需要进行必要的类型转换</a:t>
            </a:r>
            <a:r>
              <a:rPr lang="zh-CN" altLang="en-US" sz="2000" dirty="0"/>
              <a:t>。</a:t>
            </a:r>
          </a:p>
        </p:txBody>
      </p:sp>
    </p:spTree>
    <p:extLst>
      <p:ext uri="{BB962C8B-B14F-4D97-AF65-F5344CB8AC3E}">
        <p14:creationId xmlns:p14="http://schemas.microsoft.com/office/powerpoint/2010/main" val="361968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428625" y="160735"/>
            <a:ext cx="8229600" cy="857250"/>
          </a:xfrm>
        </p:spPr>
        <p:txBody>
          <a:bodyPr/>
          <a:lstStyle/>
          <a:p>
            <a:r>
              <a:rPr kumimoji="1" lang="zh-CN" altLang="zh-CN" sz="4800" b="1">
                <a:solidFill>
                  <a:srgbClr val="CC0099"/>
                </a:solidFill>
                <a:latin typeface="Times New Roman" pitchFamily="18" charset="0"/>
                <a:ea typeface="隶书" pitchFamily="49" charset="-122"/>
              </a:rPr>
              <a:t>语句语义检查</a:t>
            </a:r>
            <a:endParaRPr kumimoji="1" lang="zh-CN" altLang="en-US" sz="4800" b="1">
              <a:solidFill>
                <a:srgbClr val="CC0099"/>
              </a:solidFill>
              <a:latin typeface="Times New Roman" pitchFamily="18" charset="0"/>
              <a:ea typeface="隶书" pitchFamily="49" charset="-122"/>
            </a:endParaRPr>
          </a:p>
        </p:txBody>
      </p:sp>
      <p:sp>
        <p:nvSpPr>
          <p:cNvPr id="3" name="内容占位符 2"/>
          <p:cNvSpPr>
            <a:spLocks noGrp="1"/>
          </p:cNvSpPr>
          <p:nvPr>
            <p:ph idx="1"/>
          </p:nvPr>
        </p:nvSpPr>
        <p:spPr>
          <a:xfrm>
            <a:off x="539552" y="1059582"/>
            <a:ext cx="8208912" cy="3816424"/>
          </a:xfrm>
          <a:solidFill>
            <a:schemeClr val="bg1"/>
          </a:solidFill>
        </p:spPr>
        <p:txBody>
          <a:bodyPr>
            <a:noAutofit/>
          </a:bodyPr>
          <a:lstStyle/>
          <a:p>
            <a:pPr marL="342900" indent="-342900">
              <a:lnSpc>
                <a:spcPct val="120000"/>
              </a:lnSpc>
              <a:defRPr/>
            </a:pPr>
            <a:r>
              <a:rPr lang="en-US" altLang="zh-CN" sz="2200" dirty="0"/>
              <a:t>break</a:t>
            </a:r>
            <a:r>
              <a:rPr lang="zh-CN" altLang="zh-CN" sz="2200" dirty="0"/>
              <a:t>语句只能出现在循环语句和</a:t>
            </a:r>
            <a:r>
              <a:rPr lang="en-US" altLang="zh-CN" sz="2200" dirty="0"/>
              <a:t>switch</a:t>
            </a:r>
            <a:r>
              <a:rPr lang="zh-CN" altLang="zh-CN" sz="2200" dirty="0"/>
              <a:t>语句内部，由于复合语句支持嵌套，因此需要使用与作用域管理类似的机制记录复合语句的嵌套层次。</a:t>
            </a:r>
          </a:p>
          <a:p>
            <a:pPr marL="342900" indent="-342900">
              <a:lnSpc>
                <a:spcPct val="120000"/>
              </a:lnSpc>
              <a:defRPr/>
            </a:pPr>
            <a:r>
              <a:rPr lang="en-US" altLang="zh-CN" sz="2200" dirty="0"/>
              <a:t>continue</a:t>
            </a:r>
            <a:r>
              <a:rPr lang="zh-CN" altLang="zh-CN" sz="2200" dirty="0"/>
              <a:t>语句与</a:t>
            </a:r>
            <a:r>
              <a:rPr lang="en-US" altLang="zh-CN" sz="2200" dirty="0"/>
              <a:t>break</a:t>
            </a:r>
            <a:r>
              <a:rPr lang="zh-CN" altLang="zh-CN" sz="2200" dirty="0"/>
              <a:t>语句类似，不过检查</a:t>
            </a:r>
            <a:r>
              <a:rPr lang="en-US" altLang="zh-CN" sz="2200" dirty="0"/>
              <a:t>continue</a:t>
            </a:r>
            <a:r>
              <a:rPr lang="zh-CN" altLang="zh-CN" sz="2200" dirty="0"/>
              <a:t>语句时，只需要关心循环语句的嵌套层次，它不能在</a:t>
            </a:r>
            <a:r>
              <a:rPr lang="en-US" altLang="zh-CN" sz="2200" dirty="0"/>
              <a:t>switch</a:t>
            </a:r>
            <a:r>
              <a:rPr lang="zh-CN" altLang="zh-CN" sz="2200" dirty="0"/>
              <a:t>语句中使用。</a:t>
            </a:r>
          </a:p>
          <a:p>
            <a:pPr marL="342900" indent="-342900">
              <a:lnSpc>
                <a:spcPct val="120000"/>
              </a:lnSpc>
              <a:defRPr/>
            </a:pPr>
            <a:r>
              <a:rPr lang="en-US" altLang="zh-CN" sz="2200" dirty="0"/>
              <a:t>return</a:t>
            </a:r>
            <a:r>
              <a:rPr lang="zh-CN" altLang="zh-CN" sz="2200" dirty="0"/>
              <a:t>语句的语义检查主要是检查</a:t>
            </a:r>
            <a:r>
              <a:rPr lang="en-US" altLang="zh-CN" sz="2200" dirty="0"/>
              <a:t>return</a:t>
            </a:r>
            <a:r>
              <a:rPr lang="zh-CN" altLang="zh-CN" sz="2200" dirty="0"/>
              <a:t>语句中是否有表达式、表达式和函数返回值类型是否兼容。</a:t>
            </a:r>
          </a:p>
          <a:p>
            <a:pPr marL="342900" indent="-342900">
              <a:lnSpc>
                <a:spcPct val="120000"/>
              </a:lnSpc>
              <a:defRPr/>
            </a:pPr>
            <a:r>
              <a:rPr lang="zh-CN" altLang="zh-CN" sz="2200" dirty="0"/>
              <a:t>语句的语义检查部分还需要检查函数声明是否出现在复合语句中的情况。</a:t>
            </a:r>
          </a:p>
          <a:p>
            <a:pPr>
              <a:defRPr/>
            </a:pPr>
            <a:endParaRPr lang="zh-CN" altLang="en-US" sz="2200" dirty="0"/>
          </a:p>
        </p:txBody>
      </p:sp>
    </p:spTree>
    <p:extLst>
      <p:ext uri="{BB962C8B-B14F-4D97-AF65-F5344CB8AC3E}">
        <p14:creationId xmlns:p14="http://schemas.microsoft.com/office/powerpoint/2010/main" val="330498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0B9D655-CBC1-46A8-747E-32488D0130CA}"/>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25EADC0B-089C-483D-AB3A-9261F3540F6C}"/>
              </a:ext>
            </a:extLst>
          </p:cNvPr>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2570288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3371436" cy="769441"/>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、属性文法</a:t>
            </a:r>
            <a:endParaRPr lang="zh-CN" altLang="en-US" sz="4400" dirty="0"/>
          </a:p>
        </p:txBody>
      </p:sp>
    </p:spTree>
    <p:extLst>
      <p:ext uri="{BB962C8B-B14F-4D97-AF65-F5344CB8AC3E}">
        <p14:creationId xmlns:p14="http://schemas.microsoft.com/office/powerpoint/2010/main" val="2472503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921724"/>
            <a:ext cx="4054061" cy="1368152"/>
          </a:xfrm>
        </p:spPr>
        <p:txBody>
          <a:bodyPr>
            <a:normAutofit/>
          </a:bodyPr>
          <a:lstStyle/>
          <a:p>
            <a:r>
              <a:rPr lang="en-US" altLang="zh-CN" dirty="0" err="1"/>
              <a:t>D.E.knuth</a:t>
            </a:r>
            <a:r>
              <a:rPr lang="en-US" altLang="zh-CN" dirty="0"/>
              <a:t> 1968</a:t>
            </a:r>
            <a:r>
              <a:rPr lang="zh-CN" altLang="en-US" dirty="0"/>
              <a:t>年提出</a:t>
            </a:r>
            <a:endParaRPr lang="en-US" altLang="zh-CN" dirty="0"/>
          </a:p>
          <a:p>
            <a:r>
              <a:rPr lang="en-US" altLang="zh-CN" dirty="0"/>
              <a:t>《</a:t>
            </a:r>
            <a:r>
              <a:rPr lang="zh-CN" altLang="en-US" dirty="0"/>
              <a:t>计算机程序设计艺术</a:t>
            </a:r>
            <a:r>
              <a:rPr lang="en-US" altLang="zh-CN" dirty="0"/>
              <a:t>》</a:t>
            </a:r>
          </a:p>
          <a:p>
            <a:r>
              <a:rPr lang="zh-CN" altLang="en-US" dirty="0"/>
              <a:t>本章会介绍相关原理</a:t>
            </a:r>
          </a:p>
        </p:txBody>
      </p:sp>
      <p:sp>
        <p:nvSpPr>
          <p:cNvPr id="3" name="标题 2"/>
          <p:cNvSpPr>
            <a:spLocks noGrp="1"/>
          </p:cNvSpPr>
          <p:nvPr>
            <p:ph type="title"/>
          </p:nvPr>
        </p:nvSpPr>
        <p:spPr>
          <a:xfrm>
            <a:off x="1" y="180347"/>
            <a:ext cx="8229600" cy="576064"/>
          </a:xfrm>
        </p:spPr>
        <p:txBody>
          <a:bodyPr>
            <a:noAutofit/>
          </a:bodyPr>
          <a:lstStyle/>
          <a:p>
            <a:r>
              <a:rPr lang="zh-CN" altLang="en-US" dirty="0"/>
              <a:t>属性文法</a:t>
            </a:r>
          </a:p>
        </p:txBody>
      </p:sp>
      <p:pic>
        <p:nvPicPr>
          <p:cNvPr id="28674" name="Picture 2" descr="https://timgsa.baidu.com/timg?image&amp;quality=80&amp;size=b9999_10000&amp;sec=1584935790625&amp;di=223968481de4ff51861df47de1662e58&amp;imgtype=0&amp;src=http%3A%2F%2Fpic1.zhimg.com%2F50%2Fv2-9795b22a6cbad999f5b5c3c9d826257c_h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558" y="2617058"/>
            <a:ext cx="3491881" cy="2401295"/>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descr="https://timgsa.baidu.com/timg?image&amp;quality=80&amp;size=b9999_10000&amp;sec=1584935790625&amp;di=0333376694ef59289a490a47ee00f6e1&amp;imgtype=0&amp;src=http%3A%2F%2Fpic4.zhimg.com%2Fv2-bbb13a9f49fe7f4c73097e4b81e698c3_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617058"/>
            <a:ext cx="3443359" cy="2367927"/>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https://timgsa.baidu.com/timg?image&amp;quality=80&amp;size=b9999_10000&amp;sec=1584936104513&amp;di=c12a4dab3d2601334994632964eafc74&amp;imgtype=0&amp;src=http%3A%2F%2Fpic2.zhimg.com%2Fv2-f7b33c3c899f14aeb78bcc7bb4da0fbd_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552" y="2602065"/>
            <a:ext cx="3540249" cy="2434556"/>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10" descr="https://ss1.bdstatic.com/70cFvXSh_Q1YnxGkpoWK1HF6hhy/it/u=315877498,4102939927&amp;fm=26&amp;gp=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8083" y="1645663"/>
            <a:ext cx="2052069" cy="800307"/>
          </a:xfrm>
          <a:prstGeom prst="rect">
            <a:avLst/>
          </a:prstGeom>
          <a:noFill/>
          <a:extLst>
            <a:ext uri="{909E8E84-426E-40DD-AFC4-6F175D3DCCD1}">
              <a14:hiddenFill xmlns:a14="http://schemas.microsoft.com/office/drawing/2010/main">
                <a:solidFill>
                  <a:srgbClr val="FFFFFF"/>
                </a:solidFill>
              </a14:hiddenFill>
            </a:ext>
          </a:extLst>
        </p:spPr>
      </p:pic>
      <p:pic>
        <p:nvPicPr>
          <p:cNvPr id="28684" name="Picture 12" descr="https://ss2.bdstatic.com/70cFvnSh_Q1YnxGkpoWK1HF6hhy/it/u=516300429,765405839&amp;fm=26&amp;gp=0.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4845" y="701400"/>
            <a:ext cx="1418547" cy="78867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2CE9DAC7-E0DF-C7F1-BE8D-E3D1B2552A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4248" y="400274"/>
            <a:ext cx="1817671" cy="2149705"/>
          </a:xfrm>
          <a:prstGeom prst="rect">
            <a:avLst/>
          </a:prstGeom>
        </p:spPr>
      </p:pic>
      <p:sp>
        <p:nvSpPr>
          <p:cNvPr id="7" name="文本框 6">
            <a:extLst>
              <a:ext uri="{FF2B5EF4-FFF2-40B4-BE49-F238E27FC236}">
                <a16:creationId xmlns:a16="http://schemas.microsoft.com/office/drawing/2014/main" id="{AE69EF77-89D9-E6FE-A5E7-13C1268CDC5D}"/>
              </a:ext>
            </a:extLst>
          </p:cNvPr>
          <p:cNvSpPr txBox="1"/>
          <p:nvPr/>
        </p:nvSpPr>
        <p:spPr>
          <a:xfrm>
            <a:off x="5927127" y="2593522"/>
            <a:ext cx="3244092" cy="2492990"/>
          </a:xfrm>
          <a:prstGeom prst="rect">
            <a:avLst/>
          </a:prstGeom>
          <a:noFill/>
        </p:spPr>
        <p:txBody>
          <a:bodyPr wrap="square">
            <a:spAutoFit/>
          </a:bodyPr>
          <a:lstStyle/>
          <a:p>
            <a:r>
              <a:rPr lang="en-US" altLang="zh-CN" sz="1200" b="0" i="0" dirty="0" err="1">
                <a:solidFill>
                  <a:srgbClr val="FF0000"/>
                </a:solidFill>
                <a:effectLst/>
                <a:latin typeface="sans serif"/>
              </a:rPr>
              <a:t>LaTex</a:t>
            </a:r>
            <a:r>
              <a:rPr lang="zh-CN" altLang="en-US" sz="1200" b="0" i="0" dirty="0">
                <a:solidFill>
                  <a:srgbClr val="FF0000"/>
                </a:solidFill>
                <a:effectLst/>
                <a:latin typeface="sans serif"/>
              </a:rPr>
              <a:t>是一款非常专业的基于</a:t>
            </a:r>
            <a:r>
              <a:rPr lang="en-US" altLang="zh-CN" sz="1200" b="0" i="0" dirty="0" err="1">
                <a:solidFill>
                  <a:srgbClr val="FF0000"/>
                </a:solidFill>
                <a:effectLst/>
                <a:latin typeface="sans serif"/>
              </a:rPr>
              <a:t>TeX</a:t>
            </a:r>
            <a:r>
              <a:rPr lang="zh-CN" altLang="en-US" sz="1200" b="0" i="0" dirty="0">
                <a:solidFill>
                  <a:srgbClr val="FF0000"/>
                </a:solidFill>
                <a:effectLst/>
                <a:latin typeface="sans serif"/>
              </a:rPr>
              <a:t>的排版系统</a:t>
            </a:r>
            <a:r>
              <a:rPr lang="zh-CN" altLang="en-US" sz="1200" b="0" i="0" dirty="0">
                <a:solidFill>
                  <a:srgbClr val="000000"/>
                </a:solidFill>
                <a:effectLst/>
                <a:latin typeface="sans serif"/>
              </a:rPr>
              <a:t>，本身并不是一个独立的排版程序，而是运行在 </a:t>
            </a:r>
            <a:r>
              <a:rPr lang="en-US" altLang="zh-CN" sz="1200" b="0" i="0" dirty="0">
                <a:solidFill>
                  <a:srgbClr val="000000"/>
                </a:solidFill>
                <a:effectLst/>
                <a:latin typeface="sans serif"/>
              </a:rPr>
              <a:t>Donald E. Knuth </a:t>
            </a:r>
            <a:r>
              <a:rPr lang="zh-CN" altLang="en-US" sz="1200" b="0" i="0" dirty="0">
                <a:solidFill>
                  <a:srgbClr val="000000"/>
                </a:solidFill>
                <a:effectLst/>
                <a:latin typeface="sans serif"/>
              </a:rPr>
              <a:t>的 </a:t>
            </a:r>
            <a:r>
              <a:rPr lang="en-US" altLang="zh-CN" sz="1200" b="0" i="0" dirty="0" err="1">
                <a:solidFill>
                  <a:srgbClr val="000000"/>
                </a:solidFill>
                <a:effectLst/>
                <a:latin typeface="sans serif"/>
              </a:rPr>
              <a:t>TeX</a:t>
            </a:r>
            <a:r>
              <a:rPr lang="en-US" altLang="zh-CN" sz="1200" b="0" i="0" dirty="0">
                <a:solidFill>
                  <a:srgbClr val="000000"/>
                </a:solidFill>
                <a:effectLst/>
                <a:latin typeface="sans serif"/>
              </a:rPr>
              <a:t> </a:t>
            </a:r>
            <a:r>
              <a:rPr lang="zh-CN" altLang="en-US" sz="1200" b="0" i="0" dirty="0">
                <a:solidFill>
                  <a:srgbClr val="000000"/>
                </a:solidFill>
                <a:effectLst/>
                <a:latin typeface="sans serif"/>
              </a:rPr>
              <a:t>排版系统之上的文档准备软件。</a:t>
            </a:r>
            <a:r>
              <a:rPr lang="en-US" altLang="zh-CN" sz="1200" b="0" i="0" dirty="0">
                <a:solidFill>
                  <a:srgbClr val="000000"/>
                </a:solidFill>
                <a:effectLst/>
                <a:latin typeface="sans serif"/>
              </a:rPr>
              <a:t>Latex</a:t>
            </a:r>
            <a:r>
              <a:rPr lang="zh-CN" altLang="en-US" sz="1200" b="0" i="0" dirty="0">
                <a:solidFill>
                  <a:srgbClr val="000000"/>
                </a:solidFill>
                <a:effectLst/>
                <a:latin typeface="sans serif"/>
              </a:rPr>
              <a:t>包括一个文本编辑器</a:t>
            </a:r>
            <a:r>
              <a:rPr lang="en-US" altLang="zh-CN" sz="1200" b="0" i="0" dirty="0">
                <a:solidFill>
                  <a:srgbClr val="000000"/>
                </a:solidFill>
                <a:effectLst/>
                <a:latin typeface="sans serif"/>
              </a:rPr>
              <a:t>(</a:t>
            </a:r>
            <a:r>
              <a:rPr lang="en-US" altLang="zh-CN" sz="1200" b="0" i="0" dirty="0" err="1">
                <a:solidFill>
                  <a:srgbClr val="000000"/>
                </a:solidFill>
                <a:effectLst/>
                <a:latin typeface="sans serif"/>
              </a:rPr>
              <a:t>TeXworks</a:t>
            </a:r>
            <a:r>
              <a:rPr lang="en-US" altLang="zh-CN" sz="1200" b="0" i="0" dirty="0">
                <a:solidFill>
                  <a:srgbClr val="000000"/>
                </a:solidFill>
                <a:effectLst/>
                <a:latin typeface="sans serif"/>
              </a:rPr>
              <a:t> editor,</a:t>
            </a:r>
            <a:r>
              <a:rPr lang="zh-CN" altLang="en-US" sz="1200" b="0" i="0" dirty="0">
                <a:solidFill>
                  <a:srgbClr val="000000"/>
                </a:solidFill>
                <a:effectLst/>
                <a:latin typeface="sans serif"/>
              </a:rPr>
              <a:t>类似于</a:t>
            </a:r>
            <a:r>
              <a:rPr lang="en-US" altLang="zh-CN" sz="1200" b="0" i="0" dirty="0">
                <a:solidFill>
                  <a:srgbClr val="000000"/>
                </a:solidFill>
                <a:effectLst/>
                <a:latin typeface="sans serif"/>
              </a:rPr>
              <a:t>word), Latex</a:t>
            </a:r>
            <a:r>
              <a:rPr lang="zh-CN" altLang="en-US" sz="1200" b="0" i="0" dirty="0">
                <a:solidFill>
                  <a:srgbClr val="000000"/>
                </a:solidFill>
                <a:effectLst/>
                <a:latin typeface="sans serif"/>
              </a:rPr>
              <a:t>编译器</a:t>
            </a:r>
            <a:r>
              <a:rPr lang="en-US" altLang="zh-CN" sz="1200" b="0" i="0" dirty="0">
                <a:solidFill>
                  <a:srgbClr val="000000"/>
                </a:solidFill>
                <a:effectLst/>
                <a:latin typeface="sans serif"/>
              </a:rPr>
              <a:t>, </a:t>
            </a:r>
            <a:r>
              <a:rPr lang="zh-CN" altLang="en-US" sz="1200" b="0" i="0" dirty="0">
                <a:solidFill>
                  <a:srgbClr val="000000"/>
                </a:solidFill>
                <a:effectLst/>
                <a:latin typeface="sans serif"/>
              </a:rPr>
              <a:t>一套</a:t>
            </a:r>
            <a:r>
              <a:rPr lang="en-US" altLang="zh-CN" sz="1200" b="0" i="0" dirty="0">
                <a:solidFill>
                  <a:srgbClr val="000000"/>
                </a:solidFill>
                <a:effectLst/>
                <a:latin typeface="sans serif"/>
              </a:rPr>
              <a:t>Latex</a:t>
            </a:r>
            <a:r>
              <a:rPr lang="zh-CN" altLang="en-US" sz="1200" b="0" i="0" dirty="0">
                <a:solidFill>
                  <a:srgbClr val="000000"/>
                </a:solidFill>
                <a:effectLst/>
                <a:latin typeface="sans serif"/>
              </a:rPr>
              <a:t>编译器认可的语法。</a:t>
            </a:r>
            <a:r>
              <a:rPr lang="en-US" altLang="zh-CN" sz="1200" b="0" i="0" dirty="0" err="1">
                <a:solidFill>
                  <a:srgbClr val="FF0000"/>
                </a:solidFill>
                <a:effectLst/>
                <a:latin typeface="sans serif"/>
              </a:rPr>
              <a:t>Tex</a:t>
            </a:r>
            <a:r>
              <a:rPr lang="zh-CN" altLang="en-US" sz="1200" dirty="0">
                <a:solidFill>
                  <a:srgbClr val="FF0000"/>
                </a:solidFill>
                <a:latin typeface="sans serif"/>
              </a:rPr>
              <a:t>系统是基于属性文法的。</a:t>
            </a:r>
            <a:br>
              <a:rPr lang="zh-CN" altLang="en-US" sz="1200" dirty="0"/>
            </a:br>
            <a:r>
              <a:rPr lang="en-US" altLang="zh-CN" sz="1200" b="0" i="0" dirty="0">
                <a:solidFill>
                  <a:srgbClr val="000000"/>
                </a:solidFill>
                <a:effectLst/>
                <a:latin typeface="sans serif"/>
              </a:rPr>
              <a:t>Donald E. Knuth</a:t>
            </a:r>
            <a:r>
              <a:rPr lang="zh-CN" altLang="en-US" sz="1200" b="0" i="0" dirty="0">
                <a:solidFill>
                  <a:srgbClr val="000000"/>
                </a:solidFill>
                <a:effectLst/>
                <a:latin typeface="sans serif"/>
              </a:rPr>
              <a:t>是排版软件</a:t>
            </a:r>
            <a:r>
              <a:rPr lang="en-US" altLang="zh-CN" sz="1200" b="0" i="0" dirty="0" err="1">
                <a:solidFill>
                  <a:srgbClr val="000000"/>
                </a:solidFill>
                <a:effectLst/>
                <a:latin typeface="sans serif"/>
              </a:rPr>
              <a:t>TeX</a:t>
            </a:r>
            <a:r>
              <a:rPr lang="zh-CN" altLang="en-US" sz="1200" b="0" i="0" dirty="0">
                <a:solidFill>
                  <a:srgbClr val="000000"/>
                </a:solidFill>
                <a:effectLst/>
                <a:latin typeface="sans serif"/>
              </a:rPr>
              <a:t>和字型设计系统</a:t>
            </a:r>
            <a:r>
              <a:rPr lang="en-US" altLang="zh-CN" sz="1200" b="0" i="0" dirty="0">
                <a:solidFill>
                  <a:srgbClr val="000000"/>
                </a:solidFill>
                <a:effectLst/>
                <a:latin typeface="sans serif"/>
              </a:rPr>
              <a:t>METAFONT</a:t>
            </a:r>
            <a:r>
              <a:rPr lang="zh-CN" altLang="en-US" sz="1200" b="0" i="0" dirty="0">
                <a:solidFill>
                  <a:srgbClr val="000000"/>
                </a:solidFill>
                <a:effectLst/>
                <a:latin typeface="sans serif"/>
              </a:rPr>
              <a:t>发明人，获得</a:t>
            </a:r>
            <a:r>
              <a:rPr lang="en-US" altLang="zh-CN" sz="1200" b="0" i="0" dirty="0">
                <a:solidFill>
                  <a:srgbClr val="FF0000"/>
                </a:solidFill>
                <a:effectLst/>
                <a:latin typeface="sans serif"/>
              </a:rPr>
              <a:t>1974</a:t>
            </a:r>
            <a:r>
              <a:rPr lang="zh-CN" altLang="en-US" sz="1200" b="0" i="0" dirty="0">
                <a:solidFill>
                  <a:srgbClr val="FF0000"/>
                </a:solidFill>
                <a:effectLst/>
                <a:latin typeface="sans serif"/>
              </a:rPr>
              <a:t>年的图灵奖</a:t>
            </a:r>
            <a:r>
              <a:rPr lang="zh-CN" altLang="en-US" sz="1200" b="0" i="0" dirty="0">
                <a:solidFill>
                  <a:srgbClr val="000000"/>
                </a:solidFill>
                <a:effectLst/>
                <a:latin typeface="sans serif"/>
              </a:rPr>
              <a:t>，所著描述基本算法与数据结构的巨作</a:t>
            </a:r>
            <a:r>
              <a:rPr lang="en-US" altLang="zh-CN" sz="1200" b="0" i="0" dirty="0">
                <a:solidFill>
                  <a:srgbClr val="FF0000"/>
                </a:solidFill>
                <a:effectLst/>
                <a:latin typeface="sans serif"/>
              </a:rPr>
              <a:t>《</a:t>
            </a:r>
            <a:r>
              <a:rPr lang="zh-CN" altLang="en-US" sz="1200" b="0" i="0" dirty="0">
                <a:solidFill>
                  <a:srgbClr val="FF0000"/>
                </a:solidFill>
                <a:effectLst/>
                <a:latin typeface="sans serif"/>
              </a:rPr>
              <a:t>计算机程序设计的艺术</a:t>
            </a:r>
            <a:r>
              <a:rPr lang="en-US" altLang="zh-CN" sz="1200" b="0" i="0" dirty="0">
                <a:solidFill>
                  <a:srgbClr val="FF0000"/>
                </a:solidFill>
                <a:effectLst/>
                <a:latin typeface="sans serif"/>
              </a:rPr>
              <a:t>》</a:t>
            </a:r>
            <a:r>
              <a:rPr lang="zh-CN" altLang="en-US" sz="1200" b="0" i="0" dirty="0">
                <a:solidFill>
                  <a:srgbClr val="000000"/>
                </a:solidFill>
                <a:effectLst/>
                <a:latin typeface="sans serif"/>
              </a:rPr>
              <a:t>被</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美国科学家</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杂志列为</a:t>
            </a:r>
            <a:r>
              <a:rPr lang="en-US" altLang="zh-CN" sz="1200" b="0" i="0" dirty="0">
                <a:solidFill>
                  <a:srgbClr val="FF0000"/>
                </a:solidFill>
                <a:effectLst/>
                <a:latin typeface="sans serif"/>
              </a:rPr>
              <a:t>20</a:t>
            </a:r>
            <a:r>
              <a:rPr lang="zh-CN" altLang="en-US" sz="1200" b="0" i="0" dirty="0">
                <a:solidFill>
                  <a:srgbClr val="FF0000"/>
                </a:solidFill>
                <a:effectLst/>
                <a:latin typeface="sans serif"/>
              </a:rPr>
              <a:t>世纪最重要的</a:t>
            </a:r>
            <a:r>
              <a:rPr lang="en-US" altLang="zh-CN" sz="1200" b="0" i="0" dirty="0">
                <a:solidFill>
                  <a:srgbClr val="FF0000"/>
                </a:solidFill>
                <a:effectLst/>
                <a:latin typeface="sans serif"/>
              </a:rPr>
              <a:t>12</a:t>
            </a:r>
            <a:r>
              <a:rPr lang="zh-CN" altLang="en-US" sz="1200" b="0" i="0" dirty="0">
                <a:solidFill>
                  <a:srgbClr val="FF0000"/>
                </a:solidFill>
                <a:effectLst/>
                <a:latin typeface="sans serif"/>
              </a:rPr>
              <a:t>本物理科学类专著之一</a:t>
            </a:r>
            <a:r>
              <a:rPr lang="zh-CN" altLang="en-US" sz="1200" b="0" i="0" dirty="0">
                <a:solidFill>
                  <a:srgbClr val="000000"/>
                </a:solidFill>
                <a:effectLst/>
                <a:latin typeface="sans serif"/>
              </a:rPr>
              <a:t>，与爱因斯坦</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相对论</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、狄拉克</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量子力学</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、理查</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费曼</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量子电动力学</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等经典比肩而立。</a:t>
            </a:r>
            <a:endParaRPr lang="zh-CN" altLang="en-US" sz="1200" dirty="0"/>
          </a:p>
        </p:txBody>
      </p:sp>
    </p:spTree>
    <p:extLst>
      <p:ext uri="{BB962C8B-B14F-4D97-AF65-F5344CB8AC3E}">
        <p14:creationId xmlns:p14="http://schemas.microsoft.com/office/powerpoint/2010/main" val="21403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51520" y="0"/>
            <a:ext cx="5328592" cy="857250"/>
          </a:xfrm>
        </p:spPr>
        <p:txBody>
          <a:bodyPr/>
          <a:lstStyle/>
          <a:p>
            <a:pPr eaLnBrk="1" hangingPunct="1"/>
            <a:r>
              <a:rPr kumimoji="1" lang="zh-CN" altLang="en-US" b="1" dirty="0">
                <a:solidFill>
                  <a:srgbClr val="CC0099"/>
                </a:solidFill>
                <a:latin typeface="Times New Roman" pitchFamily="18" charset="0"/>
                <a:ea typeface="隶书" pitchFamily="49" charset="-122"/>
              </a:rPr>
              <a:t>属性文法</a:t>
            </a:r>
          </a:p>
        </p:txBody>
      </p:sp>
      <p:sp>
        <p:nvSpPr>
          <p:cNvPr id="123907" name="Rectangle 3"/>
          <p:cNvSpPr>
            <a:spLocks noGrp="1" noChangeArrowheads="1"/>
          </p:cNvSpPr>
          <p:nvPr>
            <p:ph type="body" idx="1"/>
          </p:nvPr>
        </p:nvSpPr>
        <p:spPr>
          <a:xfrm>
            <a:off x="323528" y="689672"/>
            <a:ext cx="5256584" cy="4103260"/>
          </a:xfrm>
          <a:solidFill>
            <a:schemeClr val="bg1"/>
          </a:solidFill>
          <a:ln w="28575">
            <a:solidFill>
              <a:srgbClr val="0000FF"/>
            </a:solidFill>
            <a:miter lim="800000"/>
            <a:headEnd/>
            <a:tailEnd/>
          </a:ln>
        </p:spPr>
        <p:txBody>
          <a:bodyPr>
            <a:normAutofit fontScale="85000" lnSpcReduction="20000"/>
          </a:bodyPr>
          <a:lstStyle/>
          <a:p>
            <a:pPr>
              <a:lnSpc>
                <a:spcPct val="120000"/>
              </a:lnSpc>
              <a:spcBef>
                <a:spcPts val="0"/>
              </a:spcBef>
            </a:pPr>
            <a:r>
              <a:rPr lang="zh-CN" altLang="zh-CN" dirty="0"/>
              <a:t>用来描述有关的语义信息及其语义的计算</a:t>
            </a:r>
            <a:r>
              <a:rPr lang="zh-CN" altLang="en-US" dirty="0"/>
              <a:t>规则</a:t>
            </a:r>
            <a:endParaRPr lang="en-US" altLang="zh-CN" dirty="0"/>
          </a:p>
          <a:p>
            <a:pPr>
              <a:lnSpc>
                <a:spcPct val="120000"/>
              </a:lnSpc>
              <a:spcBef>
                <a:spcPts val="0"/>
              </a:spcBef>
            </a:pPr>
            <a:r>
              <a:rPr lang="zh-CN" altLang="en-US" b="1" dirty="0">
                <a:solidFill>
                  <a:srgbClr val="0033CC"/>
                </a:solidFill>
              </a:rPr>
              <a:t>属性文法</a:t>
            </a:r>
            <a:r>
              <a:rPr lang="zh-CN" altLang="en-US" dirty="0"/>
              <a:t>：在上下文无关文法的基础上，为每个文法符号</a:t>
            </a:r>
            <a:r>
              <a:rPr lang="en-US" altLang="zh-CN" dirty="0"/>
              <a:t>(</a:t>
            </a:r>
            <a:r>
              <a:rPr lang="zh-CN" altLang="en-US" dirty="0"/>
              <a:t>含终结符和非终结符</a:t>
            </a:r>
            <a:r>
              <a:rPr lang="en-US" altLang="zh-CN" dirty="0"/>
              <a:t>)</a:t>
            </a:r>
            <a:r>
              <a:rPr lang="zh-CN" altLang="en-US" dirty="0"/>
              <a:t>配备若干个</a:t>
            </a:r>
            <a:r>
              <a:rPr lang="zh-CN" altLang="en-US" b="1" dirty="0">
                <a:solidFill>
                  <a:srgbClr val="0033CC"/>
                </a:solidFill>
              </a:rPr>
              <a:t>属性</a:t>
            </a:r>
            <a:r>
              <a:rPr lang="en-US" altLang="zh-CN" b="1" dirty="0">
                <a:solidFill>
                  <a:srgbClr val="0033CC"/>
                </a:solidFill>
              </a:rPr>
              <a:t>,</a:t>
            </a:r>
            <a:r>
              <a:rPr lang="zh-CN" altLang="en-US" dirty="0"/>
              <a:t>对文法的每个产生式都配备了一组属性计算规则</a:t>
            </a:r>
            <a:r>
              <a:rPr lang="en-US" altLang="zh-CN" dirty="0"/>
              <a:t>(</a:t>
            </a:r>
            <a:r>
              <a:rPr lang="zh-CN" altLang="en-US" dirty="0"/>
              <a:t>称为</a:t>
            </a:r>
            <a:r>
              <a:rPr lang="zh-CN" altLang="en-US" b="1" dirty="0">
                <a:solidFill>
                  <a:srgbClr val="0033CC"/>
                </a:solidFill>
              </a:rPr>
              <a:t>语义规则</a:t>
            </a:r>
            <a:r>
              <a:rPr lang="en-US" altLang="zh-CN" dirty="0"/>
              <a:t>)</a:t>
            </a:r>
          </a:p>
          <a:p>
            <a:pPr>
              <a:lnSpc>
                <a:spcPct val="120000"/>
              </a:lnSpc>
              <a:spcBef>
                <a:spcPts val="0"/>
              </a:spcBef>
            </a:pPr>
            <a:r>
              <a:rPr lang="zh-CN" altLang="en-US" b="1" dirty="0">
                <a:solidFill>
                  <a:srgbClr val="0033CC"/>
                </a:solidFill>
              </a:rPr>
              <a:t>属性</a:t>
            </a:r>
            <a:r>
              <a:rPr lang="zh-CN" altLang="en-US" dirty="0"/>
              <a:t>：与文法符号相关的信息，如类型、值、代码序列、符号表的内容等。可以进行计算和传递</a:t>
            </a:r>
            <a:endParaRPr lang="en-US" altLang="zh-CN" dirty="0"/>
          </a:p>
          <a:p>
            <a:pPr>
              <a:lnSpc>
                <a:spcPct val="120000"/>
              </a:lnSpc>
              <a:spcBef>
                <a:spcPts val="0"/>
              </a:spcBef>
            </a:pPr>
            <a:r>
              <a:rPr lang="zh-CN" altLang="en-US" dirty="0"/>
              <a:t>，属性的加工过程就是语义的处理过程</a:t>
            </a:r>
            <a:endParaRPr lang="en-US" altLang="zh-CN" dirty="0"/>
          </a:p>
          <a:p>
            <a:pPr>
              <a:lnSpc>
                <a:spcPct val="120000"/>
              </a:lnSpc>
              <a:spcBef>
                <a:spcPts val="0"/>
              </a:spcBef>
            </a:pPr>
            <a:r>
              <a:rPr lang="zh-CN" altLang="en-US" b="1" dirty="0">
                <a:solidFill>
                  <a:srgbClr val="0033CC"/>
                </a:solidFill>
              </a:rPr>
              <a:t>语义规则</a:t>
            </a:r>
            <a:r>
              <a:rPr lang="en-US" altLang="zh-CN" b="1" dirty="0">
                <a:solidFill>
                  <a:srgbClr val="0033CC"/>
                </a:solidFill>
              </a:rPr>
              <a:t>:</a:t>
            </a:r>
            <a:r>
              <a:rPr lang="zh-CN" altLang="en-US" kern="0" dirty="0">
                <a:solidFill>
                  <a:srgbClr val="000000"/>
                </a:solidFill>
              </a:rPr>
              <a:t>对属性进行计算和传递的规则</a:t>
            </a:r>
            <a:endParaRPr lang="en-US" altLang="zh-CN" kern="0" dirty="0">
              <a:solidFill>
                <a:srgbClr val="000000"/>
              </a:solidFill>
            </a:endParaRPr>
          </a:p>
          <a:p>
            <a:pPr>
              <a:lnSpc>
                <a:spcPct val="120000"/>
              </a:lnSpc>
              <a:spcBef>
                <a:spcPts val="0"/>
              </a:spcBef>
            </a:pPr>
            <a:r>
              <a:rPr lang="zh-CN" altLang="en-US" sz="2400" dirty="0">
                <a:latin typeface="宋体" pitchFamily="2" charset="-122"/>
              </a:rPr>
              <a:t>在语法分析过程中，完成语义规则所描述的动作，从而实现语义处理。</a:t>
            </a:r>
          </a:p>
          <a:p>
            <a:pPr eaLnBrk="1" hangingPunct="1">
              <a:lnSpc>
                <a:spcPct val="120000"/>
              </a:lnSpc>
              <a:spcBef>
                <a:spcPts val="0"/>
              </a:spcBef>
            </a:pPr>
            <a:endParaRPr lang="zh-CN" altLang="en-US" sz="2400" dirty="0"/>
          </a:p>
        </p:txBody>
      </p:sp>
      <p:sp>
        <p:nvSpPr>
          <p:cNvPr id="4" name="Rectangle 5"/>
          <p:cNvSpPr>
            <a:spLocks noChangeArrowheads="1"/>
          </p:cNvSpPr>
          <p:nvPr/>
        </p:nvSpPr>
        <p:spPr bwMode="auto">
          <a:xfrm>
            <a:off x="5796136" y="771550"/>
            <a:ext cx="1685077" cy="1754326"/>
          </a:xfrm>
          <a:prstGeom prst="rect">
            <a:avLst/>
          </a:prstGeom>
          <a:ln/>
        </p:spPr>
        <p:style>
          <a:lnRef idx="1">
            <a:schemeClr val="dk1"/>
          </a:lnRef>
          <a:fillRef idx="2">
            <a:schemeClr val="dk1"/>
          </a:fillRef>
          <a:effectRef idx="1">
            <a:schemeClr val="dk1"/>
          </a:effectRef>
          <a:fontRef idx="minor">
            <a:schemeClr val="dk1"/>
          </a:fontRef>
        </p:style>
        <p:txBody>
          <a:bodyPr wrap="none" anchor="ctr">
            <a:spAutoFit/>
          </a:bodyPr>
          <a:lstStyle/>
          <a:p>
            <a:pPr>
              <a:lnSpc>
                <a:spcPct val="100000"/>
              </a:lnSpc>
              <a:spcBef>
                <a:spcPct val="0"/>
              </a:spcBef>
              <a:buFontTx/>
              <a:buNone/>
              <a:defRPr/>
            </a:pPr>
            <a:r>
              <a:rPr lang="zh-CN" altLang="fr-FR" dirty="0"/>
              <a:t>（</a:t>
            </a:r>
            <a:r>
              <a:rPr lang="fr-FR" altLang="zh-CN" dirty="0"/>
              <a:t>1</a:t>
            </a:r>
            <a:r>
              <a:rPr lang="zh-CN" altLang="fr-FR" dirty="0"/>
              <a:t>）</a:t>
            </a:r>
            <a:r>
              <a:rPr lang="fr-FR" altLang="zh-CN" dirty="0"/>
              <a:t>E→E</a:t>
            </a:r>
            <a:r>
              <a:rPr lang="fr-FR" altLang="zh-CN" baseline="-25000" dirty="0"/>
              <a:t>1</a:t>
            </a:r>
            <a:r>
              <a:rPr lang="fr-FR" altLang="zh-CN" dirty="0"/>
              <a:t>+T</a:t>
            </a:r>
          </a:p>
          <a:p>
            <a:pPr>
              <a:lnSpc>
                <a:spcPct val="100000"/>
              </a:lnSpc>
              <a:spcBef>
                <a:spcPct val="0"/>
              </a:spcBef>
              <a:buFontTx/>
              <a:buNone/>
              <a:defRPr/>
            </a:pPr>
            <a:r>
              <a:rPr lang="zh-CN" altLang="fr-FR" dirty="0"/>
              <a:t>（</a:t>
            </a:r>
            <a:r>
              <a:rPr lang="fr-FR" altLang="zh-CN" dirty="0"/>
              <a:t>2</a:t>
            </a:r>
            <a:r>
              <a:rPr lang="zh-CN" altLang="fr-FR" dirty="0"/>
              <a:t>）</a:t>
            </a:r>
            <a:r>
              <a:rPr lang="fr-FR" altLang="zh-CN" dirty="0"/>
              <a:t>E→T</a:t>
            </a:r>
          </a:p>
          <a:p>
            <a:pPr>
              <a:lnSpc>
                <a:spcPct val="100000"/>
              </a:lnSpc>
              <a:spcBef>
                <a:spcPct val="0"/>
              </a:spcBef>
              <a:buFontTx/>
              <a:buNone/>
              <a:defRPr/>
            </a:pPr>
            <a:r>
              <a:rPr lang="zh-CN" altLang="fr-FR" dirty="0"/>
              <a:t>（</a:t>
            </a:r>
            <a:r>
              <a:rPr lang="fr-FR" altLang="zh-CN" dirty="0"/>
              <a:t>3</a:t>
            </a:r>
            <a:r>
              <a:rPr lang="zh-CN" altLang="fr-FR" dirty="0"/>
              <a:t>）</a:t>
            </a:r>
            <a:r>
              <a:rPr lang="fr-FR" altLang="zh-CN" dirty="0"/>
              <a:t>T→T</a:t>
            </a:r>
            <a:r>
              <a:rPr lang="fr-FR" altLang="zh-CN" baseline="-25000" dirty="0"/>
              <a:t>1</a:t>
            </a:r>
            <a:r>
              <a:rPr lang="fr-FR" altLang="zh-CN" dirty="0"/>
              <a:t>*F</a:t>
            </a:r>
          </a:p>
          <a:p>
            <a:pPr>
              <a:lnSpc>
                <a:spcPct val="100000"/>
              </a:lnSpc>
              <a:spcBef>
                <a:spcPct val="0"/>
              </a:spcBef>
              <a:buFontTx/>
              <a:buNone/>
              <a:defRPr/>
            </a:pPr>
            <a:r>
              <a:rPr lang="zh-CN" altLang="fr-FR" dirty="0"/>
              <a:t>（</a:t>
            </a:r>
            <a:r>
              <a:rPr lang="fr-FR" altLang="zh-CN" dirty="0"/>
              <a:t>4</a:t>
            </a:r>
            <a:r>
              <a:rPr lang="zh-CN" altLang="fr-FR" dirty="0"/>
              <a:t>）</a:t>
            </a:r>
            <a:r>
              <a:rPr lang="fr-FR" altLang="zh-CN" dirty="0"/>
              <a:t>T→F</a:t>
            </a:r>
          </a:p>
          <a:p>
            <a:pPr>
              <a:lnSpc>
                <a:spcPct val="100000"/>
              </a:lnSpc>
              <a:spcBef>
                <a:spcPct val="0"/>
              </a:spcBef>
              <a:buFontTx/>
              <a:buNone/>
              <a:defRPr/>
            </a:pPr>
            <a:r>
              <a:rPr lang="zh-CN" altLang="fr-FR" dirty="0"/>
              <a:t>（</a:t>
            </a:r>
            <a:r>
              <a:rPr lang="fr-FR" altLang="zh-CN" dirty="0"/>
              <a:t>5</a:t>
            </a:r>
            <a:r>
              <a:rPr lang="zh-CN" altLang="fr-FR" dirty="0"/>
              <a:t>）</a:t>
            </a:r>
            <a:r>
              <a:rPr lang="fr-FR" altLang="zh-CN" dirty="0"/>
              <a:t>F→(E)</a:t>
            </a:r>
          </a:p>
          <a:p>
            <a:pPr>
              <a:lnSpc>
                <a:spcPct val="100000"/>
              </a:lnSpc>
              <a:spcBef>
                <a:spcPct val="0"/>
              </a:spcBef>
              <a:buFontTx/>
              <a:buNone/>
              <a:defRPr/>
            </a:pPr>
            <a:r>
              <a:rPr lang="zh-CN" altLang="fr-FR" dirty="0"/>
              <a:t>（</a:t>
            </a:r>
            <a:r>
              <a:rPr lang="fr-FR" altLang="zh-CN" dirty="0"/>
              <a:t>6</a:t>
            </a:r>
            <a:r>
              <a:rPr lang="zh-CN" altLang="fr-FR" dirty="0"/>
              <a:t>）</a:t>
            </a:r>
            <a:r>
              <a:rPr lang="fr-FR" altLang="zh-CN" dirty="0"/>
              <a:t>F→</a:t>
            </a:r>
            <a:r>
              <a:rPr lang="en-US" altLang="zh-CN" dirty="0" err="1"/>
              <a:t>i</a:t>
            </a:r>
            <a:endParaRPr lang="fr-FR" altLang="zh-CN" dirty="0"/>
          </a:p>
        </p:txBody>
      </p:sp>
      <p:sp>
        <p:nvSpPr>
          <p:cNvPr id="2" name="线形标注 1(带边框和强调线) 1"/>
          <p:cNvSpPr/>
          <p:nvPr/>
        </p:nvSpPr>
        <p:spPr>
          <a:xfrm>
            <a:off x="6278634" y="2948061"/>
            <a:ext cx="720080" cy="504056"/>
          </a:xfrm>
          <a:prstGeom prst="accentBorderCallout1">
            <a:avLst>
              <a:gd name="adj1" fmla="val 18750"/>
              <a:gd name="adj2" fmla="val -8333"/>
              <a:gd name="adj3" fmla="val -108860"/>
              <a:gd name="adj4" fmla="val 4121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err="1"/>
              <a:t>F.val</a:t>
            </a:r>
            <a:endParaRPr lang="zh-CN" altLang="en-US" dirty="0"/>
          </a:p>
        </p:txBody>
      </p:sp>
      <p:sp>
        <p:nvSpPr>
          <p:cNvPr id="3" name="TextBox 2"/>
          <p:cNvSpPr txBox="1"/>
          <p:nvPr/>
        </p:nvSpPr>
        <p:spPr>
          <a:xfrm>
            <a:off x="5652120" y="3651870"/>
            <a:ext cx="3491880" cy="646331"/>
          </a:xfrm>
          <a:prstGeom prst="rect">
            <a:avLst/>
          </a:prstGeom>
          <a:noFill/>
        </p:spPr>
        <p:txBody>
          <a:bodyPr wrap="square" rtlCol="0">
            <a:spAutoFit/>
          </a:bodyPr>
          <a:lstStyle/>
          <a:p>
            <a:r>
              <a:rPr lang="zh-CN" altLang="en-US" dirty="0"/>
              <a:t>词法分析的结果是二元形式：</a:t>
            </a:r>
            <a:endParaRPr lang="en-US" altLang="zh-CN" dirty="0"/>
          </a:p>
          <a:p>
            <a:r>
              <a:rPr lang="en-US" altLang="zh-CN" dirty="0">
                <a:solidFill>
                  <a:srgbClr val="FF0000"/>
                </a:solidFill>
              </a:rPr>
              <a:t>(</a:t>
            </a:r>
            <a:r>
              <a:rPr lang="zh-CN" altLang="en-US" dirty="0">
                <a:solidFill>
                  <a:srgbClr val="FF0000"/>
                </a:solidFill>
              </a:rPr>
              <a:t>单词的种别码，单词自身的值</a:t>
            </a:r>
            <a:r>
              <a:rPr lang="en-US" altLang="zh-CN" dirty="0">
                <a:solidFill>
                  <a:srgbClr val="FF0000"/>
                </a:solidFill>
              </a:rPr>
              <a:t>)</a:t>
            </a:r>
            <a:endParaRPr lang="zh-CN" altLang="en-US" dirty="0">
              <a:solidFill>
                <a:srgbClr val="FF0000"/>
              </a:solidFill>
            </a:endParaRPr>
          </a:p>
        </p:txBody>
      </p:sp>
      <p:sp>
        <p:nvSpPr>
          <p:cNvPr id="8" name="线形标注 1(带边框和强调线) 7"/>
          <p:cNvSpPr/>
          <p:nvPr/>
        </p:nvSpPr>
        <p:spPr>
          <a:xfrm>
            <a:off x="5724128" y="4540904"/>
            <a:ext cx="1673932" cy="504056"/>
          </a:xfrm>
          <a:prstGeom prst="accentBorderCallout1">
            <a:avLst>
              <a:gd name="adj1" fmla="val 5397"/>
              <a:gd name="adj2" fmla="val 521"/>
              <a:gd name="adj3" fmla="val -77124"/>
              <a:gd name="adj4" fmla="val 877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语法分析使用</a:t>
            </a:r>
          </a:p>
        </p:txBody>
      </p:sp>
      <p:sp>
        <p:nvSpPr>
          <p:cNvPr id="9" name="线形标注 1(带边框和强调线) 8"/>
          <p:cNvSpPr/>
          <p:nvPr/>
        </p:nvSpPr>
        <p:spPr>
          <a:xfrm>
            <a:off x="7596336" y="4515966"/>
            <a:ext cx="1584176" cy="504056"/>
          </a:xfrm>
          <a:prstGeom prst="accentBorderCallout1">
            <a:avLst>
              <a:gd name="adj1" fmla="val 5397"/>
              <a:gd name="adj2" fmla="val 521"/>
              <a:gd name="adj3" fmla="val -77124"/>
              <a:gd name="adj4" fmla="val 877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语义分析使用</a:t>
            </a:r>
          </a:p>
        </p:txBody>
      </p:sp>
      <p:sp>
        <p:nvSpPr>
          <p:cNvPr id="10" name="线形标注 1(带边框和强调线) 9"/>
          <p:cNvSpPr/>
          <p:nvPr/>
        </p:nvSpPr>
        <p:spPr>
          <a:xfrm>
            <a:off x="7740352" y="2871395"/>
            <a:ext cx="1131097" cy="504056"/>
          </a:xfrm>
          <a:prstGeom prst="accentBorderCallout1">
            <a:avLst>
              <a:gd name="adj1" fmla="val 18750"/>
              <a:gd name="adj2" fmla="val -8333"/>
              <a:gd name="adj3" fmla="val -88423"/>
              <a:gd name="adj4" fmla="val -7694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err="1"/>
              <a:t>i.lexval</a:t>
            </a:r>
            <a:endParaRPr lang="zh-CN" altLang="en-US" dirty="0"/>
          </a:p>
        </p:txBody>
      </p:sp>
      <p:sp>
        <p:nvSpPr>
          <p:cNvPr id="5" name="TextBox 4"/>
          <p:cNvSpPr txBox="1"/>
          <p:nvPr/>
        </p:nvSpPr>
        <p:spPr>
          <a:xfrm>
            <a:off x="6948264" y="2141810"/>
            <a:ext cx="2069766" cy="369332"/>
          </a:xfrm>
          <a:prstGeom prst="rect">
            <a:avLst/>
          </a:prstGeom>
          <a:solidFill>
            <a:srgbClr val="92D050"/>
          </a:solidFill>
        </p:spPr>
        <p:txBody>
          <a:bodyPr wrap="square" rtlCol="0">
            <a:spAutoFit/>
          </a:bodyPr>
          <a:lstStyle/>
          <a:p>
            <a:r>
              <a:rPr lang="en-US" altLang="zh-CN" dirty="0"/>
              <a:t>{</a:t>
            </a:r>
            <a:r>
              <a:rPr lang="en-US" altLang="zh-CN" dirty="0" err="1"/>
              <a:t>F.val</a:t>
            </a:r>
            <a:r>
              <a:rPr lang="en-US" altLang="zh-CN" dirty="0"/>
              <a:t> = </a:t>
            </a:r>
            <a:r>
              <a:rPr lang="en-US" altLang="zh-CN" dirty="0" err="1"/>
              <a:t>i.lexval</a:t>
            </a:r>
            <a:r>
              <a:rPr lang="en-US" altLang="zh-CN" dirty="0"/>
              <a:t> }</a:t>
            </a:r>
            <a:endParaRPr lang="zh-CN" altLang="en-US" dirty="0"/>
          </a:p>
        </p:txBody>
      </p:sp>
    </p:spTree>
    <p:extLst>
      <p:ext uri="{BB962C8B-B14F-4D97-AF65-F5344CB8AC3E}">
        <p14:creationId xmlns:p14="http://schemas.microsoft.com/office/powerpoint/2010/main" val="4110983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39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390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2390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2390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23907">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uiExpand="1" build="p" autoUpdateAnimBg="0"/>
      <p:bldP spid="4" grpId="0" animBg="1"/>
      <p:bldP spid="2" grpId="0" animBg="1"/>
      <p:bldP spid="3" grpId="0"/>
      <p:bldP spid="8" grpId="0" animBg="1"/>
      <p:bldP spid="9" grpId="0" animBg="1"/>
      <p:bldP spid="10"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xfrm>
            <a:off x="457200" y="205977"/>
            <a:ext cx="8229600" cy="394097"/>
          </a:xfrm>
        </p:spPr>
        <p:txBody>
          <a:bodyPr>
            <a:normAutofit fontScale="90000"/>
          </a:bodyPr>
          <a:lstStyle/>
          <a:p>
            <a:pPr eaLnBrk="1" hangingPunct="1"/>
            <a:r>
              <a:rPr lang="zh-CN" altLang="en-US" dirty="0"/>
              <a:t>综合属性和继承属性</a:t>
            </a:r>
            <a:endParaRPr lang="zh-CN" altLang="zh-CN" dirty="0"/>
          </a:p>
        </p:txBody>
      </p:sp>
      <p:sp>
        <p:nvSpPr>
          <p:cNvPr id="125955" name="Rectangle 1027"/>
          <p:cNvSpPr>
            <a:spLocks noGrp="1" noChangeArrowheads="1"/>
          </p:cNvSpPr>
          <p:nvPr>
            <p:ph type="body" idx="1"/>
          </p:nvPr>
        </p:nvSpPr>
        <p:spPr>
          <a:xfrm>
            <a:off x="323528" y="880416"/>
            <a:ext cx="5283695" cy="4067597"/>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pPr eaLnBrk="1" hangingPunct="1"/>
            <a:r>
              <a:rPr lang="zh-CN" altLang="en-US" sz="2800" dirty="0"/>
              <a:t>属性分两类：</a:t>
            </a:r>
          </a:p>
          <a:p>
            <a:pPr lvl="1" eaLnBrk="1" hangingPunct="1"/>
            <a:r>
              <a:rPr lang="zh-CN" altLang="en-US" sz="2400" dirty="0"/>
              <a:t>综合属性：</a:t>
            </a:r>
            <a:endParaRPr lang="en-US" altLang="zh-CN" sz="2400" dirty="0"/>
          </a:p>
          <a:p>
            <a:pPr lvl="2"/>
            <a:r>
              <a:rPr lang="en-US" altLang="zh-CN" dirty="0"/>
              <a:t>b</a:t>
            </a:r>
            <a:r>
              <a:rPr lang="zh-CN" altLang="zh-CN" dirty="0"/>
              <a:t>是</a:t>
            </a:r>
            <a:r>
              <a:rPr lang="en-US" altLang="zh-CN" dirty="0"/>
              <a:t>A</a:t>
            </a:r>
            <a:r>
              <a:rPr lang="zh-CN" altLang="zh-CN" dirty="0"/>
              <a:t>的一个属性，且</a:t>
            </a:r>
            <a:r>
              <a:rPr lang="en-US" altLang="zh-CN" dirty="0"/>
              <a:t>c</a:t>
            </a:r>
            <a:r>
              <a:rPr lang="en-US" altLang="zh-CN" baseline="-25000" dirty="0"/>
              <a:t>1</a:t>
            </a:r>
            <a:r>
              <a:rPr lang="zh-CN" altLang="zh-CN" dirty="0"/>
              <a:t>、</a:t>
            </a:r>
            <a:r>
              <a:rPr lang="en-US" altLang="zh-CN" dirty="0"/>
              <a:t>c</a:t>
            </a:r>
            <a:r>
              <a:rPr lang="en-US" altLang="zh-CN" baseline="-25000" dirty="0"/>
              <a:t>2</a:t>
            </a:r>
            <a:r>
              <a:rPr lang="zh-CN" altLang="zh-CN" dirty="0"/>
              <a:t>、…、</a:t>
            </a:r>
            <a:r>
              <a:rPr lang="en-US" altLang="zh-CN" dirty="0" err="1"/>
              <a:t>c</a:t>
            </a:r>
            <a:r>
              <a:rPr lang="en-US" altLang="zh-CN" baseline="-25000" dirty="0" err="1"/>
              <a:t>k</a:t>
            </a:r>
            <a:r>
              <a:rPr lang="zh-CN" altLang="zh-CN" dirty="0"/>
              <a:t>是产生式右部文法符号α的属性，或者是</a:t>
            </a:r>
            <a:r>
              <a:rPr lang="en-US" altLang="zh-CN" dirty="0"/>
              <a:t>A</a:t>
            </a:r>
            <a:r>
              <a:rPr lang="zh-CN" altLang="zh-CN" dirty="0"/>
              <a:t>的其他属性</a:t>
            </a:r>
            <a:endParaRPr lang="en-US" altLang="zh-CN" dirty="0"/>
          </a:p>
          <a:p>
            <a:pPr lvl="2"/>
            <a:r>
              <a:rPr lang="zh-CN" altLang="en-US" dirty="0"/>
              <a:t>直观上看，通过右部计算左部符号的属性</a:t>
            </a:r>
          </a:p>
          <a:p>
            <a:pPr lvl="1" eaLnBrk="1" hangingPunct="1"/>
            <a:r>
              <a:rPr lang="zh-CN" altLang="en-US" sz="2400" dirty="0"/>
              <a:t>继承属性：</a:t>
            </a:r>
            <a:endParaRPr lang="en-US" altLang="zh-CN" sz="2400" dirty="0"/>
          </a:p>
          <a:p>
            <a:pPr lvl="2"/>
            <a:r>
              <a:rPr lang="en-US" altLang="zh-CN" dirty="0"/>
              <a:t>b</a:t>
            </a:r>
            <a:r>
              <a:rPr lang="zh-CN" altLang="zh-CN" dirty="0"/>
              <a:t>是产生式右部某个文法符号</a:t>
            </a:r>
            <a:r>
              <a:rPr lang="en-US" altLang="zh-CN" dirty="0"/>
              <a:t>X</a:t>
            </a:r>
            <a:r>
              <a:rPr lang="zh-CN" altLang="zh-CN" dirty="0"/>
              <a:t>的一个属性，</a:t>
            </a:r>
            <a:r>
              <a:rPr lang="en-US" altLang="zh-CN" dirty="0"/>
              <a:t>c</a:t>
            </a:r>
            <a:r>
              <a:rPr lang="en-US" altLang="zh-CN" baseline="-25000" dirty="0"/>
              <a:t>1</a:t>
            </a:r>
            <a:r>
              <a:rPr lang="zh-CN" altLang="zh-CN" dirty="0"/>
              <a:t>、</a:t>
            </a:r>
            <a:r>
              <a:rPr lang="en-US" altLang="zh-CN" dirty="0"/>
              <a:t>c</a:t>
            </a:r>
            <a:r>
              <a:rPr lang="en-US" altLang="zh-CN" baseline="-25000" dirty="0"/>
              <a:t>2</a:t>
            </a:r>
            <a:r>
              <a:rPr lang="zh-CN" altLang="zh-CN" dirty="0"/>
              <a:t>、…、</a:t>
            </a:r>
            <a:r>
              <a:rPr lang="en-US" altLang="zh-CN" dirty="0" err="1"/>
              <a:t>c</a:t>
            </a:r>
            <a:r>
              <a:rPr lang="en-US" altLang="zh-CN" baseline="-25000" dirty="0" err="1"/>
              <a:t>k</a:t>
            </a:r>
            <a:r>
              <a:rPr lang="zh-CN" altLang="zh-CN" dirty="0"/>
              <a:t>是</a:t>
            </a:r>
            <a:r>
              <a:rPr lang="en-US" altLang="zh-CN" dirty="0"/>
              <a:t>A</a:t>
            </a:r>
            <a:r>
              <a:rPr lang="zh-CN" altLang="zh-CN" dirty="0"/>
              <a:t>或产生式右部任何文法符号的属性</a:t>
            </a:r>
            <a:r>
              <a:rPr lang="zh-CN" altLang="en-US" dirty="0"/>
              <a:t>值</a:t>
            </a:r>
            <a:endParaRPr lang="en-US" altLang="zh-CN" dirty="0"/>
          </a:p>
          <a:p>
            <a:pPr lvl="2"/>
            <a:r>
              <a:rPr lang="zh-CN" altLang="en-US" sz="2400" dirty="0"/>
              <a:t>直观上看，通过左部计算右部符号的属性值</a:t>
            </a:r>
          </a:p>
        </p:txBody>
      </p:sp>
      <p:sp>
        <p:nvSpPr>
          <p:cNvPr id="4" name="矩形 3"/>
          <p:cNvSpPr/>
          <p:nvPr/>
        </p:nvSpPr>
        <p:spPr>
          <a:xfrm>
            <a:off x="6084168" y="1615017"/>
            <a:ext cx="2584362" cy="83099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400" dirty="0"/>
              <a:t>A</a:t>
            </a:r>
            <a:r>
              <a:rPr lang="zh-CN" altLang="zh-CN" sz="2400" dirty="0"/>
              <a:t>→α</a:t>
            </a:r>
            <a:endParaRPr lang="en-US" altLang="zh-CN" sz="2400" dirty="0"/>
          </a:p>
          <a:p>
            <a:r>
              <a:rPr lang="en-US" altLang="zh-CN" sz="2400" dirty="0"/>
              <a:t>b = f(c</a:t>
            </a:r>
            <a:r>
              <a:rPr lang="en-US" altLang="zh-CN" sz="2400" baseline="-25000" dirty="0"/>
              <a:t>1</a:t>
            </a:r>
            <a:r>
              <a:rPr lang="en-US" altLang="zh-CN" sz="2400" dirty="0"/>
              <a:t>,c</a:t>
            </a:r>
            <a:r>
              <a:rPr lang="en-US" altLang="zh-CN" sz="2400" baseline="-25000" dirty="0"/>
              <a:t>2</a:t>
            </a:r>
            <a:r>
              <a:rPr lang="en-US" altLang="zh-CN" sz="2400" dirty="0"/>
              <a:t>,</a:t>
            </a:r>
            <a:r>
              <a:rPr lang="zh-CN" altLang="zh-CN" sz="2400" dirty="0"/>
              <a:t>…</a:t>
            </a:r>
            <a:r>
              <a:rPr lang="en-US" altLang="zh-CN" sz="2400" dirty="0"/>
              <a:t>,</a:t>
            </a:r>
            <a:r>
              <a:rPr lang="en-US" altLang="zh-CN" sz="2400" dirty="0" err="1"/>
              <a:t>c</a:t>
            </a:r>
            <a:r>
              <a:rPr lang="en-US" altLang="zh-CN" sz="2400" baseline="-25000" dirty="0" err="1"/>
              <a:t>k</a:t>
            </a:r>
            <a:r>
              <a:rPr lang="en-US" altLang="zh-CN" sz="2400" dirty="0"/>
              <a:t>)</a:t>
            </a:r>
          </a:p>
        </p:txBody>
      </p:sp>
      <p:sp>
        <p:nvSpPr>
          <p:cNvPr id="6" name="矩形 5"/>
          <p:cNvSpPr/>
          <p:nvPr/>
        </p:nvSpPr>
        <p:spPr>
          <a:xfrm>
            <a:off x="6263030" y="2569815"/>
            <a:ext cx="1837362" cy="461665"/>
          </a:xfrm>
          <a:prstGeom prst="rect">
            <a:avLst/>
          </a:prstGeom>
        </p:spPr>
        <p:txBody>
          <a:bodyPr wrap="none">
            <a:spAutoFit/>
          </a:bodyPr>
          <a:lstStyle/>
          <a:p>
            <a:pPr lvl="0"/>
            <a:r>
              <a:rPr lang="en-US" altLang="zh-CN" sz="2400" dirty="0">
                <a:solidFill>
                  <a:prstClr val="black"/>
                </a:solidFill>
              </a:rPr>
              <a:t>f</a:t>
            </a:r>
            <a:r>
              <a:rPr lang="zh-CN" altLang="en-US" sz="2400" dirty="0">
                <a:solidFill>
                  <a:prstClr val="black"/>
                </a:solidFill>
              </a:rPr>
              <a:t>是一个函数</a:t>
            </a:r>
          </a:p>
        </p:txBody>
      </p:sp>
      <p:cxnSp>
        <p:nvCxnSpPr>
          <p:cNvPr id="8" name="直接箭头连接符 7"/>
          <p:cNvCxnSpPr/>
          <p:nvPr/>
        </p:nvCxnSpPr>
        <p:spPr>
          <a:xfrm flipH="1" flipV="1">
            <a:off x="6084168" y="2569815"/>
            <a:ext cx="2584362" cy="1"/>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084168" y="2571750"/>
            <a:ext cx="2584362"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115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9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2595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5955">
                                            <p:txEl>
                                              <p:pRg st="3" end="3"/>
                                            </p:txEl>
                                          </p:spTgt>
                                        </p:tgtEl>
                                        <p:attrNameLst>
                                          <p:attrName>style.visibility</p:attrName>
                                        </p:attrNameLst>
                                      </p:cBhvr>
                                      <p:to>
                                        <p:strVal val="visible"/>
                                      </p:to>
                                    </p:set>
                                  </p:childTnLst>
                                </p:cTn>
                              </p:par>
                              <p:par>
                                <p:cTn id="29" presetID="22" presetClass="entr" presetSubtype="2"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1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8"/>
                                        </p:tgtEl>
                                        <p:attrNameLst>
                                          <p:attrName>style.visibility</p:attrName>
                                        </p:attrNameLst>
                                      </p:cBhvr>
                                      <p:to>
                                        <p:strVal val="hidden"/>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499"/>
                                          </p:stCondLst>
                                        </p:cTn>
                                        <p:tgtEl>
                                          <p:spTgt spid="12595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5955">
                                            <p:txEl>
                                              <p:pRg st="6" end="6"/>
                                            </p:txEl>
                                          </p:spTgt>
                                        </p:tgtEl>
                                        <p:attrNameLst>
                                          <p:attrName>style.visibility</p:attrName>
                                        </p:attrNameLst>
                                      </p:cBhvr>
                                      <p:to>
                                        <p:strVal val="visible"/>
                                      </p:to>
                                    </p:set>
                                  </p:childTnLst>
                                </p:cTn>
                              </p:par>
                              <p:par>
                                <p:cTn id="43" presetID="22" presetClass="entr" presetSubtype="8"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uiExpand="1" build="p" autoUpdateAnimBg="0"/>
      <p:bldP spid="4" grpId="0" animBg="1"/>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xfrm>
            <a:off x="457200" y="205978"/>
            <a:ext cx="8229600" cy="79772"/>
          </a:xfrm>
        </p:spPr>
        <p:txBody>
          <a:bodyPr>
            <a:normAutofit fontScale="90000"/>
          </a:bodyPr>
          <a:lstStyle/>
          <a:p>
            <a:pPr eaLnBrk="1" hangingPunct="1"/>
            <a:r>
              <a:rPr lang="zh-CN" altLang="en-US" dirty="0"/>
              <a:t>综合属性和继承属性</a:t>
            </a:r>
            <a:endParaRPr lang="zh-CN" altLang="zh-CN" dirty="0"/>
          </a:p>
        </p:txBody>
      </p:sp>
      <p:sp>
        <p:nvSpPr>
          <p:cNvPr id="125955" name="Rectangle 1027"/>
          <p:cNvSpPr>
            <a:spLocks noGrp="1" noChangeArrowheads="1"/>
          </p:cNvSpPr>
          <p:nvPr>
            <p:ph type="body" idx="1"/>
          </p:nvPr>
        </p:nvSpPr>
        <p:spPr>
          <a:xfrm>
            <a:off x="152401" y="457200"/>
            <a:ext cx="5572125" cy="4514850"/>
          </a:xfrm>
        </p:spPr>
        <p:txBody>
          <a:bodyPr/>
          <a:lstStyle/>
          <a:p>
            <a:pPr eaLnBrk="1" hangingPunct="1"/>
            <a:r>
              <a:rPr lang="zh-CN" altLang="en-US" sz="2800" dirty="0"/>
              <a:t>从语法树上看：</a:t>
            </a:r>
          </a:p>
          <a:p>
            <a:pPr lvl="1" eaLnBrk="1" hangingPunct="1"/>
            <a:r>
              <a:rPr lang="zh-CN" altLang="en-US" sz="2400" dirty="0"/>
              <a:t>综合属性：用于自下而上传递信息</a:t>
            </a:r>
          </a:p>
          <a:p>
            <a:pPr lvl="1" eaLnBrk="1" hangingPunct="1"/>
            <a:r>
              <a:rPr lang="zh-CN" altLang="en-US" sz="2400" dirty="0"/>
              <a:t>继承属性：用于自上而下传递信息</a:t>
            </a:r>
          </a:p>
          <a:p>
            <a:pPr eaLnBrk="1" hangingPunct="1"/>
            <a:r>
              <a:rPr lang="zh-CN" altLang="en-US" sz="2800" dirty="0"/>
              <a:t>注意：</a:t>
            </a:r>
          </a:p>
          <a:p>
            <a:pPr lvl="1" eaLnBrk="1" hangingPunct="1"/>
            <a:r>
              <a:rPr lang="zh-CN" altLang="en-US" sz="2400" dirty="0"/>
              <a:t>终结符只有综合属性，它由词法分析器提供；</a:t>
            </a:r>
          </a:p>
          <a:p>
            <a:pPr lvl="1" eaLnBrk="1" hangingPunct="1"/>
            <a:r>
              <a:rPr lang="zh-CN" altLang="en-US" sz="2400" dirty="0"/>
              <a:t>非终结符可有综合属性，也可有继承属性，它由词法分析器提供；</a:t>
            </a:r>
          </a:p>
          <a:p>
            <a:pPr lvl="1" eaLnBrk="1" hangingPunct="1"/>
            <a:r>
              <a:rPr lang="zh-CN" altLang="en-US" sz="2400" dirty="0"/>
              <a:t>文法的开始符号的所有继承属性作为属性计算前的初始值</a:t>
            </a:r>
          </a:p>
        </p:txBody>
      </p:sp>
      <p:pic>
        <p:nvPicPr>
          <p:cNvPr id="26628" name="Object 7" descr="npo000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0164" y="457200"/>
            <a:ext cx="2763837"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2" name="Group 1034"/>
          <p:cNvGrpSpPr>
            <a:grpSpLocks/>
          </p:cNvGrpSpPr>
          <p:nvPr/>
        </p:nvGrpSpPr>
        <p:grpSpPr bwMode="auto">
          <a:xfrm>
            <a:off x="5562600" y="1028701"/>
            <a:ext cx="1295400" cy="3943350"/>
            <a:chOff x="3504" y="864"/>
            <a:chExt cx="816" cy="3312"/>
          </a:xfrm>
        </p:grpSpPr>
        <p:sp>
          <p:nvSpPr>
            <p:cNvPr id="26633" name="Line 1032"/>
            <p:cNvSpPr>
              <a:spLocks noChangeShapeType="1"/>
            </p:cNvSpPr>
            <p:nvPr/>
          </p:nvSpPr>
          <p:spPr bwMode="auto">
            <a:xfrm flipV="1">
              <a:off x="3888" y="864"/>
              <a:ext cx="0" cy="2928"/>
            </a:xfrm>
            <a:prstGeom prst="line">
              <a:avLst/>
            </a:prstGeom>
            <a:noFill/>
            <a:ln w="88900">
              <a:solidFill>
                <a:srgbClr val="FF3300"/>
              </a:solidFill>
              <a:bevel/>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34" name="Text Box 1033"/>
            <p:cNvSpPr txBox="1">
              <a:spLocks noChangeArrowheads="1"/>
            </p:cNvSpPr>
            <p:nvPr/>
          </p:nvSpPr>
          <p:spPr bwMode="auto">
            <a:xfrm>
              <a:off x="3504" y="3840"/>
              <a:ext cx="816" cy="336"/>
            </a:xfrm>
            <a:prstGeom prst="rect">
              <a:avLst/>
            </a:prstGeom>
            <a:noFill/>
            <a:ln w="88900">
              <a:solidFill>
                <a:schemeClr val="tx1"/>
              </a:solidFill>
              <a:bevel/>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zh-CN" altLang="en-US" sz="2000" b="1">
                  <a:solidFill>
                    <a:srgbClr val="FF3300"/>
                  </a:solidFill>
                </a:rPr>
                <a:t>综合属性</a:t>
              </a:r>
            </a:p>
          </p:txBody>
        </p:sp>
      </p:grpSp>
      <p:grpSp>
        <p:nvGrpSpPr>
          <p:cNvPr id="3" name="Group 1037"/>
          <p:cNvGrpSpPr>
            <a:grpSpLocks/>
          </p:cNvGrpSpPr>
          <p:nvPr/>
        </p:nvGrpSpPr>
        <p:grpSpPr bwMode="auto">
          <a:xfrm>
            <a:off x="8001000" y="400050"/>
            <a:ext cx="1295400" cy="3971925"/>
            <a:chOff x="5040" y="528"/>
            <a:chExt cx="816" cy="3336"/>
          </a:xfrm>
        </p:grpSpPr>
        <p:sp>
          <p:nvSpPr>
            <p:cNvPr id="26631" name="Line 1035"/>
            <p:cNvSpPr>
              <a:spLocks noChangeShapeType="1"/>
            </p:cNvSpPr>
            <p:nvPr/>
          </p:nvSpPr>
          <p:spPr bwMode="auto">
            <a:xfrm>
              <a:off x="5664" y="888"/>
              <a:ext cx="0" cy="2976"/>
            </a:xfrm>
            <a:prstGeom prst="line">
              <a:avLst/>
            </a:prstGeom>
            <a:noFill/>
            <a:ln w="57150">
              <a:solidFill>
                <a:srgbClr val="0033CC"/>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32" name="Text Box 1036"/>
            <p:cNvSpPr txBox="1">
              <a:spLocks noChangeArrowheads="1"/>
            </p:cNvSpPr>
            <p:nvPr/>
          </p:nvSpPr>
          <p:spPr bwMode="auto">
            <a:xfrm>
              <a:off x="5040" y="528"/>
              <a:ext cx="816" cy="336"/>
            </a:xfrm>
            <a:prstGeom prst="rect">
              <a:avLst/>
            </a:prstGeom>
            <a:noFill/>
            <a:ln w="12700">
              <a:solidFill>
                <a:srgbClr val="00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zh-CN" altLang="en-US" sz="2000" b="1">
                  <a:solidFill>
                    <a:srgbClr val="FF3300"/>
                  </a:solidFill>
                </a:rPr>
                <a:t>继承属性</a:t>
              </a:r>
            </a:p>
          </p:txBody>
        </p:sp>
      </p:grpSp>
    </p:spTree>
    <p:extLst>
      <p:ext uri="{BB962C8B-B14F-4D97-AF65-F5344CB8AC3E}">
        <p14:creationId xmlns:p14="http://schemas.microsoft.com/office/powerpoint/2010/main" val="3759822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Bottom)">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25955">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slide(fromTop)">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5955">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2595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2595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259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uiExpand="1"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05978"/>
            <a:ext cx="8229600" cy="79772"/>
          </a:xfrm>
        </p:spPr>
        <p:txBody>
          <a:bodyPr>
            <a:normAutofit fontScale="90000"/>
          </a:bodyPr>
          <a:lstStyle/>
          <a:p>
            <a:pPr eaLnBrk="1" hangingPunct="1"/>
            <a:r>
              <a:rPr lang="zh-CN" altLang="en-US"/>
              <a:t>继承属性和综合属性</a:t>
            </a:r>
            <a:endParaRPr lang="zh-CN" altLang="zh-CN"/>
          </a:p>
        </p:txBody>
      </p:sp>
      <p:sp>
        <p:nvSpPr>
          <p:cNvPr id="130051" name="Rectangle 3"/>
          <p:cNvSpPr>
            <a:spLocks noGrp="1" noChangeArrowheads="1"/>
          </p:cNvSpPr>
          <p:nvPr>
            <p:ph type="body" idx="1"/>
          </p:nvPr>
        </p:nvSpPr>
        <p:spPr>
          <a:xfrm>
            <a:off x="323850" y="627460"/>
            <a:ext cx="8229600" cy="3312442"/>
          </a:xfrm>
        </p:spPr>
        <p:txBody>
          <a:bodyPr>
            <a:normAutofit/>
          </a:bodyPr>
          <a:lstStyle/>
          <a:p>
            <a:pPr eaLnBrk="1" hangingPunct="1">
              <a:lnSpc>
                <a:spcPct val="90000"/>
              </a:lnSpc>
            </a:pPr>
            <a:r>
              <a:rPr lang="zh-CN" altLang="en-US" sz="2200" dirty="0">
                <a:solidFill>
                  <a:srgbClr val="0033CC"/>
                </a:solidFill>
              </a:rPr>
              <a:t>属性计算规则是和产生式相关的，因此计算规则中</a:t>
            </a:r>
            <a:r>
              <a:rPr lang="zh-CN" altLang="en-US" sz="2200" dirty="0">
                <a:solidFill>
                  <a:srgbClr val="FF0000"/>
                </a:solidFill>
              </a:rPr>
              <a:t>只能使用同一个产生式</a:t>
            </a:r>
            <a:r>
              <a:rPr lang="zh-CN" altLang="en-US" sz="2200" dirty="0">
                <a:solidFill>
                  <a:srgbClr val="0033CC"/>
                </a:solidFill>
              </a:rPr>
              <a:t>中的文法符号的属性</a:t>
            </a:r>
          </a:p>
          <a:p>
            <a:pPr eaLnBrk="1" hangingPunct="1">
              <a:lnSpc>
                <a:spcPct val="90000"/>
              </a:lnSpc>
            </a:pPr>
            <a:r>
              <a:rPr lang="zh-CN" altLang="en-US" sz="2200" dirty="0">
                <a:solidFill>
                  <a:srgbClr val="0033CC"/>
                </a:solidFill>
              </a:rPr>
              <a:t>产生式右边符号的继承属性可以通过左边符号的继承属性计算</a:t>
            </a:r>
          </a:p>
          <a:p>
            <a:pPr eaLnBrk="1" hangingPunct="1">
              <a:lnSpc>
                <a:spcPct val="90000"/>
              </a:lnSpc>
            </a:pPr>
            <a:r>
              <a:rPr lang="zh-CN" altLang="en-US" sz="2200" dirty="0">
                <a:solidFill>
                  <a:srgbClr val="0033CC"/>
                </a:solidFill>
              </a:rPr>
              <a:t>产生式左边符号的综合属性可以通过右边符号的综合属性计算</a:t>
            </a:r>
          </a:p>
          <a:p>
            <a:pPr lvl="1">
              <a:lnSpc>
                <a:spcPct val="90000"/>
              </a:lnSpc>
            </a:pPr>
            <a:r>
              <a:rPr lang="zh-CN" altLang="en-US" sz="2000" dirty="0"/>
              <a:t>实际应用中，一个结点的综合属性的值由其子结点的综合属性值决定</a:t>
            </a:r>
            <a:r>
              <a:rPr lang="en-US" altLang="zh-CN" sz="2000" dirty="0"/>
              <a:t>(</a:t>
            </a:r>
            <a:r>
              <a:rPr lang="zh-CN" altLang="en-US" sz="2000" dirty="0"/>
              <a:t>产生式右边</a:t>
            </a:r>
            <a:r>
              <a:rPr lang="en-US" altLang="zh-CN" sz="2000" dirty="0"/>
              <a:t>)</a:t>
            </a:r>
            <a:r>
              <a:rPr lang="zh-CN" altLang="en-US" sz="2000" dirty="0"/>
              <a:t>。一个结点的继承属性由此结点的父结点和</a:t>
            </a:r>
            <a:r>
              <a:rPr lang="en-US" altLang="zh-CN" sz="2000" dirty="0"/>
              <a:t>/</a:t>
            </a:r>
            <a:r>
              <a:rPr lang="zh-CN" altLang="en-US" sz="2000" dirty="0"/>
              <a:t>或兄结点的某些属性决定</a:t>
            </a:r>
            <a:r>
              <a:rPr lang="en-US" altLang="zh-CN" sz="2000" dirty="0"/>
              <a:t>(</a:t>
            </a:r>
            <a:r>
              <a:rPr lang="zh-CN" altLang="en-US" sz="2000" dirty="0"/>
              <a:t>产生式左边</a:t>
            </a:r>
            <a:r>
              <a:rPr lang="en-US" altLang="zh-CN" sz="2000" dirty="0"/>
              <a:t>)</a:t>
            </a:r>
            <a:endParaRPr lang="zh-CN" altLang="en-US" sz="2000" dirty="0"/>
          </a:p>
          <a:p>
            <a:pPr eaLnBrk="1" hangingPunct="1">
              <a:lnSpc>
                <a:spcPct val="90000"/>
              </a:lnSpc>
            </a:pPr>
            <a:r>
              <a:rPr lang="zh-CN" altLang="en-US" sz="2200" dirty="0"/>
              <a:t>但产生式左边的继承属性和右边的综合属性</a:t>
            </a:r>
            <a:r>
              <a:rPr lang="zh-CN" altLang="en-US" sz="2200" dirty="0">
                <a:solidFill>
                  <a:srgbClr val="FF0000"/>
                </a:solidFill>
              </a:rPr>
              <a:t>不由当前产生式</a:t>
            </a:r>
            <a:r>
              <a:rPr lang="zh-CN" altLang="en-US" sz="2200" dirty="0"/>
              <a:t>的属性计算规则</a:t>
            </a:r>
            <a:r>
              <a:rPr lang="zh-CN" altLang="en-US" sz="2200" dirty="0">
                <a:solidFill>
                  <a:srgbClr val="FF0000"/>
                </a:solidFill>
              </a:rPr>
              <a:t>计算</a:t>
            </a:r>
            <a:r>
              <a:rPr lang="zh-CN" altLang="en-US" sz="2200" dirty="0"/>
              <a:t>，它们由其它产生式的属性计算规则提供</a:t>
            </a:r>
          </a:p>
        </p:txBody>
      </p:sp>
      <p:sp>
        <p:nvSpPr>
          <p:cNvPr id="27652" name="文本框 1"/>
          <p:cNvSpPr txBox="1">
            <a:spLocks noChangeArrowheads="1"/>
          </p:cNvSpPr>
          <p:nvPr/>
        </p:nvSpPr>
        <p:spPr bwMode="auto">
          <a:xfrm>
            <a:off x="2051051" y="4137422"/>
            <a:ext cx="18002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400" dirty="0"/>
              <a:t>E</a:t>
            </a:r>
            <a:r>
              <a:rPr lang="en-US" altLang="zh-CN" sz="2400" dirty="0">
                <a:sym typeface="Wingdings" pitchFamily="2" charset="2"/>
              </a:rPr>
              <a:t></a:t>
            </a:r>
            <a:r>
              <a:rPr lang="en-US" altLang="zh-CN" sz="2400" dirty="0"/>
              <a:t>E’+T</a:t>
            </a:r>
          </a:p>
          <a:p>
            <a:pPr eaLnBrk="1" hangingPunct="1">
              <a:lnSpc>
                <a:spcPct val="100000"/>
              </a:lnSpc>
              <a:spcBef>
                <a:spcPct val="0"/>
              </a:spcBef>
              <a:buFontTx/>
              <a:buNone/>
            </a:pPr>
            <a:r>
              <a:rPr lang="en-US" altLang="zh-CN" sz="2400" dirty="0"/>
              <a:t>E’</a:t>
            </a:r>
            <a:r>
              <a:rPr lang="en-US" altLang="zh-CN" sz="2400" dirty="0">
                <a:sym typeface="Wingdings" pitchFamily="2" charset="2"/>
              </a:rPr>
              <a:t>T</a:t>
            </a:r>
            <a:endParaRPr lang="zh-CN" altLang="en-US" sz="2400" dirty="0"/>
          </a:p>
        </p:txBody>
      </p:sp>
      <p:pic>
        <p:nvPicPr>
          <p:cNvPr id="2765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3553720"/>
            <a:ext cx="2520530" cy="157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0887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0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00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00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30051">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0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68313" y="0"/>
            <a:ext cx="8229600" cy="627460"/>
          </a:xfrm>
        </p:spPr>
        <p:txBody>
          <a:bodyPr>
            <a:normAutofit fontScale="90000"/>
          </a:bodyPr>
          <a:lstStyle/>
          <a:p>
            <a:r>
              <a:rPr lang="zh-CN" altLang="en-US"/>
              <a:t>语义规则 </a:t>
            </a:r>
          </a:p>
        </p:txBody>
      </p:sp>
      <p:sp>
        <p:nvSpPr>
          <p:cNvPr id="28675" name="Rectangle 3"/>
          <p:cNvSpPr>
            <a:spLocks noGrp="1" noChangeArrowheads="1"/>
          </p:cNvSpPr>
          <p:nvPr>
            <p:ph type="body" sz="half" idx="1"/>
          </p:nvPr>
        </p:nvSpPr>
        <p:spPr>
          <a:xfrm>
            <a:off x="395288" y="627460"/>
            <a:ext cx="8496300" cy="917972"/>
          </a:xfrm>
        </p:spPr>
        <p:txBody>
          <a:bodyPr>
            <a:normAutofit fontScale="85000" lnSpcReduction="10000"/>
          </a:bodyPr>
          <a:lstStyle/>
          <a:p>
            <a:pPr>
              <a:lnSpc>
                <a:spcPct val="120000"/>
              </a:lnSpc>
              <a:spcBef>
                <a:spcPts val="0"/>
              </a:spcBef>
            </a:pPr>
            <a:r>
              <a:rPr lang="zh-CN" altLang="en-US" sz="2400" dirty="0"/>
              <a:t>语义规则用来描述该产生式的含义，即该产生式得到匹配时需要完成的动作，如属性的计算、静态语义检查、符号表的操作和代码生成等。</a:t>
            </a:r>
          </a:p>
        </p:txBody>
      </p:sp>
      <p:sp>
        <p:nvSpPr>
          <p:cNvPr id="209924" name="Rectangle 4"/>
          <p:cNvSpPr>
            <a:spLocks noChangeArrowheads="1"/>
          </p:cNvSpPr>
          <p:nvPr/>
        </p:nvSpPr>
        <p:spPr bwMode="auto">
          <a:xfrm>
            <a:off x="755651" y="1592967"/>
            <a:ext cx="2949575" cy="1200329"/>
          </a:xfrm>
          <a:prstGeom prst="rect">
            <a:avLst/>
          </a:prstGeom>
          <a:ln/>
        </p:spPr>
        <p:style>
          <a:lnRef idx="2">
            <a:schemeClr val="dk1"/>
          </a:lnRef>
          <a:fillRef idx="1">
            <a:schemeClr val="lt1"/>
          </a:fillRef>
          <a:effectRef idx="0">
            <a:schemeClr val="dk1"/>
          </a:effectRef>
          <a:fontRef idx="minor">
            <a:schemeClr val="dk1"/>
          </a:fontRef>
        </p:style>
        <p:txBody>
          <a:bodyPr anchor="ctr">
            <a:spAutoFit/>
          </a:bodyPr>
          <a:lstStyle>
            <a:lvl1pPr indent="533400">
              <a:spcBef>
                <a:spcPct val="0"/>
              </a:spcBef>
              <a:defRPr sz="2400">
                <a:solidFill>
                  <a:schemeClr val="tx1"/>
                </a:solidFill>
                <a:latin typeface="Arial" charset="0"/>
                <a:ea typeface="宋体" pitchFamily="2" charset="-122"/>
              </a:defRPr>
            </a:lvl1pPr>
            <a:lvl2pPr>
              <a:spcBef>
                <a:spcPct val="0"/>
              </a:spcBef>
              <a:defRPr sz="2400">
                <a:solidFill>
                  <a:schemeClr val="tx1"/>
                </a:solidFill>
                <a:latin typeface="Arial" charset="0"/>
                <a:ea typeface="宋体" pitchFamily="2" charset="-122"/>
              </a:defRPr>
            </a:lvl2pPr>
            <a:lvl3pPr>
              <a:spcBef>
                <a:spcPct val="0"/>
              </a:spcBef>
              <a:defRPr sz="2400">
                <a:solidFill>
                  <a:schemeClr val="tx1"/>
                </a:solidFill>
                <a:latin typeface="Arial" charset="0"/>
                <a:ea typeface="宋体" pitchFamily="2" charset="-122"/>
              </a:defRPr>
            </a:lvl3pPr>
            <a:lvl4pPr>
              <a:spcBef>
                <a:spcPct val="0"/>
              </a:spcBef>
              <a:defRPr sz="2400">
                <a:solidFill>
                  <a:schemeClr val="tx1"/>
                </a:solidFill>
                <a:latin typeface="Arial" charset="0"/>
                <a:ea typeface="宋体" pitchFamily="2" charset="-122"/>
              </a:defRPr>
            </a:lvl4pPr>
            <a:lvl5pPr>
              <a:spcBef>
                <a:spcPct val="0"/>
              </a:spcBef>
              <a:defRPr sz="2400">
                <a:solidFill>
                  <a:schemeClr val="tx1"/>
                </a:solidFill>
                <a:latin typeface="Arial" charset="0"/>
                <a:ea typeface="宋体" pitchFamily="2" charset="-122"/>
              </a:defRPr>
            </a:lvl5pPr>
            <a:lvl6pPr eaLnBrk="0" fontAlgn="base" hangingPunct="0">
              <a:spcBef>
                <a:spcPct val="0"/>
              </a:spcBef>
              <a:spcAft>
                <a:spcPct val="0"/>
              </a:spcAft>
              <a:defRPr sz="2400">
                <a:solidFill>
                  <a:schemeClr val="tx1"/>
                </a:solidFill>
                <a:latin typeface="Arial" charset="0"/>
                <a:ea typeface="宋体" pitchFamily="2" charset="-122"/>
              </a:defRPr>
            </a:lvl6pPr>
            <a:lvl7pPr eaLnBrk="0" fontAlgn="base" hangingPunct="0">
              <a:spcBef>
                <a:spcPct val="0"/>
              </a:spcBef>
              <a:spcAft>
                <a:spcPct val="0"/>
              </a:spcAft>
              <a:defRPr sz="2400">
                <a:solidFill>
                  <a:schemeClr val="tx1"/>
                </a:solidFill>
                <a:latin typeface="Arial" charset="0"/>
                <a:ea typeface="宋体" pitchFamily="2" charset="-122"/>
              </a:defRPr>
            </a:lvl7pPr>
            <a:lvl8pPr eaLnBrk="0" fontAlgn="base" hangingPunct="0">
              <a:spcBef>
                <a:spcPct val="0"/>
              </a:spcBef>
              <a:spcAft>
                <a:spcPct val="0"/>
              </a:spcAft>
              <a:defRPr sz="2400">
                <a:solidFill>
                  <a:schemeClr val="tx1"/>
                </a:solidFill>
                <a:latin typeface="Arial" charset="0"/>
                <a:ea typeface="宋体" pitchFamily="2" charset="-122"/>
              </a:defRPr>
            </a:lvl8pPr>
            <a:lvl9pPr eaLnBrk="0" fontAlgn="base" hangingPunct="0">
              <a:spcBef>
                <a:spcPct val="0"/>
              </a:spcBef>
              <a:spcAft>
                <a:spcPct val="0"/>
              </a:spcAft>
              <a:defRPr sz="2400">
                <a:solidFill>
                  <a:schemeClr val="tx1"/>
                </a:solidFill>
                <a:latin typeface="Arial" charset="0"/>
                <a:ea typeface="宋体" pitchFamily="2" charset="-122"/>
              </a:defRPr>
            </a:lvl9pPr>
          </a:lstStyle>
          <a:p>
            <a:pPr indent="0">
              <a:lnSpc>
                <a:spcPct val="100000"/>
              </a:lnSpc>
              <a:buFontTx/>
              <a:buNone/>
              <a:defRPr/>
            </a:pPr>
            <a:r>
              <a:rPr lang="zh-CN" altLang="en-US" dirty="0"/>
              <a:t>（</a:t>
            </a:r>
            <a:r>
              <a:rPr lang="en-US" altLang="zh-CN" dirty="0"/>
              <a:t>1</a:t>
            </a:r>
            <a:r>
              <a:rPr lang="zh-CN" altLang="en-US" dirty="0"/>
              <a:t>）</a:t>
            </a:r>
            <a:r>
              <a:rPr lang="en-US" altLang="zh-CN" dirty="0"/>
              <a:t>E→E+T | T</a:t>
            </a:r>
          </a:p>
          <a:p>
            <a:pPr indent="0">
              <a:lnSpc>
                <a:spcPct val="100000"/>
              </a:lnSpc>
              <a:buFontTx/>
              <a:buNone/>
              <a:defRPr/>
            </a:pPr>
            <a:r>
              <a:rPr lang="zh-CN" altLang="en-US" dirty="0"/>
              <a:t>（</a:t>
            </a:r>
            <a:r>
              <a:rPr lang="en-US" altLang="zh-CN" dirty="0"/>
              <a:t>2</a:t>
            </a:r>
            <a:r>
              <a:rPr lang="zh-CN" altLang="en-US" dirty="0"/>
              <a:t>）</a:t>
            </a:r>
            <a:r>
              <a:rPr lang="en-US" altLang="zh-CN" dirty="0"/>
              <a:t>T→T*F | F</a:t>
            </a:r>
          </a:p>
          <a:p>
            <a:pPr indent="0">
              <a:lnSpc>
                <a:spcPct val="100000"/>
              </a:lnSpc>
              <a:buFontTx/>
              <a:buNone/>
              <a:defRPr/>
            </a:pPr>
            <a:r>
              <a:rPr lang="zh-CN" altLang="en-US" dirty="0"/>
              <a:t>（</a:t>
            </a:r>
            <a:r>
              <a:rPr lang="en-US" altLang="zh-CN" dirty="0"/>
              <a:t>3</a:t>
            </a:r>
            <a:r>
              <a:rPr lang="zh-CN" altLang="en-US" dirty="0"/>
              <a:t>）</a:t>
            </a:r>
            <a:r>
              <a:rPr lang="en-US" altLang="zh-CN" dirty="0"/>
              <a:t>F→(E) | digit</a:t>
            </a:r>
          </a:p>
        </p:txBody>
      </p:sp>
      <p:sp>
        <p:nvSpPr>
          <p:cNvPr id="209925" name="Rectangle 5"/>
          <p:cNvSpPr>
            <a:spLocks noChangeArrowheads="1"/>
          </p:cNvSpPr>
          <p:nvPr/>
        </p:nvSpPr>
        <p:spPr bwMode="auto">
          <a:xfrm>
            <a:off x="6011863" y="1288585"/>
            <a:ext cx="1685077" cy="1754326"/>
          </a:xfrm>
          <a:prstGeom prst="rect">
            <a:avLst/>
          </a:prstGeom>
          <a:ln/>
        </p:spPr>
        <p:style>
          <a:lnRef idx="1">
            <a:schemeClr val="dk1"/>
          </a:lnRef>
          <a:fillRef idx="2">
            <a:schemeClr val="dk1"/>
          </a:fillRef>
          <a:effectRef idx="1">
            <a:schemeClr val="dk1"/>
          </a:effectRef>
          <a:fontRef idx="minor">
            <a:schemeClr val="dk1"/>
          </a:fontRef>
        </p:style>
        <p:txBody>
          <a:bodyPr wrap="none" anchor="ctr">
            <a:spAutoFit/>
          </a:bodyPr>
          <a:lstStyle/>
          <a:p>
            <a:pPr>
              <a:lnSpc>
                <a:spcPct val="100000"/>
              </a:lnSpc>
              <a:spcBef>
                <a:spcPct val="0"/>
              </a:spcBef>
              <a:buFontTx/>
              <a:buNone/>
              <a:defRPr/>
            </a:pPr>
            <a:r>
              <a:rPr lang="zh-CN" altLang="fr-FR" dirty="0"/>
              <a:t>（</a:t>
            </a:r>
            <a:r>
              <a:rPr lang="fr-FR" altLang="zh-CN" dirty="0"/>
              <a:t>1</a:t>
            </a:r>
            <a:r>
              <a:rPr lang="zh-CN" altLang="fr-FR" dirty="0"/>
              <a:t>）</a:t>
            </a:r>
            <a:r>
              <a:rPr lang="fr-FR" altLang="zh-CN" dirty="0"/>
              <a:t>E→E</a:t>
            </a:r>
            <a:r>
              <a:rPr lang="fr-FR" altLang="zh-CN" baseline="-25000" dirty="0"/>
              <a:t>1</a:t>
            </a:r>
            <a:r>
              <a:rPr lang="fr-FR" altLang="zh-CN" dirty="0"/>
              <a:t>+T</a:t>
            </a:r>
          </a:p>
          <a:p>
            <a:pPr>
              <a:lnSpc>
                <a:spcPct val="100000"/>
              </a:lnSpc>
              <a:spcBef>
                <a:spcPct val="0"/>
              </a:spcBef>
              <a:buFontTx/>
              <a:buNone/>
              <a:defRPr/>
            </a:pPr>
            <a:r>
              <a:rPr lang="zh-CN" altLang="fr-FR" dirty="0"/>
              <a:t>（</a:t>
            </a:r>
            <a:r>
              <a:rPr lang="fr-FR" altLang="zh-CN" dirty="0"/>
              <a:t>2</a:t>
            </a:r>
            <a:r>
              <a:rPr lang="zh-CN" altLang="fr-FR" dirty="0"/>
              <a:t>）</a:t>
            </a:r>
            <a:r>
              <a:rPr lang="fr-FR" altLang="zh-CN" dirty="0"/>
              <a:t>E→T</a:t>
            </a:r>
          </a:p>
          <a:p>
            <a:pPr>
              <a:lnSpc>
                <a:spcPct val="100000"/>
              </a:lnSpc>
              <a:spcBef>
                <a:spcPct val="0"/>
              </a:spcBef>
              <a:buFontTx/>
              <a:buNone/>
              <a:defRPr/>
            </a:pPr>
            <a:r>
              <a:rPr lang="zh-CN" altLang="fr-FR" dirty="0"/>
              <a:t>（</a:t>
            </a:r>
            <a:r>
              <a:rPr lang="fr-FR" altLang="zh-CN" dirty="0"/>
              <a:t>3</a:t>
            </a:r>
            <a:r>
              <a:rPr lang="zh-CN" altLang="fr-FR" dirty="0"/>
              <a:t>）</a:t>
            </a:r>
            <a:r>
              <a:rPr lang="fr-FR" altLang="zh-CN" dirty="0"/>
              <a:t>T→T</a:t>
            </a:r>
            <a:r>
              <a:rPr lang="fr-FR" altLang="zh-CN" baseline="-25000" dirty="0"/>
              <a:t>1</a:t>
            </a:r>
            <a:r>
              <a:rPr lang="fr-FR" altLang="zh-CN" dirty="0"/>
              <a:t>*F</a:t>
            </a:r>
          </a:p>
          <a:p>
            <a:pPr>
              <a:lnSpc>
                <a:spcPct val="100000"/>
              </a:lnSpc>
              <a:spcBef>
                <a:spcPct val="0"/>
              </a:spcBef>
              <a:buFontTx/>
              <a:buNone/>
              <a:defRPr/>
            </a:pPr>
            <a:r>
              <a:rPr lang="zh-CN" altLang="fr-FR" dirty="0"/>
              <a:t>（</a:t>
            </a:r>
            <a:r>
              <a:rPr lang="fr-FR" altLang="zh-CN" dirty="0"/>
              <a:t>4</a:t>
            </a:r>
            <a:r>
              <a:rPr lang="zh-CN" altLang="fr-FR" dirty="0"/>
              <a:t>）</a:t>
            </a:r>
            <a:r>
              <a:rPr lang="fr-FR" altLang="zh-CN" dirty="0"/>
              <a:t>T→F</a:t>
            </a:r>
          </a:p>
          <a:p>
            <a:pPr>
              <a:lnSpc>
                <a:spcPct val="100000"/>
              </a:lnSpc>
              <a:spcBef>
                <a:spcPct val="0"/>
              </a:spcBef>
              <a:buFontTx/>
              <a:buNone/>
              <a:defRPr/>
            </a:pPr>
            <a:r>
              <a:rPr lang="zh-CN" altLang="fr-FR" dirty="0"/>
              <a:t>（</a:t>
            </a:r>
            <a:r>
              <a:rPr lang="fr-FR" altLang="zh-CN" dirty="0"/>
              <a:t>5</a:t>
            </a:r>
            <a:r>
              <a:rPr lang="zh-CN" altLang="fr-FR" dirty="0"/>
              <a:t>）</a:t>
            </a:r>
            <a:r>
              <a:rPr lang="fr-FR" altLang="zh-CN" dirty="0"/>
              <a:t>F→(E)</a:t>
            </a:r>
          </a:p>
          <a:p>
            <a:pPr>
              <a:lnSpc>
                <a:spcPct val="100000"/>
              </a:lnSpc>
              <a:spcBef>
                <a:spcPct val="0"/>
              </a:spcBef>
              <a:buFontTx/>
              <a:buNone/>
              <a:defRPr/>
            </a:pPr>
            <a:r>
              <a:rPr lang="zh-CN" altLang="fr-FR" dirty="0"/>
              <a:t>（</a:t>
            </a:r>
            <a:r>
              <a:rPr lang="fr-FR" altLang="zh-CN" dirty="0"/>
              <a:t>6</a:t>
            </a:r>
            <a:r>
              <a:rPr lang="zh-CN" altLang="fr-FR" dirty="0"/>
              <a:t>）</a:t>
            </a:r>
            <a:r>
              <a:rPr lang="fr-FR" altLang="zh-CN" dirty="0"/>
              <a:t>F→digit</a:t>
            </a:r>
          </a:p>
        </p:txBody>
      </p:sp>
      <p:graphicFrame>
        <p:nvGraphicFramePr>
          <p:cNvPr id="209979" name="Group 59"/>
          <p:cNvGraphicFramePr>
            <a:graphicFrameLocks noGrp="1"/>
          </p:cNvGraphicFramePr>
          <p:nvPr>
            <p:ph sz="half" idx="2"/>
          </p:nvPr>
        </p:nvGraphicFramePr>
        <p:xfrm>
          <a:off x="250826" y="3598069"/>
          <a:ext cx="8748713" cy="1432464"/>
        </p:xfrm>
        <a:graphic>
          <a:graphicData uri="http://schemas.openxmlformats.org/drawingml/2006/table">
            <a:tbl>
              <a:tblPr/>
              <a:tblGrid>
                <a:gridCol w="2016125">
                  <a:extLst>
                    <a:ext uri="{9D8B030D-6E8A-4147-A177-3AD203B41FA5}">
                      <a16:colId xmlns:a16="http://schemas.microsoft.com/office/drawing/2014/main" val="20000"/>
                    </a:ext>
                  </a:extLst>
                </a:gridCol>
                <a:gridCol w="2593082">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2267298">
                  <a:extLst>
                    <a:ext uri="{9D8B030D-6E8A-4147-A177-3AD203B41FA5}">
                      <a16:colId xmlns:a16="http://schemas.microsoft.com/office/drawing/2014/main" val="20003"/>
                    </a:ext>
                  </a:extLst>
                </a:gridCol>
              </a:tblGrid>
              <a:tr h="31999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产生式</a:t>
                      </a:r>
                      <a:endParaRPr kumimoji="0" lang="zh-CN" altLang="en-US"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语义规则</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产生式</a:t>
                      </a:r>
                      <a:endParaRPr kumimoji="0" lang="zh-CN" altLang="en-US"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语义规则</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07437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26035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260350" algn="l" defTabSz="914400" rtl="0" eaLnBrk="0" fontAlgn="base" latinLnBrk="0" hangingPunct="0">
                        <a:lnSpc>
                          <a:spcPct val="100000"/>
                        </a:lnSpc>
                        <a:spcBef>
                          <a:spcPct val="0"/>
                        </a:spcBef>
                        <a:spcAft>
                          <a:spcPct val="0"/>
                        </a:spcAft>
                        <a:buClrTx/>
                        <a:buSzTx/>
                        <a:buFontTx/>
                        <a:buNone/>
                        <a:tabLst/>
                      </a:pPr>
                      <a:r>
                        <a:rPr kumimoji="0" lang="pt-PT"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pt-PT"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pt-PT"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pt-PT"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pt-PT"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pt-PT"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T→F</a:t>
                      </a:r>
                      <a:endParaRPr kumimoji="0" lang="fr-FR" altLang="zh-CN" sz="1700" b="0" i="0" u="none" strike="noStrike" cap="none" normalizeH="0" baseline="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F→(E)</a:t>
                      </a:r>
                      <a:endParaRPr kumimoji="0" lang="fr-FR" altLang="zh-CN" sz="1700" b="0" i="0" u="none" strike="noStrike" cap="none" normalizeH="0" baseline="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F→digit</a:t>
                      </a:r>
                      <a:endParaRPr kumimoji="0" lang="fr-FR" altLang="zh-CN" sz="1700" b="0" i="0" u="none" strike="noStrike" cap="none" normalizeH="0" baseline="0">
                        <a:ln>
                          <a:noFill/>
                        </a:ln>
                        <a:solidFill>
                          <a:schemeClr val="tx1"/>
                        </a:solidFill>
                        <a:effectLst/>
                        <a:latin typeface="Arial" charset="0"/>
                        <a:ea typeface="宋体" pitchFamily="2" charset="-122"/>
                      </a:endParaRPr>
                    </a:p>
                  </a:txBody>
                  <a:tcPr marT="34266" marB="34266"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26035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F.val=digit.lexval</a:t>
                      </a:r>
                      <a:endParaRPr kumimoji="0" lang="fr-FR" altLang="zh-CN"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2" name="右箭头 1"/>
          <p:cNvSpPr/>
          <p:nvPr/>
        </p:nvSpPr>
        <p:spPr bwMode="auto">
          <a:xfrm>
            <a:off x="3705225" y="1984773"/>
            <a:ext cx="2306638" cy="363140"/>
          </a:xfrm>
          <a:prstGeom prst="rightArrow">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a:lstStyle/>
          <a:p>
            <a:pPr eaLnBrk="1" hangingPunct="1">
              <a:lnSpc>
                <a:spcPct val="100000"/>
              </a:lnSpc>
              <a:spcBef>
                <a:spcPct val="0"/>
              </a:spcBef>
              <a:buFontTx/>
              <a:buNone/>
              <a:defRPr/>
            </a:pPr>
            <a:endParaRPr lang="zh-CN" altLang="en-US">
              <a:solidFill>
                <a:schemeClr val="tx1"/>
              </a:solidFill>
            </a:endParaRPr>
          </a:p>
        </p:txBody>
      </p:sp>
      <p:sp>
        <p:nvSpPr>
          <p:cNvPr id="3" name="下箭头 2"/>
          <p:cNvSpPr/>
          <p:nvPr/>
        </p:nvSpPr>
        <p:spPr bwMode="auto">
          <a:xfrm>
            <a:off x="6804026" y="3021806"/>
            <a:ext cx="720725" cy="576263"/>
          </a:xfrm>
          <a:prstGeom prst="downArrow">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a:lstStyle/>
          <a:p>
            <a:pPr eaLnBrk="1" hangingPunct="1">
              <a:lnSpc>
                <a:spcPct val="100000"/>
              </a:lnSpc>
              <a:spcBef>
                <a:spcPct val="0"/>
              </a:spcBef>
              <a:buFontTx/>
              <a:buNone/>
              <a:defRPr/>
            </a:pPr>
            <a:endParaRPr lang="zh-CN" altLang="en-US">
              <a:solidFill>
                <a:schemeClr val="tx1"/>
              </a:solidFill>
            </a:endParaRPr>
          </a:p>
        </p:txBody>
      </p:sp>
    </p:spTree>
    <p:extLst>
      <p:ext uri="{BB962C8B-B14F-4D97-AF65-F5344CB8AC3E}">
        <p14:creationId xmlns:p14="http://schemas.microsoft.com/office/powerpoint/2010/main" val="104895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9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99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9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4" grpId="0" animBg="1"/>
      <p:bldP spid="209925" grpId="0" animBg="1"/>
      <p:bldP spid="2" grpId="0" animBg="1"/>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6693639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4153701" cy="1323439"/>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、属性文法</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zh-CN" altLang="en-US" sz="3600" b="1" dirty="0">
                <a:solidFill>
                  <a:srgbClr val="CC0099"/>
                </a:solidFill>
                <a:ea typeface="隶书" pitchFamily="49" charset="-122"/>
              </a:rPr>
              <a:t>属性的计算</a:t>
            </a:r>
            <a:endParaRPr lang="zh-CN" altLang="en-US" sz="3600" dirty="0"/>
          </a:p>
        </p:txBody>
      </p:sp>
    </p:spTree>
    <p:extLst>
      <p:ext uri="{BB962C8B-B14F-4D97-AF65-F5344CB8AC3E}">
        <p14:creationId xmlns:p14="http://schemas.microsoft.com/office/powerpoint/2010/main" val="1276069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noAutofit/>
          </a:bodyPr>
          <a:lstStyle/>
          <a:p>
            <a:r>
              <a:rPr lang="zh-CN" altLang="en-US" dirty="0"/>
              <a:t>综合属性的计算</a:t>
            </a:r>
          </a:p>
        </p:txBody>
      </p:sp>
      <p:sp>
        <p:nvSpPr>
          <p:cNvPr id="29699" name="内容占位符 2"/>
          <p:cNvSpPr>
            <a:spLocks noGrp="1"/>
          </p:cNvSpPr>
          <p:nvPr>
            <p:ph idx="1"/>
          </p:nvPr>
        </p:nvSpPr>
        <p:spPr>
          <a:xfrm>
            <a:off x="539552" y="843558"/>
            <a:ext cx="8229600" cy="3765009"/>
          </a:xfrm>
        </p:spPr>
        <p:txBody>
          <a:bodyPr>
            <a:normAutofit/>
          </a:bodyPr>
          <a:lstStyle/>
          <a:p>
            <a:r>
              <a:rPr lang="zh-CN" altLang="zh-CN" sz="2200" dirty="0"/>
              <a:t>综合属性在实践中具有广泛应用。</a:t>
            </a:r>
            <a:endParaRPr lang="en-US" altLang="zh-CN" sz="2200" dirty="0"/>
          </a:p>
          <a:p>
            <a:r>
              <a:rPr lang="zh-CN" altLang="zh-CN" sz="2200" dirty="0"/>
              <a:t>在语法树中，一个结点的综合属性的值由其子结点的属性值</a:t>
            </a:r>
            <a:r>
              <a:rPr lang="zh-CN" altLang="en-US" sz="2200" dirty="0"/>
              <a:t>和它自身的某些属性值</a:t>
            </a:r>
            <a:r>
              <a:rPr lang="zh-CN" altLang="zh-CN" sz="2200" dirty="0"/>
              <a:t>确定。</a:t>
            </a:r>
            <a:endParaRPr lang="en-US" altLang="zh-CN" sz="2200" dirty="0"/>
          </a:p>
          <a:p>
            <a:r>
              <a:rPr lang="zh-CN" altLang="zh-CN" sz="2200" dirty="0"/>
              <a:t>因此，通常使用</a:t>
            </a:r>
            <a:r>
              <a:rPr lang="zh-CN" altLang="zh-CN" sz="2200" dirty="0">
                <a:solidFill>
                  <a:srgbClr val="FF3300"/>
                </a:solidFill>
              </a:rPr>
              <a:t>自下而上</a:t>
            </a:r>
            <a:r>
              <a:rPr lang="zh-CN" altLang="zh-CN" sz="2200" dirty="0"/>
              <a:t>的方法在每个结点处使用语义规则来计算综合属性的值。</a:t>
            </a:r>
            <a:endParaRPr lang="en-US" altLang="zh-CN" sz="2200" dirty="0"/>
          </a:p>
          <a:p>
            <a:r>
              <a:rPr lang="zh-CN" altLang="zh-CN" sz="2200" dirty="0"/>
              <a:t>仅仅含有综合属性的属性文法称为</a:t>
            </a:r>
            <a:r>
              <a:rPr lang="en-US" altLang="zh-CN" sz="2200" dirty="0">
                <a:solidFill>
                  <a:srgbClr val="FF0000"/>
                </a:solidFill>
              </a:rPr>
              <a:t>S-</a:t>
            </a:r>
            <a:r>
              <a:rPr lang="zh-CN" altLang="zh-CN" sz="2200" dirty="0">
                <a:solidFill>
                  <a:srgbClr val="FF0000"/>
                </a:solidFill>
              </a:rPr>
              <a:t>属性文法。</a:t>
            </a:r>
            <a:endParaRPr lang="en-US" altLang="zh-CN" sz="2200" dirty="0">
              <a:solidFill>
                <a:srgbClr val="FF0000"/>
              </a:solidFill>
            </a:endParaRPr>
          </a:p>
          <a:p>
            <a:r>
              <a:rPr lang="en-US" altLang="zh-CN" sz="2200" dirty="0"/>
              <a:t>S-</a:t>
            </a:r>
            <a:r>
              <a:rPr lang="zh-CN" altLang="en-US" sz="2200" dirty="0"/>
              <a:t>属性文法适合和</a:t>
            </a:r>
            <a:r>
              <a:rPr lang="zh-CN" altLang="zh-CN" sz="2200" dirty="0">
                <a:solidFill>
                  <a:srgbClr val="FF0000"/>
                </a:solidFill>
              </a:rPr>
              <a:t>自下而上</a:t>
            </a:r>
            <a:r>
              <a:rPr lang="zh-CN" altLang="zh-CN" sz="2200" dirty="0"/>
              <a:t>的语法分析</a:t>
            </a:r>
            <a:r>
              <a:rPr lang="zh-CN" altLang="en-US" sz="2200" dirty="0"/>
              <a:t>器联合工作，在自下而上的语法分析中</a:t>
            </a:r>
            <a:r>
              <a:rPr lang="zh-CN" altLang="zh-CN" sz="2200" dirty="0"/>
              <a:t>，</a:t>
            </a:r>
            <a:r>
              <a:rPr lang="zh-CN" altLang="en-US" sz="2200" dirty="0"/>
              <a:t>一边进行语法分析，一边进行语义计算。</a:t>
            </a:r>
            <a:endParaRPr lang="en-US" altLang="zh-CN" sz="2200" dirty="0"/>
          </a:p>
          <a:p>
            <a:r>
              <a:rPr lang="zh-CN" altLang="zh-CN" sz="2200" dirty="0"/>
              <a:t>当</a:t>
            </a:r>
            <a:r>
              <a:rPr lang="zh-CN" altLang="zh-CN" sz="2200" dirty="0">
                <a:solidFill>
                  <a:srgbClr val="0070C0"/>
                </a:solidFill>
              </a:rPr>
              <a:t>在某结点处使用某产生式进行归约时，就调用与该产生式对应的语义规则来计算属性值</a:t>
            </a:r>
            <a:r>
              <a:rPr lang="zh-CN" altLang="zh-CN" sz="2200" dirty="0"/>
              <a:t>。</a:t>
            </a:r>
            <a:endParaRPr lang="zh-CN" altLang="en-US" sz="2200" dirty="0">
              <a:solidFill>
                <a:srgbClr val="FF0000"/>
              </a:solidFill>
            </a:endParaRPr>
          </a:p>
        </p:txBody>
      </p:sp>
    </p:spTree>
    <p:extLst>
      <p:ext uri="{BB962C8B-B14F-4D97-AF65-F5344CB8AC3E}">
        <p14:creationId xmlns:p14="http://schemas.microsoft.com/office/powerpoint/2010/main" val="354877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8"/>
          <p:cNvSpPr>
            <a:spLocks noChangeArrowheads="1"/>
          </p:cNvSpPr>
          <p:nvPr/>
        </p:nvSpPr>
        <p:spPr bwMode="auto">
          <a:xfrm>
            <a:off x="1988716" y="3780921"/>
            <a:ext cx="927100"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spcBef>
                <a:spcPct val="0"/>
              </a:spcBef>
              <a:buFontTx/>
              <a:buNone/>
            </a:pPr>
            <a:r>
              <a:rPr kumimoji="1" lang="en-US" altLang="zh-CN" sz="2000" dirty="0" err="1">
                <a:latin typeface="Times New Roman" pitchFamily="18" charset="0"/>
              </a:rPr>
              <a:t>i</a:t>
            </a:r>
            <a:endParaRPr kumimoji="1" lang="en-US" altLang="zh-CN" sz="2000" dirty="0">
              <a:latin typeface="Times New Roman" pitchFamily="18" charset="0"/>
            </a:endParaRPr>
          </a:p>
        </p:txBody>
      </p:sp>
      <p:sp>
        <p:nvSpPr>
          <p:cNvPr id="30723" name="Rectangle 1029"/>
          <p:cNvSpPr>
            <a:spLocks noChangeArrowheads="1"/>
          </p:cNvSpPr>
          <p:nvPr/>
        </p:nvSpPr>
        <p:spPr bwMode="auto">
          <a:xfrm>
            <a:off x="1988715" y="3152920"/>
            <a:ext cx="914400"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spcBef>
                <a:spcPct val="0"/>
              </a:spcBef>
              <a:buFontTx/>
              <a:buNone/>
            </a:pPr>
            <a:r>
              <a:rPr kumimoji="1" lang="en-US" altLang="zh-CN" sz="2000">
                <a:latin typeface="Times New Roman" pitchFamily="18" charset="0"/>
              </a:rPr>
              <a:t>F</a:t>
            </a:r>
          </a:p>
        </p:txBody>
      </p:sp>
      <p:sp>
        <p:nvSpPr>
          <p:cNvPr id="30724" name="Line 1030"/>
          <p:cNvSpPr>
            <a:spLocks noChangeShapeType="1"/>
          </p:cNvSpPr>
          <p:nvPr/>
        </p:nvSpPr>
        <p:spPr bwMode="auto">
          <a:xfrm flipV="1">
            <a:off x="2407815" y="3506644"/>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25" name="Line 1031"/>
          <p:cNvSpPr>
            <a:spLocks noChangeShapeType="1"/>
          </p:cNvSpPr>
          <p:nvPr/>
        </p:nvSpPr>
        <p:spPr bwMode="auto">
          <a:xfrm flipV="1">
            <a:off x="2407815" y="2816081"/>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26" name="Rectangle 1032"/>
          <p:cNvSpPr>
            <a:spLocks noChangeArrowheads="1"/>
          </p:cNvSpPr>
          <p:nvPr/>
        </p:nvSpPr>
        <p:spPr bwMode="auto">
          <a:xfrm>
            <a:off x="1988715" y="2499742"/>
            <a:ext cx="92710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spcBef>
                <a:spcPct val="0"/>
              </a:spcBef>
              <a:buFontTx/>
              <a:buNone/>
            </a:pPr>
            <a:r>
              <a:rPr kumimoji="1" lang="en-US" altLang="zh-CN" sz="2000">
                <a:latin typeface="Times New Roman" pitchFamily="18" charset="0"/>
              </a:rPr>
              <a:t>T</a:t>
            </a:r>
          </a:p>
        </p:txBody>
      </p:sp>
      <p:sp>
        <p:nvSpPr>
          <p:cNvPr id="30727" name="Rectangle 1035"/>
          <p:cNvSpPr>
            <a:spLocks noChangeArrowheads="1"/>
          </p:cNvSpPr>
          <p:nvPr/>
        </p:nvSpPr>
        <p:spPr bwMode="auto">
          <a:xfrm>
            <a:off x="4173538" y="2499742"/>
            <a:ext cx="976312"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p>
        </p:txBody>
      </p:sp>
      <p:sp>
        <p:nvSpPr>
          <p:cNvPr id="30729" name="Line 1037"/>
          <p:cNvSpPr>
            <a:spLocks noChangeShapeType="1"/>
          </p:cNvSpPr>
          <p:nvPr/>
        </p:nvSpPr>
        <p:spPr bwMode="auto">
          <a:xfrm flipH="1">
            <a:off x="2452265" y="2139703"/>
            <a:ext cx="883072" cy="360039"/>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30" name="Line 1038"/>
          <p:cNvSpPr>
            <a:spLocks noChangeShapeType="1"/>
          </p:cNvSpPr>
          <p:nvPr/>
        </p:nvSpPr>
        <p:spPr bwMode="auto">
          <a:xfrm>
            <a:off x="4021138" y="2139702"/>
            <a:ext cx="640556" cy="360040"/>
          </a:xfrm>
          <a:prstGeom prst="line">
            <a:avLst/>
          </a:prstGeom>
          <a:noFill/>
          <a:ln w="9525">
            <a:solidFill>
              <a:schemeClr val="tx2"/>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31" name="Text Box 1039"/>
          <p:cNvSpPr txBox="1">
            <a:spLocks noChangeArrowheads="1"/>
          </p:cNvSpPr>
          <p:nvPr/>
        </p:nvSpPr>
        <p:spPr bwMode="auto">
          <a:xfrm>
            <a:off x="3419872" y="2499742"/>
            <a:ext cx="457200" cy="340735"/>
          </a:xfrm>
          <a:prstGeom prst="rect">
            <a:avLst/>
          </a:prstGeom>
          <a:solidFill>
            <a:schemeClr val="bg1"/>
          </a:solidFill>
          <a:ln w="9525">
            <a:solidFill>
              <a:schemeClr val="tx1"/>
            </a:solidFill>
            <a:miter lim="800000"/>
            <a:headEnd/>
            <a:tailEnd type="none" w="lg" len="lg"/>
          </a:ln>
        </p:spPr>
        <p:txBody>
          <a:bodyPr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zh-CN" altLang="en-US" sz="2000" dirty="0">
                <a:latin typeface="Times New Roman" pitchFamily="18" charset="0"/>
              </a:rPr>
              <a:t>*</a:t>
            </a:r>
            <a:endParaRPr kumimoji="1" lang="en-US" altLang="zh-CN" sz="2000" dirty="0">
              <a:latin typeface="Times New Roman" pitchFamily="18" charset="0"/>
            </a:endParaRPr>
          </a:p>
        </p:txBody>
      </p:sp>
      <p:sp>
        <p:nvSpPr>
          <p:cNvPr id="30732" name="Line 1040"/>
          <p:cNvSpPr>
            <a:spLocks noChangeShapeType="1"/>
          </p:cNvSpPr>
          <p:nvPr/>
        </p:nvSpPr>
        <p:spPr bwMode="auto">
          <a:xfrm>
            <a:off x="3619500" y="2139702"/>
            <a:ext cx="20638" cy="360041"/>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33" name="Line 1041"/>
          <p:cNvSpPr>
            <a:spLocks noChangeShapeType="1"/>
          </p:cNvSpPr>
          <p:nvPr/>
        </p:nvSpPr>
        <p:spPr bwMode="auto">
          <a:xfrm flipV="1">
            <a:off x="3640138" y="1457950"/>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34" name="Rectangle 1042"/>
          <p:cNvSpPr>
            <a:spLocks noChangeArrowheads="1"/>
          </p:cNvSpPr>
          <p:nvPr/>
        </p:nvSpPr>
        <p:spPr bwMode="auto">
          <a:xfrm>
            <a:off x="3133726" y="1112561"/>
            <a:ext cx="1039813"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E</a:t>
            </a:r>
          </a:p>
        </p:txBody>
      </p:sp>
      <p:sp>
        <p:nvSpPr>
          <p:cNvPr id="30735" name="Text Box 1043"/>
          <p:cNvSpPr txBox="1">
            <a:spLocks noChangeArrowheads="1"/>
          </p:cNvSpPr>
          <p:nvPr/>
        </p:nvSpPr>
        <p:spPr bwMode="auto">
          <a:xfrm>
            <a:off x="4789488" y="1112561"/>
            <a:ext cx="577850" cy="340735"/>
          </a:xfrm>
          <a:prstGeom prst="rect">
            <a:avLst/>
          </a:prstGeom>
          <a:solidFill>
            <a:schemeClr val="bg1"/>
          </a:solidFill>
          <a:ln w="9525">
            <a:solidFill>
              <a:schemeClr val="tx1"/>
            </a:solidFill>
            <a:miter lim="800000"/>
            <a:headEnd/>
            <a:tailEnd type="none" w="lg" len="lg"/>
          </a:ln>
        </p:spPr>
        <p:txBody>
          <a:bodyPr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a:t>
            </a:r>
          </a:p>
        </p:txBody>
      </p:sp>
      <p:sp>
        <p:nvSpPr>
          <p:cNvPr id="30736" name="Rectangle 1044"/>
          <p:cNvSpPr>
            <a:spLocks noChangeArrowheads="1"/>
          </p:cNvSpPr>
          <p:nvPr/>
        </p:nvSpPr>
        <p:spPr bwMode="auto">
          <a:xfrm>
            <a:off x="6086477" y="2499742"/>
            <a:ext cx="117157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err="1">
                <a:latin typeface="Times New Roman" pitchFamily="18" charset="0"/>
              </a:rPr>
              <a:t>i</a:t>
            </a:r>
            <a:endParaRPr kumimoji="1" lang="en-US" altLang="zh-CN" sz="2000" dirty="0">
              <a:latin typeface="Times New Roman" pitchFamily="18" charset="0"/>
            </a:endParaRPr>
          </a:p>
        </p:txBody>
      </p:sp>
      <p:sp>
        <p:nvSpPr>
          <p:cNvPr id="30737" name="Line 1045"/>
          <p:cNvSpPr>
            <a:spLocks noChangeShapeType="1"/>
          </p:cNvSpPr>
          <p:nvPr/>
        </p:nvSpPr>
        <p:spPr bwMode="auto">
          <a:xfrm flipV="1">
            <a:off x="6672263" y="2139702"/>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28" name="Rectangle 1036"/>
          <p:cNvSpPr>
            <a:spLocks noChangeArrowheads="1"/>
          </p:cNvSpPr>
          <p:nvPr/>
        </p:nvSpPr>
        <p:spPr bwMode="auto">
          <a:xfrm>
            <a:off x="3133726" y="1779311"/>
            <a:ext cx="1039813"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T</a:t>
            </a:r>
          </a:p>
        </p:txBody>
      </p:sp>
      <p:sp>
        <p:nvSpPr>
          <p:cNvPr id="30738" name="Rectangle 1046"/>
          <p:cNvSpPr>
            <a:spLocks noChangeArrowheads="1"/>
          </p:cNvSpPr>
          <p:nvPr/>
        </p:nvSpPr>
        <p:spPr bwMode="auto">
          <a:xfrm>
            <a:off x="6086476" y="1779311"/>
            <a:ext cx="1171575"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F</a:t>
            </a:r>
          </a:p>
        </p:txBody>
      </p:sp>
      <p:sp>
        <p:nvSpPr>
          <p:cNvPr id="30739" name="Rectangle 1047"/>
          <p:cNvSpPr>
            <a:spLocks noChangeArrowheads="1"/>
          </p:cNvSpPr>
          <p:nvPr/>
        </p:nvSpPr>
        <p:spPr bwMode="auto">
          <a:xfrm>
            <a:off x="6086476" y="1112561"/>
            <a:ext cx="1171575"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T</a:t>
            </a:r>
          </a:p>
        </p:txBody>
      </p:sp>
      <p:sp>
        <p:nvSpPr>
          <p:cNvPr id="30740" name="Line 1048"/>
          <p:cNvSpPr>
            <a:spLocks noChangeShapeType="1"/>
          </p:cNvSpPr>
          <p:nvPr/>
        </p:nvSpPr>
        <p:spPr bwMode="auto">
          <a:xfrm flipV="1">
            <a:off x="6672262" y="1453296"/>
            <a:ext cx="1" cy="324084"/>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1" name="Rectangle 1049"/>
          <p:cNvSpPr>
            <a:spLocks noChangeArrowheads="1"/>
          </p:cNvSpPr>
          <p:nvPr/>
        </p:nvSpPr>
        <p:spPr bwMode="auto">
          <a:xfrm>
            <a:off x="4572001" y="430815"/>
            <a:ext cx="1008063"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E</a:t>
            </a:r>
          </a:p>
        </p:txBody>
      </p:sp>
      <p:sp>
        <p:nvSpPr>
          <p:cNvPr id="30742" name="Line 1050"/>
          <p:cNvSpPr>
            <a:spLocks noChangeShapeType="1"/>
          </p:cNvSpPr>
          <p:nvPr/>
        </p:nvSpPr>
        <p:spPr bwMode="auto">
          <a:xfrm flipH="1">
            <a:off x="3653632" y="771579"/>
            <a:ext cx="1264444" cy="34098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3" name="Line 1051"/>
          <p:cNvSpPr>
            <a:spLocks noChangeShapeType="1"/>
          </p:cNvSpPr>
          <p:nvPr/>
        </p:nvSpPr>
        <p:spPr bwMode="auto">
          <a:xfrm>
            <a:off x="5076032" y="771580"/>
            <a:ext cx="2381" cy="32623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4" name="Line 1052"/>
          <p:cNvSpPr>
            <a:spLocks noChangeShapeType="1"/>
          </p:cNvSpPr>
          <p:nvPr/>
        </p:nvSpPr>
        <p:spPr bwMode="auto">
          <a:xfrm>
            <a:off x="5256213" y="771580"/>
            <a:ext cx="1333500" cy="335756"/>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0745" name="Rectangle 1053"/>
          <p:cNvSpPr>
            <a:spLocks noChangeArrowheads="1"/>
          </p:cNvSpPr>
          <p:nvPr/>
        </p:nvSpPr>
        <p:spPr bwMode="auto">
          <a:xfrm>
            <a:off x="6176963" y="51470"/>
            <a:ext cx="550862"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L</a:t>
            </a:r>
          </a:p>
        </p:txBody>
      </p:sp>
      <p:sp>
        <p:nvSpPr>
          <p:cNvPr id="30746" name="Line 1054"/>
          <p:cNvSpPr>
            <a:spLocks noChangeShapeType="1"/>
          </p:cNvSpPr>
          <p:nvPr/>
        </p:nvSpPr>
        <p:spPr bwMode="auto">
          <a:xfrm flipV="1">
            <a:off x="5580064" y="260068"/>
            <a:ext cx="596899" cy="34111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7" name="Text Box 1055"/>
          <p:cNvSpPr txBox="1">
            <a:spLocks noChangeArrowheads="1"/>
          </p:cNvSpPr>
          <p:nvPr/>
        </p:nvSpPr>
        <p:spPr bwMode="auto">
          <a:xfrm>
            <a:off x="7611391" y="430815"/>
            <a:ext cx="457200" cy="340735"/>
          </a:xfrm>
          <a:prstGeom prst="rect">
            <a:avLst/>
          </a:prstGeom>
          <a:solidFill>
            <a:schemeClr val="bg1"/>
          </a:solidFill>
          <a:ln w="9525">
            <a:solidFill>
              <a:schemeClr val="tx1"/>
            </a:solidFill>
            <a:miter lim="800000"/>
            <a:headEnd/>
            <a:tailEnd type="none" w="lg" len="lg"/>
          </a:ln>
        </p:spPr>
        <p:txBody>
          <a:bodyPr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a:t>
            </a:r>
          </a:p>
        </p:txBody>
      </p:sp>
      <p:sp>
        <p:nvSpPr>
          <p:cNvPr id="30748" name="Line 1056"/>
          <p:cNvSpPr>
            <a:spLocks noChangeShapeType="1"/>
          </p:cNvSpPr>
          <p:nvPr/>
        </p:nvSpPr>
        <p:spPr bwMode="auto">
          <a:xfrm>
            <a:off x="6727825" y="260067"/>
            <a:ext cx="883566" cy="254501"/>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graphicFrame>
        <p:nvGraphicFramePr>
          <p:cNvPr id="136253" name="Group 1085"/>
          <p:cNvGraphicFramePr>
            <a:graphicFrameLocks noGrp="1"/>
          </p:cNvGraphicFramePr>
          <p:nvPr/>
        </p:nvGraphicFramePr>
        <p:xfrm>
          <a:off x="5868144" y="3469482"/>
          <a:ext cx="3275857" cy="1674019"/>
        </p:xfrm>
        <a:graphic>
          <a:graphicData uri="http://schemas.openxmlformats.org/drawingml/2006/table">
            <a:tbl>
              <a:tblPr/>
              <a:tblGrid>
                <a:gridCol w="1512168">
                  <a:extLst>
                    <a:ext uri="{9D8B030D-6E8A-4147-A177-3AD203B41FA5}">
                      <a16:colId xmlns:a16="http://schemas.microsoft.com/office/drawing/2014/main" val="20000"/>
                    </a:ext>
                  </a:extLst>
                </a:gridCol>
                <a:gridCol w="1763689">
                  <a:extLst>
                    <a:ext uri="{9D8B030D-6E8A-4147-A177-3AD203B41FA5}">
                      <a16:colId xmlns:a16="http://schemas.microsoft.com/office/drawing/2014/main" val="20001"/>
                    </a:ext>
                  </a:extLst>
                </a:gridCol>
              </a:tblGrid>
              <a:tr h="1674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r>
                        <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F→(E)</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.lexval</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
        <p:nvSpPr>
          <p:cNvPr id="30757" name="Rectangle 1033"/>
          <p:cNvSpPr>
            <a:spLocks noChangeArrowheads="1"/>
          </p:cNvSpPr>
          <p:nvPr/>
        </p:nvSpPr>
        <p:spPr bwMode="auto">
          <a:xfrm>
            <a:off x="4173539" y="3152920"/>
            <a:ext cx="97631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err="1">
                <a:latin typeface="Times New Roman" pitchFamily="18" charset="0"/>
              </a:rPr>
              <a:t>i</a:t>
            </a:r>
            <a:endParaRPr kumimoji="1" lang="en-US" altLang="zh-CN" sz="2000" dirty="0">
              <a:latin typeface="Times New Roman" pitchFamily="18" charset="0"/>
            </a:endParaRPr>
          </a:p>
        </p:txBody>
      </p:sp>
      <p:sp>
        <p:nvSpPr>
          <p:cNvPr id="30758" name="Line 1034"/>
          <p:cNvSpPr>
            <a:spLocks noChangeShapeType="1"/>
          </p:cNvSpPr>
          <p:nvPr/>
        </p:nvSpPr>
        <p:spPr bwMode="auto">
          <a:xfrm flipH="1" flipV="1">
            <a:off x="4662488" y="2840476"/>
            <a:ext cx="0" cy="30897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23605" name="Text Box 1086"/>
          <p:cNvSpPr txBox="1">
            <a:spLocks noChangeArrowheads="1"/>
          </p:cNvSpPr>
          <p:nvPr/>
        </p:nvSpPr>
        <p:spPr bwMode="auto">
          <a:xfrm>
            <a:off x="2" y="4299347"/>
            <a:ext cx="5078412" cy="769441"/>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defRPr/>
            </a:pPr>
            <a:r>
              <a:rPr lang="zh-CN" altLang="en-US" sz="2200" b="1" dirty="0"/>
              <a:t>语法分析时，输入符号串</a:t>
            </a:r>
            <a:r>
              <a:rPr lang="en-US" altLang="zh-CN" sz="2200" b="1" dirty="0"/>
              <a:t>3*5+4#</a:t>
            </a:r>
            <a:r>
              <a:rPr lang="zh-CN" altLang="en-US" sz="2200" b="1" dirty="0"/>
              <a:t>生成语法树，只用产生式</a:t>
            </a:r>
            <a:endParaRPr lang="en-US" altLang="zh-CN" sz="2200" b="1" dirty="0"/>
          </a:p>
        </p:txBody>
      </p:sp>
      <p:sp>
        <p:nvSpPr>
          <p:cNvPr id="30760" name="AutoShape 1089"/>
          <p:cNvSpPr>
            <a:spLocks noChangeArrowheads="1"/>
          </p:cNvSpPr>
          <p:nvPr/>
        </p:nvSpPr>
        <p:spPr bwMode="auto">
          <a:xfrm>
            <a:off x="0" y="1"/>
            <a:ext cx="2700338" cy="1059656"/>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en-US" sz="2800" b="1" dirty="0">
                <a:solidFill>
                  <a:schemeClr val="accent2"/>
                </a:solidFill>
              </a:rPr>
              <a:t>例</a:t>
            </a:r>
            <a:r>
              <a:rPr lang="zh-CN" altLang="en-US" sz="2800" b="1" dirty="0"/>
              <a:t>：</a:t>
            </a:r>
          </a:p>
          <a:p>
            <a:pPr eaLnBrk="1" hangingPunct="1">
              <a:lnSpc>
                <a:spcPct val="100000"/>
              </a:lnSpc>
              <a:spcBef>
                <a:spcPct val="0"/>
              </a:spcBef>
              <a:buFontTx/>
              <a:buNone/>
            </a:pPr>
            <a:r>
              <a:rPr lang="zh-CN" altLang="en-US" sz="2800" b="1" dirty="0"/>
              <a:t>综合属性的计算</a:t>
            </a:r>
          </a:p>
        </p:txBody>
      </p:sp>
    </p:spTree>
    <p:extLst>
      <p:ext uri="{BB962C8B-B14F-4D97-AF65-F5344CB8AC3E}">
        <p14:creationId xmlns:p14="http://schemas.microsoft.com/office/powerpoint/2010/main" val="34522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0724"/>
                                        </p:tgtEl>
                                        <p:attrNameLst>
                                          <p:attrName>style.visibility</p:attrName>
                                        </p:attrNameLst>
                                      </p:cBhvr>
                                      <p:to>
                                        <p:strVal val="visible"/>
                                      </p:to>
                                    </p:set>
                                    <p:animEffect transition="in" filter="wipe(down)">
                                      <p:cBhvr>
                                        <p:cTn id="11" dur="500"/>
                                        <p:tgtEl>
                                          <p:spTgt spid="3072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7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725"/>
                                        </p:tgtEl>
                                        <p:attrNameLst>
                                          <p:attrName>style.visibility</p:attrName>
                                        </p:attrNameLst>
                                      </p:cBhvr>
                                      <p:to>
                                        <p:strVal val="visible"/>
                                      </p:to>
                                    </p:set>
                                    <p:animEffect transition="in" filter="wipe(down)">
                                      <p:cBhvr>
                                        <p:cTn id="20" dur="500"/>
                                        <p:tgtEl>
                                          <p:spTgt spid="307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7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7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75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0758"/>
                                        </p:tgtEl>
                                        <p:attrNameLst>
                                          <p:attrName>style.visibility</p:attrName>
                                        </p:attrNameLst>
                                      </p:cBhvr>
                                      <p:to>
                                        <p:strVal val="visible"/>
                                      </p:to>
                                    </p:set>
                                    <p:animEffect transition="in" filter="wipe(down)">
                                      <p:cBhvr>
                                        <p:cTn id="37" dur="500"/>
                                        <p:tgtEl>
                                          <p:spTgt spid="3075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07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0729"/>
                                        </p:tgtEl>
                                        <p:attrNameLst>
                                          <p:attrName>style.visibility</p:attrName>
                                        </p:attrNameLst>
                                      </p:cBhvr>
                                      <p:to>
                                        <p:strVal val="visible"/>
                                      </p:to>
                                    </p:set>
                                    <p:animEffect transition="in" filter="wipe(down)">
                                      <p:cBhvr>
                                        <p:cTn id="46" dur="500"/>
                                        <p:tgtEl>
                                          <p:spTgt spid="3072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0732"/>
                                        </p:tgtEl>
                                        <p:attrNameLst>
                                          <p:attrName>style.visibility</p:attrName>
                                        </p:attrNameLst>
                                      </p:cBhvr>
                                      <p:to>
                                        <p:strVal val="visible"/>
                                      </p:to>
                                    </p:set>
                                    <p:animEffect transition="in" filter="wipe(down)">
                                      <p:cBhvr>
                                        <p:cTn id="49" dur="500"/>
                                        <p:tgtEl>
                                          <p:spTgt spid="30732"/>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30730"/>
                                        </p:tgtEl>
                                        <p:attrNameLst>
                                          <p:attrName>style.visibility</p:attrName>
                                        </p:attrNameLst>
                                      </p:cBhvr>
                                      <p:to>
                                        <p:strVal val="visible"/>
                                      </p:to>
                                    </p:set>
                                    <p:animEffect transition="in" filter="wipe(down)">
                                      <p:cBhvr>
                                        <p:cTn id="52" dur="500"/>
                                        <p:tgtEl>
                                          <p:spTgt spid="3073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7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30733"/>
                                        </p:tgtEl>
                                        <p:attrNameLst>
                                          <p:attrName>style.visibility</p:attrName>
                                        </p:attrNameLst>
                                      </p:cBhvr>
                                      <p:to>
                                        <p:strVal val="visible"/>
                                      </p:to>
                                    </p:set>
                                    <p:animEffect transition="in" filter="wipe(down)">
                                      <p:cBhvr>
                                        <p:cTn id="61" dur="500"/>
                                        <p:tgtEl>
                                          <p:spTgt spid="3073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073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7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0736"/>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30737"/>
                                        </p:tgtEl>
                                        <p:attrNameLst>
                                          <p:attrName>style.visibility</p:attrName>
                                        </p:attrNameLst>
                                      </p:cBhvr>
                                      <p:to>
                                        <p:strVal val="visible"/>
                                      </p:to>
                                    </p:set>
                                    <p:animEffect transition="in" filter="wipe(down)">
                                      <p:cBhvr>
                                        <p:cTn id="78" dur="500"/>
                                        <p:tgtEl>
                                          <p:spTgt spid="30737"/>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07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30740"/>
                                        </p:tgtEl>
                                        <p:attrNameLst>
                                          <p:attrName>style.visibility</p:attrName>
                                        </p:attrNameLst>
                                      </p:cBhvr>
                                      <p:to>
                                        <p:strVal val="visible"/>
                                      </p:to>
                                    </p:set>
                                    <p:animEffect transition="in" filter="wipe(down)">
                                      <p:cBhvr>
                                        <p:cTn id="87" dur="500"/>
                                        <p:tgtEl>
                                          <p:spTgt spid="30740"/>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3073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30742"/>
                                        </p:tgtEl>
                                        <p:attrNameLst>
                                          <p:attrName>style.visibility</p:attrName>
                                        </p:attrNameLst>
                                      </p:cBhvr>
                                      <p:to>
                                        <p:strVal val="visible"/>
                                      </p:to>
                                    </p:set>
                                    <p:animEffect transition="in" filter="wipe(down)">
                                      <p:cBhvr>
                                        <p:cTn id="96" dur="500"/>
                                        <p:tgtEl>
                                          <p:spTgt spid="30742"/>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30743"/>
                                        </p:tgtEl>
                                        <p:attrNameLst>
                                          <p:attrName>style.visibility</p:attrName>
                                        </p:attrNameLst>
                                      </p:cBhvr>
                                      <p:to>
                                        <p:strVal val="visible"/>
                                      </p:to>
                                    </p:set>
                                    <p:animEffect transition="in" filter="wipe(down)">
                                      <p:cBhvr>
                                        <p:cTn id="99" dur="500"/>
                                        <p:tgtEl>
                                          <p:spTgt spid="30743"/>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30744"/>
                                        </p:tgtEl>
                                        <p:attrNameLst>
                                          <p:attrName>style.visibility</p:attrName>
                                        </p:attrNameLst>
                                      </p:cBhvr>
                                      <p:to>
                                        <p:strVal val="visible"/>
                                      </p:to>
                                    </p:set>
                                    <p:animEffect transition="in" filter="wipe(down)">
                                      <p:cBhvr>
                                        <p:cTn id="102" dur="500"/>
                                        <p:tgtEl>
                                          <p:spTgt spid="30744"/>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074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074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30746"/>
                                        </p:tgtEl>
                                        <p:attrNameLst>
                                          <p:attrName>style.visibility</p:attrName>
                                        </p:attrNameLst>
                                      </p:cBhvr>
                                      <p:to>
                                        <p:strVal val="visible"/>
                                      </p:to>
                                    </p:set>
                                    <p:animEffect transition="in" filter="wipe(down)">
                                      <p:cBhvr>
                                        <p:cTn id="115" dur="500"/>
                                        <p:tgtEl>
                                          <p:spTgt spid="30746"/>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30748"/>
                                        </p:tgtEl>
                                        <p:attrNameLst>
                                          <p:attrName>style.visibility</p:attrName>
                                        </p:attrNameLst>
                                      </p:cBhvr>
                                      <p:to>
                                        <p:strVal val="visible"/>
                                      </p:to>
                                    </p:set>
                                    <p:animEffect transition="in" filter="wipe(down)">
                                      <p:cBhvr>
                                        <p:cTn id="118" dur="500"/>
                                        <p:tgtEl>
                                          <p:spTgt spid="30748"/>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0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3" grpId="0" animBg="1"/>
      <p:bldP spid="30724" grpId="0" animBg="1"/>
      <p:bldP spid="30725" grpId="0" animBg="1"/>
      <p:bldP spid="30726" grpId="0" animBg="1"/>
      <p:bldP spid="30727" grpId="0" animBg="1"/>
      <p:bldP spid="30729" grpId="0" animBg="1"/>
      <p:bldP spid="30730" grpId="0" animBg="1"/>
      <p:bldP spid="30731" grpId="0" animBg="1"/>
      <p:bldP spid="30732" grpId="0" animBg="1"/>
      <p:bldP spid="30733" grpId="0" animBg="1"/>
      <p:bldP spid="30734" grpId="0" animBg="1"/>
      <p:bldP spid="30735" grpId="0" animBg="1"/>
      <p:bldP spid="30736" grpId="0" animBg="1"/>
      <p:bldP spid="30737" grpId="0" animBg="1"/>
      <p:bldP spid="30728" grpId="0" animBg="1"/>
      <p:bldP spid="30738" grpId="0" animBg="1"/>
      <p:bldP spid="30739" grpId="0" animBg="1"/>
      <p:bldP spid="30740" grpId="0" animBg="1"/>
      <p:bldP spid="30741" grpId="0" animBg="1"/>
      <p:bldP spid="30742" grpId="0" animBg="1"/>
      <p:bldP spid="30743" grpId="0" animBg="1"/>
      <p:bldP spid="30744" grpId="0" animBg="1"/>
      <p:bldP spid="30745" grpId="0" animBg="1"/>
      <p:bldP spid="30746" grpId="0" animBg="1"/>
      <p:bldP spid="30747" grpId="0" animBg="1"/>
      <p:bldP spid="30748" grpId="0" animBg="1"/>
      <p:bldP spid="30757" grpId="0" animBg="1"/>
      <p:bldP spid="3075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25" name="Text Box 1086"/>
          <p:cNvSpPr txBox="1">
            <a:spLocks noChangeArrowheads="1"/>
          </p:cNvSpPr>
          <p:nvPr/>
        </p:nvSpPr>
        <p:spPr bwMode="auto">
          <a:xfrm>
            <a:off x="0" y="4333041"/>
            <a:ext cx="5099844" cy="75713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80000"/>
              </a:lnSpc>
              <a:buFontTx/>
              <a:buNone/>
              <a:defRPr/>
            </a:pPr>
            <a:r>
              <a:rPr lang="zh-CN" altLang="en-US" sz="1800" b="1" dirty="0"/>
              <a:t>在归约时调用产生式对应的属性计算规则，计算每个结点的综合属性</a:t>
            </a:r>
            <a:endParaRPr lang="en-US" altLang="zh-CN" sz="1800" b="1" dirty="0"/>
          </a:p>
          <a:p>
            <a:pPr eaLnBrk="1" hangingPunct="1">
              <a:lnSpc>
                <a:spcPct val="80000"/>
              </a:lnSpc>
              <a:defRPr/>
            </a:pPr>
            <a:r>
              <a:rPr lang="zh-CN" altLang="en-US" sz="1800" b="1" dirty="0"/>
              <a:t>从下往上，逐层计算每个文法符号属性的值</a:t>
            </a:r>
            <a:endParaRPr lang="en-US" altLang="zh-CN" sz="1800" b="1" dirty="0"/>
          </a:p>
        </p:txBody>
      </p:sp>
      <p:sp>
        <p:nvSpPr>
          <p:cNvPr id="32822" name="AutoShape 1089"/>
          <p:cNvSpPr>
            <a:spLocks noChangeArrowheads="1"/>
          </p:cNvSpPr>
          <p:nvPr/>
        </p:nvSpPr>
        <p:spPr bwMode="auto">
          <a:xfrm>
            <a:off x="19916" y="58962"/>
            <a:ext cx="2145818" cy="797122"/>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FontTx/>
              <a:buNone/>
            </a:pPr>
            <a:r>
              <a:rPr lang="zh-CN" altLang="en-US" sz="2400" b="1" dirty="0">
                <a:solidFill>
                  <a:schemeClr val="accent2"/>
                </a:solidFill>
              </a:rPr>
              <a:t>例</a:t>
            </a:r>
            <a:r>
              <a:rPr lang="zh-CN" altLang="en-US" sz="2400" b="1" dirty="0"/>
              <a:t>：</a:t>
            </a:r>
          </a:p>
          <a:p>
            <a:pPr eaLnBrk="1" hangingPunct="1">
              <a:buFontTx/>
              <a:buNone/>
            </a:pPr>
            <a:r>
              <a:rPr lang="zh-CN" altLang="en-US" sz="2400" b="1" dirty="0"/>
              <a:t>具体计算过程</a:t>
            </a:r>
          </a:p>
        </p:txBody>
      </p:sp>
      <p:sp>
        <p:nvSpPr>
          <p:cNvPr id="2" name="Rectangle 1028">
            <a:extLst>
              <a:ext uri="{FF2B5EF4-FFF2-40B4-BE49-F238E27FC236}">
                <a16:creationId xmlns:a16="http://schemas.microsoft.com/office/drawing/2014/main" id="{8177CC0B-24E1-51FF-DFAF-9D1D3953747E}"/>
              </a:ext>
            </a:extLst>
          </p:cNvPr>
          <p:cNvSpPr>
            <a:spLocks noChangeArrowheads="1"/>
          </p:cNvSpPr>
          <p:nvPr/>
        </p:nvSpPr>
        <p:spPr bwMode="auto">
          <a:xfrm>
            <a:off x="1115616" y="3905754"/>
            <a:ext cx="139724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err="1">
                <a:latin typeface="Times New Roman" pitchFamily="18" charset="0"/>
              </a:rPr>
              <a:t>i</a:t>
            </a:r>
            <a:r>
              <a:rPr kumimoji="1" lang="en-US" altLang="zh-CN" sz="2000" dirty="0">
                <a:latin typeface="Times New Roman" pitchFamily="18" charset="0"/>
              </a:rPr>
              <a:t>(</a:t>
            </a:r>
            <a:r>
              <a:rPr kumimoji="1" lang="en-US" altLang="zh-CN" sz="2000" dirty="0" err="1">
                <a:latin typeface="Times New Roman" pitchFamily="18" charset="0"/>
              </a:rPr>
              <a:t>i</a:t>
            </a:r>
            <a:r>
              <a:rPr kumimoji="1" lang="en-US" altLang="zh-CN" sz="2000" dirty="0" err="1">
                <a:latin typeface="Times New Roman" pitchFamily="18" charset="0"/>
                <a:sym typeface="Symbol" pitchFamily="18" charset="2"/>
              </a:rPr>
              <a:t>lexval</a:t>
            </a:r>
            <a:r>
              <a:rPr kumimoji="1" lang="en-US" altLang="zh-CN" sz="2000" dirty="0">
                <a:latin typeface="Times New Roman" pitchFamily="18" charset="0"/>
                <a:sym typeface="Symbol" pitchFamily="18" charset="2"/>
              </a:rPr>
              <a:t>=3)</a:t>
            </a:r>
            <a:endParaRPr kumimoji="1" lang="en-US" altLang="zh-CN" sz="2000" dirty="0">
              <a:latin typeface="Times New Roman" pitchFamily="18" charset="0"/>
            </a:endParaRPr>
          </a:p>
        </p:txBody>
      </p:sp>
      <p:sp>
        <p:nvSpPr>
          <p:cNvPr id="3" name="Rectangle 1029">
            <a:extLst>
              <a:ext uri="{FF2B5EF4-FFF2-40B4-BE49-F238E27FC236}">
                <a16:creationId xmlns:a16="http://schemas.microsoft.com/office/drawing/2014/main" id="{8DF4058B-3191-439F-46F4-FDDC314DB4AF}"/>
              </a:ext>
            </a:extLst>
          </p:cNvPr>
          <p:cNvSpPr>
            <a:spLocks noChangeArrowheads="1"/>
          </p:cNvSpPr>
          <p:nvPr/>
        </p:nvSpPr>
        <p:spPr bwMode="auto">
          <a:xfrm>
            <a:off x="1139923" y="3263964"/>
            <a:ext cx="1245680"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r>
              <a:rPr kumimoji="1" lang="en-US" altLang="zh-CN" sz="2000" dirty="0" err="1">
                <a:latin typeface="Times New Roman" pitchFamily="18" charset="0"/>
              </a:rPr>
              <a:t>F</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=3)</a:t>
            </a:r>
            <a:endParaRPr kumimoji="1" lang="en-US" altLang="zh-CN" sz="2000" dirty="0">
              <a:latin typeface="Times New Roman" pitchFamily="18" charset="0"/>
            </a:endParaRPr>
          </a:p>
        </p:txBody>
      </p:sp>
      <p:sp>
        <p:nvSpPr>
          <p:cNvPr id="4" name="Line 1030">
            <a:extLst>
              <a:ext uri="{FF2B5EF4-FFF2-40B4-BE49-F238E27FC236}">
                <a16:creationId xmlns:a16="http://schemas.microsoft.com/office/drawing/2014/main" id="{5911184D-05F2-72DB-6F3F-A6D7E9A8C41F}"/>
              </a:ext>
            </a:extLst>
          </p:cNvPr>
          <p:cNvSpPr>
            <a:spLocks noChangeShapeType="1"/>
          </p:cNvSpPr>
          <p:nvPr/>
        </p:nvSpPr>
        <p:spPr bwMode="auto">
          <a:xfrm flipV="1">
            <a:off x="1761450" y="3621232"/>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5" name="Line 1031">
            <a:extLst>
              <a:ext uri="{FF2B5EF4-FFF2-40B4-BE49-F238E27FC236}">
                <a16:creationId xmlns:a16="http://schemas.microsoft.com/office/drawing/2014/main" id="{E694FDFB-BF0F-1F1B-9A0A-4A6D6C4AAB6C}"/>
              </a:ext>
            </a:extLst>
          </p:cNvPr>
          <p:cNvSpPr>
            <a:spLocks noChangeShapeType="1"/>
          </p:cNvSpPr>
          <p:nvPr/>
        </p:nvSpPr>
        <p:spPr bwMode="auto">
          <a:xfrm flipV="1">
            <a:off x="1761450" y="2925467"/>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6" name="Rectangle 1032">
            <a:extLst>
              <a:ext uri="{FF2B5EF4-FFF2-40B4-BE49-F238E27FC236}">
                <a16:creationId xmlns:a16="http://schemas.microsoft.com/office/drawing/2014/main" id="{40A997FD-F4A7-E0A4-0966-9253E2800636}"/>
              </a:ext>
            </a:extLst>
          </p:cNvPr>
          <p:cNvSpPr>
            <a:spLocks noChangeArrowheads="1"/>
          </p:cNvSpPr>
          <p:nvPr/>
        </p:nvSpPr>
        <p:spPr bwMode="auto">
          <a:xfrm>
            <a:off x="1139923" y="2564304"/>
            <a:ext cx="1245680"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T(</a:t>
            </a:r>
            <a:r>
              <a:rPr kumimoji="1" lang="en-US" altLang="zh-CN" sz="2000" dirty="0" err="1">
                <a:latin typeface="Times New Roman" pitchFamily="18" charset="0"/>
              </a:rPr>
              <a:t>T</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=3)</a:t>
            </a:r>
            <a:endParaRPr kumimoji="1" lang="en-US" altLang="zh-CN" sz="2000" dirty="0">
              <a:latin typeface="Times New Roman" pitchFamily="18" charset="0"/>
            </a:endParaRPr>
          </a:p>
        </p:txBody>
      </p:sp>
      <p:sp>
        <p:nvSpPr>
          <p:cNvPr id="7" name="Rectangle 1035">
            <a:extLst>
              <a:ext uri="{FF2B5EF4-FFF2-40B4-BE49-F238E27FC236}">
                <a16:creationId xmlns:a16="http://schemas.microsoft.com/office/drawing/2014/main" id="{6067D58F-7861-5C01-3F1D-8A3DC92EDC1E}"/>
              </a:ext>
            </a:extLst>
          </p:cNvPr>
          <p:cNvSpPr>
            <a:spLocks noChangeArrowheads="1"/>
          </p:cNvSpPr>
          <p:nvPr/>
        </p:nvSpPr>
        <p:spPr bwMode="auto">
          <a:xfrm>
            <a:off x="2948540" y="2564304"/>
            <a:ext cx="1269987"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r>
              <a:rPr kumimoji="1" lang="en-US" altLang="zh-CN" sz="2000" dirty="0" err="1">
                <a:latin typeface="Times New Roman" pitchFamily="18" charset="0"/>
              </a:rPr>
              <a:t>F</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=5)</a:t>
            </a:r>
            <a:endParaRPr kumimoji="1" lang="en-US" altLang="zh-CN" sz="2000" dirty="0">
              <a:latin typeface="Times New Roman" pitchFamily="18" charset="0"/>
            </a:endParaRPr>
          </a:p>
        </p:txBody>
      </p:sp>
      <p:sp>
        <p:nvSpPr>
          <p:cNvPr id="8" name="Rectangle 1036">
            <a:extLst>
              <a:ext uri="{FF2B5EF4-FFF2-40B4-BE49-F238E27FC236}">
                <a16:creationId xmlns:a16="http://schemas.microsoft.com/office/drawing/2014/main" id="{6CEA3CC0-9576-5883-2C31-B9BC36CCA4D4}"/>
              </a:ext>
            </a:extLst>
          </p:cNvPr>
          <p:cNvSpPr>
            <a:spLocks noChangeArrowheads="1"/>
          </p:cNvSpPr>
          <p:nvPr/>
        </p:nvSpPr>
        <p:spPr bwMode="auto">
          <a:xfrm>
            <a:off x="2015574" y="1864360"/>
            <a:ext cx="148788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T(</a:t>
            </a:r>
            <a:r>
              <a:rPr kumimoji="1" lang="en-US" altLang="zh-CN" sz="2000" dirty="0" err="1">
                <a:latin typeface="Times New Roman" pitchFamily="18" charset="0"/>
              </a:rPr>
              <a:t>T</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=15)</a:t>
            </a:r>
            <a:endParaRPr kumimoji="1" lang="en-US" altLang="zh-CN" sz="2000" dirty="0">
              <a:latin typeface="Times New Roman" pitchFamily="18" charset="0"/>
            </a:endParaRPr>
          </a:p>
        </p:txBody>
      </p:sp>
      <p:sp>
        <p:nvSpPr>
          <p:cNvPr id="9" name="Line 1037">
            <a:extLst>
              <a:ext uri="{FF2B5EF4-FFF2-40B4-BE49-F238E27FC236}">
                <a16:creationId xmlns:a16="http://schemas.microsoft.com/office/drawing/2014/main" id="{B4D362AA-A04D-5B6E-D3B8-1B0453C30613}"/>
              </a:ext>
            </a:extLst>
          </p:cNvPr>
          <p:cNvSpPr>
            <a:spLocks noChangeShapeType="1"/>
          </p:cNvSpPr>
          <p:nvPr/>
        </p:nvSpPr>
        <p:spPr bwMode="auto">
          <a:xfrm flipH="1">
            <a:off x="1937354" y="2213182"/>
            <a:ext cx="540952" cy="297419"/>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10" name="Line 1038">
            <a:extLst>
              <a:ext uri="{FF2B5EF4-FFF2-40B4-BE49-F238E27FC236}">
                <a16:creationId xmlns:a16="http://schemas.microsoft.com/office/drawing/2014/main" id="{EB91901C-D4F0-CCFA-1196-6814D46BEF5C}"/>
              </a:ext>
            </a:extLst>
          </p:cNvPr>
          <p:cNvSpPr>
            <a:spLocks noChangeShapeType="1"/>
          </p:cNvSpPr>
          <p:nvPr/>
        </p:nvSpPr>
        <p:spPr bwMode="auto">
          <a:xfrm>
            <a:off x="2651542" y="2213182"/>
            <a:ext cx="711473" cy="293699"/>
          </a:xfrm>
          <a:prstGeom prst="line">
            <a:avLst/>
          </a:prstGeom>
          <a:noFill/>
          <a:ln w="9525">
            <a:solidFill>
              <a:schemeClr val="tx2"/>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11" name="Text Box 1039">
            <a:extLst>
              <a:ext uri="{FF2B5EF4-FFF2-40B4-BE49-F238E27FC236}">
                <a16:creationId xmlns:a16="http://schemas.microsoft.com/office/drawing/2014/main" id="{E1BE3E16-B9F9-143A-F581-26A720F29655}"/>
              </a:ext>
            </a:extLst>
          </p:cNvPr>
          <p:cNvSpPr txBox="1">
            <a:spLocks noChangeArrowheads="1"/>
          </p:cNvSpPr>
          <p:nvPr/>
        </p:nvSpPr>
        <p:spPr bwMode="auto">
          <a:xfrm>
            <a:off x="2478307" y="2569700"/>
            <a:ext cx="339351" cy="340735"/>
          </a:xfrm>
          <a:prstGeom prst="rect">
            <a:avLst/>
          </a:prstGeom>
          <a:solidFill>
            <a:schemeClr val="bg1"/>
          </a:solidFill>
          <a:ln w="9525">
            <a:solidFill>
              <a:schemeClr val="tx1"/>
            </a:solidFill>
            <a:miter lim="800000"/>
            <a:headEnd/>
            <a:tailEnd type="none" w="lg" len="lg"/>
          </a:ln>
        </p:spPr>
        <p:txBody>
          <a:bodyPr wrap="square"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a:t>
            </a:r>
          </a:p>
        </p:txBody>
      </p:sp>
      <p:sp>
        <p:nvSpPr>
          <p:cNvPr id="12" name="Line 1040">
            <a:extLst>
              <a:ext uri="{FF2B5EF4-FFF2-40B4-BE49-F238E27FC236}">
                <a16:creationId xmlns:a16="http://schemas.microsoft.com/office/drawing/2014/main" id="{8F16CCCB-B8CC-D964-DDAB-1687FF293107}"/>
              </a:ext>
            </a:extLst>
          </p:cNvPr>
          <p:cNvSpPr>
            <a:spLocks noChangeShapeType="1"/>
          </p:cNvSpPr>
          <p:nvPr/>
        </p:nvSpPr>
        <p:spPr bwMode="auto">
          <a:xfrm>
            <a:off x="2578988" y="2205387"/>
            <a:ext cx="0" cy="36431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13" name="Line 1041">
            <a:extLst>
              <a:ext uri="{FF2B5EF4-FFF2-40B4-BE49-F238E27FC236}">
                <a16:creationId xmlns:a16="http://schemas.microsoft.com/office/drawing/2014/main" id="{C4C59532-2E2F-D40B-B5FE-04D773FB192C}"/>
              </a:ext>
            </a:extLst>
          </p:cNvPr>
          <p:cNvSpPr>
            <a:spLocks noChangeShapeType="1"/>
          </p:cNvSpPr>
          <p:nvPr/>
        </p:nvSpPr>
        <p:spPr bwMode="auto">
          <a:xfrm flipV="1">
            <a:off x="2850036" y="1555653"/>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14" name="Rectangle 1042">
            <a:extLst>
              <a:ext uri="{FF2B5EF4-FFF2-40B4-BE49-F238E27FC236}">
                <a16:creationId xmlns:a16="http://schemas.microsoft.com/office/drawing/2014/main" id="{43D98860-CD04-94F9-10B7-05CC011A3661}"/>
              </a:ext>
            </a:extLst>
          </p:cNvPr>
          <p:cNvSpPr>
            <a:spLocks noChangeArrowheads="1"/>
          </p:cNvSpPr>
          <p:nvPr/>
        </p:nvSpPr>
        <p:spPr bwMode="auto">
          <a:xfrm>
            <a:off x="2051720" y="1211080"/>
            <a:ext cx="148788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E(</a:t>
            </a:r>
            <a:r>
              <a:rPr kumimoji="1" lang="en-US" altLang="zh-CN" sz="2000" dirty="0" err="1">
                <a:latin typeface="Times New Roman" pitchFamily="18" charset="0"/>
              </a:rPr>
              <a:t>E</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=15)</a:t>
            </a:r>
            <a:endParaRPr kumimoji="1" lang="en-US" altLang="zh-CN" sz="2000" dirty="0">
              <a:latin typeface="Times New Roman" pitchFamily="18" charset="0"/>
            </a:endParaRPr>
          </a:p>
        </p:txBody>
      </p:sp>
      <p:sp>
        <p:nvSpPr>
          <p:cNvPr id="15" name="Text Box 1043">
            <a:extLst>
              <a:ext uri="{FF2B5EF4-FFF2-40B4-BE49-F238E27FC236}">
                <a16:creationId xmlns:a16="http://schemas.microsoft.com/office/drawing/2014/main" id="{E8FF24EB-ED9F-992D-2F77-C89199DD9686}"/>
              </a:ext>
            </a:extLst>
          </p:cNvPr>
          <p:cNvSpPr txBox="1">
            <a:spLocks noChangeArrowheads="1"/>
          </p:cNvSpPr>
          <p:nvPr/>
        </p:nvSpPr>
        <p:spPr bwMode="auto">
          <a:xfrm>
            <a:off x="3715942" y="1218561"/>
            <a:ext cx="339351" cy="340735"/>
          </a:xfrm>
          <a:prstGeom prst="rect">
            <a:avLst/>
          </a:prstGeom>
          <a:solidFill>
            <a:schemeClr val="bg1"/>
          </a:solidFill>
          <a:ln w="9525">
            <a:solidFill>
              <a:schemeClr val="tx1"/>
            </a:solidFill>
            <a:miter lim="800000"/>
            <a:headEnd/>
            <a:tailEnd type="none" w="lg" len="lg"/>
          </a:ln>
        </p:spPr>
        <p:txBody>
          <a:bodyPr wrap="square"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a:t>
            </a:r>
          </a:p>
        </p:txBody>
      </p:sp>
      <p:sp>
        <p:nvSpPr>
          <p:cNvPr id="16" name="Rectangle 1044">
            <a:extLst>
              <a:ext uri="{FF2B5EF4-FFF2-40B4-BE49-F238E27FC236}">
                <a16:creationId xmlns:a16="http://schemas.microsoft.com/office/drawing/2014/main" id="{C6D19C1F-240F-061F-9A36-B1E2819DDB39}"/>
              </a:ext>
            </a:extLst>
          </p:cNvPr>
          <p:cNvSpPr>
            <a:spLocks noChangeArrowheads="1"/>
          </p:cNvSpPr>
          <p:nvPr/>
        </p:nvSpPr>
        <p:spPr bwMode="auto">
          <a:xfrm>
            <a:off x="4644008" y="2560032"/>
            <a:ext cx="139724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80000"/>
              </a:lnSpc>
              <a:buFontTx/>
              <a:buNone/>
            </a:pPr>
            <a:r>
              <a:rPr kumimoji="1" lang="en-US" altLang="zh-CN" sz="2000" dirty="0" err="1">
                <a:latin typeface="Times New Roman" pitchFamily="18" charset="0"/>
              </a:rPr>
              <a:t>i</a:t>
            </a:r>
            <a:r>
              <a:rPr kumimoji="1" lang="en-US" altLang="zh-CN" sz="2000" dirty="0">
                <a:latin typeface="Times New Roman" pitchFamily="18" charset="0"/>
              </a:rPr>
              <a:t>(</a:t>
            </a:r>
            <a:r>
              <a:rPr kumimoji="1" lang="en-US" altLang="zh-CN" sz="2000" dirty="0" err="1">
                <a:latin typeface="Times New Roman" pitchFamily="18" charset="0"/>
              </a:rPr>
              <a:t>i</a:t>
            </a:r>
            <a:r>
              <a:rPr kumimoji="1" lang="en-US" altLang="zh-CN" sz="2000" dirty="0" err="1">
                <a:latin typeface="Times New Roman" pitchFamily="18" charset="0"/>
                <a:sym typeface="Symbol" pitchFamily="18" charset="2"/>
              </a:rPr>
              <a:t>lexval</a:t>
            </a:r>
            <a:r>
              <a:rPr kumimoji="1" lang="en-US" altLang="zh-CN" sz="2000" dirty="0">
                <a:latin typeface="Times New Roman" pitchFamily="18" charset="0"/>
                <a:sym typeface="Symbol" pitchFamily="18" charset="2"/>
              </a:rPr>
              <a:t>=4)</a:t>
            </a:r>
            <a:endParaRPr kumimoji="1" lang="en-US" altLang="zh-CN" sz="2000" dirty="0">
              <a:latin typeface="Times New Roman" pitchFamily="18" charset="0"/>
            </a:endParaRPr>
          </a:p>
        </p:txBody>
      </p:sp>
      <p:sp>
        <p:nvSpPr>
          <p:cNvPr id="17" name="Line 1045">
            <a:extLst>
              <a:ext uri="{FF2B5EF4-FFF2-40B4-BE49-F238E27FC236}">
                <a16:creationId xmlns:a16="http://schemas.microsoft.com/office/drawing/2014/main" id="{11C049AA-4C3C-C27F-CF2F-9BBFAA97D2A0}"/>
              </a:ext>
            </a:extLst>
          </p:cNvPr>
          <p:cNvSpPr>
            <a:spLocks noChangeShapeType="1"/>
          </p:cNvSpPr>
          <p:nvPr/>
        </p:nvSpPr>
        <p:spPr bwMode="auto">
          <a:xfrm flipV="1">
            <a:off x="5237846" y="2205387"/>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18" name="Rectangle 1046">
            <a:extLst>
              <a:ext uri="{FF2B5EF4-FFF2-40B4-BE49-F238E27FC236}">
                <a16:creationId xmlns:a16="http://schemas.microsoft.com/office/drawing/2014/main" id="{E969C9BB-49BC-4787-BC88-0C0CE6D78F5C}"/>
              </a:ext>
            </a:extLst>
          </p:cNvPr>
          <p:cNvSpPr>
            <a:spLocks noChangeArrowheads="1"/>
          </p:cNvSpPr>
          <p:nvPr/>
        </p:nvSpPr>
        <p:spPr bwMode="auto">
          <a:xfrm>
            <a:off x="4646824" y="1864360"/>
            <a:ext cx="126717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r>
              <a:rPr kumimoji="1" lang="en-US" altLang="zh-CN" sz="2000" dirty="0" err="1">
                <a:latin typeface="Times New Roman" pitchFamily="18" charset="0"/>
              </a:rPr>
              <a:t>F</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=4)</a:t>
            </a:r>
            <a:endParaRPr kumimoji="1" lang="en-US" altLang="zh-CN" sz="2000" dirty="0">
              <a:latin typeface="Times New Roman" pitchFamily="18" charset="0"/>
            </a:endParaRPr>
          </a:p>
        </p:txBody>
      </p:sp>
      <p:sp>
        <p:nvSpPr>
          <p:cNvPr id="19" name="Rectangle 1047">
            <a:extLst>
              <a:ext uri="{FF2B5EF4-FFF2-40B4-BE49-F238E27FC236}">
                <a16:creationId xmlns:a16="http://schemas.microsoft.com/office/drawing/2014/main" id="{075D38DA-17D9-3ACE-5F50-8C67AB6E1991}"/>
              </a:ext>
            </a:extLst>
          </p:cNvPr>
          <p:cNvSpPr>
            <a:spLocks noChangeArrowheads="1"/>
          </p:cNvSpPr>
          <p:nvPr/>
        </p:nvSpPr>
        <p:spPr bwMode="auto">
          <a:xfrm>
            <a:off x="4646824" y="1213165"/>
            <a:ext cx="126717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T(</a:t>
            </a:r>
            <a:r>
              <a:rPr kumimoji="1" lang="en-US" altLang="zh-CN" sz="2000" dirty="0" err="1">
                <a:latin typeface="Times New Roman" pitchFamily="18" charset="0"/>
              </a:rPr>
              <a:t>T</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=4)</a:t>
            </a:r>
            <a:endParaRPr kumimoji="1" lang="en-US" altLang="zh-CN" sz="2000" dirty="0">
              <a:latin typeface="Times New Roman" pitchFamily="18" charset="0"/>
            </a:endParaRPr>
          </a:p>
        </p:txBody>
      </p:sp>
      <p:sp>
        <p:nvSpPr>
          <p:cNvPr id="20" name="Line 1048">
            <a:extLst>
              <a:ext uri="{FF2B5EF4-FFF2-40B4-BE49-F238E27FC236}">
                <a16:creationId xmlns:a16="http://schemas.microsoft.com/office/drawing/2014/main" id="{2FBC7277-127E-0B8A-3F54-E2CFB16683A3}"/>
              </a:ext>
            </a:extLst>
          </p:cNvPr>
          <p:cNvSpPr>
            <a:spLocks noChangeShapeType="1"/>
          </p:cNvSpPr>
          <p:nvPr/>
        </p:nvSpPr>
        <p:spPr bwMode="auto">
          <a:xfrm flipV="1">
            <a:off x="5250422" y="1547965"/>
            <a:ext cx="0" cy="29343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1" name="Rectangle 1049">
            <a:extLst>
              <a:ext uri="{FF2B5EF4-FFF2-40B4-BE49-F238E27FC236}">
                <a16:creationId xmlns:a16="http://schemas.microsoft.com/office/drawing/2014/main" id="{11A0F559-A1CF-302B-6231-ABF05FDF8522}"/>
              </a:ext>
            </a:extLst>
          </p:cNvPr>
          <p:cNvSpPr>
            <a:spLocks noChangeArrowheads="1"/>
          </p:cNvSpPr>
          <p:nvPr/>
        </p:nvSpPr>
        <p:spPr bwMode="auto">
          <a:xfrm>
            <a:off x="3232842" y="566107"/>
            <a:ext cx="147052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E(</a:t>
            </a:r>
            <a:r>
              <a:rPr kumimoji="1" lang="en-US" altLang="zh-CN" sz="2000" dirty="0" err="1">
                <a:latin typeface="Times New Roman" pitchFamily="18" charset="0"/>
              </a:rPr>
              <a:t>E</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=19)</a:t>
            </a:r>
            <a:endParaRPr kumimoji="1" lang="en-US" altLang="zh-CN" sz="2000" dirty="0">
              <a:latin typeface="Times New Roman" pitchFamily="18" charset="0"/>
            </a:endParaRPr>
          </a:p>
        </p:txBody>
      </p:sp>
      <p:sp>
        <p:nvSpPr>
          <p:cNvPr id="22" name="Line 1050">
            <a:extLst>
              <a:ext uri="{FF2B5EF4-FFF2-40B4-BE49-F238E27FC236}">
                <a16:creationId xmlns:a16="http://schemas.microsoft.com/office/drawing/2014/main" id="{DA0D63AC-EA57-7360-D466-EE128D7682D4}"/>
              </a:ext>
            </a:extLst>
          </p:cNvPr>
          <p:cNvSpPr>
            <a:spLocks noChangeShapeType="1"/>
          </p:cNvSpPr>
          <p:nvPr/>
        </p:nvSpPr>
        <p:spPr bwMode="auto">
          <a:xfrm flipH="1">
            <a:off x="3052135" y="925169"/>
            <a:ext cx="571109" cy="24169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3" name="Line 1051">
            <a:extLst>
              <a:ext uri="{FF2B5EF4-FFF2-40B4-BE49-F238E27FC236}">
                <a16:creationId xmlns:a16="http://schemas.microsoft.com/office/drawing/2014/main" id="{90122E8E-67E1-32A4-B6D4-857F5AABE511}"/>
              </a:ext>
            </a:extLst>
          </p:cNvPr>
          <p:cNvSpPr>
            <a:spLocks noChangeShapeType="1"/>
          </p:cNvSpPr>
          <p:nvPr/>
        </p:nvSpPr>
        <p:spPr bwMode="auto">
          <a:xfrm>
            <a:off x="3818446" y="927228"/>
            <a:ext cx="8248" cy="23828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4" name="Line 1052">
            <a:extLst>
              <a:ext uri="{FF2B5EF4-FFF2-40B4-BE49-F238E27FC236}">
                <a16:creationId xmlns:a16="http://schemas.microsoft.com/office/drawing/2014/main" id="{C3F5C602-78B9-83D8-E69D-1EF454F23290}"/>
              </a:ext>
            </a:extLst>
          </p:cNvPr>
          <p:cNvSpPr>
            <a:spLocks noChangeShapeType="1"/>
          </p:cNvSpPr>
          <p:nvPr/>
        </p:nvSpPr>
        <p:spPr bwMode="auto">
          <a:xfrm>
            <a:off x="4055840" y="927228"/>
            <a:ext cx="969187" cy="2400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5" name="Rectangle 1053">
            <a:extLst>
              <a:ext uri="{FF2B5EF4-FFF2-40B4-BE49-F238E27FC236}">
                <a16:creationId xmlns:a16="http://schemas.microsoft.com/office/drawing/2014/main" id="{45FCE370-88DD-0D91-2599-C7F43118FBB0}"/>
              </a:ext>
            </a:extLst>
          </p:cNvPr>
          <p:cNvSpPr>
            <a:spLocks noChangeArrowheads="1"/>
          </p:cNvSpPr>
          <p:nvPr/>
        </p:nvSpPr>
        <p:spPr bwMode="auto">
          <a:xfrm>
            <a:off x="5135960" y="98307"/>
            <a:ext cx="81656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L</a:t>
            </a:r>
          </a:p>
        </p:txBody>
      </p:sp>
      <p:sp>
        <p:nvSpPr>
          <p:cNvPr id="26" name="Line 1054">
            <a:extLst>
              <a:ext uri="{FF2B5EF4-FFF2-40B4-BE49-F238E27FC236}">
                <a16:creationId xmlns:a16="http://schemas.microsoft.com/office/drawing/2014/main" id="{168C2828-3938-6345-5888-4AC6E962DE3E}"/>
              </a:ext>
            </a:extLst>
          </p:cNvPr>
          <p:cNvSpPr>
            <a:spLocks noChangeShapeType="1"/>
          </p:cNvSpPr>
          <p:nvPr/>
        </p:nvSpPr>
        <p:spPr bwMode="auto">
          <a:xfrm flipV="1">
            <a:off x="4706210" y="450786"/>
            <a:ext cx="426071" cy="232999"/>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7" name="Text Box 1055">
            <a:extLst>
              <a:ext uri="{FF2B5EF4-FFF2-40B4-BE49-F238E27FC236}">
                <a16:creationId xmlns:a16="http://schemas.microsoft.com/office/drawing/2014/main" id="{E05B372E-ABF3-0400-700C-28653B35AB52}"/>
              </a:ext>
            </a:extLst>
          </p:cNvPr>
          <p:cNvSpPr txBox="1">
            <a:spLocks noChangeArrowheads="1"/>
          </p:cNvSpPr>
          <p:nvPr/>
        </p:nvSpPr>
        <p:spPr bwMode="auto">
          <a:xfrm>
            <a:off x="6371980" y="601311"/>
            <a:ext cx="339351" cy="340735"/>
          </a:xfrm>
          <a:prstGeom prst="rect">
            <a:avLst/>
          </a:prstGeom>
          <a:solidFill>
            <a:schemeClr val="bg1"/>
          </a:solidFill>
          <a:ln w="9525">
            <a:solidFill>
              <a:schemeClr val="tx1"/>
            </a:solidFill>
            <a:miter lim="800000"/>
            <a:headEnd/>
            <a:tailEnd type="none" w="lg" len="lg"/>
          </a:ln>
        </p:spPr>
        <p:txBody>
          <a:bodyPr wrap="square"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80000"/>
              </a:lnSpc>
              <a:buFontTx/>
              <a:buNone/>
            </a:pPr>
            <a:r>
              <a:rPr kumimoji="1" lang="en-US" altLang="zh-CN" sz="2000">
                <a:latin typeface="Times New Roman" pitchFamily="18" charset="0"/>
              </a:rPr>
              <a:t>#</a:t>
            </a:r>
          </a:p>
        </p:txBody>
      </p:sp>
      <p:sp>
        <p:nvSpPr>
          <p:cNvPr id="28" name="Line 1056">
            <a:extLst>
              <a:ext uri="{FF2B5EF4-FFF2-40B4-BE49-F238E27FC236}">
                <a16:creationId xmlns:a16="http://schemas.microsoft.com/office/drawing/2014/main" id="{5FFF0612-DEAF-FF14-A071-9B3B4DE16BED}"/>
              </a:ext>
            </a:extLst>
          </p:cNvPr>
          <p:cNvSpPr>
            <a:spLocks noChangeShapeType="1"/>
          </p:cNvSpPr>
          <p:nvPr/>
        </p:nvSpPr>
        <p:spPr bwMode="auto">
          <a:xfrm>
            <a:off x="5928959" y="441872"/>
            <a:ext cx="464308" cy="14719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9" name="Line 1057">
            <a:extLst>
              <a:ext uri="{FF2B5EF4-FFF2-40B4-BE49-F238E27FC236}">
                <a16:creationId xmlns:a16="http://schemas.microsoft.com/office/drawing/2014/main" id="{83F3EBCA-5C6D-23B2-3C07-053C2409BD97}"/>
              </a:ext>
            </a:extLst>
          </p:cNvPr>
          <p:cNvSpPr>
            <a:spLocks noChangeShapeType="1"/>
          </p:cNvSpPr>
          <p:nvPr/>
        </p:nvSpPr>
        <p:spPr bwMode="auto">
          <a:xfrm flipV="1">
            <a:off x="1990050" y="3621232"/>
            <a:ext cx="0" cy="28575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30" name="Line 1058">
            <a:extLst>
              <a:ext uri="{FF2B5EF4-FFF2-40B4-BE49-F238E27FC236}">
                <a16:creationId xmlns:a16="http://schemas.microsoft.com/office/drawing/2014/main" id="{C1358ACD-3C4A-B742-A2F2-21C585B5D5C0}"/>
              </a:ext>
            </a:extLst>
          </p:cNvPr>
          <p:cNvSpPr>
            <a:spLocks noChangeShapeType="1"/>
          </p:cNvSpPr>
          <p:nvPr/>
        </p:nvSpPr>
        <p:spPr bwMode="auto">
          <a:xfrm flipV="1">
            <a:off x="1990050" y="2925467"/>
            <a:ext cx="0" cy="34290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31" name="Line 1060">
            <a:extLst>
              <a:ext uri="{FF2B5EF4-FFF2-40B4-BE49-F238E27FC236}">
                <a16:creationId xmlns:a16="http://schemas.microsoft.com/office/drawing/2014/main" id="{3ED6A683-1D60-D74B-6D64-4A99E5BC0AF7}"/>
              </a:ext>
            </a:extLst>
          </p:cNvPr>
          <p:cNvSpPr>
            <a:spLocks noChangeShapeType="1"/>
          </p:cNvSpPr>
          <p:nvPr/>
        </p:nvSpPr>
        <p:spPr bwMode="auto">
          <a:xfrm flipV="1">
            <a:off x="1698503" y="2234290"/>
            <a:ext cx="484953" cy="27631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2" name="Line 1061">
            <a:extLst>
              <a:ext uri="{FF2B5EF4-FFF2-40B4-BE49-F238E27FC236}">
                <a16:creationId xmlns:a16="http://schemas.microsoft.com/office/drawing/2014/main" id="{2CBC8110-2F31-10B8-981B-74E087F7A259}"/>
              </a:ext>
            </a:extLst>
          </p:cNvPr>
          <p:cNvSpPr>
            <a:spLocks noChangeShapeType="1"/>
          </p:cNvSpPr>
          <p:nvPr/>
        </p:nvSpPr>
        <p:spPr bwMode="auto">
          <a:xfrm flipH="1" flipV="1">
            <a:off x="3065225" y="2267626"/>
            <a:ext cx="508879" cy="248847"/>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3" name="Line 1062">
            <a:extLst>
              <a:ext uri="{FF2B5EF4-FFF2-40B4-BE49-F238E27FC236}">
                <a16:creationId xmlns:a16="http://schemas.microsoft.com/office/drawing/2014/main" id="{3B894ABE-C41D-F98D-15A1-EA3A71B8438A}"/>
              </a:ext>
            </a:extLst>
          </p:cNvPr>
          <p:cNvSpPr>
            <a:spLocks noChangeShapeType="1"/>
          </p:cNvSpPr>
          <p:nvPr/>
        </p:nvSpPr>
        <p:spPr bwMode="auto">
          <a:xfrm flipV="1">
            <a:off x="2926236" y="1555653"/>
            <a:ext cx="0" cy="28575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34" name="Line 1063">
            <a:extLst>
              <a:ext uri="{FF2B5EF4-FFF2-40B4-BE49-F238E27FC236}">
                <a16:creationId xmlns:a16="http://schemas.microsoft.com/office/drawing/2014/main" id="{E794347F-32DA-D78A-9A3D-0949D0203DE7}"/>
              </a:ext>
            </a:extLst>
          </p:cNvPr>
          <p:cNvSpPr>
            <a:spLocks noChangeShapeType="1"/>
          </p:cNvSpPr>
          <p:nvPr/>
        </p:nvSpPr>
        <p:spPr bwMode="auto">
          <a:xfrm flipH="1" flipV="1">
            <a:off x="5322430" y="2216840"/>
            <a:ext cx="1" cy="319119"/>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5" name="Line 1065">
            <a:extLst>
              <a:ext uri="{FF2B5EF4-FFF2-40B4-BE49-F238E27FC236}">
                <a16:creationId xmlns:a16="http://schemas.microsoft.com/office/drawing/2014/main" id="{BDA379A1-0BD4-24DA-C346-DF427D63170F}"/>
              </a:ext>
            </a:extLst>
          </p:cNvPr>
          <p:cNvSpPr>
            <a:spLocks noChangeShapeType="1"/>
          </p:cNvSpPr>
          <p:nvPr/>
        </p:nvSpPr>
        <p:spPr bwMode="auto">
          <a:xfrm flipV="1">
            <a:off x="2798328" y="927227"/>
            <a:ext cx="525946" cy="240001"/>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6" name="Line 1066">
            <a:extLst>
              <a:ext uri="{FF2B5EF4-FFF2-40B4-BE49-F238E27FC236}">
                <a16:creationId xmlns:a16="http://schemas.microsoft.com/office/drawing/2014/main" id="{4D1F10E3-24CF-CD76-FA57-9C458BA92AD2}"/>
              </a:ext>
            </a:extLst>
          </p:cNvPr>
          <p:cNvSpPr>
            <a:spLocks noChangeShapeType="1"/>
          </p:cNvSpPr>
          <p:nvPr/>
        </p:nvSpPr>
        <p:spPr bwMode="auto">
          <a:xfrm flipH="1" flipV="1">
            <a:off x="4539426" y="925169"/>
            <a:ext cx="908030" cy="239978"/>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7" name="Line 1067">
            <a:extLst>
              <a:ext uri="{FF2B5EF4-FFF2-40B4-BE49-F238E27FC236}">
                <a16:creationId xmlns:a16="http://schemas.microsoft.com/office/drawing/2014/main" id="{03F39EFD-E257-FF33-A976-3044C09F6CD6}"/>
              </a:ext>
            </a:extLst>
          </p:cNvPr>
          <p:cNvSpPr>
            <a:spLocks noChangeShapeType="1"/>
          </p:cNvSpPr>
          <p:nvPr/>
        </p:nvSpPr>
        <p:spPr bwMode="auto">
          <a:xfrm flipH="1" flipV="1">
            <a:off x="5952524" y="334715"/>
            <a:ext cx="642175" cy="231392"/>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8" name="Line 1068">
            <a:extLst>
              <a:ext uri="{FF2B5EF4-FFF2-40B4-BE49-F238E27FC236}">
                <a16:creationId xmlns:a16="http://schemas.microsoft.com/office/drawing/2014/main" id="{0230E6C5-F208-C4C1-D5BF-DAA18C716501}"/>
              </a:ext>
            </a:extLst>
          </p:cNvPr>
          <p:cNvSpPr>
            <a:spLocks noChangeShapeType="1"/>
          </p:cNvSpPr>
          <p:nvPr/>
        </p:nvSpPr>
        <p:spPr bwMode="auto">
          <a:xfrm flipV="1">
            <a:off x="4730249" y="330836"/>
            <a:ext cx="373399" cy="216409"/>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9" name="Oval 1069">
            <a:extLst>
              <a:ext uri="{FF2B5EF4-FFF2-40B4-BE49-F238E27FC236}">
                <a16:creationId xmlns:a16="http://schemas.microsoft.com/office/drawing/2014/main" id="{FF7CCBE4-754F-983D-8A58-E85C0896EC0B}"/>
              </a:ext>
            </a:extLst>
          </p:cNvPr>
          <p:cNvSpPr>
            <a:spLocks noChangeArrowheads="1"/>
          </p:cNvSpPr>
          <p:nvPr/>
        </p:nvSpPr>
        <p:spPr bwMode="auto">
          <a:xfrm>
            <a:off x="5292080" y="17496"/>
            <a:ext cx="468576" cy="466022"/>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FontTx/>
              <a:buNone/>
            </a:pPr>
            <a:endParaRPr lang="zh-CN" altLang="en-US" sz="2000"/>
          </a:p>
        </p:txBody>
      </p:sp>
      <p:graphicFrame>
        <p:nvGraphicFramePr>
          <p:cNvPr id="40" name="Group 1085">
            <a:extLst>
              <a:ext uri="{FF2B5EF4-FFF2-40B4-BE49-F238E27FC236}">
                <a16:creationId xmlns:a16="http://schemas.microsoft.com/office/drawing/2014/main" id="{C3BC1805-5DC8-4EEB-A59D-B49CDEC5AE5D}"/>
              </a:ext>
            </a:extLst>
          </p:cNvPr>
          <p:cNvGraphicFramePr>
            <a:graphicFrameLocks noGrp="1"/>
          </p:cNvGraphicFramePr>
          <p:nvPr/>
        </p:nvGraphicFramePr>
        <p:xfrm>
          <a:off x="5879293" y="3306208"/>
          <a:ext cx="2942343" cy="1668780"/>
        </p:xfrm>
        <a:graphic>
          <a:graphicData uri="http://schemas.openxmlformats.org/drawingml/2006/table">
            <a:tbl>
              <a:tblPr/>
              <a:tblGrid>
                <a:gridCol w="1205980">
                  <a:extLst>
                    <a:ext uri="{9D8B030D-6E8A-4147-A177-3AD203B41FA5}">
                      <a16:colId xmlns:a16="http://schemas.microsoft.com/office/drawing/2014/main" val="20000"/>
                    </a:ext>
                  </a:extLst>
                </a:gridCol>
                <a:gridCol w="1736363">
                  <a:extLst>
                    <a:ext uri="{9D8B030D-6E8A-4147-A177-3AD203B41FA5}">
                      <a16:colId xmlns:a16="http://schemas.microsoft.com/office/drawing/2014/main" val="20001"/>
                    </a:ext>
                  </a:extLst>
                </a:gridCol>
              </a:tblGrid>
              <a:tr h="13790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r>
                        <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F→(E)</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en-US" altLang="zh-CN" sz="15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endParaRPr kumimoji="0" lang="fr-FR" altLang="zh-CN" sz="2700" b="1"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.lexval</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
        <p:nvSpPr>
          <p:cNvPr id="41" name="Rectangle 1033">
            <a:extLst>
              <a:ext uri="{FF2B5EF4-FFF2-40B4-BE49-F238E27FC236}">
                <a16:creationId xmlns:a16="http://schemas.microsoft.com/office/drawing/2014/main" id="{19F839AA-E3A1-6662-E30B-2E6071799612}"/>
              </a:ext>
            </a:extLst>
          </p:cNvPr>
          <p:cNvSpPr>
            <a:spLocks noChangeArrowheads="1"/>
          </p:cNvSpPr>
          <p:nvPr/>
        </p:nvSpPr>
        <p:spPr bwMode="auto">
          <a:xfrm>
            <a:off x="2948539" y="3254071"/>
            <a:ext cx="139724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80000"/>
              </a:lnSpc>
              <a:buFontTx/>
              <a:buNone/>
            </a:pPr>
            <a:r>
              <a:rPr kumimoji="1" lang="en-US" altLang="zh-CN" sz="2000" dirty="0" err="1">
                <a:latin typeface="Times New Roman" pitchFamily="18" charset="0"/>
              </a:rPr>
              <a:t>i</a:t>
            </a:r>
            <a:r>
              <a:rPr kumimoji="1" lang="en-US" altLang="zh-CN" sz="2000" dirty="0">
                <a:latin typeface="Times New Roman" pitchFamily="18" charset="0"/>
              </a:rPr>
              <a:t>(</a:t>
            </a:r>
            <a:r>
              <a:rPr kumimoji="1" lang="en-US" altLang="zh-CN" sz="2000" dirty="0" err="1">
                <a:latin typeface="Times New Roman" pitchFamily="18" charset="0"/>
              </a:rPr>
              <a:t>i</a:t>
            </a:r>
            <a:r>
              <a:rPr kumimoji="1" lang="en-US" altLang="zh-CN" sz="2000" dirty="0" err="1">
                <a:latin typeface="Times New Roman" pitchFamily="18" charset="0"/>
                <a:sym typeface="Symbol" pitchFamily="18" charset="2"/>
              </a:rPr>
              <a:t>lexval</a:t>
            </a:r>
            <a:r>
              <a:rPr kumimoji="1" lang="en-US" altLang="zh-CN" sz="2000" dirty="0">
                <a:latin typeface="Times New Roman" pitchFamily="18" charset="0"/>
                <a:sym typeface="Symbol" pitchFamily="18" charset="2"/>
              </a:rPr>
              <a:t>=5)</a:t>
            </a:r>
            <a:endParaRPr kumimoji="1" lang="en-US" altLang="zh-CN" sz="2000" dirty="0">
              <a:latin typeface="Times New Roman" pitchFamily="18" charset="0"/>
            </a:endParaRPr>
          </a:p>
        </p:txBody>
      </p:sp>
      <p:sp>
        <p:nvSpPr>
          <p:cNvPr id="42" name="Line 1034">
            <a:extLst>
              <a:ext uri="{FF2B5EF4-FFF2-40B4-BE49-F238E27FC236}">
                <a16:creationId xmlns:a16="http://schemas.microsoft.com/office/drawing/2014/main" id="{4F0E3804-315D-03BB-3283-2FE62ADF2057}"/>
              </a:ext>
            </a:extLst>
          </p:cNvPr>
          <p:cNvSpPr>
            <a:spLocks noChangeShapeType="1"/>
          </p:cNvSpPr>
          <p:nvPr/>
        </p:nvSpPr>
        <p:spPr bwMode="auto">
          <a:xfrm flipV="1">
            <a:off x="3570455" y="2925467"/>
            <a:ext cx="0" cy="33300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43" name="Line 1059">
            <a:extLst>
              <a:ext uri="{FF2B5EF4-FFF2-40B4-BE49-F238E27FC236}">
                <a16:creationId xmlns:a16="http://schemas.microsoft.com/office/drawing/2014/main" id="{29B8AB65-9549-9EF9-C9AE-FBCC8F64B461}"/>
              </a:ext>
            </a:extLst>
          </p:cNvPr>
          <p:cNvSpPr>
            <a:spLocks noChangeShapeType="1"/>
          </p:cNvSpPr>
          <p:nvPr/>
        </p:nvSpPr>
        <p:spPr bwMode="auto">
          <a:xfrm flipH="1" flipV="1">
            <a:off x="3489642" y="2925470"/>
            <a:ext cx="0" cy="274328"/>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44" name="矩形 1">
            <a:extLst>
              <a:ext uri="{FF2B5EF4-FFF2-40B4-BE49-F238E27FC236}">
                <a16:creationId xmlns:a16="http://schemas.microsoft.com/office/drawing/2014/main" id="{94D159E6-A2E5-2817-57B0-8AA0B5536541}"/>
              </a:ext>
            </a:extLst>
          </p:cNvPr>
          <p:cNvSpPr>
            <a:spLocks noChangeArrowheads="1"/>
          </p:cNvSpPr>
          <p:nvPr/>
        </p:nvSpPr>
        <p:spPr bwMode="auto">
          <a:xfrm>
            <a:off x="7462594" y="2546028"/>
            <a:ext cx="11356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000" b="1" dirty="0"/>
              <a:t>3*5+4#</a:t>
            </a:r>
          </a:p>
        </p:txBody>
      </p:sp>
      <p:sp>
        <p:nvSpPr>
          <p:cNvPr id="45" name="Line 1063">
            <a:extLst>
              <a:ext uri="{FF2B5EF4-FFF2-40B4-BE49-F238E27FC236}">
                <a16:creationId xmlns:a16="http://schemas.microsoft.com/office/drawing/2014/main" id="{712E4EE1-07C0-0FC5-1181-42E3AE704179}"/>
              </a:ext>
            </a:extLst>
          </p:cNvPr>
          <p:cNvSpPr>
            <a:spLocks noChangeShapeType="1"/>
          </p:cNvSpPr>
          <p:nvPr/>
        </p:nvSpPr>
        <p:spPr bwMode="auto">
          <a:xfrm flipV="1">
            <a:off x="5322430" y="1545881"/>
            <a:ext cx="0" cy="28575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Tree>
    <p:extLst>
      <p:ext uri="{BB962C8B-B14F-4D97-AF65-F5344CB8AC3E}">
        <p14:creationId xmlns:p14="http://schemas.microsoft.com/office/powerpoint/2010/main" val="209574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8"/>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 grpId="0" animBg="1"/>
      <p:bldP spid="5" grpId="0" animBg="1"/>
      <p:bldP spid="6" grpId="0" animBg="1" autoUpdateAnimBg="0"/>
      <p:bldP spid="7" grpId="0" animBg="1" autoUpdateAnimBg="0"/>
      <p:bldP spid="8" grpId="0" animBg="1" autoUpdateAnimBg="0"/>
      <p:bldP spid="9" grpId="0" animBg="1"/>
      <p:bldP spid="10" grpId="0" animBg="1"/>
      <p:bldP spid="11" grpId="0" animBg="1" autoUpdateAnimBg="0"/>
      <p:bldP spid="12" grpId="0" animBg="1"/>
      <p:bldP spid="13" grpId="0" animBg="1"/>
      <p:bldP spid="14" grpId="0" animBg="1" autoUpdateAnimBg="0"/>
      <p:bldP spid="15" grpId="0" animBg="1" autoUpdateAnimBg="0"/>
      <p:bldP spid="16" grpId="0" animBg="1" autoUpdateAnimBg="0"/>
      <p:bldP spid="17" grpId="0" animBg="1"/>
      <p:bldP spid="18" grpId="0" animBg="1" autoUpdateAnimBg="0"/>
      <p:bldP spid="19" grpId="0" animBg="1" autoUpdateAnimBg="0"/>
      <p:bldP spid="20" grpId="0" animBg="1"/>
      <p:bldP spid="21" grpId="0" animBg="1" autoUpdateAnimBg="0"/>
      <p:bldP spid="22" grpId="0" animBg="1"/>
      <p:bldP spid="23" grpId="0" animBg="1"/>
      <p:bldP spid="24" grpId="0" animBg="1"/>
      <p:bldP spid="25" grpId="0" animBg="1" autoUpdateAnimBg="0"/>
      <p:bldP spid="26" grpId="0" animBg="1"/>
      <p:bldP spid="27" grpId="0" animBg="1" autoUpdateAnimBg="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autoUpdateAnimBg="0"/>
      <p:bldP spid="42" grpId="0" animBg="1"/>
      <p:bldP spid="43" grpId="0" animBg="1"/>
      <p:bldP spid="4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57200" y="86916"/>
            <a:ext cx="8229600" cy="757238"/>
          </a:xfrm>
        </p:spPr>
        <p:txBody>
          <a:bodyPr/>
          <a:lstStyle/>
          <a:p>
            <a:pPr eaLnBrk="1" hangingPunct="1"/>
            <a:r>
              <a:rPr lang="zh-CN" altLang="en-US" b="1"/>
              <a:t>综合属性的计算</a:t>
            </a:r>
          </a:p>
        </p:txBody>
      </p:sp>
      <p:sp>
        <p:nvSpPr>
          <p:cNvPr id="31747" name="内容占位符 2"/>
          <p:cNvSpPr>
            <a:spLocks noGrp="1"/>
          </p:cNvSpPr>
          <p:nvPr>
            <p:ph idx="1"/>
          </p:nvPr>
        </p:nvSpPr>
        <p:spPr>
          <a:xfrm>
            <a:off x="250826" y="897732"/>
            <a:ext cx="8569325" cy="864394"/>
          </a:xfrm>
        </p:spPr>
        <p:txBody>
          <a:bodyPr>
            <a:normAutofit lnSpcReduction="10000"/>
          </a:bodyPr>
          <a:lstStyle/>
          <a:p>
            <a:r>
              <a:rPr lang="zh-CN" altLang="en-US" dirty="0"/>
              <a:t>计算综合属性，需要使用语义规则</a:t>
            </a:r>
            <a:endParaRPr lang="en-US" altLang="zh-CN" sz="4000" dirty="0"/>
          </a:p>
          <a:p>
            <a:r>
              <a:rPr lang="zh-CN" altLang="en-US" dirty="0"/>
              <a:t>从下往上，逐层计算每个文法符号属性的值</a:t>
            </a:r>
            <a:endParaRPr lang="en-US" altLang="zh-CN" dirty="0"/>
          </a:p>
        </p:txBody>
      </p:sp>
      <p:sp>
        <p:nvSpPr>
          <p:cNvPr id="31748" name="Rectangle 2"/>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graphicFrame>
        <p:nvGraphicFramePr>
          <p:cNvPr id="31749" name="对象 4"/>
          <p:cNvGraphicFramePr>
            <a:graphicFrameLocks noChangeAspect="1"/>
          </p:cNvGraphicFramePr>
          <p:nvPr>
            <p:extLst>
              <p:ext uri="{D42A27DB-BD31-4B8C-83A1-F6EECF244321}">
                <p14:modId xmlns:p14="http://schemas.microsoft.com/office/powerpoint/2010/main" val="942635911"/>
              </p:ext>
            </p:extLst>
          </p:nvPr>
        </p:nvGraphicFramePr>
        <p:xfrm>
          <a:off x="2987823" y="1869281"/>
          <a:ext cx="6337151" cy="3196829"/>
        </p:xfrm>
        <a:graphic>
          <a:graphicData uri="http://schemas.openxmlformats.org/presentationml/2006/ole">
            <mc:AlternateContent xmlns:mc="http://schemas.openxmlformats.org/markup-compatibility/2006">
              <mc:Choice xmlns:v="urn:schemas-microsoft-com:vml" Requires="v">
                <p:oleObj name="Visio" r:id="rId2" imgW="3916788" imgH="2336033" progId="Visio.Drawing.11">
                  <p:embed/>
                </p:oleObj>
              </mc:Choice>
              <mc:Fallback>
                <p:oleObj name="Visio" r:id="rId2" imgW="3916788" imgH="2336033" progId="Visio.Drawing.11">
                  <p:embed/>
                  <p:pic>
                    <p:nvPicPr>
                      <p:cNvPr id="31749"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3" y="1869281"/>
                        <a:ext cx="6337151" cy="3196829"/>
                      </a:xfrm>
                      <a:prstGeom prst="rect">
                        <a:avLst/>
                      </a:prstGeom>
                      <a:noFill/>
                      <a:ln>
                        <a:noFill/>
                      </a:ln>
                    </p:spPr>
                  </p:pic>
                </p:oleObj>
              </mc:Fallback>
            </mc:AlternateContent>
          </a:graphicData>
        </a:graphic>
      </p:graphicFrame>
      <p:graphicFrame>
        <p:nvGraphicFramePr>
          <p:cNvPr id="6" name="Group 1085"/>
          <p:cNvGraphicFramePr>
            <a:graphicFrameLocks noGrp="1"/>
          </p:cNvGraphicFramePr>
          <p:nvPr/>
        </p:nvGraphicFramePr>
        <p:xfrm>
          <a:off x="107951" y="1815704"/>
          <a:ext cx="3751263" cy="1674019"/>
        </p:xfrm>
        <a:graphic>
          <a:graphicData uri="http://schemas.openxmlformats.org/drawingml/2006/table">
            <a:tbl>
              <a:tblPr/>
              <a:tblGrid>
                <a:gridCol w="1511940">
                  <a:extLst>
                    <a:ext uri="{9D8B030D-6E8A-4147-A177-3AD203B41FA5}">
                      <a16:colId xmlns:a16="http://schemas.microsoft.com/office/drawing/2014/main" val="20000"/>
                    </a:ext>
                  </a:extLst>
                </a:gridCol>
                <a:gridCol w="2239323">
                  <a:extLst>
                    <a:ext uri="{9D8B030D-6E8A-4147-A177-3AD203B41FA5}">
                      <a16:colId xmlns:a16="http://schemas.microsoft.com/office/drawing/2014/main" val="20001"/>
                    </a:ext>
                  </a:extLst>
                </a:gridCol>
              </a:tblGrid>
              <a:tr h="1674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r>
                        <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F→(E)</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digit</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11" marR="91411"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digit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.lexval</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11" marR="91411"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45041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noAutofit/>
          </a:bodyPr>
          <a:lstStyle/>
          <a:p>
            <a:r>
              <a:rPr lang="zh-CN" altLang="en-US" dirty="0"/>
              <a:t>继承属性的计算</a:t>
            </a:r>
          </a:p>
        </p:txBody>
      </p:sp>
      <p:sp>
        <p:nvSpPr>
          <p:cNvPr id="33795" name="内容占位符 2"/>
          <p:cNvSpPr>
            <a:spLocks noGrp="1"/>
          </p:cNvSpPr>
          <p:nvPr>
            <p:ph idx="1"/>
          </p:nvPr>
        </p:nvSpPr>
        <p:spPr/>
        <p:txBody>
          <a:bodyPr/>
          <a:lstStyle/>
          <a:p>
            <a:r>
              <a:rPr lang="zh-CN" altLang="zh-CN" sz="2400" dirty="0"/>
              <a:t>一个结点的继承属性的值是由该结点的父结点</a:t>
            </a:r>
            <a:r>
              <a:rPr lang="zh-CN" altLang="en-US" dirty="0"/>
              <a:t>和</a:t>
            </a:r>
            <a:r>
              <a:rPr lang="zh-CN" altLang="zh-CN" sz="2400" dirty="0"/>
              <a:t>（或）</a:t>
            </a:r>
            <a:r>
              <a:rPr lang="zh-CN" altLang="en-US" dirty="0"/>
              <a:t>兄弟</a:t>
            </a:r>
            <a:r>
              <a:rPr lang="zh-CN" altLang="zh-CN" sz="2400" dirty="0"/>
              <a:t>结点</a:t>
            </a:r>
            <a:r>
              <a:rPr lang="zh-CN" altLang="en-US" sz="2400" dirty="0"/>
              <a:t>，以及其本身</a:t>
            </a:r>
            <a:r>
              <a:rPr lang="zh-CN" altLang="zh-CN" sz="2400" dirty="0"/>
              <a:t>的</a:t>
            </a:r>
            <a:r>
              <a:rPr lang="zh-CN" altLang="en-US" sz="2400" dirty="0"/>
              <a:t>某些</a:t>
            </a:r>
            <a:r>
              <a:rPr lang="zh-CN" altLang="zh-CN" sz="2400" dirty="0"/>
              <a:t>属性决定的。</a:t>
            </a:r>
            <a:endParaRPr lang="en-US" altLang="zh-CN" sz="2400" dirty="0"/>
          </a:p>
          <a:p>
            <a:r>
              <a:rPr lang="zh-CN" altLang="zh-CN" sz="2400" dirty="0"/>
              <a:t>用继承属性来表示程序设计语言上下文结构的依赖性是很方便的。</a:t>
            </a:r>
            <a:endParaRPr lang="en-US" altLang="zh-CN" sz="2400" dirty="0"/>
          </a:p>
          <a:p>
            <a:r>
              <a:rPr lang="zh-CN" altLang="zh-CN" sz="2400" dirty="0"/>
              <a:t>可以使用继承属性来跟踪一个标识符，看它是出现在赋值号的左边还是右边，以便确定是需要它的地址还是它的值。</a:t>
            </a:r>
          </a:p>
          <a:p>
            <a:endParaRPr lang="zh-CN" altLang="en-US" sz="2400" dirty="0"/>
          </a:p>
        </p:txBody>
      </p:sp>
    </p:spTree>
    <p:extLst>
      <p:ext uri="{BB962C8B-B14F-4D97-AF65-F5344CB8AC3E}">
        <p14:creationId xmlns:p14="http://schemas.microsoft.com/office/powerpoint/2010/main" val="289219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074"/>
          <p:cNvSpPr txBox="1">
            <a:spLocks noChangeArrowheads="1"/>
          </p:cNvSpPr>
          <p:nvPr/>
        </p:nvSpPr>
        <p:spPr bwMode="auto">
          <a:xfrm>
            <a:off x="6084168" y="141684"/>
            <a:ext cx="2880320" cy="830997"/>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kumimoji="1" lang="en-US" altLang="zh-CN" sz="2400" b="1" dirty="0">
                <a:latin typeface="Times New Roman" pitchFamily="18" charset="0"/>
              </a:rPr>
              <a:t>C</a:t>
            </a:r>
            <a:r>
              <a:rPr kumimoji="1" lang="zh-CN" altLang="en-US" sz="2400" b="1" dirty="0">
                <a:latin typeface="Times New Roman" pitchFamily="18" charset="0"/>
              </a:rPr>
              <a:t>语言中变量声明：</a:t>
            </a:r>
          </a:p>
          <a:p>
            <a:pPr eaLnBrk="1" hangingPunct="1">
              <a:lnSpc>
                <a:spcPct val="100000"/>
              </a:lnSpc>
              <a:spcBef>
                <a:spcPct val="0"/>
              </a:spcBef>
              <a:buFontTx/>
              <a:buNone/>
            </a:pPr>
            <a:r>
              <a:rPr kumimoji="1" lang="en-US" altLang="zh-CN" sz="2400" b="1" dirty="0" err="1">
                <a:solidFill>
                  <a:schemeClr val="accent2"/>
                </a:solidFill>
                <a:latin typeface="Times New Roman" pitchFamily="18" charset="0"/>
              </a:rPr>
              <a:t>int</a:t>
            </a:r>
            <a:r>
              <a:rPr kumimoji="1" lang="en-US" altLang="zh-CN" sz="2400" b="1" dirty="0">
                <a:solidFill>
                  <a:schemeClr val="accent2"/>
                </a:solidFill>
                <a:latin typeface="Times New Roman" pitchFamily="18" charset="0"/>
              </a:rPr>
              <a:t> id1,id2,id3</a:t>
            </a:r>
          </a:p>
        </p:txBody>
      </p:sp>
      <p:sp>
        <p:nvSpPr>
          <p:cNvPr id="137267" name="AutoShape 1075"/>
          <p:cNvSpPr>
            <a:spLocks noChangeArrowheads="1"/>
          </p:cNvSpPr>
          <p:nvPr/>
        </p:nvSpPr>
        <p:spPr bwMode="auto">
          <a:xfrm>
            <a:off x="3419872" y="4111227"/>
            <a:ext cx="1440159" cy="896542"/>
          </a:xfrm>
          <a:prstGeom prst="wedgeRoundRectCallout">
            <a:avLst>
              <a:gd name="adj1" fmla="val 71093"/>
              <a:gd name="adj2" fmla="val -149280"/>
              <a:gd name="adj3" fmla="val 16667"/>
            </a:avLst>
          </a:prstGeom>
          <a:solidFill>
            <a:srgbClr val="FFFF00"/>
          </a:solidFill>
          <a:ln w="12700">
            <a:solidFill>
              <a:schemeClr val="tx1"/>
            </a:solidFill>
            <a:miter lim="800000"/>
            <a:headEnd type="none" w="sm" len="sm"/>
            <a:tailEnd type="none" w="sm" len="sm"/>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lang="zh-CN" altLang="en-US" sz="2200" dirty="0"/>
              <a:t>综合属性的传递</a:t>
            </a:r>
          </a:p>
        </p:txBody>
      </p:sp>
      <p:sp>
        <p:nvSpPr>
          <p:cNvPr id="137268" name="AutoShape 1076"/>
          <p:cNvSpPr>
            <a:spLocks noChangeArrowheads="1"/>
          </p:cNvSpPr>
          <p:nvPr/>
        </p:nvSpPr>
        <p:spPr bwMode="auto">
          <a:xfrm>
            <a:off x="7642604" y="1401267"/>
            <a:ext cx="1501396" cy="800100"/>
          </a:xfrm>
          <a:prstGeom prst="wedgeRoundRectCallout">
            <a:avLst>
              <a:gd name="adj1" fmla="val -77542"/>
              <a:gd name="adj2" fmla="val 87276"/>
              <a:gd name="adj3" fmla="val 16667"/>
            </a:avLst>
          </a:prstGeom>
          <a:solidFill>
            <a:srgbClr val="FFFF00"/>
          </a:solidFill>
          <a:ln w="12700">
            <a:solidFill>
              <a:schemeClr val="tx1"/>
            </a:solidFill>
            <a:miter lim="800000"/>
            <a:headEnd type="none" w="sm" len="sm"/>
            <a:tailEnd type="none" w="sm" len="sm"/>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lang="zh-CN" altLang="en-US" sz="2200" dirty="0"/>
              <a:t>继承属性的传递</a:t>
            </a:r>
          </a:p>
        </p:txBody>
      </p:sp>
      <p:sp>
        <p:nvSpPr>
          <p:cNvPr id="34821" name="Rectangle 1078"/>
          <p:cNvSpPr>
            <a:spLocks noChangeArrowheads="1"/>
          </p:cNvSpPr>
          <p:nvPr/>
        </p:nvSpPr>
        <p:spPr bwMode="auto">
          <a:xfrm>
            <a:off x="0" y="1708697"/>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34822" name="AutoShape 1079"/>
          <p:cNvSpPr>
            <a:spLocks noChangeArrowheads="1"/>
          </p:cNvSpPr>
          <p:nvPr/>
        </p:nvSpPr>
        <p:spPr bwMode="auto">
          <a:xfrm>
            <a:off x="0" y="3975497"/>
            <a:ext cx="2700338" cy="1168003"/>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en-US" sz="2800" b="1" dirty="0">
                <a:solidFill>
                  <a:schemeClr val="accent2"/>
                </a:solidFill>
              </a:rPr>
              <a:t>例</a:t>
            </a:r>
            <a:r>
              <a:rPr lang="zh-CN" altLang="en-US" sz="2800" b="1" dirty="0"/>
              <a:t>：</a:t>
            </a:r>
          </a:p>
          <a:p>
            <a:pPr eaLnBrk="1" hangingPunct="1">
              <a:lnSpc>
                <a:spcPct val="100000"/>
              </a:lnSpc>
              <a:spcBef>
                <a:spcPct val="0"/>
              </a:spcBef>
              <a:buFontTx/>
              <a:buNone/>
            </a:pPr>
            <a:r>
              <a:rPr lang="zh-CN" altLang="en-US" sz="2800" b="1" dirty="0"/>
              <a:t>继承属性的计算</a:t>
            </a:r>
          </a:p>
        </p:txBody>
      </p:sp>
      <p:graphicFrame>
        <p:nvGraphicFramePr>
          <p:cNvPr id="137323" name="Group 1131"/>
          <p:cNvGraphicFramePr>
            <a:graphicFrameLocks noGrp="1"/>
          </p:cNvGraphicFramePr>
          <p:nvPr>
            <p:ph/>
          </p:nvPr>
        </p:nvGraphicFramePr>
        <p:xfrm>
          <a:off x="1" y="24158"/>
          <a:ext cx="1439863" cy="2331568"/>
        </p:xfrm>
        <a:graphic>
          <a:graphicData uri="http://schemas.openxmlformats.org/drawingml/2006/table">
            <a:tbl>
              <a:tblPr/>
              <a:tblGrid>
                <a:gridCol w="1439863">
                  <a:extLst>
                    <a:ext uri="{9D8B030D-6E8A-4147-A177-3AD203B41FA5}">
                      <a16:colId xmlns:a16="http://schemas.microsoft.com/office/drawing/2014/main" val="20000"/>
                    </a:ext>
                  </a:extLst>
                </a:gridCol>
              </a:tblGrid>
              <a:tr h="342842">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rPr>
                        <a:t>产生式</a:t>
                      </a:r>
                    </a:p>
                  </a:txBody>
                  <a:tcPr marT="34243" marB="342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8726">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D </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TL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T</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 </a:t>
                      </a:r>
                      <a:r>
                        <a:rPr kumimoji="1" lang="en-US" altLang="zh-CN" sz="1800" b="0" i="0" u="none" strike="noStrike" cap="none" normalizeH="0" baseline="0" dirty="0" err="1">
                          <a:ln>
                            <a:noFill/>
                          </a:ln>
                          <a:solidFill>
                            <a:schemeClr val="tx1"/>
                          </a:solidFill>
                          <a:effectLst/>
                          <a:latin typeface="Arial" charset="0"/>
                          <a:ea typeface="宋体" pitchFamily="2" charset="-122"/>
                        </a:rPr>
                        <a:t>int</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T </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float</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L </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 L</a:t>
                      </a:r>
                      <a:r>
                        <a:rPr kumimoji="1" lang="en-US" altLang="zh-CN" sz="1800" b="0" i="0" u="none" strike="noStrike" cap="none" normalizeH="0" baseline="-25000" dirty="0">
                          <a:ln>
                            <a:noFill/>
                          </a:ln>
                          <a:solidFill>
                            <a:schemeClr val="tx1"/>
                          </a:solidFill>
                          <a:effectLst/>
                          <a:latin typeface="Arial" charset="0"/>
                          <a:ea typeface="宋体" pitchFamily="2" charset="-122"/>
                        </a:rPr>
                        <a:t>1</a:t>
                      </a:r>
                      <a:r>
                        <a:rPr kumimoji="1" lang="en-US" altLang="zh-CN" sz="1800" b="0" i="0" u="none" strike="noStrike" cap="none" normalizeH="0" baseline="0" dirty="0">
                          <a:ln>
                            <a:noFill/>
                          </a:ln>
                          <a:solidFill>
                            <a:schemeClr val="tx1"/>
                          </a:solidFill>
                          <a:effectLst/>
                          <a:latin typeface="Arial" charset="0"/>
                          <a:ea typeface="宋体" pitchFamily="2" charset="-122"/>
                        </a:rPr>
                        <a:t>,id</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L</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 id</a:t>
                      </a:r>
                    </a:p>
                  </a:txBody>
                  <a:tcPr marT="34243" marB="342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4837" name="Rectangle 21"/>
          <p:cNvSpPr>
            <a:spLocks noChangeArrowheads="1"/>
          </p:cNvSpPr>
          <p:nvPr/>
        </p:nvSpPr>
        <p:spPr bwMode="auto">
          <a:xfrm>
            <a:off x="0" y="171941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graphicFrame>
        <p:nvGraphicFramePr>
          <p:cNvPr id="4" name="表格 3"/>
          <p:cNvGraphicFramePr>
            <a:graphicFrameLocks noGrp="1"/>
          </p:cNvGraphicFramePr>
          <p:nvPr/>
        </p:nvGraphicFramePr>
        <p:xfrm>
          <a:off x="170703" y="2517457"/>
          <a:ext cx="3912368" cy="1483360"/>
        </p:xfrm>
        <a:graphic>
          <a:graphicData uri="http://schemas.openxmlformats.org/drawingml/2006/table">
            <a:tbl>
              <a:tblPr firstRow="1" bandRow="1">
                <a:tableStyleId>{5C22544A-7EE6-4342-B048-85BDC9FD1C3A}</a:tableStyleId>
              </a:tblPr>
              <a:tblGrid>
                <a:gridCol w="978092">
                  <a:extLst>
                    <a:ext uri="{9D8B030D-6E8A-4147-A177-3AD203B41FA5}">
                      <a16:colId xmlns:a16="http://schemas.microsoft.com/office/drawing/2014/main" val="20000"/>
                    </a:ext>
                  </a:extLst>
                </a:gridCol>
                <a:gridCol w="978092">
                  <a:extLst>
                    <a:ext uri="{9D8B030D-6E8A-4147-A177-3AD203B41FA5}">
                      <a16:colId xmlns:a16="http://schemas.microsoft.com/office/drawing/2014/main" val="20001"/>
                    </a:ext>
                  </a:extLst>
                </a:gridCol>
                <a:gridCol w="978092">
                  <a:extLst>
                    <a:ext uri="{9D8B030D-6E8A-4147-A177-3AD203B41FA5}">
                      <a16:colId xmlns:a16="http://schemas.microsoft.com/office/drawing/2014/main" val="20002"/>
                    </a:ext>
                  </a:extLst>
                </a:gridCol>
                <a:gridCol w="978092">
                  <a:extLst>
                    <a:ext uri="{9D8B030D-6E8A-4147-A177-3AD203B41FA5}">
                      <a16:colId xmlns:a16="http://schemas.microsoft.com/office/drawing/2014/main" val="20003"/>
                    </a:ext>
                  </a:extLst>
                </a:gridCol>
              </a:tblGrid>
              <a:tr h="370840">
                <a:tc>
                  <a:txBody>
                    <a:bodyPr/>
                    <a:lstStyle/>
                    <a:p>
                      <a:r>
                        <a:rPr lang="zh-CN" altLang="en-US" dirty="0">
                          <a:solidFill>
                            <a:schemeClr val="tx1"/>
                          </a:solidFill>
                        </a:rPr>
                        <a:t>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dirty="0">
                          <a:solidFill>
                            <a:schemeClr val="tx1"/>
                          </a:solidFill>
                        </a:rPr>
                        <a:t>名字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dirty="0">
                          <a:solidFill>
                            <a:schemeClr val="tx1"/>
                          </a:solidFill>
                        </a:rPr>
                        <a:t>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id3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altLang="zh-CN" dirty="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Id2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altLang="zh-CN" dirty="0">
                          <a:solidFill>
                            <a:schemeClr val="tx1"/>
                          </a:solidFill>
                        </a:rPr>
                        <a:t>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Id1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5" name="表格 4"/>
          <p:cNvGraphicFramePr>
            <a:graphicFrameLocks noGrp="1"/>
          </p:cNvGraphicFramePr>
          <p:nvPr/>
        </p:nvGraphicFramePr>
        <p:xfrm>
          <a:off x="1403648" y="24158"/>
          <a:ext cx="2448272" cy="2331568"/>
        </p:xfrm>
        <a:graphic>
          <a:graphicData uri="http://schemas.openxmlformats.org/drawingml/2006/table">
            <a:tbl>
              <a:tblPr/>
              <a:tblGrid>
                <a:gridCol w="2448272">
                  <a:extLst>
                    <a:ext uri="{9D8B030D-6E8A-4147-A177-3AD203B41FA5}">
                      <a16:colId xmlns:a16="http://schemas.microsoft.com/office/drawing/2014/main" val="20000"/>
                    </a:ext>
                  </a:extLst>
                </a:gridCol>
              </a:tblGrid>
              <a:tr h="342842">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rPr>
                        <a:t>语  义  规  则</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marT="34243" marB="34243" horzOverflow="overflow">
                    <a:lnL w="12700" cap="flat" cmpd="sng" algn="ctr">
                      <a:no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8726">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L.in=</a:t>
                      </a:r>
                      <a:r>
                        <a:rPr kumimoji="1" lang="en-US" altLang="zh-CN" sz="1800" b="0" i="0" u="none" strike="noStrike" cap="none" normalizeH="0" baseline="0" dirty="0" err="1">
                          <a:ln>
                            <a:noFill/>
                          </a:ln>
                          <a:solidFill>
                            <a:schemeClr val="tx1"/>
                          </a:solidFill>
                          <a:effectLst/>
                          <a:latin typeface="Arial" charset="0"/>
                          <a:ea typeface="宋体" pitchFamily="2" charset="-122"/>
                        </a:rPr>
                        <a:t>T.type</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err="1">
                          <a:ln>
                            <a:noFill/>
                          </a:ln>
                          <a:solidFill>
                            <a:schemeClr val="tx1"/>
                          </a:solidFill>
                          <a:effectLst/>
                          <a:latin typeface="Arial" charset="0"/>
                          <a:ea typeface="宋体" pitchFamily="2" charset="-122"/>
                        </a:rPr>
                        <a:t>T.type</a:t>
                      </a:r>
                      <a:r>
                        <a:rPr kumimoji="1" lang="en-US" altLang="zh-CN" sz="1800" b="0" i="0" u="none" strike="noStrike" cap="none" normalizeH="0" baseline="0" dirty="0">
                          <a:ln>
                            <a:noFill/>
                          </a:ln>
                          <a:solidFill>
                            <a:schemeClr val="tx1"/>
                          </a:solidFill>
                          <a:effectLst/>
                          <a:latin typeface="Arial" charset="0"/>
                          <a:ea typeface="宋体" pitchFamily="2" charset="-122"/>
                        </a:rPr>
                        <a:t>=</a:t>
                      </a:r>
                      <a:r>
                        <a:rPr kumimoji="1" lang="en-US" altLang="zh-CN" sz="1800" b="0" i="0" u="none" strike="noStrike" cap="none" normalizeH="0" baseline="0" dirty="0" err="1">
                          <a:ln>
                            <a:noFill/>
                          </a:ln>
                          <a:solidFill>
                            <a:schemeClr val="tx1"/>
                          </a:solidFill>
                          <a:effectLst/>
                          <a:latin typeface="Arial" charset="0"/>
                          <a:ea typeface="宋体" pitchFamily="2" charset="-122"/>
                        </a:rPr>
                        <a:t>int</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err="1">
                          <a:ln>
                            <a:noFill/>
                          </a:ln>
                          <a:solidFill>
                            <a:schemeClr val="tx1"/>
                          </a:solidFill>
                          <a:effectLst/>
                          <a:latin typeface="Arial" charset="0"/>
                          <a:ea typeface="宋体" pitchFamily="2" charset="-122"/>
                        </a:rPr>
                        <a:t>T.type</a:t>
                      </a:r>
                      <a:r>
                        <a:rPr kumimoji="1" lang="en-US" altLang="zh-CN" sz="1800" b="0" i="0" u="none" strike="noStrike" cap="none" normalizeH="0" baseline="0" dirty="0">
                          <a:ln>
                            <a:noFill/>
                          </a:ln>
                          <a:solidFill>
                            <a:schemeClr val="tx1"/>
                          </a:solidFill>
                          <a:effectLst/>
                          <a:latin typeface="Arial" charset="0"/>
                          <a:ea typeface="宋体" pitchFamily="2" charset="-122"/>
                        </a:rPr>
                        <a:t>=float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1800" b="0" i="0" u="none" strike="noStrike" cap="none" normalizeH="0" baseline="0" dirty="0">
                          <a:ln>
                            <a:noFill/>
                          </a:ln>
                          <a:solidFill>
                            <a:schemeClr val="tx1"/>
                          </a:solidFill>
                          <a:effectLst/>
                          <a:latin typeface="Arial" charset="0"/>
                          <a:ea typeface="宋体" pitchFamily="2" charset="-122"/>
                        </a:rPr>
                        <a:t>L</a:t>
                      </a:r>
                      <a:r>
                        <a:rPr kumimoji="1" lang="en-US" altLang="zh-CN" sz="1800" b="0" i="0" u="none" strike="noStrike" cap="none" normalizeH="0" baseline="-25000" dirty="0">
                          <a:ln>
                            <a:noFill/>
                          </a:ln>
                          <a:solidFill>
                            <a:schemeClr val="tx1"/>
                          </a:solidFill>
                          <a:effectLst/>
                          <a:latin typeface="Arial" charset="0"/>
                          <a:ea typeface="宋体" pitchFamily="2" charset="-122"/>
                        </a:rPr>
                        <a:t>1</a:t>
                      </a:r>
                      <a:r>
                        <a:rPr kumimoji="1" lang="en-US" altLang="zh-CN" sz="1800" b="0" i="0" u="none" strike="noStrike" cap="none" normalizeH="0" baseline="0" dirty="0">
                          <a:ln>
                            <a:noFill/>
                          </a:ln>
                          <a:solidFill>
                            <a:schemeClr val="tx1"/>
                          </a:solidFill>
                          <a:effectLst/>
                          <a:latin typeface="Arial" charset="0"/>
                          <a:ea typeface="宋体" pitchFamily="2" charset="-122"/>
                        </a:rPr>
                        <a:t>.in=L.in</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entry(id).type = L.in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entry(id).type = L.in</a:t>
                      </a:r>
                    </a:p>
                  </a:txBody>
                  <a:tcPr marT="34243" marB="34243"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线形标注 1 2"/>
          <p:cNvSpPr/>
          <p:nvPr/>
        </p:nvSpPr>
        <p:spPr>
          <a:xfrm>
            <a:off x="3923928" y="1126778"/>
            <a:ext cx="2592288" cy="548977"/>
          </a:xfrm>
          <a:prstGeom prst="borderCallout1">
            <a:avLst>
              <a:gd name="adj1" fmla="val -469"/>
              <a:gd name="adj2" fmla="val -193"/>
              <a:gd name="adj3" fmla="val 51640"/>
              <a:gd name="adj4" fmla="val -5461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dirty="0" err="1"/>
              <a:t>InsertVarible</a:t>
            </a:r>
            <a:r>
              <a:rPr lang="en-US" altLang="zh-CN" dirty="0"/>
              <a:t>(</a:t>
            </a:r>
            <a:r>
              <a:rPr lang="en-US" altLang="zh-CN" dirty="0" err="1"/>
              <a:t>id,name</a:t>
            </a:r>
            <a:r>
              <a:rPr lang="en-US" altLang="zh-CN" dirty="0"/>
              <a:t>)</a:t>
            </a:r>
            <a:endParaRPr lang="zh-CN" altLang="en-US" dirty="0"/>
          </a:p>
        </p:txBody>
      </p:sp>
      <p:graphicFrame>
        <p:nvGraphicFramePr>
          <p:cNvPr id="6" name="对象 5"/>
          <p:cNvGraphicFramePr>
            <a:graphicFrameLocks noChangeAspect="1"/>
          </p:cNvGraphicFramePr>
          <p:nvPr/>
        </p:nvGraphicFramePr>
        <p:xfrm>
          <a:off x="4644008" y="2085676"/>
          <a:ext cx="4284662" cy="3057823"/>
        </p:xfrm>
        <a:graphic>
          <a:graphicData uri="http://schemas.openxmlformats.org/presentationml/2006/ole">
            <mc:AlternateContent xmlns:mc="http://schemas.openxmlformats.org/markup-compatibility/2006">
              <mc:Choice xmlns:v="urn:schemas-microsoft-com:vml" Requires="v">
                <p:oleObj name="Visio" r:id="rId3" imgW="2575857" imgH="1659744" progId="Visio.Drawing.11">
                  <p:embed/>
                </p:oleObj>
              </mc:Choice>
              <mc:Fallback>
                <p:oleObj name="Visio" r:id="rId3" imgW="2575857" imgH="1659744" progId="Visio.Drawing.11">
                  <p:embed/>
                  <p:pic>
                    <p:nvPicPr>
                      <p:cNvPr id="6" name="对象 5"/>
                      <p:cNvPicPr>
                        <a:picLocks noChangeAspect="1" noChangeArrowheads="1"/>
                      </p:cNvPicPr>
                      <p:nvPr/>
                    </p:nvPicPr>
                    <p:blipFill>
                      <a:blip r:embed="rId4"/>
                      <a:srcRect/>
                      <a:stretch>
                        <a:fillRect/>
                      </a:stretch>
                    </p:blipFill>
                    <p:spPr bwMode="auto">
                      <a:xfrm>
                        <a:off x="4644008" y="2085676"/>
                        <a:ext cx="4284662" cy="3057823"/>
                      </a:xfrm>
                      <a:prstGeom prst="rect">
                        <a:avLst/>
                      </a:prstGeom>
                      <a:noFill/>
                      <a:ln>
                        <a:noFill/>
                      </a:ln>
                    </p:spPr>
                  </p:pic>
                </p:oleObj>
              </mc:Fallback>
            </mc:AlternateContent>
          </a:graphicData>
        </a:graphic>
      </p:graphicFrame>
      <p:sp>
        <p:nvSpPr>
          <p:cNvPr id="7" name="TextBox 6"/>
          <p:cNvSpPr txBox="1"/>
          <p:nvPr/>
        </p:nvSpPr>
        <p:spPr>
          <a:xfrm>
            <a:off x="5220072" y="2715766"/>
            <a:ext cx="1512168" cy="338554"/>
          </a:xfrm>
          <a:prstGeom prst="rect">
            <a:avLst/>
          </a:prstGeom>
          <a:noFill/>
        </p:spPr>
        <p:txBody>
          <a:bodyPr wrap="square" rtlCol="0">
            <a:spAutoFit/>
          </a:bodyPr>
          <a:lstStyle/>
          <a:p>
            <a:r>
              <a:rPr lang="en-US" altLang="zh-CN" sz="1600" dirty="0">
                <a:solidFill>
                  <a:srgbClr val="0000FF"/>
                </a:solidFill>
              </a:rPr>
              <a:t>(</a:t>
            </a:r>
            <a:r>
              <a:rPr lang="en-US" altLang="zh-CN" sz="1600" dirty="0" err="1">
                <a:solidFill>
                  <a:srgbClr val="0000FF"/>
                </a:solidFill>
              </a:rPr>
              <a:t>T.type</a:t>
            </a:r>
            <a:r>
              <a:rPr lang="en-US" altLang="zh-CN" sz="1600" dirty="0">
                <a:solidFill>
                  <a:srgbClr val="0000FF"/>
                </a:solidFill>
              </a:rPr>
              <a:t>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16" name="TextBox 15"/>
          <p:cNvSpPr txBox="1"/>
          <p:nvPr/>
        </p:nvSpPr>
        <p:spPr>
          <a:xfrm>
            <a:off x="7813054" y="2737252"/>
            <a:ext cx="1331640" cy="338554"/>
          </a:xfrm>
          <a:prstGeom prst="rect">
            <a:avLst/>
          </a:prstGeom>
          <a:noFill/>
        </p:spPr>
        <p:txBody>
          <a:bodyPr wrap="square" rtlCol="0">
            <a:spAutoFit/>
          </a:bodyPr>
          <a:lstStyle/>
          <a:p>
            <a:r>
              <a:rPr lang="en-US" altLang="zh-CN" sz="1600" dirty="0">
                <a:solidFill>
                  <a:srgbClr val="0000FF"/>
                </a:solidFill>
              </a:rPr>
              <a:t>(L.in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17" name="TextBox 16"/>
          <p:cNvSpPr txBox="1"/>
          <p:nvPr/>
        </p:nvSpPr>
        <p:spPr>
          <a:xfrm>
            <a:off x="6841454" y="3385324"/>
            <a:ext cx="1331640" cy="338554"/>
          </a:xfrm>
          <a:prstGeom prst="rect">
            <a:avLst/>
          </a:prstGeom>
          <a:noFill/>
        </p:spPr>
        <p:txBody>
          <a:bodyPr wrap="square" rtlCol="0">
            <a:spAutoFit/>
          </a:bodyPr>
          <a:lstStyle/>
          <a:p>
            <a:r>
              <a:rPr lang="en-US" altLang="zh-CN" sz="1600" dirty="0">
                <a:solidFill>
                  <a:srgbClr val="0000FF"/>
                </a:solidFill>
              </a:rPr>
              <a:t>(L.in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18" name="TextBox 17"/>
          <p:cNvSpPr txBox="1"/>
          <p:nvPr/>
        </p:nvSpPr>
        <p:spPr>
          <a:xfrm>
            <a:off x="5760640" y="4155926"/>
            <a:ext cx="1331640" cy="338554"/>
          </a:xfrm>
          <a:prstGeom prst="rect">
            <a:avLst/>
          </a:prstGeom>
          <a:noFill/>
        </p:spPr>
        <p:txBody>
          <a:bodyPr wrap="square" rtlCol="0">
            <a:spAutoFit/>
          </a:bodyPr>
          <a:lstStyle/>
          <a:p>
            <a:r>
              <a:rPr lang="en-US" altLang="zh-CN" sz="1600" dirty="0">
                <a:solidFill>
                  <a:srgbClr val="0000FF"/>
                </a:solidFill>
              </a:rPr>
              <a:t>(L.in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8" name="TextBox 7"/>
          <p:cNvSpPr txBox="1"/>
          <p:nvPr/>
        </p:nvSpPr>
        <p:spPr>
          <a:xfrm>
            <a:off x="2195736" y="2869654"/>
            <a:ext cx="792088" cy="369332"/>
          </a:xfrm>
          <a:prstGeom prst="rect">
            <a:avLst/>
          </a:prstGeom>
          <a:noFill/>
        </p:spPr>
        <p:txBody>
          <a:bodyPr wrap="square" rtlCol="0">
            <a:spAutoFit/>
          </a:bodyPr>
          <a:lstStyle/>
          <a:p>
            <a:r>
              <a:rPr lang="en-US" altLang="zh-CN" dirty="0" err="1"/>
              <a:t>int</a:t>
            </a:r>
            <a:endParaRPr lang="zh-CN" altLang="en-US" dirty="0"/>
          </a:p>
        </p:txBody>
      </p:sp>
      <p:sp>
        <p:nvSpPr>
          <p:cNvPr id="20" name="TextBox 19"/>
          <p:cNvSpPr txBox="1"/>
          <p:nvPr/>
        </p:nvSpPr>
        <p:spPr>
          <a:xfrm>
            <a:off x="2167622" y="3238986"/>
            <a:ext cx="792088" cy="369332"/>
          </a:xfrm>
          <a:prstGeom prst="rect">
            <a:avLst/>
          </a:prstGeom>
          <a:noFill/>
        </p:spPr>
        <p:txBody>
          <a:bodyPr wrap="square" rtlCol="0">
            <a:spAutoFit/>
          </a:bodyPr>
          <a:lstStyle/>
          <a:p>
            <a:r>
              <a:rPr lang="en-US" altLang="zh-CN" dirty="0" err="1"/>
              <a:t>int</a:t>
            </a:r>
            <a:endParaRPr lang="zh-CN" altLang="en-US" dirty="0"/>
          </a:p>
        </p:txBody>
      </p:sp>
      <p:sp>
        <p:nvSpPr>
          <p:cNvPr id="21" name="TextBox 20"/>
          <p:cNvSpPr txBox="1"/>
          <p:nvPr/>
        </p:nvSpPr>
        <p:spPr>
          <a:xfrm>
            <a:off x="2167622" y="3606165"/>
            <a:ext cx="792088" cy="369332"/>
          </a:xfrm>
          <a:prstGeom prst="rect">
            <a:avLst/>
          </a:prstGeom>
          <a:noFill/>
        </p:spPr>
        <p:txBody>
          <a:bodyPr wrap="square" rtlCol="0">
            <a:spAutoFit/>
          </a:bodyPr>
          <a:lstStyle/>
          <a:p>
            <a:r>
              <a:rPr lang="en-US" altLang="zh-CN" dirty="0" err="1"/>
              <a:t>int</a:t>
            </a:r>
            <a:endParaRPr lang="zh-CN" altLang="en-US" dirty="0"/>
          </a:p>
        </p:txBody>
      </p:sp>
    </p:spTree>
    <p:extLst>
      <p:ext uri="{BB962C8B-B14F-4D97-AF65-F5344CB8AC3E}">
        <p14:creationId xmlns:p14="http://schemas.microsoft.com/office/powerpoint/2010/main" val="3938145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3726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37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nimBg="1"/>
      <p:bldP spid="137267" grpId="0" animBg="1" autoUpdateAnimBg="0"/>
      <p:bldP spid="137268" grpId="0" animBg="1" autoUpdateAnimBg="0"/>
      <p:bldP spid="3" grpId="0" animBg="1"/>
      <p:bldP spid="7" grpId="0"/>
      <p:bldP spid="16" grpId="0"/>
      <p:bldP spid="17" grpId="0"/>
      <p:bldP spid="18" grpId="0"/>
      <p:bldP spid="8" grpId="0"/>
      <p:bldP spid="20" grpId="0"/>
      <p:bldP spid="2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p:txBody>
          <a:bodyPr/>
          <a:lstStyle/>
          <a:p>
            <a:endParaRPr lang="zh-CN" altLang="en-US"/>
          </a:p>
        </p:txBody>
      </p:sp>
    </p:spTree>
    <p:extLst>
      <p:ext uri="{BB962C8B-B14F-4D97-AF65-F5344CB8AC3E}">
        <p14:creationId xmlns:p14="http://schemas.microsoft.com/office/powerpoint/2010/main" val="30423404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6200736" cy="1323439"/>
          </a:xfrm>
          <a:prstGeom prst="rect">
            <a:avLst/>
          </a:prstGeom>
        </p:spPr>
        <p:txBody>
          <a:bodyPr wrap="non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、语法制导的语义处理</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——L-</a:t>
            </a:r>
            <a:r>
              <a:rPr lang="zh-CN" altLang="en-US" sz="3600" b="1" dirty="0">
                <a:solidFill>
                  <a:srgbClr val="CC0099"/>
                </a:solidFill>
                <a:ea typeface="隶书" pitchFamily="49" charset="-122"/>
              </a:rPr>
              <a:t>属性文法</a:t>
            </a:r>
            <a:endParaRPr lang="zh-CN" altLang="en-US" sz="3600" dirty="0"/>
          </a:p>
        </p:txBody>
      </p:sp>
    </p:spTree>
    <p:extLst>
      <p:ext uri="{BB962C8B-B14F-4D97-AF65-F5344CB8AC3E}">
        <p14:creationId xmlns:p14="http://schemas.microsoft.com/office/powerpoint/2010/main" val="32928341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9800" y="0"/>
            <a:ext cx="4058144" cy="699542"/>
          </a:xfrm>
        </p:spPr>
        <p:txBody>
          <a:bodyPr>
            <a:normAutofit fontScale="90000"/>
          </a:bodyPr>
          <a:lstStyle/>
          <a:p>
            <a:pPr eaLnBrk="1" hangingPunct="1"/>
            <a:r>
              <a:rPr lang="zh-CN" altLang="en-US" sz="4000" b="1" dirty="0">
                <a:ea typeface="楷体_GB2312" pitchFamily="49" charset="-122"/>
              </a:rPr>
              <a:t>属性的计算顺序</a:t>
            </a:r>
          </a:p>
        </p:txBody>
      </p:sp>
      <p:sp>
        <p:nvSpPr>
          <p:cNvPr id="6147" name="Rectangle 3"/>
          <p:cNvSpPr>
            <a:spLocks noGrp="1" noChangeArrowheads="1"/>
          </p:cNvSpPr>
          <p:nvPr>
            <p:ph type="body" idx="1"/>
          </p:nvPr>
        </p:nvSpPr>
        <p:spPr>
          <a:xfrm>
            <a:off x="395536" y="771550"/>
            <a:ext cx="8343900" cy="3744416"/>
          </a:xfrm>
        </p:spPr>
        <p:style>
          <a:lnRef idx="2">
            <a:schemeClr val="accent1"/>
          </a:lnRef>
          <a:fillRef idx="1">
            <a:schemeClr val="lt1"/>
          </a:fillRef>
          <a:effectRef idx="0">
            <a:schemeClr val="accent1"/>
          </a:effectRef>
          <a:fontRef idx="minor">
            <a:schemeClr val="dk1"/>
          </a:fontRef>
        </p:style>
        <p:txBody>
          <a:bodyPr>
            <a:normAutofit fontScale="92500"/>
          </a:bodyPr>
          <a:lstStyle/>
          <a:p>
            <a:pPr eaLnBrk="1" hangingPunct="1"/>
            <a:r>
              <a:rPr lang="zh-CN" altLang="zh-CN" sz="2400" dirty="0"/>
              <a:t>如果文法只有综合属性，可以</a:t>
            </a:r>
            <a:r>
              <a:rPr lang="zh-CN" altLang="en-US" sz="2400" dirty="0"/>
              <a:t>在</a:t>
            </a:r>
            <a:r>
              <a:rPr lang="zh-CN" altLang="zh-CN" sz="2400" dirty="0"/>
              <a:t>自下而上</a:t>
            </a:r>
            <a:r>
              <a:rPr lang="zh-CN" altLang="en-US" sz="2400" dirty="0"/>
              <a:t>语法分析中调用属性计算规则计算</a:t>
            </a:r>
            <a:r>
              <a:rPr lang="zh-CN" altLang="zh-CN" sz="2400" dirty="0"/>
              <a:t>出所有的属性值</a:t>
            </a:r>
            <a:endParaRPr lang="en-US" altLang="zh-CN" sz="2400" dirty="0"/>
          </a:p>
          <a:p>
            <a:pPr eaLnBrk="1" hangingPunct="1"/>
            <a:r>
              <a:rPr lang="zh-CN" altLang="zh-CN" sz="2400" dirty="0"/>
              <a:t>如果只有继承属性，也可以</a:t>
            </a:r>
            <a:r>
              <a:rPr lang="zh-CN" altLang="en-US" sz="2400" dirty="0"/>
              <a:t>在</a:t>
            </a:r>
            <a:r>
              <a:rPr lang="zh-CN" altLang="zh-CN" sz="2400" dirty="0"/>
              <a:t>自上而下</a:t>
            </a:r>
            <a:r>
              <a:rPr lang="zh-CN" altLang="en-US" sz="2400" dirty="0"/>
              <a:t>语法分析中调用属性计算规则</a:t>
            </a:r>
            <a:r>
              <a:rPr lang="zh-CN" altLang="zh-CN" sz="2400" dirty="0"/>
              <a:t>计算出所有的属性值</a:t>
            </a:r>
            <a:endParaRPr lang="en-US" altLang="zh-CN" sz="2400" dirty="0"/>
          </a:p>
          <a:p>
            <a:pPr eaLnBrk="1" hangingPunct="1"/>
            <a:r>
              <a:rPr lang="zh-CN" altLang="en-US" sz="2400" dirty="0"/>
              <a:t>如果</a:t>
            </a:r>
            <a:r>
              <a:rPr lang="zh-CN" altLang="zh-CN" sz="2400" dirty="0"/>
              <a:t>一个属性文法定义了多个属性，既有综合属性又有继承属性，属性之间可能存在复杂的依赖关系，就不能</a:t>
            </a:r>
            <a:r>
              <a:rPr lang="zh-CN" altLang="en-US" dirty="0"/>
              <a:t>和</a:t>
            </a:r>
            <a:r>
              <a:rPr lang="zh-CN" altLang="en-US" sz="2400" dirty="0"/>
              <a:t>语法分析同步</a:t>
            </a:r>
            <a:r>
              <a:rPr lang="zh-CN" altLang="zh-CN" sz="2400" dirty="0"/>
              <a:t>计算出所有属性的值，多个属性的计算顺序就成了一个问题。</a:t>
            </a:r>
            <a:endParaRPr lang="en-US" altLang="zh-CN" sz="2400" dirty="0"/>
          </a:p>
          <a:p>
            <a:r>
              <a:rPr lang="zh-CN" altLang="en-US" dirty="0">
                <a:solidFill>
                  <a:srgbClr val="000000"/>
                </a:solidFill>
              </a:rPr>
              <a:t>通过遍历语法树来进行计算</a:t>
            </a:r>
            <a:endParaRPr lang="en-US" altLang="zh-CN" dirty="0">
              <a:solidFill>
                <a:srgbClr val="000000"/>
              </a:solidFill>
            </a:endParaRPr>
          </a:p>
          <a:p>
            <a:r>
              <a:rPr lang="zh-CN" altLang="zh-CN" sz="2400" dirty="0"/>
              <a:t>需要多次遍历语法树，</a:t>
            </a:r>
            <a:r>
              <a:rPr lang="zh-CN" altLang="en-US" sz="2400" dirty="0"/>
              <a:t>每</a:t>
            </a:r>
            <a:r>
              <a:rPr lang="zh-CN" altLang="zh-CN" sz="2400" dirty="0"/>
              <a:t>一次遍历时可以利用前面若干次遍历已经计算出来的属性值，直至计算出所有属性的值。</a:t>
            </a:r>
            <a:endParaRPr lang="en-US" altLang="zh-CN" sz="2400" dirty="0"/>
          </a:p>
          <a:p>
            <a:pPr eaLnBrk="1" hangingPunct="1"/>
            <a:endParaRPr lang="en-US" altLang="zh-CN" sz="2400" dirty="0">
              <a:solidFill>
                <a:srgbClr val="000000"/>
              </a:solidFill>
            </a:endParaRPr>
          </a:p>
        </p:txBody>
      </p:sp>
      <p:graphicFrame>
        <p:nvGraphicFramePr>
          <p:cNvPr id="36868" name="对象 3"/>
          <p:cNvGraphicFramePr>
            <a:graphicFrameLocks noChangeAspect="1"/>
          </p:cNvGraphicFramePr>
          <p:nvPr/>
        </p:nvGraphicFramePr>
        <p:xfrm>
          <a:off x="1619672" y="4558911"/>
          <a:ext cx="7164288" cy="560784"/>
        </p:xfrm>
        <a:graphic>
          <a:graphicData uri="http://schemas.openxmlformats.org/presentationml/2006/ole">
            <mc:AlternateContent xmlns:mc="http://schemas.openxmlformats.org/markup-compatibility/2006">
              <mc:Choice xmlns:v="urn:schemas-microsoft-com:vml" Requires="v">
                <p:oleObj name="Visio" r:id="rId3" imgW="4444724" imgH="394644" progId="Visio.Drawing.11">
                  <p:embed/>
                </p:oleObj>
              </mc:Choice>
              <mc:Fallback>
                <p:oleObj name="Visio" r:id="rId3" imgW="4444724" imgH="394644" progId="Visio.Drawing.11">
                  <p:embed/>
                  <p:pic>
                    <p:nvPicPr>
                      <p:cNvPr id="36868"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4558911"/>
                        <a:ext cx="7164288" cy="560784"/>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342956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95"/>
          <p:cNvSpPr>
            <a:spLocks noGrp="1" noChangeArrowheads="1"/>
          </p:cNvSpPr>
          <p:nvPr>
            <p:ph type="body" idx="1"/>
          </p:nvPr>
        </p:nvSpPr>
        <p:spPr>
          <a:xfrm>
            <a:off x="323528" y="843558"/>
            <a:ext cx="8362950" cy="4050506"/>
          </a:xfrm>
          <a:solidFill>
            <a:schemeClr val="bg1"/>
          </a:solidFill>
          <a:ln w="28575">
            <a:solidFill>
              <a:srgbClr val="0000FF"/>
            </a:solidFill>
            <a:miter lim="800000"/>
            <a:headEnd/>
            <a:tailEnd/>
          </a:ln>
        </p:spPr>
        <p:txBody>
          <a:bodyPr>
            <a:normAutofit/>
          </a:bodyPr>
          <a:lstStyle/>
          <a:p>
            <a:pPr eaLnBrk="1" hangingPunct="1"/>
            <a:r>
              <a:rPr lang="zh-CN" altLang="zh-CN" sz="2200" dirty="0"/>
              <a:t>由源程序的语法结构所驱动的</a:t>
            </a:r>
            <a:r>
              <a:rPr lang="zh-CN" altLang="en-US" sz="2200" dirty="0"/>
              <a:t>语义</a:t>
            </a:r>
            <a:r>
              <a:rPr lang="zh-CN" altLang="zh-CN" sz="2200" dirty="0"/>
              <a:t>处理方法称为</a:t>
            </a:r>
            <a:r>
              <a:rPr lang="zh-CN" altLang="zh-CN" sz="2200" dirty="0">
                <a:solidFill>
                  <a:srgbClr val="FF0000"/>
                </a:solidFill>
              </a:rPr>
              <a:t>语法制导的翻译方法</a:t>
            </a:r>
            <a:endParaRPr lang="en-US" altLang="zh-CN" sz="2200" dirty="0">
              <a:solidFill>
                <a:srgbClr val="FF0000"/>
              </a:solidFill>
            </a:endParaRPr>
          </a:p>
          <a:p>
            <a:pPr eaLnBrk="1" hangingPunct="1"/>
            <a:r>
              <a:rPr lang="zh-CN" altLang="en-US" sz="2200" dirty="0"/>
              <a:t>语义规则：</a:t>
            </a:r>
          </a:p>
          <a:p>
            <a:pPr lvl="1"/>
            <a:r>
              <a:rPr lang="zh-CN" altLang="en-US" dirty="0">
                <a:solidFill>
                  <a:srgbClr val="000000"/>
                </a:solidFill>
              </a:rPr>
              <a:t>在属性文法中，文法符号有明确的意义，文法符号之间有确定的语义关系。属性描述语义信息，语义规则描述</a:t>
            </a:r>
            <a:r>
              <a:rPr lang="zh-CN" altLang="en-US" dirty="0">
                <a:solidFill>
                  <a:srgbClr val="FF0000"/>
                </a:solidFill>
              </a:rPr>
              <a:t>属性间的的关系</a:t>
            </a:r>
            <a:r>
              <a:rPr lang="zh-CN" altLang="en-US" dirty="0">
                <a:solidFill>
                  <a:srgbClr val="000000"/>
                </a:solidFill>
              </a:rPr>
              <a:t>。</a:t>
            </a:r>
            <a:endParaRPr lang="en-US" altLang="zh-CN" dirty="0">
              <a:solidFill>
                <a:srgbClr val="000000"/>
              </a:solidFill>
            </a:endParaRPr>
          </a:p>
          <a:p>
            <a:pPr lvl="1"/>
            <a:r>
              <a:rPr lang="zh-CN" altLang="en-US" dirty="0">
                <a:solidFill>
                  <a:srgbClr val="000000"/>
                </a:solidFill>
              </a:rPr>
              <a:t>属性文法只定义翻译所必须的语义属性和语义规则，一般不涉及</a:t>
            </a:r>
            <a:r>
              <a:rPr lang="zh-CN" altLang="en-US" dirty="0">
                <a:solidFill>
                  <a:srgbClr val="FF0000"/>
                </a:solidFill>
              </a:rPr>
              <a:t>计算顺序</a:t>
            </a:r>
            <a:r>
              <a:rPr lang="zh-CN" altLang="en-US" dirty="0">
                <a:solidFill>
                  <a:srgbClr val="000000"/>
                </a:solidFill>
              </a:rPr>
              <a:t>。</a:t>
            </a:r>
            <a:endParaRPr lang="en-US" altLang="zh-CN" dirty="0">
              <a:solidFill>
                <a:srgbClr val="000000"/>
              </a:solidFill>
            </a:endParaRPr>
          </a:p>
          <a:p>
            <a:pPr lvl="1" eaLnBrk="1" hangingPunct="1"/>
            <a:r>
              <a:rPr lang="zh-CN" altLang="zh-CN" dirty="0"/>
              <a:t>语义规则可以完成多种操作：</a:t>
            </a:r>
            <a:r>
              <a:rPr lang="zh-CN" altLang="en-US" dirty="0"/>
              <a:t>属性计算、</a:t>
            </a:r>
            <a:r>
              <a:rPr lang="zh-CN" altLang="zh-CN" dirty="0"/>
              <a:t>产生代码、在符号表中存放信息、给出错误信息或执行任何其他动作</a:t>
            </a:r>
            <a:r>
              <a:rPr lang="zh-CN" altLang="en-US" dirty="0"/>
              <a:t>等，通常写成过程和函数调用，称为</a:t>
            </a:r>
            <a:r>
              <a:rPr lang="zh-CN" altLang="en-US" b="1" dirty="0">
                <a:solidFill>
                  <a:srgbClr val="FF3300"/>
                </a:solidFill>
              </a:rPr>
              <a:t>语义子程序</a:t>
            </a:r>
            <a:r>
              <a:rPr lang="zh-CN" altLang="en-US" dirty="0"/>
              <a:t>。</a:t>
            </a:r>
          </a:p>
        </p:txBody>
      </p:sp>
      <p:sp>
        <p:nvSpPr>
          <p:cNvPr id="35843" name="Rectangle 1096"/>
          <p:cNvSpPr>
            <a:spLocks noGrp="1" noChangeArrowheads="1"/>
          </p:cNvSpPr>
          <p:nvPr>
            <p:ph type="title"/>
          </p:nvPr>
        </p:nvSpPr>
        <p:spPr/>
        <p:txBody>
          <a:bodyPr>
            <a:noAutofit/>
          </a:bodyPr>
          <a:lstStyle/>
          <a:p>
            <a:pPr eaLnBrk="1" hangingPunct="1"/>
            <a:r>
              <a:rPr lang="zh-CN" altLang="en-US" b="1" dirty="0"/>
              <a:t>语法制导翻译</a:t>
            </a:r>
            <a:endParaRPr lang="zh-CN" altLang="zh-CN" dirty="0"/>
          </a:p>
        </p:txBody>
      </p:sp>
    </p:spTree>
    <p:extLst>
      <p:ext uri="{BB962C8B-B14F-4D97-AF65-F5344CB8AC3E}">
        <p14:creationId xmlns:p14="http://schemas.microsoft.com/office/powerpoint/2010/main" val="158454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84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84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uiExpand="1" build="p"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86"/>
            <a:ext cx="6516216" cy="702469"/>
          </a:xfrm>
        </p:spPr>
        <p:txBody>
          <a:bodyPr/>
          <a:lstStyle/>
          <a:p>
            <a:pPr>
              <a:defRPr/>
            </a:pPr>
            <a:r>
              <a:rPr lang="zh-CN" altLang="en-US" kern="100" dirty="0">
                <a:solidFill>
                  <a:schemeClr val="tx1"/>
                </a:solidFill>
              </a:rPr>
              <a:t>深度优先</a:t>
            </a:r>
            <a:r>
              <a:rPr lang="zh-CN" altLang="zh-CN" kern="100" dirty="0">
                <a:solidFill>
                  <a:schemeClr val="tx1"/>
                </a:solidFill>
              </a:rPr>
              <a:t>遍历</a:t>
            </a:r>
            <a:r>
              <a:rPr lang="zh-CN" altLang="en-US" kern="100" dirty="0">
                <a:solidFill>
                  <a:schemeClr val="tx1"/>
                </a:solidFill>
              </a:rPr>
              <a:t>树</a:t>
            </a:r>
            <a:r>
              <a:rPr lang="zh-CN" altLang="zh-CN" kern="100" dirty="0">
                <a:solidFill>
                  <a:schemeClr val="tx1"/>
                </a:solidFill>
              </a:rPr>
              <a:t>进行属性计算</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5" name="矩形 4"/>
          <p:cNvSpPr/>
          <p:nvPr/>
        </p:nvSpPr>
        <p:spPr>
          <a:xfrm>
            <a:off x="107504" y="987574"/>
            <a:ext cx="8712968" cy="40811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90000"/>
              </a:lnSpc>
              <a:spcAft>
                <a:spcPts val="0"/>
              </a:spcAft>
            </a:pPr>
            <a:r>
              <a:rPr lang="en-US" altLang="zh-CN" kern="100" dirty="0" err="1"/>
              <a:t>ComputeSenmaticAttribute</a:t>
            </a:r>
            <a:r>
              <a:rPr lang="en-US" altLang="zh-CN" kern="100" dirty="0"/>
              <a:t>()</a:t>
            </a:r>
            <a:endParaRPr lang="zh-CN" altLang="zh-CN" kern="100" dirty="0"/>
          </a:p>
          <a:p>
            <a:pPr algn="just">
              <a:lnSpc>
                <a:spcPct val="90000"/>
              </a:lnSpc>
              <a:spcAft>
                <a:spcPts val="0"/>
              </a:spcAft>
            </a:pPr>
            <a:r>
              <a:rPr lang="en-US" altLang="zh-CN" kern="100" dirty="0"/>
              <a:t>{</a:t>
            </a:r>
            <a:endParaRPr lang="zh-CN" altLang="zh-CN" kern="100" dirty="0"/>
          </a:p>
          <a:p>
            <a:pPr indent="228600" algn="just">
              <a:lnSpc>
                <a:spcPct val="90000"/>
              </a:lnSpc>
              <a:spcAft>
                <a:spcPts val="0"/>
              </a:spcAft>
            </a:pPr>
            <a:r>
              <a:rPr lang="en-US" altLang="zh-CN" kern="100" dirty="0"/>
              <a:t>while (</a:t>
            </a:r>
            <a:r>
              <a:rPr lang="zh-CN" altLang="zh-CN" kern="100" dirty="0"/>
              <a:t>还有未计算出的属性</a:t>
            </a:r>
            <a:r>
              <a:rPr lang="en-US" altLang="zh-CN" kern="100" dirty="0"/>
              <a:t>)</a:t>
            </a:r>
            <a:endParaRPr lang="zh-CN" altLang="zh-CN" kern="100" dirty="0"/>
          </a:p>
          <a:p>
            <a:pPr indent="228600" algn="just">
              <a:lnSpc>
                <a:spcPct val="90000"/>
              </a:lnSpc>
              <a:spcAft>
                <a:spcPts val="0"/>
              </a:spcAft>
            </a:pPr>
            <a:r>
              <a:rPr lang="en-US" altLang="zh-CN" kern="100" dirty="0"/>
              <a:t>    </a:t>
            </a:r>
            <a:r>
              <a:rPr lang="en-US" altLang="zh-CN" kern="100" dirty="0" err="1"/>
              <a:t>VisitNode</a:t>
            </a:r>
            <a:r>
              <a:rPr lang="en-US" altLang="zh-CN" kern="100" dirty="0"/>
              <a:t>(S);    /*S</a:t>
            </a:r>
            <a:r>
              <a:rPr lang="zh-CN" altLang="zh-CN" kern="100" dirty="0"/>
              <a:t>是文法的开始符号，也是语法树的树根</a:t>
            </a:r>
            <a:r>
              <a:rPr lang="en-US" altLang="zh-CN" kern="100" dirty="0"/>
              <a:t>*/</a:t>
            </a:r>
            <a:endParaRPr lang="zh-CN" altLang="zh-CN" kern="100" dirty="0"/>
          </a:p>
          <a:p>
            <a:pPr algn="just">
              <a:lnSpc>
                <a:spcPct val="90000"/>
              </a:lnSpc>
              <a:spcAft>
                <a:spcPts val="0"/>
              </a:spcAft>
            </a:pPr>
            <a:r>
              <a:rPr lang="en-US" altLang="zh-CN" kern="100" dirty="0"/>
              <a:t>}</a:t>
            </a:r>
            <a:endParaRPr lang="zh-CN" altLang="zh-CN" kern="100" dirty="0"/>
          </a:p>
          <a:p>
            <a:pPr algn="just">
              <a:lnSpc>
                <a:spcPct val="90000"/>
              </a:lnSpc>
              <a:spcAft>
                <a:spcPts val="0"/>
              </a:spcAft>
            </a:pPr>
            <a:r>
              <a:rPr lang="en-US" altLang="zh-CN" kern="100" dirty="0"/>
              <a:t> </a:t>
            </a:r>
            <a:endParaRPr lang="zh-CN" altLang="zh-CN" kern="100" dirty="0"/>
          </a:p>
          <a:p>
            <a:pPr algn="just">
              <a:lnSpc>
                <a:spcPct val="90000"/>
              </a:lnSpc>
              <a:spcAft>
                <a:spcPts val="0"/>
              </a:spcAft>
            </a:pPr>
            <a:r>
              <a:rPr lang="en-US" altLang="zh-CN" kern="100" dirty="0" err="1"/>
              <a:t>VisitNode</a:t>
            </a:r>
            <a:r>
              <a:rPr lang="en-US" altLang="zh-CN" kern="100" dirty="0"/>
              <a:t>(</a:t>
            </a:r>
            <a:r>
              <a:rPr lang="en-US" altLang="zh-CN" kern="100" dirty="0" err="1"/>
              <a:t>N:Node</a:t>
            </a:r>
            <a:r>
              <a:rPr lang="en-US" altLang="zh-CN" kern="100" dirty="0"/>
              <a:t>) /*</a:t>
            </a:r>
            <a:r>
              <a:rPr lang="zh-CN" altLang="zh-CN" kern="100" dirty="0"/>
              <a:t>访问以</a:t>
            </a:r>
            <a:r>
              <a:rPr lang="en-US" altLang="zh-CN" kern="100" dirty="0"/>
              <a:t>N</a:t>
            </a:r>
            <a:r>
              <a:rPr lang="zh-CN" altLang="zh-CN" kern="100" dirty="0"/>
              <a:t>为根的子树，并计算所有可以计算的属性</a:t>
            </a:r>
            <a:r>
              <a:rPr lang="en-US" altLang="zh-CN" kern="100" dirty="0"/>
              <a:t>*/</a:t>
            </a:r>
            <a:endParaRPr lang="zh-CN" altLang="zh-CN" kern="100" dirty="0"/>
          </a:p>
          <a:p>
            <a:pPr algn="just">
              <a:lnSpc>
                <a:spcPct val="90000"/>
              </a:lnSpc>
              <a:spcAft>
                <a:spcPts val="0"/>
              </a:spcAft>
            </a:pPr>
            <a:r>
              <a:rPr lang="en-US" altLang="zh-CN" kern="100" dirty="0"/>
              <a:t>{</a:t>
            </a:r>
            <a:endParaRPr lang="zh-CN" altLang="zh-CN" kern="100" dirty="0"/>
          </a:p>
          <a:p>
            <a:pPr indent="251460" algn="just">
              <a:lnSpc>
                <a:spcPct val="90000"/>
              </a:lnSpc>
              <a:spcAft>
                <a:spcPts val="0"/>
              </a:spcAft>
            </a:pPr>
            <a:r>
              <a:rPr lang="en-US" altLang="zh-CN" kern="100" dirty="0"/>
              <a:t>if (N</a:t>
            </a:r>
            <a:r>
              <a:rPr lang="zh-CN" altLang="zh-CN" kern="100" dirty="0"/>
              <a:t>是非终结符</a:t>
            </a:r>
            <a:r>
              <a:rPr lang="en-US" altLang="zh-CN" kern="100" dirty="0"/>
              <a:t>) /* </a:t>
            </a:r>
            <a:r>
              <a:rPr lang="zh-CN" altLang="zh-CN" kern="100" dirty="0"/>
              <a:t>假定</a:t>
            </a:r>
            <a:r>
              <a:rPr lang="en-US" altLang="zh-CN" kern="100" dirty="0"/>
              <a:t>N</a:t>
            </a:r>
            <a:r>
              <a:rPr lang="zh-CN" altLang="zh-CN" kern="100" dirty="0"/>
              <a:t>的产生式形式是</a:t>
            </a:r>
            <a:r>
              <a:rPr lang="en-US" altLang="zh-CN" kern="100" dirty="0"/>
              <a:t>N</a:t>
            </a:r>
            <a:r>
              <a:rPr lang="zh-CN" altLang="zh-CN" kern="100" dirty="0"/>
              <a:t>→</a:t>
            </a:r>
            <a:r>
              <a:rPr lang="en-US" altLang="zh-CN" kern="100" dirty="0"/>
              <a:t>X</a:t>
            </a:r>
            <a:r>
              <a:rPr lang="en-US" altLang="zh-CN" kern="100" baseline="-25000" dirty="0"/>
              <a:t>1</a:t>
            </a:r>
            <a:r>
              <a:rPr lang="en-US" altLang="zh-CN" kern="100" dirty="0"/>
              <a:t>X</a:t>
            </a:r>
            <a:r>
              <a:rPr lang="en-US" altLang="zh-CN" kern="100" baseline="-25000" dirty="0"/>
              <a:t>2</a:t>
            </a:r>
            <a:r>
              <a:rPr lang="en-US" altLang="zh-CN" kern="100" dirty="0"/>
              <a:t>……</a:t>
            </a:r>
            <a:r>
              <a:rPr lang="en-US" altLang="zh-CN" kern="100" dirty="0" err="1"/>
              <a:t>X</a:t>
            </a:r>
            <a:r>
              <a:rPr lang="en-US" altLang="zh-CN" kern="100" baseline="-25000" dirty="0" err="1"/>
              <a:t>m</a:t>
            </a:r>
            <a:r>
              <a:rPr lang="en-US" altLang="zh-CN" kern="100" dirty="0"/>
              <a:t> */</a:t>
            </a:r>
            <a:endParaRPr lang="zh-CN" altLang="zh-CN" kern="100" dirty="0"/>
          </a:p>
          <a:p>
            <a:pPr indent="400050" algn="just">
              <a:lnSpc>
                <a:spcPct val="90000"/>
              </a:lnSpc>
              <a:spcAft>
                <a:spcPts val="0"/>
              </a:spcAft>
            </a:pPr>
            <a:r>
              <a:rPr lang="en-US" altLang="zh-CN" kern="100" dirty="0"/>
              <a:t>for (</a:t>
            </a:r>
            <a:r>
              <a:rPr lang="en-US" altLang="zh-CN" kern="100" dirty="0" err="1"/>
              <a:t>i</a:t>
            </a:r>
            <a:r>
              <a:rPr lang="en-US" altLang="zh-CN" kern="100" dirty="0"/>
              <a:t> </a:t>
            </a:r>
            <a:r>
              <a:rPr lang="zh-CN" altLang="zh-CN" kern="100" dirty="0"/>
              <a:t>从</a:t>
            </a:r>
            <a:r>
              <a:rPr lang="en-US" altLang="zh-CN" kern="100" dirty="0"/>
              <a:t>1 </a:t>
            </a:r>
            <a:r>
              <a:rPr lang="zh-CN" altLang="zh-CN" kern="100" dirty="0"/>
              <a:t>到</a:t>
            </a:r>
            <a:r>
              <a:rPr lang="en-US" altLang="zh-CN" kern="100" dirty="0"/>
              <a:t> m) </a:t>
            </a:r>
            <a:endParaRPr lang="zh-CN" altLang="zh-CN" kern="100" dirty="0"/>
          </a:p>
          <a:p>
            <a:pPr indent="514350" algn="just">
              <a:lnSpc>
                <a:spcPct val="90000"/>
              </a:lnSpc>
              <a:spcAft>
                <a:spcPts val="0"/>
              </a:spcAft>
            </a:pPr>
            <a:r>
              <a:rPr lang="en-US" altLang="zh-CN" kern="100" dirty="0"/>
              <a:t> if (X</a:t>
            </a:r>
            <a:r>
              <a:rPr lang="en-US" altLang="zh-CN" kern="100" baseline="-25000" dirty="0"/>
              <a:t>i</a:t>
            </a:r>
            <a:r>
              <a:rPr lang="en-US" altLang="zh-CN" kern="100" dirty="0"/>
              <a:t> </a:t>
            </a:r>
            <a:r>
              <a:rPr lang="zh-CN" altLang="zh-CN" kern="100" dirty="0"/>
              <a:t>是非终结符</a:t>
            </a:r>
            <a:r>
              <a:rPr lang="en-US" altLang="zh-CN" kern="100" dirty="0"/>
              <a:t>) {</a:t>
            </a:r>
            <a:endParaRPr lang="zh-CN" altLang="zh-CN" kern="100" dirty="0"/>
          </a:p>
          <a:p>
            <a:pPr indent="251460" algn="just">
              <a:lnSpc>
                <a:spcPct val="90000"/>
              </a:lnSpc>
              <a:spcAft>
                <a:spcPts val="0"/>
              </a:spcAft>
            </a:pPr>
            <a:r>
              <a:rPr lang="en-US" altLang="zh-CN" kern="100" dirty="0"/>
              <a:t>        </a:t>
            </a:r>
            <a:r>
              <a:rPr lang="zh-CN" altLang="zh-CN" kern="100" dirty="0"/>
              <a:t>计算</a:t>
            </a:r>
            <a:r>
              <a:rPr lang="en-US" altLang="zh-CN" kern="100" dirty="0"/>
              <a:t>X</a:t>
            </a:r>
            <a:r>
              <a:rPr lang="en-US" altLang="zh-CN" kern="100" baseline="-25000" dirty="0"/>
              <a:t>i</a:t>
            </a:r>
            <a:r>
              <a:rPr lang="zh-CN" altLang="zh-CN" kern="100" dirty="0"/>
              <a:t>的所有能够计算的</a:t>
            </a:r>
            <a:r>
              <a:rPr lang="zh-CN" altLang="zh-CN" kern="100" dirty="0">
                <a:solidFill>
                  <a:srgbClr val="FF0000"/>
                </a:solidFill>
              </a:rPr>
              <a:t>继承属性</a:t>
            </a:r>
            <a:r>
              <a:rPr lang="en-US" altLang="zh-CN" kern="100" dirty="0"/>
              <a:t>;  /* </a:t>
            </a:r>
            <a:r>
              <a:rPr lang="zh-CN" altLang="zh-CN" kern="100" dirty="0"/>
              <a:t>自上而下计算可以计算的继承属性</a:t>
            </a:r>
            <a:r>
              <a:rPr lang="en-US" altLang="zh-CN" kern="100" dirty="0"/>
              <a:t>*/</a:t>
            </a:r>
            <a:endParaRPr lang="zh-CN" altLang="zh-CN" kern="100" dirty="0"/>
          </a:p>
          <a:p>
            <a:pPr indent="251460" algn="just">
              <a:lnSpc>
                <a:spcPct val="90000"/>
              </a:lnSpc>
              <a:spcAft>
                <a:spcPts val="0"/>
              </a:spcAft>
            </a:pPr>
            <a:r>
              <a:rPr lang="en-US" altLang="zh-CN" kern="100" dirty="0"/>
              <a:t>        </a:t>
            </a:r>
            <a:r>
              <a:rPr lang="en-US" altLang="zh-CN" kern="100" dirty="0" err="1"/>
              <a:t>VisitNode</a:t>
            </a:r>
            <a:r>
              <a:rPr lang="en-US" altLang="zh-CN" kern="100" dirty="0"/>
              <a:t>(X</a:t>
            </a:r>
            <a:r>
              <a:rPr lang="en-US" altLang="zh-CN" kern="100" baseline="-25000" dirty="0"/>
              <a:t>i</a:t>
            </a:r>
            <a:r>
              <a:rPr lang="en-US" altLang="zh-CN" kern="100" dirty="0"/>
              <a:t>);</a:t>
            </a:r>
            <a:endParaRPr lang="zh-CN" altLang="zh-CN" kern="100" dirty="0"/>
          </a:p>
          <a:p>
            <a:pPr indent="514350" algn="just">
              <a:lnSpc>
                <a:spcPct val="90000"/>
              </a:lnSpc>
              <a:spcAft>
                <a:spcPts val="0"/>
              </a:spcAft>
            </a:pPr>
            <a:r>
              <a:rPr lang="en-US" altLang="zh-CN" kern="100" dirty="0"/>
              <a:t>}</a:t>
            </a:r>
            <a:endParaRPr lang="zh-CN" altLang="zh-CN" kern="100" dirty="0"/>
          </a:p>
          <a:p>
            <a:pPr algn="just">
              <a:lnSpc>
                <a:spcPct val="90000"/>
              </a:lnSpc>
              <a:spcAft>
                <a:spcPts val="0"/>
              </a:spcAft>
            </a:pPr>
            <a:r>
              <a:rPr lang="en-US" altLang="zh-CN" kern="100" dirty="0"/>
              <a:t>    </a:t>
            </a:r>
            <a:r>
              <a:rPr lang="zh-CN" altLang="zh-CN" kern="100" dirty="0">
                <a:solidFill>
                  <a:srgbClr val="0000FF"/>
                </a:solidFill>
              </a:rPr>
              <a:t>计算</a:t>
            </a:r>
            <a:r>
              <a:rPr lang="en-US" altLang="zh-CN" kern="100" dirty="0">
                <a:solidFill>
                  <a:srgbClr val="0000FF"/>
                </a:solidFill>
              </a:rPr>
              <a:t>N</a:t>
            </a:r>
            <a:r>
              <a:rPr lang="zh-CN" altLang="zh-CN" kern="100" dirty="0">
                <a:solidFill>
                  <a:srgbClr val="0000FF"/>
                </a:solidFill>
              </a:rPr>
              <a:t>的所有能够计算的</a:t>
            </a:r>
            <a:r>
              <a:rPr lang="zh-CN" altLang="zh-CN" kern="100" dirty="0">
                <a:solidFill>
                  <a:srgbClr val="FF0000"/>
                </a:solidFill>
              </a:rPr>
              <a:t>综合属性</a:t>
            </a:r>
            <a:r>
              <a:rPr lang="en-US" altLang="zh-CN" kern="100" dirty="0">
                <a:solidFill>
                  <a:srgbClr val="0000FF"/>
                </a:solidFill>
              </a:rPr>
              <a:t>;  /*</a:t>
            </a:r>
            <a:r>
              <a:rPr lang="zh-CN" altLang="zh-CN" kern="100" dirty="0">
                <a:solidFill>
                  <a:srgbClr val="0000FF"/>
                </a:solidFill>
              </a:rPr>
              <a:t>所有子结点都计算完，计算</a:t>
            </a:r>
            <a:r>
              <a:rPr lang="en-US" altLang="zh-CN" kern="100" dirty="0">
                <a:solidFill>
                  <a:srgbClr val="0000FF"/>
                </a:solidFill>
              </a:rPr>
              <a:t>N</a:t>
            </a:r>
            <a:r>
              <a:rPr lang="zh-CN" altLang="zh-CN" kern="100" dirty="0">
                <a:solidFill>
                  <a:srgbClr val="0000FF"/>
                </a:solidFill>
              </a:rPr>
              <a:t>的综合属性</a:t>
            </a:r>
            <a:r>
              <a:rPr lang="en-US" altLang="zh-CN" kern="100" dirty="0">
                <a:solidFill>
                  <a:srgbClr val="0000FF"/>
                </a:solidFill>
              </a:rPr>
              <a:t>*/</a:t>
            </a:r>
            <a:endParaRPr lang="zh-CN" altLang="zh-CN" kern="100" dirty="0">
              <a:solidFill>
                <a:srgbClr val="0000FF"/>
              </a:solidFill>
            </a:endParaRPr>
          </a:p>
          <a:p>
            <a:pPr algn="just">
              <a:lnSpc>
                <a:spcPct val="90000"/>
              </a:lnSpc>
              <a:spcAft>
                <a:spcPts val="0"/>
              </a:spcAft>
            </a:pPr>
            <a:r>
              <a:rPr lang="en-US" altLang="zh-CN" kern="100" dirty="0"/>
              <a:t>}</a:t>
            </a:r>
            <a:endParaRPr lang="zh-CN" altLang="zh-CN" kern="100" dirty="0">
              <a:latin typeface="Times New Roman" panose="02020603050405020304" pitchFamily="18" charset="0"/>
              <a:ea typeface="宋体" panose="02010600030101010101" pitchFamily="2" charset="-122"/>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nvGraphicFramePr>
        <p:xfrm>
          <a:off x="5883061" y="27879"/>
          <a:ext cx="3233119" cy="2438210"/>
        </p:xfrm>
        <a:graphic>
          <a:graphicData uri="http://schemas.openxmlformats.org/presentationml/2006/ole">
            <mc:AlternateContent xmlns:mc="http://schemas.openxmlformats.org/markup-compatibility/2006">
              <mc:Choice xmlns:v="urn:schemas-microsoft-com:vml" Requires="v">
                <p:oleObj name="Visio" r:id="rId2" imgW="2108029" imgH="1592136" progId="Visio.Drawing.11">
                  <p:embed/>
                </p:oleObj>
              </mc:Choice>
              <mc:Fallback>
                <p:oleObj name="Visio" r:id="rId2" imgW="2108029" imgH="1592136" progId="Visio.Drawing.11">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061" y="27879"/>
                        <a:ext cx="3233119" cy="243821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04609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noAutofit/>
          </a:bodyPr>
          <a:lstStyle/>
          <a:p>
            <a:r>
              <a:rPr lang="zh-CN" altLang="en-US" dirty="0"/>
              <a:t>属性计算过程</a:t>
            </a:r>
          </a:p>
        </p:txBody>
      </p:sp>
      <p:sp>
        <p:nvSpPr>
          <p:cNvPr id="38915" name="内容占位符 2"/>
          <p:cNvSpPr>
            <a:spLocks noGrp="1"/>
          </p:cNvSpPr>
          <p:nvPr>
            <p:ph idx="1"/>
          </p:nvPr>
        </p:nvSpPr>
        <p:spPr>
          <a:xfrm>
            <a:off x="395536" y="987574"/>
            <a:ext cx="8229600" cy="3394472"/>
          </a:xfrm>
        </p:spPr>
        <p:txBody>
          <a:bodyPr>
            <a:normAutofit fontScale="92500"/>
          </a:bodyPr>
          <a:lstStyle/>
          <a:p>
            <a:r>
              <a:rPr lang="zh-CN" altLang="en-US" sz="2400" dirty="0"/>
              <a:t>这是一个复杂的递归过程</a:t>
            </a:r>
          </a:p>
          <a:p>
            <a:r>
              <a:rPr lang="zh-CN" altLang="zh-CN" sz="2400" dirty="0"/>
              <a:t>一个具体语言的语义处理的实现方法并不一定严格按照这个流程</a:t>
            </a:r>
            <a:endParaRPr lang="en-US" altLang="zh-CN" sz="2400" dirty="0"/>
          </a:p>
          <a:p>
            <a:r>
              <a:rPr lang="zh-CN" altLang="zh-CN" sz="2400" dirty="0">
                <a:solidFill>
                  <a:srgbClr val="FF0000"/>
                </a:solidFill>
              </a:rPr>
              <a:t>如果某结点的继承属性在访问它之前都能全部计算出来</a:t>
            </a:r>
            <a:r>
              <a:rPr lang="zh-CN" altLang="zh-CN" sz="2400" dirty="0"/>
              <a:t>，</a:t>
            </a:r>
            <a:r>
              <a:rPr lang="zh-CN" altLang="en-US" sz="2400" dirty="0"/>
              <a:t>也是</a:t>
            </a:r>
            <a:r>
              <a:rPr lang="zh-CN" altLang="zh-CN" sz="2400" dirty="0"/>
              <a:t>可以使用一遍遍历的方式实现属性文法的语义规则的计算。</a:t>
            </a:r>
            <a:endParaRPr lang="en-US" altLang="zh-CN" sz="2400" dirty="0"/>
          </a:p>
          <a:p>
            <a:r>
              <a:rPr lang="zh-CN" altLang="en-US" sz="2400" dirty="0">
                <a:solidFill>
                  <a:srgbClr val="FF0000"/>
                </a:solidFill>
              </a:rPr>
              <a:t>如果</a:t>
            </a:r>
            <a:r>
              <a:rPr lang="zh-CN" altLang="zh-CN" sz="2400" dirty="0">
                <a:solidFill>
                  <a:srgbClr val="FF0000"/>
                </a:solidFill>
              </a:rPr>
              <a:t>访问结点的属性并不依赖于还没有计算出来的属性</a:t>
            </a:r>
            <a:r>
              <a:rPr lang="zh-CN" altLang="zh-CN" sz="2400" dirty="0"/>
              <a:t>。这样，就可以在语法分析的同时完成语义规则的计算，把构造语法树和遍历语法树进行语义计算合成一遍。我们称满足这样的条件的特殊文法为</a:t>
            </a:r>
            <a:r>
              <a:rPr lang="en-US" altLang="zh-CN" sz="2400" b="1" dirty="0">
                <a:solidFill>
                  <a:srgbClr val="FF0000"/>
                </a:solidFill>
              </a:rPr>
              <a:t>L-</a:t>
            </a:r>
            <a:r>
              <a:rPr lang="zh-CN" altLang="zh-CN" sz="2400" b="1" dirty="0">
                <a:solidFill>
                  <a:srgbClr val="FF0000"/>
                </a:solidFill>
              </a:rPr>
              <a:t>属性文法</a:t>
            </a:r>
            <a:r>
              <a:rPr lang="zh-CN" altLang="zh-CN" sz="2400" dirty="0"/>
              <a:t>。</a:t>
            </a:r>
            <a:endParaRPr lang="zh-CN" altLang="en-US" sz="2400" dirty="0"/>
          </a:p>
        </p:txBody>
      </p:sp>
    </p:spTree>
    <p:extLst>
      <p:ext uri="{BB962C8B-B14F-4D97-AF65-F5344CB8AC3E}">
        <p14:creationId xmlns:p14="http://schemas.microsoft.com/office/powerpoint/2010/main" val="7206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1124" y="0"/>
            <a:ext cx="3336740" cy="529828"/>
          </a:xfrm>
        </p:spPr>
        <p:txBody>
          <a:bodyPr>
            <a:noAutofit/>
          </a:bodyPr>
          <a:lstStyle/>
          <a:p>
            <a:r>
              <a:rPr lang="en-US" altLang="zh-CN" dirty="0">
                <a:solidFill>
                  <a:schemeClr val="tx1"/>
                </a:solidFill>
              </a:rPr>
              <a:t>L-</a:t>
            </a:r>
            <a:r>
              <a:rPr lang="zh-CN" altLang="zh-CN" dirty="0">
                <a:solidFill>
                  <a:schemeClr val="tx1"/>
                </a:solidFill>
              </a:rPr>
              <a:t>属性文法</a:t>
            </a:r>
            <a:endParaRPr lang="zh-CN" altLang="en-US" dirty="0">
              <a:solidFill>
                <a:schemeClr val="tx1"/>
              </a:solidFill>
            </a:endParaRPr>
          </a:p>
        </p:txBody>
      </p:sp>
      <p:sp>
        <p:nvSpPr>
          <p:cNvPr id="39939" name="内容占位符 2"/>
          <p:cNvSpPr>
            <a:spLocks noGrp="1"/>
          </p:cNvSpPr>
          <p:nvPr>
            <p:ph idx="1"/>
          </p:nvPr>
        </p:nvSpPr>
        <p:spPr>
          <a:xfrm>
            <a:off x="251520" y="555526"/>
            <a:ext cx="8856216" cy="1800200"/>
          </a:xfrm>
        </p:spPr>
        <p:txBody>
          <a:bodyPr>
            <a:noAutofit/>
          </a:bodyPr>
          <a:lstStyle/>
          <a:p>
            <a:pPr>
              <a:lnSpc>
                <a:spcPct val="120000"/>
              </a:lnSpc>
              <a:spcBef>
                <a:spcPts val="0"/>
              </a:spcBef>
            </a:pPr>
            <a:r>
              <a:rPr lang="zh-CN" altLang="zh-CN" sz="2200" dirty="0"/>
              <a:t>如果对于文法中的每个产生式</a:t>
            </a:r>
            <a:r>
              <a:rPr lang="en-US" altLang="zh-CN" sz="2800" b="1" dirty="0">
                <a:solidFill>
                  <a:srgbClr val="FF0000"/>
                </a:solidFill>
              </a:rPr>
              <a:t>A</a:t>
            </a:r>
            <a:r>
              <a:rPr lang="zh-CN" altLang="zh-CN" sz="2800" b="1" dirty="0">
                <a:solidFill>
                  <a:srgbClr val="FF0000"/>
                </a:solidFill>
              </a:rPr>
              <a:t>→</a:t>
            </a:r>
            <a:r>
              <a:rPr lang="en-US" altLang="zh-CN" sz="2800" b="1" dirty="0">
                <a:solidFill>
                  <a:srgbClr val="FF0000"/>
                </a:solidFill>
              </a:rPr>
              <a:t>X</a:t>
            </a:r>
            <a:r>
              <a:rPr lang="en-US" altLang="zh-CN" sz="2800" b="1" baseline="-25000" dirty="0">
                <a:solidFill>
                  <a:srgbClr val="FF0000"/>
                </a:solidFill>
              </a:rPr>
              <a:t>1</a:t>
            </a:r>
            <a:r>
              <a:rPr lang="en-US" altLang="zh-CN" sz="2800" b="1" dirty="0">
                <a:solidFill>
                  <a:srgbClr val="FF0000"/>
                </a:solidFill>
              </a:rPr>
              <a:t>X</a:t>
            </a:r>
            <a:r>
              <a:rPr lang="en-US" altLang="zh-CN" sz="2800" b="1" baseline="-25000" dirty="0">
                <a:solidFill>
                  <a:srgbClr val="FF0000"/>
                </a:solidFill>
              </a:rPr>
              <a:t>2</a:t>
            </a:r>
            <a:r>
              <a:rPr lang="en-US" altLang="zh-CN" sz="2800" b="1" dirty="0">
                <a:solidFill>
                  <a:srgbClr val="FF0000"/>
                </a:solidFill>
              </a:rPr>
              <a:t>……</a:t>
            </a:r>
            <a:r>
              <a:rPr lang="en-US" altLang="zh-CN" sz="2800" b="1" dirty="0" err="1">
                <a:solidFill>
                  <a:srgbClr val="FF0000"/>
                </a:solidFill>
              </a:rPr>
              <a:t>X</a:t>
            </a:r>
            <a:r>
              <a:rPr lang="en-US" altLang="zh-CN" sz="2800" b="1" baseline="-25000" dirty="0" err="1">
                <a:solidFill>
                  <a:srgbClr val="FF0000"/>
                </a:solidFill>
              </a:rPr>
              <a:t>n</a:t>
            </a:r>
            <a:r>
              <a:rPr lang="zh-CN" altLang="zh-CN" sz="2200" dirty="0"/>
              <a:t>，其每个语义规则中</a:t>
            </a:r>
            <a:r>
              <a:rPr lang="zh-CN" altLang="en-US" sz="2200" dirty="0"/>
              <a:t>计算</a:t>
            </a:r>
            <a:r>
              <a:rPr lang="zh-CN" altLang="zh-CN" sz="2200" dirty="0"/>
              <a:t>的每个属性或者是</a:t>
            </a:r>
            <a:r>
              <a:rPr lang="en-US" altLang="zh-CN" sz="2200" dirty="0"/>
              <a:t>A</a:t>
            </a:r>
            <a:r>
              <a:rPr lang="zh-CN" altLang="en-US" sz="2200" dirty="0"/>
              <a:t>的</a:t>
            </a:r>
            <a:r>
              <a:rPr lang="zh-CN" altLang="zh-CN" sz="2200" dirty="0">
                <a:solidFill>
                  <a:srgbClr val="FF0000"/>
                </a:solidFill>
              </a:rPr>
              <a:t>综合属性</a:t>
            </a:r>
            <a:r>
              <a:rPr lang="zh-CN" altLang="zh-CN" sz="2200" dirty="0"/>
              <a:t>，或者是</a:t>
            </a:r>
            <a:r>
              <a:rPr lang="en-US" altLang="zh-CN" sz="2200" dirty="0" err="1"/>
              <a:t>X</a:t>
            </a:r>
            <a:r>
              <a:rPr lang="en-US" altLang="zh-CN" sz="2200" baseline="-25000" dirty="0" err="1"/>
              <a:t>j</a:t>
            </a:r>
            <a:r>
              <a:rPr lang="zh-CN" altLang="zh-CN" sz="2200" dirty="0"/>
              <a:t>（</a:t>
            </a:r>
            <a:r>
              <a:rPr lang="en-US" altLang="zh-CN" sz="2200" dirty="0"/>
              <a:t>1</a:t>
            </a:r>
            <a:r>
              <a:rPr lang="zh-CN" altLang="zh-CN" sz="2200" dirty="0"/>
              <a:t>≤</a:t>
            </a:r>
            <a:r>
              <a:rPr lang="en-US" altLang="zh-CN" sz="2200" dirty="0"/>
              <a:t>j</a:t>
            </a:r>
            <a:r>
              <a:rPr lang="zh-CN" altLang="zh-CN" sz="2200" dirty="0"/>
              <a:t>≤</a:t>
            </a:r>
            <a:r>
              <a:rPr lang="en-US" altLang="zh-CN" sz="2200" dirty="0"/>
              <a:t>n</a:t>
            </a:r>
            <a:r>
              <a:rPr lang="zh-CN" altLang="zh-CN" sz="2200" dirty="0"/>
              <a:t>）的一个继承属性，且这个继承属性仅仅依赖于下列两种属性。</a:t>
            </a:r>
          </a:p>
        </p:txBody>
      </p:sp>
      <p:graphicFrame>
        <p:nvGraphicFramePr>
          <p:cNvPr id="4" name="表格 3"/>
          <p:cNvGraphicFramePr>
            <a:graphicFrameLocks noGrp="1"/>
          </p:cNvGraphicFramePr>
          <p:nvPr/>
        </p:nvGraphicFramePr>
        <p:xfrm>
          <a:off x="5652120" y="2859782"/>
          <a:ext cx="3095625" cy="2121642"/>
        </p:xfrm>
        <a:graphic>
          <a:graphicData uri="http://schemas.openxmlformats.org/drawingml/2006/table">
            <a:tbl>
              <a:tblPr firstRow="1" firstCol="1" bandRow="1">
                <a:tableStyleId>{5C22544A-7EE6-4342-B048-85BDC9FD1C3A}</a:tableStyleId>
              </a:tblPr>
              <a:tblGrid>
                <a:gridCol w="1151860">
                  <a:extLst>
                    <a:ext uri="{9D8B030D-6E8A-4147-A177-3AD203B41FA5}">
                      <a16:colId xmlns:a16="http://schemas.microsoft.com/office/drawing/2014/main" val="20000"/>
                    </a:ext>
                  </a:extLst>
                </a:gridCol>
                <a:gridCol w="1943765">
                  <a:extLst>
                    <a:ext uri="{9D8B030D-6E8A-4147-A177-3AD203B41FA5}">
                      <a16:colId xmlns:a16="http://schemas.microsoft.com/office/drawing/2014/main" val="20001"/>
                    </a:ext>
                  </a:extLst>
                </a:gridCol>
              </a:tblGrid>
              <a:tr h="445242">
                <a:tc>
                  <a:txBody>
                    <a:bodyPr/>
                    <a:lstStyle/>
                    <a:p>
                      <a:pPr algn="just">
                        <a:spcAft>
                          <a:spcPts val="0"/>
                        </a:spcAft>
                      </a:pPr>
                      <a:r>
                        <a:rPr lang="zh-CN" sz="2200" kern="100" dirty="0">
                          <a:solidFill>
                            <a:schemeClr val="tx1"/>
                          </a:solidFill>
                          <a:effectLst/>
                          <a:latin typeface="宋体" panose="02010600030101010101" pitchFamily="2" charset="-122"/>
                          <a:ea typeface="宋体" panose="02010600030101010101" pitchFamily="2" charset="-122"/>
                        </a:rPr>
                        <a:t>产生式</a:t>
                      </a: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200" kern="100" dirty="0">
                          <a:solidFill>
                            <a:schemeClr val="tx1"/>
                          </a:solidFill>
                          <a:effectLst/>
                          <a:latin typeface="宋体" panose="02010600030101010101" pitchFamily="2" charset="-122"/>
                          <a:ea typeface="宋体" panose="02010600030101010101" pitchFamily="2" charset="-122"/>
                        </a:rPr>
                        <a:t>语义规则</a:t>
                      </a: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3237">
                <a:tc>
                  <a:txBody>
                    <a:bodyPr/>
                    <a:lstStyle/>
                    <a:p>
                      <a:pPr algn="just">
                        <a:spcAft>
                          <a:spcPts val="0"/>
                        </a:spcAft>
                      </a:pPr>
                      <a:r>
                        <a:rPr lang="en-US" sz="2200" kern="100" dirty="0">
                          <a:solidFill>
                            <a:schemeClr val="tx1"/>
                          </a:solidFill>
                          <a:effectLst/>
                          <a:latin typeface="宋体" panose="02010600030101010101" pitchFamily="2" charset="-122"/>
                          <a:ea typeface="宋体" panose="02010600030101010101" pitchFamily="2" charset="-122"/>
                        </a:rPr>
                        <a:t>A</a:t>
                      </a:r>
                      <a:r>
                        <a:rPr lang="zh-CN" sz="2200" kern="100" dirty="0">
                          <a:solidFill>
                            <a:schemeClr val="tx1"/>
                          </a:solidFill>
                          <a:effectLst/>
                          <a:latin typeface="宋体" panose="02010600030101010101" pitchFamily="2" charset="-122"/>
                          <a:ea typeface="宋体" panose="02010600030101010101" pitchFamily="2" charset="-122"/>
                        </a:rPr>
                        <a:t>→</a:t>
                      </a:r>
                      <a:r>
                        <a:rPr lang="en-US" sz="2200" kern="100" dirty="0">
                          <a:solidFill>
                            <a:schemeClr val="tx1"/>
                          </a:solidFill>
                          <a:effectLst/>
                          <a:latin typeface="宋体" panose="02010600030101010101" pitchFamily="2" charset="-122"/>
                          <a:ea typeface="宋体" panose="02010600030101010101" pitchFamily="2" charset="-122"/>
                        </a:rPr>
                        <a:t>LM</a:t>
                      </a:r>
                      <a:endParaRPr lang="zh-CN" sz="2200" kern="100" dirty="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2200" kern="100">
                          <a:solidFill>
                            <a:schemeClr val="tx1"/>
                          </a:solidFill>
                          <a:effectLst/>
                          <a:latin typeface="宋体" panose="02010600030101010101" pitchFamily="2" charset="-122"/>
                          <a:ea typeface="宋体" panose="02010600030101010101" pitchFamily="2" charset="-122"/>
                        </a:rPr>
                        <a:t>L.i = g(A.i)</a:t>
                      </a:r>
                      <a:endParaRPr lang="zh-CN" sz="2200" kern="10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2200" kern="100">
                          <a:solidFill>
                            <a:schemeClr val="tx1"/>
                          </a:solidFill>
                          <a:effectLst/>
                          <a:latin typeface="宋体" panose="02010600030101010101" pitchFamily="2" charset="-122"/>
                          <a:ea typeface="宋体" panose="02010600030101010101" pitchFamily="2" charset="-122"/>
                        </a:rPr>
                        <a:t>M.i = m(L.s)</a:t>
                      </a:r>
                      <a:endParaRPr lang="zh-CN" sz="2200" kern="10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54856">
                <a:tc>
                  <a:txBody>
                    <a:bodyPr/>
                    <a:lstStyle/>
                    <a:p>
                      <a:pPr algn="just">
                        <a:spcAft>
                          <a:spcPts val="0"/>
                        </a:spcAft>
                      </a:pPr>
                      <a:r>
                        <a:rPr lang="en-US" sz="2200" kern="100" dirty="0">
                          <a:solidFill>
                            <a:schemeClr val="tx1"/>
                          </a:solidFill>
                          <a:effectLst/>
                          <a:latin typeface="宋体" panose="02010600030101010101" pitchFamily="2" charset="-122"/>
                          <a:ea typeface="宋体" panose="02010600030101010101" pitchFamily="2" charset="-122"/>
                        </a:rPr>
                        <a:t>A</a:t>
                      </a:r>
                      <a:r>
                        <a:rPr lang="zh-CN" sz="2200" kern="100" dirty="0">
                          <a:solidFill>
                            <a:schemeClr val="tx1"/>
                          </a:solidFill>
                          <a:effectLst/>
                          <a:latin typeface="宋体" panose="02010600030101010101" pitchFamily="2" charset="-122"/>
                          <a:ea typeface="宋体" panose="02010600030101010101" pitchFamily="2" charset="-122"/>
                        </a:rPr>
                        <a:t>→</a:t>
                      </a:r>
                      <a:r>
                        <a:rPr lang="en-US" sz="2200" kern="100" dirty="0">
                          <a:solidFill>
                            <a:schemeClr val="tx1"/>
                          </a:solidFill>
                          <a:effectLst/>
                          <a:latin typeface="宋体" panose="02010600030101010101" pitchFamily="2" charset="-122"/>
                          <a:ea typeface="宋体" panose="02010600030101010101" pitchFamily="2" charset="-122"/>
                        </a:rPr>
                        <a:t>QR</a:t>
                      </a:r>
                      <a:endParaRPr lang="zh-CN" sz="2200" kern="100" dirty="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2200" kern="100" dirty="0" err="1">
                          <a:solidFill>
                            <a:schemeClr val="tx1"/>
                          </a:solidFill>
                          <a:effectLst/>
                          <a:latin typeface="宋体" panose="02010600030101010101" pitchFamily="2" charset="-122"/>
                          <a:ea typeface="宋体" panose="02010600030101010101" pitchFamily="2" charset="-122"/>
                        </a:rPr>
                        <a:t>R.i</a:t>
                      </a:r>
                      <a:r>
                        <a:rPr lang="en-US" sz="2200" kern="100" dirty="0">
                          <a:solidFill>
                            <a:schemeClr val="tx1"/>
                          </a:solidFill>
                          <a:effectLst/>
                          <a:latin typeface="宋体" panose="02010600030101010101" pitchFamily="2" charset="-122"/>
                          <a:ea typeface="宋体" panose="02010600030101010101" pitchFamily="2" charset="-122"/>
                        </a:rPr>
                        <a:t> = r(</a:t>
                      </a:r>
                      <a:r>
                        <a:rPr lang="en-US" sz="2200" kern="100" dirty="0" err="1">
                          <a:solidFill>
                            <a:schemeClr val="tx1"/>
                          </a:solidFill>
                          <a:effectLst/>
                          <a:latin typeface="宋体" panose="02010600030101010101" pitchFamily="2" charset="-122"/>
                          <a:ea typeface="宋体" panose="02010600030101010101" pitchFamily="2" charset="-122"/>
                        </a:rPr>
                        <a:t>A.i</a:t>
                      </a:r>
                      <a:r>
                        <a:rPr lang="en-US" sz="2200" kern="100" dirty="0">
                          <a:solidFill>
                            <a:schemeClr val="tx1"/>
                          </a:solidFill>
                          <a:effectLst/>
                          <a:latin typeface="宋体" panose="02010600030101010101" pitchFamily="2" charset="-122"/>
                          <a:ea typeface="宋体" panose="02010600030101010101" pitchFamily="2" charset="-122"/>
                        </a:rPr>
                        <a:t>)</a:t>
                      </a:r>
                      <a:endParaRPr lang="zh-CN" sz="22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2200" kern="100" dirty="0" err="1">
                          <a:solidFill>
                            <a:schemeClr val="tx1"/>
                          </a:solidFill>
                          <a:effectLst/>
                          <a:latin typeface="宋体" panose="02010600030101010101" pitchFamily="2" charset="-122"/>
                          <a:ea typeface="宋体" panose="02010600030101010101" pitchFamily="2" charset="-122"/>
                        </a:rPr>
                        <a:t>Q.i</a:t>
                      </a:r>
                      <a:r>
                        <a:rPr lang="en-US" sz="2200" kern="100" dirty="0">
                          <a:solidFill>
                            <a:schemeClr val="tx1"/>
                          </a:solidFill>
                          <a:effectLst/>
                          <a:latin typeface="宋体" panose="02010600030101010101" pitchFamily="2" charset="-122"/>
                          <a:ea typeface="宋体" panose="02010600030101010101" pitchFamily="2" charset="-122"/>
                        </a:rPr>
                        <a:t> = q(R.s)</a:t>
                      </a:r>
                      <a:endParaRPr lang="zh-CN" sz="22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2200" kern="100" dirty="0">
                          <a:solidFill>
                            <a:schemeClr val="tx1"/>
                          </a:solidFill>
                          <a:effectLst/>
                          <a:latin typeface="宋体" panose="02010600030101010101" pitchFamily="2" charset="-122"/>
                          <a:ea typeface="宋体" panose="02010600030101010101" pitchFamily="2" charset="-122"/>
                        </a:rPr>
                        <a:t>A.s = f(Q.s)</a:t>
                      </a:r>
                      <a:endParaRPr lang="zh-CN" sz="2200" kern="100" dirty="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矩形 4"/>
          <p:cNvSpPr/>
          <p:nvPr/>
        </p:nvSpPr>
        <p:spPr>
          <a:xfrm>
            <a:off x="251520" y="3840018"/>
            <a:ext cx="5040560" cy="110799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eaLnBrk="1" hangingPunct="1">
              <a:lnSpc>
                <a:spcPct val="100000"/>
              </a:lnSpc>
              <a:spcBef>
                <a:spcPct val="0"/>
              </a:spcBef>
              <a:buFontTx/>
              <a:buNone/>
              <a:defRPr/>
            </a:pPr>
            <a:r>
              <a:rPr lang="zh-CN" altLang="zh-CN" sz="2200" kern="100" dirty="0">
                <a:latin typeface="Times New Roman" panose="02020603050405020304" pitchFamily="18" charset="0"/>
                <a:cs typeface="Times New Roman" panose="02020603050405020304" pitchFamily="18" charset="0"/>
              </a:rPr>
              <a:t>在</a:t>
            </a:r>
            <a:r>
              <a:rPr lang="en-US" altLang="zh-CN" sz="2200" kern="100" dirty="0" err="1">
                <a:solidFill>
                  <a:srgbClr val="FF0000"/>
                </a:solidFill>
                <a:latin typeface="Times New Roman" panose="02020603050405020304" pitchFamily="18" charset="0"/>
              </a:rPr>
              <a:t>Q.i</a:t>
            </a:r>
            <a:r>
              <a:rPr lang="en-US" altLang="zh-CN" sz="2200" kern="100" dirty="0">
                <a:solidFill>
                  <a:srgbClr val="FF0000"/>
                </a:solidFill>
                <a:latin typeface="Times New Roman" panose="02020603050405020304" pitchFamily="18" charset="0"/>
              </a:rPr>
              <a:t> = q(R.s)</a:t>
            </a:r>
            <a:r>
              <a:rPr lang="zh-CN" altLang="zh-CN" sz="2200" kern="100" dirty="0">
                <a:latin typeface="Times New Roman" panose="02020603050405020304" pitchFamily="18" charset="0"/>
                <a:cs typeface="Times New Roman" panose="02020603050405020304" pitchFamily="18" charset="0"/>
              </a:rPr>
              <a:t>这条规则中，</a:t>
            </a:r>
            <a:r>
              <a:rPr lang="en-US" altLang="zh-CN" sz="2200" kern="100" dirty="0" err="1">
                <a:latin typeface="Times New Roman" panose="02020603050405020304" pitchFamily="18" charset="0"/>
              </a:rPr>
              <a:t>Q.i</a:t>
            </a:r>
            <a:r>
              <a:rPr lang="zh-CN" altLang="zh-CN" sz="2200" kern="100" dirty="0">
                <a:latin typeface="Times New Roman" panose="02020603050405020304" pitchFamily="18" charset="0"/>
                <a:cs typeface="Times New Roman" panose="02020603050405020304" pitchFamily="18" charset="0"/>
              </a:rPr>
              <a:t>是</a:t>
            </a:r>
            <a:r>
              <a:rPr lang="en-US" altLang="zh-CN" sz="2200" kern="100" dirty="0">
                <a:latin typeface="Times New Roman" panose="02020603050405020304" pitchFamily="18" charset="0"/>
              </a:rPr>
              <a:t>Q</a:t>
            </a:r>
            <a:r>
              <a:rPr lang="zh-CN" altLang="zh-CN" sz="2200" kern="100" dirty="0">
                <a:latin typeface="Times New Roman" panose="02020603050405020304" pitchFamily="18" charset="0"/>
                <a:cs typeface="Times New Roman" panose="02020603050405020304" pitchFamily="18" charset="0"/>
              </a:rPr>
              <a:t>的继承属性，它依赖于</a:t>
            </a:r>
            <a:r>
              <a:rPr lang="en-US" altLang="zh-CN" sz="2200" kern="100" dirty="0">
                <a:latin typeface="Times New Roman" panose="02020603050405020304" pitchFamily="18" charset="0"/>
              </a:rPr>
              <a:t>R</a:t>
            </a:r>
            <a:r>
              <a:rPr lang="zh-CN" altLang="zh-CN" sz="2200" kern="100" dirty="0">
                <a:latin typeface="Times New Roman" panose="02020603050405020304" pitchFamily="18" charset="0"/>
                <a:cs typeface="Times New Roman" panose="02020603050405020304" pitchFamily="18" charset="0"/>
              </a:rPr>
              <a:t>的属性，因此不满足</a:t>
            </a:r>
            <a:r>
              <a:rPr lang="en-US" altLang="zh-CN" sz="2200" kern="100" dirty="0">
                <a:latin typeface="Times New Roman" panose="02020603050405020304" pitchFamily="18" charset="0"/>
              </a:rPr>
              <a:t>L-</a:t>
            </a:r>
            <a:r>
              <a:rPr lang="zh-CN" altLang="zh-CN" sz="2200" kern="100" dirty="0">
                <a:latin typeface="Times New Roman" panose="02020603050405020304" pitchFamily="18" charset="0"/>
                <a:cs typeface="Times New Roman" panose="02020603050405020304" pitchFamily="18" charset="0"/>
              </a:rPr>
              <a:t>属性文法的条件。</a:t>
            </a:r>
            <a:endParaRPr lang="zh-CN" altLang="en-US" sz="2200" dirty="0">
              <a:latin typeface="Arial" pitchFamily="34" charset="0"/>
            </a:endParaRPr>
          </a:p>
        </p:txBody>
      </p:sp>
      <p:sp>
        <p:nvSpPr>
          <p:cNvPr id="37908" name="Rectangle 21"/>
          <p:cNvSpPr>
            <a:spLocks noChangeArrowheads="1"/>
          </p:cNvSpPr>
          <p:nvPr/>
        </p:nvSpPr>
        <p:spPr bwMode="auto">
          <a:xfrm>
            <a:off x="251520" y="2903914"/>
            <a:ext cx="4464049" cy="8316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en-US" sz="2400" dirty="0"/>
              <a:t>例</a:t>
            </a:r>
            <a:r>
              <a:rPr lang="en-US" altLang="zh-CN" sz="2400" dirty="0"/>
              <a:t>5.9 </a:t>
            </a:r>
            <a:r>
              <a:rPr lang="zh-CN" altLang="en-US" sz="2400" dirty="0"/>
              <a:t>判断是否是</a:t>
            </a:r>
            <a:r>
              <a:rPr lang="en-US" altLang="zh-CN" sz="2400" dirty="0"/>
              <a:t>L-</a:t>
            </a:r>
            <a:r>
              <a:rPr lang="zh-CN" altLang="en-US" sz="2400" dirty="0"/>
              <a:t>属性文法？（</a:t>
            </a:r>
            <a:r>
              <a:rPr lang="en-US" altLang="zh-CN" sz="2400" dirty="0"/>
              <a:t>s</a:t>
            </a:r>
            <a:r>
              <a:rPr lang="zh-CN" altLang="en-US" sz="2400" dirty="0"/>
              <a:t>是综合属性，</a:t>
            </a:r>
            <a:r>
              <a:rPr lang="en-US" altLang="zh-CN" sz="2400" dirty="0" err="1"/>
              <a:t>i</a:t>
            </a:r>
            <a:r>
              <a:rPr lang="zh-CN" altLang="en-US" sz="2400" dirty="0"/>
              <a:t>是继承属性） </a:t>
            </a:r>
          </a:p>
        </p:txBody>
      </p:sp>
      <p:sp>
        <p:nvSpPr>
          <p:cNvPr id="8" name="内容占位符 2"/>
          <p:cNvSpPr txBox="1">
            <a:spLocks/>
          </p:cNvSpPr>
          <p:nvPr/>
        </p:nvSpPr>
        <p:spPr>
          <a:xfrm>
            <a:off x="287784" y="1887674"/>
            <a:ext cx="8856216" cy="9001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120000"/>
              </a:lnSpc>
              <a:spcBef>
                <a:spcPts val="0"/>
              </a:spcBef>
            </a:pPr>
            <a:r>
              <a:rPr lang="zh-CN" altLang="zh-CN" sz="2200" dirty="0">
                <a:solidFill>
                  <a:srgbClr val="0000FF"/>
                </a:solidFill>
              </a:rPr>
              <a:t>（</a:t>
            </a:r>
            <a:r>
              <a:rPr lang="en-US" altLang="zh-CN" sz="2200" dirty="0">
                <a:solidFill>
                  <a:srgbClr val="0000FF"/>
                </a:solidFill>
              </a:rPr>
              <a:t>1</a:t>
            </a:r>
            <a:r>
              <a:rPr lang="zh-CN" altLang="zh-CN" sz="2200" dirty="0">
                <a:solidFill>
                  <a:srgbClr val="0000FF"/>
                </a:solidFill>
              </a:rPr>
              <a:t>）产生式中</a:t>
            </a:r>
            <a:r>
              <a:rPr lang="en-US" altLang="zh-CN" sz="2200" dirty="0" err="1">
                <a:solidFill>
                  <a:srgbClr val="0000FF"/>
                </a:solidFill>
              </a:rPr>
              <a:t>X</a:t>
            </a:r>
            <a:r>
              <a:rPr lang="en-US" altLang="zh-CN" sz="2200" baseline="-25000" dirty="0" err="1">
                <a:solidFill>
                  <a:srgbClr val="0000FF"/>
                </a:solidFill>
              </a:rPr>
              <a:t>j</a:t>
            </a:r>
            <a:r>
              <a:rPr lang="zh-CN" altLang="zh-CN" sz="2200" dirty="0">
                <a:solidFill>
                  <a:srgbClr val="0000FF"/>
                </a:solidFill>
              </a:rPr>
              <a:t>左边的文法符号</a:t>
            </a:r>
            <a:r>
              <a:rPr lang="en-US" altLang="zh-CN" sz="2200" dirty="0">
                <a:solidFill>
                  <a:srgbClr val="0000FF"/>
                </a:solidFill>
              </a:rPr>
              <a:t>X</a:t>
            </a:r>
            <a:r>
              <a:rPr lang="en-US" altLang="zh-CN" sz="2200" baseline="-25000" dirty="0">
                <a:solidFill>
                  <a:srgbClr val="0000FF"/>
                </a:solidFill>
              </a:rPr>
              <a:t>1</a:t>
            </a:r>
            <a:r>
              <a:rPr lang="en-US" altLang="zh-CN" sz="2200" dirty="0">
                <a:solidFill>
                  <a:srgbClr val="0000FF"/>
                </a:solidFill>
              </a:rPr>
              <a:t>X</a:t>
            </a:r>
            <a:r>
              <a:rPr lang="en-US" altLang="zh-CN" sz="2200" baseline="-25000" dirty="0">
                <a:solidFill>
                  <a:srgbClr val="0000FF"/>
                </a:solidFill>
              </a:rPr>
              <a:t>2</a:t>
            </a:r>
            <a:r>
              <a:rPr lang="en-US" altLang="zh-CN" sz="2200" dirty="0">
                <a:solidFill>
                  <a:srgbClr val="0000FF"/>
                </a:solidFill>
              </a:rPr>
              <a:t>......X</a:t>
            </a:r>
            <a:r>
              <a:rPr lang="en-US" altLang="zh-CN" sz="2200" baseline="-25000" dirty="0">
                <a:solidFill>
                  <a:srgbClr val="0000FF"/>
                </a:solidFill>
              </a:rPr>
              <a:t>j-1</a:t>
            </a:r>
            <a:r>
              <a:rPr lang="zh-CN" altLang="zh-CN" sz="2200" dirty="0">
                <a:solidFill>
                  <a:srgbClr val="0000FF"/>
                </a:solidFill>
              </a:rPr>
              <a:t>的属性。</a:t>
            </a:r>
          </a:p>
          <a:p>
            <a:pPr>
              <a:lnSpc>
                <a:spcPct val="120000"/>
              </a:lnSpc>
              <a:spcBef>
                <a:spcPts val="0"/>
              </a:spcBef>
            </a:pPr>
            <a:r>
              <a:rPr lang="zh-CN" altLang="zh-CN" sz="2200" dirty="0">
                <a:solidFill>
                  <a:srgbClr val="0000FF"/>
                </a:solidFill>
              </a:rPr>
              <a:t>（</a:t>
            </a:r>
            <a:r>
              <a:rPr lang="en-US" altLang="zh-CN" sz="2200" dirty="0">
                <a:solidFill>
                  <a:srgbClr val="0000FF"/>
                </a:solidFill>
              </a:rPr>
              <a:t>2</a:t>
            </a:r>
            <a:r>
              <a:rPr lang="zh-CN" altLang="zh-CN" sz="2200" dirty="0">
                <a:solidFill>
                  <a:srgbClr val="0000FF"/>
                </a:solidFill>
              </a:rPr>
              <a:t>）</a:t>
            </a:r>
            <a:r>
              <a:rPr lang="en-US" altLang="zh-CN" sz="2200" dirty="0">
                <a:solidFill>
                  <a:srgbClr val="0000FF"/>
                </a:solidFill>
              </a:rPr>
              <a:t>A</a:t>
            </a:r>
            <a:r>
              <a:rPr lang="zh-CN" altLang="zh-CN" sz="2200" dirty="0">
                <a:solidFill>
                  <a:srgbClr val="0000FF"/>
                </a:solidFill>
              </a:rPr>
              <a:t>的继承属性。</a:t>
            </a:r>
            <a:endParaRPr lang="zh-CN" altLang="en-US" sz="2200" dirty="0">
              <a:solidFill>
                <a:srgbClr val="0000FF"/>
              </a:solidFill>
            </a:endParaRPr>
          </a:p>
        </p:txBody>
      </p:sp>
    </p:spTree>
    <p:extLst>
      <p:ext uri="{BB962C8B-B14F-4D97-AF65-F5344CB8AC3E}">
        <p14:creationId xmlns:p14="http://schemas.microsoft.com/office/powerpoint/2010/main" val="174024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9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7908"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1124" y="0"/>
            <a:ext cx="3336740" cy="529828"/>
          </a:xfrm>
        </p:spPr>
        <p:txBody>
          <a:bodyPr>
            <a:noAutofit/>
          </a:bodyPr>
          <a:lstStyle/>
          <a:p>
            <a:r>
              <a:rPr lang="en-US" altLang="zh-CN" dirty="0">
                <a:solidFill>
                  <a:schemeClr val="tx1"/>
                </a:solidFill>
              </a:rPr>
              <a:t>L-</a:t>
            </a:r>
            <a:r>
              <a:rPr lang="zh-CN" altLang="zh-CN" dirty="0">
                <a:solidFill>
                  <a:schemeClr val="tx1"/>
                </a:solidFill>
              </a:rPr>
              <a:t>属性文法</a:t>
            </a:r>
            <a:endParaRPr lang="zh-CN" altLang="en-US" dirty="0">
              <a:solidFill>
                <a:schemeClr val="tx1"/>
              </a:solidFill>
            </a:endParaRPr>
          </a:p>
        </p:txBody>
      </p:sp>
      <p:sp>
        <p:nvSpPr>
          <p:cNvPr id="39939" name="内容占位符 2"/>
          <p:cNvSpPr>
            <a:spLocks noGrp="1"/>
          </p:cNvSpPr>
          <p:nvPr>
            <p:ph idx="1"/>
          </p:nvPr>
        </p:nvSpPr>
        <p:spPr>
          <a:xfrm>
            <a:off x="323529" y="627534"/>
            <a:ext cx="8352928" cy="2088232"/>
          </a:xfrm>
        </p:spPr>
        <p:txBody>
          <a:bodyPr>
            <a:noAutofit/>
          </a:bodyPr>
          <a:lstStyle/>
          <a:p>
            <a:pPr>
              <a:lnSpc>
                <a:spcPct val="120000"/>
              </a:lnSpc>
              <a:spcBef>
                <a:spcPts val="0"/>
              </a:spcBef>
            </a:pPr>
            <a:r>
              <a:rPr lang="zh-CN" altLang="zh-CN" sz="2200" dirty="0"/>
              <a:t>如果对于文法中的每个产生式</a:t>
            </a:r>
            <a:r>
              <a:rPr lang="en-US" altLang="zh-CN" sz="2200" dirty="0"/>
              <a:t>A</a:t>
            </a:r>
            <a:r>
              <a:rPr lang="zh-CN" altLang="zh-CN" sz="2200" dirty="0"/>
              <a:t>→</a:t>
            </a:r>
            <a:r>
              <a:rPr lang="en-US" altLang="zh-CN" sz="2200" dirty="0"/>
              <a:t>X</a:t>
            </a:r>
            <a:r>
              <a:rPr lang="en-US" altLang="zh-CN" sz="2200" baseline="-25000" dirty="0"/>
              <a:t>1</a:t>
            </a:r>
            <a:r>
              <a:rPr lang="en-US" altLang="zh-CN" sz="2200" dirty="0"/>
              <a:t>X</a:t>
            </a:r>
            <a:r>
              <a:rPr lang="en-US" altLang="zh-CN" sz="2200" baseline="-25000" dirty="0"/>
              <a:t>2</a:t>
            </a:r>
            <a:r>
              <a:rPr lang="en-US" altLang="zh-CN" sz="2200" dirty="0"/>
              <a:t>……</a:t>
            </a:r>
            <a:r>
              <a:rPr lang="en-US" altLang="zh-CN" sz="2200" dirty="0" err="1"/>
              <a:t>X</a:t>
            </a:r>
            <a:r>
              <a:rPr lang="en-US" altLang="zh-CN" sz="2200" baseline="-25000" dirty="0" err="1"/>
              <a:t>n</a:t>
            </a:r>
            <a:r>
              <a:rPr lang="zh-CN" altLang="zh-CN" sz="2200" dirty="0"/>
              <a:t>，其每个语义规则中</a:t>
            </a:r>
            <a:r>
              <a:rPr lang="zh-CN" altLang="en-US" sz="2200" dirty="0"/>
              <a:t>计算</a:t>
            </a:r>
            <a:r>
              <a:rPr lang="zh-CN" altLang="zh-CN" sz="2200" dirty="0"/>
              <a:t>的每个属性或者是</a:t>
            </a:r>
            <a:r>
              <a:rPr lang="en-US" altLang="zh-CN" sz="2200" dirty="0"/>
              <a:t>A</a:t>
            </a:r>
            <a:r>
              <a:rPr lang="zh-CN" altLang="en-US" sz="2200" dirty="0"/>
              <a:t>的</a:t>
            </a:r>
            <a:r>
              <a:rPr lang="zh-CN" altLang="zh-CN" sz="2200" dirty="0">
                <a:solidFill>
                  <a:srgbClr val="FF0000"/>
                </a:solidFill>
              </a:rPr>
              <a:t>综合属性</a:t>
            </a:r>
            <a:r>
              <a:rPr lang="zh-CN" altLang="zh-CN" sz="2200" dirty="0"/>
              <a:t>，或者是</a:t>
            </a:r>
            <a:r>
              <a:rPr lang="en-US" altLang="zh-CN" sz="2200" dirty="0" err="1"/>
              <a:t>X</a:t>
            </a:r>
            <a:r>
              <a:rPr lang="en-US" altLang="zh-CN" sz="2200" baseline="-25000" dirty="0" err="1"/>
              <a:t>j</a:t>
            </a:r>
            <a:r>
              <a:rPr lang="zh-CN" altLang="zh-CN" sz="2200" dirty="0"/>
              <a:t>（</a:t>
            </a:r>
            <a:r>
              <a:rPr lang="en-US" altLang="zh-CN" sz="2200" dirty="0"/>
              <a:t>1</a:t>
            </a:r>
            <a:r>
              <a:rPr lang="zh-CN" altLang="zh-CN" sz="2200" dirty="0"/>
              <a:t>≤</a:t>
            </a:r>
            <a:r>
              <a:rPr lang="en-US" altLang="zh-CN" sz="2200" dirty="0"/>
              <a:t>j</a:t>
            </a:r>
            <a:r>
              <a:rPr lang="zh-CN" altLang="zh-CN" sz="2200" dirty="0"/>
              <a:t>≤</a:t>
            </a:r>
            <a:r>
              <a:rPr lang="en-US" altLang="zh-CN" sz="2200" dirty="0"/>
              <a:t>n</a:t>
            </a:r>
            <a:r>
              <a:rPr lang="zh-CN" altLang="zh-CN" sz="2200" dirty="0"/>
              <a:t>）的一个继承属性，且这个继承属性仅仅依赖于下列两种属性。</a:t>
            </a:r>
          </a:p>
          <a:p>
            <a:pPr>
              <a:lnSpc>
                <a:spcPct val="120000"/>
              </a:lnSpc>
              <a:spcBef>
                <a:spcPts val="0"/>
              </a:spcBef>
            </a:pPr>
            <a:r>
              <a:rPr lang="zh-CN" altLang="zh-CN" sz="2200" dirty="0"/>
              <a:t>（</a:t>
            </a:r>
            <a:r>
              <a:rPr lang="en-US" altLang="zh-CN" sz="2200" dirty="0"/>
              <a:t>1</a:t>
            </a:r>
            <a:r>
              <a:rPr lang="zh-CN" altLang="zh-CN" sz="2200" dirty="0"/>
              <a:t>）产生式中</a:t>
            </a:r>
            <a:r>
              <a:rPr lang="en-US" altLang="zh-CN" sz="2200" dirty="0" err="1"/>
              <a:t>X</a:t>
            </a:r>
            <a:r>
              <a:rPr lang="en-US" altLang="zh-CN" sz="2200" baseline="-25000" dirty="0" err="1"/>
              <a:t>j</a:t>
            </a:r>
            <a:r>
              <a:rPr lang="zh-CN" altLang="zh-CN" sz="2200" dirty="0"/>
              <a:t>左边的文法符号</a:t>
            </a:r>
            <a:r>
              <a:rPr lang="en-US" altLang="zh-CN" sz="2200" dirty="0"/>
              <a:t>X</a:t>
            </a:r>
            <a:r>
              <a:rPr lang="en-US" altLang="zh-CN" sz="2200" baseline="-25000" dirty="0"/>
              <a:t>1</a:t>
            </a:r>
            <a:r>
              <a:rPr lang="en-US" altLang="zh-CN" sz="2200" dirty="0"/>
              <a:t>X</a:t>
            </a:r>
            <a:r>
              <a:rPr lang="en-US" altLang="zh-CN" sz="2200" baseline="-25000" dirty="0"/>
              <a:t>2</a:t>
            </a:r>
            <a:r>
              <a:rPr lang="en-US" altLang="zh-CN" sz="2200" dirty="0"/>
              <a:t>......X</a:t>
            </a:r>
            <a:r>
              <a:rPr lang="en-US" altLang="zh-CN" sz="2200" baseline="-25000" dirty="0"/>
              <a:t>j-1</a:t>
            </a:r>
            <a:r>
              <a:rPr lang="zh-CN" altLang="zh-CN" sz="2200" dirty="0"/>
              <a:t>的属性。</a:t>
            </a:r>
          </a:p>
          <a:p>
            <a:pPr>
              <a:lnSpc>
                <a:spcPct val="120000"/>
              </a:lnSpc>
              <a:spcBef>
                <a:spcPts val="0"/>
              </a:spcBef>
            </a:pPr>
            <a:r>
              <a:rPr lang="zh-CN" altLang="zh-CN" sz="2200" dirty="0"/>
              <a:t>（</a:t>
            </a:r>
            <a:r>
              <a:rPr lang="en-US" altLang="zh-CN" sz="2200" dirty="0"/>
              <a:t>2</a:t>
            </a:r>
            <a:r>
              <a:rPr lang="zh-CN" altLang="zh-CN" sz="2200" dirty="0"/>
              <a:t>）</a:t>
            </a:r>
            <a:r>
              <a:rPr lang="en-US" altLang="zh-CN" sz="2200" dirty="0"/>
              <a:t>A</a:t>
            </a:r>
            <a:r>
              <a:rPr lang="zh-CN" altLang="zh-CN" sz="2200" dirty="0"/>
              <a:t>的继承属性。</a:t>
            </a:r>
            <a:endParaRPr lang="zh-CN" altLang="en-US" sz="2200" dirty="0"/>
          </a:p>
        </p:txBody>
      </p:sp>
      <p:sp>
        <p:nvSpPr>
          <p:cNvPr id="6" name="矩形 5"/>
          <p:cNvSpPr/>
          <p:nvPr/>
        </p:nvSpPr>
        <p:spPr>
          <a:xfrm>
            <a:off x="323528" y="2997408"/>
            <a:ext cx="8424936" cy="178510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eaLnBrk="1" hangingPunct="1">
              <a:lnSpc>
                <a:spcPct val="100000"/>
              </a:lnSpc>
              <a:spcBef>
                <a:spcPct val="0"/>
              </a:spcBef>
              <a:buFont typeface="Arial" panose="020B0604020202020204" pitchFamily="34" charset="0"/>
              <a:buChar char="•"/>
              <a:defRPr/>
            </a:pPr>
            <a:r>
              <a:rPr lang="en-US" altLang="zh-CN" sz="2200" dirty="0">
                <a:latin typeface="宋体" panose="02010600030101010101" pitchFamily="2" charset="-122"/>
                <a:ea typeface="宋体" panose="02010600030101010101" pitchFamily="2" charset="-122"/>
              </a:rPr>
              <a:t>S-</a:t>
            </a:r>
            <a:r>
              <a:rPr lang="zh-CN" altLang="zh-CN" sz="2200" dirty="0">
                <a:latin typeface="宋体" panose="02010600030101010101" pitchFamily="2" charset="-122"/>
                <a:ea typeface="宋体" panose="02010600030101010101" pitchFamily="2" charset="-122"/>
              </a:rPr>
              <a:t>属性文法只含有综合属性，由</a:t>
            </a:r>
            <a:r>
              <a:rPr lang="en-US" altLang="zh-CN" sz="2200" dirty="0">
                <a:latin typeface="宋体" panose="02010600030101010101" pitchFamily="2" charset="-122"/>
                <a:ea typeface="宋体" panose="02010600030101010101" pitchFamily="2" charset="-122"/>
              </a:rPr>
              <a:t>L-</a:t>
            </a:r>
            <a:r>
              <a:rPr lang="zh-CN" altLang="zh-CN" sz="2200" dirty="0">
                <a:latin typeface="宋体" panose="02010600030101010101" pitchFamily="2" charset="-122"/>
                <a:ea typeface="宋体" panose="02010600030101010101" pitchFamily="2" charset="-122"/>
              </a:rPr>
              <a:t>属性文法的定义可见，</a:t>
            </a:r>
            <a:r>
              <a:rPr lang="en-US" altLang="zh-CN" sz="2200" b="1" dirty="0">
                <a:solidFill>
                  <a:srgbClr val="FF0000"/>
                </a:solidFill>
                <a:latin typeface="宋体" panose="02010600030101010101" pitchFamily="2" charset="-122"/>
                <a:ea typeface="宋体" panose="02010600030101010101" pitchFamily="2" charset="-122"/>
              </a:rPr>
              <a:t>S-</a:t>
            </a:r>
            <a:r>
              <a:rPr lang="zh-CN" altLang="zh-CN" sz="2200" b="1" dirty="0">
                <a:solidFill>
                  <a:srgbClr val="FF0000"/>
                </a:solidFill>
                <a:latin typeface="宋体" panose="02010600030101010101" pitchFamily="2" charset="-122"/>
                <a:ea typeface="宋体" panose="02010600030101010101" pitchFamily="2" charset="-122"/>
              </a:rPr>
              <a:t>属性文法一定是</a:t>
            </a:r>
            <a:r>
              <a:rPr lang="en-US" altLang="zh-CN" sz="2200" b="1" dirty="0">
                <a:solidFill>
                  <a:srgbClr val="FF0000"/>
                </a:solidFill>
                <a:latin typeface="宋体" panose="02010600030101010101" pitchFamily="2" charset="-122"/>
                <a:ea typeface="宋体" panose="02010600030101010101" pitchFamily="2" charset="-122"/>
              </a:rPr>
              <a:t>L-</a:t>
            </a:r>
            <a:r>
              <a:rPr lang="zh-CN" altLang="zh-CN" sz="2200" b="1" dirty="0">
                <a:solidFill>
                  <a:srgbClr val="FF0000"/>
                </a:solidFill>
                <a:latin typeface="宋体" panose="02010600030101010101" pitchFamily="2" charset="-122"/>
                <a:ea typeface="宋体" panose="02010600030101010101" pitchFamily="2" charset="-122"/>
              </a:rPr>
              <a:t>属性文法</a:t>
            </a:r>
            <a:endParaRPr lang="en-US" altLang="zh-CN" sz="2200" dirty="0">
              <a:latin typeface="宋体" panose="02010600030101010101" pitchFamily="2" charset="-122"/>
              <a:ea typeface="宋体" panose="02010600030101010101" pitchFamily="2" charset="-122"/>
            </a:endParaRPr>
          </a:p>
          <a:p>
            <a:pPr marL="342900" indent="-342900" eaLnBrk="1" hangingPunct="1">
              <a:lnSpc>
                <a:spcPct val="100000"/>
              </a:lnSpc>
              <a:spcBef>
                <a:spcPct val="0"/>
              </a:spcBef>
              <a:buFont typeface="Arial" panose="020B0604020202020204" pitchFamily="34" charset="0"/>
              <a:buChar char="•"/>
              <a:defRPr/>
            </a:pPr>
            <a:r>
              <a:rPr lang="en-US" altLang="zh-CN" sz="2200" dirty="0">
                <a:latin typeface="宋体" panose="02010600030101010101" pitchFamily="2" charset="-122"/>
                <a:ea typeface="宋体" panose="02010600030101010101" pitchFamily="2" charset="-122"/>
              </a:rPr>
              <a:t>S-</a:t>
            </a:r>
            <a:r>
              <a:rPr lang="zh-CN" altLang="zh-CN" sz="2200" dirty="0">
                <a:latin typeface="宋体" panose="02010600030101010101" pitchFamily="2" charset="-122"/>
                <a:ea typeface="宋体" panose="02010600030101010101" pitchFamily="2" charset="-122"/>
              </a:rPr>
              <a:t>属性文法能够用于自下而上语法分析的同时进行语义计算</a:t>
            </a:r>
            <a:endParaRPr lang="en-US" altLang="zh-CN" sz="2200" dirty="0">
              <a:latin typeface="宋体" panose="02010600030101010101" pitchFamily="2" charset="-122"/>
              <a:ea typeface="宋体" panose="02010600030101010101" pitchFamily="2" charset="-122"/>
            </a:endParaRPr>
          </a:p>
          <a:p>
            <a:pPr marL="342900" indent="-342900" eaLnBrk="1" hangingPunct="1">
              <a:lnSpc>
                <a:spcPct val="100000"/>
              </a:lnSpc>
              <a:spcBef>
                <a:spcPct val="0"/>
              </a:spcBef>
              <a:buFont typeface="Arial" panose="020B0604020202020204" pitchFamily="34" charset="0"/>
              <a:buChar char="•"/>
              <a:defRPr/>
            </a:pPr>
            <a:r>
              <a:rPr lang="zh-CN" altLang="zh-CN" sz="2200" dirty="0">
                <a:latin typeface="宋体" panose="02010600030101010101" pitchFamily="2" charset="-122"/>
                <a:ea typeface="宋体" panose="02010600030101010101" pitchFamily="2" charset="-122"/>
              </a:rPr>
              <a:t>其他</a:t>
            </a:r>
            <a:r>
              <a:rPr lang="zh-CN" altLang="zh-CN" sz="2200" dirty="0">
                <a:solidFill>
                  <a:srgbClr val="0000FF"/>
                </a:solidFill>
                <a:latin typeface="宋体" panose="02010600030101010101" pitchFamily="2" charset="-122"/>
                <a:ea typeface="宋体" panose="02010600030101010101" pitchFamily="2" charset="-122"/>
              </a:rPr>
              <a:t>含有继承属性的</a:t>
            </a:r>
            <a:r>
              <a:rPr lang="en-US" altLang="zh-CN" sz="2200" dirty="0">
                <a:solidFill>
                  <a:srgbClr val="0000FF"/>
                </a:solidFill>
                <a:latin typeface="宋体" panose="02010600030101010101" pitchFamily="2" charset="-122"/>
                <a:ea typeface="宋体" panose="02010600030101010101" pitchFamily="2" charset="-122"/>
              </a:rPr>
              <a:t>L-</a:t>
            </a:r>
            <a:r>
              <a:rPr lang="zh-CN" altLang="zh-CN" sz="2200" dirty="0">
                <a:solidFill>
                  <a:srgbClr val="0000FF"/>
                </a:solidFill>
                <a:latin typeface="宋体" panose="02010600030101010101" pitchFamily="2" charset="-122"/>
                <a:ea typeface="宋体" panose="02010600030101010101" pitchFamily="2" charset="-122"/>
              </a:rPr>
              <a:t>属性文法</a:t>
            </a:r>
            <a:r>
              <a:rPr lang="zh-CN" altLang="zh-CN" sz="2200" dirty="0">
                <a:latin typeface="宋体" panose="02010600030101010101" pitchFamily="2" charset="-122"/>
                <a:ea typeface="宋体" panose="02010600030101010101" pitchFamily="2" charset="-122"/>
              </a:rPr>
              <a:t>，适合于在自上而下的语法分析的同时进行语义的计算</a:t>
            </a:r>
            <a:endParaRPr lang="zh-CN" altLang="en-US"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86368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23096915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6200736" cy="1323439"/>
          </a:xfrm>
          <a:prstGeom prst="rect">
            <a:avLst/>
          </a:prstGeom>
        </p:spPr>
        <p:txBody>
          <a:bodyPr wrap="non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、语法制导的语义处理</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en-US" altLang="zh-CN" sz="3200" b="1" dirty="0">
                <a:solidFill>
                  <a:srgbClr val="CC0099"/>
                </a:solidFill>
                <a:ea typeface="隶书" pitchFamily="49" charset="-122"/>
              </a:rPr>
              <a:t>——</a:t>
            </a:r>
            <a:r>
              <a:rPr lang="zh-CN" altLang="en-US" sz="3200" b="1" dirty="0">
                <a:solidFill>
                  <a:srgbClr val="CC0099"/>
                </a:solidFill>
                <a:ea typeface="隶书" pitchFamily="49" charset="-122"/>
              </a:rPr>
              <a:t>翻译模式</a:t>
            </a:r>
            <a:endParaRPr lang="zh-CN" altLang="en-US" sz="3200" dirty="0"/>
          </a:p>
        </p:txBody>
      </p:sp>
    </p:spTree>
    <p:extLst>
      <p:ext uri="{BB962C8B-B14F-4D97-AF65-F5344CB8AC3E}">
        <p14:creationId xmlns:p14="http://schemas.microsoft.com/office/powerpoint/2010/main" val="2443323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normAutofit fontScale="90000"/>
          </a:bodyPr>
          <a:lstStyle/>
          <a:p>
            <a:r>
              <a:rPr lang="en-US" altLang="zh-CN" dirty="0"/>
              <a:t>4.6 </a:t>
            </a:r>
            <a:r>
              <a:rPr lang="zh-CN" altLang="zh-CN" dirty="0"/>
              <a:t>语法制导</a:t>
            </a:r>
            <a:r>
              <a:rPr lang="zh-CN" altLang="en-US" dirty="0"/>
              <a:t>语义处理</a:t>
            </a:r>
            <a:r>
              <a:rPr lang="zh-CN" altLang="zh-CN" dirty="0"/>
              <a:t>的实现方法</a:t>
            </a:r>
            <a:endParaRPr lang="zh-CN" altLang="en-US" dirty="0"/>
          </a:p>
        </p:txBody>
      </p:sp>
      <p:sp>
        <p:nvSpPr>
          <p:cNvPr id="40963" name="内容占位符 2"/>
          <p:cNvSpPr>
            <a:spLocks noGrp="1"/>
          </p:cNvSpPr>
          <p:nvPr>
            <p:ph idx="1"/>
          </p:nvPr>
        </p:nvSpPr>
        <p:spPr>
          <a:xfrm>
            <a:off x="395536" y="771550"/>
            <a:ext cx="8229600" cy="4104456"/>
          </a:xfrm>
          <a:solidFill>
            <a:schemeClr val="bg1"/>
          </a:solidFill>
        </p:spPr>
        <p:txBody>
          <a:bodyPr>
            <a:noAutofit/>
          </a:bodyPr>
          <a:lstStyle/>
          <a:p>
            <a:pPr>
              <a:lnSpc>
                <a:spcPct val="110000"/>
              </a:lnSpc>
              <a:spcBef>
                <a:spcPts val="0"/>
              </a:spcBef>
            </a:pPr>
            <a:r>
              <a:rPr lang="zh-CN" altLang="zh-CN" sz="2000" b="1" dirty="0">
                <a:solidFill>
                  <a:srgbClr val="FF0000"/>
                </a:solidFill>
              </a:rPr>
              <a:t>1</a:t>
            </a:r>
            <a:r>
              <a:rPr lang="zh-CN" altLang="zh-CN" sz="2000" dirty="0">
                <a:solidFill>
                  <a:srgbClr val="FF0000"/>
                </a:solidFill>
              </a:rPr>
              <a:t>．</a:t>
            </a:r>
            <a:r>
              <a:rPr lang="zh-CN" altLang="zh-CN" sz="2000" b="1" dirty="0">
                <a:solidFill>
                  <a:srgbClr val="FF0000"/>
                </a:solidFill>
              </a:rPr>
              <a:t>翻译模式</a:t>
            </a:r>
          </a:p>
          <a:p>
            <a:pPr lvl="1">
              <a:lnSpc>
                <a:spcPct val="110000"/>
              </a:lnSpc>
              <a:spcBef>
                <a:spcPts val="0"/>
              </a:spcBef>
            </a:pPr>
            <a:r>
              <a:rPr lang="zh-CN" altLang="zh-CN" sz="2000" dirty="0"/>
              <a:t>属性文法可以看作是关于语言翻译的高级规范说明，隐藏了实现细节。</a:t>
            </a:r>
            <a:r>
              <a:rPr lang="zh-CN" altLang="en-US" sz="2000" dirty="0"/>
              <a:t>即</a:t>
            </a:r>
            <a:r>
              <a:rPr lang="zh-CN" altLang="zh-CN" sz="2000" dirty="0"/>
              <a:t>属性文法只给出了每个产生式对应的语义规则，说明了属性之间的依赖关系或者计算关系，并</a:t>
            </a:r>
            <a:r>
              <a:rPr lang="zh-CN" altLang="zh-CN" sz="2000" dirty="0">
                <a:solidFill>
                  <a:srgbClr val="FF0000"/>
                </a:solidFill>
              </a:rPr>
              <a:t>没有明确说明</a:t>
            </a:r>
            <a:r>
              <a:rPr lang="zh-CN" altLang="zh-CN" sz="2000" dirty="0"/>
              <a:t>使用语义规则进行</a:t>
            </a:r>
            <a:r>
              <a:rPr lang="zh-CN" altLang="zh-CN" sz="2000" dirty="0">
                <a:solidFill>
                  <a:srgbClr val="FF0000"/>
                </a:solidFill>
              </a:rPr>
              <a:t>计算的次序</a:t>
            </a:r>
            <a:r>
              <a:rPr lang="zh-CN" altLang="zh-CN" sz="2000" dirty="0"/>
              <a:t>。</a:t>
            </a:r>
            <a:endParaRPr lang="en-US" altLang="zh-CN" sz="2000" dirty="0"/>
          </a:p>
          <a:p>
            <a:pPr lvl="1">
              <a:lnSpc>
                <a:spcPct val="110000"/>
              </a:lnSpc>
              <a:spcBef>
                <a:spcPts val="0"/>
              </a:spcBef>
            </a:pPr>
            <a:r>
              <a:rPr lang="zh-CN" altLang="zh-CN" sz="2000" dirty="0"/>
              <a:t>如果希望一次遍历就能完成语法和语义的计算，当产生式右部有多个文法符号的多个属性需要计算时，可能需要选定一个恰当的顺序，因为有些属性需要依赖于另一些属性的计算结果，有些属性需要在产生的过程中去使用。</a:t>
            </a:r>
            <a:endParaRPr lang="en-US" altLang="zh-CN" sz="2000" dirty="0"/>
          </a:p>
          <a:p>
            <a:pPr lvl="1">
              <a:lnSpc>
                <a:spcPct val="110000"/>
              </a:lnSpc>
              <a:spcBef>
                <a:spcPts val="0"/>
              </a:spcBef>
            </a:pPr>
            <a:r>
              <a:rPr lang="zh-CN" altLang="zh-CN" sz="2000" dirty="0"/>
              <a:t>这样就需要把某些语义规则穿插到一个产生式归约或推导的过程中去完成计算。</a:t>
            </a:r>
          </a:p>
          <a:p>
            <a:pPr>
              <a:lnSpc>
                <a:spcPct val="110000"/>
              </a:lnSpc>
              <a:spcBef>
                <a:spcPts val="0"/>
              </a:spcBef>
            </a:pPr>
            <a:endParaRPr lang="zh-CN" altLang="en-US" sz="2000" dirty="0"/>
          </a:p>
        </p:txBody>
      </p:sp>
    </p:spTree>
    <p:extLst>
      <p:ext uri="{BB962C8B-B14F-4D97-AF65-F5344CB8AC3E}">
        <p14:creationId xmlns:p14="http://schemas.microsoft.com/office/powerpoint/2010/main" val="140747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6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72472" y="51470"/>
            <a:ext cx="5435632" cy="1168250"/>
          </a:xfrm>
        </p:spPr>
        <p:txBody>
          <a:bodyPr>
            <a:normAutofit fontScale="90000"/>
          </a:bodyPr>
          <a:lstStyle/>
          <a:p>
            <a:pPr algn="l"/>
            <a:r>
              <a:rPr lang="zh-CN" altLang="zh-CN" sz="2200" dirty="0">
                <a:solidFill>
                  <a:schemeClr val="tx1"/>
                </a:solidFill>
                <a:latin typeface="宋体" panose="02010600030101010101" pitchFamily="2" charset="-122"/>
                <a:ea typeface="宋体" panose="02010600030101010101" pitchFamily="2" charset="-122"/>
              </a:rPr>
              <a:t>例</a:t>
            </a:r>
            <a:r>
              <a:rPr lang="en-US" altLang="zh-CN" sz="2200" dirty="0">
                <a:solidFill>
                  <a:schemeClr val="tx1"/>
                </a:solidFill>
                <a:latin typeface="宋体" panose="02010600030101010101" pitchFamily="2" charset="-122"/>
                <a:ea typeface="宋体" panose="02010600030101010101" pitchFamily="2" charset="-122"/>
              </a:rPr>
              <a:t>5.10 </a:t>
            </a:r>
            <a:r>
              <a:rPr lang="zh-CN" altLang="en-US" sz="2200" dirty="0">
                <a:solidFill>
                  <a:schemeClr val="tx1"/>
                </a:solidFill>
                <a:latin typeface="宋体" panose="02010600030101010101" pitchFamily="2" charset="-122"/>
                <a:ea typeface="宋体" panose="02010600030101010101" pitchFamily="2" charset="-122"/>
              </a:rPr>
              <a:t>右面是</a:t>
            </a:r>
            <a:r>
              <a:rPr lang="zh-CN" altLang="zh-CN" sz="2200" dirty="0">
                <a:solidFill>
                  <a:schemeClr val="tx1"/>
                </a:solidFill>
                <a:latin typeface="宋体" panose="02010600030101010101" pitchFamily="2" charset="-122"/>
                <a:ea typeface="宋体" panose="02010600030101010101" pitchFamily="2" charset="-122"/>
              </a:rPr>
              <a:t>是简单表达式的属性文法，其语义规则是将中缀表示形式改写成后缀表示形式，此处只定义了产生式对应的语义规则，没有定义各语义规则应该在什么时候执行？</a:t>
            </a:r>
            <a:endParaRPr lang="zh-CN" altLang="en-US" sz="2200" dirty="0">
              <a:solidFill>
                <a:schemeClr val="tx1"/>
              </a:solidFill>
              <a:latin typeface="宋体" panose="02010600030101010101" pitchFamily="2" charset="-122"/>
              <a:ea typeface="宋体" panose="02010600030101010101" pitchFamily="2" charset="-122"/>
            </a:endParaRPr>
          </a:p>
        </p:txBody>
      </p:sp>
      <p:graphicFrame>
        <p:nvGraphicFramePr>
          <p:cNvPr id="4" name="内容占位符 3"/>
          <p:cNvGraphicFramePr>
            <a:graphicFrameLocks noGrp="1"/>
          </p:cNvGraphicFramePr>
          <p:nvPr>
            <p:ph idx="1"/>
          </p:nvPr>
        </p:nvGraphicFramePr>
        <p:xfrm>
          <a:off x="5665128" y="-53514"/>
          <a:ext cx="3456384" cy="1596292"/>
        </p:xfrm>
        <a:graphic>
          <a:graphicData uri="http://schemas.openxmlformats.org/drawingml/2006/table">
            <a:tbl>
              <a:tblPr firstRow="1" firstCol="1" bandRow="1">
                <a:tableStyleId>{5C22544A-7EE6-4342-B048-85BDC9FD1C3A}</a:tableStyleId>
              </a:tblPr>
              <a:tblGrid>
                <a:gridCol w="1873411">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227839">
                <a:tc>
                  <a:txBody>
                    <a:bodyPr/>
                    <a:lstStyle/>
                    <a:p>
                      <a:pPr algn="just">
                        <a:spcAft>
                          <a:spcPts val="0"/>
                        </a:spcAft>
                      </a:pPr>
                      <a:r>
                        <a:rPr lang="zh-CN" sz="1700" b="0" kern="100" dirty="0">
                          <a:solidFill>
                            <a:schemeClr val="tx1"/>
                          </a:solidFill>
                          <a:effectLst/>
                        </a:rPr>
                        <a:t>产生式</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700" b="0" kern="100">
                          <a:solidFill>
                            <a:schemeClr val="tx1"/>
                          </a:solidFill>
                          <a:effectLst/>
                        </a:rPr>
                        <a:t>语义规则</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1</a:t>
                      </a:r>
                      <a:r>
                        <a:rPr lang="zh-CN" sz="1700" b="0" kern="100" dirty="0">
                          <a:solidFill>
                            <a:schemeClr val="tx1"/>
                          </a:solidFill>
                          <a:effectLst/>
                        </a:rPr>
                        <a:t>）</a:t>
                      </a:r>
                      <a:r>
                        <a:rPr lang="pt-PT" sz="1700" b="0" kern="100" dirty="0">
                          <a:solidFill>
                            <a:schemeClr val="tx1"/>
                          </a:solidFill>
                          <a:effectLst/>
                        </a:rPr>
                        <a:t> E →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a:solidFill>
                            <a:schemeClr val="tx1"/>
                          </a:solidFill>
                          <a:effectLst/>
                        </a:rPr>
                        <a:t> </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2</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3</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27839">
                <a:tc>
                  <a:txBody>
                    <a:bodyPr/>
                    <a:lstStyle/>
                    <a:p>
                      <a:pPr algn="just">
                        <a:spcAft>
                          <a:spcPts val="0"/>
                        </a:spcAft>
                      </a:pPr>
                      <a:r>
                        <a:rPr lang="zh-CN" sz="1700" b="0" kern="100">
                          <a:solidFill>
                            <a:schemeClr val="tx1"/>
                          </a:solidFill>
                          <a:effectLst/>
                        </a:rPr>
                        <a:t>（</a:t>
                      </a:r>
                      <a:r>
                        <a:rPr lang="pt-PT" sz="1700" b="0" kern="100">
                          <a:solidFill>
                            <a:schemeClr val="tx1"/>
                          </a:solidFill>
                          <a:effectLst/>
                        </a:rPr>
                        <a:t>4</a:t>
                      </a:r>
                      <a:r>
                        <a:rPr lang="zh-CN" sz="1700" b="0" kern="100">
                          <a:solidFill>
                            <a:schemeClr val="tx1"/>
                          </a:solidFill>
                          <a:effectLst/>
                        </a:rPr>
                        <a:t>）</a:t>
                      </a:r>
                      <a:r>
                        <a:rPr lang="pt-PT" sz="1700" b="0" kern="100">
                          <a:solidFill>
                            <a:schemeClr val="tx1"/>
                          </a:solidFill>
                          <a:effectLst/>
                        </a:rPr>
                        <a:t> E' →</a:t>
                      </a:r>
                      <a:r>
                        <a:rPr lang="en-US" sz="1700" b="0" kern="100">
                          <a:solidFill>
                            <a:schemeClr val="tx1"/>
                          </a:solidFill>
                          <a:effectLst/>
                          <a:sym typeface="Symbol" panose="05050102010706020507" pitchFamily="18" charset="2"/>
                        </a:rPr>
                        <a:t></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a:solidFill>
                            <a:schemeClr val="tx1"/>
                          </a:solidFill>
                          <a:effectLst/>
                        </a:rPr>
                        <a:t> </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0892">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5</a:t>
                      </a:r>
                      <a:r>
                        <a:rPr lang="zh-CN" sz="1700" b="0" kern="100" dirty="0">
                          <a:solidFill>
                            <a:schemeClr val="tx1"/>
                          </a:solidFill>
                          <a:effectLst/>
                        </a:rPr>
                        <a:t>）</a:t>
                      </a:r>
                      <a:r>
                        <a:rPr lang="pt-PT" sz="1700" b="0" kern="100" dirty="0">
                          <a:solidFill>
                            <a:schemeClr val="tx1"/>
                          </a:solidFill>
                          <a:effectLst/>
                        </a:rPr>
                        <a:t> T→ i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print(i.lexval)</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39963" name="对象 7"/>
          <p:cNvGraphicFramePr>
            <a:graphicFrameLocks noChangeAspect="1"/>
          </p:cNvGraphicFramePr>
          <p:nvPr/>
        </p:nvGraphicFramePr>
        <p:xfrm>
          <a:off x="4249738" y="1588897"/>
          <a:ext cx="4894262" cy="2301479"/>
        </p:xfrm>
        <a:graphic>
          <a:graphicData uri="http://schemas.openxmlformats.org/presentationml/2006/ole">
            <mc:AlternateContent xmlns:mc="http://schemas.openxmlformats.org/markup-compatibility/2006">
              <mc:Choice xmlns:v="urn:schemas-microsoft-com:vml" Requires="v">
                <p:oleObj name="Visio" r:id="rId2" imgW="3267197" imgH="1867619" progId="Visio.Drawing.11">
                  <p:embed/>
                </p:oleObj>
              </mc:Choice>
              <mc:Fallback>
                <p:oleObj name="Visio" r:id="rId2" imgW="3267197" imgH="1867619" progId="Visio.Drawing.11">
                  <p:embed/>
                  <p:pic>
                    <p:nvPicPr>
                      <p:cNvPr id="39963" name="对象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738" y="1588897"/>
                        <a:ext cx="4894262" cy="2301479"/>
                      </a:xfrm>
                      <a:prstGeom prst="rect">
                        <a:avLst/>
                      </a:prstGeom>
                      <a:noFill/>
                      <a:ln>
                        <a:noFill/>
                      </a:ln>
                    </p:spPr>
                  </p:pic>
                </p:oleObj>
              </mc:Fallback>
            </mc:AlternateContent>
          </a:graphicData>
        </a:graphic>
      </p:graphicFrame>
      <p:sp>
        <p:nvSpPr>
          <p:cNvPr id="2" name="矩形 1"/>
          <p:cNvSpPr>
            <a:spLocks noChangeArrowheads="1"/>
          </p:cNvSpPr>
          <p:nvPr/>
        </p:nvSpPr>
        <p:spPr bwMode="auto">
          <a:xfrm>
            <a:off x="15632" y="3967763"/>
            <a:ext cx="8964488" cy="120032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r>
              <a:rPr lang="zh-CN" altLang="zh-CN" sz="1800" dirty="0"/>
              <a:t>产生式</a:t>
            </a:r>
            <a:r>
              <a:rPr lang="pt-PT" altLang="zh-CN" sz="1800" dirty="0"/>
              <a:t>E</a:t>
            </a:r>
            <a:r>
              <a:rPr lang="pt-PT" altLang="zh-CN" sz="1800" kern="100" dirty="0"/>
              <a:t>'</a:t>
            </a:r>
            <a:r>
              <a:rPr lang="pt-PT" altLang="zh-CN" sz="1800" dirty="0"/>
              <a:t>→</a:t>
            </a:r>
            <a:r>
              <a:rPr lang="pt-PT" altLang="zh-CN" sz="1800" dirty="0">
                <a:solidFill>
                  <a:prstClr val="black"/>
                </a:solidFill>
              </a:rPr>
              <a:t> –</a:t>
            </a:r>
            <a:r>
              <a:rPr lang="pt-PT" altLang="zh-CN" sz="1800" dirty="0"/>
              <a:t>TE</a:t>
            </a:r>
            <a:r>
              <a:rPr lang="pt-PT" altLang="zh-CN" sz="1800" kern="100" dirty="0"/>
              <a:t>'</a:t>
            </a:r>
            <a:r>
              <a:rPr lang="zh-CN" altLang="en-US" sz="1800" dirty="0"/>
              <a:t>的语义动作</a:t>
            </a:r>
            <a:r>
              <a:rPr lang="pt-PT" altLang="zh-CN" sz="1800" dirty="0"/>
              <a:t>print(</a:t>
            </a:r>
            <a:r>
              <a:rPr lang="pt-PT" altLang="zh-CN" sz="1800" kern="100" dirty="0"/>
              <a:t>'</a:t>
            </a:r>
            <a:r>
              <a:rPr lang="pt-PT" altLang="zh-CN" sz="1800" dirty="0">
                <a:solidFill>
                  <a:prstClr val="black"/>
                </a:solidFill>
              </a:rPr>
              <a:t>–</a:t>
            </a:r>
            <a:r>
              <a:rPr lang="pt-PT" altLang="zh-CN" sz="1800" kern="100" dirty="0"/>
              <a:t>'</a:t>
            </a:r>
            <a:r>
              <a:rPr lang="pt-PT" altLang="zh-CN" sz="1800" dirty="0"/>
              <a:t>)</a:t>
            </a:r>
            <a:r>
              <a:rPr lang="zh-CN" altLang="en-US" sz="1800" dirty="0"/>
              <a:t>，不能放在产生式最后去执行，也不能放在产生式最前面去执行，</a:t>
            </a:r>
            <a:r>
              <a:rPr lang="zh-CN" altLang="zh-CN" sz="1800" dirty="0"/>
              <a:t>实际</a:t>
            </a:r>
            <a:r>
              <a:rPr lang="zh-CN" altLang="en-US" sz="1800" dirty="0"/>
              <a:t>是在</a:t>
            </a:r>
            <a:r>
              <a:rPr lang="en-US" altLang="zh-CN" sz="1800" dirty="0"/>
              <a:t>T</a:t>
            </a:r>
            <a:r>
              <a:rPr lang="zh-CN" altLang="en-US" sz="1800" dirty="0"/>
              <a:t>和</a:t>
            </a:r>
            <a:r>
              <a:rPr lang="en-US" altLang="zh-CN" sz="1800" dirty="0"/>
              <a:t>E’</a:t>
            </a:r>
            <a:r>
              <a:rPr lang="zh-CN" altLang="en-US" sz="1800" dirty="0"/>
              <a:t>中间执行的，</a:t>
            </a:r>
            <a:r>
              <a:rPr lang="zh-CN" altLang="zh-CN" sz="1800" dirty="0"/>
              <a:t>可以写为：</a:t>
            </a:r>
            <a:r>
              <a:rPr lang="pt-PT" altLang="zh-CN" sz="1800" dirty="0">
                <a:solidFill>
                  <a:srgbClr val="FF0000"/>
                </a:solidFill>
              </a:rPr>
              <a:t>E' →–T{ print('–')} E'</a:t>
            </a:r>
            <a:r>
              <a:rPr lang="zh-CN" altLang="zh-CN" sz="1800" dirty="0"/>
              <a:t>。用花括号将语义动作放在产生式中间，表示该语义动作执行的时机，这种方式称为该属性文法的</a:t>
            </a:r>
            <a:r>
              <a:rPr lang="zh-CN" altLang="zh-CN" sz="1800" b="1" dirty="0">
                <a:solidFill>
                  <a:srgbClr val="FF0000"/>
                </a:solidFill>
              </a:rPr>
              <a:t>翻译模式</a:t>
            </a:r>
            <a:r>
              <a:rPr lang="zh-CN" altLang="zh-CN" sz="1800" dirty="0"/>
              <a:t>，即标识了语义规则执行的时机。</a:t>
            </a:r>
            <a:endParaRPr lang="en-US" altLang="zh-CN" sz="1800" dirty="0"/>
          </a:p>
        </p:txBody>
      </p:sp>
      <p:sp>
        <p:nvSpPr>
          <p:cNvPr id="3" name="矩形 2"/>
          <p:cNvSpPr/>
          <p:nvPr/>
        </p:nvSpPr>
        <p:spPr>
          <a:xfrm>
            <a:off x="128713" y="3467784"/>
            <a:ext cx="1490960" cy="400110"/>
          </a:xfrm>
          <a:prstGeom prst="rect">
            <a:avLst/>
          </a:prstGeom>
        </p:spPr>
        <p:txBody>
          <a:bodyPr wrap="square">
            <a:spAutoFit/>
          </a:bodyPr>
          <a:lstStyle/>
          <a:p>
            <a:r>
              <a:rPr lang="pt-PT" altLang="zh-CN" sz="2000" dirty="0"/>
              <a:t>9 – 5 + 2</a:t>
            </a:r>
            <a:endParaRPr lang="zh-CN" altLang="en-US" sz="2000" dirty="0"/>
          </a:p>
        </p:txBody>
      </p:sp>
      <p:sp>
        <p:nvSpPr>
          <p:cNvPr id="5" name="矩形 4"/>
          <p:cNvSpPr/>
          <p:nvPr/>
        </p:nvSpPr>
        <p:spPr>
          <a:xfrm>
            <a:off x="1681584" y="3467784"/>
            <a:ext cx="2432968" cy="400110"/>
          </a:xfrm>
          <a:prstGeom prst="rect">
            <a:avLst/>
          </a:prstGeom>
        </p:spPr>
        <p:txBody>
          <a:bodyPr wrap="square">
            <a:spAutoFit/>
          </a:bodyPr>
          <a:lstStyle/>
          <a:p>
            <a:pPr lvl="0"/>
            <a:r>
              <a:rPr lang="zh-CN" altLang="zh-CN" sz="2000" dirty="0">
                <a:solidFill>
                  <a:prstClr val="black"/>
                </a:solidFill>
              </a:rPr>
              <a:t>后缀表示</a:t>
            </a:r>
            <a:r>
              <a:rPr lang="pt-PT" altLang="zh-CN" sz="2000" dirty="0">
                <a:solidFill>
                  <a:prstClr val="black"/>
                </a:solidFill>
              </a:rPr>
              <a:t> 9 5 – 2 +</a:t>
            </a:r>
            <a:endParaRPr lang="zh-CN" altLang="en-US" sz="2000" dirty="0">
              <a:solidFill>
                <a:prstClr val="black"/>
              </a:solidFill>
            </a:endParaRPr>
          </a:p>
        </p:txBody>
      </p:sp>
      <p:sp>
        <p:nvSpPr>
          <p:cNvPr id="6" name="TextBox 5"/>
          <p:cNvSpPr txBox="1"/>
          <p:nvPr/>
        </p:nvSpPr>
        <p:spPr>
          <a:xfrm>
            <a:off x="1040483" y="1219720"/>
            <a:ext cx="396044" cy="369332"/>
          </a:xfrm>
          <a:prstGeom prst="rect">
            <a:avLst/>
          </a:prstGeom>
          <a:noFill/>
        </p:spPr>
        <p:txBody>
          <a:bodyPr wrap="square" rtlCol="0">
            <a:spAutoFit/>
          </a:bodyPr>
          <a:lstStyle/>
          <a:p>
            <a:r>
              <a:rPr lang="en-US" altLang="zh-CN" dirty="0"/>
              <a:t>E</a:t>
            </a:r>
            <a:endParaRPr lang="zh-CN" altLang="en-US" dirty="0"/>
          </a:p>
        </p:txBody>
      </p:sp>
      <p:sp>
        <p:nvSpPr>
          <p:cNvPr id="10" name="TextBox 9"/>
          <p:cNvSpPr txBox="1"/>
          <p:nvPr/>
        </p:nvSpPr>
        <p:spPr>
          <a:xfrm>
            <a:off x="392411" y="1730300"/>
            <a:ext cx="1741356" cy="369332"/>
          </a:xfrm>
          <a:prstGeom prst="rect">
            <a:avLst/>
          </a:prstGeom>
          <a:noFill/>
        </p:spPr>
        <p:txBody>
          <a:bodyPr wrap="square" rtlCol="0">
            <a:spAutoFit/>
          </a:bodyPr>
          <a:lstStyle/>
          <a:p>
            <a:r>
              <a:rPr lang="en-US" altLang="zh-CN" dirty="0"/>
              <a:t>T               E</a:t>
            </a:r>
            <a:r>
              <a:rPr lang="pt-PT" altLang="zh-CN" kern="100" dirty="0"/>
              <a:t>'</a:t>
            </a:r>
            <a:r>
              <a:rPr lang="en-US" altLang="zh-CN" dirty="0"/>
              <a:t> </a:t>
            </a:r>
            <a:endParaRPr lang="zh-CN" altLang="en-US" dirty="0"/>
          </a:p>
        </p:txBody>
      </p:sp>
      <p:cxnSp>
        <p:nvCxnSpPr>
          <p:cNvPr id="8" name="直接连接符 7"/>
          <p:cNvCxnSpPr/>
          <p:nvPr/>
        </p:nvCxnSpPr>
        <p:spPr>
          <a:xfrm flipH="1">
            <a:off x="608435" y="1548402"/>
            <a:ext cx="558062"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flipV="1">
            <a:off x="1166497" y="1548402"/>
            <a:ext cx="594066"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9552" y="2023892"/>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3538" y="2340490"/>
            <a:ext cx="198022" cy="369332"/>
          </a:xfrm>
          <a:prstGeom prst="rect">
            <a:avLst/>
          </a:prstGeom>
          <a:noFill/>
        </p:spPr>
        <p:txBody>
          <a:bodyPr wrap="square" rtlCol="0">
            <a:spAutoFit/>
          </a:bodyPr>
          <a:lstStyle/>
          <a:p>
            <a:r>
              <a:rPr lang="en-US" altLang="zh-CN" dirty="0" err="1"/>
              <a:t>i</a:t>
            </a:r>
            <a:endParaRPr lang="zh-CN" altLang="en-US" dirty="0"/>
          </a:p>
        </p:txBody>
      </p:sp>
      <p:sp>
        <p:nvSpPr>
          <p:cNvPr id="20" name="TextBox 19"/>
          <p:cNvSpPr txBox="1"/>
          <p:nvPr/>
        </p:nvSpPr>
        <p:spPr>
          <a:xfrm>
            <a:off x="287524" y="2636578"/>
            <a:ext cx="540060" cy="369332"/>
          </a:xfrm>
          <a:prstGeom prst="rect">
            <a:avLst/>
          </a:prstGeom>
          <a:noFill/>
        </p:spPr>
        <p:txBody>
          <a:bodyPr wrap="square" rtlCol="0">
            <a:spAutoFit/>
          </a:bodyPr>
          <a:lstStyle/>
          <a:p>
            <a:r>
              <a:rPr lang="en-US" altLang="zh-CN" dirty="0"/>
              <a:t>(9)</a:t>
            </a:r>
            <a:endParaRPr lang="zh-CN" altLang="en-US" dirty="0"/>
          </a:p>
        </p:txBody>
      </p:sp>
      <p:sp>
        <p:nvSpPr>
          <p:cNvPr id="21" name="TextBox 20"/>
          <p:cNvSpPr txBox="1"/>
          <p:nvPr/>
        </p:nvSpPr>
        <p:spPr>
          <a:xfrm>
            <a:off x="1112491" y="2340490"/>
            <a:ext cx="1741356" cy="369332"/>
          </a:xfrm>
          <a:prstGeom prst="rect">
            <a:avLst/>
          </a:prstGeom>
          <a:noFill/>
        </p:spPr>
        <p:txBody>
          <a:bodyPr wrap="square" rtlCol="0">
            <a:spAutoFit/>
          </a:bodyPr>
          <a:lstStyle/>
          <a:p>
            <a:r>
              <a:rPr lang="en-US" altLang="zh-CN" dirty="0"/>
              <a:t>-     T       E</a:t>
            </a:r>
            <a:r>
              <a:rPr lang="pt-PT" altLang="zh-CN" kern="100" dirty="0"/>
              <a:t>'</a:t>
            </a:r>
            <a:r>
              <a:rPr lang="en-US" altLang="zh-CN" dirty="0"/>
              <a:t> </a:t>
            </a:r>
            <a:endParaRPr lang="zh-CN" altLang="en-US" dirty="0"/>
          </a:p>
        </p:txBody>
      </p:sp>
      <p:cxnSp>
        <p:nvCxnSpPr>
          <p:cNvPr id="23" name="直接连接符 22"/>
          <p:cNvCxnSpPr/>
          <p:nvPr/>
        </p:nvCxnSpPr>
        <p:spPr>
          <a:xfrm flipH="1">
            <a:off x="1263089" y="2052458"/>
            <a:ext cx="479472"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1742561" y="2052458"/>
            <a:ext cx="594066"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769566" y="2052458"/>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34" idx="0"/>
          </p:cNvCxnSpPr>
          <p:nvPr/>
        </p:nvCxnSpPr>
        <p:spPr>
          <a:xfrm flipH="1">
            <a:off x="1769566" y="2628522"/>
            <a:ext cx="9002" cy="227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670555" y="2856080"/>
            <a:ext cx="198022" cy="369332"/>
          </a:xfrm>
          <a:prstGeom prst="rect">
            <a:avLst/>
          </a:prstGeom>
          <a:noFill/>
        </p:spPr>
        <p:txBody>
          <a:bodyPr wrap="square" rtlCol="0">
            <a:spAutoFit/>
          </a:bodyPr>
          <a:lstStyle/>
          <a:p>
            <a:r>
              <a:rPr lang="en-US" altLang="zh-CN" dirty="0" err="1"/>
              <a:t>i</a:t>
            </a:r>
            <a:endParaRPr lang="zh-CN" altLang="en-US" dirty="0"/>
          </a:p>
        </p:txBody>
      </p:sp>
      <p:sp>
        <p:nvSpPr>
          <p:cNvPr id="35" name="TextBox 34"/>
          <p:cNvSpPr txBox="1"/>
          <p:nvPr/>
        </p:nvSpPr>
        <p:spPr>
          <a:xfrm>
            <a:off x="1580543" y="3101105"/>
            <a:ext cx="540060" cy="369332"/>
          </a:xfrm>
          <a:prstGeom prst="rect">
            <a:avLst/>
          </a:prstGeom>
          <a:noFill/>
        </p:spPr>
        <p:txBody>
          <a:bodyPr wrap="square" rtlCol="0">
            <a:spAutoFit/>
          </a:bodyPr>
          <a:lstStyle/>
          <a:p>
            <a:r>
              <a:rPr lang="en-US" altLang="zh-CN" dirty="0"/>
              <a:t>(5)</a:t>
            </a:r>
            <a:endParaRPr lang="zh-CN" altLang="en-US" dirty="0"/>
          </a:p>
        </p:txBody>
      </p:sp>
    </p:spTree>
    <p:extLst>
      <p:ext uri="{BB962C8B-B14F-4D97-AF65-F5344CB8AC3E}">
        <p14:creationId xmlns:p14="http://schemas.microsoft.com/office/powerpoint/2010/main" val="931533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9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p:bldP spid="6" grpId="0"/>
      <p:bldP spid="10" grpId="0"/>
      <p:bldP spid="19" grpId="0"/>
      <p:bldP spid="20" grpId="0"/>
      <p:bldP spid="21" grpId="0"/>
      <p:bldP spid="34" grpId="0"/>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72472" y="51470"/>
            <a:ext cx="5219608" cy="1080120"/>
          </a:xfrm>
        </p:spPr>
        <p:txBody>
          <a:bodyPr>
            <a:normAutofit fontScale="90000"/>
          </a:bodyPr>
          <a:lstStyle/>
          <a:p>
            <a:r>
              <a:rPr lang="zh-CN" altLang="zh-CN" sz="2200" dirty="0">
                <a:solidFill>
                  <a:schemeClr val="tx1"/>
                </a:solidFill>
                <a:latin typeface="宋体" panose="02010600030101010101" pitchFamily="2" charset="-122"/>
                <a:ea typeface="宋体" panose="02010600030101010101" pitchFamily="2" charset="-122"/>
              </a:rPr>
              <a:t>例</a:t>
            </a:r>
            <a:r>
              <a:rPr lang="en-US" altLang="zh-CN" sz="2200" dirty="0">
                <a:solidFill>
                  <a:schemeClr val="tx1"/>
                </a:solidFill>
                <a:latin typeface="宋体" panose="02010600030101010101" pitchFamily="2" charset="-122"/>
                <a:ea typeface="宋体" panose="02010600030101010101" pitchFamily="2" charset="-122"/>
              </a:rPr>
              <a:t>4.6 </a:t>
            </a:r>
            <a:r>
              <a:rPr lang="zh-CN" altLang="en-US" sz="2200" dirty="0">
                <a:solidFill>
                  <a:schemeClr val="tx1"/>
                </a:solidFill>
                <a:latin typeface="宋体" panose="02010600030101010101" pitchFamily="2" charset="-122"/>
                <a:ea typeface="宋体" panose="02010600030101010101" pitchFamily="2" charset="-122"/>
              </a:rPr>
              <a:t>右面是</a:t>
            </a:r>
            <a:r>
              <a:rPr lang="zh-CN" altLang="zh-CN" sz="2200" dirty="0">
                <a:solidFill>
                  <a:schemeClr val="tx1"/>
                </a:solidFill>
                <a:latin typeface="宋体" panose="02010600030101010101" pitchFamily="2" charset="-122"/>
                <a:ea typeface="宋体" panose="02010600030101010101" pitchFamily="2" charset="-122"/>
              </a:rPr>
              <a:t>是简单表达式的属性文法，其语义规则是将中缀表示形式改写成后缀表示形式，此处只定义了产生式对应的语义规则，没有定义各语义规则应该在什么时候执行？</a:t>
            </a:r>
            <a:endParaRPr lang="zh-CN" altLang="en-US" sz="2200" dirty="0">
              <a:solidFill>
                <a:schemeClr val="tx1"/>
              </a:solidFill>
              <a:latin typeface="宋体" panose="02010600030101010101" pitchFamily="2" charset="-122"/>
              <a:ea typeface="宋体" panose="02010600030101010101" pitchFamily="2" charset="-122"/>
            </a:endParaRPr>
          </a:p>
        </p:txBody>
      </p:sp>
      <p:graphicFrame>
        <p:nvGraphicFramePr>
          <p:cNvPr id="4" name="内容占位符 3"/>
          <p:cNvGraphicFramePr>
            <a:graphicFrameLocks noGrp="1"/>
          </p:cNvGraphicFramePr>
          <p:nvPr>
            <p:ph idx="1"/>
          </p:nvPr>
        </p:nvGraphicFramePr>
        <p:xfrm>
          <a:off x="467544" y="1491630"/>
          <a:ext cx="3096344" cy="1596292"/>
        </p:xfrm>
        <a:graphic>
          <a:graphicData uri="http://schemas.openxmlformats.org/drawingml/2006/table">
            <a:tbl>
              <a:tblPr firstRow="1" firstCol="1" bandRow="1">
                <a:tableStyleId>{5C22544A-7EE6-4342-B048-85BDC9FD1C3A}</a:tableStyleId>
              </a:tblPr>
              <a:tblGrid>
                <a:gridCol w="3096344">
                  <a:extLst>
                    <a:ext uri="{9D8B030D-6E8A-4147-A177-3AD203B41FA5}">
                      <a16:colId xmlns:a16="http://schemas.microsoft.com/office/drawing/2014/main" val="20000"/>
                    </a:ext>
                  </a:extLst>
                </a:gridCol>
              </a:tblGrid>
              <a:tr h="227839">
                <a:tc>
                  <a:txBody>
                    <a:bodyPr/>
                    <a:lstStyle/>
                    <a:p>
                      <a:pPr algn="just">
                        <a:spcAft>
                          <a:spcPts val="0"/>
                        </a:spcAft>
                      </a:pPr>
                      <a:r>
                        <a:rPr lang="zh-CN" altLang="en-US" sz="1700" b="0" kern="100" dirty="0">
                          <a:solidFill>
                            <a:schemeClr val="tx1"/>
                          </a:solidFill>
                          <a:effectLst/>
                          <a:latin typeface="+mn-lt"/>
                          <a:ea typeface="+mn-ea"/>
                        </a:rPr>
                        <a:t>翻译模式</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1</a:t>
                      </a:r>
                      <a:r>
                        <a:rPr lang="zh-CN" sz="1700" b="0" kern="100" dirty="0">
                          <a:solidFill>
                            <a:schemeClr val="tx1"/>
                          </a:solidFill>
                          <a:effectLst/>
                        </a:rPr>
                        <a:t>）</a:t>
                      </a:r>
                      <a:r>
                        <a:rPr lang="pt-PT" sz="1700" b="0" kern="100" dirty="0">
                          <a:solidFill>
                            <a:schemeClr val="tx1"/>
                          </a:solidFill>
                          <a:effectLst/>
                        </a:rPr>
                        <a:t> E →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7839">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sz="1700" b="0" kern="100" dirty="0">
                          <a:solidFill>
                            <a:schemeClr val="tx1"/>
                          </a:solidFill>
                          <a:effectLst/>
                        </a:rPr>
                        <a:t>（</a:t>
                      </a:r>
                      <a:r>
                        <a:rPr lang="pt-PT" sz="1700" b="0" kern="100" dirty="0">
                          <a:solidFill>
                            <a:schemeClr val="tx1"/>
                          </a:solidFill>
                          <a:effectLst/>
                        </a:rPr>
                        <a:t>2</a:t>
                      </a:r>
                      <a:r>
                        <a:rPr lang="zh-CN" sz="1700" b="0" kern="100" dirty="0">
                          <a:solidFill>
                            <a:schemeClr val="tx1"/>
                          </a:solidFill>
                          <a:effectLst/>
                        </a:rPr>
                        <a:t>）</a:t>
                      </a:r>
                      <a:r>
                        <a:rPr lang="pt-PT" sz="1700" b="0" kern="100" dirty="0">
                          <a:solidFill>
                            <a:schemeClr val="tx1"/>
                          </a:solidFill>
                          <a:effectLst/>
                        </a:rPr>
                        <a:t> E' →+T</a:t>
                      </a:r>
                      <a:r>
                        <a:rPr lang="en-US" altLang="zh-CN" sz="1700" b="0" kern="100" dirty="0">
                          <a:solidFill>
                            <a:schemeClr val="tx1"/>
                          </a:solidFill>
                          <a:effectLst/>
                        </a:rPr>
                        <a:t>{</a:t>
                      </a:r>
                      <a:r>
                        <a:rPr lang="pt-PT" altLang="zh-CN" sz="1700" b="0" kern="100" dirty="0">
                          <a:solidFill>
                            <a:schemeClr val="tx1"/>
                          </a:solidFill>
                          <a:effectLst/>
                        </a:rPr>
                        <a:t>print('+')</a:t>
                      </a:r>
                      <a:r>
                        <a:rPr lang="en-US" altLang="zh-CN" sz="1700" b="0" kern="100" dirty="0">
                          <a:solidFill>
                            <a:schemeClr val="tx1"/>
                          </a:solidFill>
                          <a:effectLst/>
                        </a:rPr>
                        <a:t>}</a:t>
                      </a:r>
                      <a:r>
                        <a:rPr lang="pt-PT" sz="1700" b="0" kern="100" dirty="0">
                          <a:solidFill>
                            <a:schemeClr val="tx1"/>
                          </a:solidFill>
                          <a:effectLst/>
                        </a:rPr>
                        <a: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3</a:t>
                      </a:r>
                      <a:r>
                        <a:rPr lang="zh-CN" sz="1700" b="0" kern="100" dirty="0">
                          <a:solidFill>
                            <a:schemeClr val="tx1"/>
                          </a:solidFill>
                          <a:effectLst/>
                        </a:rPr>
                        <a:t>）</a:t>
                      </a:r>
                      <a:r>
                        <a:rPr lang="pt-PT" sz="1700" b="0" kern="100" dirty="0">
                          <a:solidFill>
                            <a:schemeClr val="tx1"/>
                          </a:solidFill>
                          <a:effectLst/>
                        </a:rPr>
                        <a:t> E' →–T{</a:t>
                      </a:r>
                      <a:r>
                        <a:rPr lang="pt-PT" altLang="zh-CN" sz="1700" b="0" kern="100" dirty="0">
                          <a:solidFill>
                            <a:schemeClr val="tx1"/>
                          </a:solidFill>
                          <a:effectLst/>
                        </a:rPr>
                        <a:t>print(’–’)}</a:t>
                      </a:r>
                      <a:r>
                        <a:rPr lang="pt-PT" sz="1700" b="0" kern="100" dirty="0">
                          <a:solidFill>
                            <a:schemeClr val="tx1"/>
                          </a:solidFill>
                          <a:effectLst/>
                        </a:rPr>
                        <a: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4</a:t>
                      </a:r>
                      <a:r>
                        <a:rPr lang="zh-CN" sz="1700" b="0" kern="100" dirty="0">
                          <a:solidFill>
                            <a:schemeClr val="tx1"/>
                          </a:solidFill>
                          <a:effectLst/>
                        </a:rPr>
                        <a:t>）</a:t>
                      </a:r>
                      <a:r>
                        <a:rPr lang="pt-PT" sz="1700" b="0" kern="100" dirty="0">
                          <a:solidFill>
                            <a:schemeClr val="tx1"/>
                          </a:solidFill>
                          <a:effectLst/>
                        </a:rPr>
                        <a:t> E' →</a:t>
                      </a:r>
                      <a:r>
                        <a:rPr lang="en-US" sz="1700" b="0" kern="100" dirty="0">
                          <a:solidFill>
                            <a:schemeClr val="tx1"/>
                          </a:solidFill>
                          <a:effectLst/>
                          <a:sym typeface="Symbol" panose="05050102010706020507" pitchFamily="18" charset="2"/>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0892">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5</a:t>
                      </a:r>
                      <a:r>
                        <a:rPr lang="zh-CN" sz="1700" b="0" kern="100" dirty="0">
                          <a:solidFill>
                            <a:schemeClr val="tx1"/>
                          </a:solidFill>
                          <a:effectLst/>
                        </a:rPr>
                        <a:t>）</a:t>
                      </a:r>
                      <a:r>
                        <a:rPr lang="pt-PT" sz="1700" b="0" kern="100" dirty="0">
                          <a:solidFill>
                            <a:schemeClr val="tx1"/>
                          </a:solidFill>
                          <a:effectLst/>
                        </a:rPr>
                        <a:t> T→ i{</a:t>
                      </a:r>
                      <a:r>
                        <a:rPr lang="pt-PT" altLang="zh-CN" sz="1700" b="0" kern="100" dirty="0">
                          <a:solidFill>
                            <a:schemeClr val="tx1"/>
                          </a:solidFill>
                          <a:effectLst/>
                        </a:rPr>
                        <a:t>print(i.lexval)</a:t>
                      </a:r>
                      <a:r>
                        <a:rPr lang="pt-PT" sz="1700" b="0" kern="100" dirty="0">
                          <a:solidFill>
                            <a:schemeClr val="tx1"/>
                          </a:solidFill>
                          <a:effectLst/>
                        </a:rPr>
                        <a:t>}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39963" name="对象 7"/>
          <p:cNvGraphicFramePr>
            <a:graphicFrameLocks noChangeAspect="1"/>
          </p:cNvGraphicFramePr>
          <p:nvPr/>
        </p:nvGraphicFramePr>
        <p:xfrm>
          <a:off x="4645390" y="1707654"/>
          <a:ext cx="4748864" cy="2233107"/>
        </p:xfrm>
        <a:graphic>
          <a:graphicData uri="http://schemas.openxmlformats.org/presentationml/2006/ole">
            <mc:AlternateContent xmlns:mc="http://schemas.openxmlformats.org/markup-compatibility/2006">
              <mc:Choice xmlns:v="urn:schemas-microsoft-com:vml" Requires="v">
                <p:oleObj name="Visio" r:id="rId2" imgW="3267197" imgH="1867619" progId="Visio.Drawing.11">
                  <p:embed/>
                </p:oleObj>
              </mc:Choice>
              <mc:Fallback>
                <p:oleObj name="Visio" r:id="rId2" imgW="3267197" imgH="1867619" progId="Visio.Drawing.11">
                  <p:embed/>
                  <p:pic>
                    <p:nvPicPr>
                      <p:cNvPr id="39963" name="对象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5390" y="1707654"/>
                        <a:ext cx="4748864" cy="2233107"/>
                      </a:xfrm>
                      <a:prstGeom prst="rect">
                        <a:avLst/>
                      </a:prstGeom>
                      <a:noFill/>
                      <a:ln>
                        <a:noFill/>
                      </a:ln>
                    </p:spPr>
                  </p:pic>
                </p:oleObj>
              </mc:Fallback>
            </mc:AlternateContent>
          </a:graphicData>
        </a:graphic>
      </p:graphicFrame>
      <p:sp>
        <p:nvSpPr>
          <p:cNvPr id="2" name="矩形 1"/>
          <p:cNvSpPr>
            <a:spLocks noChangeArrowheads="1"/>
          </p:cNvSpPr>
          <p:nvPr/>
        </p:nvSpPr>
        <p:spPr bwMode="auto">
          <a:xfrm>
            <a:off x="35496" y="3317379"/>
            <a:ext cx="6033370" cy="184665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42900" indent="-342900">
              <a:buFont typeface="Arial" panose="020B0604020202020204" pitchFamily="34" charset="0"/>
              <a:buChar char="•"/>
            </a:pPr>
            <a:r>
              <a:rPr lang="zh-CN" altLang="zh-CN" sz="1900" dirty="0"/>
              <a:t>在具体实现</a:t>
            </a:r>
            <a:r>
              <a:rPr lang="zh-CN" altLang="en-US" sz="1900" dirty="0"/>
              <a:t>语法制导的翻译</a:t>
            </a:r>
            <a:r>
              <a:rPr lang="zh-CN" altLang="zh-CN" sz="1900" dirty="0"/>
              <a:t>时，需要将属性文法</a:t>
            </a:r>
            <a:r>
              <a:rPr lang="zh-CN" altLang="zh-CN" sz="1900" dirty="0">
                <a:solidFill>
                  <a:srgbClr val="FF0000"/>
                </a:solidFill>
              </a:rPr>
              <a:t>改写为合适的翻译模式</a:t>
            </a:r>
            <a:r>
              <a:rPr lang="zh-CN" altLang="zh-CN" sz="1900" dirty="0"/>
              <a:t>，将语义规则放在产生式右部的适当位置才能进行一遍扫描完成所有的属性计算。</a:t>
            </a:r>
            <a:endParaRPr lang="en-US" altLang="zh-CN" sz="1900" dirty="0"/>
          </a:p>
          <a:p>
            <a:pPr marL="342900" indent="-342900">
              <a:buFont typeface="Arial" panose="020B0604020202020204" pitchFamily="34" charset="0"/>
              <a:buChar char="•"/>
            </a:pPr>
            <a:r>
              <a:rPr lang="zh-CN" altLang="zh-CN" sz="1900" dirty="0"/>
              <a:t>必须保证引用一个属性时它必须已经计算出来，</a:t>
            </a:r>
            <a:r>
              <a:rPr lang="zh-CN" altLang="en-US" sz="1900" dirty="0"/>
              <a:t>如果是</a:t>
            </a:r>
            <a:r>
              <a:rPr lang="en-US" altLang="zh-CN" sz="1900" dirty="0">
                <a:solidFill>
                  <a:srgbClr val="FF0000"/>
                </a:solidFill>
              </a:rPr>
              <a:t>L-</a:t>
            </a:r>
            <a:r>
              <a:rPr lang="zh-CN" altLang="zh-CN" sz="1900" dirty="0">
                <a:solidFill>
                  <a:srgbClr val="FF0000"/>
                </a:solidFill>
              </a:rPr>
              <a:t>属性文法</a:t>
            </a:r>
            <a:r>
              <a:rPr lang="zh-CN" altLang="en-US" sz="1900" dirty="0">
                <a:solidFill>
                  <a:srgbClr val="FF0000"/>
                </a:solidFill>
              </a:rPr>
              <a:t>，</a:t>
            </a:r>
            <a:r>
              <a:rPr lang="zh-CN" altLang="zh-CN" sz="1900" dirty="0">
                <a:solidFill>
                  <a:srgbClr val="FF0000"/>
                </a:solidFill>
              </a:rPr>
              <a:t>就能够确保每个动作不会引用尚未计算出的属性</a:t>
            </a:r>
            <a:r>
              <a:rPr lang="zh-CN" altLang="zh-CN" sz="1900" dirty="0"/>
              <a:t>。</a:t>
            </a:r>
            <a:endParaRPr lang="en-US" altLang="zh-CN" sz="1900" dirty="0"/>
          </a:p>
        </p:txBody>
      </p:sp>
      <p:graphicFrame>
        <p:nvGraphicFramePr>
          <p:cNvPr id="7" name="内容占位符 3"/>
          <p:cNvGraphicFramePr>
            <a:graphicFrameLocks/>
          </p:cNvGraphicFramePr>
          <p:nvPr/>
        </p:nvGraphicFramePr>
        <p:xfrm>
          <a:off x="5651848" y="-28178"/>
          <a:ext cx="3456384" cy="1596292"/>
        </p:xfrm>
        <a:graphic>
          <a:graphicData uri="http://schemas.openxmlformats.org/drawingml/2006/table">
            <a:tbl>
              <a:tblPr firstRow="1" firstCol="1" bandRow="1">
                <a:tableStyleId>{5C22544A-7EE6-4342-B048-85BDC9FD1C3A}</a:tableStyleId>
              </a:tblPr>
              <a:tblGrid>
                <a:gridCol w="1873411">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227839">
                <a:tc>
                  <a:txBody>
                    <a:bodyPr/>
                    <a:lstStyle/>
                    <a:p>
                      <a:pPr algn="just">
                        <a:spcAft>
                          <a:spcPts val="0"/>
                        </a:spcAft>
                      </a:pPr>
                      <a:r>
                        <a:rPr lang="zh-CN" sz="1700" b="0" kern="100" dirty="0">
                          <a:solidFill>
                            <a:schemeClr val="tx1"/>
                          </a:solidFill>
                          <a:effectLst/>
                        </a:rPr>
                        <a:t>产生式</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700" b="0" kern="100">
                          <a:solidFill>
                            <a:schemeClr val="tx1"/>
                          </a:solidFill>
                          <a:effectLst/>
                        </a:rPr>
                        <a:t>语义规则</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1</a:t>
                      </a:r>
                      <a:r>
                        <a:rPr lang="zh-CN" sz="1700" b="0" kern="100" dirty="0">
                          <a:solidFill>
                            <a:schemeClr val="tx1"/>
                          </a:solidFill>
                          <a:effectLst/>
                        </a:rPr>
                        <a:t>）</a:t>
                      </a:r>
                      <a:r>
                        <a:rPr lang="pt-PT" sz="1700" b="0" kern="100" dirty="0">
                          <a:solidFill>
                            <a:schemeClr val="tx1"/>
                          </a:solidFill>
                          <a:effectLst/>
                        </a:rPr>
                        <a:t> E →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a:solidFill>
                            <a:schemeClr val="tx1"/>
                          </a:solidFill>
                          <a:effectLst/>
                        </a:rPr>
                        <a:t> </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2</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3</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27839">
                <a:tc>
                  <a:txBody>
                    <a:bodyPr/>
                    <a:lstStyle/>
                    <a:p>
                      <a:pPr algn="just">
                        <a:spcAft>
                          <a:spcPts val="0"/>
                        </a:spcAft>
                      </a:pPr>
                      <a:r>
                        <a:rPr lang="zh-CN" sz="1700" b="0" kern="100">
                          <a:solidFill>
                            <a:schemeClr val="tx1"/>
                          </a:solidFill>
                          <a:effectLst/>
                        </a:rPr>
                        <a:t>（</a:t>
                      </a:r>
                      <a:r>
                        <a:rPr lang="pt-PT" sz="1700" b="0" kern="100">
                          <a:solidFill>
                            <a:schemeClr val="tx1"/>
                          </a:solidFill>
                          <a:effectLst/>
                        </a:rPr>
                        <a:t>4</a:t>
                      </a:r>
                      <a:r>
                        <a:rPr lang="zh-CN" sz="1700" b="0" kern="100">
                          <a:solidFill>
                            <a:schemeClr val="tx1"/>
                          </a:solidFill>
                          <a:effectLst/>
                        </a:rPr>
                        <a:t>）</a:t>
                      </a:r>
                      <a:r>
                        <a:rPr lang="pt-PT" sz="1700" b="0" kern="100">
                          <a:solidFill>
                            <a:schemeClr val="tx1"/>
                          </a:solidFill>
                          <a:effectLst/>
                        </a:rPr>
                        <a:t> E' →</a:t>
                      </a:r>
                      <a:r>
                        <a:rPr lang="en-US" sz="1700" b="0" kern="100">
                          <a:solidFill>
                            <a:schemeClr val="tx1"/>
                          </a:solidFill>
                          <a:effectLst/>
                          <a:sym typeface="Symbol" panose="05050102010706020507" pitchFamily="18" charset="2"/>
                        </a:rPr>
                        <a:t></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0892">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5</a:t>
                      </a:r>
                      <a:r>
                        <a:rPr lang="zh-CN" sz="1700" b="0" kern="100" dirty="0">
                          <a:solidFill>
                            <a:schemeClr val="tx1"/>
                          </a:solidFill>
                          <a:effectLst/>
                        </a:rPr>
                        <a:t>）</a:t>
                      </a:r>
                      <a:r>
                        <a:rPr lang="pt-PT" sz="1700" b="0" kern="100" dirty="0">
                          <a:solidFill>
                            <a:schemeClr val="tx1"/>
                          </a:solidFill>
                          <a:effectLst/>
                        </a:rPr>
                        <a:t> T→ i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print(i.lexval)</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3" name="左箭头 2"/>
          <p:cNvSpPr/>
          <p:nvPr/>
        </p:nvSpPr>
        <p:spPr>
          <a:xfrm rot="20557844">
            <a:off x="3567487" y="1370332"/>
            <a:ext cx="2155806" cy="484007"/>
          </a:xfrm>
          <a:prstGeom prst="lef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63663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457200" y="123479"/>
            <a:ext cx="8229600" cy="432048"/>
          </a:xfrm>
        </p:spPr>
        <p:txBody>
          <a:bodyPr>
            <a:normAutofit fontScale="90000"/>
          </a:bodyPr>
          <a:lstStyle/>
          <a:p>
            <a:r>
              <a:rPr lang="zh-CN" altLang="en-US" dirty="0"/>
              <a:t>建立翻译模式</a:t>
            </a:r>
          </a:p>
        </p:txBody>
      </p:sp>
      <p:sp>
        <p:nvSpPr>
          <p:cNvPr id="43011" name="内容占位符 2"/>
          <p:cNvSpPr>
            <a:spLocks noGrp="1"/>
          </p:cNvSpPr>
          <p:nvPr>
            <p:ph idx="1"/>
          </p:nvPr>
        </p:nvSpPr>
        <p:spPr>
          <a:xfrm>
            <a:off x="263525" y="627534"/>
            <a:ext cx="8484939" cy="1440160"/>
          </a:xfrm>
        </p:spPr>
        <p:txBody>
          <a:bodyPr>
            <a:normAutofit lnSpcReduction="10000"/>
          </a:bodyPr>
          <a:lstStyle/>
          <a:p>
            <a:r>
              <a:rPr lang="zh-CN" altLang="zh-CN" sz="2200" dirty="0"/>
              <a:t>在建立翻译模式时，如果属性计算中</a:t>
            </a:r>
            <a:r>
              <a:rPr lang="zh-CN" altLang="zh-CN" sz="2200" dirty="0">
                <a:solidFill>
                  <a:srgbClr val="FF0000"/>
                </a:solidFill>
              </a:rPr>
              <a:t>只有综合属性</a:t>
            </a:r>
            <a:r>
              <a:rPr lang="zh-CN" altLang="zh-CN" sz="2200" dirty="0"/>
              <a:t>时，综合属性的语义规则通常</a:t>
            </a:r>
            <a:r>
              <a:rPr lang="zh-CN" altLang="zh-CN" sz="2200" dirty="0">
                <a:solidFill>
                  <a:srgbClr val="FF0000"/>
                </a:solidFill>
              </a:rPr>
              <a:t>可以放在产生式右部的末尾</a:t>
            </a:r>
            <a:r>
              <a:rPr lang="zh-CN" altLang="zh-CN" sz="2200" dirty="0"/>
              <a:t>。因为综合属性总是在它所有的子结点的属性都计算出来以后才计算。</a:t>
            </a:r>
            <a:endParaRPr lang="en-US" altLang="zh-CN" sz="2200" dirty="0"/>
          </a:p>
          <a:p>
            <a:r>
              <a:rPr lang="zh-CN" altLang="zh-CN" sz="2200" dirty="0"/>
              <a:t>如果</a:t>
            </a:r>
            <a:r>
              <a:rPr lang="zh-CN" altLang="zh-CN" sz="2200" dirty="0">
                <a:solidFill>
                  <a:srgbClr val="FF0000"/>
                </a:solidFill>
              </a:rPr>
              <a:t>既有综合属性又有继承属性</a:t>
            </a:r>
            <a:r>
              <a:rPr lang="zh-CN" altLang="zh-CN" sz="2200" dirty="0"/>
              <a:t>，建立翻译模式时遵循以下原则：</a:t>
            </a:r>
          </a:p>
        </p:txBody>
      </p:sp>
      <p:sp>
        <p:nvSpPr>
          <p:cNvPr id="2" name="矩形 1"/>
          <p:cNvSpPr/>
          <p:nvPr/>
        </p:nvSpPr>
        <p:spPr>
          <a:xfrm>
            <a:off x="444352" y="1987268"/>
            <a:ext cx="5112568"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lvl="1" indent="-342900">
              <a:buFont typeface="Wingdings" panose="05000000000000000000" pitchFamily="2" charset="2"/>
              <a:buChar char="Ø"/>
              <a:defRPr/>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）产生式右部符号的继承属性必须在这个符号以前的动作中计算出来；</a:t>
            </a: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zh-CN" altLang="zh-CN" sz="2000" dirty="0">
              <a:latin typeface="宋体" panose="02010600030101010101" pitchFamily="2" charset="-122"/>
              <a:ea typeface="宋体" panose="02010600030101010101" pitchFamily="2" charset="-122"/>
            </a:endParaRPr>
          </a:p>
        </p:txBody>
      </p:sp>
      <p:graphicFrame>
        <p:nvGraphicFramePr>
          <p:cNvPr id="3" name="对象 2"/>
          <p:cNvGraphicFramePr>
            <a:graphicFrameLocks noChangeAspect="1"/>
          </p:cNvGraphicFramePr>
          <p:nvPr/>
        </p:nvGraphicFramePr>
        <p:xfrm>
          <a:off x="5724128" y="2362670"/>
          <a:ext cx="3232150" cy="2436813"/>
        </p:xfrm>
        <a:graphic>
          <a:graphicData uri="http://schemas.openxmlformats.org/presentationml/2006/ole">
            <mc:AlternateContent xmlns:mc="http://schemas.openxmlformats.org/markup-compatibility/2006">
              <mc:Choice xmlns:v="urn:schemas-microsoft-com:vml" Requires="v">
                <p:oleObj name="Visio" r:id="rId2" imgW="2108029" imgH="1592136" progId="Visio.Drawing.11">
                  <p:embed/>
                </p:oleObj>
              </mc:Choice>
              <mc:Fallback>
                <p:oleObj name="Visio" r:id="rId2" imgW="2108029" imgH="1592136" progId="Visio.Drawing.11">
                  <p:embed/>
                  <p:pic>
                    <p:nvPicPr>
                      <p:cNvPr id="3"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2362670"/>
                        <a:ext cx="3232150" cy="2436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431540" y="2655952"/>
            <a:ext cx="5112568" cy="707886"/>
          </a:xfrm>
          <a:prstGeom prst="rect">
            <a:avLst/>
          </a:prstGeom>
        </p:spPr>
        <p:txBody>
          <a:bodyPr wrap="square">
            <a:spAutoFit/>
          </a:bodyPr>
          <a:lstStyle/>
          <a:p>
            <a:pPr marL="342900" lvl="1" indent="-342900">
              <a:buFont typeface="Wingdings" panose="05000000000000000000" pitchFamily="2" charset="2"/>
              <a:buChar char="Ø"/>
              <a:defRPr/>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）一个动作不能引用这个动作右部的符号的综合属性；</a:t>
            </a:r>
          </a:p>
        </p:txBody>
      </p:sp>
      <p:sp>
        <p:nvSpPr>
          <p:cNvPr id="5" name="矩形 4"/>
          <p:cNvSpPr/>
          <p:nvPr/>
        </p:nvSpPr>
        <p:spPr>
          <a:xfrm>
            <a:off x="395536" y="3264540"/>
            <a:ext cx="4968552" cy="1323439"/>
          </a:xfrm>
          <a:prstGeom prst="rect">
            <a:avLst/>
          </a:prstGeom>
        </p:spPr>
        <p:txBody>
          <a:bodyPr wrap="square">
            <a:spAutoFit/>
          </a:bodyPr>
          <a:lstStyle/>
          <a:p>
            <a:pPr marL="342900" lvl="1" indent="-342900">
              <a:buFont typeface="Wingdings" panose="05000000000000000000" pitchFamily="2" charset="2"/>
              <a:buChar char="Ø"/>
              <a:defRPr/>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）产生式左部非终结符的综合属性只有在它所引用的所有属性都计算出来以后才能计算。这种语义规则通常可以放在产生式右部的末尾。</a:t>
            </a: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7231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2" grpId="0" animBg="1"/>
      <p:bldP spid="4" grpId="0"/>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95486"/>
            <a:ext cx="5619601" cy="1425178"/>
          </a:xfrm>
        </p:spPr>
        <p:txBody>
          <a:bodyPr>
            <a:normAutofit/>
          </a:bodyPr>
          <a:lstStyle/>
          <a:p>
            <a:pPr marL="0" indent="0">
              <a:buFontTx/>
              <a:buNone/>
              <a:defRPr/>
            </a:pPr>
            <a:r>
              <a:rPr lang="zh-CN" altLang="zh-CN" sz="2200" dirty="0"/>
              <a:t>下述翻译模式不满足这三个条件</a:t>
            </a:r>
          </a:p>
          <a:p>
            <a:pPr marL="0" indent="0">
              <a:buFontTx/>
              <a:buNone/>
              <a:defRPr/>
            </a:pPr>
            <a:r>
              <a:rPr lang="zh-CN" altLang="zh-CN" sz="2200" dirty="0"/>
              <a:t>（</a:t>
            </a:r>
            <a:r>
              <a:rPr lang="en-US" altLang="zh-CN" sz="2200" dirty="0"/>
              <a:t>1</a:t>
            </a:r>
            <a:r>
              <a:rPr lang="zh-CN" altLang="zh-CN" sz="2200" dirty="0"/>
              <a:t>）</a:t>
            </a:r>
            <a:r>
              <a:rPr lang="en-US" altLang="zh-CN" sz="2200" dirty="0"/>
              <a:t>S</a:t>
            </a:r>
            <a:r>
              <a:rPr lang="zh-CN" altLang="zh-CN" sz="2200" dirty="0"/>
              <a:t>→</a:t>
            </a:r>
            <a:r>
              <a:rPr lang="en-US" altLang="zh-CN" sz="2200" dirty="0"/>
              <a:t>A</a:t>
            </a:r>
            <a:r>
              <a:rPr lang="en-US" altLang="zh-CN" sz="2200" baseline="-25000" dirty="0"/>
              <a:t>1</a:t>
            </a:r>
            <a:r>
              <a:rPr lang="en-US" altLang="zh-CN" sz="2200" dirty="0"/>
              <a:t>A</a:t>
            </a:r>
            <a:r>
              <a:rPr lang="en-US" altLang="zh-CN" sz="2200" baseline="-25000" dirty="0"/>
              <a:t>2</a:t>
            </a:r>
            <a:r>
              <a:rPr lang="en-US" altLang="zh-CN" sz="2200" dirty="0"/>
              <a:t>  {A</a:t>
            </a:r>
            <a:r>
              <a:rPr lang="en-US" altLang="zh-CN" sz="2200" baseline="-25000" dirty="0"/>
              <a:t>1</a:t>
            </a:r>
            <a:r>
              <a:rPr lang="en-US" altLang="zh-CN" sz="2200" dirty="0"/>
              <a:t>.in = 1</a:t>
            </a:r>
            <a:r>
              <a:rPr lang="zh-CN" altLang="zh-CN" sz="2200" dirty="0"/>
              <a:t>；</a:t>
            </a:r>
            <a:r>
              <a:rPr lang="en-US" altLang="zh-CN" sz="2200" dirty="0"/>
              <a:t>A</a:t>
            </a:r>
            <a:r>
              <a:rPr lang="en-US" altLang="zh-CN" sz="2200" baseline="-25000" dirty="0"/>
              <a:t>2</a:t>
            </a:r>
            <a:r>
              <a:rPr lang="en-US" altLang="zh-CN" sz="2200" dirty="0"/>
              <a:t>.in = 2}</a:t>
            </a:r>
            <a:endParaRPr lang="zh-CN" altLang="zh-CN" sz="2200" dirty="0"/>
          </a:p>
          <a:p>
            <a:pPr marL="0" indent="0">
              <a:buFontTx/>
              <a:buNone/>
              <a:defRPr/>
            </a:pPr>
            <a:r>
              <a:rPr lang="zh-CN" altLang="zh-CN" sz="2200" dirty="0"/>
              <a:t>（</a:t>
            </a:r>
            <a:r>
              <a:rPr lang="en-US" altLang="zh-CN" sz="2200" dirty="0"/>
              <a:t>2</a:t>
            </a:r>
            <a:r>
              <a:rPr lang="zh-CN" altLang="zh-CN" sz="2200" dirty="0"/>
              <a:t>）</a:t>
            </a:r>
            <a:r>
              <a:rPr lang="en-US" altLang="zh-CN" sz="2200" dirty="0"/>
              <a:t>A</a:t>
            </a:r>
            <a:r>
              <a:rPr lang="zh-CN" altLang="zh-CN" sz="2200" dirty="0"/>
              <a:t>→</a:t>
            </a:r>
            <a:r>
              <a:rPr lang="en-US" altLang="zh-CN" sz="2200" dirty="0"/>
              <a:t>a     {print(A.in)}</a:t>
            </a:r>
            <a:endParaRPr lang="zh-CN" altLang="zh-CN" sz="2200" dirty="0"/>
          </a:p>
          <a:p>
            <a:pPr>
              <a:defRPr/>
            </a:pPr>
            <a:endParaRPr lang="zh-CN" altLang="en-US" sz="2200" dirty="0"/>
          </a:p>
        </p:txBody>
      </p:sp>
      <p:sp>
        <p:nvSpPr>
          <p:cNvPr id="44035" name="Rectangle 2"/>
          <p:cNvSpPr>
            <a:spLocks noChangeArrowheads="1"/>
          </p:cNvSpPr>
          <p:nvPr/>
        </p:nvSpPr>
        <p:spPr bwMode="auto">
          <a:xfrm>
            <a:off x="827088" y="2826693"/>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sp>
        <p:nvSpPr>
          <p:cNvPr id="8" name="矩形 7"/>
          <p:cNvSpPr/>
          <p:nvPr/>
        </p:nvSpPr>
        <p:spPr>
          <a:xfrm>
            <a:off x="536575" y="3788569"/>
            <a:ext cx="2005677" cy="369332"/>
          </a:xfrm>
          <a:prstGeom prst="rect">
            <a:avLst/>
          </a:prstGeom>
        </p:spPr>
        <p:txBody>
          <a:bodyPr wrap="none">
            <a:spAutoFit/>
          </a:bodyPr>
          <a:lstStyle/>
          <a:p>
            <a:pPr eaLnBrk="1" hangingPunct="1">
              <a:buFontTx/>
              <a:buNone/>
              <a:defRPr/>
            </a:pPr>
            <a:r>
              <a:rPr lang="zh-CN" altLang="zh-CN" kern="100" dirty="0">
                <a:latin typeface="Times New Roman" panose="02020603050405020304" pitchFamily="18" charset="0"/>
                <a:cs typeface="Times New Roman" panose="02020603050405020304" pitchFamily="18" charset="0"/>
              </a:rPr>
              <a:t>输入串</a:t>
            </a:r>
            <a:r>
              <a:rPr lang="en-US" altLang="zh-CN" kern="100" dirty="0" err="1">
                <a:latin typeface="Times New Roman" panose="02020603050405020304" pitchFamily="18" charset="0"/>
              </a:rPr>
              <a:t>aa</a:t>
            </a:r>
            <a:r>
              <a:rPr lang="zh-CN" altLang="zh-CN" kern="100" dirty="0">
                <a:latin typeface="Times New Roman" panose="02020603050405020304" pitchFamily="18" charset="0"/>
                <a:cs typeface="Times New Roman" panose="02020603050405020304" pitchFamily="18" charset="0"/>
              </a:rPr>
              <a:t>的语法树</a:t>
            </a:r>
            <a:endParaRPr lang="zh-CN" altLang="en-US" dirty="0">
              <a:latin typeface="Arial" pitchFamily="34" charset="0"/>
            </a:endParaRPr>
          </a:p>
        </p:txBody>
      </p:sp>
      <p:sp>
        <p:nvSpPr>
          <p:cNvPr id="9" name="矩形 8"/>
          <p:cNvSpPr/>
          <p:nvPr/>
        </p:nvSpPr>
        <p:spPr>
          <a:xfrm>
            <a:off x="4788024" y="3678674"/>
            <a:ext cx="3390672" cy="369332"/>
          </a:xfrm>
          <a:prstGeom prst="rect">
            <a:avLst/>
          </a:prstGeom>
        </p:spPr>
        <p:txBody>
          <a:bodyPr wrap="none">
            <a:spAutoFit/>
          </a:bodyPr>
          <a:lstStyle/>
          <a:p>
            <a:pPr eaLnBrk="1" hangingPunct="1">
              <a:buFontTx/>
              <a:buNone/>
              <a:defRPr/>
            </a:pPr>
            <a:r>
              <a:rPr lang="zh-CN" altLang="zh-CN" kern="100" dirty="0">
                <a:latin typeface="Times New Roman" panose="02020603050405020304" pitchFamily="18" charset="0"/>
                <a:cs typeface="Times New Roman" panose="02020603050405020304" pitchFamily="18" charset="0"/>
              </a:rPr>
              <a:t>输入串</a:t>
            </a:r>
            <a:r>
              <a:rPr lang="en-US" altLang="zh-CN" kern="100" dirty="0" err="1">
                <a:latin typeface="Times New Roman" panose="02020603050405020304" pitchFamily="18" charset="0"/>
              </a:rPr>
              <a:t>aa</a:t>
            </a:r>
            <a:r>
              <a:rPr lang="zh-CN" altLang="zh-CN" kern="100" dirty="0">
                <a:latin typeface="Times New Roman" panose="02020603050405020304" pitchFamily="18" charset="0"/>
                <a:cs typeface="Times New Roman" panose="02020603050405020304" pitchFamily="18" charset="0"/>
              </a:rPr>
              <a:t>的带执行顺序的语法树</a:t>
            </a:r>
            <a:endParaRPr lang="zh-CN" altLang="en-US" dirty="0">
              <a:latin typeface="Arial" pitchFamily="34" charset="0"/>
            </a:endParaRPr>
          </a:p>
        </p:txBody>
      </p:sp>
      <p:sp>
        <p:nvSpPr>
          <p:cNvPr id="10" name="矩形 9"/>
          <p:cNvSpPr/>
          <p:nvPr/>
        </p:nvSpPr>
        <p:spPr>
          <a:xfrm>
            <a:off x="833438" y="4437460"/>
            <a:ext cx="6115050" cy="584775"/>
          </a:xfrm>
          <a:prstGeom prst="rect">
            <a:avLst/>
          </a:prstGeom>
          <a:solidFill>
            <a:schemeClr val="bg1"/>
          </a:solidFill>
        </p:spPr>
        <p:txBody>
          <a:bodyPr>
            <a:spAutoFit/>
          </a:bodyPr>
          <a:lstStyle/>
          <a:p>
            <a:pPr eaLnBrk="1" hangingPunct="1">
              <a:buFontTx/>
              <a:buNone/>
              <a:defRPr/>
            </a:pPr>
            <a:r>
              <a:rPr lang="en-US" altLang="zh-CN" sz="3200" kern="100" dirty="0">
                <a:latin typeface="Times New Roman" panose="02020603050405020304" pitchFamily="18" charset="0"/>
              </a:rPr>
              <a:t>S</a:t>
            </a:r>
            <a:r>
              <a:rPr lang="zh-CN" altLang="zh-CN" sz="3200" kern="100" dirty="0">
                <a:latin typeface="Times New Roman" panose="02020603050405020304" pitchFamily="18" charset="0"/>
                <a:cs typeface="Times New Roman" panose="02020603050405020304" pitchFamily="18" charset="0"/>
              </a:rPr>
              <a:t>→</a:t>
            </a:r>
            <a:r>
              <a:rPr lang="en-US" altLang="zh-CN" sz="3200" kern="100" dirty="0">
                <a:latin typeface="Times New Roman" panose="02020603050405020304" pitchFamily="18" charset="0"/>
              </a:rPr>
              <a:t>{A</a:t>
            </a:r>
            <a:r>
              <a:rPr lang="en-US" altLang="zh-CN" sz="3200" kern="100" baseline="-25000" dirty="0">
                <a:latin typeface="Times New Roman" panose="02020603050405020304" pitchFamily="18" charset="0"/>
              </a:rPr>
              <a:t>1</a:t>
            </a:r>
            <a:r>
              <a:rPr lang="en-US" altLang="zh-CN" sz="3200" kern="100" dirty="0">
                <a:latin typeface="Times New Roman" panose="02020603050405020304" pitchFamily="18" charset="0"/>
              </a:rPr>
              <a:t>.in = 1}A</a:t>
            </a:r>
            <a:r>
              <a:rPr lang="en-US" altLang="zh-CN" sz="3200" kern="100" baseline="-25000" dirty="0">
                <a:latin typeface="Times New Roman" panose="02020603050405020304" pitchFamily="18" charset="0"/>
              </a:rPr>
              <a:t>1</a:t>
            </a:r>
            <a:r>
              <a:rPr lang="en-US" altLang="zh-CN" sz="3200" kern="100" dirty="0">
                <a:latin typeface="Times New Roman" panose="02020603050405020304" pitchFamily="18" charset="0"/>
              </a:rPr>
              <a:t> { A</a:t>
            </a:r>
            <a:r>
              <a:rPr lang="en-US" altLang="zh-CN" sz="3200" kern="100" baseline="-25000" dirty="0">
                <a:latin typeface="Times New Roman" panose="02020603050405020304" pitchFamily="18" charset="0"/>
              </a:rPr>
              <a:t>2</a:t>
            </a:r>
            <a:r>
              <a:rPr lang="en-US" altLang="zh-CN" sz="3200" kern="100" dirty="0">
                <a:latin typeface="Times New Roman" panose="02020603050405020304" pitchFamily="18" charset="0"/>
              </a:rPr>
              <a:t>.in = 2}A</a:t>
            </a:r>
            <a:r>
              <a:rPr lang="en-US" altLang="zh-CN" sz="3200" kern="100" baseline="-25000" dirty="0">
                <a:latin typeface="Times New Roman" panose="02020603050405020304" pitchFamily="18" charset="0"/>
              </a:rPr>
              <a:t>2</a:t>
            </a:r>
            <a:endParaRPr lang="zh-CN" altLang="en-US" sz="3200" dirty="0">
              <a:latin typeface="Arial" pitchFamily="34" charset="0"/>
            </a:endParaRPr>
          </a:p>
        </p:txBody>
      </p:sp>
      <p:sp>
        <p:nvSpPr>
          <p:cNvPr id="11" name="TextBox 10"/>
          <p:cNvSpPr txBox="1"/>
          <p:nvPr/>
        </p:nvSpPr>
        <p:spPr>
          <a:xfrm>
            <a:off x="1390484" y="1729720"/>
            <a:ext cx="396044" cy="369332"/>
          </a:xfrm>
          <a:prstGeom prst="rect">
            <a:avLst/>
          </a:prstGeom>
          <a:noFill/>
        </p:spPr>
        <p:txBody>
          <a:bodyPr wrap="square" rtlCol="0">
            <a:spAutoFit/>
          </a:bodyPr>
          <a:lstStyle/>
          <a:p>
            <a:r>
              <a:rPr lang="en-US" altLang="zh-CN" dirty="0"/>
              <a:t>S</a:t>
            </a:r>
            <a:endParaRPr lang="zh-CN" altLang="en-US" dirty="0"/>
          </a:p>
        </p:txBody>
      </p:sp>
      <p:sp>
        <p:nvSpPr>
          <p:cNvPr id="12" name="TextBox 11"/>
          <p:cNvSpPr txBox="1"/>
          <p:nvPr/>
        </p:nvSpPr>
        <p:spPr>
          <a:xfrm>
            <a:off x="742412" y="2240300"/>
            <a:ext cx="1741356" cy="369332"/>
          </a:xfrm>
          <a:prstGeom prst="rect">
            <a:avLst/>
          </a:prstGeom>
          <a:noFill/>
        </p:spPr>
        <p:txBody>
          <a:bodyPr wrap="square" rtlCol="0">
            <a:spAutoFit/>
          </a:bodyPr>
          <a:lstStyle/>
          <a:p>
            <a:r>
              <a:rPr lang="en-US" altLang="zh-CN" dirty="0"/>
              <a:t>A</a:t>
            </a:r>
            <a:r>
              <a:rPr lang="en-US" altLang="zh-CN" baseline="-25000" dirty="0"/>
              <a:t>1</a:t>
            </a:r>
            <a:r>
              <a:rPr lang="en-US" altLang="zh-CN" dirty="0"/>
              <a:t>             A</a:t>
            </a:r>
            <a:r>
              <a:rPr lang="en-US" altLang="zh-CN" baseline="-25000" dirty="0"/>
              <a:t>2</a:t>
            </a:r>
            <a:r>
              <a:rPr lang="en-US" altLang="zh-CN" dirty="0"/>
              <a:t> </a:t>
            </a:r>
            <a:endParaRPr lang="zh-CN" altLang="en-US" dirty="0"/>
          </a:p>
        </p:txBody>
      </p:sp>
      <p:cxnSp>
        <p:nvCxnSpPr>
          <p:cNvPr id="13" name="直接连接符 12"/>
          <p:cNvCxnSpPr/>
          <p:nvPr/>
        </p:nvCxnSpPr>
        <p:spPr>
          <a:xfrm flipH="1">
            <a:off x="958436" y="2058402"/>
            <a:ext cx="558062"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flipV="1">
            <a:off x="1516498" y="2058402"/>
            <a:ext cx="594066"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89553" y="2533892"/>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63539" y="2850490"/>
            <a:ext cx="198022" cy="369332"/>
          </a:xfrm>
          <a:prstGeom prst="rect">
            <a:avLst/>
          </a:prstGeom>
          <a:noFill/>
        </p:spPr>
        <p:txBody>
          <a:bodyPr wrap="square" rtlCol="0">
            <a:spAutoFit/>
          </a:bodyPr>
          <a:lstStyle/>
          <a:p>
            <a:r>
              <a:rPr lang="en-US" altLang="zh-CN" dirty="0"/>
              <a:t>a</a:t>
            </a:r>
            <a:endParaRPr lang="zh-CN" altLang="en-US" dirty="0"/>
          </a:p>
        </p:txBody>
      </p:sp>
      <p:sp>
        <p:nvSpPr>
          <p:cNvPr id="17" name="TextBox 16"/>
          <p:cNvSpPr txBox="1"/>
          <p:nvPr/>
        </p:nvSpPr>
        <p:spPr>
          <a:xfrm>
            <a:off x="1979712" y="2850490"/>
            <a:ext cx="288032" cy="369332"/>
          </a:xfrm>
          <a:prstGeom prst="rect">
            <a:avLst/>
          </a:prstGeom>
          <a:noFill/>
        </p:spPr>
        <p:txBody>
          <a:bodyPr wrap="square" rtlCol="0">
            <a:spAutoFit/>
          </a:bodyPr>
          <a:lstStyle/>
          <a:p>
            <a:r>
              <a:rPr lang="en-US" altLang="zh-CN" dirty="0"/>
              <a:t>a</a:t>
            </a:r>
            <a:endParaRPr lang="zh-CN" altLang="en-US" dirty="0"/>
          </a:p>
        </p:txBody>
      </p:sp>
      <p:cxnSp>
        <p:nvCxnSpPr>
          <p:cNvPr id="20" name="直接连接符 19"/>
          <p:cNvCxnSpPr/>
          <p:nvPr/>
        </p:nvCxnSpPr>
        <p:spPr>
          <a:xfrm>
            <a:off x="2119567" y="2562458"/>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对象 4">
            <a:extLst>
              <a:ext uri="{FF2B5EF4-FFF2-40B4-BE49-F238E27FC236}">
                <a16:creationId xmlns:a16="http://schemas.microsoft.com/office/drawing/2014/main" id="{6FA49BF2-9ABD-2532-8FEC-3B1274FB9631}"/>
              </a:ext>
            </a:extLst>
          </p:cNvPr>
          <p:cNvGraphicFramePr>
            <a:graphicFrameLocks noChangeAspect="1"/>
          </p:cNvGraphicFramePr>
          <p:nvPr>
            <p:extLst>
              <p:ext uri="{D42A27DB-BD31-4B8C-83A1-F6EECF244321}">
                <p14:modId xmlns:p14="http://schemas.microsoft.com/office/powerpoint/2010/main" val="3911470483"/>
              </p:ext>
            </p:extLst>
          </p:nvPr>
        </p:nvGraphicFramePr>
        <p:xfrm>
          <a:off x="4471087" y="1398509"/>
          <a:ext cx="4060208" cy="2124328"/>
        </p:xfrm>
        <a:graphic>
          <a:graphicData uri="http://schemas.openxmlformats.org/presentationml/2006/ole">
            <mc:AlternateContent xmlns:mc="http://schemas.openxmlformats.org/markup-compatibility/2006">
              <mc:Choice xmlns:v="urn:schemas-microsoft-com:vml" Requires="v">
                <p:oleObj name="Visio" r:id="rId2" imgW="2257506" imgH="1190705" progId="Visio.Drawing.15">
                  <p:embed/>
                </p:oleObj>
              </mc:Choice>
              <mc:Fallback>
                <p:oleObj name="Visio" r:id="rId2" imgW="2257506" imgH="1190705"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1087" y="1398509"/>
                        <a:ext cx="4060208" cy="2124328"/>
                      </a:xfrm>
                      <a:prstGeom prst="rect">
                        <a:avLst/>
                      </a:prstGeom>
                      <a:noFill/>
                    </p:spPr>
                  </p:pic>
                </p:oleObj>
              </mc:Fallback>
            </mc:AlternateContent>
          </a:graphicData>
        </a:graphic>
      </p:graphicFrame>
    </p:spTree>
    <p:extLst>
      <p:ext uri="{BB962C8B-B14F-4D97-AF65-F5344CB8AC3E}">
        <p14:creationId xmlns:p14="http://schemas.microsoft.com/office/powerpoint/2010/main" val="368011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6" grpId="0"/>
      <p:bldP spid="1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395288" y="573882"/>
            <a:ext cx="8229600" cy="597694"/>
          </a:xfrm>
        </p:spPr>
        <p:txBody>
          <a:bodyPr>
            <a:normAutofit fontScale="90000"/>
          </a:bodyPr>
          <a:lstStyle/>
          <a:p>
            <a:pPr eaLnBrk="1" hangingPunct="1"/>
            <a:r>
              <a:rPr lang="zh-CN" altLang="en-US" sz="4000" b="1">
                <a:ea typeface="楷体_GB2312" pitchFamily="49" charset="-122"/>
              </a:rPr>
              <a:t>语义子程序的调用时机</a:t>
            </a:r>
          </a:p>
        </p:txBody>
      </p:sp>
      <p:sp>
        <p:nvSpPr>
          <p:cNvPr id="45059" name="Rectangle 3"/>
          <p:cNvSpPr>
            <a:spLocks noGrp="1" noChangeArrowheads="1"/>
          </p:cNvSpPr>
          <p:nvPr>
            <p:ph type="body" idx="1"/>
          </p:nvPr>
        </p:nvSpPr>
        <p:spPr>
          <a:xfrm>
            <a:off x="468313" y="1491853"/>
            <a:ext cx="8229600" cy="2632472"/>
          </a:xfrm>
        </p:spPr>
        <p:txBody>
          <a:bodyPr>
            <a:normAutofit lnSpcReduction="10000"/>
          </a:bodyPr>
          <a:lstStyle/>
          <a:p>
            <a:pPr eaLnBrk="1" hangingPunct="1"/>
            <a:r>
              <a:rPr lang="zh-CN" altLang="en-US" sz="2400" dirty="0"/>
              <a:t>对应每一个产生式编制一个语义子程序，在进行语法分析的过程中，当一个产生式获得匹配时，就调用相应的</a:t>
            </a:r>
            <a:r>
              <a:rPr lang="zh-CN" altLang="en-US" sz="2800" b="1" dirty="0">
                <a:solidFill>
                  <a:srgbClr val="FF3300"/>
                </a:solidFill>
              </a:rPr>
              <a:t>语义子程序</a:t>
            </a:r>
            <a:r>
              <a:rPr lang="zh-CN" altLang="en-US" sz="2400" dirty="0"/>
              <a:t>实现语义检查与翻译。</a:t>
            </a:r>
            <a:endParaRPr lang="en-US" altLang="zh-CN" sz="2400" dirty="0"/>
          </a:p>
          <a:p>
            <a:pPr eaLnBrk="1" hangingPunct="1"/>
            <a:r>
              <a:rPr lang="zh-CN" altLang="en-US" sz="2400" dirty="0"/>
              <a:t>在自下而上语法分析的过程中，每一次归约时就调用相应的语义子程序。</a:t>
            </a:r>
          </a:p>
          <a:p>
            <a:pPr eaLnBrk="1" hangingPunct="1"/>
            <a:r>
              <a:rPr lang="zh-CN" altLang="en-US" sz="2400" dirty="0"/>
              <a:t>在产生式的右部的适当位置，插入相应的语义动作，按照分析的进程，执行遇到的语义动作。</a:t>
            </a:r>
          </a:p>
        </p:txBody>
      </p:sp>
    </p:spTree>
    <p:extLst>
      <p:ext uri="{BB962C8B-B14F-4D97-AF65-F5344CB8AC3E}">
        <p14:creationId xmlns:p14="http://schemas.microsoft.com/office/powerpoint/2010/main" val="23037430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29424891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6200736" cy="1323439"/>
          </a:xfrm>
          <a:prstGeom prst="rect">
            <a:avLst/>
          </a:prstGeom>
        </p:spPr>
        <p:txBody>
          <a:bodyPr wrap="non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、语法制导的语义处理</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en-US" altLang="zh-CN" sz="3200" b="1" dirty="0">
                <a:solidFill>
                  <a:srgbClr val="CC0099"/>
                </a:solidFill>
                <a:ea typeface="隶书" pitchFamily="49" charset="-122"/>
              </a:rPr>
              <a:t>——</a:t>
            </a:r>
            <a:r>
              <a:rPr lang="zh-CN" altLang="en-US" sz="3200" b="1" dirty="0">
                <a:solidFill>
                  <a:srgbClr val="CC0099"/>
                </a:solidFill>
                <a:ea typeface="隶书" pitchFamily="49" charset="-122"/>
              </a:rPr>
              <a:t>建立翻译模式实例</a:t>
            </a:r>
            <a:endParaRPr lang="zh-CN" altLang="en-US" sz="3200" dirty="0"/>
          </a:p>
        </p:txBody>
      </p:sp>
    </p:spTree>
    <p:extLst>
      <p:ext uri="{BB962C8B-B14F-4D97-AF65-F5344CB8AC3E}">
        <p14:creationId xmlns:p14="http://schemas.microsoft.com/office/powerpoint/2010/main" val="5058154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normAutofit fontScale="90000"/>
          </a:bodyPr>
          <a:lstStyle/>
          <a:p>
            <a:r>
              <a:rPr lang="zh-CN" altLang="en-US" dirty="0"/>
              <a:t>排版软件</a:t>
            </a:r>
          </a:p>
        </p:txBody>
      </p:sp>
      <p:pic>
        <p:nvPicPr>
          <p:cNvPr id="4" name="Picture 10" descr="https://ss1.bdstatic.com/70cFvXSh_Q1YnxGkpoWK1HF6hhy/it/u=315877498,4102939927&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1857" y="244317"/>
            <a:ext cx="2090423" cy="8152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https://ss2.bdstatic.com/70cFvnSh_Q1YnxGkpoWK1HF6hhy/it/u=516300429,765405839&amp;fm=26&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0202" y="357766"/>
            <a:ext cx="1262326" cy="701816"/>
          </a:xfrm>
          <a:prstGeom prst="rect">
            <a:avLst/>
          </a:prstGeom>
          <a:noFill/>
          <a:extLst>
            <a:ext uri="{909E8E84-426E-40DD-AFC4-6F175D3DCCD1}">
              <a14:hiddenFill xmlns:a14="http://schemas.microsoft.com/office/drawing/2010/main">
                <a:solidFill>
                  <a:srgbClr val="FFFFFF"/>
                </a:solidFill>
              </a14:hiddenFill>
            </a:ext>
          </a:extLst>
        </p:spPr>
      </p:pic>
      <p:pic>
        <p:nvPicPr>
          <p:cNvPr id="220162" name="Picture 2" descr="C:\Users\hxy\Documents\Tencent Files\1303366922\Image\C2C\5(3C2O)WZHT_2IOGEX2N8@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358" y="1707655"/>
            <a:ext cx="3108295" cy="3140094"/>
          </a:xfrm>
          <a:prstGeom prst="rect">
            <a:avLst/>
          </a:prstGeom>
          <a:noFill/>
          <a:extLst>
            <a:ext uri="{909E8E84-426E-40DD-AFC4-6F175D3DCCD1}">
              <a14:hiddenFill xmlns:a14="http://schemas.microsoft.com/office/drawing/2010/main">
                <a:solidFill>
                  <a:srgbClr val="FFFFFF"/>
                </a:solidFill>
              </a14:hiddenFill>
            </a:ext>
          </a:extLst>
        </p:spPr>
      </p:pic>
      <p:pic>
        <p:nvPicPr>
          <p:cNvPr id="220164" name="Picture 4" descr="C:\Users\hxy\Documents\Tencent Files\1303366922\Image\C2C\TCJ)VPT1AK25`Q4{@8HL`K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7251" y="1707654"/>
            <a:ext cx="3166053" cy="319844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接连接符 6"/>
          <p:cNvCxnSpPr/>
          <p:nvPr/>
        </p:nvCxnSpPr>
        <p:spPr>
          <a:xfrm>
            <a:off x="868307" y="2304515"/>
            <a:ext cx="187220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812523" y="2304515"/>
            <a:ext cx="28803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890175" y="2244454"/>
            <a:ext cx="3600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2016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3381" y="1626588"/>
            <a:ext cx="3820619" cy="1536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5" name="直接连接符 24"/>
          <p:cNvCxnSpPr/>
          <p:nvPr/>
        </p:nvCxnSpPr>
        <p:spPr>
          <a:xfrm>
            <a:off x="6047068" y="3120112"/>
            <a:ext cx="3600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004778" y="2931790"/>
            <a:ext cx="18156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344816" y="190284"/>
            <a:ext cx="1763688" cy="923330"/>
          </a:xfrm>
          <a:prstGeom prst="rect">
            <a:avLst/>
          </a:prstGeom>
          <a:noFill/>
        </p:spPr>
        <p:txBody>
          <a:bodyPr wrap="square" rtlCol="0">
            <a:spAutoFit/>
          </a:bodyPr>
          <a:lstStyle/>
          <a:p>
            <a:r>
              <a:rPr lang="en-US" altLang="zh-CN" sz="5400" dirty="0">
                <a:latin typeface="宋体" panose="02010600030101010101" pitchFamily="2" charset="-122"/>
                <a:ea typeface="宋体" panose="02010600030101010101" pitchFamily="2" charset="-122"/>
              </a:rPr>
              <a:t>Word</a:t>
            </a:r>
            <a:endParaRPr lang="zh-CN" altLang="en-US" sz="5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3694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1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01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203598"/>
            <a:ext cx="1944216" cy="648073"/>
          </a:xfrm>
        </p:spPr>
        <p:txBody>
          <a:bodyPr/>
          <a:lstStyle/>
          <a:p>
            <a:r>
              <a:rPr lang="zh-CN" altLang="en-US" dirty="0"/>
              <a:t>给定输入</a:t>
            </a:r>
          </a:p>
        </p:txBody>
      </p:sp>
      <p:sp>
        <p:nvSpPr>
          <p:cNvPr id="3" name="标题 2"/>
          <p:cNvSpPr>
            <a:spLocks noGrp="1"/>
          </p:cNvSpPr>
          <p:nvPr>
            <p:ph type="title"/>
          </p:nvPr>
        </p:nvSpPr>
        <p:spPr>
          <a:xfrm>
            <a:off x="179512" y="123478"/>
            <a:ext cx="8229600" cy="576064"/>
          </a:xfrm>
        </p:spPr>
        <p:txBody>
          <a:bodyPr>
            <a:noAutofit/>
          </a:bodyPr>
          <a:lstStyle/>
          <a:p>
            <a:r>
              <a:rPr lang="zh-CN" altLang="en-US" dirty="0"/>
              <a:t>基于数学格式语言</a:t>
            </a:r>
            <a:r>
              <a:rPr lang="en-US" altLang="zh-CN" dirty="0"/>
              <a:t>EQN</a:t>
            </a:r>
            <a:endParaRPr lang="zh-CN" altLang="en-US" dirty="0"/>
          </a:p>
        </p:txBody>
      </p:sp>
      <p:sp>
        <p:nvSpPr>
          <p:cNvPr id="4" name="TextBox 3"/>
          <p:cNvSpPr txBox="1"/>
          <p:nvPr/>
        </p:nvSpPr>
        <p:spPr>
          <a:xfrm>
            <a:off x="3995937" y="1817849"/>
            <a:ext cx="1152128"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err="1"/>
              <a:t>E</a:t>
            </a:r>
            <a:r>
              <a:rPr lang="en-US" altLang="zh-CN" sz="2800" baseline="-25000" dirty="0" err="1"/>
              <a:t>n</a:t>
            </a:r>
            <a:r>
              <a:rPr lang="en-US" altLang="zh-CN" sz="2800" dirty="0" err="1"/>
              <a:t>.val</a:t>
            </a:r>
            <a:endParaRPr lang="zh-CN" altLang="en-US" sz="2800" dirty="0"/>
          </a:p>
        </p:txBody>
      </p:sp>
      <p:sp>
        <p:nvSpPr>
          <p:cNvPr id="5" name="矩形 4"/>
          <p:cNvSpPr/>
          <p:nvPr/>
        </p:nvSpPr>
        <p:spPr>
          <a:xfrm>
            <a:off x="863027" y="1899446"/>
            <a:ext cx="1798890" cy="461665"/>
          </a:xfrm>
          <a:prstGeom prst="rect">
            <a:avLst/>
          </a:prstGeom>
        </p:spPr>
        <p:txBody>
          <a:bodyPr wrap="none">
            <a:spAutoFit/>
          </a:bodyPr>
          <a:lstStyle/>
          <a:p>
            <a:r>
              <a:rPr lang="en-US" altLang="zh-CN" sz="2400" dirty="0"/>
              <a:t>E sub </a:t>
            </a:r>
            <a:r>
              <a:rPr lang="en-US" altLang="zh-CN" sz="2400" dirty="0" err="1"/>
              <a:t>n.val</a:t>
            </a:r>
            <a:endParaRPr lang="en-US" altLang="zh-CN" sz="2400" dirty="0"/>
          </a:p>
        </p:txBody>
      </p:sp>
      <p:sp>
        <p:nvSpPr>
          <p:cNvPr id="6" name="TextBox 5"/>
          <p:cNvSpPr txBox="1"/>
          <p:nvPr/>
        </p:nvSpPr>
        <p:spPr>
          <a:xfrm>
            <a:off x="4103387" y="3108608"/>
            <a:ext cx="1296144"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r>
              <a:rPr lang="en-US" altLang="zh-CN" sz="2800" baseline="-25000" dirty="0"/>
              <a:t>n</a:t>
            </a:r>
            <a:r>
              <a:rPr lang="en-US" altLang="zh-CN" sz="2800" baseline="-50000" dirty="0"/>
              <a:t>1</a:t>
            </a:r>
            <a:r>
              <a:rPr lang="en-US" altLang="zh-CN" sz="2800" dirty="0"/>
              <a:t>.val</a:t>
            </a:r>
            <a:endParaRPr lang="zh-CN" altLang="en-US" sz="2800" dirty="0"/>
          </a:p>
        </p:txBody>
      </p:sp>
      <p:sp>
        <p:nvSpPr>
          <p:cNvPr id="7" name="矩形 6"/>
          <p:cNvSpPr/>
          <p:nvPr/>
        </p:nvSpPr>
        <p:spPr>
          <a:xfrm>
            <a:off x="863027" y="3190205"/>
            <a:ext cx="2820003" cy="461665"/>
          </a:xfrm>
          <a:prstGeom prst="rect">
            <a:avLst/>
          </a:prstGeom>
        </p:spPr>
        <p:txBody>
          <a:bodyPr wrap="none">
            <a:spAutoFit/>
          </a:bodyPr>
          <a:lstStyle/>
          <a:p>
            <a:r>
              <a:rPr lang="en-US" altLang="zh-CN" sz="2400" dirty="0"/>
              <a:t>E sub n sub 1.val</a:t>
            </a:r>
          </a:p>
        </p:txBody>
      </p:sp>
      <p:sp>
        <p:nvSpPr>
          <p:cNvPr id="8" name="内容占位符 1"/>
          <p:cNvSpPr txBox="1">
            <a:spLocks/>
          </p:cNvSpPr>
          <p:nvPr/>
        </p:nvSpPr>
        <p:spPr>
          <a:xfrm>
            <a:off x="3683030" y="1203597"/>
            <a:ext cx="1716501" cy="648073"/>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en-US" dirty="0"/>
              <a:t>显示</a:t>
            </a:r>
          </a:p>
        </p:txBody>
      </p:sp>
      <p:sp>
        <p:nvSpPr>
          <p:cNvPr id="9" name="TextBox 8"/>
          <p:cNvSpPr txBox="1"/>
          <p:nvPr/>
        </p:nvSpPr>
        <p:spPr>
          <a:xfrm>
            <a:off x="251519" y="4245358"/>
            <a:ext cx="6189119" cy="769441"/>
          </a:xfrm>
          <a:prstGeom prst="rect">
            <a:avLst/>
          </a:prstGeom>
          <a:solidFill>
            <a:schemeClr val="bg1"/>
          </a:solidFill>
        </p:spPr>
        <p:txBody>
          <a:bodyPr wrap="square" rtlCol="0">
            <a:spAutoFit/>
          </a:bodyPr>
          <a:lstStyle/>
          <a:p>
            <a:pPr marL="342900" indent="-342900">
              <a:buFont typeface="Arial" panose="020B0604020202020204" pitchFamily="34" charset="0"/>
              <a:buChar char="•"/>
            </a:pPr>
            <a:r>
              <a:rPr lang="en-US" altLang="zh-CN" sz="2200" dirty="0"/>
              <a:t>EQN </a:t>
            </a:r>
            <a:r>
              <a:rPr lang="zh-CN" altLang="en-US" sz="2200" dirty="0"/>
              <a:t>实际是根据文本内容，把</a:t>
            </a:r>
            <a:r>
              <a:rPr lang="en-US" altLang="zh-CN" sz="2200" dirty="0"/>
              <a:t>E</a:t>
            </a:r>
            <a:r>
              <a:rPr lang="zh-CN" altLang="en-US" sz="2200" dirty="0"/>
              <a:t>、</a:t>
            </a:r>
            <a:r>
              <a:rPr lang="en-US" altLang="zh-CN" sz="2200" dirty="0"/>
              <a:t>n</a:t>
            </a:r>
            <a:r>
              <a:rPr lang="zh-CN" altLang="en-US" sz="2200" dirty="0"/>
              <a:t>、</a:t>
            </a:r>
            <a:r>
              <a:rPr lang="en-US" altLang="zh-CN" sz="2200" dirty="0"/>
              <a:t>1</a:t>
            </a:r>
            <a:r>
              <a:rPr lang="zh-CN" altLang="en-US" sz="2200" dirty="0"/>
              <a:t>和</a:t>
            </a:r>
            <a:r>
              <a:rPr lang="en-US" altLang="zh-CN" sz="2200" dirty="0"/>
              <a:t>.</a:t>
            </a:r>
            <a:r>
              <a:rPr lang="en-US" altLang="zh-CN" sz="2200" dirty="0" err="1"/>
              <a:t>val</a:t>
            </a:r>
            <a:r>
              <a:rPr lang="zh-CN" altLang="en-US" sz="2200" dirty="0"/>
              <a:t>分别按照不同的大小安放在不同的位置上</a:t>
            </a:r>
          </a:p>
        </p:txBody>
      </p:sp>
      <p:grpSp>
        <p:nvGrpSpPr>
          <p:cNvPr id="17" name="组合 16"/>
          <p:cNvGrpSpPr/>
          <p:nvPr/>
        </p:nvGrpSpPr>
        <p:grpSpPr>
          <a:xfrm>
            <a:off x="6372200" y="1756003"/>
            <a:ext cx="1656184" cy="646912"/>
            <a:chOff x="5796136" y="1203597"/>
            <a:chExt cx="1656184" cy="646912"/>
          </a:xfrm>
        </p:grpSpPr>
        <p:sp>
          <p:nvSpPr>
            <p:cNvPr id="10" name="TextBox 9"/>
            <p:cNvSpPr txBox="1"/>
            <p:nvPr/>
          </p:nvSpPr>
          <p:spPr>
            <a:xfrm>
              <a:off x="5796136" y="1203597"/>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11" name="TextBox 10"/>
            <p:cNvSpPr txBox="1"/>
            <p:nvPr/>
          </p:nvSpPr>
          <p:spPr>
            <a:xfrm>
              <a:off x="6623554" y="1203597"/>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12" name="TextBox 11"/>
            <p:cNvSpPr txBox="1"/>
            <p:nvPr/>
          </p:nvSpPr>
          <p:spPr>
            <a:xfrm>
              <a:off x="6225804" y="1419622"/>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grpSp>
      <p:grpSp>
        <p:nvGrpSpPr>
          <p:cNvPr id="18" name="组合 17"/>
          <p:cNvGrpSpPr/>
          <p:nvPr/>
        </p:nvGrpSpPr>
        <p:grpSpPr>
          <a:xfrm>
            <a:off x="6405825" y="3108608"/>
            <a:ext cx="1982599" cy="737800"/>
            <a:chOff x="5829761" y="3108608"/>
            <a:chExt cx="1982599" cy="737800"/>
          </a:xfrm>
        </p:grpSpPr>
        <p:sp>
          <p:nvSpPr>
            <p:cNvPr id="13" name="TextBox 12"/>
            <p:cNvSpPr txBox="1"/>
            <p:nvPr/>
          </p:nvSpPr>
          <p:spPr>
            <a:xfrm>
              <a:off x="5829761" y="3108608"/>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14" name="TextBox 13"/>
            <p:cNvSpPr txBox="1"/>
            <p:nvPr/>
          </p:nvSpPr>
          <p:spPr>
            <a:xfrm>
              <a:off x="6983594" y="3108608"/>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15" name="TextBox 14"/>
            <p:cNvSpPr txBox="1"/>
            <p:nvPr/>
          </p:nvSpPr>
          <p:spPr>
            <a:xfrm>
              <a:off x="6259429" y="3291830"/>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sp>
          <p:nvSpPr>
            <p:cNvPr id="16" name="TextBox 15"/>
            <p:cNvSpPr txBox="1"/>
            <p:nvPr/>
          </p:nvSpPr>
          <p:spPr>
            <a:xfrm>
              <a:off x="6675518" y="3507854"/>
              <a:ext cx="308076" cy="338554"/>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1600" dirty="0"/>
                <a:t>1</a:t>
              </a:r>
              <a:endParaRPr lang="zh-CN" altLang="en-US" sz="1600" dirty="0"/>
            </a:p>
          </p:txBody>
        </p:sp>
      </p:grpSp>
    </p:spTree>
    <p:extLst>
      <p:ext uri="{BB962C8B-B14F-4D97-AF65-F5344CB8AC3E}">
        <p14:creationId xmlns:p14="http://schemas.microsoft.com/office/powerpoint/2010/main" val="69881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5" grpId="0"/>
      <p:bldP spid="6" grpId="0" animBg="1"/>
      <p:bldP spid="7" grpId="0"/>
      <p:bldP spid="8" grpId="0"/>
      <p:bldP spid="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内容占位符 8"/>
          <p:cNvGraphicFramePr>
            <a:graphicFrameLocks noGrp="1"/>
          </p:cNvGraphicFramePr>
          <p:nvPr>
            <p:ph idx="1"/>
          </p:nvPr>
        </p:nvGraphicFramePr>
        <p:xfrm>
          <a:off x="179512" y="1059582"/>
          <a:ext cx="5472608" cy="3810000"/>
        </p:xfrm>
        <a:graphic>
          <a:graphicData uri="http://schemas.openxmlformats.org/drawingml/2006/table">
            <a:tbl>
              <a:tblPr firstRow="1" bandRow="1">
                <a:tableStyleId>{5C22544A-7EE6-4342-B048-85BDC9FD1C3A}</a:tableStyleId>
              </a:tblPr>
              <a:tblGrid>
                <a:gridCol w="1847894">
                  <a:extLst>
                    <a:ext uri="{9D8B030D-6E8A-4147-A177-3AD203B41FA5}">
                      <a16:colId xmlns:a16="http://schemas.microsoft.com/office/drawing/2014/main" val="20000"/>
                    </a:ext>
                  </a:extLst>
                </a:gridCol>
                <a:gridCol w="3624714">
                  <a:extLst>
                    <a:ext uri="{9D8B030D-6E8A-4147-A177-3AD203B41FA5}">
                      <a16:colId xmlns:a16="http://schemas.microsoft.com/office/drawing/2014/main" val="20001"/>
                    </a:ext>
                  </a:extLst>
                </a:gridCol>
              </a:tblGrid>
              <a:tr h="370840">
                <a:tc>
                  <a:txBody>
                    <a:bodyPr/>
                    <a:lstStyle/>
                    <a:p>
                      <a:r>
                        <a:rPr lang="zh-CN" altLang="en-US" sz="2200" dirty="0">
                          <a:solidFill>
                            <a:schemeClr val="tx1"/>
                          </a:solidFill>
                          <a:latin typeface="宋体" panose="02010600030101010101" pitchFamily="2" charset="-122"/>
                          <a:ea typeface="宋体" panose="02010600030101010101" pitchFamily="2" charset="-122"/>
                        </a:rPr>
                        <a:t>产生式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2200" dirty="0">
                          <a:solidFill>
                            <a:schemeClr val="tx1"/>
                          </a:solidFill>
                          <a:latin typeface="宋体" panose="02010600030101010101" pitchFamily="2" charset="-122"/>
                          <a:ea typeface="宋体" panose="02010600030101010101" pitchFamily="2" charset="-122"/>
                        </a:rPr>
                        <a:t>语义规则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altLang="zh-CN" sz="2200" dirty="0">
                          <a:solidFill>
                            <a:schemeClr val="tx1"/>
                          </a:solidFill>
                          <a:latin typeface="宋体" panose="02010600030101010101" pitchFamily="2" charset="-122"/>
                          <a:ea typeface="宋体" panose="02010600030101010101" pitchFamily="2" charset="-122"/>
                        </a:rPr>
                        <a:t>S</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200" dirty="0">
                          <a:solidFill>
                            <a:schemeClr val="tx1"/>
                          </a:solidFill>
                          <a:latin typeface="宋体" panose="02010600030101010101" pitchFamily="2" charset="-122"/>
                          <a:ea typeface="宋体" panose="02010600030101010101" pitchFamily="2" charset="-122"/>
                        </a:rPr>
                        <a:t>B.ps = 10</a:t>
                      </a:r>
                    </a:p>
                    <a:p>
                      <a:r>
                        <a:rPr lang="en-US" altLang="zh-CN" sz="2200" dirty="0">
                          <a:solidFill>
                            <a:schemeClr val="tx1"/>
                          </a:solidFill>
                          <a:latin typeface="宋体" panose="02010600030101010101" pitchFamily="2" charset="-122"/>
                          <a:ea typeface="宋体" panose="02010600030101010101" pitchFamily="2" charset="-122"/>
                        </a:rPr>
                        <a:t>S.ht = B.ht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altLang="zh-CN" sz="2200" dirty="0">
                          <a:solidFill>
                            <a:schemeClr val="tx1"/>
                          </a:solidFill>
                          <a:latin typeface="宋体" panose="02010600030101010101" pitchFamily="2" charset="-122"/>
                          <a:ea typeface="宋体" panose="02010600030101010101" pitchFamily="2" charset="-122"/>
                        </a:rPr>
                        <a:t>B</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22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rPr>
                        <a:t>B.ht = max(</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.ht,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.ht)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rPr>
                        <a:t>B</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 sub 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22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.ps = shrink(B.ps)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rPr>
                        <a:t>B.ht = </a:t>
                      </a:r>
                      <a:r>
                        <a:rPr lang="en-US" altLang="zh-CN" sz="2200" dirty="0" err="1">
                          <a:solidFill>
                            <a:schemeClr val="tx1"/>
                          </a:solidFill>
                          <a:latin typeface="宋体" panose="02010600030101010101" pitchFamily="2" charset="-122"/>
                          <a:ea typeface="宋体" panose="02010600030101010101" pitchFamily="2" charset="-122"/>
                        </a:rPr>
                        <a:t>disp</a:t>
                      </a:r>
                      <a:r>
                        <a:rPr lang="en-US" altLang="zh-CN"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.ht,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.ht)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altLang="zh-CN" sz="2200" dirty="0">
                          <a:solidFill>
                            <a:schemeClr val="tx1"/>
                          </a:solidFill>
                          <a:latin typeface="宋体" panose="02010600030101010101" pitchFamily="2" charset="-122"/>
                          <a:ea typeface="宋体" panose="02010600030101010101" pitchFamily="2" charset="-122"/>
                        </a:rPr>
                        <a:t>B</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text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200" dirty="0">
                          <a:solidFill>
                            <a:schemeClr val="tx1"/>
                          </a:solidFill>
                          <a:latin typeface="宋体" panose="02010600030101010101" pitchFamily="2" charset="-122"/>
                          <a:ea typeface="宋体" panose="02010600030101010101" pitchFamily="2" charset="-122"/>
                        </a:rPr>
                        <a:t>B.ht = </a:t>
                      </a:r>
                      <a:r>
                        <a:rPr lang="en-US" altLang="zh-CN" sz="2200" dirty="0" err="1">
                          <a:solidFill>
                            <a:schemeClr val="tx1"/>
                          </a:solidFill>
                          <a:latin typeface="宋体" panose="02010600030101010101" pitchFamily="2" charset="-122"/>
                          <a:ea typeface="宋体" panose="02010600030101010101" pitchFamily="2" charset="-122"/>
                        </a:rPr>
                        <a:t>text.h</a:t>
                      </a:r>
                      <a:r>
                        <a:rPr lang="en-US" altLang="zh-CN" sz="2200" dirty="0">
                          <a:solidFill>
                            <a:schemeClr val="tx1"/>
                          </a:solidFill>
                          <a:latin typeface="宋体" panose="02010600030101010101" pitchFamily="2" charset="-122"/>
                          <a:ea typeface="宋体" panose="02010600030101010101" pitchFamily="2" charset="-122"/>
                        </a:rPr>
                        <a:t> ×</a:t>
                      </a:r>
                      <a:r>
                        <a:rPr lang="en-US" altLang="zh-CN" sz="2200" baseline="0" dirty="0">
                          <a:solidFill>
                            <a:schemeClr val="tx1"/>
                          </a:solidFill>
                          <a:latin typeface="宋体" panose="02010600030101010101" pitchFamily="2" charset="-122"/>
                          <a:ea typeface="宋体" panose="02010600030101010101" pitchFamily="2" charset="-122"/>
                        </a:rPr>
                        <a:t> B.ps</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标题 2"/>
          <p:cNvSpPr>
            <a:spLocks noGrp="1"/>
          </p:cNvSpPr>
          <p:nvPr>
            <p:ph type="title"/>
          </p:nvPr>
        </p:nvSpPr>
        <p:spPr>
          <a:xfrm>
            <a:off x="-1819" y="246298"/>
            <a:ext cx="5268251" cy="576064"/>
          </a:xfrm>
        </p:spPr>
        <p:txBody>
          <a:bodyPr>
            <a:normAutofit fontScale="90000"/>
          </a:bodyPr>
          <a:lstStyle/>
          <a:p>
            <a:r>
              <a:rPr lang="zh-CN" altLang="en-US" dirty="0"/>
              <a:t>盒子的语法制导的属性文法</a:t>
            </a:r>
          </a:p>
        </p:txBody>
      </p:sp>
      <p:sp>
        <p:nvSpPr>
          <p:cNvPr id="4" name="矩形 3"/>
          <p:cNvSpPr/>
          <p:nvPr/>
        </p:nvSpPr>
        <p:spPr>
          <a:xfrm>
            <a:off x="5148064" y="178101"/>
            <a:ext cx="1798890" cy="461665"/>
          </a:xfrm>
          <a:prstGeom prst="rect">
            <a:avLst/>
          </a:prstGeom>
        </p:spPr>
        <p:txBody>
          <a:bodyPr wrap="none">
            <a:spAutoFit/>
          </a:bodyPr>
          <a:lstStyle/>
          <a:p>
            <a:r>
              <a:rPr lang="en-US" altLang="zh-CN" sz="2400" dirty="0"/>
              <a:t>E sub </a:t>
            </a:r>
            <a:r>
              <a:rPr lang="en-US" altLang="zh-CN" sz="2400" dirty="0" err="1"/>
              <a:t>n.val</a:t>
            </a:r>
            <a:endParaRPr lang="en-US" altLang="zh-CN" sz="2400" dirty="0"/>
          </a:p>
        </p:txBody>
      </p:sp>
      <p:grpSp>
        <p:nvGrpSpPr>
          <p:cNvPr id="5" name="组合 4"/>
          <p:cNvGrpSpPr/>
          <p:nvPr/>
        </p:nvGrpSpPr>
        <p:grpSpPr>
          <a:xfrm>
            <a:off x="7380312" y="102862"/>
            <a:ext cx="1656184" cy="646912"/>
            <a:chOff x="5796136" y="1203597"/>
            <a:chExt cx="1656184" cy="646912"/>
          </a:xfrm>
        </p:grpSpPr>
        <p:sp>
          <p:nvSpPr>
            <p:cNvPr id="6" name="TextBox 5"/>
            <p:cNvSpPr txBox="1"/>
            <p:nvPr/>
          </p:nvSpPr>
          <p:spPr>
            <a:xfrm>
              <a:off x="5796136" y="1203597"/>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7" name="TextBox 6"/>
            <p:cNvSpPr txBox="1"/>
            <p:nvPr/>
          </p:nvSpPr>
          <p:spPr>
            <a:xfrm>
              <a:off x="6623554" y="1203597"/>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8" name="TextBox 7"/>
            <p:cNvSpPr txBox="1"/>
            <p:nvPr/>
          </p:nvSpPr>
          <p:spPr>
            <a:xfrm>
              <a:off x="6225804" y="1419622"/>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grpSp>
      <p:sp>
        <p:nvSpPr>
          <p:cNvPr id="11" name="线形标注 1 10"/>
          <p:cNvSpPr/>
          <p:nvPr/>
        </p:nvSpPr>
        <p:spPr>
          <a:xfrm>
            <a:off x="5652119" y="749774"/>
            <a:ext cx="3168353" cy="840554"/>
          </a:xfrm>
          <a:prstGeom prst="borderCallout1">
            <a:avLst>
              <a:gd name="adj1" fmla="val -1091"/>
              <a:gd name="adj2" fmla="val -453"/>
              <a:gd name="adj3" fmla="val 112500"/>
              <a:gd name="adj4" fmla="val -38333"/>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宋体" panose="02010600030101010101" pitchFamily="2" charset="-122"/>
                <a:ea typeface="宋体" panose="02010600030101010101" pitchFamily="2" charset="-122"/>
              </a:rPr>
              <a:t>非终结符</a:t>
            </a: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（代表一个盒子）表示一个显示块，公式或文本</a:t>
            </a:r>
            <a:endParaRPr lang="en-US" altLang="zh-CN" dirty="0">
              <a:latin typeface="宋体" panose="02010600030101010101" pitchFamily="2" charset="-122"/>
              <a:ea typeface="宋体" panose="02010600030101010101" pitchFamily="2" charset="-122"/>
            </a:endParaRPr>
          </a:p>
          <a:p>
            <a:r>
              <a:rPr lang="zh-CN" altLang="en-US" dirty="0"/>
              <a:t>继承属性</a:t>
            </a:r>
            <a:r>
              <a:rPr lang="en-US" altLang="zh-CN" dirty="0" err="1"/>
              <a:t>ps</a:t>
            </a:r>
            <a:r>
              <a:rPr lang="zh-CN" altLang="en-US" dirty="0"/>
              <a:t>影响公式的高度</a:t>
            </a:r>
          </a:p>
        </p:txBody>
      </p:sp>
      <p:sp>
        <p:nvSpPr>
          <p:cNvPr id="12" name="线形标注 1 11"/>
          <p:cNvSpPr/>
          <p:nvPr/>
        </p:nvSpPr>
        <p:spPr>
          <a:xfrm>
            <a:off x="5652119" y="1590328"/>
            <a:ext cx="3168353" cy="576064"/>
          </a:xfrm>
          <a:prstGeom prst="borderCallout1">
            <a:avLst>
              <a:gd name="adj1" fmla="val -1091"/>
              <a:gd name="adj2" fmla="val -453"/>
              <a:gd name="adj3" fmla="val 82738"/>
              <a:gd name="adj4" fmla="val -43399"/>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综合属性</a:t>
            </a:r>
            <a:r>
              <a:rPr lang="en-US" altLang="zh-CN" dirty="0"/>
              <a:t>B.ht</a:t>
            </a:r>
            <a:r>
              <a:rPr lang="zh-CN" altLang="en-US" dirty="0"/>
              <a:t>代表</a:t>
            </a:r>
            <a:r>
              <a:rPr lang="en-US" altLang="zh-CN" dirty="0"/>
              <a:t>B</a:t>
            </a:r>
            <a:r>
              <a:rPr lang="zh-CN" altLang="en-US" dirty="0"/>
              <a:t>的高度</a:t>
            </a:r>
          </a:p>
        </p:txBody>
      </p:sp>
      <p:sp>
        <p:nvSpPr>
          <p:cNvPr id="13" name="线形标注 1 12"/>
          <p:cNvSpPr/>
          <p:nvPr/>
        </p:nvSpPr>
        <p:spPr>
          <a:xfrm>
            <a:off x="5675637" y="3074986"/>
            <a:ext cx="3144835" cy="792908"/>
          </a:xfrm>
          <a:prstGeom prst="borderCallout1">
            <a:avLst>
              <a:gd name="adj1" fmla="val -1091"/>
              <a:gd name="adj2" fmla="val -453"/>
              <a:gd name="adj3" fmla="val 96584"/>
              <a:gd name="adj4" fmla="val -22948"/>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Arial" panose="020B0604020202020204" pitchFamily="34" charset="0"/>
              <a:buChar char="•"/>
            </a:pPr>
            <a:r>
              <a:rPr lang="en-US" altLang="zh-CN" dirty="0">
                <a:latin typeface="宋体" panose="02010600030101010101" pitchFamily="2" charset="-122"/>
                <a:ea typeface="宋体" panose="02010600030101010101" pitchFamily="2" charset="-122"/>
              </a:rPr>
              <a:t>B</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en-US" altLang="zh-CN" dirty="0">
                <a:latin typeface="宋体" panose="02010600030101010101" pitchFamily="2" charset="-122"/>
                <a:ea typeface="宋体" panose="02010600030101010101" pitchFamily="2" charset="-122"/>
                <a:sym typeface="Wingdings" panose="05000000000000000000" pitchFamily="2" charset="2"/>
              </a:rPr>
              <a:t> sub 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a:t>
            </a:r>
            <a:r>
              <a:rPr lang="zh-CN" altLang="en-US" dirty="0">
                <a:latin typeface="宋体" panose="02010600030101010101" pitchFamily="2" charset="-122"/>
                <a:ea typeface="宋体" panose="02010600030101010101" pitchFamily="2" charset="-122"/>
              </a:rPr>
              <a:t>代表</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a:t>
            </a:r>
            <a:r>
              <a:rPr lang="zh-CN" altLang="en-US" dirty="0">
                <a:latin typeface="宋体" panose="02010600030101010101" pitchFamily="2" charset="-122"/>
                <a:ea typeface="宋体" panose="02010600030101010101" pitchFamily="2" charset="-122"/>
              </a:rPr>
              <a:t>的大小比</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zh-CN" altLang="en-US" dirty="0">
                <a:latin typeface="宋体" panose="02010600030101010101" pitchFamily="2" charset="-122"/>
                <a:ea typeface="宋体" panose="02010600030101010101" pitchFamily="2" charset="-122"/>
              </a:rPr>
              <a:t>小，并且放在下角标</a:t>
            </a:r>
            <a:endParaRPr lang="en-US" altLang="zh-CN"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使</a:t>
            </a:r>
            <a:r>
              <a:rPr lang="en-US" altLang="zh-CN" dirty="0">
                <a:latin typeface="宋体" panose="02010600030101010101" pitchFamily="2" charset="-122"/>
                <a:ea typeface="宋体" panose="02010600030101010101" pitchFamily="2" charset="-122"/>
              </a:rPr>
              <a:t>B</a:t>
            </a:r>
            <a:r>
              <a:rPr lang="en-US" altLang="zh-CN" baseline="-25000"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缩小</a:t>
            </a:r>
          </a:p>
        </p:txBody>
      </p:sp>
      <p:sp>
        <p:nvSpPr>
          <p:cNvPr id="14" name="线形标注 1 13"/>
          <p:cNvSpPr/>
          <p:nvPr/>
        </p:nvSpPr>
        <p:spPr>
          <a:xfrm>
            <a:off x="5675637" y="3939902"/>
            <a:ext cx="3144835" cy="576064"/>
          </a:xfrm>
          <a:prstGeom prst="borderCallout1">
            <a:avLst>
              <a:gd name="adj1" fmla="val -1091"/>
              <a:gd name="adj2" fmla="val -453"/>
              <a:gd name="adj3" fmla="val 46362"/>
              <a:gd name="adj4" fmla="val -5686"/>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把</a:t>
            </a:r>
            <a:r>
              <a:rPr lang="en-US" altLang="zh-CN" dirty="0">
                <a:latin typeface="宋体" panose="02010600030101010101" pitchFamily="2" charset="-122"/>
                <a:ea typeface="宋体" panose="02010600030101010101" pitchFamily="2" charset="-122"/>
              </a:rPr>
              <a:t>B</a:t>
            </a:r>
            <a:r>
              <a:rPr lang="en-US" altLang="zh-CN" baseline="-25000"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向下放置，有一个偏移量</a:t>
            </a:r>
          </a:p>
        </p:txBody>
      </p:sp>
      <p:sp>
        <p:nvSpPr>
          <p:cNvPr id="15" name="线形标注 1 14"/>
          <p:cNvSpPr/>
          <p:nvPr/>
        </p:nvSpPr>
        <p:spPr>
          <a:xfrm>
            <a:off x="5652119" y="2283718"/>
            <a:ext cx="3168353" cy="576064"/>
          </a:xfrm>
          <a:prstGeom prst="borderCallout1">
            <a:avLst>
              <a:gd name="adj1" fmla="val -1091"/>
              <a:gd name="adj2" fmla="val -453"/>
              <a:gd name="adj3" fmla="val 82738"/>
              <a:gd name="adj4" fmla="val -43399"/>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宋体" panose="02010600030101010101" pitchFamily="2" charset="-122"/>
                <a:ea typeface="宋体" panose="02010600030101010101" pitchFamily="2" charset="-122"/>
              </a:rPr>
              <a:t>代表两个盒子并置</a:t>
            </a:r>
            <a:endParaRPr lang="en-US" altLang="zh-CN" dirty="0">
              <a:latin typeface="宋体" panose="02010600030101010101" pitchFamily="2" charset="-122"/>
              <a:ea typeface="宋体" panose="02010600030101010101" pitchFamily="2" charset="-122"/>
            </a:endParaRPr>
          </a:p>
        </p:txBody>
      </p:sp>
      <p:sp>
        <p:nvSpPr>
          <p:cNvPr id="16" name="线形标注 1 15"/>
          <p:cNvSpPr/>
          <p:nvPr/>
        </p:nvSpPr>
        <p:spPr>
          <a:xfrm>
            <a:off x="5652119" y="4608512"/>
            <a:ext cx="3144835" cy="483518"/>
          </a:xfrm>
          <a:prstGeom prst="borderCallout1">
            <a:avLst>
              <a:gd name="adj1" fmla="val -1091"/>
              <a:gd name="adj2" fmla="val -453"/>
              <a:gd name="adj3" fmla="val 46362"/>
              <a:gd name="adj4" fmla="val -5686"/>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Arial" panose="020B0604020202020204" pitchFamily="34" charset="0"/>
              <a:buChar char="•"/>
            </a:pPr>
            <a:r>
              <a:rPr lang="en-US" altLang="zh-CN" dirty="0" err="1">
                <a:latin typeface="宋体" panose="02010600030101010101" pitchFamily="2" charset="-122"/>
                <a:ea typeface="宋体" panose="02010600030101010101" pitchFamily="2" charset="-122"/>
              </a:rPr>
              <a:t>B</a:t>
            </a:r>
            <a:r>
              <a:rPr lang="en-US" altLang="zh-CN" dirty="0" err="1">
                <a:latin typeface="宋体" panose="02010600030101010101" pitchFamily="2" charset="-122"/>
                <a:ea typeface="宋体" panose="02010600030101010101" pitchFamily="2" charset="-122"/>
                <a:sym typeface="Wingdings" panose="05000000000000000000" pitchFamily="2" charset="2"/>
              </a:rPr>
              <a:t>text</a:t>
            </a:r>
            <a:r>
              <a:rPr lang="zh-CN" altLang="en-US" dirty="0">
                <a:latin typeface="宋体" panose="02010600030101010101" pitchFamily="2" charset="-122"/>
                <a:ea typeface="宋体" panose="02010600030101010101" pitchFamily="2" charset="-122"/>
                <a:sym typeface="Wingdings" panose="05000000000000000000" pitchFamily="2" charset="2"/>
              </a:rPr>
              <a:t>代表是正文</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0751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内容占位符 8"/>
          <p:cNvGraphicFramePr>
            <a:graphicFrameLocks noGrp="1"/>
          </p:cNvGraphicFramePr>
          <p:nvPr>
            <p:ph idx="1"/>
          </p:nvPr>
        </p:nvGraphicFramePr>
        <p:xfrm>
          <a:off x="0" y="639766"/>
          <a:ext cx="5184576" cy="3237992"/>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tblGrid>
              <a:tr h="370840">
                <a:tc>
                  <a:txBody>
                    <a:bodyPr/>
                    <a:lstStyle/>
                    <a:p>
                      <a:pPr>
                        <a:lnSpc>
                          <a:spcPct val="90000"/>
                        </a:lnSpc>
                      </a:pPr>
                      <a:r>
                        <a:rPr lang="zh-CN" altLang="en-US" sz="1800" dirty="0">
                          <a:solidFill>
                            <a:schemeClr val="tx1"/>
                          </a:solidFill>
                          <a:latin typeface="宋体" panose="02010600030101010101" pitchFamily="2" charset="-122"/>
                          <a:ea typeface="宋体" panose="02010600030101010101" pitchFamily="2" charset="-122"/>
                        </a:rPr>
                        <a:t>产生式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90000"/>
                        </a:lnSpc>
                      </a:pPr>
                      <a:r>
                        <a:rPr lang="zh-CN" altLang="en-US" sz="1800" dirty="0">
                          <a:solidFill>
                            <a:schemeClr val="tx1"/>
                          </a:solidFill>
                          <a:latin typeface="宋体" panose="02010600030101010101" pitchFamily="2" charset="-122"/>
                          <a:ea typeface="宋体" panose="02010600030101010101" pitchFamily="2" charset="-122"/>
                        </a:rPr>
                        <a:t>翻译模式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nSpc>
                          <a:spcPct val="90000"/>
                        </a:lnSpc>
                      </a:pPr>
                      <a:r>
                        <a:rPr lang="en-US" altLang="zh-CN" sz="1800" dirty="0">
                          <a:solidFill>
                            <a:schemeClr val="tx1"/>
                          </a:solidFill>
                          <a:latin typeface="宋体" panose="02010600030101010101" pitchFamily="2" charset="-122"/>
                          <a:ea typeface="宋体" panose="02010600030101010101" pitchFamily="2" charset="-122"/>
                        </a:rPr>
                        <a:t>S</a:t>
                      </a:r>
                      <a:r>
                        <a:rPr lang="zh-CN" altLang="en-US" sz="1800" dirty="0">
                          <a:solidFill>
                            <a:schemeClr val="tx1"/>
                          </a:solidFill>
                          <a:latin typeface="宋体" panose="02010600030101010101" pitchFamily="2" charset="-122"/>
                          <a:ea typeface="宋体" panose="02010600030101010101" pitchFamily="2" charset="-122"/>
                        </a:rPr>
                        <a:t>→</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endParaRPr lang="zh-CN" altLang="en-US" sz="18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nSpc>
                          <a:spcPct val="90000"/>
                        </a:lnSpc>
                      </a:pPr>
                      <a:r>
                        <a:rPr lang="en-US" altLang="zh-CN" sz="1800" dirty="0">
                          <a:solidFill>
                            <a:schemeClr val="tx1"/>
                          </a:solidFill>
                          <a:latin typeface="宋体" panose="02010600030101010101" pitchFamily="2" charset="-122"/>
                          <a:ea typeface="宋体" panose="02010600030101010101" pitchFamily="2" charset="-122"/>
                        </a:rPr>
                        <a:t>B</a:t>
                      </a:r>
                      <a:r>
                        <a:rPr lang="zh-CN" altLang="en-US" sz="1800" dirty="0">
                          <a:solidFill>
                            <a:schemeClr val="tx1"/>
                          </a:solidFill>
                          <a:latin typeface="宋体" panose="02010600030101010101" pitchFamily="2" charset="-122"/>
                          <a:ea typeface="宋体" panose="02010600030101010101" pitchFamily="2" charset="-122"/>
                        </a:rPr>
                        <a:t>→</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8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800" dirty="0">
                          <a:solidFill>
                            <a:schemeClr val="tx1"/>
                          </a:solidFill>
                          <a:latin typeface="宋体" panose="02010600030101010101" pitchFamily="2" charset="-122"/>
                          <a:ea typeface="宋体" panose="02010600030101010101" pitchFamily="2" charset="-122"/>
                        </a:rPr>
                        <a:t>B</a:t>
                      </a:r>
                      <a:r>
                        <a:rPr lang="zh-CN" altLang="en-US" sz="1800" dirty="0">
                          <a:solidFill>
                            <a:schemeClr val="tx1"/>
                          </a:solidFill>
                          <a:latin typeface="宋体" panose="02010600030101010101" pitchFamily="2" charset="-122"/>
                          <a:ea typeface="宋体" panose="02010600030101010101" pitchFamily="2" charset="-122"/>
                        </a:rPr>
                        <a:t>→</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 sub 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8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nSpc>
                          <a:spcPct val="90000"/>
                        </a:lnSpc>
                      </a:pPr>
                      <a:r>
                        <a:rPr lang="en-US" altLang="zh-CN" sz="1800" dirty="0" err="1">
                          <a:solidFill>
                            <a:schemeClr val="tx1"/>
                          </a:solidFill>
                          <a:latin typeface="宋体" panose="02010600030101010101" pitchFamily="2" charset="-122"/>
                          <a:ea typeface="宋体" panose="02010600030101010101" pitchFamily="2" charset="-122"/>
                        </a:rPr>
                        <a:t>B</a:t>
                      </a:r>
                      <a:r>
                        <a:rPr lang="en-US" altLang="zh-CN" sz="1800" dirty="0" err="1">
                          <a:solidFill>
                            <a:schemeClr val="tx1"/>
                          </a:solidFill>
                          <a:latin typeface="宋体" panose="02010600030101010101" pitchFamily="2" charset="-122"/>
                          <a:ea typeface="宋体" panose="02010600030101010101" pitchFamily="2" charset="-122"/>
                          <a:sym typeface="Wingdings" panose="05000000000000000000" pitchFamily="2" charset="2"/>
                        </a:rPr>
                        <a:t>text</a:t>
                      </a:r>
                      <a:endParaRPr lang="zh-CN" altLang="en-US" sz="18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标题 2"/>
          <p:cNvSpPr>
            <a:spLocks noGrp="1"/>
          </p:cNvSpPr>
          <p:nvPr>
            <p:ph type="title"/>
          </p:nvPr>
        </p:nvSpPr>
        <p:spPr>
          <a:xfrm>
            <a:off x="-14986" y="30855"/>
            <a:ext cx="5268251" cy="576064"/>
          </a:xfrm>
        </p:spPr>
        <p:txBody>
          <a:bodyPr>
            <a:normAutofit fontScale="90000"/>
          </a:bodyPr>
          <a:lstStyle/>
          <a:p>
            <a:r>
              <a:rPr lang="zh-CN" altLang="en-US" dirty="0"/>
              <a:t>盒子的语法制导的翻译模式</a:t>
            </a:r>
          </a:p>
        </p:txBody>
      </p:sp>
      <p:sp>
        <p:nvSpPr>
          <p:cNvPr id="4" name="矩形 3"/>
          <p:cNvSpPr/>
          <p:nvPr/>
        </p:nvSpPr>
        <p:spPr>
          <a:xfrm>
            <a:off x="5148064" y="178101"/>
            <a:ext cx="1798890" cy="461665"/>
          </a:xfrm>
          <a:prstGeom prst="rect">
            <a:avLst/>
          </a:prstGeom>
        </p:spPr>
        <p:txBody>
          <a:bodyPr wrap="none">
            <a:spAutoFit/>
          </a:bodyPr>
          <a:lstStyle/>
          <a:p>
            <a:r>
              <a:rPr lang="en-US" altLang="zh-CN" sz="2400" dirty="0"/>
              <a:t>E sub </a:t>
            </a:r>
            <a:r>
              <a:rPr lang="en-US" altLang="zh-CN" sz="2400" dirty="0" err="1"/>
              <a:t>n.val</a:t>
            </a:r>
            <a:endParaRPr lang="en-US" altLang="zh-CN" sz="2400" dirty="0"/>
          </a:p>
        </p:txBody>
      </p:sp>
      <p:grpSp>
        <p:nvGrpSpPr>
          <p:cNvPr id="5" name="组合 4"/>
          <p:cNvGrpSpPr/>
          <p:nvPr/>
        </p:nvGrpSpPr>
        <p:grpSpPr>
          <a:xfrm>
            <a:off x="7380312" y="102862"/>
            <a:ext cx="1656184" cy="646912"/>
            <a:chOff x="5796136" y="1203597"/>
            <a:chExt cx="1656184" cy="646912"/>
          </a:xfrm>
        </p:grpSpPr>
        <p:sp>
          <p:nvSpPr>
            <p:cNvPr id="6" name="TextBox 5"/>
            <p:cNvSpPr txBox="1"/>
            <p:nvPr/>
          </p:nvSpPr>
          <p:spPr>
            <a:xfrm>
              <a:off x="5796136" y="1203597"/>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7" name="TextBox 6"/>
            <p:cNvSpPr txBox="1"/>
            <p:nvPr/>
          </p:nvSpPr>
          <p:spPr>
            <a:xfrm>
              <a:off x="6623554" y="1203597"/>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8" name="TextBox 7"/>
            <p:cNvSpPr txBox="1"/>
            <p:nvPr/>
          </p:nvSpPr>
          <p:spPr>
            <a:xfrm>
              <a:off x="6225804" y="1419622"/>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grpSp>
      <p:graphicFrame>
        <p:nvGraphicFramePr>
          <p:cNvPr id="10" name="内容占位符 8"/>
          <p:cNvGraphicFramePr>
            <a:graphicFrameLocks/>
          </p:cNvGraphicFramePr>
          <p:nvPr/>
        </p:nvGraphicFramePr>
        <p:xfrm>
          <a:off x="5220072" y="880222"/>
          <a:ext cx="4032448" cy="2771648"/>
        </p:xfrm>
        <a:graphic>
          <a:graphicData uri="http://schemas.openxmlformats.org/drawingml/2006/table">
            <a:tbl>
              <a:tblPr firstRow="1" bandRow="1">
                <a:tableStyleId>{5C22544A-7EE6-4342-B048-85BDC9FD1C3A}</a:tableStyleId>
              </a:tblPr>
              <a:tblGrid>
                <a:gridCol w="1361606">
                  <a:extLst>
                    <a:ext uri="{9D8B030D-6E8A-4147-A177-3AD203B41FA5}">
                      <a16:colId xmlns:a16="http://schemas.microsoft.com/office/drawing/2014/main" val="20000"/>
                    </a:ext>
                  </a:extLst>
                </a:gridCol>
                <a:gridCol w="2670842">
                  <a:extLst>
                    <a:ext uri="{9D8B030D-6E8A-4147-A177-3AD203B41FA5}">
                      <a16:colId xmlns:a16="http://schemas.microsoft.com/office/drawing/2014/main" val="20001"/>
                    </a:ext>
                  </a:extLst>
                </a:gridCol>
              </a:tblGrid>
              <a:tr h="370840">
                <a:tc>
                  <a:txBody>
                    <a:bodyPr/>
                    <a:lstStyle/>
                    <a:p>
                      <a:pPr>
                        <a:lnSpc>
                          <a:spcPct val="90000"/>
                        </a:lnSpc>
                      </a:pPr>
                      <a:r>
                        <a:rPr lang="zh-CN" altLang="en-US" sz="1600" dirty="0">
                          <a:solidFill>
                            <a:schemeClr val="tx1"/>
                          </a:solidFill>
                          <a:latin typeface="宋体" panose="02010600030101010101" pitchFamily="2" charset="-122"/>
                          <a:ea typeface="宋体" panose="02010600030101010101" pitchFamily="2" charset="-122"/>
                        </a:rPr>
                        <a:t>产生式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a:lnSpc>
                          <a:spcPct val="90000"/>
                        </a:lnSpc>
                      </a:pPr>
                      <a:r>
                        <a:rPr lang="zh-CN" altLang="en-US" sz="1600" dirty="0">
                          <a:solidFill>
                            <a:schemeClr val="tx1"/>
                          </a:solidFill>
                          <a:latin typeface="宋体" panose="02010600030101010101" pitchFamily="2" charset="-122"/>
                          <a:ea typeface="宋体" panose="02010600030101010101" pitchFamily="2" charset="-122"/>
                        </a:rPr>
                        <a:t>语义规则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0"/>
                  </a:ext>
                </a:extLst>
              </a:tr>
              <a:tr h="370840">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S</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B.ps = 10</a:t>
                      </a:r>
                    </a:p>
                    <a:p>
                      <a:pPr>
                        <a:lnSpc>
                          <a:spcPct val="90000"/>
                        </a:lnSpc>
                      </a:pPr>
                      <a:r>
                        <a:rPr lang="en-US" altLang="zh-CN" sz="1600" dirty="0">
                          <a:solidFill>
                            <a:schemeClr val="tx1"/>
                          </a:solidFill>
                          <a:latin typeface="宋体" panose="02010600030101010101" pitchFamily="2" charset="-122"/>
                          <a:ea typeface="宋体" panose="02010600030101010101" pitchFamily="2" charset="-122"/>
                        </a:rPr>
                        <a:t>S.ht = B.ht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1"/>
                  </a:ext>
                </a:extLst>
              </a:tr>
              <a:tr h="370840">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6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B.ht = max(</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.ht,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.ht)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B</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 sub 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6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.ps = shrink(B.ps)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B.ht = </a:t>
                      </a:r>
                      <a:r>
                        <a:rPr lang="en-US" altLang="zh-CN" sz="1600" dirty="0" err="1">
                          <a:solidFill>
                            <a:schemeClr val="tx1"/>
                          </a:solidFill>
                          <a:latin typeface="宋体" panose="02010600030101010101" pitchFamily="2" charset="-122"/>
                          <a:ea typeface="宋体" panose="02010600030101010101" pitchFamily="2" charset="-122"/>
                        </a:rPr>
                        <a:t>disp</a:t>
                      </a:r>
                      <a:r>
                        <a:rPr lang="en-US" altLang="zh-CN"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.ht,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.ht)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3"/>
                  </a:ext>
                </a:extLst>
              </a:tr>
              <a:tr h="370840">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text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B.ht = </a:t>
                      </a:r>
                      <a:r>
                        <a:rPr lang="en-US" altLang="zh-CN" sz="1600" dirty="0" err="1">
                          <a:solidFill>
                            <a:schemeClr val="tx1"/>
                          </a:solidFill>
                          <a:latin typeface="宋体" panose="02010600030101010101" pitchFamily="2" charset="-122"/>
                          <a:ea typeface="宋体" panose="02010600030101010101" pitchFamily="2" charset="-122"/>
                        </a:rPr>
                        <a:t>text.h</a:t>
                      </a:r>
                      <a:r>
                        <a:rPr lang="en-US" altLang="zh-CN" sz="1600" dirty="0">
                          <a:solidFill>
                            <a:schemeClr val="tx1"/>
                          </a:solidFill>
                          <a:latin typeface="宋体" panose="02010600030101010101" pitchFamily="2" charset="-122"/>
                          <a:ea typeface="宋体" panose="02010600030101010101" pitchFamily="2" charset="-122"/>
                        </a:rPr>
                        <a:t> ×</a:t>
                      </a:r>
                      <a:r>
                        <a:rPr lang="en-US" altLang="zh-CN" sz="1600" baseline="0" dirty="0">
                          <a:solidFill>
                            <a:schemeClr val="tx1"/>
                          </a:solidFill>
                          <a:latin typeface="宋体" panose="02010600030101010101" pitchFamily="2" charset="-122"/>
                          <a:ea typeface="宋体" panose="02010600030101010101" pitchFamily="2" charset="-122"/>
                        </a:rPr>
                        <a:t> B.ps</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4"/>
                  </a:ext>
                </a:extLst>
              </a:tr>
            </a:tbl>
          </a:graphicData>
        </a:graphic>
      </p:graphicFrame>
      <p:sp>
        <p:nvSpPr>
          <p:cNvPr id="12" name="矩形 11"/>
          <p:cNvSpPr/>
          <p:nvPr/>
        </p:nvSpPr>
        <p:spPr>
          <a:xfrm>
            <a:off x="34605" y="3943171"/>
            <a:ext cx="9036496"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lvl="1" indent="-342900">
              <a:buFont typeface="Wingdings" panose="05000000000000000000" pitchFamily="2" charset="2"/>
              <a:buChar char="Ø"/>
              <a:defRPr/>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）产生式右部符号的继承属性</a:t>
            </a:r>
            <a:r>
              <a:rPr lang="zh-CN" altLang="en-US" dirty="0">
                <a:latin typeface="宋体" panose="02010600030101010101" pitchFamily="2" charset="-122"/>
                <a:ea typeface="宋体" panose="02010600030101010101" pitchFamily="2" charset="-122"/>
              </a:rPr>
              <a:t>的计算</a:t>
            </a:r>
            <a:r>
              <a:rPr lang="zh-CN" altLang="zh-CN" dirty="0">
                <a:latin typeface="宋体" panose="02010600030101010101" pitchFamily="2" charset="-122"/>
                <a:ea typeface="宋体" panose="02010600030101010101" pitchFamily="2" charset="-122"/>
              </a:rPr>
              <a:t>必须</a:t>
            </a:r>
            <a:r>
              <a:rPr lang="zh-CN" altLang="en-US" dirty="0">
                <a:latin typeface="宋体" panose="02010600030101010101" pitchFamily="2" charset="-122"/>
                <a:ea typeface="宋体" panose="02010600030101010101" pitchFamily="2" charset="-122"/>
              </a:rPr>
              <a:t>放在</a:t>
            </a:r>
            <a:r>
              <a:rPr lang="zh-CN" altLang="zh-CN" dirty="0">
                <a:latin typeface="宋体" panose="02010600030101010101" pitchFamily="2" charset="-122"/>
                <a:ea typeface="宋体" panose="02010600030101010101" pitchFamily="2" charset="-122"/>
              </a:rPr>
              <a:t>这个符号以前的动作中；</a:t>
            </a:r>
          </a:p>
          <a:p>
            <a:pPr marL="342900" lvl="1" indent="-342900">
              <a:buFont typeface="Wingdings" panose="05000000000000000000" pitchFamily="2" charset="2"/>
              <a:buChar char="Ø"/>
              <a:defRPr/>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）一个动作不能引用这个动作右部的符号的综合属性；</a:t>
            </a:r>
          </a:p>
          <a:p>
            <a:pPr marL="342900" lvl="1" indent="-342900">
              <a:buFont typeface="Wingdings" panose="05000000000000000000" pitchFamily="2" charset="2"/>
              <a:buChar char="Ø"/>
              <a:defRPr/>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）产生式左部非终结符的综合属性只有在它所引用的所有属性都计算出来以后才能计算。语义规则可以放在产生式右部的末尾。</a:t>
            </a:r>
            <a:endParaRPr lang="zh-CN" altLang="en-US" dirty="0">
              <a:latin typeface="宋体" panose="02010600030101010101" pitchFamily="2" charset="-122"/>
              <a:ea typeface="宋体" panose="02010600030101010101" pitchFamily="2" charset="-122"/>
            </a:endParaRPr>
          </a:p>
        </p:txBody>
      </p:sp>
      <p:sp>
        <p:nvSpPr>
          <p:cNvPr id="2" name="矩形 1"/>
          <p:cNvSpPr/>
          <p:nvPr/>
        </p:nvSpPr>
        <p:spPr>
          <a:xfrm>
            <a:off x="1512168" y="987574"/>
            <a:ext cx="3635896" cy="590931"/>
          </a:xfrm>
          <a:prstGeom prst="rect">
            <a:avLst/>
          </a:prstGeom>
        </p:spPr>
        <p:txBody>
          <a:bodyPr wrap="square">
            <a:spAutoFit/>
          </a:bodyPr>
          <a:lstStyle/>
          <a:p>
            <a:pPr>
              <a:lnSpc>
                <a:spcPct val="90000"/>
              </a:lnSpc>
              <a:defRPr/>
            </a:pPr>
            <a:r>
              <a:rPr lang="en-US" altLang="zh-CN" dirty="0">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rPr>
              <a:t>{B.ps = 10} </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 </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a:t>
            </a:r>
            <a:r>
              <a:rPr lang="en-US" altLang="zh-CN" dirty="0">
                <a:solidFill>
                  <a:srgbClr val="FF0000"/>
                </a:solidFill>
                <a:latin typeface="宋体" panose="02010600030101010101" pitchFamily="2" charset="-122"/>
                <a:ea typeface="宋体" panose="02010600030101010101" pitchFamily="2" charset="-122"/>
              </a:rPr>
              <a:t>S.ht = B.ht}</a:t>
            </a:r>
            <a:endParaRPr lang="zh-CN" altLang="en-US" dirty="0">
              <a:solidFill>
                <a:srgbClr val="FF0000"/>
              </a:solidFill>
              <a:latin typeface="宋体" panose="02010600030101010101" pitchFamily="2" charset="-122"/>
              <a:ea typeface="宋体" panose="02010600030101010101" pitchFamily="2" charset="-122"/>
            </a:endParaRPr>
          </a:p>
        </p:txBody>
      </p:sp>
      <p:sp>
        <p:nvSpPr>
          <p:cNvPr id="13" name="矩形 12"/>
          <p:cNvSpPr/>
          <p:nvPr/>
        </p:nvSpPr>
        <p:spPr>
          <a:xfrm>
            <a:off x="1558757" y="1578505"/>
            <a:ext cx="3589307" cy="840230"/>
          </a:xfrm>
          <a:prstGeom prst="rect">
            <a:avLst/>
          </a:prstGeom>
        </p:spPr>
        <p:txBody>
          <a:bodyPr wrap="square">
            <a:spAutoFit/>
          </a:bodyPr>
          <a:lstStyle/>
          <a:p>
            <a:pPr>
              <a:lnSpc>
                <a:spcPct val="90000"/>
              </a:lnSpc>
              <a:defRPr/>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.ps = B.ps} </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.ps = B.ps}</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 </a:t>
            </a:r>
            <a:r>
              <a:rPr lang="en-US" altLang="zh-CN" dirty="0">
                <a:solidFill>
                  <a:srgbClr val="FF0000"/>
                </a:solidFill>
                <a:latin typeface="宋体" panose="02010600030101010101" pitchFamily="2" charset="-122"/>
                <a:ea typeface="宋体" panose="02010600030101010101" pitchFamily="2" charset="-122"/>
              </a:rPr>
              <a:t>{B.ht = max(</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.ht,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.ht)}</a:t>
            </a:r>
            <a:endParaRPr lang="zh-CN" altLang="en-US" dirty="0">
              <a:solidFill>
                <a:srgbClr val="FF0000"/>
              </a:solidFill>
              <a:latin typeface="宋体" panose="02010600030101010101" pitchFamily="2" charset="-122"/>
              <a:ea typeface="宋体" panose="02010600030101010101" pitchFamily="2" charset="-122"/>
            </a:endParaRPr>
          </a:p>
        </p:txBody>
      </p:sp>
      <p:sp>
        <p:nvSpPr>
          <p:cNvPr id="14" name="矩形 13"/>
          <p:cNvSpPr/>
          <p:nvPr/>
        </p:nvSpPr>
        <p:spPr>
          <a:xfrm>
            <a:off x="1512168" y="2418735"/>
            <a:ext cx="3779912" cy="1089529"/>
          </a:xfrm>
          <a:prstGeom prst="rect">
            <a:avLst/>
          </a:prstGeom>
        </p:spPr>
        <p:txBody>
          <a:bodyPr wrap="square">
            <a:spAutoFit/>
          </a:bodyPr>
          <a:lstStyle/>
          <a:p>
            <a:pPr>
              <a:lnSpc>
                <a:spcPct val="90000"/>
              </a:lnSpc>
              <a:defRPr/>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.ps = B.ps} </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en-US" altLang="zh-CN" dirty="0">
                <a:latin typeface="宋体" panose="02010600030101010101" pitchFamily="2" charset="-122"/>
                <a:ea typeface="宋体" panose="02010600030101010101" pitchFamily="2" charset="-122"/>
                <a:sym typeface="Wingdings" panose="05000000000000000000" pitchFamily="2" charset="2"/>
              </a:rPr>
              <a:t> </a:t>
            </a:r>
          </a:p>
          <a:p>
            <a:pPr>
              <a:lnSpc>
                <a:spcPct val="90000"/>
              </a:lnSpc>
              <a:defRPr/>
            </a:pPr>
            <a:r>
              <a:rPr lang="en-US" altLang="zh-CN" dirty="0">
                <a:latin typeface="宋体" panose="02010600030101010101" pitchFamily="2" charset="-122"/>
                <a:ea typeface="宋体" panose="02010600030101010101" pitchFamily="2" charset="-122"/>
                <a:sym typeface="Wingdings" panose="05000000000000000000" pitchFamily="2" charset="2"/>
              </a:rPr>
              <a:t>   sub</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.ps = shrink(B.ps)}</a:t>
            </a:r>
            <a:r>
              <a:rPr lang="en-US" altLang="zh-CN" dirty="0">
                <a:latin typeface="宋体" panose="02010600030101010101" pitchFamily="2" charset="-122"/>
                <a:ea typeface="宋体" panose="02010600030101010101" pitchFamily="2" charset="-122"/>
                <a:sym typeface="Wingdings" panose="05000000000000000000" pitchFamily="2" charset="2"/>
              </a:rPr>
              <a:t>     </a:t>
            </a:r>
          </a:p>
          <a:p>
            <a:pPr>
              <a:lnSpc>
                <a:spcPct val="90000"/>
              </a:lnSpc>
              <a:defRPr/>
            </a:pPr>
            <a:r>
              <a:rPr lang="en-US" altLang="zh-CN" dirty="0">
                <a:latin typeface="宋体" panose="02010600030101010101" pitchFamily="2" charset="-122"/>
                <a:ea typeface="宋体" panose="02010600030101010101" pitchFamily="2" charset="-122"/>
                <a:sym typeface="Wingdings" panose="05000000000000000000" pitchFamily="2" charset="2"/>
              </a:rPr>
              <a:t>   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{B.ht = </a:t>
            </a:r>
            <a:r>
              <a:rPr lang="en-US" altLang="zh-CN" dirty="0" err="1">
                <a:solidFill>
                  <a:srgbClr val="FF0000"/>
                </a:solidFill>
                <a:latin typeface="宋体" panose="02010600030101010101" pitchFamily="2" charset="-122"/>
                <a:ea typeface="宋体" panose="02010600030101010101" pitchFamily="2" charset="-122"/>
              </a:rPr>
              <a:t>disp</a:t>
            </a:r>
            <a:r>
              <a:rPr lang="en-US" altLang="zh-CN"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.ht,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.ht)}</a:t>
            </a:r>
            <a:endParaRPr lang="zh-CN" altLang="en-US" dirty="0">
              <a:solidFill>
                <a:srgbClr val="FF0000"/>
              </a:solidFill>
              <a:latin typeface="宋体" panose="02010600030101010101" pitchFamily="2" charset="-122"/>
              <a:ea typeface="宋体" panose="02010600030101010101" pitchFamily="2" charset="-122"/>
            </a:endParaRPr>
          </a:p>
        </p:txBody>
      </p:sp>
      <p:sp>
        <p:nvSpPr>
          <p:cNvPr id="15" name="矩形 14"/>
          <p:cNvSpPr/>
          <p:nvPr/>
        </p:nvSpPr>
        <p:spPr>
          <a:xfrm>
            <a:off x="1495620" y="3508264"/>
            <a:ext cx="3647152" cy="341632"/>
          </a:xfrm>
          <a:prstGeom prst="rect">
            <a:avLst/>
          </a:prstGeom>
        </p:spPr>
        <p:txBody>
          <a:bodyPr wrap="none">
            <a:spAutoFit/>
          </a:bodyPr>
          <a:lstStyle/>
          <a:p>
            <a:pPr>
              <a:lnSpc>
                <a:spcPct val="90000"/>
              </a:lnSpc>
              <a:defRPr/>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sym typeface="Wingdings" panose="05000000000000000000" pitchFamily="2" charset="2"/>
              </a:rPr>
              <a:t>text</a:t>
            </a:r>
            <a:r>
              <a:rPr lang="en-US" altLang="zh-CN" dirty="0">
                <a:solidFill>
                  <a:srgbClr val="FF0000"/>
                </a:solidFill>
                <a:latin typeface="宋体" panose="02010600030101010101" pitchFamily="2" charset="-122"/>
                <a:ea typeface="宋体" panose="02010600030101010101" pitchFamily="2" charset="-122"/>
              </a:rPr>
              <a:t>{B.ht = </a:t>
            </a:r>
            <a:r>
              <a:rPr lang="en-US" altLang="zh-CN" dirty="0" err="1">
                <a:solidFill>
                  <a:srgbClr val="FF0000"/>
                </a:solidFill>
                <a:latin typeface="宋体" panose="02010600030101010101" pitchFamily="2" charset="-122"/>
                <a:ea typeface="宋体" panose="02010600030101010101" pitchFamily="2" charset="-122"/>
              </a:rPr>
              <a:t>text.h</a:t>
            </a:r>
            <a:r>
              <a:rPr lang="en-US" altLang="zh-CN" dirty="0">
                <a:solidFill>
                  <a:srgbClr val="FF0000"/>
                </a:solidFill>
                <a:latin typeface="宋体" panose="02010600030101010101" pitchFamily="2" charset="-122"/>
                <a:ea typeface="宋体" panose="02010600030101010101" pitchFamily="2" charset="-122"/>
              </a:rPr>
              <a:t> × B.ps}</a:t>
            </a:r>
            <a:endParaRPr lang="zh-CN" altLang="en-US"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950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p:bldP spid="13" grpId="0"/>
      <p:bldP spid="14" grpId="0"/>
      <p:bldP spid="1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18487002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1"/>
          </p:nvPr>
        </p:nvSpPr>
        <p:spPr>
          <a:xfrm>
            <a:off x="457200" y="559594"/>
            <a:ext cx="8229600" cy="4137422"/>
          </a:xfrm>
        </p:spPr>
        <p:txBody>
          <a:bodyPr/>
          <a:lstStyle/>
          <a:p>
            <a:pPr eaLnBrk="1" hangingPunct="1">
              <a:lnSpc>
                <a:spcPct val="90000"/>
              </a:lnSpc>
            </a:pPr>
            <a:r>
              <a:rPr lang="zh-CN" altLang="en-US" sz="2800" b="1" dirty="0"/>
              <a:t>常见的语法制导语义处理的类型：</a:t>
            </a:r>
          </a:p>
          <a:p>
            <a:pPr lvl="1" eaLnBrk="1" hangingPunct="1">
              <a:lnSpc>
                <a:spcPct val="90000"/>
              </a:lnSpc>
            </a:pPr>
            <a:r>
              <a:rPr lang="zh-CN" altLang="en-US" sz="2400" dirty="0"/>
              <a:t>语法分析采用自下而上方法时，使用与语法分析栈同步操作的</a:t>
            </a:r>
            <a:r>
              <a:rPr lang="zh-CN" altLang="en-US" sz="2400" dirty="0">
                <a:solidFill>
                  <a:srgbClr val="FF3300"/>
                </a:solidFill>
              </a:rPr>
              <a:t>语义栈</a:t>
            </a:r>
            <a:r>
              <a:rPr lang="zh-CN" altLang="en-US" sz="2400" dirty="0"/>
              <a:t>进行语法制导翻译。</a:t>
            </a:r>
          </a:p>
          <a:p>
            <a:pPr lvl="1" eaLnBrk="1" hangingPunct="1">
              <a:lnSpc>
                <a:spcPct val="90000"/>
              </a:lnSpc>
            </a:pPr>
            <a:r>
              <a:rPr lang="zh-CN" altLang="en-US" sz="2400" dirty="0"/>
              <a:t>语法分析采用</a:t>
            </a:r>
            <a:r>
              <a:rPr lang="zh-CN" altLang="en-US" sz="2400" dirty="0">
                <a:solidFill>
                  <a:srgbClr val="FF0000"/>
                </a:solidFill>
              </a:rPr>
              <a:t>递归下降分析方法</a:t>
            </a:r>
            <a:r>
              <a:rPr lang="zh-CN" altLang="en-US" sz="2400" dirty="0"/>
              <a:t>时，利用</a:t>
            </a:r>
            <a:r>
              <a:rPr lang="zh-CN" altLang="en-US" sz="2400" dirty="0">
                <a:solidFill>
                  <a:srgbClr val="FF3300"/>
                </a:solidFill>
              </a:rPr>
              <a:t>隐含堆栈</a:t>
            </a:r>
            <a:r>
              <a:rPr lang="zh-CN" altLang="en-US" sz="2400" dirty="0"/>
              <a:t>存储各递归子程序中的局部变量所表示的语义信息</a:t>
            </a:r>
          </a:p>
          <a:p>
            <a:pPr lvl="1" eaLnBrk="1" hangingPunct="1">
              <a:lnSpc>
                <a:spcPct val="90000"/>
              </a:lnSpc>
            </a:pPr>
            <a:r>
              <a:rPr lang="zh-CN" altLang="en-US" sz="2400" dirty="0"/>
              <a:t>语法分析采用</a:t>
            </a:r>
            <a:r>
              <a:rPr lang="en-US" altLang="zh-CN" sz="2400" dirty="0"/>
              <a:t>LL(1)</a:t>
            </a:r>
            <a:r>
              <a:rPr lang="zh-CN" altLang="en-US" sz="2400" dirty="0"/>
              <a:t>分析法时，利用翻译文法进行语法制导的翻译。翻译文法是在描述语言的</a:t>
            </a:r>
            <a:r>
              <a:rPr lang="zh-CN" altLang="en-US" sz="2400" dirty="0">
                <a:solidFill>
                  <a:srgbClr val="FF3300"/>
                </a:solidFill>
              </a:rPr>
              <a:t>文法中加入语义动作</a:t>
            </a:r>
            <a:r>
              <a:rPr lang="zh-CN" altLang="en-US" sz="2400" dirty="0"/>
              <a:t>的符号。</a:t>
            </a:r>
          </a:p>
          <a:p>
            <a:pPr lvl="1" eaLnBrk="1" hangingPunct="1">
              <a:lnSpc>
                <a:spcPct val="90000"/>
              </a:lnSpc>
            </a:pPr>
            <a:r>
              <a:rPr lang="zh-CN" altLang="en-US" sz="2400" dirty="0"/>
              <a:t>利用属性文法进行翻译。属性文法也是一种翻译文法，它的文法符号和动作符号都带有语义属性和同一产生式中各属性间的运算规则。</a:t>
            </a:r>
          </a:p>
        </p:txBody>
      </p:sp>
    </p:spTree>
    <p:extLst>
      <p:ext uri="{BB962C8B-B14F-4D97-AF65-F5344CB8AC3E}">
        <p14:creationId xmlns:p14="http://schemas.microsoft.com/office/powerpoint/2010/main" val="13970673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123478"/>
            <a:ext cx="8229600" cy="638175"/>
          </a:xfrm>
        </p:spPr>
        <p:txBody>
          <a:bodyPr>
            <a:normAutofit fontScale="90000"/>
          </a:bodyPr>
          <a:lstStyle/>
          <a:p>
            <a:pPr eaLnBrk="1" hangingPunct="1"/>
            <a:r>
              <a:rPr lang="en-US" altLang="zh-CN" sz="4000" b="1" dirty="0"/>
              <a:t>S</a:t>
            </a:r>
            <a:r>
              <a:rPr lang="zh-CN" altLang="en-US" sz="4000" b="1" dirty="0"/>
              <a:t>属性文法</a:t>
            </a:r>
            <a:r>
              <a:rPr lang="zh-CN" altLang="en-US" sz="4000" dirty="0"/>
              <a:t>的</a:t>
            </a:r>
            <a:r>
              <a:rPr lang="zh-CN" altLang="en-US" sz="4000" b="1" dirty="0"/>
              <a:t>自下而上</a:t>
            </a:r>
            <a:r>
              <a:rPr lang="zh-CN" altLang="en-US" sz="4000" dirty="0"/>
              <a:t>语义处理方法</a:t>
            </a:r>
            <a:endParaRPr lang="zh-CN" altLang="en-US" sz="4000" b="1" dirty="0"/>
          </a:p>
        </p:txBody>
      </p:sp>
      <p:sp>
        <p:nvSpPr>
          <p:cNvPr id="47107" name="Rectangle 3"/>
          <p:cNvSpPr>
            <a:spLocks noGrp="1" noChangeArrowheads="1"/>
          </p:cNvSpPr>
          <p:nvPr>
            <p:ph type="body" idx="1"/>
          </p:nvPr>
        </p:nvSpPr>
        <p:spPr>
          <a:xfrm>
            <a:off x="467544" y="1131590"/>
            <a:ext cx="8281987" cy="1079897"/>
          </a:xfrm>
        </p:spPr>
        <p:txBody>
          <a:bodyPr>
            <a:noAutofit/>
          </a:bodyPr>
          <a:lstStyle/>
          <a:p>
            <a:pPr marL="0" indent="0" eaLnBrk="1" hangingPunct="1">
              <a:buFontTx/>
              <a:buNone/>
            </a:pPr>
            <a:r>
              <a:rPr lang="en-US" altLang="zh-CN" sz="2200" dirty="0"/>
              <a:t>S-</a:t>
            </a:r>
            <a:r>
              <a:rPr lang="zh-CN" altLang="zh-CN" sz="2200" dirty="0"/>
              <a:t>属性文法只有综合属性，在自下而上翻译过程中用于向上传递信息</a:t>
            </a:r>
            <a:r>
              <a:rPr lang="zh-CN" altLang="en-US" sz="2200" dirty="0"/>
              <a:t>。</a:t>
            </a:r>
            <a:r>
              <a:rPr lang="zh-CN" altLang="zh-CN" sz="2200" dirty="0"/>
              <a:t>因为每个结点综合属性的计算应该放在结点后面执行，也就是说语义规则可以直接放在产生式最后。</a:t>
            </a:r>
            <a:endParaRPr lang="en-US" altLang="zh-CN" sz="2200" dirty="0"/>
          </a:p>
        </p:txBody>
      </p:sp>
      <p:graphicFrame>
        <p:nvGraphicFramePr>
          <p:cNvPr id="2" name="表格 1"/>
          <p:cNvGraphicFramePr>
            <a:graphicFrameLocks noGrp="1"/>
          </p:cNvGraphicFramePr>
          <p:nvPr/>
        </p:nvGraphicFramePr>
        <p:xfrm>
          <a:off x="395536" y="2787774"/>
          <a:ext cx="8424862" cy="1971421"/>
        </p:xfrm>
        <a:graphic>
          <a:graphicData uri="http://schemas.openxmlformats.org/drawingml/2006/table">
            <a:tbl>
              <a:tblPr/>
              <a:tblGrid>
                <a:gridCol w="4320442">
                  <a:extLst>
                    <a:ext uri="{9D8B030D-6E8A-4147-A177-3AD203B41FA5}">
                      <a16:colId xmlns:a16="http://schemas.microsoft.com/office/drawing/2014/main" val="20000"/>
                    </a:ext>
                  </a:extLst>
                </a:gridCol>
                <a:gridCol w="4104420">
                  <a:extLst>
                    <a:ext uri="{9D8B030D-6E8A-4147-A177-3AD203B41FA5}">
                      <a16:colId xmlns:a16="http://schemas.microsoft.com/office/drawing/2014/main" val="20001"/>
                    </a:ext>
                  </a:extLst>
                </a:gridCol>
              </a:tblGrid>
              <a:tr h="377571">
                <a:tc>
                  <a:txBody>
                    <a:bodyPr/>
                    <a:lstStyle/>
                    <a:p>
                      <a:pPr indent="57150" algn="ctr">
                        <a:lnSpc>
                          <a:spcPct val="150000"/>
                        </a:lnSpc>
                        <a:spcAft>
                          <a:spcPts val="0"/>
                        </a:spcAft>
                      </a:pPr>
                      <a:r>
                        <a:rPr lang="zh-CN" sz="1800" kern="100" dirty="0">
                          <a:effectLst/>
                          <a:latin typeface="Times New Roman" panose="02020603050405020304" pitchFamily="18" charset="0"/>
                          <a:ea typeface="宋体" panose="02010600030101010101" pitchFamily="2" charset="-122"/>
                        </a:rPr>
                        <a:t>产生式</a:t>
                      </a:r>
                      <a:r>
                        <a:rPr lang="en-US" sz="1800" kern="100" dirty="0">
                          <a:effectLst/>
                          <a:latin typeface="Times New Roman" panose="02020603050405020304" pitchFamily="18" charset="0"/>
                          <a:ea typeface="宋体" panose="02010600030101010101" pitchFamily="2" charset="-122"/>
                        </a:rPr>
                        <a:t>{</a:t>
                      </a:r>
                      <a:r>
                        <a:rPr lang="zh-CN" sz="1800" kern="100" dirty="0">
                          <a:effectLst/>
                          <a:latin typeface="Times New Roman" panose="02020603050405020304" pitchFamily="18" charset="0"/>
                          <a:ea typeface="宋体" panose="02010600030101010101" pitchFamily="2" charset="-122"/>
                        </a:rPr>
                        <a:t>语义规则</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txBody>
                  <a:tcPr marL="68579" marR="68579" marT="0" marB="0">
                    <a:lnL>
                      <a:noFill/>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57150" algn="ctr">
                        <a:lnSpc>
                          <a:spcPct val="150000"/>
                        </a:lnSpc>
                        <a:spcAft>
                          <a:spcPts val="0"/>
                        </a:spcAft>
                      </a:pPr>
                      <a:r>
                        <a:rPr lang="zh-CN" sz="1800" kern="100" dirty="0">
                          <a:effectLst/>
                          <a:latin typeface="Times New Roman" panose="02020603050405020304" pitchFamily="18" charset="0"/>
                          <a:ea typeface="宋体" panose="02010600030101010101" pitchFamily="2" charset="-122"/>
                        </a:rPr>
                        <a:t>产生式</a:t>
                      </a:r>
                      <a:r>
                        <a:rPr lang="en-US" sz="1800" kern="100" dirty="0">
                          <a:effectLst/>
                          <a:latin typeface="Times New Roman" panose="02020603050405020304" pitchFamily="18" charset="0"/>
                          <a:ea typeface="宋体" panose="02010600030101010101" pitchFamily="2" charset="-122"/>
                        </a:rPr>
                        <a:t>{</a:t>
                      </a:r>
                      <a:r>
                        <a:rPr lang="zh-CN" sz="1800" kern="100" dirty="0">
                          <a:effectLst/>
                          <a:latin typeface="Times New Roman" panose="02020603050405020304" pitchFamily="18" charset="0"/>
                          <a:ea typeface="宋体" panose="02010600030101010101" pitchFamily="2" charset="-122"/>
                        </a:rPr>
                        <a:t>语义规则</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txBody>
                  <a:tcPr marL="68579" marR="68579" marT="0" marB="0">
                    <a:lnL w="12700" cap="flat" cmpd="sng" algn="ctr">
                      <a:solidFill>
                        <a:srgbClr val="000000"/>
                      </a:solidFill>
                      <a:prstDash val="solid"/>
                      <a:round/>
                      <a:headEnd type="none" w="med" len="med"/>
                      <a:tailEnd type="none" w="med" len="med"/>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371600">
                <a:tc>
                  <a:txBody>
                    <a:bodyPr/>
                    <a:lstStyle/>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0</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L</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pt-PT" sz="1800" kern="100" dirty="0">
                          <a:effectLst/>
                          <a:latin typeface="Times New Roman" panose="02020603050405020304" pitchFamily="18" charset="0"/>
                          <a:ea typeface="宋体" panose="02010600030101010101" pitchFamily="2" charset="-122"/>
                        </a:rPr>
                        <a:t> print(E.val)</a:t>
                      </a:r>
                      <a:r>
                        <a:rPr lang="fr-FR"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1</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fr-FR" sz="1800" kern="100" baseline="-25000" dirty="0">
                          <a:effectLst/>
                          <a:latin typeface="Times New Roman" panose="02020603050405020304" pitchFamily="18" charset="0"/>
                          <a:ea typeface="宋体" panose="02010600030101010101" pitchFamily="2" charset="-122"/>
                        </a:rPr>
                        <a:t>1</a:t>
                      </a:r>
                      <a:r>
                        <a:rPr lang="fr-FR" sz="1800" kern="100" dirty="0">
                          <a:effectLst/>
                          <a:latin typeface="Times New Roman" panose="02020603050405020304" pitchFamily="18" charset="0"/>
                          <a:ea typeface="宋体" panose="02010600030101010101" pitchFamily="2" charset="-122"/>
                        </a:rPr>
                        <a:t>+T{</a:t>
                      </a:r>
                      <a:r>
                        <a:rPr lang="pt-PT" sz="1800" kern="100" dirty="0">
                          <a:effectLst/>
                          <a:latin typeface="Times New Roman" panose="02020603050405020304" pitchFamily="18" charset="0"/>
                          <a:ea typeface="宋体" panose="02010600030101010101" pitchFamily="2" charset="-122"/>
                        </a:rPr>
                        <a:t> E.val=E</a:t>
                      </a:r>
                      <a:r>
                        <a:rPr lang="pt-PT" sz="1800" kern="100" baseline="-25000" dirty="0">
                          <a:effectLst/>
                          <a:latin typeface="Times New Roman" panose="02020603050405020304" pitchFamily="18" charset="0"/>
                          <a:ea typeface="宋体" panose="02010600030101010101" pitchFamily="2" charset="-122"/>
                        </a:rPr>
                        <a:t>1</a:t>
                      </a:r>
                      <a:r>
                        <a:rPr lang="pt-PT" sz="1800" kern="100" dirty="0">
                          <a:effectLst/>
                          <a:latin typeface="Times New Roman" panose="02020603050405020304" pitchFamily="18" charset="0"/>
                          <a:ea typeface="宋体" panose="02010600030101010101" pitchFamily="2" charset="-122"/>
                        </a:rPr>
                        <a:t>.val+T.val</a:t>
                      </a:r>
                      <a:r>
                        <a:rPr lang="fr-FR"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2</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 E.val=T.val}</a:t>
                      </a:r>
                      <a:endParaRPr lang="zh-CN" sz="1800" kern="100" dirty="0">
                        <a:effectLst/>
                        <a:latin typeface="Times New Roman" panose="02020603050405020304" pitchFamily="18" charset="0"/>
                        <a:ea typeface="宋体" panose="02010600030101010101" pitchFamily="2" charset="-122"/>
                      </a:endParaRPr>
                    </a:p>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3</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a:t>
                      </a:r>
                      <a:r>
                        <a:rPr lang="fr-FR" sz="1800" kern="100" baseline="-25000" dirty="0">
                          <a:effectLst/>
                          <a:latin typeface="Times New Roman" panose="02020603050405020304" pitchFamily="18" charset="0"/>
                          <a:ea typeface="宋体" panose="02010600030101010101" pitchFamily="2" charset="-122"/>
                        </a:rPr>
                        <a:t>1</a:t>
                      </a:r>
                      <a:r>
                        <a:rPr lang="fr-FR" sz="1800" kern="100" dirty="0">
                          <a:effectLst/>
                          <a:latin typeface="Times New Roman" panose="02020603050405020304" pitchFamily="18" charset="0"/>
                          <a:ea typeface="宋体" panose="02010600030101010101" pitchFamily="2" charset="-122"/>
                        </a:rPr>
                        <a:t>*F{ T.val=T</a:t>
                      </a:r>
                      <a:r>
                        <a:rPr lang="fr-FR" sz="1800" kern="100" baseline="-25000" dirty="0">
                          <a:effectLst/>
                          <a:latin typeface="Times New Roman" panose="02020603050405020304" pitchFamily="18" charset="0"/>
                          <a:ea typeface="宋体" panose="02010600030101010101" pitchFamily="2" charset="-122"/>
                        </a:rPr>
                        <a:t>1</a:t>
                      </a:r>
                      <a:r>
                        <a:rPr lang="fr-FR" sz="1800" kern="100" dirty="0">
                          <a:effectLst/>
                          <a:latin typeface="Times New Roman" panose="02020603050405020304" pitchFamily="18" charset="0"/>
                          <a:ea typeface="宋体" panose="02010600030101010101" pitchFamily="2" charset="-122"/>
                        </a:rPr>
                        <a:t>.val * F.val }</a:t>
                      </a:r>
                      <a:endParaRPr lang="zh-CN" sz="1800" kern="100" dirty="0">
                        <a:effectLst/>
                        <a:latin typeface="Times New Roman" panose="02020603050405020304" pitchFamily="18" charset="0"/>
                        <a:ea typeface="宋体" panose="02010600030101010101" pitchFamily="2" charset="-122"/>
                      </a:endParaRPr>
                    </a:p>
                  </a:txBody>
                  <a:tcPr marL="68579" marR="68579"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86360" indent="82550"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4</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F{ T.val=F.val}</a:t>
                      </a:r>
                      <a:endParaRPr lang="zh-CN" sz="1800" kern="100" dirty="0">
                        <a:effectLst/>
                        <a:latin typeface="Times New Roman" panose="02020603050405020304" pitchFamily="18" charset="0"/>
                        <a:ea typeface="宋体" panose="02010600030101010101" pitchFamily="2" charset="-122"/>
                      </a:endParaRPr>
                    </a:p>
                    <a:p>
                      <a:pPr marL="86360" indent="82550"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5</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F</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 F.val=E.val}</a:t>
                      </a:r>
                      <a:endParaRPr lang="zh-CN" sz="1800" kern="100" dirty="0">
                        <a:effectLst/>
                        <a:latin typeface="Times New Roman" panose="02020603050405020304" pitchFamily="18" charset="0"/>
                        <a:ea typeface="宋体" panose="02010600030101010101" pitchFamily="2" charset="-122"/>
                      </a:endParaRPr>
                    </a:p>
                    <a:p>
                      <a:pPr marL="86360" indent="82550"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6</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F</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i{ F.val=i.lexval }</a:t>
                      </a:r>
                      <a:endParaRPr lang="zh-CN" sz="1800" kern="100" dirty="0">
                        <a:effectLst/>
                        <a:latin typeface="Times New Roman" panose="02020603050405020304" pitchFamily="18" charset="0"/>
                        <a:ea typeface="宋体" panose="02010600030101010101" pitchFamily="2" charset="-122"/>
                      </a:endParaRPr>
                    </a:p>
                  </a:txBody>
                  <a:tcPr marL="68579" marR="68579"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7712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8873" name="Rectangle 3"/>
          <p:cNvSpPr>
            <a:spLocks noGrp="1" noChangeArrowheads="1"/>
          </p:cNvSpPr>
          <p:nvPr>
            <p:ph type="body" idx="1"/>
          </p:nvPr>
        </p:nvSpPr>
        <p:spPr>
          <a:xfrm>
            <a:off x="360040" y="123478"/>
            <a:ext cx="4644008" cy="5020022"/>
          </a:xfrm>
          <a:solidFill>
            <a:schemeClr val="bg1"/>
          </a:solidFill>
        </p:spPr>
        <p:txBody>
          <a:bodyPr lIns="92075" tIns="46038" rIns="92075" bIns="46038">
            <a:noAutofit/>
          </a:bodyPr>
          <a:lstStyle/>
          <a:p>
            <a:pPr>
              <a:lnSpc>
                <a:spcPct val="90000"/>
              </a:lnSpc>
              <a:buNone/>
            </a:pPr>
            <a:r>
              <a:rPr lang="en-US" altLang="zh-CN" sz="1800" u="sng" dirty="0">
                <a:latin typeface="宋体" pitchFamily="2" charset="-122"/>
                <a:ea typeface="宋体" panose="02010600030101010101" pitchFamily="2" charset="-122"/>
              </a:rPr>
              <a:t>  </a:t>
            </a:r>
            <a:r>
              <a:rPr lang="en-US" altLang="zh-CN" sz="1800" i="1" u="sng" dirty="0">
                <a:latin typeface="宋体" pitchFamily="2" charset="-122"/>
                <a:ea typeface="宋体" panose="02010600030101010101" pitchFamily="2" charset="-122"/>
              </a:rPr>
              <a:t>  </a:t>
            </a:r>
            <a:r>
              <a:rPr lang="zh-CN" altLang="en-US" sz="1800" i="1" u="sng" dirty="0">
                <a:latin typeface="宋体" pitchFamily="2" charset="-122"/>
                <a:ea typeface="宋体" panose="02010600030101010101" pitchFamily="2" charset="-122"/>
              </a:rPr>
              <a:t>动作          栈       剩余输入串</a:t>
            </a:r>
            <a:endParaRPr lang="zh-CN" altLang="en-US" sz="1800" u="sng" dirty="0">
              <a:latin typeface="宋体" pitchFamily="2" charset="-122"/>
              <a:ea typeface="宋体" panose="02010600030101010101" pitchFamily="2" charset="-122"/>
            </a:endParaRPr>
          </a:p>
          <a:p>
            <a:pPr eaLnBrk="1" hangingPunct="1">
              <a:lnSpc>
                <a:spcPct val="90000"/>
              </a:lnSpc>
              <a:buFontTx/>
              <a:buNone/>
            </a:pPr>
            <a:r>
              <a:rPr lang="en-US" altLang="zh-CN" sz="1800" u="sng" dirty="0">
                <a:latin typeface="宋体" pitchFamily="2" charset="-122"/>
                <a:ea typeface="宋体" panose="02010600030101010101" pitchFamily="2" charset="-122"/>
              </a:rPr>
              <a:t>1)  </a:t>
            </a:r>
            <a:r>
              <a:rPr lang="zh-CN" altLang="en-US" sz="1800" u="sng" dirty="0">
                <a:latin typeface="宋体" pitchFamily="2" charset="-122"/>
                <a:ea typeface="宋体" panose="02010600030101010101" pitchFamily="2" charset="-122"/>
              </a:rPr>
              <a:t>准备          </a:t>
            </a:r>
            <a:r>
              <a:rPr lang="en-US" altLang="zh-CN" sz="1800" u="sng" dirty="0">
                <a:latin typeface="宋体" pitchFamily="2" charset="-122"/>
                <a:ea typeface="宋体" panose="02010600030101010101" pitchFamily="2" charset="-122"/>
              </a:rPr>
              <a:t>#         i</a:t>
            </a:r>
            <a:r>
              <a:rPr lang="en-US" altLang="zh-CN" sz="1800" u="sng" baseline="-25000" dirty="0">
                <a:latin typeface="宋体" pitchFamily="2" charset="-122"/>
                <a:ea typeface="宋体" panose="02010600030101010101" pitchFamily="2" charset="-122"/>
              </a:rPr>
              <a:t>1</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2)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1</a:t>
            </a:r>
            <a:r>
              <a:rPr lang="en-US" altLang="zh-CN" sz="1800" u="sng" dirty="0">
                <a:latin typeface="宋体" pitchFamily="2" charset="-122"/>
                <a:ea typeface="宋体" panose="02010600030101010101" pitchFamily="2" charset="-122"/>
              </a:rPr>
              <a:t>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3)  </a:t>
            </a:r>
            <a:r>
              <a:rPr lang="zh-CN" altLang="en-US" sz="1800" u="sng" dirty="0">
                <a:latin typeface="宋体" pitchFamily="2" charset="-122"/>
                <a:ea typeface="宋体" panose="02010600030101010101" pitchFamily="2" charset="-122"/>
              </a:rPr>
              <a:t>归约 </a:t>
            </a:r>
            <a:r>
              <a:rPr lang="en-US" altLang="zh-CN" sz="1800" u="sng" dirty="0" err="1">
                <a:latin typeface="宋体" pitchFamily="2" charset="-122"/>
                <a:ea typeface="宋体" panose="02010600030101010101" pitchFamily="2" charset="-122"/>
              </a:rPr>
              <a:t>F→i</a:t>
            </a:r>
            <a:r>
              <a:rPr lang="en-US" altLang="zh-CN" sz="1800" u="sng" dirty="0">
                <a:latin typeface="宋体" pitchFamily="2" charset="-122"/>
                <a:ea typeface="宋体" panose="02010600030101010101" pitchFamily="2" charset="-122"/>
              </a:rPr>
              <a:t>     #F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4)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T→F     #T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 </a:t>
            </a:r>
          </a:p>
          <a:p>
            <a:pPr eaLnBrk="1" hangingPunct="1">
              <a:lnSpc>
                <a:spcPct val="90000"/>
              </a:lnSpc>
              <a:buFontTx/>
              <a:buNone/>
            </a:pPr>
            <a:r>
              <a:rPr lang="en-US" altLang="zh-CN" sz="1800" u="sng" dirty="0">
                <a:latin typeface="宋体" pitchFamily="2" charset="-122"/>
                <a:ea typeface="宋体" panose="02010600030101010101" pitchFamily="2" charset="-122"/>
              </a:rPr>
              <a:t>5)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E→T     #E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6)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7)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8)  </a:t>
            </a:r>
            <a:r>
              <a:rPr lang="zh-CN" altLang="en-US" sz="1800" u="sng" dirty="0">
                <a:latin typeface="宋体" pitchFamily="2" charset="-122"/>
                <a:ea typeface="宋体" panose="02010600030101010101" pitchFamily="2" charset="-122"/>
              </a:rPr>
              <a:t>归约 </a:t>
            </a:r>
            <a:r>
              <a:rPr lang="en-US" altLang="zh-CN" sz="1800" u="sng" dirty="0" err="1">
                <a:latin typeface="宋体" pitchFamily="2" charset="-122"/>
                <a:ea typeface="宋体" panose="02010600030101010101" pitchFamily="2" charset="-122"/>
              </a:rPr>
              <a:t>F→i</a:t>
            </a:r>
            <a:r>
              <a:rPr lang="en-US" altLang="zh-CN" sz="1800" u="sng" dirty="0">
                <a:latin typeface="宋体" pitchFamily="2" charset="-122"/>
                <a:ea typeface="宋体" panose="02010600030101010101" pitchFamily="2" charset="-122"/>
              </a:rPr>
              <a:t>     #E+F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9)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T→F     #E+T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 </a:t>
            </a:r>
          </a:p>
          <a:p>
            <a:pPr eaLnBrk="1" hangingPunct="1">
              <a:lnSpc>
                <a:spcPct val="90000"/>
              </a:lnSpc>
              <a:buFontTx/>
              <a:buNone/>
            </a:pPr>
            <a:r>
              <a:rPr lang="en-US" altLang="zh-CN" sz="1800" u="sng" dirty="0">
                <a:latin typeface="宋体" pitchFamily="2" charset="-122"/>
                <a:ea typeface="宋体" panose="02010600030101010101" pitchFamily="2" charset="-122"/>
              </a:rPr>
              <a:t>10)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#E+T*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11)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           #</a:t>
            </a:r>
          </a:p>
          <a:p>
            <a:pPr eaLnBrk="1" hangingPunct="1">
              <a:lnSpc>
                <a:spcPct val="90000"/>
              </a:lnSpc>
              <a:buFontTx/>
              <a:buNone/>
            </a:pPr>
            <a:r>
              <a:rPr lang="en-US" altLang="zh-CN" sz="1800" u="sng" dirty="0">
                <a:latin typeface="宋体" pitchFamily="2" charset="-122"/>
                <a:ea typeface="宋体" panose="02010600030101010101" pitchFamily="2" charset="-122"/>
              </a:rPr>
              <a:t>12) </a:t>
            </a:r>
            <a:r>
              <a:rPr lang="zh-CN" altLang="en-US" sz="1800" u="sng" dirty="0">
                <a:latin typeface="宋体" pitchFamily="2" charset="-122"/>
                <a:ea typeface="宋体" panose="02010600030101010101" pitchFamily="2" charset="-122"/>
              </a:rPr>
              <a:t>归约 </a:t>
            </a:r>
            <a:r>
              <a:rPr lang="en-US" altLang="zh-CN" sz="1800" u="sng" dirty="0" err="1">
                <a:latin typeface="宋体" pitchFamily="2" charset="-122"/>
                <a:ea typeface="宋体" panose="02010600030101010101" pitchFamily="2" charset="-122"/>
              </a:rPr>
              <a:t>F→i</a:t>
            </a:r>
            <a:r>
              <a:rPr lang="en-US" altLang="zh-CN" sz="1800" u="sng" dirty="0">
                <a:latin typeface="宋体" pitchFamily="2" charset="-122"/>
                <a:ea typeface="宋体" panose="02010600030101010101" pitchFamily="2" charset="-122"/>
              </a:rPr>
              <a:t>     #E+T*F            #</a:t>
            </a:r>
          </a:p>
          <a:p>
            <a:pPr eaLnBrk="1" hangingPunct="1">
              <a:lnSpc>
                <a:spcPct val="90000"/>
              </a:lnSpc>
              <a:buFontTx/>
              <a:buNone/>
            </a:pPr>
            <a:r>
              <a:rPr lang="en-US" altLang="zh-CN" sz="1800" u="sng" dirty="0">
                <a:latin typeface="宋体" pitchFamily="2" charset="-122"/>
                <a:ea typeface="宋体" panose="02010600030101010101" pitchFamily="2" charset="-122"/>
              </a:rPr>
              <a:t>13)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T→T*F   #E+T              #</a:t>
            </a:r>
          </a:p>
          <a:p>
            <a:pPr eaLnBrk="1" hangingPunct="1">
              <a:lnSpc>
                <a:spcPct val="90000"/>
              </a:lnSpc>
              <a:buFontTx/>
              <a:buNone/>
            </a:pPr>
            <a:r>
              <a:rPr lang="en-US" altLang="zh-CN" sz="1800" u="sng" dirty="0">
                <a:latin typeface="宋体" pitchFamily="2" charset="-122"/>
                <a:ea typeface="宋体" panose="02010600030101010101" pitchFamily="2" charset="-122"/>
              </a:rPr>
              <a:t>14)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E→E+T   #E                #  </a:t>
            </a:r>
          </a:p>
          <a:p>
            <a:pPr eaLnBrk="1" hangingPunct="1">
              <a:lnSpc>
                <a:spcPct val="90000"/>
              </a:lnSpc>
              <a:buFontTx/>
              <a:buNone/>
            </a:pPr>
            <a:r>
              <a:rPr lang="en-US" altLang="zh-CN" sz="1800" u="sng" dirty="0">
                <a:latin typeface="宋体" pitchFamily="2" charset="-122"/>
                <a:ea typeface="宋体" panose="02010600030101010101" pitchFamily="2" charset="-122"/>
              </a:rPr>
              <a:t>15) </a:t>
            </a:r>
            <a:r>
              <a:rPr lang="zh-CN" altLang="en-US" sz="1800" u="sng" dirty="0">
                <a:latin typeface="宋体" pitchFamily="2" charset="-122"/>
                <a:ea typeface="宋体" panose="02010600030101010101" pitchFamily="2" charset="-122"/>
              </a:rPr>
              <a:t>移进</a:t>
            </a:r>
            <a:r>
              <a:rPr lang="en-US" altLang="zh-CN" sz="1800" u="sng" dirty="0">
                <a:latin typeface="宋体" pitchFamily="2" charset="-122"/>
                <a:ea typeface="宋体" panose="02010600030101010101" pitchFamily="2" charset="-122"/>
              </a:rPr>
              <a:t>#         #E#              </a:t>
            </a:r>
          </a:p>
          <a:p>
            <a:pPr eaLnBrk="1" hangingPunct="1">
              <a:lnSpc>
                <a:spcPct val="90000"/>
              </a:lnSpc>
              <a:buFontTx/>
              <a:buNone/>
            </a:pPr>
            <a:r>
              <a:rPr lang="en-US" altLang="zh-CN" sz="1800" u="sng" dirty="0"/>
              <a:t>16) </a:t>
            </a:r>
            <a:r>
              <a:rPr lang="zh-CN" altLang="en-US" sz="1800" u="sng" dirty="0"/>
              <a:t>归约          </a:t>
            </a:r>
            <a:r>
              <a:rPr lang="zh-CN" altLang="en-US" sz="1800" u="sng" dirty="0">
                <a:solidFill>
                  <a:srgbClr val="CC00FF"/>
                </a:solidFill>
              </a:rPr>
              <a:t>打印结果</a:t>
            </a:r>
            <a:r>
              <a:rPr lang="en-US" altLang="zh-CN" sz="1800" u="sng" dirty="0">
                <a:latin typeface="宋体" pitchFamily="2" charset="-122"/>
                <a:ea typeface="宋体" panose="02010600030101010101" pitchFamily="2" charset="-122"/>
              </a:rPr>
              <a:t> </a:t>
            </a:r>
          </a:p>
          <a:p>
            <a:pPr eaLnBrk="1" hangingPunct="1">
              <a:lnSpc>
                <a:spcPct val="90000"/>
              </a:lnSpc>
              <a:buFontTx/>
              <a:buNone/>
            </a:pPr>
            <a:endParaRPr lang="zh-CN" altLang="en-US" sz="1800" u="sng" dirty="0">
              <a:latin typeface="宋体" pitchFamily="2" charset="-122"/>
              <a:ea typeface="宋体" panose="02010600030101010101" pitchFamily="2" charset="-122"/>
            </a:endParaRPr>
          </a:p>
        </p:txBody>
      </p:sp>
      <p:sp>
        <p:nvSpPr>
          <p:cNvPr id="1048884" name="Rectangle 15"/>
          <p:cNvSpPr>
            <a:spLocks noChangeArrowheads="1"/>
          </p:cNvSpPr>
          <p:nvPr/>
        </p:nvSpPr>
        <p:spPr bwMode="auto">
          <a:xfrm>
            <a:off x="5220072" y="4733151"/>
            <a:ext cx="3779914" cy="430887"/>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None/>
            </a:pPr>
            <a:r>
              <a:rPr lang="en-US" altLang="zh-CN" sz="2200" dirty="0">
                <a:solidFill>
                  <a:srgbClr val="FF0066"/>
                </a:solidFill>
                <a:latin typeface="宋体" pitchFamily="2" charset="-122"/>
                <a:ea typeface="华文行楷" pitchFamily="2" charset="-122"/>
              </a:rPr>
              <a:t>i</a:t>
            </a:r>
            <a:r>
              <a:rPr lang="en-US" altLang="zh-CN" sz="2200" baseline="-25000" dirty="0">
                <a:solidFill>
                  <a:srgbClr val="FF0066"/>
                </a:solidFill>
                <a:latin typeface="宋体" pitchFamily="2" charset="-122"/>
                <a:ea typeface="华文行楷" pitchFamily="2" charset="-122"/>
              </a:rPr>
              <a:t>1</a:t>
            </a:r>
            <a:r>
              <a:rPr lang="en-US" altLang="zh-CN" sz="2200" dirty="0">
                <a:solidFill>
                  <a:srgbClr val="FF0066"/>
                </a:solidFill>
                <a:latin typeface="宋体" pitchFamily="2" charset="-122"/>
                <a:ea typeface="华文行楷" pitchFamily="2" charset="-122"/>
              </a:rPr>
              <a:t>(4)  +  i</a:t>
            </a:r>
            <a:r>
              <a:rPr lang="en-US" altLang="zh-CN" sz="2200" baseline="-25000" dirty="0">
                <a:solidFill>
                  <a:srgbClr val="FF0066"/>
                </a:solidFill>
                <a:latin typeface="宋体" pitchFamily="2" charset="-122"/>
                <a:ea typeface="华文行楷" pitchFamily="2" charset="-122"/>
              </a:rPr>
              <a:t>2</a:t>
            </a:r>
            <a:r>
              <a:rPr lang="en-US" altLang="zh-CN" sz="2200" dirty="0">
                <a:solidFill>
                  <a:srgbClr val="FF0066"/>
                </a:solidFill>
                <a:latin typeface="宋体" pitchFamily="2" charset="-122"/>
                <a:ea typeface="华文行楷" pitchFamily="2" charset="-122"/>
              </a:rPr>
              <a:t>(3)  *   i</a:t>
            </a:r>
            <a:r>
              <a:rPr lang="en-US" altLang="zh-CN" sz="2200" baseline="-25000" dirty="0">
                <a:solidFill>
                  <a:srgbClr val="FF0066"/>
                </a:solidFill>
                <a:latin typeface="宋体" pitchFamily="2" charset="-122"/>
                <a:ea typeface="华文行楷" pitchFamily="2" charset="-122"/>
              </a:rPr>
              <a:t>3</a:t>
            </a:r>
            <a:r>
              <a:rPr lang="en-US" altLang="zh-CN" sz="2200" dirty="0">
                <a:solidFill>
                  <a:srgbClr val="FF0066"/>
                </a:solidFill>
                <a:latin typeface="宋体" pitchFamily="2" charset="-122"/>
                <a:ea typeface="华文行楷" pitchFamily="2" charset="-122"/>
              </a:rPr>
              <a:t>(5)</a:t>
            </a:r>
            <a:endParaRPr lang="en-US" altLang="zh-CN" sz="2200" baseline="-25000" dirty="0">
              <a:solidFill>
                <a:srgbClr val="FF0066"/>
              </a:solidFill>
              <a:latin typeface="宋体" pitchFamily="2" charset="-122"/>
              <a:ea typeface="华文行楷" pitchFamily="2" charset="-122"/>
            </a:endParaRPr>
          </a:p>
        </p:txBody>
      </p:sp>
      <p:sp>
        <p:nvSpPr>
          <p:cNvPr id="1048874" name="Line 4"/>
          <p:cNvSpPr>
            <a:spLocks noChangeShapeType="1"/>
          </p:cNvSpPr>
          <p:nvPr/>
        </p:nvSpPr>
        <p:spPr bwMode="auto">
          <a:xfrm flipH="1">
            <a:off x="5508105" y="4505125"/>
            <a:ext cx="0" cy="370881"/>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5" name="Line 5"/>
          <p:cNvSpPr>
            <a:spLocks noChangeShapeType="1"/>
          </p:cNvSpPr>
          <p:nvPr/>
        </p:nvSpPr>
        <p:spPr bwMode="auto">
          <a:xfrm flipV="1">
            <a:off x="5742213" y="2600243"/>
            <a:ext cx="629987" cy="207405"/>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6" name="Line 6"/>
          <p:cNvSpPr>
            <a:spLocks noChangeShapeType="1"/>
          </p:cNvSpPr>
          <p:nvPr/>
        </p:nvSpPr>
        <p:spPr bwMode="auto">
          <a:xfrm flipV="1">
            <a:off x="6372200" y="2600247"/>
            <a:ext cx="291852" cy="2132904"/>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7" name="Line 7"/>
          <p:cNvSpPr>
            <a:spLocks noChangeShapeType="1"/>
          </p:cNvSpPr>
          <p:nvPr/>
        </p:nvSpPr>
        <p:spPr bwMode="auto">
          <a:xfrm flipH="1" flipV="1">
            <a:off x="8161785" y="3118240"/>
            <a:ext cx="226640" cy="948414"/>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8" name="Line 8"/>
          <p:cNvSpPr>
            <a:spLocks noChangeShapeType="1"/>
          </p:cNvSpPr>
          <p:nvPr/>
        </p:nvSpPr>
        <p:spPr bwMode="auto">
          <a:xfrm flipV="1">
            <a:off x="7732763" y="3158790"/>
            <a:ext cx="352822" cy="1574360"/>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9" name="Line 9"/>
          <p:cNvSpPr>
            <a:spLocks noChangeShapeType="1"/>
          </p:cNvSpPr>
          <p:nvPr/>
        </p:nvSpPr>
        <p:spPr bwMode="auto">
          <a:xfrm flipV="1">
            <a:off x="7456141" y="3118240"/>
            <a:ext cx="553244" cy="466734"/>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0" name="Line 10"/>
          <p:cNvSpPr>
            <a:spLocks noChangeShapeType="1"/>
          </p:cNvSpPr>
          <p:nvPr/>
        </p:nvSpPr>
        <p:spPr bwMode="auto">
          <a:xfrm flipV="1">
            <a:off x="6989664" y="4538162"/>
            <a:ext cx="0" cy="265836"/>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1" name="Line 11"/>
          <p:cNvSpPr>
            <a:spLocks noChangeShapeType="1"/>
          </p:cNvSpPr>
          <p:nvPr/>
        </p:nvSpPr>
        <p:spPr bwMode="auto">
          <a:xfrm flipV="1">
            <a:off x="8388425" y="4424556"/>
            <a:ext cx="0" cy="379439"/>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2" name="Line 12"/>
          <p:cNvSpPr>
            <a:spLocks noChangeShapeType="1"/>
          </p:cNvSpPr>
          <p:nvPr/>
        </p:nvSpPr>
        <p:spPr bwMode="auto">
          <a:xfrm flipH="1" flipV="1">
            <a:off x="6904137" y="2600246"/>
            <a:ext cx="1098897" cy="132755"/>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5" name="Text Box 16"/>
          <p:cNvSpPr txBox="1">
            <a:spLocks noChangeArrowheads="1"/>
          </p:cNvSpPr>
          <p:nvPr/>
        </p:nvSpPr>
        <p:spPr bwMode="auto">
          <a:xfrm>
            <a:off x="5220072" y="4074241"/>
            <a:ext cx="792089"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F</a:t>
            </a:r>
            <a:r>
              <a:rPr lang="en-US" altLang="zh-CN" sz="2400" dirty="0">
                <a:solidFill>
                  <a:srgbClr val="FF0066"/>
                </a:solidFill>
                <a:latin typeface="宋体" pitchFamily="2" charset="-122"/>
                <a:ea typeface="华文行楷" pitchFamily="2" charset="-122"/>
              </a:rPr>
              <a:t>(4)</a:t>
            </a:r>
            <a:endParaRPr lang="en-US" altLang="zh-CN" sz="2400" dirty="0">
              <a:solidFill>
                <a:srgbClr val="FF0066"/>
              </a:solidFill>
              <a:ea typeface="华文行楷" pitchFamily="2" charset="-122"/>
            </a:endParaRPr>
          </a:p>
        </p:txBody>
      </p:sp>
      <p:sp>
        <p:nvSpPr>
          <p:cNvPr id="1048886" name="Line 17"/>
          <p:cNvSpPr>
            <a:spLocks noChangeShapeType="1"/>
          </p:cNvSpPr>
          <p:nvPr/>
        </p:nvSpPr>
        <p:spPr bwMode="auto">
          <a:xfrm flipV="1">
            <a:off x="5508105" y="3859428"/>
            <a:ext cx="0" cy="288365"/>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7" name="Text Box 18"/>
          <p:cNvSpPr txBox="1">
            <a:spLocks noChangeArrowheads="1"/>
          </p:cNvSpPr>
          <p:nvPr/>
        </p:nvSpPr>
        <p:spPr bwMode="auto">
          <a:xfrm>
            <a:off x="5220073" y="3507854"/>
            <a:ext cx="878036"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T</a:t>
            </a:r>
            <a:r>
              <a:rPr lang="en-US" altLang="zh-CN" sz="2400" dirty="0">
                <a:solidFill>
                  <a:srgbClr val="FF0066"/>
                </a:solidFill>
                <a:latin typeface="宋体" pitchFamily="2" charset="-122"/>
                <a:ea typeface="华文行楷" pitchFamily="2" charset="-122"/>
              </a:rPr>
              <a:t>(4)</a:t>
            </a:r>
            <a:endParaRPr lang="en-US" altLang="zh-CN" sz="2400" dirty="0">
              <a:solidFill>
                <a:srgbClr val="FF0066"/>
              </a:solidFill>
              <a:ea typeface="华文行楷" pitchFamily="2" charset="-122"/>
            </a:endParaRPr>
          </a:p>
        </p:txBody>
      </p:sp>
      <p:sp>
        <p:nvSpPr>
          <p:cNvPr id="1048888" name="Line 19"/>
          <p:cNvSpPr>
            <a:spLocks noChangeShapeType="1"/>
          </p:cNvSpPr>
          <p:nvPr/>
        </p:nvSpPr>
        <p:spPr bwMode="auto">
          <a:xfrm flipV="1">
            <a:off x="5563604" y="3168317"/>
            <a:ext cx="52512" cy="416657"/>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9" name="Text Box 20"/>
          <p:cNvSpPr txBox="1">
            <a:spLocks noChangeArrowheads="1"/>
          </p:cNvSpPr>
          <p:nvPr/>
        </p:nvSpPr>
        <p:spPr bwMode="auto">
          <a:xfrm>
            <a:off x="5364089" y="2787774"/>
            <a:ext cx="756244"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E</a:t>
            </a:r>
            <a:r>
              <a:rPr lang="en-US" altLang="zh-CN" sz="2400" dirty="0">
                <a:solidFill>
                  <a:srgbClr val="FF0066"/>
                </a:solidFill>
                <a:latin typeface="宋体" pitchFamily="2" charset="-122"/>
                <a:ea typeface="华文行楷" pitchFamily="2" charset="-122"/>
              </a:rPr>
              <a:t>(4)</a:t>
            </a:r>
            <a:endParaRPr lang="en-US" altLang="zh-CN" sz="2400" dirty="0">
              <a:solidFill>
                <a:srgbClr val="FF0066"/>
              </a:solidFill>
              <a:ea typeface="华文行楷" pitchFamily="2" charset="-122"/>
            </a:endParaRPr>
          </a:p>
        </p:txBody>
      </p:sp>
      <p:sp>
        <p:nvSpPr>
          <p:cNvPr id="1048891" name="Line 23"/>
          <p:cNvSpPr>
            <a:spLocks noChangeShapeType="1"/>
          </p:cNvSpPr>
          <p:nvPr/>
        </p:nvSpPr>
        <p:spPr bwMode="auto">
          <a:xfrm flipV="1">
            <a:off x="6998022" y="3880830"/>
            <a:ext cx="0" cy="266963"/>
          </a:xfrm>
          <a:prstGeom prst="line">
            <a:avLst/>
          </a:prstGeom>
          <a:noFill/>
          <a:ln w="28575">
            <a:solidFill>
              <a:srgbClr val="0000FF"/>
            </a:solidFill>
            <a:round/>
            <a:headEnd/>
            <a:tailEnd/>
          </a:ln>
        </p:spPr>
        <p:txBody>
          <a:bodyPr lIns="92075" tIns="46038" rIns="92075" bIns="46038"/>
          <a:lstStyle/>
          <a:p>
            <a:endParaRPr lang="zh-CN" altLang="en-US"/>
          </a:p>
        </p:txBody>
      </p:sp>
      <p:sp>
        <p:nvSpPr>
          <p:cNvPr id="5" name="矩形 4"/>
          <p:cNvSpPr/>
          <p:nvPr/>
        </p:nvSpPr>
        <p:spPr>
          <a:xfrm>
            <a:off x="5364087" y="0"/>
            <a:ext cx="379550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0</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L</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pt-PT" altLang="zh-CN" kern="100" dirty="0">
                <a:latin typeface="Times New Roman" panose="02020603050405020304" pitchFamily="18" charset="0"/>
                <a:ea typeface="宋体" panose="02010600030101010101" pitchFamily="2" charset="-122"/>
              </a:rPr>
              <a:t> print(E.val)</a:t>
            </a:r>
            <a:r>
              <a:rPr lang="fr-FR"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1</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fr-FR" altLang="zh-CN" kern="100" baseline="-25000" dirty="0">
                <a:latin typeface="Times New Roman" panose="02020603050405020304" pitchFamily="18" charset="0"/>
                <a:ea typeface="宋体" panose="02010600030101010101" pitchFamily="2" charset="-122"/>
              </a:rPr>
              <a:t>1</a:t>
            </a:r>
            <a:r>
              <a:rPr lang="fr-FR" altLang="zh-CN" kern="100" dirty="0">
                <a:latin typeface="Times New Roman" panose="02020603050405020304" pitchFamily="18" charset="0"/>
                <a:ea typeface="宋体" panose="02010600030101010101" pitchFamily="2" charset="-122"/>
              </a:rPr>
              <a:t>+T{</a:t>
            </a:r>
            <a:r>
              <a:rPr lang="pt-PT" altLang="zh-CN" kern="100" dirty="0">
                <a:latin typeface="Times New Roman" panose="02020603050405020304" pitchFamily="18" charset="0"/>
                <a:ea typeface="宋体" panose="02010600030101010101" pitchFamily="2" charset="-122"/>
              </a:rPr>
              <a:t> E.val=E</a:t>
            </a:r>
            <a:r>
              <a:rPr lang="pt-PT" altLang="zh-CN" kern="100" baseline="-25000" dirty="0">
                <a:latin typeface="Times New Roman" panose="02020603050405020304" pitchFamily="18" charset="0"/>
                <a:ea typeface="宋体" panose="02010600030101010101" pitchFamily="2" charset="-122"/>
              </a:rPr>
              <a:t>1</a:t>
            </a:r>
            <a:r>
              <a:rPr lang="pt-PT" altLang="zh-CN" kern="100" dirty="0">
                <a:latin typeface="Times New Roman" panose="02020603050405020304" pitchFamily="18" charset="0"/>
                <a:ea typeface="宋体" panose="02010600030101010101" pitchFamily="2" charset="-122"/>
              </a:rPr>
              <a:t>.val+T.val</a:t>
            </a:r>
            <a:r>
              <a:rPr lang="fr-FR"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2</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 E.val=T.val}</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3</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a:t>
            </a:r>
            <a:r>
              <a:rPr lang="fr-FR" altLang="zh-CN" kern="100" baseline="-25000" dirty="0">
                <a:latin typeface="Times New Roman" panose="02020603050405020304" pitchFamily="18" charset="0"/>
                <a:ea typeface="宋体" panose="02010600030101010101" pitchFamily="2" charset="-122"/>
              </a:rPr>
              <a:t>1</a:t>
            </a:r>
            <a:r>
              <a:rPr lang="fr-FR" altLang="zh-CN" kern="100" dirty="0">
                <a:latin typeface="Times New Roman" panose="02020603050405020304" pitchFamily="18" charset="0"/>
                <a:ea typeface="宋体" panose="02010600030101010101" pitchFamily="2" charset="-122"/>
              </a:rPr>
              <a:t>*F{ T.val=T</a:t>
            </a:r>
            <a:r>
              <a:rPr lang="fr-FR" altLang="zh-CN" kern="100" baseline="-25000" dirty="0">
                <a:latin typeface="Times New Roman" panose="02020603050405020304" pitchFamily="18" charset="0"/>
                <a:ea typeface="宋体" panose="02010600030101010101" pitchFamily="2" charset="-122"/>
              </a:rPr>
              <a:t>1</a:t>
            </a:r>
            <a:r>
              <a:rPr lang="fr-FR" altLang="zh-CN" kern="100" dirty="0">
                <a:latin typeface="Times New Roman" panose="02020603050405020304" pitchFamily="18" charset="0"/>
                <a:ea typeface="宋体" panose="02010600030101010101" pitchFamily="2" charset="-122"/>
              </a:rPr>
              <a:t>.val * F.val }</a:t>
            </a: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4</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F{ T.val=F.val}</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5</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F</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 F.val=E.val}</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6</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F</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i{ F.val=i.lexval }</a:t>
            </a:r>
            <a:endParaRPr lang="zh-CN" altLang="zh-CN" kern="100" dirty="0">
              <a:latin typeface="Times New Roman" panose="02020603050405020304" pitchFamily="18" charset="0"/>
              <a:ea typeface="宋体" panose="02010600030101010101" pitchFamily="2" charset="-122"/>
            </a:endParaRPr>
          </a:p>
        </p:txBody>
      </p:sp>
      <p:sp>
        <p:nvSpPr>
          <p:cNvPr id="48" name="Text Box 16"/>
          <p:cNvSpPr txBox="1">
            <a:spLocks noChangeArrowheads="1"/>
          </p:cNvSpPr>
          <p:nvPr/>
        </p:nvSpPr>
        <p:spPr bwMode="auto">
          <a:xfrm>
            <a:off x="6664052" y="4074241"/>
            <a:ext cx="792089"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F</a:t>
            </a:r>
            <a:r>
              <a:rPr lang="en-US" altLang="zh-CN" sz="2400" dirty="0">
                <a:solidFill>
                  <a:srgbClr val="FF0066"/>
                </a:solidFill>
                <a:latin typeface="宋体" pitchFamily="2" charset="-122"/>
                <a:ea typeface="华文行楷" pitchFamily="2" charset="-122"/>
              </a:rPr>
              <a:t>(3)</a:t>
            </a:r>
            <a:endParaRPr lang="en-US" altLang="zh-CN" sz="2400" dirty="0">
              <a:solidFill>
                <a:srgbClr val="FF0066"/>
              </a:solidFill>
              <a:ea typeface="华文行楷" pitchFamily="2" charset="-122"/>
            </a:endParaRPr>
          </a:p>
        </p:txBody>
      </p:sp>
      <p:sp>
        <p:nvSpPr>
          <p:cNvPr id="49" name="Text Box 16"/>
          <p:cNvSpPr txBox="1">
            <a:spLocks noChangeArrowheads="1"/>
          </p:cNvSpPr>
          <p:nvPr/>
        </p:nvSpPr>
        <p:spPr bwMode="auto">
          <a:xfrm>
            <a:off x="8100393" y="4003610"/>
            <a:ext cx="792089"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F</a:t>
            </a:r>
            <a:r>
              <a:rPr lang="en-US" altLang="zh-CN" sz="2400" dirty="0">
                <a:solidFill>
                  <a:srgbClr val="FF0066"/>
                </a:solidFill>
                <a:latin typeface="宋体" pitchFamily="2" charset="-122"/>
                <a:ea typeface="华文行楷" pitchFamily="2" charset="-122"/>
              </a:rPr>
              <a:t>(5)</a:t>
            </a:r>
            <a:endParaRPr lang="en-US" altLang="zh-CN" sz="2400" dirty="0">
              <a:solidFill>
                <a:srgbClr val="FF0066"/>
              </a:solidFill>
              <a:ea typeface="华文行楷" pitchFamily="2" charset="-122"/>
            </a:endParaRPr>
          </a:p>
        </p:txBody>
      </p:sp>
      <p:sp>
        <p:nvSpPr>
          <p:cNvPr id="50" name="Text Box 18"/>
          <p:cNvSpPr txBox="1">
            <a:spLocks noChangeArrowheads="1"/>
          </p:cNvSpPr>
          <p:nvPr/>
        </p:nvSpPr>
        <p:spPr bwMode="auto">
          <a:xfrm>
            <a:off x="6621078" y="3446484"/>
            <a:ext cx="878036"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T</a:t>
            </a:r>
            <a:r>
              <a:rPr lang="en-US" altLang="zh-CN" sz="2400" dirty="0">
                <a:solidFill>
                  <a:srgbClr val="FF0066"/>
                </a:solidFill>
                <a:latin typeface="宋体" pitchFamily="2" charset="-122"/>
                <a:ea typeface="华文行楷" pitchFamily="2" charset="-122"/>
              </a:rPr>
              <a:t>(3)</a:t>
            </a:r>
            <a:endParaRPr lang="en-US" altLang="zh-CN" sz="2400" dirty="0">
              <a:solidFill>
                <a:srgbClr val="FF0066"/>
              </a:solidFill>
              <a:ea typeface="华文行楷" pitchFamily="2" charset="-122"/>
            </a:endParaRPr>
          </a:p>
        </p:txBody>
      </p:sp>
      <p:sp>
        <p:nvSpPr>
          <p:cNvPr id="51" name="Text Box 18"/>
          <p:cNvSpPr txBox="1">
            <a:spLocks noChangeArrowheads="1"/>
          </p:cNvSpPr>
          <p:nvPr/>
        </p:nvSpPr>
        <p:spPr bwMode="auto">
          <a:xfrm>
            <a:off x="7668595" y="2733002"/>
            <a:ext cx="878036"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T</a:t>
            </a:r>
            <a:r>
              <a:rPr lang="en-US" altLang="zh-CN" sz="2400" dirty="0">
                <a:solidFill>
                  <a:srgbClr val="FF0066"/>
                </a:solidFill>
                <a:latin typeface="宋体" pitchFamily="2" charset="-122"/>
                <a:ea typeface="华文行楷" pitchFamily="2" charset="-122"/>
              </a:rPr>
              <a:t>(15)</a:t>
            </a:r>
            <a:endParaRPr lang="en-US" altLang="zh-CN" sz="2400" dirty="0">
              <a:solidFill>
                <a:srgbClr val="FF0066"/>
              </a:solidFill>
              <a:ea typeface="华文行楷" pitchFamily="2" charset="-122"/>
            </a:endParaRPr>
          </a:p>
        </p:txBody>
      </p:sp>
      <p:sp>
        <p:nvSpPr>
          <p:cNvPr id="52" name="Text Box 20"/>
          <p:cNvSpPr txBox="1">
            <a:spLocks noChangeArrowheads="1"/>
          </p:cNvSpPr>
          <p:nvPr/>
        </p:nvSpPr>
        <p:spPr bwMode="auto">
          <a:xfrm>
            <a:off x="6107372" y="2182093"/>
            <a:ext cx="1056917"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E</a:t>
            </a:r>
            <a:r>
              <a:rPr lang="en-US" altLang="zh-CN" sz="2400" dirty="0">
                <a:solidFill>
                  <a:srgbClr val="FF0066"/>
                </a:solidFill>
                <a:latin typeface="宋体" pitchFamily="2" charset="-122"/>
                <a:ea typeface="华文行楷" pitchFamily="2" charset="-122"/>
              </a:rPr>
              <a:t>(19)</a:t>
            </a:r>
            <a:endParaRPr lang="en-US" altLang="zh-CN" sz="2400" dirty="0">
              <a:solidFill>
                <a:srgbClr val="FF0066"/>
              </a:solidFill>
              <a:ea typeface="华文行楷" pitchFamily="2" charset="-122"/>
            </a:endParaRPr>
          </a:p>
        </p:txBody>
      </p:sp>
      <p:sp>
        <p:nvSpPr>
          <p:cNvPr id="53" name="Text Box 20"/>
          <p:cNvSpPr txBox="1">
            <a:spLocks noChangeArrowheads="1"/>
          </p:cNvSpPr>
          <p:nvPr/>
        </p:nvSpPr>
        <p:spPr bwMode="auto">
          <a:xfrm>
            <a:off x="8886589" y="4731990"/>
            <a:ext cx="365931"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a:t>
            </a:r>
          </a:p>
        </p:txBody>
      </p:sp>
      <p:cxnSp>
        <p:nvCxnSpPr>
          <p:cNvPr id="7" name="直接连接符 6"/>
          <p:cNvCxnSpPr/>
          <p:nvPr/>
        </p:nvCxnSpPr>
        <p:spPr>
          <a:xfrm flipH="1" flipV="1">
            <a:off x="8676456" y="2182093"/>
            <a:ext cx="398989" cy="2621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989663" y="2127493"/>
            <a:ext cx="1285441" cy="150768"/>
          </a:xfrm>
          <a:prstGeom prst="line">
            <a:avLst/>
          </a:prstGeom>
        </p:spPr>
        <p:style>
          <a:lnRef idx="1">
            <a:schemeClr val="accent1"/>
          </a:lnRef>
          <a:fillRef idx="0">
            <a:schemeClr val="accent1"/>
          </a:fillRef>
          <a:effectRef idx="0">
            <a:schemeClr val="accent1"/>
          </a:effectRef>
          <a:fontRef idx="minor">
            <a:schemeClr val="tx1"/>
          </a:fontRef>
        </p:style>
      </p:cxnSp>
      <p:sp>
        <p:nvSpPr>
          <p:cNvPr id="58" name="Text Box 20"/>
          <p:cNvSpPr txBox="1">
            <a:spLocks noChangeArrowheads="1"/>
          </p:cNvSpPr>
          <p:nvPr/>
        </p:nvSpPr>
        <p:spPr bwMode="auto">
          <a:xfrm>
            <a:off x="8172400" y="1923678"/>
            <a:ext cx="636470"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L</a:t>
            </a:r>
          </a:p>
        </p:txBody>
      </p:sp>
    </p:spTree>
    <p:extLst>
      <p:ext uri="{BB962C8B-B14F-4D97-AF65-F5344CB8AC3E}">
        <p14:creationId xmlns:p14="http://schemas.microsoft.com/office/powerpoint/2010/main" val="204767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8873">
                                            <p:txEl>
                                              <p:pRg st="0" end="0"/>
                                            </p:txEl>
                                          </p:spTgt>
                                        </p:tgtEl>
                                        <p:attrNameLst>
                                          <p:attrName>style.visibility</p:attrName>
                                        </p:attrNameLst>
                                      </p:cBhvr>
                                      <p:to>
                                        <p:strVal val="visible"/>
                                      </p:to>
                                    </p:set>
                                    <p:animEffect transition="in" filter="wipe(left)">
                                      <p:cBhvr>
                                        <p:cTn id="7" dur="500"/>
                                        <p:tgtEl>
                                          <p:spTgt spid="10488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4888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48873">
                                            <p:txEl>
                                              <p:pRg st="1" end="1"/>
                                            </p:txEl>
                                          </p:spTgt>
                                        </p:tgtEl>
                                        <p:attrNameLst>
                                          <p:attrName>style.visibility</p:attrName>
                                        </p:attrNameLst>
                                      </p:cBhvr>
                                      <p:to>
                                        <p:strVal val="visible"/>
                                      </p:to>
                                    </p:set>
                                    <p:animEffect transition="in" filter="wipe(left)">
                                      <p:cBhvr>
                                        <p:cTn id="18" dur="500"/>
                                        <p:tgtEl>
                                          <p:spTgt spid="1048873">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48873">
                                            <p:txEl>
                                              <p:pRg st="2" end="2"/>
                                            </p:txEl>
                                          </p:spTgt>
                                        </p:tgtEl>
                                        <p:attrNameLst>
                                          <p:attrName>style.visibility</p:attrName>
                                        </p:attrNameLst>
                                      </p:cBhvr>
                                      <p:to>
                                        <p:strVal val="visible"/>
                                      </p:to>
                                    </p:set>
                                    <p:animEffect transition="in" filter="wipe(left)">
                                      <p:cBhvr>
                                        <p:cTn id="23" dur="500"/>
                                        <p:tgtEl>
                                          <p:spTgt spid="104887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48873">
                                            <p:txEl>
                                              <p:pRg st="3" end="3"/>
                                            </p:txEl>
                                          </p:spTgt>
                                        </p:tgtEl>
                                        <p:attrNameLst>
                                          <p:attrName>style.visibility</p:attrName>
                                        </p:attrNameLst>
                                      </p:cBhvr>
                                      <p:to>
                                        <p:strVal val="visible"/>
                                      </p:to>
                                    </p:set>
                                    <p:animEffect transition="in" filter="wipe(left)">
                                      <p:cBhvr>
                                        <p:cTn id="28" dur="500"/>
                                        <p:tgtEl>
                                          <p:spTgt spid="104887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48874"/>
                                        </p:tgtEl>
                                        <p:attrNameLst>
                                          <p:attrName>style.visibility</p:attrName>
                                        </p:attrNameLst>
                                      </p:cBhvr>
                                      <p:to>
                                        <p:strVal val="visible"/>
                                      </p:to>
                                    </p:set>
                                    <p:animEffect transition="in" filter="wipe(down)">
                                      <p:cBhvr>
                                        <p:cTn id="33" dur="500"/>
                                        <p:tgtEl>
                                          <p:spTgt spid="104887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048885"/>
                                        </p:tgtEl>
                                        <p:attrNameLst>
                                          <p:attrName>style.visibility</p:attrName>
                                        </p:attrNameLst>
                                      </p:cBhvr>
                                      <p:to>
                                        <p:strVal val="visible"/>
                                      </p:to>
                                    </p:set>
                                    <p:animEffect transition="in" filter="wipe(down)">
                                      <p:cBhvr>
                                        <p:cTn id="36" dur="500"/>
                                        <p:tgtEl>
                                          <p:spTgt spid="104888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48873">
                                            <p:txEl>
                                              <p:pRg st="4" end="4"/>
                                            </p:txEl>
                                          </p:spTgt>
                                        </p:tgtEl>
                                        <p:attrNameLst>
                                          <p:attrName>style.visibility</p:attrName>
                                        </p:attrNameLst>
                                      </p:cBhvr>
                                      <p:to>
                                        <p:strVal val="visible"/>
                                      </p:to>
                                    </p:set>
                                    <p:animEffect transition="in" filter="wipe(left)">
                                      <p:cBhvr>
                                        <p:cTn id="41" dur="500"/>
                                        <p:tgtEl>
                                          <p:spTgt spid="104887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048886"/>
                                        </p:tgtEl>
                                        <p:attrNameLst>
                                          <p:attrName>style.visibility</p:attrName>
                                        </p:attrNameLst>
                                      </p:cBhvr>
                                      <p:to>
                                        <p:strVal val="visible"/>
                                      </p:to>
                                    </p:set>
                                    <p:animEffect transition="in" filter="wipe(down)">
                                      <p:cBhvr>
                                        <p:cTn id="46" dur="500"/>
                                        <p:tgtEl>
                                          <p:spTgt spid="104888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048887"/>
                                        </p:tgtEl>
                                        <p:attrNameLst>
                                          <p:attrName>style.visibility</p:attrName>
                                        </p:attrNameLst>
                                      </p:cBhvr>
                                      <p:to>
                                        <p:strVal val="visible"/>
                                      </p:to>
                                    </p:set>
                                    <p:animEffect transition="in" filter="wipe(down)">
                                      <p:cBhvr>
                                        <p:cTn id="49" dur="500"/>
                                        <p:tgtEl>
                                          <p:spTgt spid="104888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48873">
                                            <p:txEl>
                                              <p:pRg st="5" end="5"/>
                                            </p:txEl>
                                          </p:spTgt>
                                        </p:tgtEl>
                                        <p:attrNameLst>
                                          <p:attrName>style.visibility</p:attrName>
                                        </p:attrNameLst>
                                      </p:cBhvr>
                                      <p:to>
                                        <p:strVal val="visible"/>
                                      </p:to>
                                    </p:set>
                                    <p:animEffect transition="in" filter="wipe(left)">
                                      <p:cBhvr>
                                        <p:cTn id="54" dur="500"/>
                                        <p:tgtEl>
                                          <p:spTgt spid="1048873">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048888"/>
                                        </p:tgtEl>
                                        <p:attrNameLst>
                                          <p:attrName>style.visibility</p:attrName>
                                        </p:attrNameLst>
                                      </p:cBhvr>
                                      <p:to>
                                        <p:strVal val="visible"/>
                                      </p:to>
                                    </p:set>
                                    <p:animEffect transition="in" filter="wipe(down)">
                                      <p:cBhvr>
                                        <p:cTn id="59" dur="500"/>
                                        <p:tgtEl>
                                          <p:spTgt spid="1048888"/>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1048889"/>
                                        </p:tgtEl>
                                        <p:attrNameLst>
                                          <p:attrName>style.visibility</p:attrName>
                                        </p:attrNameLst>
                                      </p:cBhvr>
                                      <p:to>
                                        <p:strVal val="visible"/>
                                      </p:to>
                                    </p:set>
                                    <p:animEffect transition="in" filter="wipe(down)">
                                      <p:cBhvr>
                                        <p:cTn id="62" dur="500"/>
                                        <p:tgtEl>
                                          <p:spTgt spid="104888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48873">
                                            <p:txEl>
                                              <p:pRg st="6" end="6"/>
                                            </p:txEl>
                                          </p:spTgt>
                                        </p:tgtEl>
                                        <p:attrNameLst>
                                          <p:attrName>style.visibility</p:attrName>
                                        </p:attrNameLst>
                                      </p:cBhvr>
                                      <p:to>
                                        <p:strVal val="visible"/>
                                      </p:to>
                                    </p:set>
                                    <p:animEffect transition="in" filter="wipe(left)">
                                      <p:cBhvr>
                                        <p:cTn id="67" dur="500"/>
                                        <p:tgtEl>
                                          <p:spTgt spid="1048873">
                                            <p:txEl>
                                              <p:pRg st="6" end="6"/>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48873">
                                            <p:txEl>
                                              <p:pRg st="7" end="7"/>
                                            </p:txEl>
                                          </p:spTgt>
                                        </p:tgtEl>
                                        <p:attrNameLst>
                                          <p:attrName>style.visibility</p:attrName>
                                        </p:attrNameLst>
                                      </p:cBhvr>
                                      <p:to>
                                        <p:strVal val="visible"/>
                                      </p:to>
                                    </p:set>
                                    <p:animEffect transition="in" filter="wipe(left)">
                                      <p:cBhvr>
                                        <p:cTn id="72" dur="500"/>
                                        <p:tgtEl>
                                          <p:spTgt spid="1048873">
                                            <p:txEl>
                                              <p:pRg st="7" end="7"/>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048873">
                                            <p:txEl>
                                              <p:pRg st="8" end="8"/>
                                            </p:txEl>
                                          </p:spTgt>
                                        </p:tgtEl>
                                        <p:attrNameLst>
                                          <p:attrName>style.visibility</p:attrName>
                                        </p:attrNameLst>
                                      </p:cBhvr>
                                      <p:to>
                                        <p:strVal val="visible"/>
                                      </p:to>
                                    </p:set>
                                    <p:animEffect transition="in" filter="wipe(left)">
                                      <p:cBhvr>
                                        <p:cTn id="77" dur="500"/>
                                        <p:tgtEl>
                                          <p:spTgt spid="1048873">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048880"/>
                                        </p:tgtEl>
                                        <p:attrNameLst>
                                          <p:attrName>style.visibility</p:attrName>
                                        </p:attrNameLst>
                                      </p:cBhvr>
                                      <p:to>
                                        <p:strVal val="visible"/>
                                      </p:to>
                                    </p:set>
                                    <p:animEffect transition="in" filter="wipe(down)">
                                      <p:cBhvr>
                                        <p:cTn id="82" dur="500"/>
                                        <p:tgtEl>
                                          <p:spTgt spid="1048880"/>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wipe(down)">
                                      <p:cBhvr>
                                        <p:cTn id="85" dur="500"/>
                                        <p:tgtEl>
                                          <p:spTgt spid="4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48873">
                                            <p:txEl>
                                              <p:pRg st="9" end="9"/>
                                            </p:txEl>
                                          </p:spTgt>
                                        </p:tgtEl>
                                        <p:attrNameLst>
                                          <p:attrName>style.visibility</p:attrName>
                                        </p:attrNameLst>
                                      </p:cBhvr>
                                      <p:to>
                                        <p:strVal val="visible"/>
                                      </p:to>
                                    </p:set>
                                    <p:animEffect transition="in" filter="wipe(left)">
                                      <p:cBhvr>
                                        <p:cTn id="90" dur="500"/>
                                        <p:tgtEl>
                                          <p:spTgt spid="1048873">
                                            <p:txEl>
                                              <p:pRg st="9" end="9"/>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1048891"/>
                                        </p:tgtEl>
                                        <p:attrNameLst>
                                          <p:attrName>style.visibility</p:attrName>
                                        </p:attrNameLst>
                                      </p:cBhvr>
                                      <p:to>
                                        <p:strVal val="visible"/>
                                      </p:to>
                                    </p:set>
                                    <p:animEffect transition="in" filter="wipe(down)">
                                      <p:cBhvr>
                                        <p:cTn id="95" dur="500"/>
                                        <p:tgtEl>
                                          <p:spTgt spid="1048891"/>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wipe(down)">
                                      <p:cBhvr>
                                        <p:cTn id="98" dur="500"/>
                                        <p:tgtEl>
                                          <p:spTgt spid="50"/>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48873">
                                            <p:txEl>
                                              <p:pRg st="10" end="10"/>
                                            </p:txEl>
                                          </p:spTgt>
                                        </p:tgtEl>
                                        <p:attrNameLst>
                                          <p:attrName>style.visibility</p:attrName>
                                        </p:attrNameLst>
                                      </p:cBhvr>
                                      <p:to>
                                        <p:strVal val="visible"/>
                                      </p:to>
                                    </p:set>
                                    <p:animEffect transition="in" filter="wipe(left)">
                                      <p:cBhvr>
                                        <p:cTn id="103" dur="500"/>
                                        <p:tgtEl>
                                          <p:spTgt spid="1048873">
                                            <p:txEl>
                                              <p:pRg st="10" end="10"/>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048873">
                                            <p:txEl>
                                              <p:pRg st="11" end="11"/>
                                            </p:txEl>
                                          </p:spTgt>
                                        </p:tgtEl>
                                        <p:attrNameLst>
                                          <p:attrName>style.visibility</p:attrName>
                                        </p:attrNameLst>
                                      </p:cBhvr>
                                      <p:to>
                                        <p:strVal val="visible"/>
                                      </p:to>
                                    </p:set>
                                    <p:animEffect transition="in" filter="wipe(left)">
                                      <p:cBhvr>
                                        <p:cTn id="108" dur="500"/>
                                        <p:tgtEl>
                                          <p:spTgt spid="1048873">
                                            <p:txEl>
                                              <p:pRg st="11" end="11"/>
                                            </p:txEl>
                                          </p:spTgt>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048873">
                                            <p:txEl>
                                              <p:pRg st="12" end="12"/>
                                            </p:txEl>
                                          </p:spTgt>
                                        </p:tgtEl>
                                        <p:attrNameLst>
                                          <p:attrName>style.visibility</p:attrName>
                                        </p:attrNameLst>
                                      </p:cBhvr>
                                      <p:to>
                                        <p:strVal val="visible"/>
                                      </p:to>
                                    </p:set>
                                    <p:animEffect transition="in" filter="wipe(left)">
                                      <p:cBhvr>
                                        <p:cTn id="113" dur="500"/>
                                        <p:tgtEl>
                                          <p:spTgt spid="1048873">
                                            <p:txEl>
                                              <p:pRg st="12" end="12"/>
                                            </p:txEl>
                                          </p:spTgt>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1048881"/>
                                        </p:tgtEl>
                                        <p:attrNameLst>
                                          <p:attrName>style.visibility</p:attrName>
                                        </p:attrNameLst>
                                      </p:cBhvr>
                                      <p:to>
                                        <p:strVal val="visible"/>
                                      </p:to>
                                    </p:set>
                                    <p:animEffect transition="in" filter="wipe(down)">
                                      <p:cBhvr>
                                        <p:cTn id="118" dur="500"/>
                                        <p:tgtEl>
                                          <p:spTgt spid="1048881"/>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49"/>
                                        </p:tgtEl>
                                        <p:attrNameLst>
                                          <p:attrName>style.visibility</p:attrName>
                                        </p:attrNameLst>
                                      </p:cBhvr>
                                      <p:to>
                                        <p:strVal val="visible"/>
                                      </p:to>
                                    </p:set>
                                    <p:animEffect transition="in" filter="wipe(down)">
                                      <p:cBhvr>
                                        <p:cTn id="121" dur="500"/>
                                        <p:tgtEl>
                                          <p:spTgt spid="49"/>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048873">
                                            <p:txEl>
                                              <p:pRg st="13" end="13"/>
                                            </p:txEl>
                                          </p:spTgt>
                                        </p:tgtEl>
                                        <p:attrNameLst>
                                          <p:attrName>style.visibility</p:attrName>
                                        </p:attrNameLst>
                                      </p:cBhvr>
                                      <p:to>
                                        <p:strVal val="visible"/>
                                      </p:to>
                                    </p:set>
                                    <p:animEffect transition="in" filter="wipe(left)">
                                      <p:cBhvr>
                                        <p:cTn id="126" dur="500"/>
                                        <p:tgtEl>
                                          <p:spTgt spid="1048873">
                                            <p:txEl>
                                              <p:pRg st="13" end="13"/>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grpId="0" nodeType="clickEffect">
                                  <p:stCondLst>
                                    <p:cond delay="0"/>
                                  </p:stCondLst>
                                  <p:childTnLst>
                                    <p:set>
                                      <p:cBhvr>
                                        <p:cTn id="130" dur="1" fill="hold">
                                          <p:stCondLst>
                                            <p:cond delay="0"/>
                                          </p:stCondLst>
                                        </p:cTn>
                                        <p:tgtEl>
                                          <p:spTgt spid="1048879"/>
                                        </p:tgtEl>
                                        <p:attrNameLst>
                                          <p:attrName>style.visibility</p:attrName>
                                        </p:attrNameLst>
                                      </p:cBhvr>
                                      <p:to>
                                        <p:strVal val="visible"/>
                                      </p:to>
                                    </p:set>
                                    <p:animEffect transition="in" filter="wipe(down)">
                                      <p:cBhvr>
                                        <p:cTn id="131" dur="500"/>
                                        <p:tgtEl>
                                          <p:spTgt spid="1048879"/>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1048878"/>
                                        </p:tgtEl>
                                        <p:attrNameLst>
                                          <p:attrName>style.visibility</p:attrName>
                                        </p:attrNameLst>
                                      </p:cBhvr>
                                      <p:to>
                                        <p:strVal val="visible"/>
                                      </p:to>
                                    </p:set>
                                    <p:animEffect transition="in" filter="wipe(down)">
                                      <p:cBhvr>
                                        <p:cTn id="134" dur="500"/>
                                        <p:tgtEl>
                                          <p:spTgt spid="1048878"/>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1048877"/>
                                        </p:tgtEl>
                                        <p:attrNameLst>
                                          <p:attrName>style.visibility</p:attrName>
                                        </p:attrNameLst>
                                      </p:cBhvr>
                                      <p:to>
                                        <p:strVal val="visible"/>
                                      </p:to>
                                    </p:set>
                                    <p:animEffect transition="in" filter="wipe(down)">
                                      <p:cBhvr>
                                        <p:cTn id="137" dur="500"/>
                                        <p:tgtEl>
                                          <p:spTgt spid="1048877"/>
                                        </p:tgtEl>
                                      </p:cBhvr>
                                    </p:animEffect>
                                  </p:childTnLst>
                                </p:cTn>
                              </p:par>
                              <p:par>
                                <p:cTn id="138" presetID="22" presetClass="entr" presetSubtype="4"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wipe(down)">
                                      <p:cBhvr>
                                        <p:cTn id="140" dur="500"/>
                                        <p:tgtEl>
                                          <p:spTgt spid="51"/>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048873">
                                            <p:txEl>
                                              <p:pRg st="14" end="14"/>
                                            </p:txEl>
                                          </p:spTgt>
                                        </p:tgtEl>
                                        <p:attrNameLst>
                                          <p:attrName>style.visibility</p:attrName>
                                        </p:attrNameLst>
                                      </p:cBhvr>
                                      <p:to>
                                        <p:strVal val="visible"/>
                                      </p:to>
                                    </p:set>
                                    <p:animEffect transition="in" filter="wipe(left)">
                                      <p:cBhvr>
                                        <p:cTn id="145" dur="500"/>
                                        <p:tgtEl>
                                          <p:spTgt spid="1048873">
                                            <p:txEl>
                                              <p:pRg st="14" end="14"/>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grpId="0" nodeType="clickEffect">
                                  <p:stCondLst>
                                    <p:cond delay="0"/>
                                  </p:stCondLst>
                                  <p:childTnLst>
                                    <p:set>
                                      <p:cBhvr>
                                        <p:cTn id="149" dur="1" fill="hold">
                                          <p:stCondLst>
                                            <p:cond delay="0"/>
                                          </p:stCondLst>
                                        </p:cTn>
                                        <p:tgtEl>
                                          <p:spTgt spid="1048875"/>
                                        </p:tgtEl>
                                        <p:attrNameLst>
                                          <p:attrName>style.visibility</p:attrName>
                                        </p:attrNameLst>
                                      </p:cBhvr>
                                      <p:to>
                                        <p:strVal val="visible"/>
                                      </p:to>
                                    </p:set>
                                    <p:animEffect transition="in" filter="wipe(down)">
                                      <p:cBhvr>
                                        <p:cTn id="150" dur="500"/>
                                        <p:tgtEl>
                                          <p:spTgt spid="1048875"/>
                                        </p:tgtEl>
                                      </p:cBhvr>
                                    </p:animEffect>
                                  </p:childTnLst>
                                </p:cTn>
                              </p:par>
                              <p:par>
                                <p:cTn id="151" presetID="22" presetClass="entr" presetSubtype="4" fill="hold" grpId="0" nodeType="withEffect">
                                  <p:stCondLst>
                                    <p:cond delay="0"/>
                                  </p:stCondLst>
                                  <p:childTnLst>
                                    <p:set>
                                      <p:cBhvr>
                                        <p:cTn id="152" dur="1" fill="hold">
                                          <p:stCondLst>
                                            <p:cond delay="0"/>
                                          </p:stCondLst>
                                        </p:cTn>
                                        <p:tgtEl>
                                          <p:spTgt spid="1048876"/>
                                        </p:tgtEl>
                                        <p:attrNameLst>
                                          <p:attrName>style.visibility</p:attrName>
                                        </p:attrNameLst>
                                      </p:cBhvr>
                                      <p:to>
                                        <p:strVal val="visible"/>
                                      </p:to>
                                    </p:set>
                                    <p:animEffect transition="in" filter="wipe(down)">
                                      <p:cBhvr>
                                        <p:cTn id="153" dur="500"/>
                                        <p:tgtEl>
                                          <p:spTgt spid="1048876"/>
                                        </p:tgtEl>
                                      </p:cBhvr>
                                    </p:animEffect>
                                  </p:childTnLst>
                                </p:cTn>
                              </p:par>
                              <p:par>
                                <p:cTn id="154" presetID="22" presetClass="entr" presetSubtype="4" fill="hold" grpId="0" nodeType="withEffect">
                                  <p:stCondLst>
                                    <p:cond delay="0"/>
                                  </p:stCondLst>
                                  <p:childTnLst>
                                    <p:set>
                                      <p:cBhvr>
                                        <p:cTn id="155" dur="1" fill="hold">
                                          <p:stCondLst>
                                            <p:cond delay="0"/>
                                          </p:stCondLst>
                                        </p:cTn>
                                        <p:tgtEl>
                                          <p:spTgt spid="52"/>
                                        </p:tgtEl>
                                        <p:attrNameLst>
                                          <p:attrName>style.visibility</p:attrName>
                                        </p:attrNameLst>
                                      </p:cBhvr>
                                      <p:to>
                                        <p:strVal val="visible"/>
                                      </p:to>
                                    </p:set>
                                    <p:animEffect transition="in" filter="wipe(down)">
                                      <p:cBhvr>
                                        <p:cTn id="156" dur="500"/>
                                        <p:tgtEl>
                                          <p:spTgt spid="52"/>
                                        </p:tgtEl>
                                      </p:cBhvr>
                                    </p:animEffect>
                                  </p:childTnLst>
                                </p:cTn>
                              </p:par>
                              <p:par>
                                <p:cTn id="157" presetID="22" presetClass="entr" presetSubtype="4" fill="hold" grpId="0" nodeType="withEffect">
                                  <p:stCondLst>
                                    <p:cond delay="0"/>
                                  </p:stCondLst>
                                  <p:childTnLst>
                                    <p:set>
                                      <p:cBhvr>
                                        <p:cTn id="158" dur="1" fill="hold">
                                          <p:stCondLst>
                                            <p:cond delay="0"/>
                                          </p:stCondLst>
                                        </p:cTn>
                                        <p:tgtEl>
                                          <p:spTgt spid="1048882"/>
                                        </p:tgtEl>
                                        <p:attrNameLst>
                                          <p:attrName>style.visibility</p:attrName>
                                        </p:attrNameLst>
                                      </p:cBhvr>
                                      <p:to>
                                        <p:strVal val="visible"/>
                                      </p:to>
                                    </p:set>
                                    <p:animEffect transition="in" filter="wipe(down)">
                                      <p:cBhvr>
                                        <p:cTn id="159" dur="500"/>
                                        <p:tgtEl>
                                          <p:spTgt spid="1048882"/>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048873">
                                            <p:txEl>
                                              <p:pRg st="15" end="15"/>
                                            </p:txEl>
                                          </p:spTgt>
                                        </p:tgtEl>
                                        <p:attrNameLst>
                                          <p:attrName>style.visibility</p:attrName>
                                        </p:attrNameLst>
                                      </p:cBhvr>
                                      <p:to>
                                        <p:strVal val="visible"/>
                                      </p:to>
                                    </p:set>
                                    <p:animEffect transition="in" filter="wipe(left)">
                                      <p:cBhvr>
                                        <p:cTn id="164" dur="500"/>
                                        <p:tgtEl>
                                          <p:spTgt spid="1048873">
                                            <p:txEl>
                                              <p:pRg st="15" end="15"/>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048873">
                                            <p:txEl>
                                              <p:pRg st="16" end="16"/>
                                            </p:txEl>
                                          </p:spTgt>
                                        </p:tgtEl>
                                        <p:attrNameLst>
                                          <p:attrName>style.visibility</p:attrName>
                                        </p:attrNameLst>
                                      </p:cBhvr>
                                      <p:to>
                                        <p:strVal val="visible"/>
                                      </p:to>
                                    </p:set>
                                    <p:animEffect transition="in" filter="wipe(left)">
                                      <p:cBhvr>
                                        <p:cTn id="169" dur="500"/>
                                        <p:tgtEl>
                                          <p:spTgt spid="1048873">
                                            <p:txEl>
                                              <p:pRg st="16" end="16"/>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4" fill="hold" nodeType="clickEffect">
                                  <p:stCondLst>
                                    <p:cond delay="0"/>
                                  </p:stCondLst>
                                  <p:childTnLst>
                                    <p:set>
                                      <p:cBhvr>
                                        <p:cTn id="173" dur="1" fill="hold">
                                          <p:stCondLst>
                                            <p:cond delay="0"/>
                                          </p:stCondLst>
                                        </p:cTn>
                                        <p:tgtEl>
                                          <p:spTgt spid="9"/>
                                        </p:tgtEl>
                                        <p:attrNameLst>
                                          <p:attrName>style.visibility</p:attrName>
                                        </p:attrNameLst>
                                      </p:cBhvr>
                                      <p:to>
                                        <p:strVal val="visible"/>
                                      </p:to>
                                    </p:set>
                                    <p:animEffect transition="in" filter="wipe(down)">
                                      <p:cBhvr>
                                        <p:cTn id="174" dur="500"/>
                                        <p:tgtEl>
                                          <p:spTgt spid="9"/>
                                        </p:tgtEl>
                                      </p:cBhvr>
                                    </p:animEffect>
                                  </p:childTnLst>
                                </p:cTn>
                              </p:par>
                              <p:par>
                                <p:cTn id="175" presetID="22" presetClass="entr" presetSubtype="4" fill="hold" nodeType="withEffect">
                                  <p:stCondLst>
                                    <p:cond delay="0"/>
                                  </p:stCondLst>
                                  <p:childTnLst>
                                    <p:set>
                                      <p:cBhvr>
                                        <p:cTn id="176" dur="1" fill="hold">
                                          <p:stCondLst>
                                            <p:cond delay="0"/>
                                          </p:stCondLst>
                                        </p:cTn>
                                        <p:tgtEl>
                                          <p:spTgt spid="7"/>
                                        </p:tgtEl>
                                        <p:attrNameLst>
                                          <p:attrName>style.visibility</p:attrName>
                                        </p:attrNameLst>
                                      </p:cBhvr>
                                      <p:to>
                                        <p:strVal val="visible"/>
                                      </p:to>
                                    </p:set>
                                    <p:animEffect transition="in" filter="wipe(down)">
                                      <p:cBhvr>
                                        <p:cTn id="177" dur="500"/>
                                        <p:tgtEl>
                                          <p:spTgt spid="7"/>
                                        </p:tgtEl>
                                      </p:cBhvr>
                                    </p:animEffect>
                                  </p:childTnLst>
                                </p:cTn>
                              </p:par>
                              <p:par>
                                <p:cTn id="178" presetID="22" presetClass="entr" presetSubtype="4" fill="hold" grpId="0" nodeType="with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wipe(down)">
                                      <p:cBhvr>
                                        <p:cTn id="18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73" grpId="0" uiExpand="1" build="p" autoUpdateAnimBg="0"/>
      <p:bldP spid="1048884" grpId="0" uiExpand="1" autoUpdateAnimBg="0"/>
      <p:bldP spid="1048874" grpId="0" animBg="1"/>
      <p:bldP spid="1048875" grpId="0" animBg="1"/>
      <p:bldP spid="1048876" grpId="0" animBg="1"/>
      <p:bldP spid="1048877" grpId="0" animBg="1"/>
      <p:bldP spid="1048878" grpId="0" animBg="1"/>
      <p:bldP spid="1048879" grpId="0" animBg="1"/>
      <p:bldP spid="1048880" grpId="0" animBg="1"/>
      <p:bldP spid="1048881" grpId="0" animBg="1"/>
      <p:bldP spid="1048882" grpId="0" animBg="1"/>
      <p:bldP spid="1048885" grpId="0"/>
      <p:bldP spid="1048886" grpId="0" animBg="1"/>
      <p:bldP spid="1048887" grpId="0"/>
      <p:bldP spid="1048888" grpId="0" animBg="1"/>
      <p:bldP spid="1048889" grpId="0"/>
      <p:bldP spid="1048891" grpId="0" animBg="1"/>
      <p:bldP spid="48" grpId="0"/>
      <p:bldP spid="49" grpId="0"/>
      <p:bldP spid="50" grpId="0"/>
      <p:bldP spid="51" grpId="0"/>
      <p:bldP spid="52" grpId="0"/>
      <p:bldP spid="53" grpId="0"/>
      <p:bldP spid="5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p:cNvSpPr>
            <a:spLocks noGrp="1" noChangeArrowheads="1"/>
          </p:cNvSpPr>
          <p:nvPr>
            <p:ph type="title"/>
          </p:nvPr>
        </p:nvSpPr>
        <p:spPr>
          <a:xfrm>
            <a:off x="0" y="180427"/>
            <a:ext cx="4139952" cy="681038"/>
          </a:xfrm>
        </p:spPr>
        <p:txBody>
          <a:bodyPr/>
          <a:lstStyle/>
          <a:p>
            <a:pPr eaLnBrk="1" hangingPunct="1"/>
            <a:r>
              <a:rPr lang="zh-CN" altLang="en-US" dirty="0">
                <a:solidFill>
                  <a:srgbClr val="FF3300"/>
                </a:solidFill>
              </a:rPr>
              <a:t>自下而上语义处理</a:t>
            </a:r>
          </a:p>
        </p:txBody>
      </p:sp>
      <p:pic>
        <p:nvPicPr>
          <p:cNvPr id="49155" name="Object 5" descr="npo000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3130" y="267495"/>
            <a:ext cx="2762559"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9156" name="Text Box 1031"/>
          <p:cNvSpPr txBox="1">
            <a:spLocks noChangeArrowheads="1"/>
          </p:cNvSpPr>
          <p:nvPr/>
        </p:nvSpPr>
        <p:spPr bwMode="auto">
          <a:xfrm>
            <a:off x="279512" y="1275607"/>
            <a:ext cx="5661610" cy="1446550"/>
          </a:xfrm>
          <a:prstGeom prst="rect">
            <a:avLst/>
          </a:prstGeom>
          <a:solidFill>
            <a:schemeClr val="bg1"/>
          </a:solidFill>
          <a:ln>
            <a:noFill/>
          </a:ln>
        </p:spPr>
        <p:txBody>
          <a:bodyPr wrap="square">
            <a:spAutoFit/>
          </a:bodyPr>
          <a:lstStyle>
            <a:lvl1pPr marL="365125" indent="-365125">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pPr>
            <a:r>
              <a:rPr lang="zh-CN" altLang="en-US" sz="2200" dirty="0"/>
              <a:t>具体实现时，使用栈</a:t>
            </a:r>
            <a:r>
              <a:rPr lang="en-US" altLang="zh-CN" sz="2200" dirty="0"/>
              <a:t>——</a:t>
            </a:r>
            <a:r>
              <a:rPr lang="zh-CN" altLang="en-US" sz="2200" dirty="0"/>
              <a:t>增加语义栈</a:t>
            </a:r>
          </a:p>
          <a:p>
            <a:pPr eaLnBrk="1" hangingPunct="1">
              <a:lnSpc>
                <a:spcPct val="100000"/>
              </a:lnSpc>
              <a:spcBef>
                <a:spcPct val="50000"/>
              </a:spcBef>
            </a:pPr>
            <a:r>
              <a:rPr lang="zh-CN" altLang="en-US" sz="2200" dirty="0"/>
              <a:t>用</a:t>
            </a:r>
            <a:r>
              <a:rPr lang="en-US" altLang="zh-CN" sz="2200" dirty="0" err="1"/>
              <a:t>X.Val</a:t>
            </a:r>
            <a:r>
              <a:rPr lang="zh-CN" altLang="en-US" sz="2200" dirty="0"/>
              <a:t>表示文法符号</a:t>
            </a:r>
            <a:r>
              <a:rPr lang="en-US" altLang="zh-CN" sz="2200" dirty="0"/>
              <a:t>X</a:t>
            </a:r>
            <a:r>
              <a:rPr lang="zh-CN" altLang="en-US" sz="2200" dirty="0"/>
              <a:t>的语义信息</a:t>
            </a:r>
          </a:p>
          <a:p>
            <a:pPr eaLnBrk="1" hangingPunct="1">
              <a:lnSpc>
                <a:spcPct val="100000"/>
              </a:lnSpc>
              <a:spcBef>
                <a:spcPct val="50000"/>
              </a:spcBef>
            </a:pPr>
            <a:r>
              <a:rPr lang="zh-CN" altLang="en-US" sz="2200" dirty="0"/>
              <a:t>语义信息与文法符号同时出栈和入栈</a:t>
            </a:r>
          </a:p>
        </p:txBody>
      </p:sp>
      <p:graphicFrame>
        <p:nvGraphicFramePr>
          <p:cNvPr id="2" name="表格 1"/>
          <p:cNvGraphicFramePr>
            <a:graphicFrameLocks noGrp="1"/>
          </p:cNvGraphicFramePr>
          <p:nvPr/>
        </p:nvGraphicFramePr>
        <p:xfrm>
          <a:off x="4788024" y="2766851"/>
          <a:ext cx="4248472" cy="2156756"/>
        </p:xfrm>
        <a:graphic>
          <a:graphicData uri="http://schemas.openxmlformats.org/drawingml/2006/table">
            <a:tbl>
              <a:tblPr>
                <a:tableStyleId>{5C22544A-7EE6-4342-B048-85BDC9FD1C3A}</a:tableStyleId>
              </a:tblPr>
              <a:tblGrid>
                <a:gridCol w="924340">
                  <a:extLst>
                    <a:ext uri="{9D8B030D-6E8A-4147-A177-3AD203B41FA5}">
                      <a16:colId xmlns:a16="http://schemas.microsoft.com/office/drawing/2014/main" val="20000"/>
                    </a:ext>
                  </a:extLst>
                </a:gridCol>
                <a:gridCol w="980975">
                  <a:extLst>
                    <a:ext uri="{9D8B030D-6E8A-4147-A177-3AD203B41FA5}">
                      <a16:colId xmlns:a16="http://schemas.microsoft.com/office/drawing/2014/main" val="20001"/>
                    </a:ext>
                  </a:extLst>
                </a:gridCol>
                <a:gridCol w="1270210">
                  <a:extLst>
                    <a:ext uri="{9D8B030D-6E8A-4147-A177-3AD203B41FA5}">
                      <a16:colId xmlns:a16="http://schemas.microsoft.com/office/drawing/2014/main" val="20002"/>
                    </a:ext>
                  </a:extLst>
                </a:gridCol>
                <a:gridCol w="1072947">
                  <a:extLst>
                    <a:ext uri="{9D8B030D-6E8A-4147-A177-3AD203B41FA5}">
                      <a16:colId xmlns:a16="http://schemas.microsoft.com/office/drawing/2014/main" val="20003"/>
                    </a:ext>
                  </a:extLst>
                </a:gridCol>
              </a:tblGrid>
              <a:tr h="308108">
                <a:tc>
                  <a:txBody>
                    <a:bodyPr/>
                    <a:lstStyle/>
                    <a:p>
                      <a:pPr algn="ctr">
                        <a:spcAft>
                          <a:spcPts val="0"/>
                        </a:spcAft>
                      </a:pPr>
                      <a:r>
                        <a:rPr lang="en-US" sz="1800" kern="100" dirty="0">
                          <a:effectLst/>
                        </a:rPr>
                        <a:t> </a:t>
                      </a:r>
                      <a:endParaRPr lang="zh-CN" sz="1800" kern="100" dirty="0">
                        <a:effectLst/>
                        <a:latin typeface="Times New Roman"/>
                        <a:ea typeface="宋体"/>
                      </a:endParaRPr>
                    </a:p>
                  </a:txBody>
                  <a:tcPr marL="68580" marR="68580" marT="0" marB="0"/>
                </a:tc>
                <a:tc>
                  <a:txBody>
                    <a:bodyPr/>
                    <a:lstStyle/>
                    <a:p>
                      <a:pPr algn="ctr">
                        <a:spcAft>
                          <a:spcPts val="0"/>
                        </a:spcAft>
                      </a:pPr>
                      <a:r>
                        <a:rPr lang="en-US" sz="1800" kern="100">
                          <a:effectLst/>
                        </a:rPr>
                        <a:t> </a:t>
                      </a:r>
                      <a:endParaRPr lang="zh-CN" sz="1800" kern="100">
                        <a:effectLst/>
                        <a:latin typeface="Times New Roman"/>
                        <a:ea typeface="宋体"/>
                      </a:endParaRPr>
                    </a:p>
                  </a:txBody>
                  <a:tcPr marL="68580" marR="68580" marT="0" marB="0"/>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tc>
                <a:extLst>
                  <a:ext uri="{0D108BD9-81ED-4DB2-BD59-A6C34878D82A}">
                    <a16:rowId xmlns:a16="http://schemas.microsoft.com/office/drawing/2014/main" val="10000"/>
                  </a:ext>
                </a:extLst>
              </a:tr>
              <a:tr h="308108">
                <a:tc>
                  <a:txBody>
                    <a:bodyPr/>
                    <a:lstStyle/>
                    <a:p>
                      <a:pPr algn="ctr">
                        <a:spcAft>
                          <a:spcPts val="0"/>
                        </a:spcAft>
                      </a:pPr>
                      <a:r>
                        <a:rPr lang="en-US" sz="1800" kern="100">
                          <a:effectLst/>
                        </a:rPr>
                        <a:t> </a:t>
                      </a:r>
                      <a:endParaRPr lang="zh-CN" sz="1800" kern="100">
                        <a:effectLst/>
                        <a:latin typeface="Times New Roman"/>
                        <a:ea typeface="宋体"/>
                      </a:endParaRPr>
                    </a:p>
                  </a:txBody>
                  <a:tcPr marL="68580" marR="68580" marT="0" marB="0">
                    <a:lnB w="12700" cap="flat" cmpd="sng" algn="ctr">
                      <a:noFill/>
                      <a:prstDash val="solid"/>
                      <a:round/>
                      <a:headEnd type="none" w="med" len="med"/>
                      <a:tailEnd type="none" w="med" len="med"/>
                    </a:lnB>
                  </a:tcPr>
                </a:tc>
                <a:tc>
                  <a:txBody>
                    <a:bodyPr/>
                    <a:lstStyle/>
                    <a:p>
                      <a:pPr algn="ctr">
                        <a:spcAft>
                          <a:spcPts val="0"/>
                        </a:spcAft>
                      </a:pPr>
                      <a:r>
                        <a:rPr lang="en-US" sz="1800" kern="100">
                          <a:effectLst/>
                        </a:rPr>
                        <a:t> </a:t>
                      </a:r>
                      <a:endParaRPr lang="zh-CN" sz="1800" kern="100">
                        <a:effectLst/>
                        <a:latin typeface="Times New Roman"/>
                        <a:ea typeface="宋体"/>
                      </a:endParaRPr>
                    </a:p>
                  </a:txBody>
                  <a:tcPr marL="68580" marR="68580" marT="0" marB="0">
                    <a:lnB w="12700" cap="flat" cmpd="sng" algn="ctr">
                      <a:noFill/>
                      <a:prstDash val="solid"/>
                      <a:round/>
                      <a:headEnd type="none" w="med" len="med"/>
                      <a:tailEnd type="none" w="med" len="med"/>
                    </a:lnB>
                  </a:tcPr>
                </a:tc>
                <a:tc>
                  <a:txBody>
                    <a:bodyPr/>
                    <a:lstStyle/>
                    <a:p>
                      <a:pPr algn="just">
                        <a:spcAft>
                          <a:spcPts val="0"/>
                        </a:spcAft>
                      </a:pPr>
                      <a:r>
                        <a:rPr lang="en-US" sz="1800" kern="100" dirty="0">
                          <a:effectLst/>
                        </a:rPr>
                        <a:t> </a:t>
                      </a:r>
                      <a:endParaRPr lang="zh-CN" sz="1800" kern="100" dirty="0">
                        <a:effectLst/>
                        <a:latin typeface="Times New Roman"/>
                        <a:ea typeface="宋体"/>
                      </a:endParaRPr>
                    </a:p>
                  </a:txBody>
                  <a:tcPr marL="68580" marR="68580" marT="0" marB="0">
                    <a:lnB w="12700" cap="flat" cmpd="sng" algn="ctr">
                      <a:no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tc>
                <a:extLst>
                  <a:ext uri="{0D108BD9-81ED-4DB2-BD59-A6C34878D82A}">
                    <a16:rowId xmlns:a16="http://schemas.microsoft.com/office/drawing/2014/main" val="10001"/>
                  </a:ext>
                </a:extLst>
              </a:tr>
              <a:tr h="308108">
                <a:tc>
                  <a:txBody>
                    <a:bodyPr/>
                    <a:lstStyle/>
                    <a:p>
                      <a:pPr algn="ctr">
                        <a:spcAft>
                          <a:spcPts val="0"/>
                        </a:spcAft>
                      </a:pPr>
                      <a:r>
                        <a:rPr lang="en-US" sz="1800" kern="100" dirty="0">
                          <a:effectLst/>
                        </a:rPr>
                        <a:t>S</a:t>
                      </a:r>
                      <a:r>
                        <a:rPr lang="en-US" sz="1800" kern="100" baseline="-25000" dirty="0">
                          <a:effectLst/>
                        </a:rPr>
                        <a:t>m</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m</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err="1">
                          <a:effectLst/>
                        </a:rPr>
                        <a:t>X</a:t>
                      </a:r>
                      <a:r>
                        <a:rPr lang="en-US" sz="1800" kern="100" baseline="-25000" dirty="0" err="1">
                          <a:effectLst/>
                        </a:rPr>
                        <a:t>m</a:t>
                      </a:r>
                      <a:r>
                        <a:rPr lang="en-US" sz="1800" kern="100" dirty="0" err="1">
                          <a:effectLst/>
                        </a:rPr>
                        <a:t>.val</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effectLst/>
                        </a:rPr>
                        <a:t>←—</a:t>
                      </a:r>
                      <a:r>
                        <a:rPr lang="zh-CN" sz="1800" kern="100" dirty="0">
                          <a:effectLst/>
                        </a:rPr>
                        <a:t>栈顶</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08108">
                <a:tc>
                  <a:txBody>
                    <a:bodyPr/>
                    <a:lstStyle/>
                    <a:p>
                      <a:pPr algn="ctr">
                        <a:spcAft>
                          <a:spcPts val="0"/>
                        </a:spcAft>
                      </a:pPr>
                      <a:r>
                        <a:rPr lang="zh-CN"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08108">
                <a:tc>
                  <a:txBody>
                    <a:bodyPr/>
                    <a:lstStyle/>
                    <a:p>
                      <a:pPr algn="ctr">
                        <a:spcAft>
                          <a:spcPts val="0"/>
                        </a:spcAft>
                      </a:pPr>
                      <a:r>
                        <a:rPr lang="en-US" sz="1800" kern="100">
                          <a:effectLst/>
                        </a:rPr>
                        <a:t>S</a:t>
                      </a:r>
                      <a:r>
                        <a:rPr lang="en-US" sz="1800" kern="100" baseline="-25000">
                          <a:effectLst/>
                        </a:rPr>
                        <a:t>1</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1</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1</a:t>
                      </a:r>
                      <a:r>
                        <a:rPr lang="en-US" sz="1800" kern="100">
                          <a:effectLst/>
                        </a:rPr>
                        <a:t>.val</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08108">
                <a:tc>
                  <a:txBody>
                    <a:bodyPr/>
                    <a:lstStyle/>
                    <a:p>
                      <a:pPr algn="ctr">
                        <a:spcAft>
                          <a:spcPts val="0"/>
                        </a:spcAft>
                      </a:pPr>
                      <a:r>
                        <a:rPr lang="en-US" sz="1800" kern="100">
                          <a:effectLst/>
                        </a:rPr>
                        <a:t>S</a:t>
                      </a:r>
                      <a:r>
                        <a:rPr lang="en-US" sz="1800" kern="100" baseline="-25000">
                          <a:effectLst/>
                        </a:rPr>
                        <a:t>0</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0</a:t>
                      </a:r>
                      <a:r>
                        <a:rPr lang="en-US"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08108">
                <a:tc>
                  <a:txBody>
                    <a:bodyPr/>
                    <a:lstStyle/>
                    <a:p>
                      <a:pPr algn="ctr">
                        <a:spcAft>
                          <a:spcPts val="0"/>
                        </a:spcAft>
                      </a:pPr>
                      <a:r>
                        <a:rPr lang="zh-CN" sz="1800" kern="100">
                          <a:effectLst/>
                        </a:rPr>
                        <a:t>状态栈</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符号栈</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dirty="0">
                          <a:effectLst/>
                        </a:rPr>
                        <a:t>语义栈</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effectLst/>
                        </a:rPr>
                        <a:t> </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9556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1"/>
          </p:nvPr>
        </p:nvSpPr>
        <p:spPr>
          <a:xfrm>
            <a:off x="250825" y="141685"/>
            <a:ext cx="8229600" cy="627459"/>
          </a:xfrm>
        </p:spPr>
        <p:txBody>
          <a:bodyPr>
            <a:normAutofit fontScale="70000" lnSpcReduction="20000"/>
          </a:bodyPr>
          <a:lstStyle/>
          <a:p>
            <a:pPr marL="0" indent="0" eaLnBrk="1" hangingPunct="1">
              <a:buFontTx/>
              <a:buNone/>
            </a:pPr>
            <a:r>
              <a:rPr lang="zh-CN" altLang="en-US" sz="2800" b="1" dirty="0">
                <a:solidFill>
                  <a:srgbClr val="0033CC"/>
                </a:solidFill>
              </a:rPr>
              <a:t>例</a:t>
            </a:r>
            <a:r>
              <a:rPr lang="en-US" altLang="zh-CN" sz="2800" b="1" dirty="0">
                <a:solidFill>
                  <a:srgbClr val="0033CC"/>
                </a:solidFill>
              </a:rPr>
              <a:t>2</a:t>
            </a:r>
            <a:r>
              <a:rPr lang="zh-CN" altLang="en-US" sz="2800" b="1" dirty="0">
                <a:solidFill>
                  <a:srgbClr val="0033CC"/>
                </a:solidFill>
              </a:rPr>
              <a:t>：在</a:t>
            </a:r>
            <a:r>
              <a:rPr lang="en-US" altLang="zh-CN" sz="2800" b="1" dirty="0">
                <a:solidFill>
                  <a:srgbClr val="0033CC"/>
                </a:solidFill>
              </a:rPr>
              <a:t>4+3*5</a:t>
            </a:r>
            <a:r>
              <a:rPr lang="zh-CN" altLang="en-US" sz="2800" b="1" dirty="0">
                <a:solidFill>
                  <a:srgbClr val="0033CC"/>
                </a:solidFill>
              </a:rPr>
              <a:t>的</a:t>
            </a:r>
            <a:r>
              <a:rPr lang="en-US" altLang="zh-CN" sz="2800" b="1" dirty="0">
                <a:solidFill>
                  <a:srgbClr val="0033CC"/>
                </a:solidFill>
              </a:rPr>
              <a:t>LR</a:t>
            </a:r>
            <a:r>
              <a:rPr lang="zh-CN" altLang="en-US" sz="2800" b="1" dirty="0">
                <a:solidFill>
                  <a:srgbClr val="0033CC"/>
                </a:solidFill>
              </a:rPr>
              <a:t>分析过程中增加了语义栈后的语法制导的实现过程。</a:t>
            </a:r>
          </a:p>
        </p:txBody>
      </p:sp>
      <p:sp>
        <p:nvSpPr>
          <p:cNvPr id="54275" name="Rectangle 4"/>
          <p:cNvSpPr>
            <a:spLocks noChangeArrowheads="1"/>
          </p:cNvSpPr>
          <p:nvPr/>
        </p:nvSpPr>
        <p:spPr bwMode="auto">
          <a:xfrm>
            <a:off x="539751" y="866627"/>
            <a:ext cx="229902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fr-FR" altLang="zh-CN" sz="2800" dirty="0"/>
              <a:t>(1) E</a:t>
            </a:r>
            <a:r>
              <a:rPr lang="en-US" altLang="zh-CN" sz="2800" dirty="0">
                <a:sym typeface="Symbol" pitchFamily="18" charset="2"/>
              </a:rPr>
              <a:t></a:t>
            </a:r>
            <a:r>
              <a:rPr lang="fr-FR" altLang="zh-CN" sz="2800" dirty="0"/>
              <a:t>E+T|T</a:t>
            </a:r>
            <a:endParaRPr lang="fr-FR" altLang="zh-CN" sz="2800" dirty="0">
              <a:sym typeface="Symbol" pitchFamily="18" charset="2"/>
            </a:endParaRPr>
          </a:p>
          <a:p>
            <a:pPr eaLnBrk="1" hangingPunct="1">
              <a:lnSpc>
                <a:spcPct val="100000"/>
              </a:lnSpc>
              <a:spcBef>
                <a:spcPct val="0"/>
              </a:spcBef>
              <a:buFontTx/>
              <a:buNone/>
            </a:pPr>
            <a:r>
              <a:rPr lang="fr-FR" altLang="zh-CN" sz="2800" dirty="0">
                <a:sym typeface="Symbol" pitchFamily="18" charset="2"/>
              </a:rPr>
              <a:t>(2) T</a:t>
            </a:r>
            <a:r>
              <a:rPr lang="en-US" altLang="zh-CN" sz="2800" dirty="0">
                <a:sym typeface="Symbol" pitchFamily="18" charset="2"/>
              </a:rPr>
              <a:t></a:t>
            </a:r>
            <a:r>
              <a:rPr lang="fr-FR" altLang="zh-CN" sz="2800" dirty="0"/>
              <a:t>T*F|F</a:t>
            </a:r>
            <a:endParaRPr lang="fr-FR" altLang="zh-CN" sz="2800" dirty="0">
              <a:sym typeface="Symbol" pitchFamily="18" charset="2"/>
            </a:endParaRPr>
          </a:p>
          <a:p>
            <a:pPr eaLnBrk="1" hangingPunct="1">
              <a:lnSpc>
                <a:spcPct val="100000"/>
              </a:lnSpc>
              <a:spcBef>
                <a:spcPct val="0"/>
              </a:spcBef>
              <a:buFontTx/>
              <a:buNone/>
            </a:pPr>
            <a:r>
              <a:rPr lang="fr-FR" altLang="zh-CN" sz="2800" dirty="0">
                <a:sym typeface="Symbol" pitchFamily="18" charset="2"/>
              </a:rPr>
              <a:t>(3) F</a:t>
            </a:r>
            <a:r>
              <a:rPr lang="en-US" altLang="zh-CN" sz="2800" dirty="0">
                <a:sym typeface="Symbol" pitchFamily="18" charset="2"/>
              </a:rPr>
              <a:t></a:t>
            </a:r>
            <a:r>
              <a:rPr lang="en-US" altLang="zh-CN" sz="2800" dirty="0"/>
              <a:t>(E)|</a:t>
            </a:r>
            <a:r>
              <a:rPr lang="en-US" altLang="zh-CN" sz="2800" dirty="0" err="1"/>
              <a:t>i</a:t>
            </a:r>
            <a:r>
              <a:rPr lang="en-US" altLang="zh-CN" sz="2800" dirty="0"/>
              <a:t> </a:t>
            </a:r>
          </a:p>
        </p:txBody>
      </p:sp>
      <p:sp>
        <p:nvSpPr>
          <p:cNvPr id="54276" name="Rectangle 5"/>
          <p:cNvSpPr>
            <a:spLocks noChangeArrowheads="1"/>
          </p:cNvSpPr>
          <p:nvPr/>
        </p:nvSpPr>
        <p:spPr bwMode="auto">
          <a:xfrm>
            <a:off x="1588" y="1437234"/>
            <a:ext cx="184731" cy="461665"/>
          </a:xfrm>
          <a:prstGeom prst="rect">
            <a:avLst/>
          </a:prstGeom>
          <a:solidFill>
            <a:srgbClr val="F3F3F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181422" name="Group 174"/>
          <p:cNvGraphicFramePr>
            <a:graphicFrameLocks noGrp="1"/>
          </p:cNvGraphicFramePr>
          <p:nvPr/>
        </p:nvGraphicFramePr>
        <p:xfrm>
          <a:off x="3635376" y="627460"/>
          <a:ext cx="5057775" cy="4046058"/>
        </p:xfrm>
        <a:graphic>
          <a:graphicData uri="http://schemas.openxmlformats.org/drawingml/2006/table">
            <a:tbl>
              <a:tblPr/>
              <a:tblGrid>
                <a:gridCol w="930275">
                  <a:extLst>
                    <a:ext uri="{9D8B030D-6E8A-4147-A177-3AD203B41FA5}">
                      <a16:colId xmlns:a16="http://schemas.microsoft.com/office/drawing/2014/main" val="20000"/>
                    </a:ext>
                  </a:extLst>
                </a:gridCol>
                <a:gridCol w="455613">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gridCol w="927100">
                  <a:extLst>
                    <a:ext uri="{9D8B030D-6E8A-4147-A177-3AD203B41FA5}">
                      <a16:colId xmlns:a16="http://schemas.microsoft.com/office/drawing/2014/main" val="20005"/>
                    </a:ext>
                  </a:extLst>
                </a:gridCol>
                <a:gridCol w="369887">
                  <a:extLst>
                    <a:ext uri="{9D8B030D-6E8A-4147-A177-3AD203B41FA5}">
                      <a16:colId xmlns:a16="http://schemas.microsoft.com/office/drawing/2014/main" val="20006"/>
                    </a:ext>
                  </a:extLst>
                </a:gridCol>
                <a:gridCol w="404813">
                  <a:extLst>
                    <a:ext uri="{9D8B030D-6E8A-4147-A177-3AD203B41FA5}">
                      <a16:colId xmlns:a16="http://schemas.microsoft.com/office/drawing/2014/main" val="20007"/>
                    </a:ext>
                  </a:extLst>
                </a:gridCol>
                <a:gridCol w="477837">
                  <a:extLst>
                    <a:ext uri="{9D8B030D-6E8A-4147-A177-3AD203B41FA5}">
                      <a16:colId xmlns:a16="http://schemas.microsoft.com/office/drawing/2014/main" val="20008"/>
                    </a:ext>
                  </a:extLst>
                </a:gridCol>
              </a:tblGrid>
              <a:tr h="342846">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状</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态</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gridSpan="5">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goto</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2846">
                <a:tc vMerge="1">
                  <a:txBody>
                    <a:bodyPr/>
                    <a:lstStyle/>
                    <a:p>
                      <a:endParaRPr lang="zh-CN" altLang="en-US"/>
                    </a:p>
                  </a:txBody>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1"/>
                  </a:ext>
                </a:extLst>
              </a:tr>
              <a:tr h="336036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acc</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373204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ChangeArrowheads="1"/>
          </p:cNvSpPr>
          <p:nvPr/>
        </p:nvSpPr>
        <p:spPr bwMode="auto">
          <a:xfrm>
            <a:off x="0" y="66824"/>
            <a:ext cx="184731" cy="461665"/>
          </a:xfrm>
          <a:prstGeom prst="rect">
            <a:avLst/>
          </a:prstGeom>
          <a:solidFill>
            <a:srgbClr val="F3F3F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3" name="表格 2">
            <a:extLst>
              <a:ext uri="{FF2B5EF4-FFF2-40B4-BE49-F238E27FC236}">
                <a16:creationId xmlns:a16="http://schemas.microsoft.com/office/drawing/2014/main" id="{CBD2CB4B-F232-C452-4371-042AED598962}"/>
              </a:ext>
            </a:extLst>
          </p:cNvPr>
          <p:cNvGraphicFramePr>
            <a:graphicFrameLocks noGrp="1"/>
          </p:cNvGraphicFramePr>
          <p:nvPr>
            <p:extLst>
              <p:ext uri="{D42A27DB-BD31-4B8C-83A1-F6EECF244321}">
                <p14:modId xmlns:p14="http://schemas.microsoft.com/office/powerpoint/2010/main" val="1072674800"/>
              </p:ext>
            </p:extLst>
          </p:nvPr>
        </p:nvGraphicFramePr>
        <p:xfrm>
          <a:off x="184731" y="195486"/>
          <a:ext cx="8563734" cy="4764890"/>
        </p:xfrm>
        <a:graphic>
          <a:graphicData uri="http://schemas.openxmlformats.org/drawingml/2006/table">
            <a:tbl>
              <a:tblPr>
                <a:tableStyleId>{5C22544A-7EE6-4342-B048-85BDC9FD1C3A}</a:tableStyleId>
              </a:tblPr>
              <a:tblGrid>
                <a:gridCol w="737126">
                  <a:extLst>
                    <a:ext uri="{9D8B030D-6E8A-4147-A177-3AD203B41FA5}">
                      <a16:colId xmlns:a16="http://schemas.microsoft.com/office/drawing/2014/main" val="2512226449"/>
                    </a:ext>
                  </a:extLst>
                </a:gridCol>
                <a:gridCol w="1145138">
                  <a:extLst>
                    <a:ext uri="{9D8B030D-6E8A-4147-A177-3AD203B41FA5}">
                      <a16:colId xmlns:a16="http://schemas.microsoft.com/office/drawing/2014/main" val="121401622"/>
                    </a:ext>
                  </a:extLst>
                </a:gridCol>
                <a:gridCol w="996360">
                  <a:extLst>
                    <a:ext uri="{9D8B030D-6E8A-4147-A177-3AD203B41FA5}">
                      <a16:colId xmlns:a16="http://schemas.microsoft.com/office/drawing/2014/main" val="3507491093"/>
                    </a:ext>
                  </a:extLst>
                </a:gridCol>
                <a:gridCol w="928734">
                  <a:extLst>
                    <a:ext uri="{9D8B030D-6E8A-4147-A177-3AD203B41FA5}">
                      <a16:colId xmlns:a16="http://schemas.microsoft.com/office/drawing/2014/main" val="690159537"/>
                    </a:ext>
                  </a:extLst>
                </a:gridCol>
                <a:gridCol w="1000867">
                  <a:extLst>
                    <a:ext uri="{9D8B030D-6E8A-4147-A177-3AD203B41FA5}">
                      <a16:colId xmlns:a16="http://schemas.microsoft.com/office/drawing/2014/main" val="2109333332"/>
                    </a:ext>
                  </a:extLst>
                </a:gridCol>
                <a:gridCol w="1063986">
                  <a:extLst>
                    <a:ext uri="{9D8B030D-6E8A-4147-A177-3AD203B41FA5}">
                      <a16:colId xmlns:a16="http://schemas.microsoft.com/office/drawing/2014/main" val="592032165"/>
                    </a:ext>
                  </a:extLst>
                </a:gridCol>
                <a:gridCol w="2691523">
                  <a:extLst>
                    <a:ext uri="{9D8B030D-6E8A-4147-A177-3AD203B41FA5}">
                      <a16:colId xmlns:a16="http://schemas.microsoft.com/office/drawing/2014/main" val="323510567"/>
                    </a:ext>
                  </a:extLst>
                </a:gridCol>
              </a:tblGrid>
              <a:tr h="238567">
                <a:tc>
                  <a:txBody>
                    <a:bodyPr/>
                    <a:lstStyle/>
                    <a:p>
                      <a:pPr algn="ctr"/>
                      <a:r>
                        <a:rPr lang="zh-CN" sz="1600" kern="100" dirty="0">
                          <a:effectLst/>
                          <a:latin typeface="宋体" panose="02010600030101010101" pitchFamily="2" charset="-122"/>
                          <a:ea typeface="宋体" panose="02010600030101010101" pitchFamily="2" charset="-122"/>
                        </a:rPr>
                        <a:t>序号</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sz="1600" kern="100">
                          <a:effectLst/>
                          <a:latin typeface="宋体" panose="02010600030101010101" pitchFamily="2" charset="-122"/>
                          <a:ea typeface="宋体" panose="02010600030101010101" pitchFamily="2" charset="-122"/>
                        </a:rPr>
                        <a:t>状态栈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zh-CN" sz="1600" kern="100">
                          <a:effectLst/>
                          <a:latin typeface="宋体" panose="02010600030101010101" pitchFamily="2" charset="-122"/>
                          <a:ea typeface="宋体" panose="02010600030101010101" pitchFamily="2" charset="-122"/>
                        </a:rPr>
                        <a:t>符号栈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sz="1600" kern="100">
                          <a:effectLst/>
                          <a:latin typeface="宋体" panose="02010600030101010101" pitchFamily="2" charset="-122"/>
                          <a:ea typeface="宋体" panose="02010600030101010101" pitchFamily="2" charset="-122"/>
                        </a:rPr>
                        <a:t>语义栈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sz="1600" kern="100">
                          <a:effectLst/>
                          <a:latin typeface="宋体" panose="02010600030101010101" pitchFamily="2" charset="-122"/>
                          <a:ea typeface="宋体" panose="02010600030101010101" pitchFamily="2" charset="-122"/>
                        </a:rPr>
                        <a:t>产生式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sz="1600" kern="100">
                          <a:effectLst/>
                          <a:latin typeface="宋体" panose="02010600030101010101" pitchFamily="2" charset="-122"/>
                          <a:ea typeface="宋体" panose="02010600030101010101" pitchFamily="2" charset="-122"/>
                        </a:rPr>
                        <a:t>输入串</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sz="1600" kern="100">
                          <a:effectLst/>
                          <a:latin typeface="宋体" panose="02010600030101010101" pitchFamily="2" charset="-122"/>
                          <a:ea typeface="宋体" panose="02010600030101010101" pitchFamily="2" charset="-122"/>
                        </a:rPr>
                        <a:t>说明</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6048139"/>
                  </a:ext>
                </a:extLst>
              </a:tr>
              <a:tr h="238567">
                <a:tc>
                  <a:txBody>
                    <a:bodyPr/>
                    <a:lstStyle/>
                    <a:p>
                      <a:pPr algn="ctr"/>
                      <a:r>
                        <a:rPr lang="en-US" sz="1600" kern="100">
                          <a:effectLst/>
                          <a:latin typeface="宋体" panose="02010600030101010101" pitchFamily="2" charset="-122"/>
                          <a:ea typeface="宋体" panose="02010600030101010101" pitchFamily="2" charset="-122"/>
                        </a:rPr>
                        <a:t>1</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4+3*5#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84543306"/>
                  </a:ext>
                </a:extLst>
              </a:tr>
              <a:tr h="238567">
                <a:tc>
                  <a:txBody>
                    <a:bodyPr/>
                    <a:lstStyle/>
                    <a:p>
                      <a:pPr algn="ctr"/>
                      <a:r>
                        <a:rPr lang="en-US" sz="1600" kern="100">
                          <a:effectLst/>
                          <a:latin typeface="宋体" panose="02010600030101010101" pitchFamily="2" charset="-122"/>
                          <a:ea typeface="宋体" panose="02010600030101010101" pitchFamily="2" charset="-122"/>
                        </a:rPr>
                        <a:t>2</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75187742"/>
                  </a:ext>
                </a:extLst>
              </a:tr>
              <a:tr h="238567">
                <a:tc>
                  <a:txBody>
                    <a:bodyPr/>
                    <a:lstStyle/>
                    <a:p>
                      <a:pPr algn="ctr"/>
                      <a:r>
                        <a:rPr lang="en-US" sz="1600" kern="100">
                          <a:effectLst/>
                          <a:latin typeface="宋体" panose="02010600030101010101" pitchFamily="2" charset="-122"/>
                          <a:ea typeface="宋体" panose="02010600030101010101" pitchFamily="2" charset="-122"/>
                        </a:rPr>
                        <a:t>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#F</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F</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i</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 F</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3</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4995826"/>
                  </a:ext>
                </a:extLst>
              </a:tr>
              <a:tr h="238567">
                <a:tc>
                  <a:txBody>
                    <a:bodyPr/>
                    <a:lstStyle/>
                    <a:p>
                      <a:pPr algn="ctr"/>
                      <a:r>
                        <a:rPr lang="en-US" sz="1600" kern="100">
                          <a:effectLst/>
                          <a:latin typeface="宋体" panose="02010600030101010101" pitchFamily="2" charset="-122"/>
                          <a:ea typeface="宋体" panose="02010600030101010101" pitchFamily="2" charset="-122"/>
                        </a:rPr>
                        <a:t>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02</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T</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F</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F</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3</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 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2</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71260904"/>
                  </a:ext>
                </a:extLst>
              </a:tr>
              <a:tr h="238567">
                <a:tc>
                  <a:txBody>
                    <a:bodyPr/>
                    <a:lstStyle/>
                    <a:p>
                      <a:pPr algn="ctr"/>
                      <a:r>
                        <a:rPr lang="en-US" sz="1600" kern="100">
                          <a:effectLst/>
                          <a:latin typeface="宋体" panose="02010600030101010101" pitchFamily="2" charset="-122"/>
                          <a:ea typeface="宋体" panose="02010600030101010101" pitchFamily="2" charset="-122"/>
                        </a:rPr>
                        <a:t>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E</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2</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E</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1</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72194723"/>
                  </a:ext>
                </a:extLst>
              </a:tr>
              <a:tr h="238567">
                <a:tc>
                  <a:txBody>
                    <a:bodyPr/>
                    <a:lstStyle/>
                    <a:p>
                      <a:pPr algn="ctr"/>
                      <a:r>
                        <a:rPr lang="en-US" sz="1600" kern="100">
                          <a:effectLst/>
                          <a:latin typeface="宋体" panose="02010600030101010101" pitchFamily="2" charset="-122"/>
                          <a:ea typeface="宋体" panose="02010600030101010101" pitchFamily="2" charset="-122"/>
                        </a:rPr>
                        <a:t>6</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dirty="0">
                          <a:effectLst/>
                          <a:latin typeface="宋体" panose="02010600030101010101" pitchFamily="2" charset="-122"/>
                          <a:ea typeface="宋体" panose="02010600030101010101" pitchFamily="2" charset="-122"/>
                        </a:rPr>
                        <a:t>#E+</a:t>
                      </a:r>
                      <a:endParaRPr lang="zh-CN" sz="1600" kern="100" dirty="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6</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9302106"/>
                  </a:ext>
                </a:extLst>
              </a:tr>
              <a:tr h="238567">
                <a:tc>
                  <a:txBody>
                    <a:bodyPr/>
                    <a:lstStyle/>
                    <a:p>
                      <a:pPr algn="ctr"/>
                      <a:r>
                        <a:rPr lang="en-US" sz="1600" kern="100">
                          <a:effectLst/>
                          <a:latin typeface="宋体" panose="02010600030101010101" pitchFamily="2" charset="-122"/>
                          <a:ea typeface="宋体" panose="02010600030101010101" pitchFamily="2" charset="-122"/>
                        </a:rPr>
                        <a:t>7</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#E+i</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0577793"/>
                  </a:ext>
                </a:extLst>
              </a:tr>
              <a:tr h="238567">
                <a:tc>
                  <a:txBody>
                    <a:bodyPr/>
                    <a:lstStyle/>
                    <a:p>
                      <a:pPr algn="ctr"/>
                      <a:r>
                        <a:rPr lang="en-US" sz="1600" kern="100">
                          <a:effectLst/>
                          <a:latin typeface="宋体" panose="02010600030101010101" pitchFamily="2" charset="-122"/>
                          <a:ea typeface="宋体" panose="02010600030101010101" pitchFamily="2" charset="-122"/>
                        </a:rPr>
                        <a:t>8</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#E+F</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F</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i</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F</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3</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77118519"/>
                  </a:ext>
                </a:extLst>
              </a:tr>
              <a:tr h="238567">
                <a:tc>
                  <a:txBody>
                    <a:bodyPr/>
                    <a:lstStyle/>
                    <a:p>
                      <a:pPr algn="ctr"/>
                      <a:r>
                        <a:rPr lang="en-US" sz="1600" kern="100">
                          <a:effectLst/>
                          <a:latin typeface="宋体" panose="02010600030101010101" pitchFamily="2" charset="-122"/>
                          <a:ea typeface="宋体" panose="02010600030101010101" pitchFamily="2" charset="-122"/>
                        </a:rPr>
                        <a:t>9</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0169</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T</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F</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F</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3</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9</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8347336"/>
                  </a:ext>
                </a:extLst>
              </a:tr>
              <a:tr h="238567">
                <a:tc>
                  <a:txBody>
                    <a:bodyPr/>
                    <a:lstStyle/>
                    <a:p>
                      <a:pPr algn="ctr"/>
                      <a:r>
                        <a:rPr lang="en-US" sz="1600" kern="100">
                          <a:effectLst/>
                          <a:latin typeface="宋体" panose="02010600030101010101" pitchFamily="2" charset="-122"/>
                          <a:ea typeface="宋体" panose="02010600030101010101" pitchFamily="2" charset="-122"/>
                        </a:rPr>
                        <a:t>10</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01697</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7</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12253925"/>
                  </a:ext>
                </a:extLst>
              </a:tr>
              <a:tr h="431725">
                <a:tc>
                  <a:txBody>
                    <a:bodyPr/>
                    <a:lstStyle/>
                    <a:p>
                      <a:pPr algn="ctr"/>
                      <a:r>
                        <a:rPr lang="en-US" sz="1600" kern="100">
                          <a:effectLst/>
                          <a:latin typeface="宋体" panose="02010600030101010101" pitchFamily="2" charset="-122"/>
                          <a:ea typeface="宋体" panose="02010600030101010101" pitchFamily="2" charset="-122"/>
                        </a:rPr>
                        <a:t>11</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016975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#E+T*i</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13594073"/>
                  </a:ext>
                </a:extLst>
              </a:tr>
              <a:tr h="431725">
                <a:tc>
                  <a:txBody>
                    <a:bodyPr/>
                    <a:lstStyle/>
                    <a:p>
                      <a:pPr algn="ctr"/>
                      <a:r>
                        <a:rPr lang="en-US" sz="1600" kern="100">
                          <a:effectLst/>
                          <a:latin typeface="宋体" panose="02010600030101010101" pitchFamily="2" charset="-122"/>
                          <a:ea typeface="宋体" panose="02010600030101010101" pitchFamily="2" charset="-122"/>
                        </a:rPr>
                        <a:t>12</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01697</a:t>
                      </a:r>
                      <a:r>
                        <a:rPr lang="en-US" sz="1600" u="sng" kern="100">
                          <a:effectLst/>
                          <a:latin typeface="宋体" panose="02010600030101010101" pitchFamily="2" charset="-122"/>
                          <a:ea typeface="宋体" panose="02010600030101010101" pitchFamily="2" charset="-122"/>
                        </a:rPr>
                        <a:t>10</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#E+T*F</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-4+3*5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F</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i</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i</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F</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10</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37699776"/>
                  </a:ext>
                </a:extLst>
              </a:tr>
              <a:tr h="477134">
                <a:tc>
                  <a:txBody>
                    <a:bodyPr/>
                    <a:lstStyle/>
                    <a:p>
                      <a:pPr algn="ctr"/>
                      <a:r>
                        <a:rPr lang="en-US" sz="1600" kern="100">
                          <a:effectLst/>
                          <a:latin typeface="宋体" panose="02010600030101010101" pitchFamily="2" charset="-122"/>
                          <a:ea typeface="宋体" panose="02010600030101010101" pitchFamily="2" charset="-122"/>
                        </a:rPr>
                        <a:t>13</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0169</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-4+15</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T</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T*F</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a:effectLst/>
                          <a:latin typeface="宋体" panose="02010600030101010101" pitchFamily="2" charset="-122"/>
                          <a:ea typeface="宋体" panose="02010600030101010101" pitchFamily="2" charset="-122"/>
                        </a:rPr>
                        <a: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F*T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10</a:t>
                      </a: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7</a:t>
                      </a: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9</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T</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9</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14473204"/>
                  </a:ext>
                </a:extLst>
              </a:tr>
              <a:tr h="477134">
                <a:tc>
                  <a:txBody>
                    <a:bodyPr/>
                    <a:lstStyle/>
                    <a:p>
                      <a:pPr algn="ctr"/>
                      <a:r>
                        <a:rPr lang="en-US" sz="1600" kern="100">
                          <a:effectLst/>
                          <a:latin typeface="宋体" panose="02010600030101010101" pitchFamily="2" charset="-122"/>
                          <a:ea typeface="宋体" panose="02010600030101010101" pitchFamily="2" charset="-122"/>
                        </a:rPr>
                        <a:t>14</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01</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#E</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-19</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kern="100">
                          <a:effectLst/>
                          <a:latin typeface="宋体" panose="02010600030101010101" pitchFamily="2" charset="-122"/>
                          <a:ea typeface="宋体" panose="02010600030101010101" pitchFamily="2" charset="-122"/>
                        </a:rPr>
                        <a:t>E</a:t>
                      </a:r>
                      <a:r>
                        <a:rPr lang="en-US" sz="1600" kern="100">
                          <a:effectLst/>
                          <a:latin typeface="宋体" panose="02010600030101010101" pitchFamily="2" charset="-122"/>
                          <a:ea typeface="宋体" panose="02010600030101010101" pitchFamily="2" charset="-122"/>
                          <a:sym typeface="Symbol" panose="05050102010706020507" pitchFamily="18" charset="2"/>
                        </a:rPr>
                        <a:t></a:t>
                      </a:r>
                      <a:r>
                        <a:rPr lang="en-US" sz="1600" kern="100">
                          <a:effectLst/>
                          <a:latin typeface="宋体" panose="02010600030101010101" pitchFamily="2" charset="-122"/>
                          <a:ea typeface="宋体" panose="02010600030101010101" pitchFamily="2" charset="-122"/>
                        </a:rPr>
                        <a:t>E+T</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600" kern="100" dirty="0">
                          <a:effectLst/>
                          <a:latin typeface="宋体" panose="02010600030101010101" pitchFamily="2" charset="-122"/>
                          <a:ea typeface="宋体" panose="02010600030101010101" pitchFamily="2" charset="-122"/>
                        </a:rPr>
                        <a:t>#</a:t>
                      </a:r>
                      <a:endParaRPr lang="zh-CN" sz="1600" kern="100" dirty="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en-US" sz="1600" kern="100">
                          <a:effectLst/>
                          <a:latin typeface="宋体" panose="02010600030101010101" pitchFamily="2" charset="-122"/>
                          <a:ea typeface="宋体" panose="02010600030101010101" pitchFamily="2" charset="-122"/>
                        </a:rPr>
                        <a:t>T+E</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9</a:t>
                      </a: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6</a:t>
                      </a: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1</a:t>
                      </a:r>
                      <a:r>
                        <a:rPr lang="zh-CN" sz="1600" kern="100">
                          <a:effectLst/>
                          <a:latin typeface="宋体" panose="02010600030101010101" pitchFamily="2" charset="-122"/>
                          <a:ea typeface="宋体" panose="02010600030101010101" pitchFamily="2" charset="-122"/>
                        </a:rPr>
                        <a:t>退栈，</a:t>
                      </a:r>
                      <a:r>
                        <a:rPr lang="en-US" sz="1600" kern="100">
                          <a:effectLst/>
                          <a:latin typeface="宋体" panose="02010600030101010101" pitchFamily="2" charset="-122"/>
                          <a:ea typeface="宋体" panose="02010600030101010101" pitchFamily="2" charset="-122"/>
                        </a:rPr>
                        <a:t>E</a:t>
                      </a:r>
                      <a:r>
                        <a:rPr lang="zh-CN" sz="1600" kern="100">
                          <a:effectLst/>
                          <a:latin typeface="宋体" panose="02010600030101010101" pitchFamily="2" charset="-122"/>
                          <a:ea typeface="宋体" panose="02010600030101010101" pitchFamily="2" charset="-122"/>
                        </a:rPr>
                        <a:t>和</a:t>
                      </a:r>
                      <a:r>
                        <a:rPr lang="en-US" sz="1600" kern="100">
                          <a:effectLst/>
                          <a:latin typeface="宋体" panose="02010600030101010101" pitchFamily="2" charset="-122"/>
                          <a:ea typeface="宋体" panose="02010600030101010101" pitchFamily="2" charset="-122"/>
                        </a:rPr>
                        <a:t>S</a:t>
                      </a:r>
                      <a:r>
                        <a:rPr lang="en-US" sz="1600" kern="100" baseline="-25000">
                          <a:effectLst/>
                          <a:latin typeface="宋体" panose="02010600030101010101" pitchFamily="2" charset="-122"/>
                          <a:ea typeface="宋体" panose="02010600030101010101" pitchFamily="2" charset="-122"/>
                        </a:rPr>
                        <a:t>1</a:t>
                      </a:r>
                      <a:r>
                        <a:rPr lang="zh-CN" sz="1600" kern="100">
                          <a:effectLst/>
                          <a:latin typeface="宋体" panose="02010600030101010101" pitchFamily="2" charset="-122"/>
                          <a:ea typeface="宋体" panose="02010600030101010101" pitchFamily="2" charset="-122"/>
                        </a:rPr>
                        <a:t>进栈</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60405181"/>
                  </a:ext>
                </a:extLst>
              </a:tr>
              <a:tr h="238567">
                <a:tc>
                  <a:txBody>
                    <a:bodyPr/>
                    <a:lstStyle/>
                    <a:p>
                      <a:pPr algn="ctr"/>
                      <a:r>
                        <a:rPr lang="en-US" sz="1600" kern="100" dirty="0">
                          <a:effectLst/>
                          <a:latin typeface="宋体" panose="02010600030101010101" pitchFamily="2" charset="-122"/>
                          <a:ea typeface="宋体" panose="02010600030101010101" pitchFamily="2" charset="-122"/>
                        </a:rPr>
                        <a:t>15</a:t>
                      </a:r>
                      <a:endParaRPr lang="zh-CN" sz="1600" kern="100" dirty="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600" kern="100">
                          <a:effectLst/>
                          <a:latin typeface="宋体" panose="02010600030101010101" pitchFamily="2" charset="-122"/>
                          <a:ea typeface="宋体" panose="02010600030101010101" pitchFamily="2" charset="-122"/>
                        </a:rPr>
                        <a:t> </a:t>
                      </a:r>
                      <a:endParaRPr lang="zh-CN" sz="1600" kern="10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lang="zh-CN" sz="1600" kern="100" dirty="0">
                          <a:effectLst/>
                          <a:latin typeface="宋体" panose="02010600030101010101" pitchFamily="2" charset="-122"/>
                          <a:ea typeface="宋体" panose="02010600030101010101" pitchFamily="2" charset="-122"/>
                        </a:rPr>
                        <a:t>接受</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81763358"/>
                  </a:ext>
                </a:extLst>
              </a:tr>
            </a:tbl>
          </a:graphicData>
        </a:graphic>
      </p:graphicFrame>
    </p:spTree>
    <p:extLst>
      <p:ext uri="{BB962C8B-B14F-4D97-AF65-F5344CB8AC3E}">
        <p14:creationId xmlns:p14="http://schemas.microsoft.com/office/powerpoint/2010/main" val="23713259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结论</a:t>
            </a:r>
          </a:p>
        </p:txBody>
      </p:sp>
      <p:sp>
        <p:nvSpPr>
          <p:cNvPr id="56323" name="Rectangle 3"/>
          <p:cNvSpPr>
            <a:spLocks noGrp="1" noChangeArrowheads="1"/>
          </p:cNvSpPr>
          <p:nvPr>
            <p:ph type="body" idx="1"/>
          </p:nvPr>
        </p:nvSpPr>
        <p:spPr>
          <a:xfrm>
            <a:off x="468313" y="1221581"/>
            <a:ext cx="8229600" cy="2940844"/>
          </a:xfrm>
        </p:spPr>
        <p:txBody>
          <a:bodyPr>
            <a:normAutofit/>
          </a:bodyPr>
          <a:lstStyle/>
          <a:p>
            <a:pPr eaLnBrk="1" hangingPunct="1"/>
            <a:r>
              <a:rPr lang="zh-CN" altLang="en-US" dirty="0"/>
              <a:t>在刚才的翻译过程中有如下特点：</a:t>
            </a:r>
          </a:p>
          <a:p>
            <a:pPr lvl="1" eaLnBrk="1" hangingPunct="1"/>
            <a:r>
              <a:rPr lang="zh-CN" altLang="en-US" sz="2000" b="1" dirty="0">
                <a:solidFill>
                  <a:srgbClr val="0033CC"/>
                </a:solidFill>
              </a:rPr>
              <a:t>句柄归约在先，语义动作在后。</a:t>
            </a:r>
          </a:p>
          <a:p>
            <a:pPr lvl="1" eaLnBrk="1" hangingPunct="1"/>
            <a:r>
              <a:rPr lang="zh-CN" altLang="en-US" sz="2000" b="1" dirty="0"/>
              <a:t>归约时，栈内句柄各符号的语义信息与该句柄</a:t>
            </a:r>
            <a:r>
              <a:rPr lang="zh-CN" altLang="en-US" sz="2000" b="1" dirty="0">
                <a:solidFill>
                  <a:srgbClr val="0033CC"/>
                </a:solidFill>
              </a:rPr>
              <a:t>同时出栈</a:t>
            </a:r>
            <a:r>
              <a:rPr lang="zh-CN" altLang="en-US" sz="2000" b="1" dirty="0"/>
              <a:t>，整个句柄所表示的语义信息则赋给相应产生式左部非终结符的语义变量，并让该非终结符及其语义变量</a:t>
            </a:r>
            <a:r>
              <a:rPr lang="zh-CN" altLang="en-US" sz="2000" b="1" dirty="0">
                <a:solidFill>
                  <a:srgbClr val="0033CC"/>
                </a:solidFill>
              </a:rPr>
              <a:t>同时入栈</a:t>
            </a:r>
            <a:r>
              <a:rPr lang="zh-CN" altLang="en-US" sz="2000" b="1" dirty="0"/>
              <a:t>。</a:t>
            </a:r>
          </a:p>
          <a:p>
            <a:pPr lvl="1" eaLnBrk="1" hangingPunct="1"/>
            <a:r>
              <a:rPr lang="zh-CN" altLang="en-US" sz="2000" b="1" dirty="0"/>
              <a:t>为了在某处调用语义动作，就必须先归约，因此，有时需要</a:t>
            </a:r>
            <a:r>
              <a:rPr lang="zh-CN" altLang="en-US" sz="2000" b="1" dirty="0">
                <a:solidFill>
                  <a:srgbClr val="0033CC"/>
                </a:solidFill>
              </a:rPr>
              <a:t>改写文法</a:t>
            </a:r>
            <a:r>
              <a:rPr lang="zh-CN" altLang="en-US" sz="2000" b="1" dirty="0"/>
              <a:t>。</a:t>
            </a:r>
          </a:p>
        </p:txBody>
      </p:sp>
    </p:spTree>
    <p:extLst>
      <p:ext uri="{BB962C8B-B14F-4D97-AF65-F5344CB8AC3E}">
        <p14:creationId xmlns:p14="http://schemas.microsoft.com/office/powerpoint/2010/main" val="21620662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24723735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2840" y="3147814"/>
            <a:ext cx="8229600" cy="1609683"/>
          </a:xfrm>
        </p:spPr>
        <p:txBody>
          <a:bodyPr/>
          <a:lstStyle/>
          <a:p>
            <a:r>
              <a:rPr lang="en-US" altLang="zh-CN" dirty="0"/>
              <a:t>L-</a:t>
            </a:r>
            <a:r>
              <a:rPr lang="zh-CN" altLang="zh-CN" dirty="0"/>
              <a:t>属性文法从上往下进行一遍扫描就可以完成属性的计算。</a:t>
            </a:r>
            <a:endParaRPr lang="en-US" altLang="zh-CN" dirty="0"/>
          </a:p>
          <a:p>
            <a:r>
              <a:rPr lang="zh-CN" altLang="en-US" dirty="0"/>
              <a:t>适合与自上而下语法分析，如递归下降、</a:t>
            </a:r>
            <a:r>
              <a:rPr lang="en-US" altLang="zh-CN" dirty="0"/>
              <a:t>LL(1)</a:t>
            </a:r>
            <a:r>
              <a:rPr lang="zh-CN" altLang="en-US" dirty="0"/>
              <a:t>预测分析方法结合，</a:t>
            </a:r>
            <a:r>
              <a:rPr lang="zh-CN" altLang="zh-CN" dirty="0"/>
              <a:t>在</a:t>
            </a:r>
            <a:r>
              <a:rPr lang="zh-CN" altLang="en-US" dirty="0"/>
              <a:t>利用产生式推导，匹配成功后</a:t>
            </a:r>
            <a:r>
              <a:rPr lang="zh-CN" altLang="zh-CN" dirty="0"/>
              <a:t>进行属性计算</a:t>
            </a:r>
            <a:r>
              <a:rPr lang="zh-CN" altLang="en-US" dirty="0"/>
              <a:t>。</a:t>
            </a:r>
            <a:endParaRPr lang="en-US" altLang="zh-CN" dirty="0"/>
          </a:p>
          <a:p>
            <a:endParaRPr lang="zh-CN" altLang="en-US" dirty="0"/>
          </a:p>
        </p:txBody>
      </p:sp>
      <p:sp>
        <p:nvSpPr>
          <p:cNvPr id="3" name="标题 2"/>
          <p:cNvSpPr>
            <a:spLocks noGrp="1"/>
          </p:cNvSpPr>
          <p:nvPr>
            <p:ph type="title"/>
          </p:nvPr>
        </p:nvSpPr>
        <p:spPr/>
        <p:txBody>
          <a:bodyPr>
            <a:normAutofit fontScale="90000"/>
          </a:bodyPr>
          <a:lstStyle/>
          <a:p>
            <a:r>
              <a:rPr lang="en-US" altLang="zh-CN" kern="100" dirty="0">
                <a:latin typeface="Times New Roman" panose="02020603050405020304" pitchFamily="18" charset="0"/>
              </a:rPr>
              <a:t>L-</a:t>
            </a:r>
            <a:r>
              <a:rPr lang="zh-CN" altLang="zh-CN" kern="100" dirty="0">
                <a:latin typeface="Times New Roman" panose="02020603050405020304" pitchFamily="18" charset="0"/>
                <a:cs typeface="Times New Roman" panose="02020603050405020304" pitchFamily="18" charset="0"/>
              </a:rPr>
              <a:t>属性文法的自上而下</a:t>
            </a:r>
            <a:r>
              <a:rPr lang="zh-CN" altLang="en-US" kern="100" dirty="0">
                <a:latin typeface="Times New Roman" panose="02020603050405020304" pitchFamily="18" charset="0"/>
                <a:cs typeface="Times New Roman" panose="02020603050405020304" pitchFamily="18" charset="0"/>
              </a:rPr>
              <a:t>语义处理方法</a:t>
            </a:r>
            <a:endParaRPr lang="zh-CN" altLang="en-US" dirty="0"/>
          </a:p>
        </p:txBody>
      </p:sp>
      <p:sp>
        <p:nvSpPr>
          <p:cNvPr id="4" name="内容占位符 2"/>
          <p:cNvSpPr txBox="1">
            <a:spLocks/>
          </p:cNvSpPr>
          <p:nvPr/>
        </p:nvSpPr>
        <p:spPr>
          <a:xfrm>
            <a:off x="251520" y="771550"/>
            <a:ext cx="8280920" cy="2124236"/>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120000"/>
              </a:lnSpc>
              <a:spcBef>
                <a:spcPts val="0"/>
              </a:spcBef>
            </a:pPr>
            <a:r>
              <a:rPr lang="zh-CN" altLang="zh-CN" sz="2200" dirty="0"/>
              <a:t>如果对于文法中的每个产生式</a:t>
            </a:r>
            <a:r>
              <a:rPr lang="en-US" altLang="zh-CN" sz="2800" b="1" dirty="0">
                <a:solidFill>
                  <a:srgbClr val="FF0000"/>
                </a:solidFill>
              </a:rPr>
              <a:t>A</a:t>
            </a:r>
            <a:r>
              <a:rPr lang="zh-CN" altLang="zh-CN" sz="2800" b="1" dirty="0">
                <a:solidFill>
                  <a:srgbClr val="FF0000"/>
                </a:solidFill>
              </a:rPr>
              <a:t>→</a:t>
            </a:r>
            <a:r>
              <a:rPr lang="en-US" altLang="zh-CN" sz="2800" b="1" dirty="0">
                <a:solidFill>
                  <a:srgbClr val="FF0000"/>
                </a:solidFill>
              </a:rPr>
              <a:t>X</a:t>
            </a:r>
            <a:r>
              <a:rPr lang="en-US" altLang="zh-CN" sz="2800" b="1" baseline="-25000" dirty="0">
                <a:solidFill>
                  <a:srgbClr val="FF0000"/>
                </a:solidFill>
              </a:rPr>
              <a:t>1</a:t>
            </a:r>
            <a:r>
              <a:rPr lang="en-US" altLang="zh-CN" sz="2800" b="1" dirty="0">
                <a:solidFill>
                  <a:srgbClr val="FF0000"/>
                </a:solidFill>
              </a:rPr>
              <a:t>X</a:t>
            </a:r>
            <a:r>
              <a:rPr lang="en-US" altLang="zh-CN" sz="2800" b="1" baseline="-25000" dirty="0">
                <a:solidFill>
                  <a:srgbClr val="FF0000"/>
                </a:solidFill>
              </a:rPr>
              <a:t>2</a:t>
            </a:r>
            <a:r>
              <a:rPr lang="en-US" altLang="zh-CN" sz="2800" b="1" dirty="0">
                <a:solidFill>
                  <a:srgbClr val="FF0000"/>
                </a:solidFill>
              </a:rPr>
              <a:t>……</a:t>
            </a:r>
            <a:r>
              <a:rPr lang="en-US" altLang="zh-CN" sz="2800" b="1" dirty="0" err="1">
                <a:solidFill>
                  <a:srgbClr val="FF0000"/>
                </a:solidFill>
              </a:rPr>
              <a:t>X</a:t>
            </a:r>
            <a:r>
              <a:rPr lang="en-US" altLang="zh-CN" sz="2800" b="1" baseline="-25000" dirty="0" err="1">
                <a:solidFill>
                  <a:srgbClr val="FF0000"/>
                </a:solidFill>
              </a:rPr>
              <a:t>n</a:t>
            </a:r>
            <a:r>
              <a:rPr lang="zh-CN" altLang="zh-CN" sz="2200" dirty="0"/>
              <a:t>，其每个语义规则中的每个属性或者是</a:t>
            </a:r>
            <a:r>
              <a:rPr lang="zh-CN" altLang="zh-CN" sz="2200" dirty="0">
                <a:solidFill>
                  <a:srgbClr val="FF0000"/>
                </a:solidFill>
              </a:rPr>
              <a:t>综合属性</a:t>
            </a:r>
            <a:r>
              <a:rPr lang="zh-CN" altLang="zh-CN" sz="2200" dirty="0"/>
              <a:t>，或者是</a:t>
            </a:r>
            <a:r>
              <a:rPr lang="en-US" altLang="zh-CN" sz="2200" dirty="0" err="1"/>
              <a:t>X</a:t>
            </a:r>
            <a:r>
              <a:rPr lang="en-US" altLang="zh-CN" sz="2200" baseline="-25000" dirty="0" err="1"/>
              <a:t>j</a:t>
            </a:r>
            <a:r>
              <a:rPr lang="zh-CN" altLang="zh-CN" sz="2200" dirty="0"/>
              <a:t>（</a:t>
            </a:r>
            <a:r>
              <a:rPr lang="en-US" altLang="zh-CN" sz="2200" dirty="0"/>
              <a:t>1</a:t>
            </a:r>
            <a:r>
              <a:rPr lang="zh-CN" altLang="zh-CN" sz="2200" dirty="0"/>
              <a:t>≤</a:t>
            </a:r>
            <a:r>
              <a:rPr lang="en-US" altLang="zh-CN" sz="2200" dirty="0"/>
              <a:t>j</a:t>
            </a:r>
            <a:r>
              <a:rPr lang="zh-CN" altLang="zh-CN" sz="2200" dirty="0"/>
              <a:t>≤</a:t>
            </a:r>
            <a:r>
              <a:rPr lang="en-US" altLang="zh-CN" sz="2200" dirty="0"/>
              <a:t>n</a:t>
            </a:r>
            <a:r>
              <a:rPr lang="zh-CN" altLang="zh-CN" sz="2200" dirty="0"/>
              <a:t>）的一个继承属性，且这个继承属性仅仅依赖于下列两种属性。</a:t>
            </a:r>
            <a:endParaRPr lang="en-US" altLang="zh-CN" sz="2200" dirty="0"/>
          </a:p>
          <a:p>
            <a:pPr>
              <a:lnSpc>
                <a:spcPct val="120000"/>
              </a:lnSpc>
              <a:spcBef>
                <a:spcPts val="0"/>
              </a:spcBef>
            </a:pPr>
            <a:r>
              <a:rPr lang="zh-CN" altLang="zh-CN" sz="2200" dirty="0">
                <a:solidFill>
                  <a:srgbClr val="0000FF"/>
                </a:solidFill>
              </a:rPr>
              <a:t>（</a:t>
            </a:r>
            <a:r>
              <a:rPr lang="en-US" altLang="zh-CN" sz="2200" dirty="0">
                <a:solidFill>
                  <a:srgbClr val="0000FF"/>
                </a:solidFill>
              </a:rPr>
              <a:t>1</a:t>
            </a:r>
            <a:r>
              <a:rPr lang="zh-CN" altLang="zh-CN" sz="2200" dirty="0">
                <a:solidFill>
                  <a:srgbClr val="0000FF"/>
                </a:solidFill>
              </a:rPr>
              <a:t>）产生式中</a:t>
            </a:r>
            <a:r>
              <a:rPr lang="en-US" altLang="zh-CN" sz="2200" dirty="0" err="1">
                <a:solidFill>
                  <a:srgbClr val="0000FF"/>
                </a:solidFill>
              </a:rPr>
              <a:t>X</a:t>
            </a:r>
            <a:r>
              <a:rPr lang="en-US" altLang="zh-CN" sz="2200" baseline="-25000" dirty="0" err="1">
                <a:solidFill>
                  <a:srgbClr val="0000FF"/>
                </a:solidFill>
              </a:rPr>
              <a:t>j</a:t>
            </a:r>
            <a:r>
              <a:rPr lang="zh-CN" altLang="zh-CN" sz="2200" dirty="0">
                <a:solidFill>
                  <a:srgbClr val="0000FF"/>
                </a:solidFill>
              </a:rPr>
              <a:t>左边的文法符号</a:t>
            </a:r>
            <a:r>
              <a:rPr lang="en-US" altLang="zh-CN" sz="2200" dirty="0">
                <a:solidFill>
                  <a:srgbClr val="0000FF"/>
                </a:solidFill>
              </a:rPr>
              <a:t>X</a:t>
            </a:r>
            <a:r>
              <a:rPr lang="en-US" altLang="zh-CN" sz="2200" baseline="-25000" dirty="0">
                <a:solidFill>
                  <a:srgbClr val="0000FF"/>
                </a:solidFill>
              </a:rPr>
              <a:t>1</a:t>
            </a:r>
            <a:r>
              <a:rPr lang="en-US" altLang="zh-CN" sz="2200" dirty="0">
                <a:solidFill>
                  <a:srgbClr val="0000FF"/>
                </a:solidFill>
              </a:rPr>
              <a:t>X</a:t>
            </a:r>
            <a:r>
              <a:rPr lang="en-US" altLang="zh-CN" sz="2200" baseline="-25000" dirty="0">
                <a:solidFill>
                  <a:srgbClr val="0000FF"/>
                </a:solidFill>
              </a:rPr>
              <a:t>2</a:t>
            </a:r>
            <a:r>
              <a:rPr lang="en-US" altLang="zh-CN" sz="2200" dirty="0">
                <a:solidFill>
                  <a:srgbClr val="0000FF"/>
                </a:solidFill>
              </a:rPr>
              <a:t>......X</a:t>
            </a:r>
            <a:r>
              <a:rPr lang="en-US" altLang="zh-CN" sz="2200" baseline="-25000" dirty="0">
                <a:solidFill>
                  <a:srgbClr val="0000FF"/>
                </a:solidFill>
              </a:rPr>
              <a:t>j-1</a:t>
            </a:r>
            <a:r>
              <a:rPr lang="zh-CN" altLang="zh-CN" sz="2200" dirty="0">
                <a:solidFill>
                  <a:srgbClr val="0000FF"/>
                </a:solidFill>
              </a:rPr>
              <a:t>的属性。</a:t>
            </a:r>
          </a:p>
          <a:p>
            <a:pPr>
              <a:lnSpc>
                <a:spcPct val="120000"/>
              </a:lnSpc>
              <a:spcBef>
                <a:spcPts val="0"/>
              </a:spcBef>
            </a:pPr>
            <a:r>
              <a:rPr lang="zh-CN" altLang="zh-CN" sz="2200" dirty="0">
                <a:solidFill>
                  <a:srgbClr val="0000FF"/>
                </a:solidFill>
              </a:rPr>
              <a:t>（</a:t>
            </a:r>
            <a:r>
              <a:rPr lang="en-US" altLang="zh-CN" sz="2200" dirty="0">
                <a:solidFill>
                  <a:srgbClr val="0000FF"/>
                </a:solidFill>
              </a:rPr>
              <a:t>2</a:t>
            </a:r>
            <a:r>
              <a:rPr lang="zh-CN" altLang="zh-CN" sz="2200" dirty="0">
                <a:solidFill>
                  <a:srgbClr val="0000FF"/>
                </a:solidFill>
              </a:rPr>
              <a:t>）</a:t>
            </a:r>
            <a:r>
              <a:rPr lang="en-US" altLang="zh-CN" sz="2200" dirty="0">
                <a:solidFill>
                  <a:srgbClr val="0000FF"/>
                </a:solidFill>
              </a:rPr>
              <a:t>A</a:t>
            </a:r>
            <a:r>
              <a:rPr lang="zh-CN" altLang="zh-CN" sz="2200" dirty="0">
                <a:solidFill>
                  <a:srgbClr val="0000FF"/>
                </a:solidFill>
              </a:rPr>
              <a:t>的继承属性。</a:t>
            </a:r>
            <a:endParaRPr lang="zh-CN" altLang="en-US" sz="2200" dirty="0">
              <a:solidFill>
                <a:srgbClr val="0000FF"/>
              </a:solidFill>
            </a:endParaRPr>
          </a:p>
        </p:txBody>
      </p:sp>
    </p:spTree>
    <p:extLst>
      <p:ext uri="{BB962C8B-B14F-4D97-AF65-F5344CB8AC3E}">
        <p14:creationId xmlns:p14="http://schemas.microsoft.com/office/powerpoint/2010/main" val="276974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en-US" altLang="zh-CN" kern="100" dirty="0">
                <a:latin typeface="Times New Roman" panose="02020603050405020304" pitchFamily="18" charset="0"/>
              </a:rPr>
              <a:t>L-</a:t>
            </a:r>
            <a:r>
              <a:rPr lang="zh-CN" altLang="zh-CN" kern="100" dirty="0">
                <a:latin typeface="Times New Roman" panose="02020603050405020304" pitchFamily="18" charset="0"/>
                <a:cs typeface="Times New Roman" panose="02020603050405020304" pitchFamily="18" charset="0"/>
              </a:rPr>
              <a:t>属性文法的自上而下</a:t>
            </a:r>
            <a:r>
              <a:rPr lang="zh-CN" altLang="en-US" kern="100" dirty="0">
                <a:latin typeface="Times New Roman" panose="02020603050405020304" pitchFamily="18" charset="0"/>
                <a:cs typeface="Times New Roman" panose="02020603050405020304" pitchFamily="18" charset="0"/>
              </a:rPr>
              <a:t>语义处理方法</a:t>
            </a:r>
            <a:endParaRPr lang="zh-CN" altLang="en-US" dirty="0"/>
          </a:p>
        </p:txBody>
      </p:sp>
      <p:sp>
        <p:nvSpPr>
          <p:cNvPr id="3" name="内容占位符 2"/>
          <p:cNvSpPr>
            <a:spLocks noGrp="1"/>
          </p:cNvSpPr>
          <p:nvPr>
            <p:ph idx="1"/>
          </p:nvPr>
        </p:nvSpPr>
        <p:spPr>
          <a:xfrm>
            <a:off x="344535" y="915566"/>
            <a:ext cx="8229600" cy="1331739"/>
          </a:xfrm>
        </p:spPr>
        <p:txBody>
          <a:bodyPr>
            <a:normAutofit/>
          </a:bodyPr>
          <a:lstStyle/>
          <a:p>
            <a:pPr marL="342900" indent="-342900">
              <a:defRPr/>
            </a:pPr>
            <a:r>
              <a:rPr lang="zh-CN" altLang="en-US" sz="2400" dirty="0"/>
              <a:t>当给定</a:t>
            </a:r>
            <a:r>
              <a:rPr lang="en-US" altLang="zh-CN" sz="2400" dirty="0"/>
              <a:t>L-</a:t>
            </a:r>
            <a:r>
              <a:rPr lang="zh-CN" altLang="zh-CN" sz="2400" dirty="0"/>
              <a:t>属性文法，</a:t>
            </a:r>
            <a:r>
              <a:rPr lang="zh-CN" altLang="en-US" sz="2400" dirty="0"/>
              <a:t>要先设计</a:t>
            </a:r>
            <a:r>
              <a:rPr lang="zh-CN" altLang="zh-CN" sz="2400" dirty="0"/>
              <a:t>满足</a:t>
            </a:r>
            <a:r>
              <a:rPr lang="zh-CN" altLang="zh-CN" sz="2400" dirty="0">
                <a:hlinkClick r:id="rId2" action="ppaction://hlinksldjump"/>
              </a:rPr>
              <a:t>三个原则</a:t>
            </a:r>
            <a:r>
              <a:rPr lang="zh-CN" altLang="zh-CN" sz="2400" dirty="0"/>
              <a:t>的翻译模式</a:t>
            </a:r>
            <a:endParaRPr lang="en-US" altLang="zh-CN" sz="2400" dirty="0"/>
          </a:p>
          <a:p>
            <a:pPr marL="342900" indent="-342900">
              <a:defRPr/>
            </a:pPr>
            <a:r>
              <a:rPr lang="zh-CN" altLang="en-US" sz="2400" dirty="0"/>
              <a:t>然而，要进行自上而下的分析，上下文无关部分必须满足自上而下分析的条件（</a:t>
            </a:r>
            <a:r>
              <a:rPr lang="en-US" altLang="zh-CN" sz="2400" dirty="0"/>
              <a:t>LL1</a:t>
            </a:r>
            <a:r>
              <a:rPr lang="zh-CN" altLang="en-US" sz="2400" dirty="0"/>
              <a:t>文法）</a:t>
            </a:r>
            <a:endParaRPr lang="en-US" altLang="zh-CN" sz="2400" dirty="0"/>
          </a:p>
          <a:p>
            <a:pPr>
              <a:defRPr/>
            </a:pPr>
            <a:endParaRPr lang="zh-CN" altLang="en-US" sz="2400" dirty="0"/>
          </a:p>
        </p:txBody>
      </p:sp>
      <p:sp>
        <p:nvSpPr>
          <p:cNvPr id="4" name="矩形 3"/>
          <p:cNvSpPr/>
          <p:nvPr/>
        </p:nvSpPr>
        <p:spPr>
          <a:xfrm>
            <a:off x="498523" y="2571750"/>
            <a:ext cx="7921625" cy="2123658"/>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342900" lvl="1" indent="-342900">
              <a:buFont typeface="Wingdings" panose="05000000000000000000" pitchFamily="2" charset="2"/>
              <a:buChar char="Ø"/>
              <a:defRPr/>
            </a:pP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1</a:t>
            </a:r>
            <a:r>
              <a:rPr lang="zh-CN" altLang="zh-CN" sz="2200" dirty="0">
                <a:latin typeface="宋体" panose="02010600030101010101" pitchFamily="2" charset="-122"/>
                <a:ea typeface="宋体" panose="02010600030101010101" pitchFamily="2" charset="-122"/>
              </a:rPr>
              <a:t>）产生式右部符号的继承属性必须在这个符号以前的动作中计算出来；</a:t>
            </a:r>
          </a:p>
          <a:p>
            <a:pPr marL="342900" lvl="1" indent="-342900">
              <a:buFont typeface="Wingdings" panose="05000000000000000000" pitchFamily="2" charset="2"/>
              <a:buChar char="Ø"/>
              <a:defRPr/>
            </a:pP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2</a:t>
            </a:r>
            <a:r>
              <a:rPr lang="zh-CN" altLang="zh-CN" sz="2200" dirty="0">
                <a:latin typeface="宋体" panose="02010600030101010101" pitchFamily="2" charset="-122"/>
                <a:ea typeface="宋体" panose="02010600030101010101" pitchFamily="2" charset="-122"/>
              </a:rPr>
              <a:t>）一个动作不能引用这个动作右部的符号的综合属性；</a:t>
            </a:r>
          </a:p>
          <a:p>
            <a:pPr marL="342900" lvl="1" indent="-342900">
              <a:buFont typeface="Wingdings" panose="05000000000000000000" pitchFamily="2" charset="2"/>
              <a:buChar char="Ø"/>
              <a:defRPr/>
            </a:pP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3</a:t>
            </a:r>
            <a:r>
              <a:rPr lang="zh-CN" altLang="zh-CN" sz="2200" dirty="0">
                <a:latin typeface="宋体" panose="02010600030101010101" pitchFamily="2" charset="-122"/>
                <a:ea typeface="宋体" panose="02010600030101010101" pitchFamily="2" charset="-122"/>
              </a:rPr>
              <a:t>）产生式左部非终结符的综合属性只有在它所引用的所有属性都计算出来以后才能计算。这种语义规则通常可以放在产生式右部的末尾。</a:t>
            </a:r>
            <a:endParaRPr lang="zh-CN" altLang="en-US"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7687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665069" y="1995686"/>
            <a:ext cx="2505230" cy="1238438"/>
          </a:xfrm>
        </p:spPr>
        <p:style>
          <a:lnRef idx="2">
            <a:schemeClr val="accent2"/>
          </a:lnRef>
          <a:fillRef idx="1">
            <a:schemeClr val="lt1"/>
          </a:fillRef>
          <a:effectRef idx="0">
            <a:schemeClr val="accent2"/>
          </a:effectRef>
          <a:fontRef idx="minor">
            <a:schemeClr val="dk1"/>
          </a:fontRef>
        </p:style>
        <p:txBody>
          <a:bodyPr>
            <a:noAutofit/>
          </a:bodyPr>
          <a:lstStyle/>
          <a:p>
            <a:pPr marL="109728" indent="0">
              <a:buNone/>
            </a:pPr>
            <a:r>
              <a:rPr lang="zh-CN" altLang="en-US" sz="1800" dirty="0"/>
              <a:t>根结点的</a:t>
            </a:r>
            <a:r>
              <a:rPr lang="en-US" altLang="zh-CN" sz="1800" dirty="0" err="1"/>
              <a:t>val</a:t>
            </a:r>
            <a:r>
              <a:rPr lang="zh-CN" altLang="en-US" sz="1800" dirty="0"/>
              <a:t>值是把</a:t>
            </a:r>
            <a:r>
              <a:rPr lang="en-US" altLang="zh-CN" sz="1800" dirty="0"/>
              <a:t>+</a:t>
            </a:r>
            <a:r>
              <a:rPr lang="zh-CN" altLang="en-US" sz="1800" dirty="0"/>
              <a:t>左边所有文法符号的</a:t>
            </a:r>
            <a:r>
              <a:rPr lang="en-US" altLang="zh-CN" sz="1800" dirty="0" err="1"/>
              <a:t>val</a:t>
            </a:r>
            <a:r>
              <a:rPr lang="zh-CN" altLang="en-US" sz="1800" dirty="0"/>
              <a:t>和右边文法符号的</a:t>
            </a:r>
            <a:r>
              <a:rPr lang="en-US" altLang="zh-CN" sz="1800" dirty="0" err="1"/>
              <a:t>val</a:t>
            </a:r>
            <a:r>
              <a:rPr lang="zh-CN" altLang="en-US" sz="1800" dirty="0"/>
              <a:t>相加，是一个累加</a:t>
            </a:r>
          </a:p>
        </p:txBody>
      </p:sp>
      <p:sp>
        <p:nvSpPr>
          <p:cNvPr id="3" name="标题 2"/>
          <p:cNvSpPr>
            <a:spLocks noGrp="1"/>
          </p:cNvSpPr>
          <p:nvPr>
            <p:ph type="title"/>
          </p:nvPr>
        </p:nvSpPr>
        <p:spPr>
          <a:xfrm>
            <a:off x="0" y="-92546"/>
            <a:ext cx="8532440" cy="576064"/>
          </a:xfrm>
        </p:spPr>
        <p:txBody>
          <a:bodyPr>
            <a:normAutofit/>
          </a:bodyPr>
          <a:lstStyle/>
          <a:p>
            <a:r>
              <a:rPr lang="zh-CN" altLang="en-US" sz="2800" dirty="0"/>
              <a:t>带左递归的文法消除左递归时，翻译模式要随之改变</a:t>
            </a:r>
          </a:p>
        </p:txBody>
      </p:sp>
      <p:graphicFrame>
        <p:nvGraphicFramePr>
          <p:cNvPr id="4" name="表格 3"/>
          <p:cNvGraphicFramePr>
            <a:graphicFrameLocks noGrp="1"/>
          </p:cNvGraphicFramePr>
          <p:nvPr/>
        </p:nvGraphicFramePr>
        <p:xfrm>
          <a:off x="331281" y="649572"/>
          <a:ext cx="5040238" cy="1645920"/>
        </p:xfrm>
        <a:graphic>
          <a:graphicData uri="http://schemas.openxmlformats.org/drawingml/2006/table">
            <a:tbl>
              <a:tblPr firstRow="1" firstCol="1" bandRow="1"/>
              <a:tblGrid>
                <a:gridCol w="1504415">
                  <a:extLst>
                    <a:ext uri="{9D8B030D-6E8A-4147-A177-3AD203B41FA5}">
                      <a16:colId xmlns:a16="http://schemas.microsoft.com/office/drawing/2014/main" val="20000"/>
                    </a:ext>
                  </a:extLst>
                </a:gridCol>
                <a:gridCol w="3535823">
                  <a:extLst>
                    <a:ext uri="{9D8B030D-6E8A-4147-A177-3AD203B41FA5}">
                      <a16:colId xmlns:a16="http://schemas.microsoft.com/office/drawing/2014/main" val="20001"/>
                    </a:ext>
                  </a:extLst>
                </a:gridCol>
              </a:tblGrid>
              <a:tr h="27432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110490"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7160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pt-PT" sz="1600" kern="100" dirty="0">
                          <a:effectLst/>
                          <a:latin typeface="Times New Roman" panose="02020603050405020304" pitchFamily="18" charset="0"/>
                          <a:ea typeface="宋体" panose="02010600030101010101" pitchFamily="2" charset="-122"/>
                        </a:rPr>
                        <a:t>– </a:t>
                      </a:r>
                      <a:r>
                        <a:rPr lang="fr-FR" sz="1600" kern="100" dirty="0">
                          <a:effectLst/>
                          <a:latin typeface="Times New Roman" panose="02020603050405020304" pitchFamily="18" charset="0"/>
                          <a:ea typeface="宋体" panose="02010600030101010101" pitchFamily="2" charset="-122"/>
                        </a:rPr>
                        <a:t>T </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 E.val = 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.val + T.val}</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 E.val = 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.val </a:t>
                      </a:r>
                      <a:r>
                        <a:rPr lang="pt-PT" sz="1600" kern="100" dirty="0">
                          <a:effectLst/>
                          <a:latin typeface="Times New Roman" panose="02020603050405020304" pitchFamily="18" charset="0"/>
                          <a:ea typeface="宋体" panose="02010600030101010101" pitchFamily="2" charset="-122"/>
                        </a:rPr>
                        <a:t>– </a:t>
                      </a:r>
                      <a:r>
                        <a:rPr lang="fr-FR" sz="1600" kern="100" dirty="0">
                          <a:effectLst/>
                          <a:latin typeface="Times New Roman" panose="02020603050405020304" pitchFamily="18" charset="0"/>
                          <a:ea typeface="宋体" panose="02010600030101010101" pitchFamily="2" charset="-122"/>
                        </a:rPr>
                        <a:t>T.val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 E.val = T.val}</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 T.val = E.val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r>
                        <a:rPr lang="fr-FR" sz="1600" kern="100" dirty="0">
                          <a:effectLst/>
                          <a:latin typeface="Times New Roman" panose="02020603050405020304" pitchFamily="18" charset="0"/>
                          <a:ea typeface="宋体" panose="02010600030101010101" pitchFamily="2" charset="-122"/>
                        </a:rPr>
                        <a:t>{ T.val = </a:t>
                      </a:r>
                      <a:r>
                        <a:rPr lang="en-US" altLang="zh-CN" sz="1600" kern="100" dirty="0" err="1">
                          <a:effectLst/>
                          <a:latin typeface="Times New Roman" panose="02020603050405020304" pitchFamily="18" charset="0"/>
                          <a:ea typeface="宋体" panose="02010600030101010101" pitchFamily="2" charset="-122"/>
                        </a:rPr>
                        <a:t>i</a:t>
                      </a:r>
                      <a:r>
                        <a:rPr lang="fr-FR" sz="1600" kern="100" dirty="0">
                          <a:effectLst/>
                          <a:latin typeface="Times New Roman" panose="02020603050405020304" pitchFamily="18" charset="0"/>
                          <a:ea typeface="宋体" panose="02010600030101010101" pitchFamily="2" charset="-122"/>
                        </a:rPr>
                        <a:t>.lexval }</a:t>
                      </a:r>
                      <a:endParaRPr lang="zh-CN" sz="1600" kern="100" dirty="0">
                        <a:effectLst/>
                        <a:latin typeface="Times New Roman" panose="02020603050405020304" pitchFamily="18" charset="0"/>
                        <a:ea typeface="宋体" panose="02010600030101010101" pitchFamily="2" charset="-122"/>
                      </a:endParaRP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表格 4"/>
          <p:cNvGraphicFramePr>
            <a:graphicFrameLocks noGrp="1"/>
          </p:cNvGraphicFramePr>
          <p:nvPr/>
        </p:nvGraphicFramePr>
        <p:xfrm>
          <a:off x="179389" y="2976366"/>
          <a:ext cx="3240483" cy="1760220"/>
        </p:xfrm>
        <a:graphic>
          <a:graphicData uri="http://schemas.openxmlformats.org/drawingml/2006/table">
            <a:tbl>
              <a:tblPr firstRow="1" firstCol="1" bandRow="1"/>
              <a:tblGrid>
                <a:gridCol w="1728315">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tblGrid>
              <a:tr h="25146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508760">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pt-PT" sz="1600" kern="100" dirty="0">
                          <a:effectLst/>
                          <a:latin typeface="Times New Roman" panose="02020603050405020304" pitchFamily="18" charset="0"/>
                          <a:ea typeface="宋体" panose="02010600030101010101" pitchFamily="2" charset="-122"/>
                        </a:rPr>
                        <a:t> – </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en-US" alt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endParaRPr lang="zh-CN" sz="1600" kern="100" dirty="0">
                        <a:effectLst/>
                        <a:latin typeface="Times New Roman" panose="02020603050405020304" pitchFamily="18" charset="0"/>
                        <a:ea typeface="宋体" panose="02010600030101010101" pitchFamily="2" charset="-122"/>
                      </a:endParaRPr>
                    </a:p>
                    <a:p>
                      <a:pPr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6</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endParaRPr lang="zh-CN" sz="1600" kern="100" dirty="0">
                        <a:effectLst/>
                        <a:latin typeface="Times New Roman" panose="02020603050405020304" pitchFamily="18" charset="0"/>
                        <a:ea typeface="宋体" panose="02010600030101010101" pitchFamily="2" charset="-122"/>
                      </a:endParaRP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 name="矩形 5"/>
          <p:cNvSpPr/>
          <p:nvPr/>
        </p:nvSpPr>
        <p:spPr>
          <a:xfrm>
            <a:off x="288148" y="2332053"/>
            <a:ext cx="5040560" cy="338554"/>
          </a:xfrm>
          <a:prstGeom prst="rect">
            <a:avLst/>
          </a:prstGeom>
        </p:spPr>
        <p:txBody>
          <a:bodyPr wrap="square">
            <a:spAutoFit/>
          </a:bodyPr>
          <a:lstStyle/>
          <a:p>
            <a:pPr eaLnBrk="1" hangingPunct="1">
              <a:buFontTx/>
              <a:buNone/>
              <a:defRPr/>
            </a:pPr>
            <a:r>
              <a:rPr lang="zh-CN" altLang="en-US" sz="1600" kern="100" dirty="0">
                <a:latin typeface="宋体" panose="02010600030101010101" pitchFamily="2" charset="-122"/>
                <a:ea typeface="宋体" panose="02010600030101010101" pitchFamily="2" charset="-122"/>
                <a:cs typeface="Times New Roman" panose="02020603050405020304" pitchFamily="18" charset="0"/>
              </a:rPr>
              <a:t>只带加减运算的</a:t>
            </a:r>
            <a:r>
              <a:rPr lang="zh-CN" altLang="zh-CN" sz="1600" kern="100" dirty="0">
                <a:latin typeface="宋体" panose="02010600030101010101" pitchFamily="2" charset="-122"/>
                <a:ea typeface="宋体" panose="02010600030101010101" pitchFamily="2" charset="-122"/>
                <a:cs typeface="Times New Roman" panose="02020603050405020304" pitchFamily="18" charset="0"/>
              </a:rPr>
              <a:t>算术表达式的左递归文法及翻译模式</a:t>
            </a:r>
            <a:endParaRPr lang="zh-CN" altLang="en-US" sz="1600" dirty="0">
              <a:latin typeface="宋体" panose="02010600030101010101" pitchFamily="2" charset="-122"/>
              <a:ea typeface="宋体" panose="02010600030101010101" pitchFamily="2" charset="-122"/>
            </a:endParaRPr>
          </a:p>
        </p:txBody>
      </p:sp>
      <p:sp>
        <p:nvSpPr>
          <p:cNvPr id="7" name="矩形 6"/>
          <p:cNvSpPr/>
          <p:nvPr/>
        </p:nvSpPr>
        <p:spPr>
          <a:xfrm>
            <a:off x="28065" y="4753476"/>
            <a:ext cx="4183895" cy="338554"/>
          </a:xfrm>
          <a:prstGeom prst="rect">
            <a:avLst/>
          </a:prstGeom>
          <a:solidFill>
            <a:schemeClr val="bg1"/>
          </a:solidFill>
        </p:spPr>
        <p:txBody>
          <a:bodyPr wrap="square">
            <a:spAutoFit/>
          </a:bodyPr>
          <a:lstStyle/>
          <a:p>
            <a:r>
              <a:rPr lang="zh-CN" altLang="en-US" sz="1600" kern="100" dirty="0">
                <a:latin typeface="宋体" panose="02010600030101010101" pitchFamily="2" charset="-122"/>
                <a:ea typeface="宋体" panose="02010600030101010101" pitchFamily="2" charset="-122"/>
                <a:cs typeface="Times New Roman" panose="02020603050405020304" pitchFamily="18" charset="0"/>
              </a:rPr>
              <a:t>只带加减运算的</a:t>
            </a:r>
            <a:r>
              <a:rPr lang="zh-CN" altLang="zh-CN" sz="1600" kern="100" dirty="0">
                <a:latin typeface="宋体" panose="02010600030101010101" pitchFamily="2" charset="-122"/>
                <a:ea typeface="宋体" panose="02010600030101010101" pitchFamily="2" charset="-122"/>
                <a:cs typeface="Times New Roman" panose="02020603050405020304" pitchFamily="18" charset="0"/>
              </a:rPr>
              <a:t>算术表达式的非左递归文法</a:t>
            </a:r>
            <a:endParaRPr lang="zh-CN" altLang="en-US" sz="1600"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8" name="矩形 7"/>
          <p:cNvSpPr/>
          <p:nvPr/>
        </p:nvSpPr>
        <p:spPr>
          <a:xfrm>
            <a:off x="2124917" y="3399143"/>
            <a:ext cx="880369" cy="923330"/>
          </a:xfrm>
          <a:prstGeom prst="rect">
            <a:avLst/>
          </a:prstGeom>
          <a:noFill/>
        </p:spPr>
        <p:txBody>
          <a:bodyPr wrap="none" lIns="91440" tIns="45720" rIns="91440" bIns="45720">
            <a:spAutoFit/>
          </a:bodyPr>
          <a:lstStyle/>
          <a:p>
            <a:pPr algn="ctr"/>
            <a:r>
              <a:rPr lang="zh-CN" alt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p>
        </p:txBody>
      </p:sp>
      <p:sp>
        <p:nvSpPr>
          <p:cNvPr id="9" name="TextBox 8"/>
          <p:cNvSpPr txBox="1"/>
          <p:nvPr/>
        </p:nvSpPr>
        <p:spPr>
          <a:xfrm>
            <a:off x="5724128" y="483518"/>
            <a:ext cx="3419872" cy="369332"/>
          </a:xfrm>
          <a:prstGeom prst="rect">
            <a:avLst/>
          </a:prstGeom>
          <a:noFill/>
        </p:spPr>
        <p:txBody>
          <a:bodyPr wrap="square" rtlCol="0">
            <a:spAutoFit/>
          </a:bodyPr>
          <a:lstStyle/>
          <a:p>
            <a:r>
              <a:rPr lang="zh-CN" altLang="en-US" dirty="0">
                <a:solidFill>
                  <a:srgbClr val="FF0000"/>
                </a:solidFill>
              </a:rPr>
              <a:t>考虑句型  </a:t>
            </a:r>
            <a:r>
              <a:rPr lang="en-US" altLang="zh-CN" dirty="0">
                <a:solidFill>
                  <a:srgbClr val="FF0000"/>
                </a:solidFill>
              </a:rPr>
              <a:t>T+T+T </a:t>
            </a:r>
            <a:r>
              <a:rPr lang="zh-CN" altLang="en-US" dirty="0">
                <a:solidFill>
                  <a:srgbClr val="FF0000"/>
                </a:solidFill>
              </a:rPr>
              <a:t>的语法树</a:t>
            </a:r>
          </a:p>
        </p:txBody>
      </p:sp>
      <p:grpSp>
        <p:nvGrpSpPr>
          <p:cNvPr id="12" name="组合 11"/>
          <p:cNvGrpSpPr/>
          <p:nvPr/>
        </p:nvGrpSpPr>
        <p:grpSpPr>
          <a:xfrm>
            <a:off x="5796136" y="744701"/>
            <a:ext cx="2376264" cy="1827049"/>
            <a:chOff x="6012160" y="843558"/>
            <a:chExt cx="2376264" cy="2150948"/>
          </a:xfrm>
        </p:grpSpPr>
        <p:sp>
          <p:nvSpPr>
            <p:cNvPr id="10" name="TextBox 9"/>
            <p:cNvSpPr txBox="1"/>
            <p:nvPr/>
          </p:nvSpPr>
          <p:spPr>
            <a:xfrm>
              <a:off x="7164288" y="843558"/>
              <a:ext cx="648072" cy="369332"/>
            </a:xfrm>
            <a:prstGeom prst="rect">
              <a:avLst/>
            </a:prstGeom>
            <a:noFill/>
          </p:spPr>
          <p:txBody>
            <a:bodyPr wrap="square" rtlCol="0">
              <a:spAutoFit/>
            </a:bodyPr>
            <a:lstStyle/>
            <a:p>
              <a:r>
                <a:rPr lang="en-US" altLang="zh-CN" dirty="0"/>
                <a:t>E</a:t>
              </a:r>
              <a:endParaRPr lang="zh-CN" altLang="en-US" dirty="0"/>
            </a:p>
          </p:txBody>
        </p:sp>
        <p:sp>
          <p:nvSpPr>
            <p:cNvPr id="11" name="TextBox 10"/>
            <p:cNvSpPr txBox="1"/>
            <p:nvPr/>
          </p:nvSpPr>
          <p:spPr>
            <a:xfrm>
              <a:off x="6588224" y="1401038"/>
              <a:ext cx="1800200" cy="369332"/>
            </a:xfrm>
            <a:prstGeom prst="rect">
              <a:avLst/>
            </a:prstGeom>
            <a:noFill/>
          </p:spPr>
          <p:txBody>
            <a:bodyPr wrap="square" rtlCol="0">
              <a:spAutoFit/>
            </a:bodyPr>
            <a:lstStyle/>
            <a:p>
              <a:r>
                <a:rPr lang="en-US" altLang="zh-CN" dirty="0"/>
                <a:t>E</a:t>
              </a:r>
              <a:r>
                <a:rPr lang="en-US" altLang="zh-CN" baseline="-25000" dirty="0"/>
                <a:t>1</a:t>
              </a:r>
              <a:r>
                <a:rPr lang="en-US" altLang="zh-CN" dirty="0"/>
                <a:t>     +       T</a:t>
              </a:r>
              <a:endParaRPr lang="zh-CN" altLang="en-US" dirty="0"/>
            </a:p>
          </p:txBody>
        </p:sp>
        <p:cxnSp>
          <p:nvCxnSpPr>
            <p:cNvPr id="13" name="直接连接符 12"/>
            <p:cNvCxnSpPr/>
            <p:nvPr/>
          </p:nvCxnSpPr>
          <p:spPr>
            <a:xfrm flipH="1">
              <a:off x="6732240" y="1159485"/>
              <a:ext cx="599238"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flipV="1">
              <a:off x="7331478" y="1159485"/>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331478" y="1159485"/>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012160" y="1977102"/>
              <a:ext cx="1800200" cy="369332"/>
            </a:xfrm>
            <a:prstGeom prst="rect">
              <a:avLst/>
            </a:prstGeom>
            <a:noFill/>
          </p:spPr>
          <p:txBody>
            <a:bodyPr wrap="square" rtlCol="0">
              <a:spAutoFit/>
            </a:bodyPr>
            <a:lstStyle/>
            <a:p>
              <a:r>
                <a:rPr lang="en-US" altLang="zh-CN" dirty="0"/>
                <a:t>E</a:t>
              </a:r>
              <a:r>
                <a:rPr lang="en-US" altLang="zh-CN" baseline="-25000" dirty="0"/>
                <a:t>1</a:t>
              </a:r>
              <a:r>
                <a:rPr lang="en-US" altLang="zh-CN" dirty="0"/>
                <a:t>     +       T</a:t>
              </a:r>
              <a:endParaRPr lang="zh-CN" altLang="en-US" dirty="0"/>
            </a:p>
          </p:txBody>
        </p:sp>
        <p:cxnSp>
          <p:nvCxnSpPr>
            <p:cNvPr id="27" name="直接连接符 26"/>
            <p:cNvCxnSpPr/>
            <p:nvPr/>
          </p:nvCxnSpPr>
          <p:spPr>
            <a:xfrm flipH="1">
              <a:off x="6156176" y="1735549"/>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6755414" y="1735549"/>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755414" y="1735549"/>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012160" y="2625174"/>
              <a:ext cx="360040" cy="369332"/>
            </a:xfrm>
            <a:prstGeom prst="rect">
              <a:avLst/>
            </a:prstGeom>
            <a:noFill/>
          </p:spPr>
          <p:txBody>
            <a:bodyPr wrap="square" rtlCol="0">
              <a:spAutoFit/>
            </a:bodyPr>
            <a:lstStyle/>
            <a:p>
              <a:r>
                <a:rPr lang="en-US" altLang="zh-CN" dirty="0"/>
                <a:t>T</a:t>
              </a:r>
              <a:endParaRPr lang="zh-CN" altLang="en-US" dirty="0"/>
            </a:p>
          </p:txBody>
        </p:sp>
        <p:cxnSp>
          <p:nvCxnSpPr>
            <p:cNvPr id="35" name="直接连接符 34"/>
            <p:cNvCxnSpPr/>
            <p:nvPr/>
          </p:nvCxnSpPr>
          <p:spPr>
            <a:xfrm>
              <a:off x="6179350" y="2311613"/>
              <a:ext cx="0" cy="3132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3720735" y="2768843"/>
            <a:ext cx="3191525" cy="2467203"/>
            <a:chOff x="3720735" y="2768843"/>
            <a:chExt cx="3191525" cy="2467203"/>
          </a:xfrm>
        </p:grpSpPr>
        <p:sp>
          <p:nvSpPr>
            <p:cNvPr id="36" name="TextBox 35"/>
            <p:cNvSpPr txBox="1"/>
            <p:nvPr/>
          </p:nvSpPr>
          <p:spPr>
            <a:xfrm>
              <a:off x="4296799" y="2768843"/>
              <a:ext cx="648072" cy="369332"/>
            </a:xfrm>
            <a:prstGeom prst="rect">
              <a:avLst/>
            </a:prstGeom>
            <a:noFill/>
          </p:spPr>
          <p:txBody>
            <a:bodyPr wrap="square" rtlCol="0">
              <a:spAutoFit/>
            </a:bodyPr>
            <a:lstStyle/>
            <a:p>
              <a:r>
                <a:rPr lang="en-US" altLang="zh-CN" dirty="0"/>
                <a:t>E</a:t>
              </a:r>
              <a:endParaRPr lang="zh-CN" altLang="en-US" dirty="0"/>
            </a:p>
          </p:txBody>
        </p:sp>
        <p:sp>
          <p:nvSpPr>
            <p:cNvPr id="37" name="TextBox 36"/>
            <p:cNvSpPr txBox="1"/>
            <p:nvPr/>
          </p:nvSpPr>
          <p:spPr>
            <a:xfrm>
              <a:off x="3720735" y="3263607"/>
              <a:ext cx="1800200" cy="369332"/>
            </a:xfrm>
            <a:prstGeom prst="rect">
              <a:avLst/>
            </a:prstGeom>
            <a:noFill/>
          </p:spPr>
          <p:txBody>
            <a:bodyPr wrap="square" rtlCol="0">
              <a:spAutoFit/>
            </a:bodyPr>
            <a:lstStyle/>
            <a:p>
              <a:r>
                <a:rPr lang="en-US" altLang="zh-CN" dirty="0"/>
                <a:t>T               E</a:t>
              </a:r>
              <a:r>
                <a:rPr lang="pt-PT" altLang="zh-CN" kern="100" dirty="0">
                  <a:latin typeface="Times New Roman" panose="02020603050405020304" pitchFamily="18" charset="0"/>
                  <a:ea typeface="宋体" panose="02010600030101010101" pitchFamily="2" charset="-122"/>
                </a:rPr>
                <a:t>'</a:t>
              </a:r>
              <a:endParaRPr lang="zh-CN" altLang="en-US" dirty="0"/>
            </a:p>
          </p:txBody>
        </p:sp>
        <p:cxnSp>
          <p:nvCxnSpPr>
            <p:cNvPr id="38" name="直接连接符 37"/>
            <p:cNvCxnSpPr/>
            <p:nvPr/>
          </p:nvCxnSpPr>
          <p:spPr>
            <a:xfrm flipH="1">
              <a:off x="3864751" y="3084770"/>
              <a:ext cx="599238"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4463989" y="3084770"/>
              <a:ext cx="648071" cy="299877"/>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440787" y="3802484"/>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42" name="直接连接符 41"/>
            <p:cNvCxnSpPr/>
            <p:nvPr/>
          </p:nvCxnSpPr>
          <p:spPr>
            <a:xfrm flipH="1">
              <a:off x="4584803" y="3560931"/>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flipV="1">
              <a:off x="5184041" y="3560931"/>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184041" y="356093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395372" y="4835936"/>
              <a:ext cx="336868" cy="400110"/>
            </a:xfrm>
            <a:prstGeom prst="rect">
              <a:avLst/>
            </a:prstGeom>
            <a:noFill/>
          </p:spPr>
          <p:txBody>
            <a:bodyPr wrap="square" rtlCol="0">
              <a:spAutoFit/>
            </a:bodyPr>
            <a:lstStyle/>
            <a:p>
              <a:r>
                <a:rPr lang="en-US" altLang="zh-CN" sz="2000" kern="100" dirty="0">
                  <a:latin typeface="Times New Roman" panose="02020603050405020304" pitchFamily="18" charset="0"/>
                  <a:ea typeface="宋体" panose="02010600030101010101" pitchFamily="2" charset="-122"/>
                  <a:sym typeface="Symbol" panose="05050102010706020507" pitchFamily="18" charset="2"/>
                </a:rPr>
                <a:t></a:t>
              </a:r>
              <a:endParaRPr lang="zh-CN" altLang="en-US" sz="2000" dirty="0"/>
            </a:p>
          </p:txBody>
        </p:sp>
        <p:cxnSp>
          <p:nvCxnSpPr>
            <p:cNvPr id="46" name="直接连接符 45"/>
            <p:cNvCxnSpPr/>
            <p:nvPr/>
          </p:nvCxnSpPr>
          <p:spPr>
            <a:xfrm>
              <a:off x="6503385" y="463472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112060" y="4341361"/>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34" name="直接连接符 33"/>
            <p:cNvCxnSpPr/>
            <p:nvPr/>
          </p:nvCxnSpPr>
          <p:spPr>
            <a:xfrm flipH="1">
              <a:off x="5256076" y="4099808"/>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flipV="1">
              <a:off x="5855314" y="4099808"/>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855314" y="4099808"/>
              <a:ext cx="0" cy="313293"/>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内容占位符 1"/>
          <p:cNvSpPr txBox="1">
            <a:spLocks/>
          </p:cNvSpPr>
          <p:nvPr/>
        </p:nvSpPr>
        <p:spPr>
          <a:xfrm>
            <a:off x="6679825" y="3335968"/>
            <a:ext cx="2505230" cy="1807532"/>
          </a:xfrm>
          <a:prstGeom prst="rect">
            <a:avLst/>
          </a:prstGeom>
        </p:spPr>
        <p:style>
          <a:lnRef idx="2">
            <a:schemeClr val="accent2"/>
          </a:lnRef>
          <a:fillRef idx="1">
            <a:schemeClr val="lt1"/>
          </a:fillRef>
          <a:effectRef idx="0">
            <a:schemeClr val="accent2"/>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109728" indent="0">
              <a:buNone/>
            </a:pPr>
            <a:r>
              <a:rPr lang="zh-CN" altLang="en-US" sz="1800" dirty="0"/>
              <a:t>改造为右递归，根结点的</a:t>
            </a:r>
            <a:r>
              <a:rPr lang="en-US" altLang="zh-CN" sz="1800" dirty="0" err="1"/>
              <a:t>val</a:t>
            </a:r>
            <a:r>
              <a:rPr lang="zh-CN" altLang="en-US" sz="1800" dirty="0"/>
              <a:t>值是把</a:t>
            </a:r>
            <a:r>
              <a:rPr lang="en-US" altLang="zh-CN" sz="1800" dirty="0"/>
              <a:t>+</a:t>
            </a:r>
            <a:r>
              <a:rPr lang="zh-CN" altLang="en-US" sz="1800" dirty="0"/>
              <a:t>左边文法符号</a:t>
            </a:r>
            <a:r>
              <a:rPr lang="en-US" altLang="zh-CN" sz="1800" dirty="0"/>
              <a:t>T</a:t>
            </a:r>
            <a:r>
              <a:rPr lang="zh-CN" altLang="en-US" sz="1800" dirty="0"/>
              <a:t>的</a:t>
            </a:r>
            <a:r>
              <a:rPr lang="en-US" altLang="zh-CN" sz="1800" dirty="0" err="1"/>
              <a:t>val</a:t>
            </a:r>
            <a:r>
              <a:rPr lang="zh-CN" altLang="en-US" sz="1800" dirty="0"/>
              <a:t>和右边文法符号的</a:t>
            </a:r>
            <a:r>
              <a:rPr lang="en-US" altLang="zh-CN" sz="1800" dirty="0" err="1"/>
              <a:t>val</a:t>
            </a:r>
            <a:r>
              <a:rPr lang="zh-CN" altLang="en-US" sz="1800" dirty="0"/>
              <a:t>相加，是随着产生式扩展逐步累加</a:t>
            </a:r>
          </a:p>
        </p:txBody>
      </p:sp>
    </p:spTree>
    <p:extLst>
      <p:ext uri="{BB962C8B-B14F-4D97-AF65-F5344CB8AC3E}">
        <p14:creationId xmlns:p14="http://schemas.microsoft.com/office/powerpoint/2010/main" val="9717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bg/>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6" grpId="0"/>
      <p:bldP spid="7" grpId="0" animBg="1"/>
      <p:bldP spid="8" grpId="0"/>
      <p:bldP spid="9" grpId="0"/>
      <p:bldP spid="4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92546"/>
            <a:ext cx="8532440" cy="576064"/>
          </a:xfrm>
        </p:spPr>
        <p:txBody>
          <a:bodyPr>
            <a:normAutofit/>
          </a:bodyPr>
          <a:lstStyle/>
          <a:p>
            <a:r>
              <a:rPr lang="zh-CN" altLang="en-US" sz="2800" dirty="0"/>
              <a:t>带左递归的文法消除左递归时，翻译模式要随之改变</a:t>
            </a:r>
          </a:p>
        </p:txBody>
      </p:sp>
      <p:graphicFrame>
        <p:nvGraphicFramePr>
          <p:cNvPr id="5" name="表格 4"/>
          <p:cNvGraphicFramePr>
            <a:graphicFrameLocks noGrp="1"/>
          </p:cNvGraphicFramePr>
          <p:nvPr/>
        </p:nvGraphicFramePr>
        <p:xfrm>
          <a:off x="136623" y="668184"/>
          <a:ext cx="5587505" cy="1760220"/>
        </p:xfrm>
        <a:graphic>
          <a:graphicData uri="http://schemas.openxmlformats.org/drawingml/2006/table">
            <a:tbl>
              <a:tblPr firstRow="1" firstCol="1" bandRow="1"/>
              <a:tblGrid>
                <a:gridCol w="1627065">
                  <a:extLst>
                    <a:ext uri="{9D8B030D-6E8A-4147-A177-3AD203B41FA5}">
                      <a16:colId xmlns:a16="http://schemas.microsoft.com/office/drawing/2014/main" val="20000"/>
                    </a:ext>
                  </a:extLst>
                </a:gridCol>
                <a:gridCol w="3960440">
                  <a:extLst>
                    <a:ext uri="{9D8B030D-6E8A-4147-A177-3AD203B41FA5}">
                      <a16:colId xmlns:a16="http://schemas.microsoft.com/office/drawing/2014/main" val="20001"/>
                    </a:ext>
                  </a:extLst>
                </a:gridCol>
              </a:tblGrid>
              <a:tr h="25146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508760">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pt-PT" sz="1600" kern="100" dirty="0">
                          <a:effectLst/>
                          <a:latin typeface="Times New Roman" panose="02020603050405020304" pitchFamily="18" charset="0"/>
                          <a:ea typeface="宋体" panose="02010600030101010101" pitchFamily="2" charset="-122"/>
                        </a:rPr>
                        <a:t> – </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en-US" alt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endParaRPr lang="zh-CN" sz="1600" kern="100" dirty="0">
                        <a:effectLst/>
                        <a:latin typeface="Times New Roman" panose="02020603050405020304" pitchFamily="18" charset="0"/>
                        <a:ea typeface="宋体" panose="02010600030101010101" pitchFamily="2" charset="-122"/>
                      </a:endParaRPr>
                    </a:p>
                    <a:p>
                      <a:pPr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6</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endParaRPr lang="pt-PT" altLang="zh-CN" sz="1600" kern="100" dirty="0">
                        <a:effectLst/>
                        <a:latin typeface="Times New Roman" panose="02020603050405020304" pitchFamily="18" charset="0"/>
                        <a:ea typeface="宋体" panose="02010600030101010101" pitchFamily="2" charset="-122"/>
                      </a:endParaRPr>
                    </a:p>
                    <a:p>
                      <a:pPr marL="635" indent="-635" algn="just">
                        <a:spcAft>
                          <a:spcPts val="0"/>
                        </a:spcAft>
                      </a:pPr>
                      <a:endParaRPr lang="pt-PT" altLang="zh-CN" sz="1600" kern="100" dirty="0">
                        <a:effectLst/>
                        <a:latin typeface="Times New Roman" panose="02020603050405020304" pitchFamily="18" charset="0"/>
                        <a:ea typeface="宋体" panose="02010600030101010101" pitchFamily="2" charset="-122"/>
                      </a:endParaRPr>
                    </a:p>
                    <a:p>
                      <a:pPr marL="635" marR="0" indent="-635" algn="just" defTabSz="914400" rtl="0" eaLnBrk="1" fontAlgn="auto" latinLnBrk="0" hangingPunct="1">
                        <a:lnSpc>
                          <a:spcPct val="100000"/>
                        </a:lnSpc>
                        <a:spcBef>
                          <a:spcPts val="0"/>
                        </a:spcBef>
                        <a:spcAft>
                          <a:spcPts val="0"/>
                        </a:spcAft>
                        <a:buClrTx/>
                        <a:buSzTx/>
                        <a:buFontTx/>
                        <a:buNone/>
                        <a:tabLst/>
                        <a:defRPr/>
                      </a:pPr>
                      <a:endParaRPr lang="pt-PT" altLang="zh-CN" sz="1600" kern="100" dirty="0">
                        <a:effectLst/>
                        <a:latin typeface="Times New Roman" panose="02020603050405020304" pitchFamily="18" charset="0"/>
                        <a:ea typeface="宋体" panose="02010600030101010101" pitchFamily="2" charset="-122"/>
                      </a:endParaRPr>
                    </a:p>
                    <a:p>
                      <a:pPr marL="635" indent="-635" algn="just">
                        <a:spcAft>
                          <a:spcPts val="0"/>
                        </a:spcAft>
                      </a:pPr>
                      <a:endParaRPr lang="pt-PT" altLang="zh-CN" sz="1600" kern="100" dirty="0">
                        <a:solidFill>
                          <a:srgbClr val="FF0000"/>
                        </a:solidFill>
                        <a:effectLst/>
                        <a:latin typeface="Times New Roman" panose="02020603050405020304" pitchFamily="18" charset="0"/>
                        <a:ea typeface="宋体" panose="02010600030101010101" pitchFamily="2" charset="-122"/>
                      </a:endParaRPr>
                    </a:p>
                    <a:p>
                      <a:pPr marL="635" indent="-635" algn="just">
                        <a:spcAft>
                          <a:spcPts val="0"/>
                        </a:spcAft>
                      </a:pPr>
                      <a:endParaRPr lang="fr-FR" altLang="zh-CN" sz="1600" kern="100" dirty="0">
                        <a:effectLst/>
                        <a:latin typeface="Times New Roman" panose="02020603050405020304" pitchFamily="18" charset="0"/>
                        <a:ea typeface="宋体" panose="02010600030101010101" pitchFamily="2" charset="-122"/>
                      </a:endParaRP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9" name="TextBox 8"/>
          <p:cNvSpPr txBox="1"/>
          <p:nvPr/>
        </p:nvSpPr>
        <p:spPr>
          <a:xfrm>
            <a:off x="5724128" y="483518"/>
            <a:ext cx="3419872" cy="369332"/>
          </a:xfrm>
          <a:prstGeom prst="rect">
            <a:avLst/>
          </a:prstGeom>
          <a:noFill/>
        </p:spPr>
        <p:txBody>
          <a:bodyPr wrap="square" rtlCol="0">
            <a:spAutoFit/>
          </a:bodyPr>
          <a:lstStyle/>
          <a:p>
            <a:r>
              <a:rPr lang="zh-CN" altLang="en-US" dirty="0">
                <a:solidFill>
                  <a:srgbClr val="FF0000"/>
                </a:solidFill>
              </a:rPr>
              <a:t>考虑句型  </a:t>
            </a:r>
            <a:r>
              <a:rPr lang="en-US" altLang="zh-CN" dirty="0">
                <a:solidFill>
                  <a:srgbClr val="FF0000"/>
                </a:solidFill>
              </a:rPr>
              <a:t>T+T+T </a:t>
            </a:r>
            <a:r>
              <a:rPr lang="zh-CN" altLang="en-US" dirty="0">
                <a:solidFill>
                  <a:srgbClr val="FF0000"/>
                </a:solidFill>
              </a:rPr>
              <a:t>的语法树</a:t>
            </a:r>
          </a:p>
        </p:txBody>
      </p:sp>
      <p:grpSp>
        <p:nvGrpSpPr>
          <p:cNvPr id="16" name="组合 15"/>
          <p:cNvGrpSpPr/>
          <p:nvPr/>
        </p:nvGrpSpPr>
        <p:grpSpPr>
          <a:xfrm>
            <a:off x="2659003" y="2753548"/>
            <a:ext cx="3569181" cy="2467203"/>
            <a:chOff x="3720735" y="2768843"/>
            <a:chExt cx="3191525" cy="2467203"/>
          </a:xfrm>
        </p:grpSpPr>
        <p:sp>
          <p:nvSpPr>
            <p:cNvPr id="36" name="TextBox 35"/>
            <p:cNvSpPr txBox="1"/>
            <p:nvPr/>
          </p:nvSpPr>
          <p:spPr>
            <a:xfrm>
              <a:off x="4296799" y="2768843"/>
              <a:ext cx="648072" cy="369332"/>
            </a:xfrm>
            <a:prstGeom prst="rect">
              <a:avLst/>
            </a:prstGeom>
            <a:noFill/>
          </p:spPr>
          <p:txBody>
            <a:bodyPr wrap="square" rtlCol="0">
              <a:spAutoFit/>
            </a:bodyPr>
            <a:lstStyle/>
            <a:p>
              <a:r>
                <a:rPr lang="en-US" altLang="zh-CN" dirty="0"/>
                <a:t>E</a:t>
              </a:r>
              <a:endParaRPr lang="zh-CN" altLang="en-US" dirty="0"/>
            </a:p>
          </p:txBody>
        </p:sp>
        <p:sp>
          <p:nvSpPr>
            <p:cNvPr id="37" name="TextBox 36"/>
            <p:cNvSpPr txBox="1"/>
            <p:nvPr/>
          </p:nvSpPr>
          <p:spPr>
            <a:xfrm>
              <a:off x="3720735" y="3263607"/>
              <a:ext cx="1800200" cy="369332"/>
            </a:xfrm>
            <a:prstGeom prst="rect">
              <a:avLst/>
            </a:prstGeom>
            <a:noFill/>
          </p:spPr>
          <p:txBody>
            <a:bodyPr wrap="square" rtlCol="0">
              <a:spAutoFit/>
            </a:bodyPr>
            <a:lstStyle/>
            <a:p>
              <a:r>
                <a:rPr lang="en-US" altLang="zh-CN" dirty="0"/>
                <a:t>T                  E</a:t>
              </a:r>
              <a:r>
                <a:rPr lang="pt-PT" altLang="zh-CN" kern="100" dirty="0">
                  <a:latin typeface="Times New Roman" panose="02020603050405020304" pitchFamily="18" charset="0"/>
                  <a:ea typeface="宋体" panose="02010600030101010101" pitchFamily="2" charset="-122"/>
                </a:rPr>
                <a:t>'</a:t>
              </a:r>
              <a:endParaRPr lang="zh-CN" altLang="en-US" dirty="0"/>
            </a:p>
          </p:txBody>
        </p:sp>
        <p:cxnSp>
          <p:nvCxnSpPr>
            <p:cNvPr id="38" name="直接连接符 37"/>
            <p:cNvCxnSpPr/>
            <p:nvPr/>
          </p:nvCxnSpPr>
          <p:spPr>
            <a:xfrm flipH="1">
              <a:off x="3864751" y="3084770"/>
              <a:ext cx="599238"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4463989" y="3084770"/>
              <a:ext cx="648071" cy="299877"/>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440787" y="3802484"/>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42" name="直接连接符 41"/>
            <p:cNvCxnSpPr/>
            <p:nvPr/>
          </p:nvCxnSpPr>
          <p:spPr>
            <a:xfrm flipH="1">
              <a:off x="4584803" y="3560931"/>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flipV="1">
              <a:off x="5184041" y="3560931"/>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184041" y="356093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395372" y="4835936"/>
              <a:ext cx="336868" cy="400110"/>
            </a:xfrm>
            <a:prstGeom prst="rect">
              <a:avLst/>
            </a:prstGeom>
            <a:noFill/>
          </p:spPr>
          <p:txBody>
            <a:bodyPr wrap="square" rtlCol="0">
              <a:spAutoFit/>
            </a:bodyPr>
            <a:lstStyle/>
            <a:p>
              <a:r>
                <a:rPr lang="en-US" altLang="zh-CN" sz="2000" kern="100" dirty="0">
                  <a:latin typeface="Times New Roman" panose="02020603050405020304" pitchFamily="18" charset="0"/>
                  <a:ea typeface="宋体" panose="02010600030101010101" pitchFamily="2" charset="-122"/>
                  <a:sym typeface="Symbol" panose="05050102010706020507" pitchFamily="18" charset="2"/>
                </a:rPr>
                <a:t></a:t>
              </a:r>
              <a:endParaRPr lang="zh-CN" altLang="en-US" sz="2000" dirty="0"/>
            </a:p>
          </p:txBody>
        </p:sp>
        <p:cxnSp>
          <p:nvCxnSpPr>
            <p:cNvPr id="46" name="直接连接符 45"/>
            <p:cNvCxnSpPr/>
            <p:nvPr/>
          </p:nvCxnSpPr>
          <p:spPr>
            <a:xfrm>
              <a:off x="6503385" y="463472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112060" y="4341361"/>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34" name="直接连接符 33"/>
            <p:cNvCxnSpPr/>
            <p:nvPr/>
          </p:nvCxnSpPr>
          <p:spPr>
            <a:xfrm flipH="1">
              <a:off x="5256076" y="4099808"/>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flipV="1">
              <a:off x="5855314" y="4099808"/>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855314" y="4099808"/>
              <a:ext cx="0" cy="313293"/>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内容占位符 1"/>
          <p:cNvSpPr txBox="1">
            <a:spLocks/>
          </p:cNvSpPr>
          <p:nvPr/>
        </p:nvSpPr>
        <p:spPr>
          <a:xfrm>
            <a:off x="6026862" y="1058459"/>
            <a:ext cx="2948931" cy="2189166"/>
          </a:xfrm>
          <a:prstGeom prst="rect">
            <a:avLst/>
          </a:prstGeom>
        </p:spPr>
        <p:style>
          <a:lnRef idx="2">
            <a:schemeClr val="accent2"/>
          </a:lnRef>
          <a:fillRef idx="1">
            <a:schemeClr val="lt1"/>
          </a:fillRef>
          <a:effectRef idx="0">
            <a:schemeClr val="accent2"/>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109728" indent="0">
              <a:buNone/>
            </a:pPr>
            <a:r>
              <a:rPr lang="zh-CN" altLang="en-US" sz="1800" dirty="0">
                <a:solidFill>
                  <a:srgbClr val="FF0000"/>
                </a:solidFill>
              </a:rPr>
              <a:t>为</a:t>
            </a:r>
            <a:r>
              <a:rPr lang="fr-FR" altLang="zh-CN" sz="1800" kern="100" dirty="0">
                <a:solidFill>
                  <a:srgbClr val="FF0000"/>
                </a:solidFill>
                <a:latin typeface="Times New Roman" panose="02020603050405020304" pitchFamily="18" charset="0"/>
              </a:rPr>
              <a:t>E</a:t>
            </a:r>
            <a:r>
              <a:rPr lang="pt-PT" altLang="zh-CN" sz="1800" kern="100" dirty="0">
                <a:solidFill>
                  <a:srgbClr val="FF0000"/>
                </a:solidFill>
                <a:latin typeface="Times New Roman" panose="02020603050405020304" pitchFamily="18" charset="0"/>
              </a:rPr>
              <a:t>'</a:t>
            </a:r>
            <a:r>
              <a:rPr lang="zh-CN" altLang="en-US" sz="1800" dirty="0">
                <a:solidFill>
                  <a:srgbClr val="FF0000"/>
                </a:solidFill>
              </a:rPr>
              <a:t>设置两个属性</a:t>
            </a:r>
            <a:endParaRPr lang="en-US" altLang="zh-CN" sz="1800" dirty="0">
              <a:solidFill>
                <a:srgbClr val="FF0000"/>
              </a:solidFill>
            </a:endParaRPr>
          </a:p>
          <a:p>
            <a:pPr marL="109728" indent="0">
              <a:buNone/>
            </a:pPr>
            <a:r>
              <a:rPr lang="fr-FR" altLang="zh-CN" sz="1800" kern="100" dirty="0">
                <a:solidFill>
                  <a:srgbClr val="FF0000"/>
                </a:solidFill>
                <a:latin typeface="Times New Roman" panose="02020603050405020304" pitchFamily="18" charset="0"/>
              </a:rPr>
              <a:t>E</a:t>
            </a:r>
            <a:r>
              <a:rPr lang="pt-PT" altLang="zh-CN" sz="1800" kern="100" dirty="0">
                <a:solidFill>
                  <a:srgbClr val="FF0000"/>
                </a:solidFill>
                <a:latin typeface="Times New Roman" panose="02020603050405020304" pitchFamily="18" charset="0"/>
              </a:rPr>
              <a:t>'</a:t>
            </a:r>
            <a:r>
              <a:rPr lang="en-US" altLang="zh-CN" sz="1800" dirty="0">
                <a:solidFill>
                  <a:srgbClr val="FF0000"/>
                </a:solidFill>
              </a:rPr>
              <a:t>.</a:t>
            </a:r>
            <a:r>
              <a:rPr lang="en-US" altLang="zh-CN" sz="1800" dirty="0" err="1">
                <a:solidFill>
                  <a:srgbClr val="FF0000"/>
                </a:solidFill>
              </a:rPr>
              <a:t>i</a:t>
            </a:r>
            <a:r>
              <a:rPr lang="zh-CN" altLang="en-US" sz="1800" dirty="0"/>
              <a:t>：继承属性，用于存放它左边文法符号</a:t>
            </a:r>
            <a:r>
              <a:rPr lang="en-US" altLang="zh-CN" sz="1800" dirty="0" err="1"/>
              <a:t>val</a:t>
            </a:r>
            <a:r>
              <a:rPr lang="zh-CN" altLang="en-US" sz="1800" dirty="0"/>
              <a:t>值；</a:t>
            </a:r>
            <a:endParaRPr lang="en-US" altLang="zh-CN" sz="1800" dirty="0"/>
          </a:p>
        </p:txBody>
      </p:sp>
      <p:sp>
        <p:nvSpPr>
          <p:cNvPr id="15" name="内容占位符 14"/>
          <p:cNvSpPr>
            <a:spLocks noGrp="1"/>
          </p:cNvSpPr>
          <p:nvPr>
            <p:ph idx="1"/>
          </p:nvPr>
        </p:nvSpPr>
        <p:spPr>
          <a:xfrm>
            <a:off x="145646" y="2715766"/>
            <a:ext cx="1922405" cy="373142"/>
          </a:xfrm>
        </p:spPr>
        <p:txBody>
          <a:bodyPr>
            <a:normAutofit fontScale="92500" lnSpcReduction="20000"/>
          </a:bodyPr>
          <a:lstStyle/>
          <a:p>
            <a:pPr marL="109728" indent="0">
              <a:lnSpc>
                <a:spcPct val="110000"/>
              </a:lnSpc>
              <a:spcBef>
                <a:spcPts val="0"/>
              </a:spcBef>
              <a:buNone/>
            </a:pPr>
            <a:r>
              <a:rPr lang="fr-FR" altLang="zh-CN" sz="2000" kern="100" dirty="0">
                <a:solidFill>
                  <a:srgbClr val="0000FF"/>
                </a:solidFill>
              </a:rPr>
              <a:t>(1)E</a:t>
            </a:r>
            <a:r>
              <a:rPr lang="zh-CN" altLang="zh-CN" sz="2000" kern="100" dirty="0">
                <a:solidFill>
                  <a:srgbClr val="0000FF"/>
                </a:solidFill>
              </a:rPr>
              <a:t>→</a:t>
            </a:r>
            <a:r>
              <a:rPr lang="fr-FR" altLang="zh-CN" sz="2000" kern="100" dirty="0">
                <a:solidFill>
                  <a:srgbClr val="0000FF"/>
                </a:solidFill>
              </a:rPr>
              <a:t>TE</a:t>
            </a:r>
            <a:r>
              <a:rPr lang="pt-PT" altLang="zh-CN" sz="2000" kern="100" dirty="0">
                <a:solidFill>
                  <a:srgbClr val="0000FF"/>
                </a:solidFill>
                <a:latin typeface="Times New Roman" panose="02020603050405020304" pitchFamily="18" charset="0"/>
              </a:rPr>
              <a:t>' </a:t>
            </a:r>
            <a:endParaRPr lang="pt-PT" altLang="zh-CN" sz="2000" kern="100" dirty="0">
              <a:solidFill>
                <a:srgbClr val="0000FF"/>
              </a:solidFill>
            </a:endParaRPr>
          </a:p>
        </p:txBody>
      </p:sp>
      <p:sp>
        <p:nvSpPr>
          <p:cNvPr id="17" name="任意多边形 16"/>
          <p:cNvSpPr/>
          <p:nvPr/>
        </p:nvSpPr>
        <p:spPr>
          <a:xfrm>
            <a:off x="2909455" y="3241854"/>
            <a:ext cx="1213658" cy="232866"/>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内容占位符 14"/>
          <p:cNvSpPr txBox="1">
            <a:spLocks/>
          </p:cNvSpPr>
          <p:nvPr/>
        </p:nvSpPr>
        <p:spPr>
          <a:xfrm>
            <a:off x="180822" y="3082013"/>
            <a:ext cx="1922405" cy="617511"/>
          </a:xfrm>
          <a:prstGeom prst="rect">
            <a:avLst/>
          </a:prstGeom>
          <a:ln>
            <a:solidFill>
              <a:srgbClr val="CC00FF"/>
            </a:solid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90000"/>
              </a:lnSpc>
              <a:spcBef>
                <a:spcPts val="0"/>
              </a:spcBef>
              <a:buNone/>
            </a:pPr>
            <a:r>
              <a:rPr lang="fr-FR" altLang="zh-CN" sz="2000" kern="100" dirty="0"/>
              <a:t>E</a:t>
            </a:r>
            <a:r>
              <a:rPr lang="pt-PT" altLang="zh-CN" sz="2000" kern="100" dirty="0">
                <a:latin typeface="Times New Roman" panose="02020603050405020304" pitchFamily="18" charset="0"/>
              </a:rPr>
              <a:t>'</a:t>
            </a:r>
            <a:r>
              <a:rPr lang="fr-FR" altLang="zh-CN" sz="2000" kern="100" dirty="0"/>
              <a:t>.i = T.val</a:t>
            </a:r>
          </a:p>
          <a:p>
            <a:pPr marL="109728" indent="0">
              <a:lnSpc>
                <a:spcPct val="90000"/>
              </a:lnSpc>
              <a:spcBef>
                <a:spcPts val="0"/>
              </a:spcBef>
              <a:buNone/>
            </a:pPr>
            <a:r>
              <a:rPr lang="fr-FR" altLang="zh-CN" sz="2000" kern="100" dirty="0"/>
              <a:t>E.val = E</a:t>
            </a:r>
            <a:r>
              <a:rPr lang="pt-PT" altLang="zh-CN" sz="2000" kern="100" dirty="0">
                <a:latin typeface="Times New Roman" panose="02020603050405020304" pitchFamily="18" charset="0"/>
              </a:rPr>
              <a:t>'</a:t>
            </a:r>
            <a:r>
              <a:rPr lang="fr-FR" altLang="zh-CN" sz="2000" kern="100" dirty="0"/>
              <a:t>.s</a:t>
            </a:r>
            <a:endParaRPr lang="zh-CN" altLang="en-US" sz="2000" dirty="0"/>
          </a:p>
        </p:txBody>
      </p:sp>
      <p:sp>
        <p:nvSpPr>
          <p:cNvPr id="18" name="矩形 17"/>
          <p:cNvSpPr/>
          <p:nvPr/>
        </p:nvSpPr>
        <p:spPr>
          <a:xfrm>
            <a:off x="2153119" y="894747"/>
            <a:ext cx="1389098" cy="313932"/>
          </a:xfrm>
          <a:prstGeom prst="rect">
            <a:avLst/>
          </a:prstGeom>
        </p:spPr>
        <p:txBody>
          <a:bodyPr wrap="none">
            <a:spAutoFit/>
          </a:bodyPr>
          <a:lstStyle/>
          <a:p>
            <a:pPr marL="109728" indent="0">
              <a:lnSpc>
                <a:spcPct val="90000"/>
              </a:lnSpc>
              <a:spcBef>
                <a:spcPts val="0"/>
              </a:spcBef>
              <a:buNone/>
            </a:pPr>
            <a:r>
              <a:rPr lang="fr-FR" altLang="zh-CN" sz="1600" kern="100" dirty="0">
                <a:solidFill>
                  <a:srgbClr val="FF0000"/>
                </a:solidFill>
                <a:latin typeface="Times New Roman" panose="02020603050405020304" pitchFamily="18" charset="0"/>
                <a:cs typeface="Times New Roman" panose="02020603050405020304" pitchFamily="18" charset="0"/>
              </a:rPr>
              <a:t>{E</a:t>
            </a:r>
            <a:r>
              <a:rPr lang="pt-PT" altLang="zh-CN" sz="1600" kern="100" dirty="0">
                <a:solidFill>
                  <a:srgbClr val="FF0000"/>
                </a:solidFill>
                <a:latin typeface="Times New Roman" panose="02020603050405020304" pitchFamily="18" charset="0"/>
                <a:cs typeface="Times New Roman" panose="02020603050405020304" pitchFamily="18" charset="0"/>
              </a:rPr>
              <a:t>'</a:t>
            </a:r>
            <a:r>
              <a:rPr lang="fr-FR" altLang="zh-CN" sz="1600" kern="100" dirty="0">
                <a:solidFill>
                  <a:srgbClr val="FF0000"/>
                </a:solidFill>
                <a:latin typeface="Times New Roman" panose="02020603050405020304" pitchFamily="18" charset="0"/>
                <a:cs typeface="Times New Roman" panose="02020603050405020304" pitchFamily="18" charset="0"/>
              </a:rPr>
              <a:t>.i = T.val}</a:t>
            </a:r>
          </a:p>
        </p:txBody>
      </p:sp>
      <p:sp>
        <p:nvSpPr>
          <p:cNvPr id="19" name="矩形 18"/>
          <p:cNvSpPr/>
          <p:nvPr/>
        </p:nvSpPr>
        <p:spPr>
          <a:xfrm>
            <a:off x="3650218" y="894747"/>
            <a:ext cx="1430520" cy="313932"/>
          </a:xfrm>
          <a:prstGeom prst="rect">
            <a:avLst/>
          </a:prstGeom>
        </p:spPr>
        <p:txBody>
          <a:bodyPr wrap="none">
            <a:spAutoFit/>
          </a:bodyPr>
          <a:lstStyle/>
          <a:p>
            <a:pPr marL="109728" indent="0">
              <a:lnSpc>
                <a:spcPct val="90000"/>
              </a:lnSpc>
              <a:spcBef>
                <a:spcPts val="0"/>
              </a:spcBef>
              <a:buNone/>
            </a:pPr>
            <a:r>
              <a:rPr lang="fr-FR" altLang="zh-CN" sz="1600" kern="100" dirty="0">
                <a:solidFill>
                  <a:srgbClr val="FF0000"/>
                </a:solidFill>
                <a:latin typeface="Times New Roman" panose="02020603050405020304" pitchFamily="18" charset="0"/>
                <a:cs typeface="Times New Roman" panose="02020603050405020304" pitchFamily="18" charset="0"/>
              </a:rPr>
              <a:t>{E.val = E</a:t>
            </a:r>
            <a:r>
              <a:rPr lang="pt-PT" altLang="zh-CN" sz="1600" kern="100" dirty="0">
                <a:solidFill>
                  <a:srgbClr val="FF0000"/>
                </a:solidFill>
                <a:latin typeface="Times New Roman" panose="02020603050405020304" pitchFamily="18" charset="0"/>
                <a:cs typeface="Times New Roman" panose="02020603050405020304" pitchFamily="18" charset="0"/>
              </a:rPr>
              <a:t>'</a:t>
            </a:r>
            <a:r>
              <a:rPr lang="fr-FR" altLang="zh-CN" sz="1600" kern="100" dirty="0">
                <a:solidFill>
                  <a:srgbClr val="FF0000"/>
                </a:solidFill>
                <a:latin typeface="Times New Roman" panose="02020603050405020304" pitchFamily="18" charset="0"/>
                <a:cs typeface="Times New Roman" panose="02020603050405020304" pitchFamily="18" charset="0"/>
              </a:rPr>
              <a:t>.s}</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20" name="矩形 19"/>
          <p:cNvSpPr/>
          <p:nvPr/>
        </p:nvSpPr>
        <p:spPr>
          <a:xfrm>
            <a:off x="107504" y="3865119"/>
            <a:ext cx="1759456" cy="369332"/>
          </a:xfrm>
          <a:prstGeom prst="rect">
            <a:avLst/>
          </a:prstGeom>
        </p:spPr>
        <p:txBody>
          <a:bodyPr wrap="none">
            <a:spAutoFit/>
          </a:bodyPr>
          <a:lstStyle/>
          <a:p>
            <a:r>
              <a:rPr lang="zh-CN" altLang="zh-CN" kern="100" dirty="0">
                <a:solidFill>
                  <a:srgbClr val="0000FF"/>
                </a:solidFill>
                <a:latin typeface="Times New Roman" panose="02020603050405020304" pitchFamily="18" charset="0"/>
                <a:ea typeface="宋体" panose="02010600030101010101" pitchFamily="2" charset="-122"/>
              </a:rPr>
              <a:t>（</a:t>
            </a:r>
            <a:r>
              <a:rPr lang="fr-FR" altLang="zh-CN" kern="100" dirty="0">
                <a:solidFill>
                  <a:srgbClr val="0000FF"/>
                </a:solidFill>
                <a:latin typeface="Times New Roman" panose="02020603050405020304" pitchFamily="18" charset="0"/>
                <a:ea typeface="宋体" panose="02010600030101010101" pitchFamily="2" charset="-122"/>
              </a:rPr>
              <a:t>2</a:t>
            </a:r>
            <a:r>
              <a:rPr lang="zh-CN" altLang="zh-CN" kern="100" dirty="0">
                <a:solidFill>
                  <a:srgbClr val="0000FF"/>
                </a:solidFill>
                <a:latin typeface="Times New Roman" panose="02020603050405020304" pitchFamily="18" charset="0"/>
                <a:ea typeface="宋体" panose="02010600030101010101" pitchFamily="2" charset="-122"/>
              </a:rPr>
              <a:t>）</a:t>
            </a:r>
            <a:r>
              <a:rPr lang="fr-FR" altLang="zh-CN" kern="100" dirty="0">
                <a:solidFill>
                  <a:srgbClr val="0000FF"/>
                </a:solidFill>
                <a:latin typeface="Times New Roman" panose="02020603050405020304" pitchFamily="18" charset="0"/>
                <a:ea typeface="宋体" panose="02010600030101010101" pitchFamily="2" charset="-122"/>
              </a:rPr>
              <a:t>E</a:t>
            </a:r>
            <a:r>
              <a:rPr lang="pt-PT" altLang="zh-CN" kern="100" dirty="0">
                <a:solidFill>
                  <a:srgbClr val="0000FF"/>
                </a:solidFill>
                <a:latin typeface="Times New Roman" panose="02020603050405020304" pitchFamily="18" charset="0"/>
                <a:ea typeface="宋体" panose="02010600030101010101" pitchFamily="2" charset="-122"/>
              </a:rPr>
              <a:t>'</a:t>
            </a:r>
            <a:r>
              <a:rPr lang="zh-CN" altLang="zh-CN" kern="100" dirty="0">
                <a:solidFill>
                  <a:srgbClr val="0000FF"/>
                </a:solidFill>
                <a:latin typeface="Times New Roman" panose="02020603050405020304" pitchFamily="18" charset="0"/>
                <a:ea typeface="宋体" panose="02010600030101010101" pitchFamily="2" charset="-122"/>
              </a:rPr>
              <a:t>→</a:t>
            </a:r>
            <a:r>
              <a:rPr lang="fr-FR" altLang="zh-CN" kern="100" dirty="0">
                <a:solidFill>
                  <a:srgbClr val="0000FF"/>
                </a:solidFill>
                <a:latin typeface="Times New Roman" panose="02020603050405020304" pitchFamily="18" charset="0"/>
                <a:ea typeface="宋体" panose="02010600030101010101" pitchFamily="2" charset="-122"/>
              </a:rPr>
              <a:t>+ TE</a:t>
            </a:r>
            <a:r>
              <a:rPr lang="pt-PT" altLang="zh-CN" kern="100" dirty="0">
                <a:solidFill>
                  <a:srgbClr val="0000FF"/>
                </a:solidFill>
                <a:latin typeface="Times New Roman" panose="02020603050405020304" pitchFamily="18" charset="0"/>
                <a:ea typeface="宋体" panose="02010600030101010101" pitchFamily="2" charset="-122"/>
              </a:rPr>
              <a:t>'</a:t>
            </a:r>
            <a:r>
              <a:rPr lang="fr-FR" altLang="zh-CN" kern="100" baseline="-25000" dirty="0">
                <a:solidFill>
                  <a:srgbClr val="0000FF"/>
                </a:solidFill>
                <a:latin typeface="Times New Roman" panose="02020603050405020304" pitchFamily="18" charset="0"/>
                <a:ea typeface="宋体" panose="02010600030101010101" pitchFamily="2" charset="-122"/>
              </a:rPr>
              <a:t>1</a:t>
            </a:r>
            <a:endParaRPr lang="zh-CN" altLang="en-US" dirty="0">
              <a:solidFill>
                <a:srgbClr val="0000FF"/>
              </a:solidFill>
            </a:endParaRPr>
          </a:p>
        </p:txBody>
      </p:sp>
      <p:sp>
        <p:nvSpPr>
          <p:cNvPr id="50" name="内容占位符 14"/>
          <p:cNvSpPr txBox="1">
            <a:spLocks/>
          </p:cNvSpPr>
          <p:nvPr/>
        </p:nvSpPr>
        <p:spPr>
          <a:xfrm>
            <a:off x="180823" y="4201976"/>
            <a:ext cx="2302946" cy="617511"/>
          </a:xfrm>
          <a:prstGeom prst="rect">
            <a:avLst/>
          </a:prstGeom>
          <a:solidFill>
            <a:schemeClr val="bg1"/>
          </a:solidFill>
          <a:ln>
            <a:solidFill>
              <a:srgbClr val="CC00FF"/>
            </a:solid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90000"/>
              </a:lnSpc>
              <a:spcBef>
                <a:spcPts val="0"/>
              </a:spcBef>
              <a:buNone/>
            </a:pPr>
            <a:r>
              <a:rPr lang="fr-FR" altLang="zh-CN" sz="2000" kern="100" dirty="0">
                <a:latin typeface="Times New Roman" panose="02020603050405020304" pitchFamily="18" charset="0"/>
              </a:rPr>
              <a:t>E</a:t>
            </a:r>
            <a:r>
              <a:rPr lang="pt-PT" altLang="zh-CN" sz="2000" kern="100" dirty="0">
                <a:latin typeface="Times New Roman" panose="02020603050405020304" pitchFamily="18" charset="0"/>
              </a:rPr>
              <a:t>'</a:t>
            </a:r>
            <a:r>
              <a:rPr lang="fr-FR" altLang="zh-CN" sz="2000" kern="100" baseline="-25000" dirty="0">
                <a:latin typeface="Times New Roman" panose="02020603050405020304" pitchFamily="18" charset="0"/>
              </a:rPr>
              <a:t>1</a:t>
            </a:r>
            <a:r>
              <a:rPr lang="fr-FR" altLang="zh-CN" sz="2000" kern="100" dirty="0">
                <a:latin typeface="Times New Roman" panose="02020603050405020304" pitchFamily="18" charset="0"/>
              </a:rPr>
              <a:t>.i = 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.i + T.val</a:t>
            </a:r>
          </a:p>
          <a:p>
            <a:pPr marL="109728" indent="0">
              <a:lnSpc>
                <a:spcPct val="90000"/>
              </a:lnSpc>
              <a:spcBef>
                <a:spcPts val="0"/>
              </a:spcBef>
              <a:buNone/>
            </a:pPr>
            <a:r>
              <a:rPr lang="fr-FR" altLang="zh-CN" sz="2000" kern="100" dirty="0">
                <a:latin typeface="Times New Roman" panose="02020603050405020304" pitchFamily="18" charset="0"/>
              </a:rPr>
              <a:t>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.s = E</a:t>
            </a:r>
            <a:r>
              <a:rPr lang="pt-PT" altLang="zh-CN" sz="2000" kern="100" dirty="0">
                <a:latin typeface="Times New Roman" panose="02020603050405020304" pitchFamily="18" charset="0"/>
              </a:rPr>
              <a:t>'</a:t>
            </a:r>
            <a:r>
              <a:rPr lang="fr-FR" altLang="zh-CN" sz="2000" kern="100" baseline="-25000" dirty="0">
                <a:latin typeface="Times New Roman" panose="02020603050405020304" pitchFamily="18" charset="0"/>
              </a:rPr>
              <a:t>1</a:t>
            </a:r>
            <a:r>
              <a:rPr lang="fr-FR" altLang="zh-CN" sz="2000" kern="100" dirty="0">
                <a:latin typeface="Times New Roman" panose="02020603050405020304" pitchFamily="18" charset="0"/>
              </a:rPr>
              <a:t>.s</a:t>
            </a:r>
            <a:endParaRPr lang="zh-CN" altLang="en-US" sz="2000" dirty="0"/>
          </a:p>
        </p:txBody>
      </p:sp>
      <p:sp>
        <p:nvSpPr>
          <p:cNvPr id="51" name="任意多边形 50"/>
          <p:cNvSpPr/>
          <p:nvPr/>
        </p:nvSpPr>
        <p:spPr>
          <a:xfrm>
            <a:off x="4381781" y="3879062"/>
            <a:ext cx="580881" cy="77929"/>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rot="1780532">
            <a:off x="4415613" y="3488371"/>
            <a:ext cx="705769" cy="172361"/>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291549" y="1123634"/>
            <a:ext cx="1989904"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 T.val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23" name="矩形 22"/>
          <p:cNvSpPr/>
          <p:nvPr/>
        </p:nvSpPr>
        <p:spPr>
          <a:xfrm>
            <a:off x="4427984" y="1123634"/>
            <a:ext cx="1356462"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24" name="矩形 23"/>
          <p:cNvSpPr/>
          <p:nvPr/>
        </p:nvSpPr>
        <p:spPr>
          <a:xfrm>
            <a:off x="4003466" y="2931790"/>
            <a:ext cx="508473"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a:t>
            </a:r>
            <a:r>
              <a:rPr lang="en-US" altLang="zh-CN" dirty="0" err="1">
                <a:solidFill>
                  <a:srgbClr val="FF0000"/>
                </a:solidFill>
              </a:rPr>
              <a:t>i</a:t>
            </a:r>
            <a:endParaRPr lang="zh-CN" altLang="en-US" dirty="0"/>
          </a:p>
        </p:txBody>
      </p:sp>
      <p:sp>
        <p:nvSpPr>
          <p:cNvPr id="30" name="矩形 29"/>
          <p:cNvSpPr/>
          <p:nvPr/>
        </p:nvSpPr>
        <p:spPr>
          <a:xfrm>
            <a:off x="4522572" y="2884810"/>
            <a:ext cx="558166"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.s</a:t>
            </a:r>
            <a:endParaRPr lang="zh-CN" altLang="en-US" dirty="0"/>
          </a:p>
        </p:txBody>
      </p:sp>
      <p:sp>
        <p:nvSpPr>
          <p:cNvPr id="53" name="矩形 52"/>
          <p:cNvSpPr/>
          <p:nvPr/>
        </p:nvSpPr>
        <p:spPr>
          <a:xfrm>
            <a:off x="2267744" y="1366325"/>
            <a:ext cx="1989904"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T.val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54" name="矩形 53"/>
          <p:cNvSpPr/>
          <p:nvPr/>
        </p:nvSpPr>
        <p:spPr>
          <a:xfrm>
            <a:off x="4427984" y="1366325"/>
            <a:ext cx="1356462"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55" name="内容占位符 14"/>
          <p:cNvSpPr txBox="1">
            <a:spLocks/>
          </p:cNvSpPr>
          <p:nvPr/>
        </p:nvSpPr>
        <p:spPr>
          <a:xfrm>
            <a:off x="6437685" y="3556312"/>
            <a:ext cx="1922405" cy="373142"/>
          </a:xfrm>
          <a:prstGeom prst="rect">
            <a:avLst/>
          </a:prstGeom>
        </p:spPr>
        <p:txBody>
          <a:bodyPr vert="horz">
            <a:normAutofit fontScale="9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110000"/>
              </a:lnSpc>
              <a:spcBef>
                <a:spcPts val="0"/>
              </a:spcBef>
              <a:buNone/>
            </a:pPr>
            <a:r>
              <a:rPr lang="zh-CN" altLang="fr-FR"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fr-FR" altLang="zh-CN"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fr-FR"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fr-FR" altLang="zh-CN"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E'→ </a:t>
            </a:r>
            <a:r>
              <a:rPr lang="en-US" altLang="zh-CN" sz="2000" kern="100" dirty="0">
                <a:solidFill>
                  <a:srgbClr val="0000FF"/>
                </a:solidFill>
                <a:latin typeface="Times New Roman" panose="02020603050405020304" pitchFamily="18" charset="0"/>
                <a:sym typeface="Symbol" panose="05050102010706020507" pitchFamily="18" charset="2"/>
              </a:rPr>
              <a:t></a:t>
            </a:r>
            <a:r>
              <a:rPr lang="fr-FR" altLang="zh-CN"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t>
            </a:r>
          </a:p>
        </p:txBody>
      </p:sp>
      <p:sp>
        <p:nvSpPr>
          <p:cNvPr id="56" name="内容占位符 14"/>
          <p:cNvSpPr txBox="1">
            <a:spLocks/>
          </p:cNvSpPr>
          <p:nvPr/>
        </p:nvSpPr>
        <p:spPr>
          <a:xfrm>
            <a:off x="6660232" y="3922559"/>
            <a:ext cx="1922405" cy="377383"/>
          </a:xfrm>
          <a:prstGeom prst="rect">
            <a:avLst/>
          </a:prstGeom>
          <a:ln>
            <a:solidFill>
              <a:srgbClr val="CC00FF"/>
            </a:solid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90000"/>
              </a:lnSpc>
              <a:spcBef>
                <a:spcPts val="0"/>
              </a:spcBef>
              <a:buNone/>
            </a:pPr>
            <a:r>
              <a:rPr lang="fr-FR" altLang="zh-CN" sz="2000" kern="100" dirty="0">
                <a:latin typeface="Times New Roman" panose="02020603050405020304" pitchFamily="18" charset="0"/>
              </a:rPr>
              <a:t>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.s = 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.i</a:t>
            </a:r>
            <a:endParaRPr lang="zh-CN" altLang="en-US" sz="2000" dirty="0"/>
          </a:p>
        </p:txBody>
      </p:sp>
      <p:sp>
        <p:nvSpPr>
          <p:cNvPr id="31" name="矩形 30"/>
          <p:cNvSpPr/>
          <p:nvPr/>
        </p:nvSpPr>
        <p:spPr>
          <a:xfrm>
            <a:off x="1763688" y="882436"/>
            <a:ext cx="2131802"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T                          E</a:t>
            </a:r>
            <a:r>
              <a:rPr lang="pt-PT" altLang="zh-CN" sz="16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57" name="矩形 56"/>
          <p:cNvSpPr/>
          <p:nvPr/>
        </p:nvSpPr>
        <p:spPr>
          <a:xfrm>
            <a:off x="1763688" y="1123634"/>
            <a:ext cx="2865977"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E</a:t>
            </a:r>
            <a:r>
              <a:rPr lang="pt-PT"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+T                                    E</a:t>
            </a:r>
            <a:r>
              <a:rPr lang="pt-PT"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sp>
        <p:nvSpPr>
          <p:cNvPr id="58" name="矩形 57"/>
          <p:cNvSpPr/>
          <p:nvPr/>
        </p:nvSpPr>
        <p:spPr>
          <a:xfrm>
            <a:off x="1763688" y="1366325"/>
            <a:ext cx="2853153"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rPr>
              <a:t>E</a:t>
            </a:r>
            <a:r>
              <a:rPr lang="pt-PT" altLang="zh-CN" sz="1600" kern="100" dirty="0">
                <a:latin typeface="Times New Roman" panose="02020603050405020304" pitchFamily="18" charset="0"/>
                <a:ea typeface="宋体" panose="02010600030101010101" pitchFamily="2" charset="-122"/>
              </a:rPr>
              <a:t>'</a:t>
            </a:r>
            <a:r>
              <a:rPr lang="zh-CN" altLang="zh-CN" sz="1600" kern="100" dirty="0">
                <a:latin typeface="Times New Roman" panose="02020603050405020304" pitchFamily="18" charset="0"/>
                <a:ea typeface="宋体" panose="02010600030101010101" pitchFamily="2" charset="-122"/>
              </a:rPr>
              <a:t>→</a:t>
            </a:r>
            <a:r>
              <a:rPr lang="pt-PT" altLang="zh-CN" sz="1600" kern="100" dirty="0">
                <a:latin typeface="Times New Roman" panose="02020603050405020304" pitchFamily="18" charset="0"/>
                <a:ea typeface="宋体" panose="02010600030101010101" pitchFamily="2" charset="-122"/>
              </a:rPr>
              <a:t>–</a:t>
            </a:r>
            <a:r>
              <a:rPr lang="fr-FR" altLang="zh-CN" sz="1600" kern="100" dirty="0">
                <a:latin typeface="Times New Roman" panose="02020603050405020304" pitchFamily="18" charset="0"/>
                <a:ea typeface="宋体" panose="02010600030101010101" pitchFamily="2" charset="-122"/>
              </a:rPr>
              <a:t>T                                    E</a:t>
            </a:r>
            <a:r>
              <a:rPr lang="pt-PT" altLang="zh-CN" sz="1600" kern="100" dirty="0">
                <a:latin typeface="Times New Roman" panose="02020603050405020304" pitchFamily="18" charset="0"/>
                <a:ea typeface="宋体" panose="02010600030101010101" pitchFamily="2" charset="-122"/>
              </a:rPr>
              <a:t>'</a:t>
            </a:r>
            <a:r>
              <a:rPr lang="fr-FR" altLang="zh-CN" sz="1600" kern="100" baseline="-25000" dirty="0">
                <a:latin typeface="Times New Roman" panose="02020603050405020304" pitchFamily="18" charset="0"/>
                <a:ea typeface="宋体" panose="02010600030101010101" pitchFamily="2" charset="-122"/>
              </a:rPr>
              <a:t>1</a:t>
            </a:r>
            <a:endParaRPr lang="zh-CN" altLang="en-US" sz="1600" dirty="0"/>
          </a:p>
        </p:txBody>
      </p:sp>
      <p:sp>
        <p:nvSpPr>
          <p:cNvPr id="59" name="任意多边形 58"/>
          <p:cNvSpPr/>
          <p:nvPr/>
        </p:nvSpPr>
        <p:spPr>
          <a:xfrm rot="1780532" flipH="1">
            <a:off x="4499563" y="3132021"/>
            <a:ext cx="828653" cy="544042"/>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123113" y="3293113"/>
            <a:ext cx="304871" cy="252523"/>
          </a:xfrm>
          <a:prstGeom prst="ellipse">
            <a:avLst/>
          </a:prstGeom>
          <a:noFill/>
          <a:ln w="28575">
            <a:solidFill>
              <a:srgbClr val="CC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6026861" y="1995686"/>
            <a:ext cx="2926919" cy="1200329"/>
          </a:xfrm>
          <a:prstGeom prst="rect">
            <a:avLst/>
          </a:prstGeom>
        </p:spPr>
        <p:txBody>
          <a:bodyPr wrap="square">
            <a:spAutoFit/>
          </a:bodyPr>
          <a:lstStyle/>
          <a:p>
            <a:pPr marL="109728" indent="0">
              <a:buNone/>
            </a:pPr>
            <a:r>
              <a:rPr lang="fr-FR" altLang="zh-CN" kern="100" dirty="0">
                <a:solidFill>
                  <a:srgbClr val="FF0000"/>
                </a:solidFill>
                <a:latin typeface="宋体" panose="02010600030101010101" pitchFamily="2" charset="-122"/>
                <a:ea typeface="宋体" panose="02010600030101010101" pitchFamily="2" charset="-122"/>
              </a:rPr>
              <a:t>E</a:t>
            </a:r>
            <a:r>
              <a:rPr lang="pt-PT" altLang="zh-CN" kern="100" dirty="0">
                <a:solidFill>
                  <a:srgbClr val="FF0000"/>
                </a:solidFill>
                <a:latin typeface="Times New Roman" panose="02020603050405020304" pitchFamily="18" charset="0"/>
              </a:rPr>
              <a:t>'</a:t>
            </a:r>
            <a:r>
              <a:rPr lang="en-US" altLang="zh-CN" dirty="0">
                <a:solidFill>
                  <a:srgbClr val="FF0000"/>
                </a:solidFill>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：综合属性，用于存放产生式左部符号的</a:t>
            </a:r>
            <a:r>
              <a:rPr lang="en-US" altLang="zh-CN" dirty="0" err="1">
                <a:latin typeface="宋体" panose="02010600030101010101" pitchFamily="2" charset="-122"/>
                <a:ea typeface="宋体" panose="02010600030101010101" pitchFamily="2" charset="-122"/>
              </a:rPr>
              <a:t>val</a:t>
            </a:r>
            <a:r>
              <a:rPr lang="zh-CN" altLang="en-US" dirty="0">
                <a:latin typeface="宋体" panose="02010600030101010101" pitchFamily="2" charset="-122"/>
                <a:ea typeface="宋体" panose="02010600030101010101" pitchFamily="2" charset="-122"/>
              </a:rPr>
              <a:t>值，即右部所有文法符号的累加值</a:t>
            </a:r>
          </a:p>
        </p:txBody>
      </p:sp>
      <p:sp>
        <p:nvSpPr>
          <p:cNvPr id="62" name="任意多边形 61"/>
          <p:cNvSpPr/>
          <p:nvPr/>
        </p:nvSpPr>
        <p:spPr>
          <a:xfrm rot="1780532" flipH="1">
            <a:off x="3686873" y="2627291"/>
            <a:ext cx="828653" cy="544042"/>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63"/>
          <p:cNvSpPr/>
          <p:nvPr/>
        </p:nvSpPr>
        <p:spPr>
          <a:xfrm rot="20279701">
            <a:off x="5889044" y="4264622"/>
            <a:ext cx="494085" cy="417451"/>
          </a:xfrm>
          <a:custGeom>
            <a:avLst/>
            <a:gdLst>
              <a:gd name="connsiteX0" fmla="*/ 0 w 304800"/>
              <a:gd name="connsiteY0" fmla="*/ 211902 h 356347"/>
              <a:gd name="connsiteX1" fmla="*/ 304800 w 304800"/>
              <a:gd name="connsiteY1" fmla="*/ 349062 h 356347"/>
              <a:gd name="connsiteX2" fmla="*/ 304800 w 304800"/>
              <a:gd name="connsiteY2" fmla="*/ 13782 h 356347"/>
              <a:gd name="connsiteX3" fmla="*/ 0 w 304800"/>
              <a:gd name="connsiteY3" fmla="*/ 59502 h 356347"/>
              <a:gd name="connsiteX4" fmla="*/ 0 w 304800"/>
              <a:gd name="connsiteY4" fmla="*/ 59502 h 356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356347">
                <a:moveTo>
                  <a:pt x="0" y="211902"/>
                </a:moveTo>
                <a:cubicBezTo>
                  <a:pt x="127000" y="296992"/>
                  <a:pt x="254000" y="382082"/>
                  <a:pt x="304800" y="349062"/>
                </a:cubicBezTo>
                <a:cubicBezTo>
                  <a:pt x="355600" y="316042"/>
                  <a:pt x="355600" y="62042"/>
                  <a:pt x="304800" y="13782"/>
                </a:cubicBezTo>
                <a:cubicBezTo>
                  <a:pt x="254000" y="-34478"/>
                  <a:pt x="0" y="59502"/>
                  <a:pt x="0" y="59502"/>
                </a:cubicBezTo>
                <a:lnTo>
                  <a:pt x="0" y="59502"/>
                </a:lnTo>
              </a:path>
            </a:pathLst>
          </a:custGeom>
          <a:noFill/>
          <a:ln>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924234" y="4555257"/>
            <a:ext cx="508473"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a:t>
            </a:r>
            <a:r>
              <a:rPr lang="en-US" altLang="zh-CN" dirty="0" err="1">
                <a:solidFill>
                  <a:srgbClr val="FF0000"/>
                </a:solidFill>
              </a:rPr>
              <a:t>i</a:t>
            </a:r>
            <a:endParaRPr lang="zh-CN" altLang="en-US" dirty="0"/>
          </a:p>
        </p:txBody>
      </p:sp>
      <p:sp>
        <p:nvSpPr>
          <p:cNvPr id="66" name="矩形 65"/>
          <p:cNvSpPr/>
          <p:nvPr/>
        </p:nvSpPr>
        <p:spPr>
          <a:xfrm>
            <a:off x="5650132" y="3899847"/>
            <a:ext cx="558166"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.s</a:t>
            </a:r>
            <a:endParaRPr lang="zh-CN" altLang="en-US" dirty="0"/>
          </a:p>
        </p:txBody>
      </p:sp>
      <p:sp>
        <p:nvSpPr>
          <p:cNvPr id="67" name="矩形 66"/>
          <p:cNvSpPr/>
          <p:nvPr/>
        </p:nvSpPr>
        <p:spPr>
          <a:xfrm>
            <a:off x="1763688" y="1851670"/>
            <a:ext cx="2134687" cy="338554"/>
          </a:xfrm>
          <a:prstGeom prst="rect">
            <a:avLst/>
          </a:prstGeom>
        </p:spPr>
        <p:txBody>
          <a:bodyPr wrap="none">
            <a:spAutoFit/>
          </a:bodyPr>
          <a:lstStyle/>
          <a:p>
            <a:pPr marL="635" indent="-635" algn="just">
              <a:spcAft>
                <a:spcPts val="0"/>
              </a:spcAft>
            </a:pPr>
            <a:r>
              <a:rPr lang="fr-FR" altLang="zh-CN" sz="1600" kern="100" dirty="0">
                <a:latin typeface="Times New Roman" panose="02020603050405020304" pitchFamily="18" charset="0"/>
                <a:ea typeface="宋体" panose="02010600030101010101" pitchFamily="2" charset="-122"/>
              </a:rPr>
              <a:t>T</a:t>
            </a:r>
            <a:r>
              <a:rPr lang="zh-CN" altLang="zh-CN" sz="1600" kern="100" dirty="0">
                <a:latin typeface="Times New Roman" panose="02020603050405020304" pitchFamily="18" charset="0"/>
                <a:ea typeface="宋体" panose="02010600030101010101" pitchFamily="2" charset="-122"/>
              </a:rPr>
              <a:t>→</a:t>
            </a:r>
            <a:r>
              <a:rPr lang="fr-FR" altLang="zh-CN" sz="1600" kern="100" dirty="0">
                <a:latin typeface="Times New Roman" panose="02020603050405020304" pitchFamily="18" charset="0"/>
                <a:ea typeface="宋体" panose="02010600030101010101" pitchFamily="2" charset="-122"/>
              </a:rPr>
              <a:t>(E) </a:t>
            </a:r>
            <a:r>
              <a:rPr lang="fr-FR" altLang="zh-CN" sz="1600" kern="100" dirty="0">
                <a:solidFill>
                  <a:srgbClr val="FF0000"/>
                </a:solidFill>
                <a:latin typeface="Times New Roman" panose="02020603050405020304" pitchFamily="18" charset="0"/>
                <a:ea typeface="宋体" panose="02010600030101010101" pitchFamily="2" charset="-122"/>
              </a:rPr>
              <a:t>{T.val = E.val }</a:t>
            </a:r>
            <a:endParaRPr lang="pt-PT" altLang="zh-CN" sz="1600" kern="100" dirty="0">
              <a:solidFill>
                <a:srgbClr val="FF0000"/>
              </a:solidFill>
              <a:latin typeface="Times New Roman" panose="02020603050405020304" pitchFamily="18" charset="0"/>
              <a:ea typeface="宋体" panose="02010600030101010101" pitchFamily="2" charset="-122"/>
            </a:endParaRPr>
          </a:p>
        </p:txBody>
      </p:sp>
      <p:sp>
        <p:nvSpPr>
          <p:cNvPr id="68" name="矩形 67"/>
          <p:cNvSpPr/>
          <p:nvPr/>
        </p:nvSpPr>
        <p:spPr>
          <a:xfrm>
            <a:off x="1763688" y="2139702"/>
            <a:ext cx="2113848" cy="338554"/>
          </a:xfrm>
          <a:prstGeom prst="rect">
            <a:avLst/>
          </a:prstGeom>
        </p:spPr>
        <p:txBody>
          <a:bodyPr wrap="none">
            <a:spAutoFit/>
          </a:bodyPr>
          <a:lstStyle/>
          <a:p>
            <a:pPr marL="635" indent="-635" algn="just">
              <a:spcAft>
                <a:spcPts val="0"/>
              </a:spcAft>
            </a:pPr>
            <a:r>
              <a:rPr lang="fr-FR" altLang="zh-CN" sz="1600" kern="100" dirty="0">
                <a:latin typeface="Times New Roman" panose="02020603050405020304" pitchFamily="18" charset="0"/>
                <a:ea typeface="宋体" panose="02010600030101010101" pitchFamily="2" charset="-122"/>
              </a:rPr>
              <a:t>T</a:t>
            </a:r>
            <a:r>
              <a:rPr lang="zh-CN" altLang="zh-CN" sz="1600" kern="100" dirty="0">
                <a:latin typeface="Times New Roman" panose="02020603050405020304" pitchFamily="18" charset="0"/>
                <a:ea typeface="宋体" panose="02010600030101010101" pitchFamily="2" charset="-122"/>
              </a:rPr>
              <a:t>→</a:t>
            </a:r>
            <a:r>
              <a:rPr lang="en-US" altLang="zh-CN" sz="1600" kern="100" dirty="0" err="1">
                <a:latin typeface="Times New Roman" panose="02020603050405020304" pitchFamily="18" charset="0"/>
                <a:ea typeface="宋体" panose="02010600030101010101" pitchFamily="2" charset="-122"/>
              </a:rPr>
              <a:t>i</a:t>
            </a:r>
            <a:r>
              <a:rPr lang="en-US" altLang="zh-CN" sz="1600" kern="100" dirty="0">
                <a:latin typeface="Times New Roman" panose="02020603050405020304" pitchFamily="18" charset="0"/>
                <a:ea typeface="宋体" panose="02010600030101010101" pitchFamily="2" charset="-122"/>
              </a:rPr>
              <a:t> </a:t>
            </a:r>
            <a:r>
              <a:rPr lang="fr-FR" altLang="zh-CN" sz="1600" kern="100" dirty="0">
                <a:solidFill>
                  <a:srgbClr val="FF0000"/>
                </a:solidFill>
                <a:latin typeface="Times New Roman" panose="02020603050405020304" pitchFamily="18" charset="0"/>
                <a:ea typeface="宋体" panose="02010600030101010101" pitchFamily="2" charset="-122"/>
              </a:rPr>
              <a:t>{T.val = i.lexval }</a:t>
            </a:r>
            <a:endParaRPr lang="zh-CN" altLang="zh-CN" sz="1600" kern="100" dirty="0">
              <a:solidFill>
                <a:srgbClr val="FF0000"/>
              </a:solidFill>
              <a:latin typeface="Times New Roman" panose="02020603050405020304" pitchFamily="18" charset="0"/>
              <a:ea typeface="宋体" panose="02010600030101010101" pitchFamily="2" charset="-122"/>
            </a:endParaRPr>
          </a:p>
        </p:txBody>
      </p:sp>
      <p:sp>
        <p:nvSpPr>
          <p:cNvPr id="69" name="矩形 68"/>
          <p:cNvSpPr/>
          <p:nvPr/>
        </p:nvSpPr>
        <p:spPr>
          <a:xfrm>
            <a:off x="1763688" y="1585124"/>
            <a:ext cx="1721946"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rPr>
              <a:t>E</a:t>
            </a:r>
            <a:r>
              <a:rPr lang="pt-PT" altLang="zh-CN" sz="1600" kern="100" dirty="0">
                <a:latin typeface="Times New Roman" panose="02020603050405020304" pitchFamily="18" charset="0"/>
                <a:ea typeface="宋体" panose="02010600030101010101" pitchFamily="2" charset="-122"/>
              </a:rPr>
              <a:t>'</a:t>
            </a:r>
            <a:r>
              <a:rPr lang="zh-CN" altLang="zh-CN" sz="1600" kern="100" dirty="0">
                <a:latin typeface="Times New Roman" panose="02020603050405020304" pitchFamily="18" charset="0"/>
                <a:ea typeface="宋体" panose="02010600030101010101" pitchFamily="2" charset="-122"/>
              </a:rPr>
              <a:t>→ </a:t>
            </a:r>
            <a:r>
              <a:rPr lang="en-US" altLang="zh-CN" sz="1600" kern="100" dirty="0">
                <a:latin typeface="Times New Roman" panose="02020603050405020304" pitchFamily="18" charset="0"/>
                <a:ea typeface="宋体" panose="02010600030101010101" pitchFamily="2" charset="-122"/>
                <a:sym typeface="Symbol" panose="05050102010706020507" pitchFamily="18" charset="2"/>
              </a:rPr>
              <a:t> </a:t>
            </a:r>
            <a:r>
              <a:rPr lang="fr-FR" altLang="zh-CN" sz="1600" kern="100" dirty="0">
                <a:solidFill>
                  <a:srgbClr val="FF0000"/>
                </a:solidFill>
                <a:latin typeface="Times New Roman" panose="02020603050405020304" pitchFamily="18" charset="0"/>
                <a:ea typeface="宋体" panose="02010600030101010101" pitchFamily="2" charset="-122"/>
              </a:rPr>
              <a:t>{E</a:t>
            </a:r>
            <a:r>
              <a:rPr lang="pt-PT" altLang="zh-CN" sz="1600" kern="100" dirty="0">
                <a:solidFill>
                  <a:srgbClr val="FF0000"/>
                </a:solidFill>
                <a:latin typeface="Times New Roman" panose="02020603050405020304" pitchFamily="18" charset="0"/>
                <a:ea typeface="宋体" panose="02010600030101010101" pitchFamily="2" charset="-122"/>
              </a:rPr>
              <a:t>'</a:t>
            </a:r>
            <a:r>
              <a:rPr lang="fr-FR" altLang="zh-CN" sz="1600" kern="100" dirty="0">
                <a:solidFill>
                  <a:srgbClr val="FF0000"/>
                </a:solidFill>
                <a:latin typeface="Times New Roman" panose="02020603050405020304" pitchFamily="18" charset="0"/>
                <a:ea typeface="宋体" panose="02010600030101010101" pitchFamily="2" charset="-122"/>
              </a:rPr>
              <a:t>.s = E</a:t>
            </a:r>
            <a:r>
              <a:rPr lang="pt-PT" altLang="zh-CN" sz="1600" kern="100" dirty="0">
                <a:solidFill>
                  <a:srgbClr val="FF0000"/>
                </a:solidFill>
                <a:latin typeface="Times New Roman" panose="02020603050405020304" pitchFamily="18" charset="0"/>
                <a:ea typeface="宋体" panose="02010600030101010101" pitchFamily="2" charset="-122"/>
              </a:rPr>
              <a:t>'</a:t>
            </a:r>
            <a:r>
              <a:rPr lang="fr-FR" altLang="zh-CN" sz="1600" kern="100" dirty="0">
                <a:solidFill>
                  <a:srgbClr val="FF0000"/>
                </a:solidFill>
                <a:latin typeface="Times New Roman" panose="02020603050405020304" pitchFamily="18" charset="0"/>
                <a:ea typeface="宋体" panose="02010600030101010101" pitchFamily="2" charset="-122"/>
              </a:rPr>
              <a:t>.i}</a:t>
            </a:r>
            <a:endParaRPr lang="zh-CN" altLang="en-US" sz="1600" dirty="0"/>
          </a:p>
        </p:txBody>
      </p:sp>
    </p:spTree>
    <p:extLst>
      <p:ext uri="{BB962C8B-B14F-4D97-AF65-F5344CB8AC3E}">
        <p14:creationId xmlns:p14="http://schemas.microsoft.com/office/powerpoint/2010/main" val="392660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1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right)">
                                      <p:cBhvr>
                                        <p:cTn id="32" dur="10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wipe(left)">
                                      <p:cBhvr>
                                        <p:cTn id="57" dur="1000"/>
                                        <p:tgtEl>
                                          <p:spTgt spid="5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wipe(left)">
                                      <p:cBhvr>
                                        <p:cTn id="62" dur="10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ipe(right)">
                                      <p:cBhvr>
                                        <p:cTn id="67" dur="1000"/>
                                        <p:tgtEl>
                                          <p:spTgt spid="59"/>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5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65"/>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6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6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15" grpId="0" build="p"/>
      <p:bldP spid="17" grpId="0" animBg="1"/>
      <p:bldP spid="40" grpId="0" animBg="1"/>
      <p:bldP spid="18" grpId="0"/>
      <p:bldP spid="19" grpId="0"/>
      <p:bldP spid="20" grpId="0"/>
      <p:bldP spid="50" grpId="0" animBg="1"/>
      <p:bldP spid="51" grpId="0" animBg="1"/>
      <p:bldP spid="52" grpId="0" animBg="1"/>
      <p:bldP spid="22" grpId="0"/>
      <p:bldP spid="23" grpId="0"/>
      <p:bldP spid="24" grpId="0"/>
      <p:bldP spid="30" grpId="0"/>
      <p:bldP spid="53" grpId="0"/>
      <p:bldP spid="54" grpId="0"/>
      <p:bldP spid="55" grpId="0"/>
      <p:bldP spid="56" grpId="0" animBg="1"/>
      <p:bldP spid="31" grpId="0"/>
      <p:bldP spid="57" grpId="0"/>
      <p:bldP spid="58" grpId="0"/>
      <p:bldP spid="59" grpId="0" animBg="1"/>
      <p:bldP spid="60" grpId="0" animBg="1"/>
      <p:bldP spid="61" grpId="0"/>
      <p:bldP spid="62" grpId="0" animBg="1"/>
      <p:bldP spid="64" grpId="0" animBg="1"/>
      <p:bldP spid="65" grpId="0"/>
      <p:bldP spid="66" grpId="0"/>
      <p:bldP spid="67" grpId="0"/>
      <p:bldP spid="68" grpId="0"/>
      <p:bldP spid="69"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0480" y="123478"/>
            <a:ext cx="5292725" cy="828675"/>
          </a:xfrm>
        </p:spPr>
        <p:txBody>
          <a:bodyPr/>
          <a:lstStyle/>
          <a:p>
            <a:pPr algn="l"/>
            <a:r>
              <a:rPr lang="zh-CN" altLang="en-US" b="1" dirty="0"/>
              <a:t>计算表达式9－5＋2 </a:t>
            </a:r>
          </a:p>
        </p:txBody>
      </p:sp>
      <p:sp>
        <p:nvSpPr>
          <p:cNvPr id="151559" name="Rectangle 7"/>
          <p:cNvSpPr>
            <a:spLocks noChangeArrowheads="1"/>
          </p:cNvSpPr>
          <p:nvPr/>
        </p:nvSpPr>
        <p:spPr bwMode="auto">
          <a:xfrm>
            <a:off x="2209800" y="108585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E</a:t>
            </a:r>
          </a:p>
        </p:txBody>
      </p:sp>
      <p:sp>
        <p:nvSpPr>
          <p:cNvPr id="151561" name="Line 9"/>
          <p:cNvSpPr>
            <a:spLocks noChangeShapeType="1"/>
          </p:cNvSpPr>
          <p:nvPr/>
        </p:nvSpPr>
        <p:spPr bwMode="auto">
          <a:xfrm flipH="1">
            <a:off x="1295400" y="1428750"/>
            <a:ext cx="99060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2" name="Line 10"/>
          <p:cNvSpPr>
            <a:spLocks noChangeShapeType="1"/>
          </p:cNvSpPr>
          <p:nvPr/>
        </p:nvSpPr>
        <p:spPr bwMode="auto">
          <a:xfrm>
            <a:off x="2590800" y="1428750"/>
            <a:ext cx="609600" cy="4000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3" name="Rectangle 11"/>
          <p:cNvSpPr>
            <a:spLocks noChangeArrowheads="1"/>
          </p:cNvSpPr>
          <p:nvPr/>
        </p:nvSpPr>
        <p:spPr bwMode="auto">
          <a:xfrm>
            <a:off x="1066800" y="1943100"/>
            <a:ext cx="533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T</a:t>
            </a:r>
          </a:p>
        </p:txBody>
      </p:sp>
      <p:sp>
        <p:nvSpPr>
          <p:cNvPr id="151564" name="Rectangle 12"/>
          <p:cNvSpPr>
            <a:spLocks noChangeArrowheads="1"/>
          </p:cNvSpPr>
          <p:nvPr/>
        </p:nvSpPr>
        <p:spPr bwMode="auto">
          <a:xfrm>
            <a:off x="3124200" y="188595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565" name="Line 13"/>
          <p:cNvSpPr>
            <a:spLocks noChangeShapeType="1"/>
          </p:cNvSpPr>
          <p:nvPr/>
        </p:nvSpPr>
        <p:spPr bwMode="auto">
          <a:xfrm>
            <a:off x="1219200" y="23431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6" name="Rectangle 14"/>
          <p:cNvSpPr>
            <a:spLocks noChangeArrowheads="1"/>
          </p:cNvSpPr>
          <p:nvPr/>
        </p:nvSpPr>
        <p:spPr bwMode="auto">
          <a:xfrm>
            <a:off x="1043608" y="2857500"/>
            <a:ext cx="685800" cy="397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a:t>
            </a:r>
            <a:endParaRPr kumimoji="1" lang="en-US" altLang="zh-CN" sz="2600" b="1" dirty="0">
              <a:latin typeface="+mn-lt"/>
            </a:endParaRPr>
          </a:p>
        </p:txBody>
      </p:sp>
      <p:sp>
        <p:nvSpPr>
          <p:cNvPr id="151567" name="Rectangle 15"/>
          <p:cNvSpPr>
            <a:spLocks noChangeArrowheads="1"/>
          </p:cNvSpPr>
          <p:nvPr/>
        </p:nvSpPr>
        <p:spPr bwMode="auto">
          <a:xfrm>
            <a:off x="827584" y="2857500"/>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i.lexval</a:t>
            </a:r>
            <a:r>
              <a:rPr kumimoji="1" lang="en-US" altLang="zh-CN" sz="2600" b="1" dirty="0">
                <a:latin typeface="+mn-lt"/>
              </a:rPr>
              <a:t>=9</a:t>
            </a:r>
          </a:p>
        </p:txBody>
      </p:sp>
      <p:sp>
        <p:nvSpPr>
          <p:cNvPr id="151568" name="Line 16"/>
          <p:cNvSpPr>
            <a:spLocks noChangeShapeType="1"/>
          </p:cNvSpPr>
          <p:nvPr/>
        </p:nvSpPr>
        <p:spPr bwMode="auto">
          <a:xfrm flipV="1">
            <a:off x="1600200" y="2343150"/>
            <a:ext cx="0" cy="5143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9" name="Rectangle 17"/>
          <p:cNvSpPr>
            <a:spLocks noChangeArrowheads="1"/>
          </p:cNvSpPr>
          <p:nvPr/>
        </p:nvSpPr>
        <p:spPr bwMode="auto">
          <a:xfrm>
            <a:off x="1066800" y="1943100"/>
            <a:ext cx="16002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solidFill>
                  <a:srgbClr val="FF3300"/>
                </a:solidFill>
                <a:latin typeface="+mn-lt"/>
              </a:rPr>
              <a:t>T.val=9</a:t>
            </a:r>
          </a:p>
        </p:txBody>
      </p:sp>
      <p:sp>
        <p:nvSpPr>
          <p:cNvPr id="151570" name="Line 18"/>
          <p:cNvSpPr>
            <a:spLocks noChangeShapeType="1"/>
          </p:cNvSpPr>
          <p:nvPr/>
        </p:nvSpPr>
        <p:spPr bwMode="auto">
          <a:xfrm>
            <a:off x="2514600" y="2114550"/>
            <a:ext cx="533400" cy="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1" name="Rectangle 19"/>
          <p:cNvSpPr>
            <a:spLocks noChangeArrowheads="1"/>
          </p:cNvSpPr>
          <p:nvPr/>
        </p:nvSpPr>
        <p:spPr bwMode="auto">
          <a:xfrm>
            <a:off x="3119438" y="1883668"/>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3366CC"/>
                </a:solidFill>
                <a:latin typeface="+mn-lt"/>
              </a:rPr>
              <a:t>E</a:t>
            </a:r>
            <a:r>
              <a:rPr lang="en-US" altLang="zh-CN" sz="2600" dirty="0">
                <a:solidFill>
                  <a:srgbClr val="0070C0"/>
                </a:solidFill>
              </a:rPr>
              <a:t>'</a:t>
            </a:r>
            <a:r>
              <a:rPr kumimoji="1" lang="en-US" altLang="zh-CN" sz="2600" b="1" dirty="0">
                <a:solidFill>
                  <a:srgbClr val="3366CC"/>
                </a:solidFill>
                <a:latin typeface="+mn-lt"/>
              </a:rPr>
              <a:t>.</a:t>
            </a:r>
            <a:r>
              <a:rPr kumimoji="1" lang="en-US" altLang="zh-CN" sz="2600" b="1" dirty="0" err="1">
                <a:solidFill>
                  <a:srgbClr val="3366CC"/>
                </a:solidFill>
                <a:latin typeface="+mn-lt"/>
              </a:rPr>
              <a:t>i</a:t>
            </a:r>
            <a:r>
              <a:rPr kumimoji="1" lang="en-US" altLang="zh-CN" sz="2600" b="1" dirty="0">
                <a:solidFill>
                  <a:srgbClr val="3366CC"/>
                </a:solidFill>
                <a:latin typeface="+mn-lt"/>
              </a:rPr>
              <a:t>=9</a:t>
            </a:r>
          </a:p>
        </p:txBody>
      </p:sp>
      <p:sp>
        <p:nvSpPr>
          <p:cNvPr id="151572" name="Line 20"/>
          <p:cNvSpPr>
            <a:spLocks noChangeShapeType="1"/>
          </p:cNvSpPr>
          <p:nvPr/>
        </p:nvSpPr>
        <p:spPr bwMode="auto">
          <a:xfrm flipH="1">
            <a:off x="2895600" y="2286000"/>
            <a:ext cx="8382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3" name="Rectangle 21"/>
          <p:cNvSpPr>
            <a:spLocks noChangeArrowheads="1"/>
          </p:cNvSpPr>
          <p:nvPr/>
        </p:nvSpPr>
        <p:spPr bwMode="auto">
          <a:xfrm>
            <a:off x="2743200" y="28575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a:t>
            </a:r>
          </a:p>
        </p:txBody>
      </p:sp>
      <p:sp>
        <p:nvSpPr>
          <p:cNvPr id="151574" name="Line 22"/>
          <p:cNvSpPr>
            <a:spLocks noChangeShapeType="1"/>
          </p:cNvSpPr>
          <p:nvPr/>
        </p:nvSpPr>
        <p:spPr bwMode="auto">
          <a:xfrm flipH="1">
            <a:off x="3810000" y="2286000"/>
            <a:ext cx="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6" name="Rectangle 24"/>
          <p:cNvSpPr>
            <a:spLocks noChangeArrowheads="1"/>
          </p:cNvSpPr>
          <p:nvPr/>
        </p:nvSpPr>
        <p:spPr bwMode="auto">
          <a:xfrm>
            <a:off x="3657600" y="28575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T</a:t>
            </a:r>
          </a:p>
        </p:txBody>
      </p:sp>
      <p:sp>
        <p:nvSpPr>
          <p:cNvPr id="151586" name="Line 34"/>
          <p:cNvSpPr>
            <a:spLocks noChangeShapeType="1"/>
          </p:cNvSpPr>
          <p:nvPr/>
        </p:nvSpPr>
        <p:spPr bwMode="auto">
          <a:xfrm>
            <a:off x="3962400" y="2286000"/>
            <a:ext cx="16764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87" name="Rectangle 35"/>
          <p:cNvSpPr>
            <a:spLocks noChangeArrowheads="1"/>
          </p:cNvSpPr>
          <p:nvPr/>
        </p:nvSpPr>
        <p:spPr bwMode="auto">
          <a:xfrm>
            <a:off x="5486400" y="28575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589" name="Line 37"/>
          <p:cNvSpPr>
            <a:spLocks noChangeShapeType="1"/>
          </p:cNvSpPr>
          <p:nvPr/>
        </p:nvSpPr>
        <p:spPr bwMode="auto">
          <a:xfrm>
            <a:off x="3810000" y="32575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0" name="Rectangle 38"/>
          <p:cNvSpPr>
            <a:spLocks noChangeArrowheads="1"/>
          </p:cNvSpPr>
          <p:nvPr/>
        </p:nvSpPr>
        <p:spPr bwMode="auto">
          <a:xfrm>
            <a:off x="3657600" y="3755876"/>
            <a:ext cx="914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a:t>
            </a:r>
            <a:endParaRPr kumimoji="1" lang="en-US" altLang="zh-CN" sz="2600" b="1" dirty="0">
              <a:latin typeface="+mn-lt"/>
            </a:endParaRPr>
          </a:p>
        </p:txBody>
      </p:sp>
      <p:sp>
        <p:nvSpPr>
          <p:cNvPr id="151591" name="Rectangle 39"/>
          <p:cNvSpPr>
            <a:spLocks noChangeArrowheads="1"/>
          </p:cNvSpPr>
          <p:nvPr/>
        </p:nvSpPr>
        <p:spPr bwMode="auto">
          <a:xfrm>
            <a:off x="3438128" y="3755876"/>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i.lexval</a:t>
            </a:r>
            <a:r>
              <a:rPr kumimoji="1" lang="en-US" altLang="zh-CN" sz="2600" b="1" dirty="0">
                <a:latin typeface="+mn-lt"/>
              </a:rPr>
              <a:t>=5</a:t>
            </a:r>
          </a:p>
        </p:txBody>
      </p:sp>
      <p:sp>
        <p:nvSpPr>
          <p:cNvPr id="151592" name="Line 40"/>
          <p:cNvSpPr>
            <a:spLocks noChangeShapeType="1"/>
          </p:cNvSpPr>
          <p:nvPr/>
        </p:nvSpPr>
        <p:spPr bwMode="auto">
          <a:xfrm flipV="1">
            <a:off x="4191000" y="3257550"/>
            <a:ext cx="0" cy="5143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3" name="Rectangle 41"/>
          <p:cNvSpPr>
            <a:spLocks noChangeArrowheads="1"/>
          </p:cNvSpPr>
          <p:nvPr/>
        </p:nvSpPr>
        <p:spPr bwMode="auto">
          <a:xfrm>
            <a:off x="3657600" y="28575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solidFill>
                  <a:srgbClr val="FF3300"/>
                </a:solidFill>
                <a:latin typeface="+mn-lt"/>
              </a:rPr>
              <a:t>T.val=5</a:t>
            </a:r>
          </a:p>
        </p:txBody>
      </p:sp>
      <p:sp>
        <p:nvSpPr>
          <p:cNvPr id="151594" name="Line 42"/>
          <p:cNvSpPr>
            <a:spLocks noChangeShapeType="1"/>
          </p:cNvSpPr>
          <p:nvPr/>
        </p:nvSpPr>
        <p:spPr bwMode="auto">
          <a:xfrm>
            <a:off x="3962400" y="2400300"/>
            <a:ext cx="1524000" cy="57150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5" name="Line 43"/>
          <p:cNvSpPr>
            <a:spLocks noChangeShapeType="1"/>
          </p:cNvSpPr>
          <p:nvPr/>
        </p:nvSpPr>
        <p:spPr bwMode="auto">
          <a:xfrm>
            <a:off x="4876800" y="3086100"/>
            <a:ext cx="609600" cy="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6" name="Rectangle 44"/>
          <p:cNvSpPr>
            <a:spLocks noChangeArrowheads="1"/>
          </p:cNvSpPr>
          <p:nvPr/>
        </p:nvSpPr>
        <p:spPr bwMode="auto">
          <a:xfrm>
            <a:off x="5486400" y="2859782"/>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0070C0"/>
                </a:solidFill>
                <a:latin typeface="+mn-lt"/>
              </a:rPr>
              <a:t>E</a:t>
            </a:r>
            <a:r>
              <a:rPr lang="en-US" altLang="zh-CN" sz="2600" dirty="0">
                <a:solidFill>
                  <a:srgbClr val="0070C0"/>
                </a:solidFill>
              </a:rPr>
              <a:t>'</a:t>
            </a:r>
            <a:r>
              <a:rPr kumimoji="1" lang="en-US" altLang="zh-CN" sz="2600" b="1" dirty="0">
                <a:solidFill>
                  <a:srgbClr val="0070C0"/>
                </a:solidFill>
                <a:latin typeface="+mn-lt"/>
              </a:rPr>
              <a:t>.</a:t>
            </a:r>
            <a:r>
              <a:rPr kumimoji="1" lang="en-US" altLang="zh-CN" sz="2600" b="1" dirty="0" err="1">
                <a:solidFill>
                  <a:srgbClr val="0070C0"/>
                </a:solidFill>
                <a:latin typeface="+mn-lt"/>
              </a:rPr>
              <a:t>i</a:t>
            </a:r>
            <a:r>
              <a:rPr kumimoji="1" lang="en-US" altLang="zh-CN" sz="2600" b="1" dirty="0">
                <a:solidFill>
                  <a:srgbClr val="0070C0"/>
                </a:solidFill>
                <a:latin typeface="+mn-lt"/>
              </a:rPr>
              <a:t>=4</a:t>
            </a:r>
          </a:p>
        </p:txBody>
      </p:sp>
      <p:sp>
        <p:nvSpPr>
          <p:cNvPr id="151597" name="Line 45"/>
          <p:cNvSpPr>
            <a:spLocks noChangeShapeType="1"/>
          </p:cNvSpPr>
          <p:nvPr/>
        </p:nvSpPr>
        <p:spPr bwMode="auto">
          <a:xfrm flipH="1">
            <a:off x="5562600" y="3200400"/>
            <a:ext cx="6096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8" name="Rectangle 46"/>
          <p:cNvSpPr>
            <a:spLocks noChangeArrowheads="1"/>
          </p:cNvSpPr>
          <p:nvPr/>
        </p:nvSpPr>
        <p:spPr bwMode="auto">
          <a:xfrm>
            <a:off x="5410200" y="37719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a:t>
            </a:r>
          </a:p>
        </p:txBody>
      </p:sp>
      <p:sp>
        <p:nvSpPr>
          <p:cNvPr id="151599" name="Line 47"/>
          <p:cNvSpPr>
            <a:spLocks noChangeShapeType="1"/>
          </p:cNvSpPr>
          <p:nvPr/>
        </p:nvSpPr>
        <p:spPr bwMode="auto">
          <a:xfrm flipH="1">
            <a:off x="6248400" y="3200400"/>
            <a:ext cx="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0" name="Line 48"/>
          <p:cNvSpPr>
            <a:spLocks noChangeShapeType="1"/>
          </p:cNvSpPr>
          <p:nvPr/>
        </p:nvSpPr>
        <p:spPr bwMode="auto">
          <a:xfrm>
            <a:off x="6400800" y="3200400"/>
            <a:ext cx="16764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1" name="Rectangle 49"/>
          <p:cNvSpPr>
            <a:spLocks noChangeArrowheads="1"/>
          </p:cNvSpPr>
          <p:nvPr/>
        </p:nvSpPr>
        <p:spPr bwMode="auto">
          <a:xfrm>
            <a:off x="6096000" y="37719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T</a:t>
            </a:r>
          </a:p>
        </p:txBody>
      </p:sp>
      <p:sp>
        <p:nvSpPr>
          <p:cNvPr id="151602" name="Rectangle 50"/>
          <p:cNvSpPr>
            <a:spLocks noChangeArrowheads="1"/>
          </p:cNvSpPr>
          <p:nvPr/>
        </p:nvSpPr>
        <p:spPr bwMode="auto">
          <a:xfrm>
            <a:off x="7907338" y="38290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603" name="Line 51"/>
          <p:cNvSpPr>
            <a:spLocks noChangeShapeType="1"/>
          </p:cNvSpPr>
          <p:nvPr/>
        </p:nvSpPr>
        <p:spPr bwMode="auto">
          <a:xfrm>
            <a:off x="6324600" y="41719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4" name="Rectangle 52"/>
          <p:cNvSpPr>
            <a:spLocks noChangeArrowheads="1"/>
          </p:cNvSpPr>
          <p:nvPr/>
        </p:nvSpPr>
        <p:spPr bwMode="auto">
          <a:xfrm>
            <a:off x="6210300" y="4619972"/>
            <a:ext cx="495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a:t>
            </a:r>
            <a:endParaRPr kumimoji="1" lang="en-US" altLang="zh-CN" sz="2600" b="1" dirty="0">
              <a:latin typeface="+mn-lt"/>
            </a:endParaRPr>
          </a:p>
        </p:txBody>
      </p:sp>
      <p:sp>
        <p:nvSpPr>
          <p:cNvPr id="151605" name="Rectangle 53"/>
          <p:cNvSpPr>
            <a:spLocks noChangeArrowheads="1"/>
          </p:cNvSpPr>
          <p:nvPr/>
        </p:nvSpPr>
        <p:spPr bwMode="auto">
          <a:xfrm>
            <a:off x="6210300" y="4619972"/>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i.lexval</a:t>
            </a:r>
            <a:r>
              <a:rPr kumimoji="1" lang="en-US" altLang="zh-CN" sz="2600" b="1" dirty="0">
                <a:latin typeface="+mn-lt"/>
              </a:rPr>
              <a:t>=2</a:t>
            </a:r>
          </a:p>
        </p:txBody>
      </p:sp>
      <p:sp>
        <p:nvSpPr>
          <p:cNvPr id="151606" name="Line 54"/>
          <p:cNvSpPr>
            <a:spLocks noChangeShapeType="1"/>
          </p:cNvSpPr>
          <p:nvPr/>
        </p:nvSpPr>
        <p:spPr bwMode="auto">
          <a:xfrm flipV="1">
            <a:off x="6705600" y="4171950"/>
            <a:ext cx="0" cy="5143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7" name="Rectangle 55"/>
          <p:cNvSpPr>
            <a:spLocks noChangeArrowheads="1"/>
          </p:cNvSpPr>
          <p:nvPr/>
        </p:nvSpPr>
        <p:spPr bwMode="auto">
          <a:xfrm>
            <a:off x="6096000" y="37719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solidFill>
                  <a:srgbClr val="FF3300"/>
                </a:solidFill>
                <a:latin typeface="+mn-lt"/>
              </a:rPr>
              <a:t>T.val=2</a:t>
            </a:r>
          </a:p>
        </p:txBody>
      </p:sp>
      <p:sp>
        <p:nvSpPr>
          <p:cNvPr id="151608" name="Line 56"/>
          <p:cNvSpPr>
            <a:spLocks noChangeShapeType="1"/>
          </p:cNvSpPr>
          <p:nvPr/>
        </p:nvSpPr>
        <p:spPr bwMode="auto">
          <a:xfrm>
            <a:off x="6324600" y="3257550"/>
            <a:ext cx="1524000" cy="57150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9" name="Line 57"/>
          <p:cNvSpPr>
            <a:spLocks noChangeShapeType="1"/>
          </p:cNvSpPr>
          <p:nvPr/>
        </p:nvSpPr>
        <p:spPr bwMode="auto">
          <a:xfrm>
            <a:off x="7391400" y="4000500"/>
            <a:ext cx="533400" cy="0"/>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0" name="Rectangle 58"/>
          <p:cNvSpPr>
            <a:spLocks noChangeArrowheads="1"/>
          </p:cNvSpPr>
          <p:nvPr/>
        </p:nvSpPr>
        <p:spPr bwMode="auto">
          <a:xfrm>
            <a:off x="7907338" y="3827884"/>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3366CC"/>
                </a:solidFill>
                <a:latin typeface="+mn-lt"/>
              </a:rPr>
              <a:t>E</a:t>
            </a:r>
            <a:r>
              <a:rPr lang="en-US" altLang="zh-CN" sz="2600" dirty="0">
                <a:solidFill>
                  <a:srgbClr val="0070C0"/>
                </a:solidFill>
              </a:rPr>
              <a:t>'</a:t>
            </a:r>
            <a:r>
              <a:rPr kumimoji="1" lang="en-US" altLang="zh-CN" sz="2600" b="1" dirty="0">
                <a:solidFill>
                  <a:srgbClr val="3366CC"/>
                </a:solidFill>
                <a:latin typeface="+mn-lt"/>
              </a:rPr>
              <a:t>.</a:t>
            </a:r>
            <a:r>
              <a:rPr kumimoji="1" lang="en-US" altLang="zh-CN" sz="2600" b="1" dirty="0" err="1">
                <a:solidFill>
                  <a:srgbClr val="3366CC"/>
                </a:solidFill>
                <a:latin typeface="+mn-lt"/>
              </a:rPr>
              <a:t>i</a:t>
            </a:r>
            <a:r>
              <a:rPr kumimoji="1" lang="en-US" altLang="zh-CN" sz="2600" b="1" dirty="0">
                <a:solidFill>
                  <a:srgbClr val="3366CC"/>
                </a:solidFill>
                <a:latin typeface="+mn-lt"/>
              </a:rPr>
              <a:t>=6</a:t>
            </a:r>
          </a:p>
        </p:txBody>
      </p:sp>
      <p:sp>
        <p:nvSpPr>
          <p:cNvPr id="151611" name="Line 59"/>
          <p:cNvSpPr>
            <a:spLocks noChangeShapeType="1"/>
          </p:cNvSpPr>
          <p:nvPr/>
        </p:nvSpPr>
        <p:spPr bwMode="auto">
          <a:xfrm>
            <a:off x="8153400" y="41719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2" name="Rectangle 60"/>
          <p:cNvSpPr>
            <a:spLocks noChangeArrowheads="1"/>
          </p:cNvSpPr>
          <p:nvPr/>
        </p:nvSpPr>
        <p:spPr bwMode="auto">
          <a:xfrm>
            <a:off x="7696200" y="4572000"/>
            <a:ext cx="914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defRPr/>
            </a:pPr>
            <a:r>
              <a:rPr kumimoji="1" lang="en-US" altLang="zh-CN" sz="2600" b="1">
                <a:latin typeface="+mn-lt"/>
                <a:sym typeface="Symbol" pitchFamily="18" charset="2"/>
              </a:rPr>
              <a:t></a:t>
            </a:r>
            <a:endParaRPr kumimoji="1" lang="en-US" altLang="zh-CN" sz="2600" b="1">
              <a:latin typeface="+mn-lt"/>
            </a:endParaRPr>
          </a:p>
        </p:txBody>
      </p:sp>
      <p:sp>
        <p:nvSpPr>
          <p:cNvPr id="151613" name="Line 61"/>
          <p:cNvSpPr>
            <a:spLocks noChangeShapeType="1"/>
          </p:cNvSpPr>
          <p:nvPr/>
        </p:nvSpPr>
        <p:spPr bwMode="auto">
          <a:xfrm flipV="1">
            <a:off x="8534400" y="3543300"/>
            <a:ext cx="0" cy="28575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4" name="Rectangle 62"/>
          <p:cNvSpPr>
            <a:spLocks noChangeArrowheads="1"/>
          </p:cNvSpPr>
          <p:nvPr/>
        </p:nvSpPr>
        <p:spPr bwMode="auto">
          <a:xfrm>
            <a:off x="7924800" y="33147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.s=6</a:t>
            </a:r>
          </a:p>
        </p:txBody>
      </p:sp>
      <p:sp>
        <p:nvSpPr>
          <p:cNvPr id="151615" name="Line 63"/>
          <p:cNvSpPr>
            <a:spLocks noChangeShapeType="1"/>
          </p:cNvSpPr>
          <p:nvPr/>
        </p:nvSpPr>
        <p:spPr bwMode="auto">
          <a:xfrm flipH="1" flipV="1">
            <a:off x="7010400" y="3200400"/>
            <a:ext cx="990600" cy="34290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6" name="Rectangle 64"/>
          <p:cNvSpPr>
            <a:spLocks noChangeArrowheads="1"/>
          </p:cNvSpPr>
          <p:nvPr/>
        </p:nvSpPr>
        <p:spPr bwMode="auto">
          <a:xfrm>
            <a:off x="6553200" y="28575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.s=6</a:t>
            </a:r>
          </a:p>
        </p:txBody>
      </p:sp>
      <p:sp>
        <p:nvSpPr>
          <p:cNvPr id="151617" name="Line 65"/>
          <p:cNvSpPr>
            <a:spLocks noChangeShapeType="1"/>
          </p:cNvSpPr>
          <p:nvPr/>
        </p:nvSpPr>
        <p:spPr bwMode="auto">
          <a:xfrm flipH="1" flipV="1">
            <a:off x="4876800" y="2286000"/>
            <a:ext cx="1676400" cy="6286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8" name="Rectangle 66"/>
          <p:cNvSpPr>
            <a:spLocks noChangeArrowheads="1"/>
          </p:cNvSpPr>
          <p:nvPr/>
        </p:nvSpPr>
        <p:spPr bwMode="auto">
          <a:xfrm>
            <a:off x="4191000" y="18859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.s=6</a:t>
            </a:r>
          </a:p>
        </p:txBody>
      </p:sp>
      <p:sp>
        <p:nvSpPr>
          <p:cNvPr id="151619" name="Line 67"/>
          <p:cNvSpPr>
            <a:spLocks noChangeShapeType="1"/>
          </p:cNvSpPr>
          <p:nvPr/>
        </p:nvSpPr>
        <p:spPr bwMode="auto">
          <a:xfrm flipH="1" flipV="1">
            <a:off x="2971800" y="1371600"/>
            <a:ext cx="1295400" cy="6286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20" name="Rectangle 68"/>
          <p:cNvSpPr>
            <a:spLocks noChangeArrowheads="1"/>
          </p:cNvSpPr>
          <p:nvPr/>
        </p:nvSpPr>
        <p:spPr bwMode="auto">
          <a:xfrm>
            <a:off x="2209800" y="10858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solidFill>
                  <a:srgbClr val="FF3300"/>
                </a:solidFill>
                <a:latin typeface="+mn-lt"/>
              </a:rPr>
              <a:t>E.val</a:t>
            </a:r>
            <a:r>
              <a:rPr kumimoji="1" lang="en-US" altLang="zh-CN" sz="2600" b="1" dirty="0">
                <a:solidFill>
                  <a:srgbClr val="FF3300"/>
                </a:solidFill>
                <a:latin typeface="+mn-lt"/>
              </a:rPr>
              <a:t>=6</a:t>
            </a:r>
          </a:p>
        </p:txBody>
      </p:sp>
      <p:sp>
        <p:nvSpPr>
          <p:cNvPr id="66613" name="Rectangle 69"/>
          <p:cNvSpPr>
            <a:spLocks noGrp="1" noChangeArrowheads="1"/>
          </p:cNvSpPr>
          <p:nvPr>
            <p:ph type="body" idx="1"/>
          </p:nvPr>
        </p:nvSpPr>
        <p:spPr>
          <a:xfrm>
            <a:off x="5724526" y="-1"/>
            <a:ext cx="3419475" cy="2000251"/>
          </a:xfrm>
          <a:solidFill>
            <a:srgbClr val="FFFF99"/>
          </a:solidFill>
          <a:ln w="15875">
            <a:solidFill>
              <a:srgbClr val="FF0000"/>
            </a:solidFill>
            <a:miter lim="800000"/>
            <a:headEnd/>
            <a:tailEnd/>
          </a:ln>
        </p:spPr>
        <p:txBody>
          <a:bodyPr>
            <a:noAutofit/>
          </a:bodyPr>
          <a:lstStyle/>
          <a:p>
            <a:pPr>
              <a:spcBef>
                <a:spcPct val="0"/>
              </a:spcBef>
              <a:buFont typeface="Wingdings" pitchFamily="2" charset="2"/>
              <a:buNone/>
              <a:defRPr/>
            </a:pPr>
            <a:r>
              <a:rPr lang="en-US" altLang="zh-CN" sz="1600" dirty="0">
                <a:latin typeface="+mn-lt"/>
              </a:rPr>
              <a:t>E</a:t>
            </a:r>
            <a:r>
              <a:rPr lang="en-US" altLang="zh-CN" sz="1600" dirty="0">
                <a:latin typeface="+mn-lt"/>
                <a:sym typeface="Wingdings" panose="05000000000000000000" pitchFamily="2" charset="2"/>
              </a:rPr>
              <a:t></a:t>
            </a:r>
            <a:r>
              <a:rPr lang="en-US" altLang="zh-CN" sz="1600" dirty="0">
                <a:latin typeface="+mn-lt"/>
              </a:rPr>
              <a:t>T </a:t>
            </a:r>
            <a:r>
              <a:rPr lang="en-US" altLang="zh-CN" sz="1600" dirty="0">
                <a:solidFill>
                  <a:srgbClr val="0000FF"/>
                </a:solidFill>
                <a:latin typeface="+mn-lt"/>
              </a:rPr>
              <a:t>{E'.</a:t>
            </a:r>
            <a:r>
              <a:rPr lang="en-US" altLang="zh-CN" sz="1600" dirty="0" err="1">
                <a:solidFill>
                  <a:srgbClr val="0000FF"/>
                </a:solidFill>
                <a:latin typeface="+mn-lt"/>
              </a:rPr>
              <a:t>i</a:t>
            </a:r>
            <a:r>
              <a:rPr lang="en-US" altLang="zh-CN" sz="1600" dirty="0">
                <a:solidFill>
                  <a:srgbClr val="0000FF"/>
                </a:solidFill>
                <a:latin typeface="+mn-lt"/>
              </a:rPr>
              <a:t>:=</a:t>
            </a:r>
            <a:r>
              <a:rPr lang="en-US" altLang="zh-CN" sz="1600" dirty="0" err="1">
                <a:solidFill>
                  <a:srgbClr val="0000FF"/>
                </a:solidFill>
                <a:latin typeface="+mn-lt"/>
              </a:rPr>
              <a:t>T.val</a:t>
            </a:r>
            <a:r>
              <a:rPr lang="en-US" altLang="zh-CN" sz="1600" dirty="0">
                <a:solidFill>
                  <a:srgbClr val="0000FF"/>
                </a:solidFill>
                <a:latin typeface="+mn-lt"/>
              </a:rPr>
              <a:t>} </a:t>
            </a:r>
            <a:r>
              <a:rPr lang="en-US" altLang="zh-CN" sz="1600" dirty="0">
                <a:latin typeface="+mn-lt"/>
              </a:rPr>
              <a:t>E</a:t>
            </a:r>
            <a:r>
              <a:rPr lang="en-US" altLang="zh-CN" sz="1600" dirty="0">
                <a:solidFill>
                  <a:srgbClr val="0000FF"/>
                </a:solidFill>
                <a:latin typeface="+mn-lt"/>
              </a:rPr>
              <a:t>'</a:t>
            </a:r>
            <a:r>
              <a:rPr lang="en-US" altLang="zh-CN" sz="1600" dirty="0">
                <a:latin typeface="+mn-lt"/>
              </a:rPr>
              <a:t> </a:t>
            </a:r>
            <a:r>
              <a:rPr lang="en-US" altLang="zh-CN" sz="1600" dirty="0">
                <a:solidFill>
                  <a:srgbClr val="0000FF"/>
                </a:solidFill>
                <a:latin typeface="+mn-lt"/>
              </a:rPr>
              <a:t>{ </a:t>
            </a:r>
            <a:r>
              <a:rPr lang="en-US" altLang="zh-CN" sz="1600" dirty="0" err="1">
                <a:solidFill>
                  <a:srgbClr val="0000FF"/>
                </a:solidFill>
                <a:latin typeface="+mn-lt"/>
              </a:rPr>
              <a:t>E.val</a:t>
            </a:r>
            <a:r>
              <a:rPr lang="en-US" altLang="zh-CN" sz="1600" dirty="0">
                <a:solidFill>
                  <a:srgbClr val="0000FF"/>
                </a:solidFill>
                <a:latin typeface="+mn-lt"/>
              </a:rPr>
              <a:t>:=E'.s}</a:t>
            </a:r>
          </a:p>
          <a:p>
            <a:pPr>
              <a:spcBef>
                <a:spcPct val="0"/>
              </a:spcBef>
              <a:buFont typeface="Wingdings" pitchFamily="2" charset="2"/>
              <a:buNone/>
              <a:defRPr/>
            </a:pPr>
            <a:r>
              <a:rPr lang="en-US" altLang="zh-CN" sz="1600" dirty="0">
                <a:latin typeface="+mn-lt"/>
              </a:rPr>
              <a:t>E' </a:t>
            </a:r>
            <a:r>
              <a:rPr lang="en-US" altLang="zh-CN" sz="1600" dirty="0">
                <a:latin typeface="+mn-lt"/>
                <a:sym typeface="Wingdings" panose="05000000000000000000" pitchFamily="2" charset="2"/>
              </a:rPr>
              <a:t></a:t>
            </a:r>
            <a:r>
              <a:rPr lang="en-US" altLang="zh-CN" sz="1600" dirty="0">
                <a:latin typeface="+mn-lt"/>
              </a:rPr>
              <a:t>+T</a:t>
            </a:r>
            <a:r>
              <a:rPr lang="en-US" altLang="zh-CN" sz="1600" dirty="0">
                <a:solidFill>
                  <a:srgbClr val="0000FF"/>
                </a:solidFill>
                <a:latin typeface="+mn-lt"/>
              </a:rPr>
              <a:t> {E'</a:t>
            </a:r>
            <a:r>
              <a:rPr lang="en-US" altLang="zh-CN" sz="1600" baseline="-25000" dirty="0">
                <a:solidFill>
                  <a:srgbClr val="0000FF"/>
                </a:solidFill>
                <a:latin typeface="+mn-lt"/>
              </a:rPr>
              <a:t>1</a:t>
            </a:r>
            <a:r>
              <a:rPr lang="en-US" altLang="zh-CN" sz="1600" dirty="0">
                <a:solidFill>
                  <a:srgbClr val="0000FF"/>
                </a:solidFill>
                <a:latin typeface="+mn-lt"/>
              </a:rPr>
              <a:t>.i:=E'.</a:t>
            </a:r>
            <a:r>
              <a:rPr lang="en-US" altLang="zh-CN" sz="1600" dirty="0" err="1">
                <a:solidFill>
                  <a:srgbClr val="0000FF"/>
                </a:solidFill>
                <a:latin typeface="+mn-lt"/>
              </a:rPr>
              <a:t>i+T.val</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	   E'</a:t>
            </a:r>
            <a:r>
              <a:rPr lang="en-US" altLang="zh-CN" sz="1600" baseline="-25000" dirty="0">
                <a:latin typeface="+mn-lt"/>
              </a:rPr>
              <a:t>1  </a:t>
            </a:r>
            <a:r>
              <a:rPr lang="en-US" altLang="zh-CN" sz="1600" dirty="0">
                <a:solidFill>
                  <a:srgbClr val="0000FF"/>
                </a:solidFill>
                <a:latin typeface="+mn-lt"/>
              </a:rPr>
              <a:t>{E'.s:= E'</a:t>
            </a:r>
            <a:r>
              <a:rPr lang="en-US" altLang="zh-CN" sz="1600" baseline="-25000" dirty="0">
                <a:solidFill>
                  <a:srgbClr val="0000FF"/>
                </a:solidFill>
                <a:latin typeface="+mn-lt"/>
              </a:rPr>
              <a:t>1</a:t>
            </a:r>
            <a:r>
              <a:rPr lang="en-US" altLang="zh-CN" sz="1600" dirty="0">
                <a:solidFill>
                  <a:srgbClr val="0000FF"/>
                </a:solidFill>
                <a:latin typeface="+mn-lt"/>
              </a:rPr>
              <a:t>.s }</a:t>
            </a:r>
          </a:p>
          <a:p>
            <a:pPr>
              <a:spcBef>
                <a:spcPct val="0"/>
              </a:spcBef>
              <a:buFont typeface="Wingdings" pitchFamily="2" charset="2"/>
              <a:buNone/>
              <a:defRPr/>
            </a:pPr>
            <a:r>
              <a:rPr lang="en-US" altLang="zh-CN" sz="1600" dirty="0">
                <a:latin typeface="+mn-lt"/>
              </a:rPr>
              <a:t>E' </a:t>
            </a:r>
            <a:r>
              <a:rPr lang="en-US" altLang="zh-CN" sz="1600" dirty="0">
                <a:latin typeface="+mn-lt"/>
                <a:sym typeface="Wingdings" panose="05000000000000000000" pitchFamily="2" charset="2"/>
              </a:rPr>
              <a:t></a:t>
            </a:r>
            <a:r>
              <a:rPr lang="en-US" altLang="zh-CN" sz="1600" dirty="0">
                <a:latin typeface="+mn-lt"/>
              </a:rPr>
              <a:t>-T </a:t>
            </a:r>
            <a:r>
              <a:rPr lang="en-US" altLang="zh-CN" sz="1600" dirty="0">
                <a:solidFill>
                  <a:srgbClr val="0000FF"/>
                </a:solidFill>
                <a:latin typeface="+mn-lt"/>
              </a:rPr>
              <a:t>{ E'</a:t>
            </a:r>
            <a:r>
              <a:rPr lang="en-US" altLang="zh-CN" sz="1600" baseline="-25000" dirty="0">
                <a:solidFill>
                  <a:srgbClr val="0000FF"/>
                </a:solidFill>
                <a:latin typeface="+mn-lt"/>
              </a:rPr>
              <a:t>1</a:t>
            </a:r>
            <a:r>
              <a:rPr lang="en-US" altLang="zh-CN" sz="1600" dirty="0">
                <a:solidFill>
                  <a:srgbClr val="0000FF"/>
                </a:solidFill>
                <a:latin typeface="+mn-lt"/>
              </a:rPr>
              <a:t>.i:=E'.</a:t>
            </a:r>
            <a:r>
              <a:rPr lang="en-US" altLang="zh-CN" sz="1600" dirty="0" err="1">
                <a:solidFill>
                  <a:srgbClr val="0000FF"/>
                </a:solidFill>
                <a:latin typeface="+mn-lt"/>
              </a:rPr>
              <a:t>i-T.val</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	   E'</a:t>
            </a:r>
            <a:r>
              <a:rPr lang="en-US" altLang="zh-CN" sz="1600" baseline="-25000" dirty="0">
                <a:latin typeface="+mn-lt"/>
              </a:rPr>
              <a:t>1</a:t>
            </a:r>
            <a:r>
              <a:rPr lang="en-US" altLang="zh-CN" sz="1600" dirty="0">
                <a:solidFill>
                  <a:srgbClr val="0000FF"/>
                </a:solidFill>
                <a:latin typeface="+mn-lt"/>
              </a:rPr>
              <a:t> { E'.s:= E'</a:t>
            </a:r>
            <a:r>
              <a:rPr lang="en-US" altLang="zh-CN" sz="1600" baseline="-25000" dirty="0">
                <a:solidFill>
                  <a:srgbClr val="0000FF"/>
                </a:solidFill>
                <a:latin typeface="+mn-lt"/>
              </a:rPr>
              <a:t>1</a:t>
            </a:r>
            <a:r>
              <a:rPr lang="en-US" altLang="zh-CN" sz="1600" dirty="0">
                <a:solidFill>
                  <a:srgbClr val="0000FF"/>
                </a:solidFill>
                <a:latin typeface="+mn-lt"/>
              </a:rPr>
              <a:t>.s }</a:t>
            </a:r>
          </a:p>
          <a:p>
            <a:pPr>
              <a:spcBef>
                <a:spcPct val="0"/>
              </a:spcBef>
              <a:buFont typeface="Wingdings" pitchFamily="2" charset="2"/>
              <a:buNone/>
              <a:defRPr/>
            </a:pPr>
            <a:r>
              <a:rPr lang="en-US" altLang="zh-CN" sz="1600" dirty="0">
                <a:latin typeface="+mn-lt"/>
              </a:rPr>
              <a:t>E' </a:t>
            </a:r>
            <a:r>
              <a:rPr lang="en-US" altLang="zh-CN" sz="1600" dirty="0">
                <a:latin typeface="+mn-lt"/>
                <a:sym typeface="Wingdings" panose="05000000000000000000" pitchFamily="2" charset="2"/>
              </a:rPr>
              <a:t></a:t>
            </a:r>
            <a:r>
              <a:rPr lang="en-US" altLang="zh-CN" sz="1600" dirty="0">
                <a:latin typeface="+mn-lt"/>
              </a:rPr>
              <a:t> </a:t>
            </a:r>
            <a:r>
              <a:rPr lang="en-US" altLang="zh-CN" sz="1600" dirty="0">
                <a:latin typeface="+mn-lt"/>
                <a:sym typeface="Symbol" pitchFamily="18" charset="2"/>
              </a:rPr>
              <a:t> </a:t>
            </a:r>
            <a:r>
              <a:rPr lang="en-US" altLang="zh-CN" sz="1600" dirty="0">
                <a:solidFill>
                  <a:srgbClr val="0000FF"/>
                </a:solidFill>
                <a:latin typeface="+mn-lt"/>
              </a:rPr>
              <a:t> { E'.s:=E'.</a:t>
            </a:r>
            <a:r>
              <a:rPr lang="en-US" altLang="zh-CN" sz="1600" dirty="0" err="1">
                <a:solidFill>
                  <a:srgbClr val="0000FF"/>
                </a:solidFill>
                <a:latin typeface="+mn-lt"/>
              </a:rPr>
              <a:t>i</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T </a:t>
            </a:r>
            <a:r>
              <a:rPr lang="en-US" altLang="zh-CN" sz="1600" dirty="0">
                <a:latin typeface="+mn-lt"/>
                <a:sym typeface="Wingdings" panose="05000000000000000000" pitchFamily="2" charset="2"/>
              </a:rPr>
              <a:t></a:t>
            </a:r>
            <a:r>
              <a:rPr lang="en-US" altLang="zh-CN" sz="1600" dirty="0">
                <a:latin typeface="+mn-lt"/>
              </a:rPr>
              <a:t>( E ) </a:t>
            </a:r>
            <a:r>
              <a:rPr lang="en-US" altLang="zh-CN" sz="1600" dirty="0">
                <a:solidFill>
                  <a:srgbClr val="0000FF"/>
                </a:solidFill>
                <a:latin typeface="+mn-lt"/>
              </a:rPr>
              <a:t>{ </a:t>
            </a:r>
            <a:r>
              <a:rPr lang="en-US" altLang="zh-CN" sz="1600" dirty="0" err="1">
                <a:solidFill>
                  <a:srgbClr val="0000FF"/>
                </a:solidFill>
                <a:latin typeface="+mn-lt"/>
              </a:rPr>
              <a:t>T.val</a:t>
            </a:r>
            <a:r>
              <a:rPr lang="en-US" altLang="zh-CN" sz="1600" dirty="0">
                <a:solidFill>
                  <a:srgbClr val="0000FF"/>
                </a:solidFill>
                <a:latin typeface="+mn-lt"/>
              </a:rPr>
              <a:t>:=</a:t>
            </a:r>
            <a:r>
              <a:rPr lang="en-US" altLang="zh-CN" sz="1600" dirty="0" err="1">
                <a:solidFill>
                  <a:srgbClr val="0000FF"/>
                </a:solidFill>
                <a:latin typeface="+mn-lt"/>
              </a:rPr>
              <a:t>E.val</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T </a:t>
            </a:r>
            <a:r>
              <a:rPr lang="en-US" altLang="zh-CN" sz="1600" dirty="0">
                <a:latin typeface="+mn-lt"/>
                <a:sym typeface="Wingdings" panose="05000000000000000000" pitchFamily="2" charset="2"/>
              </a:rPr>
              <a:t></a:t>
            </a:r>
            <a:r>
              <a:rPr lang="en-US" altLang="zh-CN" sz="1600" dirty="0" err="1">
                <a:latin typeface="+mn-lt"/>
                <a:sym typeface="Wingdings" panose="05000000000000000000" pitchFamily="2" charset="2"/>
              </a:rPr>
              <a:t>i</a:t>
            </a:r>
            <a:r>
              <a:rPr lang="en-US" altLang="zh-CN" sz="1600" dirty="0">
                <a:latin typeface="+mn-lt"/>
              </a:rPr>
              <a:t>  </a:t>
            </a:r>
            <a:r>
              <a:rPr lang="en-US" altLang="zh-CN" sz="1600" dirty="0">
                <a:solidFill>
                  <a:srgbClr val="0000FF"/>
                </a:solidFill>
                <a:latin typeface="+mn-lt"/>
              </a:rPr>
              <a:t>{</a:t>
            </a:r>
            <a:r>
              <a:rPr lang="en-US" altLang="zh-CN" sz="1600" dirty="0" err="1">
                <a:solidFill>
                  <a:srgbClr val="0000FF"/>
                </a:solidFill>
                <a:latin typeface="+mn-lt"/>
              </a:rPr>
              <a:t>T.val</a:t>
            </a:r>
            <a:r>
              <a:rPr lang="en-US" altLang="zh-CN" sz="1600" dirty="0">
                <a:solidFill>
                  <a:srgbClr val="0000FF"/>
                </a:solidFill>
                <a:latin typeface="+mn-lt"/>
              </a:rPr>
              <a:t>:=</a:t>
            </a:r>
            <a:r>
              <a:rPr lang="en-US" altLang="zh-CN" sz="1600" dirty="0" err="1">
                <a:solidFill>
                  <a:srgbClr val="0000FF"/>
                </a:solidFill>
                <a:latin typeface="+mn-lt"/>
              </a:rPr>
              <a:t>i.lexval</a:t>
            </a:r>
            <a:r>
              <a:rPr lang="en-US" altLang="zh-CN" sz="1600" dirty="0">
                <a:solidFill>
                  <a:srgbClr val="0000FF"/>
                </a:solidFill>
                <a:latin typeface="+mn-lt"/>
              </a:rPr>
              <a:t> }</a:t>
            </a:r>
          </a:p>
        </p:txBody>
      </p:sp>
    </p:spTree>
    <p:extLst>
      <p:ext uri="{BB962C8B-B14F-4D97-AF65-F5344CB8AC3E}">
        <p14:creationId xmlns:p14="http://schemas.microsoft.com/office/powerpoint/2010/main" val="103240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1559"/>
                                        </p:tgtEl>
                                        <p:attrNameLst>
                                          <p:attrName>style.visibility</p:attrName>
                                        </p:attrNameLst>
                                      </p:cBhvr>
                                      <p:to>
                                        <p:strVal val="visible"/>
                                      </p:to>
                                    </p:set>
                                    <p:animEffect transition="in" filter="wipe(up)">
                                      <p:cBhvr>
                                        <p:cTn id="7" dur="500"/>
                                        <p:tgtEl>
                                          <p:spTgt spid="1515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1561"/>
                                        </p:tgtEl>
                                        <p:attrNameLst>
                                          <p:attrName>style.visibility</p:attrName>
                                        </p:attrNameLst>
                                      </p:cBhvr>
                                      <p:to>
                                        <p:strVal val="visible"/>
                                      </p:to>
                                    </p:set>
                                    <p:animEffect transition="in" filter="wipe(up)">
                                      <p:cBhvr>
                                        <p:cTn id="12" dur="500"/>
                                        <p:tgtEl>
                                          <p:spTgt spid="151561"/>
                                        </p:tgtEl>
                                      </p:cBhvr>
                                    </p:animEffect>
                                  </p:childTnLst>
                                </p:cTn>
                              </p:par>
                              <p:par>
                                <p:cTn id="13" presetID="22" presetClass="entr" presetSubtype="1" fill="hold" nodeType="withEffect">
                                  <p:stCondLst>
                                    <p:cond delay="0"/>
                                  </p:stCondLst>
                                  <p:childTnLst>
                                    <p:set>
                                      <p:cBhvr>
                                        <p:cTn id="14" dur="1" fill="hold">
                                          <p:stCondLst>
                                            <p:cond delay="0"/>
                                          </p:stCondLst>
                                        </p:cTn>
                                        <p:tgtEl>
                                          <p:spTgt spid="151562"/>
                                        </p:tgtEl>
                                        <p:attrNameLst>
                                          <p:attrName>style.visibility</p:attrName>
                                        </p:attrNameLst>
                                      </p:cBhvr>
                                      <p:to>
                                        <p:strVal val="visible"/>
                                      </p:to>
                                    </p:set>
                                    <p:animEffect transition="in" filter="wipe(up)">
                                      <p:cBhvr>
                                        <p:cTn id="15" dur="500"/>
                                        <p:tgtEl>
                                          <p:spTgt spid="15156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1563"/>
                                        </p:tgtEl>
                                        <p:attrNameLst>
                                          <p:attrName>style.visibility</p:attrName>
                                        </p:attrNameLst>
                                      </p:cBhvr>
                                      <p:to>
                                        <p:strVal val="visible"/>
                                      </p:to>
                                    </p:set>
                                    <p:animEffect transition="in" filter="wipe(up)">
                                      <p:cBhvr>
                                        <p:cTn id="20" dur="500"/>
                                        <p:tgtEl>
                                          <p:spTgt spid="151563"/>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51564"/>
                                        </p:tgtEl>
                                        <p:attrNameLst>
                                          <p:attrName>style.visibility</p:attrName>
                                        </p:attrNameLst>
                                      </p:cBhvr>
                                      <p:to>
                                        <p:strVal val="visible"/>
                                      </p:to>
                                    </p:set>
                                    <p:animEffect transition="in" filter="wipe(up)">
                                      <p:cBhvr>
                                        <p:cTn id="23" dur="500"/>
                                        <p:tgtEl>
                                          <p:spTgt spid="1515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51565"/>
                                        </p:tgtEl>
                                        <p:attrNameLst>
                                          <p:attrName>style.visibility</p:attrName>
                                        </p:attrNameLst>
                                      </p:cBhvr>
                                      <p:to>
                                        <p:strVal val="visible"/>
                                      </p:to>
                                    </p:set>
                                    <p:animEffect transition="in" filter="wipe(up)">
                                      <p:cBhvr>
                                        <p:cTn id="28" dur="500"/>
                                        <p:tgtEl>
                                          <p:spTgt spid="15156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1566"/>
                                        </p:tgtEl>
                                        <p:attrNameLst>
                                          <p:attrName>style.visibility</p:attrName>
                                        </p:attrNameLst>
                                      </p:cBhvr>
                                      <p:to>
                                        <p:strVal val="visible"/>
                                      </p:to>
                                    </p:set>
                                    <p:animEffect transition="in" filter="wipe(up)">
                                      <p:cBhvr>
                                        <p:cTn id="33" dur="500"/>
                                        <p:tgtEl>
                                          <p:spTgt spid="15156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51567"/>
                                        </p:tgtEl>
                                        <p:attrNameLst>
                                          <p:attrName>style.visibility</p:attrName>
                                        </p:attrNameLst>
                                      </p:cBhvr>
                                      <p:to>
                                        <p:strVal val="visible"/>
                                      </p:to>
                                    </p:set>
                                    <p:animEffect transition="in" filter="wipe(up)">
                                      <p:cBhvr>
                                        <p:cTn id="38" dur="500"/>
                                        <p:tgtEl>
                                          <p:spTgt spid="15156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151568"/>
                                        </p:tgtEl>
                                        <p:attrNameLst>
                                          <p:attrName>style.visibility</p:attrName>
                                        </p:attrNameLst>
                                      </p:cBhvr>
                                      <p:to>
                                        <p:strVal val="visible"/>
                                      </p:to>
                                    </p:set>
                                    <p:animEffect transition="in" filter="wipe(down)">
                                      <p:cBhvr>
                                        <p:cTn id="43" dur="500"/>
                                        <p:tgtEl>
                                          <p:spTgt spid="15156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51569"/>
                                        </p:tgtEl>
                                        <p:attrNameLst>
                                          <p:attrName>style.visibility</p:attrName>
                                        </p:attrNameLst>
                                      </p:cBhvr>
                                      <p:to>
                                        <p:strVal val="visible"/>
                                      </p:to>
                                    </p:set>
                                    <p:animEffect transition="in" filter="wipe(up)">
                                      <p:cBhvr>
                                        <p:cTn id="48" dur="500"/>
                                        <p:tgtEl>
                                          <p:spTgt spid="15156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51570"/>
                                        </p:tgtEl>
                                        <p:attrNameLst>
                                          <p:attrName>style.visibility</p:attrName>
                                        </p:attrNameLst>
                                      </p:cBhvr>
                                      <p:to>
                                        <p:strVal val="visible"/>
                                      </p:to>
                                    </p:set>
                                    <p:animEffect transition="in" filter="wipe(left)">
                                      <p:cBhvr>
                                        <p:cTn id="53" dur="500"/>
                                        <p:tgtEl>
                                          <p:spTgt spid="15157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51571"/>
                                        </p:tgtEl>
                                        <p:attrNameLst>
                                          <p:attrName>style.visibility</p:attrName>
                                        </p:attrNameLst>
                                      </p:cBhvr>
                                      <p:to>
                                        <p:strVal val="visible"/>
                                      </p:to>
                                    </p:set>
                                    <p:animEffect transition="in" filter="wipe(up)">
                                      <p:cBhvr>
                                        <p:cTn id="58" dur="500"/>
                                        <p:tgtEl>
                                          <p:spTgt spid="15157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151572"/>
                                        </p:tgtEl>
                                        <p:attrNameLst>
                                          <p:attrName>style.visibility</p:attrName>
                                        </p:attrNameLst>
                                      </p:cBhvr>
                                      <p:to>
                                        <p:strVal val="visible"/>
                                      </p:to>
                                    </p:set>
                                    <p:animEffect transition="in" filter="wipe(up)">
                                      <p:cBhvr>
                                        <p:cTn id="63" dur="500"/>
                                        <p:tgtEl>
                                          <p:spTgt spid="151572"/>
                                        </p:tgtEl>
                                      </p:cBhvr>
                                    </p:animEffect>
                                  </p:childTnLst>
                                </p:cTn>
                              </p:par>
                              <p:par>
                                <p:cTn id="64" presetID="22" presetClass="entr" presetSubtype="1" fill="hold" nodeType="withEffect">
                                  <p:stCondLst>
                                    <p:cond delay="0"/>
                                  </p:stCondLst>
                                  <p:childTnLst>
                                    <p:set>
                                      <p:cBhvr>
                                        <p:cTn id="65" dur="1" fill="hold">
                                          <p:stCondLst>
                                            <p:cond delay="0"/>
                                          </p:stCondLst>
                                        </p:cTn>
                                        <p:tgtEl>
                                          <p:spTgt spid="151574"/>
                                        </p:tgtEl>
                                        <p:attrNameLst>
                                          <p:attrName>style.visibility</p:attrName>
                                        </p:attrNameLst>
                                      </p:cBhvr>
                                      <p:to>
                                        <p:strVal val="visible"/>
                                      </p:to>
                                    </p:set>
                                    <p:animEffect transition="in" filter="wipe(up)">
                                      <p:cBhvr>
                                        <p:cTn id="66" dur="500"/>
                                        <p:tgtEl>
                                          <p:spTgt spid="151574"/>
                                        </p:tgtEl>
                                      </p:cBhvr>
                                    </p:animEffect>
                                  </p:childTnLst>
                                </p:cTn>
                              </p:par>
                              <p:par>
                                <p:cTn id="67" presetID="22" presetClass="entr" presetSubtype="1" fill="hold" nodeType="withEffect">
                                  <p:stCondLst>
                                    <p:cond delay="0"/>
                                  </p:stCondLst>
                                  <p:childTnLst>
                                    <p:set>
                                      <p:cBhvr>
                                        <p:cTn id="68" dur="1" fill="hold">
                                          <p:stCondLst>
                                            <p:cond delay="0"/>
                                          </p:stCondLst>
                                        </p:cTn>
                                        <p:tgtEl>
                                          <p:spTgt spid="151586"/>
                                        </p:tgtEl>
                                        <p:attrNameLst>
                                          <p:attrName>style.visibility</p:attrName>
                                        </p:attrNameLst>
                                      </p:cBhvr>
                                      <p:to>
                                        <p:strVal val="visible"/>
                                      </p:to>
                                    </p:set>
                                    <p:animEffect transition="in" filter="wipe(up)">
                                      <p:cBhvr>
                                        <p:cTn id="69" dur="500"/>
                                        <p:tgtEl>
                                          <p:spTgt spid="15158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51573"/>
                                        </p:tgtEl>
                                        <p:attrNameLst>
                                          <p:attrName>style.visibility</p:attrName>
                                        </p:attrNameLst>
                                      </p:cBhvr>
                                      <p:to>
                                        <p:strVal val="visible"/>
                                      </p:to>
                                    </p:set>
                                    <p:animEffect transition="in" filter="wipe(up)">
                                      <p:cBhvr>
                                        <p:cTn id="74" dur="500"/>
                                        <p:tgtEl>
                                          <p:spTgt spid="151573"/>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51576"/>
                                        </p:tgtEl>
                                        <p:attrNameLst>
                                          <p:attrName>style.visibility</p:attrName>
                                        </p:attrNameLst>
                                      </p:cBhvr>
                                      <p:to>
                                        <p:strVal val="visible"/>
                                      </p:to>
                                    </p:set>
                                    <p:animEffect transition="in" filter="wipe(up)">
                                      <p:cBhvr>
                                        <p:cTn id="77" dur="500"/>
                                        <p:tgtEl>
                                          <p:spTgt spid="151576"/>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151587"/>
                                        </p:tgtEl>
                                        <p:attrNameLst>
                                          <p:attrName>style.visibility</p:attrName>
                                        </p:attrNameLst>
                                      </p:cBhvr>
                                      <p:to>
                                        <p:strVal val="visible"/>
                                      </p:to>
                                    </p:set>
                                    <p:animEffect transition="in" filter="wipe(up)">
                                      <p:cBhvr>
                                        <p:cTn id="80" dur="500"/>
                                        <p:tgtEl>
                                          <p:spTgt spid="15158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151589"/>
                                        </p:tgtEl>
                                        <p:attrNameLst>
                                          <p:attrName>style.visibility</p:attrName>
                                        </p:attrNameLst>
                                      </p:cBhvr>
                                      <p:to>
                                        <p:strVal val="visible"/>
                                      </p:to>
                                    </p:set>
                                    <p:animEffect transition="in" filter="wipe(up)">
                                      <p:cBhvr>
                                        <p:cTn id="85" dur="500"/>
                                        <p:tgtEl>
                                          <p:spTgt spid="15158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51590"/>
                                        </p:tgtEl>
                                        <p:attrNameLst>
                                          <p:attrName>style.visibility</p:attrName>
                                        </p:attrNameLst>
                                      </p:cBhvr>
                                      <p:to>
                                        <p:strVal val="visible"/>
                                      </p:to>
                                    </p:set>
                                    <p:animEffect transition="in" filter="wipe(up)">
                                      <p:cBhvr>
                                        <p:cTn id="90" dur="500"/>
                                        <p:tgtEl>
                                          <p:spTgt spid="15159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51591"/>
                                        </p:tgtEl>
                                        <p:attrNameLst>
                                          <p:attrName>style.visibility</p:attrName>
                                        </p:attrNameLst>
                                      </p:cBhvr>
                                      <p:to>
                                        <p:strVal val="visible"/>
                                      </p:to>
                                    </p:set>
                                    <p:animEffect transition="in" filter="wipe(up)">
                                      <p:cBhvr>
                                        <p:cTn id="95" dur="500"/>
                                        <p:tgtEl>
                                          <p:spTgt spid="15159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151592"/>
                                        </p:tgtEl>
                                        <p:attrNameLst>
                                          <p:attrName>style.visibility</p:attrName>
                                        </p:attrNameLst>
                                      </p:cBhvr>
                                      <p:to>
                                        <p:strVal val="visible"/>
                                      </p:to>
                                    </p:set>
                                    <p:animEffect transition="in" filter="wipe(down)">
                                      <p:cBhvr>
                                        <p:cTn id="100" dur="500"/>
                                        <p:tgtEl>
                                          <p:spTgt spid="15159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151593"/>
                                        </p:tgtEl>
                                        <p:attrNameLst>
                                          <p:attrName>style.visibility</p:attrName>
                                        </p:attrNameLst>
                                      </p:cBhvr>
                                      <p:to>
                                        <p:strVal val="visible"/>
                                      </p:to>
                                    </p:set>
                                    <p:animEffect transition="in" filter="wipe(up)">
                                      <p:cBhvr>
                                        <p:cTn id="105" dur="500"/>
                                        <p:tgtEl>
                                          <p:spTgt spid="15159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151594"/>
                                        </p:tgtEl>
                                        <p:attrNameLst>
                                          <p:attrName>style.visibility</p:attrName>
                                        </p:attrNameLst>
                                      </p:cBhvr>
                                      <p:to>
                                        <p:strVal val="visible"/>
                                      </p:to>
                                    </p:set>
                                    <p:animEffect transition="in" filter="wipe(up)">
                                      <p:cBhvr>
                                        <p:cTn id="110" dur="500"/>
                                        <p:tgtEl>
                                          <p:spTgt spid="15159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51595"/>
                                        </p:tgtEl>
                                        <p:attrNameLst>
                                          <p:attrName>style.visibility</p:attrName>
                                        </p:attrNameLst>
                                      </p:cBhvr>
                                      <p:to>
                                        <p:strVal val="visible"/>
                                      </p:to>
                                    </p:set>
                                    <p:animEffect transition="in" filter="wipe(left)">
                                      <p:cBhvr>
                                        <p:cTn id="115" dur="500"/>
                                        <p:tgtEl>
                                          <p:spTgt spid="151595"/>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151596"/>
                                        </p:tgtEl>
                                        <p:attrNameLst>
                                          <p:attrName>style.visibility</p:attrName>
                                        </p:attrNameLst>
                                      </p:cBhvr>
                                      <p:to>
                                        <p:strVal val="visible"/>
                                      </p:to>
                                    </p:set>
                                    <p:animEffect transition="in" filter="wipe(up)">
                                      <p:cBhvr>
                                        <p:cTn id="120" dur="500"/>
                                        <p:tgtEl>
                                          <p:spTgt spid="151596"/>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1" fill="hold" nodeType="clickEffect">
                                  <p:stCondLst>
                                    <p:cond delay="0"/>
                                  </p:stCondLst>
                                  <p:childTnLst>
                                    <p:set>
                                      <p:cBhvr>
                                        <p:cTn id="124" dur="1" fill="hold">
                                          <p:stCondLst>
                                            <p:cond delay="0"/>
                                          </p:stCondLst>
                                        </p:cTn>
                                        <p:tgtEl>
                                          <p:spTgt spid="151597"/>
                                        </p:tgtEl>
                                        <p:attrNameLst>
                                          <p:attrName>style.visibility</p:attrName>
                                        </p:attrNameLst>
                                      </p:cBhvr>
                                      <p:to>
                                        <p:strVal val="visible"/>
                                      </p:to>
                                    </p:set>
                                    <p:animEffect transition="in" filter="wipe(up)">
                                      <p:cBhvr>
                                        <p:cTn id="125" dur="500"/>
                                        <p:tgtEl>
                                          <p:spTgt spid="151597"/>
                                        </p:tgtEl>
                                      </p:cBhvr>
                                    </p:animEffect>
                                  </p:childTnLst>
                                </p:cTn>
                              </p:par>
                              <p:par>
                                <p:cTn id="126" presetID="22" presetClass="entr" presetSubtype="1" fill="hold" nodeType="withEffect">
                                  <p:stCondLst>
                                    <p:cond delay="0"/>
                                  </p:stCondLst>
                                  <p:childTnLst>
                                    <p:set>
                                      <p:cBhvr>
                                        <p:cTn id="127" dur="1" fill="hold">
                                          <p:stCondLst>
                                            <p:cond delay="0"/>
                                          </p:stCondLst>
                                        </p:cTn>
                                        <p:tgtEl>
                                          <p:spTgt spid="151599"/>
                                        </p:tgtEl>
                                        <p:attrNameLst>
                                          <p:attrName>style.visibility</p:attrName>
                                        </p:attrNameLst>
                                      </p:cBhvr>
                                      <p:to>
                                        <p:strVal val="visible"/>
                                      </p:to>
                                    </p:set>
                                    <p:animEffect transition="in" filter="wipe(up)">
                                      <p:cBhvr>
                                        <p:cTn id="128" dur="500"/>
                                        <p:tgtEl>
                                          <p:spTgt spid="151599"/>
                                        </p:tgtEl>
                                      </p:cBhvr>
                                    </p:animEffect>
                                  </p:childTnLst>
                                </p:cTn>
                              </p:par>
                              <p:par>
                                <p:cTn id="129" presetID="22" presetClass="entr" presetSubtype="1" fill="hold" nodeType="withEffect">
                                  <p:stCondLst>
                                    <p:cond delay="0"/>
                                  </p:stCondLst>
                                  <p:childTnLst>
                                    <p:set>
                                      <p:cBhvr>
                                        <p:cTn id="130" dur="1" fill="hold">
                                          <p:stCondLst>
                                            <p:cond delay="0"/>
                                          </p:stCondLst>
                                        </p:cTn>
                                        <p:tgtEl>
                                          <p:spTgt spid="151600"/>
                                        </p:tgtEl>
                                        <p:attrNameLst>
                                          <p:attrName>style.visibility</p:attrName>
                                        </p:attrNameLst>
                                      </p:cBhvr>
                                      <p:to>
                                        <p:strVal val="visible"/>
                                      </p:to>
                                    </p:set>
                                    <p:animEffect transition="in" filter="wipe(up)">
                                      <p:cBhvr>
                                        <p:cTn id="131" dur="500"/>
                                        <p:tgtEl>
                                          <p:spTgt spid="15160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151598"/>
                                        </p:tgtEl>
                                        <p:attrNameLst>
                                          <p:attrName>style.visibility</p:attrName>
                                        </p:attrNameLst>
                                      </p:cBhvr>
                                      <p:to>
                                        <p:strVal val="visible"/>
                                      </p:to>
                                    </p:set>
                                    <p:animEffect transition="in" filter="wipe(up)">
                                      <p:cBhvr>
                                        <p:cTn id="136" dur="500"/>
                                        <p:tgtEl>
                                          <p:spTgt spid="151598"/>
                                        </p:tgtEl>
                                      </p:cBhvr>
                                    </p:animEffect>
                                  </p:childTnLst>
                                </p:cTn>
                              </p:par>
                              <p:par>
                                <p:cTn id="137" presetID="22" presetClass="entr" presetSubtype="1" fill="hold" grpId="0" nodeType="withEffect">
                                  <p:stCondLst>
                                    <p:cond delay="0"/>
                                  </p:stCondLst>
                                  <p:childTnLst>
                                    <p:set>
                                      <p:cBhvr>
                                        <p:cTn id="138" dur="1" fill="hold">
                                          <p:stCondLst>
                                            <p:cond delay="0"/>
                                          </p:stCondLst>
                                        </p:cTn>
                                        <p:tgtEl>
                                          <p:spTgt spid="151601"/>
                                        </p:tgtEl>
                                        <p:attrNameLst>
                                          <p:attrName>style.visibility</p:attrName>
                                        </p:attrNameLst>
                                      </p:cBhvr>
                                      <p:to>
                                        <p:strVal val="visible"/>
                                      </p:to>
                                    </p:set>
                                    <p:animEffect transition="in" filter="wipe(up)">
                                      <p:cBhvr>
                                        <p:cTn id="139" dur="500"/>
                                        <p:tgtEl>
                                          <p:spTgt spid="151601"/>
                                        </p:tgtEl>
                                      </p:cBhvr>
                                    </p:animEffect>
                                  </p:childTnLst>
                                </p:cTn>
                              </p:par>
                              <p:par>
                                <p:cTn id="140" presetID="22" presetClass="entr" presetSubtype="1" fill="hold" grpId="0" nodeType="withEffect">
                                  <p:stCondLst>
                                    <p:cond delay="0"/>
                                  </p:stCondLst>
                                  <p:childTnLst>
                                    <p:set>
                                      <p:cBhvr>
                                        <p:cTn id="141" dur="1" fill="hold">
                                          <p:stCondLst>
                                            <p:cond delay="0"/>
                                          </p:stCondLst>
                                        </p:cTn>
                                        <p:tgtEl>
                                          <p:spTgt spid="151602"/>
                                        </p:tgtEl>
                                        <p:attrNameLst>
                                          <p:attrName>style.visibility</p:attrName>
                                        </p:attrNameLst>
                                      </p:cBhvr>
                                      <p:to>
                                        <p:strVal val="visible"/>
                                      </p:to>
                                    </p:set>
                                    <p:animEffect transition="in" filter="wipe(up)">
                                      <p:cBhvr>
                                        <p:cTn id="142" dur="500"/>
                                        <p:tgtEl>
                                          <p:spTgt spid="151602"/>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1" fill="hold" nodeType="clickEffect">
                                  <p:stCondLst>
                                    <p:cond delay="0"/>
                                  </p:stCondLst>
                                  <p:childTnLst>
                                    <p:set>
                                      <p:cBhvr>
                                        <p:cTn id="146" dur="1" fill="hold">
                                          <p:stCondLst>
                                            <p:cond delay="0"/>
                                          </p:stCondLst>
                                        </p:cTn>
                                        <p:tgtEl>
                                          <p:spTgt spid="151603"/>
                                        </p:tgtEl>
                                        <p:attrNameLst>
                                          <p:attrName>style.visibility</p:attrName>
                                        </p:attrNameLst>
                                      </p:cBhvr>
                                      <p:to>
                                        <p:strVal val="visible"/>
                                      </p:to>
                                    </p:set>
                                    <p:animEffect transition="in" filter="wipe(up)">
                                      <p:cBhvr>
                                        <p:cTn id="147" dur="500"/>
                                        <p:tgtEl>
                                          <p:spTgt spid="151603"/>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51604"/>
                                        </p:tgtEl>
                                        <p:attrNameLst>
                                          <p:attrName>style.visibility</p:attrName>
                                        </p:attrNameLst>
                                      </p:cBhvr>
                                      <p:to>
                                        <p:strVal val="visible"/>
                                      </p:to>
                                    </p:set>
                                    <p:animEffect transition="in" filter="wipe(up)">
                                      <p:cBhvr>
                                        <p:cTn id="152" dur="500"/>
                                        <p:tgtEl>
                                          <p:spTgt spid="15160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151605"/>
                                        </p:tgtEl>
                                        <p:attrNameLst>
                                          <p:attrName>style.visibility</p:attrName>
                                        </p:attrNameLst>
                                      </p:cBhvr>
                                      <p:to>
                                        <p:strVal val="visible"/>
                                      </p:to>
                                    </p:set>
                                    <p:animEffect transition="in" filter="wipe(up)">
                                      <p:cBhvr>
                                        <p:cTn id="157" dur="500"/>
                                        <p:tgtEl>
                                          <p:spTgt spid="151605"/>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4" fill="hold" nodeType="clickEffect">
                                  <p:stCondLst>
                                    <p:cond delay="0"/>
                                  </p:stCondLst>
                                  <p:childTnLst>
                                    <p:set>
                                      <p:cBhvr>
                                        <p:cTn id="161" dur="1" fill="hold">
                                          <p:stCondLst>
                                            <p:cond delay="0"/>
                                          </p:stCondLst>
                                        </p:cTn>
                                        <p:tgtEl>
                                          <p:spTgt spid="151606"/>
                                        </p:tgtEl>
                                        <p:attrNameLst>
                                          <p:attrName>style.visibility</p:attrName>
                                        </p:attrNameLst>
                                      </p:cBhvr>
                                      <p:to>
                                        <p:strVal val="visible"/>
                                      </p:to>
                                    </p:set>
                                    <p:animEffect transition="in" filter="wipe(down)">
                                      <p:cBhvr>
                                        <p:cTn id="162" dur="500"/>
                                        <p:tgtEl>
                                          <p:spTgt spid="151606"/>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1" fill="hold" grpId="0" nodeType="clickEffect">
                                  <p:stCondLst>
                                    <p:cond delay="0"/>
                                  </p:stCondLst>
                                  <p:childTnLst>
                                    <p:set>
                                      <p:cBhvr>
                                        <p:cTn id="166" dur="1" fill="hold">
                                          <p:stCondLst>
                                            <p:cond delay="0"/>
                                          </p:stCondLst>
                                        </p:cTn>
                                        <p:tgtEl>
                                          <p:spTgt spid="151607"/>
                                        </p:tgtEl>
                                        <p:attrNameLst>
                                          <p:attrName>style.visibility</p:attrName>
                                        </p:attrNameLst>
                                      </p:cBhvr>
                                      <p:to>
                                        <p:strVal val="visible"/>
                                      </p:to>
                                    </p:set>
                                    <p:animEffect transition="in" filter="wipe(up)">
                                      <p:cBhvr>
                                        <p:cTn id="167" dur="500"/>
                                        <p:tgtEl>
                                          <p:spTgt spid="151607"/>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1" fill="hold" nodeType="clickEffect">
                                  <p:stCondLst>
                                    <p:cond delay="0"/>
                                  </p:stCondLst>
                                  <p:childTnLst>
                                    <p:set>
                                      <p:cBhvr>
                                        <p:cTn id="171" dur="1" fill="hold">
                                          <p:stCondLst>
                                            <p:cond delay="0"/>
                                          </p:stCondLst>
                                        </p:cTn>
                                        <p:tgtEl>
                                          <p:spTgt spid="151608"/>
                                        </p:tgtEl>
                                        <p:attrNameLst>
                                          <p:attrName>style.visibility</p:attrName>
                                        </p:attrNameLst>
                                      </p:cBhvr>
                                      <p:to>
                                        <p:strVal val="visible"/>
                                      </p:to>
                                    </p:set>
                                    <p:animEffect transition="in" filter="wipe(up)">
                                      <p:cBhvr>
                                        <p:cTn id="172" dur="500"/>
                                        <p:tgtEl>
                                          <p:spTgt spid="151608"/>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151609"/>
                                        </p:tgtEl>
                                        <p:attrNameLst>
                                          <p:attrName>style.visibility</p:attrName>
                                        </p:attrNameLst>
                                      </p:cBhvr>
                                      <p:to>
                                        <p:strVal val="visible"/>
                                      </p:to>
                                    </p:set>
                                    <p:animEffect transition="in" filter="wipe(left)">
                                      <p:cBhvr>
                                        <p:cTn id="177" dur="500"/>
                                        <p:tgtEl>
                                          <p:spTgt spid="151609"/>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1" fill="hold" grpId="0" nodeType="clickEffect">
                                  <p:stCondLst>
                                    <p:cond delay="0"/>
                                  </p:stCondLst>
                                  <p:childTnLst>
                                    <p:set>
                                      <p:cBhvr>
                                        <p:cTn id="181" dur="1" fill="hold">
                                          <p:stCondLst>
                                            <p:cond delay="0"/>
                                          </p:stCondLst>
                                        </p:cTn>
                                        <p:tgtEl>
                                          <p:spTgt spid="151610"/>
                                        </p:tgtEl>
                                        <p:attrNameLst>
                                          <p:attrName>style.visibility</p:attrName>
                                        </p:attrNameLst>
                                      </p:cBhvr>
                                      <p:to>
                                        <p:strVal val="visible"/>
                                      </p:to>
                                    </p:set>
                                    <p:animEffect transition="in" filter="wipe(up)">
                                      <p:cBhvr>
                                        <p:cTn id="182" dur="500"/>
                                        <p:tgtEl>
                                          <p:spTgt spid="151610"/>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1" fill="hold" nodeType="clickEffect">
                                  <p:stCondLst>
                                    <p:cond delay="0"/>
                                  </p:stCondLst>
                                  <p:childTnLst>
                                    <p:set>
                                      <p:cBhvr>
                                        <p:cTn id="186" dur="1" fill="hold">
                                          <p:stCondLst>
                                            <p:cond delay="0"/>
                                          </p:stCondLst>
                                        </p:cTn>
                                        <p:tgtEl>
                                          <p:spTgt spid="151611"/>
                                        </p:tgtEl>
                                        <p:attrNameLst>
                                          <p:attrName>style.visibility</p:attrName>
                                        </p:attrNameLst>
                                      </p:cBhvr>
                                      <p:to>
                                        <p:strVal val="visible"/>
                                      </p:to>
                                    </p:set>
                                    <p:animEffect transition="in" filter="wipe(up)">
                                      <p:cBhvr>
                                        <p:cTn id="187" dur="500"/>
                                        <p:tgtEl>
                                          <p:spTgt spid="151611"/>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1" fill="hold" grpId="0" nodeType="clickEffect">
                                  <p:stCondLst>
                                    <p:cond delay="0"/>
                                  </p:stCondLst>
                                  <p:childTnLst>
                                    <p:set>
                                      <p:cBhvr>
                                        <p:cTn id="191" dur="1" fill="hold">
                                          <p:stCondLst>
                                            <p:cond delay="0"/>
                                          </p:stCondLst>
                                        </p:cTn>
                                        <p:tgtEl>
                                          <p:spTgt spid="151612"/>
                                        </p:tgtEl>
                                        <p:attrNameLst>
                                          <p:attrName>style.visibility</p:attrName>
                                        </p:attrNameLst>
                                      </p:cBhvr>
                                      <p:to>
                                        <p:strVal val="visible"/>
                                      </p:to>
                                    </p:set>
                                    <p:animEffect transition="in" filter="wipe(up)">
                                      <p:cBhvr>
                                        <p:cTn id="192" dur="500"/>
                                        <p:tgtEl>
                                          <p:spTgt spid="151612"/>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4" fill="hold" nodeType="clickEffect">
                                  <p:stCondLst>
                                    <p:cond delay="0"/>
                                  </p:stCondLst>
                                  <p:childTnLst>
                                    <p:set>
                                      <p:cBhvr>
                                        <p:cTn id="196" dur="1" fill="hold">
                                          <p:stCondLst>
                                            <p:cond delay="0"/>
                                          </p:stCondLst>
                                        </p:cTn>
                                        <p:tgtEl>
                                          <p:spTgt spid="151613"/>
                                        </p:tgtEl>
                                        <p:attrNameLst>
                                          <p:attrName>style.visibility</p:attrName>
                                        </p:attrNameLst>
                                      </p:cBhvr>
                                      <p:to>
                                        <p:strVal val="visible"/>
                                      </p:to>
                                    </p:set>
                                    <p:animEffect transition="in" filter="wipe(down)">
                                      <p:cBhvr>
                                        <p:cTn id="197" dur="500"/>
                                        <p:tgtEl>
                                          <p:spTgt spid="151613"/>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1" fill="hold" grpId="0" nodeType="clickEffect">
                                  <p:stCondLst>
                                    <p:cond delay="0"/>
                                  </p:stCondLst>
                                  <p:childTnLst>
                                    <p:set>
                                      <p:cBhvr>
                                        <p:cTn id="201" dur="1" fill="hold">
                                          <p:stCondLst>
                                            <p:cond delay="0"/>
                                          </p:stCondLst>
                                        </p:cTn>
                                        <p:tgtEl>
                                          <p:spTgt spid="151614"/>
                                        </p:tgtEl>
                                        <p:attrNameLst>
                                          <p:attrName>style.visibility</p:attrName>
                                        </p:attrNameLst>
                                      </p:cBhvr>
                                      <p:to>
                                        <p:strVal val="visible"/>
                                      </p:to>
                                    </p:set>
                                    <p:animEffect transition="in" filter="wipe(up)">
                                      <p:cBhvr>
                                        <p:cTn id="202" dur="500"/>
                                        <p:tgtEl>
                                          <p:spTgt spid="151614"/>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4" fill="hold" nodeType="clickEffect">
                                  <p:stCondLst>
                                    <p:cond delay="0"/>
                                  </p:stCondLst>
                                  <p:childTnLst>
                                    <p:set>
                                      <p:cBhvr>
                                        <p:cTn id="206" dur="1" fill="hold">
                                          <p:stCondLst>
                                            <p:cond delay="0"/>
                                          </p:stCondLst>
                                        </p:cTn>
                                        <p:tgtEl>
                                          <p:spTgt spid="151615"/>
                                        </p:tgtEl>
                                        <p:attrNameLst>
                                          <p:attrName>style.visibility</p:attrName>
                                        </p:attrNameLst>
                                      </p:cBhvr>
                                      <p:to>
                                        <p:strVal val="visible"/>
                                      </p:to>
                                    </p:set>
                                    <p:animEffect transition="in" filter="wipe(down)">
                                      <p:cBhvr>
                                        <p:cTn id="207" dur="500"/>
                                        <p:tgtEl>
                                          <p:spTgt spid="151615"/>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1" fill="hold" grpId="0" nodeType="clickEffect">
                                  <p:stCondLst>
                                    <p:cond delay="0"/>
                                  </p:stCondLst>
                                  <p:childTnLst>
                                    <p:set>
                                      <p:cBhvr>
                                        <p:cTn id="211" dur="1" fill="hold">
                                          <p:stCondLst>
                                            <p:cond delay="0"/>
                                          </p:stCondLst>
                                        </p:cTn>
                                        <p:tgtEl>
                                          <p:spTgt spid="151616"/>
                                        </p:tgtEl>
                                        <p:attrNameLst>
                                          <p:attrName>style.visibility</p:attrName>
                                        </p:attrNameLst>
                                      </p:cBhvr>
                                      <p:to>
                                        <p:strVal val="visible"/>
                                      </p:to>
                                    </p:set>
                                    <p:animEffect transition="in" filter="wipe(up)">
                                      <p:cBhvr>
                                        <p:cTn id="212" dur="500"/>
                                        <p:tgtEl>
                                          <p:spTgt spid="151616"/>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22" presetClass="entr" presetSubtype="4" fill="hold" nodeType="clickEffect">
                                  <p:stCondLst>
                                    <p:cond delay="0"/>
                                  </p:stCondLst>
                                  <p:childTnLst>
                                    <p:set>
                                      <p:cBhvr>
                                        <p:cTn id="216" dur="1" fill="hold">
                                          <p:stCondLst>
                                            <p:cond delay="0"/>
                                          </p:stCondLst>
                                        </p:cTn>
                                        <p:tgtEl>
                                          <p:spTgt spid="151617"/>
                                        </p:tgtEl>
                                        <p:attrNameLst>
                                          <p:attrName>style.visibility</p:attrName>
                                        </p:attrNameLst>
                                      </p:cBhvr>
                                      <p:to>
                                        <p:strVal val="visible"/>
                                      </p:to>
                                    </p:set>
                                    <p:animEffect transition="in" filter="wipe(down)">
                                      <p:cBhvr>
                                        <p:cTn id="217" dur="500"/>
                                        <p:tgtEl>
                                          <p:spTgt spid="151617"/>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151618"/>
                                        </p:tgtEl>
                                        <p:attrNameLst>
                                          <p:attrName>style.visibility</p:attrName>
                                        </p:attrNameLst>
                                      </p:cBhvr>
                                      <p:to>
                                        <p:strVal val="visible"/>
                                      </p:to>
                                    </p:set>
                                    <p:animEffect transition="in" filter="wipe(up)">
                                      <p:cBhvr>
                                        <p:cTn id="222" dur="500"/>
                                        <p:tgtEl>
                                          <p:spTgt spid="151618"/>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4" fill="hold" nodeType="clickEffect">
                                  <p:stCondLst>
                                    <p:cond delay="0"/>
                                  </p:stCondLst>
                                  <p:childTnLst>
                                    <p:set>
                                      <p:cBhvr>
                                        <p:cTn id="226" dur="1" fill="hold">
                                          <p:stCondLst>
                                            <p:cond delay="0"/>
                                          </p:stCondLst>
                                        </p:cTn>
                                        <p:tgtEl>
                                          <p:spTgt spid="151619"/>
                                        </p:tgtEl>
                                        <p:attrNameLst>
                                          <p:attrName>style.visibility</p:attrName>
                                        </p:attrNameLst>
                                      </p:cBhvr>
                                      <p:to>
                                        <p:strVal val="visible"/>
                                      </p:to>
                                    </p:set>
                                    <p:animEffect transition="in" filter="wipe(down)">
                                      <p:cBhvr>
                                        <p:cTn id="227" dur="500"/>
                                        <p:tgtEl>
                                          <p:spTgt spid="151619"/>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2" presetClass="entr" presetSubtype="1" fill="hold" grpId="0" nodeType="clickEffect">
                                  <p:stCondLst>
                                    <p:cond delay="0"/>
                                  </p:stCondLst>
                                  <p:childTnLst>
                                    <p:set>
                                      <p:cBhvr>
                                        <p:cTn id="231" dur="1" fill="hold">
                                          <p:stCondLst>
                                            <p:cond delay="0"/>
                                          </p:stCondLst>
                                        </p:cTn>
                                        <p:tgtEl>
                                          <p:spTgt spid="151620"/>
                                        </p:tgtEl>
                                        <p:attrNameLst>
                                          <p:attrName>style.visibility</p:attrName>
                                        </p:attrNameLst>
                                      </p:cBhvr>
                                      <p:to>
                                        <p:strVal val="visible"/>
                                      </p:to>
                                    </p:set>
                                    <p:animEffect transition="in" filter="wipe(up)">
                                      <p:cBhvr>
                                        <p:cTn id="232" dur="500"/>
                                        <p:tgtEl>
                                          <p:spTgt spid="151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9" grpId="0" autoUpdateAnimBg="0"/>
      <p:bldP spid="151563" grpId="0" autoUpdateAnimBg="0"/>
      <p:bldP spid="151564" grpId="0" autoUpdateAnimBg="0"/>
      <p:bldP spid="151566" grpId="0" autoUpdateAnimBg="0"/>
      <p:bldP spid="151567" grpId="0" autoUpdateAnimBg="0"/>
      <p:bldP spid="151569" grpId="0" autoUpdateAnimBg="0"/>
      <p:bldP spid="151571" grpId="0" autoUpdateAnimBg="0"/>
      <p:bldP spid="151573" grpId="0" autoUpdateAnimBg="0"/>
      <p:bldP spid="151576" grpId="0" autoUpdateAnimBg="0"/>
      <p:bldP spid="151587" grpId="0" autoUpdateAnimBg="0"/>
      <p:bldP spid="151590" grpId="0" autoUpdateAnimBg="0"/>
      <p:bldP spid="151591" grpId="0" autoUpdateAnimBg="0"/>
      <p:bldP spid="151593" grpId="0" autoUpdateAnimBg="0"/>
      <p:bldP spid="151596" grpId="0" autoUpdateAnimBg="0"/>
      <p:bldP spid="151598" grpId="0" autoUpdateAnimBg="0"/>
      <p:bldP spid="151601" grpId="0" autoUpdateAnimBg="0"/>
      <p:bldP spid="151602" grpId="0" autoUpdateAnimBg="0"/>
      <p:bldP spid="151604" grpId="0" autoUpdateAnimBg="0"/>
      <p:bldP spid="151605" grpId="0" autoUpdateAnimBg="0"/>
      <p:bldP spid="151607" grpId="0" autoUpdateAnimBg="0"/>
      <p:bldP spid="151610" grpId="0" autoUpdateAnimBg="0"/>
      <p:bldP spid="151612" grpId="0" autoUpdateAnimBg="0"/>
      <p:bldP spid="151614" grpId="0" autoUpdateAnimBg="0"/>
      <p:bldP spid="151616" grpId="0" autoUpdateAnimBg="0"/>
      <p:bldP spid="151618" grpId="0" autoUpdateAnimBg="0"/>
      <p:bldP spid="151620"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07504" y="56683"/>
          <a:ext cx="5040238" cy="858883"/>
        </p:xfrm>
        <a:graphic>
          <a:graphicData uri="http://schemas.openxmlformats.org/drawingml/2006/table">
            <a:tbl>
              <a:tblPr firstRow="1" firstCol="1" bandRow="1"/>
              <a:tblGrid>
                <a:gridCol w="1583854">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tblGrid>
              <a:tr h="27432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110490"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84563">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endParaRPr lang="zh-CN" sz="1600" kern="100" dirty="0">
                        <a:effectLst/>
                        <a:latin typeface="Times New Roman" panose="02020603050405020304" pitchFamily="18" charset="0"/>
                        <a:ea typeface="宋体" panose="02010600030101010101" pitchFamily="2" charset="-122"/>
                      </a:endParaRP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 E.val = 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.val + T.val}</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 E.val = T.val}</a:t>
                      </a:r>
                      <a:endParaRPr lang="zh-CN" sz="1600" kern="100" dirty="0">
                        <a:effectLst/>
                        <a:latin typeface="Times New Roman" panose="02020603050405020304" pitchFamily="18" charset="0"/>
                        <a:ea typeface="宋体" panose="02010600030101010101" pitchFamily="2" charset="-122"/>
                      </a:endParaRP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7" name="表格 6"/>
          <p:cNvGraphicFramePr>
            <a:graphicFrameLocks noGrp="1"/>
          </p:cNvGraphicFramePr>
          <p:nvPr/>
        </p:nvGraphicFramePr>
        <p:xfrm>
          <a:off x="35434" y="1491630"/>
          <a:ext cx="5760763" cy="1080120"/>
        </p:xfrm>
        <a:graphic>
          <a:graphicData uri="http://schemas.openxmlformats.org/drawingml/2006/table">
            <a:tbl>
              <a:tblPr firstRow="1" firstCol="1" bandRow="1"/>
              <a:tblGrid>
                <a:gridCol w="1656307">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25146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翻译模式</a:t>
                      </a: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8660">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 E</a:t>
                      </a:r>
                      <a:r>
                        <a:rPr lang="pt-PT" sz="1600" kern="100" dirty="0">
                          <a:effectLst/>
                          <a:latin typeface="Times New Roman" panose="02020603050405020304" pitchFamily="18" charset="0"/>
                          <a:ea typeface="宋体" panose="02010600030101010101" pitchFamily="2" charset="-12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endParaRPr lang="zh-CN" sz="1600" kern="100" dirty="0">
                        <a:effectLst/>
                        <a:latin typeface="Times New Roman" panose="02020603050405020304" pitchFamily="18" charset="0"/>
                        <a:ea typeface="宋体" panose="02010600030101010101" pitchFamily="2" charset="-122"/>
                      </a:endParaRP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.i = T.val}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 E.val =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.s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 {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.i = E</a:t>
                      </a:r>
                      <a:r>
                        <a:rPr lang="pt-PT" alt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.i + T.val }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 {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.s =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.s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r>
                        <a:rPr lang="fr-FR" sz="1600" kern="100" dirty="0">
                          <a:effectLst/>
                          <a:latin typeface="Times New Roman" panose="02020603050405020304" pitchFamily="18" charset="0"/>
                          <a:ea typeface="宋体" panose="02010600030101010101" pitchFamily="2" charset="-122"/>
                        </a:rPr>
                        <a:t>{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.s =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nvGraphicFramePr>
        <p:xfrm>
          <a:off x="6228184" y="931094"/>
          <a:ext cx="2736304" cy="920576"/>
        </p:xfrm>
        <a:graphic>
          <a:graphicData uri="http://schemas.openxmlformats.org/drawingml/2006/table">
            <a:tbl>
              <a:tblPr firstRow="1" firstCol="1" bandRow="1"/>
              <a:tblGrid>
                <a:gridCol w="1440160">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310976">
                <a:tc>
                  <a:txBody>
                    <a:bodyPr/>
                    <a:lstStyle/>
                    <a:p>
                      <a:pPr algn="just">
                        <a:spcAft>
                          <a:spcPts val="0"/>
                        </a:spcAft>
                      </a:pPr>
                      <a:r>
                        <a:rPr lang="zh-CN" sz="2000" kern="100" dirty="0">
                          <a:effectLst/>
                          <a:latin typeface="宋体" panose="02010600030101010101" pitchFamily="2" charset="-122"/>
                          <a:ea typeface="宋体" panose="02010600030101010101" pitchFamily="2" charset="-122"/>
                        </a:rPr>
                        <a:t>左递归文法</a:t>
                      </a:r>
                    </a:p>
                  </a:txBody>
                  <a:tcPr marL="68584" marR="6858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2000" kern="100" dirty="0">
                          <a:effectLst/>
                          <a:latin typeface="宋体" panose="02010600030101010101" pitchFamily="2" charset="-122"/>
                          <a:ea typeface="宋体" panose="02010600030101010101" pitchFamily="2" charset="-122"/>
                        </a:rPr>
                        <a:t>A→AY | X</a:t>
                      </a:r>
                      <a:endParaRPr lang="zh-CN" sz="2000" kern="100" dirty="0">
                        <a:effectLst/>
                        <a:latin typeface="宋体" panose="02010600030101010101" pitchFamily="2" charset="-122"/>
                        <a:ea typeface="宋体" panose="02010600030101010101" pitchFamily="2" charset="-122"/>
                      </a:endParaRP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9598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zh-CN" sz="2000" kern="100" dirty="0">
                          <a:effectLst/>
                          <a:latin typeface="宋体" panose="02010600030101010101" pitchFamily="2" charset="-122"/>
                          <a:ea typeface="宋体" panose="02010600030101010101" pitchFamily="2" charset="-122"/>
                        </a:rPr>
                        <a:t>非左递归文法</a:t>
                      </a:r>
                    </a:p>
                  </a:txBody>
                  <a:tcPr marL="68584" marR="6858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effectLst/>
                          <a:latin typeface="宋体" panose="02010600030101010101" pitchFamily="2" charset="-122"/>
                          <a:ea typeface="宋体" panose="02010600030101010101" pitchFamily="2" charset="-122"/>
                        </a:rPr>
                        <a:t>A→XR</a:t>
                      </a:r>
                      <a:endParaRPr lang="zh-CN" sz="2000" kern="100" dirty="0">
                        <a:effectLst/>
                        <a:latin typeface="宋体" panose="02010600030101010101" pitchFamily="2" charset="-122"/>
                        <a:ea typeface="宋体" panose="02010600030101010101" pitchFamily="2" charset="-122"/>
                      </a:endParaRPr>
                    </a:p>
                    <a:p>
                      <a:pPr algn="just">
                        <a:spcAft>
                          <a:spcPts val="0"/>
                        </a:spcAft>
                      </a:pPr>
                      <a:r>
                        <a:rPr lang="en-US" sz="2000" kern="100" dirty="0">
                          <a:effectLst/>
                          <a:latin typeface="宋体" panose="02010600030101010101" pitchFamily="2" charset="-122"/>
                          <a:ea typeface="宋体" panose="02010600030101010101" pitchFamily="2" charset="-122"/>
                        </a:rPr>
                        <a:t>R→YR | </a:t>
                      </a:r>
                      <a:r>
                        <a:rPr lang="en-US" sz="2000" kern="100" dirty="0">
                          <a:effectLst/>
                          <a:latin typeface="宋体" panose="02010600030101010101" pitchFamily="2" charset="-122"/>
                          <a:ea typeface="宋体" panose="02010600030101010101" pitchFamily="2" charset="-122"/>
                          <a:sym typeface="Symbol" panose="05050102010706020507" pitchFamily="18" charset="2"/>
                        </a:rPr>
                        <a:t></a:t>
                      </a:r>
                      <a:endParaRPr lang="zh-CN" sz="2000" kern="100" dirty="0">
                        <a:effectLst/>
                        <a:latin typeface="宋体" panose="02010600030101010101" pitchFamily="2" charset="-122"/>
                        <a:ea typeface="宋体" panose="02010600030101010101" pitchFamily="2" charset="-122"/>
                      </a:endParaRP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2" name="Rectangle 2"/>
          <p:cNvSpPr>
            <a:spLocks noChangeArrowheads="1"/>
          </p:cNvSpPr>
          <p:nvPr/>
        </p:nvSpPr>
        <p:spPr bwMode="auto">
          <a:xfrm>
            <a:off x="6156324" y="0"/>
            <a:ext cx="2880519" cy="830997"/>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indent="2286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indent="0">
              <a:spcBef>
                <a:spcPct val="0"/>
              </a:spcBef>
              <a:buFontTx/>
              <a:buNone/>
            </a:pPr>
            <a:r>
              <a:rPr lang="zh-CN" altLang="zh-CN" sz="2400" dirty="0">
                <a:latin typeface="Times New Roman" pitchFamily="18" charset="0"/>
                <a:cs typeface="Times New Roman" pitchFamily="18" charset="0"/>
              </a:rPr>
              <a:t>一般情况下左递归文法的消除方法</a:t>
            </a:r>
            <a:endParaRPr lang="zh-CN" altLang="zh-CN" sz="2400" dirty="0"/>
          </a:p>
        </p:txBody>
      </p:sp>
      <p:graphicFrame>
        <p:nvGraphicFramePr>
          <p:cNvPr id="13" name="表格 12"/>
          <p:cNvGraphicFramePr>
            <a:graphicFrameLocks noGrp="1"/>
          </p:cNvGraphicFramePr>
          <p:nvPr/>
        </p:nvGraphicFramePr>
        <p:xfrm>
          <a:off x="4139952" y="3083422"/>
          <a:ext cx="5003753" cy="632325"/>
        </p:xfrm>
        <a:graphic>
          <a:graphicData uri="http://schemas.openxmlformats.org/drawingml/2006/table">
            <a:tbl>
              <a:tblPr firstRow="1" firstCol="1" bandRow="1"/>
              <a:tblGrid>
                <a:gridCol w="966761">
                  <a:extLst>
                    <a:ext uri="{9D8B030D-6E8A-4147-A177-3AD203B41FA5}">
                      <a16:colId xmlns:a16="http://schemas.microsoft.com/office/drawing/2014/main" val="20000"/>
                    </a:ext>
                  </a:extLst>
                </a:gridCol>
                <a:gridCol w="4036992">
                  <a:extLst>
                    <a:ext uri="{9D8B030D-6E8A-4147-A177-3AD203B41FA5}">
                      <a16:colId xmlns:a16="http://schemas.microsoft.com/office/drawing/2014/main" val="20001"/>
                    </a:ext>
                  </a:extLst>
                </a:gridCol>
              </a:tblGrid>
              <a:tr h="63232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左递归文法</a:t>
                      </a:r>
                      <a:endParaRPr lang="zh-CN" sz="1800" kern="100" dirty="0">
                        <a:effectLst/>
                        <a:latin typeface="Times New Roman" panose="02020603050405020304" pitchFamily="18" charset="0"/>
                        <a:ea typeface="宋体" panose="02010600030101010101" pitchFamily="2" charset="-122"/>
                      </a:endParaRPr>
                    </a:p>
                  </a:txBody>
                  <a:tcPr marL="68581" marR="685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A→A</a:t>
                      </a:r>
                      <a:r>
                        <a:rPr lang="en-US" sz="1800" kern="100" baseline="-25000" dirty="0">
                          <a:effectLst/>
                          <a:latin typeface="Times New Roman" panose="02020603050405020304" pitchFamily="18" charset="0"/>
                          <a:ea typeface="宋体" panose="02010600030101010101" pitchFamily="2" charset="-122"/>
                        </a:rPr>
                        <a:t>1</a:t>
                      </a:r>
                      <a:r>
                        <a:rPr lang="en-US" sz="1800" kern="100" dirty="0">
                          <a:effectLst/>
                          <a:latin typeface="宋体" panose="02010600030101010101" pitchFamily="2" charset="-122"/>
                          <a:ea typeface="宋体" panose="02010600030101010101" pitchFamily="2" charset="-122"/>
                        </a:rPr>
                        <a:t>Y</a:t>
                      </a:r>
                      <a:r>
                        <a:rPr lang="en-US" sz="1800" kern="100" dirty="0">
                          <a:effectLst/>
                          <a:latin typeface="Times New Roman" panose="02020603050405020304" pitchFamily="18" charset="0"/>
                          <a:ea typeface="宋体" panose="02010600030101010101" pitchFamily="2" charset="-122"/>
                        </a:rPr>
                        <a:t> {</a:t>
                      </a:r>
                      <a:r>
                        <a:rPr lang="en-US" sz="1800" kern="100" dirty="0" err="1">
                          <a:effectLst/>
                          <a:latin typeface="Times New Roman" panose="02020603050405020304" pitchFamily="18" charset="0"/>
                          <a:ea typeface="宋体" panose="02010600030101010101" pitchFamily="2" charset="-122"/>
                        </a:rPr>
                        <a:t>A.a</a:t>
                      </a:r>
                      <a:r>
                        <a:rPr lang="en-US" sz="1800" kern="100" dirty="0">
                          <a:effectLst/>
                          <a:latin typeface="Times New Roman" panose="02020603050405020304" pitchFamily="18" charset="0"/>
                          <a:ea typeface="宋体" panose="02010600030101010101" pitchFamily="2" charset="-122"/>
                        </a:rPr>
                        <a:t> = g(A</a:t>
                      </a:r>
                      <a:r>
                        <a:rPr lang="en-US" sz="1800" kern="100" baseline="-25000" dirty="0">
                          <a:effectLst/>
                          <a:latin typeface="Times New Roman" panose="02020603050405020304" pitchFamily="18" charset="0"/>
                          <a:ea typeface="宋体" panose="02010600030101010101" pitchFamily="2" charset="-122"/>
                        </a:rPr>
                        <a:t>1</a:t>
                      </a:r>
                      <a:r>
                        <a:rPr lang="en-US" sz="1800" kern="100" dirty="0">
                          <a:effectLst/>
                          <a:latin typeface="Times New Roman" panose="02020603050405020304" pitchFamily="18" charset="0"/>
                          <a:ea typeface="宋体" panose="02010600030101010101" pitchFamily="2" charset="-122"/>
                        </a:rPr>
                        <a:t>.a,</a:t>
                      </a:r>
                      <a:r>
                        <a:rPr lang="en-US" sz="1800" kern="100" dirty="0">
                          <a:effectLst/>
                          <a:latin typeface="宋体" panose="02010600030101010101" pitchFamily="2" charset="-122"/>
                          <a:ea typeface="宋体" panose="02010600030101010101" pitchFamily="2" charset="-122"/>
                        </a:rPr>
                        <a:t> </a:t>
                      </a:r>
                      <a:r>
                        <a:rPr lang="en-US" sz="1800" kern="100" dirty="0" err="1">
                          <a:effectLst/>
                          <a:latin typeface="宋体" panose="02010600030101010101" pitchFamily="2" charset="-122"/>
                          <a:ea typeface="宋体" panose="02010600030101010101" pitchFamily="2" charset="-122"/>
                        </a:rPr>
                        <a:t>Y</a:t>
                      </a:r>
                      <a:r>
                        <a:rPr lang="en-US" sz="1800" kern="100" dirty="0" err="1">
                          <a:effectLst/>
                          <a:latin typeface="Times New Roman" panose="02020603050405020304" pitchFamily="18" charset="0"/>
                          <a:ea typeface="宋体" panose="02010600030101010101" pitchFamily="2" charset="-122"/>
                        </a:rPr>
                        <a:t>.y</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A→X {</a:t>
                      </a:r>
                      <a:r>
                        <a:rPr lang="en-US" sz="1800" kern="100" dirty="0" err="1">
                          <a:effectLst/>
                          <a:latin typeface="Times New Roman" panose="02020603050405020304" pitchFamily="18" charset="0"/>
                          <a:ea typeface="宋体" panose="02010600030101010101" pitchFamily="2" charset="-122"/>
                        </a:rPr>
                        <a:t>A.a</a:t>
                      </a:r>
                      <a:r>
                        <a:rPr lang="en-US" sz="1800" kern="100" dirty="0">
                          <a:effectLst/>
                          <a:latin typeface="Times New Roman" panose="02020603050405020304" pitchFamily="18" charset="0"/>
                          <a:ea typeface="宋体" panose="02010600030101010101" pitchFamily="2" charset="-122"/>
                        </a:rPr>
                        <a:t> = f(</a:t>
                      </a:r>
                      <a:r>
                        <a:rPr lang="en-US" sz="1800" kern="100" dirty="0" err="1">
                          <a:effectLst/>
                          <a:latin typeface="Times New Roman" panose="02020603050405020304" pitchFamily="18" charset="0"/>
                          <a:ea typeface="宋体" panose="02010600030101010101" pitchFamily="2" charset="-122"/>
                        </a:rPr>
                        <a:t>X.x</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txBody>
                  <a:tcPr marL="68581" marR="68581"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 name="下箭头 1"/>
          <p:cNvSpPr/>
          <p:nvPr/>
        </p:nvSpPr>
        <p:spPr>
          <a:xfrm>
            <a:off x="1547664" y="915566"/>
            <a:ext cx="288032" cy="504056"/>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4" name="Rectangle 2"/>
          <p:cNvSpPr>
            <a:spLocks noChangeArrowheads="1"/>
          </p:cNvSpPr>
          <p:nvPr/>
        </p:nvSpPr>
        <p:spPr bwMode="auto">
          <a:xfrm>
            <a:off x="161510" y="3147814"/>
            <a:ext cx="3348372" cy="830997"/>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indent="2286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indent="0">
              <a:spcBef>
                <a:spcPct val="0"/>
              </a:spcBef>
              <a:buFontTx/>
              <a:buNone/>
            </a:pPr>
            <a:r>
              <a:rPr lang="zh-CN" altLang="en-US" sz="2400" dirty="0">
                <a:latin typeface="Times New Roman" pitchFamily="18" charset="0"/>
                <a:cs typeface="Times New Roman" pitchFamily="18" charset="0"/>
              </a:rPr>
              <a:t>对只含有综合属性的左递归文法的改造有效</a:t>
            </a:r>
            <a:endParaRPr lang="zh-CN" altLang="zh-CN" sz="2400" dirty="0"/>
          </a:p>
        </p:txBody>
      </p:sp>
      <p:graphicFrame>
        <p:nvGraphicFramePr>
          <p:cNvPr id="3" name="表格 2"/>
          <p:cNvGraphicFramePr>
            <a:graphicFrameLocks noGrp="1"/>
          </p:cNvGraphicFramePr>
          <p:nvPr/>
        </p:nvGraphicFramePr>
        <p:xfrm>
          <a:off x="4139952" y="3712438"/>
          <a:ext cx="5003753" cy="822960"/>
        </p:xfrm>
        <a:graphic>
          <a:graphicData uri="http://schemas.openxmlformats.org/drawingml/2006/table">
            <a:tbl>
              <a:tblPr firstRow="1" firstCol="1" bandRow="1"/>
              <a:tblGrid>
                <a:gridCol w="966761">
                  <a:extLst>
                    <a:ext uri="{9D8B030D-6E8A-4147-A177-3AD203B41FA5}">
                      <a16:colId xmlns:a16="http://schemas.microsoft.com/office/drawing/2014/main" val="20000"/>
                    </a:ext>
                  </a:extLst>
                </a:gridCol>
                <a:gridCol w="4036992">
                  <a:extLst>
                    <a:ext uri="{9D8B030D-6E8A-4147-A177-3AD203B41FA5}">
                      <a16:colId xmlns:a16="http://schemas.microsoft.com/office/drawing/2014/main" val="20001"/>
                    </a:ext>
                  </a:extLst>
                </a:gridCol>
              </a:tblGrid>
              <a:tr h="51668">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非左递归文法</a:t>
                      </a:r>
                    </a:p>
                    <a:p>
                      <a:pPr algn="just">
                        <a:lnSpc>
                          <a:spcPct val="100000"/>
                        </a:lnSpc>
                        <a:spcAft>
                          <a:spcPts val="0"/>
                        </a:spcAft>
                      </a:pP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1" marR="685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A→X</a:t>
                      </a:r>
                      <a:r>
                        <a:rPr lang="en-US" sz="1800" kern="100" dirty="0">
                          <a:solidFill>
                            <a:srgbClr val="0000FF"/>
                          </a:solidFill>
                          <a:effectLst/>
                          <a:latin typeface="Times New Roman" panose="02020603050405020304" pitchFamily="18" charset="0"/>
                          <a:ea typeface="宋体" panose="02010600030101010101" pitchFamily="2" charset="-122"/>
                        </a:rPr>
                        <a:t>{</a:t>
                      </a:r>
                      <a:r>
                        <a:rPr lang="en-US" sz="1800" kern="100" dirty="0" err="1">
                          <a:solidFill>
                            <a:srgbClr val="0000FF"/>
                          </a:solidFill>
                          <a:effectLst/>
                          <a:latin typeface="Times New Roman" panose="02020603050405020304" pitchFamily="18" charset="0"/>
                          <a:ea typeface="宋体" panose="02010600030101010101" pitchFamily="2" charset="-122"/>
                        </a:rPr>
                        <a:t>R.i</a:t>
                      </a:r>
                      <a:r>
                        <a:rPr lang="en-US" sz="1800" kern="100" dirty="0">
                          <a:solidFill>
                            <a:srgbClr val="0000FF"/>
                          </a:solidFill>
                          <a:effectLst/>
                          <a:latin typeface="Times New Roman" panose="02020603050405020304" pitchFamily="18" charset="0"/>
                          <a:ea typeface="宋体" panose="02010600030101010101" pitchFamily="2" charset="-122"/>
                        </a:rPr>
                        <a:t> = f(</a:t>
                      </a:r>
                      <a:r>
                        <a:rPr lang="en-US" sz="1800" kern="100" dirty="0" err="1">
                          <a:solidFill>
                            <a:srgbClr val="0000FF"/>
                          </a:solidFill>
                          <a:effectLst/>
                          <a:latin typeface="Times New Roman" panose="02020603050405020304" pitchFamily="18" charset="0"/>
                          <a:ea typeface="宋体" panose="02010600030101010101" pitchFamily="2" charset="-122"/>
                        </a:rPr>
                        <a:t>X.x</a:t>
                      </a:r>
                      <a:r>
                        <a:rPr lang="en-US" sz="1800" kern="100" dirty="0">
                          <a:solidFill>
                            <a:srgbClr val="0000FF"/>
                          </a:solidFill>
                          <a:effectLst/>
                          <a:latin typeface="Times New Roman" panose="02020603050405020304" pitchFamily="18" charset="0"/>
                          <a:ea typeface="宋体" panose="02010600030101010101" pitchFamily="2" charset="-122"/>
                        </a:rPr>
                        <a:t>)} </a:t>
                      </a:r>
                      <a:r>
                        <a:rPr lang="en-US" sz="1800" kern="100" dirty="0">
                          <a:effectLst/>
                          <a:latin typeface="Times New Roman" panose="02020603050405020304" pitchFamily="18" charset="0"/>
                          <a:ea typeface="宋体" panose="02010600030101010101" pitchFamily="2" charset="-122"/>
                        </a:rPr>
                        <a:t>R </a:t>
                      </a:r>
                      <a:r>
                        <a:rPr lang="en-US" sz="1800" kern="100" dirty="0">
                          <a:solidFill>
                            <a:srgbClr val="0000FF"/>
                          </a:solidFill>
                          <a:effectLst/>
                          <a:latin typeface="Times New Roman" panose="02020603050405020304" pitchFamily="18" charset="0"/>
                          <a:ea typeface="宋体" panose="02010600030101010101" pitchFamily="2" charset="-122"/>
                        </a:rPr>
                        <a:t>{</a:t>
                      </a:r>
                      <a:r>
                        <a:rPr lang="en-US" sz="1800" kern="100" dirty="0" err="1">
                          <a:solidFill>
                            <a:srgbClr val="0000FF"/>
                          </a:solidFill>
                          <a:effectLst/>
                          <a:latin typeface="Times New Roman" panose="02020603050405020304" pitchFamily="18" charset="0"/>
                          <a:ea typeface="宋体" panose="02010600030101010101" pitchFamily="2" charset="-122"/>
                        </a:rPr>
                        <a:t>A.</a:t>
                      </a:r>
                      <a:r>
                        <a:rPr lang="en-US" altLang="zh-CN" sz="1800" kern="100" dirty="0" err="1">
                          <a:solidFill>
                            <a:srgbClr val="0000FF"/>
                          </a:solidFill>
                          <a:effectLst/>
                          <a:latin typeface="Times New Roman" panose="02020603050405020304" pitchFamily="18" charset="0"/>
                          <a:ea typeface="宋体" panose="02010600030101010101" pitchFamily="2" charset="-122"/>
                        </a:rPr>
                        <a:t>a</a:t>
                      </a:r>
                      <a:r>
                        <a:rPr lang="en-US" sz="1800" kern="100" dirty="0">
                          <a:solidFill>
                            <a:srgbClr val="0000FF"/>
                          </a:solidFill>
                          <a:effectLst/>
                          <a:latin typeface="Times New Roman" panose="02020603050405020304" pitchFamily="18" charset="0"/>
                          <a:ea typeface="宋体" panose="02010600030101010101" pitchFamily="2" charset="-122"/>
                        </a:rPr>
                        <a:t> = R.s}</a:t>
                      </a:r>
                      <a:endParaRPr lang="zh-CN" sz="1800" kern="100" dirty="0">
                        <a:solidFill>
                          <a:srgbClr val="0000FF"/>
                        </a:solidFill>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R→Y</a:t>
                      </a:r>
                      <a:r>
                        <a:rPr lang="en-US" sz="1800" kern="100" dirty="0">
                          <a:solidFill>
                            <a:srgbClr val="0000FF"/>
                          </a:solidFill>
                          <a:effectLst/>
                          <a:latin typeface="Times New Roman" panose="02020603050405020304" pitchFamily="18" charset="0"/>
                          <a:ea typeface="宋体" panose="02010600030101010101" pitchFamily="2" charset="-122"/>
                        </a:rPr>
                        <a:t>{R</a:t>
                      </a:r>
                      <a:r>
                        <a:rPr lang="en-US" sz="1800" kern="100" baseline="-25000" dirty="0">
                          <a:solidFill>
                            <a:srgbClr val="0000FF"/>
                          </a:solidFill>
                          <a:effectLst/>
                          <a:latin typeface="Times New Roman" panose="02020603050405020304" pitchFamily="18" charset="0"/>
                          <a:ea typeface="宋体" panose="02010600030101010101" pitchFamily="2" charset="-122"/>
                        </a:rPr>
                        <a:t>1</a:t>
                      </a:r>
                      <a:r>
                        <a:rPr lang="en-US" sz="1800" kern="100" dirty="0">
                          <a:solidFill>
                            <a:srgbClr val="0000FF"/>
                          </a:solidFill>
                          <a:effectLst/>
                          <a:latin typeface="Times New Roman" panose="02020603050405020304" pitchFamily="18" charset="0"/>
                          <a:ea typeface="宋体" panose="02010600030101010101" pitchFamily="2" charset="-122"/>
                        </a:rPr>
                        <a:t>.i = g(</a:t>
                      </a:r>
                      <a:r>
                        <a:rPr lang="en-US" sz="1800" kern="100" dirty="0" err="1">
                          <a:solidFill>
                            <a:srgbClr val="0000FF"/>
                          </a:solidFill>
                          <a:effectLst/>
                          <a:latin typeface="Times New Roman" panose="02020603050405020304" pitchFamily="18" charset="0"/>
                          <a:ea typeface="宋体" panose="02010600030101010101" pitchFamily="2" charset="-122"/>
                        </a:rPr>
                        <a:t>R.i</a:t>
                      </a:r>
                      <a:r>
                        <a:rPr lang="en-US" sz="1800" kern="100" dirty="0">
                          <a:solidFill>
                            <a:srgbClr val="0000FF"/>
                          </a:solidFill>
                          <a:effectLst/>
                          <a:latin typeface="Times New Roman" panose="02020603050405020304" pitchFamily="18" charset="0"/>
                          <a:ea typeface="宋体" panose="02010600030101010101" pitchFamily="2" charset="-122"/>
                        </a:rPr>
                        <a:t>, </a:t>
                      </a:r>
                      <a:r>
                        <a:rPr lang="en-US" sz="1800" kern="100" dirty="0" err="1">
                          <a:solidFill>
                            <a:srgbClr val="0000FF"/>
                          </a:solidFill>
                          <a:effectLst/>
                          <a:latin typeface="Times New Roman" panose="02020603050405020304" pitchFamily="18" charset="0"/>
                          <a:ea typeface="宋体" panose="02010600030101010101" pitchFamily="2" charset="-122"/>
                        </a:rPr>
                        <a:t>Y.y</a:t>
                      </a:r>
                      <a:r>
                        <a:rPr lang="en-US" sz="1800" kern="100" dirty="0">
                          <a:solidFill>
                            <a:srgbClr val="0000FF"/>
                          </a:solidFill>
                          <a:effectLst/>
                          <a:latin typeface="Times New Roman" panose="02020603050405020304" pitchFamily="18" charset="0"/>
                          <a:ea typeface="宋体" panose="02010600030101010101" pitchFamily="2" charset="-122"/>
                        </a:rPr>
                        <a:t>)}</a:t>
                      </a:r>
                      <a:r>
                        <a:rPr lang="en-US" sz="1800" kern="100" dirty="0">
                          <a:effectLst/>
                          <a:latin typeface="Times New Roman" panose="02020603050405020304" pitchFamily="18" charset="0"/>
                          <a:ea typeface="宋体" panose="02010600030101010101" pitchFamily="2" charset="-122"/>
                        </a:rPr>
                        <a:t> R</a:t>
                      </a:r>
                      <a:r>
                        <a:rPr lang="en-US" sz="1800" kern="100" baseline="-25000" dirty="0">
                          <a:effectLst/>
                          <a:latin typeface="Times New Roman" panose="02020603050405020304" pitchFamily="18" charset="0"/>
                          <a:ea typeface="宋体" panose="02010600030101010101" pitchFamily="2" charset="-122"/>
                        </a:rPr>
                        <a:t>1</a:t>
                      </a:r>
                      <a:r>
                        <a:rPr lang="en-US" sz="1800" kern="100" dirty="0">
                          <a:solidFill>
                            <a:srgbClr val="0000FF"/>
                          </a:solidFill>
                          <a:effectLst/>
                          <a:latin typeface="Times New Roman" panose="02020603050405020304" pitchFamily="18" charset="0"/>
                          <a:ea typeface="宋体" panose="02010600030101010101" pitchFamily="2" charset="-122"/>
                        </a:rPr>
                        <a:t>{R.s = R</a:t>
                      </a:r>
                      <a:r>
                        <a:rPr lang="en-US" sz="1800" kern="100" baseline="-25000" dirty="0">
                          <a:solidFill>
                            <a:srgbClr val="0000FF"/>
                          </a:solidFill>
                          <a:effectLst/>
                          <a:latin typeface="Times New Roman" panose="02020603050405020304" pitchFamily="18" charset="0"/>
                          <a:ea typeface="宋体" panose="02010600030101010101" pitchFamily="2" charset="-122"/>
                        </a:rPr>
                        <a:t>1</a:t>
                      </a:r>
                      <a:r>
                        <a:rPr lang="en-US" sz="1800" kern="100" dirty="0">
                          <a:solidFill>
                            <a:srgbClr val="0000FF"/>
                          </a:solidFill>
                          <a:effectLst/>
                          <a:latin typeface="Times New Roman" panose="02020603050405020304" pitchFamily="18" charset="0"/>
                          <a:ea typeface="宋体" panose="02010600030101010101" pitchFamily="2" charset="-122"/>
                        </a:rPr>
                        <a:t>.s}</a:t>
                      </a:r>
                      <a:endParaRPr lang="zh-CN" sz="1800" kern="100" dirty="0">
                        <a:solidFill>
                          <a:srgbClr val="0000FF"/>
                        </a:solidFill>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R→ </a:t>
                      </a:r>
                      <a:r>
                        <a:rPr lang="en-US" sz="1800"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800" kern="100" dirty="0">
                          <a:solidFill>
                            <a:srgbClr val="0000FF"/>
                          </a:solidFill>
                          <a:effectLst/>
                          <a:latin typeface="Times New Roman" panose="02020603050405020304" pitchFamily="18" charset="0"/>
                          <a:ea typeface="宋体" panose="02010600030101010101" pitchFamily="2" charset="-122"/>
                        </a:rPr>
                        <a:t>{R.s = </a:t>
                      </a:r>
                      <a:r>
                        <a:rPr lang="en-US" sz="1800" kern="100" dirty="0" err="1">
                          <a:solidFill>
                            <a:srgbClr val="0000FF"/>
                          </a:solidFill>
                          <a:effectLst/>
                          <a:latin typeface="Times New Roman" panose="02020603050405020304" pitchFamily="18" charset="0"/>
                          <a:ea typeface="宋体" panose="02010600030101010101" pitchFamily="2" charset="-122"/>
                        </a:rPr>
                        <a:t>R.i</a:t>
                      </a:r>
                      <a:r>
                        <a:rPr lang="en-US" sz="1800" kern="100" dirty="0">
                          <a:solidFill>
                            <a:srgbClr val="0000FF"/>
                          </a:solidFill>
                          <a:effectLst/>
                          <a:latin typeface="Times New Roman" panose="02020603050405020304" pitchFamily="18" charset="0"/>
                          <a:ea typeface="宋体" panose="02010600030101010101" pitchFamily="2" charset="-122"/>
                        </a:rPr>
                        <a:t>}</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1" marR="68581"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28049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59244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6200736" cy="1446550"/>
          </a:xfrm>
          <a:prstGeom prst="rect">
            <a:avLst/>
          </a:prstGeom>
        </p:spPr>
        <p:txBody>
          <a:bodyPr wrap="none">
            <a:spAutoFit/>
          </a:bodyPr>
          <a:lstStyle/>
          <a:p>
            <a:r>
              <a:rPr lang="en-US" altLang="zh-CN" sz="4400" b="1" dirty="0">
                <a:solidFill>
                  <a:srgbClr val="CC0099"/>
                </a:solidFill>
                <a:ea typeface="隶书" pitchFamily="49" charset="-122"/>
              </a:rPr>
              <a:t>6</a:t>
            </a:r>
            <a:r>
              <a:rPr lang="zh-CN" altLang="en-US" sz="4400" b="1" dirty="0">
                <a:solidFill>
                  <a:srgbClr val="CC0099"/>
                </a:solidFill>
                <a:ea typeface="隶书" pitchFamily="49" charset="-122"/>
              </a:rPr>
              <a:t>、类型声明的语义处理</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常量声明</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18344936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395288" y="465535"/>
            <a:ext cx="8229600" cy="691753"/>
          </a:xfrm>
        </p:spPr>
        <p:txBody>
          <a:bodyPr>
            <a:normAutofit fontScale="90000"/>
          </a:bodyPr>
          <a:lstStyle/>
          <a:p>
            <a:pPr eaLnBrk="1" hangingPunct="1"/>
            <a:r>
              <a:rPr lang="zh-CN" altLang="en-US" sz="4000" b="1" dirty="0">
                <a:ea typeface="楷体_GB2312" pitchFamily="49" charset="-122"/>
              </a:rPr>
              <a:t>类型声明的语义处理</a:t>
            </a:r>
          </a:p>
        </p:txBody>
      </p:sp>
      <p:sp>
        <p:nvSpPr>
          <p:cNvPr id="62467" name="Rectangle 3"/>
          <p:cNvSpPr>
            <a:spLocks noGrp="1" noChangeArrowheads="1"/>
          </p:cNvSpPr>
          <p:nvPr>
            <p:ph type="body" idx="1"/>
          </p:nvPr>
        </p:nvSpPr>
        <p:spPr>
          <a:xfrm>
            <a:off x="827088" y="1275160"/>
            <a:ext cx="7777162" cy="2887265"/>
          </a:xfrm>
        </p:spPr>
        <p:txBody>
          <a:bodyPr/>
          <a:lstStyle/>
          <a:p>
            <a:pPr eaLnBrk="1" hangingPunct="1"/>
            <a:r>
              <a:rPr lang="zh-CN" altLang="en-US" dirty="0"/>
              <a:t>类型声明的作用：</a:t>
            </a:r>
          </a:p>
          <a:p>
            <a:pPr lvl="1" eaLnBrk="1" hangingPunct="1"/>
            <a:r>
              <a:rPr lang="zh-CN" altLang="en-US" dirty="0"/>
              <a:t>就是声明某个名字的类型、值等属性信息，在处理时主要是填写和修改符号表</a:t>
            </a:r>
          </a:p>
          <a:p>
            <a:pPr eaLnBrk="1" hangingPunct="1"/>
            <a:r>
              <a:rPr lang="zh-CN" altLang="en-US" dirty="0"/>
              <a:t>声明分多种，此处举例三种的处理：</a:t>
            </a:r>
          </a:p>
          <a:p>
            <a:pPr lvl="1" eaLnBrk="1" hangingPunct="1"/>
            <a:r>
              <a:rPr lang="zh-CN" altLang="en-US" dirty="0">
                <a:solidFill>
                  <a:srgbClr val="0033CC"/>
                </a:solidFill>
              </a:rPr>
              <a:t>常量声明</a:t>
            </a:r>
            <a:r>
              <a:rPr lang="zh-CN" altLang="en-US" dirty="0"/>
              <a:t>的处理</a:t>
            </a:r>
            <a:endParaRPr lang="en-US" altLang="zh-CN" dirty="0"/>
          </a:p>
          <a:p>
            <a:pPr lvl="1" eaLnBrk="1" hangingPunct="1"/>
            <a:r>
              <a:rPr lang="zh-CN" altLang="en-US" dirty="0">
                <a:solidFill>
                  <a:srgbClr val="0033CC"/>
                </a:solidFill>
              </a:rPr>
              <a:t>变量声明</a:t>
            </a:r>
            <a:r>
              <a:rPr lang="zh-CN" altLang="en-US" dirty="0"/>
              <a:t>的处理</a:t>
            </a:r>
          </a:p>
          <a:p>
            <a:pPr lvl="1" eaLnBrk="1" hangingPunct="1"/>
            <a:r>
              <a:rPr lang="zh-CN" altLang="en-US" dirty="0">
                <a:solidFill>
                  <a:srgbClr val="0033CC"/>
                </a:solidFill>
              </a:rPr>
              <a:t>函数声明</a:t>
            </a:r>
            <a:r>
              <a:rPr lang="zh-CN" altLang="en-US" dirty="0"/>
              <a:t>的处理</a:t>
            </a:r>
          </a:p>
        </p:txBody>
      </p:sp>
    </p:spTree>
    <p:extLst>
      <p:ext uri="{BB962C8B-B14F-4D97-AF65-F5344CB8AC3E}">
        <p14:creationId xmlns:p14="http://schemas.microsoft.com/office/powerpoint/2010/main" val="2291687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4808" y="-92546"/>
            <a:ext cx="5282604" cy="681038"/>
          </a:xfrm>
        </p:spPr>
        <p:txBody>
          <a:bodyPr>
            <a:normAutofit/>
          </a:bodyPr>
          <a:lstStyle/>
          <a:p>
            <a:pPr eaLnBrk="1" hangingPunct="1"/>
            <a:r>
              <a:rPr lang="zh-CN" altLang="en-US" b="1" dirty="0"/>
              <a:t>常量声明的语义处理</a:t>
            </a:r>
          </a:p>
        </p:txBody>
      </p:sp>
      <p:sp>
        <p:nvSpPr>
          <p:cNvPr id="63491" name="Rectangle 4"/>
          <p:cNvSpPr>
            <a:spLocks noChangeArrowheads="1"/>
          </p:cNvSpPr>
          <p:nvPr/>
        </p:nvSpPr>
        <p:spPr bwMode="auto">
          <a:xfrm>
            <a:off x="323528" y="556568"/>
            <a:ext cx="4944268" cy="43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zh-CN" altLang="en-US" sz="2800" b="1" dirty="0">
                <a:solidFill>
                  <a:srgbClr val="0033CC"/>
                </a:solidFill>
              </a:rPr>
              <a:t>１</a:t>
            </a:r>
            <a:r>
              <a:rPr lang="en-US" altLang="zh-CN" sz="2800" b="1" dirty="0">
                <a:solidFill>
                  <a:srgbClr val="0033CC"/>
                </a:solidFill>
              </a:rPr>
              <a:t>. </a:t>
            </a:r>
            <a:r>
              <a:rPr lang="zh-CN" altLang="en-US" sz="2800" b="1" dirty="0">
                <a:solidFill>
                  <a:srgbClr val="0033CC"/>
                </a:solidFill>
              </a:rPr>
              <a:t>常量声明的文法描述</a:t>
            </a:r>
          </a:p>
        </p:txBody>
      </p:sp>
      <p:sp>
        <p:nvSpPr>
          <p:cNvPr id="63492" name="Text Box 11"/>
          <p:cNvSpPr txBox="1">
            <a:spLocks noChangeArrowheads="1"/>
          </p:cNvSpPr>
          <p:nvPr/>
        </p:nvSpPr>
        <p:spPr bwMode="auto">
          <a:xfrm>
            <a:off x="1189038" y="4573192"/>
            <a:ext cx="6940550" cy="523220"/>
          </a:xfrm>
          <a:prstGeom prst="rect">
            <a:avLst/>
          </a:prstGeom>
          <a:solidFill>
            <a:schemeClr val="bg1"/>
          </a:solidFill>
          <a:ln>
            <a:noFill/>
          </a:ln>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zh-CN" altLang="en-US" sz="2800" b="1" dirty="0">
                <a:solidFill>
                  <a:srgbClr val="FF3300"/>
                </a:solidFill>
              </a:rPr>
              <a:t>例：</a:t>
            </a:r>
            <a:r>
              <a:rPr lang="en-US" altLang="zh-CN" sz="2800" b="1" dirty="0" err="1">
                <a:solidFill>
                  <a:srgbClr val="FF3300"/>
                </a:solidFill>
              </a:rPr>
              <a:t>const</a:t>
            </a:r>
            <a:r>
              <a:rPr lang="en-US" altLang="zh-CN" sz="2800" b="1" dirty="0">
                <a:solidFill>
                  <a:srgbClr val="FF3300"/>
                </a:solidFill>
              </a:rPr>
              <a:t> </a:t>
            </a:r>
            <a:r>
              <a:rPr lang="en-US" altLang="zh-CN" sz="2800" b="1" dirty="0" err="1">
                <a:solidFill>
                  <a:srgbClr val="FF3300"/>
                </a:solidFill>
              </a:rPr>
              <a:t>int</a:t>
            </a:r>
            <a:r>
              <a:rPr lang="en-US" altLang="zh-CN" sz="2800" b="1" dirty="0">
                <a:solidFill>
                  <a:srgbClr val="FF3300"/>
                </a:solidFill>
              </a:rPr>
              <a:t> A = 123, B = 456;</a:t>
            </a:r>
            <a:endParaRPr lang="zh-CN" altLang="en-US" sz="2800" b="1" dirty="0">
              <a:solidFill>
                <a:srgbClr val="FF3300"/>
              </a:solidFill>
            </a:endParaRPr>
          </a:p>
        </p:txBody>
      </p:sp>
      <p:sp>
        <p:nvSpPr>
          <p:cNvPr id="63493" name="Rectangle 20"/>
          <p:cNvSpPr>
            <a:spLocks noChangeArrowheads="1"/>
          </p:cNvSpPr>
          <p:nvPr/>
        </p:nvSpPr>
        <p:spPr bwMode="auto">
          <a:xfrm>
            <a:off x="635001" y="2736697"/>
            <a:ext cx="7494587" cy="1615827"/>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pPr>
            <a:r>
              <a:rPr lang="zh-CN" altLang="fr-FR" sz="2200" dirty="0">
                <a:latin typeface="宋体" panose="02010600030101010101" pitchFamily="2" charset="-122"/>
              </a:rPr>
              <a:t>（</a:t>
            </a:r>
            <a:r>
              <a:rPr lang="fr-FR" altLang="zh-CN" sz="2200" dirty="0">
                <a:latin typeface="宋体" panose="02010600030101010101" pitchFamily="2" charset="-122"/>
              </a:rPr>
              <a:t>1</a:t>
            </a:r>
            <a:r>
              <a:rPr lang="zh-CN" altLang="fr-FR" sz="2200" dirty="0">
                <a:latin typeface="宋体" panose="02010600030101010101" pitchFamily="2" charset="-122"/>
              </a:rPr>
              <a:t>） </a:t>
            </a:r>
            <a:r>
              <a:rPr lang="fr-FR" altLang="zh-CN" sz="2200" dirty="0">
                <a:latin typeface="宋体" panose="02010600030101010101" pitchFamily="2" charset="-122"/>
              </a:rPr>
              <a:t>&lt;ConstDCL&gt; → &lt;ConstHead&gt;&lt;ConstList&gt;</a:t>
            </a:r>
          </a:p>
          <a:p>
            <a:pPr>
              <a:lnSpc>
                <a:spcPct val="90000"/>
              </a:lnSpc>
              <a:buFontTx/>
              <a:buNone/>
            </a:pPr>
            <a:r>
              <a:rPr lang="zh-CN" altLang="fr-FR" sz="2200" dirty="0">
                <a:latin typeface="宋体" panose="02010600030101010101" pitchFamily="2" charset="-122"/>
              </a:rPr>
              <a:t>（</a:t>
            </a:r>
            <a:r>
              <a:rPr lang="fr-FR" altLang="zh-CN" sz="2200" dirty="0">
                <a:latin typeface="宋体" panose="02010600030101010101" pitchFamily="2" charset="-122"/>
              </a:rPr>
              <a:t>2</a:t>
            </a:r>
            <a:r>
              <a:rPr lang="zh-CN" altLang="fr-FR" sz="2200" dirty="0">
                <a:latin typeface="宋体" panose="02010600030101010101" pitchFamily="2" charset="-122"/>
              </a:rPr>
              <a:t>） </a:t>
            </a:r>
            <a:r>
              <a:rPr lang="fr-FR" altLang="zh-CN" sz="2200" dirty="0">
                <a:latin typeface="宋体" panose="02010600030101010101" pitchFamily="2" charset="-122"/>
              </a:rPr>
              <a:t>&lt;ConstHead&gt; → const &lt;ConstType&gt;</a:t>
            </a:r>
          </a:p>
          <a:p>
            <a:pPr>
              <a:lnSpc>
                <a:spcPct val="90000"/>
              </a:lnSpc>
              <a:buFontTx/>
              <a:buNone/>
            </a:pPr>
            <a:r>
              <a:rPr lang="zh-CN" altLang="fr-FR" sz="2200" dirty="0">
                <a:latin typeface="宋体" panose="02010600030101010101" pitchFamily="2" charset="-122"/>
              </a:rPr>
              <a:t>（</a:t>
            </a:r>
            <a:r>
              <a:rPr lang="fr-FR" altLang="zh-CN" sz="2200" dirty="0">
                <a:latin typeface="宋体" panose="02010600030101010101" pitchFamily="2" charset="-122"/>
              </a:rPr>
              <a:t>3</a:t>
            </a:r>
            <a:r>
              <a:rPr lang="zh-CN" altLang="fr-FR" sz="2200" dirty="0">
                <a:latin typeface="宋体" panose="02010600030101010101" pitchFamily="2" charset="-122"/>
              </a:rPr>
              <a:t>） </a:t>
            </a:r>
            <a:r>
              <a:rPr lang="fr-FR" altLang="zh-CN" sz="2200" dirty="0">
                <a:latin typeface="宋体" panose="02010600030101010101" pitchFamily="2" charset="-122"/>
              </a:rPr>
              <a:t>&lt;ConstType&gt; → int | float | char</a:t>
            </a:r>
          </a:p>
          <a:p>
            <a:pPr>
              <a:lnSpc>
                <a:spcPct val="90000"/>
              </a:lnSpc>
              <a:buFontTx/>
              <a:buNone/>
            </a:pPr>
            <a:r>
              <a:rPr lang="zh-CN" altLang="fr-FR" sz="2200" dirty="0">
                <a:latin typeface="宋体" panose="02010600030101010101" pitchFamily="2" charset="-122"/>
              </a:rPr>
              <a:t>（</a:t>
            </a:r>
            <a:r>
              <a:rPr lang="fr-FR" altLang="zh-CN" sz="2200" dirty="0">
                <a:latin typeface="宋体" panose="02010600030101010101" pitchFamily="2" charset="-122"/>
              </a:rPr>
              <a:t>4</a:t>
            </a:r>
            <a:r>
              <a:rPr lang="zh-CN" altLang="fr-FR" sz="2200" dirty="0">
                <a:latin typeface="宋体" panose="02010600030101010101" pitchFamily="2" charset="-122"/>
              </a:rPr>
              <a:t>） </a:t>
            </a:r>
            <a:r>
              <a:rPr lang="fr-FR" altLang="zh-CN" sz="2200" dirty="0">
                <a:latin typeface="宋体" panose="02010600030101010101" pitchFamily="2" charset="-122"/>
              </a:rPr>
              <a:t>&lt;ConstList&gt; → id = &lt;Expr&gt;, &lt;ConstList&gt;</a:t>
            </a:r>
          </a:p>
          <a:p>
            <a:pPr>
              <a:lnSpc>
                <a:spcPct val="90000"/>
              </a:lnSpc>
              <a:buFontTx/>
              <a:buNone/>
            </a:pPr>
            <a:r>
              <a:rPr lang="zh-CN" altLang="fr-FR" sz="2200" dirty="0">
                <a:latin typeface="宋体" panose="02010600030101010101" pitchFamily="2" charset="-122"/>
              </a:rPr>
              <a:t>（</a:t>
            </a:r>
            <a:r>
              <a:rPr lang="fr-FR" altLang="zh-CN" sz="2200" dirty="0">
                <a:latin typeface="宋体" panose="02010600030101010101" pitchFamily="2" charset="-122"/>
              </a:rPr>
              <a:t>5</a:t>
            </a:r>
            <a:r>
              <a:rPr lang="zh-CN" altLang="fr-FR" sz="2200" dirty="0">
                <a:latin typeface="宋体" panose="02010600030101010101" pitchFamily="2" charset="-122"/>
              </a:rPr>
              <a:t>） </a:t>
            </a:r>
            <a:r>
              <a:rPr lang="fr-FR" altLang="zh-CN" sz="2200" dirty="0">
                <a:latin typeface="宋体" panose="02010600030101010101" pitchFamily="2" charset="-122"/>
              </a:rPr>
              <a:t>&lt;ConstList&gt; → id = &lt;Expr&gt;; </a:t>
            </a:r>
            <a:endParaRPr lang="fr-FR" altLang="zh-CN" sz="2200" dirty="0">
              <a:latin typeface="宋体" pitchFamily="2" charset="-122"/>
              <a:cs typeface="Times New Roman" pitchFamily="18" charset="0"/>
              <a:sym typeface="Symbol" pitchFamily="18" charset="2"/>
            </a:endParaRPr>
          </a:p>
        </p:txBody>
      </p:sp>
      <p:sp>
        <p:nvSpPr>
          <p:cNvPr id="2" name="矩形 1"/>
          <p:cNvSpPr/>
          <p:nvPr/>
        </p:nvSpPr>
        <p:spPr>
          <a:xfrm>
            <a:off x="635001" y="1116606"/>
            <a:ext cx="7494587" cy="13111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spcBef>
                <a:spcPct val="0"/>
              </a:spcBef>
              <a:buFontTx/>
              <a:buNone/>
              <a:defRPr/>
            </a:pP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1</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&lt;</a:t>
            </a:r>
            <a:r>
              <a:rPr lang="zh-CN" altLang="en-US" sz="2200" dirty="0">
                <a:latin typeface="宋体" panose="02010600030101010101" pitchFamily="2" charset="-122"/>
                <a:ea typeface="宋体" panose="02010600030101010101" pitchFamily="2" charset="-122"/>
              </a:rPr>
              <a:t>常量声明</a:t>
            </a:r>
            <a:r>
              <a:rPr lang="en-US" altLang="zh-CN" sz="2200" dirty="0">
                <a:latin typeface="宋体" panose="02010600030101010101" pitchFamily="2" charset="-122"/>
                <a:ea typeface="宋体" panose="02010600030101010101" pitchFamily="2" charset="-122"/>
              </a:rPr>
              <a:t>&gt;→const &lt;</a:t>
            </a:r>
            <a:r>
              <a:rPr lang="zh-CN" altLang="en-US" sz="2200" dirty="0">
                <a:latin typeface="宋体" panose="02010600030101010101" pitchFamily="2" charset="-122"/>
                <a:ea typeface="宋体" panose="02010600030101010101" pitchFamily="2" charset="-122"/>
              </a:rPr>
              <a:t>数据类型</a:t>
            </a:r>
            <a:r>
              <a:rPr lang="en-US" altLang="zh-CN" sz="2200" dirty="0">
                <a:latin typeface="宋体" panose="02010600030101010101" pitchFamily="2" charset="-122"/>
                <a:ea typeface="宋体" panose="02010600030101010101" pitchFamily="2" charset="-122"/>
              </a:rPr>
              <a:t>&gt; &lt;</a:t>
            </a:r>
            <a:r>
              <a:rPr lang="zh-CN" altLang="en-US" sz="2200" dirty="0">
                <a:latin typeface="宋体" panose="02010600030101010101" pitchFamily="2" charset="-122"/>
                <a:ea typeface="宋体" panose="02010600030101010101" pitchFamily="2" charset="-122"/>
              </a:rPr>
              <a:t>常量声明表</a:t>
            </a:r>
            <a:r>
              <a:rPr lang="en-US" altLang="zh-CN" sz="2200" dirty="0">
                <a:latin typeface="宋体" panose="02010600030101010101" pitchFamily="2" charset="-122"/>
                <a:ea typeface="宋体" panose="02010600030101010101" pitchFamily="2" charset="-122"/>
              </a:rPr>
              <a:t>&gt;</a:t>
            </a:r>
          </a:p>
          <a:p>
            <a:pPr>
              <a:lnSpc>
                <a:spcPct val="90000"/>
              </a:lnSpc>
              <a:spcBef>
                <a:spcPct val="0"/>
              </a:spcBef>
              <a:buFontTx/>
              <a:buNone/>
              <a:defRPr/>
            </a:pP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&lt;</a:t>
            </a:r>
            <a:r>
              <a:rPr lang="zh-CN" altLang="en-US" sz="2200" dirty="0">
                <a:latin typeface="宋体" panose="02010600030101010101" pitchFamily="2" charset="-122"/>
                <a:ea typeface="宋体" panose="02010600030101010101" pitchFamily="2" charset="-122"/>
              </a:rPr>
              <a:t>数据类型</a:t>
            </a:r>
            <a:r>
              <a:rPr lang="en-US" altLang="zh-CN" sz="2200" dirty="0">
                <a:latin typeface="宋体" panose="02010600030101010101" pitchFamily="2" charset="-122"/>
                <a:ea typeface="宋体" panose="02010600030101010101" pitchFamily="2" charset="-122"/>
              </a:rPr>
              <a:t>&gt;→</a:t>
            </a:r>
            <a:r>
              <a:rPr lang="en-US" altLang="zh-CN" sz="2200" dirty="0" err="1">
                <a:latin typeface="宋体" panose="02010600030101010101" pitchFamily="2" charset="-122"/>
                <a:ea typeface="宋体" panose="02010600030101010101" pitchFamily="2" charset="-122"/>
              </a:rPr>
              <a:t>int|char|float</a:t>
            </a:r>
            <a:endParaRPr lang="en-US" altLang="zh-CN" sz="2200" dirty="0">
              <a:latin typeface="宋体" panose="02010600030101010101" pitchFamily="2" charset="-122"/>
              <a:ea typeface="宋体" panose="02010600030101010101" pitchFamily="2" charset="-122"/>
            </a:endParaRPr>
          </a:p>
          <a:p>
            <a:pPr>
              <a:lnSpc>
                <a:spcPct val="90000"/>
              </a:lnSpc>
              <a:spcBef>
                <a:spcPct val="0"/>
              </a:spcBef>
              <a:buFontTx/>
              <a:buNone/>
              <a:defRPr/>
            </a:pP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3</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&lt;</a:t>
            </a:r>
            <a:r>
              <a:rPr lang="zh-CN" altLang="en-US" sz="2200" dirty="0">
                <a:latin typeface="宋体" panose="02010600030101010101" pitchFamily="2" charset="-122"/>
                <a:ea typeface="宋体" panose="02010600030101010101" pitchFamily="2" charset="-122"/>
              </a:rPr>
              <a:t>常量声明表</a:t>
            </a:r>
            <a:r>
              <a:rPr lang="en-US" altLang="zh-CN" sz="2200" dirty="0">
                <a:latin typeface="宋体" panose="02010600030101010101" pitchFamily="2" charset="-122"/>
                <a:ea typeface="宋体" panose="02010600030101010101" pitchFamily="2" charset="-122"/>
              </a:rPr>
              <a:t>&gt;→&lt;</a:t>
            </a:r>
            <a:r>
              <a:rPr lang="zh-CN" altLang="en-US" sz="2200" dirty="0">
                <a:latin typeface="宋体" panose="02010600030101010101" pitchFamily="2" charset="-122"/>
                <a:ea typeface="宋体" panose="02010600030101010101" pitchFamily="2" charset="-122"/>
              </a:rPr>
              <a:t>常量名</a:t>
            </a:r>
            <a:r>
              <a:rPr lang="en-US" altLang="zh-CN" sz="2200" dirty="0">
                <a:latin typeface="宋体" panose="02010600030101010101" pitchFamily="2" charset="-122"/>
                <a:ea typeface="宋体" panose="02010600030101010101" pitchFamily="2" charset="-122"/>
              </a:rPr>
              <a:t>&gt; = &lt;</a:t>
            </a:r>
            <a:r>
              <a:rPr lang="zh-CN" altLang="en-US" sz="2200" dirty="0">
                <a:latin typeface="宋体" panose="02010600030101010101" pitchFamily="2" charset="-122"/>
                <a:ea typeface="宋体" panose="02010600030101010101" pitchFamily="2" charset="-122"/>
              </a:rPr>
              <a:t>表达式</a:t>
            </a:r>
            <a:r>
              <a:rPr lang="en-US" altLang="zh-CN" sz="2200" dirty="0">
                <a:latin typeface="宋体" panose="02010600030101010101" pitchFamily="2" charset="-122"/>
                <a:ea typeface="宋体" panose="02010600030101010101" pitchFamily="2" charset="-122"/>
              </a:rPr>
              <a:t>&gt;;</a:t>
            </a:r>
          </a:p>
          <a:p>
            <a:pPr>
              <a:lnSpc>
                <a:spcPct val="90000"/>
              </a:lnSpc>
              <a:spcBef>
                <a:spcPct val="0"/>
              </a:spcBef>
              <a:buFontTx/>
              <a:buNone/>
              <a:defRPr/>
            </a:pPr>
            <a:r>
              <a:rPr lang="en-US" altLang="zh-CN" sz="2200" dirty="0">
                <a:latin typeface="宋体" panose="02010600030101010101" pitchFamily="2" charset="-122"/>
                <a:ea typeface="宋体" panose="02010600030101010101" pitchFamily="2" charset="-122"/>
              </a:rPr>
              <a:t>                   |&lt;</a:t>
            </a:r>
            <a:r>
              <a:rPr lang="zh-CN" altLang="en-US" sz="2200" dirty="0">
                <a:latin typeface="宋体" panose="02010600030101010101" pitchFamily="2" charset="-122"/>
                <a:ea typeface="宋体" panose="02010600030101010101" pitchFamily="2" charset="-122"/>
              </a:rPr>
              <a:t>常量名</a:t>
            </a:r>
            <a:r>
              <a:rPr lang="en-US" altLang="zh-CN" sz="2200" dirty="0">
                <a:latin typeface="宋体" panose="02010600030101010101" pitchFamily="2" charset="-122"/>
                <a:ea typeface="宋体" panose="02010600030101010101" pitchFamily="2" charset="-122"/>
              </a:rPr>
              <a:t>&gt; = &lt;</a:t>
            </a:r>
            <a:r>
              <a:rPr lang="zh-CN" altLang="en-US" sz="2200" dirty="0">
                <a:latin typeface="宋体" panose="02010600030101010101" pitchFamily="2" charset="-122"/>
                <a:ea typeface="宋体" panose="02010600030101010101" pitchFamily="2" charset="-122"/>
              </a:rPr>
              <a:t>表达式</a:t>
            </a:r>
            <a:r>
              <a:rPr lang="en-US" altLang="zh-CN" sz="2200" dirty="0">
                <a:latin typeface="宋体" panose="02010600030101010101" pitchFamily="2" charset="-122"/>
                <a:ea typeface="宋体" panose="02010600030101010101" pitchFamily="2" charset="-122"/>
              </a:rPr>
              <a:t>&gt;,&lt;</a:t>
            </a:r>
            <a:r>
              <a:rPr lang="zh-CN" altLang="en-US" sz="2200" dirty="0">
                <a:latin typeface="宋体" panose="02010600030101010101" pitchFamily="2" charset="-122"/>
                <a:ea typeface="宋体" panose="02010600030101010101" pitchFamily="2" charset="-122"/>
              </a:rPr>
              <a:t>常量声明表</a:t>
            </a:r>
            <a:r>
              <a:rPr lang="en-US" altLang="zh-CN" sz="2200" dirty="0">
                <a:latin typeface="宋体" panose="02010600030101010101" pitchFamily="2" charset="-122"/>
                <a:ea typeface="宋体" panose="02010600030101010101" pitchFamily="2" charset="-122"/>
              </a:rPr>
              <a:t>&gt;</a:t>
            </a:r>
          </a:p>
        </p:txBody>
      </p:sp>
    </p:spTree>
    <p:extLst>
      <p:ext uri="{BB962C8B-B14F-4D97-AF65-F5344CB8AC3E}">
        <p14:creationId xmlns:p14="http://schemas.microsoft.com/office/powerpoint/2010/main" val="133234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3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493" grpId="0" animBg="1"/>
      <p:bldP spid="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6">
            <a:extLst>
              <a:ext uri="{FF2B5EF4-FFF2-40B4-BE49-F238E27FC236}">
                <a16:creationId xmlns:a16="http://schemas.microsoft.com/office/drawing/2014/main" id="{581E511F-FF85-7776-B5DD-0F760CC090ED}"/>
              </a:ext>
            </a:extLst>
          </p:cNvPr>
          <p:cNvSpPr>
            <a:spLocks noChangeArrowheads="1"/>
          </p:cNvSpPr>
          <p:nvPr/>
        </p:nvSpPr>
        <p:spPr bwMode="auto">
          <a:xfrm>
            <a:off x="4761953" y="4729109"/>
            <a:ext cx="910827" cy="400110"/>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err="1">
                <a:solidFill>
                  <a:srgbClr val="FF0000"/>
                </a:solidFill>
              </a:rPr>
              <a:t>X.type</a:t>
            </a:r>
            <a:endParaRPr lang="zh-CN" altLang="zh-CN" sz="2000" dirty="0">
              <a:solidFill>
                <a:srgbClr val="FF0000"/>
              </a:solidFill>
            </a:endParaRPr>
          </a:p>
        </p:txBody>
      </p:sp>
      <p:sp>
        <p:nvSpPr>
          <p:cNvPr id="6" name="矩形 6">
            <a:extLst>
              <a:ext uri="{FF2B5EF4-FFF2-40B4-BE49-F238E27FC236}">
                <a16:creationId xmlns:a16="http://schemas.microsoft.com/office/drawing/2014/main" id="{C0006D1E-9274-0B8F-ABF7-1F48098F3544}"/>
              </a:ext>
            </a:extLst>
          </p:cNvPr>
          <p:cNvSpPr>
            <a:spLocks noChangeArrowheads="1"/>
          </p:cNvSpPr>
          <p:nvPr/>
        </p:nvSpPr>
        <p:spPr bwMode="auto">
          <a:xfrm>
            <a:off x="5956260" y="4729109"/>
            <a:ext cx="755335" cy="400110"/>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err="1">
                <a:solidFill>
                  <a:srgbClr val="FF0000"/>
                </a:solidFill>
              </a:rPr>
              <a:t>X.val</a:t>
            </a:r>
            <a:endParaRPr lang="zh-CN" altLang="zh-CN" sz="2000" dirty="0">
              <a:solidFill>
                <a:srgbClr val="FF0000"/>
              </a:solidFill>
            </a:endParaRPr>
          </a:p>
        </p:txBody>
      </p:sp>
      <p:sp>
        <p:nvSpPr>
          <p:cNvPr id="7" name="矩形 6">
            <a:extLst>
              <a:ext uri="{FF2B5EF4-FFF2-40B4-BE49-F238E27FC236}">
                <a16:creationId xmlns:a16="http://schemas.microsoft.com/office/drawing/2014/main" id="{1FFA1D14-CC47-6336-82A9-D6843B387383}"/>
              </a:ext>
            </a:extLst>
          </p:cNvPr>
          <p:cNvSpPr>
            <a:spLocks noChangeArrowheads="1"/>
          </p:cNvSpPr>
          <p:nvPr/>
        </p:nvSpPr>
        <p:spPr bwMode="auto">
          <a:xfrm>
            <a:off x="7074147" y="4729109"/>
            <a:ext cx="627095" cy="400110"/>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a:solidFill>
                  <a:srgbClr val="FF0000"/>
                </a:solidFill>
              </a:rPr>
              <a:t>X.in</a:t>
            </a:r>
            <a:endParaRPr lang="zh-CN" altLang="zh-CN" sz="2000" dirty="0">
              <a:solidFill>
                <a:srgbClr val="FF0000"/>
              </a:solidFill>
            </a:endParaRPr>
          </a:p>
        </p:txBody>
      </p:sp>
      <p:sp>
        <p:nvSpPr>
          <p:cNvPr id="64514" name="Rectangle 20"/>
          <p:cNvSpPr>
            <a:spLocks noChangeArrowheads="1"/>
          </p:cNvSpPr>
          <p:nvPr/>
        </p:nvSpPr>
        <p:spPr bwMode="auto">
          <a:xfrm>
            <a:off x="1589" y="269200"/>
            <a:ext cx="5794547" cy="1477328"/>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pPr>
            <a:r>
              <a:rPr lang="zh-CN" altLang="fr-FR" sz="2000" dirty="0">
                <a:latin typeface="宋体" panose="02010600030101010101" pitchFamily="2" charset="-122"/>
              </a:rPr>
              <a:t>（</a:t>
            </a:r>
            <a:r>
              <a:rPr lang="fr-FR" altLang="zh-CN" sz="2000" dirty="0">
                <a:latin typeface="宋体" panose="02010600030101010101" pitchFamily="2" charset="-122"/>
              </a:rPr>
              <a:t>1</a:t>
            </a:r>
            <a:r>
              <a:rPr lang="zh-CN" altLang="fr-FR" sz="2000" dirty="0">
                <a:latin typeface="宋体" panose="02010600030101010101" pitchFamily="2" charset="-122"/>
              </a:rPr>
              <a:t>） </a:t>
            </a:r>
            <a:r>
              <a:rPr lang="fr-FR" altLang="zh-CN" sz="2000" dirty="0">
                <a:latin typeface="宋体" panose="02010600030101010101" pitchFamily="2" charset="-122"/>
              </a:rPr>
              <a:t>&lt;ConstDCL&gt; → &lt;ConstHead&gt;&lt;ConstList&gt;</a:t>
            </a:r>
          </a:p>
          <a:p>
            <a:pPr>
              <a:lnSpc>
                <a:spcPct val="90000"/>
              </a:lnSpc>
              <a:buFontTx/>
              <a:buNone/>
            </a:pPr>
            <a:r>
              <a:rPr lang="zh-CN" altLang="fr-FR" sz="2000" dirty="0">
                <a:latin typeface="宋体" panose="02010600030101010101" pitchFamily="2" charset="-122"/>
              </a:rPr>
              <a:t>（</a:t>
            </a:r>
            <a:r>
              <a:rPr lang="fr-FR" altLang="zh-CN" sz="2000" dirty="0">
                <a:latin typeface="宋体" panose="02010600030101010101" pitchFamily="2" charset="-122"/>
              </a:rPr>
              <a:t>2</a:t>
            </a:r>
            <a:r>
              <a:rPr lang="zh-CN" altLang="fr-FR" sz="2000" dirty="0">
                <a:latin typeface="宋体" panose="02010600030101010101" pitchFamily="2" charset="-122"/>
              </a:rPr>
              <a:t>） </a:t>
            </a:r>
            <a:r>
              <a:rPr lang="fr-FR" altLang="zh-CN" sz="2000" dirty="0">
                <a:latin typeface="宋体" panose="02010600030101010101" pitchFamily="2" charset="-122"/>
              </a:rPr>
              <a:t>&lt;ConstHead&gt; → const &lt;ConstType&gt;</a:t>
            </a:r>
          </a:p>
          <a:p>
            <a:pPr>
              <a:lnSpc>
                <a:spcPct val="90000"/>
              </a:lnSpc>
              <a:buFontTx/>
              <a:buNone/>
            </a:pPr>
            <a:r>
              <a:rPr lang="zh-CN" altLang="fr-FR" sz="2000" dirty="0">
                <a:latin typeface="宋体" panose="02010600030101010101" pitchFamily="2" charset="-122"/>
              </a:rPr>
              <a:t>（</a:t>
            </a:r>
            <a:r>
              <a:rPr lang="fr-FR" altLang="zh-CN" sz="2000" dirty="0">
                <a:latin typeface="宋体" panose="02010600030101010101" pitchFamily="2" charset="-122"/>
              </a:rPr>
              <a:t>3</a:t>
            </a:r>
            <a:r>
              <a:rPr lang="zh-CN" altLang="fr-FR" sz="2000" dirty="0">
                <a:latin typeface="宋体" panose="02010600030101010101" pitchFamily="2" charset="-122"/>
              </a:rPr>
              <a:t>） </a:t>
            </a:r>
            <a:r>
              <a:rPr lang="fr-FR" altLang="zh-CN" sz="2000" dirty="0">
                <a:latin typeface="宋体" panose="02010600030101010101" pitchFamily="2" charset="-122"/>
              </a:rPr>
              <a:t>&lt;ConstType&gt; → int | float | char</a:t>
            </a:r>
          </a:p>
          <a:p>
            <a:pPr>
              <a:lnSpc>
                <a:spcPct val="90000"/>
              </a:lnSpc>
              <a:buFontTx/>
              <a:buNone/>
            </a:pPr>
            <a:r>
              <a:rPr lang="zh-CN" altLang="fr-FR" sz="2000" dirty="0">
                <a:latin typeface="宋体" panose="02010600030101010101" pitchFamily="2" charset="-122"/>
              </a:rPr>
              <a:t>（</a:t>
            </a:r>
            <a:r>
              <a:rPr lang="fr-FR" altLang="zh-CN" sz="2000" dirty="0">
                <a:latin typeface="宋体" panose="02010600030101010101" pitchFamily="2" charset="-122"/>
              </a:rPr>
              <a:t>4</a:t>
            </a:r>
            <a:r>
              <a:rPr lang="zh-CN" altLang="fr-FR" sz="2000" dirty="0">
                <a:latin typeface="宋体" panose="02010600030101010101" pitchFamily="2" charset="-122"/>
              </a:rPr>
              <a:t>） </a:t>
            </a:r>
            <a:r>
              <a:rPr lang="fr-FR" altLang="zh-CN" sz="2000" dirty="0">
                <a:latin typeface="宋体" panose="02010600030101010101" pitchFamily="2" charset="-122"/>
              </a:rPr>
              <a:t>&lt;ConstList&gt; →id = &lt;Expr&gt;, &lt;ConstList&gt;</a:t>
            </a:r>
          </a:p>
          <a:p>
            <a:pPr>
              <a:lnSpc>
                <a:spcPct val="90000"/>
              </a:lnSpc>
              <a:buFontTx/>
              <a:buNone/>
            </a:pPr>
            <a:r>
              <a:rPr lang="zh-CN" altLang="fr-FR" sz="2000" dirty="0">
                <a:latin typeface="宋体" panose="02010600030101010101" pitchFamily="2" charset="-122"/>
              </a:rPr>
              <a:t>（</a:t>
            </a:r>
            <a:r>
              <a:rPr lang="fr-FR" altLang="zh-CN" sz="2000" dirty="0">
                <a:latin typeface="宋体" panose="02010600030101010101" pitchFamily="2" charset="-122"/>
              </a:rPr>
              <a:t>5</a:t>
            </a:r>
            <a:r>
              <a:rPr lang="zh-CN" altLang="fr-FR" sz="2000" dirty="0">
                <a:latin typeface="宋体" panose="02010600030101010101" pitchFamily="2" charset="-122"/>
              </a:rPr>
              <a:t>） </a:t>
            </a:r>
            <a:r>
              <a:rPr lang="fr-FR" altLang="zh-CN" sz="2000" dirty="0">
                <a:latin typeface="宋体" panose="02010600030101010101" pitchFamily="2" charset="-122"/>
              </a:rPr>
              <a:t>&lt;ConstList&gt; → id = &lt;Expr&gt;; </a:t>
            </a:r>
            <a:endParaRPr lang="fr-FR" altLang="zh-CN" sz="2000" dirty="0">
              <a:latin typeface="宋体" pitchFamily="2" charset="-122"/>
              <a:cs typeface="Times New Roman" pitchFamily="18" charset="0"/>
              <a:sym typeface="Symbol" pitchFamily="18" charset="2"/>
            </a:endParaRPr>
          </a:p>
        </p:txBody>
      </p:sp>
      <p:sp>
        <p:nvSpPr>
          <p:cNvPr id="64515" name="矩形 6"/>
          <p:cNvSpPr>
            <a:spLocks noChangeArrowheads="1"/>
          </p:cNvSpPr>
          <p:nvPr/>
        </p:nvSpPr>
        <p:spPr bwMode="auto">
          <a:xfrm>
            <a:off x="30164" y="4731990"/>
            <a:ext cx="3912931" cy="461665"/>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400" dirty="0" err="1">
                <a:solidFill>
                  <a:srgbClr val="FF0000"/>
                </a:solidFill>
              </a:rPr>
              <a:t>const</a:t>
            </a:r>
            <a:r>
              <a:rPr lang="en-US" altLang="zh-CN" sz="2400" dirty="0">
                <a:solidFill>
                  <a:srgbClr val="FF0000"/>
                </a:solidFill>
              </a:rPr>
              <a:t> </a:t>
            </a:r>
            <a:r>
              <a:rPr lang="en-US" altLang="zh-CN" sz="2400" dirty="0" err="1">
                <a:solidFill>
                  <a:srgbClr val="FF0000"/>
                </a:solidFill>
              </a:rPr>
              <a:t>int</a:t>
            </a:r>
            <a:r>
              <a:rPr lang="en-US" altLang="zh-CN" sz="2400" dirty="0">
                <a:solidFill>
                  <a:srgbClr val="FF0000"/>
                </a:solidFill>
              </a:rPr>
              <a:t> A = 123</a:t>
            </a:r>
            <a:r>
              <a:rPr lang="zh-CN" altLang="zh-CN" sz="2400" dirty="0">
                <a:solidFill>
                  <a:srgbClr val="FF0000"/>
                </a:solidFill>
              </a:rPr>
              <a:t>，</a:t>
            </a:r>
            <a:r>
              <a:rPr lang="en-US" altLang="zh-CN" sz="2400" dirty="0">
                <a:solidFill>
                  <a:srgbClr val="FF0000"/>
                </a:solidFill>
              </a:rPr>
              <a:t>B = 456;</a:t>
            </a:r>
            <a:endParaRPr lang="zh-CN" altLang="zh-CN" sz="2400" dirty="0">
              <a:solidFill>
                <a:srgbClr val="FF0000"/>
              </a:solidFill>
            </a:endParaRPr>
          </a:p>
        </p:txBody>
      </p:sp>
      <p:sp>
        <p:nvSpPr>
          <p:cNvPr id="64516" name="Rectangle 6"/>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graphicFrame>
        <p:nvGraphicFramePr>
          <p:cNvPr id="9" name="对象 8"/>
          <p:cNvGraphicFramePr>
            <a:graphicFrameLocks noChangeAspect="1"/>
          </p:cNvGraphicFramePr>
          <p:nvPr>
            <p:extLst>
              <p:ext uri="{D42A27DB-BD31-4B8C-83A1-F6EECF244321}">
                <p14:modId xmlns:p14="http://schemas.microsoft.com/office/powerpoint/2010/main" val="1692585167"/>
              </p:ext>
            </p:extLst>
          </p:nvPr>
        </p:nvGraphicFramePr>
        <p:xfrm>
          <a:off x="11113" y="1789113"/>
          <a:ext cx="4764087" cy="2990850"/>
        </p:xfrm>
        <a:graphic>
          <a:graphicData uri="http://schemas.openxmlformats.org/presentationml/2006/ole">
            <mc:AlternateContent xmlns:mc="http://schemas.openxmlformats.org/markup-compatibility/2006">
              <mc:Choice xmlns:v="urn:schemas-microsoft-com:vml" Requires="v">
                <p:oleObj name="Visio" r:id="rId2" imgW="3181226" imgH="1581241" progId="Visio.Drawing.11">
                  <p:embed/>
                </p:oleObj>
              </mc:Choice>
              <mc:Fallback>
                <p:oleObj name="Visio" r:id="rId2" imgW="3181226" imgH="1581241" progId="Visio.Drawing.11">
                  <p:embed/>
                  <p:pic>
                    <p:nvPicPr>
                      <p:cNvPr id="9" name="对象 8"/>
                      <p:cNvPicPr>
                        <a:picLocks noChangeAspect="1" noChangeArrowheads="1"/>
                      </p:cNvPicPr>
                      <p:nvPr/>
                    </p:nvPicPr>
                    <p:blipFill>
                      <a:blip r:embed="rId3"/>
                      <a:srcRect/>
                      <a:stretch>
                        <a:fillRect/>
                      </a:stretch>
                    </p:blipFill>
                    <p:spPr bwMode="auto">
                      <a:xfrm>
                        <a:off x="11113" y="1789113"/>
                        <a:ext cx="4764087" cy="2990850"/>
                      </a:xfrm>
                      <a:prstGeom prst="rect">
                        <a:avLst/>
                      </a:prstGeom>
                      <a:noFill/>
                      <a:ln>
                        <a:noFill/>
                      </a:ln>
                    </p:spPr>
                  </p:pic>
                </p:oleObj>
              </mc:Fallback>
            </mc:AlternateContent>
          </a:graphicData>
        </a:graphic>
      </p:graphicFrame>
      <p:sp>
        <p:nvSpPr>
          <p:cNvPr id="13" name="Line 16"/>
          <p:cNvSpPr>
            <a:spLocks noChangeShapeType="1"/>
          </p:cNvSpPr>
          <p:nvPr/>
        </p:nvSpPr>
        <p:spPr bwMode="auto">
          <a:xfrm flipV="1">
            <a:off x="1115616" y="3796407"/>
            <a:ext cx="0" cy="431006"/>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flipH="1" flipV="1">
            <a:off x="1187623" y="3086695"/>
            <a:ext cx="527455" cy="536377"/>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5" name="Line 16"/>
          <p:cNvSpPr>
            <a:spLocks noChangeShapeType="1"/>
          </p:cNvSpPr>
          <p:nvPr/>
        </p:nvSpPr>
        <p:spPr bwMode="auto">
          <a:xfrm flipV="1">
            <a:off x="1393017" y="2931790"/>
            <a:ext cx="1298062" cy="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6" name="Line 16"/>
          <p:cNvSpPr>
            <a:spLocks noChangeShapeType="1"/>
          </p:cNvSpPr>
          <p:nvPr/>
        </p:nvSpPr>
        <p:spPr bwMode="auto">
          <a:xfrm flipH="1">
            <a:off x="2555776" y="3086696"/>
            <a:ext cx="507720" cy="320278"/>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7" name="Line 16"/>
          <p:cNvSpPr>
            <a:spLocks noChangeShapeType="1"/>
          </p:cNvSpPr>
          <p:nvPr/>
        </p:nvSpPr>
        <p:spPr bwMode="auto">
          <a:xfrm>
            <a:off x="3724020" y="3086696"/>
            <a:ext cx="420182" cy="432197"/>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8" name="Line 16"/>
          <p:cNvSpPr>
            <a:spLocks noChangeShapeType="1"/>
          </p:cNvSpPr>
          <p:nvPr/>
        </p:nvSpPr>
        <p:spPr bwMode="auto">
          <a:xfrm>
            <a:off x="4211960" y="3939902"/>
            <a:ext cx="0" cy="432197"/>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graphicFrame>
        <p:nvGraphicFramePr>
          <p:cNvPr id="19" name="表格 18"/>
          <p:cNvGraphicFramePr>
            <a:graphicFrameLocks noGrp="1"/>
          </p:cNvGraphicFramePr>
          <p:nvPr>
            <p:extLst>
              <p:ext uri="{D42A27DB-BD31-4B8C-83A1-F6EECF244321}">
                <p14:modId xmlns:p14="http://schemas.microsoft.com/office/powerpoint/2010/main" val="1193673612"/>
              </p:ext>
            </p:extLst>
          </p:nvPr>
        </p:nvGraphicFramePr>
        <p:xfrm>
          <a:off x="5414964" y="1877489"/>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常量名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常量类型</a:t>
                      </a:r>
                      <a:r>
                        <a:rPr lang="fr-FR" sz="1500" kern="100">
                          <a:effectLst/>
                          <a:latin typeface="Times New Roman"/>
                          <a:ea typeface="宋体"/>
                        </a:rPr>
                        <a:t>(type)</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r>
                        <a:rPr lang="en-US" altLang="zh-CN" sz="1500" kern="100" dirty="0">
                          <a:effectLst/>
                          <a:latin typeface="Times New Roman"/>
                          <a:ea typeface="宋体"/>
                        </a:rPr>
                        <a: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sp>
        <p:nvSpPr>
          <p:cNvPr id="20" name="Text Box 6"/>
          <p:cNvSpPr txBox="1">
            <a:spLocks noChangeArrowheads="1"/>
          </p:cNvSpPr>
          <p:nvPr/>
        </p:nvSpPr>
        <p:spPr bwMode="auto">
          <a:xfrm>
            <a:off x="6084168" y="130701"/>
            <a:ext cx="3059832" cy="1169551"/>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lvl1pPr marL="900113" indent="-900113">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defRPr/>
            </a:pPr>
            <a:r>
              <a:rPr lang="zh-CN" altLang="en-US" sz="2000" b="1" dirty="0">
                <a:solidFill>
                  <a:srgbClr val="0033CC"/>
                </a:solidFill>
              </a:rPr>
              <a:t>常量声明的语义</a:t>
            </a:r>
          </a:p>
          <a:p>
            <a:pPr marL="0" indent="0" eaLnBrk="1" hangingPunct="1">
              <a:lnSpc>
                <a:spcPct val="100000"/>
              </a:lnSpc>
              <a:spcBef>
                <a:spcPct val="50000"/>
              </a:spcBef>
              <a:buFontTx/>
              <a:buNone/>
              <a:defRPr/>
            </a:pPr>
            <a:r>
              <a:rPr lang="zh-CN" altLang="en-US" sz="2000" dirty="0"/>
              <a:t>语义动作是将常量的名字、值、类型填入符号表</a:t>
            </a:r>
          </a:p>
        </p:txBody>
      </p:sp>
      <p:graphicFrame>
        <p:nvGraphicFramePr>
          <p:cNvPr id="22" name="表格 21"/>
          <p:cNvGraphicFramePr>
            <a:graphicFrameLocks noGrp="1"/>
          </p:cNvGraphicFramePr>
          <p:nvPr>
            <p:extLst>
              <p:ext uri="{D42A27DB-BD31-4B8C-83A1-F6EECF244321}">
                <p14:modId xmlns:p14="http://schemas.microsoft.com/office/powerpoint/2010/main" val="1375972841"/>
              </p:ext>
            </p:extLst>
          </p:nvPr>
        </p:nvGraphicFramePr>
        <p:xfrm>
          <a:off x="4860155" y="3316156"/>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(2)&lt;</a:t>
                      </a:r>
                      <a:r>
                        <a:rPr lang="en-US" altLang="zh-CN" sz="1600" b="0" dirty="0" err="1">
                          <a:solidFill>
                            <a:schemeClr val="tx1"/>
                          </a:solidFill>
                          <a:latin typeface="宋体" panose="02010600030101010101" pitchFamily="2" charset="-122"/>
                          <a:ea typeface="宋体" panose="02010600030101010101" pitchFamily="2" charset="-122"/>
                        </a:rPr>
                        <a:t>ConstHead</a:t>
                      </a:r>
                      <a:r>
                        <a:rPr lang="en-US" altLang="zh-CN" sz="1600" b="0" dirty="0">
                          <a:solidFill>
                            <a:schemeClr val="tx1"/>
                          </a:solidFill>
                          <a:latin typeface="宋体" panose="02010600030101010101" pitchFamily="2" charset="-122"/>
                          <a:ea typeface="宋体" panose="02010600030101010101" pitchFamily="2" charset="-122"/>
                        </a:rPr>
                        <a:t>&gt;→const &lt;</a:t>
                      </a:r>
                      <a:r>
                        <a:rPr lang="en-US" altLang="zh-CN" sz="1600" b="0" dirty="0" err="1">
                          <a:solidFill>
                            <a:schemeClr val="tx1"/>
                          </a:solidFill>
                          <a:latin typeface="宋体" panose="02010600030101010101" pitchFamily="2" charset="-122"/>
                          <a:ea typeface="宋体" panose="02010600030101010101" pitchFamily="2" charset="-122"/>
                        </a:rPr>
                        <a:t>ConstType</a:t>
                      </a:r>
                      <a:r>
                        <a:rPr lang="en-US" altLang="zh-CN" sz="1600" b="0" dirty="0">
                          <a:solidFill>
                            <a:schemeClr val="tx1"/>
                          </a:solidFill>
                          <a:latin typeface="宋体" panose="02010600030101010101" pitchFamily="2" charset="-122"/>
                          <a:ea typeface="宋体" panose="02010600030101010101" pitchFamily="2" charset="-122"/>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{&lt;</a:t>
                      </a:r>
                      <a:r>
                        <a:rPr lang="en-US" altLang="zh-CN" sz="1600" dirty="0" err="1">
                          <a:solidFill>
                            <a:schemeClr val="tx1"/>
                          </a:solidFill>
                          <a:latin typeface="宋体" panose="02010600030101010101" pitchFamily="2" charset="-122"/>
                          <a:ea typeface="宋体" panose="02010600030101010101" pitchFamily="2" charset="-122"/>
                        </a:rPr>
                        <a:t>ConstHead</a:t>
                      </a:r>
                      <a:r>
                        <a:rPr lang="en-US" altLang="zh-CN" sz="1600" dirty="0">
                          <a:solidFill>
                            <a:schemeClr val="tx1"/>
                          </a:solidFill>
                          <a:latin typeface="宋体" panose="02010600030101010101" pitchFamily="2" charset="-122"/>
                          <a:ea typeface="宋体" panose="02010600030101010101" pitchFamily="2" charset="-122"/>
                        </a:rPr>
                        <a:t>&gt;.type = &lt;</a:t>
                      </a:r>
                      <a:r>
                        <a:rPr lang="en-US" altLang="zh-CN" sz="1600" dirty="0" err="1">
                          <a:solidFill>
                            <a:schemeClr val="tx1"/>
                          </a:solidFill>
                          <a:latin typeface="宋体" panose="02010600030101010101" pitchFamily="2" charset="-122"/>
                          <a:ea typeface="宋体" panose="02010600030101010101" pitchFamily="2" charset="-122"/>
                        </a:rPr>
                        <a:t>ConstType</a:t>
                      </a:r>
                      <a:r>
                        <a:rPr lang="en-US" altLang="zh-CN" sz="1600" dirty="0">
                          <a:solidFill>
                            <a:schemeClr val="tx1"/>
                          </a:solidFill>
                          <a:latin typeface="宋体" panose="02010600030101010101" pitchFamily="2" charset="-122"/>
                          <a:ea typeface="宋体" panose="02010600030101010101" pitchFamily="2" charset="-122"/>
                        </a:rPr>
                        <a:t>&gt;.type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3054717177"/>
              </p:ext>
            </p:extLst>
          </p:nvPr>
        </p:nvGraphicFramePr>
        <p:xfrm>
          <a:off x="4860155" y="3313433"/>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(1) &lt;</a:t>
                      </a:r>
                      <a:r>
                        <a:rPr lang="en-US" altLang="zh-CN" sz="1600" b="0" dirty="0" err="1">
                          <a:solidFill>
                            <a:schemeClr val="tx1"/>
                          </a:solidFill>
                          <a:latin typeface="宋体" panose="02010600030101010101" pitchFamily="2" charset="-122"/>
                          <a:ea typeface="宋体" panose="02010600030101010101" pitchFamily="2" charset="-122"/>
                        </a:rPr>
                        <a:t>ConstDCL</a:t>
                      </a:r>
                      <a:r>
                        <a:rPr lang="en-US" altLang="zh-CN" sz="1600" b="0" dirty="0">
                          <a:solidFill>
                            <a:schemeClr val="tx1"/>
                          </a:solidFill>
                          <a:latin typeface="宋体" panose="02010600030101010101" pitchFamily="2" charset="-122"/>
                          <a:ea typeface="宋体" panose="02010600030101010101" pitchFamily="2" charset="-122"/>
                        </a:rPr>
                        <a:t>&gt;→&lt;</a:t>
                      </a:r>
                      <a:r>
                        <a:rPr lang="en-US" altLang="zh-CN" sz="1600" b="0" dirty="0" err="1">
                          <a:solidFill>
                            <a:schemeClr val="tx1"/>
                          </a:solidFill>
                          <a:latin typeface="宋体" panose="02010600030101010101" pitchFamily="2" charset="-122"/>
                          <a:ea typeface="宋体" panose="02010600030101010101" pitchFamily="2" charset="-122"/>
                        </a:rPr>
                        <a:t>ConstHead</a:t>
                      </a:r>
                      <a:r>
                        <a:rPr lang="en-US" altLang="zh-CN" sz="1600" b="0" dirty="0">
                          <a:solidFill>
                            <a:schemeClr val="tx1"/>
                          </a:solidFill>
                          <a:latin typeface="宋体" panose="02010600030101010101" pitchFamily="2" charset="-122"/>
                          <a:ea typeface="宋体" panose="02010600030101010101" pitchFamily="2" charset="-122"/>
                        </a:rPr>
                        <a:t>&gt;&lt;</a:t>
                      </a:r>
                      <a:r>
                        <a:rPr lang="en-US" altLang="zh-CN" sz="1600" b="0" dirty="0" err="1">
                          <a:solidFill>
                            <a:schemeClr val="tx1"/>
                          </a:solidFill>
                          <a:latin typeface="宋体" panose="02010600030101010101" pitchFamily="2" charset="-122"/>
                          <a:ea typeface="宋体" panose="02010600030101010101" pitchFamily="2" charset="-122"/>
                        </a:rPr>
                        <a:t>ConstList</a:t>
                      </a:r>
                      <a:r>
                        <a:rPr lang="en-US" altLang="zh-CN" sz="1600" b="0" dirty="0">
                          <a:solidFill>
                            <a:schemeClr val="tx1"/>
                          </a:solidFill>
                          <a:latin typeface="宋体" panose="02010600030101010101" pitchFamily="2" charset="-122"/>
                          <a:ea typeface="宋体" panose="02010600030101010101" pitchFamily="2" charset="-122"/>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{&lt;</a:t>
                      </a:r>
                      <a:r>
                        <a:rPr lang="en-US" altLang="zh-CN" sz="1600" dirty="0" err="1">
                          <a:solidFill>
                            <a:schemeClr val="tx1"/>
                          </a:solidFill>
                          <a:latin typeface="宋体" panose="02010600030101010101" pitchFamily="2" charset="-122"/>
                          <a:ea typeface="宋体" panose="02010600030101010101" pitchFamily="2" charset="-122"/>
                        </a:rPr>
                        <a:t>ConstTList</a:t>
                      </a:r>
                      <a:r>
                        <a:rPr lang="en-US" altLang="zh-CN" sz="1600" dirty="0">
                          <a:solidFill>
                            <a:schemeClr val="tx1"/>
                          </a:solidFill>
                          <a:latin typeface="宋体" panose="02010600030101010101" pitchFamily="2" charset="-122"/>
                          <a:ea typeface="宋体" panose="02010600030101010101" pitchFamily="2" charset="-122"/>
                        </a:rPr>
                        <a:t>&gt;.in = &lt;</a:t>
                      </a:r>
                      <a:r>
                        <a:rPr lang="en-US" altLang="zh-CN" sz="1600" dirty="0" err="1">
                          <a:solidFill>
                            <a:schemeClr val="tx1"/>
                          </a:solidFill>
                          <a:latin typeface="宋体" panose="02010600030101010101" pitchFamily="2" charset="-122"/>
                          <a:ea typeface="宋体" panose="02010600030101010101" pitchFamily="2" charset="-122"/>
                        </a:rPr>
                        <a:t>ConstHead</a:t>
                      </a:r>
                      <a:r>
                        <a:rPr lang="en-US" altLang="zh-CN" sz="1600" dirty="0">
                          <a:solidFill>
                            <a:schemeClr val="tx1"/>
                          </a:solidFill>
                          <a:latin typeface="宋体" panose="02010600030101010101" pitchFamily="2" charset="-122"/>
                          <a:ea typeface="宋体" panose="02010600030101010101" pitchFamily="2" charset="-122"/>
                        </a:rPr>
                        <a:t>&gt;.type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747788796"/>
              </p:ext>
            </p:extLst>
          </p:nvPr>
        </p:nvGraphicFramePr>
        <p:xfrm>
          <a:off x="4860155" y="3310710"/>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(3) &lt;</a:t>
                      </a:r>
                      <a:r>
                        <a:rPr lang="en-US" altLang="zh-CN" sz="1600" b="0" dirty="0" err="1">
                          <a:solidFill>
                            <a:schemeClr val="tx1"/>
                          </a:solidFill>
                          <a:latin typeface="宋体" panose="02010600030101010101" pitchFamily="2" charset="-122"/>
                          <a:ea typeface="宋体" panose="02010600030101010101" pitchFamily="2" charset="-122"/>
                        </a:rPr>
                        <a:t>ConstType</a:t>
                      </a:r>
                      <a:r>
                        <a:rPr lang="en-US" altLang="zh-CN" sz="1600" b="0" dirty="0">
                          <a:solidFill>
                            <a:schemeClr val="tx1"/>
                          </a:solidFill>
                          <a:latin typeface="宋体" panose="02010600030101010101" pitchFamily="2" charset="-122"/>
                          <a:ea typeface="宋体" panose="02010600030101010101" pitchFamily="2" charset="-122"/>
                        </a:rPr>
                        <a:t>&gt; →int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{&lt;</a:t>
                      </a:r>
                      <a:r>
                        <a:rPr lang="en-US" altLang="zh-CN" sz="1600" dirty="0" err="1">
                          <a:solidFill>
                            <a:schemeClr val="tx1"/>
                          </a:solidFill>
                          <a:latin typeface="宋体" panose="02010600030101010101" pitchFamily="2" charset="-122"/>
                          <a:ea typeface="宋体" panose="02010600030101010101" pitchFamily="2" charset="-122"/>
                        </a:rPr>
                        <a:t>ConstType</a:t>
                      </a:r>
                      <a:r>
                        <a:rPr lang="en-US" altLang="zh-CN" sz="1600" dirty="0">
                          <a:solidFill>
                            <a:schemeClr val="tx1"/>
                          </a:solidFill>
                          <a:latin typeface="宋体" panose="02010600030101010101" pitchFamily="2" charset="-122"/>
                          <a:ea typeface="宋体" panose="02010600030101010101" pitchFamily="2" charset="-122"/>
                        </a:rPr>
                        <a:t>&gt;.type = </a:t>
                      </a:r>
                      <a:r>
                        <a:rPr lang="en-US" altLang="zh-CN" sz="1600" dirty="0" err="1">
                          <a:solidFill>
                            <a:schemeClr val="tx1"/>
                          </a:solidFill>
                          <a:latin typeface="宋体" panose="02010600030101010101" pitchFamily="2" charset="-122"/>
                          <a:ea typeface="宋体" panose="02010600030101010101" pitchFamily="2" charset="-122"/>
                        </a:rPr>
                        <a:t>int</a:t>
                      </a:r>
                      <a:r>
                        <a:rPr lang="en-US" altLang="zh-CN" sz="1600" dirty="0">
                          <a:solidFill>
                            <a:schemeClr val="tx1"/>
                          </a:solidFill>
                          <a:latin typeface="宋体" panose="02010600030101010101" pitchFamily="2" charset="-122"/>
                          <a:ea typeface="宋体" panose="02010600030101010101" pitchFamily="2" charset="-122"/>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3932392135"/>
              </p:ext>
            </p:extLst>
          </p:nvPr>
        </p:nvGraphicFramePr>
        <p:xfrm>
          <a:off x="5414963" y="2307107"/>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A</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123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452546315"/>
              </p:ext>
            </p:extLst>
          </p:nvPr>
        </p:nvGraphicFramePr>
        <p:xfrm>
          <a:off x="5414010" y="2595139"/>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2</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B</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a:effectLst/>
                          <a:latin typeface="Times New Roman"/>
                          <a:ea typeface="宋体"/>
                        </a:rPr>
                        <a:t>int</a:t>
                      </a:r>
                      <a:endParaRPr lang="zh-CN" sz="1500" kern="10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456</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2447207475"/>
              </p:ext>
            </p:extLst>
          </p:nvPr>
        </p:nvGraphicFramePr>
        <p:xfrm>
          <a:off x="5414963" y="1851670"/>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常量名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常量类型</a:t>
                      </a:r>
                      <a:r>
                        <a:rPr lang="fr-FR" sz="1500" kern="100">
                          <a:effectLst/>
                          <a:latin typeface="Times New Roman"/>
                          <a:ea typeface="宋体"/>
                        </a:rPr>
                        <a:t>(type)</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值</a:t>
                      </a:r>
                      <a:r>
                        <a:rPr lang="fr-FR" sz="1500" kern="100" dirty="0">
                          <a:effectLst/>
                          <a:latin typeface="Times New Roman"/>
                          <a:ea typeface="宋体"/>
                        </a:rPr>
                        <a:t>(val)</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r>
                        <a:rPr lang="en-US" altLang="zh-CN"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A</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123</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r>
                        <a:rPr lang="en-US" altLang="zh-CN" sz="1500" kern="100" dirty="0">
                          <a:effectLst/>
                          <a:latin typeface="Times New Roman"/>
                          <a:ea typeface="宋体"/>
                        </a:rPr>
                        <a:t>2</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B</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456</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r>
                        <a:rPr lang="en-US" altLang="zh-CN" sz="1500" kern="100" dirty="0">
                          <a:effectLst/>
                          <a:latin typeface="Times New Roman"/>
                          <a:ea typeface="宋体"/>
                        </a:rPr>
                        <a: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4135347467"/>
              </p:ext>
            </p:extLst>
          </p:nvPr>
        </p:nvGraphicFramePr>
        <p:xfrm>
          <a:off x="4860155" y="3324817"/>
          <a:ext cx="4338635" cy="1422076"/>
        </p:xfrm>
        <a:graphic>
          <a:graphicData uri="http://schemas.openxmlformats.org/drawingml/2006/table">
            <a:tbl>
              <a:tblPr>
                <a:tableStyleId>{5C22544A-7EE6-4342-B048-85BDC9FD1C3A}</a:tableStyleId>
              </a:tblPr>
              <a:tblGrid>
                <a:gridCol w="4338635">
                  <a:extLst>
                    <a:ext uri="{9D8B030D-6E8A-4147-A177-3AD203B41FA5}">
                      <a16:colId xmlns:a16="http://schemas.microsoft.com/office/drawing/2014/main" val="20000"/>
                    </a:ext>
                  </a:extLst>
                </a:gridCol>
              </a:tblGrid>
              <a:tr h="404389">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altLang="zh-CN" sz="1600" kern="100" dirty="0">
                          <a:solidFill>
                            <a:schemeClr val="tx1"/>
                          </a:solidFill>
                          <a:effectLst/>
                          <a:latin typeface="+mn-lt"/>
                          <a:ea typeface="+mn-ea"/>
                          <a:cs typeface="+mn-cs"/>
                        </a:rPr>
                        <a:t>(</a:t>
                      </a:r>
                      <a:r>
                        <a:rPr kumimoji="0" lang="fr-FR" sz="1600" kern="100" dirty="0">
                          <a:solidFill>
                            <a:schemeClr val="tx1"/>
                          </a:solidFill>
                          <a:effectLst/>
                          <a:latin typeface="+mn-lt"/>
                          <a:ea typeface="+mn-ea"/>
                          <a:cs typeface="+mn-cs"/>
                        </a:rPr>
                        <a:t>4</a:t>
                      </a:r>
                      <a:r>
                        <a:rPr kumimoji="0" lang="en-US" altLang="zh-CN" sz="1600" kern="100" dirty="0">
                          <a:solidFill>
                            <a:schemeClr val="tx1"/>
                          </a:solidFill>
                          <a:effectLst/>
                          <a:latin typeface="+mn-lt"/>
                          <a:ea typeface="+mn-ea"/>
                          <a:cs typeface="+mn-cs"/>
                        </a:rPr>
                        <a:t>)</a:t>
                      </a:r>
                      <a:r>
                        <a:rPr kumimoji="0" lang="fr-FR" altLang="zh-CN" sz="1400" kern="100" dirty="0">
                          <a:solidFill>
                            <a:schemeClr val="tx1"/>
                          </a:solidFill>
                          <a:effectLst/>
                          <a:latin typeface="+mn-lt"/>
                          <a:ea typeface="+mn-ea"/>
                          <a:cs typeface="+mn-cs"/>
                        </a:rPr>
                        <a:t>&lt;Const</a:t>
                      </a:r>
                      <a:r>
                        <a:rPr kumimoji="0" lang="en-US" altLang="zh-CN" sz="1400" kern="100" dirty="0">
                          <a:solidFill>
                            <a:schemeClr val="tx1"/>
                          </a:solidFill>
                          <a:effectLst/>
                          <a:latin typeface="+mn-lt"/>
                          <a:ea typeface="+mn-ea"/>
                          <a:cs typeface="+mn-cs"/>
                        </a:rPr>
                        <a:t>List</a:t>
                      </a:r>
                      <a:r>
                        <a:rPr kumimoji="0" lang="fr-FR" altLang="zh-CN" sz="1400" kern="100" dirty="0">
                          <a:solidFill>
                            <a:schemeClr val="tx1"/>
                          </a:solidFill>
                          <a:effectLst/>
                          <a:latin typeface="+mn-lt"/>
                          <a:ea typeface="+mn-ea"/>
                          <a:cs typeface="+mn-cs"/>
                        </a:rPr>
                        <a:t>&gt;→id=value, &lt;Const</a:t>
                      </a:r>
                      <a:r>
                        <a:rPr kumimoji="0" lang="en-US" altLang="zh-CN" sz="1400" kern="100" dirty="0">
                          <a:solidFill>
                            <a:schemeClr val="tx1"/>
                          </a:solidFill>
                          <a:effectLst/>
                          <a:latin typeface="+mn-lt"/>
                          <a:ea typeface="+mn-ea"/>
                          <a:cs typeface="+mn-cs"/>
                        </a:rPr>
                        <a:t>List</a:t>
                      </a:r>
                      <a:r>
                        <a:rPr kumimoji="0" lang="fr-FR" altLang="zh-CN" sz="1400" kern="100" dirty="0">
                          <a:solidFill>
                            <a:schemeClr val="tx1"/>
                          </a:solidFill>
                          <a:effectLst/>
                          <a:latin typeface="+mn-lt"/>
                          <a:ea typeface="+mn-ea"/>
                          <a:cs typeface="+mn-cs"/>
                        </a:rPr>
                        <a:t>&gt;</a:t>
                      </a:r>
                      <a:r>
                        <a:rPr kumimoji="0" lang="fr-FR" altLang="zh-CN" sz="1400" kern="100" baseline="30000" dirty="0">
                          <a:solidFill>
                            <a:schemeClr val="tx1"/>
                          </a:solidFill>
                          <a:effectLst/>
                          <a:latin typeface="+mn-lt"/>
                          <a:ea typeface="+mn-ea"/>
                          <a:cs typeface="+mn-cs"/>
                        </a:rPr>
                        <a:t>(1)</a:t>
                      </a:r>
                      <a:endParaRPr kumimoji="0" lang="zh-CN" altLang="zh-CN" sz="1400" kern="100" baseline="300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01768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sz="1600" kern="100" dirty="0">
                          <a:solidFill>
                            <a:schemeClr val="tx1"/>
                          </a:solidFill>
                          <a:effectLst/>
                          <a:latin typeface="+mn-lt"/>
                          <a:ea typeface="+mn-ea"/>
                          <a:cs typeface="+mn-cs"/>
                        </a:rPr>
                        <a:t>{</a:t>
                      </a:r>
                      <a:r>
                        <a:rPr kumimoji="0" lang="en-US" altLang="zh-CN" sz="1600" kern="100" dirty="0">
                          <a:solidFill>
                            <a:schemeClr val="tx1"/>
                          </a:solidFill>
                          <a:effectLst/>
                          <a:latin typeface="+mn-lt"/>
                          <a:ea typeface="+mn-ea"/>
                          <a:cs typeface="+mn-cs"/>
                        </a:rPr>
                        <a:t>  </a:t>
                      </a:r>
                      <a:r>
                        <a:rPr kumimoji="0" lang="zh-CN" sz="1600" kern="100" dirty="0">
                          <a:solidFill>
                            <a:schemeClr val="tx1"/>
                          </a:solidFill>
                          <a:effectLst/>
                          <a:latin typeface="+mn-lt"/>
                          <a:ea typeface="+mn-ea"/>
                          <a:cs typeface="+mn-cs"/>
                        </a:rPr>
                        <a:t>InsertConst(</a:t>
                      </a:r>
                      <a:r>
                        <a:rPr kumimoji="0" lang="en-US" altLang="zh-CN" sz="1600" kern="100" dirty="0">
                          <a:solidFill>
                            <a:schemeClr val="tx1"/>
                          </a:solidFill>
                          <a:effectLst/>
                          <a:latin typeface="+mn-lt"/>
                          <a:ea typeface="+mn-ea"/>
                          <a:cs typeface="+mn-cs"/>
                        </a:rPr>
                        <a:t>id.</a:t>
                      </a:r>
                      <a:r>
                        <a:rPr kumimoji="0" lang="en-US" altLang="zh-CN" sz="1800" kern="1200" dirty="0">
                          <a:solidFill>
                            <a:schemeClr val="dk1"/>
                          </a:solidFill>
                          <a:effectLst/>
                          <a:latin typeface="+mn-lt"/>
                          <a:ea typeface="+mn-ea"/>
                          <a:cs typeface="+mn-cs"/>
                        </a:rPr>
                        <a:t>name</a:t>
                      </a:r>
                      <a:r>
                        <a:rPr kumimoji="0" lang="zh-CN" sz="1600" kern="100" dirty="0">
                          <a:solidFill>
                            <a:schemeClr val="tx1"/>
                          </a:solidFill>
                          <a:effectLst/>
                          <a:latin typeface="+mn-lt"/>
                          <a:ea typeface="+mn-ea"/>
                          <a:cs typeface="+mn-cs"/>
                        </a:rPr>
                        <a:t>); </a:t>
                      </a:r>
                      <a:r>
                        <a:rPr kumimoji="0" lang="zh-CN" sz="1400" kern="100" dirty="0">
                          <a:solidFill>
                            <a:schemeClr val="tx1"/>
                          </a:solidFill>
                          <a:effectLst/>
                          <a:latin typeface="+mn-lt"/>
                          <a:ea typeface="+mn-ea"/>
                          <a:cs typeface="+mn-cs"/>
                        </a:rPr>
                        <a:t>//将常量插入符号表</a:t>
                      </a:r>
                      <a:endParaRPr kumimoji="0" lang="zh-CN" sz="1600" kern="100" dirty="0">
                        <a:solidFill>
                          <a:schemeClr val="tx1"/>
                        </a:solidFill>
                        <a:effectLst/>
                        <a:latin typeface="+mn-lt"/>
                        <a:ea typeface="+mn-ea"/>
                        <a:cs typeface="+mn-cs"/>
                      </a:endParaRPr>
                    </a:p>
                    <a:p>
                      <a:pPr indent="171450" algn="just">
                        <a:spcAft>
                          <a:spcPts val="0"/>
                        </a:spcAft>
                      </a:pPr>
                      <a:r>
                        <a:rPr kumimoji="0" lang="zh-CN" sz="1600" kern="100" dirty="0">
                          <a:solidFill>
                            <a:schemeClr val="tx1"/>
                          </a:solidFill>
                          <a:effectLst/>
                          <a:latin typeface="+mn-lt"/>
                          <a:ea typeface="+mn-ea"/>
                          <a:cs typeface="+mn-cs"/>
                        </a:rPr>
                        <a:t>entry(id).val= value;</a:t>
                      </a:r>
                    </a:p>
                    <a:p>
                      <a:pPr indent="171450" algn="just">
                        <a:spcAft>
                          <a:spcPts val="0"/>
                        </a:spcAft>
                      </a:pPr>
                      <a:r>
                        <a:rPr kumimoji="0" lang="zh-CN" sz="1600" kern="100" dirty="0">
                          <a:solidFill>
                            <a:schemeClr val="tx1"/>
                          </a:solidFill>
                          <a:effectLst/>
                          <a:latin typeface="+mn-lt"/>
                          <a:ea typeface="+mn-ea"/>
                          <a:cs typeface="+mn-cs"/>
                        </a:rPr>
                        <a:t>entry(id).type=</a:t>
                      </a:r>
                      <a:r>
                        <a:rPr kumimoji="0" lang="fr-FR" sz="1600" kern="100" dirty="0">
                          <a:solidFill>
                            <a:schemeClr val="tx1"/>
                          </a:solidFill>
                          <a:effectLst/>
                          <a:latin typeface="+mn-lt"/>
                          <a:ea typeface="+mn-ea"/>
                          <a:cs typeface="+mn-cs"/>
                        </a:rPr>
                        <a:t>&lt;ConstList&gt;.in</a:t>
                      </a:r>
                      <a:r>
                        <a:rPr kumimoji="0" lang="zh-CN" sz="1600" kern="100" dirty="0">
                          <a:solidFill>
                            <a:schemeClr val="tx1"/>
                          </a:solidFill>
                          <a:effectLst/>
                          <a:latin typeface="+mn-lt"/>
                          <a:ea typeface="+mn-ea"/>
                          <a:cs typeface="+mn-cs"/>
                        </a:rPr>
                        <a:t>; </a:t>
                      </a:r>
                    </a:p>
                    <a:p>
                      <a:pPr indent="171450" algn="just">
                        <a:spcAft>
                          <a:spcPts val="0"/>
                        </a:spcAft>
                      </a:pPr>
                      <a:r>
                        <a:rPr kumimoji="0" lang="fr-FR" sz="1600" kern="100" dirty="0">
                          <a:solidFill>
                            <a:schemeClr val="tx1"/>
                          </a:solidFill>
                          <a:effectLst/>
                          <a:latin typeface="+mn-lt"/>
                          <a:ea typeface="+mn-ea"/>
                          <a:cs typeface="+mn-cs"/>
                        </a:rPr>
                        <a:t>&lt;Const</a:t>
                      </a:r>
                      <a:r>
                        <a:rPr kumimoji="0" lang="fr-FR" altLang="zh-CN" sz="1600" kern="100" dirty="0">
                          <a:solidFill>
                            <a:schemeClr val="tx1"/>
                          </a:solidFill>
                          <a:effectLst/>
                          <a:latin typeface="+mn-lt"/>
                          <a:ea typeface="+mn-ea"/>
                          <a:cs typeface="+mn-cs"/>
                        </a:rPr>
                        <a:t>List</a:t>
                      </a:r>
                      <a:r>
                        <a:rPr kumimoji="0" lang="fr-FR" sz="1600" kern="100" dirty="0">
                          <a:solidFill>
                            <a:schemeClr val="tx1"/>
                          </a:solidFill>
                          <a:effectLst/>
                          <a:latin typeface="+mn-lt"/>
                          <a:ea typeface="+mn-ea"/>
                          <a:cs typeface="+mn-cs"/>
                        </a:rPr>
                        <a:t>&gt;</a:t>
                      </a:r>
                      <a:r>
                        <a:rPr kumimoji="0" lang="fr-FR" sz="1600" kern="100" baseline="30000" dirty="0">
                          <a:solidFill>
                            <a:schemeClr val="tx1"/>
                          </a:solidFill>
                          <a:effectLst/>
                          <a:latin typeface="+mn-lt"/>
                          <a:ea typeface="+mn-ea"/>
                          <a:cs typeface="+mn-cs"/>
                        </a:rPr>
                        <a:t>(1)</a:t>
                      </a:r>
                      <a:r>
                        <a:rPr kumimoji="0" lang="fr-FR" sz="1600" kern="100" dirty="0">
                          <a:solidFill>
                            <a:schemeClr val="tx1"/>
                          </a:solidFill>
                          <a:effectLst/>
                          <a:latin typeface="+mn-lt"/>
                          <a:ea typeface="+mn-ea"/>
                          <a:cs typeface="+mn-cs"/>
                        </a:rPr>
                        <a:t>.in = &lt;Const</a:t>
                      </a:r>
                      <a:r>
                        <a:rPr kumimoji="0" lang="fr-FR" altLang="zh-CN" sz="1600" kern="100" dirty="0">
                          <a:solidFill>
                            <a:schemeClr val="tx1"/>
                          </a:solidFill>
                          <a:effectLst/>
                          <a:latin typeface="+mn-lt"/>
                          <a:ea typeface="+mn-ea"/>
                          <a:cs typeface="+mn-cs"/>
                        </a:rPr>
                        <a:t>List</a:t>
                      </a:r>
                      <a:r>
                        <a:rPr kumimoji="0" lang="fr-FR" sz="1600" kern="100" dirty="0">
                          <a:solidFill>
                            <a:schemeClr val="tx1"/>
                          </a:solidFill>
                          <a:effectLst/>
                          <a:latin typeface="+mn-lt"/>
                          <a:ea typeface="+mn-ea"/>
                          <a:cs typeface="+mn-cs"/>
                        </a:rPr>
                        <a:t>&gt;.in; }</a:t>
                      </a:r>
                      <a:endParaRPr kumimoji="0" lang="zh-CN" sz="1600"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701588906"/>
              </p:ext>
            </p:extLst>
          </p:nvPr>
        </p:nvGraphicFramePr>
        <p:xfrm>
          <a:off x="4849705" y="3317575"/>
          <a:ext cx="4236738" cy="1224280"/>
        </p:xfrm>
        <a:graphic>
          <a:graphicData uri="http://schemas.openxmlformats.org/drawingml/2006/table">
            <a:tbl>
              <a:tblPr firstRow="1" bandRow="1">
                <a:tableStyleId>{5C22544A-7EE6-4342-B048-85BDC9FD1C3A}</a:tableStyleId>
              </a:tblPr>
              <a:tblGrid>
                <a:gridCol w="4236738">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(5)&lt;</a:t>
                      </a:r>
                      <a:r>
                        <a:rPr lang="en-US" altLang="zh-CN" sz="1600" b="0" dirty="0" err="1">
                          <a:solidFill>
                            <a:schemeClr val="tx1"/>
                          </a:solidFill>
                          <a:latin typeface="宋体" panose="02010600030101010101" pitchFamily="2" charset="-122"/>
                          <a:ea typeface="宋体" panose="02010600030101010101" pitchFamily="2" charset="-122"/>
                        </a:rPr>
                        <a:t>ConstList</a:t>
                      </a:r>
                      <a:r>
                        <a:rPr lang="en-US" altLang="zh-CN" sz="1600" b="0" dirty="0">
                          <a:solidFill>
                            <a:schemeClr val="tx1"/>
                          </a:solidFill>
                          <a:latin typeface="宋体" panose="02010600030101010101" pitchFamily="2" charset="-122"/>
                          <a:ea typeface="宋体" panose="02010600030101010101" pitchFamily="2" charset="-122"/>
                        </a:rPr>
                        <a:t>&gt;→id=value;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mn-ea"/>
                          <a:ea typeface="+mn-ea"/>
                        </a:rPr>
                        <a:t>{</a:t>
                      </a:r>
                      <a:r>
                        <a:rPr lang="en-US" altLang="zh-CN" sz="1600" dirty="0" err="1">
                          <a:solidFill>
                            <a:schemeClr val="tx1"/>
                          </a:solidFill>
                          <a:latin typeface="+mn-ea"/>
                          <a:ea typeface="+mn-ea"/>
                        </a:rPr>
                        <a:t>InsertConst</a:t>
                      </a:r>
                      <a:r>
                        <a:rPr lang="en-US" altLang="zh-CN" sz="1600" dirty="0">
                          <a:solidFill>
                            <a:schemeClr val="tx1"/>
                          </a:solidFill>
                          <a:latin typeface="+mn-ea"/>
                          <a:ea typeface="+mn-ea"/>
                        </a:rPr>
                        <a:t>(</a:t>
                      </a:r>
                      <a:r>
                        <a:rPr kumimoji="0" lang="en-US" altLang="zh-CN" sz="1800" kern="1200" dirty="0">
                          <a:solidFill>
                            <a:schemeClr val="dk1"/>
                          </a:solidFill>
                          <a:effectLst/>
                          <a:latin typeface="+mn-ea"/>
                          <a:ea typeface="+mn-ea"/>
                          <a:cs typeface="+mn-cs"/>
                        </a:rPr>
                        <a:t>id.name</a:t>
                      </a:r>
                      <a:r>
                        <a:rPr lang="en-US" altLang="zh-CN" sz="1600" dirty="0">
                          <a:solidFill>
                            <a:schemeClr val="tx1"/>
                          </a:solidFill>
                          <a:latin typeface="+mn-ea"/>
                          <a:ea typeface="+mn-ea"/>
                        </a:rPr>
                        <a:t>); </a:t>
                      </a:r>
                      <a:r>
                        <a:rPr lang="en-US" altLang="zh-CN" sz="1400" dirty="0">
                          <a:solidFill>
                            <a:schemeClr val="tx1"/>
                          </a:solidFill>
                          <a:latin typeface="+mn-ea"/>
                          <a:ea typeface="+mn-ea"/>
                        </a:rPr>
                        <a:t>//</a:t>
                      </a:r>
                      <a:r>
                        <a:rPr lang="zh-CN" altLang="en-US" sz="1400" dirty="0">
                          <a:solidFill>
                            <a:schemeClr val="tx1"/>
                          </a:solidFill>
                          <a:latin typeface="+mn-ea"/>
                          <a:ea typeface="+mn-ea"/>
                        </a:rPr>
                        <a:t>将常量插入符号表</a:t>
                      </a:r>
                    </a:p>
                    <a:p>
                      <a:r>
                        <a:rPr lang="en-US" altLang="zh-CN" sz="1600" dirty="0">
                          <a:solidFill>
                            <a:schemeClr val="tx1"/>
                          </a:solidFill>
                          <a:latin typeface="+mn-ea"/>
                          <a:ea typeface="+mn-ea"/>
                        </a:rPr>
                        <a:t>entry(id).</a:t>
                      </a:r>
                      <a:r>
                        <a:rPr lang="en-US" altLang="zh-CN" sz="1600" dirty="0" err="1">
                          <a:solidFill>
                            <a:schemeClr val="tx1"/>
                          </a:solidFill>
                          <a:latin typeface="+mn-ea"/>
                          <a:ea typeface="+mn-ea"/>
                        </a:rPr>
                        <a:t>val</a:t>
                      </a:r>
                      <a:r>
                        <a:rPr lang="en-US" altLang="zh-CN" sz="1600" dirty="0">
                          <a:solidFill>
                            <a:schemeClr val="tx1"/>
                          </a:solidFill>
                          <a:latin typeface="+mn-ea"/>
                          <a:ea typeface="+mn-ea"/>
                        </a:rPr>
                        <a:t>= value;</a:t>
                      </a:r>
                    </a:p>
                    <a:p>
                      <a:r>
                        <a:rPr lang="en-US" altLang="zh-CN" sz="1600" dirty="0">
                          <a:solidFill>
                            <a:schemeClr val="tx1"/>
                          </a:solidFill>
                          <a:latin typeface="+mn-ea"/>
                          <a:ea typeface="+mn-ea"/>
                        </a:rPr>
                        <a:t>entry(id).type=&lt;Const</a:t>
                      </a:r>
                      <a:r>
                        <a:rPr kumimoji="0" lang="fr-FR" altLang="zh-CN" sz="1600" kern="100" dirty="0">
                          <a:solidFill>
                            <a:schemeClr val="tx1"/>
                          </a:solidFill>
                          <a:effectLst/>
                          <a:latin typeface="+mn-lt"/>
                          <a:ea typeface="+mn-ea"/>
                          <a:cs typeface="+mn-cs"/>
                        </a:rPr>
                        <a:t>List</a:t>
                      </a:r>
                      <a:r>
                        <a:rPr lang="en-US" altLang="zh-CN" sz="1600" dirty="0">
                          <a:solidFill>
                            <a:schemeClr val="tx1"/>
                          </a:solidFill>
                          <a:latin typeface="+mn-ea"/>
                          <a:ea typeface="+mn-ea"/>
                        </a:rPr>
                        <a:t>&gt;.in;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0467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499"/>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2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xit" presetSubtype="0" fill="hold" nodeType="clickEffect">
                                  <p:stCondLst>
                                    <p:cond delay="0"/>
                                  </p:stCondLst>
                                  <p:childTnLst>
                                    <p:set>
                                      <p:cBhvr>
                                        <p:cTn id="55" dur="1" fill="hold">
                                          <p:stCondLst>
                                            <p:cond delay="0"/>
                                          </p:stCondLst>
                                        </p:cTn>
                                        <p:tgtEl>
                                          <p:spTgt spid="22"/>
                                        </p:tgtEl>
                                        <p:attrNameLst>
                                          <p:attrName>style.visibility</p:attrName>
                                        </p:attrNameLst>
                                      </p:cBhvr>
                                      <p:to>
                                        <p:strVal val="hidden"/>
                                      </p:to>
                                    </p:set>
                                  </p:childTnLst>
                                </p:cTn>
                              </p:par>
                              <p:par>
                                <p:cTn id="56" presetID="1"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up)">
                                      <p:cBhvr>
                                        <p:cTn id="62" dur="500"/>
                                        <p:tgtEl>
                                          <p:spTgt spid="16"/>
                                        </p:tgtEl>
                                      </p:cBhvr>
                                    </p:animEffect>
                                  </p:childTnLst>
                                </p:cTn>
                              </p:par>
                              <p:par>
                                <p:cTn id="63" presetID="22" presetClass="entr" presetSubtype="1"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up)">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24"/>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3"/>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up)">
                                      <p:cBhvr>
                                        <p:cTn id="80" dur="500"/>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2"/>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9" name="Text Box 39"/>
          <p:cNvSpPr txBox="1">
            <a:spLocks noChangeArrowheads="1"/>
          </p:cNvSpPr>
          <p:nvPr/>
        </p:nvSpPr>
        <p:spPr bwMode="auto">
          <a:xfrm>
            <a:off x="107950" y="3971922"/>
            <a:ext cx="4211638" cy="830997"/>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400" dirty="0"/>
              <a:t>const int A = 123</a:t>
            </a:r>
            <a:r>
              <a:rPr lang="zh-CN" altLang="zh-CN" sz="2400" dirty="0"/>
              <a:t>，</a:t>
            </a:r>
            <a:r>
              <a:rPr lang="en-US" altLang="zh-CN" sz="2400" dirty="0"/>
              <a:t>B = 456;</a:t>
            </a:r>
            <a:endParaRPr lang="zh-CN" altLang="zh-CN" sz="2400" dirty="0"/>
          </a:p>
          <a:p>
            <a:pPr>
              <a:lnSpc>
                <a:spcPct val="100000"/>
              </a:lnSpc>
              <a:buFontTx/>
              <a:buNone/>
            </a:pPr>
            <a:r>
              <a:rPr lang="en-US" altLang="zh-CN" sz="2400" dirty="0"/>
              <a:t>const char K = </a:t>
            </a:r>
            <a:r>
              <a:rPr lang="pt-PT" altLang="zh-CN" sz="2400" dirty="0"/>
              <a:t>'</a:t>
            </a:r>
            <a:r>
              <a:rPr lang="en-US" altLang="zh-CN" sz="2400" dirty="0"/>
              <a:t>s</a:t>
            </a:r>
            <a:r>
              <a:rPr lang="pt-PT" altLang="zh-CN" sz="2400" dirty="0"/>
              <a:t>'</a:t>
            </a:r>
            <a:r>
              <a:rPr lang="en-US" altLang="zh-CN" sz="2400" dirty="0"/>
              <a:t>;</a:t>
            </a:r>
            <a:endParaRPr lang="zh-CN" altLang="zh-CN" sz="2400" dirty="0"/>
          </a:p>
        </p:txBody>
      </p:sp>
      <p:graphicFrame>
        <p:nvGraphicFramePr>
          <p:cNvPr id="34" name="表格 33"/>
          <p:cNvGraphicFramePr>
            <a:graphicFrameLocks noGrp="1"/>
          </p:cNvGraphicFramePr>
          <p:nvPr>
            <p:extLst>
              <p:ext uri="{D42A27DB-BD31-4B8C-83A1-F6EECF244321}">
                <p14:modId xmlns:p14="http://schemas.microsoft.com/office/powerpoint/2010/main" val="2530551665"/>
              </p:ext>
            </p:extLst>
          </p:nvPr>
        </p:nvGraphicFramePr>
        <p:xfrm>
          <a:off x="4716016" y="3651870"/>
          <a:ext cx="4356099" cy="1144941"/>
        </p:xfrm>
        <a:graphic>
          <a:graphicData uri="http://schemas.openxmlformats.org/drawingml/2006/table">
            <a:tbl>
              <a:tblPr/>
              <a:tblGrid>
                <a:gridCol w="648090">
                  <a:extLst>
                    <a:ext uri="{9D8B030D-6E8A-4147-A177-3AD203B41FA5}">
                      <a16:colId xmlns:a16="http://schemas.microsoft.com/office/drawing/2014/main" val="20000"/>
                    </a:ext>
                  </a:extLst>
                </a:gridCol>
                <a:gridCol w="1141466">
                  <a:extLst>
                    <a:ext uri="{9D8B030D-6E8A-4147-A177-3AD203B41FA5}">
                      <a16:colId xmlns:a16="http://schemas.microsoft.com/office/drawing/2014/main" val="20001"/>
                    </a:ext>
                  </a:extLst>
                </a:gridCol>
                <a:gridCol w="1558402">
                  <a:extLst>
                    <a:ext uri="{9D8B030D-6E8A-4147-A177-3AD203B41FA5}">
                      <a16:colId xmlns:a16="http://schemas.microsoft.com/office/drawing/2014/main" val="20002"/>
                    </a:ext>
                  </a:extLst>
                </a:gridCol>
                <a:gridCol w="1008141">
                  <a:extLst>
                    <a:ext uri="{9D8B030D-6E8A-4147-A177-3AD203B41FA5}">
                      <a16:colId xmlns:a16="http://schemas.microsoft.com/office/drawing/2014/main" val="20003"/>
                    </a:ext>
                  </a:extLst>
                </a:gridCol>
              </a:tblGrid>
              <a:tr h="322218">
                <a:tc>
                  <a:txBody>
                    <a:bodyPr/>
                    <a:lstStyle/>
                    <a:p>
                      <a:pPr algn="ctr">
                        <a:spcAft>
                          <a:spcPts val="0"/>
                        </a:spcAft>
                      </a:pPr>
                      <a:r>
                        <a:rPr lang="zh-CN" sz="1500" kern="100" dirty="0">
                          <a:effectLst/>
                          <a:latin typeface="Times New Roman"/>
                          <a:ea typeface="宋体"/>
                        </a:rPr>
                        <a:t>入口</a:t>
                      </a: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常量名</a:t>
                      </a: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常量类型</a:t>
                      </a:r>
                      <a:r>
                        <a:rPr lang="fr-FR" sz="1500" kern="100">
                          <a:effectLst/>
                          <a:latin typeface="Times New Roman"/>
                          <a:ea typeface="宋体"/>
                        </a:rPr>
                        <a:t>(type)</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r>
                        <a:rPr lang="fr-FR" sz="1500" kern="100">
                          <a:effectLst/>
                          <a:latin typeface="Times New Roman"/>
                          <a:ea typeface="宋体"/>
                        </a:rPr>
                        <a:t>1</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dirty="0">
                          <a:effectLst/>
                          <a:latin typeface="Times New Roman"/>
                          <a:ea typeface="宋体"/>
                        </a:rPr>
                        <a:t>A</a:t>
                      </a:r>
                      <a:endParaRPr lang="zh-CN" sz="1500" kern="100" dirty="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int</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123</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r>
                        <a:rPr lang="fr-FR" sz="1500" kern="100">
                          <a:effectLst/>
                          <a:latin typeface="Times New Roman"/>
                          <a:ea typeface="宋体"/>
                        </a:rPr>
                        <a:t>2</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B</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int</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456</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r>
                        <a:rPr lang="fr-FR" sz="1500" kern="100" dirty="0">
                          <a:effectLst/>
                          <a:latin typeface="Times New Roman"/>
                          <a:ea typeface="宋体"/>
                        </a:rPr>
                        <a:t>3</a:t>
                      </a:r>
                      <a:endParaRPr lang="zh-CN" sz="1500" kern="100" dirty="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K</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char</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sz="1500" kern="100" dirty="0">
                          <a:effectLst/>
                          <a:latin typeface="Times New Roman"/>
                          <a:ea typeface="宋体"/>
                        </a:rPr>
                        <a:t>‘s’</a:t>
                      </a:r>
                      <a:endParaRPr lang="zh-CN" sz="1500" kern="100" dirty="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2728574643"/>
              </p:ext>
            </p:extLst>
          </p:nvPr>
        </p:nvGraphicFramePr>
        <p:xfrm>
          <a:off x="-27136" y="699542"/>
          <a:ext cx="9144000" cy="2851378"/>
        </p:xfrm>
        <a:graphic>
          <a:graphicData uri="http://schemas.openxmlformats.org/drawingml/2006/table">
            <a:tbl>
              <a:tblPr>
                <a:tableStyleId>{5C22544A-7EE6-4342-B048-85BDC9FD1C3A}</a:tableStyleId>
              </a:tblPr>
              <a:tblGrid>
                <a:gridCol w="827585">
                  <a:extLst>
                    <a:ext uri="{9D8B030D-6E8A-4147-A177-3AD203B41FA5}">
                      <a16:colId xmlns:a16="http://schemas.microsoft.com/office/drawing/2014/main" val="20000"/>
                    </a:ext>
                  </a:extLst>
                </a:gridCol>
                <a:gridCol w="3744415">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228600">
                <a:tc>
                  <a:txBody>
                    <a:bodyPr/>
                    <a:lstStyle/>
                    <a:p>
                      <a:pPr algn="just">
                        <a:spcAft>
                          <a:spcPts val="0"/>
                        </a:spcAft>
                      </a:pPr>
                      <a:r>
                        <a:rPr lang="zh-CN" sz="1700" kern="100" dirty="0">
                          <a:effectLst/>
                        </a:rPr>
                        <a:t>编号</a:t>
                      </a:r>
                      <a:endParaRPr lang="zh-CN" sz="17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700" kern="100">
                          <a:effectLst/>
                        </a:rPr>
                        <a:t>产生式</a:t>
                      </a:r>
                      <a:endParaRPr lang="zh-CN" sz="17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700" kern="100">
                          <a:effectLst/>
                        </a:rPr>
                        <a:t>语义规则</a:t>
                      </a:r>
                      <a:endParaRPr lang="zh-CN" sz="17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1538">
                <a:tc>
                  <a:txBody>
                    <a:bodyPr/>
                    <a:lstStyle/>
                    <a:p>
                      <a:pPr algn="ctr"/>
                      <a:r>
                        <a:rPr lang="zh-CN" sz="1600" kern="100">
                          <a:effectLst/>
                          <a:latin typeface="Times New Roman" panose="02020603050405020304" pitchFamily="18" charset="0"/>
                          <a:ea typeface="宋体" panose="02010600030101010101" pitchFamily="2" charset="-122"/>
                        </a:rPr>
                        <a:t>（</a:t>
                      </a:r>
                      <a:r>
                        <a:rPr lang="fr-FR" sz="1600" kern="100">
                          <a:effectLst/>
                          <a:latin typeface="Times New Roman" panose="02020603050405020304" pitchFamily="18" charset="0"/>
                          <a:ea typeface="宋体" panose="02010600030101010101" pitchFamily="2" charset="-122"/>
                        </a:rPr>
                        <a:t>1</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dirty="0">
                          <a:effectLst/>
                          <a:latin typeface="Times New Roman" panose="02020603050405020304" pitchFamily="18" charset="0"/>
                          <a:ea typeface="宋体" panose="02010600030101010101" pitchFamily="2" charset="-122"/>
                        </a:rPr>
                        <a:t>&lt;ConstDCL&gt;→&lt;ConstHead&gt;&lt;ConstList&gt;</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dirty="0">
                          <a:effectLst/>
                          <a:latin typeface="Times New Roman" panose="02020603050405020304" pitchFamily="18" charset="0"/>
                          <a:ea typeface="宋体" panose="02010600030101010101" pitchFamily="2" charset="-122"/>
                        </a:rPr>
                        <a:t>{&lt;ConstList&gt;.in = &lt;ConstHead&gt;.type      }</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0040">
                <a:tc>
                  <a:txBody>
                    <a:bodyPr/>
                    <a:lstStyle/>
                    <a:p>
                      <a:pPr algn="ctr"/>
                      <a:r>
                        <a:rPr lang="zh-CN" sz="1600" kern="100">
                          <a:effectLst/>
                          <a:latin typeface="Times New Roman" panose="02020603050405020304" pitchFamily="18" charset="0"/>
                          <a:ea typeface="宋体" panose="02010600030101010101" pitchFamily="2" charset="-122"/>
                        </a:rPr>
                        <a:t>（</a:t>
                      </a:r>
                      <a:r>
                        <a:rPr lang="fr-FR" sz="1600" kern="100">
                          <a:effectLst/>
                          <a:latin typeface="Times New Roman" panose="02020603050405020304" pitchFamily="18" charset="0"/>
                          <a:ea typeface="宋体" panose="02010600030101010101" pitchFamily="2" charset="-122"/>
                        </a:rPr>
                        <a:t>2</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a:effectLst/>
                          <a:latin typeface="Times New Roman" panose="02020603050405020304" pitchFamily="18" charset="0"/>
                          <a:ea typeface="宋体" panose="02010600030101010101" pitchFamily="2" charset="-122"/>
                        </a:rPr>
                        <a:t>&lt;ConstHead&gt;→const &lt;ConstType&gt;</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dirty="0">
                          <a:effectLst/>
                          <a:latin typeface="Times New Roman" panose="02020603050405020304" pitchFamily="18" charset="0"/>
                          <a:ea typeface="宋体" panose="02010600030101010101" pitchFamily="2" charset="-122"/>
                        </a:rPr>
                        <a:t>{&lt;ConstHead&gt;.type = &lt;ConstType&gt;.type      }</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8600">
                <a:tc>
                  <a:txBody>
                    <a:bodyPr/>
                    <a:lstStyle/>
                    <a:p>
                      <a:pPr algn="ctr"/>
                      <a:r>
                        <a:rPr lang="zh-CN" sz="1600" kern="100">
                          <a:effectLst/>
                          <a:latin typeface="Times New Roman" panose="02020603050405020304" pitchFamily="18" charset="0"/>
                          <a:ea typeface="宋体" panose="02010600030101010101" pitchFamily="2" charset="-122"/>
                        </a:rPr>
                        <a:t>（</a:t>
                      </a:r>
                      <a:r>
                        <a:rPr lang="fr-FR" sz="1600" kern="100">
                          <a:effectLst/>
                          <a:latin typeface="Times New Roman" panose="02020603050405020304" pitchFamily="18" charset="0"/>
                          <a:ea typeface="宋体" panose="02010600030101010101" pitchFamily="2" charset="-122"/>
                        </a:rPr>
                        <a:t>3</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dirty="0">
                          <a:effectLst/>
                          <a:latin typeface="Times New Roman" panose="02020603050405020304" pitchFamily="18" charset="0"/>
                          <a:ea typeface="宋体" panose="02010600030101010101" pitchFamily="2" charset="-122"/>
                        </a:rPr>
                        <a:t>&lt;ConstType&gt; →int</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dirty="0">
                          <a:effectLst/>
                          <a:latin typeface="Times New Roman" panose="02020603050405020304" pitchFamily="18" charset="0"/>
                          <a:ea typeface="宋体" panose="02010600030101010101" pitchFamily="2" charset="-122"/>
                        </a:rPr>
                        <a:t>{&lt;ConstType&gt;.type = int      }</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7200">
                <a:tc>
                  <a:txBody>
                    <a:bodyPr/>
                    <a:lstStyle/>
                    <a:p>
                      <a:pPr algn="ctr"/>
                      <a:r>
                        <a:rPr lang="zh-CN" sz="1600" kern="100">
                          <a:effectLst/>
                          <a:latin typeface="Times New Roman" panose="02020603050405020304" pitchFamily="18" charset="0"/>
                          <a:ea typeface="宋体" panose="02010600030101010101" pitchFamily="2" charset="-122"/>
                        </a:rPr>
                        <a:t>（</a:t>
                      </a:r>
                      <a:r>
                        <a:rPr lang="fr-FR" sz="1600" kern="100">
                          <a:effectLst/>
                          <a:latin typeface="Times New Roman" panose="02020603050405020304" pitchFamily="18" charset="0"/>
                          <a:ea typeface="宋体" panose="02010600030101010101" pitchFamily="2" charset="-122"/>
                        </a:rPr>
                        <a:t>4</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dirty="0">
                          <a:effectLst/>
                          <a:latin typeface="Times New Roman" panose="02020603050405020304" pitchFamily="18" charset="0"/>
                          <a:ea typeface="宋体" panose="02010600030101010101" pitchFamily="2" charset="-122"/>
                        </a:rPr>
                        <a:t>&lt;ConstList&gt;→id=&lt;Expr&gt;, &lt;ConstList&gt;</a:t>
                      </a:r>
                      <a:r>
                        <a:rPr lang="fr-FR" sz="1600" kern="100" baseline="30000" dirty="0">
                          <a:effectLst/>
                          <a:latin typeface="Times New Roman" panose="02020603050405020304" pitchFamily="18" charset="0"/>
                          <a:ea typeface="宋体" panose="02010600030101010101" pitchFamily="2" charset="-122"/>
                        </a:rPr>
                        <a:t>(1)</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zh-CN" sz="1600" kern="100" dirty="0">
                          <a:effectLst/>
                          <a:latin typeface="Times New Roman" panose="02020603050405020304" pitchFamily="18" charset="0"/>
                          <a:ea typeface="宋体" panose="02010600030101010101" pitchFamily="2" charset="-122"/>
                        </a:rPr>
                        <a:t>{  InsertConst(id.name);    //将常量插入符号表</a:t>
                      </a:r>
                      <a:endParaRPr lang="zh-CN" sz="2000" kern="100" dirty="0">
                        <a:effectLst/>
                        <a:latin typeface="Times New Roman" panose="02020603050405020304" pitchFamily="18" charset="0"/>
                        <a:ea typeface="宋体" panose="02010600030101010101" pitchFamily="2" charset="-122"/>
                      </a:endParaRPr>
                    </a:p>
                    <a:p>
                      <a:pPr indent="171450" algn="just"/>
                      <a:r>
                        <a:rPr lang="zh-CN" sz="1600" kern="100" dirty="0">
                          <a:effectLst/>
                          <a:latin typeface="Times New Roman" panose="02020603050405020304" pitchFamily="18" charset="0"/>
                          <a:ea typeface="宋体" panose="02010600030101010101" pitchFamily="2" charset="-122"/>
                        </a:rPr>
                        <a:t>entry(id).val = &lt;Expr&gt;.PLACE;</a:t>
                      </a:r>
                      <a:endParaRPr lang="zh-CN" sz="2000" kern="100" dirty="0">
                        <a:effectLst/>
                        <a:latin typeface="Times New Roman" panose="02020603050405020304" pitchFamily="18" charset="0"/>
                        <a:ea typeface="宋体" panose="02010600030101010101" pitchFamily="2" charset="-122"/>
                      </a:endParaRPr>
                    </a:p>
                    <a:p>
                      <a:pPr indent="171450" algn="just"/>
                      <a:r>
                        <a:rPr lang="zh-CN" sz="1600" kern="100" dirty="0">
                          <a:effectLst/>
                          <a:latin typeface="Times New Roman" panose="02020603050405020304" pitchFamily="18" charset="0"/>
                          <a:ea typeface="宋体" panose="02010600030101010101" pitchFamily="2" charset="-122"/>
                        </a:rPr>
                        <a:t>entry(id).type = </a:t>
                      </a:r>
                      <a:r>
                        <a:rPr lang="fr-FR" sz="1600" kern="100" dirty="0">
                          <a:effectLst/>
                          <a:latin typeface="Times New Roman" panose="02020603050405020304" pitchFamily="18" charset="0"/>
                          <a:ea typeface="宋体" panose="02010600030101010101" pitchFamily="2" charset="-122"/>
                        </a:rPr>
                        <a:t>&lt;ConstLisr&gt;.in</a:t>
                      </a:r>
                      <a:r>
                        <a:rPr lang="zh-CN" sz="1600" kern="100" dirty="0">
                          <a:effectLst/>
                          <a:latin typeface="Times New Roman" panose="02020603050405020304" pitchFamily="18" charset="0"/>
                          <a:ea typeface="宋体" panose="02010600030101010101" pitchFamily="2" charset="-122"/>
                        </a:rPr>
                        <a:t>;</a:t>
                      </a:r>
                      <a:endParaRPr lang="zh-CN" sz="2000" kern="100" dirty="0">
                        <a:effectLst/>
                        <a:latin typeface="Times New Roman" panose="02020603050405020304" pitchFamily="18" charset="0"/>
                        <a:ea typeface="宋体" panose="02010600030101010101" pitchFamily="2" charset="-122"/>
                      </a:endParaRPr>
                    </a:p>
                    <a:p>
                      <a:pPr indent="171450" algn="just"/>
                      <a:r>
                        <a:rPr lang="fr-FR" sz="1600" kern="100" dirty="0">
                          <a:effectLst/>
                          <a:latin typeface="Times New Roman" panose="02020603050405020304" pitchFamily="18" charset="0"/>
                          <a:ea typeface="宋体" panose="02010600030101010101" pitchFamily="2" charset="-122"/>
                        </a:rPr>
                        <a:t>&lt;ConstList&gt;</a:t>
                      </a:r>
                      <a:r>
                        <a:rPr lang="fr-FR" sz="1600" kern="100" baseline="30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.in = &lt;ConstList&gt;.in</a:t>
                      </a:r>
                      <a:r>
                        <a:rPr lang="zh-CN" sz="1600" kern="100" dirty="0">
                          <a:effectLst/>
                          <a:latin typeface="Times New Roman" panose="02020603050405020304" pitchFamily="18" charset="0"/>
                          <a:ea typeface="宋体" panose="02010600030101010101" pitchFamily="2" charset="-122"/>
                        </a:rPr>
                        <a:t>        </a:t>
                      </a:r>
                      <a:r>
                        <a:rPr lang="fr-FR" sz="1600" kern="100" dirty="0">
                          <a:effectLst/>
                          <a:latin typeface="Times New Roman" panose="02020603050405020304" pitchFamily="18" charset="0"/>
                          <a:ea typeface="宋体" panose="02010600030101010101" pitchFamily="2" charset="-122"/>
                        </a:rPr>
                        <a:t>}</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28600">
                <a:tc>
                  <a:txBody>
                    <a:bodyPr/>
                    <a:lstStyle/>
                    <a:p>
                      <a:pPr algn="ctr"/>
                      <a:r>
                        <a:rPr lang="zh-CN" sz="1600" kern="100">
                          <a:effectLst/>
                          <a:latin typeface="Times New Roman" panose="02020603050405020304" pitchFamily="18" charset="0"/>
                          <a:ea typeface="宋体" panose="02010600030101010101" pitchFamily="2" charset="-122"/>
                        </a:rPr>
                        <a:t>（5）</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fr-FR" sz="1600" kern="100">
                          <a:effectLst/>
                          <a:latin typeface="Times New Roman" panose="02020603050405020304" pitchFamily="18" charset="0"/>
                          <a:ea typeface="宋体" panose="02010600030101010101" pitchFamily="2" charset="-122"/>
                        </a:rPr>
                        <a:t>&lt;ConstList&gt;→id=&lt;Expr&gt;;</a:t>
                      </a:r>
                      <a:endParaRPr lang="zh-CN" sz="20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zh-CN" sz="1600" kern="100" dirty="0">
                          <a:effectLst/>
                          <a:latin typeface="Times New Roman" panose="02020603050405020304" pitchFamily="18" charset="0"/>
                          <a:ea typeface="宋体" panose="02010600030101010101" pitchFamily="2" charset="-122"/>
                        </a:rPr>
                        <a:t>{  InsertConst(id.name);    //将常量插入符号表</a:t>
                      </a:r>
                      <a:endParaRPr lang="zh-CN" sz="2000" kern="100" dirty="0">
                        <a:effectLst/>
                        <a:latin typeface="Times New Roman" panose="02020603050405020304" pitchFamily="18" charset="0"/>
                        <a:ea typeface="宋体" panose="02010600030101010101" pitchFamily="2" charset="-122"/>
                      </a:endParaRPr>
                    </a:p>
                    <a:p>
                      <a:pPr indent="171450" algn="just"/>
                      <a:r>
                        <a:rPr lang="zh-CN" sz="1600" kern="100" dirty="0">
                          <a:effectLst/>
                          <a:latin typeface="Times New Roman" panose="02020603050405020304" pitchFamily="18" charset="0"/>
                          <a:ea typeface="宋体" panose="02010600030101010101" pitchFamily="2" charset="-122"/>
                        </a:rPr>
                        <a:t>entry(id).va l= &lt;Expr&gt;.PLACE;</a:t>
                      </a:r>
                      <a:endParaRPr lang="zh-CN" sz="2000" kern="100" dirty="0">
                        <a:effectLst/>
                        <a:latin typeface="Times New Roman" panose="02020603050405020304" pitchFamily="18" charset="0"/>
                        <a:ea typeface="宋体" panose="02010600030101010101" pitchFamily="2" charset="-122"/>
                      </a:endParaRPr>
                    </a:p>
                    <a:p>
                      <a:pPr indent="171450" algn="just"/>
                      <a:r>
                        <a:rPr lang="zh-CN" sz="1600" kern="100" dirty="0">
                          <a:effectLst/>
                          <a:latin typeface="Times New Roman" panose="02020603050405020304" pitchFamily="18" charset="0"/>
                          <a:ea typeface="宋体" panose="02010600030101010101" pitchFamily="2" charset="-122"/>
                        </a:rPr>
                        <a:t>entry(id).type = </a:t>
                      </a:r>
                      <a:r>
                        <a:rPr lang="fr-FR" sz="1600" kern="100" dirty="0">
                          <a:effectLst/>
                          <a:latin typeface="Times New Roman" panose="02020603050405020304" pitchFamily="18" charset="0"/>
                          <a:ea typeface="宋体" panose="02010600030101010101" pitchFamily="2" charset="-122"/>
                        </a:rPr>
                        <a:t>&lt;ConstList&gt;.in</a:t>
                      </a:r>
                      <a:r>
                        <a:rPr lang="zh-CN" sz="1600" kern="100" dirty="0">
                          <a:effectLst/>
                          <a:latin typeface="Times New Roman" panose="02020603050405020304" pitchFamily="18" charset="0"/>
                          <a:ea typeface="宋体" panose="02010600030101010101" pitchFamily="2" charset="-122"/>
                        </a:rPr>
                        <a:t>;        </a:t>
                      </a:r>
                      <a:r>
                        <a:rPr lang="fr-FR" sz="1600" kern="100" dirty="0">
                          <a:effectLst/>
                          <a:latin typeface="Times New Roman" panose="02020603050405020304" pitchFamily="18" charset="0"/>
                          <a:ea typeface="宋体" panose="02010600030101010101" pitchFamily="2" charset="-122"/>
                        </a:rPr>
                        <a:t>}</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3" name="标题 1">
            <a:extLst>
              <a:ext uri="{FF2B5EF4-FFF2-40B4-BE49-F238E27FC236}">
                <a16:creationId xmlns:a16="http://schemas.microsoft.com/office/drawing/2014/main" id="{71BF07B2-D94C-579A-D860-BC6511DC7D23}"/>
              </a:ext>
            </a:extLst>
          </p:cNvPr>
          <p:cNvSpPr>
            <a:spLocks noGrp="1"/>
          </p:cNvSpPr>
          <p:nvPr>
            <p:ph type="title"/>
          </p:nvPr>
        </p:nvSpPr>
        <p:spPr>
          <a:xfrm>
            <a:off x="23664" y="-20538"/>
            <a:ext cx="8229600" cy="478532"/>
          </a:xfrm>
        </p:spPr>
        <p:txBody>
          <a:bodyPr>
            <a:noAutofit/>
          </a:bodyPr>
          <a:lstStyle/>
          <a:p>
            <a:r>
              <a:rPr lang="zh-CN" altLang="en-US" b="0" dirty="0">
                <a:effectLst/>
              </a:rPr>
              <a:t>常量声明的属性文法</a:t>
            </a:r>
          </a:p>
        </p:txBody>
      </p:sp>
    </p:spTree>
    <p:extLst>
      <p:ext uri="{BB962C8B-B14F-4D97-AF65-F5344CB8AC3E}">
        <p14:creationId xmlns:p14="http://schemas.microsoft.com/office/powerpoint/2010/main" val="1736567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6200736" cy="1446550"/>
          </a:xfrm>
          <a:prstGeom prst="rect">
            <a:avLst/>
          </a:prstGeom>
        </p:spPr>
        <p:txBody>
          <a:bodyPr wrap="non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、类型声明的语义处理</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变量声明</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9321173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0" y="-20894"/>
            <a:ext cx="8229600" cy="504412"/>
          </a:xfrm>
        </p:spPr>
        <p:txBody>
          <a:bodyPr>
            <a:normAutofit fontScale="90000"/>
          </a:bodyPr>
          <a:lstStyle/>
          <a:p>
            <a:pPr eaLnBrk="1" hangingPunct="1"/>
            <a:r>
              <a:rPr lang="zh-CN" altLang="en-US" sz="4000" b="0" dirty="0">
                <a:effectLst/>
              </a:rPr>
              <a:t>变量声明的语义处理</a:t>
            </a:r>
          </a:p>
        </p:txBody>
      </p:sp>
      <p:sp>
        <p:nvSpPr>
          <p:cNvPr id="66564" name="Rectangle 2"/>
          <p:cNvSpPr>
            <a:spLocks noChangeArrowheads="1"/>
          </p:cNvSpPr>
          <p:nvPr/>
        </p:nvSpPr>
        <p:spPr bwMode="auto">
          <a:xfrm>
            <a:off x="657225" y="2938097"/>
            <a:ext cx="5134394" cy="1754326"/>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defRPr/>
            </a:pPr>
            <a:r>
              <a:rPr lang="zh-CN" altLang="en-US" sz="2000" dirty="0"/>
              <a:t>（</a:t>
            </a:r>
            <a:r>
              <a:rPr lang="en-US" altLang="zh-CN" sz="2000" dirty="0"/>
              <a:t>1</a:t>
            </a:r>
            <a:r>
              <a:rPr lang="zh-CN" altLang="en-US" sz="2000" dirty="0"/>
              <a:t>） </a:t>
            </a:r>
            <a:r>
              <a:rPr lang="en-US" altLang="zh-CN" sz="2000" dirty="0"/>
              <a:t>&lt;</a:t>
            </a:r>
            <a:r>
              <a:rPr lang="en-US" altLang="zh-CN" sz="2000" dirty="0" err="1"/>
              <a:t>VarDCL</a:t>
            </a:r>
            <a:r>
              <a:rPr lang="en-US" altLang="zh-CN" sz="2000" dirty="0"/>
              <a:t>&gt;→&lt;</a:t>
            </a:r>
            <a:r>
              <a:rPr lang="en-US" altLang="zh-CN" sz="2000" dirty="0" err="1"/>
              <a:t>VarType</a:t>
            </a:r>
            <a:r>
              <a:rPr lang="en-US" altLang="zh-CN" sz="2000" dirty="0"/>
              <a:t>&gt;&lt;</a:t>
            </a:r>
            <a:r>
              <a:rPr lang="en-US" altLang="zh-CN" sz="2000" dirty="0" err="1"/>
              <a:t>VarDList</a:t>
            </a:r>
            <a:r>
              <a:rPr lang="en-US" altLang="zh-CN" sz="2000" dirty="0"/>
              <a:t>&gt;</a:t>
            </a:r>
          </a:p>
          <a:p>
            <a:pPr>
              <a:lnSpc>
                <a:spcPct val="90000"/>
              </a:lnSpc>
              <a:buFontTx/>
              <a:buNone/>
              <a:defRPr/>
            </a:pPr>
            <a:r>
              <a:rPr lang="zh-CN" altLang="en-US" sz="2000" dirty="0"/>
              <a:t>（</a:t>
            </a:r>
            <a:r>
              <a:rPr lang="en-US" altLang="zh-CN" sz="2000" dirty="0"/>
              <a:t>2</a:t>
            </a:r>
            <a:r>
              <a:rPr lang="zh-CN" altLang="en-US" sz="2000" dirty="0"/>
              <a:t>） </a:t>
            </a:r>
            <a:r>
              <a:rPr lang="en-US" altLang="zh-CN" sz="2000" dirty="0"/>
              <a:t>&lt;</a:t>
            </a:r>
            <a:r>
              <a:rPr lang="en-US" altLang="zh-CN" sz="2000" dirty="0" err="1"/>
              <a:t>VarType</a:t>
            </a:r>
            <a:r>
              <a:rPr lang="en-US" altLang="zh-CN" sz="2000" dirty="0"/>
              <a:t>&gt;→</a:t>
            </a:r>
            <a:r>
              <a:rPr lang="en-US" altLang="zh-CN" sz="2000" dirty="0" err="1"/>
              <a:t>int|float|char</a:t>
            </a:r>
            <a:endParaRPr lang="en-US" altLang="zh-CN" sz="2000" dirty="0"/>
          </a:p>
          <a:p>
            <a:pPr>
              <a:lnSpc>
                <a:spcPct val="90000"/>
              </a:lnSpc>
              <a:buFontTx/>
              <a:buNone/>
              <a:defRPr/>
            </a:pPr>
            <a:r>
              <a:rPr lang="zh-CN" altLang="en-US" sz="2000" dirty="0"/>
              <a:t>（</a:t>
            </a:r>
            <a:r>
              <a:rPr lang="en-US" altLang="zh-CN" sz="2000" dirty="0"/>
              <a:t>3</a:t>
            </a:r>
            <a:r>
              <a:rPr lang="zh-CN" altLang="en-US" sz="2000" dirty="0"/>
              <a:t>） </a:t>
            </a:r>
            <a:r>
              <a:rPr lang="en-US" altLang="zh-CN" sz="2000" dirty="0"/>
              <a:t>&lt;</a:t>
            </a:r>
            <a:r>
              <a:rPr lang="en-US" altLang="zh-CN" sz="2000" dirty="0" err="1"/>
              <a:t>VarDList</a:t>
            </a:r>
            <a:r>
              <a:rPr lang="en-US" altLang="zh-CN" sz="2000" dirty="0"/>
              <a:t>&gt;→&lt;</a:t>
            </a:r>
            <a:r>
              <a:rPr lang="en-US" altLang="zh-CN" sz="2000" dirty="0" err="1"/>
              <a:t>SVarD</a:t>
            </a:r>
            <a:r>
              <a:rPr lang="en-US" altLang="zh-CN" sz="2000" dirty="0"/>
              <a:t>&gt;</a:t>
            </a:r>
          </a:p>
          <a:p>
            <a:pPr>
              <a:lnSpc>
                <a:spcPct val="90000"/>
              </a:lnSpc>
              <a:buFontTx/>
              <a:buNone/>
              <a:defRPr/>
            </a:pPr>
            <a:r>
              <a:rPr lang="zh-CN" altLang="en-US" sz="2000" dirty="0"/>
              <a:t>（</a:t>
            </a:r>
            <a:r>
              <a:rPr lang="en-US" altLang="zh-CN" sz="2000" dirty="0"/>
              <a:t>4</a:t>
            </a:r>
            <a:r>
              <a:rPr lang="zh-CN" altLang="en-US" sz="2000" dirty="0"/>
              <a:t>） </a:t>
            </a:r>
            <a:r>
              <a:rPr lang="en-US" altLang="zh-CN" sz="2000" dirty="0"/>
              <a:t>&lt;</a:t>
            </a:r>
            <a:r>
              <a:rPr lang="en-US" altLang="zh-CN" sz="2000" dirty="0" err="1"/>
              <a:t>VarDList</a:t>
            </a:r>
            <a:r>
              <a:rPr lang="en-US" altLang="zh-CN" sz="2000" dirty="0"/>
              <a:t>&gt;→&lt;</a:t>
            </a:r>
            <a:r>
              <a:rPr lang="en-US" altLang="zh-CN" sz="2000" dirty="0" err="1"/>
              <a:t>SVarD</a:t>
            </a:r>
            <a:r>
              <a:rPr lang="en-US" altLang="zh-CN" sz="2000" dirty="0"/>
              <a:t>&gt;, &lt;</a:t>
            </a:r>
            <a:r>
              <a:rPr lang="en-US" altLang="zh-CN" sz="2000" dirty="0" err="1"/>
              <a:t>VarDList</a:t>
            </a:r>
            <a:r>
              <a:rPr lang="en-US" altLang="zh-CN" sz="2000" dirty="0"/>
              <a:t>&gt;</a:t>
            </a:r>
          </a:p>
          <a:p>
            <a:pPr>
              <a:lnSpc>
                <a:spcPct val="90000"/>
              </a:lnSpc>
              <a:buFontTx/>
              <a:buNone/>
              <a:defRPr/>
            </a:pPr>
            <a:r>
              <a:rPr lang="zh-CN" altLang="en-US" sz="2000" dirty="0"/>
              <a:t>（</a:t>
            </a:r>
            <a:r>
              <a:rPr lang="en-US" altLang="zh-CN" sz="2000" dirty="0"/>
              <a:t>5</a:t>
            </a:r>
            <a:r>
              <a:rPr lang="zh-CN" altLang="en-US" sz="2000" dirty="0"/>
              <a:t>） </a:t>
            </a:r>
            <a:r>
              <a:rPr lang="en-US" altLang="zh-CN" sz="2000" dirty="0"/>
              <a:t>&lt;</a:t>
            </a:r>
            <a:r>
              <a:rPr lang="en-US" altLang="zh-CN" sz="2000" dirty="0" err="1"/>
              <a:t>SVarD</a:t>
            </a:r>
            <a:r>
              <a:rPr lang="en-US" altLang="zh-CN" sz="2000" dirty="0"/>
              <a:t>&gt;→id</a:t>
            </a:r>
          </a:p>
          <a:p>
            <a:pPr>
              <a:lnSpc>
                <a:spcPct val="90000"/>
              </a:lnSpc>
              <a:buFontTx/>
              <a:buNone/>
              <a:defRPr/>
            </a:pPr>
            <a:r>
              <a:rPr lang="zh-CN" altLang="en-US" sz="2000" dirty="0"/>
              <a:t>（</a:t>
            </a:r>
            <a:r>
              <a:rPr lang="en-US" altLang="zh-CN" sz="2000" dirty="0"/>
              <a:t>6</a:t>
            </a:r>
            <a:r>
              <a:rPr lang="zh-CN" altLang="en-US" sz="2000" dirty="0"/>
              <a:t>） </a:t>
            </a:r>
            <a:r>
              <a:rPr lang="en-US" altLang="zh-CN" sz="2000" dirty="0"/>
              <a:t>&lt;</a:t>
            </a:r>
            <a:r>
              <a:rPr lang="en-US" altLang="zh-CN" sz="2000" dirty="0" err="1"/>
              <a:t>SVarD</a:t>
            </a:r>
            <a:r>
              <a:rPr lang="en-US" altLang="zh-CN" sz="2000" dirty="0"/>
              <a:t>&gt;→id = &lt;Expr&gt; </a:t>
            </a:r>
            <a:endParaRPr lang="en-US" altLang="zh-CN" sz="2000" dirty="0">
              <a:latin typeface="Times New Roman" pitchFamily="18" charset="0"/>
              <a:cs typeface="Times New Roman" pitchFamily="18" charset="0"/>
              <a:sym typeface="Symbol" pitchFamily="18" charset="2"/>
            </a:endParaRPr>
          </a:p>
        </p:txBody>
      </p:sp>
      <p:sp>
        <p:nvSpPr>
          <p:cNvPr id="67589" name="Rectangle 2"/>
          <p:cNvSpPr>
            <a:spLocks noChangeArrowheads="1"/>
          </p:cNvSpPr>
          <p:nvPr/>
        </p:nvSpPr>
        <p:spPr bwMode="auto">
          <a:xfrm>
            <a:off x="657225" y="1293440"/>
            <a:ext cx="7731199" cy="1323439"/>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zh-CN" altLang="en-US" sz="2000" dirty="0"/>
              <a:t>（</a:t>
            </a:r>
            <a:r>
              <a:rPr lang="en-US" altLang="zh-CN" sz="2000" dirty="0"/>
              <a:t>1</a:t>
            </a:r>
            <a:r>
              <a:rPr lang="zh-CN" altLang="en-US" sz="2000" dirty="0"/>
              <a:t>） </a:t>
            </a:r>
            <a:r>
              <a:rPr lang="en-US" altLang="zh-CN" sz="2000" dirty="0"/>
              <a:t>&lt;</a:t>
            </a:r>
            <a:r>
              <a:rPr lang="zh-CN" altLang="en-US" sz="2000" dirty="0"/>
              <a:t>变量声明</a:t>
            </a:r>
            <a:r>
              <a:rPr lang="en-US" altLang="zh-CN" sz="2000" dirty="0"/>
              <a:t>&gt;→&lt;</a:t>
            </a:r>
            <a:r>
              <a:rPr lang="zh-CN" altLang="en-US" sz="2000" dirty="0"/>
              <a:t>数据类型</a:t>
            </a:r>
            <a:r>
              <a:rPr lang="en-US" altLang="zh-CN" sz="2000" dirty="0"/>
              <a:t>&gt; &lt;</a:t>
            </a:r>
            <a:r>
              <a:rPr lang="zh-CN" altLang="en-US" sz="2000" dirty="0"/>
              <a:t>变量声明表</a:t>
            </a:r>
            <a:r>
              <a:rPr lang="en-US" altLang="zh-CN" sz="2000" dirty="0"/>
              <a:t>&gt;</a:t>
            </a:r>
          </a:p>
          <a:p>
            <a:pPr>
              <a:lnSpc>
                <a:spcPct val="100000"/>
              </a:lnSpc>
              <a:buFontTx/>
              <a:buNone/>
            </a:pPr>
            <a:r>
              <a:rPr lang="zh-CN" altLang="en-US" sz="2000" dirty="0"/>
              <a:t>（</a:t>
            </a:r>
            <a:r>
              <a:rPr lang="en-US" altLang="zh-CN" sz="2000" dirty="0"/>
              <a:t>2</a:t>
            </a:r>
            <a:r>
              <a:rPr lang="zh-CN" altLang="en-US" sz="2000" dirty="0"/>
              <a:t>） </a:t>
            </a:r>
            <a:r>
              <a:rPr lang="en-US" altLang="zh-CN" sz="2000" dirty="0"/>
              <a:t>&lt;</a:t>
            </a:r>
            <a:r>
              <a:rPr lang="zh-CN" altLang="en-US" sz="2000" dirty="0"/>
              <a:t>变量声明表</a:t>
            </a:r>
            <a:r>
              <a:rPr lang="en-US" altLang="zh-CN" sz="2000" dirty="0"/>
              <a:t>&gt;→&lt;</a:t>
            </a:r>
            <a:r>
              <a:rPr lang="zh-CN" altLang="en-US" sz="2000" dirty="0"/>
              <a:t>单变量声明</a:t>
            </a:r>
            <a:r>
              <a:rPr lang="en-US" altLang="zh-CN" sz="2000" dirty="0"/>
              <a:t>&gt;;|&lt;</a:t>
            </a:r>
            <a:r>
              <a:rPr lang="zh-CN" altLang="en-US" sz="2000" dirty="0"/>
              <a:t>单变量声明</a:t>
            </a:r>
            <a:r>
              <a:rPr lang="en-US" altLang="zh-CN" sz="2000" dirty="0"/>
              <a:t>&gt;,&lt;</a:t>
            </a:r>
            <a:r>
              <a:rPr lang="zh-CN" altLang="en-US" sz="2000" dirty="0"/>
              <a:t>变量声明表</a:t>
            </a:r>
            <a:r>
              <a:rPr lang="en-US" altLang="zh-CN" sz="2000" dirty="0"/>
              <a:t>&gt;</a:t>
            </a:r>
          </a:p>
          <a:p>
            <a:pPr>
              <a:lnSpc>
                <a:spcPct val="100000"/>
              </a:lnSpc>
              <a:buFontTx/>
              <a:buNone/>
            </a:pPr>
            <a:r>
              <a:rPr lang="zh-CN" altLang="en-US" sz="2000" dirty="0"/>
              <a:t>（</a:t>
            </a:r>
            <a:r>
              <a:rPr lang="en-US" altLang="zh-CN" sz="2000" dirty="0"/>
              <a:t>3</a:t>
            </a:r>
            <a:r>
              <a:rPr lang="zh-CN" altLang="en-US" sz="2000" dirty="0"/>
              <a:t>） </a:t>
            </a:r>
            <a:r>
              <a:rPr lang="en-US" altLang="zh-CN" sz="2000" dirty="0"/>
              <a:t>&lt;</a:t>
            </a:r>
            <a:r>
              <a:rPr lang="zh-CN" altLang="en-US" sz="2000" dirty="0"/>
              <a:t>单变量声明</a:t>
            </a:r>
            <a:r>
              <a:rPr lang="en-US" altLang="zh-CN" sz="2000" dirty="0"/>
              <a:t>&gt;→&lt;</a:t>
            </a:r>
            <a:r>
              <a:rPr lang="zh-CN" altLang="en-US" sz="2000" dirty="0"/>
              <a:t>变量名</a:t>
            </a:r>
            <a:r>
              <a:rPr lang="en-US" altLang="zh-CN" sz="2000" dirty="0"/>
              <a:t>&gt;|&lt;</a:t>
            </a:r>
            <a:r>
              <a:rPr lang="zh-CN" altLang="en-US" sz="2000" dirty="0"/>
              <a:t>变量名</a:t>
            </a:r>
            <a:r>
              <a:rPr lang="en-US" altLang="zh-CN" sz="2000" dirty="0"/>
              <a:t>&gt;=&lt;</a:t>
            </a:r>
            <a:r>
              <a:rPr lang="zh-CN" altLang="en-US" sz="2000" dirty="0"/>
              <a:t>表达式</a:t>
            </a:r>
            <a:r>
              <a:rPr lang="en-US" altLang="zh-CN" sz="2000" dirty="0"/>
              <a:t>&gt;</a:t>
            </a:r>
          </a:p>
          <a:p>
            <a:pPr>
              <a:lnSpc>
                <a:spcPct val="100000"/>
              </a:lnSpc>
              <a:buFontTx/>
              <a:buNone/>
            </a:pPr>
            <a:r>
              <a:rPr lang="zh-CN" altLang="en-US" sz="2000" dirty="0"/>
              <a:t>（</a:t>
            </a:r>
            <a:r>
              <a:rPr lang="en-US" altLang="zh-CN" sz="2000" dirty="0"/>
              <a:t>4</a:t>
            </a:r>
            <a:r>
              <a:rPr lang="zh-CN" altLang="en-US" sz="2000" dirty="0"/>
              <a:t>） </a:t>
            </a:r>
            <a:r>
              <a:rPr lang="en-US" altLang="zh-CN" sz="2000" dirty="0"/>
              <a:t>&lt;</a:t>
            </a:r>
            <a:r>
              <a:rPr lang="zh-CN" altLang="en-US" sz="2000" dirty="0"/>
              <a:t>数据类型</a:t>
            </a:r>
            <a:r>
              <a:rPr lang="en-US" altLang="zh-CN" sz="2000" dirty="0"/>
              <a:t>&gt;→</a:t>
            </a:r>
            <a:r>
              <a:rPr lang="en-US" altLang="zh-CN" sz="2000" dirty="0" err="1"/>
              <a:t>int|char|float</a:t>
            </a:r>
            <a:endParaRPr lang="en-US" altLang="zh-CN" sz="2000" dirty="0"/>
          </a:p>
        </p:txBody>
      </p:sp>
      <p:sp>
        <p:nvSpPr>
          <p:cNvPr id="2" name="矩形 1"/>
          <p:cNvSpPr/>
          <p:nvPr/>
        </p:nvSpPr>
        <p:spPr>
          <a:xfrm>
            <a:off x="6588224" y="4227934"/>
            <a:ext cx="2037737" cy="523220"/>
          </a:xfrm>
          <a:prstGeom prst="rect">
            <a:avLst/>
          </a:prstGeom>
        </p:spPr>
        <p:txBody>
          <a:bodyPr wrap="none">
            <a:spAutoFit/>
          </a:bodyPr>
          <a:lstStyle/>
          <a:p>
            <a:r>
              <a:rPr lang="en-US" altLang="zh-CN" sz="2800" dirty="0" err="1">
                <a:solidFill>
                  <a:srgbClr val="FF0000"/>
                </a:solidFill>
              </a:rPr>
              <a:t>int</a:t>
            </a:r>
            <a:r>
              <a:rPr lang="en-US" altLang="zh-CN" sz="2800" dirty="0">
                <a:solidFill>
                  <a:srgbClr val="FF0000"/>
                </a:solidFill>
              </a:rPr>
              <a:t> </a:t>
            </a:r>
            <a:r>
              <a:rPr lang="en-US" altLang="zh-CN" sz="2800" dirty="0" err="1">
                <a:solidFill>
                  <a:srgbClr val="FF0000"/>
                </a:solidFill>
              </a:rPr>
              <a:t>i,j,k</a:t>
            </a:r>
            <a:r>
              <a:rPr lang="en-US" altLang="zh-CN" sz="2800" dirty="0">
                <a:solidFill>
                  <a:srgbClr val="FF0000"/>
                </a:solidFill>
              </a:rPr>
              <a:t>=3;</a:t>
            </a:r>
            <a:endParaRPr lang="zh-CN" altLang="en-US" sz="2800" dirty="0">
              <a:solidFill>
                <a:srgbClr val="FF0000"/>
              </a:solidFill>
            </a:endParaRPr>
          </a:p>
        </p:txBody>
      </p:sp>
      <p:sp>
        <p:nvSpPr>
          <p:cNvPr id="5" name="Rectangle 3">
            <a:extLst>
              <a:ext uri="{FF2B5EF4-FFF2-40B4-BE49-F238E27FC236}">
                <a16:creationId xmlns:a16="http://schemas.microsoft.com/office/drawing/2014/main" id="{24723D2C-8868-D83C-82F1-0AD5066F0C19}"/>
              </a:ext>
            </a:extLst>
          </p:cNvPr>
          <p:cNvSpPr txBox="1">
            <a:spLocks noChangeArrowheads="1"/>
          </p:cNvSpPr>
          <p:nvPr/>
        </p:nvSpPr>
        <p:spPr>
          <a:xfrm>
            <a:off x="468314" y="699542"/>
            <a:ext cx="8207375" cy="431006"/>
          </a:xfrm>
          <a:prstGeom prst="rect">
            <a:avLst/>
          </a:prstGeom>
        </p:spPr>
        <p:txBody>
          <a:bodyPr vert="horz">
            <a:normAutofit fontScale="9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buFontTx/>
              <a:buNone/>
            </a:pPr>
            <a:r>
              <a:rPr lang="zh-CN" altLang="en-US" sz="2800" b="1" dirty="0">
                <a:solidFill>
                  <a:srgbClr val="0033CC"/>
                </a:solidFill>
              </a:rPr>
              <a:t>１</a:t>
            </a:r>
            <a:r>
              <a:rPr lang="en-US" altLang="zh-CN" sz="2800" b="1" dirty="0">
                <a:solidFill>
                  <a:srgbClr val="0033CC"/>
                </a:solidFill>
              </a:rPr>
              <a:t>. </a:t>
            </a:r>
            <a:r>
              <a:rPr lang="zh-CN" altLang="en-US" sz="2800" b="1" dirty="0">
                <a:solidFill>
                  <a:srgbClr val="0033CC"/>
                </a:solidFill>
              </a:rPr>
              <a:t>变量声明的文法描述</a:t>
            </a:r>
          </a:p>
        </p:txBody>
      </p:sp>
    </p:spTree>
    <p:extLst>
      <p:ext uri="{BB962C8B-B14F-4D97-AF65-F5344CB8AC3E}">
        <p14:creationId xmlns:p14="http://schemas.microsoft.com/office/powerpoint/2010/main" val="392053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58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6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nimBg="1"/>
      <p:bldP spid="67589" grpId="0" animBg="1"/>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对象 14"/>
          <p:cNvGraphicFramePr>
            <a:graphicFrameLocks noChangeAspect="1"/>
          </p:cNvGraphicFramePr>
          <p:nvPr>
            <p:extLst>
              <p:ext uri="{D42A27DB-BD31-4B8C-83A1-F6EECF244321}">
                <p14:modId xmlns:p14="http://schemas.microsoft.com/office/powerpoint/2010/main" val="1074645743"/>
              </p:ext>
            </p:extLst>
          </p:nvPr>
        </p:nvGraphicFramePr>
        <p:xfrm>
          <a:off x="-28575" y="857250"/>
          <a:ext cx="4949825" cy="3862388"/>
        </p:xfrm>
        <a:graphic>
          <a:graphicData uri="http://schemas.openxmlformats.org/presentationml/2006/ole">
            <mc:AlternateContent xmlns:mc="http://schemas.openxmlformats.org/markup-compatibility/2006">
              <mc:Choice xmlns:v="urn:schemas-microsoft-com:vml" Requires="v">
                <p:oleObj name="Visio" r:id="rId2" imgW="3886162" imgH="1943134" progId="Visio.Drawing.11">
                  <p:embed/>
                </p:oleObj>
              </mc:Choice>
              <mc:Fallback>
                <p:oleObj name="Visio" r:id="rId2" imgW="3886162" imgH="1943134" progId="Visio.Drawing.11">
                  <p:embed/>
                  <p:pic>
                    <p:nvPicPr>
                      <p:cNvPr id="15" name="对象 14"/>
                      <p:cNvPicPr>
                        <a:picLocks noChangeAspect="1" noChangeArrowheads="1"/>
                      </p:cNvPicPr>
                      <p:nvPr/>
                    </p:nvPicPr>
                    <p:blipFill>
                      <a:blip r:embed="rId3"/>
                      <a:srcRect/>
                      <a:stretch>
                        <a:fillRect/>
                      </a:stretch>
                    </p:blipFill>
                    <p:spPr bwMode="auto">
                      <a:xfrm>
                        <a:off x="-28575" y="857250"/>
                        <a:ext cx="4949825" cy="3862388"/>
                      </a:xfrm>
                      <a:prstGeom prst="rect">
                        <a:avLst/>
                      </a:prstGeom>
                      <a:noFill/>
                    </p:spPr>
                  </p:pic>
                </p:oleObj>
              </mc:Fallback>
            </mc:AlternateContent>
          </a:graphicData>
        </a:graphic>
      </p:graphicFrame>
      <p:sp>
        <p:nvSpPr>
          <p:cNvPr id="69634" name="标题 1"/>
          <p:cNvSpPr>
            <a:spLocks noGrp="1"/>
          </p:cNvSpPr>
          <p:nvPr>
            <p:ph type="title"/>
          </p:nvPr>
        </p:nvSpPr>
        <p:spPr>
          <a:xfrm>
            <a:off x="-1" y="0"/>
            <a:ext cx="4571999" cy="555526"/>
          </a:xfrm>
        </p:spPr>
        <p:txBody>
          <a:bodyPr>
            <a:normAutofit fontScale="90000"/>
          </a:bodyPr>
          <a:lstStyle/>
          <a:p>
            <a:r>
              <a:rPr lang="en-US" altLang="zh-CN" sz="3600" dirty="0" err="1">
                <a:solidFill>
                  <a:srgbClr val="FF0000"/>
                </a:solidFill>
              </a:rPr>
              <a:t>int</a:t>
            </a:r>
            <a:r>
              <a:rPr lang="en-US" altLang="zh-CN" sz="3600" dirty="0">
                <a:solidFill>
                  <a:srgbClr val="FF0000"/>
                </a:solidFill>
              </a:rPr>
              <a:t> </a:t>
            </a:r>
            <a:r>
              <a:rPr lang="en-US" altLang="zh-CN" dirty="0" err="1">
                <a:solidFill>
                  <a:srgbClr val="FF0000"/>
                </a:solidFill>
              </a:rPr>
              <a:t>i</a:t>
            </a:r>
            <a:r>
              <a:rPr lang="en-US" altLang="zh-CN" sz="3600" dirty="0" err="1">
                <a:solidFill>
                  <a:srgbClr val="FF0000"/>
                </a:solidFill>
              </a:rPr>
              <a:t>,j,k</a:t>
            </a:r>
            <a:r>
              <a:rPr lang="en-US" altLang="zh-CN" sz="3600" dirty="0">
                <a:solidFill>
                  <a:srgbClr val="FF0000"/>
                </a:solidFill>
              </a:rPr>
              <a:t>=3;</a:t>
            </a:r>
            <a:r>
              <a:rPr lang="zh-CN" altLang="zh-CN" sz="3600" dirty="0"/>
              <a:t>的语法树</a:t>
            </a:r>
            <a:endParaRPr lang="zh-CN" altLang="en-US" sz="3600" dirty="0"/>
          </a:p>
        </p:txBody>
      </p:sp>
      <p:sp>
        <p:nvSpPr>
          <p:cNvPr id="5" name="Line 16"/>
          <p:cNvSpPr>
            <a:spLocks noChangeShapeType="1"/>
          </p:cNvSpPr>
          <p:nvPr/>
        </p:nvSpPr>
        <p:spPr bwMode="auto">
          <a:xfrm flipV="1">
            <a:off x="539552" y="1703592"/>
            <a:ext cx="0" cy="508118"/>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6" name="Line 16"/>
          <p:cNvSpPr>
            <a:spLocks noChangeShapeType="1"/>
          </p:cNvSpPr>
          <p:nvPr/>
        </p:nvSpPr>
        <p:spPr bwMode="auto">
          <a:xfrm flipV="1">
            <a:off x="877761" y="1563638"/>
            <a:ext cx="1606007" cy="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7" name="Line 16"/>
          <p:cNvSpPr>
            <a:spLocks noChangeShapeType="1"/>
          </p:cNvSpPr>
          <p:nvPr/>
        </p:nvSpPr>
        <p:spPr bwMode="auto">
          <a:xfrm flipH="1">
            <a:off x="1187624" y="1703592"/>
            <a:ext cx="1296144" cy="314294"/>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8" name="Line 16"/>
          <p:cNvSpPr>
            <a:spLocks noChangeShapeType="1"/>
          </p:cNvSpPr>
          <p:nvPr/>
        </p:nvSpPr>
        <p:spPr bwMode="auto">
          <a:xfrm>
            <a:off x="2794739" y="1703592"/>
            <a:ext cx="1057181" cy="314294"/>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9" name="Line 16"/>
          <p:cNvSpPr>
            <a:spLocks noChangeShapeType="1"/>
          </p:cNvSpPr>
          <p:nvPr/>
        </p:nvSpPr>
        <p:spPr bwMode="auto">
          <a:xfrm>
            <a:off x="4499992" y="3075806"/>
            <a:ext cx="0" cy="491589"/>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0" name="Line 16"/>
          <p:cNvSpPr>
            <a:spLocks noChangeShapeType="1"/>
          </p:cNvSpPr>
          <p:nvPr/>
        </p:nvSpPr>
        <p:spPr bwMode="auto">
          <a:xfrm>
            <a:off x="4499992" y="3867894"/>
            <a:ext cx="0" cy="504056"/>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 name="Rectangle 3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Line 16"/>
          <p:cNvSpPr>
            <a:spLocks noChangeShapeType="1"/>
          </p:cNvSpPr>
          <p:nvPr/>
        </p:nvSpPr>
        <p:spPr bwMode="auto">
          <a:xfrm flipH="1">
            <a:off x="2794738" y="2382711"/>
            <a:ext cx="955277" cy="43611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a:off x="4094362" y="2382711"/>
            <a:ext cx="477638" cy="317278"/>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graphicFrame>
        <p:nvGraphicFramePr>
          <p:cNvPr id="11" name="表格 10"/>
          <p:cNvGraphicFramePr>
            <a:graphicFrameLocks noGrp="1"/>
          </p:cNvGraphicFramePr>
          <p:nvPr>
            <p:extLst>
              <p:ext uri="{D42A27DB-BD31-4B8C-83A1-F6EECF244321}">
                <p14:modId xmlns:p14="http://schemas.microsoft.com/office/powerpoint/2010/main" val="3148482270"/>
              </p:ext>
            </p:extLst>
          </p:nvPr>
        </p:nvGraphicFramePr>
        <p:xfrm>
          <a:off x="5076232" y="2017886"/>
          <a:ext cx="3914067" cy="9144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(1)&lt;</a:t>
                      </a:r>
                      <a:r>
                        <a:rPr lang="en-US" sz="1800" b="0" kern="100" dirty="0" err="1">
                          <a:solidFill>
                            <a:schemeClr val="tx1"/>
                          </a:solidFill>
                          <a:effectLst/>
                          <a:latin typeface="宋体" panose="02010600030101010101" pitchFamily="2" charset="-122"/>
                          <a:ea typeface="宋体" panose="02010600030101010101" pitchFamily="2" charset="-122"/>
                        </a:rPr>
                        <a:t>VarDCL</a:t>
                      </a:r>
                      <a:r>
                        <a:rPr lang="en-US" sz="1800" b="0" kern="100" dirty="0">
                          <a:solidFill>
                            <a:schemeClr val="tx1"/>
                          </a:solidFill>
                          <a:effectLst/>
                          <a:latin typeface="宋体" panose="02010600030101010101" pitchFamily="2" charset="-122"/>
                          <a:ea typeface="宋体" panose="02010600030101010101" pitchFamily="2" charset="-122"/>
                        </a:rPr>
                        <a:t>&gt;→&lt;</a:t>
                      </a:r>
                      <a:r>
                        <a:rPr lang="en-US" sz="1800" b="0" kern="100" dirty="0" err="1">
                          <a:solidFill>
                            <a:schemeClr val="tx1"/>
                          </a:solidFill>
                          <a:effectLst/>
                          <a:latin typeface="宋体" panose="02010600030101010101" pitchFamily="2" charset="-122"/>
                          <a:ea typeface="宋体" panose="02010600030101010101" pitchFamily="2" charset="-122"/>
                        </a:rPr>
                        <a:t>VarType</a:t>
                      </a:r>
                      <a:r>
                        <a:rPr lang="en-US" sz="1800" b="0" kern="100" dirty="0">
                          <a:solidFill>
                            <a:schemeClr val="tx1"/>
                          </a:solidFill>
                          <a:effectLst/>
                          <a:latin typeface="宋体" panose="02010600030101010101" pitchFamily="2" charset="-122"/>
                          <a:ea typeface="宋体" panose="02010600030101010101" pitchFamily="2" charset="-122"/>
                        </a:rPr>
                        <a:t>&gt;&lt;</a:t>
                      </a:r>
                      <a:r>
                        <a:rPr lang="en-US" sz="1800" b="0" kern="100" dirty="0" err="1">
                          <a:solidFill>
                            <a:schemeClr val="tx1"/>
                          </a:solidFill>
                          <a:effectLst/>
                          <a:latin typeface="宋体" panose="02010600030101010101" pitchFamily="2" charset="-122"/>
                          <a:ea typeface="宋体" panose="02010600030101010101" pitchFamily="2" charset="-122"/>
                        </a:rPr>
                        <a:t>VarDList</a:t>
                      </a:r>
                      <a:r>
                        <a:rPr lang="en-US" sz="1800" b="0" kern="100" dirty="0">
                          <a:solidFill>
                            <a:schemeClr val="tx1"/>
                          </a:solidFill>
                          <a:effectLst/>
                          <a:latin typeface="宋体" panose="02010600030101010101" pitchFamily="2" charset="-122"/>
                          <a:ea typeface="宋体" panose="02010600030101010101" pitchFamily="2" charset="-122"/>
                        </a:rPr>
                        <a:t>&gt;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&gt;.in = &lt;</a:t>
                      </a:r>
                      <a:r>
                        <a:rPr lang="en-US" altLang="zh-CN" sz="1800" b="0" kern="100" dirty="0" err="1">
                          <a:solidFill>
                            <a:schemeClr val="tx1"/>
                          </a:solidFill>
                          <a:effectLst/>
                          <a:latin typeface="宋体" panose="02010600030101010101" pitchFamily="2" charset="-122"/>
                          <a:ea typeface="宋体" panose="02010600030101010101" pitchFamily="2" charset="-122"/>
                        </a:rPr>
                        <a:t>VarType</a:t>
                      </a:r>
                      <a:r>
                        <a:rPr lang="en-US" altLang="zh-CN" sz="1800" b="0" kern="100" dirty="0">
                          <a:solidFill>
                            <a:schemeClr val="tx1"/>
                          </a:solidFill>
                          <a:effectLst/>
                          <a:latin typeface="宋体" panose="02010600030101010101" pitchFamily="2" charset="-122"/>
                          <a:ea typeface="宋体" panose="02010600030101010101" pitchFamily="2" charset="-122"/>
                        </a:rPr>
                        <a:t>&gt;.type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2" name="Rectangle 3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表格 18"/>
          <p:cNvGraphicFramePr>
            <a:graphicFrameLocks noGrp="1"/>
          </p:cNvGraphicFramePr>
          <p:nvPr>
            <p:extLst>
              <p:ext uri="{D42A27DB-BD31-4B8C-83A1-F6EECF244321}">
                <p14:modId xmlns:p14="http://schemas.microsoft.com/office/powerpoint/2010/main" val="3465173001"/>
              </p:ext>
            </p:extLst>
          </p:nvPr>
        </p:nvGraphicFramePr>
        <p:xfrm>
          <a:off x="5076056" y="2004095"/>
          <a:ext cx="3914067" cy="9144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(2)</a:t>
                      </a:r>
                      <a:r>
                        <a:rPr lang="en-US" altLang="zh-CN" sz="1800" b="0" dirty="0">
                          <a:solidFill>
                            <a:schemeClr val="tx1"/>
                          </a:solidFill>
                          <a:latin typeface="宋体" panose="02010600030101010101" pitchFamily="2" charset="-122"/>
                        </a:rPr>
                        <a:t> &lt;</a:t>
                      </a:r>
                      <a:r>
                        <a:rPr lang="en-US" altLang="zh-CN" sz="1800" b="0" dirty="0" err="1">
                          <a:solidFill>
                            <a:schemeClr val="tx1"/>
                          </a:solidFill>
                          <a:latin typeface="宋体" panose="02010600030101010101" pitchFamily="2" charset="-122"/>
                        </a:rPr>
                        <a:t>VarType</a:t>
                      </a:r>
                      <a:r>
                        <a:rPr lang="en-US" altLang="zh-CN" sz="1800" b="0" dirty="0">
                          <a:solidFill>
                            <a:schemeClr val="tx1"/>
                          </a:solidFill>
                          <a:latin typeface="宋体" panose="02010600030101010101" pitchFamily="2" charset="-122"/>
                        </a:rPr>
                        <a:t>&gt;→</a:t>
                      </a:r>
                      <a:r>
                        <a:rPr lang="en-US" altLang="zh-CN" sz="1800" b="0" dirty="0" err="1">
                          <a:solidFill>
                            <a:schemeClr val="tx1"/>
                          </a:solidFill>
                          <a:latin typeface="宋体" panose="02010600030101010101" pitchFamily="2" charset="-122"/>
                        </a:rPr>
                        <a:t>int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&lt;</a:t>
                      </a:r>
                      <a:r>
                        <a:rPr lang="en-US" altLang="zh-CN" sz="1800" b="0" kern="100" dirty="0" err="1">
                          <a:solidFill>
                            <a:schemeClr val="tx1"/>
                          </a:solidFill>
                          <a:effectLst/>
                          <a:latin typeface="宋体" panose="02010600030101010101" pitchFamily="2" charset="-122"/>
                          <a:ea typeface="宋体" panose="02010600030101010101" pitchFamily="2" charset="-122"/>
                        </a:rPr>
                        <a:t>VarType</a:t>
                      </a:r>
                      <a:r>
                        <a:rPr lang="en-US" altLang="zh-CN" sz="1800" b="0" kern="100" dirty="0">
                          <a:solidFill>
                            <a:schemeClr val="tx1"/>
                          </a:solidFill>
                          <a:effectLst/>
                          <a:latin typeface="宋体" panose="02010600030101010101" pitchFamily="2" charset="-122"/>
                          <a:ea typeface="宋体" panose="02010600030101010101" pitchFamily="2" charset="-122"/>
                        </a:rPr>
                        <a:t>&gt;.type = </a:t>
                      </a:r>
                      <a:r>
                        <a:rPr lang="en-US" altLang="zh-CN" sz="1800" b="0" kern="100" dirty="0" err="1">
                          <a:solidFill>
                            <a:schemeClr val="tx1"/>
                          </a:solidFill>
                          <a:effectLst/>
                          <a:latin typeface="宋体" panose="02010600030101010101" pitchFamily="2" charset="-122"/>
                          <a:ea typeface="宋体" panose="02010600030101010101" pitchFamily="2" charset="-122"/>
                        </a:rPr>
                        <a:t>int</a:t>
                      </a:r>
                      <a:r>
                        <a:rPr lang="en-US" altLang="zh-CN" sz="1800" b="0" kern="100" dirty="0">
                          <a:solidFill>
                            <a:schemeClr val="tx1"/>
                          </a:solidFill>
                          <a:effectLst/>
                          <a:latin typeface="宋体" panose="02010600030101010101" pitchFamily="2" charset="-122"/>
                          <a:ea typeface="宋体" panose="02010600030101010101" pitchFamily="2" charset="-122"/>
                        </a:rPr>
                        <a:t>      }</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3663817670"/>
              </p:ext>
            </p:extLst>
          </p:nvPr>
        </p:nvGraphicFramePr>
        <p:xfrm>
          <a:off x="5075880" y="2035153"/>
          <a:ext cx="3914067" cy="9144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0" kern="100" dirty="0">
                          <a:solidFill>
                            <a:schemeClr val="tx1"/>
                          </a:solidFill>
                          <a:effectLst/>
                          <a:latin typeface="宋体" panose="02010600030101010101" pitchFamily="2" charset="-122"/>
                          <a:ea typeface="宋体" panose="02010600030101010101" pitchFamily="2" charset="-122"/>
                        </a:rPr>
                        <a:t>(3)</a:t>
                      </a:r>
                      <a:r>
                        <a:rPr lang="en-US" altLang="zh-CN" sz="1800" b="0" kern="100" dirty="0">
                          <a:solidFill>
                            <a:schemeClr val="tx1"/>
                          </a:solidFill>
                          <a:effectLst/>
                          <a:latin typeface="宋体" panose="02010600030101010101" pitchFamily="2" charset="-122"/>
                          <a:ea typeface="宋体" panose="02010600030101010101" pitchFamily="2" charset="-122"/>
                        </a:rPr>
                        <a:t> &lt;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&gt;→&lt;</a:t>
                      </a:r>
                      <a:r>
                        <a:rPr lang="en-US" altLang="zh-CN" sz="1800" b="0" kern="100" dirty="0" err="1">
                          <a:solidFill>
                            <a:schemeClr val="tx1"/>
                          </a:solidFill>
                          <a:effectLst/>
                          <a:latin typeface="宋体" panose="02010600030101010101" pitchFamily="2" charset="-122"/>
                          <a:ea typeface="宋体" panose="02010600030101010101" pitchFamily="2" charset="-122"/>
                        </a:rPr>
                        <a:t>SVarD</a:t>
                      </a:r>
                      <a:r>
                        <a:rPr lang="en-US" altLang="zh-CN" sz="1800" b="0" kern="100" dirty="0">
                          <a:solidFill>
                            <a:schemeClr val="tx1"/>
                          </a:solidFill>
                          <a:effectLst/>
                          <a:latin typeface="宋体" panose="02010600030101010101" pitchFamily="2" charset="-122"/>
                          <a:ea typeface="宋体" panose="02010600030101010101" pitchFamily="2" charset="-122"/>
                        </a:rPr>
                        <a:t>&gt;</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{&lt;</a:t>
                      </a:r>
                      <a:r>
                        <a:rPr lang="en-US" altLang="zh-CN" sz="1800" b="0" kern="100" dirty="0" err="1">
                          <a:solidFill>
                            <a:schemeClr val="tx1"/>
                          </a:solidFill>
                          <a:effectLst/>
                          <a:latin typeface="宋体" panose="02010600030101010101" pitchFamily="2" charset="-122"/>
                          <a:ea typeface="宋体" panose="02010600030101010101" pitchFamily="2" charset="-122"/>
                        </a:rPr>
                        <a:t>SVarD</a:t>
                      </a:r>
                      <a:r>
                        <a:rPr lang="en-US" altLang="zh-CN" sz="1800" b="0" kern="100" dirty="0">
                          <a:solidFill>
                            <a:schemeClr val="tx1"/>
                          </a:solidFill>
                          <a:effectLst/>
                          <a:latin typeface="宋体" panose="02010600030101010101" pitchFamily="2" charset="-122"/>
                          <a:ea typeface="宋体" panose="02010600030101010101" pitchFamily="2" charset="-122"/>
                        </a:rPr>
                        <a:t>&gt;.in = &lt;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&gt;.in </a:t>
                      </a:r>
                      <a:r>
                        <a:rPr lang="en-US" altLang="zh-CN" sz="1800" b="0" kern="100" baseline="0" dirty="0">
                          <a:solidFill>
                            <a:schemeClr val="tx1"/>
                          </a:solidFill>
                          <a:effectLst/>
                          <a:latin typeface="宋体" panose="02010600030101010101" pitchFamily="2" charset="-122"/>
                          <a:ea typeface="宋体" panose="02010600030101010101" pitchFamily="2" charset="-122"/>
                        </a:rPr>
                        <a:t>  </a:t>
                      </a:r>
                      <a:r>
                        <a:rPr lang="en-US" altLang="zh-CN" sz="1800" b="0" kern="100" dirty="0">
                          <a:solidFill>
                            <a:schemeClr val="tx1"/>
                          </a:solidFill>
                          <a:effectLst/>
                          <a:latin typeface="宋体" panose="02010600030101010101" pitchFamily="2" charset="-122"/>
                          <a:ea typeface="宋体" panose="02010600030101010101" pitchFamily="2" charset="-122"/>
                        </a:rPr>
                        <a: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135023653"/>
              </p:ext>
            </p:extLst>
          </p:nvPr>
        </p:nvGraphicFramePr>
        <p:xfrm>
          <a:off x="4925556" y="2004095"/>
          <a:ext cx="4218444" cy="1005840"/>
        </p:xfrm>
        <a:graphic>
          <a:graphicData uri="http://schemas.openxmlformats.org/drawingml/2006/table">
            <a:tbl>
              <a:tblPr firstRow="1" firstCol="1" bandRow="1">
                <a:tableStyleId>{5C22544A-7EE6-4342-B048-85BDC9FD1C3A}</a:tableStyleId>
              </a:tblPr>
              <a:tblGrid>
                <a:gridCol w="4218444">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(4)</a:t>
                      </a:r>
                      <a:r>
                        <a:rPr lang="en-US" altLang="zh-CN" sz="1800" b="0" kern="100" dirty="0">
                          <a:solidFill>
                            <a:schemeClr val="tx1"/>
                          </a:solidFill>
                          <a:effectLst/>
                          <a:latin typeface="宋体" panose="02010600030101010101" pitchFamily="2" charset="-122"/>
                          <a:ea typeface="宋体" panose="02010600030101010101" pitchFamily="2" charset="-122"/>
                        </a:rPr>
                        <a:t>&lt;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&gt;→&lt;</a:t>
                      </a:r>
                      <a:r>
                        <a:rPr lang="en-US" altLang="zh-CN" sz="1800" b="0" kern="100" dirty="0" err="1">
                          <a:solidFill>
                            <a:schemeClr val="tx1"/>
                          </a:solidFill>
                          <a:effectLst/>
                          <a:latin typeface="宋体" panose="02010600030101010101" pitchFamily="2" charset="-122"/>
                          <a:ea typeface="宋体" panose="02010600030101010101" pitchFamily="2" charset="-122"/>
                        </a:rPr>
                        <a:t>SVarD</a:t>
                      </a:r>
                      <a:r>
                        <a:rPr lang="en-US" altLang="zh-CN" sz="1800" b="0" kern="100" dirty="0">
                          <a:solidFill>
                            <a:schemeClr val="tx1"/>
                          </a:solidFill>
                          <a:effectLst/>
                          <a:latin typeface="宋体" panose="02010600030101010101" pitchFamily="2" charset="-122"/>
                          <a:ea typeface="宋体" panose="02010600030101010101" pitchFamily="2" charset="-122"/>
                        </a:rPr>
                        <a:t>&gt;, &lt;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a:t>
                      </a:r>
                      <a:r>
                        <a:rPr lang="en-US" altLang="zh-CN" sz="1800" b="0" kern="100" baseline="30000" dirty="0">
                          <a:solidFill>
                            <a:schemeClr val="tx1"/>
                          </a:solidFill>
                          <a:effectLst/>
                          <a:latin typeface="宋体" panose="02010600030101010101" pitchFamily="2" charset="-122"/>
                          <a:ea typeface="宋体" panose="02010600030101010101" pitchFamily="2" charset="-122"/>
                        </a:rPr>
                        <a:t>(1)</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{&lt;</a:t>
                      </a:r>
                      <a:r>
                        <a:rPr lang="en-US" altLang="zh-CN" sz="1800" b="0" kern="100" dirty="0" err="1">
                          <a:solidFill>
                            <a:schemeClr val="tx1"/>
                          </a:solidFill>
                          <a:effectLst/>
                          <a:latin typeface="宋体" panose="02010600030101010101" pitchFamily="2" charset="-122"/>
                          <a:ea typeface="宋体" panose="02010600030101010101" pitchFamily="2" charset="-122"/>
                        </a:rPr>
                        <a:t>SVarD</a:t>
                      </a:r>
                      <a:r>
                        <a:rPr lang="en-US" altLang="zh-CN" sz="1800" b="0" kern="100" dirty="0">
                          <a:solidFill>
                            <a:schemeClr val="tx1"/>
                          </a:solidFill>
                          <a:effectLst/>
                          <a:latin typeface="宋体" panose="02010600030101010101" pitchFamily="2" charset="-122"/>
                          <a:ea typeface="宋体" panose="02010600030101010101" pitchFamily="2" charset="-122"/>
                        </a:rPr>
                        <a:t>&gt;.in = &lt;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&gt;.in;</a:t>
                      </a:r>
                      <a:endParaRPr lang="zh-CN" altLang="zh-CN" sz="1800" b="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a:t>
                      </a:r>
                      <a:r>
                        <a:rPr lang="en-US" altLang="zh-CN" sz="1800" b="0" kern="100" baseline="30000" dirty="0">
                          <a:solidFill>
                            <a:schemeClr val="tx1"/>
                          </a:solidFill>
                          <a:effectLst/>
                          <a:latin typeface="宋体" panose="02010600030101010101" pitchFamily="2" charset="-122"/>
                          <a:ea typeface="宋体" panose="02010600030101010101" pitchFamily="2" charset="-122"/>
                        </a:rPr>
                        <a:t>(1)</a:t>
                      </a:r>
                      <a:r>
                        <a:rPr lang="en-US" altLang="zh-CN" sz="1800" b="0" kern="100" dirty="0">
                          <a:solidFill>
                            <a:schemeClr val="tx1"/>
                          </a:solidFill>
                          <a:effectLst/>
                          <a:latin typeface="宋体" panose="02010600030101010101" pitchFamily="2" charset="-122"/>
                          <a:ea typeface="宋体" panose="02010600030101010101" pitchFamily="2" charset="-122"/>
                        </a:rPr>
                        <a:t>.in = &lt;</a:t>
                      </a:r>
                      <a:r>
                        <a:rPr lang="en-US" altLang="zh-CN" sz="1800" b="0" kern="100" dirty="0" err="1">
                          <a:solidFill>
                            <a:schemeClr val="tx1"/>
                          </a:solidFill>
                          <a:effectLst/>
                          <a:latin typeface="宋体" panose="02010600030101010101" pitchFamily="2" charset="-122"/>
                          <a:ea typeface="宋体" panose="02010600030101010101" pitchFamily="2" charset="-122"/>
                        </a:rPr>
                        <a:t>VarDList</a:t>
                      </a:r>
                      <a:r>
                        <a:rPr lang="en-US" altLang="zh-CN" sz="1800" b="0" kern="100" dirty="0">
                          <a:solidFill>
                            <a:schemeClr val="tx1"/>
                          </a:solidFill>
                          <a:effectLst/>
                          <a:latin typeface="宋体" panose="02010600030101010101" pitchFamily="2" charset="-122"/>
                          <a:ea typeface="宋体" panose="02010600030101010101" pitchFamily="2" charset="-122"/>
                        </a:rPr>
                        <a:t>&gt;.in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val="2365867746"/>
              </p:ext>
            </p:extLst>
          </p:nvPr>
        </p:nvGraphicFramePr>
        <p:xfrm>
          <a:off x="5055301" y="1916510"/>
          <a:ext cx="3914067" cy="124968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(5) &lt;</a:t>
                      </a:r>
                      <a:r>
                        <a:rPr lang="en-US" sz="1800" b="0" kern="100" dirty="0" err="1">
                          <a:solidFill>
                            <a:schemeClr val="tx1"/>
                          </a:solidFill>
                          <a:effectLst/>
                          <a:latin typeface="宋体" panose="02010600030101010101" pitchFamily="2" charset="-122"/>
                          <a:ea typeface="宋体" panose="02010600030101010101" pitchFamily="2" charset="-122"/>
                        </a:rPr>
                        <a:t>S</a:t>
                      </a:r>
                      <a:r>
                        <a:rPr lang="en-US" altLang="zh-CN" sz="1800" b="0" kern="100" dirty="0" err="1">
                          <a:solidFill>
                            <a:schemeClr val="tx1"/>
                          </a:solidFill>
                          <a:effectLst/>
                          <a:latin typeface="宋体" panose="02010600030101010101" pitchFamily="2" charset="-122"/>
                          <a:ea typeface="宋体" panose="02010600030101010101" pitchFamily="2" charset="-122"/>
                        </a:rPr>
                        <a:t>VarD</a:t>
                      </a:r>
                      <a:r>
                        <a:rPr lang="en-US" sz="1800" b="0" kern="100" dirty="0">
                          <a:solidFill>
                            <a:schemeClr val="tx1"/>
                          </a:solidFill>
                          <a:effectLst/>
                          <a:latin typeface="宋体" panose="02010600030101010101" pitchFamily="2" charset="-122"/>
                          <a:ea typeface="宋体" panose="02010600030101010101" pitchFamily="2" charset="-122"/>
                        </a:rPr>
                        <a:t>&gt;→id</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800" b="0" kern="100" dirty="0" err="1">
                          <a:solidFill>
                            <a:schemeClr val="tx1"/>
                          </a:solidFill>
                          <a:effectLst/>
                          <a:latin typeface="宋体" panose="02010600030101010101" pitchFamily="2" charset="-122"/>
                          <a:ea typeface="宋体" panose="02010600030101010101" pitchFamily="2" charset="-122"/>
                        </a:rPr>
                        <a:t>InsertVarible</a:t>
                      </a:r>
                      <a:r>
                        <a:rPr lang="en-US" altLang="zh-CN" sz="1800" b="0" kern="100" dirty="0">
                          <a:solidFill>
                            <a:schemeClr val="tx1"/>
                          </a:solidFill>
                          <a:effectLst/>
                          <a:latin typeface="宋体" panose="02010600030101010101" pitchFamily="2" charset="-122"/>
                          <a:ea typeface="宋体" panose="02010600030101010101" pitchFamily="2" charset="-122"/>
                        </a:rPr>
                        <a:t>(</a:t>
                      </a:r>
                      <a:r>
                        <a:rPr kumimoji="0" lang="en-US" altLang="zh-CN" sz="1800" b="1" kern="1200" dirty="0">
                          <a:solidFill>
                            <a:schemeClr val="tx1"/>
                          </a:solidFill>
                          <a:effectLst/>
                          <a:latin typeface="+mn-lt"/>
                          <a:ea typeface="+mn-ea"/>
                          <a:cs typeface="+mn-cs"/>
                        </a:rPr>
                        <a:t>id.name</a:t>
                      </a: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600" b="0" kern="100" dirty="0">
                          <a:solidFill>
                            <a:schemeClr val="tx1"/>
                          </a:solidFill>
                          <a:effectLst/>
                          <a:latin typeface="宋体" panose="02010600030101010101" pitchFamily="2" charset="-122"/>
                          <a:ea typeface="宋体" panose="02010600030101010101" pitchFamily="2" charset="-122"/>
                        </a:rPr>
                        <a:t>//</a:t>
                      </a:r>
                      <a:r>
                        <a:rPr lang="zh-CN" altLang="en-US" sz="1600" b="0" kern="100" dirty="0">
                          <a:solidFill>
                            <a:schemeClr val="tx1"/>
                          </a:solidFill>
                          <a:effectLst/>
                          <a:latin typeface="宋体" panose="02010600030101010101" pitchFamily="2" charset="-122"/>
                          <a:ea typeface="宋体" panose="02010600030101010101" pitchFamily="2" charset="-122"/>
                        </a:rPr>
                        <a:t>变量名</a:t>
                      </a:r>
                      <a:r>
                        <a:rPr lang="zh-CN" altLang="zh-CN" sz="1600" b="0" kern="100" dirty="0">
                          <a:solidFill>
                            <a:schemeClr val="tx1"/>
                          </a:solidFill>
                          <a:effectLst/>
                          <a:latin typeface="宋体" panose="02010600030101010101" pitchFamily="2" charset="-122"/>
                          <a:ea typeface="宋体" panose="02010600030101010101" pitchFamily="2" charset="-122"/>
                        </a:rPr>
                        <a:t>插入符号表</a:t>
                      </a:r>
                      <a:endParaRPr lang="zh-CN" altLang="zh-CN" sz="1800" b="0" kern="100" dirty="0">
                        <a:solidFill>
                          <a:schemeClr val="tx1"/>
                        </a:solidFill>
                        <a:effectLst/>
                        <a:latin typeface="宋体" panose="02010600030101010101" pitchFamily="2" charset="-122"/>
                        <a:ea typeface="宋体" panose="02010600030101010101" pitchFamily="2" charset="-122"/>
                      </a:endParaRPr>
                    </a:p>
                    <a:p>
                      <a:pPr indent="171450"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entry(id).type  =&lt;</a:t>
                      </a:r>
                      <a:r>
                        <a:rPr lang="en-US" altLang="zh-CN" sz="1800" b="0" kern="100" dirty="0" err="1">
                          <a:solidFill>
                            <a:schemeClr val="tx1"/>
                          </a:solidFill>
                          <a:effectLst/>
                          <a:latin typeface="宋体" panose="02010600030101010101" pitchFamily="2" charset="-122"/>
                          <a:ea typeface="宋体" panose="02010600030101010101" pitchFamily="2" charset="-122"/>
                        </a:rPr>
                        <a:t>SVarD</a:t>
                      </a:r>
                      <a:r>
                        <a:rPr lang="en-US" altLang="zh-CN" sz="1800" b="0" kern="100" dirty="0">
                          <a:solidFill>
                            <a:schemeClr val="tx1"/>
                          </a:solidFill>
                          <a:effectLst/>
                          <a:latin typeface="宋体" panose="02010600030101010101" pitchFamily="2" charset="-122"/>
                          <a:ea typeface="宋体" panose="02010600030101010101" pitchFamily="2" charset="-122"/>
                        </a:rPr>
                        <a:t>&gt;.in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2951556158"/>
              </p:ext>
            </p:extLst>
          </p:nvPr>
        </p:nvGraphicFramePr>
        <p:xfrm>
          <a:off x="5034546" y="1826943"/>
          <a:ext cx="3914067" cy="15240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(6) &lt;</a:t>
                      </a:r>
                      <a:r>
                        <a:rPr lang="en-US" sz="1800" b="0" kern="100" dirty="0" err="1">
                          <a:solidFill>
                            <a:schemeClr val="tx1"/>
                          </a:solidFill>
                          <a:effectLst/>
                          <a:latin typeface="宋体" panose="02010600030101010101" pitchFamily="2" charset="-122"/>
                          <a:ea typeface="宋体" panose="02010600030101010101" pitchFamily="2" charset="-122"/>
                        </a:rPr>
                        <a:t>S</a:t>
                      </a:r>
                      <a:r>
                        <a:rPr lang="en-US" altLang="zh-CN" sz="1800" b="0" kern="100" dirty="0" err="1">
                          <a:solidFill>
                            <a:schemeClr val="tx1"/>
                          </a:solidFill>
                          <a:effectLst/>
                          <a:latin typeface="宋体" panose="02010600030101010101" pitchFamily="2" charset="-122"/>
                          <a:ea typeface="宋体" panose="02010600030101010101" pitchFamily="2" charset="-122"/>
                        </a:rPr>
                        <a:t>VarD</a:t>
                      </a:r>
                      <a:r>
                        <a:rPr lang="en-US" sz="1800" b="0" kern="100" dirty="0">
                          <a:solidFill>
                            <a:schemeClr val="tx1"/>
                          </a:solidFill>
                          <a:effectLst/>
                          <a:latin typeface="宋体" panose="02010600030101010101" pitchFamily="2" charset="-122"/>
                          <a:ea typeface="宋体" panose="02010600030101010101" pitchFamily="2" charset="-122"/>
                        </a:rPr>
                        <a:t>&gt;→id = &lt;expr&gt;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800" b="0" kern="100" dirty="0" err="1">
                          <a:solidFill>
                            <a:schemeClr val="tx1"/>
                          </a:solidFill>
                          <a:effectLst/>
                          <a:latin typeface="宋体" panose="02010600030101010101" pitchFamily="2" charset="-122"/>
                          <a:ea typeface="宋体" panose="02010600030101010101" pitchFamily="2" charset="-122"/>
                        </a:rPr>
                        <a:t>InsertVarible</a:t>
                      </a:r>
                      <a:r>
                        <a:rPr lang="en-US" altLang="zh-CN" sz="1800" b="0" kern="100" dirty="0">
                          <a:solidFill>
                            <a:schemeClr val="tx1"/>
                          </a:solidFill>
                          <a:effectLst/>
                          <a:latin typeface="宋体" panose="02010600030101010101" pitchFamily="2" charset="-122"/>
                          <a:ea typeface="宋体" panose="02010600030101010101" pitchFamily="2" charset="-122"/>
                        </a:rPr>
                        <a:t>(</a:t>
                      </a:r>
                      <a:r>
                        <a:rPr kumimoji="0" lang="en-US" altLang="zh-CN" sz="1800" b="1" kern="1200" dirty="0">
                          <a:solidFill>
                            <a:schemeClr val="tx1"/>
                          </a:solidFill>
                          <a:effectLst/>
                          <a:latin typeface="+mn-lt"/>
                          <a:ea typeface="+mn-ea"/>
                          <a:cs typeface="+mn-cs"/>
                        </a:rPr>
                        <a:t>id.name</a:t>
                      </a: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600" b="0" kern="100" dirty="0">
                          <a:solidFill>
                            <a:schemeClr val="tx1"/>
                          </a:solidFill>
                          <a:effectLst/>
                          <a:latin typeface="宋体" panose="02010600030101010101" pitchFamily="2" charset="-122"/>
                          <a:ea typeface="宋体" panose="02010600030101010101" pitchFamily="2" charset="-122"/>
                        </a:rPr>
                        <a:t>//</a:t>
                      </a:r>
                      <a:r>
                        <a:rPr lang="zh-CN" altLang="en-US" sz="1600" b="0" kern="100" dirty="0">
                          <a:solidFill>
                            <a:schemeClr val="tx1"/>
                          </a:solidFill>
                          <a:effectLst/>
                          <a:latin typeface="宋体" panose="02010600030101010101" pitchFamily="2" charset="-122"/>
                          <a:ea typeface="宋体" panose="02010600030101010101" pitchFamily="2" charset="-122"/>
                        </a:rPr>
                        <a:t>变量名插入符号表</a:t>
                      </a:r>
                      <a:endParaRPr lang="zh-CN" altLang="en-US" sz="1800" b="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zh-CN" altLang="en-US" sz="1800" b="0" kern="100" dirty="0">
                          <a:solidFill>
                            <a:schemeClr val="tx1"/>
                          </a:solidFill>
                          <a:effectLst/>
                          <a:latin typeface="宋体" panose="02010600030101010101" pitchFamily="2" charset="-122"/>
                          <a:ea typeface="宋体" panose="02010600030101010101" pitchFamily="2" charset="-122"/>
                        </a:rPr>
                        <a:t>  </a:t>
                      </a:r>
                      <a:r>
                        <a:rPr lang="en-US" altLang="zh-CN" sz="1800" b="0" kern="100" dirty="0">
                          <a:solidFill>
                            <a:schemeClr val="tx1"/>
                          </a:solidFill>
                          <a:effectLst/>
                          <a:latin typeface="宋体" panose="02010600030101010101" pitchFamily="2" charset="-122"/>
                          <a:ea typeface="宋体" panose="02010600030101010101" pitchFamily="2" charset="-122"/>
                        </a:rPr>
                        <a:t>entry(id).type = &lt;</a:t>
                      </a:r>
                      <a:r>
                        <a:rPr lang="en-US" altLang="zh-CN" sz="1800" b="0" kern="100" dirty="0" err="1">
                          <a:solidFill>
                            <a:schemeClr val="tx1"/>
                          </a:solidFill>
                          <a:effectLst/>
                          <a:latin typeface="宋体" panose="02010600030101010101" pitchFamily="2" charset="-122"/>
                          <a:ea typeface="宋体" panose="02010600030101010101" pitchFamily="2" charset="-122"/>
                        </a:rPr>
                        <a:t>SVarD</a:t>
                      </a:r>
                      <a:r>
                        <a:rPr lang="en-US" altLang="zh-CN" sz="1800" b="0" kern="100" dirty="0">
                          <a:solidFill>
                            <a:schemeClr val="tx1"/>
                          </a:solidFill>
                          <a:effectLst/>
                          <a:latin typeface="宋体" panose="02010600030101010101" pitchFamily="2" charset="-122"/>
                          <a:ea typeface="宋体" panose="02010600030101010101" pitchFamily="2" charset="-122"/>
                        </a:rPr>
                        <a:t>&gt;.in;</a:t>
                      </a:r>
                    </a:p>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entry(id).</a:t>
                      </a:r>
                      <a:r>
                        <a:rPr lang="en-US" altLang="zh-CN" sz="1800" b="0" kern="100" dirty="0" err="1">
                          <a:solidFill>
                            <a:schemeClr val="tx1"/>
                          </a:solidFill>
                          <a:effectLst/>
                          <a:latin typeface="宋体" panose="02010600030101010101" pitchFamily="2" charset="-122"/>
                          <a:ea typeface="宋体" panose="02010600030101010101" pitchFamily="2" charset="-122"/>
                        </a:rPr>
                        <a:t>val</a:t>
                      </a:r>
                      <a:r>
                        <a:rPr lang="en-US" altLang="zh-CN" sz="1800" b="0" kern="100" dirty="0">
                          <a:solidFill>
                            <a:schemeClr val="tx1"/>
                          </a:solidFill>
                          <a:effectLst/>
                          <a:latin typeface="宋体" panose="02010600030101010101" pitchFamily="2" charset="-122"/>
                          <a:ea typeface="宋体" panose="02010600030101010101" pitchFamily="2" charset="-122"/>
                        </a:rPr>
                        <a:t>=&lt;expr&gt;.PLACE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26" name="Line 16"/>
          <p:cNvSpPr>
            <a:spLocks noChangeShapeType="1"/>
          </p:cNvSpPr>
          <p:nvPr/>
        </p:nvSpPr>
        <p:spPr bwMode="auto">
          <a:xfrm>
            <a:off x="1187624" y="2382710"/>
            <a:ext cx="0" cy="54908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7" name="Line 16"/>
          <p:cNvSpPr>
            <a:spLocks noChangeShapeType="1"/>
          </p:cNvSpPr>
          <p:nvPr/>
        </p:nvSpPr>
        <p:spPr bwMode="auto">
          <a:xfrm>
            <a:off x="2699792" y="3075805"/>
            <a:ext cx="0" cy="491589"/>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graphicFrame>
        <p:nvGraphicFramePr>
          <p:cNvPr id="28" name="表格 27"/>
          <p:cNvGraphicFramePr>
            <a:graphicFrameLocks noGrp="1"/>
          </p:cNvGraphicFramePr>
          <p:nvPr/>
        </p:nvGraphicFramePr>
        <p:xfrm>
          <a:off x="5274765" y="3651870"/>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a:t>
                      </a:r>
                      <a:r>
                        <a:rPr lang="zh-CN" sz="1500" kern="100" dirty="0">
                          <a:effectLst/>
                          <a:latin typeface="Times New Roman"/>
                          <a:ea typeface="宋体"/>
                        </a:rPr>
                        <a:t>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变量</a:t>
                      </a:r>
                      <a:r>
                        <a:rPr lang="zh-CN" sz="1500" kern="100" dirty="0">
                          <a:effectLst/>
                          <a:latin typeface="Times New Roman"/>
                          <a:ea typeface="宋体"/>
                        </a:rPr>
                        <a:t>类型</a:t>
                      </a:r>
                      <a:r>
                        <a:rPr lang="fr-FR" sz="1500" kern="100" dirty="0">
                          <a:effectLst/>
                          <a:latin typeface="Times New Roman"/>
                          <a:ea typeface="宋体"/>
                        </a:rPr>
                        <a:t>(type)</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18" name="表格 17"/>
          <p:cNvGraphicFramePr>
            <a:graphicFrameLocks noGrp="1"/>
          </p:cNvGraphicFramePr>
          <p:nvPr/>
        </p:nvGraphicFramePr>
        <p:xfrm>
          <a:off x="5274765" y="4153496"/>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i</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5" name="表格 24"/>
          <p:cNvGraphicFramePr>
            <a:graphicFrameLocks noGrp="1"/>
          </p:cNvGraphicFramePr>
          <p:nvPr/>
        </p:nvGraphicFramePr>
        <p:xfrm>
          <a:off x="5274765" y="4441528"/>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2</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j</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2888944942"/>
              </p:ext>
            </p:extLst>
          </p:nvPr>
        </p:nvGraphicFramePr>
        <p:xfrm>
          <a:off x="5274765" y="4709022"/>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en-US" altLang="zh-CN" sz="1500" kern="100" dirty="0">
                          <a:effectLst/>
                          <a:latin typeface="Times New Roman"/>
                          <a:ea typeface="宋体"/>
                        </a:rPr>
                        <a:t>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k</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3" name="Rectangle 2">
            <a:extLst>
              <a:ext uri="{FF2B5EF4-FFF2-40B4-BE49-F238E27FC236}">
                <a16:creationId xmlns:a16="http://schemas.microsoft.com/office/drawing/2014/main" id="{D29D1CA4-0328-C8F0-5EA1-9DC308875ED7}"/>
              </a:ext>
            </a:extLst>
          </p:cNvPr>
          <p:cNvSpPr>
            <a:spLocks noChangeArrowheads="1"/>
          </p:cNvSpPr>
          <p:nvPr/>
        </p:nvSpPr>
        <p:spPr bwMode="auto">
          <a:xfrm>
            <a:off x="5076232" y="193166"/>
            <a:ext cx="4126105" cy="1421928"/>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defRPr/>
            </a:pPr>
            <a:r>
              <a:rPr lang="zh-CN" altLang="en-US" sz="1600" dirty="0"/>
              <a:t>（</a:t>
            </a:r>
            <a:r>
              <a:rPr lang="en-US" altLang="zh-CN" sz="1600" dirty="0"/>
              <a:t>1</a:t>
            </a:r>
            <a:r>
              <a:rPr lang="zh-CN" altLang="en-US" sz="1600" dirty="0"/>
              <a:t>） </a:t>
            </a:r>
            <a:r>
              <a:rPr lang="en-US" altLang="zh-CN" sz="1600" dirty="0"/>
              <a:t>&lt;</a:t>
            </a:r>
            <a:r>
              <a:rPr lang="en-US" altLang="zh-CN" sz="1600" dirty="0" err="1"/>
              <a:t>VarDCL</a:t>
            </a:r>
            <a:r>
              <a:rPr lang="en-US" altLang="zh-CN" sz="1600" dirty="0"/>
              <a:t>&gt;→&lt;</a:t>
            </a:r>
            <a:r>
              <a:rPr lang="en-US" altLang="zh-CN" sz="1600" dirty="0" err="1"/>
              <a:t>VarType</a:t>
            </a:r>
            <a:r>
              <a:rPr lang="en-US" altLang="zh-CN" sz="1600" dirty="0"/>
              <a:t>&gt;&lt;</a:t>
            </a:r>
            <a:r>
              <a:rPr lang="en-US" altLang="zh-CN" sz="1600" dirty="0" err="1"/>
              <a:t>VarDList</a:t>
            </a:r>
            <a:r>
              <a:rPr lang="en-US" altLang="zh-CN" sz="1600" dirty="0"/>
              <a:t>&gt;</a:t>
            </a:r>
          </a:p>
          <a:p>
            <a:pPr>
              <a:lnSpc>
                <a:spcPct val="90000"/>
              </a:lnSpc>
              <a:buFontTx/>
              <a:buNone/>
              <a:defRPr/>
            </a:pPr>
            <a:r>
              <a:rPr lang="zh-CN" altLang="en-US" sz="1600" dirty="0"/>
              <a:t>（</a:t>
            </a:r>
            <a:r>
              <a:rPr lang="en-US" altLang="zh-CN" sz="1600" dirty="0"/>
              <a:t>2</a:t>
            </a:r>
            <a:r>
              <a:rPr lang="zh-CN" altLang="en-US" sz="1600" dirty="0"/>
              <a:t>） </a:t>
            </a:r>
            <a:r>
              <a:rPr lang="en-US" altLang="zh-CN" sz="1600" dirty="0"/>
              <a:t>&lt;</a:t>
            </a:r>
            <a:r>
              <a:rPr lang="en-US" altLang="zh-CN" sz="1600" dirty="0" err="1"/>
              <a:t>VarType</a:t>
            </a:r>
            <a:r>
              <a:rPr lang="en-US" altLang="zh-CN" sz="1600" dirty="0"/>
              <a:t>&gt;→</a:t>
            </a:r>
            <a:r>
              <a:rPr lang="en-US" altLang="zh-CN" sz="1600" dirty="0" err="1"/>
              <a:t>int|float|char</a:t>
            </a:r>
            <a:endParaRPr lang="en-US" altLang="zh-CN" sz="1600" dirty="0"/>
          </a:p>
          <a:p>
            <a:pPr>
              <a:lnSpc>
                <a:spcPct val="90000"/>
              </a:lnSpc>
              <a:buFontTx/>
              <a:buNone/>
              <a:defRPr/>
            </a:pPr>
            <a:r>
              <a:rPr lang="zh-CN" altLang="en-US" sz="1600" dirty="0"/>
              <a:t>（</a:t>
            </a:r>
            <a:r>
              <a:rPr lang="en-US" altLang="zh-CN" sz="1600" dirty="0"/>
              <a:t>3</a:t>
            </a:r>
            <a:r>
              <a:rPr lang="zh-CN" altLang="en-US" sz="1600" dirty="0"/>
              <a:t>） </a:t>
            </a:r>
            <a:r>
              <a:rPr lang="en-US" altLang="zh-CN" sz="1600" dirty="0"/>
              <a:t>&lt;</a:t>
            </a:r>
            <a:r>
              <a:rPr lang="en-US" altLang="zh-CN" sz="1600" dirty="0" err="1"/>
              <a:t>VarDList</a:t>
            </a:r>
            <a:r>
              <a:rPr lang="en-US" altLang="zh-CN" sz="1600" dirty="0"/>
              <a:t>&gt;→&lt;</a:t>
            </a:r>
            <a:r>
              <a:rPr lang="en-US" altLang="zh-CN" sz="1600" dirty="0" err="1"/>
              <a:t>SVarD</a:t>
            </a:r>
            <a:r>
              <a:rPr lang="en-US" altLang="zh-CN" sz="1600" dirty="0"/>
              <a:t>&gt;</a:t>
            </a:r>
          </a:p>
          <a:p>
            <a:pPr>
              <a:lnSpc>
                <a:spcPct val="90000"/>
              </a:lnSpc>
              <a:buFontTx/>
              <a:buNone/>
              <a:defRPr/>
            </a:pPr>
            <a:r>
              <a:rPr lang="zh-CN" altLang="en-US" sz="1600" dirty="0"/>
              <a:t>（</a:t>
            </a:r>
            <a:r>
              <a:rPr lang="en-US" altLang="zh-CN" sz="1600" dirty="0"/>
              <a:t>4</a:t>
            </a:r>
            <a:r>
              <a:rPr lang="zh-CN" altLang="en-US" sz="1600" dirty="0"/>
              <a:t>） </a:t>
            </a:r>
            <a:r>
              <a:rPr lang="en-US" altLang="zh-CN" sz="1600" dirty="0"/>
              <a:t>&lt;</a:t>
            </a:r>
            <a:r>
              <a:rPr lang="en-US" altLang="zh-CN" sz="1600" dirty="0" err="1"/>
              <a:t>VarDList</a:t>
            </a:r>
            <a:r>
              <a:rPr lang="en-US" altLang="zh-CN" sz="1600" dirty="0"/>
              <a:t>&gt;→&lt;</a:t>
            </a:r>
            <a:r>
              <a:rPr lang="en-US" altLang="zh-CN" sz="1600" dirty="0" err="1"/>
              <a:t>SVarD</a:t>
            </a:r>
            <a:r>
              <a:rPr lang="en-US" altLang="zh-CN" sz="1600" dirty="0"/>
              <a:t>&gt;, &lt;</a:t>
            </a:r>
            <a:r>
              <a:rPr lang="en-US" altLang="zh-CN" sz="1600" dirty="0" err="1"/>
              <a:t>VarDList</a:t>
            </a:r>
            <a:r>
              <a:rPr lang="en-US" altLang="zh-CN" sz="1600" dirty="0"/>
              <a:t>&gt;</a:t>
            </a:r>
          </a:p>
          <a:p>
            <a:pPr>
              <a:lnSpc>
                <a:spcPct val="90000"/>
              </a:lnSpc>
              <a:buFontTx/>
              <a:buNone/>
              <a:defRPr/>
            </a:pPr>
            <a:r>
              <a:rPr lang="zh-CN" altLang="en-US" sz="1600" dirty="0"/>
              <a:t>（</a:t>
            </a:r>
            <a:r>
              <a:rPr lang="en-US" altLang="zh-CN" sz="1600" dirty="0"/>
              <a:t>5</a:t>
            </a:r>
            <a:r>
              <a:rPr lang="zh-CN" altLang="en-US" sz="1600" dirty="0"/>
              <a:t>） </a:t>
            </a:r>
            <a:r>
              <a:rPr lang="en-US" altLang="zh-CN" sz="1600" dirty="0"/>
              <a:t>&lt;</a:t>
            </a:r>
            <a:r>
              <a:rPr lang="en-US" altLang="zh-CN" sz="1600" dirty="0" err="1"/>
              <a:t>SVarD</a:t>
            </a:r>
            <a:r>
              <a:rPr lang="en-US" altLang="zh-CN" sz="1600" dirty="0"/>
              <a:t>&gt;→id</a:t>
            </a:r>
          </a:p>
          <a:p>
            <a:pPr>
              <a:lnSpc>
                <a:spcPct val="90000"/>
              </a:lnSpc>
              <a:buFontTx/>
              <a:buNone/>
              <a:defRPr/>
            </a:pPr>
            <a:r>
              <a:rPr lang="zh-CN" altLang="en-US" sz="1600" dirty="0"/>
              <a:t>（</a:t>
            </a:r>
            <a:r>
              <a:rPr lang="en-US" altLang="zh-CN" sz="1600" dirty="0"/>
              <a:t>6</a:t>
            </a:r>
            <a:r>
              <a:rPr lang="zh-CN" altLang="en-US" sz="1600" dirty="0"/>
              <a:t>） </a:t>
            </a:r>
            <a:r>
              <a:rPr lang="en-US" altLang="zh-CN" sz="1600" dirty="0"/>
              <a:t>&lt;</a:t>
            </a:r>
            <a:r>
              <a:rPr lang="en-US" altLang="zh-CN" sz="1600" dirty="0" err="1"/>
              <a:t>SVarD</a:t>
            </a:r>
            <a:r>
              <a:rPr lang="en-US" altLang="zh-CN" sz="1600" dirty="0"/>
              <a:t>&gt;→id = &lt;Expr&gt; </a:t>
            </a:r>
            <a:endParaRPr lang="en-US" altLang="zh-CN" sz="1600" dirty="0">
              <a:latin typeface="Times New Roman" pitchFamily="18" charset="0"/>
              <a:cs typeface="Times New Roman" pitchFamily="18" charset="0"/>
              <a:sym typeface="Symbol" pitchFamily="18" charset="2"/>
            </a:endParaRPr>
          </a:p>
        </p:txBody>
      </p:sp>
      <p:sp>
        <p:nvSpPr>
          <p:cNvPr id="4" name="矩形 6">
            <a:extLst>
              <a:ext uri="{FF2B5EF4-FFF2-40B4-BE49-F238E27FC236}">
                <a16:creationId xmlns:a16="http://schemas.microsoft.com/office/drawing/2014/main" id="{74E76C2A-3C0E-F0FE-B416-EFC55D028CA0}"/>
              </a:ext>
            </a:extLst>
          </p:cNvPr>
          <p:cNvSpPr>
            <a:spLocks noChangeArrowheads="1"/>
          </p:cNvSpPr>
          <p:nvPr/>
        </p:nvSpPr>
        <p:spPr bwMode="auto">
          <a:xfrm>
            <a:off x="422347" y="4341572"/>
            <a:ext cx="910827" cy="400110"/>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err="1">
                <a:solidFill>
                  <a:srgbClr val="FF0000"/>
                </a:solidFill>
              </a:rPr>
              <a:t>X.type</a:t>
            </a:r>
            <a:endParaRPr lang="zh-CN" altLang="zh-CN" sz="2000" dirty="0">
              <a:solidFill>
                <a:srgbClr val="FF0000"/>
              </a:solidFill>
            </a:endParaRPr>
          </a:p>
        </p:txBody>
      </p:sp>
      <p:sp>
        <p:nvSpPr>
          <p:cNvPr id="17" name="矩形 16">
            <a:extLst>
              <a:ext uri="{FF2B5EF4-FFF2-40B4-BE49-F238E27FC236}">
                <a16:creationId xmlns:a16="http://schemas.microsoft.com/office/drawing/2014/main" id="{B5C83E81-F64C-2301-342E-B7233AFB2C72}"/>
              </a:ext>
            </a:extLst>
          </p:cNvPr>
          <p:cNvSpPr>
            <a:spLocks noChangeArrowheads="1"/>
          </p:cNvSpPr>
          <p:nvPr/>
        </p:nvSpPr>
        <p:spPr bwMode="auto">
          <a:xfrm>
            <a:off x="1689080" y="4341572"/>
            <a:ext cx="627095" cy="400110"/>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a:solidFill>
                  <a:srgbClr val="FF0000"/>
                </a:solidFill>
              </a:rPr>
              <a:t>X.in</a:t>
            </a:r>
            <a:endParaRPr lang="zh-CN" altLang="zh-CN" sz="2000" dirty="0">
              <a:solidFill>
                <a:srgbClr val="FF0000"/>
              </a:solidFill>
            </a:endParaRPr>
          </a:p>
        </p:txBody>
      </p:sp>
    </p:spTree>
    <p:extLst>
      <p:ext uri="{BB962C8B-B14F-4D97-AF65-F5344CB8AC3E}">
        <p14:creationId xmlns:p14="http://schemas.microsoft.com/office/powerpoint/2010/main" val="157860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right)">
                                      <p:cBhvr>
                                        <p:cTn id="41" dur="500"/>
                                        <p:tgtEl>
                                          <p:spTgt spid="7"/>
                                        </p:tgtEl>
                                      </p:cBhvr>
                                    </p:animEffect>
                                  </p:childTnLst>
                                </p:cTn>
                              </p:par>
                              <p:par>
                                <p:cTn id="42" presetID="22" presetClass="entr" presetSubtype="8"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11"/>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wipe(up)">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nodeType="clickEffect">
                                  <p:stCondLst>
                                    <p:cond delay="0"/>
                                  </p:stCondLst>
                                  <p:childTnLst>
                                    <p:set>
                                      <p:cBhvr>
                                        <p:cTn id="59" dur="1" fill="hold">
                                          <p:stCondLst>
                                            <p:cond delay="0"/>
                                          </p:stCondLst>
                                        </p:cTn>
                                        <p:tgtEl>
                                          <p:spTgt spid="21"/>
                                        </p:tgtEl>
                                        <p:attrNameLst>
                                          <p:attrName>style.visibility</p:attrName>
                                        </p:attrNameLst>
                                      </p:cBhvr>
                                      <p:to>
                                        <p:strVal val="hidden"/>
                                      </p:to>
                                    </p:set>
                                  </p:childTnLst>
                                </p:cTn>
                              </p:par>
                              <p:par>
                                <p:cTn id="60" presetID="1"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2"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ipe(right)">
                                      <p:cBhvr>
                                        <p:cTn id="70" dur="500"/>
                                        <p:tgtEl>
                                          <p:spTgt spid="13"/>
                                        </p:tgtEl>
                                      </p:cBhvr>
                                    </p:animEffect>
                                  </p:childTnLst>
                                </p:cTn>
                              </p:par>
                              <p:par>
                                <p:cTn id="71" presetID="22" presetClass="entr" presetSubtype="8" fill="hold"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left)">
                                      <p:cBhvr>
                                        <p:cTn id="73" dur="500"/>
                                        <p:tgtEl>
                                          <p:spTgt spid="1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up)">
                                      <p:cBhvr>
                                        <p:cTn id="78" dur="500"/>
                                        <p:tgtEl>
                                          <p:spTgt spid="27"/>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up)">
                                      <p:cBhvr>
                                        <p:cTn id="87" dur="500"/>
                                        <p:tgtEl>
                                          <p:spTgt spid="9"/>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nodeType="clickEffect">
                                  <p:stCondLst>
                                    <p:cond delay="0"/>
                                  </p:stCondLst>
                                  <p:childTnLst>
                                    <p:set>
                                      <p:cBhvr>
                                        <p:cTn id="91" dur="1" fill="hold">
                                          <p:stCondLst>
                                            <p:cond delay="0"/>
                                          </p:stCondLst>
                                        </p:cTn>
                                        <p:tgtEl>
                                          <p:spTgt spid="22"/>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20"/>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10"/>
                                        </p:tgtEl>
                                        <p:attrNameLst>
                                          <p:attrName>style.visibility</p:attrName>
                                        </p:attrNameLst>
                                      </p:cBhvr>
                                      <p:to>
                                        <p:strVal val="visible"/>
                                      </p:to>
                                    </p:set>
                                    <p:animEffect transition="in" filter="wipe(up)">
                                      <p:cBhvr>
                                        <p:cTn id="98" dur="500"/>
                                        <p:tgtEl>
                                          <p:spTgt spid="10"/>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
                                        </p:tgtEl>
                                        <p:attrNameLst>
                                          <p:attrName>style.visibility</p:attrName>
                                        </p:attrNameLst>
                                      </p:cBhvr>
                                      <p:to>
                                        <p:strVal val="hidden"/>
                                      </p:to>
                                    </p:set>
                                  </p:childTnLst>
                                </p:cTn>
                              </p:par>
                              <p:par>
                                <p:cTn id="103" presetID="1" presetClass="entr" presetSubtype="0" fill="hold"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23664" y="-20538"/>
            <a:ext cx="8229600" cy="478532"/>
          </a:xfrm>
        </p:spPr>
        <p:txBody>
          <a:bodyPr>
            <a:noAutofit/>
          </a:bodyPr>
          <a:lstStyle/>
          <a:p>
            <a:r>
              <a:rPr lang="zh-CN" altLang="en-US" b="0" dirty="0">
                <a:effectLst/>
              </a:rPr>
              <a:t>变量声明的属性文法</a:t>
            </a:r>
          </a:p>
        </p:txBody>
      </p:sp>
      <p:graphicFrame>
        <p:nvGraphicFramePr>
          <p:cNvPr id="5" name="内容占位符 4"/>
          <p:cNvGraphicFramePr>
            <a:graphicFrameLocks noGrp="1"/>
          </p:cNvGraphicFramePr>
          <p:nvPr>
            <p:ph sz="half" idx="2"/>
            <p:extLst>
              <p:ext uri="{D42A27DB-BD31-4B8C-83A1-F6EECF244321}">
                <p14:modId xmlns:p14="http://schemas.microsoft.com/office/powerpoint/2010/main" val="3287706580"/>
              </p:ext>
            </p:extLst>
          </p:nvPr>
        </p:nvGraphicFramePr>
        <p:xfrm>
          <a:off x="179512" y="627534"/>
          <a:ext cx="8856984" cy="3160360"/>
        </p:xfrm>
        <a:graphic>
          <a:graphicData uri="http://schemas.openxmlformats.org/drawingml/2006/table">
            <a:tbl>
              <a:tblPr firstRow="1" firstCol="1" bandRow="1">
                <a:tableStyleId>{5C22544A-7EE6-4342-B048-85BDC9FD1C3A}</a:tableStyleId>
              </a:tblPr>
              <a:tblGrid>
                <a:gridCol w="812154">
                  <a:extLst>
                    <a:ext uri="{9D8B030D-6E8A-4147-A177-3AD203B41FA5}">
                      <a16:colId xmlns:a16="http://schemas.microsoft.com/office/drawing/2014/main" val="20000"/>
                    </a:ext>
                  </a:extLst>
                </a:gridCol>
                <a:gridCol w="3364310">
                  <a:extLst>
                    <a:ext uri="{9D8B030D-6E8A-4147-A177-3AD203B41FA5}">
                      <a16:colId xmlns:a16="http://schemas.microsoft.com/office/drawing/2014/main" val="20001"/>
                    </a:ext>
                  </a:extLst>
                </a:gridCol>
                <a:gridCol w="4680520">
                  <a:extLst>
                    <a:ext uri="{9D8B030D-6E8A-4147-A177-3AD203B41FA5}">
                      <a16:colId xmlns:a16="http://schemas.microsoft.com/office/drawing/2014/main" val="20002"/>
                    </a:ext>
                  </a:extLst>
                </a:gridCol>
              </a:tblGrid>
              <a:tr h="228600">
                <a:tc>
                  <a:txBody>
                    <a:bodyPr/>
                    <a:lstStyle/>
                    <a:p>
                      <a:pPr algn="just">
                        <a:spcAft>
                          <a:spcPts val="0"/>
                        </a:spcAft>
                      </a:pPr>
                      <a:r>
                        <a:rPr lang="zh-CN" sz="1800" kern="100" dirty="0">
                          <a:solidFill>
                            <a:schemeClr val="tx1"/>
                          </a:solidFill>
                          <a:effectLst/>
                          <a:latin typeface="宋体" panose="02010600030101010101" pitchFamily="2" charset="-122"/>
                          <a:ea typeface="宋体" panose="02010600030101010101" pitchFamily="2" charset="-122"/>
                        </a:rPr>
                        <a:t>编号</a:t>
                      </a:r>
                    </a:p>
                  </a:txBody>
                  <a:tcPr marL="51135" marR="511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产生式</a:t>
                      </a:r>
                    </a:p>
                  </a:txBody>
                  <a:tcPr marL="51135" marR="511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语义规则</a:t>
                      </a:r>
                    </a:p>
                  </a:txBody>
                  <a:tcPr marL="51135" marR="511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ct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1</a:t>
                      </a:r>
                      <a:r>
                        <a:rPr lang="zh-CN" sz="1600" kern="100">
                          <a:solidFill>
                            <a:schemeClr val="tx1"/>
                          </a:solidFill>
                          <a:effectLst/>
                          <a:latin typeface="Times New Roman" panose="02020603050405020304" pitchFamily="18" charset="0"/>
                          <a:ea typeface="宋体" panose="02010600030101010101" pitchFamily="2" charset="-122"/>
                        </a:rPr>
                        <a: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&lt;VarDCL&gt;</a:t>
                      </a: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&lt;VarType&gt;&lt;VarDList&gt;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 &lt;VarDList&gt;.in = &lt;VarType&gt;.type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8600">
                <a:tc>
                  <a:txBody>
                    <a:bodyPr/>
                    <a:lstStyle/>
                    <a:p>
                      <a:pPr algn="ct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2</a:t>
                      </a:r>
                      <a:r>
                        <a:rPr lang="zh-CN" sz="1600" kern="100">
                          <a:solidFill>
                            <a:schemeClr val="tx1"/>
                          </a:solidFill>
                          <a:effectLst/>
                          <a:latin typeface="Times New Roman" panose="02020603050405020304" pitchFamily="18" charset="0"/>
                          <a:ea typeface="宋体" panose="02010600030101010101" pitchFamily="2" charset="-122"/>
                        </a:rPr>
                        <a: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&lt;VarType&gt;→int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 &lt;VarType&gt;.type = int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7200">
                <a:tc>
                  <a:txBody>
                    <a:bodyPr/>
                    <a:lstStyle/>
                    <a:p>
                      <a:pPr algn="ct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3</a:t>
                      </a:r>
                      <a:r>
                        <a:rPr lang="zh-CN" sz="1600" kern="100">
                          <a:solidFill>
                            <a:schemeClr val="tx1"/>
                          </a:solidFill>
                          <a:effectLst/>
                          <a:latin typeface="Times New Roman" panose="02020603050405020304" pitchFamily="18" charset="0"/>
                          <a:ea typeface="宋体" panose="02010600030101010101" pitchFamily="2" charset="-122"/>
                        </a:rPr>
                        <a: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&lt;VarDList&gt;</a:t>
                      </a: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&lt;SVarD&gt;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{&lt;SVarD&gt;.in = &lt;VarDList&gt;.in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7200">
                <a:tc>
                  <a:txBody>
                    <a:bodyPr/>
                    <a:lstStyle/>
                    <a:p>
                      <a:pPr algn="ct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4</a:t>
                      </a:r>
                      <a:r>
                        <a:rPr lang="zh-CN" sz="1600" kern="100">
                          <a:solidFill>
                            <a:schemeClr val="tx1"/>
                          </a:solidFill>
                          <a:effectLst/>
                          <a:latin typeface="Times New Roman" panose="02020603050405020304" pitchFamily="18" charset="0"/>
                          <a:ea typeface="宋体" panose="02010600030101010101" pitchFamily="2" charset="-122"/>
                        </a:rPr>
                        <a: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&lt;VarDList&gt;</a:t>
                      </a: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&lt;SVarD&gt;, &lt;VarDList&gt;</a:t>
                      </a:r>
                      <a:r>
                        <a:rPr lang="en-US" sz="1600" kern="100" baseline="30000">
                          <a:solidFill>
                            <a:schemeClr val="tx1"/>
                          </a:solidFill>
                          <a:effectLst/>
                          <a:latin typeface="Times New Roman" panose="02020603050405020304" pitchFamily="18" charset="0"/>
                          <a:ea typeface="宋体" panose="02010600030101010101" pitchFamily="2" charset="-122"/>
                        </a:rPr>
                        <a:t> (1)</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{&lt;SVarD&gt;.in = &lt;VarDList&gt;.in</a:t>
                      </a:r>
                      <a:endParaRPr lang="zh-CN" sz="2000" kern="100">
                        <a:solidFill>
                          <a:schemeClr val="tx1"/>
                        </a:solidFill>
                        <a:effectLst/>
                        <a:latin typeface="Times New Roman" panose="02020603050405020304" pitchFamily="18" charset="0"/>
                        <a:ea typeface="宋体" panose="02010600030101010101" pitchFamily="2" charset="-122"/>
                      </a:endParaRPr>
                    </a:p>
                    <a:p>
                      <a:pPr indent="57150" algn="just"/>
                      <a:r>
                        <a:rPr lang="en-US" sz="1600" kern="100">
                          <a:solidFill>
                            <a:schemeClr val="tx1"/>
                          </a:solidFill>
                          <a:effectLst/>
                          <a:latin typeface="Times New Roman" panose="02020603050405020304" pitchFamily="18" charset="0"/>
                          <a:ea typeface="宋体" panose="02010600030101010101" pitchFamily="2" charset="-122"/>
                        </a:rPr>
                        <a:t>&lt;VarDList&gt;</a:t>
                      </a:r>
                      <a:r>
                        <a:rPr lang="en-US" sz="1600" kern="100" baseline="30000">
                          <a:solidFill>
                            <a:schemeClr val="tx1"/>
                          </a:solidFill>
                          <a:effectLst/>
                          <a:latin typeface="Times New Roman" panose="02020603050405020304" pitchFamily="18" charset="0"/>
                          <a:ea typeface="宋体" panose="02010600030101010101" pitchFamily="2" charset="-122"/>
                        </a:rPr>
                        <a:t>(1)</a:t>
                      </a:r>
                      <a:r>
                        <a:rPr lang="en-US" sz="1600" kern="100">
                          <a:solidFill>
                            <a:schemeClr val="tx1"/>
                          </a:solidFill>
                          <a:effectLst/>
                          <a:latin typeface="Times New Roman" panose="02020603050405020304" pitchFamily="18" charset="0"/>
                          <a:ea typeface="宋体" panose="02010600030101010101" pitchFamily="2" charset="-122"/>
                        </a:rPr>
                        <a:t>.in = &lt;VarDList&gt;.in              }</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08600">
                <a:tc>
                  <a:txBody>
                    <a:bodyPr/>
                    <a:lstStyle/>
                    <a:p>
                      <a:pPr algn="ct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5</a:t>
                      </a:r>
                      <a:r>
                        <a:rPr lang="zh-CN" sz="1600" kern="100">
                          <a:solidFill>
                            <a:schemeClr val="tx1"/>
                          </a:solidFill>
                          <a:effectLst/>
                          <a:latin typeface="Times New Roman" panose="02020603050405020304" pitchFamily="18" charset="0"/>
                          <a:ea typeface="宋体" panose="02010600030101010101" pitchFamily="2" charset="-122"/>
                        </a:rPr>
                        <a: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a:solidFill>
                            <a:schemeClr val="tx1"/>
                          </a:solidFill>
                          <a:effectLst/>
                          <a:latin typeface="Times New Roman" panose="02020603050405020304" pitchFamily="18" charset="0"/>
                          <a:ea typeface="宋体" panose="02010600030101010101" pitchFamily="2" charset="-122"/>
                        </a:rPr>
                        <a:t>&lt;SVarD&gt;→id</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tx1"/>
                          </a:solidFill>
                          <a:effectLst/>
                          <a:latin typeface="Times New Roman" panose="02020603050405020304" pitchFamily="18" charset="0"/>
                          <a:ea typeface="宋体" panose="02010600030101010101" pitchFamily="2" charset="-122"/>
                        </a:rPr>
                        <a:t>{</a:t>
                      </a:r>
                      <a:r>
                        <a:rPr lang="en-US" sz="1600" kern="100" dirty="0" err="1">
                          <a:solidFill>
                            <a:schemeClr val="tx1"/>
                          </a:solidFill>
                          <a:effectLst/>
                          <a:latin typeface="Times New Roman" panose="02020603050405020304" pitchFamily="18" charset="0"/>
                          <a:ea typeface="宋体" panose="02010600030101010101" pitchFamily="2" charset="-122"/>
                        </a:rPr>
                        <a:t>InsertVarible</a:t>
                      </a:r>
                      <a:r>
                        <a:rPr lang="en-US" sz="1600" kern="100" dirty="0">
                          <a:solidFill>
                            <a:schemeClr val="tx1"/>
                          </a:solidFill>
                          <a:effectLst/>
                          <a:latin typeface="Times New Roman" panose="02020603050405020304" pitchFamily="18" charset="0"/>
                          <a:ea typeface="宋体" panose="02010600030101010101" pitchFamily="2" charset="-122"/>
                        </a:rPr>
                        <a:t>(id.name);  </a:t>
                      </a:r>
                      <a:r>
                        <a:rPr lang="en-US" sz="1400" kern="100" dirty="0">
                          <a:solidFill>
                            <a:schemeClr val="tx1"/>
                          </a:solidFill>
                          <a:effectLst/>
                          <a:latin typeface="Times New Roman" panose="02020603050405020304" pitchFamily="18" charset="0"/>
                          <a:ea typeface="宋体" panose="02010600030101010101" pitchFamily="2" charset="-122"/>
                        </a:rPr>
                        <a:t>//</a:t>
                      </a:r>
                      <a:r>
                        <a:rPr lang="zh-CN" sz="1400" kern="100" dirty="0">
                          <a:solidFill>
                            <a:schemeClr val="tx1"/>
                          </a:solidFill>
                          <a:effectLst/>
                          <a:latin typeface="Times New Roman" panose="02020603050405020304" pitchFamily="18" charset="0"/>
                          <a:ea typeface="宋体" panose="02010600030101010101" pitchFamily="2" charset="-122"/>
                        </a:rPr>
                        <a:t>将</a:t>
                      </a:r>
                      <a:r>
                        <a:rPr lang="en-US" sz="1400" kern="100" dirty="0">
                          <a:solidFill>
                            <a:schemeClr val="tx1"/>
                          </a:solidFill>
                          <a:effectLst/>
                          <a:latin typeface="Times New Roman" panose="02020603050405020304" pitchFamily="18" charset="0"/>
                          <a:ea typeface="宋体" panose="02010600030101010101" pitchFamily="2" charset="-122"/>
                        </a:rPr>
                        <a:t>id</a:t>
                      </a:r>
                      <a:r>
                        <a:rPr lang="zh-CN" sz="1400" kern="100" dirty="0">
                          <a:solidFill>
                            <a:schemeClr val="tx1"/>
                          </a:solidFill>
                          <a:effectLst/>
                          <a:latin typeface="Times New Roman" panose="02020603050405020304" pitchFamily="18" charset="0"/>
                          <a:ea typeface="宋体" panose="02010600030101010101" pitchFamily="2" charset="-122"/>
                        </a:rPr>
                        <a:t>对应的变量插入符号表</a:t>
                      </a:r>
                      <a:endParaRPr lang="zh-CN" sz="2000" kern="100" dirty="0">
                        <a:solidFill>
                          <a:schemeClr val="tx1"/>
                        </a:solidFill>
                        <a:effectLst/>
                        <a:latin typeface="Times New Roman" panose="02020603050405020304" pitchFamily="18" charset="0"/>
                        <a:ea typeface="宋体" panose="02010600030101010101" pitchFamily="2" charset="-122"/>
                      </a:endParaRPr>
                    </a:p>
                    <a:p>
                      <a:pPr indent="108585" algn="just"/>
                      <a:r>
                        <a:rPr lang="en-US" sz="1600" kern="100" dirty="0">
                          <a:solidFill>
                            <a:schemeClr val="tx1"/>
                          </a:solidFill>
                          <a:effectLst/>
                          <a:latin typeface="Times New Roman" panose="02020603050405020304" pitchFamily="18" charset="0"/>
                          <a:ea typeface="宋体" panose="02010600030101010101" pitchFamily="2" charset="-122"/>
                        </a:rPr>
                        <a:t>entry(id).type  = &lt;</a:t>
                      </a:r>
                      <a:r>
                        <a:rPr lang="en-US" sz="1600" kern="100" dirty="0" err="1">
                          <a:solidFill>
                            <a:schemeClr val="tx1"/>
                          </a:solidFill>
                          <a:effectLst/>
                          <a:latin typeface="Times New Roman" panose="02020603050405020304" pitchFamily="18" charset="0"/>
                          <a:ea typeface="宋体" panose="02010600030101010101" pitchFamily="2" charset="-122"/>
                        </a:rPr>
                        <a:t>SVar</a:t>
                      </a:r>
                      <a:r>
                        <a:rPr lang="en-US" sz="1600" kern="100" dirty="0">
                          <a:solidFill>
                            <a:schemeClr val="tx1"/>
                          </a:solidFill>
                          <a:effectLst/>
                          <a:latin typeface="Times New Roman" panose="02020603050405020304" pitchFamily="18" charset="0"/>
                          <a:ea typeface="宋体" panose="02010600030101010101" pitchFamily="2" charset="-122"/>
                        </a:rPr>
                        <a:t>&gt;.in             }</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608032">
                <a:tc>
                  <a:txBody>
                    <a:bodyPr/>
                    <a:lstStyle/>
                    <a:p>
                      <a:pPr algn="ctr"/>
                      <a:r>
                        <a:rPr lang="zh-CN" sz="1600" kern="100">
                          <a:solidFill>
                            <a:schemeClr val="tx1"/>
                          </a:solidFill>
                          <a:effectLst/>
                          <a:latin typeface="Times New Roman" panose="02020603050405020304" pitchFamily="18" charset="0"/>
                          <a:ea typeface="宋体" panose="02010600030101010101" pitchFamily="2" charset="-122"/>
                        </a:rPr>
                        <a:t>（</a:t>
                      </a:r>
                      <a:r>
                        <a:rPr lang="en-US" sz="1600" kern="100">
                          <a:solidFill>
                            <a:schemeClr val="tx1"/>
                          </a:solidFill>
                          <a:effectLst/>
                          <a:latin typeface="Times New Roman" panose="02020603050405020304" pitchFamily="18" charset="0"/>
                          <a:ea typeface="宋体" panose="02010600030101010101" pitchFamily="2" charset="-122"/>
                        </a:rPr>
                        <a:t>6</a:t>
                      </a:r>
                      <a:r>
                        <a:rPr lang="zh-CN" sz="1600" kern="100">
                          <a:solidFill>
                            <a:schemeClr val="tx1"/>
                          </a:solidFill>
                          <a:effectLst/>
                          <a:latin typeface="Times New Roman" panose="02020603050405020304" pitchFamily="18" charset="0"/>
                          <a:ea typeface="宋体" panose="02010600030101010101" pitchFamily="2" charset="-122"/>
                        </a:rPr>
                        <a:t>）</a:t>
                      </a:r>
                      <a:endParaRPr lang="zh-CN" sz="20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tx1"/>
                          </a:solidFill>
                          <a:effectLst/>
                          <a:latin typeface="Times New Roman" panose="02020603050405020304" pitchFamily="18" charset="0"/>
                          <a:ea typeface="宋体" panose="02010600030101010101" pitchFamily="2" charset="-122"/>
                        </a:rPr>
                        <a:t>&lt;</a:t>
                      </a:r>
                      <a:r>
                        <a:rPr lang="en-US" sz="1600" kern="100" dirty="0" err="1">
                          <a:solidFill>
                            <a:schemeClr val="tx1"/>
                          </a:solidFill>
                          <a:effectLst/>
                          <a:latin typeface="Times New Roman" panose="02020603050405020304" pitchFamily="18" charset="0"/>
                          <a:ea typeface="宋体" panose="02010600030101010101" pitchFamily="2" charset="-122"/>
                        </a:rPr>
                        <a:t>SVarD</a:t>
                      </a:r>
                      <a:r>
                        <a:rPr lang="en-US" sz="1600" kern="100" dirty="0">
                          <a:solidFill>
                            <a:schemeClr val="tx1"/>
                          </a:solidFill>
                          <a:effectLst/>
                          <a:latin typeface="Times New Roman" panose="02020603050405020304" pitchFamily="18" charset="0"/>
                          <a:ea typeface="宋体" panose="02010600030101010101" pitchFamily="2" charset="-122"/>
                        </a:rPr>
                        <a:t>&gt;→id = &lt;Expr&gt;</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kern="100" dirty="0">
                          <a:solidFill>
                            <a:schemeClr val="tx1"/>
                          </a:solidFill>
                          <a:effectLst/>
                          <a:latin typeface="Times New Roman" panose="02020603050405020304" pitchFamily="18" charset="0"/>
                          <a:ea typeface="宋体" panose="02010600030101010101" pitchFamily="2" charset="-122"/>
                        </a:rPr>
                        <a:t>{  </a:t>
                      </a:r>
                      <a:r>
                        <a:rPr lang="en-US" sz="1600" kern="100" dirty="0" err="1">
                          <a:solidFill>
                            <a:schemeClr val="tx1"/>
                          </a:solidFill>
                          <a:effectLst/>
                          <a:latin typeface="Times New Roman" panose="02020603050405020304" pitchFamily="18" charset="0"/>
                          <a:ea typeface="宋体" panose="02010600030101010101" pitchFamily="2" charset="-122"/>
                        </a:rPr>
                        <a:t>InsertVarible</a:t>
                      </a:r>
                      <a:r>
                        <a:rPr lang="en-US" sz="1600" kern="100" dirty="0">
                          <a:solidFill>
                            <a:schemeClr val="tx1"/>
                          </a:solidFill>
                          <a:effectLst/>
                          <a:latin typeface="Times New Roman" panose="02020603050405020304" pitchFamily="18" charset="0"/>
                          <a:ea typeface="宋体" panose="02010600030101010101" pitchFamily="2" charset="-122"/>
                        </a:rPr>
                        <a:t>(id.name);  </a:t>
                      </a:r>
                      <a:r>
                        <a:rPr lang="en-US" sz="1400" kern="100" dirty="0">
                          <a:solidFill>
                            <a:schemeClr val="tx1"/>
                          </a:solidFill>
                          <a:effectLst/>
                          <a:latin typeface="Times New Roman" panose="02020603050405020304" pitchFamily="18" charset="0"/>
                          <a:ea typeface="宋体" panose="02010600030101010101" pitchFamily="2" charset="-122"/>
                        </a:rPr>
                        <a:t>//</a:t>
                      </a:r>
                      <a:r>
                        <a:rPr lang="zh-CN" sz="1400" kern="100" dirty="0">
                          <a:solidFill>
                            <a:schemeClr val="tx1"/>
                          </a:solidFill>
                          <a:effectLst/>
                          <a:latin typeface="Times New Roman" panose="02020603050405020304" pitchFamily="18" charset="0"/>
                          <a:ea typeface="宋体" panose="02010600030101010101" pitchFamily="2" charset="-122"/>
                        </a:rPr>
                        <a:t>将</a:t>
                      </a:r>
                      <a:r>
                        <a:rPr lang="en-US" sz="1400" kern="100" dirty="0">
                          <a:solidFill>
                            <a:schemeClr val="tx1"/>
                          </a:solidFill>
                          <a:effectLst/>
                          <a:latin typeface="Times New Roman" panose="02020603050405020304" pitchFamily="18" charset="0"/>
                          <a:ea typeface="宋体" panose="02010600030101010101" pitchFamily="2" charset="-122"/>
                        </a:rPr>
                        <a:t>id</a:t>
                      </a:r>
                      <a:r>
                        <a:rPr lang="zh-CN" sz="1400" kern="100" dirty="0">
                          <a:solidFill>
                            <a:schemeClr val="tx1"/>
                          </a:solidFill>
                          <a:effectLst/>
                          <a:latin typeface="Times New Roman" panose="02020603050405020304" pitchFamily="18" charset="0"/>
                          <a:ea typeface="宋体" panose="02010600030101010101" pitchFamily="2" charset="-122"/>
                        </a:rPr>
                        <a:t>对应的变量插入符号表</a:t>
                      </a:r>
                      <a:endParaRPr lang="zh-CN" sz="2000" kern="100" dirty="0">
                        <a:solidFill>
                          <a:schemeClr val="tx1"/>
                        </a:solidFill>
                        <a:effectLst/>
                        <a:latin typeface="Times New Roman" panose="02020603050405020304" pitchFamily="18" charset="0"/>
                        <a:ea typeface="宋体" panose="02010600030101010101" pitchFamily="2" charset="-122"/>
                      </a:endParaRPr>
                    </a:p>
                    <a:p>
                      <a:pPr algn="just"/>
                      <a:r>
                        <a:rPr lang="en-US" sz="1600" kern="100" dirty="0">
                          <a:solidFill>
                            <a:schemeClr val="tx1"/>
                          </a:solidFill>
                          <a:effectLst/>
                          <a:latin typeface="Times New Roman" panose="02020603050405020304" pitchFamily="18" charset="0"/>
                          <a:ea typeface="宋体" panose="02010600030101010101" pitchFamily="2" charset="-122"/>
                        </a:rPr>
                        <a:t>    entry(id) .type = &lt;</a:t>
                      </a:r>
                      <a:r>
                        <a:rPr lang="en-US" sz="1600" kern="100" dirty="0" err="1">
                          <a:solidFill>
                            <a:schemeClr val="tx1"/>
                          </a:solidFill>
                          <a:effectLst/>
                          <a:latin typeface="Times New Roman" panose="02020603050405020304" pitchFamily="18" charset="0"/>
                          <a:ea typeface="宋体" panose="02010600030101010101" pitchFamily="2" charset="-122"/>
                        </a:rPr>
                        <a:t>SVarD</a:t>
                      </a:r>
                      <a:r>
                        <a:rPr lang="en-US" sz="1600" kern="100" dirty="0">
                          <a:solidFill>
                            <a:schemeClr val="tx1"/>
                          </a:solidFill>
                          <a:effectLst/>
                          <a:latin typeface="Times New Roman" panose="02020603050405020304" pitchFamily="18" charset="0"/>
                          <a:ea typeface="宋体" panose="02010600030101010101" pitchFamily="2" charset="-122"/>
                        </a:rPr>
                        <a:t>&gt;.in</a:t>
                      </a:r>
                      <a:endParaRPr lang="zh-CN" sz="2000" kern="100" dirty="0">
                        <a:solidFill>
                          <a:schemeClr val="tx1"/>
                        </a:solidFill>
                        <a:effectLst/>
                        <a:latin typeface="Times New Roman" panose="02020603050405020304" pitchFamily="18" charset="0"/>
                        <a:ea typeface="宋体" panose="02010600030101010101" pitchFamily="2" charset="-122"/>
                      </a:endParaRPr>
                    </a:p>
                    <a:p>
                      <a:pPr algn="just"/>
                      <a:r>
                        <a:rPr lang="en-US" sz="1600" kern="100" dirty="0">
                          <a:solidFill>
                            <a:schemeClr val="tx1"/>
                          </a:solidFill>
                          <a:effectLst/>
                          <a:latin typeface="Times New Roman" panose="02020603050405020304" pitchFamily="18" charset="0"/>
                          <a:ea typeface="宋体" panose="02010600030101010101" pitchFamily="2" charset="-122"/>
                        </a:rPr>
                        <a:t>    entry(id).</a:t>
                      </a:r>
                      <a:r>
                        <a:rPr lang="en-US" sz="1600" kern="100" dirty="0" err="1">
                          <a:solidFill>
                            <a:schemeClr val="tx1"/>
                          </a:solidFill>
                          <a:effectLst/>
                          <a:latin typeface="Times New Roman" panose="02020603050405020304" pitchFamily="18" charset="0"/>
                          <a:ea typeface="宋体" panose="02010600030101010101" pitchFamily="2" charset="-122"/>
                        </a:rPr>
                        <a:t>val</a:t>
                      </a:r>
                      <a:r>
                        <a:rPr lang="en-US" sz="1600" kern="100" dirty="0">
                          <a:solidFill>
                            <a:schemeClr val="tx1"/>
                          </a:solidFill>
                          <a:effectLst/>
                          <a:latin typeface="Times New Roman" panose="02020603050405020304" pitchFamily="18" charset="0"/>
                          <a:ea typeface="宋体" panose="02010600030101010101" pitchFamily="2" charset="-122"/>
                        </a:rPr>
                        <a:t> = &lt;Expr&gt;.PLACE          }</a:t>
                      </a:r>
                      <a:endParaRPr lang="zh-CN" sz="20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758686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6200736" cy="1446550"/>
          </a:xfrm>
          <a:prstGeom prst="rect">
            <a:avLst/>
          </a:prstGeom>
        </p:spPr>
        <p:txBody>
          <a:bodyPr wrap="non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、类型声明的语义处理</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函数声明</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0338552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0" y="1"/>
            <a:ext cx="8229600" cy="483518"/>
          </a:xfrm>
        </p:spPr>
        <p:txBody>
          <a:bodyPr>
            <a:normAutofit fontScale="90000"/>
          </a:bodyPr>
          <a:lstStyle/>
          <a:p>
            <a:r>
              <a:rPr lang="en-US" altLang="zh-CN" dirty="0"/>
              <a:t>3</a:t>
            </a:r>
            <a:r>
              <a:rPr lang="zh-CN" altLang="zh-CN" b="1" dirty="0"/>
              <a:t>．</a:t>
            </a:r>
            <a:r>
              <a:rPr lang="zh-CN" altLang="zh-CN" dirty="0"/>
              <a:t>函数声明</a:t>
            </a:r>
            <a:endParaRPr lang="zh-CN" altLang="en-US" dirty="0"/>
          </a:p>
        </p:txBody>
      </p:sp>
      <p:sp>
        <p:nvSpPr>
          <p:cNvPr id="4" name="内容占位符 2"/>
          <p:cNvSpPr txBox="1">
            <a:spLocks/>
          </p:cNvSpPr>
          <p:nvPr/>
        </p:nvSpPr>
        <p:spPr bwMode="auto">
          <a:xfrm>
            <a:off x="323850" y="1203598"/>
            <a:ext cx="6840438" cy="1728192"/>
          </a:xfrm>
          <a:prstGeom prst="rect">
            <a:avLst/>
          </a:prstGeom>
          <a:ln/>
        </p:spPr>
        <p:style>
          <a:lnRef idx="2">
            <a:schemeClr val="accent1"/>
          </a:lnRef>
          <a:fillRef idx="1">
            <a:schemeClr val="lt1"/>
          </a:fillRef>
          <a:effectRef idx="0">
            <a:schemeClr val="accent1"/>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nSpc>
                <a:spcPct val="100000"/>
              </a:lnSpc>
              <a:buFontTx/>
              <a:buNone/>
              <a:defRPr/>
            </a:pPr>
            <a:r>
              <a:rPr lang="zh-CN" altLang="en-US"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1</a:t>
            </a:r>
            <a:r>
              <a:rPr lang="zh-CN" altLang="en-US" sz="1800" kern="0" dirty="0">
                <a:latin typeface="宋体" panose="02010600030101010101" pitchFamily="2" charset="-122"/>
                <a:ea typeface="宋体" panose="02010600030101010101" pitchFamily="2" charset="-122"/>
              </a:rPr>
              <a:t>） </a:t>
            </a:r>
            <a:r>
              <a:rPr lang="en-US" altLang="zh-CN" sz="1800" kern="0" dirty="0">
                <a:latin typeface="宋体" panose="02010600030101010101" pitchFamily="2" charset="-122"/>
                <a:ea typeface="宋体" panose="02010600030101010101" pitchFamily="2" charset="-122"/>
              </a:rPr>
              <a:t>&lt;</a:t>
            </a:r>
            <a:r>
              <a:rPr lang="zh-CN" altLang="en-US" sz="1800" kern="0" dirty="0">
                <a:latin typeface="宋体" panose="02010600030101010101" pitchFamily="2" charset="-122"/>
                <a:ea typeface="宋体" panose="02010600030101010101" pitchFamily="2" charset="-122"/>
              </a:rPr>
              <a:t>函数声明</a:t>
            </a:r>
            <a:r>
              <a:rPr lang="en-US" altLang="zh-CN" sz="1800" kern="0" dirty="0">
                <a:latin typeface="宋体" panose="02010600030101010101" pitchFamily="2" charset="-122"/>
                <a:ea typeface="宋体" panose="02010600030101010101" pitchFamily="2" charset="-122"/>
              </a:rPr>
              <a:t>&gt;→&lt;</a:t>
            </a:r>
            <a:r>
              <a:rPr lang="zh-CN" altLang="en-US" sz="1800" kern="0" dirty="0">
                <a:latin typeface="宋体" panose="02010600030101010101" pitchFamily="2" charset="-122"/>
                <a:ea typeface="宋体" panose="02010600030101010101" pitchFamily="2" charset="-122"/>
              </a:rPr>
              <a:t>函数类型</a:t>
            </a:r>
            <a:r>
              <a:rPr lang="en-US" altLang="zh-CN" sz="1800" kern="0" dirty="0">
                <a:latin typeface="宋体" panose="02010600030101010101" pitchFamily="2" charset="-122"/>
                <a:ea typeface="宋体" panose="02010600030101010101" pitchFamily="2" charset="-122"/>
              </a:rPr>
              <a:t>&gt; &lt;</a:t>
            </a:r>
            <a:r>
              <a:rPr lang="zh-CN" altLang="en-US" sz="1800" kern="0" dirty="0">
                <a:latin typeface="宋体" panose="02010600030101010101" pitchFamily="2" charset="-122"/>
                <a:ea typeface="宋体" panose="02010600030101010101" pitchFamily="2" charset="-122"/>
              </a:rPr>
              <a:t>函数名</a:t>
            </a:r>
            <a:r>
              <a:rPr lang="en-US" altLang="zh-CN" sz="1800" kern="0" dirty="0">
                <a:latin typeface="宋体" panose="02010600030101010101" pitchFamily="2" charset="-122"/>
                <a:ea typeface="宋体" panose="02010600030101010101" pitchFamily="2" charset="-122"/>
              </a:rPr>
              <a:t>&gt;(&lt;</a:t>
            </a:r>
            <a:r>
              <a:rPr lang="zh-CN" altLang="en-US" sz="1800" kern="0" dirty="0">
                <a:latin typeface="宋体" panose="02010600030101010101" pitchFamily="2" charset="-122"/>
                <a:ea typeface="宋体" panose="02010600030101010101" pitchFamily="2" charset="-122"/>
              </a:rPr>
              <a:t>函数声明形参列表</a:t>
            </a:r>
            <a:r>
              <a:rPr lang="en-US" altLang="zh-CN" sz="1800" kern="0" dirty="0">
                <a:latin typeface="宋体" panose="02010600030101010101" pitchFamily="2" charset="-122"/>
                <a:ea typeface="宋体" panose="02010600030101010101" pitchFamily="2" charset="-122"/>
              </a:rPr>
              <a:t>&gt;);</a:t>
            </a:r>
          </a:p>
          <a:p>
            <a:pPr marL="0" indent="0">
              <a:lnSpc>
                <a:spcPct val="100000"/>
              </a:lnSpc>
              <a:buFontTx/>
              <a:buNone/>
              <a:defRPr/>
            </a:pPr>
            <a:r>
              <a:rPr lang="zh-CN" altLang="en-US"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2</a:t>
            </a:r>
            <a:r>
              <a:rPr lang="zh-CN" altLang="en-US" sz="1800" kern="0" dirty="0">
                <a:latin typeface="宋体" panose="02010600030101010101" pitchFamily="2" charset="-122"/>
                <a:ea typeface="宋体" panose="02010600030101010101" pitchFamily="2" charset="-122"/>
              </a:rPr>
              <a:t>） </a:t>
            </a:r>
            <a:r>
              <a:rPr lang="en-US" altLang="zh-CN" sz="1800" kern="0" dirty="0">
                <a:latin typeface="宋体" panose="02010600030101010101" pitchFamily="2" charset="-122"/>
                <a:ea typeface="宋体" panose="02010600030101010101" pitchFamily="2" charset="-122"/>
              </a:rPr>
              <a:t>&lt;</a:t>
            </a:r>
            <a:r>
              <a:rPr lang="zh-CN" altLang="en-US" sz="1800" kern="0" dirty="0">
                <a:latin typeface="宋体" panose="02010600030101010101" pitchFamily="2" charset="-122"/>
                <a:ea typeface="宋体" panose="02010600030101010101" pitchFamily="2" charset="-122"/>
              </a:rPr>
              <a:t>函数类型</a:t>
            </a:r>
            <a:r>
              <a:rPr lang="en-US" altLang="zh-CN" sz="1800" kern="0" dirty="0">
                <a:latin typeface="宋体" panose="02010600030101010101" pitchFamily="2" charset="-122"/>
                <a:ea typeface="宋体" panose="02010600030101010101" pitchFamily="2" charset="-122"/>
              </a:rPr>
              <a:t>&gt;→</a:t>
            </a:r>
            <a:r>
              <a:rPr lang="en-US" altLang="zh-CN" sz="1800" kern="0" dirty="0" err="1">
                <a:latin typeface="宋体" panose="02010600030101010101" pitchFamily="2" charset="-122"/>
                <a:ea typeface="宋体" panose="02010600030101010101" pitchFamily="2" charset="-122"/>
              </a:rPr>
              <a:t>int|char|float|void</a:t>
            </a:r>
            <a:r>
              <a:rPr lang="en-US" altLang="zh-CN" sz="1800" kern="0" dirty="0">
                <a:latin typeface="宋体" panose="02010600030101010101" pitchFamily="2" charset="-122"/>
                <a:ea typeface="宋体" panose="02010600030101010101" pitchFamily="2" charset="-122"/>
              </a:rPr>
              <a:t> </a:t>
            </a:r>
          </a:p>
          <a:p>
            <a:pPr marL="0" indent="0">
              <a:lnSpc>
                <a:spcPct val="100000"/>
              </a:lnSpc>
              <a:buFontTx/>
              <a:buNone/>
              <a:defRPr/>
            </a:pPr>
            <a:r>
              <a:rPr lang="zh-CN" altLang="en-US"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3</a:t>
            </a:r>
            <a:r>
              <a:rPr lang="zh-CN" altLang="en-US" sz="1800" kern="0" dirty="0">
                <a:latin typeface="宋体" panose="02010600030101010101" pitchFamily="2" charset="-122"/>
                <a:ea typeface="宋体" panose="02010600030101010101" pitchFamily="2" charset="-122"/>
              </a:rPr>
              <a:t>） </a:t>
            </a:r>
            <a:r>
              <a:rPr lang="en-US" altLang="zh-CN" sz="1800" kern="0" dirty="0">
                <a:latin typeface="宋体" panose="02010600030101010101" pitchFamily="2" charset="-122"/>
                <a:ea typeface="宋体" panose="02010600030101010101" pitchFamily="2" charset="-122"/>
              </a:rPr>
              <a:t>&lt;</a:t>
            </a:r>
            <a:r>
              <a:rPr lang="zh-CN" altLang="en-US" sz="1800" kern="0" dirty="0">
                <a:latin typeface="宋体" panose="02010600030101010101" pitchFamily="2" charset="-122"/>
                <a:ea typeface="宋体" panose="02010600030101010101" pitchFamily="2" charset="-122"/>
              </a:rPr>
              <a:t>函数声明形参列表</a:t>
            </a:r>
            <a:r>
              <a:rPr lang="en-US" altLang="zh-CN" sz="1800" kern="0" dirty="0">
                <a:latin typeface="宋体" panose="02010600030101010101" pitchFamily="2" charset="-122"/>
                <a:ea typeface="宋体" panose="02010600030101010101" pitchFamily="2" charset="-122"/>
              </a:rPr>
              <a:t>&gt;→&lt;</a:t>
            </a:r>
            <a:r>
              <a:rPr lang="zh-CN" altLang="en-US" sz="1800" kern="0" dirty="0">
                <a:latin typeface="宋体" panose="02010600030101010101" pitchFamily="2" charset="-122"/>
                <a:ea typeface="宋体" panose="02010600030101010101" pitchFamily="2" charset="-122"/>
              </a:rPr>
              <a:t>函数声明形参</a:t>
            </a:r>
            <a:r>
              <a:rPr lang="en-US" altLang="zh-CN" sz="1800" kern="0" dirty="0">
                <a:latin typeface="宋体" panose="02010600030101010101" pitchFamily="2" charset="-122"/>
                <a:ea typeface="宋体" panose="02010600030101010101" pitchFamily="2" charset="-122"/>
              </a:rPr>
              <a:t>&gt; |  </a:t>
            </a:r>
          </a:p>
          <a:p>
            <a:pPr marL="0" indent="0">
              <a:lnSpc>
                <a:spcPct val="100000"/>
              </a:lnSpc>
              <a:buFontTx/>
              <a:buNone/>
              <a:defRPr/>
            </a:pPr>
            <a:r>
              <a:rPr lang="zh-CN" altLang="en-US"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4</a:t>
            </a:r>
            <a:r>
              <a:rPr lang="zh-CN" altLang="en-US" sz="1800" kern="0" dirty="0">
                <a:latin typeface="宋体" panose="02010600030101010101" pitchFamily="2" charset="-122"/>
                <a:ea typeface="宋体" panose="02010600030101010101" pitchFamily="2" charset="-122"/>
              </a:rPr>
              <a:t>） </a:t>
            </a:r>
            <a:r>
              <a:rPr lang="en-US" altLang="zh-CN" sz="1800" kern="0" dirty="0">
                <a:latin typeface="宋体" panose="02010600030101010101" pitchFamily="2" charset="-122"/>
                <a:ea typeface="宋体" panose="02010600030101010101" pitchFamily="2" charset="-122"/>
              </a:rPr>
              <a:t>&lt;</a:t>
            </a:r>
            <a:r>
              <a:rPr lang="zh-CN" altLang="en-US" sz="1800" kern="0" dirty="0">
                <a:latin typeface="宋体" panose="02010600030101010101" pitchFamily="2" charset="-122"/>
                <a:ea typeface="宋体" panose="02010600030101010101" pitchFamily="2" charset="-122"/>
              </a:rPr>
              <a:t>函数声明形参</a:t>
            </a:r>
            <a:r>
              <a:rPr lang="en-US" altLang="zh-CN" sz="1800" kern="0" dirty="0">
                <a:latin typeface="宋体" panose="02010600030101010101" pitchFamily="2" charset="-122"/>
                <a:ea typeface="宋体" panose="02010600030101010101" pitchFamily="2" charset="-122"/>
              </a:rPr>
              <a:t>&gt;→&lt;</a:t>
            </a:r>
            <a:r>
              <a:rPr lang="zh-CN" altLang="en-US" sz="1800" kern="0" dirty="0">
                <a:latin typeface="宋体" panose="02010600030101010101" pitchFamily="2" charset="-122"/>
                <a:ea typeface="宋体" panose="02010600030101010101" pitchFamily="2" charset="-122"/>
              </a:rPr>
              <a:t>数据类型</a:t>
            </a:r>
            <a:r>
              <a:rPr lang="en-US" altLang="zh-CN" sz="1800" kern="0" dirty="0">
                <a:latin typeface="宋体" panose="02010600030101010101" pitchFamily="2" charset="-122"/>
                <a:ea typeface="宋体" panose="02010600030101010101" pitchFamily="2" charset="-122"/>
              </a:rPr>
              <a:t>&gt;|&lt;</a:t>
            </a:r>
            <a:r>
              <a:rPr lang="zh-CN" altLang="en-US" sz="1800" kern="0" dirty="0">
                <a:latin typeface="宋体" panose="02010600030101010101" pitchFamily="2" charset="-122"/>
                <a:ea typeface="宋体" panose="02010600030101010101" pitchFamily="2" charset="-122"/>
              </a:rPr>
              <a:t>数据类型</a:t>
            </a:r>
            <a:r>
              <a:rPr lang="en-US" altLang="zh-CN" sz="1800" kern="0" dirty="0">
                <a:latin typeface="宋体" panose="02010600030101010101" pitchFamily="2" charset="-122"/>
                <a:ea typeface="宋体" panose="02010600030101010101" pitchFamily="2" charset="-122"/>
              </a:rPr>
              <a:t>&gt;,&lt;</a:t>
            </a:r>
            <a:r>
              <a:rPr lang="zh-CN" altLang="en-US" sz="1800" kern="0" dirty="0">
                <a:latin typeface="宋体" panose="02010600030101010101" pitchFamily="2" charset="-122"/>
                <a:ea typeface="宋体" panose="02010600030101010101" pitchFamily="2" charset="-122"/>
              </a:rPr>
              <a:t>函数声明形参</a:t>
            </a:r>
            <a:r>
              <a:rPr lang="en-US" altLang="zh-CN" sz="1800" kern="0" dirty="0">
                <a:latin typeface="宋体" panose="02010600030101010101" pitchFamily="2" charset="-122"/>
                <a:ea typeface="宋体" panose="02010600030101010101" pitchFamily="2" charset="-122"/>
              </a:rPr>
              <a:t>&gt; </a:t>
            </a:r>
          </a:p>
          <a:p>
            <a:pPr marL="0" indent="0">
              <a:lnSpc>
                <a:spcPct val="100000"/>
              </a:lnSpc>
              <a:buFontTx/>
              <a:buNone/>
              <a:defRPr/>
            </a:pPr>
            <a:r>
              <a:rPr lang="zh-CN" altLang="en-US"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5</a:t>
            </a:r>
            <a:r>
              <a:rPr lang="zh-CN" altLang="en-US" sz="1800" kern="0" dirty="0">
                <a:latin typeface="宋体" panose="02010600030101010101" pitchFamily="2" charset="-122"/>
                <a:ea typeface="宋体" panose="02010600030101010101" pitchFamily="2" charset="-122"/>
              </a:rPr>
              <a:t>） </a:t>
            </a:r>
            <a:r>
              <a:rPr lang="en-US" altLang="zh-CN" sz="1800" kern="0" dirty="0">
                <a:latin typeface="宋体" panose="02010600030101010101" pitchFamily="2" charset="-122"/>
                <a:ea typeface="宋体" panose="02010600030101010101" pitchFamily="2" charset="-122"/>
              </a:rPr>
              <a:t>&lt;</a:t>
            </a:r>
            <a:r>
              <a:rPr lang="zh-CN" altLang="en-US" sz="1800" kern="0" dirty="0">
                <a:latin typeface="宋体" panose="02010600030101010101" pitchFamily="2" charset="-122"/>
                <a:ea typeface="宋体" panose="02010600030101010101" pitchFamily="2" charset="-122"/>
              </a:rPr>
              <a:t>数据类型</a:t>
            </a:r>
            <a:r>
              <a:rPr lang="en-US" altLang="zh-CN" sz="1800" kern="0" dirty="0">
                <a:latin typeface="宋体" panose="02010600030101010101" pitchFamily="2" charset="-122"/>
                <a:ea typeface="宋体" panose="02010600030101010101" pitchFamily="2" charset="-122"/>
              </a:rPr>
              <a:t>&gt;→</a:t>
            </a:r>
            <a:r>
              <a:rPr lang="en-US" altLang="zh-CN" sz="1800" kern="0" dirty="0" err="1">
                <a:latin typeface="宋体" panose="02010600030101010101" pitchFamily="2" charset="-122"/>
                <a:ea typeface="宋体" panose="02010600030101010101" pitchFamily="2" charset="-122"/>
              </a:rPr>
              <a:t>int|char|float</a:t>
            </a:r>
            <a:endParaRPr lang="zh-CN" altLang="en-US" sz="1800" kern="0" dirty="0">
              <a:latin typeface="宋体" panose="02010600030101010101" pitchFamily="2" charset="-122"/>
              <a:ea typeface="宋体" panose="02010600030101010101" pitchFamily="2" charset="-122"/>
            </a:endParaRPr>
          </a:p>
        </p:txBody>
      </p:sp>
      <p:sp>
        <p:nvSpPr>
          <p:cNvPr id="12" name="矩形 11"/>
          <p:cNvSpPr/>
          <p:nvPr/>
        </p:nvSpPr>
        <p:spPr>
          <a:xfrm>
            <a:off x="457200" y="4785122"/>
            <a:ext cx="8002588" cy="369332"/>
          </a:xfrm>
          <a:prstGeom prst="rect">
            <a:avLst/>
          </a:prstGeom>
          <a:solidFill>
            <a:schemeClr val="bg1"/>
          </a:solidFill>
        </p:spPr>
        <p:txBody>
          <a:bodyPr>
            <a:spAutoFit/>
          </a:bodyPr>
          <a:lstStyle/>
          <a:p>
            <a:pPr>
              <a:buFontTx/>
              <a:buNone/>
              <a:defRPr/>
            </a:pPr>
            <a:r>
              <a:rPr lang="zh-CN" altLang="zh-CN" kern="100" dirty="0">
                <a:latin typeface="Times New Roman" panose="02020603050405020304" pitchFamily="18" charset="0"/>
                <a:cs typeface="Times New Roman" panose="02020603050405020304" pitchFamily="18" charset="0"/>
              </a:rPr>
              <a:t>在处理该函数声明时，需要将函数</a:t>
            </a:r>
            <a:r>
              <a:rPr lang="zh-CN" altLang="en-US" kern="100" dirty="0">
                <a:latin typeface="Times New Roman" panose="02020603050405020304" pitchFamily="18" charset="0"/>
                <a:cs typeface="Times New Roman" panose="02020603050405020304" pitchFamily="18" charset="0"/>
              </a:rPr>
              <a:t>声明相关信息</a:t>
            </a:r>
            <a:r>
              <a:rPr lang="zh-CN" altLang="zh-CN" kern="100" dirty="0">
                <a:latin typeface="Times New Roman" panose="02020603050405020304" pitchFamily="18" charset="0"/>
                <a:cs typeface="Times New Roman" panose="02020603050405020304" pitchFamily="18" charset="0"/>
              </a:rPr>
              <a:t>添加到符号表中</a:t>
            </a:r>
            <a:endParaRPr lang="zh-CN" altLang="en-US" dirty="0">
              <a:latin typeface="Arial" pitchFamily="34" charset="0"/>
            </a:endParaRPr>
          </a:p>
        </p:txBody>
      </p:sp>
      <p:sp>
        <p:nvSpPr>
          <p:cNvPr id="75786" name="矩形 1"/>
          <p:cNvSpPr>
            <a:spLocks noChangeArrowheads="1"/>
          </p:cNvSpPr>
          <p:nvPr/>
        </p:nvSpPr>
        <p:spPr bwMode="auto">
          <a:xfrm>
            <a:off x="276918" y="483518"/>
            <a:ext cx="508717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buFontTx/>
              <a:buNone/>
            </a:pPr>
            <a:r>
              <a:rPr lang="zh-CN" altLang="zh-CN" sz="2000" dirty="0">
                <a:latin typeface="宋体" panose="02010600030101010101" pitchFamily="2" charset="-122"/>
              </a:rPr>
              <a:t>函数</a:t>
            </a:r>
            <a:r>
              <a:rPr lang="zh-CN" altLang="en-US" sz="2000" dirty="0">
                <a:latin typeface="宋体" panose="02010600030101010101" pitchFamily="2" charset="-122"/>
              </a:rPr>
              <a:t>遵循先声明，后定义，再使用的原则。函数声明放</a:t>
            </a:r>
            <a:r>
              <a:rPr lang="zh-CN" altLang="zh-CN" sz="2000" dirty="0">
                <a:latin typeface="宋体" panose="02010600030101010101" pitchFamily="2" charset="-122"/>
              </a:rPr>
              <a:t>在</a:t>
            </a:r>
            <a:r>
              <a:rPr lang="en-US" altLang="zh-CN" sz="2000" dirty="0">
                <a:latin typeface="宋体" panose="02010600030101010101" pitchFamily="2" charset="-122"/>
              </a:rPr>
              <a:t>main</a:t>
            </a:r>
            <a:r>
              <a:rPr lang="zh-CN" altLang="zh-CN" sz="2000" dirty="0">
                <a:latin typeface="宋体" panose="02010600030101010101" pitchFamily="2" charset="-122"/>
              </a:rPr>
              <a:t>函数之前。</a:t>
            </a:r>
            <a:endParaRPr lang="en-US" altLang="zh-CN" sz="2000" dirty="0">
              <a:latin typeface="宋体" panose="02010600030101010101" pitchFamily="2" charset="-122"/>
            </a:endParaRPr>
          </a:p>
        </p:txBody>
      </p:sp>
      <p:sp>
        <p:nvSpPr>
          <p:cNvPr id="2" name="矩形 1"/>
          <p:cNvSpPr/>
          <p:nvPr/>
        </p:nvSpPr>
        <p:spPr>
          <a:xfrm>
            <a:off x="5775158" y="123478"/>
            <a:ext cx="3549370" cy="461665"/>
          </a:xfrm>
          <a:prstGeom prst="rect">
            <a:avLst/>
          </a:prstGeom>
        </p:spPr>
        <p:txBody>
          <a:bodyPr wrap="none">
            <a:spAutoFit/>
          </a:bodyPr>
          <a:lstStyle/>
          <a:p>
            <a:r>
              <a:rPr lang="en-US" altLang="zh-CN" sz="2400" dirty="0" err="1">
                <a:solidFill>
                  <a:srgbClr val="FF0000"/>
                </a:solidFill>
              </a:rPr>
              <a:t>int</a:t>
            </a:r>
            <a:r>
              <a:rPr lang="en-US" altLang="zh-CN" sz="2400" dirty="0">
                <a:solidFill>
                  <a:srgbClr val="FF0000"/>
                </a:solidFill>
              </a:rPr>
              <a:t> sum(</a:t>
            </a:r>
            <a:r>
              <a:rPr lang="en-US" altLang="zh-CN" sz="2400" dirty="0" err="1">
                <a:solidFill>
                  <a:srgbClr val="FF0000"/>
                </a:solidFill>
              </a:rPr>
              <a:t>int,int,char</a:t>
            </a:r>
            <a:r>
              <a:rPr lang="en-US" altLang="zh-CN" sz="2400" dirty="0">
                <a:solidFill>
                  <a:srgbClr val="FF0000"/>
                </a:solidFill>
              </a:rPr>
              <a:t>) </a:t>
            </a:r>
            <a:r>
              <a:rPr lang="zh-CN" altLang="zh-CN" sz="2400" dirty="0">
                <a:solidFill>
                  <a:srgbClr val="FF0000"/>
                </a:solidFill>
              </a:rPr>
              <a:t>；</a:t>
            </a:r>
            <a:endParaRPr lang="zh-CN" altLang="en-US" sz="2400" dirty="0">
              <a:solidFill>
                <a:srgbClr val="FF0000"/>
              </a:solidFill>
            </a:endParaRPr>
          </a:p>
        </p:txBody>
      </p:sp>
      <p:sp>
        <p:nvSpPr>
          <p:cNvPr id="5" name="文本框 4">
            <a:extLst>
              <a:ext uri="{FF2B5EF4-FFF2-40B4-BE49-F238E27FC236}">
                <a16:creationId xmlns:a16="http://schemas.microsoft.com/office/drawing/2014/main" id="{FFEB2DBA-0AA0-F22E-8ED8-C6F875D08981}"/>
              </a:ext>
            </a:extLst>
          </p:cNvPr>
          <p:cNvSpPr txBox="1"/>
          <p:nvPr/>
        </p:nvSpPr>
        <p:spPr>
          <a:xfrm>
            <a:off x="1475656" y="3016613"/>
            <a:ext cx="5688632"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rPr>
              <a:t>（</a:t>
            </a:r>
            <a:r>
              <a:rPr lang="it-IT"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 </a:t>
            </a:r>
            <a:r>
              <a:rPr lang="it-IT" altLang="zh-CN" sz="1800" kern="100" dirty="0">
                <a:effectLst/>
                <a:latin typeface="Times New Roman" panose="02020603050405020304" pitchFamily="18" charset="0"/>
                <a:ea typeface="宋体" panose="02010600030101010101" pitchFamily="2" charset="-122"/>
              </a:rPr>
              <a:t>&lt;</a:t>
            </a:r>
            <a:r>
              <a:rPr lang="en-US" altLang="zh-CN" sz="1800" kern="100" dirty="0" err="1">
                <a:effectLst/>
                <a:latin typeface="Times New Roman" panose="02020603050405020304" pitchFamily="18" charset="0"/>
                <a:ea typeface="宋体" panose="02010600030101010101" pitchFamily="2" charset="-122"/>
              </a:rPr>
              <a:t>FuncDCL</a:t>
            </a:r>
            <a:r>
              <a:rPr lang="en-US" altLang="zh-CN" sz="1800" kern="100" dirty="0">
                <a:effectLst/>
                <a:latin typeface="Times New Roman" panose="02020603050405020304" pitchFamily="18" charset="0"/>
                <a:ea typeface="宋体" panose="02010600030101010101" pitchFamily="2" charset="-122"/>
              </a:rPr>
              <a:t>&gt;→&lt;</a:t>
            </a:r>
            <a:r>
              <a:rPr lang="en-US" altLang="zh-CN" sz="1800" kern="100" dirty="0" err="1">
                <a:effectLst/>
                <a:latin typeface="Times New Roman" panose="02020603050405020304" pitchFamily="18" charset="0"/>
                <a:ea typeface="宋体" panose="02010600030101010101" pitchFamily="2" charset="-122"/>
              </a:rPr>
              <a:t>FuncType</a:t>
            </a:r>
            <a:r>
              <a:rPr lang="en-US" altLang="zh-CN" sz="1800" kern="100" dirty="0">
                <a:effectLst/>
                <a:latin typeface="Times New Roman" panose="02020603050405020304" pitchFamily="18" charset="0"/>
                <a:ea typeface="宋体" panose="02010600030101010101" pitchFamily="2" charset="-122"/>
              </a:rPr>
              <a:t>&gt; id (&lt;</a:t>
            </a:r>
            <a:r>
              <a:rPr lang="en-US" altLang="zh-CN" sz="1800" kern="100" dirty="0" err="1">
                <a:effectLst/>
                <a:latin typeface="Times New Roman" panose="02020603050405020304" pitchFamily="18" charset="0"/>
                <a:ea typeface="宋体" panose="02010600030101010101" pitchFamily="2" charset="-122"/>
              </a:rPr>
              <a:t>FuncDParaList</a:t>
            </a:r>
            <a:r>
              <a:rPr lang="en-US" altLang="zh-CN" sz="1800" kern="100" dirty="0">
                <a:effectLst/>
                <a:latin typeface="Times New Roman" panose="02020603050405020304" pitchFamily="18" charset="0"/>
                <a:ea typeface="宋体" panose="02010600030101010101" pitchFamily="2" charset="-122"/>
              </a:rPr>
              <a:t>&gt;);</a:t>
            </a:r>
            <a:endParaRPr lang="zh-CN" altLang="zh-CN" sz="1800" kern="100" dirty="0">
              <a:effectLst/>
              <a:latin typeface="Times New Roman" panose="02020603050405020304" pitchFamily="18" charset="0"/>
              <a:ea typeface="宋体" panose="02010600030101010101" pitchFamily="2" charset="-122"/>
            </a:endParaRPr>
          </a:p>
          <a:p>
            <a:pPr algn="just"/>
            <a:r>
              <a:rPr lang="zh-CN" altLang="zh-CN" sz="1800" kern="100" dirty="0">
                <a:effectLst/>
                <a:latin typeface="Times New Roman" panose="02020603050405020304" pitchFamily="18" charset="0"/>
                <a:ea typeface="宋体" panose="02010600030101010101" pitchFamily="2" charset="-122"/>
              </a:rPr>
              <a:t>（</a:t>
            </a:r>
            <a:r>
              <a:rPr lang="it-IT" altLang="zh-CN" sz="1800" kern="1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 </a:t>
            </a:r>
            <a:r>
              <a:rPr lang="it-IT" altLang="zh-CN" sz="1800" kern="100" dirty="0">
                <a:effectLst/>
                <a:latin typeface="Times New Roman" panose="02020603050405020304" pitchFamily="18" charset="0"/>
                <a:ea typeface="宋体" panose="02010600030101010101" pitchFamily="2" charset="-122"/>
              </a:rPr>
              <a:t>&lt;</a:t>
            </a:r>
            <a:r>
              <a:rPr lang="en-US" altLang="zh-CN" sz="1800" kern="100" dirty="0" err="1">
                <a:effectLst/>
                <a:latin typeface="Times New Roman" panose="02020603050405020304" pitchFamily="18" charset="0"/>
                <a:ea typeface="宋体" panose="02010600030101010101" pitchFamily="2" charset="-122"/>
              </a:rPr>
              <a:t>FuncType</a:t>
            </a:r>
            <a:r>
              <a:rPr lang="it-IT" altLang="zh-CN" sz="1800" kern="100" dirty="0">
                <a:effectLst/>
                <a:latin typeface="Times New Roman" panose="02020603050405020304" pitchFamily="18" charset="0"/>
                <a:ea typeface="宋体" panose="02010600030101010101" pitchFamily="2" charset="-122"/>
              </a:rPr>
              <a:t>&gt;→int|char|float|void</a:t>
            </a:r>
            <a:endParaRPr lang="zh-CN" altLang="zh-CN" sz="1800" kern="100" dirty="0">
              <a:effectLst/>
              <a:latin typeface="Times New Roman" panose="02020603050405020304" pitchFamily="18" charset="0"/>
              <a:ea typeface="宋体" panose="02010600030101010101" pitchFamily="2" charset="-122"/>
            </a:endParaRPr>
          </a:p>
          <a:p>
            <a:pPr algn="just"/>
            <a:r>
              <a:rPr lang="zh-CN" altLang="zh-CN" sz="1800" kern="100" dirty="0">
                <a:effectLst/>
                <a:latin typeface="Times New Roman" panose="02020603050405020304" pitchFamily="18" charset="0"/>
                <a:ea typeface="宋体" panose="02010600030101010101" pitchFamily="2" charset="-122"/>
              </a:rPr>
              <a:t>（</a:t>
            </a:r>
            <a:r>
              <a:rPr lang="it-IT"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 </a:t>
            </a:r>
            <a:r>
              <a:rPr lang="it-IT" altLang="zh-CN" sz="1800" kern="100" dirty="0">
                <a:effectLst/>
                <a:latin typeface="Times New Roman" panose="02020603050405020304" pitchFamily="18" charset="0"/>
                <a:ea typeface="宋体" panose="02010600030101010101" pitchFamily="2" charset="-122"/>
              </a:rPr>
              <a:t>&lt;</a:t>
            </a:r>
            <a:r>
              <a:rPr lang="en-US" altLang="zh-CN" sz="1800" kern="100" dirty="0" err="1">
                <a:effectLst/>
                <a:latin typeface="Times New Roman" panose="02020603050405020304" pitchFamily="18" charset="0"/>
                <a:ea typeface="宋体" panose="02010600030101010101" pitchFamily="2" charset="-122"/>
              </a:rPr>
              <a:t>FuncDParaList</a:t>
            </a:r>
            <a:r>
              <a:rPr lang="it-IT" altLang="zh-CN" sz="1800" kern="100" dirty="0">
                <a:effectLst/>
                <a:latin typeface="Times New Roman" panose="02020603050405020304" pitchFamily="18" charset="0"/>
                <a:ea typeface="宋体" panose="02010600030101010101" pitchFamily="2" charset="-122"/>
              </a:rPr>
              <a:t>&gt;→&lt;</a:t>
            </a:r>
            <a:r>
              <a:rPr lang="en-US" altLang="zh-CN" sz="1800" kern="100" dirty="0" err="1">
                <a:effectLst/>
                <a:latin typeface="Times New Roman" panose="02020603050405020304" pitchFamily="18" charset="0"/>
                <a:ea typeface="宋体" panose="02010600030101010101" pitchFamily="2" charset="-122"/>
              </a:rPr>
              <a:t>FuncDPara</a:t>
            </a:r>
            <a:r>
              <a:rPr lang="it-IT" altLang="zh-CN" sz="1800" kern="100" dirty="0">
                <a:effectLst/>
                <a:latin typeface="Times New Roman" panose="02020603050405020304" pitchFamily="18" charset="0"/>
                <a:ea typeface="宋体" panose="02010600030101010101" pitchFamily="2" charset="-122"/>
              </a:rPr>
              <a:t>&gt;|</a:t>
            </a:r>
            <a:r>
              <a:rPr lang="en-US" altLang="zh-CN" sz="1800" kern="0" dirty="0">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800" kern="100" dirty="0">
              <a:effectLst/>
              <a:latin typeface="Times New Roman" panose="02020603050405020304" pitchFamily="18" charset="0"/>
              <a:ea typeface="宋体" panose="02010600030101010101" pitchFamily="2" charset="-122"/>
            </a:endParaRPr>
          </a:p>
          <a:p>
            <a:pPr algn="just"/>
            <a:r>
              <a:rPr lang="zh-CN" altLang="zh-CN" sz="1800" kern="100" dirty="0">
                <a:effectLst/>
                <a:latin typeface="Times New Roman" panose="02020603050405020304" pitchFamily="18" charset="0"/>
                <a:ea typeface="宋体" panose="02010600030101010101" pitchFamily="2" charset="-122"/>
              </a:rPr>
              <a:t>（</a:t>
            </a:r>
            <a:r>
              <a:rPr lang="it-IT" altLang="zh-CN" sz="1800" kern="100" dirty="0">
                <a:effectLst/>
                <a:latin typeface="Times New Roman" panose="02020603050405020304" pitchFamily="18" charset="0"/>
                <a:ea typeface="宋体" panose="02010600030101010101" pitchFamily="2" charset="-122"/>
              </a:rPr>
              <a:t>4</a:t>
            </a:r>
            <a:r>
              <a:rPr lang="zh-CN" altLang="zh-CN" sz="1800" kern="100" dirty="0">
                <a:effectLst/>
                <a:latin typeface="Times New Roman" panose="02020603050405020304" pitchFamily="18" charset="0"/>
                <a:ea typeface="宋体" panose="02010600030101010101" pitchFamily="2" charset="-122"/>
              </a:rPr>
              <a:t>） </a:t>
            </a:r>
            <a:r>
              <a:rPr lang="it-IT" altLang="zh-CN" sz="1800" kern="100" dirty="0">
                <a:effectLst/>
                <a:latin typeface="Times New Roman" panose="02020603050405020304" pitchFamily="18" charset="0"/>
                <a:ea typeface="宋体" panose="02010600030101010101" pitchFamily="2" charset="-122"/>
              </a:rPr>
              <a:t>&lt;FuncDPara&gt;→&lt;ParaType&gt;</a:t>
            </a:r>
            <a:endParaRPr lang="zh-CN" altLang="zh-CN" sz="1800" kern="100" dirty="0">
              <a:effectLst/>
              <a:latin typeface="Times New Roman" panose="02020603050405020304" pitchFamily="18" charset="0"/>
              <a:ea typeface="宋体" panose="02010600030101010101" pitchFamily="2" charset="-122"/>
            </a:endParaRPr>
          </a:p>
          <a:p>
            <a:pPr algn="just"/>
            <a:r>
              <a:rPr lang="zh-CN" altLang="zh-CN" sz="1800" kern="100" dirty="0">
                <a:effectLst/>
                <a:latin typeface="Times New Roman" panose="02020603050405020304" pitchFamily="18" charset="0"/>
                <a:ea typeface="宋体" panose="02010600030101010101" pitchFamily="2" charset="-122"/>
              </a:rPr>
              <a:t>（</a:t>
            </a:r>
            <a:r>
              <a:rPr lang="it-IT" altLang="zh-CN" sz="1800" kern="100" dirty="0">
                <a:effectLst/>
                <a:latin typeface="Times New Roman" panose="02020603050405020304" pitchFamily="18" charset="0"/>
                <a:ea typeface="宋体" panose="02010600030101010101" pitchFamily="2" charset="-122"/>
              </a:rPr>
              <a:t>5</a:t>
            </a:r>
            <a:r>
              <a:rPr lang="zh-CN" altLang="zh-CN" sz="1800" kern="100" dirty="0">
                <a:effectLst/>
                <a:latin typeface="Times New Roman" panose="02020603050405020304" pitchFamily="18" charset="0"/>
                <a:ea typeface="宋体" panose="02010600030101010101" pitchFamily="2" charset="-122"/>
              </a:rPr>
              <a:t>） </a:t>
            </a:r>
            <a:r>
              <a:rPr lang="it-IT" altLang="zh-CN" sz="1800" kern="100" dirty="0">
                <a:effectLst/>
                <a:latin typeface="Times New Roman" panose="02020603050405020304" pitchFamily="18" charset="0"/>
                <a:ea typeface="宋体" panose="02010600030101010101" pitchFamily="2" charset="-122"/>
              </a:rPr>
              <a:t>&lt;FuncDPara&gt;→&lt;ParaType&gt;,&lt;FuncDPara&gt;</a:t>
            </a:r>
            <a:endParaRPr lang="zh-CN" altLang="zh-CN" sz="1800" kern="100" dirty="0">
              <a:effectLst/>
              <a:latin typeface="Times New Roman" panose="02020603050405020304" pitchFamily="18" charset="0"/>
              <a:ea typeface="宋体" panose="02010600030101010101" pitchFamily="2" charset="-122"/>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it-IT" altLang="zh-CN" sz="1800" kern="100" dirty="0">
                <a:effectLst/>
                <a:latin typeface="Times New Roman" panose="02020603050405020304" pitchFamily="18" charset="0"/>
                <a:ea typeface="宋体" panose="02010600030101010101" pitchFamily="2" charset="-122"/>
              </a:rPr>
              <a:t>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it-IT" altLang="zh-CN" sz="1800" kern="100" dirty="0">
                <a:effectLst/>
                <a:ea typeface="Times New Roman" panose="02020603050405020304" pitchFamily="18" charset="0"/>
              </a:rPr>
              <a:t>&lt;ParaType&gt;→int|char|float</a:t>
            </a:r>
            <a:endParaRPr lang="zh-CN" altLang="en-US" dirty="0"/>
          </a:p>
        </p:txBody>
      </p:sp>
    </p:spTree>
    <p:extLst>
      <p:ext uri="{BB962C8B-B14F-4D97-AF65-F5344CB8AC3E}">
        <p14:creationId xmlns:p14="http://schemas.microsoft.com/office/powerpoint/2010/main" val="6522650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对象 24">
            <a:extLst>
              <a:ext uri="{FF2B5EF4-FFF2-40B4-BE49-F238E27FC236}">
                <a16:creationId xmlns:a16="http://schemas.microsoft.com/office/drawing/2014/main" id="{F5E59B2E-613F-2BE8-5166-6162431AF783}"/>
              </a:ext>
            </a:extLst>
          </p:cNvPr>
          <p:cNvGraphicFramePr>
            <a:graphicFrameLocks noChangeAspect="1"/>
          </p:cNvGraphicFramePr>
          <p:nvPr>
            <p:extLst>
              <p:ext uri="{D42A27DB-BD31-4B8C-83A1-F6EECF244321}">
                <p14:modId xmlns:p14="http://schemas.microsoft.com/office/powerpoint/2010/main" val="2054298421"/>
              </p:ext>
            </p:extLst>
          </p:nvPr>
        </p:nvGraphicFramePr>
        <p:xfrm>
          <a:off x="4628322" y="407624"/>
          <a:ext cx="4264158" cy="4252358"/>
        </p:xfrm>
        <a:graphic>
          <a:graphicData uri="http://schemas.openxmlformats.org/presentationml/2006/ole">
            <mc:AlternateContent xmlns:mc="http://schemas.openxmlformats.org/markup-compatibility/2006">
              <mc:Choice xmlns:v="urn:schemas-microsoft-com:vml" Requires="v">
                <p:oleObj name="Visio" r:id="rId3" imgW="3086195" imgH="2400197" progId="Visio.Drawing.15">
                  <p:embed/>
                </p:oleObj>
              </mc:Choice>
              <mc:Fallback>
                <p:oleObj name="Visio" r:id="rId3" imgW="3086195" imgH="2400197"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8322" y="407624"/>
                        <a:ext cx="4264158" cy="4252358"/>
                      </a:xfrm>
                      <a:prstGeom prst="rect">
                        <a:avLst/>
                      </a:prstGeom>
                      <a:noFill/>
                    </p:spPr>
                  </p:pic>
                </p:oleObj>
              </mc:Fallback>
            </mc:AlternateContent>
          </a:graphicData>
        </a:graphic>
      </p:graphicFrame>
      <p:sp>
        <p:nvSpPr>
          <p:cNvPr id="3" name="矩形 2"/>
          <p:cNvSpPr/>
          <p:nvPr/>
        </p:nvSpPr>
        <p:spPr>
          <a:xfrm>
            <a:off x="0" y="3943171"/>
            <a:ext cx="3563888" cy="1200329"/>
          </a:xfrm>
          <a:prstGeom prst="rect">
            <a:avLst/>
          </a:prstGeom>
          <a:solidFill>
            <a:schemeClr val="bg1"/>
          </a:solidFill>
        </p:spPr>
        <p:txBody>
          <a:bodyPr wrap="square">
            <a:spAutoFit/>
          </a:bodyPr>
          <a:lstStyle/>
          <a:p>
            <a:r>
              <a:rPr lang="zh-CN" altLang="en-US" dirty="0"/>
              <a:t>函数声明语句需要填写符号表，包括下面这些信息：</a:t>
            </a:r>
            <a:endParaRPr lang="en-US" altLang="zh-CN" dirty="0"/>
          </a:p>
          <a:p>
            <a:r>
              <a:rPr lang="zh-CN" altLang="zh-CN" dirty="0"/>
              <a:t>函数名、返回值类型、多少个参数、参数1类型、参数2类型……。</a:t>
            </a:r>
            <a:endParaRPr lang="zh-CN" altLang="en-US" dirty="0"/>
          </a:p>
        </p:txBody>
      </p:sp>
      <p:sp>
        <p:nvSpPr>
          <p:cNvPr id="77826" name="标题 1"/>
          <p:cNvSpPr>
            <a:spLocks noGrp="1"/>
          </p:cNvSpPr>
          <p:nvPr>
            <p:ph type="title"/>
          </p:nvPr>
        </p:nvSpPr>
        <p:spPr>
          <a:xfrm>
            <a:off x="246556" y="-12710"/>
            <a:ext cx="8229600" cy="784259"/>
          </a:xfrm>
        </p:spPr>
        <p:txBody>
          <a:bodyPr>
            <a:noAutofit/>
          </a:bodyPr>
          <a:lstStyle/>
          <a:p>
            <a:r>
              <a:rPr lang="zh-CN" altLang="zh-CN" sz="2800" dirty="0"/>
              <a:t>函数声明</a:t>
            </a:r>
            <a:r>
              <a:rPr lang="en-US" altLang="zh-CN" sz="2800" dirty="0" err="1">
                <a:solidFill>
                  <a:srgbClr val="FF0000"/>
                </a:solidFill>
              </a:rPr>
              <a:t>int</a:t>
            </a:r>
            <a:r>
              <a:rPr lang="en-US" altLang="zh-CN" sz="2800" dirty="0">
                <a:solidFill>
                  <a:srgbClr val="FF0000"/>
                </a:solidFill>
              </a:rPr>
              <a:t> sum(</a:t>
            </a:r>
            <a:r>
              <a:rPr lang="en-US" altLang="zh-CN" sz="2800" dirty="0" err="1">
                <a:solidFill>
                  <a:srgbClr val="FF0000"/>
                </a:solidFill>
              </a:rPr>
              <a:t>int,int,char</a:t>
            </a:r>
            <a:r>
              <a:rPr lang="en-US" altLang="zh-CN" sz="2800" dirty="0">
                <a:solidFill>
                  <a:srgbClr val="FF0000"/>
                </a:solidFill>
              </a:rPr>
              <a:t>);</a:t>
            </a:r>
            <a:r>
              <a:rPr lang="zh-CN" altLang="zh-CN" sz="2800" dirty="0"/>
              <a:t>的语法树</a:t>
            </a:r>
            <a:br>
              <a:rPr lang="en-US" altLang="zh-CN" sz="2800" dirty="0"/>
            </a:br>
            <a:endParaRPr lang="zh-CN" altLang="en-US" sz="2800" dirty="0"/>
          </a:p>
        </p:txBody>
      </p:sp>
      <p:sp>
        <p:nvSpPr>
          <p:cNvPr id="2" name="矩形 1"/>
          <p:cNvSpPr/>
          <p:nvPr/>
        </p:nvSpPr>
        <p:spPr>
          <a:xfrm>
            <a:off x="3419872" y="4220170"/>
            <a:ext cx="4968552"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a:t>sum</a:t>
            </a:r>
            <a:r>
              <a:rPr lang="zh-CN" altLang="zh-CN" dirty="0"/>
              <a:t>是函数</a:t>
            </a:r>
            <a:r>
              <a:rPr lang="zh-CN" altLang="en-US" dirty="0"/>
              <a:t>名</a:t>
            </a:r>
            <a:r>
              <a:rPr lang="zh-CN" altLang="zh-CN" dirty="0"/>
              <a:t>，返回类型（</a:t>
            </a:r>
            <a:r>
              <a:rPr lang="en-US" altLang="zh-CN" dirty="0" err="1"/>
              <a:t>returntype</a:t>
            </a:r>
            <a:r>
              <a:rPr lang="zh-CN" altLang="zh-CN" dirty="0"/>
              <a:t>）是</a:t>
            </a:r>
            <a:r>
              <a:rPr lang="en-US" altLang="zh-CN" dirty="0" err="1"/>
              <a:t>int</a:t>
            </a:r>
            <a:r>
              <a:rPr lang="zh-CN" altLang="zh-CN" dirty="0"/>
              <a:t>，参数个数（</a:t>
            </a:r>
            <a:r>
              <a:rPr lang="en-US" altLang="zh-CN" dirty="0" err="1"/>
              <a:t>paranums</a:t>
            </a:r>
            <a:r>
              <a:rPr lang="zh-CN" altLang="zh-CN" dirty="0"/>
              <a:t>）是</a:t>
            </a:r>
            <a:r>
              <a:rPr lang="en-US" altLang="zh-CN" dirty="0"/>
              <a:t>3</a:t>
            </a:r>
            <a:r>
              <a:rPr lang="zh-CN" altLang="zh-CN" dirty="0"/>
              <a:t>个，</a:t>
            </a:r>
            <a:r>
              <a:rPr lang="zh-CN" altLang="en-US" dirty="0"/>
              <a:t>形参列表中</a:t>
            </a:r>
            <a:r>
              <a:rPr lang="zh-CN" altLang="zh-CN" dirty="0"/>
              <a:t>各个参数的类型</a:t>
            </a:r>
            <a:r>
              <a:rPr lang="zh-CN" altLang="en-US" dirty="0"/>
              <a:t>是</a:t>
            </a:r>
            <a:r>
              <a:rPr lang="zh-CN" altLang="zh-CN" dirty="0"/>
              <a:t>反序：</a:t>
            </a:r>
            <a:r>
              <a:rPr lang="en-US" altLang="zh-CN" dirty="0"/>
              <a:t>char</a:t>
            </a:r>
            <a:r>
              <a:rPr lang="zh-CN" altLang="zh-CN" dirty="0"/>
              <a:t>，</a:t>
            </a:r>
            <a:r>
              <a:rPr lang="en-US" altLang="zh-CN" dirty="0" err="1"/>
              <a:t>int</a:t>
            </a:r>
            <a:r>
              <a:rPr lang="zh-CN" altLang="zh-CN" dirty="0"/>
              <a:t>，</a:t>
            </a:r>
            <a:r>
              <a:rPr lang="en-US" altLang="zh-CN" dirty="0" err="1"/>
              <a:t>int</a:t>
            </a:r>
            <a:r>
              <a:rPr lang="zh-CN" altLang="zh-CN" dirty="0"/>
              <a:t>。</a:t>
            </a:r>
            <a:endParaRPr lang="zh-CN" altLang="en-US" dirty="0"/>
          </a:p>
        </p:txBody>
      </p:sp>
      <p:sp>
        <p:nvSpPr>
          <p:cNvPr id="4" name="矩形 3"/>
          <p:cNvSpPr/>
          <p:nvPr/>
        </p:nvSpPr>
        <p:spPr>
          <a:xfrm>
            <a:off x="251520" y="771550"/>
            <a:ext cx="4572000" cy="1200329"/>
          </a:xfrm>
          <a:prstGeom prst="rect">
            <a:avLst/>
          </a:prstGeom>
        </p:spPr>
        <p:txBody>
          <a:bodyPr>
            <a:spAutoFit/>
          </a:bodyPr>
          <a:lstStyle/>
          <a:p>
            <a:r>
              <a:rPr lang="en-US" altLang="zh-CN" dirty="0" err="1"/>
              <a:t>X.type</a:t>
            </a:r>
            <a:r>
              <a:rPr lang="zh-CN" altLang="en-US" dirty="0"/>
              <a:t>表示</a:t>
            </a:r>
            <a:r>
              <a:rPr lang="en-US" altLang="zh-CN" dirty="0"/>
              <a:t>X</a:t>
            </a:r>
            <a:r>
              <a:rPr lang="zh-CN" altLang="en-US" dirty="0"/>
              <a:t>的类型</a:t>
            </a:r>
            <a:endParaRPr lang="zh-CN" altLang="zh-CN" dirty="0"/>
          </a:p>
          <a:p>
            <a:r>
              <a:rPr lang="en-US" altLang="zh-CN" dirty="0" err="1"/>
              <a:t>X.Paranums</a:t>
            </a:r>
            <a:r>
              <a:rPr lang="zh-CN" altLang="en-US" dirty="0"/>
              <a:t>表示形式参数的个数</a:t>
            </a:r>
            <a:endParaRPr lang="zh-CN" altLang="zh-CN" dirty="0"/>
          </a:p>
          <a:p>
            <a:r>
              <a:rPr lang="en-US" altLang="zh-CN" dirty="0" err="1"/>
              <a:t>X.para</a:t>
            </a:r>
            <a:r>
              <a:rPr lang="zh-CN" altLang="en-US" dirty="0"/>
              <a:t>表示形式参数的类型列表</a:t>
            </a:r>
            <a:endParaRPr lang="en-US" altLang="zh-CN" dirty="0"/>
          </a:p>
          <a:p>
            <a:r>
              <a:rPr lang="en-US" altLang="zh-CN" dirty="0" err="1"/>
              <a:t>X.returntype</a:t>
            </a:r>
            <a:r>
              <a:rPr lang="zh-CN" altLang="en-US" dirty="0"/>
              <a:t>表示函数</a:t>
            </a:r>
            <a:r>
              <a:rPr lang="en-US" altLang="zh-CN" dirty="0"/>
              <a:t>X</a:t>
            </a:r>
            <a:r>
              <a:rPr lang="zh-CN" altLang="en-US" dirty="0"/>
              <a:t>的返回值类型</a:t>
            </a:r>
          </a:p>
        </p:txBody>
      </p:sp>
      <p:graphicFrame>
        <p:nvGraphicFramePr>
          <p:cNvPr id="5" name="表格 4"/>
          <p:cNvGraphicFramePr>
            <a:graphicFrameLocks noGrp="1"/>
          </p:cNvGraphicFramePr>
          <p:nvPr>
            <p:extLst>
              <p:ext uri="{D42A27DB-BD31-4B8C-83A1-F6EECF244321}">
                <p14:modId xmlns:p14="http://schemas.microsoft.com/office/powerpoint/2010/main" val="1456216544"/>
              </p:ext>
            </p:extLst>
          </p:nvPr>
        </p:nvGraphicFramePr>
        <p:xfrm>
          <a:off x="46190" y="2400039"/>
          <a:ext cx="4504489" cy="864096"/>
        </p:xfrm>
        <a:graphic>
          <a:graphicData uri="http://schemas.openxmlformats.org/drawingml/2006/table">
            <a:tbl>
              <a:tblPr>
                <a:tableStyleId>{5C22544A-7EE6-4342-B048-85BDC9FD1C3A}</a:tableStyleId>
              </a:tblPr>
              <a:tblGrid>
                <a:gridCol w="4504489">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(2) </a:t>
                      </a:r>
                      <a:r>
                        <a:rPr lang="it-IT" altLang="zh-CN" sz="1800" kern="100" dirty="0">
                          <a:effectLst/>
                        </a:rPr>
                        <a:t>&lt;</a:t>
                      </a:r>
                      <a:r>
                        <a:rPr kumimoji="0" lang="en-US" altLang="zh-CN" sz="1800" kern="1200" dirty="0" err="1">
                          <a:solidFill>
                            <a:schemeClr val="dk1"/>
                          </a:solidFill>
                          <a:effectLst/>
                          <a:latin typeface="+mn-lt"/>
                          <a:ea typeface="+mn-ea"/>
                          <a:cs typeface="+mn-cs"/>
                        </a:rPr>
                        <a:t>FuncType</a:t>
                      </a:r>
                      <a:r>
                        <a:rPr lang="en-US" altLang="zh-CN" sz="1800" kern="100" dirty="0">
                          <a:effectLst/>
                        </a:rPr>
                        <a:t>&gt;→int</a:t>
                      </a:r>
                      <a:endParaRPr lang="zh-CN" alt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0"/>
                  </a:ext>
                </a:extLst>
              </a:tr>
              <a:tr h="421513">
                <a:tc>
                  <a:txBody>
                    <a:bodyPr/>
                    <a:lstStyle/>
                    <a:p>
                      <a:pPr algn="just">
                        <a:spcAft>
                          <a:spcPts val="0"/>
                        </a:spcAft>
                      </a:pPr>
                      <a:r>
                        <a:rPr lang="en-US" sz="1800" kern="100" dirty="0">
                          <a:effectLst/>
                        </a:rPr>
                        <a:t>{&lt;</a:t>
                      </a:r>
                      <a:r>
                        <a:rPr kumimoji="0" lang="en-US" altLang="zh-CN" sz="1800" kern="1200" dirty="0" err="1">
                          <a:solidFill>
                            <a:schemeClr val="dk1"/>
                          </a:solidFill>
                          <a:effectLst/>
                          <a:latin typeface="+mn-lt"/>
                          <a:ea typeface="+mn-ea"/>
                          <a:cs typeface="+mn-cs"/>
                        </a:rPr>
                        <a:t>FuncType</a:t>
                      </a:r>
                      <a:r>
                        <a:rPr lang="en-US" sz="1800" kern="100" dirty="0">
                          <a:effectLst/>
                        </a:rPr>
                        <a:t>&gt;.type = int         }</a:t>
                      </a:r>
                      <a:endParaRPr 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1"/>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328836869"/>
              </p:ext>
            </p:extLst>
          </p:nvPr>
        </p:nvGraphicFramePr>
        <p:xfrm>
          <a:off x="107868" y="2297861"/>
          <a:ext cx="4504489" cy="1265543"/>
        </p:xfrm>
        <a:graphic>
          <a:graphicData uri="http://schemas.openxmlformats.org/drawingml/2006/table">
            <a:tbl>
              <a:tblPr>
                <a:tableStyleId>{5C22544A-7EE6-4342-B048-85BDC9FD1C3A}</a:tableStyleId>
              </a:tblPr>
              <a:tblGrid>
                <a:gridCol w="4504489">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(6) </a:t>
                      </a:r>
                      <a:r>
                        <a:rPr kumimoji="0" lang="en-US" altLang="zh-CN" sz="1800" kern="1200" dirty="0">
                          <a:solidFill>
                            <a:schemeClr val="dk1"/>
                          </a:solidFill>
                          <a:effectLst/>
                          <a:latin typeface="+mn-lt"/>
                          <a:ea typeface="+mn-ea"/>
                          <a:cs typeface="+mn-cs"/>
                        </a:rPr>
                        <a:t>&lt;</a:t>
                      </a:r>
                      <a:r>
                        <a:rPr kumimoji="0" lang="it-IT" altLang="zh-CN" sz="1800" kern="1200" dirty="0">
                          <a:solidFill>
                            <a:schemeClr val="dk1"/>
                          </a:solidFill>
                          <a:effectLst/>
                          <a:latin typeface="+mn-lt"/>
                          <a:ea typeface="+mn-ea"/>
                          <a:cs typeface="+mn-cs"/>
                        </a:rPr>
                        <a:t>ParaType</a:t>
                      </a:r>
                      <a:r>
                        <a:rPr kumimoji="0" lang="en-US" altLang="zh-CN" sz="1800" kern="1200" dirty="0">
                          <a:solidFill>
                            <a:schemeClr val="dk1"/>
                          </a:solidFill>
                          <a:effectLst/>
                          <a:latin typeface="+mn-lt"/>
                          <a:ea typeface="+mn-ea"/>
                          <a:cs typeface="+mn-cs"/>
                        </a:rPr>
                        <a:t>&gt;→int</a:t>
                      </a:r>
                      <a:endParaRPr lang="zh-CN" alt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{&lt;</a:t>
                      </a:r>
                      <a:r>
                        <a:rPr kumimoji="0" lang="it-IT" altLang="zh-CN" sz="1800" kern="1200" dirty="0">
                          <a:solidFill>
                            <a:schemeClr val="dk1"/>
                          </a:solidFill>
                          <a:effectLst/>
                          <a:latin typeface="+mn-lt"/>
                          <a:ea typeface="+mn-ea"/>
                          <a:cs typeface="+mn-cs"/>
                        </a:rPr>
                        <a:t>ParaType</a:t>
                      </a:r>
                      <a:r>
                        <a:rPr kumimoji="0" lang="en-US" altLang="zh-CN" sz="1800" kern="1200" dirty="0">
                          <a:solidFill>
                            <a:schemeClr val="dk1"/>
                          </a:solidFill>
                          <a:effectLst/>
                          <a:latin typeface="+mn-lt"/>
                          <a:ea typeface="+mn-ea"/>
                          <a:cs typeface="+mn-cs"/>
                        </a:rPr>
                        <a:t>&gt;.type = int;</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&lt;</a:t>
                      </a:r>
                      <a:r>
                        <a:rPr kumimoji="0" lang="it-IT" altLang="zh-CN" sz="1800" kern="1200" dirty="0">
                          <a:solidFill>
                            <a:schemeClr val="dk1"/>
                          </a:solidFill>
                          <a:effectLst/>
                          <a:latin typeface="+mn-lt"/>
                          <a:ea typeface="+mn-ea"/>
                          <a:cs typeface="+mn-cs"/>
                        </a:rPr>
                        <a:t>ParaType</a:t>
                      </a:r>
                      <a:r>
                        <a:rPr kumimoji="0" lang="en-US" altLang="zh-CN" sz="1800" kern="1200" dirty="0">
                          <a:solidFill>
                            <a:schemeClr val="dk1"/>
                          </a:solidFill>
                          <a:effectLst/>
                          <a:latin typeface="+mn-lt"/>
                          <a:ea typeface="+mn-ea"/>
                          <a:cs typeface="+mn-cs"/>
                        </a:rPr>
                        <a:t>&gt;.</a:t>
                      </a:r>
                      <a:r>
                        <a:rPr kumimoji="0" lang="en-US" altLang="zh-CN" sz="1800" kern="1200" dirty="0" err="1">
                          <a:solidFill>
                            <a:schemeClr val="dk1"/>
                          </a:solidFill>
                          <a:effectLst/>
                          <a:latin typeface="+mn-lt"/>
                          <a:ea typeface="+mn-ea"/>
                          <a:cs typeface="+mn-cs"/>
                        </a:rPr>
                        <a:t>paranums</a:t>
                      </a:r>
                      <a:r>
                        <a:rPr kumimoji="0" lang="en-US" altLang="zh-CN" sz="1800" kern="1200" dirty="0">
                          <a:solidFill>
                            <a:schemeClr val="dk1"/>
                          </a:solidFill>
                          <a:effectLst/>
                          <a:latin typeface="+mn-lt"/>
                          <a:ea typeface="+mn-ea"/>
                          <a:cs typeface="+mn-cs"/>
                        </a:rPr>
                        <a:t> = 1;</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&lt;</a:t>
                      </a:r>
                      <a:r>
                        <a:rPr kumimoji="0" lang="it-IT" altLang="zh-CN" sz="1800" kern="1200" dirty="0">
                          <a:solidFill>
                            <a:schemeClr val="dk1"/>
                          </a:solidFill>
                          <a:effectLst/>
                          <a:latin typeface="+mn-lt"/>
                          <a:ea typeface="+mn-ea"/>
                          <a:cs typeface="+mn-cs"/>
                        </a:rPr>
                        <a:t>ParaType</a:t>
                      </a:r>
                      <a:r>
                        <a:rPr kumimoji="0" lang="en-US" altLang="zh-CN" sz="1800" kern="1200" dirty="0">
                          <a:solidFill>
                            <a:schemeClr val="dk1"/>
                          </a:solidFill>
                          <a:effectLst/>
                          <a:latin typeface="+mn-lt"/>
                          <a:ea typeface="+mn-ea"/>
                          <a:cs typeface="+mn-cs"/>
                        </a:rPr>
                        <a:t>&gt;.para =int;        }</a:t>
                      </a:r>
                      <a:endParaRPr 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921960255"/>
              </p:ext>
            </p:extLst>
          </p:nvPr>
        </p:nvGraphicFramePr>
        <p:xfrm>
          <a:off x="124767" y="2297861"/>
          <a:ext cx="5740944" cy="991223"/>
        </p:xfrm>
        <a:graphic>
          <a:graphicData uri="http://schemas.openxmlformats.org/drawingml/2006/table">
            <a:tbl>
              <a:tblPr>
                <a:tableStyleId>{5C22544A-7EE6-4342-B048-85BDC9FD1C3A}</a:tableStyleId>
              </a:tblPr>
              <a:tblGrid>
                <a:gridCol w="5740944">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(3) </a:t>
                      </a:r>
                      <a:r>
                        <a:rPr kumimoji="0" lang="it-IT" altLang="zh-CN" sz="1800" kern="1200" dirty="0">
                          <a:solidFill>
                            <a:schemeClr val="dk1"/>
                          </a:solidFill>
                          <a:effectLst/>
                          <a:latin typeface="+mn-lt"/>
                          <a:ea typeface="+mn-ea"/>
                          <a:cs typeface="+mn-cs"/>
                        </a:rPr>
                        <a:t>&lt;</a:t>
                      </a:r>
                      <a:r>
                        <a:rPr kumimoji="0" lang="en-US" altLang="zh-CN" sz="1800" kern="1200" dirty="0" err="1">
                          <a:solidFill>
                            <a:schemeClr val="dk1"/>
                          </a:solidFill>
                          <a:effectLst/>
                          <a:latin typeface="+mn-lt"/>
                          <a:ea typeface="+mn-ea"/>
                          <a:cs typeface="+mn-cs"/>
                        </a:rPr>
                        <a:t>FuncDParaList</a:t>
                      </a:r>
                      <a:r>
                        <a:rPr kumimoji="0" lang="it-IT" altLang="zh-CN" sz="1800" kern="1200" dirty="0">
                          <a:solidFill>
                            <a:schemeClr val="dk1"/>
                          </a:solidFill>
                          <a:effectLst/>
                          <a:latin typeface="+mn-lt"/>
                          <a:ea typeface="+mn-ea"/>
                          <a:cs typeface="+mn-cs"/>
                        </a:rPr>
                        <a:t>&gt;</a:t>
                      </a:r>
                      <a:r>
                        <a:rPr kumimoji="0" lang="zh-CN" altLang="zh-CN" sz="1800" kern="1200" dirty="0">
                          <a:solidFill>
                            <a:schemeClr val="dk1"/>
                          </a:solidFill>
                          <a:effectLst/>
                          <a:latin typeface="+mn-lt"/>
                          <a:ea typeface="+mn-ea"/>
                          <a:cs typeface="+mn-cs"/>
                        </a:rPr>
                        <a:t>→</a:t>
                      </a:r>
                      <a:r>
                        <a:rPr kumimoji="0" lang="it-IT" altLang="zh-CN" sz="1800" kern="1200" dirty="0">
                          <a:solidFill>
                            <a:schemeClr val="dk1"/>
                          </a:solidFill>
                          <a:effectLst/>
                          <a:latin typeface="+mn-lt"/>
                          <a:ea typeface="+mn-ea"/>
                          <a:cs typeface="+mn-cs"/>
                        </a:rPr>
                        <a:t>&lt;</a:t>
                      </a:r>
                      <a:r>
                        <a:rPr kumimoji="0" lang="en-US" altLang="zh-CN" sz="1800" kern="1200" dirty="0" err="1">
                          <a:solidFill>
                            <a:schemeClr val="dk1"/>
                          </a:solidFill>
                          <a:effectLst/>
                          <a:latin typeface="+mn-lt"/>
                          <a:ea typeface="+mn-ea"/>
                          <a:cs typeface="+mn-cs"/>
                        </a:rPr>
                        <a:t>FuncDPara</a:t>
                      </a:r>
                      <a:r>
                        <a:rPr kumimoji="0" lang="it-IT" altLang="zh-CN" sz="1800" kern="1200" dirty="0">
                          <a:solidFill>
                            <a:schemeClr val="dk1"/>
                          </a:solidFill>
                          <a:effectLst/>
                          <a:latin typeface="+mn-lt"/>
                          <a:ea typeface="+mn-ea"/>
                          <a:cs typeface="+mn-cs"/>
                        </a:rPr>
                        <a:t>&gt;</a:t>
                      </a:r>
                      <a:endParaRPr lang="zh-CN" alt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0"/>
                  </a:ext>
                </a:extLst>
              </a:tr>
              <a:tr h="421513">
                <a:tc>
                  <a:txBody>
                    <a:bodyPr/>
                    <a:lstStyle/>
                    <a:p>
                      <a:r>
                        <a:rPr kumimoji="0" lang="zh-CN" altLang="zh-CN" sz="1800" kern="1200" dirty="0">
                          <a:solidFill>
                            <a:schemeClr val="dk1"/>
                          </a:solidFill>
                          <a:effectLst/>
                          <a:latin typeface="+mn-lt"/>
                          <a:ea typeface="+mn-ea"/>
                          <a:cs typeface="+mn-cs"/>
                        </a:rPr>
                        <a:t>{</a:t>
                      </a:r>
                      <a:r>
                        <a:rPr kumimoji="0" lang="en-US" altLang="zh-CN" sz="1600" kern="1200" dirty="0">
                          <a:solidFill>
                            <a:schemeClr val="dk1"/>
                          </a:solidFill>
                          <a:effectLst/>
                          <a:latin typeface="+mn-lt"/>
                          <a:ea typeface="+mn-ea"/>
                          <a:cs typeface="+mn-cs"/>
                        </a:rPr>
                        <a:t>&lt;</a:t>
                      </a:r>
                      <a:r>
                        <a:rPr kumimoji="0" lang="en-US" altLang="zh-CN" sz="1600" kern="1200" dirty="0" err="1">
                          <a:solidFill>
                            <a:schemeClr val="dk1"/>
                          </a:solidFill>
                          <a:effectLst/>
                          <a:latin typeface="+mn-lt"/>
                          <a:ea typeface="+mn-ea"/>
                          <a:cs typeface="+mn-cs"/>
                        </a:rPr>
                        <a:t>FuncDParaList</a:t>
                      </a:r>
                      <a:r>
                        <a:rPr kumimoji="0" lang="en-US" altLang="zh-CN" sz="1600" kern="1200" dirty="0">
                          <a:solidFill>
                            <a:schemeClr val="dk1"/>
                          </a:solidFill>
                          <a:effectLst/>
                          <a:latin typeface="+mn-lt"/>
                          <a:ea typeface="+mn-ea"/>
                          <a:cs typeface="+mn-cs"/>
                        </a:rPr>
                        <a:t>&gt;.</a:t>
                      </a:r>
                      <a:r>
                        <a:rPr kumimoji="0" lang="en-US" altLang="zh-CN" sz="1600" kern="1200" dirty="0" err="1">
                          <a:solidFill>
                            <a:schemeClr val="dk1"/>
                          </a:solidFill>
                          <a:effectLst/>
                          <a:latin typeface="+mn-lt"/>
                          <a:ea typeface="+mn-ea"/>
                          <a:cs typeface="+mn-cs"/>
                        </a:rPr>
                        <a:t>paranums</a:t>
                      </a:r>
                      <a:r>
                        <a:rPr kumimoji="0" lang="en-US" altLang="zh-CN" sz="1600" kern="1200" dirty="0">
                          <a:solidFill>
                            <a:schemeClr val="dk1"/>
                          </a:solidFill>
                          <a:effectLst/>
                          <a:latin typeface="+mn-lt"/>
                          <a:ea typeface="+mn-ea"/>
                          <a:cs typeface="+mn-cs"/>
                        </a:rPr>
                        <a:t> = &lt;</a:t>
                      </a:r>
                      <a:r>
                        <a:rPr kumimoji="0" lang="en-US" altLang="zh-CN" sz="1600" kern="1200" dirty="0" err="1">
                          <a:solidFill>
                            <a:schemeClr val="dk1"/>
                          </a:solidFill>
                          <a:effectLst/>
                          <a:latin typeface="+mn-lt"/>
                          <a:ea typeface="+mn-ea"/>
                          <a:cs typeface="+mn-cs"/>
                        </a:rPr>
                        <a:t>FuncDPara</a:t>
                      </a:r>
                      <a:r>
                        <a:rPr kumimoji="0" lang="en-US" altLang="zh-CN" sz="1600" kern="1200" dirty="0">
                          <a:solidFill>
                            <a:schemeClr val="dk1"/>
                          </a:solidFill>
                          <a:effectLst/>
                          <a:latin typeface="+mn-lt"/>
                          <a:ea typeface="+mn-ea"/>
                          <a:cs typeface="+mn-cs"/>
                        </a:rPr>
                        <a:t>&gt;.</a:t>
                      </a:r>
                      <a:r>
                        <a:rPr kumimoji="0" lang="en-US" altLang="zh-CN" sz="1600" kern="1200" dirty="0" err="1">
                          <a:solidFill>
                            <a:schemeClr val="dk1"/>
                          </a:solidFill>
                          <a:effectLst/>
                          <a:latin typeface="+mn-lt"/>
                          <a:ea typeface="+mn-ea"/>
                          <a:cs typeface="+mn-cs"/>
                        </a:rPr>
                        <a:t>paranums</a:t>
                      </a:r>
                      <a:r>
                        <a:rPr kumimoji="0" lang="en-US" altLang="zh-CN" sz="1600" kern="1200" dirty="0">
                          <a:solidFill>
                            <a:schemeClr val="dk1"/>
                          </a:solidFill>
                          <a:effectLst/>
                          <a:latin typeface="+mn-lt"/>
                          <a:ea typeface="+mn-ea"/>
                          <a:cs typeface="+mn-cs"/>
                        </a:rPr>
                        <a:t>; </a:t>
                      </a:r>
                      <a:endParaRPr kumimoji="0" lang="zh-CN" altLang="zh-CN" sz="1600" kern="1200" dirty="0">
                        <a:solidFill>
                          <a:schemeClr val="dk1"/>
                        </a:solidFill>
                        <a:effectLst/>
                        <a:latin typeface="+mn-lt"/>
                        <a:ea typeface="+mn-ea"/>
                        <a:cs typeface="+mn-cs"/>
                      </a:endParaRPr>
                    </a:p>
                    <a:p>
                      <a:r>
                        <a:rPr kumimoji="0" lang="en-US" altLang="zh-CN" sz="1600" kern="1200" dirty="0">
                          <a:solidFill>
                            <a:schemeClr val="dk1"/>
                          </a:solidFill>
                          <a:effectLst/>
                          <a:latin typeface="+mn-lt"/>
                          <a:ea typeface="+mn-ea"/>
                          <a:cs typeface="+mn-cs"/>
                        </a:rPr>
                        <a:t> &lt;</a:t>
                      </a:r>
                      <a:r>
                        <a:rPr kumimoji="0" lang="en-US" altLang="zh-CN" sz="1600" kern="1200" dirty="0" err="1">
                          <a:solidFill>
                            <a:schemeClr val="dk1"/>
                          </a:solidFill>
                          <a:effectLst/>
                          <a:latin typeface="+mn-lt"/>
                          <a:ea typeface="+mn-ea"/>
                          <a:cs typeface="+mn-cs"/>
                        </a:rPr>
                        <a:t>FuncDParaList</a:t>
                      </a:r>
                      <a:r>
                        <a:rPr kumimoji="0" lang="en-US" altLang="zh-CN" sz="1600" kern="1200" dirty="0">
                          <a:solidFill>
                            <a:schemeClr val="dk1"/>
                          </a:solidFill>
                          <a:effectLst/>
                          <a:latin typeface="+mn-lt"/>
                          <a:ea typeface="+mn-ea"/>
                          <a:cs typeface="+mn-cs"/>
                        </a:rPr>
                        <a:t>&gt;.para= &lt;</a:t>
                      </a:r>
                      <a:r>
                        <a:rPr kumimoji="0" lang="en-US" altLang="zh-CN" sz="1600" kern="1200" dirty="0" err="1">
                          <a:solidFill>
                            <a:schemeClr val="dk1"/>
                          </a:solidFill>
                          <a:effectLst/>
                          <a:latin typeface="+mn-lt"/>
                          <a:ea typeface="+mn-ea"/>
                          <a:cs typeface="+mn-cs"/>
                        </a:rPr>
                        <a:t>FuncDPara</a:t>
                      </a:r>
                      <a:r>
                        <a:rPr kumimoji="0" lang="en-US" altLang="zh-CN" sz="1600" kern="1200" dirty="0">
                          <a:solidFill>
                            <a:schemeClr val="dk1"/>
                          </a:solidFill>
                          <a:effectLst/>
                          <a:latin typeface="+mn-lt"/>
                          <a:ea typeface="+mn-ea"/>
                          <a:cs typeface="+mn-cs"/>
                        </a:rPr>
                        <a:t>&gt;.para     </a:t>
                      </a:r>
                      <a:r>
                        <a:rPr kumimoji="0" lang="zh-CN" altLang="zh-CN" sz="1800" kern="1200" dirty="0">
                          <a:solidFill>
                            <a:schemeClr val="dk1"/>
                          </a:solidFill>
                          <a:effectLst/>
                          <a:latin typeface="+mn-lt"/>
                          <a:ea typeface="+mn-ea"/>
                          <a:cs typeface="+mn-cs"/>
                        </a:rPr>
                        <a:t>}</a:t>
                      </a:r>
                      <a:endParaRPr 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995522107"/>
              </p:ext>
            </p:extLst>
          </p:nvPr>
        </p:nvGraphicFramePr>
        <p:xfrm>
          <a:off x="60052" y="2308324"/>
          <a:ext cx="5361952" cy="991223"/>
        </p:xfrm>
        <a:graphic>
          <a:graphicData uri="http://schemas.openxmlformats.org/drawingml/2006/table">
            <a:tbl>
              <a:tblPr>
                <a:tableStyleId>{5C22544A-7EE6-4342-B048-85BDC9FD1C3A}</a:tableStyleId>
              </a:tblPr>
              <a:tblGrid>
                <a:gridCol w="5361952">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(4) </a:t>
                      </a:r>
                      <a:r>
                        <a:rPr kumimoji="0" lang="it-IT" altLang="zh-CN" sz="1800" kern="1200" dirty="0">
                          <a:solidFill>
                            <a:schemeClr val="dk1"/>
                          </a:solidFill>
                          <a:effectLst/>
                          <a:latin typeface="+mn-lt"/>
                          <a:ea typeface="+mn-ea"/>
                          <a:cs typeface="+mn-cs"/>
                        </a:rPr>
                        <a:t>&lt;FuncDPara&gt;→&lt;ParaType&gt;</a:t>
                      </a:r>
                      <a:endParaRPr lang="zh-CN" alt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a:t>
                      </a:r>
                      <a:r>
                        <a:rPr kumimoji="0" lang="en-US" altLang="zh-CN" sz="1600" kern="1200" dirty="0">
                          <a:solidFill>
                            <a:schemeClr val="dk1"/>
                          </a:solidFill>
                          <a:effectLst/>
                          <a:latin typeface="+mn-lt"/>
                          <a:ea typeface="+mn-ea"/>
                          <a:cs typeface="+mn-cs"/>
                        </a:rPr>
                        <a:t>&lt;</a:t>
                      </a:r>
                      <a:r>
                        <a:rPr kumimoji="0" lang="en-US" altLang="zh-CN" sz="1600" kern="1200" dirty="0" err="1">
                          <a:solidFill>
                            <a:schemeClr val="dk1"/>
                          </a:solidFill>
                          <a:effectLst/>
                          <a:latin typeface="+mn-lt"/>
                          <a:ea typeface="+mn-ea"/>
                          <a:cs typeface="+mn-cs"/>
                        </a:rPr>
                        <a:t>FuncDPara</a:t>
                      </a:r>
                      <a:r>
                        <a:rPr kumimoji="0" lang="en-US" altLang="zh-CN" sz="1600" kern="1200" dirty="0">
                          <a:solidFill>
                            <a:schemeClr val="dk1"/>
                          </a:solidFill>
                          <a:effectLst/>
                          <a:latin typeface="+mn-lt"/>
                          <a:ea typeface="+mn-ea"/>
                          <a:cs typeface="+mn-cs"/>
                        </a:rPr>
                        <a:t>&gt;. </a:t>
                      </a:r>
                      <a:r>
                        <a:rPr kumimoji="0" lang="en-US" altLang="zh-CN" sz="1600" kern="1200" dirty="0" err="1">
                          <a:solidFill>
                            <a:schemeClr val="dk1"/>
                          </a:solidFill>
                          <a:effectLst/>
                          <a:latin typeface="+mn-lt"/>
                          <a:ea typeface="+mn-ea"/>
                          <a:cs typeface="+mn-cs"/>
                        </a:rPr>
                        <a:t>paranums</a:t>
                      </a:r>
                      <a:r>
                        <a:rPr kumimoji="0" lang="en-US" altLang="zh-CN" sz="1600" kern="1200" dirty="0">
                          <a:solidFill>
                            <a:schemeClr val="dk1"/>
                          </a:solidFill>
                          <a:effectLst/>
                          <a:latin typeface="+mn-lt"/>
                          <a:ea typeface="+mn-ea"/>
                          <a:cs typeface="+mn-cs"/>
                        </a:rPr>
                        <a:t> = &lt;</a:t>
                      </a:r>
                      <a:r>
                        <a:rPr kumimoji="0" lang="it-IT" altLang="zh-CN" sz="1600" kern="1200" dirty="0">
                          <a:solidFill>
                            <a:schemeClr val="dk1"/>
                          </a:solidFill>
                          <a:effectLst/>
                          <a:latin typeface="+mn-lt"/>
                          <a:ea typeface="+mn-ea"/>
                          <a:cs typeface="+mn-cs"/>
                        </a:rPr>
                        <a:t>ParaType</a:t>
                      </a:r>
                      <a:r>
                        <a:rPr kumimoji="0" lang="en-US" altLang="zh-CN" sz="1600" kern="1200" dirty="0">
                          <a:solidFill>
                            <a:schemeClr val="dk1"/>
                          </a:solidFill>
                          <a:effectLst/>
                          <a:latin typeface="+mn-lt"/>
                          <a:ea typeface="+mn-ea"/>
                          <a:cs typeface="+mn-cs"/>
                        </a:rPr>
                        <a:t>&gt;. </a:t>
                      </a:r>
                      <a:r>
                        <a:rPr kumimoji="0" lang="en-US" altLang="zh-CN" sz="1600" kern="1200" dirty="0" err="1">
                          <a:solidFill>
                            <a:schemeClr val="dk1"/>
                          </a:solidFill>
                          <a:effectLst/>
                          <a:latin typeface="+mn-lt"/>
                          <a:ea typeface="+mn-ea"/>
                          <a:cs typeface="+mn-cs"/>
                        </a:rPr>
                        <a:t>paranums</a:t>
                      </a:r>
                      <a:r>
                        <a:rPr kumimoji="0" lang="en-US" altLang="zh-CN" sz="1600" kern="1200" dirty="0">
                          <a:solidFill>
                            <a:schemeClr val="dk1"/>
                          </a:solidFill>
                          <a:effectLst/>
                          <a:latin typeface="+mn-lt"/>
                          <a:ea typeface="+mn-ea"/>
                          <a:cs typeface="+mn-cs"/>
                        </a:rPr>
                        <a:t>;</a:t>
                      </a:r>
                      <a:endParaRPr kumimoji="0" lang="zh-CN" altLang="zh-CN" sz="1600" kern="1200" dirty="0">
                        <a:solidFill>
                          <a:schemeClr val="dk1"/>
                        </a:solidFill>
                        <a:effectLst/>
                        <a:latin typeface="+mn-lt"/>
                        <a:ea typeface="+mn-ea"/>
                        <a:cs typeface="+mn-cs"/>
                      </a:endParaRPr>
                    </a:p>
                    <a:p>
                      <a:r>
                        <a:rPr kumimoji="0" lang="en-US" altLang="zh-CN" sz="1600" kern="1200" dirty="0">
                          <a:solidFill>
                            <a:schemeClr val="dk1"/>
                          </a:solidFill>
                          <a:effectLst/>
                          <a:latin typeface="+mn-lt"/>
                          <a:ea typeface="+mn-ea"/>
                          <a:cs typeface="+mn-cs"/>
                        </a:rPr>
                        <a:t>&lt;</a:t>
                      </a:r>
                      <a:r>
                        <a:rPr kumimoji="0" lang="en-US" altLang="zh-CN" sz="1600" kern="1200" dirty="0" err="1">
                          <a:solidFill>
                            <a:schemeClr val="dk1"/>
                          </a:solidFill>
                          <a:effectLst/>
                          <a:latin typeface="+mn-lt"/>
                          <a:ea typeface="+mn-ea"/>
                          <a:cs typeface="+mn-cs"/>
                        </a:rPr>
                        <a:t>FuncDPara</a:t>
                      </a:r>
                      <a:r>
                        <a:rPr kumimoji="0" lang="en-US" altLang="zh-CN" sz="1600" kern="1200" dirty="0">
                          <a:solidFill>
                            <a:schemeClr val="dk1"/>
                          </a:solidFill>
                          <a:effectLst/>
                          <a:latin typeface="+mn-lt"/>
                          <a:ea typeface="+mn-ea"/>
                          <a:cs typeface="+mn-cs"/>
                        </a:rPr>
                        <a:t>&gt;. para = &lt;</a:t>
                      </a:r>
                      <a:r>
                        <a:rPr kumimoji="0" lang="it-IT" altLang="zh-CN" sz="1600" kern="1200" dirty="0">
                          <a:solidFill>
                            <a:schemeClr val="dk1"/>
                          </a:solidFill>
                          <a:effectLst/>
                          <a:latin typeface="+mn-lt"/>
                          <a:ea typeface="+mn-ea"/>
                          <a:cs typeface="+mn-cs"/>
                        </a:rPr>
                        <a:t>ParaType</a:t>
                      </a:r>
                      <a:r>
                        <a:rPr kumimoji="0" lang="en-US" altLang="zh-CN" sz="1600" kern="1200" dirty="0">
                          <a:solidFill>
                            <a:schemeClr val="dk1"/>
                          </a:solidFill>
                          <a:effectLst/>
                          <a:latin typeface="+mn-lt"/>
                          <a:ea typeface="+mn-ea"/>
                          <a:cs typeface="+mn-cs"/>
                        </a:rPr>
                        <a:t>&gt;. Para              </a:t>
                      </a:r>
                      <a:r>
                        <a:rPr kumimoji="0" lang="en-US" altLang="zh-CN" sz="1800" kern="1200" dirty="0">
                          <a:solidFill>
                            <a:schemeClr val="dk1"/>
                          </a:solidFill>
                          <a:effectLst/>
                          <a:latin typeface="+mn-lt"/>
                          <a:ea typeface="+mn-ea"/>
                          <a:cs typeface="+mn-cs"/>
                        </a:rPr>
                        <a:t>}</a:t>
                      </a:r>
                      <a:endParaRPr 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1035402020"/>
              </p:ext>
            </p:extLst>
          </p:nvPr>
        </p:nvGraphicFramePr>
        <p:xfrm>
          <a:off x="154202" y="2283718"/>
          <a:ext cx="5749946" cy="1539863"/>
        </p:xfrm>
        <a:graphic>
          <a:graphicData uri="http://schemas.openxmlformats.org/drawingml/2006/table">
            <a:tbl>
              <a:tblPr>
                <a:tableStyleId>{5C22544A-7EE6-4342-B048-85BDC9FD1C3A}</a:tableStyleId>
              </a:tblPr>
              <a:tblGrid>
                <a:gridCol w="5749946">
                  <a:extLst>
                    <a:ext uri="{9D8B030D-6E8A-4147-A177-3AD203B41FA5}">
                      <a16:colId xmlns:a16="http://schemas.microsoft.com/office/drawing/2014/main" val="20000"/>
                    </a:ext>
                  </a:extLst>
                </a:gridCol>
              </a:tblGrid>
              <a:tr h="442583">
                <a:tc>
                  <a:txBody>
                    <a:bodyPr/>
                    <a:lstStyle/>
                    <a:p>
                      <a:r>
                        <a:rPr lang="en-US" altLang="zh-CN" sz="1800" kern="100" dirty="0">
                          <a:effectLst/>
                        </a:rPr>
                        <a:t>(5) </a:t>
                      </a:r>
                      <a:r>
                        <a:rPr kumimoji="0" lang="it-IT" altLang="zh-CN" sz="1800" kern="1200" dirty="0">
                          <a:solidFill>
                            <a:schemeClr val="dk1"/>
                          </a:solidFill>
                          <a:effectLst/>
                          <a:latin typeface="+mn-lt"/>
                          <a:ea typeface="+mn-ea"/>
                          <a:cs typeface="+mn-cs"/>
                        </a:rPr>
                        <a:t>&lt;FuncDPara&gt;</a:t>
                      </a:r>
                      <a:r>
                        <a:rPr kumimoji="0" lang="zh-CN" altLang="zh-CN" sz="1800" kern="1200" dirty="0">
                          <a:solidFill>
                            <a:schemeClr val="dk1"/>
                          </a:solidFill>
                          <a:effectLst/>
                          <a:latin typeface="+mn-lt"/>
                          <a:ea typeface="+mn-ea"/>
                          <a:cs typeface="+mn-cs"/>
                        </a:rPr>
                        <a:t>→</a:t>
                      </a:r>
                      <a:r>
                        <a:rPr kumimoji="0" lang="it-IT" altLang="zh-CN" sz="1800" kern="1200" dirty="0">
                          <a:solidFill>
                            <a:schemeClr val="dk1"/>
                          </a:solidFill>
                          <a:effectLst/>
                          <a:latin typeface="+mn-lt"/>
                          <a:ea typeface="+mn-ea"/>
                          <a:cs typeface="+mn-cs"/>
                        </a:rPr>
                        <a:t>&lt;ParaType&gt;,&lt;FuncDPara&gt;</a:t>
                      </a:r>
                      <a:r>
                        <a:rPr kumimoji="0" lang="en-US" altLang="zh-CN" sz="1800" kern="1200" baseline="30000" dirty="0">
                          <a:solidFill>
                            <a:schemeClr val="dk1"/>
                          </a:solidFill>
                          <a:effectLst/>
                          <a:latin typeface="+mn-lt"/>
                          <a:ea typeface="+mn-ea"/>
                          <a:cs typeface="+mn-cs"/>
                        </a:rPr>
                        <a:t>(1)</a:t>
                      </a:r>
                      <a:endParaRPr lang="zh-CN" alt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{&lt;</a:t>
                      </a:r>
                      <a:r>
                        <a:rPr kumimoji="0" lang="en-US" altLang="zh-CN" sz="1800" kern="1200" dirty="0" err="1">
                          <a:solidFill>
                            <a:schemeClr val="dk1"/>
                          </a:solidFill>
                          <a:effectLst/>
                          <a:latin typeface="+mn-lt"/>
                          <a:ea typeface="+mn-ea"/>
                          <a:cs typeface="+mn-cs"/>
                        </a:rPr>
                        <a:t>FuncDPara</a:t>
                      </a:r>
                      <a:r>
                        <a:rPr kumimoji="0" lang="en-US" altLang="zh-CN" sz="1800" kern="1200" dirty="0">
                          <a:solidFill>
                            <a:schemeClr val="dk1"/>
                          </a:solidFill>
                          <a:effectLst/>
                          <a:latin typeface="+mn-lt"/>
                          <a:ea typeface="+mn-ea"/>
                          <a:cs typeface="+mn-cs"/>
                        </a:rPr>
                        <a:t>&gt;.</a:t>
                      </a:r>
                      <a:r>
                        <a:rPr kumimoji="0" lang="en-US" altLang="zh-CN" sz="1800" kern="1200" dirty="0" err="1">
                          <a:solidFill>
                            <a:schemeClr val="dk1"/>
                          </a:solidFill>
                          <a:effectLst/>
                          <a:latin typeface="+mn-lt"/>
                          <a:ea typeface="+mn-ea"/>
                          <a:cs typeface="+mn-cs"/>
                        </a:rPr>
                        <a:t>paranums</a:t>
                      </a:r>
                      <a:r>
                        <a:rPr kumimoji="0" lang="en-US" altLang="zh-CN" sz="1800" kern="1200" dirty="0">
                          <a:solidFill>
                            <a:schemeClr val="dk1"/>
                          </a:solidFill>
                          <a:effectLst/>
                          <a:latin typeface="+mn-lt"/>
                          <a:ea typeface="+mn-ea"/>
                          <a:cs typeface="+mn-cs"/>
                        </a:rPr>
                        <a:t> =</a:t>
                      </a:r>
                    </a:p>
                    <a:p>
                      <a:r>
                        <a:rPr kumimoji="0" lang="en-US" altLang="zh-CN" sz="1800" kern="1200" dirty="0">
                          <a:solidFill>
                            <a:schemeClr val="dk1"/>
                          </a:solidFill>
                          <a:effectLst/>
                          <a:latin typeface="+mn-lt"/>
                          <a:ea typeface="+mn-ea"/>
                          <a:cs typeface="+mn-cs"/>
                        </a:rPr>
                        <a:t>                              &lt;</a:t>
                      </a:r>
                      <a:r>
                        <a:rPr kumimoji="0" lang="en-US" altLang="zh-CN" sz="1800" kern="1200" dirty="0" err="1">
                          <a:solidFill>
                            <a:schemeClr val="dk1"/>
                          </a:solidFill>
                          <a:effectLst/>
                          <a:latin typeface="+mn-lt"/>
                          <a:ea typeface="+mn-ea"/>
                          <a:cs typeface="+mn-cs"/>
                        </a:rPr>
                        <a:t>FuncDPara</a:t>
                      </a:r>
                      <a:r>
                        <a:rPr kumimoji="0" lang="en-US" altLang="zh-CN" sz="1800" kern="1200" dirty="0">
                          <a:solidFill>
                            <a:schemeClr val="dk1"/>
                          </a:solidFill>
                          <a:effectLst/>
                          <a:latin typeface="+mn-lt"/>
                          <a:ea typeface="+mn-ea"/>
                          <a:cs typeface="+mn-cs"/>
                        </a:rPr>
                        <a:t>&gt;</a:t>
                      </a:r>
                      <a:r>
                        <a:rPr kumimoji="0" lang="en-US" altLang="zh-CN" sz="1800" kern="1200" baseline="30000" dirty="0">
                          <a:solidFill>
                            <a:schemeClr val="dk1"/>
                          </a:solidFill>
                          <a:effectLst/>
                          <a:latin typeface="+mn-lt"/>
                          <a:ea typeface="+mn-ea"/>
                          <a:cs typeface="+mn-cs"/>
                        </a:rPr>
                        <a:t>(1)</a:t>
                      </a:r>
                      <a:r>
                        <a:rPr kumimoji="0" lang="en-US" altLang="zh-CN" sz="1800" kern="1200" dirty="0">
                          <a:solidFill>
                            <a:schemeClr val="dk1"/>
                          </a:solidFill>
                          <a:effectLst/>
                          <a:latin typeface="+mn-lt"/>
                          <a:ea typeface="+mn-ea"/>
                          <a:cs typeface="+mn-cs"/>
                        </a:rPr>
                        <a:t>.</a:t>
                      </a:r>
                      <a:r>
                        <a:rPr kumimoji="0" lang="en-US" altLang="zh-CN" sz="1800" kern="1200" dirty="0" err="1">
                          <a:solidFill>
                            <a:schemeClr val="dk1"/>
                          </a:solidFill>
                          <a:effectLst/>
                          <a:latin typeface="+mn-lt"/>
                          <a:ea typeface="+mn-ea"/>
                          <a:cs typeface="+mn-cs"/>
                        </a:rPr>
                        <a:t>paranums</a:t>
                      </a:r>
                      <a:r>
                        <a:rPr kumimoji="0" lang="en-US" altLang="zh-CN" sz="1800" kern="1200" dirty="0">
                          <a:solidFill>
                            <a:schemeClr val="dk1"/>
                          </a:solidFill>
                          <a:effectLst/>
                          <a:latin typeface="+mn-lt"/>
                          <a:ea typeface="+mn-ea"/>
                          <a:cs typeface="+mn-cs"/>
                        </a:rPr>
                        <a:t> + 1;</a:t>
                      </a:r>
                      <a:endParaRPr kumimoji="0" lang="zh-CN" altLang="zh-CN" sz="1800" kern="1200" dirty="0">
                        <a:solidFill>
                          <a:schemeClr val="dk1"/>
                        </a:solidFill>
                        <a:effectLst/>
                        <a:latin typeface="+mn-lt"/>
                        <a:ea typeface="+mn-ea"/>
                        <a:cs typeface="+mn-cs"/>
                      </a:endParaRPr>
                    </a:p>
                    <a:p>
                      <a:r>
                        <a:rPr kumimoji="0" lang="en-US" altLang="zh-CN" sz="1600" kern="1200" dirty="0">
                          <a:solidFill>
                            <a:schemeClr val="dk1"/>
                          </a:solidFill>
                          <a:effectLst/>
                          <a:latin typeface="+mn-lt"/>
                          <a:ea typeface="+mn-ea"/>
                          <a:cs typeface="+mn-cs"/>
                        </a:rPr>
                        <a:t>&lt;</a:t>
                      </a:r>
                      <a:r>
                        <a:rPr kumimoji="0" lang="en-US" altLang="zh-CN" sz="1800" kern="1200" dirty="0" err="1">
                          <a:solidFill>
                            <a:schemeClr val="dk1"/>
                          </a:solidFill>
                          <a:effectLst/>
                          <a:latin typeface="+mn-lt"/>
                          <a:ea typeface="+mn-ea"/>
                          <a:cs typeface="+mn-cs"/>
                        </a:rPr>
                        <a:t>FuncDPara</a:t>
                      </a:r>
                      <a:r>
                        <a:rPr kumimoji="0" lang="en-US" altLang="zh-CN" sz="1600" kern="1200" dirty="0">
                          <a:solidFill>
                            <a:schemeClr val="dk1"/>
                          </a:solidFill>
                          <a:effectLst/>
                          <a:latin typeface="+mn-lt"/>
                          <a:ea typeface="+mn-ea"/>
                          <a:cs typeface="+mn-cs"/>
                        </a:rPr>
                        <a:t>&gt;.para = &lt; </a:t>
                      </a:r>
                      <a:r>
                        <a:rPr kumimoji="0" lang="en-US" altLang="zh-CN" sz="1800" kern="1200" dirty="0" err="1">
                          <a:solidFill>
                            <a:schemeClr val="dk1"/>
                          </a:solidFill>
                          <a:effectLst/>
                          <a:latin typeface="+mn-lt"/>
                          <a:ea typeface="+mn-ea"/>
                          <a:cs typeface="+mn-cs"/>
                        </a:rPr>
                        <a:t>FuncDPara</a:t>
                      </a:r>
                      <a:r>
                        <a:rPr kumimoji="0" lang="en-US" altLang="zh-CN" sz="1600" kern="1200" dirty="0">
                          <a:solidFill>
                            <a:schemeClr val="dk1"/>
                          </a:solidFill>
                          <a:effectLst/>
                          <a:latin typeface="+mn-lt"/>
                          <a:ea typeface="+mn-ea"/>
                          <a:cs typeface="+mn-cs"/>
                        </a:rPr>
                        <a:t>&gt;</a:t>
                      </a:r>
                      <a:r>
                        <a:rPr kumimoji="0" lang="en-US" altLang="zh-CN" sz="1600" kern="1200" baseline="30000" dirty="0">
                          <a:solidFill>
                            <a:schemeClr val="dk1"/>
                          </a:solidFill>
                          <a:effectLst/>
                          <a:latin typeface="+mn-lt"/>
                          <a:ea typeface="+mn-ea"/>
                          <a:cs typeface="+mn-cs"/>
                        </a:rPr>
                        <a:t> (1)</a:t>
                      </a:r>
                      <a:r>
                        <a:rPr kumimoji="0" lang="en-US" altLang="zh-CN" sz="1600" kern="1200" dirty="0">
                          <a:solidFill>
                            <a:schemeClr val="dk1"/>
                          </a:solidFill>
                          <a:effectLst/>
                          <a:latin typeface="+mn-lt"/>
                          <a:ea typeface="+mn-ea"/>
                          <a:cs typeface="+mn-cs"/>
                        </a:rPr>
                        <a:t>.para+”,”</a:t>
                      </a:r>
                    </a:p>
                    <a:p>
                      <a:r>
                        <a:rPr kumimoji="0" lang="en-US" altLang="zh-CN" sz="1600" kern="1200" dirty="0">
                          <a:solidFill>
                            <a:schemeClr val="dk1"/>
                          </a:solidFill>
                          <a:effectLst/>
                          <a:latin typeface="+mn-lt"/>
                          <a:ea typeface="+mn-ea"/>
                          <a:cs typeface="+mn-cs"/>
                        </a:rPr>
                        <a:t>                                 + &lt;</a:t>
                      </a:r>
                      <a:r>
                        <a:rPr kumimoji="0" lang="it-IT" altLang="zh-CN" sz="1600" kern="1200" dirty="0">
                          <a:solidFill>
                            <a:schemeClr val="dk1"/>
                          </a:solidFill>
                          <a:effectLst/>
                          <a:latin typeface="+mn-lt"/>
                          <a:ea typeface="+mn-ea"/>
                          <a:cs typeface="+mn-cs"/>
                        </a:rPr>
                        <a:t>ParaType</a:t>
                      </a:r>
                      <a:r>
                        <a:rPr kumimoji="0" lang="en-US" altLang="zh-CN" sz="1600" kern="1200" dirty="0">
                          <a:solidFill>
                            <a:schemeClr val="dk1"/>
                          </a:solidFill>
                          <a:effectLst/>
                          <a:latin typeface="+mn-lt"/>
                          <a:ea typeface="+mn-ea"/>
                          <a:cs typeface="+mn-cs"/>
                        </a:rPr>
                        <a:t>&gt;. para </a:t>
                      </a:r>
                      <a:r>
                        <a:rPr kumimoji="0" lang="en-US" altLang="zh-CN" sz="1800" kern="1200" dirty="0">
                          <a:solidFill>
                            <a:schemeClr val="dk1"/>
                          </a:solidFill>
                          <a:effectLst/>
                          <a:latin typeface="+mn-lt"/>
                          <a:ea typeface="+mn-ea"/>
                          <a:cs typeface="+mn-cs"/>
                        </a:rPr>
                        <a:t>  }</a:t>
                      </a:r>
                      <a:endParaRPr 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1"/>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091809088"/>
              </p:ext>
            </p:extLst>
          </p:nvPr>
        </p:nvGraphicFramePr>
        <p:xfrm>
          <a:off x="46190" y="2275513"/>
          <a:ext cx="6010866" cy="1539863"/>
        </p:xfrm>
        <a:graphic>
          <a:graphicData uri="http://schemas.openxmlformats.org/drawingml/2006/table">
            <a:tbl>
              <a:tblPr>
                <a:tableStyleId>{5C22544A-7EE6-4342-B048-85BDC9FD1C3A}</a:tableStyleId>
              </a:tblPr>
              <a:tblGrid>
                <a:gridCol w="6010866">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(1) </a:t>
                      </a:r>
                      <a:r>
                        <a:rPr kumimoji="0" lang="it-IT" altLang="zh-CN" sz="1800" kern="1200" dirty="0">
                          <a:solidFill>
                            <a:schemeClr val="dk1"/>
                          </a:solidFill>
                          <a:effectLst/>
                          <a:latin typeface="+mn-lt"/>
                          <a:ea typeface="+mn-ea"/>
                          <a:cs typeface="+mn-cs"/>
                        </a:rPr>
                        <a:t>&lt;FuncDCL&gt;→&lt;FuncType&gt; id (&lt;FuncDParaList&gt;);</a:t>
                      </a:r>
                    </a:p>
                  </a:txBody>
                  <a:tcPr marL="68580" marR="68580" marT="0" marB="0" anchor="ctr">
                    <a:solidFill>
                      <a:schemeClr val="bg1"/>
                    </a:solidFill>
                  </a:tcP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a:t>
                      </a:r>
                      <a:r>
                        <a:rPr kumimoji="0" lang="en-US" altLang="zh-CN" sz="1800" kern="1200" dirty="0" err="1">
                          <a:solidFill>
                            <a:schemeClr val="dk1"/>
                          </a:solidFill>
                          <a:effectLst/>
                          <a:latin typeface="+mn-lt"/>
                          <a:ea typeface="+mn-ea"/>
                          <a:cs typeface="+mn-cs"/>
                        </a:rPr>
                        <a:t>InsertFunction</a:t>
                      </a:r>
                      <a:r>
                        <a:rPr kumimoji="0" lang="en-US" altLang="zh-CN" sz="1800" kern="1200" dirty="0">
                          <a:solidFill>
                            <a:schemeClr val="dk1"/>
                          </a:solidFill>
                          <a:effectLst/>
                          <a:latin typeface="+mn-lt"/>
                          <a:ea typeface="+mn-ea"/>
                          <a:cs typeface="+mn-cs"/>
                        </a:rPr>
                        <a:t> (id.name);  //</a:t>
                      </a:r>
                      <a:r>
                        <a:rPr kumimoji="0" lang="zh-CN" altLang="zh-CN" sz="1800" kern="1200" dirty="0">
                          <a:solidFill>
                            <a:schemeClr val="dk1"/>
                          </a:solidFill>
                          <a:effectLst/>
                          <a:latin typeface="+mn-lt"/>
                          <a:ea typeface="+mn-ea"/>
                          <a:cs typeface="+mn-cs"/>
                        </a:rPr>
                        <a:t>将函数名插入符号表中</a:t>
                      </a:r>
                    </a:p>
                    <a:p>
                      <a:r>
                        <a:rPr kumimoji="0" lang="en-US" altLang="zh-CN" sz="1800" kern="1200" dirty="0">
                          <a:solidFill>
                            <a:schemeClr val="dk1"/>
                          </a:solidFill>
                          <a:effectLst/>
                          <a:latin typeface="+mn-lt"/>
                          <a:ea typeface="+mn-ea"/>
                          <a:cs typeface="+mn-cs"/>
                        </a:rPr>
                        <a:t>entry(id).</a:t>
                      </a:r>
                      <a:r>
                        <a:rPr kumimoji="0" lang="en-US" altLang="zh-CN" sz="1800" kern="1200" dirty="0" err="1">
                          <a:solidFill>
                            <a:schemeClr val="dk1"/>
                          </a:solidFill>
                          <a:effectLst/>
                          <a:latin typeface="+mn-lt"/>
                          <a:ea typeface="+mn-ea"/>
                          <a:cs typeface="+mn-cs"/>
                        </a:rPr>
                        <a:t>returntype</a:t>
                      </a:r>
                      <a:r>
                        <a:rPr kumimoji="0" lang="en-US" altLang="zh-CN" sz="1800" kern="1200" dirty="0">
                          <a:solidFill>
                            <a:schemeClr val="dk1"/>
                          </a:solidFill>
                          <a:effectLst/>
                          <a:latin typeface="+mn-lt"/>
                          <a:ea typeface="+mn-ea"/>
                          <a:cs typeface="+mn-cs"/>
                        </a:rPr>
                        <a:t> = &lt;</a:t>
                      </a:r>
                      <a:r>
                        <a:rPr kumimoji="0" lang="en-US" altLang="zh-CN" sz="1800" kern="1200" dirty="0" err="1">
                          <a:solidFill>
                            <a:schemeClr val="dk1"/>
                          </a:solidFill>
                          <a:effectLst/>
                          <a:latin typeface="+mn-lt"/>
                          <a:ea typeface="+mn-ea"/>
                          <a:cs typeface="+mn-cs"/>
                        </a:rPr>
                        <a:t>FuncType</a:t>
                      </a:r>
                      <a:r>
                        <a:rPr kumimoji="0" lang="en-US" altLang="zh-CN" sz="1800" kern="1200" dirty="0">
                          <a:solidFill>
                            <a:schemeClr val="dk1"/>
                          </a:solidFill>
                          <a:effectLst/>
                          <a:latin typeface="+mn-lt"/>
                          <a:ea typeface="+mn-ea"/>
                          <a:cs typeface="+mn-cs"/>
                        </a:rPr>
                        <a:t> &gt;.type;</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entry(id).</a:t>
                      </a:r>
                      <a:r>
                        <a:rPr kumimoji="0" lang="en-US" altLang="zh-CN" sz="1800" kern="1200" dirty="0" err="1">
                          <a:solidFill>
                            <a:schemeClr val="dk1"/>
                          </a:solidFill>
                          <a:effectLst/>
                          <a:latin typeface="+mn-lt"/>
                          <a:ea typeface="+mn-ea"/>
                          <a:cs typeface="+mn-cs"/>
                        </a:rPr>
                        <a:t>paranums</a:t>
                      </a:r>
                      <a:r>
                        <a:rPr kumimoji="0" lang="en-US" altLang="zh-CN" sz="1800" kern="1200" dirty="0">
                          <a:solidFill>
                            <a:schemeClr val="dk1"/>
                          </a:solidFill>
                          <a:effectLst/>
                          <a:latin typeface="+mn-lt"/>
                          <a:ea typeface="+mn-ea"/>
                          <a:cs typeface="+mn-cs"/>
                        </a:rPr>
                        <a:t> = &lt;</a:t>
                      </a:r>
                      <a:r>
                        <a:rPr kumimoji="0" lang="en-US" altLang="zh-CN" sz="1800" kern="1200" dirty="0" err="1">
                          <a:solidFill>
                            <a:schemeClr val="dk1"/>
                          </a:solidFill>
                          <a:effectLst/>
                          <a:latin typeface="+mn-lt"/>
                          <a:ea typeface="+mn-ea"/>
                          <a:cs typeface="+mn-cs"/>
                        </a:rPr>
                        <a:t>FuncDParaList</a:t>
                      </a:r>
                      <a:r>
                        <a:rPr kumimoji="0" lang="en-US" altLang="zh-CN" sz="1800" kern="1200" dirty="0">
                          <a:solidFill>
                            <a:schemeClr val="dk1"/>
                          </a:solidFill>
                          <a:effectLst/>
                          <a:latin typeface="+mn-lt"/>
                          <a:ea typeface="+mn-ea"/>
                          <a:cs typeface="+mn-cs"/>
                        </a:rPr>
                        <a:t>&gt;.</a:t>
                      </a:r>
                      <a:r>
                        <a:rPr kumimoji="0" lang="en-US" altLang="zh-CN" sz="1800" kern="1200" dirty="0" err="1">
                          <a:solidFill>
                            <a:schemeClr val="dk1"/>
                          </a:solidFill>
                          <a:effectLst/>
                          <a:latin typeface="+mn-lt"/>
                          <a:ea typeface="+mn-ea"/>
                          <a:cs typeface="+mn-cs"/>
                        </a:rPr>
                        <a:t>paranums</a:t>
                      </a:r>
                      <a:r>
                        <a:rPr kumimoji="0" lang="en-US" altLang="zh-CN" sz="1800" kern="1200" dirty="0">
                          <a:solidFill>
                            <a:schemeClr val="dk1"/>
                          </a:solidFill>
                          <a:effectLst/>
                          <a:latin typeface="+mn-lt"/>
                          <a:ea typeface="+mn-ea"/>
                          <a:cs typeface="+mn-cs"/>
                        </a:rPr>
                        <a:t>;</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entry(id).para = &lt;</a:t>
                      </a:r>
                      <a:r>
                        <a:rPr kumimoji="0" lang="en-US" altLang="zh-CN" sz="1800" kern="1200" dirty="0" err="1">
                          <a:solidFill>
                            <a:schemeClr val="dk1"/>
                          </a:solidFill>
                          <a:effectLst/>
                          <a:latin typeface="+mn-lt"/>
                          <a:ea typeface="+mn-ea"/>
                          <a:cs typeface="+mn-cs"/>
                        </a:rPr>
                        <a:t>FuncDParaList</a:t>
                      </a:r>
                      <a:r>
                        <a:rPr kumimoji="0" lang="en-US" altLang="zh-CN" sz="1800" kern="1200" dirty="0">
                          <a:solidFill>
                            <a:schemeClr val="dk1"/>
                          </a:solidFill>
                          <a:effectLst/>
                          <a:latin typeface="+mn-lt"/>
                          <a:ea typeface="+mn-ea"/>
                          <a:cs typeface="+mn-cs"/>
                        </a:rPr>
                        <a:t>&gt;.para;                }</a:t>
                      </a:r>
                      <a:endParaRPr lang="zh-CN" sz="1800" kern="100" dirty="0">
                        <a:effectLst/>
                        <a:latin typeface="Times New Roman"/>
                        <a:ea typeface="宋体"/>
                      </a:endParaRPr>
                    </a:p>
                  </a:txBody>
                  <a:tcPr marL="68580" marR="68580" marT="0" marB="0" anchor="ctr">
                    <a:solidFill>
                      <a:schemeClr val="bg1"/>
                    </a:solidFill>
                  </a:tcPr>
                </a:tc>
                <a:extLst>
                  <a:ext uri="{0D108BD9-81ED-4DB2-BD59-A6C34878D82A}">
                    <a16:rowId xmlns:a16="http://schemas.microsoft.com/office/drawing/2014/main" val="10001"/>
                  </a:ext>
                </a:extLst>
              </a:tr>
            </a:tbl>
          </a:graphicData>
        </a:graphic>
      </p:graphicFrame>
      <p:sp>
        <p:nvSpPr>
          <p:cNvPr id="13" name="Line 16"/>
          <p:cNvSpPr>
            <a:spLocks noChangeShapeType="1"/>
          </p:cNvSpPr>
          <p:nvPr/>
        </p:nvSpPr>
        <p:spPr bwMode="auto">
          <a:xfrm flipV="1">
            <a:off x="5094364" y="1594660"/>
            <a:ext cx="17177" cy="381881"/>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flipV="1">
            <a:off x="6479704" y="2715766"/>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5" name="Line 16"/>
          <p:cNvSpPr>
            <a:spLocks noChangeShapeType="1"/>
          </p:cNvSpPr>
          <p:nvPr/>
        </p:nvSpPr>
        <p:spPr bwMode="auto">
          <a:xfrm flipH="1" flipV="1">
            <a:off x="7220769" y="3412532"/>
            <a:ext cx="2" cy="397878"/>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6" name="Line 16"/>
          <p:cNvSpPr>
            <a:spLocks noChangeShapeType="1"/>
          </p:cNvSpPr>
          <p:nvPr/>
        </p:nvSpPr>
        <p:spPr bwMode="auto">
          <a:xfrm flipV="1">
            <a:off x="8244408" y="4025930"/>
            <a:ext cx="0" cy="322231"/>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7" name="Line 16"/>
          <p:cNvSpPr>
            <a:spLocks noChangeShapeType="1"/>
          </p:cNvSpPr>
          <p:nvPr/>
        </p:nvSpPr>
        <p:spPr bwMode="auto">
          <a:xfrm flipV="1">
            <a:off x="8247831" y="3412532"/>
            <a:ext cx="0" cy="301745"/>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8" name="Line 16"/>
          <p:cNvSpPr>
            <a:spLocks noChangeShapeType="1"/>
          </p:cNvSpPr>
          <p:nvPr/>
        </p:nvSpPr>
        <p:spPr bwMode="auto">
          <a:xfrm flipV="1">
            <a:off x="7308304" y="2812854"/>
            <a:ext cx="235833" cy="38782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9" name="Line 16"/>
          <p:cNvSpPr>
            <a:spLocks noChangeShapeType="1"/>
          </p:cNvSpPr>
          <p:nvPr/>
        </p:nvSpPr>
        <p:spPr bwMode="auto">
          <a:xfrm flipH="1" flipV="1">
            <a:off x="7874969" y="2758779"/>
            <a:ext cx="369439" cy="387825"/>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0" name="Line 16"/>
          <p:cNvSpPr>
            <a:spLocks noChangeShapeType="1"/>
          </p:cNvSpPr>
          <p:nvPr/>
        </p:nvSpPr>
        <p:spPr bwMode="auto">
          <a:xfrm flipH="1" flipV="1">
            <a:off x="7220770" y="2120561"/>
            <a:ext cx="369042" cy="397878"/>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1" name="Line 16"/>
          <p:cNvSpPr>
            <a:spLocks noChangeShapeType="1"/>
          </p:cNvSpPr>
          <p:nvPr/>
        </p:nvSpPr>
        <p:spPr bwMode="auto">
          <a:xfrm flipV="1">
            <a:off x="6435206" y="2120561"/>
            <a:ext cx="369042" cy="432046"/>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2" name="Line 16"/>
          <p:cNvSpPr>
            <a:spLocks noChangeShapeType="1"/>
          </p:cNvSpPr>
          <p:nvPr/>
        </p:nvSpPr>
        <p:spPr bwMode="auto">
          <a:xfrm flipV="1">
            <a:off x="7092280" y="1544496"/>
            <a:ext cx="0" cy="235166"/>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cxnSp>
        <p:nvCxnSpPr>
          <p:cNvPr id="7" name="直接连接符 6"/>
          <p:cNvCxnSpPr/>
          <p:nvPr/>
        </p:nvCxnSpPr>
        <p:spPr>
          <a:xfrm>
            <a:off x="4828022" y="1594661"/>
            <a:ext cx="540568"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656622" y="1594661"/>
            <a:ext cx="432048"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444208" y="1588021"/>
            <a:ext cx="432048"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7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down)">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nodeType="clickEffect">
                                  <p:stCondLst>
                                    <p:cond delay="0"/>
                                  </p:stCondLst>
                                  <p:childTnLst>
                                    <p:set>
                                      <p:cBhvr>
                                        <p:cTn id="49" dur="1" fill="hold">
                                          <p:stCondLst>
                                            <p:cond delay="0"/>
                                          </p:stCondLst>
                                        </p:cTn>
                                        <p:tgtEl>
                                          <p:spTgt spid="8"/>
                                        </p:tgtEl>
                                        <p:attrNameLst>
                                          <p:attrName>style.visibility</p:attrName>
                                        </p:attrNameLst>
                                      </p:cBhvr>
                                      <p:to>
                                        <p:strVal val="hidden"/>
                                      </p:to>
                                    </p:set>
                                  </p:childTnLst>
                                </p:cTn>
                              </p:par>
                              <p:par>
                                <p:cTn id="50" presetID="1" presetClass="entr" presetSubtype="0" fill="hold" nodeType="with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par>
                                <p:cTn id="57" presetID="22" presetClass="entr" presetSubtype="4"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down)">
                                      <p:cBhvr>
                                        <p:cTn id="59" dur="5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10"/>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down)">
                                      <p:cBhvr>
                                        <p:cTn id="70" dur="500"/>
                                        <p:tgtEl>
                                          <p:spTgt spid="20"/>
                                        </p:tgtEl>
                                      </p:cBhvr>
                                    </p:animEffect>
                                  </p:childTnLst>
                                </p:cTn>
                              </p:par>
                              <p:par>
                                <p:cTn id="71" presetID="22" presetClass="entr" presetSubtype="4" fill="hold"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down)">
                                      <p:cBhvr>
                                        <p:cTn id="73" dur="500"/>
                                        <p:tgtEl>
                                          <p:spTgt spid="2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wipe(down)">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11"/>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9"/>
                                        </p:tgtEl>
                                        <p:attrNameLst>
                                          <p:attrName>style.visibility</p:attrName>
                                        </p:attrNameLst>
                                      </p:cBhvr>
                                      <p:to>
                                        <p:strVal val="hidden"/>
                                      </p:to>
                                    </p:set>
                                  </p:childTnLst>
                                </p:cTn>
                              </p:par>
                              <p:par>
                                <p:cTn id="97" presetID="1" presetClass="entr" presetSubtype="0" fill="hold" nodeType="withEffect">
                                  <p:stCondLst>
                                    <p:cond delay="0"/>
                                  </p:stCondLst>
                                  <p:childTnLst>
                                    <p:set>
                                      <p:cBhvr>
                                        <p:cTn id="98" dur="1" fill="hold">
                                          <p:stCondLst>
                                            <p:cond delay="0"/>
                                          </p:stCondLst>
                                        </p:cTn>
                                        <p:tgtEl>
                                          <p:spTgt spid="1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noAutofit/>
          </a:bodyPr>
          <a:lstStyle/>
          <a:p>
            <a:r>
              <a:rPr lang="zh-CN" altLang="en-US" dirty="0"/>
              <a:t>函数声明的属性文法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68064471"/>
              </p:ext>
            </p:extLst>
          </p:nvPr>
        </p:nvGraphicFramePr>
        <p:xfrm>
          <a:off x="1" y="699543"/>
          <a:ext cx="9143999" cy="4464763"/>
        </p:xfrm>
        <a:graphic>
          <a:graphicData uri="http://schemas.openxmlformats.org/drawingml/2006/table">
            <a:tbl>
              <a:tblPr>
                <a:tableStyleId>{5C22544A-7EE6-4342-B048-85BDC9FD1C3A}</a:tableStyleId>
              </a:tblPr>
              <a:tblGrid>
                <a:gridCol w="683567">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5940152">
                  <a:extLst>
                    <a:ext uri="{9D8B030D-6E8A-4147-A177-3AD203B41FA5}">
                      <a16:colId xmlns:a16="http://schemas.microsoft.com/office/drawing/2014/main" val="20002"/>
                    </a:ext>
                  </a:extLst>
                </a:gridCol>
              </a:tblGrid>
              <a:tr h="230100">
                <a:tc>
                  <a:txBody>
                    <a:bodyPr/>
                    <a:lstStyle/>
                    <a:p>
                      <a:pPr algn="ctr">
                        <a:spcAft>
                          <a:spcPts val="0"/>
                        </a:spcAft>
                      </a:pPr>
                      <a:r>
                        <a:rPr lang="zh-CN" sz="1600" kern="100" dirty="0">
                          <a:effectLst/>
                          <a:latin typeface="Times New Roman" panose="02020603050405020304" pitchFamily="18" charset="0"/>
                          <a:ea typeface="宋体" panose="02010600030101010101" pitchFamily="2" charset="-122"/>
                          <a:cs typeface="Times New Roman" panose="02020603050405020304" pitchFamily="18" charset="0"/>
                        </a:rPr>
                        <a:t>编号</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产生式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语义规则</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05351">
                <a:tc>
                  <a:txBody>
                    <a:bodyPr/>
                    <a:lstStyle/>
                    <a:p>
                      <a:pPr algn="ctr"/>
                      <a:r>
                        <a:rPr lang="zh-CN" sz="1600" kern="100" dirty="0">
                          <a:effectLst/>
                          <a:latin typeface="Times New Roman" panose="02020603050405020304" pitchFamily="18" charset="0"/>
                          <a:ea typeface="宋体" panose="02010600030101010101" pitchFamily="2" charset="-122"/>
                        </a:rPr>
                        <a:t>（</a:t>
                      </a:r>
                      <a:r>
                        <a:rPr lang="en-US"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600" kern="100" dirty="0">
                          <a:effectLst/>
                          <a:latin typeface="Times New Roman" panose="02020603050405020304" pitchFamily="18" charset="0"/>
                          <a:ea typeface="宋体" panose="02010600030101010101" pitchFamily="2" charset="-122"/>
                        </a:rPr>
                        <a:t>&lt;</a:t>
                      </a:r>
                      <a:r>
                        <a:rPr lang="en-US" sz="1600" kern="100" dirty="0" err="1">
                          <a:effectLst/>
                          <a:latin typeface="Times New Roman" panose="02020603050405020304" pitchFamily="18" charset="0"/>
                          <a:ea typeface="宋体" panose="02010600030101010101" pitchFamily="2" charset="-122"/>
                        </a:rPr>
                        <a:t>FuncDCL</a:t>
                      </a:r>
                      <a:r>
                        <a:rPr lang="en-US" sz="1600" kern="100" dirty="0">
                          <a:effectLst/>
                          <a:latin typeface="Times New Roman" panose="02020603050405020304" pitchFamily="18" charset="0"/>
                          <a:ea typeface="宋体" panose="02010600030101010101" pitchFamily="2" charset="-122"/>
                        </a:rPr>
                        <a:t>&gt;</a:t>
                      </a:r>
                      <a:r>
                        <a:rPr lang="zh-CN" sz="1600" kern="100" dirty="0">
                          <a:effectLst/>
                          <a:latin typeface="Times New Roman" panose="02020603050405020304" pitchFamily="18" charset="0"/>
                          <a:ea typeface="宋体" panose="02010600030101010101" pitchFamily="2" charset="-122"/>
                        </a:rPr>
                        <a:t>→</a:t>
                      </a:r>
                      <a:r>
                        <a:rPr lang="en-US" sz="1600" kern="100" dirty="0">
                          <a:effectLst/>
                          <a:latin typeface="Times New Roman" panose="02020603050405020304" pitchFamily="18" charset="0"/>
                          <a:ea typeface="宋体" panose="02010600030101010101" pitchFamily="2" charset="-122"/>
                        </a:rPr>
                        <a:t>&lt;</a:t>
                      </a:r>
                      <a:r>
                        <a:rPr lang="en-US" sz="1600" kern="100" dirty="0" err="1">
                          <a:effectLst/>
                          <a:latin typeface="Times New Roman" panose="02020603050405020304" pitchFamily="18" charset="0"/>
                          <a:ea typeface="宋体" panose="02010600030101010101" pitchFamily="2" charset="-122"/>
                        </a:rPr>
                        <a:t>FuncType</a:t>
                      </a:r>
                      <a:r>
                        <a:rPr lang="en-US" sz="1600" kern="100" dirty="0">
                          <a:effectLst/>
                          <a:latin typeface="Times New Roman" panose="02020603050405020304" pitchFamily="18" charset="0"/>
                          <a:ea typeface="宋体" panose="02010600030101010101" pitchFamily="2" charset="-122"/>
                        </a:rPr>
                        <a:t>&gt; </a:t>
                      </a:r>
                    </a:p>
                    <a:p>
                      <a:pPr algn="just"/>
                      <a:r>
                        <a:rPr lang="en-US" sz="1600" kern="100" dirty="0">
                          <a:effectLst/>
                          <a:latin typeface="Times New Roman" panose="02020603050405020304" pitchFamily="18" charset="0"/>
                          <a:ea typeface="宋体" panose="02010600030101010101" pitchFamily="2" charset="-122"/>
                        </a:rPr>
                        <a:t>         id  (&lt;</a:t>
                      </a:r>
                      <a:r>
                        <a:rPr lang="en-US" sz="1600" kern="100" dirty="0" err="1">
                          <a:effectLst/>
                          <a:latin typeface="Times New Roman" panose="02020603050405020304" pitchFamily="18" charset="0"/>
                          <a:ea typeface="宋体" panose="02010600030101010101" pitchFamily="2" charset="-122"/>
                        </a:rPr>
                        <a:t>FuncDParaList</a:t>
                      </a:r>
                      <a:r>
                        <a:rPr lang="en-US" sz="1600" kern="100" dirty="0">
                          <a:effectLst/>
                          <a:latin typeface="Times New Roman" panose="02020603050405020304" pitchFamily="18" charset="0"/>
                          <a:ea typeface="宋体" panose="02010600030101010101" pitchFamily="2" charset="-122"/>
                        </a:rPr>
                        <a:t>&gt;);</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a:effectLst/>
                          <a:latin typeface="Times New Roman" panose="02020603050405020304" pitchFamily="18" charset="0"/>
                          <a:ea typeface="宋体" panose="02010600030101010101" pitchFamily="2" charset="-122"/>
                        </a:rPr>
                        <a:t>{  InsertFunction (id.name);  //</a:t>
                      </a:r>
                      <a:r>
                        <a:rPr lang="zh-CN" sz="1600" kern="100">
                          <a:effectLst/>
                          <a:latin typeface="Times New Roman" panose="02020603050405020304" pitchFamily="18" charset="0"/>
                          <a:ea typeface="宋体" panose="02010600030101010101" pitchFamily="2" charset="-122"/>
                        </a:rPr>
                        <a:t>将函数名插入符号表中</a:t>
                      </a:r>
                      <a:endParaRPr lang="zh-CN" sz="2000" kern="100">
                        <a:effectLst/>
                        <a:latin typeface="Times New Roman" panose="02020603050405020304" pitchFamily="18" charset="0"/>
                        <a:ea typeface="宋体" panose="02010600030101010101" pitchFamily="2" charset="-122"/>
                      </a:endParaRPr>
                    </a:p>
                    <a:p>
                      <a:pPr indent="114300" algn="just"/>
                      <a:r>
                        <a:rPr lang="en-US" sz="1600" kern="100">
                          <a:effectLst/>
                          <a:latin typeface="Times New Roman" panose="02020603050405020304" pitchFamily="18" charset="0"/>
                          <a:ea typeface="宋体" panose="02010600030101010101" pitchFamily="2" charset="-122"/>
                        </a:rPr>
                        <a:t>entry(id).returntype = &lt;FuncType &gt;.type;</a:t>
                      </a:r>
                      <a:endParaRPr lang="zh-CN" sz="2000" kern="100">
                        <a:effectLst/>
                        <a:latin typeface="Times New Roman" panose="02020603050405020304" pitchFamily="18" charset="0"/>
                        <a:ea typeface="宋体" panose="02010600030101010101" pitchFamily="2" charset="-122"/>
                      </a:endParaRPr>
                    </a:p>
                    <a:p>
                      <a:pPr indent="114300" algn="just"/>
                      <a:r>
                        <a:rPr lang="en-US" sz="1600" kern="100">
                          <a:effectLst/>
                          <a:latin typeface="Times New Roman" panose="02020603050405020304" pitchFamily="18" charset="0"/>
                          <a:ea typeface="宋体" panose="02010600030101010101" pitchFamily="2" charset="-122"/>
                        </a:rPr>
                        <a:t>entry(id).paranums = &lt;FuncDParaList&gt;.paranums;</a:t>
                      </a:r>
                      <a:endParaRPr lang="zh-CN" sz="2000" kern="100">
                        <a:effectLst/>
                        <a:latin typeface="Times New Roman" panose="02020603050405020304" pitchFamily="18" charset="0"/>
                        <a:ea typeface="宋体" panose="02010600030101010101" pitchFamily="2" charset="-122"/>
                      </a:endParaRPr>
                    </a:p>
                    <a:p>
                      <a:pPr indent="114300" algn="just"/>
                      <a:r>
                        <a:rPr lang="en-US" sz="1600" kern="100">
                          <a:effectLst/>
                          <a:latin typeface="Times New Roman" panose="02020603050405020304" pitchFamily="18" charset="0"/>
                          <a:ea typeface="宋体" panose="02010600030101010101" pitchFamily="2" charset="-122"/>
                        </a:rPr>
                        <a:t>entry(id).para = &lt;FuncDParaList&gt;.para                         }</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2879">
                <a:tc>
                  <a:txBody>
                    <a:bodyPr/>
                    <a:lstStyle/>
                    <a:p>
                      <a:pPr algn="ctr"/>
                      <a:r>
                        <a:rPr lang="zh-CN" sz="1600" kern="100">
                          <a:effectLst/>
                          <a:latin typeface="Times New Roman" panose="02020603050405020304" pitchFamily="18" charset="0"/>
                          <a:ea typeface="宋体" panose="02010600030101010101" pitchFamily="2" charset="-122"/>
                        </a:rPr>
                        <a:t>（</a:t>
                      </a:r>
                      <a:r>
                        <a:rPr lang="en-US" sz="1600" kern="100">
                          <a:effectLst/>
                          <a:latin typeface="Times New Roman" panose="02020603050405020304" pitchFamily="18" charset="0"/>
                          <a:ea typeface="宋体" panose="02010600030101010101" pitchFamily="2" charset="-122"/>
                        </a:rPr>
                        <a:t>2</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600" kern="100" dirty="0">
                          <a:effectLst/>
                          <a:latin typeface="Times New Roman" panose="02020603050405020304" pitchFamily="18" charset="0"/>
                          <a:ea typeface="宋体" panose="02010600030101010101" pitchFamily="2" charset="-122"/>
                        </a:rPr>
                        <a:t>&lt;</a:t>
                      </a:r>
                      <a:r>
                        <a:rPr lang="en-US" sz="1600" kern="100" dirty="0" err="1">
                          <a:effectLst/>
                          <a:latin typeface="Times New Roman" panose="02020603050405020304" pitchFamily="18" charset="0"/>
                          <a:ea typeface="宋体" panose="02010600030101010101" pitchFamily="2" charset="-122"/>
                        </a:rPr>
                        <a:t>FuncType</a:t>
                      </a:r>
                      <a:r>
                        <a:rPr lang="it-IT" sz="1600" kern="100" dirty="0">
                          <a:effectLst/>
                          <a:latin typeface="Times New Roman" panose="02020603050405020304" pitchFamily="18" charset="0"/>
                          <a:ea typeface="宋体" panose="02010600030101010101" pitchFamily="2" charset="-122"/>
                        </a:rPr>
                        <a:t>&gt;</a:t>
                      </a:r>
                      <a:r>
                        <a:rPr lang="zh-CN" sz="1600" kern="100" dirty="0">
                          <a:effectLst/>
                          <a:latin typeface="Times New Roman" panose="02020603050405020304" pitchFamily="18" charset="0"/>
                          <a:ea typeface="宋体" panose="02010600030101010101" pitchFamily="2" charset="-122"/>
                        </a:rPr>
                        <a:t>→</a:t>
                      </a:r>
                      <a:r>
                        <a:rPr lang="it-IT" sz="1600" kern="100" dirty="0">
                          <a:effectLst/>
                          <a:latin typeface="Times New Roman" panose="02020603050405020304" pitchFamily="18" charset="0"/>
                          <a:ea typeface="宋体" panose="02010600030101010101" pitchFamily="2" charset="-122"/>
                        </a:rPr>
                        <a:t>int|char|float</a:t>
                      </a:r>
                    </a:p>
                    <a:p>
                      <a:pPr algn="just"/>
                      <a:r>
                        <a:rPr lang="it-IT" sz="1600" kern="100" dirty="0">
                          <a:effectLst/>
                          <a:latin typeface="Times New Roman" panose="02020603050405020304" pitchFamily="18" charset="0"/>
                          <a:ea typeface="宋体" panose="02010600030101010101" pitchFamily="2" charset="-122"/>
                        </a:rPr>
                        <a:t>                        |void</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dirty="0">
                          <a:effectLst/>
                          <a:latin typeface="Times New Roman" panose="02020603050405020304" pitchFamily="18" charset="0"/>
                          <a:ea typeface="宋体" panose="02010600030101010101" pitchFamily="2" charset="-122"/>
                        </a:rPr>
                        <a:t>{  &lt;</a:t>
                      </a:r>
                      <a:r>
                        <a:rPr lang="en-US" sz="1600" kern="100" dirty="0" err="1">
                          <a:effectLst/>
                          <a:latin typeface="Times New Roman" panose="02020603050405020304" pitchFamily="18" charset="0"/>
                          <a:ea typeface="宋体" panose="02010600030101010101" pitchFamily="2" charset="-122"/>
                        </a:rPr>
                        <a:t>FuncType</a:t>
                      </a:r>
                      <a:r>
                        <a:rPr lang="en-US" sz="1600" kern="100" dirty="0">
                          <a:effectLst/>
                          <a:latin typeface="Times New Roman" panose="02020603050405020304" pitchFamily="18" charset="0"/>
                          <a:ea typeface="宋体" panose="02010600030101010101" pitchFamily="2" charset="-122"/>
                        </a:rPr>
                        <a:t>&gt;.type = int                                                   }</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07909">
                <a:tc>
                  <a:txBody>
                    <a:bodyPr/>
                    <a:lstStyle/>
                    <a:p>
                      <a:pPr algn="ctr"/>
                      <a:r>
                        <a:rPr lang="zh-CN" sz="1600" kern="100">
                          <a:effectLst/>
                          <a:latin typeface="Times New Roman" panose="02020603050405020304" pitchFamily="18" charset="0"/>
                          <a:ea typeface="宋体" panose="02010600030101010101" pitchFamily="2" charset="-122"/>
                        </a:rPr>
                        <a:t>（</a:t>
                      </a:r>
                      <a:r>
                        <a:rPr lang="en-US" sz="1600" kern="100">
                          <a:effectLst/>
                          <a:latin typeface="Times New Roman" panose="02020603050405020304" pitchFamily="18" charset="0"/>
                          <a:ea typeface="宋体" panose="02010600030101010101" pitchFamily="2" charset="-122"/>
                        </a:rPr>
                        <a:t>3</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600" kern="100" dirty="0">
                          <a:effectLst/>
                          <a:latin typeface="Times New Roman" panose="02020603050405020304" pitchFamily="18" charset="0"/>
                          <a:ea typeface="宋体" panose="02010600030101010101" pitchFamily="2" charset="-122"/>
                        </a:rPr>
                        <a:t>&lt;</a:t>
                      </a:r>
                      <a:r>
                        <a:rPr lang="en-US" sz="1600" kern="100" dirty="0" err="1">
                          <a:effectLst/>
                          <a:latin typeface="Times New Roman" panose="02020603050405020304" pitchFamily="18" charset="0"/>
                          <a:ea typeface="宋体" panose="02010600030101010101" pitchFamily="2" charset="-122"/>
                        </a:rPr>
                        <a:t>FuncDParaList</a:t>
                      </a:r>
                      <a:r>
                        <a:rPr lang="it-IT" sz="1600" kern="100" dirty="0">
                          <a:effectLst/>
                          <a:latin typeface="Times New Roman" panose="02020603050405020304" pitchFamily="18" charset="0"/>
                          <a:ea typeface="宋体" panose="02010600030101010101" pitchFamily="2" charset="-122"/>
                        </a:rPr>
                        <a:t>&gt;</a:t>
                      </a:r>
                      <a:r>
                        <a:rPr lang="zh-CN" sz="1600" kern="100" dirty="0">
                          <a:effectLst/>
                          <a:latin typeface="Times New Roman" panose="02020603050405020304" pitchFamily="18" charset="0"/>
                          <a:ea typeface="宋体" panose="02010600030101010101" pitchFamily="2" charset="-122"/>
                        </a:rPr>
                        <a:t>→</a:t>
                      </a:r>
                      <a:endParaRPr lang="en-US" altLang="zh-CN" sz="1600" kern="100" dirty="0">
                        <a:effectLst/>
                        <a:latin typeface="Times New Roman" panose="02020603050405020304" pitchFamily="18" charset="0"/>
                        <a:ea typeface="宋体" panose="02010600030101010101" pitchFamily="2" charset="-122"/>
                      </a:endParaRPr>
                    </a:p>
                    <a:p>
                      <a:pPr algn="just"/>
                      <a:r>
                        <a:rPr lang="en-US" sz="1600" kern="100" dirty="0">
                          <a:effectLst/>
                          <a:latin typeface="Times New Roman" panose="02020603050405020304" pitchFamily="18" charset="0"/>
                          <a:ea typeface="宋体" panose="02010600030101010101" pitchFamily="2" charset="-122"/>
                        </a:rPr>
                        <a:t>                       </a:t>
                      </a:r>
                      <a:r>
                        <a:rPr lang="it-IT" sz="1600" kern="100" dirty="0">
                          <a:effectLst/>
                          <a:latin typeface="Times New Roman" panose="02020603050405020304" pitchFamily="18" charset="0"/>
                          <a:ea typeface="宋体" panose="02010600030101010101" pitchFamily="2" charset="-122"/>
                        </a:rPr>
                        <a:t>&lt;</a:t>
                      </a:r>
                      <a:r>
                        <a:rPr lang="en-US" sz="1600" kern="100" dirty="0" err="1">
                          <a:effectLst/>
                          <a:latin typeface="Times New Roman" panose="02020603050405020304" pitchFamily="18" charset="0"/>
                          <a:ea typeface="宋体" panose="02010600030101010101" pitchFamily="2" charset="-122"/>
                        </a:rPr>
                        <a:t>FuncDPara</a:t>
                      </a:r>
                      <a:r>
                        <a:rPr lang="it-IT" sz="1600" kern="100" dirty="0">
                          <a:effectLst/>
                          <a:latin typeface="Times New Roman" panose="02020603050405020304" pitchFamily="18" charset="0"/>
                          <a:ea typeface="宋体" panose="02010600030101010101" pitchFamily="2" charset="-122"/>
                        </a:rPr>
                        <a:t>&gt;</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a:effectLst/>
                          <a:latin typeface="Times New Roman" panose="02020603050405020304" pitchFamily="18" charset="0"/>
                          <a:ea typeface="宋体" panose="02010600030101010101" pitchFamily="2" charset="-122"/>
                        </a:rPr>
                        <a:t>{  &lt;FuncDParaList&gt;.paranums = &lt;FuncDPara&gt;.paranums; </a:t>
                      </a:r>
                      <a:endParaRPr lang="zh-CN" sz="2000" kern="100">
                        <a:effectLst/>
                        <a:latin typeface="Times New Roman" panose="02020603050405020304" pitchFamily="18" charset="0"/>
                        <a:ea typeface="宋体" panose="02010600030101010101" pitchFamily="2" charset="-122"/>
                      </a:endParaRPr>
                    </a:p>
                    <a:p>
                      <a:pPr algn="just"/>
                      <a:r>
                        <a:rPr lang="en-US" sz="1600" kern="100">
                          <a:effectLst/>
                          <a:latin typeface="Times New Roman" panose="02020603050405020304" pitchFamily="18" charset="0"/>
                          <a:ea typeface="宋体" panose="02010600030101010101" pitchFamily="2" charset="-122"/>
                        </a:rPr>
                        <a:t>    &lt;FuncDParaList&gt;.para= &lt;FuncDPara&gt;.para                              }</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07909">
                <a:tc>
                  <a:txBody>
                    <a:bodyPr/>
                    <a:lstStyle/>
                    <a:p>
                      <a:pPr algn="ctr"/>
                      <a:r>
                        <a:rPr lang="zh-CN" sz="1600" kern="100">
                          <a:effectLst/>
                          <a:latin typeface="Times New Roman" panose="02020603050405020304" pitchFamily="18" charset="0"/>
                          <a:ea typeface="宋体" panose="02010600030101010101" pitchFamily="2" charset="-122"/>
                        </a:rPr>
                        <a:t>（</a:t>
                      </a:r>
                      <a:r>
                        <a:rPr lang="en-US" sz="1600" kern="100">
                          <a:effectLst/>
                          <a:latin typeface="Times New Roman" panose="02020603050405020304" pitchFamily="18" charset="0"/>
                          <a:ea typeface="宋体" panose="02010600030101010101" pitchFamily="2" charset="-122"/>
                        </a:rPr>
                        <a:t>4</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600" kern="100">
                          <a:effectLst/>
                          <a:latin typeface="Times New Roman" panose="02020603050405020304" pitchFamily="18" charset="0"/>
                          <a:ea typeface="宋体" panose="02010600030101010101" pitchFamily="2" charset="-122"/>
                        </a:rPr>
                        <a:t>&lt;FuncDPara&gt;</a:t>
                      </a:r>
                      <a:r>
                        <a:rPr lang="zh-CN" sz="1600" kern="100">
                          <a:effectLst/>
                          <a:latin typeface="Times New Roman" panose="02020603050405020304" pitchFamily="18" charset="0"/>
                          <a:ea typeface="宋体" panose="02010600030101010101" pitchFamily="2" charset="-122"/>
                        </a:rPr>
                        <a:t>→</a:t>
                      </a:r>
                      <a:r>
                        <a:rPr lang="it-IT" sz="1600" kern="100">
                          <a:effectLst/>
                          <a:latin typeface="Times New Roman" panose="02020603050405020304" pitchFamily="18" charset="0"/>
                          <a:ea typeface="宋体" panose="02010600030101010101" pitchFamily="2" charset="-122"/>
                        </a:rPr>
                        <a:t>&lt;ParaType&gt;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a:effectLst/>
                          <a:latin typeface="Times New Roman" panose="02020603050405020304" pitchFamily="18" charset="0"/>
                          <a:ea typeface="宋体" panose="02010600030101010101" pitchFamily="2" charset="-122"/>
                        </a:rPr>
                        <a:t>{  &lt;FuncDPara&gt;. paranums = &lt;</a:t>
                      </a:r>
                      <a:r>
                        <a:rPr lang="it-IT" sz="1600" kern="100">
                          <a:effectLst/>
                          <a:latin typeface="Times New Roman" panose="02020603050405020304" pitchFamily="18" charset="0"/>
                          <a:ea typeface="宋体" panose="02010600030101010101" pitchFamily="2" charset="-122"/>
                        </a:rPr>
                        <a:t>ParaType</a:t>
                      </a:r>
                      <a:r>
                        <a:rPr lang="en-US" sz="1600" kern="100">
                          <a:effectLst/>
                          <a:latin typeface="Times New Roman" panose="02020603050405020304" pitchFamily="18" charset="0"/>
                          <a:ea typeface="宋体" panose="02010600030101010101" pitchFamily="2" charset="-122"/>
                        </a:rPr>
                        <a:t>&gt;. paranums;</a:t>
                      </a:r>
                      <a:endParaRPr lang="zh-CN" sz="2000" kern="100">
                        <a:effectLst/>
                        <a:latin typeface="Times New Roman" panose="02020603050405020304" pitchFamily="18" charset="0"/>
                        <a:ea typeface="宋体" panose="02010600030101010101" pitchFamily="2" charset="-122"/>
                      </a:endParaRPr>
                    </a:p>
                    <a:p>
                      <a:pPr indent="114300" algn="just"/>
                      <a:r>
                        <a:rPr lang="en-US" sz="1600" kern="100">
                          <a:effectLst/>
                          <a:latin typeface="Times New Roman" panose="02020603050405020304" pitchFamily="18" charset="0"/>
                          <a:ea typeface="宋体" panose="02010600030101010101" pitchFamily="2" charset="-122"/>
                        </a:rPr>
                        <a:t>&lt;FuncDPara&gt;. para = &lt;</a:t>
                      </a:r>
                      <a:r>
                        <a:rPr lang="it-IT" sz="1600" kern="100">
                          <a:effectLst/>
                          <a:latin typeface="Times New Roman" panose="02020603050405020304" pitchFamily="18" charset="0"/>
                          <a:ea typeface="宋体" panose="02010600030101010101" pitchFamily="2" charset="-122"/>
                        </a:rPr>
                        <a:t>ParaType</a:t>
                      </a:r>
                      <a:r>
                        <a:rPr lang="en-US" sz="1600" kern="100">
                          <a:effectLst/>
                          <a:latin typeface="Times New Roman" panose="02020603050405020304" pitchFamily="18" charset="0"/>
                          <a:ea typeface="宋体" panose="02010600030101010101" pitchFamily="2" charset="-122"/>
                        </a:rPr>
                        <a:t>&gt;. para                               }</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4013">
                <a:tc>
                  <a:txBody>
                    <a:bodyPr/>
                    <a:lstStyle/>
                    <a:p>
                      <a:pPr algn="ctr"/>
                      <a:r>
                        <a:rPr lang="zh-CN" sz="1600" kern="100">
                          <a:effectLst/>
                          <a:latin typeface="Times New Roman" panose="02020603050405020304" pitchFamily="18" charset="0"/>
                          <a:ea typeface="宋体" panose="02010600030101010101" pitchFamily="2" charset="-122"/>
                        </a:rPr>
                        <a:t>（</a:t>
                      </a:r>
                      <a:r>
                        <a:rPr lang="en-US" sz="1600" kern="100">
                          <a:effectLst/>
                          <a:latin typeface="Times New Roman" panose="02020603050405020304" pitchFamily="18" charset="0"/>
                          <a:ea typeface="宋体" panose="02010600030101010101" pitchFamily="2" charset="-122"/>
                        </a:rPr>
                        <a:t>5</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600" kern="100" dirty="0">
                          <a:effectLst/>
                          <a:latin typeface="Times New Roman" panose="02020603050405020304" pitchFamily="18" charset="0"/>
                          <a:ea typeface="宋体" panose="02010600030101010101" pitchFamily="2" charset="-122"/>
                        </a:rPr>
                        <a:t>&lt;FuncDPara&gt;</a:t>
                      </a:r>
                      <a:r>
                        <a:rPr lang="zh-CN" sz="1600" kern="100" dirty="0">
                          <a:effectLst/>
                          <a:latin typeface="Times New Roman" panose="02020603050405020304" pitchFamily="18" charset="0"/>
                          <a:ea typeface="宋体" panose="02010600030101010101" pitchFamily="2" charset="-122"/>
                        </a:rPr>
                        <a:t>→</a:t>
                      </a:r>
                      <a:r>
                        <a:rPr lang="it-IT" sz="1600" kern="100" dirty="0">
                          <a:effectLst/>
                          <a:latin typeface="Times New Roman" panose="02020603050405020304" pitchFamily="18" charset="0"/>
                          <a:ea typeface="宋体" panose="02010600030101010101" pitchFamily="2" charset="-122"/>
                        </a:rPr>
                        <a:t>&lt;ParaType&gt;</a:t>
                      </a:r>
                    </a:p>
                    <a:p>
                      <a:pPr algn="just"/>
                      <a:r>
                        <a:rPr lang="it-IT" sz="1600" kern="100" dirty="0">
                          <a:effectLst/>
                          <a:latin typeface="Times New Roman" panose="02020603050405020304" pitchFamily="18" charset="0"/>
                          <a:ea typeface="宋体" panose="02010600030101010101" pitchFamily="2" charset="-122"/>
                        </a:rPr>
                        <a:t>                 ,  &lt;FuncDPara&gt;</a:t>
                      </a:r>
                      <a:r>
                        <a:rPr lang="en-US" sz="1600" kern="100" baseline="30000" dirty="0">
                          <a:effectLst/>
                          <a:latin typeface="Times New Roman" panose="02020603050405020304" pitchFamily="18" charset="0"/>
                          <a:ea typeface="宋体" panose="02010600030101010101" pitchFamily="2" charset="-122"/>
                        </a:rPr>
                        <a:t>(1)</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dirty="0">
                          <a:effectLst/>
                          <a:latin typeface="Times New Roman" panose="02020603050405020304" pitchFamily="18" charset="0"/>
                          <a:ea typeface="宋体" panose="02010600030101010101" pitchFamily="2" charset="-122"/>
                        </a:rPr>
                        <a:t>{  &lt;</a:t>
                      </a:r>
                      <a:r>
                        <a:rPr lang="en-US" sz="1600" kern="100" dirty="0" err="1">
                          <a:effectLst/>
                          <a:latin typeface="Times New Roman" panose="02020603050405020304" pitchFamily="18" charset="0"/>
                          <a:ea typeface="宋体" panose="02010600030101010101" pitchFamily="2" charset="-122"/>
                        </a:rPr>
                        <a:t>FuncDPara</a:t>
                      </a:r>
                      <a:r>
                        <a:rPr lang="en-US" sz="1600" kern="100" dirty="0">
                          <a:effectLst/>
                          <a:latin typeface="Times New Roman" panose="02020603050405020304" pitchFamily="18" charset="0"/>
                          <a:ea typeface="宋体" panose="02010600030101010101" pitchFamily="2" charset="-122"/>
                        </a:rPr>
                        <a:t>&gt;.</a:t>
                      </a:r>
                      <a:r>
                        <a:rPr lang="en-US" sz="1600" kern="100" dirty="0" err="1">
                          <a:effectLst/>
                          <a:latin typeface="Times New Roman" panose="02020603050405020304" pitchFamily="18" charset="0"/>
                          <a:ea typeface="宋体" panose="02010600030101010101" pitchFamily="2" charset="-122"/>
                        </a:rPr>
                        <a:t>paranums</a:t>
                      </a:r>
                      <a:r>
                        <a:rPr lang="en-US" sz="1600" kern="100" dirty="0">
                          <a:effectLst/>
                          <a:latin typeface="Times New Roman" panose="02020603050405020304" pitchFamily="18" charset="0"/>
                          <a:ea typeface="宋体" panose="02010600030101010101" pitchFamily="2" charset="-122"/>
                        </a:rPr>
                        <a:t> = &lt;</a:t>
                      </a:r>
                      <a:r>
                        <a:rPr lang="en-US" sz="1600" kern="100" dirty="0" err="1">
                          <a:effectLst/>
                          <a:latin typeface="Times New Roman" panose="02020603050405020304" pitchFamily="18" charset="0"/>
                          <a:ea typeface="宋体" panose="02010600030101010101" pitchFamily="2" charset="-122"/>
                        </a:rPr>
                        <a:t>FuncDPara</a:t>
                      </a:r>
                      <a:r>
                        <a:rPr lang="en-US" sz="1600" kern="100" dirty="0">
                          <a:effectLst/>
                          <a:latin typeface="Times New Roman" panose="02020603050405020304" pitchFamily="18" charset="0"/>
                          <a:ea typeface="宋体" panose="02010600030101010101" pitchFamily="2" charset="-122"/>
                        </a:rPr>
                        <a:t>&gt;</a:t>
                      </a:r>
                      <a:r>
                        <a:rPr lang="en-US" sz="1600" kern="100" baseline="30000" dirty="0">
                          <a:effectLst/>
                          <a:latin typeface="Times New Roman" panose="02020603050405020304" pitchFamily="18" charset="0"/>
                          <a:ea typeface="宋体" panose="02010600030101010101" pitchFamily="2" charset="-122"/>
                        </a:rPr>
                        <a:t>(1)</a:t>
                      </a:r>
                      <a:r>
                        <a:rPr lang="en-US" sz="1600" kern="100" dirty="0">
                          <a:effectLst/>
                          <a:latin typeface="Times New Roman" panose="02020603050405020304" pitchFamily="18" charset="0"/>
                          <a:ea typeface="宋体" panose="02010600030101010101" pitchFamily="2" charset="-122"/>
                        </a:rPr>
                        <a:t>.</a:t>
                      </a:r>
                      <a:r>
                        <a:rPr lang="en-US" sz="1600" kern="100" dirty="0" err="1">
                          <a:effectLst/>
                          <a:latin typeface="Times New Roman" panose="02020603050405020304" pitchFamily="18" charset="0"/>
                          <a:ea typeface="宋体" panose="02010600030101010101" pitchFamily="2" charset="-122"/>
                        </a:rPr>
                        <a:t>paranums</a:t>
                      </a:r>
                      <a:r>
                        <a:rPr lang="en-US" sz="1600" kern="100" dirty="0">
                          <a:effectLst/>
                          <a:latin typeface="Times New Roman" panose="02020603050405020304" pitchFamily="18" charset="0"/>
                          <a:ea typeface="宋体" panose="02010600030101010101" pitchFamily="2" charset="-122"/>
                        </a:rPr>
                        <a:t> + 1;</a:t>
                      </a:r>
                      <a:endParaRPr lang="zh-CN" sz="2000" kern="100" dirty="0">
                        <a:effectLst/>
                        <a:latin typeface="Times New Roman" panose="02020603050405020304" pitchFamily="18" charset="0"/>
                        <a:ea typeface="宋体" panose="02010600030101010101" pitchFamily="2" charset="-122"/>
                      </a:endParaRPr>
                    </a:p>
                    <a:p>
                      <a:pPr indent="114300" algn="just"/>
                      <a:r>
                        <a:rPr lang="en-US" sz="1600" kern="100" dirty="0">
                          <a:effectLst/>
                          <a:latin typeface="Times New Roman" panose="02020603050405020304" pitchFamily="18" charset="0"/>
                          <a:ea typeface="宋体" panose="02010600030101010101" pitchFamily="2" charset="-122"/>
                        </a:rPr>
                        <a:t>&lt; </a:t>
                      </a:r>
                      <a:r>
                        <a:rPr lang="en-US" sz="1600" kern="100" dirty="0" err="1">
                          <a:effectLst/>
                          <a:latin typeface="Times New Roman" panose="02020603050405020304" pitchFamily="18" charset="0"/>
                          <a:ea typeface="宋体" panose="02010600030101010101" pitchFamily="2" charset="-122"/>
                        </a:rPr>
                        <a:t>FuncDPara</a:t>
                      </a:r>
                      <a:r>
                        <a:rPr lang="en-US" sz="1600" kern="100" dirty="0">
                          <a:effectLst/>
                          <a:latin typeface="Times New Roman" panose="02020603050405020304" pitchFamily="18" charset="0"/>
                          <a:ea typeface="宋体" panose="02010600030101010101" pitchFamily="2" charset="-122"/>
                        </a:rPr>
                        <a:t> &gt;.para = &lt;</a:t>
                      </a:r>
                      <a:r>
                        <a:rPr lang="en-US" sz="1600" kern="100" dirty="0" err="1">
                          <a:effectLst/>
                          <a:latin typeface="Times New Roman" panose="02020603050405020304" pitchFamily="18" charset="0"/>
                          <a:ea typeface="宋体" panose="02010600030101010101" pitchFamily="2" charset="-122"/>
                        </a:rPr>
                        <a:t>FuncDPara</a:t>
                      </a:r>
                      <a:r>
                        <a:rPr lang="en-US" sz="1600" kern="100" dirty="0">
                          <a:effectLst/>
                          <a:latin typeface="Times New Roman" panose="02020603050405020304" pitchFamily="18" charset="0"/>
                          <a:ea typeface="宋体" panose="02010600030101010101" pitchFamily="2" charset="-122"/>
                        </a:rPr>
                        <a:t> &gt;</a:t>
                      </a:r>
                      <a:r>
                        <a:rPr lang="en-US" sz="1600" kern="100" baseline="30000" dirty="0">
                          <a:effectLst/>
                          <a:latin typeface="Times New Roman" panose="02020603050405020304" pitchFamily="18" charset="0"/>
                          <a:ea typeface="宋体" panose="02010600030101010101" pitchFamily="2" charset="-122"/>
                        </a:rPr>
                        <a:t> (1)</a:t>
                      </a:r>
                      <a:r>
                        <a:rPr lang="en-US" sz="1600" kern="100" dirty="0">
                          <a:effectLst/>
                          <a:latin typeface="Times New Roman" panose="02020603050405020304" pitchFamily="18" charset="0"/>
                          <a:ea typeface="宋体" panose="02010600030101010101" pitchFamily="2" charset="-122"/>
                        </a:rPr>
                        <a:t>.para+”,” + &lt;</a:t>
                      </a:r>
                      <a:r>
                        <a:rPr lang="it-IT" sz="1600" kern="100" dirty="0">
                          <a:effectLst/>
                          <a:latin typeface="Times New Roman" panose="02020603050405020304" pitchFamily="18" charset="0"/>
                          <a:ea typeface="宋体" panose="02010600030101010101" pitchFamily="2" charset="-122"/>
                        </a:rPr>
                        <a:t>ParaType</a:t>
                      </a:r>
                      <a:r>
                        <a:rPr lang="en-US" sz="1600" kern="100" dirty="0">
                          <a:effectLst/>
                          <a:latin typeface="Times New Roman" panose="02020603050405020304" pitchFamily="18" charset="0"/>
                          <a:ea typeface="宋体" panose="02010600030101010101" pitchFamily="2" charset="-122"/>
                        </a:rPr>
                        <a:t>&gt;. Para }</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810545">
                <a:tc>
                  <a:txBody>
                    <a:bodyPr/>
                    <a:lstStyle/>
                    <a:p>
                      <a:pPr algn="ctr"/>
                      <a:r>
                        <a:rPr lang="zh-CN" sz="1600" kern="100">
                          <a:effectLst/>
                          <a:latin typeface="Times New Roman" panose="02020603050405020304" pitchFamily="18" charset="0"/>
                          <a:ea typeface="宋体" panose="02010600030101010101" pitchFamily="2" charset="-122"/>
                        </a:rPr>
                        <a:t>（</a:t>
                      </a:r>
                      <a:r>
                        <a:rPr lang="en-US" sz="1600" kern="100">
                          <a:effectLst/>
                          <a:latin typeface="Times New Roman" panose="02020603050405020304" pitchFamily="18" charset="0"/>
                          <a:ea typeface="宋体" panose="02010600030101010101" pitchFamily="2" charset="-122"/>
                        </a:rPr>
                        <a:t>6</a:t>
                      </a:r>
                      <a:r>
                        <a:rPr lang="zh-CN" sz="1600" kern="10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a:effectLst/>
                          <a:latin typeface="Times New Roman" panose="02020603050405020304" pitchFamily="18" charset="0"/>
                          <a:ea typeface="宋体" panose="02010600030101010101" pitchFamily="2" charset="-122"/>
                        </a:rPr>
                        <a:t>&lt;</a:t>
                      </a:r>
                      <a:r>
                        <a:rPr lang="it-IT" sz="1600" kern="100">
                          <a:effectLst/>
                          <a:latin typeface="Times New Roman" panose="02020603050405020304" pitchFamily="18" charset="0"/>
                          <a:ea typeface="宋体" panose="02010600030101010101" pitchFamily="2" charset="-122"/>
                        </a:rPr>
                        <a:t>ParaType</a:t>
                      </a:r>
                      <a:r>
                        <a:rPr lang="en-US" sz="1600" kern="100">
                          <a:effectLst/>
                          <a:latin typeface="Times New Roman" panose="02020603050405020304" pitchFamily="18" charset="0"/>
                          <a:ea typeface="宋体" panose="02010600030101010101" pitchFamily="2" charset="-122"/>
                        </a:rPr>
                        <a:t>&gt;→int</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600" kern="100" dirty="0">
                          <a:effectLst/>
                          <a:latin typeface="Times New Roman" panose="02020603050405020304" pitchFamily="18" charset="0"/>
                          <a:ea typeface="宋体" panose="02010600030101010101" pitchFamily="2" charset="-122"/>
                        </a:rPr>
                        <a:t>{  &lt;</a:t>
                      </a:r>
                      <a:r>
                        <a:rPr lang="it-IT" sz="1600" kern="100" dirty="0">
                          <a:effectLst/>
                          <a:latin typeface="Times New Roman" panose="02020603050405020304" pitchFamily="18" charset="0"/>
                          <a:ea typeface="宋体" panose="02010600030101010101" pitchFamily="2" charset="-122"/>
                        </a:rPr>
                        <a:t>ParaType</a:t>
                      </a:r>
                      <a:r>
                        <a:rPr lang="en-US" sz="1600" kern="100" dirty="0">
                          <a:effectLst/>
                          <a:latin typeface="Times New Roman" panose="02020603050405020304" pitchFamily="18" charset="0"/>
                          <a:ea typeface="宋体" panose="02010600030101010101" pitchFamily="2" charset="-122"/>
                        </a:rPr>
                        <a:t>&gt;.type = int;</a:t>
                      </a:r>
                      <a:endParaRPr lang="zh-CN" sz="2000" kern="100" dirty="0">
                        <a:effectLst/>
                        <a:latin typeface="Times New Roman" panose="02020603050405020304" pitchFamily="18" charset="0"/>
                        <a:ea typeface="宋体" panose="02010600030101010101" pitchFamily="2" charset="-122"/>
                      </a:endParaRPr>
                    </a:p>
                    <a:p>
                      <a:pPr algn="just"/>
                      <a:r>
                        <a:rPr lang="en-US" sz="1600" kern="100" dirty="0">
                          <a:effectLst/>
                          <a:latin typeface="Times New Roman" panose="02020603050405020304" pitchFamily="18" charset="0"/>
                          <a:ea typeface="宋体" panose="02010600030101010101" pitchFamily="2" charset="-122"/>
                        </a:rPr>
                        <a:t>    &lt;</a:t>
                      </a:r>
                      <a:r>
                        <a:rPr lang="it-IT" sz="1600" kern="100" dirty="0">
                          <a:effectLst/>
                          <a:latin typeface="Times New Roman" panose="02020603050405020304" pitchFamily="18" charset="0"/>
                          <a:ea typeface="宋体" panose="02010600030101010101" pitchFamily="2" charset="-122"/>
                        </a:rPr>
                        <a:t>ParaType</a:t>
                      </a:r>
                      <a:r>
                        <a:rPr lang="en-US" sz="1600" kern="100" dirty="0">
                          <a:effectLst/>
                          <a:latin typeface="Times New Roman" panose="02020603050405020304" pitchFamily="18" charset="0"/>
                          <a:ea typeface="宋体" panose="02010600030101010101" pitchFamily="2" charset="-122"/>
                        </a:rPr>
                        <a:t>&gt;.</a:t>
                      </a:r>
                      <a:r>
                        <a:rPr lang="en-US" sz="1600" kern="100" dirty="0" err="1">
                          <a:effectLst/>
                          <a:latin typeface="Times New Roman" panose="02020603050405020304" pitchFamily="18" charset="0"/>
                          <a:ea typeface="宋体" panose="02010600030101010101" pitchFamily="2" charset="-122"/>
                        </a:rPr>
                        <a:t>paranums</a:t>
                      </a:r>
                      <a:r>
                        <a:rPr lang="en-US" sz="1600" kern="100" dirty="0">
                          <a:effectLst/>
                          <a:latin typeface="Times New Roman" panose="02020603050405020304" pitchFamily="18" charset="0"/>
                          <a:ea typeface="宋体" panose="02010600030101010101" pitchFamily="2" charset="-122"/>
                        </a:rPr>
                        <a:t> = 1;</a:t>
                      </a:r>
                      <a:endParaRPr lang="zh-CN" sz="2000" kern="100" dirty="0">
                        <a:effectLst/>
                        <a:latin typeface="Times New Roman" panose="02020603050405020304" pitchFamily="18" charset="0"/>
                        <a:ea typeface="宋体" panose="02010600030101010101" pitchFamily="2" charset="-122"/>
                      </a:endParaRPr>
                    </a:p>
                    <a:p>
                      <a:pPr indent="114300" algn="just"/>
                      <a:r>
                        <a:rPr lang="en-US" sz="1600" kern="100" dirty="0">
                          <a:effectLst/>
                          <a:latin typeface="Times New Roman" panose="02020603050405020304" pitchFamily="18" charset="0"/>
                          <a:ea typeface="宋体" panose="02010600030101010101" pitchFamily="2" charset="-122"/>
                        </a:rPr>
                        <a:t>&lt;</a:t>
                      </a:r>
                      <a:r>
                        <a:rPr lang="it-IT" sz="1600" kern="100" dirty="0">
                          <a:effectLst/>
                          <a:latin typeface="Times New Roman" panose="02020603050405020304" pitchFamily="18" charset="0"/>
                          <a:ea typeface="宋体" panose="02010600030101010101" pitchFamily="2" charset="-122"/>
                        </a:rPr>
                        <a:t>ParaType</a:t>
                      </a:r>
                      <a:r>
                        <a:rPr lang="en-US" sz="1600" kern="100" dirty="0">
                          <a:effectLst/>
                          <a:latin typeface="Times New Roman" panose="02020603050405020304" pitchFamily="18" charset="0"/>
                          <a:ea typeface="宋体" panose="02010600030101010101" pitchFamily="2" charset="-122"/>
                        </a:rPr>
                        <a:t>&gt;.para =int;   //</a:t>
                      </a:r>
                      <a:r>
                        <a:rPr lang="zh-CN" sz="1600" kern="100" dirty="0">
                          <a:effectLst/>
                          <a:latin typeface="Times New Roman" panose="02020603050405020304" pitchFamily="18" charset="0"/>
                          <a:ea typeface="宋体" panose="02010600030101010101" pitchFamily="2" charset="-122"/>
                        </a:rPr>
                        <a:t>符号表中对应该参数的类型</a:t>
                      </a:r>
                      <a:r>
                        <a:rPr lang="en-US" sz="1600" kern="100" dirty="0">
                          <a:effectLst/>
                          <a:latin typeface="Times New Roman" panose="02020603050405020304" pitchFamily="18" charset="0"/>
                          <a:ea typeface="宋体" panose="02010600030101010101" pitchFamily="2" charset="-122"/>
                        </a:rPr>
                        <a:t>}</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393857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normAutofit fontScale="90000"/>
          </a:bodyPr>
          <a:lstStyle/>
          <a:p>
            <a:r>
              <a:rPr kumimoji="1" lang="en-US" altLang="zh-CN" b="1" dirty="0">
                <a:solidFill>
                  <a:srgbClr val="CC0099"/>
                </a:solidFill>
                <a:latin typeface="Times New Roman" pitchFamily="18" charset="0"/>
                <a:ea typeface="隶书" pitchFamily="49" charset="-122"/>
              </a:rPr>
              <a:t>4.8 </a:t>
            </a:r>
            <a:r>
              <a:rPr kumimoji="1" lang="zh-CN" altLang="en-US" b="1" dirty="0">
                <a:solidFill>
                  <a:srgbClr val="CC0099"/>
                </a:solidFill>
                <a:latin typeface="Times New Roman" pitchFamily="18" charset="0"/>
                <a:ea typeface="隶书" pitchFamily="49" charset="-122"/>
              </a:rPr>
              <a:t>本章小结</a:t>
            </a:r>
            <a:endParaRPr lang="zh-CN" altLang="en-US" dirty="0"/>
          </a:p>
        </p:txBody>
      </p:sp>
      <p:graphicFrame>
        <p:nvGraphicFramePr>
          <p:cNvPr id="4" name="对象 3">
            <a:extLst>
              <a:ext uri="{FF2B5EF4-FFF2-40B4-BE49-F238E27FC236}">
                <a16:creationId xmlns:a16="http://schemas.microsoft.com/office/drawing/2014/main" id="{88DE95A7-DDC5-50F4-905B-A9DED94D61CE}"/>
              </a:ext>
            </a:extLst>
          </p:cNvPr>
          <p:cNvGraphicFramePr>
            <a:graphicFrameLocks noChangeAspect="1"/>
          </p:cNvGraphicFramePr>
          <p:nvPr>
            <p:extLst>
              <p:ext uri="{D42A27DB-BD31-4B8C-83A1-F6EECF244321}">
                <p14:modId xmlns:p14="http://schemas.microsoft.com/office/powerpoint/2010/main" val="1641781849"/>
              </p:ext>
            </p:extLst>
          </p:nvPr>
        </p:nvGraphicFramePr>
        <p:xfrm>
          <a:off x="2123728" y="195486"/>
          <a:ext cx="5472608" cy="4824536"/>
        </p:xfrm>
        <a:graphic>
          <a:graphicData uri="http://schemas.openxmlformats.org/presentationml/2006/ole">
            <mc:AlternateContent xmlns:mc="http://schemas.openxmlformats.org/markup-compatibility/2006">
              <mc:Choice xmlns:v="urn:schemas-microsoft-com:vml" Requires="v">
                <p:oleObj name="Visio" r:id="rId2" imgW="4162392" imgH="3447993" progId="Visio.Drawing.15">
                  <p:embed/>
                </p:oleObj>
              </mc:Choice>
              <mc:Fallback>
                <p:oleObj name="Visio" r:id="rId2" imgW="4162392" imgH="3447993"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95486"/>
                        <a:ext cx="5472608" cy="4824536"/>
                      </a:xfrm>
                      <a:prstGeom prst="rect">
                        <a:avLst/>
                      </a:prstGeom>
                      <a:noFill/>
                    </p:spPr>
                  </p:pic>
                </p:oleObj>
              </mc:Fallback>
            </mc:AlternateContent>
          </a:graphicData>
        </a:graphic>
      </p:graphicFrame>
    </p:spTree>
    <p:extLst>
      <p:ext uri="{BB962C8B-B14F-4D97-AF65-F5344CB8AC3E}">
        <p14:creationId xmlns:p14="http://schemas.microsoft.com/office/powerpoint/2010/main" val="8803378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板1">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模板1</Template>
  <TotalTime>7512</TotalTime>
  <Words>12201</Words>
  <Application>Microsoft Office PowerPoint</Application>
  <PresentationFormat>全屏显示(16:9)</PresentationFormat>
  <Paragraphs>1415</Paragraphs>
  <Slides>104</Slides>
  <Notes>25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104</vt:i4>
      </vt:variant>
    </vt:vector>
  </HeadingPairs>
  <TitlesOfParts>
    <vt:vector size="119" baseType="lpstr">
      <vt:lpstr>Arial Unicode MS</vt:lpstr>
      <vt:lpstr>sans serif</vt:lpstr>
      <vt:lpstr>隶书</vt:lpstr>
      <vt:lpstr>宋体</vt:lpstr>
      <vt:lpstr>Arial</vt:lpstr>
      <vt:lpstr>Calibri</vt:lpstr>
      <vt:lpstr>Lucida Sans Unicode</vt:lpstr>
      <vt:lpstr>Symbol</vt:lpstr>
      <vt:lpstr>Times New Roman</vt:lpstr>
      <vt:lpstr>Verdana</vt:lpstr>
      <vt:lpstr>Wingdings</vt:lpstr>
      <vt:lpstr>Wingdings 2</vt:lpstr>
      <vt:lpstr>Wingdings 3</vt:lpstr>
      <vt:lpstr>模板1</vt:lpstr>
      <vt:lpstr>Visio</vt:lpstr>
      <vt:lpstr>第四章  语义分析</vt:lpstr>
      <vt:lpstr>PowerPoint 演示文稿</vt:lpstr>
      <vt:lpstr>本章要求</vt:lpstr>
      <vt:lpstr>语义分析程序所处的位置：</vt:lpstr>
      <vt:lpstr>4.1语义分析概述</vt:lpstr>
      <vt:lpstr>语义分析概述</vt:lpstr>
      <vt:lpstr>4.2 Sample语言的语义描述</vt:lpstr>
      <vt:lpstr>程序的语义</vt:lpstr>
      <vt:lpstr>函数</vt:lpstr>
      <vt:lpstr>函数的语义</vt:lpstr>
      <vt:lpstr>各种语句的语义</vt:lpstr>
      <vt:lpstr>各种名字的声明和使用的语义</vt:lpstr>
      <vt:lpstr>各种语句的语义</vt:lpstr>
      <vt:lpstr>各种语句的语义</vt:lpstr>
      <vt:lpstr>各种语句的语义</vt:lpstr>
      <vt:lpstr>各种语句的语义</vt:lpstr>
      <vt:lpstr>各种语句的语义</vt:lpstr>
      <vt:lpstr>表达式的语义</vt:lpstr>
      <vt:lpstr>PowerPoint 演示文稿</vt:lpstr>
      <vt:lpstr>4.3 符号表</vt:lpstr>
      <vt:lpstr>符号表中的信息及存放方式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符号表的操作</vt:lpstr>
      <vt:lpstr>PowerPoint 演示文稿</vt:lpstr>
      <vt:lpstr>PowerPoint 演示文稿</vt:lpstr>
      <vt:lpstr>静态语义检查</vt:lpstr>
      <vt:lpstr>声明与定义语义检查</vt:lpstr>
      <vt:lpstr>表达式语义检查</vt:lpstr>
      <vt:lpstr>语句语义检查</vt:lpstr>
      <vt:lpstr>PowerPoint 演示文稿</vt:lpstr>
      <vt:lpstr>PowerPoint 演示文稿</vt:lpstr>
      <vt:lpstr>属性文法</vt:lpstr>
      <vt:lpstr>属性文法</vt:lpstr>
      <vt:lpstr>综合属性和继承属性</vt:lpstr>
      <vt:lpstr>综合属性和继承属性</vt:lpstr>
      <vt:lpstr>继承属性和综合属性</vt:lpstr>
      <vt:lpstr>语义规则 </vt:lpstr>
      <vt:lpstr>PowerPoint 演示文稿</vt:lpstr>
      <vt:lpstr>PowerPoint 演示文稿</vt:lpstr>
      <vt:lpstr>综合属性的计算</vt:lpstr>
      <vt:lpstr>PowerPoint 演示文稿</vt:lpstr>
      <vt:lpstr>PowerPoint 演示文稿</vt:lpstr>
      <vt:lpstr>综合属性的计算</vt:lpstr>
      <vt:lpstr>继承属性的计算</vt:lpstr>
      <vt:lpstr>PowerPoint 演示文稿</vt:lpstr>
      <vt:lpstr>PowerPoint 演示文稿</vt:lpstr>
      <vt:lpstr>PowerPoint 演示文稿</vt:lpstr>
      <vt:lpstr>属性的计算顺序</vt:lpstr>
      <vt:lpstr>语法制导翻译</vt:lpstr>
      <vt:lpstr>深度优先遍历树进行属性计算</vt:lpstr>
      <vt:lpstr>属性计算过程</vt:lpstr>
      <vt:lpstr>L-属性文法</vt:lpstr>
      <vt:lpstr>L-属性文法</vt:lpstr>
      <vt:lpstr>PowerPoint 演示文稿</vt:lpstr>
      <vt:lpstr>PowerPoint 演示文稿</vt:lpstr>
      <vt:lpstr>4.6 语法制导语义处理的实现方法</vt:lpstr>
      <vt:lpstr>例5.10 右面是是简单表达式的属性文法，其语义规则是将中缀表示形式改写成后缀表示形式，此处只定义了产生式对应的语义规则，没有定义各语义规则应该在什么时候执行？</vt:lpstr>
      <vt:lpstr>例4.6 右面是是简单表达式的属性文法，其语义规则是将中缀表示形式改写成后缀表示形式，此处只定义了产生式对应的语义规则，没有定义各语义规则应该在什么时候执行？</vt:lpstr>
      <vt:lpstr>建立翻译模式</vt:lpstr>
      <vt:lpstr>PowerPoint 演示文稿</vt:lpstr>
      <vt:lpstr>语义子程序的调用时机</vt:lpstr>
      <vt:lpstr>PowerPoint 演示文稿</vt:lpstr>
      <vt:lpstr>PowerPoint 演示文稿</vt:lpstr>
      <vt:lpstr>排版软件</vt:lpstr>
      <vt:lpstr>基于数学格式语言EQN</vt:lpstr>
      <vt:lpstr>盒子的语法制导的属性文法</vt:lpstr>
      <vt:lpstr>盒子的语法制导的翻译模式</vt:lpstr>
      <vt:lpstr>PowerPoint 演示文稿</vt:lpstr>
      <vt:lpstr>PowerPoint 演示文稿</vt:lpstr>
      <vt:lpstr>S属性文法的自下而上语义处理方法</vt:lpstr>
      <vt:lpstr>PowerPoint 演示文稿</vt:lpstr>
      <vt:lpstr>自下而上语义处理</vt:lpstr>
      <vt:lpstr>PowerPoint 演示文稿</vt:lpstr>
      <vt:lpstr>PowerPoint 演示文稿</vt:lpstr>
      <vt:lpstr>结论</vt:lpstr>
      <vt:lpstr>PowerPoint 演示文稿</vt:lpstr>
      <vt:lpstr>L-属性文法的自上而下语义处理方法</vt:lpstr>
      <vt:lpstr>L-属性文法的自上而下语义处理方法</vt:lpstr>
      <vt:lpstr>带左递归的文法消除左递归时，翻译模式要随之改变</vt:lpstr>
      <vt:lpstr>带左递归的文法消除左递归时，翻译模式要随之改变</vt:lpstr>
      <vt:lpstr>计算表达式9－5＋2 </vt:lpstr>
      <vt:lpstr>PowerPoint 演示文稿</vt:lpstr>
      <vt:lpstr>PowerPoint 演示文稿</vt:lpstr>
      <vt:lpstr>PowerPoint 演示文稿</vt:lpstr>
      <vt:lpstr>类型声明的语义处理</vt:lpstr>
      <vt:lpstr>常量声明的语义处理</vt:lpstr>
      <vt:lpstr>PowerPoint 演示文稿</vt:lpstr>
      <vt:lpstr>常量声明的属性文法</vt:lpstr>
      <vt:lpstr>PowerPoint 演示文稿</vt:lpstr>
      <vt:lpstr>变量声明的语义处理</vt:lpstr>
      <vt:lpstr>int i,j,k=3;的语法树</vt:lpstr>
      <vt:lpstr>变量声明的属性文法</vt:lpstr>
      <vt:lpstr>PowerPoint 演示文稿</vt:lpstr>
      <vt:lpstr>3．函数声明</vt:lpstr>
      <vt:lpstr>函数声明int sum(int,int,char);的语法树 </vt:lpstr>
      <vt:lpstr>函数声明的属性文法</vt:lpstr>
      <vt:lpstr>4.8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语义分析</dc:title>
  <dc:creator>hxy</dc:creator>
  <cp:lastModifiedBy>CQUT</cp:lastModifiedBy>
  <cp:revision>74</cp:revision>
  <dcterms:created xsi:type="dcterms:W3CDTF">2020-03-07T01:33:52Z</dcterms:created>
  <dcterms:modified xsi:type="dcterms:W3CDTF">2023-08-24T08:21:19Z</dcterms:modified>
</cp:coreProperties>
</file>